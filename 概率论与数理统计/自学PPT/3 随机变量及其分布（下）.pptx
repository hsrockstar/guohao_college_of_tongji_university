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69" r:id="rId2"/>
    <p:sldId id="276" r:id="rId3"/>
    <p:sldId id="280" r:id="rId4"/>
    <p:sldId id="291" r:id="rId5"/>
    <p:sldId id="277" r:id="rId6"/>
    <p:sldId id="278" r:id="rId7"/>
    <p:sldId id="292" r:id="rId8"/>
    <p:sldId id="304" r:id="rId9"/>
    <p:sldId id="300" r:id="rId10"/>
    <p:sldId id="305" r:id="rId11"/>
    <p:sldId id="279" r:id="rId12"/>
    <p:sldId id="293" r:id="rId13"/>
    <p:sldId id="301" r:id="rId14"/>
    <p:sldId id="281" r:id="rId15"/>
    <p:sldId id="302" r:id="rId16"/>
    <p:sldId id="290" r:id="rId17"/>
    <p:sldId id="297" r:id="rId18"/>
    <p:sldId id="299" r:id="rId19"/>
    <p:sldId id="303" r:id="rId20"/>
    <p:sldId id="298" r:id="rId21"/>
  </p:sldIdLst>
  <p:sldSz cx="12192000" cy="6858000"/>
  <p:notesSz cx="6858000" cy="9144000"/>
  <p:embeddedFontLst>
    <p:embeddedFont>
      <p:font typeface="等线" panose="02010600030101010101" pitchFamily="2" charset="-122"/>
      <p:regular r:id="rId23"/>
      <p:bold r:id="rId24"/>
    </p:embeddedFont>
    <p:embeddedFont>
      <p:font typeface="等线 Light" panose="02010600030101010101" pitchFamily="2" charset="-122"/>
      <p:regular r:id="rId25"/>
    </p:embeddedFont>
    <p:embeddedFont>
      <p:font typeface="方正清刻本悦宋简体" panose="02000000000000000000" pitchFamily="2" charset="-122"/>
      <p:regular r:id="rId26"/>
    </p:embeddedFont>
    <p:embeddedFont>
      <p:font typeface="方正小标宋简体" panose="02000000000000000000" pitchFamily="2" charset="-122"/>
      <p:regular r:id="rId27"/>
    </p:embeddedFont>
    <p:embeddedFont>
      <p:font typeface="仿宋" panose="02010609060101010101" pitchFamily="49" charset="-122"/>
      <p:regular r:id="rId28"/>
    </p:embeddedFont>
    <p:embeddedFont>
      <p:font typeface="汉仪润圆-65简" panose="00020600040101010101" pitchFamily="18" charset="-122"/>
      <p:regular r:id="rId29"/>
    </p:embeddedFont>
    <p:embeddedFont>
      <p:font typeface="汉仪文黑-85W" panose="00020600040101010101" pitchFamily="18" charset="-122"/>
      <p:regular r:id="rId30"/>
    </p:embeddedFont>
    <p:embeddedFont>
      <p:font typeface="华文宋体" panose="02010600040101010101" pitchFamily="2" charset="-122"/>
      <p:regular r:id="rId31"/>
    </p:embeddedFont>
    <p:embeddedFont>
      <p:font typeface="华文中宋" panose="02010600040101010101" pitchFamily="2" charset="-122"/>
      <p:regular r:id="rId32"/>
    </p:embeddedFont>
    <p:embeddedFont>
      <p:font typeface="楷体" panose="02010609060101010101" pitchFamily="49" charset="-122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319"/>
    <a:srgbClr val="F3F3F3"/>
    <a:srgbClr val="FFFFFF"/>
    <a:srgbClr val="ED7D31"/>
    <a:srgbClr val="89F3FE"/>
    <a:srgbClr val="7ECEF4"/>
    <a:srgbClr val="000000"/>
    <a:srgbClr val="F17723"/>
    <a:srgbClr val="FF99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4.png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37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1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1.png"/><Relationship Id="rId1" Type="http://schemas.openxmlformats.org/officeDocument/2006/relationships/tags" Target="../tags/tag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58.png"/><Relationship Id="rId3" Type="http://schemas.openxmlformats.org/officeDocument/2006/relationships/image" Target="../media/image65.png"/><Relationship Id="rId7" Type="http://schemas.openxmlformats.org/officeDocument/2006/relationships/image" Target="../media/image69.svg"/><Relationship Id="rId2" Type="http://schemas.openxmlformats.org/officeDocument/2006/relationships/image" Target="../media/image64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5" Type="http://schemas.openxmlformats.org/officeDocument/2006/relationships/image" Target="../media/image71.png"/><Relationship Id="rId4" Type="http://schemas.openxmlformats.org/officeDocument/2006/relationships/image" Target="../media/image66.png"/><Relationship Id="rId1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7.png"/><Relationship Id="rId3" Type="http://schemas.openxmlformats.org/officeDocument/2006/relationships/image" Target="../media/image641.png"/><Relationship Id="rId7" Type="http://schemas.openxmlformats.org/officeDocument/2006/relationships/image" Target="../media/image681.png"/><Relationship Id="rId12" Type="http://schemas.openxmlformats.org/officeDocument/2006/relationships/image" Target="../media/image73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80.svg"/><Relationship Id="rId1" Type="http://schemas.openxmlformats.org/officeDocument/2006/relationships/tags" Target="../tags/tag8.xml"/><Relationship Id="rId6" Type="http://schemas.openxmlformats.org/officeDocument/2006/relationships/image" Target="../media/image671.png"/><Relationship Id="rId11" Type="http://schemas.openxmlformats.org/officeDocument/2006/relationships/image" Target="../media/image76.svg"/><Relationship Id="rId5" Type="http://schemas.openxmlformats.org/officeDocument/2006/relationships/image" Target="../media/image661.png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image" Target="../media/image651.png"/><Relationship Id="rId9" Type="http://schemas.openxmlformats.org/officeDocument/2006/relationships/image" Target="../media/image74.svg"/><Relationship Id="rId14" Type="http://schemas.openxmlformats.org/officeDocument/2006/relationships/image" Target="../media/image7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7" Type="http://schemas.openxmlformats.org/officeDocument/2006/relationships/image" Target="../media/image5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7" Type="http://schemas.openxmlformats.org/officeDocument/2006/relationships/image" Target="../media/image57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8" Type="http://schemas.openxmlformats.org/officeDocument/2006/relationships/image" Target="../media/image690.png"/><Relationship Id="rId3" Type="http://schemas.openxmlformats.org/officeDocument/2006/relationships/image" Target="../media/image580.png"/><Relationship Id="rId7" Type="http://schemas.openxmlformats.org/officeDocument/2006/relationships/image" Target="../media/image620.png"/><Relationship Id="rId12" Type="http://schemas.openxmlformats.org/officeDocument/2006/relationships/image" Target="../media/image670.png"/><Relationship Id="rId17" Type="http://schemas.openxmlformats.org/officeDocument/2006/relationships/image" Target="../media/image68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66.png"/><Relationship Id="rId20" Type="http://schemas.openxmlformats.org/officeDocument/2006/relationships/image" Target="../media/image87.png"/><Relationship Id="rId1" Type="http://schemas.openxmlformats.org/officeDocument/2006/relationships/tags" Target="../tags/tag14.xml"/><Relationship Id="rId6" Type="http://schemas.openxmlformats.org/officeDocument/2006/relationships/image" Target="../media/image610.png"/><Relationship Id="rId11" Type="http://schemas.openxmlformats.org/officeDocument/2006/relationships/image" Target="../media/image660.png"/><Relationship Id="rId5" Type="http://schemas.openxmlformats.org/officeDocument/2006/relationships/image" Target="../media/image600.png"/><Relationship Id="rId10" Type="http://schemas.openxmlformats.org/officeDocument/2006/relationships/image" Target="../media/image650.png"/><Relationship Id="rId19" Type="http://schemas.openxmlformats.org/officeDocument/2006/relationships/image" Target="../media/image700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70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30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7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89.png"/><Relationship Id="rId11" Type="http://schemas.openxmlformats.org/officeDocument/2006/relationships/image" Target="../media/image103.png"/><Relationship Id="rId5" Type="http://schemas.openxmlformats.org/officeDocument/2006/relationships/image" Target="../media/image30.png"/><Relationship Id="rId10" Type="http://schemas.openxmlformats.org/officeDocument/2006/relationships/image" Target="../media/image102.png"/><Relationship Id="rId4" Type="http://schemas.openxmlformats.org/officeDocument/2006/relationships/image" Target="../media/image98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87.png"/><Relationship Id="rId7" Type="http://schemas.openxmlformats.org/officeDocument/2006/relationships/image" Target="../media/image1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5" y="2767776"/>
            <a:ext cx="6819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随机变量及其分布（下）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945538"/>
            <a:ext cx="6721606" cy="1376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二维随机变量及其描述法 </a:t>
            </a: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联合分布，边缘分布，独立性，条件分布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二维随机变量的函数及其分布的求解</a:t>
            </a:r>
            <a:endParaRPr lang="en-US" altLang="zh-CN" sz="18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在上一章中，我们已经将随机事件与随机变量联系了起来，并建立了描述随机变量的方法。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然而，有些事件的结果可能需要不止一个随机变量来描述。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射手打靶的横、纵坐标分别为随机变量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。欲要研究打靶落入指定区域的概率，则无法单独研究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上随机取值为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，之后数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在区间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,1)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上随机取值为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。欲要研究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的分布，则无法脱离对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的研究。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538883"/>
              </a:xfrm>
              <a:prstGeom prst="rect">
                <a:avLst/>
              </a:prstGeom>
              <a:blipFill>
                <a:blip r:embed="rId3"/>
                <a:stretch>
                  <a:fillRect l="-27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672852" y="775742"/>
            <a:ext cx="2073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二维随机变量的定义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DDF6369-E6B2-1B04-89EE-A072172C06CD}"/>
                  </a:ext>
                </a:extLst>
              </p:cNvPr>
              <p:cNvSpPr txBox="1"/>
              <p:nvPr/>
            </p:nvSpPr>
            <p:spPr>
              <a:xfrm>
                <a:off x="507459" y="3086243"/>
                <a:ext cx="1110817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我们将 由两个随机变量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组成的 向量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称作 </a:t>
                </a:r>
                <a:r>
                  <a:rPr lang="zh-CN" altLang="en-US" sz="1600" dirty="0">
                    <a:solidFill>
                      <a:srgbClr val="00B050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二维随机变量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。它的描述法与一维情形是类似的。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DDF6369-E6B2-1B04-89EE-A072172C0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3086243"/>
                <a:ext cx="11108176" cy="430887"/>
              </a:xfrm>
              <a:prstGeom prst="rect">
                <a:avLst/>
              </a:prstGeom>
              <a:blipFill>
                <a:blip r:embed="rId4"/>
                <a:stretch>
                  <a:fillRect l="-274" b="-16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8887D64D-8462-88F6-C849-497A79A1128A}"/>
              </a:ext>
            </a:extLst>
          </p:cNvPr>
          <p:cNvGrpSpPr/>
          <p:nvPr/>
        </p:nvGrpSpPr>
        <p:grpSpPr>
          <a:xfrm>
            <a:off x="576363" y="3566983"/>
            <a:ext cx="5637825" cy="1882937"/>
            <a:chOff x="576363" y="3635221"/>
            <a:chExt cx="5637825" cy="188293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3C4E959-EBFD-F005-AFFE-EF75137AC8B4}"/>
                </a:ext>
              </a:extLst>
            </p:cNvPr>
            <p:cNvSpPr txBox="1"/>
            <p:nvPr/>
          </p:nvSpPr>
          <p:spPr>
            <a:xfrm>
              <a:off x="576363" y="4124373"/>
              <a:ext cx="1832901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0" dirty="0">
                  <a:latin typeface="仿宋" panose="02010609060101010101" pitchFamily="49" charset="-122"/>
                  <a:ea typeface="仿宋" panose="02010609060101010101" pitchFamily="49" charset="-122"/>
                </a:rPr>
                <a:t>联合分布函数</a:t>
              </a:r>
              <a:endParaRPr lang="en-US" altLang="zh-CN" sz="1600" b="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FEB72D1-8DE2-3216-6EFE-9CA2A7946866}"/>
                </a:ext>
              </a:extLst>
            </p:cNvPr>
            <p:cNvSpPr txBox="1"/>
            <p:nvPr/>
          </p:nvSpPr>
          <p:spPr>
            <a:xfrm>
              <a:off x="576365" y="4603691"/>
              <a:ext cx="1832900" cy="3385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0" dirty="0">
                  <a:latin typeface="仿宋" panose="02010609060101010101" pitchFamily="49" charset="-122"/>
                  <a:ea typeface="仿宋" panose="02010609060101010101" pitchFamily="49" charset="-122"/>
                </a:rPr>
                <a:t>联合分布律</a:t>
              </a:r>
              <a:endParaRPr lang="en-US" altLang="zh-CN" sz="1600" b="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C52E635-2582-4057-F0C1-2902E2382D01}"/>
                </a:ext>
              </a:extLst>
            </p:cNvPr>
            <p:cNvSpPr txBox="1"/>
            <p:nvPr/>
          </p:nvSpPr>
          <p:spPr>
            <a:xfrm>
              <a:off x="576364" y="5082847"/>
              <a:ext cx="1832900" cy="3385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0" dirty="0">
                  <a:latin typeface="仿宋" panose="02010609060101010101" pitchFamily="49" charset="-122"/>
                  <a:ea typeface="仿宋" panose="02010609060101010101" pitchFamily="49" charset="-122"/>
                </a:rPr>
                <a:t>联合密度函数</a:t>
              </a:r>
              <a:endParaRPr lang="en-US" altLang="zh-CN" sz="1600" b="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8F6922D-8F09-9199-8E6F-413B112E82C2}"/>
                    </a:ext>
                  </a:extLst>
                </p:cNvPr>
                <p:cNvSpPr txBox="1"/>
                <p:nvPr/>
              </p:nvSpPr>
              <p:spPr>
                <a:xfrm>
                  <a:off x="2590156" y="4176642"/>
                  <a:ext cx="235442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8F6922D-8F09-9199-8E6F-413B112E8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156" y="4176642"/>
                  <a:ext cx="2354427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554" r="-2332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3A21515-BC79-E628-C67C-3485A91C0D59}"/>
                    </a:ext>
                  </a:extLst>
                </p:cNvPr>
                <p:cNvSpPr txBox="1"/>
                <p:nvPr/>
              </p:nvSpPr>
              <p:spPr>
                <a:xfrm>
                  <a:off x="2590156" y="4634970"/>
                  <a:ext cx="1984005" cy="2660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3A21515-BC79-E628-C67C-3485A91C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156" y="4634970"/>
                  <a:ext cx="1984005" cy="266035"/>
                </a:xfrm>
                <a:prstGeom prst="rect">
                  <a:avLst/>
                </a:prstGeom>
                <a:blipFill>
                  <a:blip r:embed="rId6"/>
                  <a:stretch>
                    <a:fillRect l="-1846" r="-615" b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48C7647-B9BF-6A37-BDE2-3AA28AC6A69F}"/>
                    </a:ext>
                  </a:extLst>
                </p:cNvPr>
                <p:cNvSpPr txBox="1"/>
                <p:nvPr/>
              </p:nvSpPr>
              <p:spPr>
                <a:xfrm>
                  <a:off x="2590155" y="4986089"/>
                  <a:ext cx="3509038" cy="532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nary>
                              <m:nary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𝑑𝑥𝑑𝑦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48C7647-B9BF-6A37-BDE2-3AA28AC6A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155" y="4986089"/>
                  <a:ext cx="3509038" cy="5320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D356B43-20D8-ADA5-6BA2-3F4FBF010A8C}"/>
                </a:ext>
              </a:extLst>
            </p:cNvPr>
            <p:cNvCxnSpPr>
              <a:cxnSpLocks/>
            </p:cNvCxnSpPr>
            <p:nvPr/>
          </p:nvCxnSpPr>
          <p:spPr>
            <a:xfrm>
              <a:off x="576363" y="3980133"/>
              <a:ext cx="56378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6012FC0-4578-650C-7F4C-8615777DF9C7}"/>
                </a:ext>
              </a:extLst>
            </p:cNvPr>
            <p:cNvSpPr txBox="1"/>
            <p:nvPr/>
          </p:nvSpPr>
          <p:spPr>
            <a:xfrm>
              <a:off x="576363" y="3635221"/>
              <a:ext cx="5637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B050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二维随机变量</a:t>
              </a:r>
              <a:endPara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A5E983D-7772-4EBF-BA30-ADC90163540E}"/>
              </a:ext>
            </a:extLst>
          </p:cNvPr>
          <p:cNvGrpSpPr/>
          <p:nvPr/>
        </p:nvGrpSpPr>
        <p:grpSpPr>
          <a:xfrm>
            <a:off x="6618730" y="3566983"/>
            <a:ext cx="4432804" cy="1935206"/>
            <a:chOff x="6618730" y="3635221"/>
            <a:chExt cx="4432804" cy="193520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D5EAF77-5174-A482-CEE4-B18EA42A1FFA}"/>
                </a:ext>
              </a:extLst>
            </p:cNvPr>
            <p:cNvSpPr txBox="1"/>
            <p:nvPr/>
          </p:nvSpPr>
          <p:spPr>
            <a:xfrm>
              <a:off x="6618732" y="4176642"/>
              <a:ext cx="1832901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0" dirty="0">
                  <a:latin typeface="仿宋" panose="02010609060101010101" pitchFamily="49" charset="-122"/>
                  <a:ea typeface="仿宋" panose="02010609060101010101" pitchFamily="49" charset="-122"/>
                </a:rPr>
                <a:t>分布函数</a:t>
              </a:r>
              <a:endParaRPr lang="en-US" altLang="zh-CN" sz="1600" b="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0C04749-5A21-4157-10EA-271EF224F43C}"/>
                </a:ext>
              </a:extLst>
            </p:cNvPr>
            <p:cNvSpPr txBox="1"/>
            <p:nvPr/>
          </p:nvSpPr>
          <p:spPr>
            <a:xfrm>
              <a:off x="6618730" y="4650979"/>
              <a:ext cx="1832901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0" dirty="0">
                  <a:latin typeface="仿宋" panose="02010609060101010101" pitchFamily="49" charset="-122"/>
                  <a:ea typeface="仿宋" panose="02010609060101010101" pitchFamily="49" charset="-122"/>
                </a:rPr>
                <a:t>分布律</a:t>
              </a:r>
              <a:endParaRPr lang="en-US" altLang="zh-CN" sz="1600" b="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B30330B-2AD8-FC62-8F28-DBE5D5915368}"/>
                </a:ext>
              </a:extLst>
            </p:cNvPr>
            <p:cNvSpPr txBox="1"/>
            <p:nvPr/>
          </p:nvSpPr>
          <p:spPr>
            <a:xfrm>
              <a:off x="6618730" y="5135115"/>
              <a:ext cx="1832901" cy="3385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0" dirty="0">
                  <a:latin typeface="仿宋" panose="02010609060101010101" pitchFamily="49" charset="-122"/>
                  <a:ea typeface="仿宋" panose="02010609060101010101" pitchFamily="49" charset="-122"/>
                </a:rPr>
                <a:t>密度函数</a:t>
              </a:r>
              <a:endParaRPr lang="en-US" altLang="zh-CN" sz="1600" b="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5162FEF-9620-AF7D-2655-15ED803EF630}"/>
                    </a:ext>
                  </a:extLst>
                </p:cNvPr>
                <p:cNvSpPr txBox="1"/>
                <p:nvPr/>
              </p:nvSpPr>
              <p:spPr>
                <a:xfrm>
                  <a:off x="8679090" y="4223187"/>
                  <a:ext cx="155568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5162FEF-9620-AF7D-2655-15ED803EF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9090" y="4223187"/>
                  <a:ext cx="1555682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2353" r="-3529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C677D5E-E029-91F4-86A7-70D50E2FD8CE}"/>
                    </a:ext>
                  </a:extLst>
                </p:cNvPr>
                <p:cNvSpPr txBox="1"/>
                <p:nvPr/>
              </p:nvSpPr>
              <p:spPr>
                <a:xfrm>
                  <a:off x="8679090" y="4698738"/>
                  <a:ext cx="130952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C677D5E-E029-91F4-86A7-70D50E2FD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9090" y="4698738"/>
                  <a:ext cx="1309525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256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D6D16A4-0935-AA4E-AF0E-B60C5AC29EEE}"/>
                    </a:ext>
                  </a:extLst>
                </p:cNvPr>
                <p:cNvSpPr txBox="1"/>
                <p:nvPr/>
              </p:nvSpPr>
              <p:spPr>
                <a:xfrm>
                  <a:off x="8679090" y="5038358"/>
                  <a:ext cx="2108078" cy="532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D6D16A4-0935-AA4E-AF0E-B60C5AC29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9090" y="5038358"/>
                  <a:ext cx="2108078" cy="53206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B6EA910-4D28-9C56-5098-F9E662AA3743}"/>
                </a:ext>
              </a:extLst>
            </p:cNvPr>
            <p:cNvCxnSpPr>
              <a:cxnSpLocks/>
            </p:cNvCxnSpPr>
            <p:nvPr/>
          </p:nvCxnSpPr>
          <p:spPr>
            <a:xfrm>
              <a:off x="6618731" y="3981170"/>
              <a:ext cx="443280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961F456F-4790-2656-9A42-DE4CBEF6634F}"/>
                </a:ext>
              </a:extLst>
            </p:cNvPr>
            <p:cNvSpPr txBox="1"/>
            <p:nvPr/>
          </p:nvSpPr>
          <p:spPr>
            <a:xfrm>
              <a:off x="6618730" y="3635221"/>
              <a:ext cx="44328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一维随机变量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2352502-B3BD-8CD8-DE30-28BE5D8DF30A}"/>
                  </a:ext>
                </a:extLst>
              </p:cNvPr>
              <p:cNvSpPr txBox="1"/>
              <p:nvPr/>
            </p:nvSpPr>
            <p:spPr>
              <a:xfrm>
                <a:off x="576363" y="5543319"/>
                <a:ext cx="10565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请务必牢记，二维随机变量的上面三种描述（称作「</a:t>
                </a:r>
                <a:r>
                  <a:rPr lang="zh-CN" altLang="en-US" sz="1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联合分布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」），任何时候都求的是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同时取值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的概率！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2352502-B3BD-8CD8-DE30-28BE5D8DF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3" y="5543319"/>
                <a:ext cx="10565995" cy="307777"/>
              </a:xfrm>
              <a:prstGeom prst="rect">
                <a:avLst/>
              </a:prstGeom>
              <a:blipFill>
                <a:blip r:embed="rId11"/>
                <a:stretch>
                  <a:fillRect l="-173" t="-392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433A6525-4DF4-2DB8-8AED-5D288CCCE7B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142571" y="2588205"/>
            <a:ext cx="1976721" cy="1034689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head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0860EDEC-9A02-9FF4-6BDA-E6D6697C28E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194890" y="2696578"/>
            <a:ext cx="1841862" cy="940833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8F9F2D2E-81B8-8A9A-8DA3-939B8F63DD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69997" y="2588205"/>
            <a:ext cx="1976721" cy="1034689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head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BA067165-38C9-F572-E41F-807F03794C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56873" y="2685152"/>
            <a:ext cx="1841862" cy="940833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4856086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8D20D572-17B1-9F03-3296-FDF886A5D141}"/>
              </a:ext>
            </a:extLst>
          </p:cNvPr>
          <p:cNvGrpSpPr/>
          <p:nvPr/>
        </p:nvGrpSpPr>
        <p:grpSpPr>
          <a:xfrm>
            <a:off x="6145254" y="3989559"/>
            <a:ext cx="1714514" cy="1611442"/>
            <a:chOff x="6153227" y="3989559"/>
            <a:chExt cx="1496907" cy="1611442"/>
          </a:xfrm>
        </p:grpSpPr>
        <p:sp>
          <p:nvSpPr>
            <p:cNvPr id="229" name="矩形: 圆角 226">
              <a:extLst>
                <a:ext uri="{FF2B5EF4-FFF2-40B4-BE49-F238E27FC236}">
                  <a16:creationId xmlns:a16="http://schemas.microsoft.com/office/drawing/2014/main" id="{C52747BD-7AC2-6CB1-6E3F-7EDF0D7488EE}"/>
                </a:ext>
              </a:extLst>
            </p:cNvPr>
            <p:cNvSpPr/>
            <p:nvPr/>
          </p:nvSpPr>
          <p:spPr>
            <a:xfrm flipH="1">
              <a:off x="6208057" y="3989559"/>
              <a:ext cx="1420906" cy="1611442"/>
            </a:xfrm>
            <a:custGeom>
              <a:avLst/>
              <a:gdLst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0 w 1420906"/>
                <a:gd name="connsiteY8" fmla="*/ 23682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91440 w 1420906"/>
                <a:gd name="connsiteY8" fmla="*/ 3282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0757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232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5933 w 1420906"/>
                <a:gd name="connsiteY8" fmla="*/ 1526534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906" h="1926767">
                  <a:moveTo>
                    <a:pt x="0" y="236822"/>
                  </a:moveTo>
                  <a:cubicBezTo>
                    <a:pt x="0" y="106029"/>
                    <a:pt x="106029" y="0"/>
                    <a:pt x="236822" y="0"/>
                  </a:cubicBezTo>
                  <a:lnTo>
                    <a:pt x="1184084" y="0"/>
                  </a:lnTo>
                  <a:cubicBezTo>
                    <a:pt x="1314877" y="0"/>
                    <a:pt x="1420906" y="106029"/>
                    <a:pt x="1420906" y="236822"/>
                  </a:cubicBezTo>
                  <a:lnTo>
                    <a:pt x="1420906" y="1689945"/>
                  </a:lnTo>
                  <a:cubicBezTo>
                    <a:pt x="1420906" y="1820738"/>
                    <a:pt x="1314877" y="1926767"/>
                    <a:pt x="1184084" y="1926767"/>
                  </a:cubicBezTo>
                  <a:lnTo>
                    <a:pt x="236822" y="1926767"/>
                  </a:lnTo>
                  <a:cubicBezTo>
                    <a:pt x="106029" y="1926767"/>
                    <a:pt x="0" y="1820738"/>
                    <a:pt x="0" y="1689945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7F957921-1EA0-F4B5-B745-BFE585FAF895}"/>
                    </a:ext>
                  </a:extLst>
                </p:cNvPr>
                <p:cNvSpPr txBox="1"/>
                <p:nvPr/>
              </p:nvSpPr>
              <p:spPr>
                <a:xfrm>
                  <a:off x="6314589" y="4490234"/>
                  <a:ext cx="9002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)≥0</m:t>
                        </m:r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7F957921-1EA0-F4B5-B745-BFE585FAF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589" y="4490234"/>
                  <a:ext cx="900227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ACEF158C-23D2-3BE1-3167-98038AC91BE8}"/>
                    </a:ext>
                  </a:extLst>
                </p:cNvPr>
                <p:cNvSpPr txBox="1"/>
                <p:nvPr/>
              </p:nvSpPr>
              <p:spPr>
                <a:xfrm>
                  <a:off x="6153227" y="4865419"/>
                  <a:ext cx="1496907" cy="6851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ctrlPr>
                              <a:rPr lang="zh-CN" altLang="en-US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</m:sup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1200" b="1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𝒙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𝒅𝒙𝒅𝒚</m:t>
                            </m:r>
                          </m:e>
                        </m:nary>
                      </m:oMath>
                    </m:oMathPara>
                  </a14:m>
                  <a:endParaRPr lang="en-US" altLang="zh-CN" sz="1200" b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ACEF158C-23D2-3BE1-3167-98038AC91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3227" y="4865419"/>
                  <a:ext cx="1496907" cy="685188"/>
                </a:xfrm>
                <a:prstGeom prst="rect">
                  <a:avLst/>
                </a:prstGeom>
                <a:blipFill>
                  <a:blip r:embed="rId4"/>
                  <a:stretch>
                    <a:fillRect l="-24199" t="-105310" b="-1300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3E90A396-06F6-5B39-32B7-80CA4C1C27BE}"/>
                    </a:ext>
                  </a:extLst>
                </p:cNvPr>
                <p:cNvSpPr txBox="1"/>
                <p:nvPr/>
              </p:nvSpPr>
              <p:spPr>
                <a:xfrm>
                  <a:off x="6269744" y="4129950"/>
                  <a:ext cx="133187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3E90A396-06F6-5B39-32B7-80CA4C1C2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44" y="4129950"/>
                  <a:ext cx="1331879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CF8510BC-C87A-20F9-B978-24428793674F}"/>
                </a:ext>
              </a:extLst>
            </p:cNvPr>
            <p:cNvCxnSpPr/>
            <p:nvPr/>
          </p:nvCxnSpPr>
          <p:spPr>
            <a:xfrm>
              <a:off x="6314589" y="4808749"/>
              <a:ext cx="958847" cy="0"/>
            </a:xfrm>
            <a:prstGeom prst="line">
              <a:avLst/>
            </a:prstGeom>
            <a:ln w="12700">
              <a:solidFill>
                <a:srgbClr val="00B0F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D0BECABD-B97B-AF31-C868-8FEAF8CC03F8}"/>
                </a:ext>
              </a:extLst>
            </p:cNvPr>
            <p:cNvCxnSpPr/>
            <p:nvPr/>
          </p:nvCxnSpPr>
          <p:spPr>
            <a:xfrm>
              <a:off x="6314588" y="4449334"/>
              <a:ext cx="958847" cy="0"/>
            </a:xfrm>
            <a:prstGeom prst="line">
              <a:avLst/>
            </a:prstGeom>
            <a:ln w="12700">
              <a:solidFill>
                <a:srgbClr val="00B0F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20D58D54-5E02-5A26-14F6-9A1EE029BBC5}"/>
              </a:ext>
            </a:extLst>
          </p:cNvPr>
          <p:cNvGrpSpPr/>
          <p:nvPr/>
        </p:nvGrpSpPr>
        <p:grpSpPr>
          <a:xfrm>
            <a:off x="4356475" y="3989559"/>
            <a:ext cx="1627466" cy="1611442"/>
            <a:chOff x="4563035" y="3989559"/>
            <a:chExt cx="1420906" cy="1611442"/>
          </a:xfrm>
        </p:grpSpPr>
        <p:sp>
          <p:nvSpPr>
            <p:cNvPr id="227" name="矩形: 圆角 226">
              <a:extLst>
                <a:ext uri="{FF2B5EF4-FFF2-40B4-BE49-F238E27FC236}">
                  <a16:creationId xmlns:a16="http://schemas.microsoft.com/office/drawing/2014/main" id="{88C227D4-7D06-03D5-C6AB-5C4FBA4537CC}"/>
                </a:ext>
              </a:extLst>
            </p:cNvPr>
            <p:cNvSpPr/>
            <p:nvPr/>
          </p:nvSpPr>
          <p:spPr>
            <a:xfrm>
              <a:off x="4563035" y="3989559"/>
              <a:ext cx="1420906" cy="1611442"/>
            </a:xfrm>
            <a:custGeom>
              <a:avLst/>
              <a:gdLst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0 w 1420906"/>
                <a:gd name="connsiteY8" fmla="*/ 23682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91440 w 1420906"/>
                <a:gd name="connsiteY8" fmla="*/ 3282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0757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232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5933 w 1420906"/>
                <a:gd name="connsiteY8" fmla="*/ 1526534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906" h="1926767">
                  <a:moveTo>
                    <a:pt x="0" y="236822"/>
                  </a:moveTo>
                  <a:cubicBezTo>
                    <a:pt x="0" y="106029"/>
                    <a:pt x="106029" y="0"/>
                    <a:pt x="236822" y="0"/>
                  </a:cubicBezTo>
                  <a:lnTo>
                    <a:pt x="1184084" y="0"/>
                  </a:lnTo>
                  <a:cubicBezTo>
                    <a:pt x="1314877" y="0"/>
                    <a:pt x="1420906" y="106029"/>
                    <a:pt x="1420906" y="236822"/>
                  </a:cubicBezTo>
                  <a:lnTo>
                    <a:pt x="1420906" y="1689945"/>
                  </a:lnTo>
                  <a:cubicBezTo>
                    <a:pt x="1420906" y="1820738"/>
                    <a:pt x="1314877" y="1926767"/>
                    <a:pt x="1184084" y="1926767"/>
                  </a:cubicBezTo>
                  <a:lnTo>
                    <a:pt x="236822" y="1926767"/>
                  </a:lnTo>
                  <a:cubicBezTo>
                    <a:pt x="106029" y="1926767"/>
                    <a:pt x="0" y="1820738"/>
                    <a:pt x="0" y="1689945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092F397E-8370-973A-D4DE-240D0F147CEE}"/>
                    </a:ext>
                  </a:extLst>
                </p:cNvPr>
                <p:cNvSpPr txBox="1"/>
                <p:nvPr/>
              </p:nvSpPr>
              <p:spPr>
                <a:xfrm>
                  <a:off x="4800275" y="4101751"/>
                  <a:ext cx="109464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 altLang="zh-CN" sz="1200" b="0" dirty="0"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[0,1]</m:t>
                        </m:r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092F397E-8370-973A-D4DE-240D0F147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275" y="4101751"/>
                  <a:ext cx="1094640" cy="553998"/>
                </a:xfrm>
                <a:prstGeom prst="rect">
                  <a:avLst/>
                </a:prstGeom>
                <a:blipFill>
                  <a:blip r:embed="rId6"/>
                  <a:stretch>
                    <a:fillRect b="-10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1265332-98EF-69C4-0B91-CFC8069D49F3}"/>
                    </a:ext>
                  </a:extLst>
                </p:cNvPr>
                <p:cNvSpPr txBox="1"/>
                <p:nvPr/>
              </p:nvSpPr>
              <p:spPr>
                <a:xfrm>
                  <a:off x="4604604" y="4742884"/>
                  <a:ext cx="1363321" cy="803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altLang="zh-CN" sz="1200" b="1" dirty="0">
                    <a:ea typeface="仿宋" panose="02010609060101010101" pitchFamily="49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altLang="zh-CN" sz="1200" b="1" dirty="0"/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1265332-98EF-69C4-0B91-CFC8069D4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604" y="4742884"/>
                  <a:ext cx="1363321" cy="8036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91ABB8A5-CAE9-E5BF-6C21-1416581A8D87}"/>
                </a:ext>
              </a:extLst>
            </p:cNvPr>
            <p:cNvCxnSpPr/>
            <p:nvPr/>
          </p:nvCxnSpPr>
          <p:spPr>
            <a:xfrm>
              <a:off x="4936067" y="4727091"/>
              <a:ext cx="958847" cy="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471474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B4278F36-9D28-05E4-08DA-1714905801A2}"/>
              </a:ext>
            </a:extLst>
          </p:cNvPr>
          <p:cNvGrpSpPr/>
          <p:nvPr/>
        </p:nvGrpSpPr>
        <p:grpSpPr>
          <a:xfrm>
            <a:off x="7628963" y="1985802"/>
            <a:ext cx="1752556" cy="975299"/>
            <a:chOff x="7151697" y="1985802"/>
            <a:chExt cx="1384237" cy="975299"/>
          </a:xfrm>
        </p:grpSpPr>
        <p:sp>
          <p:nvSpPr>
            <p:cNvPr id="264" name="矩形: 圆角 261">
              <a:extLst>
                <a:ext uri="{FF2B5EF4-FFF2-40B4-BE49-F238E27FC236}">
                  <a16:creationId xmlns:a16="http://schemas.microsoft.com/office/drawing/2014/main" id="{9086F020-1256-35D5-E3C3-80FCE31D4147}"/>
                </a:ext>
              </a:extLst>
            </p:cNvPr>
            <p:cNvSpPr/>
            <p:nvPr/>
          </p:nvSpPr>
          <p:spPr>
            <a:xfrm flipH="1">
              <a:off x="7242535" y="1985802"/>
              <a:ext cx="1293399" cy="975299"/>
            </a:xfrm>
            <a:custGeom>
              <a:avLst/>
              <a:gdLst>
                <a:gd name="connsiteX0" fmla="*/ 0 w 1293399"/>
                <a:gd name="connsiteY0" fmla="*/ 47809 h 975299"/>
                <a:gd name="connsiteX1" fmla="*/ 47809 w 1293399"/>
                <a:gd name="connsiteY1" fmla="*/ 0 h 975299"/>
                <a:gd name="connsiteX2" fmla="*/ 1245590 w 1293399"/>
                <a:gd name="connsiteY2" fmla="*/ 0 h 975299"/>
                <a:gd name="connsiteX3" fmla="*/ 1293399 w 1293399"/>
                <a:gd name="connsiteY3" fmla="*/ 47809 h 975299"/>
                <a:gd name="connsiteX4" fmla="*/ 1293399 w 1293399"/>
                <a:gd name="connsiteY4" fmla="*/ 927490 h 975299"/>
                <a:gd name="connsiteX5" fmla="*/ 1245590 w 1293399"/>
                <a:gd name="connsiteY5" fmla="*/ 975299 h 975299"/>
                <a:gd name="connsiteX6" fmla="*/ 47809 w 1293399"/>
                <a:gd name="connsiteY6" fmla="*/ 975299 h 975299"/>
                <a:gd name="connsiteX7" fmla="*/ 0 w 1293399"/>
                <a:gd name="connsiteY7" fmla="*/ 927490 h 975299"/>
                <a:gd name="connsiteX8" fmla="*/ 0 w 1293399"/>
                <a:gd name="connsiteY8" fmla="*/ 47809 h 975299"/>
                <a:gd name="connsiteX0" fmla="*/ 1293399 w 1384839"/>
                <a:gd name="connsiteY0" fmla="*/ 927490 h 1018930"/>
                <a:gd name="connsiteX1" fmla="*/ 1245590 w 1384839"/>
                <a:gd name="connsiteY1" fmla="*/ 975299 h 1018930"/>
                <a:gd name="connsiteX2" fmla="*/ 47809 w 1384839"/>
                <a:gd name="connsiteY2" fmla="*/ 975299 h 1018930"/>
                <a:gd name="connsiteX3" fmla="*/ 0 w 1384839"/>
                <a:gd name="connsiteY3" fmla="*/ 927490 h 1018930"/>
                <a:gd name="connsiteX4" fmla="*/ 0 w 1384839"/>
                <a:gd name="connsiteY4" fmla="*/ 47809 h 1018930"/>
                <a:gd name="connsiteX5" fmla="*/ 47809 w 1384839"/>
                <a:gd name="connsiteY5" fmla="*/ 0 h 1018930"/>
                <a:gd name="connsiteX6" fmla="*/ 1245590 w 1384839"/>
                <a:gd name="connsiteY6" fmla="*/ 0 h 1018930"/>
                <a:gd name="connsiteX7" fmla="*/ 1293399 w 1384839"/>
                <a:gd name="connsiteY7" fmla="*/ 47809 h 1018930"/>
                <a:gd name="connsiteX8" fmla="*/ 1384839 w 1384839"/>
                <a:gd name="connsiteY8" fmla="*/ 1018930 h 1018930"/>
                <a:gd name="connsiteX0" fmla="*/ 1293399 w 1293399"/>
                <a:gd name="connsiteY0" fmla="*/ 927490 h 975299"/>
                <a:gd name="connsiteX1" fmla="*/ 1245590 w 1293399"/>
                <a:gd name="connsiteY1" fmla="*/ 975299 h 975299"/>
                <a:gd name="connsiteX2" fmla="*/ 47809 w 1293399"/>
                <a:gd name="connsiteY2" fmla="*/ 975299 h 975299"/>
                <a:gd name="connsiteX3" fmla="*/ 0 w 1293399"/>
                <a:gd name="connsiteY3" fmla="*/ 927490 h 975299"/>
                <a:gd name="connsiteX4" fmla="*/ 0 w 1293399"/>
                <a:gd name="connsiteY4" fmla="*/ 47809 h 975299"/>
                <a:gd name="connsiteX5" fmla="*/ 47809 w 1293399"/>
                <a:gd name="connsiteY5" fmla="*/ 0 h 975299"/>
                <a:gd name="connsiteX6" fmla="*/ 1245590 w 1293399"/>
                <a:gd name="connsiteY6" fmla="*/ 0 h 975299"/>
                <a:gd name="connsiteX7" fmla="*/ 1293399 w 1293399"/>
                <a:gd name="connsiteY7" fmla="*/ 47809 h 975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3399" h="975299">
                  <a:moveTo>
                    <a:pt x="1293399" y="927490"/>
                  </a:moveTo>
                  <a:cubicBezTo>
                    <a:pt x="1293399" y="953894"/>
                    <a:pt x="1271994" y="975299"/>
                    <a:pt x="1245590" y="975299"/>
                  </a:cubicBezTo>
                  <a:lnTo>
                    <a:pt x="47809" y="975299"/>
                  </a:lnTo>
                  <a:cubicBezTo>
                    <a:pt x="21405" y="975299"/>
                    <a:pt x="0" y="953894"/>
                    <a:pt x="0" y="927490"/>
                  </a:cubicBezTo>
                  <a:lnTo>
                    <a:pt x="0" y="47809"/>
                  </a:lnTo>
                  <a:cubicBezTo>
                    <a:pt x="0" y="21405"/>
                    <a:pt x="21405" y="0"/>
                    <a:pt x="47809" y="0"/>
                  </a:cubicBezTo>
                  <a:lnTo>
                    <a:pt x="1245590" y="0"/>
                  </a:lnTo>
                  <a:cubicBezTo>
                    <a:pt x="1271994" y="0"/>
                    <a:pt x="1293399" y="21405"/>
                    <a:pt x="1293399" y="47809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F8B7DAE7-CCDB-6571-AF08-0A00BDDFC344}"/>
                    </a:ext>
                  </a:extLst>
                </p:cNvPr>
                <p:cNvSpPr txBox="1"/>
                <p:nvPr/>
              </p:nvSpPr>
              <p:spPr>
                <a:xfrm>
                  <a:off x="7465385" y="2060954"/>
                  <a:ext cx="103202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12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,−∞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𝟎</m:t>
                      </m:r>
                    </m:oMath>
                  </a14:m>
                  <a:endParaRPr lang="en-US" altLang="zh-CN" sz="1200" b="1" dirty="0"/>
                </a:p>
                <a:p>
                  <a:pPr algn="r"/>
                  <a:r>
                    <a:rPr lang="en-US" altLang="zh-CN" sz="12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∞,+∞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𝟏</m:t>
                      </m:r>
                    </m:oMath>
                  </a14:m>
                  <a:endParaRPr lang="en-US" altLang="zh-CN" sz="1200" b="1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F8B7DAE7-CCDB-6571-AF08-0A00BDDFC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5385" y="2060954"/>
                  <a:ext cx="1032028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63D9647-CAA7-539E-6A38-E6EEB535D6EC}"/>
                    </a:ext>
                  </a:extLst>
                </p:cNvPr>
                <p:cNvSpPr txBox="1"/>
                <p:nvPr/>
              </p:nvSpPr>
              <p:spPr>
                <a:xfrm>
                  <a:off x="7151697" y="2594900"/>
                  <a:ext cx="13512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1200" b="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*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𝑦</m:t>
                          </m:r>
                        </m:e>
                      </m:d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右连续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63D9647-CAA7-539E-6A38-E6EEB535D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97" y="2594900"/>
                  <a:ext cx="1351240" cy="276999"/>
                </a:xfrm>
                <a:prstGeom prst="rect">
                  <a:avLst/>
                </a:prstGeom>
                <a:blipFill>
                  <a:blip r:embed="rId9"/>
                  <a:stretch>
                    <a:fillRect t="-2222" r="-356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B1576175-FF76-AF2F-BF78-4BDBFA4B826F}"/>
                </a:ext>
              </a:extLst>
            </p:cNvPr>
            <p:cNvCxnSpPr/>
            <p:nvPr/>
          </p:nvCxnSpPr>
          <p:spPr>
            <a:xfrm>
              <a:off x="7487193" y="2560737"/>
              <a:ext cx="958847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FBB5D269-AFA5-005B-1A20-FED770F99633}"/>
              </a:ext>
            </a:extLst>
          </p:cNvPr>
          <p:cNvGrpSpPr/>
          <p:nvPr/>
        </p:nvGrpSpPr>
        <p:grpSpPr>
          <a:xfrm>
            <a:off x="2718927" y="1983873"/>
            <a:ext cx="1637548" cy="975299"/>
            <a:chOff x="3656064" y="1983873"/>
            <a:chExt cx="1293399" cy="975299"/>
          </a:xfrm>
        </p:grpSpPr>
        <p:sp>
          <p:nvSpPr>
            <p:cNvPr id="262" name="矩形: 圆角 261">
              <a:extLst>
                <a:ext uri="{FF2B5EF4-FFF2-40B4-BE49-F238E27FC236}">
                  <a16:creationId xmlns:a16="http://schemas.microsoft.com/office/drawing/2014/main" id="{F68B329E-7AFB-C2A2-0F58-520EAAA9BB31}"/>
                </a:ext>
              </a:extLst>
            </p:cNvPr>
            <p:cNvSpPr/>
            <p:nvPr/>
          </p:nvSpPr>
          <p:spPr>
            <a:xfrm>
              <a:off x="3656064" y="1983873"/>
              <a:ext cx="1293399" cy="975299"/>
            </a:xfrm>
            <a:custGeom>
              <a:avLst/>
              <a:gdLst>
                <a:gd name="connsiteX0" fmla="*/ 0 w 1293399"/>
                <a:gd name="connsiteY0" fmla="*/ 47809 h 975299"/>
                <a:gd name="connsiteX1" fmla="*/ 47809 w 1293399"/>
                <a:gd name="connsiteY1" fmla="*/ 0 h 975299"/>
                <a:gd name="connsiteX2" fmla="*/ 1245590 w 1293399"/>
                <a:gd name="connsiteY2" fmla="*/ 0 h 975299"/>
                <a:gd name="connsiteX3" fmla="*/ 1293399 w 1293399"/>
                <a:gd name="connsiteY3" fmla="*/ 47809 h 975299"/>
                <a:gd name="connsiteX4" fmla="*/ 1293399 w 1293399"/>
                <a:gd name="connsiteY4" fmla="*/ 927490 h 975299"/>
                <a:gd name="connsiteX5" fmla="*/ 1245590 w 1293399"/>
                <a:gd name="connsiteY5" fmla="*/ 975299 h 975299"/>
                <a:gd name="connsiteX6" fmla="*/ 47809 w 1293399"/>
                <a:gd name="connsiteY6" fmla="*/ 975299 h 975299"/>
                <a:gd name="connsiteX7" fmla="*/ 0 w 1293399"/>
                <a:gd name="connsiteY7" fmla="*/ 927490 h 975299"/>
                <a:gd name="connsiteX8" fmla="*/ 0 w 1293399"/>
                <a:gd name="connsiteY8" fmla="*/ 47809 h 975299"/>
                <a:gd name="connsiteX0" fmla="*/ 1293399 w 1384839"/>
                <a:gd name="connsiteY0" fmla="*/ 927490 h 1018930"/>
                <a:gd name="connsiteX1" fmla="*/ 1245590 w 1384839"/>
                <a:gd name="connsiteY1" fmla="*/ 975299 h 1018930"/>
                <a:gd name="connsiteX2" fmla="*/ 47809 w 1384839"/>
                <a:gd name="connsiteY2" fmla="*/ 975299 h 1018930"/>
                <a:gd name="connsiteX3" fmla="*/ 0 w 1384839"/>
                <a:gd name="connsiteY3" fmla="*/ 927490 h 1018930"/>
                <a:gd name="connsiteX4" fmla="*/ 0 w 1384839"/>
                <a:gd name="connsiteY4" fmla="*/ 47809 h 1018930"/>
                <a:gd name="connsiteX5" fmla="*/ 47809 w 1384839"/>
                <a:gd name="connsiteY5" fmla="*/ 0 h 1018930"/>
                <a:gd name="connsiteX6" fmla="*/ 1245590 w 1384839"/>
                <a:gd name="connsiteY6" fmla="*/ 0 h 1018930"/>
                <a:gd name="connsiteX7" fmla="*/ 1293399 w 1384839"/>
                <a:gd name="connsiteY7" fmla="*/ 47809 h 1018930"/>
                <a:gd name="connsiteX8" fmla="*/ 1384839 w 1384839"/>
                <a:gd name="connsiteY8" fmla="*/ 1018930 h 1018930"/>
                <a:gd name="connsiteX0" fmla="*/ 1293399 w 1293399"/>
                <a:gd name="connsiteY0" fmla="*/ 927490 h 975299"/>
                <a:gd name="connsiteX1" fmla="*/ 1245590 w 1293399"/>
                <a:gd name="connsiteY1" fmla="*/ 975299 h 975299"/>
                <a:gd name="connsiteX2" fmla="*/ 47809 w 1293399"/>
                <a:gd name="connsiteY2" fmla="*/ 975299 h 975299"/>
                <a:gd name="connsiteX3" fmla="*/ 0 w 1293399"/>
                <a:gd name="connsiteY3" fmla="*/ 927490 h 975299"/>
                <a:gd name="connsiteX4" fmla="*/ 0 w 1293399"/>
                <a:gd name="connsiteY4" fmla="*/ 47809 h 975299"/>
                <a:gd name="connsiteX5" fmla="*/ 47809 w 1293399"/>
                <a:gd name="connsiteY5" fmla="*/ 0 h 975299"/>
                <a:gd name="connsiteX6" fmla="*/ 1245590 w 1293399"/>
                <a:gd name="connsiteY6" fmla="*/ 0 h 975299"/>
                <a:gd name="connsiteX7" fmla="*/ 1293399 w 1293399"/>
                <a:gd name="connsiteY7" fmla="*/ 47809 h 975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3399" h="975299">
                  <a:moveTo>
                    <a:pt x="1293399" y="927490"/>
                  </a:moveTo>
                  <a:cubicBezTo>
                    <a:pt x="1293399" y="953894"/>
                    <a:pt x="1271994" y="975299"/>
                    <a:pt x="1245590" y="975299"/>
                  </a:cubicBezTo>
                  <a:lnTo>
                    <a:pt x="47809" y="975299"/>
                  </a:lnTo>
                  <a:cubicBezTo>
                    <a:pt x="21405" y="975299"/>
                    <a:pt x="0" y="953894"/>
                    <a:pt x="0" y="927490"/>
                  </a:cubicBezTo>
                  <a:lnTo>
                    <a:pt x="0" y="47809"/>
                  </a:lnTo>
                  <a:cubicBezTo>
                    <a:pt x="0" y="21405"/>
                    <a:pt x="21405" y="0"/>
                    <a:pt x="47809" y="0"/>
                  </a:cubicBezTo>
                  <a:lnTo>
                    <a:pt x="1245590" y="0"/>
                  </a:lnTo>
                  <a:cubicBezTo>
                    <a:pt x="1271994" y="0"/>
                    <a:pt x="1293399" y="21405"/>
                    <a:pt x="1293399" y="47809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EBEE4D60-647A-13EF-0059-3143FCC466BA}"/>
                    </a:ext>
                  </a:extLst>
                </p:cNvPr>
                <p:cNvSpPr txBox="1"/>
                <p:nvPr/>
              </p:nvSpPr>
              <p:spPr>
                <a:xfrm>
                  <a:off x="3694585" y="2093842"/>
                  <a:ext cx="107442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𝑦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)∈[0,1]</m:t>
                      </m:r>
                    </m:oMath>
                  </a14:m>
                  <a:r>
                    <a:rPr lang="en-US" altLang="zh-CN" sz="1200" dirty="0"/>
                    <a:t> </a:t>
                  </a:r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EBEE4D60-647A-13EF-0059-3143FCC466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585" y="2093842"/>
                  <a:ext cx="1074423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9C46C49D-5911-7A7E-82A0-3CC07CE5494E}"/>
                    </a:ext>
                  </a:extLst>
                </p:cNvPr>
                <p:cNvSpPr txBox="1"/>
                <p:nvPr/>
              </p:nvSpPr>
              <p:spPr>
                <a:xfrm>
                  <a:off x="3694585" y="2545342"/>
                  <a:ext cx="116403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𝑦</m:t>
                          </m:r>
                        </m:e>
                      </m:d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单调不减 </a:t>
                  </a:r>
                  <a:r>
                    <a: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*</a:t>
                  </a:r>
                </a:p>
              </p:txBody>
            </p:sp>
          </mc:Choice>
          <mc:Fallback xmlns="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9C46C49D-5911-7A7E-82A0-3CC07CE54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585" y="2545342"/>
                  <a:ext cx="1164039" cy="276999"/>
                </a:xfrm>
                <a:prstGeom prst="rect">
                  <a:avLst/>
                </a:prstGeom>
                <a:blipFill>
                  <a:blip r:embed="rId11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B1631171-24A0-AB5C-BB68-07608908F788}"/>
                </a:ext>
              </a:extLst>
            </p:cNvPr>
            <p:cNvCxnSpPr/>
            <p:nvPr/>
          </p:nvCxnSpPr>
          <p:spPr>
            <a:xfrm>
              <a:off x="3752372" y="2471474"/>
              <a:ext cx="958847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4159328" y="1463808"/>
            <a:ext cx="387630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二维随机变量的联合分布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/>
              <p:nvPr/>
            </p:nvSpPr>
            <p:spPr>
              <a:xfrm>
                <a:off x="4159328" y="2055976"/>
                <a:ext cx="3865211" cy="7848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联合分布函数：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&lt;+∞,−∞&lt;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altLang="zh-CN" sz="12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328" y="2055976"/>
                <a:ext cx="3865211" cy="7848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BAEC8E7-E7BF-3BF1-70C6-1E24302C88F1}"/>
                  </a:ext>
                </a:extLst>
              </p:cNvPr>
              <p:cNvSpPr txBox="1"/>
              <p:nvPr/>
            </p:nvSpPr>
            <p:spPr>
              <a:xfrm>
                <a:off x="576364" y="4379782"/>
                <a:ext cx="3827723" cy="86446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联合分布律：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=1,2,3,…)</m:t>
                      </m:r>
                    </m:oMath>
                  </m:oMathPara>
                </a14:m>
                <a:endParaRPr lang="en-US" altLang="zh-CN" sz="14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BAEC8E7-E7BF-3BF1-70C6-1E24302C8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4379782"/>
                <a:ext cx="3827723" cy="8644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ECF39F-49C7-E135-1CFD-2A356FF935B5}"/>
                  </a:ext>
                </a:extLst>
              </p:cNvPr>
              <p:cNvSpPr txBox="1"/>
              <p:nvPr/>
            </p:nvSpPr>
            <p:spPr>
              <a:xfrm>
                <a:off x="7787913" y="4379783"/>
                <a:ext cx="3827723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联合密度函数：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&lt;+∞,−∞&lt;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altLang="zh-CN" sz="14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ECF39F-49C7-E135-1CFD-2A356FF93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13" y="4379783"/>
                <a:ext cx="3827723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6F6DDFC-D387-341F-7E07-A69C8164C540}"/>
              </a:ext>
            </a:extLst>
          </p:cNvPr>
          <p:cNvSpPr/>
          <p:nvPr/>
        </p:nvSpPr>
        <p:spPr>
          <a:xfrm>
            <a:off x="1119775" y="3742211"/>
            <a:ext cx="2595208" cy="5182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离散型随机变量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B41E77C-AE95-7F1C-0A85-F101081A11D4}"/>
              </a:ext>
            </a:extLst>
          </p:cNvPr>
          <p:cNvSpPr/>
          <p:nvPr/>
        </p:nvSpPr>
        <p:spPr>
          <a:xfrm>
            <a:off x="8404170" y="3742211"/>
            <a:ext cx="2595208" cy="518255"/>
          </a:xfrm>
          <a:prstGeom prst="roundRect">
            <a:avLst/>
          </a:pr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连续型随机变量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9314424-FA49-AEE7-EFD0-C05B1E9753D3}"/>
                  </a:ext>
                </a:extLst>
              </p:cNvPr>
              <p:cNvSpPr txBox="1"/>
              <p:nvPr/>
            </p:nvSpPr>
            <p:spPr>
              <a:xfrm>
                <a:off x="576363" y="5357386"/>
                <a:ext cx="3827723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离散型随机变量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取到值为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时的概率为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9314424-FA49-AEE7-EFD0-C05B1E975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3" y="5357386"/>
                <a:ext cx="3827723" cy="668645"/>
              </a:xfrm>
              <a:prstGeom prst="rect">
                <a:avLst/>
              </a:prstGeom>
              <a:blipFill>
                <a:blip r:embed="rId15"/>
                <a:stretch>
                  <a:fillRect l="-1435" t="-7273" b="-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9A4A4A8-EE1C-0A04-9F96-7EBE65F90123}"/>
                  </a:ext>
                </a:extLst>
              </p:cNvPr>
              <p:cNvSpPr txBox="1"/>
              <p:nvPr/>
            </p:nvSpPr>
            <p:spPr>
              <a:xfrm>
                <a:off x="7194177" y="5349114"/>
                <a:ext cx="4421459" cy="68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连续型随机变量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取到值在区域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上的概率为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𝑑𝑥𝑑𝑦</m:t>
                        </m:r>
                      </m:e>
                    </m:nary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9A4A4A8-EE1C-0A04-9F96-7EBE65F90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177" y="5349114"/>
                <a:ext cx="4421459" cy="689099"/>
              </a:xfrm>
              <a:prstGeom prst="rect">
                <a:avLst/>
              </a:prstGeom>
              <a:blipFill>
                <a:blip r:embed="rId16"/>
                <a:stretch>
                  <a:fillRect t="-38596" r="-414" b="-1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BF2498B-8284-0348-8DE2-8CE70A6964F3}"/>
                  </a:ext>
                </a:extLst>
              </p:cNvPr>
              <p:cNvSpPr txBox="1"/>
              <p:nvPr/>
            </p:nvSpPr>
            <p:spPr>
              <a:xfrm>
                <a:off x="3012699" y="2877252"/>
                <a:ext cx="6162265" cy="77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取到值在区域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上的概率为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𝐹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BF2498B-8284-0348-8DE2-8CE70A696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699" y="2877252"/>
                <a:ext cx="6162265" cy="7720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文本框 155">
            <a:extLst>
              <a:ext uri="{FF2B5EF4-FFF2-40B4-BE49-F238E27FC236}">
                <a16:creationId xmlns:a16="http://schemas.microsoft.com/office/drawing/2014/main" id="{0C322A20-A353-ED09-B510-E8F995C480E3}"/>
              </a:ext>
            </a:extLst>
          </p:cNvPr>
          <p:cNvSpPr txBox="1"/>
          <p:nvPr/>
        </p:nvSpPr>
        <p:spPr>
          <a:xfrm>
            <a:off x="10181184" y="2877174"/>
            <a:ext cx="677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二重积分</a:t>
            </a:r>
            <a:endParaRPr lang="zh-CN" altLang="en-US" dirty="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823ACE6-53C6-473E-22EB-396F02E87349}"/>
              </a:ext>
            </a:extLst>
          </p:cNvPr>
          <p:cNvSpPr txBox="1"/>
          <p:nvPr/>
        </p:nvSpPr>
        <p:spPr>
          <a:xfrm>
            <a:off x="9303096" y="2788418"/>
            <a:ext cx="6776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二阶混合偏导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506B83E-5DE0-708B-B46B-4A8D2F7DD8E7}"/>
              </a:ext>
            </a:extLst>
          </p:cNvPr>
          <p:cNvSpPr txBox="1"/>
          <p:nvPr/>
        </p:nvSpPr>
        <p:spPr>
          <a:xfrm>
            <a:off x="1257300" y="3060292"/>
            <a:ext cx="769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求和</a:t>
            </a:r>
            <a:endParaRPr lang="zh-CN" altLang="en-US" dirty="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4CFE8A5-9559-9A17-EF3F-F02BA19164F6}"/>
              </a:ext>
            </a:extLst>
          </p:cNvPr>
          <p:cNvSpPr txBox="1"/>
          <p:nvPr/>
        </p:nvSpPr>
        <p:spPr>
          <a:xfrm>
            <a:off x="2222182" y="3069474"/>
            <a:ext cx="790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求差</a:t>
            </a:r>
            <a:endParaRPr lang="zh-CN" altLang="en-US" dirty="0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D2D761A5-784C-98C5-1F53-31B0CF8B54CA}"/>
              </a:ext>
            </a:extLst>
          </p:cNvPr>
          <p:cNvSpPr/>
          <p:nvPr/>
        </p:nvSpPr>
        <p:spPr>
          <a:xfrm>
            <a:off x="5668352" y="5354895"/>
            <a:ext cx="108009" cy="108009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星形: 五角 5">
            <a:extLst>
              <a:ext uri="{FF2B5EF4-FFF2-40B4-BE49-F238E27FC236}">
                <a16:creationId xmlns:a16="http://schemas.microsoft.com/office/drawing/2014/main" id="{DB341450-4F53-F78D-1371-F49D49D706DE}"/>
              </a:ext>
            </a:extLst>
          </p:cNvPr>
          <p:cNvSpPr/>
          <p:nvPr/>
        </p:nvSpPr>
        <p:spPr>
          <a:xfrm>
            <a:off x="6427761" y="5353445"/>
            <a:ext cx="108009" cy="108009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497D089C-4184-3382-9625-9DA19D4B7245}"/>
              </a:ext>
            </a:extLst>
          </p:cNvPr>
          <p:cNvSpPr/>
          <p:nvPr/>
        </p:nvSpPr>
        <p:spPr>
          <a:xfrm>
            <a:off x="8140885" y="2103490"/>
            <a:ext cx="108009" cy="108009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2DDD8A-4785-AFCC-0A2A-5B6E2F66863D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8CD86D-0C8E-B5B9-3248-7FAD10FD239C}"/>
              </a:ext>
            </a:extLst>
          </p:cNvPr>
          <p:cNvSpPr txBox="1"/>
          <p:nvPr/>
        </p:nvSpPr>
        <p:spPr>
          <a:xfrm>
            <a:off x="4672852" y="775742"/>
            <a:ext cx="2447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二维随机变量的联合分布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317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1" grpId="0" animBg="1"/>
      <p:bldP spid="15" grpId="0" animBg="1"/>
      <p:bldP spid="28" grpId="0" animBg="1"/>
      <p:bldP spid="29" grpId="0" animBg="1"/>
      <p:bldP spid="30" grpId="0" animBg="1"/>
      <p:bldP spid="31" grpId="0"/>
      <p:bldP spid="32" grpId="0"/>
      <p:bldP spid="41" grpId="0"/>
      <p:bldP spid="156" grpId="0"/>
      <p:bldP spid="158" grpId="0"/>
      <p:bldP spid="160" grpId="0"/>
      <p:bldP spid="161" grpId="0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317176"/>
                <a:ext cx="11108176" cy="73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：设二维随机变量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的分布密度为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𝐾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−(3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+4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&gt;0,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0,                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，求：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(1)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常数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𝐾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；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(2)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的联合分布函数。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17176"/>
                <a:ext cx="11108176" cy="731867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4E17018-CDAD-DDCF-0310-F3CD0EAA430C}"/>
                  </a:ext>
                </a:extLst>
              </p:cNvPr>
              <p:cNvSpPr txBox="1"/>
              <p:nvPr/>
            </p:nvSpPr>
            <p:spPr>
              <a:xfrm>
                <a:off x="507459" y="2049043"/>
                <a:ext cx="11039272" cy="3862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解：（</a:t>
                </a: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∵</m:t>
                    </m:r>
                    <m:nary>
                      <m:nary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𝐾</m:t>
                    </m:r>
                    <m:nary>
                      <m:nary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−3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nary>
                          <m:nary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−4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nary>
                      </m:e>
                    </m:nary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    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nary>
                      <m:nary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nary>
                          <m:nary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−3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nary>
                          <m:nary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−4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−3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 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ea typeface="楷体" panose="02010609060101010101" pitchFamily="49" charset="-122"/>
                  </a:rPr>
                  <a:t>               则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b="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4E17018-CDAD-DDCF-0310-F3CD0EAA4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049043"/>
                <a:ext cx="11039272" cy="3862852"/>
              </a:xfrm>
              <a:prstGeom prst="rect">
                <a:avLst/>
              </a:prstGeom>
              <a:blipFill>
                <a:blip r:embed="rId4"/>
                <a:stretch>
                  <a:fillRect l="-442" t="-9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2551062-DA04-908A-38D9-09F73DDFD372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CAB5D1-D110-2FD7-1595-D633B6762F13}"/>
              </a:ext>
            </a:extLst>
          </p:cNvPr>
          <p:cNvSpPr txBox="1"/>
          <p:nvPr/>
        </p:nvSpPr>
        <p:spPr>
          <a:xfrm>
            <a:off x="4672852" y="775742"/>
            <a:ext cx="2447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二维随机变量的联合分布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77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4FFCC02-C648-4749-908B-6C68291A1EF8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61F28D-FFCB-6DBB-ED2A-1D76EA0915A3}"/>
              </a:ext>
            </a:extLst>
          </p:cNvPr>
          <p:cNvSpPr txBox="1"/>
          <p:nvPr/>
        </p:nvSpPr>
        <p:spPr>
          <a:xfrm>
            <a:off x="4672852" y="775742"/>
            <a:ext cx="2447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二维随机变量的联合分布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5E490C26-FC29-891B-3623-4799801BFD9F}"/>
                  </a:ext>
                </a:extLst>
              </p:cNvPr>
              <p:cNvSpPr txBox="1"/>
              <p:nvPr/>
            </p:nvSpPr>
            <p:spPr>
              <a:xfrm>
                <a:off x="507460" y="1493909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：设二维随机变量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在区域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: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≤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内服从均匀分布。求：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(1)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的联合密度函数；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(2)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}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5E490C26-FC29-891B-3623-4799801BF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93909"/>
                <a:ext cx="11108176" cy="338554"/>
              </a:xfrm>
              <a:prstGeom prst="rect">
                <a:avLst/>
              </a:prstGeom>
              <a:blipFill>
                <a:blip r:embed="rId3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F4B244F-E044-88E9-17D3-597A17E4176A}"/>
                  </a:ext>
                </a:extLst>
              </p:cNvPr>
              <p:cNvSpPr txBox="1"/>
              <p:nvPr/>
            </p:nvSpPr>
            <p:spPr>
              <a:xfrm>
                <a:off x="507459" y="1910730"/>
                <a:ext cx="9394716" cy="1567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解：（</a:t>
                </a: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）由题意，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≤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如图</m:t>
                    </m:r>
                  </m:oMath>
                </a14:m>
                <a:r>
                  <a:rPr lang="zh-CN" altLang="en-US" b="0" dirty="0">
                    <a:ea typeface="Cambria Math" panose="02040503050406030204" pitchFamily="18" charset="0"/>
                  </a:rPr>
                  <a:t>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hr m:val="∬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𝑑𝑥𝑑𝑦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b="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F4B244F-E044-88E9-17D3-597A17E41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1910730"/>
                <a:ext cx="9394716" cy="1567289"/>
              </a:xfrm>
              <a:prstGeom prst="rect">
                <a:avLst/>
              </a:prstGeom>
              <a:blipFill>
                <a:blip r:embed="rId4"/>
                <a:stretch>
                  <a:fillRect l="-519" b="-45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38F579F-4988-917A-786D-B3E6434C1AF5}"/>
              </a:ext>
            </a:extLst>
          </p:cNvPr>
          <p:cNvGrpSpPr/>
          <p:nvPr/>
        </p:nvGrpSpPr>
        <p:grpSpPr>
          <a:xfrm>
            <a:off x="9794480" y="1910730"/>
            <a:ext cx="1821156" cy="1567289"/>
            <a:chOff x="9902176" y="1910730"/>
            <a:chExt cx="1821156" cy="1567289"/>
          </a:xfrm>
        </p:grpSpPr>
        <p:sp>
          <p:nvSpPr>
            <p:cNvPr id="126" name="不完整圆 125">
              <a:extLst>
                <a:ext uri="{FF2B5EF4-FFF2-40B4-BE49-F238E27FC236}">
                  <a16:creationId xmlns:a16="http://schemas.microsoft.com/office/drawing/2014/main" id="{D12D309A-5FD9-1A86-64E7-4F3E012710FF}"/>
                </a:ext>
              </a:extLst>
            </p:cNvPr>
            <p:cNvSpPr/>
            <p:nvPr/>
          </p:nvSpPr>
          <p:spPr>
            <a:xfrm>
              <a:off x="10246773" y="2262998"/>
              <a:ext cx="942421" cy="942421"/>
            </a:xfrm>
            <a:prstGeom prst="pie">
              <a:avLst>
                <a:gd name="adj1" fmla="val 8123868"/>
                <a:gd name="adj2" fmla="val 1894093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7574E5BC-7210-3C33-0BA4-E5BA73A88F53}"/>
                </a:ext>
              </a:extLst>
            </p:cNvPr>
            <p:cNvGrpSpPr/>
            <p:nvPr/>
          </p:nvGrpSpPr>
          <p:grpSpPr>
            <a:xfrm>
              <a:off x="9902176" y="1910730"/>
              <a:ext cx="1821156" cy="1567289"/>
              <a:chOff x="9902176" y="1910730"/>
              <a:chExt cx="1821156" cy="1567289"/>
            </a:xfrm>
          </p:grpSpPr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E38B8258-90D1-2387-B88E-1409C2DE0033}"/>
                  </a:ext>
                </a:extLst>
              </p:cNvPr>
              <p:cNvGrpSpPr/>
              <p:nvPr/>
            </p:nvGrpSpPr>
            <p:grpSpPr>
              <a:xfrm>
                <a:off x="9902176" y="1995985"/>
                <a:ext cx="1644555" cy="1482034"/>
                <a:chOff x="9902176" y="1995985"/>
                <a:chExt cx="1644555" cy="1482034"/>
              </a:xfrm>
            </p:grpSpPr>
            <p:cxnSp>
              <p:nvCxnSpPr>
                <p:cNvPr id="94" name="直接箭头连接符 93">
                  <a:extLst>
                    <a:ext uri="{FF2B5EF4-FFF2-40B4-BE49-F238E27FC236}">
                      <a16:creationId xmlns:a16="http://schemas.microsoft.com/office/drawing/2014/main" id="{01140563-B9A1-7C20-6F61-9C59207FF924}"/>
                    </a:ext>
                  </a:extLst>
                </p:cNvPr>
                <p:cNvCxnSpPr/>
                <p:nvPr/>
              </p:nvCxnSpPr>
              <p:spPr>
                <a:xfrm>
                  <a:off x="9902176" y="2736376"/>
                  <a:ext cx="1644555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箭头连接符 94">
                  <a:extLst>
                    <a:ext uri="{FF2B5EF4-FFF2-40B4-BE49-F238E27FC236}">
                      <a16:creationId xmlns:a16="http://schemas.microsoft.com/office/drawing/2014/main" id="{0589F102-673A-8E98-C96B-72A6394926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05534" y="1995985"/>
                  <a:ext cx="0" cy="1482034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E16EEFDC-616B-4719-6BE3-896663CBD6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70130" y="2723863"/>
                    <a:ext cx="353202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𝑋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E16EEFDC-616B-4719-6BE3-896663CBD6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70130" y="2723863"/>
                    <a:ext cx="353202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8F2F7B85-99B1-7038-C871-C9D7257474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5534" y="1910730"/>
                    <a:ext cx="353202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𝑌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8F2F7B85-99B1-7038-C871-C9D7257474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5534" y="1910730"/>
                    <a:ext cx="353202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3672C2D-5B74-513B-ADD6-F8BDB13267B3}"/>
                </a:ext>
              </a:extLst>
            </p:cNvPr>
            <p:cNvSpPr/>
            <p:nvPr/>
          </p:nvSpPr>
          <p:spPr>
            <a:xfrm>
              <a:off x="10246773" y="2262998"/>
              <a:ext cx="946755" cy="946755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174968C4-FEB8-8868-E702-C25214F6C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5782" y="2229145"/>
              <a:ext cx="1052213" cy="10522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455F0455-D135-7DAC-3C24-8692F01059F2}"/>
                    </a:ext>
                  </a:extLst>
                </p:cNvPr>
                <p:cNvSpPr txBox="1"/>
                <p:nvPr/>
              </p:nvSpPr>
              <p:spPr>
                <a:xfrm>
                  <a:off x="10352332" y="2380896"/>
                  <a:ext cx="35320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455F0455-D135-7DAC-3C24-8692F0105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2332" y="2380896"/>
                  <a:ext cx="353202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C5E45D6-E962-8B75-0EC6-0C219EDEB3ED}"/>
                  </a:ext>
                </a:extLst>
              </p:cNvPr>
              <p:cNvSpPr txBox="1"/>
              <p:nvPr/>
            </p:nvSpPr>
            <p:spPr>
              <a:xfrm>
                <a:off x="507459" y="3894974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</a:t>
                </a:r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1,2,3,4</m:t>
                    </m:r>
                  </m:oMath>
                </a14:m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中随机地取一个数，另一随机变量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中随机地取一整数。求</a:t>
                </a:r>
                <a14:m>
                  <m:oMath xmlns:m="http://schemas.openxmlformats.org/officeDocument/2006/math"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cs typeface="Times New Roman" panose="02020603050405020304" pitchFamily="18" charset="0"/>
                  </a:rPr>
                  <a:t>的联合分布律。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C5E45D6-E962-8B75-0EC6-0C219EDEB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3894974"/>
                <a:ext cx="11108176" cy="338554"/>
              </a:xfrm>
              <a:prstGeom prst="rect">
                <a:avLst/>
              </a:prstGeom>
              <a:blipFill>
                <a:blip r:embed="rId8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7A98C851-5533-5D05-525A-E1635AB0248A}"/>
                  </a:ext>
                </a:extLst>
              </p:cNvPr>
              <p:cNvSpPr txBox="1"/>
              <p:nvPr/>
            </p:nvSpPr>
            <p:spPr>
              <a:xfrm>
                <a:off x="509625" y="4316680"/>
                <a:ext cx="11106009" cy="1319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可能的取值为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=1,2,3,4)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可能的取值为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𝑗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𝑗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=1,…,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的联合分布律如表所示。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7A98C851-5533-5D05-525A-E1635AB02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25" y="4316680"/>
                <a:ext cx="11106009" cy="1319079"/>
              </a:xfrm>
              <a:prstGeom prst="rect">
                <a:avLst/>
              </a:prstGeom>
              <a:blipFill>
                <a:blip r:embed="rId9"/>
                <a:stretch>
                  <a:fillRect l="-494" t="-3226" b="-5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87C4BE8D-00AC-69B2-285A-89B6DE034C21}"/>
              </a:ext>
            </a:extLst>
          </p:cNvPr>
          <p:cNvCxnSpPr>
            <a:cxnSpLocks/>
          </p:cNvCxnSpPr>
          <p:nvPr/>
        </p:nvCxnSpPr>
        <p:spPr>
          <a:xfrm>
            <a:off x="511212" y="3686092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2" name="Group 2">
                <a:extLst>
                  <a:ext uri="{FF2B5EF4-FFF2-40B4-BE49-F238E27FC236}">
                    <a16:creationId xmlns:a16="http://schemas.microsoft.com/office/drawing/2014/main" id="{3C51315E-8F65-999D-3342-014F12E5AB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327731"/>
                  </p:ext>
                </p:extLst>
              </p:nvPr>
            </p:nvGraphicFramePr>
            <p:xfrm>
              <a:off x="7714343" y="4316680"/>
              <a:ext cx="3803975" cy="1319079"/>
            </p:xfrm>
            <a:graphic>
              <a:graphicData uri="http://schemas.openxmlformats.org/drawingml/2006/table">
                <a:tbl>
                  <a:tblPr firstRow="1" firstCol="1">
                    <a:tableStyleId>{F5AB1C69-6EDB-4FF4-983F-18BD219EF322}</a:tableStyleId>
                  </a:tblPr>
                  <a:tblGrid>
                    <a:gridCol w="7607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8138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8138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7601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7601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7601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2" name="Group 2">
                <a:extLst>
                  <a:ext uri="{FF2B5EF4-FFF2-40B4-BE49-F238E27FC236}">
                    <a16:creationId xmlns:a16="http://schemas.microsoft.com/office/drawing/2014/main" id="{3C51315E-8F65-999D-3342-014F12E5AB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327731"/>
                  </p:ext>
                </p:extLst>
              </p:nvPr>
            </p:nvGraphicFramePr>
            <p:xfrm>
              <a:off x="7714343" y="4316680"/>
              <a:ext cx="3803975" cy="1319079"/>
            </p:xfrm>
            <a:graphic>
              <a:graphicData uri="http://schemas.openxmlformats.org/drawingml/2006/table">
                <a:tbl>
                  <a:tblPr firstRow="1" firstCol="1">
                    <a:tableStyleId>{F5AB1C69-6EDB-4FF4-983F-18BD219EF322}</a:tableStyleId>
                  </a:tblPr>
                  <a:tblGrid>
                    <a:gridCol w="7607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8138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100800" t="-2381" r="-303200" b="-4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200800" t="-2381" r="-203200" b="-4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300800" t="-2381" r="-103200" b="-4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400800" t="-2381" r="-3200" b="-42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813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800" t="-100000" r="-4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100800" t="-100000" r="-3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200800" t="-100000" r="-2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300800" t="-100000" r="-1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400800" t="-100000" r="-3200" b="-3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7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800" t="-195455" r="-4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100800" t="-195455" r="-3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200800" t="-195455" r="-2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300800" t="-195455" r="-1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400800" t="-195455" r="-3200" b="-2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7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800" t="-295455" r="-4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100800" t="-295455" r="-3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200800" t="-295455" r="-2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300800" t="-295455" r="-1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400800" t="-295455" r="-3200" b="-1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7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800" t="-395455" r="-4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100800" t="-395455" r="-3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200800" t="-395455" r="-2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300800" t="-395455" r="-1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0"/>
                          <a:stretch>
                            <a:fillRect l="-400800" t="-395455" r="-3200" b="-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FBE42741-A4A9-1153-C659-9EA9A313AC5C}"/>
              </a:ext>
            </a:extLst>
          </p:cNvPr>
          <p:cNvGrpSpPr/>
          <p:nvPr/>
        </p:nvGrpSpPr>
        <p:grpSpPr>
          <a:xfrm>
            <a:off x="7665794" y="4290359"/>
            <a:ext cx="871362" cy="325569"/>
            <a:chOff x="7665794" y="4190969"/>
            <a:chExt cx="871362" cy="325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3BF4B158-0B66-5A01-E8AB-90D9EAA26152}"/>
                    </a:ext>
                  </a:extLst>
                </p:cNvPr>
                <p:cNvSpPr txBox="1"/>
                <p:nvPr/>
              </p:nvSpPr>
              <p:spPr>
                <a:xfrm>
                  <a:off x="8183954" y="4190969"/>
                  <a:ext cx="3532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3BF4B158-0B66-5A01-E8AB-90D9EAA26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3954" y="4190969"/>
                  <a:ext cx="35320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F6690DD5-BA09-DE38-E068-09AA76CE2626}"/>
                    </a:ext>
                  </a:extLst>
                </p:cNvPr>
                <p:cNvSpPr txBox="1"/>
                <p:nvPr/>
              </p:nvSpPr>
              <p:spPr>
                <a:xfrm>
                  <a:off x="7665794" y="4239539"/>
                  <a:ext cx="3532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F6690DD5-BA09-DE38-E068-09AA76CE2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5794" y="4239539"/>
                  <a:ext cx="35320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27962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 uiExpand="1" build="p"/>
      <p:bldP spid="129" grpId="0"/>
      <p:bldP spid="1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我们已经知道，二维随机变量的 联合分布，是两随机变量 同时取值 的概率。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但若只关心其中 某一个随机变量 取值的概率，如何从 联合分布 得到呢？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我们称 二维随机变量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中，分量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和分量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相对于联合分布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𝑋𝑌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 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为它们的 </a:t>
                </a:r>
                <a:r>
                  <a:rPr lang="zh-CN" altLang="en-US" sz="1600" dirty="0">
                    <a:solidFill>
                      <a:schemeClr val="accent2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边缘分布函数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4" cy="1169551"/>
              </a:xfrm>
              <a:prstGeom prst="rect">
                <a:avLst/>
              </a:prstGeom>
              <a:blipFill>
                <a:blip r:embed="rId3"/>
                <a:stretch>
                  <a:fillRect l="-274" b="-5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FDA9B3F-B8DC-5322-91F5-5B13D5FE3003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329C34-FB09-EBB1-A4BD-C864907FAB2D}"/>
              </a:ext>
            </a:extLst>
          </p:cNvPr>
          <p:cNvSpPr txBox="1"/>
          <p:nvPr/>
        </p:nvSpPr>
        <p:spPr>
          <a:xfrm>
            <a:off x="4672852" y="775742"/>
            <a:ext cx="2447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二维随机变量的边缘分布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48A4D84-18C4-519F-E8BD-8F3A1A83CA31}"/>
              </a:ext>
            </a:extLst>
          </p:cNvPr>
          <p:cNvGrpSpPr/>
          <p:nvPr/>
        </p:nvGrpSpPr>
        <p:grpSpPr>
          <a:xfrm>
            <a:off x="507459" y="2767949"/>
            <a:ext cx="9631562" cy="854563"/>
            <a:chOff x="507459" y="2883859"/>
            <a:chExt cx="9631562" cy="854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E0E73757-B99D-F36B-F3DE-BA7FA06B9921}"/>
                    </a:ext>
                  </a:extLst>
                </p:cNvPr>
                <p:cNvSpPr/>
                <p:nvPr/>
              </p:nvSpPr>
              <p:spPr>
                <a:xfrm>
                  <a:off x="507459" y="2883859"/>
                  <a:ext cx="3791586" cy="854563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0" dirty="0">
                      <a:solidFill>
                        <a:schemeClr val="tx1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联合分布函数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𝑦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solidFill>
                        <a:schemeClr val="tx1"/>
                      </a:solidFill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对应的</a:t>
                  </a:r>
                  <a:endParaRPr lang="en-US" altLang="zh-CN" sz="1400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边缘分布函数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𝑦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)</m:t>
                      </m:r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E0E73757-B99D-F36B-F3DE-BA7FA06B99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59" y="2883859"/>
                  <a:ext cx="3791586" cy="854563"/>
                </a:xfrm>
                <a:prstGeom prst="roundRect">
                  <a:avLst/>
                </a:prstGeom>
                <a:blipFill>
                  <a:blip r:embed="rId4"/>
                  <a:stretch>
                    <a:fillRect b="-7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DDEA2F-AA69-F7DE-6D63-FAD5A976F79C}"/>
                    </a:ext>
                  </a:extLst>
                </p:cNvPr>
                <p:cNvSpPr txBox="1"/>
                <p:nvPr/>
              </p:nvSpPr>
              <p:spPr>
                <a:xfrm>
                  <a:off x="4299045" y="2942934"/>
                  <a:ext cx="58399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=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≤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=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≤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𝑥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;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𝑌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&lt;+∞</m:t>
                            </m:r>
                          </m:e>
                        </m:d>
                        <m:r>
                          <a:rPr lang="en-US" altLang="zh-CN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,+∞)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DDEA2F-AA69-F7DE-6D63-FAD5A976F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9045" y="2942934"/>
                  <a:ext cx="583997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64E2BFB-AB51-240B-12F4-DCE57FF982CC}"/>
                    </a:ext>
                  </a:extLst>
                </p:cNvPr>
                <p:cNvSpPr txBox="1"/>
                <p:nvPr/>
              </p:nvSpPr>
              <p:spPr>
                <a:xfrm>
                  <a:off x="4299045" y="3312266"/>
                  <a:ext cx="58399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=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𝑌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≤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=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&lt;+∞;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𝑌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𝑦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64E2BFB-AB51-240B-12F4-DCE57FF98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9045" y="3312266"/>
                  <a:ext cx="583997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DB85F6B-4740-C267-2E31-B8FD85B3EE5C}"/>
              </a:ext>
            </a:extLst>
          </p:cNvPr>
          <p:cNvGrpSpPr/>
          <p:nvPr/>
        </p:nvGrpSpPr>
        <p:grpSpPr>
          <a:xfrm>
            <a:off x="507459" y="3764820"/>
            <a:ext cx="8090631" cy="741879"/>
            <a:chOff x="507459" y="4064074"/>
            <a:chExt cx="8090631" cy="7418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B5EC61A5-3934-023F-835E-14CCF194E366}"/>
                    </a:ext>
                  </a:extLst>
                </p:cNvPr>
                <p:cNvSpPr/>
                <p:nvPr/>
              </p:nvSpPr>
              <p:spPr>
                <a:xfrm>
                  <a:off x="507459" y="4148920"/>
                  <a:ext cx="3791586" cy="570758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边缘分布律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,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B5EC61A5-3934-023F-835E-14CCF194E3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59" y="4148920"/>
                  <a:ext cx="3791586" cy="570758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67CEBE1-A3B8-2B79-9D6B-3399B1832234}"/>
                    </a:ext>
                  </a:extLst>
                </p:cNvPr>
                <p:cNvSpPr txBox="1"/>
                <p:nvPr/>
              </p:nvSpPr>
              <p:spPr>
                <a:xfrm>
                  <a:off x="4471234" y="4064074"/>
                  <a:ext cx="4126856" cy="4009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l-GR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zh-CN" sz="18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CN" sz="18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67CEBE1-A3B8-2B79-9D6B-3399B1832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1234" y="4064074"/>
                  <a:ext cx="4126856" cy="400944"/>
                </a:xfrm>
                <a:prstGeom prst="rect">
                  <a:avLst/>
                </a:prstGeom>
                <a:blipFill>
                  <a:blip r:embed="rId8"/>
                  <a:stretch>
                    <a:fillRect t="-110769" b="-16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2612ACE-7DFD-90ED-4C04-43F3FE72D713}"/>
                    </a:ext>
                  </a:extLst>
                </p:cNvPr>
                <p:cNvSpPr txBox="1"/>
                <p:nvPr/>
              </p:nvSpPr>
              <p:spPr>
                <a:xfrm>
                  <a:off x="4471233" y="4385902"/>
                  <a:ext cx="4126855" cy="4200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;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CN" sz="18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2612ACE-7DFD-90ED-4C04-43F3FE72D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1233" y="4385902"/>
                  <a:ext cx="4126855" cy="420051"/>
                </a:xfrm>
                <a:prstGeom prst="rect">
                  <a:avLst/>
                </a:prstGeom>
                <a:blipFill>
                  <a:blip r:embed="rId9"/>
                  <a:stretch>
                    <a:fillRect t="-100000" b="-15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90A2765-42FB-A2A4-4785-01A0781E4674}"/>
              </a:ext>
            </a:extLst>
          </p:cNvPr>
          <p:cNvGrpSpPr/>
          <p:nvPr/>
        </p:nvGrpSpPr>
        <p:grpSpPr>
          <a:xfrm>
            <a:off x="507459" y="4427038"/>
            <a:ext cx="7755361" cy="816547"/>
            <a:chOff x="507459" y="4805953"/>
            <a:chExt cx="7755361" cy="8165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2651C893-37FC-5E76-EB68-A56D280712FE}"/>
                    </a:ext>
                  </a:extLst>
                </p:cNvPr>
                <p:cNvSpPr/>
                <p:nvPr/>
              </p:nvSpPr>
              <p:spPr>
                <a:xfrm>
                  <a:off x="507459" y="4952764"/>
                  <a:ext cx="3791586" cy="570758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solidFill>
                        <a:schemeClr val="tx1"/>
                      </a:solidFill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边缘密度函数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b="0" dirty="0">
                    <a:solidFill>
                      <a:schemeClr val="tx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2651C893-37FC-5E76-EB68-A56D280712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59" y="4952764"/>
                  <a:ext cx="3791586" cy="570758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9B22ADA-04D4-8CB4-AA79-A59283085D41}"/>
                    </a:ext>
                  </a:extLst>
                </p:cNvPr>
                <p:cNvSpPr txBox="1"/>
                <p:nvPr/>
              </p:nvSpPr>
              <p:spPr>
                <a:xfrm>
                  <a:off x="4471233" y="4805953"/>
                  <a:ext cx="3791587" cy="457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𝑦</m:t>
                          </m:r>
                        </m:e>
                      </m:nary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9B22ADA-04D4-8CB4-AA79-A59283085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1233" y="4805953"/>
                  <a:ext cx="3791587" cy="457946"/>
                </a:xfrm>
                <a:prstGeom prst="rect">
                  <a:avLst/>
                </a:prstGeom>
                <a:blipFill>
                  <a:blip r:embed="rId11"/>
                  <a:stretch>
                    <a:fillRect t="-109333" b="-17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44DF96A-3C6D-863F-FA0F-3AB59FAB5808}"/>
                    </a:ext>
                  </a:extLst>
                </p:cNvPr>
                <p:cNvSpPr txBox="1"/>
                <p:nvPr/>
              </p:nvSpPr>
              <p:spPr>
                <a:xfrm>
                  <a:off x="4471233" y="5164554"/>
                  <a:ext cx="3791587" cy="457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𝑥</m:t>
                          </m:r>
                        </m:e>
                      </m:nary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44DF96A-3C6D-863F-FA0F-3AB59FAB5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1233" y="5164554"/>
                  <a:ext cx="3791587" cy="457946"/>
                </a:xfrm>
                <a:prstGeom prst="rect">
                  <a:avLst/>
                </a:prstGeom>
                <a:blipFill>
                  <a:blip r:embed="rId12"/>
                  <a:stretch>
                    <a:fillRect t="-109333" b="-17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6FC01217-C1F6-6B7F-AD65-2E02EBFD5B71}"/>
              </a:ext>
            </a:extLst>
          </p:cNvPr>
          <p:cNvSpPr/>
          <p:nvPr/>
        </p:nvSpPr>
        <p:spPr>
          <a:xfrm>
            <a:off x="8679976" y="3726914"/>
            <a:ext cx="2935658" cy="140024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可以这样考虑边缘分布</a:t>
            </a:r>
            <a:endParaRPr lang="en-US" altLang="zh-CN" sz="1400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求谁的边缘分布</a:t>
            </a:r>
            <a:endParaRPr lang="en-US" altLang="zh-CN" sz="1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就要消去另一个的影响</a:t>
            </a:r>
            <a:endParaRPr lang="en-US" altLang="zh-CN" sz="1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只要将它的所有可能取值全加起来</a:t>
            </a:r>
            <a:endParaRPr lang="en-US" altLang="zh-CN" sz="1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变量就只剩下待求的了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2C6B8E-3762-5072-32FC-DC8307A7DCAA}"/>
              </a:ext>
            </a:extLst>
          </p:cNvPr>
          <p:cNvSpPr txBox="1"/>
          <p:nvPr/>
        </p:nvSpPr>
        <p:spPr>
          <a:xfrm>
            <a:off x="502933" y="5384063"/>
            <a:ext cx="1110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联合分布可以唯一决定两个边缘分布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。但反之不行，即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任意的两个随机变量</a:t>
            </a:r>
            <a:r>
              <a:rPr lang="zh-CN" altLang="en-US" sz="14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不能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唯一确定一个联合分布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！（例如二维正态分布）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9EFEA3A-7DB0-BF57-A767-866CC03E1655}"/>
              </a:ext>
            </a:extLst>
          </p:cNvPr>
          <p:cNvSpPr txBox="1"/>
          <p:nvPr/>
        </p:nvSpPr>
        <p:spPr>
          <a:xfrm>
            <a:off x="502933" y="5678429"/>
            <a:ext cx="1110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边缘分布本质上是一维随机变量的分布，它满足一维随机变量的分布函数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分布律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密度函数的所有性质。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Group 2">
                <a:extLst>
                  <a:ext uri="{FF2B5EF4-FFF2-40B4-BE49-F238E27FC236}">
                    <a16:creationId xmlns:a16="http://schemas.microsoft.com/office/drawing/2014/main" id="{F27FE9A2-F4A8-4156-DDAC-93EB956DF1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3605723"/>
                  </p:ext>
                </p:extLst>
              </p:nvPr>
            </p:nvGraphicFramePr>
            <p:xfrm>
              <a:off x="7432378" y="2795686"/>
              <a:ext cx="3803975" cy="1319079"/>
            </p:xfrm>
            <a:graphic>
              <a:graphicData uri="http://schemas.openxmlformats.org/drawingml/2006/table">
                <a:tbl>
                  <a:tblPr firstRow="1" firstCol="1">
                    <a:tableStyleId>{F5AB1C69-6EDB-4FF4-983F-18BD219EF322}</a:tableStyleId>
                  </a:tblPr>
                  <a:tblGrid>
                    <a:gridCol w="7607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8138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8138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7601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7601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7601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2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49319" marR="49319" marT="24660" marB="24660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Group 2">
                <a:extLst>
                  <a:ext uri="{FF2B5EF4-FFF2-40B4-BE49-F238E27FC236}">
                    <a16:creationId xmlns:a16="http://schemas.microsoft.com/office/drawing/2014/main" id="{F27FE9A2-F4A8-4156-DDAC-93EB956DF1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3605723"/>
                  </p:ext>
                </p:extLst>
              </p:nvPr>
            </p:nvGraphicFramePr>
            <p:xfrm>
              <a:off x="7432378" y="2795686"/>
              <a:ext cx="3803975" cy="1319079"/>
            </p:xfrm>
            <a:graphic>
              <a:graphicData uri="http://schemas.openxmlformats.org/drawingml/2006/table">
                <a:tbl>
                  <a:tblPr firstRow="1" firstCol="1">
                    <a:tableStyleId>{F5AB1C69-6EDB-4FF4-983F-18BD219EF322}</a:tableStyleId>
                  </a:tblPr>
                  <a:tblGrid>
                    <a:gridCol w="7607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079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8138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49319" marR="49319" marT="24660" marB="24660" anchor="ctr" horzOverflow="overflow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100800" t="-2381" r="-303200" b="-4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200800" t="-2381" r="-203200" b="-4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300800" t="-2381" r="-103200" b="-4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400800" t="-2381" r="-3200" b="-42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813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800" t="-100000" r="-4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100800" t="-100000" r="-3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200800" t="-100000" r="-2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300800" t="-100000" r="-103200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400800" t="-100000" r="-3200" b="-3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7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800" t="-195455" r="-4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100800" t="-195455" r="-3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200800" t="-195455" r="-2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300800" t="-195455" r="-103200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400800" t="-195455" r="-3200" b="-2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7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800" t="-295455" r="-4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100800" t="-295455" r="-3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200800" t="-295455" r="-2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300800" t="-295455" r="-103200" b="-1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400800" t="-295455" r="-3200" b="-1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7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800" t="-395455" r="-4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100800" t="-395455" r="-3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200800" t="-395455" r="-2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300800" t="-395455" r="-1032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9319" marR="49319" marT="24660" marB="24660" anchor="ctr" horzOverflow="overflow">
                        <a:blipFill>
                          <a:blip r:embed="rId13"/>
                          <a:stretch>
                            <a:fillRect l="-400800" t="-395455" r="-3200" b="-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09207B9-5487-89DE-B305-C3166154B0B2}"/>
              </a:ext>
            </a:extLst>
          </p:cNvPr>
          <p:cNvGrpSpPr/>
          <p:nvPr/>
        </p:nvGrpSpPr>
        <p:grpSpPr>
          <a:xfrm>
            <a:off x="7383829" y="2769365"/>
            <a:ext cx="871362" cy="325569"/>
            <a:chOff x="7665794" y="4190969"/>
            <a:chExt cx="871362" cy="325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06D9D3-3DB3-CABD-0DC1-9F66432A8257}"/>
                    </a:ext>
                  </a:extLst>
                </p:cNvPr>
                <p:cNvSpPr txBox="1"/>
                <p:nvPr/>
              </p:nvSpPr>
              <p:spPr>
                <a:xfrm>
                  <a:off x="8183954" y="4190969"/>
                  <a:ext cx="3532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3BF4B158-0B66-5A01-E8AB-90D9EAA26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3954" y="4190969"/>
                  <a:ext cx="353202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BDFF8C54-1D44-E9FF-AD94-B051E1D974D1}"/>
                    </a:ext>
                  </a:extLst>
                </p:cNvPr>
                <p:cNvSpPr txBox="1"/>
                <p:nvPr/>
              </p:nvSpPr>
              <p:spPr>
                <a:xfrm>
                  <a:off x="7665794" y="4239539"/>
                  <a:ext cx="3532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F6690DD5-BA09-DE38-E068-09AA76CE2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5794" y="4239539"/>
                  <a:ext cx="353202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14207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 animBg="1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473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的联合密度函数为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)(1+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473078"/>
              </a:xfrm>
              <a:prstGeom prst="rect">
                <a:avLst/>
              </a:prstGeom>
              <a:blipFill>
                <a:blip r:embed="rId3"/>
                <a:stretch>
                  <a:fillRect l="-274"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5D8383-B96D-AAB8-207F-0E0CF4356F7E}"/>
                  </a:ext>
                </a:extLst>
              </p:cNvPr>
              <p:cNvSpPr txBox="1"/>
              <p:nvPr/>
            </p:nvSpPr>
            <p:spPr>
              <a:xfrm>
                <a:off x="507459" y="2013001"/>
                <a:ext cx="11039272" cy="966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𝑑𝑦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)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𝑑𝑦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den>
                    </m:f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𝑑𝑦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同理，</a:t>
                </a:r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5D8383-B96D-AAB8-207F-0E0CF435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013001"/>
                <a:ext cx="11039272" cy="966547"/>
              </a:xfrm>
              <a:prstGeom prst="rect">
                <a:avLst/>
              </a:prstGeom>
              <a:blipFill>
                <a:blip r:embed="rId4"/>
                <a:stretch>
                  <a:fillRect l="-442" t="-50943" b="-30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2DE58503-0D95-6EA1-69D2-6BC6C7A784F4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F8B8B4-3063-2AC0-6964-28571135054D}"/>
              </a:ext>
            </a:extLst>
          </p:cNvPr>
          <p:cNvSpPr txBox="1"/>
          <p:nvPr/>
        </p:nvSpPr>
        <p:spPr>
          <a:xfrm>
            <a:off x="4672852" y="775742"/>
            <a:ext cx="171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边缘分布的求解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5ECE599-28C5-F368-7FF4-C24379C35B50}"/>
              </a:ext>
            </a:extLst>
          </p:cNvPr>
          <p:cNvCxnSpPr>
            <a:cxnSpLocks/>
          </p:cNvCxnSpPr>
          <p:nvPr/>
        </p:nvCxnSpPr>
        <p:spPr>
          <a:xfrm>
            <a:off x="511212" y="3225823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9D215B-2994-3CB6-0743-555F9D357A50}"/>
                  </a:ext>
                </a:extLst>
              </p:cNvPr>
              <p:cNvSpPr txBox="1"/>
              <p:nvPr/>
            </p:nvSpPr>
            <p:spPr>
              <a:xfrm>
                <a:off x="507459" y="3429000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的联合分布律如表所示，求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9D215B-2994-3CB6-0743-555F9D357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3429000"/>
                <a:ext cx="11108176" cy="338554"/>
              </a:xfrm>
              <a:prstGeom prst="rect">
                <a:avLst/>
              </a:prstGeom>
              <a:blipFill>
                <a:blip r:embed="rId5"/>
                <a:stretch>
                  <a:fillRect l="-274" t="-3636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2">
                <a:extLst>
                  <a:ext uri="{FF2B5EF4-FFF2-40B4-BE49-F238E27FC236}">
                    <a16:creationId xmlns:a16="http://schemas.microsoft.com/office/drawing/2014/main" id="{2ED50EC5-C411-258E-E751-AE1A351931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83433"/>
                  </p:ext>
                </p:extLst>
              </p:nvPr>
            </p:nvGraphicFramePr>
            <p:xfrm>
              <a:off x="7386254" y="3472099"/>
              <a:ext cx="3436670" cy="1710845"/>
            </p:xfrm>
            <a:graphic>
              <a:graphicData uri="http://schemas.openxmlformats.org/drawingml/2006/table">
                <a:tbl>
                  <a:tblPr firstRow="1" firstCol="1">
                    <a:tableStyleId>{7DF18680-E054-41AD-8BC1-D1AEF772440D}</a:tableStyleId>
                  </a:tblPr>
                  <a:tblGrid>
                    <a:gridCol w="6873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42169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2169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2169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2169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2169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2">
                <a:extLst>
                  <a:ext uri="{FF2B5EF4-FFF2-40B4-BE49-F238E27FC236}">
                    <a16:creationId xmlns:a16="http://schemas.microsoft.com/office/drawing/2014/main" id="{2ED50EC5-C411-258E-E751-AE1A351931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83433"/>
                  </p:ext>
                </p:extLst>
              </p:nvPr>
            </p:nvGraphicFramePr>
            <p:xfrm>
              <a:off x="7386254" y="3472099"/>
              <a:ext cx="3436670" cy="1710845"/>
            </p:xfrm>
            <a:graphic>
              <a:graphicData uri="http://schemas.openxmlformats.org/drawingml/2006/table">
                <a:tbl>
                  <a:tblPr firstRow="1" firstCol="1">
                    <a:tableStyleId>{7DF18680-E054-41AD-8BC1-D1AEF772440D}</a:tableStyleId>
                  </a:tblPr>
                  <a:tblGrid>
                    <a:gridCol w="6873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42169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100885" t="-1786" r="-303540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200885" t="-1786" r="-203540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300885" t="-1786" r="-103540" b="-4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400885" t="-1786" r="-3540" b="-4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21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885" t="-100000" r="-40354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100885" t="-100000" r="-30354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200885" t="-100000" r="-20354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300885" t="-100000" r="-10354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400885" t="-100000" r="-354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21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885" t="-203571" r="-403540" b="-2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100885" t="-203571" r="-303540" b="-2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200885" t="-203571" r="-203540" b="-2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300885" t="-203571" r="-103540" b="-2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400885" t="-203571" r="-3540" b="-2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21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885" t="-298246" r="-403540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100885" t="-298246" r="-303540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200885" t="-298246" r="-203540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300885" t="-298246" r="-103540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400885" t="-298246" r="-3540" b="-10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21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885" t="-405357" r="-40354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100885" t="-405357" r="-30354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200885" t="-405357" r="-20354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300885" t="-405357" r="-103540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6"/>
                          <a:stretch>
                            <a:fillRect l="-400885" t="-405357" r="-354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62A11E-C37D-4AF7-D676-2807E3AC3C88}"/>
                  </a:ext>
                </a:extLst>
              </p:cNvPr>
              <p:cNvSpPr txBox="1"/>
              <p:nvPr/>
            </p:nvSpPr>
            <p:spPr>
              <a:xfrm>
                <a:off x="7777483" y="3425688"/>
                <a:ext cx="36361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62A11E-C37D-4AF7-D676-2807E3AC3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483" y="3425688"/>
                <a:ext cx="36361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1EF3CA-4A16-A1E1-75D2-6EECD8EB6721}"/>
                  </a:ext>
                </a:extLst>
              </p:cNvPr>
              <p:cNvSpPr txBox="1"/>
              <p:nvPr/>
            </p:nvSpPr>
            <p:spPr>
              <a:xfrm>
                <a:off x="7356677" y="3533354"/>
                <a:ext cx="36361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𝑌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1EF3CA-4A16-A1E1-75D2-6EECD8EB6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77" y="3533354"/>
                <a:ext cx="36361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23C80AE-FA14-311B-043A-2C13D5567426}"/>
                  </a:ext>
                </a:extLst>
              </p:cNvPr>
              <p:cNvSpPr txBox="1"/>
              <p:nvPr/>
            </p:nvSpPr>
            <p:spPr>
              <a:xfrm>
                <a:off x="507458" y="3881195"/>
                <a:ext cx="6310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易得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分布如下表所示：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23C80AE-FA14-311B-043A-2C13D5567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881195"/>
                <a:ext cx="6310109" cy="369332"/>
              </a:xfrm>
              <a:prstGeom prst="rect">
                <a:avLst/>
              </a:prstGeom>
              <a:blipFill>
                <a:blip r:embed="rId9"/>
                <a:stretch>
                  <a:fillRect l="-773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3267633B-1E42-2677-7C74-21F0D439A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523770"/>
                  </p:ext>
                </p:extLst>
              </p:nvPr>
            </p:nvGraphicFramePr>
            <p:xfrm>
              <a:off x="619457" y="4451232"/>
              <a:ext cx="2428545" cy="98158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485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07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07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900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3267633B-1E42-2677-7C74-21F0D439A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523770"/>
                  </p:ext>
                </p:extLst>
              </p:nvPr>
            </p:nvGraphicFramePr>
            <p:xfrm>
              <a:off x="619457" y="4451232"/>
              <a:ext cx="2428545" cy="98158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485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07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1250" t="-1235" r="-40250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101250" t="-1235" r="-30250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201250" t="-1235" r="-20250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301250" t="-1235" r="-10250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401250" t="-1235" r="-2500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07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1250" t="-101235" r="-40250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101250" t="-101235" r="-30250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201250" t="-101235" r="-20250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301250" t="-101235" r="-10250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blipFill>
                          <a:blip r:embed="rId10"/>
                          <a:stretch>
                            <a:fillRect l="-401250" t="-101235" r="-250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7F3C35BF-230B-2AAD-45DF-87BC6DDEA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669423"/>
                  </p:ext>
                </p:extLst>
              </p:nvPr>
            </p:nvGraphicFramePr>
            <p:xfrm>
              <a:off x="3826100" y="4438963"/>
              <a:ext cx="2428545" cy="9930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485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65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65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48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CN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48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CN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48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CN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48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CN" sz="14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34" marR="91434" marT="45688" marB="45688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7F3C35BF-230B-2AAD-45DF-87BC6DDEA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669423"/>
                  </p:ext>
                </p:extLst>
              </p:nvPr>
            </p:nvGraphicFramePr>
            <p:xfrm>
              <a:off x="3826100" y="4438963"/>
              <a:ext cx="2428545" cy="9930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485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857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65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1250" t="-1220" r="-402500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101250" t="-1220" r="-302500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201250" t="-1220" r="-202500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301250" t="-1220" r="-102500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401250" t="-1220" r="-2500" b="-1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65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1250" t="-101220" r="-4025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101250" t="-101220" r="-3025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201250" t="-101220" r="-2025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301250" t="-101220" r="-1025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4" marR="91434" marT="45688" marB="45688" anchor="ctr">
                        <a:blipFill>
                          <a:blip r:embed="rId11"/>
                          <a:stretch>
                            <a:fillRect l="-401250" t="-101220" r="-2500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86455B-95A2-1FCE-ACD6-2F72504090EB}"/>
              </a:ext>
            </a:extLst>
          </p:cNvPr>
          <p:cNvGrpSpPr/>
          <p:nvPr/>
        </p:nvGrpSpPr>
        <p:grpSpPr>
          <a:xfrm>
            <a:off x="8074121" y="5226043"/>
            <a:ext cx="2715496" cy="319489"/>
            <a:chOff x="8074121" y="5226043"/>
            <a:chExt cx="2715496" cy="319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914B28D-127F-8F18-8996-81D516482D3C}"/>
                    </a:ext>
                  </a:extLst>
                </p:cNvPr>
                <p:cNvSpPr txBox="1"/>
                <p:nvPr/>
              </p:nvSpPr>
              <p:spPr>
                <a:xfrm>
                  <a:off x="8074121" y="5226043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914B28D-127F-8F18-8996-81D516482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4121" y="5226043"/>
                  <a:ext cx="678874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6A29E44-DAFA-0E2F-6E92-ADE4D2027EA1}"/>
                    </a:ext>
                  </a:extLst>
                </p:cNvPr>
                <p:cNvSpPr txBox="1"/>
                <p:nvPr/>
              </p:nvSpPr>
              <p:spPr>
                <a:xfrm>
                  <a:off x="8752995" y="5231899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6A29E44-DAFA-0E2F-6E92-ADE4D2027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995" y="5231899"/>
                  <a:ext cx="678874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CDDF928-C0A7-8EEA-BEA0-5087190776BE}"/>
                    </a:ext>
                  </a:extLst>
                </p:cNvPr>
                <p:cNvSpPr txBox="1"/>
                <p:nvPr/>
              </p:nvSpPr>
              <p:spPr>
                <a:xfrm>
                  <a:off x="9431869" y="5237755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CDDF928-C0A7-8EEA-BEA0-508719077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1869" y="5237755"/>
                  <a:ext cx="678874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C55EF9F-469F-DA64-E760-D911C4B00409}"/>
                    </a:ext>
                  </a:extLst>
                </p:cNvPr>
                <p:cNvSpPr txBox="1"/>
                <p:nvPr/>
              </p:nvSpPr>
              <p:spPr>
                <a:xfrm>
                  <a:off x="10110743" y="5237755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C55EF9F-469F-DA64-E760-D911C4B00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743" y="5237755"/>
                  <a:ext cx="678874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E1287D7-CF90-6C1E-46DE-78EB4A9D8F01}"/>
              </a:ext>
            </a:extLst>
          </p:cNvPr>
          <p:cNvGrpSpPr/>
          <p:nvPr/>
        </p:nvGrpSpPr>
        <p:grpSpPr>
          <a:xfrm>
            <a:off x="10887501" y="3816841"/>
            <a:ext cx="686871" cy="1363892"/>
            <a:chOff x="10887501" y="3816841"/>
            <a:chExt cx="686871" cy="13638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AFA30D-C918-2D3E-BC2E-6B0CE3F1772C}"/>
                    </a:ext>
                  </a:extLst>
                </p:cNvPr>
                <p:cNvSpPr txBox="1"/>
                <p:nvPr/>
              </p:nvSpPr>
              <p:spPr>
                <a:xfrm>
                  <a:off x="10893044" y="3816841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25/48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AFA30D-C918-2D3E-BC2E-6B0CE3F177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3044" y="3816841"/>
                  <a:ext cx="678874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82D6717-8A1F-C1BD-4BED-C6AE53154000}"/>
                    </a:ext>
                  </a:extLst>
                </p:cNvPr>
                <p:cNvSpPr txBox="1"/>
                <p:nvPr/>
              </p:nvSpPr>
              <p:spPr>
                <a:xfrm>
                  <a:off x="10893044" y="4172762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3/48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82D6717-8A1F-C1BD-4BED-C6AE53154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3044" y="4172762"/>
                  <a:ext cx="678874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FA1047F-7DE2-5CA2-7D4C-1A48707C7E90}"/>
                    </a:ext>
                  </a:extLst>
                </p:cNvPr>
                <p:cNvSpPr txBox="1"/>
                <p:nvPr/>
              </p:nvSpPr>
              <p:spPr>
                <a:xfrm>
                  <a:off x="10887501" y="4522859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/48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FA1047F-7DE2-5CA2-7D4C-1A48707C7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7501" y="4522859"/>
                  <a:ext cx="678874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8786A19-C5A0-6CEF-82C9-DD0726FB1384}"/>
                    </a:ext>
                  </a:extLst>
                </p:cNvPr>
                <p:cNvSpPr txBox="1"/>
                <p:nvPr/>
              </p:nvSpPr>
              <p:spPr>
                <a:xfrm>
                  <a:off x="10895498" y="4872956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/48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8786A19-C5A0-6CEF-82C9-DD0726FB1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5498" y="4872956"/>
                  <a:ext cx="678874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27364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4" grpId="0"/>
      <p:bldP spid="8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1BC1DFE-2198-4ABB-9AAD-0BF86A4D9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719056"/>
                  </p:ext>
                </p:extLst>
              </p:nvPr>
            </p:nvGraphicFramePr>
            <p:xfrm>
              <a:off x="3582146" y="3561648"/>
              <a:ext cx="3370200" cy="1342443"/>
            </p:xfrm>
            <a:graphic>
              <a:graphicData uri="http://schemas.openxmlformats.org/drawingml/2006/table">
                <a:tbl>
                  <a:tblPr firstCol="1">
                    <a:tableStyleId>{2A488322-F2BA-4B5B-9748-0D474271808F}</a:tableStyleId>
                  </a:tblPr>
                  <a:tblGrid>
                    <a:gridCol w="674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373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zh-CN" altLang="en-US" sz="1800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51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050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01BC1DFE-2198-4ABB-9AAD-0BF86A4D99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719056"/>
                  </p:ext>
                </p:extLst>
              </p:nvPr>
            </p:nvGraphicFramePr>
            <p:xfrm>
              <a:off x="3582146" y="3561648"/>
              <a:ext cx="3370200" cy="1342443"/>
            </p:xfrm>
            <a:graphic>
              <a:graphicData uri="http://schemas.openxmlformats.org/drawingml/2006/table">
                <a:tbl>
                  <a:tblPr firstCol="1">
                    <a:tableStyleId>{2A488322-F2BA-4B5B-9748-0D474271808F}</a:tableStyleId>
                  </a:tblPr>
                  <a:tblGrid>
                    <a:gridCol w="674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740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3733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905" r="-400901" b="-11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905" r="-300901" b="-11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818" t="-1905" r="-203636" b="-11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099" t="-1905" r="-101802" b="-11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099" t="-1905" r="-1802" b="-11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51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t="-92241" r="-400901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0000" t="-92241" r="-300901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1818" t="-92241" r="-203636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99099" t="-92241" r="-101802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3" marR="91453" marT="45688" marB="45688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99099" t="-92241" r="-1802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2">
                <a:extLst>
                  <a:ext uri="{FF2B5EF4-FFF2-40B4-BE49-F238E27FC236}">
                    <a16:creationId xmlns:a16="http://schemas.microsoft.com/office/drawing/2014/main" id="{B43087FB-925A-4746-A00D-FB21DC2A2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010596"/>
                  </p:ext>
                </p:extLst>
              </p:nvPr>
            </p:nvGraphicFramePr>
            <p:xfrm>
              <a:off x="7386254" y="3469710"/>
              <a:ext cx="3436670" cy="1526320"/>
            </p:xfrm>
            <a:graphic>
              <a:graphicData uri="http://schemas.openxmlformats.org/drawingml/2006/table">
                <a:tbl>
                  <a:tblPr firstRow="1" firstCol="1">
                    <a:tableStyleId>{2A488322-F2BA-4B5B-9748-0D474271808F}</a:tableStyleId>
                  </a:tblPr>
                  <a:tblGrid>
                    <a:gridCol w="6873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05264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5264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kumimoji="1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5264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5264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1/12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5264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kumimoji="1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kumimoji="1" lang="en-US" altLang="zh-CN" sz="1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4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kumimoji="1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2">
                <a:extLst>
                  <a:ext uri="{FF2B5EF4-FFF2-40B4-BE49-F238E27FC236}">
                    <a16:creationId xmlns:a16="http://schemas.microsoft.com/office/drawing/2014/main" id="{B43087FB-925A-4746-A00D-FB21DC2A2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010596"/>
                  </p:ext>
                </p:extLst>
              </p:nvPr>
            </p:nvGraphicFramePr>
            <p:xfrm>
              <a:off x="7386254" y="3469710"/>
              <a:ext cx="3436670" cy="1526320"/>
            </p:xfrm>
            <a:graphic>
              <a:graphicData uri="http://schemas.openxmlformats.org/drawingml/2006/table">
                <a:tbl>
                  <a:tblPr firstRow="1" firstCol="1">
                    <a:tableStyleId>{2A488322-F2BA-4B5B-9748-0D474271808F}</a:tableStyleId>
                  </a:tblPr>
                  <a:tblGrid>
                    <a:gridCol w="6873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733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05264">
                    <a:tc>
                      <a:txBody>
                        <a:bodyPr/>
                        <a:lstStyle>
                          <a:lvl1pPr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8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4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 sz="2000"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ct val="20000"/>
                            </a:spcBef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Arial" pitchFamily="34" charset="0"/>
                            <a:defRPr>
                              <a:solidFill>
                                <a:schemeClr val="tx1"/>
                              </a:solidFill>
                              <a:latin typeface="Calibri" pitchFamily="34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1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</a:endParaRPr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4000" r="-301770" b="-4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200000" t="-4000" r="-201770" b="-4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300000" t="-4000" r="-101770" b="-4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400000" t="-4000" r="-1770" b="-4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52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04000" r="-401770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104000" r="-301770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200000" t="-104000" r="-201770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300000" t="-104000" r="-101770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400000" t="-104000" r="-1770" b="-3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52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200000" r="-40177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200000" r="-30177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200000" t="-200000" r="-20177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300000" t="-200000" r="-10177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400000" t="-200000" r="-1770" b="-2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52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306000" r="-401770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306000" r="-301770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200000" t="-306000" r="-201770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300000" t="-306000" r="-101770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400000" t="-306000" r="-1770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52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406000" r="-40177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00000" t="-406000" r="-30177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200000" t="-406000" r="-20177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300000" t="-406000" r="-10177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51" marR="91451" marT="45713" marB="45713" anchor="ctr" horzOverflow="overflow">
                        <a:blipFill>
                          <a:blip r:embed="rId3"/>
                          <a:stretch>
                            <a:fillRect l="-400000" t="-406000" r="-1770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C437FB9-9332-451D-8F5B-4A173C682300}"/>
                  </a:ext>
                </a:extLst>
              </p:cNvPr>
              <p:cNvSpPr txBox="1"/>
              <p:nvPr/>
            </p:nvSpPr>
            <p:spPr>
              <a:xfrm>
                <a:off x="7777483" y="3425688"/>
                <a:ext cx="36361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m:oMathPara>
                </a14:m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C437FB9-9332-451D-8F5B-4A173C682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483" y="3425688"/>
                <a:ext cx="36361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095949-78B4-4A7B-B8A4-3B6603AD07EC}"/>
                  </a:ext>
                </a:extLst>
              </p:cNvPr>
              <p:cNvSpPr txBox="1"/>
              <p:nvPr/>
            </p:nvSpPr>
            <p:spPr>
              <a:xfrm>
                <a:off x="7356952" y="3513220"/>
                <a:ext cx="36361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𝑌</m:t>
                      </m:r>
                    </m:oMath>
                  </m:oMathPara>
                </a14:m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F095949-78B4-4A7B-B8A4-3B6603AD0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952" y="3513220"/>
                <a:ext cx="36361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54F78AF7-FCD7-4116-814E-BDEF2AF6A2C5}"/>
              </a:ext>
            </a:extLst>
          </p:cNvPr>
          <p:cNvSpPr/>
          <p:nvPr/>
        </p:nvSpPr>
        <p:spPr>
          <a:xfrm>
            <a:off x="8165358" y="3813746"/>
            <a:ext cx="466429" cy="1142368"/>
          </a:xfrm>
          <a:custGeom>
            <a:avLst/>
            <a:gdLst>
              <a:gd name="connsiteX0" fmla="*/ 0 w 466429"/>
              <a:gd name="connsiteY0" fmla="*/ 0 h 1142368"/>
              <a:gd name="connsiteX1" fmla="*/ 466429 w 466429"/>
              <a:gd name="connsiteY1" fmla="*/ 0 h 1142368"/>
              <a:gd name="connsiteX2" fmla="*/ 466429 w 466429"/>
              <a:gd name="connsiteY2" fmla="*/ 548337 h 1142368"/>
              <a:gd name="connsiteX3" fmla="*/ 466429 w 466429"/>
              <a:gd name="connsiteY3" fmla="*/ 1142368 h 1142368"/>
              <a:gd name="connsiteX4" fmla="*/ 0 w 466429"/>
              <a:gd name="connsiteY4" fmla="*/ 1142368 h 1142368"/>
              <a:gd name="connsiteX5" fmla="*/ 0 w 466429"/>
              <a:gd name="connsiteY5" fmla="*/ 571184 h 1142368"/>
              <a:gd name="connsiteX6" fmla="*/ 0 w 466429"/>
              <a:gd name="connsiteY6" fmla="*/ 0 h 11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429" h="1142368" extrusionOk="0">
                <a:moveTo>
                  <a:pt x="0" y="0"/>
                </a:moveTo>
                <a:cubicBezTo>
                  <a:pt x="131633" y="-17684"/>
                  <a:pt x="281180" y="49048"/>
                  <a:pt x="466429" y="0"/>
                </a:cubicBezTo>
                <a:cubicBezTo>
                  <a:pt x="476606" y="236025"/>
                  <a:pt x="438442" y="287521"/>
                  <a:pt x="466429" y="548337"/>
                </a:cubicBezTo>
                <a:cubicBezTo>
                  <a:pt x="494416" y="809153"/>
                  <a:pt x="443785" y="995141"/>
                  <a:pt x="466429" y="1142368"/>
                </a:cubicBezTo>
                <a:cubicBezTo>
                  <a:pt x="314120" y="1197563"/>
                  <a:pt x="123516" y="1098917"/>
                  <a:pt x="0" y="1142368"/>
                </a:cubicBezTo>
                <a:cubicBezTo>
                  <a:pt x="-52880" y="988690"/>
                  <a:pt x="37918" y="828931"/>
                  <a:pt x="0" y="571184"/>
                </a:cubicBezTo>
                <a:cubicBezTo>
                  <a:pt x="-37918" y="313437"/>
                  <a:pt x="13683" y="131962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64531488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24A0B2-2CCF-4FFE-85E7-C9F23CEC5F68}"/>
              </a:ext>
            </a:extLst>
          </p:cNvPr>
          <p:cNvSpPr/>
          <p:nvPr/>
        </p:nvSpPr>
        <p:spPr>
          <a:xfrm>
            <a:off x="8104246" y="3512885"/>
            <a:ext cx="588651" cy="233722"/>
          </a:xfrm>
          <a:custGeom>
            <a:avLst/>
            <a:gdLst>
              <a:gd name="connsiteX0" fmla="*/ 0 w 588651"/>
              <a:gd name="connsiteY0" fmla="*/ 0 h 233722"/>
              <a:gd name="connsiteX1" fmla="*/ 588651 w 588651"/>
              <a:gd name="connsiteY1" fmla="*/ 0 h 233722"/>
              <a:gd name="connsiteX2" fmla="*/ 588651 w 588651"/>
              <a:gd name="connsiteY2" fmla="*/ 233722 h 233722"/>
              <a:gd name="connsiteX3" fmla="*/ 0 w 588651"/>
              <a:gd name="connsiteY3" fmla="*/ 233722 h 233722"/>
              <a:gd name="connsiteX4" fmla="*/ 0 w 588651"/>
              <a:gd name="connsiteY4" fmla="*/ 0 h 23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651" h="233722" extrusionOk="0">
                <a:moveTo>
                  <a:pt x="0" y="0"/>
                </a:moveTo>
                <a:cubicBezTo>
                  <a:pt x="264688" y="-40009"/>
                  <a:pt x="303292" y="15344"/>
                  <a:pt x="588651" y="0"/>
                </a:cubicBezTo>
                <a:cubicBezTo>
                  <a:pt x="591014" y="108602"/>
                  <a:pt x="573663" y="122054"/>
                  <a:pt x="588651" y="233722"/>
                </a:cubicBezTo>
                <a:cubicBezTo>
                  <a:pt x="362347" y="250596"/>
                  <a:pt x="180210" y="169428"/>
                  <a:pt x="0" y="233722"/>
                </a:cubicBezTo>
                <a:cubicBezTo>
                  <a:pt x="-21159" y="147630"/>
                  <a:pt x="22879" y="101651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64531488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DBAB86C6-314A-42C2-8C08-D25895BA98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775744" y="182640"/>
            <a:ext cx="5055177" cy="3069215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955B6518-9FE5-4ADD-88B0-4FB19F7D90F0}"/>
              </a:ext>
            </a:extLst>
          </p:cNvPr>
          <p:cNvGrpSpPr/>
          <p:nvPr/>
        </p:nvGrpSpPr>
        <p:grpSpPr>
          <a:xfrm>
            <a:off x="8063587" y="5036099"/>
            <a:ext cx="2715496" cy="319489"/>
            <a:chOff x="8074121" y="5226043"/>
            <a:chExt cx="2715496" cy="319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FDA49D-346F-4C3D-B328-1F9FA9DE0C54}"/>
                    </a:ext>
                  </a:extLst>
                </p:cNvPr>
                <p:cNvSpPr txBox="1"/>
                <p:nvPr/>
              </p:nvSpPr>
              <p:spPr>
                <a:xfrm>
                  <a:off x="8074121" y="5226043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FDA49D-346F-4C3D-B328-1F9FA9DE0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4121" y="5226043"/>
                  <a:ext cx="678874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1C9C824-09B7-4663-A2E8-105B93A43ED8}"/>
                    </a:ext>
                  </a:extLst>
                </p:cNvPr>
                <p:cNvSpPr txBox="1"/>
                <p:nvPr/>
              </p:nvSpPr>
              <p:spPr>
                <a:xfrm>
                  <a:off x="8752995" y="5231899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6A29E44-DAFA-0E2F-6E92-ADE4D2027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2995" y="5231899"/>
                  <a:ext cx="678874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6FE7DA7-576B-45A8-A951-844844DD1058}"/>
                    </a:ext>
                  </a:extLst>
                </p:cNvPr>
                <p:cNvSpPr txBox="1"/>
                <p:nvPr/>
              </p:nvSpPr>
              <p:spPr>
                <a:xfrm>
                  <a:off x="9431869" y="5237755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CDDF928-C0A7-8EEA-BEA0-508719077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1869" y="5237755"/>
                  <a:ext cx="678874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90008CF-A4BC-4043-A215-9D357D1CA1E5}"/>
                    </a:ext>
                  </a:extLst>
                </p:cNvPr>
                <p:cNvSpPr txBox="1"/>
                <p:nvPr/>
              </p:nvSpPr>
              <p:spPr>
                <a:xfrm>
                  <a:off x="10110743" y="5237755"/>
                  <a:ext cx="67887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1/4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C55EF9F-469F-DA64-E760-D911C4B00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743" y="5237755"/>
                  <a:ext cx="678874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2F3DF74-18A8-4874-B548-DA6AD9299CAA}"/>
              </a:ext>
            </a:extLst>
          </p:cNvPr>
          <p:cNvCxnSpPr>
            <a:cxnSpLocks/>
          </p:cNvCxnSpPr>
          <p:nvPr/>
        </p:nvCxnSpPr>
        <p:spPr>
          <a:xfrm flipH="1" flipV="1">
            <a:off x="7465839" y="1570837"/>
            <a:ext cx="367522" cy="14641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28D5DE8-BEA8-4DF2-A41B-BFCD9845BB66}"/>
                  </a:ext>
                </a:extLst>
              </p:cNvPr>
              <p:cNvSpPr txBox="1"/>
              <p:nvPr/>
            </p:nvSpPr>
            <p:spPr>
              <a:xfrm>
                <a:off x="8019671" y="1974066"/>
                <a:ext cx="1691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1600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28D5DE8-BEA8-4DF2-A41B-BFCD9845B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671" y="1974066"/>
                <a:ext cx="169149" cy="246221"/>
              </a:xfrm>
              <a:prstGeom prst="rect">
                <a:avLst/>
              </a:prstGeom>
              <a:blipFill>
                <a:blip r:embed="rId15"/>
                <a:stretch>
                  <a:fillRect l="-29630" r="-37037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EAABC06-473A-494A-A147-1841925E3CAC}"/>
                  </a:ext>
                </a:extLst>
              </p:cNvPr>
              <p:cNvSpPr txBox="1"/>
              <p:nvPr/>
            </p:nvSpPr>
            <p:spPr>
              <a:xfrm>
                <a:off x="6963574" y="1773162"/>
                <a:ext cx="4226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D95319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rgbClr val="D95319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D95319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rgbClr val="D95319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solidFill>
                            <a:srgbClr val="D95319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solidFill>
                            <a:srgbClr val="D95319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rgbClr val="D95319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EAABC06-473A-494A-A147-1841925E3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574" y="1773162"/>
                <a:ext cx="422680" cy="184666"/>
              </a:xfrm>
              <a:prstGeom prst="rect">
                <a:avLst/>
              </a:prstGeom>
              <a:blipFill>
                <a:blip r:embed="rId16"/>
                <a:stretch>
                  <a:fillRect l="-7143" t="-6667" r="-11429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0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74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2.3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的联合密度函数为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2(1−</m:t>
                                </m:r>
                                <m:sSup>
                                  <m:sSupPr>
                                    <m:ctrlP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>
                                  <m:fPr>
                                    <m:ctrlP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)(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zh-CN" alt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sz="1600" dirty="0">
                  <a:solidFill>
                    <a:schemeClr val="tx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均为常数</a:t>
                </a:r>
                <a:r>
                  <a:rPr lang="zh-CN" altLang="en-US" sz="1600" i="1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zh-CN" sz="1600" i="1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的分布。</a:t>
                </a:r>
                <a:endParaRPr lang="en-US" altLang="zh-CN" sz="1600" dirty="0">
                  <a:solidFill>
                    <a:schemeClr val="tx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74407"/>
              </a:xfrm>
              <a:prstGeom prst="rect">
                <a:avLst/>
              </a:prstGeom>
              <a:blipFill>
                <a:blip r:embed="rId3"/>
                <a:stretch>
                  <a:fillRect l="-274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5D8383-B96D-AAB8-207F-0E0CF4356F7E}"/>
                  </a:ext>
                </a:extLst>
              </p:cNvPr>
              <p:cNvSpPr txBox="1"/>
              <p:nvPr/>
            </p:nvSpPr>
            <p:spPr>
              <a:xfrm>
                <a:off x="507459" y="2462453"/>
                <a:ext cx="10357391" cy="2987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𝑑𝑦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2(1−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  <m:r>
                      <m:rPr>
                        <m:sty m:val="p"/>
                      </m:rP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2(1−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f>
                                      <m:f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&lt;+∞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同理，</a:t>
                </a:r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&lt;+∞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5D8383-B96D-AAB8-207F-0E0CF435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462453"/>
                <a:ext cx="10357391" cy="2987100"/>
              </a:xfrm>
              <a:prstGeom prst="rect">
                <a:avLst/>
              </a:prstGeo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2DE58503-0D95-6EA1-69D2-6BC6C7A784F4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F8B8B4-3063-2AC0-6964-28571135054D}"/>
              </a:ext>
            </a:extLst>
          </p:cNvPr>
          <p:cNvSpPr txBox="1"/>
          <p:nvPr/>
        </p:nvSpPr>
        <p:spPr>
          <a:xfrm>
            <a:off x="4672852" y="775742"/>
            <a:ext cx="171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边缘分布的求解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D4CC35DF-459B-41AC-45B1-7A5243A914B9}"/>
                  </a:ext>
                </a:extLst>
              </p:cNvPr>
              <p:cNvSpPr/>
              <p:nvPr/>
            </p:nvSpPr>
            <p:spPr>
              <a:xfrm>
                <a:off x="8362950" y="3429000"/>
                <a:ext cx="3252686" cy="97790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二维正态分布</a:t>
                </a:r>
                <a:endParaRPr lang="en-US" altLang="zh-CN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  <a:cs typeface="汉仪文黑-85W" panose="00020600040101010101" pitchFamily="18" charset="-128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  <a:cs typeface="汉仪文黑-85W" panose="00020600040101010101" pitchFamily="18" charset="-128"/>
                            </a:rPr>
                            <m:t>𝑋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  <a:cs typeface="汉仪文黑-85W" panose="00020600040101010101" pitchFamily="18" charset="-128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  <a:cs typeface="汉仪文黑-85W" panose="00020600040101010101" pitchFamily="18" charset="-128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~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𝑁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zh-CN" alt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D4CC35DF-459B-41AC-45B1-7A5243A91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3429000"/>
                <a:ext cx="3252686" cy="9779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59B2095-54C0-8B78-9272-DC8554FC4D86}"/>
              </a:ext>
            </a:extLst>
          </p:cNvPr>
          <p:cNvSpPr/>
          <p:nvPr/>
        </p:nvSpPr>
        <p:spPr>
          <a:xfrm>
            <a:off x="10509250" y="2073485"/>
            <a:ext cx="356241" cy="1212850"/>
          </a:xfrm>
          <a:custGeom>
            <a:avLst/>
            <a:gdLst>
              <a:gd name="connsiteX0" fmla="*/ 0 w 356241"/>
              <a:gd name="connsiteY0" fmla="*/ 0 h 1212850"/>
              <a:gd name="connsiteX1" fmla="*/ 355600 w 356241"/>
              <a:gd name="connsiteY1" fmla="*/ 577850 h 1212850"/>
              <a:gd name="connsiteX2" fmla="*/ 69850 w 356241"/>
              <a:gd name="connsiteY2" fmla="*/ 1212850 h 121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6241" h="1212850">
                <a:moveTo>
                  <a:pt x="0" y="0"/>
                </a:moveTo>
                <a:cubicBezTo>
                  <a:pt x="171979" y="187854"/>
                  <a:pt x="343958" y="375708"/>
                  <a:pt x="355600" y="577850"/>
                </a:cubicBezTo>
                <a:cubicBezTo>
                  <a:pt x="367242" y="779992"/>
                  <a:pt x="218546" y="996421"/>
                  <a:pt x="69850" y="121285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624281C4-0487-F13D-0A3A-3A6E3CAB162F}"/>
                  </a:ext>
                </a:extLst>
              </p:cNvPr>
              <p:cNvSpPr/>
              <p:nvPr/>
            </p:nvSpPr>
            <p:spPr>
              <a:xfrm>
                <a:off x="8362950" y="4851400"/>
                <a:ext cx="1441450" cy="74081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正态分布</a:t>
                </a:r>
                <a:endParaRPr lang="en-US" altLang="zh-CN" sz="16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𝑋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~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𝑁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(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624281C4-0487-F13D-0A3A-3A6E3CAB1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4851400"/>
                <a:ext cx="1441450" cy="74081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0D97E8EB-2A51-43FF-5FF4-BA70910C10D4}"/>
                  </a:ext>
                </a:extLst>
              </p:cNvPr>
              <p:cNvSpPr/>
              <p:nvPr/>
            </p:nvSpPr>
            <p:spPr>
              <a:xfrm>
                <a:off x="10174186" y="4851400"/>
                <a:ext cx="1441450" cy="74081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正态分布</a:t>
                </a:r>
                <a:endParaRPr lang="en-US" altLang="zh-CN" sz="16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𝑌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~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𝑁</m:t>
                      </m:r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  <a:cs typeface="汉仪文黑-85W" panose="00020600040101010101" pitchFamily="18" charset="-128"/>
                        </a:rPr>
                        <m:t>(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0D97E8EB-2A51-43FF-5FF4-BA70910C10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186" y="4851400"/>
                <a:ext cx="1441450" cy="74081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7D1B534-9254-AF64-04C9-D5949BB6BBD4}"/>
              </a:ext>
            </a:extLst>
          </p:cNvPr>
          <p:cNvCxnSpPr/>
          <p:nvPr/>
        </p:nvCxnSpPr>
        <p:spPr>
          <a:xfrm>
            <a:off x="9105440" y="4459077"/>
            <a:ext cx="0" cy="327752"/>
          </a:xfrm>
          <a:prstGeom prst="straightConnector1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C5B7E45-BC49-24DE-28FE-779BF6E8E268}"/>
              </a:ext>
            </a:extLst>
          </p:cNvPr>
          <p:cNvCxnSpPr/>
          <p:nvPr/>
        </p:nvCxnSpPr>
        <p:spPr>
          <a:xfrm>
            <a:off x="10874030" y="4459077"/>
            <a:ext cx="0" cy="327752"/>
          </a:xfrm>
          <a:prstGeom prst="straightConnector1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箭头: 丁字 54">
            <a:extLst>
              <a:ext uri="{FF2B5EF4-FFF2-40B4-BE49-F238E27FC236}">
                <a16:creationId xmlns:a16="http://schemas.microsoft.com/office/drawing/2014/main" id="{2C545A13-ED87-27B4-82A7-53D28FCF2E11}"/>
              </a:ext>
            </a:extLst>
          </p:cNvPr>
          <p:cNvSpPr/>
          <p:nvPr/>
        </p:nvSpPr>
        <p:spPr>
          <a:xfrm>
            <a:off x="9855791" y="4459077"/>
            <a:ext cx="276135" cy="518936"/>
          </a:xfrm>
          <a:prstGeom prst="leftRightUpArrow">
            <a:avLst>
              <a:gd name="adj1" fmla="val 6728"/>
              <a:gd name="adj2" fmla="val 13540"/>
              <a:gd name="adj3" fmla="val 25000"/>
            </a:avLst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" name="图形 56" descr="禁止标志">
            <a:extLst>
              <a:ext uri="{FF2B5EF4-FFF2-40B4-BE49-F238E27FC236}">
                <a16:creationId xmlns:a16="http://schemas.microsoft.com/office/drawing/2014/main" id="{A90B219C-8729-D356-77FE-9C420F4657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3926" y="4501687"/>
            <a:ext cx="288000" cy="288000"/>
          </a:xfrm>
          <a:prstGeom prst="rect">
            <a:avLst/>
          </a:prstGeom>
        </p:spPr>
      </p:pic>
      <p:pic>
        <p:nvPicPr>
          <p:cNvPr id="59" name="图形 58" descr="复选标记">
            <a:extLst>
              <a:ext uri="{FF2B5EF4-FFF2-40B4-BE49-F238E27FC236}">
                <a16:creationId xmlns:a16="http://schemas.microsoft.com/office/drawing/2014/main" id="{9D58DC4D-D1AE-DA55-7F92-809A9A1AD7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73297" y="4496226"/>
            <a:ext cx="288000" cy="288000"/>
          </a:xfrm>
          <a:prstGeom prst="rect">
            <a:avLst/>
          </a:prstGeom>
        </p:spPr>
      </p:pic>
      <p:pic>
        <p:nvPicPr>
          <p:cNvPr id="60" name="图形 59" descr="复选标记">
            <a:extLst>
              <a:ext uri="{FF2B5EF4-FFF2-40B4-BE49-F238E27FC236}">
                <a16:creationId xmlns:a16="http://schemas.microsoft.com/office/drawing/2014/main" id="{B50ABC04-91E3-6A54-2DF1-4F4CC8CBF9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43370" y="4511545"/>
            <a:ext cx="288000" cy="28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A6909FB-7EA9-5D7D-CEE4-C79980E7A257}"/>
                  </a:ext>
                </a:extLst>
              </p:cNvPr>
              <p:cNvSpPr txBox="1"/>
              <p:nvPr/>
            </p:nvSpPr>
            <p:spPr>
              <a:xfrm>
                <a:off x="9687820" y="4553111"/>
                <a:ext cx="6579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已知</a:t>
                </a: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A6909FB-7EA9-5D7D-CEE4-C79980E7A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820" y="4553111"/>
                <a:ext cx="657992" cy="307777"/>
              </a:xfrm>
              <a:prstGeom prst="rect">
                <a:avLst/>
              </a:prstGeom>
              <a:blipFill>
                <a:blip r:embed="rId12"/>
                <a:stretch>
                  <a:fillRect t="-6000" r="-926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图形 62">
            <a:extLst>
              <a:ext uri="{FF2B5EF4-FFF2-40B4-BE49-F238E27FC236}">
                <a16:creationId xmlns:a16="http://schemas.microsoft.com/office/drawing/2014/main" id="{58D8CA09-9F86-374B-938E-BE7873749C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07735" y="2196960"/>
            <a:ext cx="4527011" cy="33952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468FECBD-FF9F-1D34-44D4-96D59EF587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6363" y="2196960"/>
            <a:ext cx="4527011" cy="33952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450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47" grpId="0" animBg="1"/>
      <p:bldP spid="48" grpId="0" animBg="1"/>
      <p:bldP spid="49" grpId="0" animBg="1"/>
      <p:bldP spid="50" grpId="0" animBg="1"/>
      <p:bldP spid="55" grpId="0" animBg="1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9EA302CE-3398-4F60-89DC-529FC55B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2422"/>
            <a:ext cx="6096000" cy="4572000"/>
          </a:xfrm>
          <a:prstGeom prst="rect">
            <a:avLst/>
          </a:prstGeom>
          <a:effectLst/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0E74537A-EE1C-466E-B655-7C9AC7A13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902422"/>
            <a:ext cx="6096000" cy="4572000"/>
          </a:xfrm>
          <a:prstGeom prst="rect">
            <a:avLst/>
          </a:prstGeom>
          <a:effectLst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E0756DF-29A9-4C9F-B558-07B5A5FC7276}"/>
              </a:ext>
            </a:extLst>
          </p:cNvPr>
          <p:cNvSpPr/>
          <p:nvPr/>
        </p:nvSpPr>
        <p:spPr>
          <a:xfrm>
            <a:off x="3884023" y="1310640"/>
            <a:ext cx="304800" cy="1558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24184-0A5E-4ABD-9717-54FE21B68260}"/>
              </a:ext>
            </a:extLst>
          </p:cNvPr>
          <p:cNvSpPr/>
          <p:nvPr/>
        </p:nvSpPr>
        <p:spPr>
          <a:xfrm>
            <a:off x="3884023" y="3213463"/>
            <a:ext cx="304800" cy="1139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DB7062-E886-4495-A8A5-D6869A01E2F9}"/>
              </a:ext>
            </a:extLst>
          </p:cNvPr>
          <p:cNvSpPr/>
          <p:nvPr/>
        </p:nvSpPr>
        <p:spPr>
          <a:xfrm>
            <a:off x="3884023" y="4507231"/>
            <a:ext cx="304800" cy="513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33C381-168B-46C3-AD8A-FE4E1EBBD4CC}"/>
              </a:ext>
            </a:extLst>
          </p:cNvPr>
          <p:cNvSpPr/>
          <p:nvPr/>
        </p:nvSpPr>
        <p:spPr>
          <a:xfrm>
            <a:off x="9980023" y="1310640"/>
            <a:ext cx="304800" cy="1558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76258D-45C4-4EC6-AEE6-A686EE857D2A}"/>
              </a:ext>
            </a:extLst>
          </p:cNvPr>
          <p:cNvSpPr/>
          <p:nvPr/>
        </p:nvSpPr>
        <p:spPr>
          <a:xfrm>
            <a:off x="9980023" y="3213463"/>
            <a:ext cx="304800" cy="1139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C8BDF0-5A73-425F-9257-BB65E55033AA}"/>
              </a:ext>
            </a:extLst>
          </p:cNvPr>
          <p:cNvSpPr/>
          <p:nvPr/>
        </p:nvSpPr>
        <p:spPr>
          <a:xfrm>
            <a:off x="9980023" y="4507231"/>
            <a:ext cx="304800" cy="513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0DD1AB-F480-44C8-9F6F-EFA9CA23F62E}"/>
              </a:ext>
            </a:extLst>
          </p:cNvPr>
          <p:cNvSpPr/>
          <p:nvPr/>
        </p:nvSpPr>
        <p:spPr>
          <a:xfrm>
            <a:off x="10069286" y="4352649"/>
            <a:ext cx="237308" cy="134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52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在第一章中我们已经知道，两事件相互独立 是实际中很常见的情形，其等价于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𝐴𝐵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en-US" altLang="zh-CN" sz="1600" i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对于两随机变量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，倘若它们相互独立，则可认为是 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和事件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相互独立。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D37565F-061A-B235-EA81-6606B212C33E}"/>
                  </a:ext>
                </a:extLst>
              </p:cNvPr>
              <p:cNvSpPr txBox="1"/>
              <p:nvPr/>
            </p:nvSpPr>
            <p:spPr>
              <a:xfrm>
                <a:off x="507459" y="2225405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我们定义 两个随机变量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solidFill>
                      <a:schemeClr val="accent5"/>
                    </a:solidFill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相互独立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⇔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·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这意味着：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D37565F-061A-B235-EA81-6606B212C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225405"/>
                <a:ext cx="11108176" cy="800219"/>
              </a:xfrm>
              <a:prstGeom prst="rect">
                <a:avLst/>
              </a:prstGeom>
              <a:blipFill>
                <a:blip r:embed="rId4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9ECD7AE-BFDD-F5C2-6367-81FE2249CA82}"/>
              </a:ext>
            </a:extLst>
          </p:cNvPr>
          <p:cNvCxnSpPr>
            <a:cxnSpLocks/>
          </p:cNvCxnSpPr>
          <p:nvPr/>
        </p:nvCxnSpPr>
        <p:spPr>
          <a:xfrm>
            <a:off x="828483" y="3037126"/>
            <a:ext cx="0" cy="111337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733EAD8-EAA2-4458-200C-ABCC1061914C}"/>
              </a:ext>
            </a:extLst>
          </p:cNvPr>
          <p:cNvGrpSpPr/>
          <p:nvPr/>
        </p:nvGrpSpPr>
        <p:grpSpPr>
          <a:xfrm>
            <a:off x="783038" y="2980945"/>
            <a:ext cx="2228884" cy="369332"/>
            <a:chOff x="783038" y="2375304"/>
            <a:chExt cx="2228884" cy="369332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BD4C394-D09A-9960-0349-69CBF0AD5EAF}"/>
                </a:ext>
              </a:extLst>
            </p:cNvPr>
            <p:cNvGrpSpPr/>
            <p:nvPr/>
          </p:nvGrpSpPr>
          <p:grpSpPr>
            <a:xfrm>
              <a:off x="783038" y="2514527"/>
              <a:ext cx="941259" cy="90889"/>
              <a:chOff x="783038" y="4168883"/>
              <a:chExt cx="941259" cy="90889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BBF7111-FDA1-B9D3-B85B-6F67BBEC4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910046" cy="0"/>
              </a:xfrm>
              <a:prstGeom prst="line">
                <a:avLst/>
              </a:prstGeom>
              <a:ln w="38100">
                <a:solidFill>
                  <a:schemeClr val="accent5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9CD4E323-367E-6DD9-6E92-1E7DBC58FAED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517BE68-5CB9-D3D3-817E-62FF3E86CD14}"/>
                </a:ext>
              </a:extLst>
            </p:cNvPr>
            <p:cNvSpPr txBox="1"/>
            <p:nvPr/>
          </p:nvSpPr>
          <p:spPr>
            <a:xfrm>
              <a:off x="1811942" y="2375304"/>
              <a:ext cx="119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5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分布函数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0E4D842-DFDC-9B4F-F9C6-33307325382C}"/>
              </a:ext>
            </a:extLst>
          </p:cNvPr>
          <p:cNvGrpSpPr/>
          <p:nvPr/>
        </p:nvGrpSpPr>
        <p:grpSpPr>
          <a:xfrm>
            <a:off x="783038" y="3474547"/>
            <a:ext cx="2228884" cy="369332"/>
            <a:chOff x="783038" y="2375304"/>
            <a:chExt cx="2228884" cy="369332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33D150D3-248A-C1F1-09CF-280F397462D9}"/>
                </a:ext>
              </a:extLst>
            </p:cNvPr>
            <p:cNvGrpSpPr/>
            <p:nvPr/>
          </p:nvGrpSpPr>
          <p:grpSpPr>
            <a:xfrm>
              <a:off x="783038" y="2514527"/>
              <a:ext cx="941259" cy="90889"/>
              <a:chOff x="783038" y="4168883"/>
              <a:chExt cx="941259" cy="90889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D26D8680-0DFD-764D-0502-C4B5B15E0F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910046" cy="0"/>
              </a:xfrm>
              <a:prstGeom prst="line">
                <a:avLst/>
              </a:prstGeom>
              <a:ln w="38100">
                <a:solidFill>
                  <a:schemeClr val="accent5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12DF83AE-03FB-1AA4-5D34-C6BC2665707B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B8775ABF-1C67-9056-97B8-294D9FB3D9E2}"/>
                </a:ext>
              </a:extLst>
            </p:cNvPr>
            <p:cNvSpPr txBox="1"/>
            <p:nvPr/>
          </p:nvSpPr>
          <p:spPr>
            <a:xfrm>
              <a:off x="1811942" y="2375304"/>
              <a:ext cx="119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5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分布律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E636CDC-5025-2E22-8746-A81140142981}"/>
              </a:ext>
            </a:extLst>
          </p:cNvPr>
          <p:cNvGrpSpPr/>
          <p:nvPr/>
        </p:nvGrpSpPr>
        <p:grpSpPr>
          <a:xfrm>
            <a:off x="783038" y="3965830"/>
            <a:ext cx="2228884" cy="369332"/>
            <a:chOff x="783038" y="2375304"/>
            <a:chExt cx="2228884" cy="369332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94439FB-4547-885A-7082-B700576D63C1}"/>
                </a:ext>
              </a:extLst>
            </p:cNvPr>
            <p:cNvGrpSpPr/>
            <p:nvPr/>
          </p:nvGrpSpPr>
          <p:grpSpPr>
            <a:xfrm>
              <a:off x="783038" y="2514527"/>
              <a:ext cx="941259" cy="90889"/>
              <a:chOff x="783038" y="4168883"/>
              <a:chExt cx="941259" cy="90889"/>
            </a:xfrm>
          </p:grpSpPr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39D72896-8F09-5435-0442-9B8B62704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910046" cy="0"/>
              </a:xfrm>
              <a:prstGeom prst="line">
                <a:avLst/>
              </a:prstGeom>
              <a:ln w="38100">
                <a:solidFill>
                  <a:schemeClr val="accent5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A2E753FE-3F86-1C13-0C60-E99C66DB8EE7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59EB17FC-EDDB-E7E8-B9C4-64D9A0809D96}"/>
                </a:ext>
              </a:extLst>
            </p:cNvPr>
            <p:cNvSpPr txBox="1"/>
            <p:nvPr/>
          </p:nvSpPr>
          <p:spPr>
            <a:xfrm>
              <a:off x="1811942" y="2375304"/>
              <a:ext cx="119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5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密度函数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5C3E6B14-4266-83EE-FCAE-6889D347F4B4}"/>
                  </a:ext>
                </a:extLst>
              </p:cNvPr>
              <p:cNvSpPr txBox="1"/>
              <p:nvPr/>
            </p:nvSpPr>
            <p:spPr>
              <a:xfrm>
                <a:off x="3128451" y="3012924"/>
                <a:ext cx="2375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5C3E6B14-4266-83EE-FCAE-6889D347F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51" y="3012924"/>
                <a:ext cx="2375907" cy="276999"/>
              </a:xfrm>
              <a:prstGeom prst="rect">
                <a:avLst/>
              </a:prstGeom>
              <a:blipFill>
                <a:blip r:embed="rId5"/>
                <a:stretch>
                  <a:fillRect l="-1538" t="-2174" r="-2821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05927AC-CF3B-9061-FA6F-414C88859309}"/>
                  </a:ext>
                </a:extLst>
              </p:cNvPr>
              <p:cNvSpPr txBox="1"/>
              <p:nvPr/>
            </p:nvSpPr>
            <p:spPr>
              <a:xfrm>
                <a:off x="3099567" y="3490501"/>
                <a:ext cx="4245495" cy="318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·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05927AC-CF3B-9061-FA6F-414C88859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567" y="3490501"/>
                <a:ext cx="4245495" cy="318421"/>
              </a:xfrm>
              <a:prstGeom prst="rect">
                <a:avLst/>
              </a:prstGeom>
              <a:blipFill>
                <a:blip r:embed="rId6"/>
                <a:stretch>
                  <a:fillRect l="-28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D950676-274A-9ADF-3346-57298E8DAD21}"/>
                  </a:ext>
                </a:extLst>
              </p:cNvPr>
              <p:cNvSpPr txBox="1"/>
              <p:nvPr/>
            </p:nvSpPr>
            <p:spPr>
              <a:xfrm>
                <a:off x="3133205" y="3968911"/>
                <a:ext cx="238385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D950676-274A-9ADF-3346-57298E8DA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205" y="3968911"/>
                <a:ext cx="2383853" cy="276999"/>
              </a:xfrm>
              <a:prstGeom prst="rect">
                <a:avLst/>
              </a:prstGeom>
              <a:blipFill>
                <a:blip r:embed="rId7"/>
                <a:stretch>
                  <a:fillRect l="-2046" t="-2174" r="-3325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EEA5FF1E-B508-F5A5-9719-C2FB2FAA5744}"/>
              </a:ext>
            </a:extLst>
          </p:cNvPr>
          <p:cNvSpPr/>
          <p:nvPr/>
        </p:nvSpPr>
        <p:spPr>
          <a:xfrm>
            <a:off x="7646593" y="3491134"/>
            <a:ext cx="3969042" cy="75477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简单来说：</a:t>
            </a:r>
            <a:endParaRPr lang="en-US" altLang="zh-CN" sz="14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汉仪文黑-85W" panose="00020600040101010101" pitchFamily="18" charset="-128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汉仪文黑-85W" panose="00020600040101010101" pitchFamily="18" charset="-128"/>
              </a:rPr>
              <a:t>联合分布</a:t>
            </a:r>
            <a:r>
              <a:rPr lang="en-US" altLang="zh-CN" sz="14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汉仪文黑-85W" panose="00020600040101010101" pitchFamily="18" charset="-128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汉仪文黑-85W" panose="00020600040101010101" pitchFamily="18" charset="-128"/>
              </a:rPr>
              <a:t>边缘分布相乘，则两边缘分布独立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320D8C1-1635-B3A6-7120-EAA342AD15F8}"/>
              </a:ext>
            </a:extLst>
          </p:cNvPr>
          <p:cNvSpPr txBox="1"/>
          <p:nvPr/>
        </p:nvSpPr>
        <p:spPr>
          <a:xfrm>
            <a:off x="502933" y="4427955"/>
            <a:ext cx="1110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实际中一般常用分布律或密度函数间的关系来判断独立性，要比使用分布函数方便。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A17D86EF-5816-AE95-FC49-74F625B404A3}"/>
              </a:ext>
            </a:extLst>
          </p:cNvPr>
          <p:cNvSpPr txBox="1"/>
          <p:nvPr/>
        </p:nvSpPr>
        <p:spPr>
          <a:xfrm>
            <a:off x="502933" y="4730470"/>
            <a:ext cx="1110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两边缘分布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相互独立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时，它们才能唯一确定一个联合分布。否则，应当给出条件来描述它们的相关性，才能由边缘分布确定联合分布。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8079337-2B1C-EBC8-8389-C6D61FA76D93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EE5CAF2A-A231-A087-608A-008BDD62086F}"/>
              </a:ext>
            </a:extLst>
          </p:cNvPr>
          <p:cNvSpPr txBox="1"/>
          <p:nvPr/>
        </p:nvSpPr>
        <p:spPr>
          <a:xfrm>
            <a:off x="4672852" y="775742"/>
            <a:ext cx="2185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两随机变量的独立性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19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102" grpId="0"/>
      <p:bldP spid="104" grpId="0"/>
      <p:bldP spid="105" grpId="0"/>
      <p:bldP spid="107" grpId="0" animBg="1"/>
      <p:bldP spid="110" grpId="0"/>
      <p:bldP spid="1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8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为两个随机事件，且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𝐵</m:t>
                        </m:r>
                      </m:e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令随机变量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发生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不发生</m:t>
                            </m:r>
                          </m:e>
                        </m:eqAr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发生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</m:t>
                            </m:r>
                          </m: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不发生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求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的联合分布律；（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是否相互独立？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87807"/>
              </a:xfrm>
              <a:prstGeom prst="rect">
                <a:avLst/>
              </a:prstGeom>
              <a:blipFill>
                <a:blip r:embed="rId3"/>
                <a:stretch>
                  <a:fillRect l="-274" b="-8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/>
              <p:nvPr/>
            </p:nvSpPr>
            <p:spPr>
              <a:xfrm>
                <a:off x="507459" y="2385646"/>
                <a:ext cx="11108176" cy="2578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）由题意，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𝐴𝐵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𝐴𝐵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，可解得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8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则易得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的联合分布律如表所示。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）由（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）知，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b="0" dirty="0">
                    <a:ea typeface="楷体" panose="02010609060101010101" pitchFamily="49" charset="-122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=0,1;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=0,1)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相互独立。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385646"/>
                <a:ext cx="11108176" cy="2578591"/>
              </a:xfrm>
              <a:prstGeom prst="rect">
                <a:avLst/>
              </a:prstGeom>
              <a:blipFill>
                <a:blip r:embed="rId4"/>
                <a:stretch>
                  <a:fillRect l="-439" b="-2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06D1C4E7-62D1-4740-22B3-FB5AF9597B68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DB9933-8FF3-15AF-1A3B-AC0EC2FA014F}"/>
              </a:ext>
            </a:extLst>
          </p:cNvPr>
          <p:cNvSpPr txBox="1"/>
          <p:nvPr/>
        </p:nvSpPr>
        <p:spPr>
          <a:xfrm>
            <a:off x="4672852" y="775742"/>
            <a:ext cx="171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独立性的判断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3">
                <a:extLst>
                  <a:ext uri="{FF2B5EF4-FFF2-40B4-BE49-F238E27FC236}">
                    <a16:creationId xmlns:a16="http://schemas.microsoft.com/office/drawing/2014/main" id="{8FFAF877-836E-2EA8-B84A-3E62629A08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187052"/>
                  </p:ext>
                </p:extLst>
              </p:nvPr>
            </p:nvGraphicFramePr>
            <p:xfrm>
              <a:off x="7835807" y="3356075"/>
              <a:ext cx="3096945" cy="1355344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032315">
                      <a:extLst>
                        <a:ext uri="{9D8B030D-6E8A-4147-A177-3AD203B41FA5}">
                          <a16:colId xmlns:a16="http://schemas.microsoft.com/office/drawing/2014/main" val="1856494228"/>
                        </a:ext>
                      </a:extLst>
                    </a:gridCol>
                    <a:gridCol w="1032315">
                      <a:extLst>
                        <a:ext uri="{9D8B030D-6E8A-4147-A177-3AD203B41FA5}">
                          <a16:colId xmlns:a16="http://schemas.microsoft.com/office/drawing/2014/main" val="588371735"/>
                        </a:ext>
                      </a:extLst>
                    </a:gridCol>
                    <a:gridCol w="1032315">
                      <a:extLst>
                        <a:ext uri="{9D8B030D-6E8A-4147-A177-3AD203B41FA5}">
                          <a16:colId xmlns:a16="http://schemas.microsoft.com/office/drawing/2014/main" val="20758958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600" dirty="0"/>
                        </a:p>
                      </a:txBody>
                      <a:tcPr anchor="ctr">
                        <a:lnTlToB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63527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56207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4444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3">
                <a:extLst>
                  <a:ext uri="{FF2B5EF4-FFF2-40B4-BE49-F238E27FC236}">
                    <a16:creationId xmlns:a16="http://schemas.microsoft.com/office/drawing/2014/main" id="{8FFAF877-836E-2EA8-B84A-3E62629A08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187052"/>
                  </p:ext>
                </p:extLst>
              </p:nvPr>
            </p:nvGraphicFramePr>
            <p:xfrm>
              <a:off x="7835807" y="3356075"/>
              <a:ext cx="3096945" cy="1355344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1032315">
                      <a:extLst>
                        <a:ext uri="{9D8B030D-6E8A-4147-A177-3AD203B41FA5}">
                          <a16:colId xmlns:a16="http://schemas.microsoft.com/office/drawing/2014/main" val="1856494228"/>
                        </a:ext>
                      </a:extLst>
                    </a:gridCol>
                    <a:gridCol w="1032315">
                      <a:extLst>
                        <a:ext uri="{9D8B030D-6E8A-4147-A177-3AD203B41FA5}">
                          <a16:colId xmlns:a16="http://schemas.microsoft.com/office/drawing/2014/main" val="588371735"/>
                        </a:ext>
                      </a:extLst>
                    </a:gridCol>
                    <a:gridCol w="1032315">
                      <a:extLst>
                        <a:ext uri="{9D8B030D-6E8A-4147-A177-3AD203B41FA5}">
                          <a16:colId xmlns:a16="http://schemas.microsoft.com/office/drawing/2014/main" val="20758958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600" dirty="0"/>
                        </a:p>
                      </a:txBody>
                      <a:tcPr anchor="ctr">
                        <a:lnTlToB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183" t="-1639" r="-102959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000" t="-1639" r="-2353" b="-268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6352797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88" t="-76543" r="-201765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183" t="-76543" r="-102959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000" t="-76543" r="-2353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620717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88" t="-176543" r="-201765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183" t="-176543" r="-10295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000" t="-176543" r="-2353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4441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7A3901E-FDE4-E682-29D9-37A2124FB7CB}"/>
                  </a:ext>
                </a:extLst>
              </p:cNvPr>
              <p:cNvSpPr txBox="1"/>
              <p:nvPr/>
            </p:nvSpPr>
            <p:spPr>
              <a:xfrm>
                <a:off x="8443498" y="3321334"/>
                <a:ext cx="36361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m:oMathPara>
                </a14:m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7A3901E-FDE4-E682-29D9-37A2124FB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498" y="3321334"/>
                <a:ext cx="36361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E5EF89-905A-04FF-723D-38D6E3F6DAF0}"/>
                  </a:ext>
                </a:extLst>
              </p:cNvPr>
              <p:cNvSpPr txBox="1"/>
              <p:nvPr/>
            </p:nvSpPr>
            <p:spPr>
              <a:xfrm>
                <a:off x="7835807" y="3429000"/>
                <a:ext cx="36361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𝑌</m:t>
                      </m:r>
                    </m:oMath>
                  </m:oMathPara>
                </a14:m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E5EF89-905A-04FF-723D-38D6E3F6D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807" y="3429000"/>
                <a:ext cx="36361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2603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uiExpand="1" build="p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的联合概率密度为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6,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，判断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是否独立。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641586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/>
              <p:nvPr/>
            </p:nvSpPr>
            <p:spPr>
              <a:xfrm>
                <a:off x="507459" y="2178738"/>
                <a:ext cx="11108176" cy="1463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(0≤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rad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(0≤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≤1)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，故它们不独立。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178738"/>
                <a:ext cx="11108176" cy="1463606"/>
              </a:xfrm>
              <a:prstGeom prst="rect">
                <a:avLst/>
              </a:prstGeom>
              <a:blipFill>
                <a:blip r:embed="rId4"/>
                <a:stretch>
                  <a:fillRect l="-439" t="-34167" b="-2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06D1C4E7-62D1-4740-22B3-FB5AF9597B68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DB9933-8FF3-15AF-1A3B-AC0EC2FA014F}"/>
              </a:ext>
            </a:extLst>
          </p:cNvPr>
          <p:cNvSpPr txBox="1"/>
          <p:nvPr/>
        </p:nvSpPr>
        <p:spPr>
          <a:xfrm>
            <a:off x="4672852" y="775742"/>
            <a:ext cx="171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独立性的判断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308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E4CE54-5DBC-64B2-5165-8E4A5A02C85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在第一章中我们已经知道，研究某一事件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𝐴</m:t>
                    </m:r>
                  </m:oMath>
                </a14:m>
                <a:r>
                  <a:rPr lang="en-US" altLang="zh-CN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发生的条件下其发生的概率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|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是非常常见的问题。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对于两随机变量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，倘若其中一个取到确定值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，求此时另一个随机变量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的取值情况（即它的分布），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则可认为是 在事件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发生的条件下 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的概率。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E4CE54-5DBC-64B2-5165-8E4A5A02C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169551"/>
              </a:xfrm>
              <a:prstGeom prst="rect">
                <a:avLst/>
              </a:prstGeom>
              <a:blipFill>
                <a:blip r:embed="rId3"/>
                <a:stretch>
                  <a:fillRect l="-274" b="-5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A50CA82F-B04D-ED86-478C-FB04E9C5BBF2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F61B50-B8B6-49FD-E7A5-75441C21A740}"/>
              </a:ext>
            </a:extLst>
          </p:cNvPr>
          <p:cNvSpPr txBox="1"/>
          <p:nvPr/>
        </p:nvSpPr>
        <p:spPr>
          <a:xfrm>
            <a:off x="4672852" y="775742"/>
            <a:ext cx="2185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随机变量的条件分布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95E401-8182-1B9E-6230-35540DC1A119}"/>
              </a:ext>
            </a:extLst>
          </p:cNvPr>
          <p:cNvSpPr txBox="1"/>
          <p:nvPr/>
        </p:nvSpPr>
        <p:spPr>
          <a:xfrm>
            <a:off x="507459" y="2594737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我们分别针对 离散型随机变量 和 连续型随机变量 定义 </a:t>
            </a:r>
            <a:r>
              <a:rPr lang="zh-CN" altLang="en-US" sz="1600" dirty="0">
                <a:solidFill>
                  <a:schemeClr val="accent1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条件分布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9FD74E2-A9DB-4793-C84A-5F40937086B3}"/>
              </a:ext>
            </a:extLst>
          </p:cNvPr>
          <p:cNvCxnSpPr>
            <a:cxnSpLocks/>
          </p:cNvCxnSpPr>
          <p:nvPr/>
        </p:nvCxnSpPr>
        <p:spPr>
          <a:xfrm>
            <a:off x="828483" y="3037126"/>
            <a:ext cx="0" cy="111337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0A238BD-8DAB-858F-5DE6-75BFF559C2F7}"/>
              </a:ext>
            </a:extLst>
          </p:cNvPr>
          <p:cNvGrpSpPr/>
          <p:nvPr/>
        </p:nvGrpSpPr>
        <p:grpSpPr>
          <a:xfrm>
            <a:off x="783038" y="3244334"/>
            <a:ext cx="2228884" cy="369332"/>
            <a:chOff x="783038" y="2375304"/>
            <a:chExt cx="2228884" cy="36933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AFEB5FA-E160-582B-212E-07AEAF1ECC86}"/>
                </a:ext>
              </a:extLst>
            </p:cNvPr>
            <p:cNvGrpSpPr/>
            <p:nvPr/>
          </p:nvGrpSpPr>
          <p:grpSpPr>
            <a:xfrm>
              <a:off x="783038" y="2514527"/>
              <a:ext cx="941259" cy="90889"/>
              <a:chOff x="783038" y="4168883"/>
              <a:chExt cx="941259" cy="90889"/>
            </a:xfrm>
          </p:grpSpPr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3DFD9AF3-47AB-B805-5898-8F40D7E469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910046" cy="0"/>
              </a:xfrm>
              <a:prstGeom prst="line">
                <a:avLst/>
              </a:prstGeom>
              <a:ln w="38100">
                <a:solidFill>
                  <a:schemeClr val="accent1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38CE6EB4-B81B-16E0-6DF8-22CF9FC155EC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2A6BAF-7A38-8D09-8A7D-2078D904E1DD}"/>
                </a:ext>
              </a:extLst>
            </p:cNvPr>
            <p:cNvSpPr txBox="1"/>
            <p:nvPr/>
          </p:nvSpPr>
          <p:spPr>
            <a:xfrm>
              <a:off x="1811942" y="2375304"/>
              <a:ext cx="119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分布律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031E3C0-1F18-185F-3644-B09DF5ED5E81}"/>
                  </a:ext>
                </a:extLst>
              </p:cNvPr>
              <p:cNvSpPr txBox="1"/>
              <p:nvPr/>
            </p:nvSpPr>
            <p:spPr>
              <a:xfrm>
                <a:off x="3099567" y="3148763"/>
                <a:ext cx="4524123" cy="5604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=1,2,…)(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为定值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031E3C0-1F18-185F-3644-B09DF5ED5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567" y="3148763"/>
                <a:ext cx="4524123" cy="5604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FFC11746-851B-07C2-4552-F05E5D139581}"/>
              </a:ext>
            </a:extLst>
          </p:cNvPr>
          <p:cNvGrpSpPr/>
          <p:nvPr/>
        </p:nvGrpSpPr>
        <p:grpSpPr>
          <a:xfrm>
            <a:off x="783038" y="3934523"/>
            <a:ext cx="2222210" cy="369332"/>
            <a:chOff x="783038" y="2375304"/>
            <a:chExt cx="2222210" cy="369332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F249ED9-D2C1-9E6C-E7C4-B362BFEB4175}"/>
                </a:ext>
              </a:extLst>
            </p:cNvPr>
            <p:cNvGrpSpPr/>
            <p:nvPr/>
          </p:nvGrpSpPr>
          <p:grpSpPr>
            <a:xfrm>
              <a:off x="783038" y="2514527"/>
              <a:ext cx="941259" cy="90889"/>
              <a:chOff x="783038" y="4168883"/>
              <a:chExt cx="941259" cy="90889"/>
            </a:xfrm>
          </p:grpSpPr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2B89813-51A9-FC8F-92CB-DC7A92882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910046" cy="0"/>
              </a:xfrm>
              <a:prstGeom prst="line">
                <a:avLst/>
              </a:prstGeom>
              <a:ln w="38100">
                <a:solidFill>
                  <a:schemeClr val="accent1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537F4FC9-AAD7-6165-2251-A697C2BA3A3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79FF527-E6BE-F0DF-4FD8-F827A48240FB}"/>
                </a:ext>
              </a:extLst>
            </p:cNvPr>
            <p:cNvSpPr txBox="1"/>
            <p:nvPr/>
          </p:nvSpPr>
          <p:spPr>
            <a:xfrm>
              <a:off x="1805268" y="2375304"/>
              <a:ext cx="119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密度函数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ECCD2E0-AFDB-5A7B-65FD-AA6E6DB4D328}"/>
                  </a:ext>
                </a:extLst>
              </p:cNvPr>
              <p:cNvSpPr txBox="1"/>
              <p:nvPr/>
            </p:nvSpPr>
            <p:spPr>
              <a:xfrm>
                <a:off x="3099567" y="3781326"/>
                <a:ext cx="1697260" cy="5848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ECCD2E0-AFDB-5A7B-65FD-AA6E6DB4D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567" y="3781326"/>
                <a:ext cx="1697260" cy="584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FAE920B-DDB5-F304-11E8-39823521615B}"/>
              </a:ext>
            </a:extLst>
          </p:cNvPr>
          <p:cNvCxnSpPr/>
          <p:nvPr/>
        </p:nvCxnSpPr>
        <p:spPr>
          <a:xfrm>
            <a:off x="5064192" y="4091857"/>
            <a:ext cx="8440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B275470-EF0B-FB22-9148-DC7659944C0D}"/>
                  </a:ext>
                </a:extLst>
              </p:cNvPr>
              <p:cNvSpPr txBox="1"/>
              <p:nvPr/>
            </p:nvSpPr>
            <p:spPr>
              <a:xfrm>
                <a:off x="6096000" y="3792608"/>
                <a:ext cx="3331681" cy="598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B275470-EF0B-FB22-9148-DC7659944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92608"/>
                <a:ext cx="3331681" cy="5984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5A1A4CA8-3672-9E60-00A8-4C7BAD75064A}"/>
                  </a:ext>
                </a:extLst>
              </p:cNvPr>
              <p:cNvSpPr/>
              <p:nvPr/>
            </p:nvSpPr>
            <p:spPr>
              <a:xfrm>
                <a:off x="8082761" y="2594737"/>
                <a:ext cx="3532873" cy="1033753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本质上讲，条件概率公式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𝑃</m:t>
                    </m:r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𝐴</m:t>
                        </m:r>
                      </m:e>
                      <m:e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𝐵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=</m:t>
                    </m:r>
                    <m:f>
                      <m:fPr>
                        <m:ctrlP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𝐴𝐵</m:t>
                            </m:r>
                          </m:e>
                        </m:d>
                      </m:num>
                      <m:den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en-US" altLang="zh-CN" sz="14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都是对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𝑃</m:t>
                    </m:r>
                    <m:d>
                      <m:dPr>
                        <m:ctrlPr>
                          <a:rPr lang="en-US" altLang="zh-CN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𝐴𝐵</m:t>
                        </m:r>
                      </m:e>
                    </m:d>
                  </m:oMath>
                </a14:m>
                <a:r>
                  <a: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的一种描述</a:t>
                </a:r>
                <a:endParaRPr lang="en-US" altLang="zh-CN" sz="14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5A1A4CA8-3672-9E60-00A8-4C7BAD750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761" y="2594737"/>
                <a:ext cx="3532873" cy="103375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761D6E67-57E1-E8BA-E447-2102CB4FE951}"/>
              </a:ext>
            </a:extLst>
          </p:cNvPr>
          <p:cNvSpPr txBox="1"/>
          <p:nvPr/>
        </p:nvSpPr>
        <p:spPr>
          <a:xfrm>
            <a:off x="502933" y="4510464"/>
            <a:ext cx="1110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一般来讲，我们也不用分布函数描述条件分布。即使需要求条件分布的分布函数，对密度函数积分也就足以应付了。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900316-4AFA-06B1-43F4-386DFB151E47}"/>
              </a:ext>
            </a:extLst>
          </p:cNvPr>
          <p:cNvSpPr txBox="1"/>
          <p:nvPr/>
        </p:nvSpPr>
        <p:spPr>
          <a:xfrm>
            <a:off x="502933" y="4818241"/>
            <a:ext cx="11108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谨记：条件分布是一维随机变量的分布，不论是离散型还是连续型，另一随机变量都应当取定值。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292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7" grpId="0"/>
      <p:bldP spid="37" grpId="0"/>
      <p:bldP spid="41" grpId="0"/>
      <p:bldP spid="49" grpId="0" animBg="1"/>
      <p:bldP spid="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346368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的联合概率密度为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p>
                                <m:sSup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&gt;0,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，求：</a:t>
                </a:r>
                <a:r>
                  <a:rPr lang="zh-CN" altLang="en-US" sz="16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(1) 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&gt;0,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sub>
                    </m:sSub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endChr m:val=""/>
                        <m:ctrlP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zh-CN" alt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(2) 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&gt;0,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sub>
                    </m:sSub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"/>
                        <m:ctrlP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346368" cy="641586"/>
              </a:xfrm>
              <a:prstGeom prst="rect">
                <a:avLst/>
              </a:prstGeom>
              <a:blipFill>
                <a:blip r:embed="rId3"/>
                <a:stretch>
                  <a:fillRect l="-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/>
              <p:nvPr/>
            </p:nvSpPr>
            <p:spPr>
              <a:xfrm>
                <a:off x="507459" y="2178738"/>
                <a:ext cx="11108176" cy="3629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nary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&amp;0, 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  <m:e/>
                              </m:mr>
                            </m:m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0, 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nary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&amp;0,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  <m:e/>
                                <m:e/>
                              </m:mr>
                            </m:m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</m: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0, 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0, 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0, 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0, 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178738"/>
                <a:ext cx="11108176" cy="3629455"/>
              </a:xfrm>
              <a:prstGeom prst="rect">
                <a:avLst/>
              </a:prstGeom>
              <a:blipFill>
                <a:blip r:embed="rId4"/>
                <a:stretch>
                  <a:fillRect l="-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06D1C4E7-62D1-4740-22B3-FB5AF9597B68}"/>
              </a:ext>
            </a:extLst>
          </p:cNvPr>
          <p:cNvSpPr txBox="1"/>
          <p:nvPr/>
        </p:nvSpPr>
        <p:spPr>
          <a:xfrm>
            <a:off x="507459" y="496110"/>
            <a:ext cx="416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二维随机变量及其描述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DB9933-8FF3-15AF-1A3B-AC0EC2FA014F}"/>
              </a:ext>
            </a:extLst>
          </p:cNvPr>
          <p:cNvSpPr txBox="1"/>
          <p:nvPr/>
        </p:nvSpPr>
        <p:spPr>
          <a:xfrm>
            <a:off x="4672852" y="775742"/>
            <a:ext cx="171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条件分布的计算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708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244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在许多问题中，我们常常要寻求 与已知的随机变量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有关联的另一个随机变量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的概率分布。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对于离散型随机变量，通过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的分布列逐一求出对应的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𝑍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的分布列即可。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对于连续型随机变量，则要利用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的分布函数的定义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𝑧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，转化为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𝑧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，再利用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的分布求解。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244893"/>
              </a:xfrm>
              <a:prstGeom prst="rect">
                <a:avLst/>
              </a:prstGeom>
              <a:blipFill>
                <a:blip r:embed="rId3"/>
                <a:stretch>
                  <a:fillRect l="-274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9D0D3C-179C-060A-198D-18EE5F83492F}"/>
              </a:ext>
            </a:extLst>
          </p:cNvPr>
          <p:cNvGrpSpPr/>
          <p:nvPr/>
        </p:nvGrpSpPr>
        <p:grpSpPr>
          <a:xfrm>
            <a:off x="576364" y="2959201"/>
            <a:ext cx="5196175" cy="2943967"/>
            <a:chOff x="576364" y="2959201"/>
            <a:chExt cx="5196175" cy="294396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06FF1E4-9B08-DA7E-22CD-05A8D6F13CDC}"/>
                </a:ext>
              </a:extLst>
            </p:cNvPr>
            <p:cNvSpPr/>
            <p:nvPr/>
          </p:nvSpPr>
          <p:spPr>
            <a:xfrm>
              <a:off x="576364" y="2959201"/>
              <a:ext cx="5196175" cy="2694312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A5BB93E-BCBA-F005-7C26-B7B30DE2663B}"/>
                </a:ext>
              </a:extLst>
            </p:cNvPr>
            <p:cNvSpPr/>
            <p:nvPr/>
          </p:nvSpPr>
          <p:spPr>
            <a:xfrm>
              <a:off x="2038368" y="5462810"/>
              <a:ext cx="2272165" cy="440358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离散型随机变量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992A445-71F4-2E82-8B2E-C67A342A8980}"/>
              </a:ext>
            </a:extLst>
          </p:cNvPr>
          <p:cNvGrpSpPr/>
          <p:nvPr/>
        </p:nvGrpSpPr>
        <p:grpSpPr>
          <a:xfrm>
            <a:off x="6419463" y="2959201"/>
            <a:ext cx="5196175" cy="2943967"/>
            <a:chOff x="6419463" y="2959201"/>
            <a:chExt cx="5196175" cy="294396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596566D-E41B-B417-B349-C9A377E64533}"/>
                </a:ext>
              </a:extLst>
            </p:cNvPr>
            <p:cNvSpPr/>
            <p:nvPr/>
          </p:nvSpPr>
          <p:spPr>
            <a:xfrm>
              <a:off x="6419463" y="2959201"/>
              <a:ext cx="5196175" cy="2694312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3923027-9508-12D3-D17D-B807D860BE96}"/>
                </a:ext>
              </a:extLst>
            </p:cNvPr>
            <p:cNvSpPr/>
            <p:nvPr/>
          </p:nvSpPr>
          <p:spPr>
            <a:xfrm>
              <a:off x="7881467" y="5462810"/>
              <a:ext cx="2272165" cy="440358"/>
            </a:xfrm>
            <a:prstGeom prst="roundRect">
              <a:avLst/>
            </a:prstGeom>
            <a:solidFill>
              <a:srgbClr val="00B0F0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连续型随机变量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29">
                <a:extLst>
                  <a:ext uri="{FF2B5EF4-FFF2-40B4-BE49-F238E27FC236}">
                    <a16:creationId xmlns:a16="http://schemas.microsoft.com/office/drawing/2014/main" id="{B0F4B487-0F18-9E25-FBD8-F6648197DB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7525055"/>
                  </p:ext>
                </p:extLst>
              </p:nvPr>
            </p:nvGraphicFramePr>
            <p:xfrm>
              <a:off x="830505" y="3213154"/>
              <a:ext cx="2242412" cy="663426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560603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560603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560603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560603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</a:tblGrid>
                  <a:tr h="33171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29">
                <a:extLst>
                  <a:ext uri="{FF2B5EF4-FFF2-40B4-BE49-F238E27FC236}">
                    <a16:creationId xmlns:a16="http://schemas.microsoft.com/office/drawing/2014/main" id="{B0F4B487-0F18-9E25-FBD8-F6648197DB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7525055"/>
                  </p:ext>
                </p:extLst>
              </p:nvPr>
            </p:nvGraphicFramePr>
            <p:xfrm>
              <a:off x="830505" y="3213154"/>
              <a:ext cx="2242412" cy="663426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560603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560603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560603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560603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</a:tblGrid>
                  <a:tr h="331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87" t="-1818" r="-305435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818" r="-202151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2174" t="-1818" r="-104348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174" t="-1818" r="-4348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87" t="-103704" r="-305435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03704" r="-202151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2174" t="-103704" r="-10434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174" t="-103704" r="-4348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29">
                <a:extLst>
                  <a:ext uri="{FF2B5EF4-FFF2-40B4-BE49-F238E27FC236}">
                    <a16:creationId xmlns:a16="http://schemas.microsoft.com/office/drawing/2014/main" id="{886469B6-CBC8-F5B2-AA3F-F8AE54A616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300639"/>
                  </p:ext>
                </p:extLst>
              </p:nvPr>
            </p:nvGraphicFramePr>
            <p:xfrm>
              <a:off x="3341990" y="3213153"/>
              <a:ext cx="1868823" cy="663428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622941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622941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622941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</a:tblGrid>
                  <a:tr h="331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zh-CN" altLang="en-US" sz="1200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29">
                <a:extLst>
                  <a:ext uri="{FF2B5EF4-FFF2-40B4-BE49-F238E27FC236}">
                    <a16:creationId xmlns:a16="http://schemas.microsoft.com/office/drawing/2014/main" id="{886469B6-CBC8-F5B2-AA3F-F8AE54A616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300639"/>
                  </p:ext>
                </p:extLst>
              </p:nvPr>
            </p:nvGraphicFramePr>
            <p:xfrm>
              <a:off x="3341990" y="3213153"/>
              <a:ext cx="1868823" cy="663428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622941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622941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622941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</a:tblGrid>
                  <a:tr h="331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80" t="-1818" r="-204902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1818" r="-1029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1961" t="-1818" r="-3922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80" t="-103704" r="-20490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103704" r="-10291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1961" t="-103704" r="-3922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FB89ABB-D626-9904-BF81-567EA4C877C1}"/>
                  </a:ext>
                </a:extLst>
              </p:cNvPr>
              <p:cNvSpPr txBox="1"/>
              <p:nvPr/>
            </p:nvSpPr>
            <p:spPr>
              <a:xfrm>
                <a:off x="830505" y="3929776"/>
                <a:ext cx="13477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的分布列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FB89ABB-D626-9904-BF81-567EA4C87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05" y="3929776"/>
                <a:ext cx="1347765" cy="338554"/>
              </a:xfrm>
              <a:prstGeom prst="rect">
                <a:avLst/>
              </a:prstGeom>
              <a:blipFill>
                <a:blip r:embed="rId6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D8AE4E8-C192-8ED2-92DD-521F8F8D41F2}"/>
                  </a:ext>
                </a:extLst>
              </p:cNvPr>
              <p:cNvSpPr txBox="1"/>
              <p:nvPr/>
            </p:nvSpPr>
            <p:spPr>
              <a:xfrm>
                <a:off x="3668050" y="3961256"/>
                <a:ext cx="15370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的分布列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D8AE4E8-C192-8ED2-92DD-521F8F8D4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050" y="3961256"/>
                <a:ext cx="1537057" cy="338554"/>
              </a:xfrm>
              <a:prstGeom prst="rect">
                <a:avLst/>
              </a:prstGeom>
              <a:blipFill>
                <a:blip r:embed="rId7"/>
                <a:stretch>
                  <a:fillRect t="-7273" r="-1984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6299455A-DB7B-4025-1622-C7DD4C4BC87A}"/>
              </a:ext>
            </a:extLst>
          </p:cNvPr>
          <p:cNvGrpSpPr/>
          <p:nvPr/>
        </p:nvGrpSpPr>
        <p:grpSpPr>
          <a:xfrm>
            <a:off x="2399390" y="4074252"/>
            <a:ext cx="1347053" cy="350385"/>
            <a:chOff x="1807226" y="4093137"/>
            <a:chExt cx="1347053" cy="350385"/>
          </a:xfrm>
        </p:grpSpPr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5012DD74-08F4-F03E-1E5D-56394CAE9CA2}"/>
                </a:ext>
              </a:extLst>
            </p:cNvPr>
            <p:cNvCxnSpPr>
              <a:cxnSpLocks/>
            </p:cNvCxnSpPr>
            <p:nvPr/>
          </p:nvCxnSpPr>
          <p:spPr>
            <a:xfrm>
              <a:off x="3154279" y="4093137"/>
              <a:ext cx="0" cy="350385"/>
            </a:xfrm>
            <a:prstGeom prst="straightConnector1">
              <a:avLst/>
            </a:prstGeom>
            <a:ln w="1905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A9036B2-F9D4-9675-696F-DBB45A4B9A3D}"/>
                    </a:ext>
                  </a:extLst>
                </p:cNvPr>
                <p:cNvSpPr txBox="1"/>
                <p:nvPr/>
              </p:nvSpPr>
              <p:spPr>
                <a:xfrm>
                  <a:off x="1807226" y="4124711"/>
                  <a:ext cx="129339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计算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Z</m:t>
                      </m:r>
                      <m:r>
                        <a:rPr lang="en-US" altLang="zh-CN" sz="1200" b="0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2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𝑓</m:t>
                      </m:r>
                      <m:r>
                        <a:rPr lang="en-US" altLang="zh-CN" sz="12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2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  <m:r>
                        <a:rPr lang="en-US" altLang="zh-CN" sz="12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2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  <m:r>
                        <a:rPr lang="en-US" altLang="zh-CN" sz="12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200" i="1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A9036B2-F9D4-9675-696F-DBB45A4B9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226" y="4124711"/>
                  <a:ext cx="1293392" cy="276999"/>
                </a:xfrm>
                <a:prstGeom prst="rect">
                  <a:avLst/>
                </a:prstGeom>
                <a:blipFill>
                  <a:blip r:embed="rId8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311527B-545C-5231-64CA-F23EA33961AC}"/>
                  </a:ext>
                </a:extLst>
              </p:cNvPr>
              <p:cNvSpPr txBox="1"/>
              <p:nvPr/>
            </p:nvSpPr>
            <p:spPr>
              <a:xfrm>
                <a:off x="5479888" y="3521055"/>
                <a:ext cx="1232224" cy="7007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𝑍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311527B-545C-5231-64CA-F23EA3396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888" y="3521055"/>
                <a:ext cx="1232224" cy="700769"/>
              </a:xfrm>
              <a:prstGeom prst="rect">
                <a:avLst/>
              </a:prstGeom>
              <a:blipFill>
                <a:blip r:embed="rId9"/>
                <a:stretch>
                  <a:fillRect b="-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32F4BE-191A-7235-0041-BDA07611171E}"/>
                  </a:ext>
                </a:extLst>
              </p:cNvPr>
              <p:cNvSpPr txBox="1"/>
              <p:nvPr/>
            </p:nvSpPr>
            <p:spPr>
              <a:xfrm>
                <a:off x="7017362" y="3152276"/>
                <a:ext cx="16712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的分布函数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32F4BE-191A-7235-0041-BDA07611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362" y="3152276"/>
                <a:ext cx="1671287" cy="338554"/>
              </a:xfrm>
              <a:prstGeom prst="rect">
                <a:avLst/>
              </a:prstGeom>
              <a:blipFill>
                <a:blip r:embed="rId10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DEAAB35-49A1-C133-12D9-DBCFDDB2E06F}"/>
                  </a:ext>
                </a:extLst>
              </p:cNvPr>
              <p:cNvSpPr txBox="1"/>
              <p:nvPr/>
            </p:nvSpPr>
            <p:spPr>
              <a:xfrm>
                <a:off x="9537301" y="3152276"/>
                <a:ext cx="14810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的密度函数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DEAAB35-49A1-C133-12D9-DBCFDDB2E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301" y="3152276"/>
                <a:ext cx="1481078" cy="338554"/>
              </a:xfrm>
              <a:prstGeom prst="rect">
                <a:avLst/>
              </a:prstGeom>
              <a:blipFill>
                <a:blip r:embed="rId11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B2AFF7B1-6334-5399-7AC1-867CE0482FD5}"/>
              </a:ext>
            </a:extLst>
          </p:cNvPr>
          <p:cNvGrpSpPr/>
          <p:nvPr/>
        </p:nvGrpSpPr>
        <p:grpSpPr>
          <a:xfrm>
            <a:off x="8688649" y="3036879"/>
            <a:ext cx="783266" cy="276999"/>
            <a:chOff x="8688649" y="3250431"/>
            <a:chExt cx="783266" cy="276999"/>
          </a:xfrm>
        </p:grpSpPr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E8862A3-7728-1E45-1D66-3FD36463F1A9}"/>
                </a:ext>
              </a:extLst>
            </p:cNvPr>
            <p:cNvCxnSpPr>
              <a:cxnSpLocks/>
            </p:cNvCxnSpPr>
            <p:nvPr/>
          </p:nvCxnSpPr>
          <p:spPr>
            <a:xfrm>
              <a:off x="8688649" y="3527430"/>
              <a:ext cx="783266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59C636FC-BA10-821C-FB08-1C85C6498A62}"/>
                </a:ext>
              </a:extLst>
            </p:cNvPr>
            <p:cNvSpPr txBox="1"/>
            <p:nvPr/>
          </p:nvSpPr>
          <p:spPr>
            <a:xfrm>
              <a:off x="8784445" y="3250431"/>
              <a:ext cx="541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求导</a:t>
              </a:r>
              <a:endParaRPr lang="zh-CN" altLang="en-US" sz="1200" i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96BD4AA-CA87-A77D-5910-AC32B9865F3F}"/>
                  </a:ext>
                </a:extLst>
              </p:cNvPr>
              <p:cNvSpPr txBox="1"/>
              <p:nvPr/>
            </p:nvSpPr>
            <p:spPr>
              <a:xfrm>
                <a:off x="6458184" y="3787671"/>
                <a:ext cx="286767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𝑍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altLang="zh-CN" sz="1600" b="0" dirty="0">
                  <a:ea typeface="Cambria Math" panose="02040503050406030204" pitchFamily="18" charset="0"/>
                </a:endParaRPr>
              </a:p>
              <a:p>
                <a:r>
                  <a:rPr lang="en-US" altLang="zh-CN" sz="1600" b="0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                 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𝑌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sz="1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96BD4AA-CA87-A77D-5910-AC32B9865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184" y="3787671"/>
                <a:ext cx="2867671" cy="584775"/>
              </a:xfrm>
              <a:prstGeom prst="rect">
                <a:avLst/>
              </a:prstGeom>
              <a:blipFill>
                <a:blip r:embed="rId12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1F10FCA-7B79-1C83-AE5E-D1E82E83FABD}"/>
                  </a:ext>
                </a:extLst>
              </p:cNvPr>
              <p:cNvSpPr txBox="1"/>
              <p:nvPr/>
            </p:nvSpPr>
            <p:spPr>
              <a:xfrm rot="5400000">
                <a:off x="7702322" y="3500232"/>
                <a:ext cx="301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1F10FCA-7B79-1C83-AE5E-D1E82E83F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702322" y="3500232"/>
                <a:ext cx="301365" cy="276999"/>
              </a:xfrm>
              <a:prstGeom prst="rect">
                <a:avLst/>
              </a:prstGeom>
              <a:blipFill>
                <a:blip r:embed="rId16"/>
                <a:stretch>
                  <a:fillRect l="-2222" t="-12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2E0BACB-B032-91F5-7F24-A79FDEDB61EB}"/>
                  </a:ext>
                </a:extLst>
              </p:cNvPr>
              <p:cNvSpPr txBox="1"/>
              <p:nvPr/>
            </p:nvSpPr>
            <p:spPr>
              <a:xfrm>
                <a:off x="9017549" y="4929621"/>
                <a:ext cx="23084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的联合概率密度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2E0BACB-B032-91F5-7F24-A79FDEDB6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549" y="4929621"/>
                <a:ext cx="2308495" cy="338554"/>
              </a:xfrm>
              <a:prstGeom prst="rect">
                <a:avLst/>
              </a:prstGeom>
              <a:blipFill>
                <a:blip r:embed="rId17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A41CDBCE-DEFE-C6FA-19CB-1C397CD6DAD6}"/>
              </a:ext>
            </a:extLst>
          </p:cNvPr>
          <p:cNvGrpSpPr/>
          <p:nvPr/>
        </p:nvGrpSpPr>
        <p:grpSpPr>
          <a:xfrm>
            <a:off x="8663517" y="3387293"/>
            <a:ext cx="783266" cy="276999"/>
            <a:chOff x="8688649" y="3522092"/>
            <a:chExt cx="783266" cy="276999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71EF7971-E53D-8E05-0059-383CAC943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8649" y="3527430"/>
              <a:ext cx="783266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D513D8B-1C8C-ACDE-CFAA-C04A4F62F65D}"/>
                </a:ext>
              </a:extLst>
            </p:cNvPr>
            <p:cNvSpPr txBox="1"/>
            <p:nvPr/>
          </p:nvSpPr>
          <p:spPr>
            <a:xfrm>
              <a:off x="8809577" y="3522092"/>
              <a:ext cx="541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积分</a:t>
              </a:r>
              <a:endParaRPr lang="zh-CN" altLang="en-US" sz="1200" i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29">
                <a:extLst>
                  <a:ext uri="{FF2B5EF4-FFF2-40B4-BE49-F238E27FC236}">
                    <a16:creationId xmlns:a16="http://schemas.microsoft.com/office/drawing/2014/main" id="{5FBE1AEC-37F4-26E0-3AA7-A684F79C87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0031093"/>
                  </p:ext>
                </p:extLst>
              </p:nvPr>
            </p:nvGraphicFramePr>
            <p:xfrm>
              <a:off x="828379" y="4588026"/>
              <a:ext cx="4651506" cy="663426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479814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1226668717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929873104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3307403769"/>
                        </a:ext>
                      </a:extLst>
                    </a:gridCol>
                  </a:tblGrid>
                  <a:tr h="33171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zh-CN" altLang="en-US" sz="1200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29">
                <a:extLst>
                  <a:ext uri="{FF2B5EF4-FFF2-40B4-BE49-F238E27FC236}">
                    <a16:creationId xmlns:a16="http://schemas.microsoft.com/office/drawing/2014/main" id="{5FBE1AEC-37F4-26E0-3AA7-A684F79C87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0031093"/>
                  </p:ext>
                </p:extLst>
              </p:nvPr>
            </p:nvGraphicFramePr>
            <p:xfrm>
              <a:off x="828379" y="4588026"/>
              <a:ext cx="4651506" cy="663426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479814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1226668717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929873104"/>
                        </a:ext>
                      </a:extLst>
                    </a:gridCol>
                    <a:gridCol w="695282">
                      <a:extLst>
                        <a:ext uri="{9D8B030D-6E8A-4147-A177-3AD203B41FA5}">
                          <a16:colId xmlns:a16="http://schemas.microsoft.com/office/drawing/2014/main" val="3307403769"/>
                        </a:ext>
                      </a:extLst>
                    </a:gridCol>
                  </a:tblGrid>
                  <a:tr h="331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266" t="-1818" r="-873418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70175" t="-1818" r="-50526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70175" t="-1818" r="-40526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270175" t="-1818" r="-30526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366957" t="-1818" r="-20260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471053" t="-1818" r="-104386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571053" t="-1818" r="-4386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266" t="-101818" r="-873418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70175" t="-101818" r="-50526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70175" t="-101818" r="-40526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270175" t="-101818" r="-30526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366957" t="-101818" r="-20260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471053" t="-101818" r="-104386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571053" t="-101818" r="-4386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E0EC6F06-E440-4B72-C261-6956AA5DD5BB}"/>
              </a:ext>
            </a:extLst>
          </p:cNvPr>
          <p:cNvGrpSpPr/>
          <p:nvPr/>
        </p:nvGrpSpPr>
        <p:grpSpPr>
          <a:xfrm>
            <a:off x="7419800" y="4090900"/>
            <a:ext cx="2052115" cy="1005371"/>
            <a:chOff x="7419800" y="4090900"/>
            <a:chExt cx="2052115" cy="1005371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E69DCFF-7774-B18B-1E34-E0F338CDED91}"/>
                </a:ext>
              </a:extLst>
            </p:cNvPr>
            <p:cNvSpPr txBox="1"/>
            <p:nvPr/>
          </p:nvSpPr>
          <p:spPr>
            <a:xfrm>
              <a:off x="8638060" y="4597481"/>
              <a:ext cx="6623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重积分</a:t>
              </a:r>
              <a:endParaRPr lang="zh-CN" altLang="en-US" sz="1200" i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9770A618-2923-EC02-876B-A8A659E4DA9D}"/>
                </a:ext>
              </a:extLst>
            </p:cNvPr>
            <p:cNvGrpSpPr/>
            <p:nvPr/>
          </p:nvGrpSpPr>
          <p:grpSpPr>
            <a:xfrm>
              <a:off x="7419800" y="4090900"/>
              <a:ext cx="2052115" cy="1005371"/>
              <a:chOff x="7458197" y="4319299"/>
              <a:chExt cx="2052115" cy="1005371"/>
            </a:xfrm>
          </p:grpSpPr>
          <p:sp>
            <p:nvSpPr>
              <p:cNvPr id="33" name="弧形 32">
                <a:extLst>
                  <a:ext uri="{FF2B5EF4-FFF2-40B4-BE49-F238E27FC236}">
                    <a16:creationId xmlns:a16="http://schemas.microsoft.com/office/drawing/2014/main" id="{9B1D3EA8-33DE-6184-6B24-455059B15ED9}"/>
                  </a:ext>
                </a:extLst>
              </p:cNvPr>
              <p:cNvSpPr/>
              <p:nvPr/>
            </p:nvSpPr>
            <p:spPr>
              <a:xfrm>
                <a:off x="8504941" y="4319299"/>
                <a:ext cx="1005371" cy="1005371"/>
              </a:xfrm>
              <a:prstGeom prst="arc">
                <a:avLst>
                  <a:gd name="adj1" fmla="val 5551564"/>
                  <a:gd name="adj2" fmla="val 11227353"/>
                </a:avLst>
              </a:prstGeom>
              <a:ln w="19050">
                <a:solidFill>
                  <a:srgbClr val="00B0F0"/>
                </a:solidFill>
                <a:prstDash val="sys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093BFEDF-307C-8282-D04B-C59CC3D139AF}"/>
                      </a:ext>
                    </a:extLst>
                  </p:cNvPr>
                  <p:cNvSpPr txBox="1"/>
                  <p:nvPr/>
                </p:nvSpPr>
                <p:spPr>
                  <a:xfrm>
                    <a:off x="7458197" y="4716394"/>
                    <a:ext cx="9835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dirty="0">
                        <a:solidFill>
                          <a:srgbClr val="00B0F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积分区域</a:t>
                    </a:r>
                    <a:endParaRPr lang="en-US" altLang="zh-CN" sz="1200" dirty="0">
                      <a:solidFill>
                        <a:srgbClr val="00B0F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sz="12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≤</m:t>
                          </m:r>
                          <m:r>
                            <a:rPr lang="en-US" altLang="zh-CN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oMath>
                      </m:oMathPara>
                    </a14:m>
                    <a:endParaRPr lang="zh-CN" altLang="en-US" sz="1200" i="1" dirty="0">
                      <a:solidFill>
                        <a:srgbClr val="00B0F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093BFEDF-307C-8282-D04B-C59CC3D139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8197" y="4716394"/>
                    <a:ext cx="983519" cy="46166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93FD19C-F594-A384-0B08-930F58BD8FBC}"/>
                  </a:ext>
                </a:extLst>
              </p:cNvPr>
              <p:cNvSpPr/>
              <p:nvPr/>
            </p:nvSpPr>
            <p:spPr>
              <a:xfrm>
                <a:off x="9643431" y="3630081"/>
                <a:ext cx="1690784" cy="115497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  <a:alpha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sz="14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93FD19C-F594-A384-0B08-930F58BD8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431" y="3630081"/>
                <a:ext cx="1690784" cy="1154979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0096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22" grpId="0"/>
      <p:bldP spid="23" grpId="0"/>
      <p:bldP spid="37" grpId="0" animBg="1"/>
      <p:bldP spid="38" grpId="0"/>
      <p:bldP spid="39" grpId="0"/>
      <p:bldP spid="64" grpId="0" uiExpand="1" build="p"/>
      <p:bldP spid="65" grpId="0"/>
      <p:bldP spid="68" grpId="0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368082"/>
                <a:ext cx="86454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 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，试求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𝑧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68082"/>
                <a:ext cx="8645484" cy="338554"/>
              </a:xfrm>
              <a:prstGeom prst="rect">
                <a:avLst/>
              </a:prstGeom>
              <a:blipFill>
                <a:blip r:embed="rId3"/>
                <a:stretch>
                  <a:fillRect l="-353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A1BA76D-A04A-24A8-3D6D-6701E938BBF7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BC2845-23CE-0FC1-A45B-CFCD4BD8C473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4F368F-BC71-7A3B-4D41-89D43CB28E87}"/>
                  </a:ext>
                </a:extLst>
              </p:cNvPr>
              <p:cNvSpPr txBox="1"/>
              <p:nvPr/>
            </p:nvSpPr>
            <p:spPr>
              <a:xfrm>
                <a:off x="507459" y="1814501"/>
                <a:ext cx="6507390" cy="3615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解：要求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，可先求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∬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𝑑𝑥𝑑𝑦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sup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nary>
                          <m:nary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𝑢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𝑝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nary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en-US" altLang="zh-CN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同理，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4F368F-BC71-7A3B-4D41-89D43CB2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1814501"/>
                <a:ext cx="6507390" cy="3615798"/>
              </a:xfrm>
              <a:prstGeom prst="rect">
                <a:avLst/>
              </a:prstGeom>
              <a:blipFill>
                <a:blip r:embed="rId4"/>
                <a:stretch>
                  <a:fillRect l="-749" t="-4047" b="-21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D3FD8C4B-9BFC-B043-ABD2-E4B449C91881}"/>
              </a:ext>
            </a:extLst>
          </p:cNvPr>
          <p:cNvGrpSpPr/>
          <p:nvPr/>
        </p:nvGrpSpPr>
        <p:grpSpPr>
          <a:xfrm>
            <a:off x="8810277" y="1426002"/>
            <a:ext cx="2805359" cy="2383240"/>
            <a:chOff x="8810277" y="1426002"/>
            <a:chExt cx="2805359" cy="238324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815AE4E-4FA7-1007-2B79-2151E14CC416}"/>
                </a:ext>
              </a:extLst>
            </p:cNvPr>
            <p:cNvGrpSpPr/>
            <p:nvPr/>
          </p:nvGrpSpPr>
          <p:grpSpPr>
            <a:xfrm>
              <a:off x="8810277" y="1426002"/>
              <a:ext cx="2805359" cy="2383240"/>
              <a:chOff x="8810277" y="1426002"/>
              <a:chExt cx="2805359" cy="2383240"/>
            </a:xfrm>
          </p:grpSpPr>
          <p:sp>
            <p:nvSpPr>
              <p:cNvPr id="26" name="矩形: 剪去单角 25">
                <a:extLst>
                  <a:ext uri="{FF2B5EF4-FFF2-40B4-BE49-F238E27FC236}">
                    <a16:creationId xmlns:a16="http://schemas.microsoft.com/office/drawing/2014/main" id="{3EF3B35D-CD51-DE28-B50B-162846CA18DA}"/>
                  </a:ext>
                </a:extLst>
              </p:cNvPr>
              <p:cNvSpPr/>
              <p:nvPr/>
            </p:nvSpPr>
            <p:spPr>
              <a:xfrm>
                <a:off x="9002182" y="1725456"/>
                <a:ext cx="2174837" cy="1846585"/>
              </a:xfrm>
              <a:custGeom>
                <a:avLst/>
                <a:gdLst>
                  <a:gd name="connsiteX0" fmla="*/ 0 w 3276395"/>
                  <a:gd name="connsiteY0" fmla="*/ 0 h 3129953"/>
                  <a:gd name="connsiteX1" fmla="*/ 1711419 w 3276395"/>
                  <a:gd name="connsiteY1" fmla="*/ 0 h 3129953"/>
                  <a:gd name="connsiteX2" fmla="*/ 3276395 w 3276395"/>
                  <a:gd name="connsiteY2" fmla="*/ 1564977 h 3129953"/>
                  <a:gd name="connsiteX3" fmla="*/ 3276395 w 3276395"/>
                  <a:gd name="connsiteY3" fmla="*/ 3129953 h 3129953"/>
                  <a:gd name="connsiteX4" fmla="*/ 0 w 3276395"/>
                  <a:gd name="connsiteY4" fmla="*/ 3129953 h 3129953"/>
                  <a:gd name="connsiteX5" fmla="*/ 0 w 3276395"/>
                  <a:gd name="connsiteY5" fmla="*/ 0 h 3129953"/>
                  <a:gd name="connsiteX0" fmla="*/ 1106905 w 3276395"/>
                  <a:gd name="connsiteY0" fmla="*/ 0 h 3129953"/>
                  <a:gd name="connsiteX1" fmla="*/ 1711419 w 3276395"/>
                  <a:gd name="connsiteY1" fmla="*/ 0 h 3129953"/>
                  <a:gd name="connsiteX2" fmla="*/ 3276395 w 3276395"/>
                  <a:gd name="connsiteY2" fmla="*/ 1564977 h 3129953"/>
                  <a:gd name="connsiteX3" fmla="*/ 3276395 w 3276395"/>
                  <a:gd name="connsiteY3" fmla="*/ 3129953 h 3129953"/>
                  <a:gd name="connsiteX4" fmla="*/ 0 w 3276395"/>
                  <a:gd name="connsiteY4" fmla="*/ 3129953 h 3129953"/>
                  <a:gd name="connsiteX5" fmla="*/ 1106905 w 3276395"/>
                  <a:gd name="connsiteY5" fmla="*/ 0 h 3129953"/>
                  <a:gd name="connsiteX0" fmla="*/ 10694 w 2180184"/>
                  <a:gd name="connsiteY0" fmla="*/ 0 h 3129953"/>
                  <a:gd name="connsiteX1" fmla="*/ 615208 w 2180184"/>
                  <a:gd name="connsiteY1" fmla="*/ 0 h 3129953"/>
                  <a:gd name="connsiteX2" fmla="*/ 2180184 w 2180184"/>
                  <a:gd name="connsiteY2" fmla="*/ 1564977 h 3129953"/>
                  <a:gd name="connsiteX3" fmla="*/ 2180184 w 2180184"/>
                  <a:gd name="connsiteY3" fmla="*/ 3129953 h 3129953"/>
                  <a:gd name="connsiteX4" fmla="*/ 0 w 2180184"/>
                  <a:gd name="connsiteY4" fmla="*/ 1584564 h 3129953"/>
                  <a:gd name="connsiteX5" fmla="*/ 10694 w 2180184"/>
                  <a:gd name="connsiteY5" fmla="*/ 0 h 3129953"/>
                  <a:gd name="connsiteX0" fmla="*/ 10694 w 2180184"/>
                  <a:gd name="connsiteY0" fmla="*/ 0 h 1675468"/>
                  <a:gd name="connsiteX1" fmla="*/ 615208 w 2180184"/>
                  <a:gd name="connsiteY1" fmla="*/ 0 h 1675468"/>
                  <a:gd name="connsiteX2" fmla="*/ 2180184 w 2180184"/>
                  <a:gd name="connsiteY2" fmla="*/ 1564977 h 1675468"/>
                  <a:gd name="connsiteX3" fmla="*/ 2169489 w 2180184"/>
                  <a:gd name="connsiteY3" fmla="*/ 1675468 h 1675468"/>
                  <a:gd name="connsiteX4" fmla="*/ 0 w 2180184"/>
                  <a:gd name="connsiteY4" fmla="*/ 1584564 h 1675468"/>
                  <a:gd name="connsiteX5" fmla="*/ 10694 w 2180184"/>
                  <a:gd name="connsiteY5" fmla="*/ 0 h 1675468"/>
                  <a:gd name="connsiteX0" fmla="*/ 5347 w 2174837"/>
                  <a:gd name="connsiteY0" fmla="*/ 0 h 1846585"/>
                  <a:gd name="connsiteX1" fmla="*/ 609861 w 2174837"/>
                  <a:gd name="connsiteY1" fmla="*/ 0 h 1846585"/>
                  <a:gd name="connsiteX2" fmla="*/ 2174837 w 2174837"/>
                  <a:gd name="connsiteY2" fmla="*/ 1564977 h 1846585"/>
                  <a:gd name="connsiteX3" fmla="*/ 2164142 w 2174837"/>
                  <a:gd name="connsiteY3" fmla="*/ 1675468 h 1846585"/>
                  <a:gd name="connsiteX4" fmla="*/ 0 w 2174837"/>
                  <a:gd name="connsiteY4" fmla="*/ 1846585 h 1846585"/>
                  <a:gd name="connsiteX5" fmla="*/ 5347 w 2174837"/>
                  <a:gd name="connsiteY5" fmla="*/ 0 h 1846585"/>
                  <a:gd name="connsiteX0" fmla="*/ 5347 w 2174837"/>
                  <a:gd name="connsiteY0" fmla="*/ 0 h 1846585"/>
                  <a:gd name="connsiteX1" fmla="*/ 609861 w 2174837"/>
                  <a:gd name="connsiteY1" fmla="*/ 0 h 1846585"/>
                  <a:gd name="connsiteX2" fmla="*/ 2174837 w 2174837"/>
                  <a:gd name="connsiteY2" fmla="*/ 1564977 h 1846585"/>
                  <a:gd name="connsiteX3" fmla="*/ 2169489 w 2174837"/>
                  <a:gd name="connsiteY3" fmla="*/ 1846583 h 1846585"/>
                  <a:gd name="connsiteX4" fmla="*/ 0 w 2174837"/>
                  <a:gd name="connsiteY4" fmla="*/ 1846585 h 1846585"/>
                  <a:gd name="connsiteX5" fmla="*/ 5347 w 2174837"/>
                  <a:gd name="connsiteY5" fmla="*/ 0 h 184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74837" h="1846585">
                    <a:moveTo>
                      <a:pt x="5347" y="0"/>
                    </a:moveTo>
                    <a:lnTo>
                      <a:pt x="609861" y="0"/>
                    </a:lnTo>
                    <a:lnTo>
                      <a:pt x="2174837" y="1564977"/>
                    </a:lnTo>
                    <a:lnTo>
                      <a:pt x="2169489" y="1846583"/>
                    </a:lnTo>
                    <a:lnTo>
                      <a:pt x="0" y="1846585"/>
                    </a:lnTo>
                    <a:cubicBezTo>
                      <a:pt x="3565" y="1318397"/>
                      <a:pt x="1782" y="528188"/>
                      <a:pt x="5347" y="0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2171BE4D-4CEE-E905-E2A5-7027FF87A828}"/>
                  </a:ext>
                </a:extLst>
              </p:cNvPr>
              <p:cNvGrpSpPr/>
              <p:nvPr/>
            </p:nvGrpSpPr>
            <p:grpSpPr>
              <a:xfrm>
                <a:off x="8810277" y="1426002"/>
                <a:ext cx="2805359" cy="2383240"/>
                <a:chOff x="9902176" y="1906156"/>
                <a:chExt cx="1821156" cy="1547131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5B292D82-A659-FF8B-AA3B-FEC913C610C1}"/>
                    </a:ext>
                  </a:extLst>
                </p:cNvPr>
                <p:cNvGrpSpPr/>
                <p:nvPr/>
              </p:nvGrpSpPr>
              <p:grpSpPr>
                <a:xfrm>
                  <a:off x="9902176" y="1906156"/>
                  <a:ext cx="1821156" cy="1547131"/>
                  <a:chOff x="9902176" y="1906156"/>
                  <a:chExt cx="1821156" cy="1547131"/>
                </a:xfrm>
              </p:grpSpPr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89DB5A63-C9D0-1673-9C56-75DA1F2728C3}"/>
                      </a:ext>
                    </a:extLst>
                  </p:cNvPr>
                  <p:cNvGrpSpPr/>
                  <p:nvPr/>
                </p:nvGrpSpPr>
                <p:grpSpPr>
                  <a:xfrm>
                    <a:off x="9902176" y="1971253"/>
                    <a:ext cx="1644555" cy="1482034"/>
                    <a:chOff x="9902176" y="1971253"/>
                    <a:chExt cx="1644555" cy="1482034"/>
                  </a:xfrm>
                </p:grpSpPr>
                <p:cxnSp>
                  <p:nvCxnSpPr>
                    <p:cNvPr id="18" name="直接箭头连接符 17">
                      <a:extLst>
                        <a:ext uri="{FF2B5EF4-FFF2-40B4-BE49-F238E27FC236}">
                          <a16:creationId xmlns:a16="http://schemas.microsoft.com/office/drawing/2014/main" id="{8F6BC795-1782-30B8-0DF5-472B23156A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9902176" y="2736376"/>
                      <a:ext cx="1644555" cy="0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直接箭头连接符 18">
                      <a:extLst>
                        <a:ext uri="{FF2B5EF4-FFF2-40B4-BE49-F238E27FC236}">
                          <a16:creationId xmlns:a16="http://schemas.microsoft.com/office/drawing/2014/main" id="{C1255323-9D8D-3EC7-55DE-7736B96551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705534" y="1971253"/>
                      <a:ext cx="0" cy="1482034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文本框 15">
                        <a:extLst>
                          <a:ext uri="{FF2B5EF4-FFF2-40B4-BE49-F238E27FC236}">
                            <a16:creationId xmlns:a16="http://schemas.microsoft.com/office/drawing/2014/main" id="{E0149E2E-0741-D65F-54F2-8D2DC0F07A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370130" y="2723863"/>
                        <a:ext cx="35320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zh-CN" alt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119" name="文本框 118">
                        <a:extLst>
                          <a:ext uri="{FF2B5EF4-FFF2-40B4-BE49-F238E27FC236}">
                            <a16:creationId xmlns:a16="http://schemas.microsoft.com/office/drawing/2014/main" id="{E16EEFDC-616B-4719-6BE3-896663CBD6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370130" y="2723863"/>
                        <a:ext cx="353202" cy="338554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文本框 16">
                        <a:extLst>
                          <a:ext uri="{FF2B5EF4-FFF2-40B4-BE49-F238E27FC236}">
                            <a16:creationId xmlns:a16="http://schemas.microsoft.com/office/drawing/2014/main" id="{6E40804F-2807-03BB-6A39-132DE3C4228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43407" y="1906156"/>
                        <a:ext cx="35320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zh-CN" alt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17" name="文本框 16">
                        <a:extLst>
                          <a:ext uri="{FF2B5EF4-FFF2-40B4-BE49-F238E27FC236}">
                            <a16:creationId xmlns:a16="http://schemas.microsoft.com/office/drawing/2014/main" id="{6E40804F-2807-03BB-6A39-132DE3C4228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643407" y="1906156"/>
                        <a:ext cx="353202" cy="338554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F331F09E-0C55-72CC-9C1C-43A171087E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34240" y="2100552"/>
                  <a:ext cx="1004355" cy="100435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CFA7666-C398-B0CA-FD8F-91413C652D5C}"/>
                    </a:ext>
                  </a:extLst>
                </p:cNvPr>
                <p:cNvSpPr txBox="1"/>
                <p:nvPr/>
              </p:nvSpPr>
              <p:spPr>
                <a:xfrm>
                  <a:off x="9109078" y="2955619"/>
                  <a:ext cx="90614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CFA7666-C398-B0CA-FD8F-91413C652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9078" y="2955619"/>
                  <a:ext cx="906145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2013" r="-2013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638C230-7EB1-4DA3-326F-C9BA217A1D50}"/>
              </a:ext>
            </a:extLst>
          </p:cNvPr>
          <p:cNvGrpSpPr/>
          <p:nvPr/>
        </p:nvGrpSpPr>
        <p:grpSpPr>
          <a:xfrm>
            <a:off x="6063944" y="2812760"/>
            <a:ext cx="2805359" cy="2383240"/>
            <a:chOff x="6063944" y="2812760"/>
            <a:chExt cx="2805359" cy="2383240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4CC233C8-60F2-1265-7B74-DAA35AD1D89B}"/>
                </a:ext>
              </a:extLst>
            </p:cNvPr>
            <p:cNvGrpSpPr/>
            <p:nvPr/>
          </p:nvGrpSpPr>
          <p:grpSpPr>
            <a:xfrm>
              <a:off x="6063944" y="2812760"/>
              <a:ext cx="2805359" cy="2383240"/>
              <a:chOff x="5605021" y="3106678"/>
              <a:chExt cx="2805359" cy="2383240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0AEBD1AD-EE3B-5AE3-89D8-67AE6077B920}"/>
                  </a:ext>
                </a:extLst>
              </p:cNvPr>
              <p:cNvSpPr/>
              <p:nvPr/>
            </p:nvSpPr>
            <p:spPr>
              <a:xfrm>
                <a:off x="5807278" y="3895089"/>
                <a:ext cx="2128805" cy="12807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D15B208D-18E9-1780-93EE-6DBFD2402DBC}"/>
                  </a:ext>
                </a:extLst>
              </p:cNvPr>
              <p:cNvGrpSpPr/>
              <p:nvPr/>
            </p:nvGrpSpPr>
            <p:grpSpPr>
              <a:xfrm>
                <a:off x="5605021" y="3106678"/>
                <a:ext cx="2805359" cy="2383240"/>
                <a:chOff x="9902176" y="1906156"/>
                <a:chExt cx="1821156" cy="1547131"/>
              </a:xfrm>
            </p:grpSpPr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8B53AE55-6709-4AC5-989F-35834A81E3E1}"/>
                    </a:ext>
                  </a:extLst>
                </p:cNvPr>
                <p:cNvGrpSpPr/>
                <p:nvPr/>
              </p:nvGrpSpPr>
              <p:grpSpPr>
                <a:xfrm>
                  <a:off x="9902176" y="1906156"/>
                  <a:ext cx="1821156" cy="1547131"/>
                  <a:chOff x="9902176" y="1906156"/>
                  <a:chExt cx="1821156" cy="1547131"/>
                </a:xfrm>
              </p:grpSpPr>
              <p:grpSp>
                <p:nvGrpSpPr>
                  <p:cNvPr id="38" name="组合 37">
                    <a:extLst>
                      <a:ext uri="{FF2B5EF4-FFF2-40B4-BE49-F238E27FC236}">
                        <a16:creationId xmlns:a16="http://schemas.microsoft.com/office/drawing/2014/main" id="{7A20AAB7-4E75-C332-A702-4CD11184CD50}"/>
                      </a:ext>
                    </a:extLst>
                  </p:cNvPr>
                  <p:cNvGrpSpPr/>
                  <p:nvPr/>
                </p:nvGrpSpPr>
                <p:grpSpPr>
                  <a:xfrm>
                    <a:off x="9902176" y="1971253"/>
                    <a:ext cx="1644555" cy="1482034"/>
                    <a:chOff x="9902176" y="1971253"/>
                    <a:chExt cx="1644555" cy="1482034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42F83A09-4E80-BF39-E0AD-0F015BE4B42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9902176" y="2736376"/>
                      <a:ext cx="1644555" cy="0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接箭头连接符 41">
                      <a:extLst>
                        <a:ext uri="{FF2B5EF4-FFF2-40B4-BE49-F238E27FC236}">
                          <a16:creationId xmlns:a16="http://schemas.microsoft.com/office/drawing/2014/main" id="{8EE2236F-896A-12F4-197D-F8DA59E257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705534" y="1971253"/>
                      <a:ext cx="0" cy="1482034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文本框 38">
                        <a:extLst>
                          <a:ext uri="{FF2B5EF4-FFF2-40B4-BE49-F238E27FC236}">
                            <a16:creationId xmlns:a16="http://schemas.microsoft.com/office/drawing/2014/main" id="{F14F70DA-2C88-F283-2090-AC008AC0BB6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370130" y="2723863"/>
                        <a:ext cx="353202" cy="2197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zh-CN" alt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39" name="文本框 38">
                        <a:extLst>
                          <a:ext uri="{FF2B5EF4-FFF2-40B4-BE49-F238E27FC236}">
                            <a16:creationId xmlns:a16="http://schemas.microsoft.com/office/drawing/2014/main" id="{F14F70DA-2C88-F283-2090-AC008AC0BB6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370130" y="2723863"/>
                        <a:ext cx="353202" cy="21978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文本框 39">
                        <a:extLst>
                          <a:ext uri="{FF2B5EF4-FFF2-40B4-BE49-F238E27FC236}">
                            <a16:creationId xmlns:a16="http://schemas.microsoft.com/office/drawing/2014/main" id="{790DFFF7-3145-C07E-7E53-F28C28A3F0B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43407" y="1906156"/>
                        <a:ext cx="353202" cy="2197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𝑢</m:t>
                              </m:r>
                            </m:oMath>
                          </m:oMathPara>
                        </a14:m>
                        <a:endParaRPr lang="zh-CN" alt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40" name="文本框 39">
                        <a:extLst>
                          <a:ext uri="{FF2B5EF4-FFF2-40B4-BE49-F238E27FC236}">
                            <a16:creationId xmlns:a16="http://schemas.microsoft.com/office/drawing/2014/main" id="{790DFFF7-3145-C07E-7E53-F28C28A3F0B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643407" y="1906156"/>
                        <a:ext cx="353202" cy="21978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5B0D4915-2269-0403-B223-DCC6EEB1B0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033475" y="2417970"/>
                  <a:ext cx="1381957" cy="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BF4DBC0-7CB0-B3A5-A9C4-94E67096A442}"/>
                    </a:ext>
                  </a:extLst>
                </p:cNvPr>
                <p:cNvSpPr txBox="1"/>
                <p:nvPr/>
              </p:nvSpPr>
              <p:spPr>
                <a:xfrm>
                  <a:off x="7239615" y="3267541"/>
                  <a:ext cx="47636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BF4DBC0-7CB0-B3A5-A9C4-94E67096A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615" y="3267541"/>
                  <a:ext cx="476365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D3158CBB-BBCB-554A-E165-70C9A4BAFE86}"/>
                  </a:ext>
                </a:extLst>
              </p:cNvPr>
              <p:cNvSpPr/>
              <p:nvPr/>
            </p:nvSpPr>
            <p:spPr>
              <a:xfrm>
                <a:off x="5925800" y="4021897"/>
                <a:ext cx="5689836" cy="1408402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u="sng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𝑍</m:t>
                      </m:r>
                      <m:r>
                        <a:rPr lang="en-US" altLang="zh-CN" sz="2400" b="0" i="1" u="sng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r>
                        <a:rPr lang="en-US" altLang="zh-CN" sz="2400" b="0" i="1" u="sng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  <m:r>
                        <a:rPr lang="en-US" altLang="zh-CN" sz="2400" b="0" i="1" u="sng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+</m:t>
                      </m:r>
                      <m:r>
                        <a:rPr lang="en-US" altLang="zh-CN" sz="2400" b="0" i="1" u="sng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𝑌</m:t>
                      </m:r>
                    </m:oMath>
                  </m:oMathPara>
                </a14:m>
                <a:endParaRPr lang="en-US" altLang="zh-CN" sz="2400" u="sng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 </m:t>
                      </m:r>
                      <m:nary>
                        <m:nary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𝑝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𝑑𝑥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= </m:t>
                      </m:r>
                      <m:nary>
                        <m:nary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𝑝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𝑦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𝑦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𝑑𝑦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D3158CBB-BBCB-554A-E165-70C9A4BAF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800" y="4021897"/>
                <a:ext cx="5689836" cy="140840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组合 54">
            <a:extLst>
              <a:ext uri="{FF2B5EF4-FFF2-40B4-BE49-F238E27FC236}">
                <a16:creationId xmlns:a16="http://schemas.microsoft.com/office/drawing/2014/main" id="{0E7C073F-D9F6-AD3C-6F94-321941F04890}"/>
              </a:ext>
            </a:extLst>
          </p:cNvPr>
          <p:cNvGrpSpPr/>
          <p:nvPr/>
        </p:nvGrpSpPr>
        <p:grpSpPr>
          <a:xfrm>
            <a:off x="3712633" y="2955619"/>
            <a:ext cx="1941569" cy="662482"/>
            <a:chOff x="3712633" y="2955619"/>
            <a:chExt cx="1941569" cy="66248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7A35F5F-6CD9-9E92-DB41-423E7116F5BE}"/>
                </a:ext>
              </a:extLst>
            </p:cNvPr>
            <p:cNvSpPr/>
            <p:nvPr/>
          </p:nvSpPr>
          <p:spPr>
            <a:xfrm>
              <a:off x="3712633" y="3348567"/>
              <a:ext cx="520700" cy="269534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0FB624D-FF13-5C09-49CE-3242E0EBE8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3333" y="3121688"/>
              <a:ext cx="417909" cy="226879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D1CE66E-A782-97D0-A273-5B4764B24504}"/>
                    </a:ext>
                  </a:extLst>
                </p:cNvPr>
                <p:cNvSpPr txBox="1"/>
                <p:nvPr/>
              </p:nvSpPr>
              <p:spPr>
                <a:xfrm>
                  <a:off x="4728757" y="2955619"/>
                  <a:ext cx="92544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D1CE66E-A782-97D0-A273-5B4764B24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8757" y="2955619"/>
                  <a:ext cx="925445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4605" r="-1316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81AED65E-F807-9B69-0DB0-20416BFAD326}"/>
                  </a:ext>
                </a:extLst>
              </p:cNvPr>
              <p:cNvSpPr/>
              <p:nvPr/>
            </p:nvSpPr>
            <p:spPr>
              <a:xfrm>
                <a:off x="576364" y="5542661"/>
                <a:ext cx="11039272" cy="68281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u="sng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相互独立的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 服从</a:t>
                </a:r>
                <a:r>
                  <a:rPr lang="zh-CN" altLang="en-US" sz="1600" u="sng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正态分布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的随机变量，其</a:t>
                </a:r>
                <a:r>
                  <a:rPr lang="zh-CN" altLang="en-US" sz="1600" u="sng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和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仍然服从正态分布，即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</m:ctrlPr>
                          </m:sSubPr>
                          <m:e>
                            <m:r>
                              <a:rPr lang="zh-CN" alt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</m:ctrlPr>
                          </m:sSubSupPr>
                          <m:e>
                            <m:r>
                              <a:rPr lang="zh-CN" alt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𝑌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汉仪润圆-65简" panose="00020600040101010101" pitchFamily="18" charset="-122"/>
                                <a:cs typeface="汉仪文黑-85W" panose="00020600040101010101" pitchFamily="18" charset="-128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𝑍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,</m:t>
                    </m:r>
                    <m:sSubSup>
                      <m:sSubSupPr>
                        <m:ctrlP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+</m:t>
                    </m:r>
                    <m:sSubSup>
                      <m:sSubSupPr>
                        <m:ctrlP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汉仪润圆-65简" panose="00020600040101010101" pitchFamily="18" charset="-122"/>
                        <a:cs typeface="汉仪文黑-85W" panose="00020600040101010101" pitchFamily="18" charset="-128"/>
                      </a:rPr>
                      <m:t>)</m:t>
                    </m:r>
                  </m:oMath>
                </a14:m>
                <a:endParaRPr lang="en-US" altLang="zh-CN" sz="16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81AED65E-F807-9B69-0DB0-20416BFAD3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5542661"/>
                <a:ext cx="11039272" cy="68281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571753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uiExpand="1" build="p"/>
      <p:bldP spid="49" grpId="0" animBg="1"/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A1BA76D-A04A-24A8-3D6D-6701E938BBF7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BC2845-23CE-0FC1-A45B-CFCD4BD8C473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BD58EA-A341-4109-116B-F6D74F605D6F}"/>
                  </a:ext>
                </a:extLst>
              </p:cNvPr>
              <p:cNvSpPr txBox="1"/>
              <p:nvPr/>
            </p:nvSpPr>
            <p:spPr>
              <a:xfrm>
                <a:off x="507460" y="1368082"/>
                <a:ext cx="86454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 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，试求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𝑧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BD58EA-A341-4109-116B-F6D74F605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68082"/>
                <a:ext cx="8645484" cy="338554"/>
              </a:xfrm>
              <a:prstGeom prst="rect">
                <a:avLst/>
              </a:prstGeom>
              <a:blipFill>
                <a:blip r:embed="rId3"/>
                <a:stretch>
                  <a:fillRect l="-353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C661317-700E-9D74-405A-0DB8D697AF10}"/>
                  </a:ext>
                </a:extLst>
              </p:cNvPr>
              <p:cNvSpPr txBox="1"/>
              <p:nvPr/>
            </p:nvSpPr>
            <p:spPr>
              <a:xfrm>
                <a:off x="507459" y="1814501"/>
                <a:ext cx="7782692" cy="4357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解：要求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，可先求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∬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𝑑𝑥𝑑𝑦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sup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∬"/>
                        <m:limLoc m:val="undOvr"/>
                        <m:sup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𝑧𝑥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𝑧𝑥</m:t>
                                </m:r>
                              </m:sup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𝑥𝑢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𝑥𝑢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𝑥𝑢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𝑥𝑢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altLang="zh-CN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C661317-700E-9D74-405A-0DB8D697A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1814501"/>
                <a:ext cx="7782692" cy="4357924"/>
              </a:xfrm>
              <a:prstGeom prst="rect">
                <a:avLst/>
              </a:prstGeom>
              <a:blipFill>
                <a:blip r:embed="rId4"/>
                <a:stretch>
                  <a:fillRect l="-626" t="-3357" b="-17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FE097CF0-0281-5C60-D4DD-BDEB096679C9}"/>
              </a:ext>
            </a:extLst>
          </p:cNvPr>
          <p:cNvGrpSpPr/>
          <p:nvPr/>
        </p:nvGrpSpPr>
        <p:grpSpPr>
          <a:xfrm>
            <a:off x="8810277" y="1426002"/>
            <a:ext cx="2805359" cy="2383240"/>
            <a:chOff x="8810277" y="1426002"/>
            <a:chExt cx="2805359" cy="238324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203A46FC-1D16-028A-0AEA-48560A8CD2D0}"/>
                </a:ext>
              </a:extLst>
            </p:cNvPr>
            <p:cNvGrpSpPr/>
            <p:nvPr/>
          </p:nvGrpSpPr>
          <p:grpSpPr>
            <a:xfrm>
              <a:off x="8810277" y="1426002"/>
              <a:ext cx="2805359" cy="2383240"/>
              <a:chOff x="8810277" y="1426002"/>
              <a:chExt cx="2805359" cy="238324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87DACDFD-3F05-6EA4-BBD3-2F8D9CED7108}"/>
                  </a:ext>
                </a:extLst>
              </p:cNvPr>
              <p:cNvGrpSpPr/>
              <p:nvPr/>
            </p:nvGrpSpPr>
            <p:grpSpPr>
              <a:xfrm flipH="1" flipV="1">
                <a:off x="9274226" y="1814501"/>
                <a:ext cx="766922" cy="1647404"/>
                <a:chOff x="10047792" y="1947519"/>
                <a:chExt cx="766922" cy="1647404"/>
              </a:xfrm>
            </p:grpSpPr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CB0D6CEE-66B6-88FC-9FD4-B05D0CBADED0}"/>
                    </a:ext>
                  </a:extLst>
                </p:cNvPr>
                <p:cNvSpPr/>
                <p:nvPr/>
              </p:nvSpPr>
              <p:spPr>
                <a:xfrm>
                  <a:off x="10047792" y="2704894"/>
                  <a:ext cx="766921" cy="8900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直角三角形 24">
                  <a:extLst>
                    <a:ext uri="{FF2B5EF4-FFF2-40B4-BE49-F238E27FC236}">
                      <a16:creationId xmlns:a16="http://schemas.microsoft.com/office/drawing/2014/main" id="{96A17740-0A12-4E8D-A509-4D702C76E516}"/>
                    </a:ext>
                  </a:extLst>
                </p:cNvPr>
                <p:cNvSpPr/>
                <p:nvPr/>
              </p:nvSpPr>
              <p:spPr>
                <a:xfrm flipH="1">
                  <a:off x="10047792" y="1947519"/>
                  <a:ext cx="766922" cy="766922"/>
                </a:xfrm>
                <a:prstGeom prst="rtTriangl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F3489844-30E8-789A-C8EC-D7E2FD855321}"/>
                  </a:ext>
                </a:extLst>
              </p:cNvPr>
              <p:cNvGrpSpPr/>
              <p:nvPr/>
            </p:nvGrpSpPr>
            <p:grpSpPr>
              <a:xfrm>
                <a:off x="10047792" y="1947519"/>
                <a:ext cx="766922" cy="1647404"/>
                <a:chOff x="10047792" y="1947519"/>
                <a:chExt cx="766922" cy="1647404"/>
              </a:xfrm>
            </p:grpSpPr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1152865F-4915-514E-A144-7A6A68558565}"/>
                    </a:ext>
                  </a:extLst>
                </p:cNvPr>
                <p:cNvSpPr/>
                <p:nvPr/>
              </p:nvSpPr>
              <p:spPr>
                <a:xfrm>
                  <a:off x="10047792" y="2704894"/>
                  <a:ext cx="766921" cy="8900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直角三角形 18">
                  <a:extLst>
                    <a:ext uri="{FF2B5EF4-FFF2-40B4-BE49-F238E27FC236}">
                      <a16:creationId xmlns:a16="http://schemas.microsoft.com/office/drawing/2014/main" id="{4E286BC8-68FA-BA93-54D2-23A6130590A3}"/>
                    </a:ext>
                  </a:extLst>
                </p:cNvPr>
                <p:cNvSpPr/>
                <p:nvPr/>
              </p:nvSpPr>
              <p:spPr>
                <a:xfrm flipH="1">
                  <a:off x="10047792" y="1947519"/>
                  <a:ext cx="766922" cy="766922"/>
                </a:xfrm>
                <a:prstGeom prst="rtTriangl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3EE0A205-055B-FEB5-B833-D0ACF9F48783}"/>
                  </a:ext>
                </a:extLst>
              </p:cNvPr>
              <p:cNvGrpSpPr/>
              <p:nvPr/>
            </p:nvGrpSpPr>
            <p:grpSpPr>
              <a:xfrm>
                <a:off x="8810277" y="1426002"/>
                <a:ext cx="2805359" cy="2383240"/>
                <a:chOff x="8810277" y="1426002"/>
                <a:chExt cx="2805359" cy="2383240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552F3DB1-C10E-A948-CE8A-67F08B5C2090}"/>
                    </a:ext>
                  </a:extLst>
                </p:cNvPr>
                <p:cNvGrpSpPr/>
                <p:nvPr/>
              </p:nvGrpSpPr>
              <p:grpSpPr>
                <a:xfrm>
                  <a:off x="8810277" y="1426002"/>
                  <a:ext cx="2805359" cy="2383240"/>
                  <a:chOff x="9902176" y="1906156"/>
                  <a:chExt cx="1821156" cy="1547131"/>
                </a:xfrm>
              </p:grpSpPr>
              <p:grpSp>
                <p:nvGrpSpPr>
                  <p:cNvPr id="11" name="组合 10">
                    <a:extLst>
                      <a:ext uri="{FF2B5EF4-FFF2-40B4-BE49-F238E27FC236}">
                        <a16:creationId xmlns:a16="http://schemas.microsoft.com/office/drawing/2014/main" id="{BEFB309E-9D07-A61A-AB52-58CF6AE18455}"/>
                      </a:ext>
                    </a:extLst>
                  </p:cNvPr>
                  <p:cNvGrpSpPr/>
                  <p:nvPr/>
                </p:nvGrpSpPr>
                <p:grpSpPr>
                  <a:xfrm>
                    <a:off x="9902176" y="1906156"/>
                    <a:ext cx="1821156" cy="1547131"/>
                    <a:chOff x="9902176" y="1906156"/>
                    <a:chExt cx="1821156" cy="1547131"/>
                  </a:xfrm>
                </p:grpSpPr>
                <p:grpSp>
                  <p:nvGrpSpPr>
                    <p:cNvPr id="13" name="组合 12">
                      <a:extLst>
                        <a:ext uri="{FF2B5EF4-FFF2-40B4-BE49-F238E27FC236}">
                          <a16:creationId xmlns:a16="http://schemas.microsoft.com/office/drawing/2014/main" id="{3539CA1A-115D-88CE-0732-E62606B24C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02176" y="1971253"/>
                      <a:ext cx="1644555" cy="1482034"/>
                      <a:chOff x="9902176" y="1971253"/>
                      <a:chExt cx="1644555" cy="1482034"/>
                    </a:xfrm>
                  </p:grpSpPr>
                  <p:cxnSp>
                    <p:nvCxnSpPr>
                      <p:cNvPr id="16" name="直接箭头连接符 15">
                        <a:extLst>
                          <a:ext uri="{FF2B5EF4-FFF2-40B4-BE49-F238E27FC236}">
                            <a16:creationId xmlns:a16="http://schemas.microsoft.com/office/drawing/2014/main" id="{6E7078BA-5507-43CE-AA3E-CAD81557F63F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9902176" y="2736376"/>
                        <a:ext cx="1644555" cy="0"/>
                      </a:xfrm>
                      <a:prstGeom prst="straightConnector1">
                        <a:avLst/>
                      </a:prstGeom>
                      <a:ln w="127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直接箭头连接符 16">
                        <a:extLst>
                          <a:ext uri="{FF2B5EF4-FFF2-40B4-BE49-F238E27FC236}">
                            <a16:creationId xmlns:a16="http://schemas.microsoft.com/office/drawing/2014/main" id="{8A934B01-20A9-8B79-AAFF-0F7A45B061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10705534" y="1971253"/>
                        <a:ext cx="0" cy="1482034"/>
                      </a:xfrm>
                      <a:prstGeom prst="straightConnector1">
                        <a:avLst/>
                      </a:prstGeom>
                      <a:ln w="127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文本框 13">
                          <a:extLst>
                            <a:ext uri="{FF2B5EF4-FFF2-40B4-BE49-F238E27FC236}">
                              <a16:creationId xmlns:a16="http://schemas.microsoft.com/office/drawing/2014/main" id="{A273A5BA-C596-4D71-DF29-555C609C59A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370130" y="2723863"/>
                          <a:ext cx="353202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p:txBody>
                    </p:sp>
                  </mc:Choice>
                  <mc:Fallback xmlns="">
                    <p:sp>
                      <p:nvSpPr>
                        <p:cNvPr id="119" name="文本框 118">
                          <a:extLst>
                            <a:ext uri="{FF2B5EF4-FFF2-40B4-BE49-F238E27FC236}">
                              <a16:creationId xmlns:a16="http://schemas.microsoft.com/office/drawing/2014/main" id="{E16EEFDC-616B-4719-6BE3-896663CBD6C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1370130" y="2723863"/>
                          <a:ext cx="353202" cy="33855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" name="文本框 14">
                          <a:extLst>
                            <a:ext uri="{FF2B5EF4-FFF2-40B4-BE49-F238E27FC236}">
                              <a16:creationId xmlns:a16="http://schemas.microsoft.com/office/drawing/2014/main" id="{4A5722D0-F36C-7E23-FE1D-D2992BCDE58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643407" y="1906156"/>
                          <a:ext cx="353202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p:txBody>
                    </p:sp>
                  </mc:Choice>
                  <mc:Fallback xmlns="">
                    <p:sp>
                      <p:nvSpPr>
                        <p:cNvPr id="17" name="文本框 16">
                          <a:extLst>
                            <a:ext uri="{FF2B5EF4-FFF2-40B4-BE49-F238E27FC236}">
                              <a16:creationId xmlns:a16="http://schemas.microsoft.com/office/drawing/2014/main" id="{6E40804F-2807-03BB-6A39-132DE3C4228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643407" y="1906156"/>
                          <a:ext cx="353202" cy="338554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12" name="直接连接符 11">
                    <a:extLst>
                      <a:ext uri="{FF2B5EF4-FFF2-40B4-BE49-F238E27FC236}">
                        <a16:creationId xmlns:a16="http://schemas.microsoft.com/office/drawing/2014/main" id="{06A0B321-7EF6-8935-CD51-E96913BD04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 flipV="1">
                    <a:off x="10199043" y="2244712"/>
                    <a:ext cx="1004356" cy="1004352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文本框 7">
                      <a:extLst>
                        <a:ext uri="{FF2B5EF4-FFF2-40B4-BE49-F238E27FC236}">
                          <a16:creationId xmlns:a16="http://schemas.microsoft.com/office/drawing/2014/main" id="{40AED494-24F7-4697-8747-81CBC89D3A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63482" y="1625961"/>
                      <a:ext cx="657552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𝑧𝑥</m:t>
                            </m:r>
                          </m:oMath>
                        </m:oMathPara>
                      </a14:m>
                      <a:endParaRPr lang="zh-CN" altLang="en-US" sz="1600" dirty="0"/>
                    </a:p>
                  </p:txBody>
                </p:sp>
              </mc:Choice>
              <mc:Fallback xmlns="">
                <p:sp>
                  <p:nvSpPr>
                    <p:cNvPr id="8" name="文本框 7">
                      <a:extLst>
                        <a:ext uri="{FF2B5EF4-FFF2-40B4-BE49-F238E27FC236}">
                          <a16:creationId xmlns:a16="http://schemas.microsoft.com/office/drawing/2014/main" id="{40AED494-24F7-4697-8747-81CBC89D3A4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3482" y="1625961"/>
                      <a:ext cx="657552" cy="246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6481" r="-1852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0018517-DB2B-D5EE-9C81-1DCA904839CD}"/>
                    </a:ext>
                  </a:extLst>
                </p:cNvPr>
                <p:cNvSpPr txBox="1"/>
                <p:nvPr/>
              </p:nvSpPr>
              <p:spPr>
                <a:xfrm>
                  <a:off x="9496212" y="2380396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0018517-DB2B-D5EE-9C81-1DCA90483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6212" y="2380396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647" r="-3922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3ECF076-5063-4AA5-0116-0C405DD40D4E}"/>
                    </a:ext>
                  </a:extLst>
                </p:cNvPr>
                <p:cNvSpPr txBox="1"/>
                <p:nvPr/>
              </p:nvSpPr>
              <p:spPr>
                <a:xfrm>
                  <a:off x="10304633" y="2739409"/>
                  <a:ext cx="3166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3ECF076-5063-4AA5-0116-0C405DD40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4633" y="2739409"/>
                  <a:ext cx="316625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385" r="-5769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9CB3B27-2554-0D5D-341F-C03E61E8D863}"/>
                  </a:ext>
                </a:extLst>
              </p:cNvPr>
              <p:cNvSpPr/>
              <p:nvPr/>
            </p:nvSpPr>
            <p:spPr>
              <a:xfrm>
                <a:off x="5063007" y="4673856"/>
                <a:ext cx="3227144" cy="1408402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𝑍</m:t>
                      </m:r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𝑌</m:t>
                      </m:r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/</m:t>
                      </m:r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m:oMathPara>
                </a14:m>
                <a:endParaRPr lang="en-US" altLang="zh-CN" sz="2400" u="sng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zh-CN" alt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9CB3B27-2554-0D5D-341F-C03E61E8D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007" y="4673856"/>
                <a:ext cx="3227144" cy="140840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F0DF7EA-70AD-4604-1EF7-F9C8B2EC5420}"/>
                  </a:ext>
                </a:extLst>
              </p:cNvPr>
              <p:cNvSpPr/>
              <p:nvPr/>
            </p:nvSpPr>
            <p:spPr>
              <a:xfrm>
                <a:off x="8388492" y="4673856"/>
                <a:ext cx="3227144" cy="1408402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𝑍</m:t>
                      </m:r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r>
                        <a:rPr lang="en-US" altLang="zh-CN" sz="24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𝑌𝑋</m:t>
                      </m:r>
                    </m:oMath>
                  </m:oMathPara>
                </a14:m>
                <a:endParaRPr lang="en-US" altLang="zh-CN" sz="2400" u="sng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f>
                            <m:fPr>
                              <m:ctrlP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zh-CN" alt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altLang="zh-CN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F0DF7EA-70AD-4604-1EF7-F9C8B2EC54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492" y="4673856"/>
                <a:ext cx="3227144" cy="140840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AEBC8DBA-1F30-C4B3-0D24-27E609F0DAEE}"/>
              </a:ext>
            </a:extLst>
          </p:cNvPr>
          <p:cNvGrpSpPr/>
          <p:nvPr/>
        </p:nvGrpSpPr>
        <p:grpSpPr>
          <a:xfrm>
            <a:off x="6646278" y="4883417"/>
            <a:ext cx="612281" cy="874339"/>
            <a:chOff x="6646278" y="4883417"/>
            <a:chExt cx="612281" cy="874339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8FE6E85-A339-D8B3-1364-1E0464215734}"/>
                </a:ext>
              </a:extLst>
            </p:cNvPr>
            <p:cNvSpPr/>
            <p:nvPr/>
          </p:nvSpPr>
          <p:spPr>
            <a:xfrm>
              <a:off x="6970461" y="4883417"/>
              <a:ext cx="288098" cy="363255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D10E68A-8CE4-C355-3BAD-539FC2DBFEA1}"/>
                </a:ext>
              </a:extLst>
            </p:cNvPr>
            <p:cNvSpPr/>
            <p:nvPr/>
          </p:nvSpPr>
          <p:spPr>
            <a:xfrm>
              <a:off x="6646278" y="5489917"/>
              <a:ext cx="244786" cy="267839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136506B-9A8C-7DA5-7EF6-2E17FB3FE467}"/>
                </a:ext>
              </a:extLst>
            </p:cNvPr>
            <p:cNvSpPr/>
            <p:nvPr/>
          </p:nvSpPr>
          <p:spPr>
            <a:xfrm>
              <a:off x="7076875" y="5489916"/>
              <a:ext cx="163075" cy="267839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243991A-B15C-DBED-AC40-65C942B0EEA0}"/>
              </a:ext>
            </a:extLst>
          </p:cNvPr>
          <p:cNvGrpSpPr/>
          <p:nvPr/>
        </p:nvGrpSpPr>
        <p:grpSpPr>
          <a:xfrm>
            <a:off x="6624622" y="4883097"/>
            <a:ext cx="873002" cy="874658"/>
            <a:chOff x="6624622" y="4883097"/>
            <a:chExt cx="873002" cy="874658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4603342-8CC5-DEDA-070E-31AFAE81A486}"/>
                </a:ext>
              </a:extLst>
            </p:cNvPr>
            <p:cNvSpPr/>
            <p:nvPr/>
          </p:nvSpPr>
          <p:spPr>
            <a:xfrm>
              <a:off x="6624622" y="4883097"/>
              <a:ext cx="288098" cy="36325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89C9E75-03A4-438C-E864-89A179465EB6}"/>
                </a:ext>
              </a:extLst>
            </p:cNvPr>
            <p:cNvSpPr/>
            <p:nvPr/>
          </p:nvSpPr>
          <p:spPr>
            <a:xfrm>
              <a:off x="7272115" y="5489916"/>
              <a:ext cx="225509" cy="26783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3560ACD-155E-4818-7750-EA21C8544281}"/>
                  </a:ext>
                </a:extLst>
              </p:cNvPr>
              <p:cNvSpPr txBox="1"/>
              <p:nvPr/>
            </p:nvSpPr>
            <p:spPr>
              <a:xfrm>
                <a:off x="8726421" y="3666051"/>
                <a:ext cx="12540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altLang="zh-CN" sz="16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𝑧𝑥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&lt;+∞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3560ACD-155E-4818-7750-EA21C8544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421" y="3666051"/>
                <a:ext cx="1254061" cy="492443"/>
              </a:xfrm>
              <a:prstGeom prst="rect">
                <a:avLst/>
              </a:prstGeom>
              <a:blipFill>
                <a:blip r:embed="rId12"/>
                <a:stretch>
                  <a:fillRect l="-1456" r="-1456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F2AA668-6B77-76B5-55BD-993CF1AC22BE}"/>
                  </a:ext>
                </a:extLst>
              </p:cNvPr>
              <p:cNvSpPr txBox="1"/>
              <p:nvPr/>
            </p:nvSpPr>
            <p:spPr>
              <a:xfrm>
                <a:off x="10143495" y="3670391"/>
                <a:ext cx="12540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</m:t>
                      </m:r>
                    </m:oMath>
                  </m:oMathPara>
                </a14:m>
                <a:endParaRPr lang="en-US" altLang="zh-CN" sz="16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𝑧𝑥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F2AA668-6B77-76B5-55BD-993CF1AC2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495" y="3670391"/>
                <a:ext cx="1254061" cy="492443"/>
              </a:xfrm>
              <a:prstGeom prst="rect">
                <a:avLst/>
              </a:prstGeom>
              <a:blipFill>
                <a:blip r:embed="rId13"/>
                <a:stretch>
                  <a:fillRect l="-485" r="-485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2110D3DB-2C7B-81A0-244A-82AD3CC9944D}"/>
              </a:ext>
            </a:extLst>
          </p:cNvPr>
          <p:cNvGrpSpPr/>
          <p:nvPr/>
        </p:nvGrpSpPr>
        <p:grpSpPr>
          <a:xfrm>
            <a:off x="3734553" y="3686131"/>
            <a:ext cx="1166283" cy="577060"/>
            <a:chOff x="3734553" y="3686131"/>
            <a:chExt cx="1166283" cy="5770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15A7D12-836F-D359-D490-BDC423C9673C}"/>
                    </a:ext>
                  </a:extLst>
                </p:cNvPr>
                <p:cNvSpPr txBox="1"/>
                <p:nvPr/>
              </p:nvSpPr>
              <p:spPr>
                <a:xfrm>
                  <a:off x="4226677" y="3686131"/>
                  <a:ext cx="67415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𝑥𝑢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15A7D12-836F-D359-D490-BDC423C96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6677" y="3686131"/>
                  <a:ext cx="674159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6306" r="-2703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7D9F98-88BF-454D-F2EA-3CCEC9FC2984}"/>
                </a:ext>
              </a:extLst>
            </p:cNvPr>
            <p:cNvSpPr/>
            <p:nvPr/>
          </p:nvSpPr>
          <p:spPr>
            <a:xfrm>
              <a:off x="3734553" y="3993657"/>
              <a:ext cx="283170" cy="269534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A07839F-920A-61FD-6064-8D7ADD3861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4591" y="3806110"/>
              <a:ext cx="208954" cy="189989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053341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uiExpand="1" build="p"/>
      <p:bldP spid="35" grpId="0" animBg="1"/>
      <p:bldP spid="36" grpId="0" animBg="1"/>
      <p:bldP spid="44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A1BA76D-A04A-24A8-3D6D-6701E938BBF7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BC2845-23CE-0FC1-A45B-CFCD4BD8C473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二维随机变量的函数的分布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BD58EA-A341-4109-116B-F6D74F605D6F}"/>
                  </a:ext>
                </a:extLst>
              </p:cNvPr>
              <p:cNvSpPr txBox="1"/>
              <p:nvPr/>
            </p:nvSpPr>
            <p:spPr>
              <a:xfrm>
                <a:off x="507459" y="2976732"/>
                <a:ext cx="111081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相互独立，分布函数为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，试求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𝑀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</m:d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min</m:t>
                        </m:r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{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}</m:t>
                        </m:r>
                      </m:e>
                    </m:func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的分布函数（称为极值分布）。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CBD58EA-A341-4109-116B-F6D74F605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976732"/>
                <a:ext cx="11108175" cy="338554"/>
              </a:xfrm>
              <a:prstGeom prst="rect">
                <a:avLst/>
              </a:prstGeom>
              <a:blipFill>
                <a:blip r:embed="rId3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C661317-700E-9D74-405A-0DB8D697AF10}"/>
                  </a:ext>
                </a:extLst>
              </p:cNvPr>
              <p:cNvSpPr txBox="1"/>
              <p:nvPr/>
            </p:nvSpPr>
            <p:spPr>
              <a:xfrm>
                <a:off x="507458" y="3423151"/>
                <a:ext cx="11108177" cy="737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in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&gt;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&gt;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𝑧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C661317-700E-9D74-405A-0DB8D697A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423151"/>
                <a:ext cx="11108177" cy="737959"/>
              </a:xfrm>
              <a:prstGeom prst="rect">
                <a:avLst/>
              </a:prstGeom>
              <a:blipFill>
                <a:blip r:embed="rId4"/>
                <a:stretch>
                  <a:fillRect l="-439" t="-6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79AD46-A816-EAD2-CA12-D5148CB0F0F5}"/>
              </a:ext>
            </a:extLst>
          </p:cNvPr>
          <p:cNvSpPr/>
          <p:nvPr/>
        </p:nvSpPr>
        <p:spPr>
          <a:xfrm>
            <a:off x="576364" y="1437356"/>
            <a:ext cx="11039272" cy="6828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u="sng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相互独立的</a:t>
            </a:r>
            <a:r>
              <a:rPr lang="zh-CN" altLang="en-US" sz="16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 服从</a:t>
            </a:r>
            <a:r>
              <a:rPr lang="zh-CN" altLang="en-US" sz="1600" u="sng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正态分布</a:t>
            </a:r>
            <a:r>
              <a:rPr lang="zh-CN" altLang="en-US" sz="16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的随机变量，其</a:t>
            </a:r>
            <a:r>
              <a:rPr lang="zh-CN" altLang="en-US" sz="1600" u="sng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商</a:t>
            </a:r>
            <a:r>
              <a:rPr lang="zh-CN" altLang="en-US" sz="1600" dirty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汉仪文黑-85W" panose="00020600040101010101" pitchFamily="18" charset="-128"/>
              </a:rPr>
              <a:t>服从柯西分布（这分布既无数学期望也无方差）</a:t>
            </a:r>
            <a:endParaRPr lang="en-US" altLang="zh-CN" sz="16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  <a:cs typeface="汉仪文黑-85W" panose="00020600040101010101" pitchFamily="18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AF20738A-72AD-AB75-4D3A-E115DECCC0C7}"/>
                  </a:ext>
                </a:extLst>
              </p:cNvPr>
              <p:cNvSpPr/>
              <p:nvPr/>
            </p:nvSpPr>
            <p:spPr>
              <a:xfrm>
                <a:off x="2209221" y="4523987"/>
                <a:ext cx="3748979" cy="1048081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𝑀</m:t>
                      </m:r>
                      <m:r>
                        <a:rPr lang="en-US" altLang="zh-CN" sz="20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 u="sng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u="sng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𝑋</m:t>
                              </m:r>
                              <m: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,</m:t>
                              </m:r>
                              <m: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000" u="sng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AF20738A-72AD-AB75-4D3A-E115DECCC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221" y="4523987"/>
                <a:ext cx="3748979" cy="104808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4A6432FC-8D88-D29B-FD22-B82DC0AB43E2}"/>
                  </a:ext>
                </a:extLst>
              </p:cNvPr>
              <p:cNvSpPr/>
              <p:nvPr/>
            </p:nvSpPr>
            <p:spPr>
              <a:xfrm>
                <a:off x="6233802" y="4523986"/>
                <a:ext cx="3691829" cy="1048081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𝑁</m:t>
                      </m:r>
                      <m:r>
                        <a:rPr lang="en-US" altLang="zh-CN" sz="2000" b="0" i="1" u="sng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 u="sng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u="sng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u="sng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𝑋</m:t>
                              </m:r>
                              <m: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,</m:t>
                              </m:r>
                              <m:r>
                                <a:rPr lang="en-US" altLang="zh-CN" sz="2000" i="1" u="sng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000" u="sng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4A6432FC-8D88-D29B-FD22-B82DC0AB4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802" y="4523986"/>
                <a:ext cx="3691829" cy="104808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4F086EF-34AB-0201-215C-C386B630A1FA}"/>
              </a:ext>
            </a:extLst>
          </p:cNvPr>
          <p:cNvCxnSpPr>
            <a:cxnSpLocks/>
          </p:cNvCxnSpPr>
          <p:nvPr/>
        </p:nvCxnSpPr>
        <p:spPr>
          <a:xfrm>
            <a:off x="511212" y="2575749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238133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9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EC45146-4213-3023-171A-F6882C22C7B1}"/>
              </a:ext>
            </a:extLst>
          </p:cNvPr>
          <p:cNvCxnSpPr>
            <a:cxnSpLocks/>
          </p:cNvCxnSpPr>
          <p:nvPr/>
        </p:nvCxnSpPr>
        <p:spPr>
          <a:xfrm>
            <a:off x="-1" y="3696981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28BAAB5-167E-CD36-F045-4A1FC2588B9D}"/>
              </a:ext>
            </a:extLst>
          </p:cNvPr>
          <p:cNvSpPr txBox="1"/>
          <p:nvPr/>
        </p:nvSpPr>
        <p:spPr>
          <a:xfrm>
            <a:off x="576360" y="3496926"/>
            <a:ext cx="332224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二维随机变量的独立性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120094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76362" y="1880300"/>
            <a:ext cx="332224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二维随机变量的描述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4B2CB-7DEC-89D6-385B-3B3A5D8DBA8B}"/>
              </a:ext>
            </a:extLst>
          </p:cNvPr>
          <p:cNvCxnSpPr>
            <a:cxnSpLocks/>
          </p:cNvCxnSpPr>
          <p:nvPr/>
        </p:nvCxnSpPr>
        <p:spPr>
          <a:xfrm>
            <a:off x="0" y="5285687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576363" y="5085632"/>
            <a:ext cx="332224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二维随机变量的函数及分布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3795420" y="528331"/>
            <a:ext cx="4945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随机变量及其分布（下）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15C9C3-DF1F-DCE1-7D59-E990F4C34632}"/>
              </a:ext>
            </a:extLst>
          </p:cNvPr>
          <p:cNvSpPr txBox="1"/>
          <p:nvPr/>
        </p:nvSpPr>
        <p:spPr>
          <a:xfrm>
            <a:off x="4263099" y="1739862"/>
            <a:ext cx="1832901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latin typeface="仿宋" panose="02010609060101010101" pitchFamily="49" charset="-122"/>
                <a:ea typeface="仿宋" panose="02010609060101010101" pitchFamily="49" charset="-122"/>
              </a:rPr>
              <a:t>联合分布函数</a:t>
            </a:r>
            <a:endParaRPr lang="en-US" altLang="zh-CN" sz="1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631702-CF33-400F-2F5E-67250317B5D2}"/>
              </a:ext>
            </a:extLst>
          </p:cNvPr>
          <p:cNvSpPr txBox="1"/>
          <p:nvPr/>
        </p:nvSpPr>
        <p:spPr>
          <a:xfrm>
            <a:off x="4263099" y="2179711"/>
            <a:ext cx="1832900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latin typeface="仿宋" panose="02010609060101010101" pitchFamily="49" charset="-122"/>
                <a:ea typeface="仿宋" panose="02010609060101010101" pitchFamily="49" charset="-122"/>
              </a:rPr>
              <a:t>联合分布律</a:t>
            </a:r>
            <a:endParaRPr lang="en-US" altLang="zh-CN" sz="1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4B4172-82D6-F772-642D-7B0FED5278F1}"/>
              </a:ext>
            </a:extLst>
          </p:cNvPr>
          <p:cNvSpPr txBox="1"/>
          <p:nvPr/>
        </p:nvSpPr>
        <p:spPr>
          <a:xfrm>
            <a:off x="4263099" y="2588782"/>
            <a:ext cx="183290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latin typeface="仿宋" panose="02010609060101010101" pitchFamily="49" charset="-122"/>
                <a:ea typeface="仿宋" panose="02010609060101010101" pitchFamily="49" charset="-122"/>
              </a:rPr>
              <a:t>联合密度函数</a:t>
            </a:r>
            <a:endParaRPr lang="en-US" altLang="zh-CN" sz="1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59FAEA-70A2-8137-3D1E-37733D6F62A5}"/>
              </a:ext>
            </a:extLst>
          </p:cNvPr>
          <p:cNvSpPr txBox="1"/>
          <p:nvPr/>
        </p:nvSpPr>
        <p:spPr>
          <a:xfrm>
            <a:off x="7981596" y="1739143"/>
            <a:ext cx="183290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latin typeface="仿宋" panose="02010609060101010101" pitchFamily="49" charset="-122"/>
                <a:ea typeface="仿宋" panose="02010609060101010101" pitchFamily="49" charset="-122"/>
              </a:rPr>
              <a:t>边缘分布函数</a:t>
            </a:r>
            <a:endParaRPr lang="en-US" altLang="zh-CN" sz="1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C677D6-9B8A-63F5-92E1-9D5965E9A8FC}"/>
              </a:ext>
            </a:extLst>
          </p:cNvPr>
          <p:cNvSpPr txBox="1"/>
          <p:nvPr/>
        </p:nvSpPr>
        <p:spPr>
          <a:xfrm>
            <a:off x="7981596" y="2178992"/>
            <a:ext cx="1832900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latin typeface="仿宋" panose="02010609060101010101" pitchFamily="49" charset="-122"/>
                <a:ea typeface="仿宋" panose="02010609060101010101" pitchFamily="49" charset="-122"/>
              </a:rPr>
              <a:t>边缘分布律</a:t>
            </a:r>
            <a:endParaRPr lang="en-US" altLang="zh-CN" sz="1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8C2D6E-AC05-6A22-7791-AC7FC2500628}"/>
              </a:ext>
            </a:extLst>
          </p:cNvPr>
          <p:cNvSpPr txBox="1"/>
          <p:nvPr/>
        </p:nvSpPr>
        <p:spPr>
          <a:xfrm>
            <a:off x="7981596" y="2588782"/>
            <a:ext cx="183290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latin typeface="仿宋" panose="02010609060101010101" pitchFamily="49" charset="-122"/>
                <a:ea typeface="仿宋" panose="02010609060101010101" pitchFamily="49" charset="-122"/>
              </a:rPr>
              <a:t>边缘密度函数</a:t>
            </a:r>
            <a:endParaRPr lang="en-US" altLang="zh-CN" sz="1600" b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51081C-25AD-A61D-84B7-B7B879B3F3D2}"/>
              </a:ext>
            </a:extLst>
          </p:cNvPr>
          <p:cNvSpPr txBox="1"/>
          <p:nvPr/>
        </p:nvSpPr>
        <p:spPr>
          <a:xfrm>
            <a:off x="4945303" y="3317696"/>
            <a:ext cx="18329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随机变量的</a:t>
            </a:r>
            <a:endParaRPr lang="en-US" altLang="zh-CN" sz="1600" b="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独立性</a:t>
            </a:r>
            <a:endParaRPr lang="en-US" altLang="zh-CN" sz="1600" b="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39FDB8-974F-4D49-F415-7C51A4BA108F}"/>
              </a:ext>
            </a:extLst>
          </p:cNvPr>
          <p:cNvSpPr txBox="1"/>
          <p:nvPr/>
        </p:nvSpPr>
        <p:spPr>
          <a:xfrm>
            <a:off x="8568651" y="3312261"/>
            <a:ext cx="1832900" cy="58477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随机变量的</a:t>
            </a:r>
            <a:endParaRPr lang="en-US" altLang="zh-CN" sz="1600" b="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条件分布</a:t>
            </a:r>
            <a:endParaRPr lang="en-US" altLang="zh-CN" sz="1600" b="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3F0086-66A3-34B6-DD25-0F5698D8AE8C}"/>
              </a:ext>
            </a:extLst>
          </p:cNvPr>
          <p:cNvSpPr/>
          <p:nvPr/>
        </p:nvSpPr>
        <p:spPr>
          <a:xfrm>
            <a:off x="4723476" y="5050758"/>
            <a:ext cx="2272165" cy="440358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离散型随机变量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08375B-5443-AF9E-9DAE-F3003EDCDEE2}"/>
              </a:ext>
            </a:extLst>
          </p:cNvPr>
          <p:cNvSpPr/>
          <p:nvPr/>
        </p:nvSpPr>
        <p:spPr>
          <a:xfrm>
            <a:off x="7404756" y="5045384"/>
            <a:ext cx="2272165" cy="440358"/>
          </a:xfrm>
          <a:prstGeom prst="roundRect">
            <a:avLst/>
          </a:prstGeom>
          <a:noFill/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连续型随机变量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9DB03B-B98B-3257-C5EA-72E33097282A}"/>
              </a:ext>
            </a:extLst>
          </p:cNvPr>
          <p:cNvSpPr txBox="1"/>
          <p:nvPr/>
        </p:nvSpPr>
        <p:spPr>
          <a:xfrm>
            <a:off x="773916" y="2408055"/>
            <a:ext cx="2927129" cy="33855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二维正态分布及其边缘分布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C778D54C-D2AC-2509-1D3F-99E6E06B9EEA}"/>
                  </a:ext>
                </a:extLst>
              </p:cNvPr>
              <p:cNvSpPr/>
              <p:nvPr/>
            </p:nvSpPr>
            <p:spPr>
              <a:xfrm>
                <a:off x="9531334" y="4708197"/>
                <a:ext cx="1690784" cy="115497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  <a:alpha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sz="14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C778D54C-D2AC-2509-1D3F-99E6E06B9E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334" y="4708197"/>
                <a:ext cx="1690784" cy="115497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FA4AD94-33DB-C9BE-1A6F-0F58C834D082}"/>
                  </a:ext>
                </a:extLst>
              </p:cNvPr>
              <p:cNvSpPr txBox="1"/>
              <p:nvPr/>
            </p:nvSpPr>
            <p:spPr>
              <a:xfrm>
                <a:off x="6155767" y="1815277"/>
                <a:ext cx="17660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FA4AD94-33DB-C9BE-1A6F-0F58C834D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767" y="1815277"/>
                <a:ext cx="1766060" cy="184666"/>
              </a:xfrm>
              <a:prstGeom prst="rect">
                <a:avLst/>
              </a:prstGeom>
              <a:blipFill>
                <a:blip r:embed="rId4"/>
                <a:stretch>
                  <a:fillRect l="-1379" t="-6667" r="-2414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08E8167-67EF-E07B-6B51-CA5D12290B3B}"/>
                  </a:ext>
                </a:extLst>
              </p:cNvPr>
              <p:cNvSpPr txBox="1"/>
              <p:nvPr/>
            </p:nvSpPr>
            <p:spPr>
              <a:xfrm>
                <a:off x="6155767" y="2247767"/>
                <a:ext cx="1489831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08E8167-67EF-E07B-6B51-CA5D12290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767" y="2247767"/>
                <a:ext cx="1489831" cy="199542"/>
              </a:xfrm>
              <a:prstGeom prst="rect">
                <a:avLst/>
              </a:prstGeom>
              <a:blipFill>
                <a:blip r:embed="rId5"/>
                <a:stretch>
                  <a:fillRect l="-1639" r="-820" b="-3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D93F3F7-2069-B1F9-DC6C-E930A82B04B5}"/>
                  </a:ext>
                </a:extLst>
              </p:cNvPr>
              <p:cNvSpPr txBox="1"/>
              <p:nvPr/>
            </p:nvSpPr>
            <p:spPr>
              <a:xfrm>
                <a:off x="6155767" y="2547592"/>
                <a:ext cx="1373966" cy="3990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D93F3F7-2069-B1F9-DC6C-E930A82B0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767" y="2547592"/>
                <a:ext cx="1373966" cy="399020"/>
              </a:xfrm>
              <a:prstGeom prst="rect">
                <a:avLst/>
              </a:prstGeom>
              <a:blipFill>
                <a:blip r:embed="rId6"/>
                <a:stretch>
                  <a:fillRect l="-46667" t="-198462" r="-2667" b="-28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F5E1839-D9DF-E205-3AFC-A7AE13A316A0}"/>
                  </a:ext>
                </a:extLst>
              </p:cNvPr>
              <p:cNvSpPr txBox="1"/>
              <p:nvPr/>
            </p:nvSpPr>
            <p:spPr>
              <a:xfrm>
                <a:off x="9832120" y="1776113"/>
                <a:ext cx="21399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𝑋𝑌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(</m:t>
                      </m:r>
                      <m:r>
                        <a:rPr lang="en-US" altLang="zh-CN" sz="12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𝑥</m:t>
                      </m:r>
                      <m:r>
                        <a:rPr lang="en-US" altLang="zh-CN" sz="12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,+∞)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F5E1839-D9DF-E205-3AFC-A7AE13A31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120" y="1776113"/>
                <a:ext cx="2139951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330E5B1-9D6E-E53E-EFE3-E1620BBA62F9}"/>
                  </a:ext>
                </a:extLst>
              </p:cNvPr>
              <p:cNvSpPr txBox="1"/>
              <p:nvPr/>
            </p:nvSpPr>
            <p:spPr>
              <a:xfrm>
                <a:off x="9814496" y="2215939"/>
                <a:ext cx="1396166" cy="276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20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2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2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·</m:t>
                        </m:r>
                      </m:sub>
                    </m:sSub>
                  </m:oMath>
                </a14:m>
                <a:r>
                  <a:rPr lang="zh-CN" altLang="en-US" sz="1200" dirty="0"/>
                  <a:t> 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330E5B1-9D6E-E53E-EFE3-E1620BBA6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496" y="2215939"/>
                <a:ext cx="1396166" cy="276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1C739FC-80E4-62FF-4B28-875E7A9ADDDE}"/>
                  </a:ext>
                </a:extLst>
              </p:cNvPr>
              <p:cNvSpPr txBox="1"/>
              <p:nvPr/>
            </p:nvSpPr>
            <p:spPr>
              <a:xfrm>
                <a:off x="9832120" y="2558665"/>
                <a:ext cx="1783516" cy="336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2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2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−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+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𝑥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,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d</m:t>
                        </m:r>
                        <m:r>
                          <a:rPr lang="en-US" altLang="zh-CN" sz="12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𝑦</m:t>
                        </m:r>
                      </m:e>
                    </m:nary>
                  </m:oMath>
                </a14:m>
                <a:r>
                  <a:rPr lang="zh-CN" altLang="en-US" sz="1200" dirty="0"/>
                  <a:t> 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1C739FC-80E4-62FF-4B28-875E7A9AD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120" y="2558665"/>
                <a:ext cx="1783516" cy="336118"/>
              </a:xfrm>
              <a:prstGeom prst="rect">
                <a:avLst/>
              </a:prstGeom>
              <a:blipFill>
                <a:blip r:embed="rId9"/>
                <a:stretch>
                  <a:fillRect t="-92727" b="-15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A4C00FE4-049B-9695-36B5-DBF3161C0FF2}"/>
              </a:ext>
            </a:extLst>
          </p:cNvPr>
          <p:cNvSpPr txBox="1"/>
          <p:nvPr/>
        </p:nvSpPr>
        <p:spPr>
          <a:xfrm>
            <a:off x="4522224" y="3983868"/>
            <a:ext cx="2668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汉仪文黑-85W" panose="00020600040101010101" pitchFamily="18" charset="-128"/>
              </a:rPr>
              <a:t>联合分布 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  <a:cs typeface="汉仪文黑-85W" panose="00020600040101010101" pitchFamily="18" charset="-128"/>
              </a:rPr>
              <a:t>= 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  <a:cs typeface="汉仪文黑-85W" panose="00020600040101010101" pitchFamily="18" charset="-128"/>
              </a:rPr>
              <a:t>边缘分布相乘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0DC0B01-D2ED-DBB3-7016-EE47CE5DF0E4}"/>
                  </a:ext>
                </a:extLst>
              </p:cNvPr>
              <p:cNvSpPr txBox="1"/>
              <p:nvPr/>
            </p:nvSpPr>
            <p:spPr>
              <a:xfrm>
                <a:off x="8456613" y="3906549"/>
                <a:ext cx="1892540" cy="54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  <a:cs typeface="汉仪文黑-85W" panose="00020600040101010101" pitchFamily="18" charset="-128"/>
                        </a:rPr>
                        <m:t>𝑃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𝐴</m:t>
                          </m:r>
                        </m:e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𝐵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润圆-65简" panose="00020600040101010101" pitchFamily="18" charset="-122"/>
                          <a:cs typeface="汉仪文黑-85W" panose="00020600040101010101" pitchFamily="18" charset="-128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润圆-65简" panose="00020600040101010101" pitchFamily="18" charset="-122"/>
                                  <a:cs typeface="汉仪文黑-85W" panose="00020600040101010101" pitchFamily="18" charset="-128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润圆-65简" panose="00020600040101010101" pitchFamily="18" charset="-122"/>
                                  <a:cs typeface="汉仪文黑-85W" panose="00020600040101010101" pitchFamily="18" charset="-128"/>
                                </a:rPr>
                                <m:t>𝐴𝐵</m:t>
                              </m:r>
                            </m:e>
                          </m:d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润圆-65简" panose="00020600040101010101" pitchFamily="18" charset="-122"/>
                              <a:cs typeface="汉仪文黑-85W" panose="00020600040101010101" pitchFamily="18" charset="-128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润圆-65简" panose="00020600040101010101" pitchFamily="18" charset="-122"/>
                                  <a:cs typeface="汉仪文黑-85W" panose="00020600040101010101" pitchFamily="18" charset="-128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润圆-65简" panose="00020600040101010101" pitchFamily="18" charset="-122"/>
                                  <a:cs typeface="汉仪文黑-85W" panose="00020600040101010101" pitchFamily="18" charset="-128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0DC0B01-D2ED-DBB3-7016-EE47CE5DF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613" y="3906549"/>
                <a:ext cx="1892540" cy="5409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|13.8|13.5|32|37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1|22.8|14.1|15.1|6.4|23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4|11.1|20.1|14.5|3.3|20.2|10.2|99.6|8.8|27.2|23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|3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|3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|12.1|5.5|16.3|14.9|15.9|20.5|41.3|7.6|3.4|10.3|8.2|1.1|49.2|34.4|1.8|15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8|11.6|28.9|34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8|11.6|28.9|34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12.3|16.2|9.8|11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8|11.6|28.9|34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|3.9|2.8|9.2|10.5|5.4|3.2|19.3|1.8|6.5|5.6|5.3|12|8.5|9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9|96.9|10.6|120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|45|5.3|27.4|18.4|94.5|1.6|78.1|59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|45|5.3|27.4|18.4|94.5|1.6|78.1|59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16995</TotalTime>
  <Words>3080</Words>
  <Application>Microsoft Office PowerPoint</Application>
  <PresentationFormat>宽屏</PresentationFormat>
  <Paragraphs>476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楷体</vt:lpstr>
      <vt:lpstr>方正小标宋简体</vt:lpstr>
      <vt:lpstr>Cambria Math</vt:lpstr>
      <vt:lpstr>Calibri</vt:lpstr>
      <vt:lpstr>华文中宋</vt:lpstr>
      <vt:lpstr>华文宋体</vt:lpstr>
      <vt:lpstr>方正清刻本悦宋简体</vt:lpstr>
      <vt:lpstr>Arial</vt:lpstr>
      <vt:lpstr>Times New Roman</vt:lpstr>
      <vt:lpstr>汉仪润圆-65简</vt:lpstr>
      <vt:lpstr>仿宋</vt:lpstr>
      <vt:lpstr>等线</vt:lpstr>
      <vt:lpstr>等线 Light</vt:lpstr>
      <vt:lpstr>汉仪文黑-85W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157</cp:revision>
  <dcterms:created xsi:type="dcterms:W3CDTF">2022-05-05T07:14:53Z</dcterms:created>
  <dcterms:modified xsi:type="dcterms:W3CDTF">2023-02-19T16:55:02Z</dcterms:modified>
</cp:coreProperties>
</file>