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69" r:id="rId2"/>
    <p:sldId id="276" r:id="rId3"/>
    <p:sldId id="323" r:id="rId4"/>
    <p:sldId id="302" r:id="rId5"/>
    <p:sldId id="324" r:id="rId6"/>
    <p:sldId id="325" r:id="rId7"/>
    <p:sldId id="326" r:id="rId8"/>
    <p:sldId id="327" r:id="rId9"/>
    <p:sldId id="328" r:id="rId10"/>
    <p:sldId id="329" r:id="rId11"/>
    <p:sldId id="330" r:id="rId12"/>
    <p:sldId id="298" r:id="rId13"/>
    <p:sldId id="331" r:id="rId14"/>
  </p:sldIdLst>
  <p:sldSz cx="12192000" cy="6858000"/>
  <p:notesSz cx="6858000" cy="9144000"/>
  <p:embeddedFontLst>
    <p:embeddedFont>
      <p:font typeface="等线" panose="02010600030101010101" pitchFamily="2" charset="-122"/>
      <p:regular r:id="rId16"/>
      <p:bold r:id="rId17"/>
    </p:embeddedFont>
    <p:embeddedFont>
      <p:font typeface="等线 Light" panose="02010600030101010101" pitchFamily="2" charset="-122"/>
      <p:regular r:id="rId18"/>
    </p:embeddedFont>
    <p:embeddedFont>
      <p:font typeface="方正清刻本悦宋简体" panose="02000000000000000000" pitchFamily="2" charset="-122"/>
      <p:regular r:id="rId19"/>
    </p:embeddedFont>
    <p:embeddedFont>
      <p:font typeface="方正小标宋简体" panose="02000000000000000000" pitchFamily="2" charset="-122"/>
      <p:regular r:id="rId20"/>
    </p:embeddedFont>
    <p:embeddedFont>
      <p:font typeface="仿宋" panose="02010609060101010101" pitchFamily="49" charset="-122"/>
      <p:regular r:id="rId21"/>
    </p:embeddedFont>
    <p:embeddedFont>
      <p:font typeface="汉仪润圆-65简" panose="00020600040101010101" pitchFamily="18" charset="-122"/>
      <p:regular r:id="rId22"/>
    </p:embeddedFont>
    <p:embeddedFont>
      <p:font typeface="华文宋体" panose="02010600040101010101" pitchFamily="2" charset="-122"/>
      <p:regular r:id="rId23"/>
    </p:embeddedFont>
    <p:embeddedFont>
      <p:font typeface="华文中宋" panose="02010600040101010101" pitchFamily="2" charset="-122"/>
      <p:regular r:id="rId24"/>
    </p:embeddedFont>
    <p:embeddedFont>
      <p:font typeface="楷体" panose="02010609060101010101" pitchFamily="49" charset="-122"/>
      <p:regular r:id="rId25"/>
    </p:embeddedFont>
    <p:embeddedFont>
      <p:font typeface="Cambria Math" panose="02040503050406030204" pitchFamily="18" charset="0"/>
      <p:regular r:id="rId2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展 未央" initials="展" lastIdx="1" clrIdx="0">
    <p:extLst>
      <p:ext uri="{19B8F6BF-5375-455C-9EA6-DF929625EA0E}">
        <p15:presenceInfo xmlns:p15="http://schemas.microsoft.com/office/powerpoint/2012/main" userId="e6b0a92515a3b0c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BFBF"/>
    <a:srgbClr val="FF3300"/>
    <a:srgbClr val="FF6600"/>
    <a:srgbClr val="C00000"/>
    <a:srgbClr val="DF7F7F"/>
    <a:srgbClr val="FFFFFF"/>
    <a:srgbClr val="FFC000"/>
    <a:srgbClr val="89F3FE"/>
    <a:srgbClr val="F3F3F3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25" autoAdjust="0"/>
    <p:restoredTop sz="94660"/>
  </p:normalViewPr>
  <p:slideViewPr>
    <p:cSldViewPr snapToGrid="0">
      <p:cViewPr varScale="1">
        <p:scale>
          <a:sx n="89" d="100"/>
          <a:sy n="89" d="100"/>
        </p:scale>
        <p:origin x="79" y="1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A4BD5C-A529-48D4-AE8F-BF3361AE1A2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71CA1E-5CB9-473F-9F69-C52F533E75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4999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CFB3BA-B18E-DEC1-3E6C-4920AFE4E2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96C1B8B-823F-2425-71B0-85CE082B45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F92AB0-C7C0-8587-6FD3-30D04F0E9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61379A-C11E-0B4A-0FD1-486A98C02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85E933-0268-110F-AFA0-D62C45416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482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97B214-8B47-223A-1CF5-72D03FE86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BEE03A-37AD-9C95-639F-068C82BF2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8C7AA2-FA3D-9C92-5A13-30D5AC600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AF208E-5CAA-29FC-D025-A7E107CC4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6FD161-7AEB-89B5-A6EF-6D6982276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925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AB7A64-974B-7FF5-1FBA-71C0CB8D1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8DE448-7135-CF17-2AAA-15114DF68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815D61-9D72-7FE4-F1B2-8183BF9F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32A689-74BB-D820-494E-8FCE39D98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E4DC3E-2FE6-BFC6-DBFF-0D17F5F0C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0746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86FB7F-2D1B-E43D-ECB5-5AD8585F0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4AA1C3-9833-A836-7282-D8BD6C8C84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2B3DB0-6400-DEC7-2B30-FB7986C75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01E174-6AD7-6427-5CE9-A9BAF4604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5AA43E-AD34-75D5-8FF8-4F7B9DD0C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8E0980-F99C-DDD3-A77F-E7C5414E7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766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8CBFC-3DA5-69CF-5529-7A41DF27A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E7A754-AD40-3C36-0B05-022B19F7E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A85000-B40C-E9B8-9031-BB1EAB5B7A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BDF7258-004C-372D-2F1C-7A3F5C84D3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D973573-1120-A2A0-F0DB-1AD265A7D9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9393FD2-AC0E-DF4D-699D-4499A4FE9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A3F570D-1DE8-EC07-1540-CAACD23A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E9C2CD7-C46B-4BFF-EE78-C6AAEA866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697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9E18C9-230E-153A-E88A-6E56F2E05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8C6ABD0-A360-2FD9-9E5B-F2C339284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F774B37-0D4E-65D2-D16F-6FD6B327B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0F1C27-1813-0031-0F9F-DFA7FC5DF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174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6861B1D-2614-718F-CF47-7A8B5EA33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A25DC33-02B2-B215-0AA3-BE312780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168D3F-DB98-98CA-52C1-149A8C847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5937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DA3FFA-AFDF-C8A5-BA7E-CD7ABADEF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50BBE7-CA90-E151-2431-F10274224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3A07E09-77AB-1537-6B25-F534ED4236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A81297-8DC3-E11E-0231-CDE195F29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A35E25-E4B2-75BE-3B7B-72E552916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119468-1629-7EF2-8699-25A1DE29C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011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D4DFE7-99DE-FD3E-5453-36D6FAB48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499B887-3B1B-DE6A-FC03-3D8C63CEF8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A1ACB3-8653-6CEA-1A12-7B0C7DA4D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7C50B8-A69D-A009-5ED2-9D40FEEB2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E8222B-B5FA-855C-2588-3B06FA59B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DD61D6-F19B-BE5D-B08F-2EF5BC6B2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5339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C3DEE9-4017-21BA-AF15-E1AEED1E7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C19C68-5C6F-5E0E-439E-A548984F0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04FDBA-A8BF-4615-40D4-071E5FEE2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76B259-A67F-AB9C-CD3F-33AF2A633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703F1D-84A7-1844-CEE0-F6CC6F069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774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73D60B5-3F32-AD71-9045-D0FA02F9D5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DE80A2B-ADBF-6FEE-635B-FDD1641C1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566CB7-98BA-C868-FF9A-D23A5AAD4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91180C-F54D-80AC-DD6D-692325DB3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7601E0-44E1-C0D8-BA09-EF88AD66B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7284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F3EE246-BB85-D84E-CBC7-F7FB34018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74AD51-E7A9-2FA7-385A-0AC41A752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F5AC51-1528-2E37-6F36-4072883B0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487E83-F91B-12DB-FCC0-2130541D0C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40DCE4-16B2-A875-3AE9-DFD71CC3C8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846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37.png"/><Relationship Id="rId5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>
            <a:extLst>
              <a:ext uri="{FF2B5EF4-FFF2-40B4-BE49-F238E27FC236}">
                <a16:creationId xmlns:a16="http://schemas.microsoft.com/office/drawing/2014/main" id="{94887E1D-C6CF-1FB4-AA55-CDB7659AB1B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51" r="11474"/>
          <a:stretch/>
        </p:blipFill>
        <p:spPr>
          <a:xfrm>
            <a:off x="675497" y="898434"/>
            <a:ext cx="3638282" cy="5277566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9198C80F-89CD-BB62-A046-E187E190F0DA}"/>
              </a:ext>
            </a:extLst>
          </p:cNvPr>
          <p:cNvSpPr txBox="1"/>
          <p:nvPr/>
        </p:nvSpPr>
        <p:spPr>
          <a:xfrm>
            <a:off x="4985488" y="2767776"/>
            <a:ext cx="41332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4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假设检验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5B70860-7B7F-79E8-BFCC-9CAB1906F829}"/>
              </a:ext>
            </a:extLst>
          </p:cNvPr>
          <p:cNvSpPr txBox="1"/>
          <p:nvPr/>
        </p:nvSpPr>
        <p:spPr>
          <a:xfrm>
            <a:off x="4985485" y="3945538"/>
            <a:ext cx="6721606" cy="878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假设检验的基本概念 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—— 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基本原理，两类错误，双侧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/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单侧检验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正态总体参数的假设检验 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—— 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单个正态总体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/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两个正态总体</a:t>
            </a:r>
            <a:endParaRPr lang="en-US" altLang="zh-CN" sz="18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B045768-D895-3AB6-17F1-0E730D6A50EA}"/>
              </a:ext>
            </a:extLst>
          </p:cNvPr>
          <p:cNvCxnSpPr>
            <a:cxnSpLocks/>
          </p:cNvCxnSpPr>
          <p:nvPr/>
        </p:nvCxnSpPr>
        <p:spPr>
          <a:xfrm>
            <a:off x="4985485" y="3741377"/>
            <a:ext cx="653101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4FC1EA91-F8F7-91D8-20AB-953E21B71335}"/>
              </a:ext>
            </a:extLst>
          </p:cNvPr>
          <p:cNvSpPr txBox="1"/>
          <p:nvPr/>
        </p:nvSpPr>
        <p:spPr>
          <a:xfrm>
            <a:off x="4985485" y="1972342"/>
            <a:ext cx="4133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《</a:t>
            </a:r>
            <a:r>
              <a:rPr lang="zh-CN" altLang="en-US" sz="28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概率论与数理统计</a:t>
            </a:r>
            <a:r>
              <a:rPr lang="en-US" altLang="zh-CN" sz="28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》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7799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66AA635-A21B-A433-4648-23FD4F0AB104}"/>
              </a:ext>
            </a:extLst>
          </p:cNvPr>
          <p:cNvSpPr txBox="1"/>
          <p:nvPr/>
        </p:nvSpPr>
        <p:spPr>
          <a:xfrm>
            <a:off x="507460" y="496110"/>
            <a:ext cx="3639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假设检验的基本概念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F8EA2AA-3607-76BF-CED9-450E9DC65B0B}"/>
              </a:ext>
            </a:extLst>
          </p:cNvPr>
          <p:cNvSpPr txBox="1"/>
          <p:nvPr/>
        </p:nvSpPr>
        <p:spPr>
          <a:xfrm>
            <a:off x="507460" y="1425186"/>
            <a:ext cx="1110817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上一章中，我们在总体参数未知的情况下 利用样本估计出一个参数，并检验这参数的优劣程度</a:t>
            </a:r>
            <a:r>
              <a:rPr lang="en-US" altLang="zh-CN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/</a:t>
            </a: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可信程度。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本章我们将从另一个角度出发，即提出一个对总体参数的假设，在有一定把握的条件下 判断这假设是否能成立。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这样的问题称为 </a:t>
            </a:r>
            <a:r>
              <a:rPr lang="zh-CN" altLang="en-US" sz="1600" dirty="0">
                <a:solidFill>
                  <a:srgbClr val="00B0F0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假设检验</a:t>
            </a: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。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CFE9ED-E2C0-E136-C16A-73B705043080}"/>
              </a:ext>
            </a:extLst>
          </p:cNvPr>
          <p:cNvSpPr txBox="1"/>
          <p:nvPr/>
        </p:nvSpPr>
        <p:spPr>
          <a:xfrm>
            <a:off x="4146997" y="775742"/>
            <a:ext cx="13516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基本原理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07FB0D94-63A9-BE34-1793-0CC79EE88A75}"/>
              </a:ext>
            </a:extLst>
          </p:cNvPr>
          <p:cNvGrpSpPr/>
          <p:nvPr/>
        </p:nvGrpSpPr>
        <p:grpSpPr>
          <a:xfrm>
            <a:off x="576364" y="2573378"/>
            <a:ext cx="11039272" cy="3148559"/>
            <a:chOff x="576364" y="2573378"/>
            <a:chExt cx="11039272" cy="3148559"/>
          </a:xfrm>
        </p:grpSpPr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7F525D08-A86E-8E6B-B350-8B49FD29F839}"/>
                </a:ext>
              </a:extLst>
            </p:cNvPr>
            <p:cNvGrpSpPr/>
            <p:nvPr/>
          </p:nvGrpSpPr>
          <p:grpSpPr>
            <a:xfrm>
              <a:off x="576364" y="2883859"/>
              <a:ext cx="11039272" cy="2838078"/>
              <a:chOff x="576364" y="2883859"/>
              <a:chExt cx="11039272" cy="2838078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0712F6EB-E170-C70A-AA50-037F221AB68B}"/>
                  </a:ext>
                </a:extLst>
              </p:cNvPr>
              <p:cNvGrpSpPr/>
              <p:nvPr/>
            </p:nvGrpSpPr>
            <p:grpSpPr>
              <a:xfrm>
                <a:off x="576364" y="2883859"/>
                <a:ext cx="11039272" cy="2838078"/>
                <a:chOff x="576364" y="2829268"/>
                <a:chExt cx="11039272" cy="2838078"/>
              </a:xfrm>
            </p:grpSpPr>
            <p:sp>
              <p:nvSpPr>
                <p:cNvPr id="28" name="矩形: 圆角 27">
                  <a:extLst>
                    <a:ext uri="{FF2B5EF4-FFF2-40B4-BE49-F238E27FC236}">
                      <a16:creationId xmlns:a16="http://schemas.microsoft.com/office/drawing/2014/main" id="{C164E11B-303D-96F1-8298-D71EE55A6BDD}"/>
                    </a:ext>
                  </a:extLst>
                </p:cNvPr>
                <p:cNvSpPr/>
                <p:nvPr/>
              </p:nvSpPr>
              <p:spPr>
                <a:xfrm>
                  <a:off x="4952465" y="5168083"/>
                  <a:ext cx="2287070" cy="499263"/>
                </a:xfrm>
                <a:prstGeom prst="roundRect">
                  <a:avLst>
                    <a:gd name="adj" fmla="val 36367"/>
                  </a:avLst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zh-CN" altLang="en-US" sz="1600" dirty="0"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假设检验</a:t>
                  </a:r>
                </a:p>
              </p:txBody>
            </p:sp>
            <p:sp>
              <p:nvSpPr>
                <p:cNvPr id="29" name="矩形: 圆角 28">
                  <a:extLst>
                    <a:ext uri="{FF2B5EF4-FFF2-40B4-BE49-F238E27FC236}">
                      <a16:creationId xmlns:a16="http://schemas.microsoft.com/office/drawing/2014/main" id="{443D9C84-03E0-46D8-C64B-C00E22FE478B}"/>
                    </a:ext>
                  </a:extLst>
                </p:cNvPr>
                <p:cNvSpPr/>
                <p:nvPr/>
              </p:nvSpPr>
              <p:spPr>
                <a:xfrm>
                  <a:off x="576364" y="2829268"/>
                  <a:ext cx="11039272" cy="2438768"/>
                </a:xfrm>
                <a:prstGeom prst="roundRect">
                  <a:avLst>
                    <a:gd name="adj" fmla="val 8540"/>
                  </a:avLst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文本框 29">
                    <a:extLst>
                      <a:ext uri="{FF2B5EF4-FFF2-40B4-BE49-F238E27FC236}">
                        <a16:creationId xmlns:a16="http://schemas.microsoft.com/office/drawing/2014/main" id="{34A8AFB3-D1B8-510C-974E-D2A069C7BDA8}"/>
                      </a:ext>
                    </a:extLst>
                  </p:cNvPr>
                  <p:cNvSpPr txBox="1"/>
                  <p:nvPr/>
                </p:nvSpPr>
                <p:spPr>
                  <a:xfrm>
                    <a:off x="576364" y="3090446"/>
                    <a:ext cx="5519635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提出假设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a14:m>
                    <a:r>
                      <a:rPr lang="zh-CN" altLang="en-US" sz="16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及备选假设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  <a:endParaRPr lang="zh-CN" altLang="en-US" sz="16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endParaRPr>
                  </a:p>
                </p:txBody>
              </p:sp>
            </mc:Choice>
            <mc:Fallback xmlns="">
              <p:sp>
                <p:nvSpPr>
                  <p:cNvPr id="30" name="文本框 29">
                    <a:extLst>
                      <a:ext uri="{FF2B5EF4-FFF2-40B4-BE49-F238E27FC236}">
                        <a16:creationId xmlns:a16="http://schemas.microsoft.com/office/drawing/2014/main" id="{34A8AFB3-D1B8-510C-974E-D2A069C7BDA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6364" y="3090446"/>
                    <a:ext cx="5519635" cy="33855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7143" b="-1964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文本框 30">
                    <a:extLst>
                      <a:ext uri="{FF2B5EF4-FFF2-40B4-BE49-F238E27FC236}">
                        <a16:creationId xmlns:a16="http://schemas.microsoft.com/office/drawing/2014/main" id="{0BB9E049-0508-737E-9854-9F03E7530B57}"/>
                      </a:ext>
                    </a:extLst>
                  </p:cNvPr>
                  <p:cNvSpPr txBox="1"/>
                  <p:nvPr/>
                </p:nvSpPr>
                <p:spPr>
                  <a:xfrm>
                    <a:off x="576365" y="4091516"/>
                    <a:ext cx="5519633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构造一个统计量</a:t>
                    </a:r>
                    <a:endParaRPr lang="en-US" altLang="zh-CN" sz="16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endParaRPr>
                  </a:p>
                  <a:p>
                    <a:pPr algn="ctr"/>
                    <a:r>
                      <a:rPr lang="zh-CN" altLang="en-US" sz="16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该统计量满足假设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a14:m>
                    <a:r>
                      <a:rPr lang="zh-CN" altLang="en-US" sz="16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且不含任何未知参数</a:t>
                    </a:r>
                  </a:p>
                </p:txBody>
              </p:sp>
            </mc:Choice>
            <mc:Fallback xmlns="">
              <p:sp>
                <p:nvSpPr>
                  <p:cNvPr id="31" name="文本框 30">
                    <a:extLst>
                      <a:ext uri="{FF2B5EF4-FFF2-40B4-BE49-F238E27FC236}">
                        <a16:creationId xmlns:a16="http://schemas.microsoft.com/office/drawing/2014/main" id="{0BB9E049-0508-737E-9854-9F03E7530B5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6365" y="4091516"/>
                    <a:ext cx="5519633" cy="58477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t="-3125" b="-1145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文本框 31">
                    <a:extLst>
                      <a:ext uri="{FF2B5EF4-FFF2-40B4-BE49-F238E27FC236}">
                        <a16:creationId xmlns:a16="http://schemas.microsoft.com/office/drawing/2014/main" id="{24CF368D-7C44-D2FB-2CD0-D76FF58D8515}"/>
                      </a:ext>
                    </a:extLst>
                  </p:cNvPr>
                  <p:cNvSpPr txBox="1"/>
                  <p:nvPr/>
                </p:nvSpPr>
                <p:spPr>
                  <a:xfrm>
                    <a:off x="6240212" y="3096321"/>
                    <a:ext cx="5375423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给定</a:t>
                    </a:r>
                    <a:r>
                      <a:rPr lang="zh-CN" altLang="en-US" sz="16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假设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a14:m>
                    <a:r>
                      <a:rPr lang="zh-CN" altLang="en-US" sz="16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成立的概率</a:t>
                    </a:r>
                    <a14:m>
                      <m:oMath xmlns:m="http://schemas.openxmlformats.org/officeDocument/2006/math">
                        <m:r>
                          <a:rPr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1−</m:t>
                        </m:r>
                        <m:r>
                          <a:rPr lang="zh-CN" alt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𝛼</m:t>
                        </m:r>
                      </m:oMath>
                    </a14:m>
                    <a:r>
                      <a:rPr lang="zh-CN" altLang="en-US" sz="16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（</a:t>
                    </a:r>
                    <a:r>
                      <a:rPr lang="zh-CN" altLang="en-US" sz="1600" dirty="0">
                        <a:solidFill>
                          <a:srgbClr val="00B0F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显著性水平</a:t>
                    </a:r>
                    <a:r>
                      <a:rPr lang="zh-CN" altLang="en-US" sz="16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）</a:t>
                    </a:r>
                    <a:endParaRPr lang="en-US" altLang="zh-CN" sz="16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endParaRPr>
                  </a:p>
                  <a:p>
                    <a:pPr algn="ctr"/>
                    <a:r>
                      <a:rPr lang="zh-CN" altLang="en-US" sz="16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此统计量的取值</a:t>
                    </a:r>
                    <a:r>
                      <a:rPr lang="zh-CN" altLang="en-US" sz="16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应当不落入一定的范围</a:t>
                    </a:r>
                    <a14:m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𝑊</m:t>
                        </m:r>
                      </m:oMath>
                    </a14:m>
                    <a:r>
                      <a:rPr lang="zh-CN" altLang="en-US" sz="16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（</a:t>
                    </a:r>
                    <a:r>
                      <a:rPr lang="zh-CN" altLang="en-US" sz="1600" dirty="0">
                        <a:solidFill>
                          <a:srgbClr val="00B0F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拒绝域</a:t>
                    </a:r>
                    <a:r>
                      <a:rPr lang="zh-CN" altLang="en-US" sz="16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）</a:t>
                    </a:r>
                    <a:endParaRPr lang="zh-CN" altLang="en-US" sz="16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endParaRPr>
                  </a:p>
                </p:txBody>
              </p:sp>
            </mc:Choice>
            <mc:Fallback xmlns="">
              <p:sp>
                <p:nvSpPr>
                  <p:cNvPr id="32" name="文本框 31">
                    <a:extLst>
                      <a:ext uri="{FF2B5EF4-FFF2-40B4-BE49-F238E27FC236}">
                        <a16:creationId xmlns:a16="http://schemas.microsoft.com/office/drawing/2014/main" id="{24CF368D-7C44-D2FB-2CD0-D76FF58D851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40212" y="3096321"/>
                    <a:ext cx="5375423" cy="58477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4167" b="-1145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文本框 32">
                    <a:extLst>
                      <a:ext uri="{FF2B5EF4-FFF2-40B4-BE49-F238E27FC236}">
                        <a16:creationId xmlns:a16="http://schemas.microsoft.com/office/drawing/2014/main" id="{C34DEBA2-7260-EBC5-3217-0A216A97A00D}"/>
                      </a:ext>
                    </a:extLst>
                  </p:cNvPr>
                  <p:cNvSpPr txBox="1"/>
                  <p:nvPr/>
                </p:nvSpPr>
                <p:spPr>
                  <a:xfrm>
                    <a:off x="6095999" y="4368039"/>
                    <a:ext cx="5519637" cy="5847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6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根据样本的观察值计算统计量</a:t>
                    </a:r>
                    <a14:m>
                      <m:oMath xmlns:m="http://schemas.openxmlformats.org/officeDocument/2006/math">
                        <m:r>
                          <a:rPr lang="en-US" altLang="zh-CN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𝑈</m:t>
                        </m:r>
                      </m:oMath>
                    </a14:m>
                    <a:r>
                      <a:rPr lang="zh-CN" altLang="en-US" sz="16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的观察值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oMath>
                    </a14:m>
                    <a:endParaRPr lang="en-US" altLang="zh-CN" sz="16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endParaRPr>
                  </a:p>
                  <a:p>
                    <a:pPr algn="ctr"/>
                    <a:r>
                      <a:rPr lang="zh-CN" altLang="en-US" sz="16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若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oMath>
                    </a14:m>
                    <a:r>
                      <a:rPr lang="zh-CN" altLang="en-US" sz="16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落入拒绝域，则拒绝假设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a14:m>
                    <a:endParaRPr lang="en-US" altLang="zh-CN" sz="16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endParaRPr>
                  </a:p>
                </p:txBody>
              </p:sp>
            </mc:Choice>
            <mc:Fallback xmlns="">
              <p:sp>
                <p:nvSpPr>
                  <p:cNvPr id="33" name="文本框 32">
                    <a:extLst>
                      <a:ext uri="{FF2B5EF4-FFF2-40B4-BE49-F238E27FC236}">
                        <a16:creationId xmlns:a16="http://schemas.microsoft.com/office/drawing/2014/main" id="{C34DEBA2-7260-EBC5-3217-0A216A97A00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5999" y="4368039"/>
                    <a:ext cx="5519637" cy="58477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4211" b="-1263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9" name="连接符: 肘形 38">
                <a:extLst>
                  <a:ext uri="{FF2B5EF4-FFF2-40B4-BE49-F238E27FC236}">
                    <a16:creationId xmlns:a16="http://schemas.microsoft.com/office/drawing/2014/main" id="{BFF3D638-85D7-5716-77AB-0DEA76CD43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1603" y="4258801"/>
                <a:ext cx="4773181" cy="493179"/>
              </a:xfrm>
              <a:prstGeom prst="bentConnector3">
                <a:avLst>
                  <a:gd name="adj1" fmla="val 2"/>
                </a:avLst>
              </a:prstGeom>
              <a:ln w="127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连接符: 肘形 42">
                <a:extLst>
                  <a:ext uri="{FF2B5EF4-FFF2-40B4-BE49-F238E27FC236}">
                    <a16:creationId xmlns:a16="http://schemas.microsoft.com/office/drawing/2014/main" id="{921AF412-F866-A034-42C0-28A6E92F9F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97213" y="4554431"/>
                <a:ext cx="4917208" cy="465104"/>
              </a:xfrm>
              <a:prstGeom prst="bentConnector3">
                <a:avLst>
                  <a:gd name="adj1" fmla="val -172"/>
                </a:avLst>
              </a:prstGeom>
              <a:ln w="127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连接符: 肘形 43">
                <a:extLst>
                  <a:ext uri="{FF2B5EF4-FFF2-40B4-BE49-F238E27FC236}">
                    <a16:creationId xmlns:a16="http://schemas.microsoft.com/office/drawing/2014/main" id="{6EA612C8-1A73-3B9D-4A55-D2609C09CF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90915" y="3282712"/>
                <a:ext cx="4917208" cy="465104"/>
              </a:xfrm>
              <a:prstGeom prst="bentConnector3">
                <a:avLst>
                  <a:gd name="adj1" fmla="val -172"/>
                </a:avLst>
              </a:prstGeom>
              <a:ln w="127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连接符: 肘形 44">
                <a:extLst>
                  <a:ext uri="{FF2B5EF4-FFF2-40B4-BE49-F238E27FC236}">
                    <a16:creationId xmlns:a16="http://schemas.microsoft.com/office/drawing/2014/main" id="{E320A55B-3005-DED7-EF86-E2F50A1A7C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1793" y="3266445"/>
                <a:ext cx="4772991" cy="257215"/>
              </a:xfrm>
              <a:prstGeom prst="bentConnector3">
                <a:avLst>
                  <a:gd name="adj1" fmla="val -145"/>
                </a:avLst>
              </a:prstGeom>
              <a:ln w="1270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9BC60550-C133-518E-5423-EAA84DB9631A}"/>
                  </a:ext>
                </a:extLst>
              </p:cNvPr>
              <p:cNvSpPr/>
              <p:nvPr/>
            </p:nvSpPr>
            <p:spPr>
              <a:xfrm>
                <a:off x="877579" y="3104945"/>
                <a:ext cx="288435" cy="288435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endParaRPr lang="zh-CN" altLang="en-US" dirty="0">
                  <a:latin typeface="Cambria Math" panose="02040503050406030204" pitchFamily="18" charset="0"/>
                </a:endParaRPr>
              </a:p>
            </p:txBody>
          </p:sp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85A18BAC-D446-F137-82A3-0DBDA7257433}"/>
                  </a:ext>
                </a:extLst>
              </p:cNvPr>
              <p:cNvSpPr/>
              <p:nvPr/>
            </p:nvSpPr>
            <p:spPr>
              <a:xfrm>
                <a:off x="877386" y="4091516"/>
                <a:ext cx="288435" cy="288435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endParaRPr lang="zh-CN" altLang="en-US" dirty="0">
                  <a:latin typeface="Cambria Math" panose="02040503050406030204" pitchFamily="18" charset="0"/>
                </a:endParaRPr>
              </a:p>
            </p:txBody>
          </p: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903BCBF0-504B-5385-6DBF-7608C2D946B5}"/>
                  </a:ext>
                </a:extLst>
              </p:cNvPr>
              <p:cNvSpPr/>
              <p:nvPr/>
            </p:nvSpPr>
            <p:spPr>
              <a:xfrm>
                <a:off x="6246698" y="3116138"/>
                <a:ext cx="288435" cy="288435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</a:t>
                </a:r>
                <a:endParaRPr lang="zh-CN" altLang="en-US" dirty="0">
                  <a:latin typeface="Cambria Math" panose="02040503050406030204" pitchFamily="18" charset="0"/>
                </a:endParaRPr>
              </a:p>
            </p:txBody>
          </p:sp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E2D62F6B-F105-25F4-1952-4DC7EF584AA6}"/>
                  </a:ext>
                </a:extLst>
              </p:cNvPr>
              <p:cNvSpPr/>
              <p:nvPr/>
            </p:nvSpPr>
            <p:spPr>
              <a:xfrm>
                <a:off x="6252996" y="4387856"/>
                <a:ext cx="288435" cy="288435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</a:t>
                </a:r>
                <a:endParaRPr lang="zh-CN" altLang="en-US" dirty="0">
                  <a:latin typeface="Cambria Math" panose="020405030504060302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文本框 48">
                    <a:extLst>
                      <a:ext uri="{FF2B5EF4-FFF2-40B4-BE49-F238E27FC236}">
                        <a16:creationId xmlns:a16="http://schemas.microsoft.com/office/drawing/2014/main" id="{8079817B-D346-FB70-E739-049CE8DB8A99}"/>
                      </a:ext>
                    </a:extLst>
                  </p:cNvPr>
                  <p:cNvSpPr txBox="1"/>
                  <p:nvPr/>
                </p:nvSpPr>
                <p:spPr>
                  <a:xfrm>
                    <a:off x="1395305" y="3535832"/>
                    <a:ext cx="3881752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假设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zh-CN" alt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a14:m>
                    <a:r>
                      <a:rPr lang="zh-CN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；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zh-CN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sSub>
                          <m:sSub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2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a14:m>
                    <a:endPara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endParaRPr>
                  </a:p>
                </p:txBody>
              </p:sp>
            </mc:Choice>
            <mc:Fallback xmlns="">
              <p:sp>
                <p:nvSpPr>
                  <p:cNvPr id="49" name="文本框 48">
                    <a:extLst>
                      <a:ext uri="{FF2B5EF4-FFF2-40B4-BE49-F238E27FC236}">
                        <a16:creationId xmlns:a16="http://schemas.microsoft.com/office/drawing/2014/main" id="{8079817B-D346-FB70-E739-049CE8DB8A9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95305" y="3535832"/>
                    <a:ext cx="3881752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1777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文本框 49">
                    <a:extLst>
                      <a:ext uri="{FF2B5EF4-FFF2-40B4-BE49-F238E27FC236}">
                        <a16:creationId xmlns:a16="http://schemas.microsoft.com/office/drawing/2014/main" id="{ECAA81ED-45E9-DAA8-94E1-604F203C6690}"/>
                      </a:ext>
                    </a:extLst>
                  </p:cNvPr>
                  <p:cNvSpPr txBox="1"/>
                  <p:nvPr/>
                </p:nvSpPr>
                <p:spPr>
                  <a:xfrm>
                    <a:off x="1467317" y="4751980"/>
                    <a:ext cx="3881752" cy="39523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构造</a:t>
                    </a:r>
                    <a14:m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sz="1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̅"/>
                                <m:ctrlPr>
                                  <a:rPr lang="zh-CN" altLang="en-US" sz="12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12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zh-CN" altLang="en-US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12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~ </m:t>
                        </m:r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(0,1)</m:t>
                        </m:r>
                      </m:oMath>
                    </a14:m>
                    <a:r>
                      <a:rPr lang="zh-CN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，其满足假设</a:t>
                    </a:r>
                    <a14:m>
                      <m:oMath xmlns:m="http://schemas.openxmlformats.org/officeDocument/2006/math"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2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a14:m>
                    <a:endPara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endParaRPr>
                  </a:p>
                </p:txBody>
              </p:sp>
            </mc:Choice>
            <mc:Fallback xmlns="">
              <p:sp>
                <p:nvSpPr>
                  <p:cNvPr id="50" name="文本框 49">
                    <a:extLst>
                      <a:ext uri="{FF2B5EF4-FFF2-40B4-BE49-F238E27FC236}">
                        <a16:creationId xmlns:a16="http://schemas.microsoft.com/office/drawing/2014/main" id="{ECAA81ED-45E9-DAA8-94E1-604F203C669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67317" y="4751980"/>
                    <a:ext cx="3881752" cy="395236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312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文本框 52">
                    <a:extLst>
                      <a:ext uri="{FF2B5EF4-FFF2-40B4-BE49-F238E27FC236}">
                        <a16:creationId xmlns:a16="http://schemas.microsoft.com/office/drawing/2014/main" id="{5A6F3A91-C611-A17C-8E1D-EBCCF89C0656}"/>
                      </a:ext>
                    </a:extLst>
                  </p:cNvPr>
                  <p:cNvSpPr txBox="1"/>
                  <p:nvPr/>
                </p:nvSpPr>
                <p:spPr>
                  <a:xfrm>
                    <a:off x="6390914" y="3760786"/>
                    <a:ext cx="4917208" cy="50763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200" b="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假设不成立则</a:t>
                    </a:r>
                    <a14:m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̅"/>
                            <m:ctrlPr>
                              <a:rPr lang="zh-CN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2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oMath>
                    </a14:m>
                    <a:r>
                      <a:rPr lang="zh-CN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即</a:t>
                    </a:r>
                    <a14:m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|</m:t>
                        </m:r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𝑈</m:t>
                        </m:r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|</m:t>
                        </m:r>
                      </m:oMath>
                    </a14:m>
                    <a:r>
                      <a:rPr lang="zh-CN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的值较大，则拒绝域临界值即为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𝑢</m:t>
                            </m:r>
                          </m:e>
                          <m:sub>
                            <m:r>
                              <a:rPr lang="zh-CN" altLang="en-US" sz="12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𝛼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/2</m:t>
                            </m:r>
                          </m:sub>
                        </m:sSub>
                      </m:oMath>
                    </a14:m>
                    <a:endParaRPr lang="en-US" altLang="zh-CN" sz="1200" dirty="0">
                      <a:latin typeface="楷体" panose="02010609060101010101" pitchFamily="49" charset="-122"/>
                      <a:ea typeface="楷体" panose="02010609060101010101" pitchFamily="49" charset="-122"/>
                    </a:endParaRPr>
                  </a:p>
                  <a:p>
                    <a:pPr algn="ctr"/>
                    <a:r>
                      <a:rPr lang="zh-CN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（因</a:t>
                    </a:r>
                    <a14:m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12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𝑈</m:t>
                                </m:r>
                              </m:e>
                            </m:d>
                            <m:r>
                              <a:rPr lang="en-US" altLang="zh-CN" sz="1200" b="0" i="1" dirty="0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≥</m:t>
                            </m:r>
                            <m:sSub>
                              <m:sSubPr>
                                <m:ctrlPr>
                                  <a:rPr lang="en-US" altLang="zh-CN" sz="12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zh-CN" altLang="en-US" sz="12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𝛼</m:t>
                                </m:r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/2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zh-CN" altLang="en-US" sz="12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𝛼</m:t>
                        </m:r>
                      </m:oMath>
                    </a14:m>
                    <a:r>
                      <a:rPr lang="zh-CN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）</a:t>
                    </a:r>
                  </a:p>
                </p:txBody>
              </p:sp>
            </mc:Choice>
            <mc:Fallback xmlns="">
              <p:sp>
                <p:nvSpPr>
                  <p:cNvPr id="53" name="文本框 52">
                    <a:extLst>
                      <a:ext uri="{FF2B5EF4-FFF2-40B4-BE49-F238E27FC236}">
                        <a16:creationId xmlns:a16="http://schemas.microsoft.com/office/drawing/2014/main" id="{5A6F3A91-C611-A17C-8E1D-EBCCF89C065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90914" y="3760786"/>
                    <a:ext cx="4917208" cy="50763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t="-2410" b="-481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5BEBE369-2421-A800-C935-5D8A8D82EF5D}"/>
                    </a:ext>
                  </a:extLst>
                </p:cNvPr>
                <p:cNvSpPr txBox="1"/>
                <p:nvPr/>
              </p:nvSpPr>
              <p:spPr>
                <a:xfrm>
                  <a:off x="6854757" y="2573378"/>
                  <a:ext cx="476087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zh-CN" altLang="en-US" sz="1200" dirty="0">
                      <a:solidFill>
                        <a:schemeClr val="accent5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以 正态总体</a:t>
                  </a:r>
                  <a14:m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12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CN" sz="12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sz="12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12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CN" sz="12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1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sz="1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zh-CN" altLang="en-US" sz="1200" dirty="0">
                      <a:solidFill>
                        <a:schemeClr val="accent5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中</a:t>
                  </a:r>
                  <a14:m>
                    <m:oMath xmlns:m="http://schemas.openxmlformats.org/officeDocument/2006/math">
                      <m:r>
                        <a:rPr lang="zh-CN" altLang="en-US" sz="12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</m:oMath>
                  </a14:m>
                  <a:r>
                    <a:rPr lang="zh-CN" altLang="en-US" sz="1200" dirty="0">
                      <a:solidFill>
                        <a:schemeClr val="accent5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未知，检验假设</a:t>
                  </a:r>
                  <a14:m>
                    <m:oMath xmlns:m="http://schemas.openxmlformats.org/officeDocument/2006/math">
                      <m:r>
                        <a:rPr lang="zh-CN" altLang="en-US" sz="12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CN" sz="12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2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2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zh-CN" altLang="en-US" sz="1200" dirty="0">
                      <a:solidFill>
                        <a:schemeClr val="accent5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能否成立 举例</a:t>
                  </a:r>
                </a:p>
              </p:txBody>
            </p:sp>
          </mc:Choice>
          <mc:Fallback xmlns="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5BEBE369-2421-A800-C935-5D8A8D82EF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54757" y="2573378"/>
                  <a:ext cx="4760878" cy="276999"/>
                </a:xfrm>
                <a:prstGeom prst="rect">
                  <a:avLst/>
                </a:prstGeom>
                <a:blipFill>
                  <a:blip r:embed="rId10"/>
                  <a:stretch>
                    <a:fillRect r="-128" b="-152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1893193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66AA635-A21B-A433-4648-23FD4F0AB104}"/>
              </a:ext>
            </a:extLst>
          </p:cNvPr>
          <p:cNvSpPr txBox="1"/>
          <p:nvPr/>
        </p:nvSpPr>
        <p:spPr>
          <a:xfrm>
            <a:off x="507460" y="496110"/>
            <a:ext cx="3639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假设检验的基本概念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F8EA2AA-3607-76BF-CED9-450E9DC65B0B}"/>
              </a:ext>
            </a:extLst>
          </p:cNvPr>
          <p:cNvSpPr txBox="1"/>
          <p:nvPr/>
        </p:nvSpPr>
        <p:spPr>
          <a:xfrm>
            <a:off x="507460" y="1425186"/>
            <a:ext cx="111081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由于样本具有随机性，因此我们作任何对于假设的判断都不是完全无误的，可能会存在两类错误：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CFE9ED-E2C0-E136-C16A-73B705043080}"/>
              </a:ext>
            </a:extLst>
          </p:cNvPr>
          <p:cNvSpPr txBox="1"/>
          <p:nvPr/>
        </p:nvSpPr>
        <p:spPr>
          <a:xfrm>
            <a:off x="4146997" y="775742"/>
            <a:ext cx="25715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两类错误，双侧</a:t>
            </a:r>
            <a:r>
              <a:rPr lang="en-US" altLang="zh-CN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/</a:t>
            </a:r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单侧检验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B9A3FFE-D931-7695-575F-297B4CCB2C50}"/>
              </a:ext>
            </a:extLst>
          </p:cNvPr>
          <p:cNvGrpSpPr/>
          <p:nvPr/>
        </p:nvGrpSpPr>
        <p:grpSpPr>
          <a:xfrm>
            <a:off x="576364" y="1916018"/>
            <a:ext cx="10364011" cy="338554"/>
            <a:chOff x="576364" y="1971139"/>
            <a:chExt cx="10364011" cy="338554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E18D0613-FD0F-0ACE-DD13-627F7442C630}"/>
                </a:ext>
              </a:extLst>
            </p:cNvPr>
            <p:cNvSpPr txBox="1"/>
            <p:nvPr/>
          </p:nvSpPr>
          <p:spPr>
            <a:xfrm>
              <a:off x="576364" y="1971139"/>
              <a:ext cx="26653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accent2"/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第 </a:t>
              </a:r>
              <a:r>
                <a:rPr lang="en-US" altLang="zh-CN" sz="1600" dirty="0">
                  <a:solidFill>
                    <a:schemeClr val="accent2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I </a:t>
              </a:r>
              <a:r>
                <a:rPr lang="zh-CN" altLang="en-US" sz="1600" dirty="0">
                  <a:solidFill>
                    <a:schemeClr val="accent2"/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类错误   </a:t>
              </a:r>
              <a:r>
                <a:rPr lang="zh-CN" altLang="en-US" sz="1600" dirty="0">
                  <a:latin typeface="仿宋" panose="02010609060101010101" pitchFamily="49" charset="-122"/>
                  <a:ea typeface="仿宋" panose="02010609060101010101" pitchFamily="49" charset="-122"/>
                </a:rPr>
                <a:t>弃真错误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BE6EDBC1-2327-48BF-187C-AEDC16C6E27B}"/>
                    </a:ext>
                  </a:extLst>
                </p:cNvPr>
                <p:cNvSpPr txBox="1"/>
                <p:nvPr/>
              </p:nvSpPr>
              <p:spPr>
                <a:xfrm>
                  <a:off x="3035030" y="1971139"/>
                  <a:ext cx="790534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在 原假设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本来为真 时，作出拒绝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的判断。犯这种错误的概率即为显著性水平</a:t>
                  </a:r>
                  <a14:m>
                    <m:oMath xmlns:m="http://schemas.openxmlformats.org/officeDocument/2006/math">
                      <m:r>
                        <a:rPr lang="zh-CN" altLang="en-US" sz="1600" i="1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a14:m>
                  <a:r>
                    <a:rPr lang="en-US" altLang="zh-CN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.</a:t>
                  </a:r>
                  <a:endPara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BE6EDBC1-2327-48BF-187C-AEDC16C6E2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5030" y="1971139"/>
                  <a:ext cx="7905345" cy="338554"/>
                </a:xfrm>
                <a:prstGeom prst="rect">
                  <a:avLst/>
                </a:prstGeom>
                <a:blipFill>
                  <a:blip r:embed="rId3"/>
                  <a:stretch>
                    <a:fillRect l="-463" t="-7143" b="-196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788A9C5-CBE6-ADD1-255D-D4F0290FB75B}"/>
              </a:ext>
            </a:extLst>
          </p:cNvPr>
          <p:cNvGrpSpPr/>
          <p:nvPr/>
        </p:nvGrpSpPr>
        <p:grpSpPr>
          <a:xfrm>
            <a:off x="576363" y="2266872"/>
            <a:ext cx="10364011" cy="343379"/>
            <a:chOff x="576363" y="2321993"/>
            <a:chExt cx="10364011" cy="343379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B3E79DC4-632D-A8CC-734E-83923D4D9BC7}"/>
                </a:ext>
              </a:extLst>
            </p:cNvPr>
            <p:cNvSpPr txBox="1"/>
            <p:nvPr/>
          </p:nvSpPr>
          <p:spPr>
            <a:xfrm>
              <a:off x="576363" y="2326818"/>
              <a:ext cx="26653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accent2"/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第 </a:t>
              </a:r>
              <a:r>
                <a:rPr lang="en-US" altLang="zh-CN" sz="1600" dirty="0">
                  <a:solidFill>
                    <a:schemeClr val="accent2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II </a:t>
              </a:r>
              <a:r>
                <a:rPr lang="zh-CN" altLang="en-US" sz="1600" dirty="0">
                  <a:solidFill>
                    <a:schemeClr val="accent2"/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类错误  </a:t>
              </a:r>
              <a:r>
                <a:rPr lang="zh-CN" altLang="en-US" sz="1600" dirty="0">
                  <a:latin typeface="仿宋" panose="02010609060101010101" pitchFamily="49" charset="-122"/>
                  <a:ea typeface="仿宋" panose="02010609060101010101" pitchFamily="49" charset="-122"/>
                </a:rPr>
                <a:t>纳伪错误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960F465C-DDF8-828D-7A53-3851FEF6E7F3}"/>
                    </a:ext>
                  </a:extLst>
                </p:cNvPr>
                <p:cNvSpPr txBox="1"/>
                <p:nvPr/>
              </p:nvSpPr>
              <p:spPr>
                <a:xfrm>
                  <a:off x="3035029" y="2321993"/>
                  <a:ext cx="790534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在 原假设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本来为假 时，作出接受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的判断。犯这种错误的概率记为</a:t>
                  </a:r>
                  <a14:m>
                    <m:oMath xmlns:m="http://schemas.openxmlformats.org/officeDocument/2006/math">
                      <m:r>
                        <a:rPr lang="zh-CN" altLang="en-US" sz="1600" i="1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a14:m>
                  <a:r>
                    <a:rPr lang="en-US" altLang="zh-CN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.</a:t>
                  </a:r>
                  <a:endPara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960F465C-DDF8-828D-7A53-3851FEF6E7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5029" y="2321993"/>
                  <a:ext cx="7905345" cy="338554"/>
                </a:xfrm>
                <a:prstGeom prst="rect">
                  <a:avLst/>
                </a:prstGeom>
                <a:blipFill>
                  <a:blip r:embed="rId4"/>
                  <a:stretch>
                    <a:fillRect l="-463" t="-7273" b="-218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6EE4BEA-3E64-A7BD-52BA-850524FA4D0D}"/>
                  </a:ext>
                </a:extLst>
              </p:cNvPr>
              <p:cNvSpPr txBox="1"/>
              <p:nvPr/>
            </p:nvSpPr>
            <p:spPr>
              <a:xfrm>
                <a:off x="507460" y="2670197"/>
                <a:ext cx="8864330" cy="4292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1600">
                    <a:latin typeface="方正小标宋简体" panose="02000000000000000000" pitchFamily="2" charset="-122"/>
                    <a:ea typeface="方正小标宋简体" panose="02000000000000000000" pitchFamily="2" charset="-122"/>
                  </a:defRPr>
                </a:lvl1pPr>
              </a:lstStyle>
              <a:p>
                <a:r>
                  <a:rPr lang="zh-CN" altLang="en-US" dirty="0"/>
                  <a:t>在不增大样本容量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的情况下，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/>
                  <a:t>越小，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dirty="0"/>
                  <a:t>必然越大。若想使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/>
                  <a:t>与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dirty="0"/>
                  <a:t>同时减小，只能增大样本容量。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6EE4BEA-3E64-A7BD-52BA-850524FA4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2670197"/>
                <a:ext cx="8864330" cy="429285"/>
              </a:xfrm>
              <a:prstGeom prst="rect">
                <a:avLst/>
              </a:prstGeom>
              <a:blipFill>
                <a:blip r:embed="rId5"/>
                <a:stretch>
                  <a:fillRect l="-344" b="-1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D022134-BF0D-2043-56D7-3D149EF43A8B}"/>
                  </a:ext>
                </a:extLst>
              </p:cNvPr>
              <p:cNvSpPr txBox="1"/>
              <p:nvPr/>
            </p:nvSpPr>
            <p:spPr>
              <a:xfrm>
                <a:off x="507460" y="3763587"/>
                <a:ext cx="1110817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根据实际问题的需要，假设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的接受域可以在拒绝域两边，称作双侧检验；也可以在拒绝域的一侧，称作单侧检验。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D022134-BF0D-2043-56D7-3D149EF43A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3763587"/>
                <a:ext cx="11108176" cy="430887"/>
              </a:xfrm>
              <a:prstGeom prst="rect">
                <a:avLst/>
              </a:prstGeom>
              <a:blipFill>
                <a:blip r:embed="rId6"/>
                <a:stretch>
                  <a:fillRect l="-274" b="-169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1EE40365-B74F-ABD2-AA8F-D32BD18780D4}"/>
              </a:ext>
            </a:extLst>
          </p:cNvPr>
          <p:cNvCxnSpPr>
            <a:cxnSpLocks/>
          </p:cNvCxnSpPr>
          <p:nvPr/>
        </p:nvCxnSpPr>
        <p:spPr>
          <a:xfrm>
            <a:off x="511212" y="3445121"/>
            <a:ext cx="11035518" cy="0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ECE8F3E-82E0-4C3B-CEA7-269F040220B8}"/>
              </a:ext>
            </a:extLst>
          </p:cNvPr>
          <p:cNvGrpSpPr/>
          <p:nvPr/>
        </p:nvGrpSpPr>
        <p:grpSpPr>
          <a:xfrm>
            <a:off x="1561289" y="4284817"/>
            <a:ext cx="4403387" cy="677108"/>
            <a:chOff x="1561289" y="4284817"/>
            <a:chExt cx="4403387" cy="677108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E2CB6781-EDE2-9322-BF1F-B52F45902B0F}"/>
                </a:ext>
              </a:extLst>
            </p:cNvPr>
            <p:cNvSpPr txBox="1"/>
            <p:nvPr/>
          </p:nvSpPr>
          <p:spPr>
            <a:xfrm>
              <a:off x="3035029" y="4284817"/>
              <a:ext cx="145590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accent6"/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双侧检验</a:t>
              </a:r>
              <a:endParaRPr lang="zh-CN" altLang="en-US" sz="1600" dirty="0">
                <a:solidFill>
                  <a:schemeClr val="accent6"/>
                </a:solidFill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870795B1-E193-DCE0-5394-84334C3A5801}"/>
                    </a:ext>
                  </a:extLst>
                </p:cNvPr>
                <p:cNvSpPr txBox="1"/>
                <p:nvPr/>
              </p:nvSpPr>
              <p:spPr>
                <a:xfrm>
                  <a:off x="1561289" y="4623371"/>
                  <a:ext cx="440338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如：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；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endPara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870795B1-E193-DCE0-5394-84334C3A58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1289" y="4623371"/>
                  <a:ext cx="4403387" cy="338554"/>
                </a:xfrm>
                <a:prstGeom prst="rect">
                  <a:avLst/>
                </a:prstGeom>
                <a:blipFill>
                  <a:blip r:embed="rId7"/>
                  <a:stretch>
                    <a:fillRect t="-7143" b="-196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69A03CAD-C7BA-2597-E963-F7C7F0397D24}"/>
              </a:ext>
            </a:extLst>
          </p:cNvPr>
          <p:cNvGrpSpPr/>
          <p:nvPr/>
        </p:nvGrpSpPr>
        <p:grpSpPr>
          <a:xfrm>
            <a:off x="6227324" y="4297117"/>
            <a:ext cx="4403387" cy="664808"/>
            <a:chOff x="6227324" y="4297117"/>
            <a:chExt cx="4403387" cy="664808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C9055D19-ED28-942F-713E-BF578F623B00}"/>
                </a:ext>
              </a:extLst>
            </p:cNvPr>
            <p:cNvSpPr txBox="1"/>
            <p:nvPr/>
          </p:nvSpPr>
          <p:spPr>
            <a:xfrm>
              <a:off x="7701065" y="4297117"/>
              <a:ext cx="145590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accent6"/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单侧检验</a:t>
              </a:r>
              <a:endParaRPr lang="zh-CN" altLang="en-US" sz="1600" dirty="0">
                <a:solidFill>
                  <a:schemeClr val="accent6"/>
                </a:solidFill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82DF447B-7172-A0FE-6BA5-B8D5593FFF45}"/>
                    </a:ext>
                  </a:extLst>
                </p:cNvPr>
                <p:cNvSpPr txBox="1"/>
                <p:nvPr/>
              </p:nvSpPr>
              <p:spPr>
                <a:xfrm>
                  <a:off x="6227324" y="4623371"/>
                  <a:ext cx="440338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如：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；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endPara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82DF447B-7172-A0FE-6BA5-B8D5593FFF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27324" y="4623371"/>
                  <a:ext cx="4403387" cy="338554"/>
                </a:xfrm>
                <a:prstGeom prst="rect">
                  <a:avLst/>
                </a:prstGeom>
                <a:blipFill>
                  <a:blip r:embed="rId8"/>
                  <a:stretch>
                    <a:fillRect t="-7143" b="-196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3339745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F8EA2AA-3607-76BF-CED9-450E9DC65B0B}"/>
              </a:ext>
            </a:extLst>
          </p:cNvPr>
          <p:cNvSpPr txBox="1"/>
          <p:nvPr/>
        </p:nvSpPr>
        <p:spPr>
          <a:xfrm>
            <a:off x="507460" y="1425186"/>
            <a:ext cx="111081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针对 </a:t>
            </a:r>
            <a:r>
              <a:rPr lang="zh-CN" altLang="en-US" sz="1600" u="sng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正态总体的参数假设</a:t>
            </a: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，可以按照下表 进行假设检验：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CA67E99-AAB0-E3BF-79F5-195C055ABB25}"/>
              </a:ext>
            </a:extLst>
          </p:cNvPr>
          <p:cNvSpPr txBox="1"/>
          <p:nvPr/>
        </p:nvSpPr>
        <p:spPr>
          <a:xfrm>
            <a:off x="507461" y="496110"/>
            <a:ext cx="44174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正态总体参数的假设检验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A3E8877-77C2-C905-B6FE-068A918E81CF}"/>
              </a:ext>
            </a:extLst>
          </p:cNvPr>
          <p:cNvSpPr txBox="1"/>
          <p:nvPr/>
        </p:nvSpPr>
        <p:spPr>
          <a:xfrm>
            <a:off x="4924927" y="775742"/>
            <a:ext cx="11742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检验方法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表格 10">
                <a:extLst>
                  <a:ext uri="{FF2B5EF4-FFF2-40B4-BE49-F238E27FC236}">
                    <a16:creationId xmlns:a16="http://schemas.microsoft.com/office/drawing/2014/main" id="{4AC2B390-DF34-E790-BE84-929E542BF4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5332613"/>
                  </p:ext>
                </p:extLst>
              </p:nvPr>
            </p:nvGraphicFramePr>
            <p:xfrm>
              <a:off x="576364" y="2003018"/>
              <a:ext cx="11039271" cy="4088003"/>
            </p:xfrm>
            <a:graphic>
              <a:graphicData uri="http://schemas.openxmlformats.org/drawingml/2006/table">
                <a:tbl>
                  <a:tblPr>
                    <a:tableStyleId>{7DF18680-E054-41AD-8BC1-D1AEF772440D}</a:tableStyleId>
                  </a:tblPr>
                  <a:tblGrid>
                    <a:gridCol w="976386">
                      <a:extLst>
                        <a:ext uri="{9D8B030D-6E8A-4147-A177-3AD203B41FA5}">
                          <a16:colId xmlns:a16="http://schemas.microsoft.com/office/drawing/2014/main" val="2934686149"/>
                        </a:ext>
                      </a:extLst>
                    </a:gridCol>
                    <a:gridCol w="976386">
                      <a:extLst>
                        <a:ext uri="{9D8B030D-6E8A-4147-A177-3AD203B41FA5}">
                          <a16:colId xmlns:a16="http://schemas.microsoft.com/office/drawing/2014/main" val="2990423203"/>
                        </a:ext>
                      </a:extLst>
                    </a:gridCol>
                    <a:gridCol w="897974">
                      <a:extLst>
                        <a:ext uri="{9D8B030D-6E8A-4147-A177-3AD203B41FA5}">
                          <a16:colId xmlns:a16="http://schemas.microsoft.com/office/drawing/2014/main" val="920957707"/>
                        </a:ext>
                      </a:extLst>
                    </a:gridCol>
                    <a:gridCol w="3026740">
                      <a:extLst>
                        <a:ext uri="{9D8B030D-6E8A-4147-A177-3AD203B41FA5}">
                          <a16:colId xmlns:a16="http://schemas.microsoft.com/office/drawing/2014/main" val="1878881520"/>
                        </a:ext>
                      </a:extLst>
                    </a:gridCol>
                    <a:gridCol w="5161785">
                      <a:extLst>
                        <a:ext uri="{9D8B030D-6E8A-4147-A177-3AD203B41FA5}">
                          <a16:colId xmlns:a16="http://schemas.microsoft.com/office/drawing/2014/main" val="1043595873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dirty="0">
                              <a:solidFill>
                                <a:schemeClr val="bg1"/>
                              </a:solidFill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统计假设</a:t>
                          </a:r>
                        </a:p>
                      </a:txBody>
                      <a:tcPr anchor="ctr">
                        <a:solidFill>
                          <a:schemeClr val="accent5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dirty="0">
                              <a:solidFill>
                                <a:schemeClr val="bg1"/>
                              </a:solidFill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条件</a:t>
                          </a:r>
                        </a:p>
                      </a:txBody>
                      <a:tcPr anchor="ctr">
                        <a:lnB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600" b="0" dirty="0">
                              <a:solidFill>
                                <a:schemeClr val="bg1"/>
                              </a:solidFill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构造的统计量及其分布</a:t>
                          </a:r>
                        </a:p>
                      </a:txBody>
                      <a:tcPr anchor="ctr">
                        <a:lnB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dirty="0">
                              <a:solidFill>
                                <a:schemeClr val="bg1"/>
                              </a:solidFill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拒绝域</a:t>
                          </a:r>
                        </a:p>
                      </a:txBody>
                      <a:tcPr anchor="ctr">
                        <a:lnB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21502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bg1"/>
                            </a:solidFill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</a:txBody>
                      <a:tcPr anchor="ctr">
                        <a:lnB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bg1"/>
                            </a:solidFill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</a:txBody>
                      <a:tcPr anchor="ctr">
                        <a:lnB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73879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zh-CN" altLang="en-US" sz="160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zh-CN" altLang="en-US" sz="160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altLang="zh-CN" sz="160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CN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  <a:p>
                          <a:pPr algn="ctr"/>
                          <a:r>
                            <a:rPr lang="zh-CN" altLang="en-US" sz="16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已知</a:t>
                          </a:r>
                        </a:p>
                      </a:txBody>
                      <a:tcPr anchor="ctr">
                        <a:lnT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̅"/>
                                        <m:ctrlPr>
                                          <a:rPr lang="zh-CN" altLang="en-US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zh-CN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rad>
                                  </m:den>
                                </m:f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~ 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(0,1)</m:t>
                                </m:r>
                              </m:oMath>
                            </m:oMathPara>
                          </a14:m>
                          <a:endParaRPr lang="zh-CN" altLang="en-US" sz="1600" b="0" i="1" dirty="0">
                            <a:solidFill>
                              <a:schemeClr val="tx1"/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0" dirty="0">
                              <a:ea typeface="楷体" panose="02010609060101010101" pitchFamily="49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|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𝑢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|≥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𝛼</m:t>
                                  </m:r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/2</m:t>
                                  </m:r>
                                </m:sub>
                              </m:sSub>
                            </m:oMath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53325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zh-CN" altLang="en-US" sz="160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zh-CN" altLang="en-US" sz="160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0" dirty="0">
                              <a:ea typeface="楷体" panose="02010609060101010101" pitchFamily="49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𝑢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𝛼</m:t>
                                  </m:r>
                                </m:sub>
                              </m:sSub>
                            </m:oMath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369909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zh-CN" altLang="en-US" sz="160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zh-CN" altLang="en-US" sz="160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b="0" dirty="0">
                              <a:ea typeface="楷体" panose="02010609060101010101" pitchFamily="49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𝑢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≤−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𝛼</m:t>
                                  </m:r>
                                </m:sub>
                              </m:sSub>
                            </m:oMath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789114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zh-CN" altLang="en-US" sz="160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zh-CN" altLang="en-US" sz="160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altLang="zh-CN" sz="160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CN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  <a:p>
                          <a:pPr algn="ctr"/>
                          <a:r>
                            <a:rPr lang="zh-CN" altLang="en-US" sz="16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未知</a:t>
                          </a: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̅"/>
                                        <m:ctrlPr>
                                          <a:rPr lang="zh-CN" altLang="en-US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6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  <m:r>
                                      <a:rPr lang="en-US" altLang="zh-CN" sz="16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16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num>
                                  <m:den>
                                    <m:sSubSup>
                                      <m:sSubSupPr>
                                        <m:ctrlP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16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  <m:sup>
                                        <m:r>
                                          <a:rPr lang="en-US" altLang="zh-CN" sz="16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  <m:r>
                                      <a:rPr lang="en-US" altLang="zh-CN" sz="16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16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rad>
                                  </m:den>
                                </m:f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~  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−1)</m:t>
                                </m:r>
                              </m:oMath>
                            </m:oMathPara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b="0" dirty="0">
                              <a:ea typeface="楷体" panose="02010609060101010101" pitchFamily="49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|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𝑡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|≥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𝛼</m:t>
                                  </m:r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/2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(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𝑛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−1)</m:t>
                              </m:r>
                            </m:oMath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75301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zh-CN" altLang="en-US" sz="160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zh-CN" altLang="en-US" sz="160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0" dirty="0">
                              <a:ea typeface="楷体" panose="02010609060101010101" pitchFamily="49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𝑡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𝛼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(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𝑛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−1)</m:t>
                              </m:r>
                            </m:oMath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442130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zh-CN" altLang="en-US" sz="160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zh-CN" altLang="en-US" sz="160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b="0" dirty="0">
                              <a:ea typeface="楷体" panose="02010609060101010101" pitchFamily="49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𝑡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≤−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𝛼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(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𝑛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−1)</m:t>
                              </m:r>
                            </m:oMath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91584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Sup>
                                  <m:sSub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160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60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</m:t>
                                </m:r>
                                <m:sSubSup>
                                  <m:sSubSupPr>
                                    <m:ctrlP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16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n-US" altLang="zh-CN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  <a:p>
                          <a:pPr algn="ctr"/>
                          <a:r>
                            <a:rPr lang="zh-CN" altLang="en-US" sz="16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未知</a:t>
                          </a: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𝜒</m:t>
                                    </m:r>
                                  </m:e>
                                  <m:sup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num>
                                  <m:den>
                                    <m:sSubSup>
                                      <m:sSubSupPr>
                                        <m:ctrlP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zh-CN" altLang="en-US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  <m:sup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Sup>
                                      <m:sSubSupPr>
                                        <m:ctrlP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  <m:sup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e>
                                  <m:sup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~ </m:t>
                                </m:r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𝜒</m:t>
                                    </m:r>
                                  </m:e>
                                  <m:sup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−1)</m:t>
                                </m:r>
                              </m:oMath>
                            </m:oMathPara>
                          </a14:m>
                          <a:endParaRPr lang="zh-CN" altLang="en-US" sz="1600" b="0" i="1" dirty="0">
                            <a:solidFill>
                              <a:schemeClr val="tx1"/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p>
                                  <m: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≥</m:t>
                              </m:r>
                              <m:sSubSup>
                                <m:sSubSup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𝛼</m:t>
                                  </m:r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/2</m:t>
                                  </m:r>
                                </m:sub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(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𝑛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−1)</m:t>
                              </m:r>
                            </m:oMath>
                          </a14:m>
                          <a:r>
                            <a:rPr lang="zh-CN" altLang="en-US" sz="16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 或 </a:t>
                          </a:r>
                          <a:r>
                            <a:rPr lang="en-US" altLang="zh-CN" sz="16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p>
                                  <m: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≤</m:t>
                              </m:r>
                              <m:sSubSup>
                                <m:sSubSup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1−</m:t>
                                  </m:r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𝛼</m:t>
                                  </m:r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/2</m:t>
                                  </m:r>
                                </m:sub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(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𝑛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−1)</m:t>
                              </m:r>
                            </m:oMath>
                          </a14:m>
                          <a:r>
                            <a:rPr lang="zh-CN" altLang="en-US" sz="16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 </a:t>
                          </a: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71713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sSubSup>
                                  <m:sSub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160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sSubSup>
                                  <m:sSubSupPr>
                                    <m:ctrlP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p>
                                  <m: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≥</m:t>
                              </m:r>
                              <m:sSubSup>
                                <m:sSubSup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𝛼</m:t>
                                  </m:r>
                                </m:sub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(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𝑛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−1)</m:t>
                              </m:r>
                            </m:oMath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307510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sSubSup>
                                  <m:sSub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160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Sup>
                                  <m:sSubSupPr>
                                    <m:ctrlP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p>
                                  <m: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≤</m:t>
                              </m:r>
                              <m:sSubSup>
                                <m:sSubSup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1−</m:t>
                                  </m:r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𝛼</m:t>
                                  </m:r>
                                </m:sub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(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𝑛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−1)</m:t>
                              </m:r>
                            </m:oMath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126733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表格 10">
                <a:extLst>
                  <a:ext uri="{FF2B5EF4-FFF2-40B4-BE49-F238E27FC236}">
                    <a16:creationId xmlns:a16="http://schemas.microsoft.com/office/drawing/2014/main" id="{4AC2B390-DF34-E790-BE84-929E542BF4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5332613"/>
                  </p:ext>
                </p:extLst>
              </p:nvPr>
            </p:nvGraphicFramePr>
            <p:xfrm>
              <a:off x="576364" y="2003018"/>
              <a:ext cx="11039271" cy="4088003"/>
            </p:xfrm>
            <a:graphic>
              <a:graphicData uri="http://schemas.openxmlformats.org/drawingml/2006/table">
                <a:tbl>
                  <a:tblPr>
                    <a:tableStyleId>{7DF18680-E054-41AD-8BC1-D1AEF772440D}</a:tableStyleId>
                  </a:tblPr>
                  <a:tblGrid>
                    <a:gridCol w="976386">
                      <a:extLst>
                        <a:ext uri="{9D8B030D-6E8A-4147-A177-3AD203B41FA5}">
                          <a16:colId xmlns:a16="http://schemas.microsoft.com/office/drawing/2014/main" val="2934686149"/>
                        </a:ext>
                      </a:extLst>
                    </a:gridCol>
                    <a:gridCol w="976386">
                      <a:extLst>
                        <a:ext uri="{9D8B030D-6E8A-4147-A177-3AD203B41FA5}">
                          <a16:colId xmlns:a16="http://schemas.microsoft.com/office/drawing/2014/main" val="2990423203"/>
                        </a:ext>
                      </a:extLst>
                    </a:gridCol>
                    <a:gridCol w="897974">
                      <a:extLst>
                        <a:ext uri="{9D8B030D-6E8A-4147-A177-3AD203B41FA5}">
                          <a16:colId xmlns:a16="http://schemas.microsoft.com/office/drawing/2014/main" val="920957707"/>
                        </a:ext>
                      </a:extLst>
                    </a:gridCol>
                    <a:gridCol w="3026740">
                      <a:extLst>
                        <a:ext uri="{9D8B030D-6E8A-4147-A177-3AD203B41FA5}">
                          <a16:colId xmlns:a16="http://schemas.microsoft.com/office/drawing/2014/main" val="1878881520"/>
                        </a:ext>
                      </a:extLst>
                    </a:gridCol>
                    <a:gridCol w="5161785">
                      <a:extLst>
                        <a:ext uri="{9D8B030D-6E8A-4147-A177-3AD203B41FA5}">
                          <a16:colId xmlns:a16="http://schemas.microsoft.com/office/drawing/2014/main" val="1043595873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dirty="0">
                              <a:solidFill>
                                <a:schemeClr val="bg1"/>
                              </a:solidFill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统计假设</a:t>
                          </a:r>
                        </a:p>
                      </a:txBody>
                      <a:tcPr anchor="ctr">
                        <a:solidFill>
                          <a:schemeClr val="accent5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dirty="0">
                              <a:solidFill>
                                <a:schemeClr val="bg1"/>
                              </a:solidFill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条件</a:t>
                          </a:r>
                        </a:p>
                      </a:txBody>
                      <a:tcPr anchor="ctr">
                        <a:lnB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600" b="0" dirty="0">
                              <a:solidFill>
                                <a:schemeClr val="bg1"/>
                              </a:solidFill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构造的统计量及其分布</a:t>
                          </a:r>
                        </a:p>
                      </a:txBody>
                      <a:tcPr anchor="ctr">
                        <a:lnB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dirty="0">
                              <a:solidFill>
                                <a:schemeClr val="bg1"/>
                              </a:solidFill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拒绝域</a:t>
                          </a:r>
                        </a:p>
                      </a:txBody>
                      <a:tcPr anchor="ctr">
                        <a:lnB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21502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25" t="-101639" r="-1036250" b="-9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01639" r="-929814" b="-906557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73879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625" t="-201639" r="-1036250" b="-8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100000" t="-201639" r="-929814" b="-806557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19048" t="-67213" r="-918367" b="-202186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4366" t="-67213" r="-171630" b="-2021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114050" t="-201639" r="-708" b="-8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53325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25" t="-301639" r="-1036250" b="-7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00" t="-301639" r="-929814" b="-706557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4050" t="-301639" r="-708" b="-7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69909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25" t="-401639" r="-1036250" b="-6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401639" r="-929814" b="-606557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4050" t="-401639" r="-708" b="-6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89114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625" t="-501639" r="-1036250" b="-5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100000" t="-501639" r="-929814" b="-506557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19048" t="-167213" r="-918367" b="-102186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4366" t="-167213" r="-171630" b="-1021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114050" t="-501639" r="-708" b="-5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75301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25" t="-601639" r="-1036250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00" t="-601639" r="-929814" b="-406557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4050" t="-601639" r="-708" b="-4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42130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25" t="-701639" r="-1036250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701639" r="-929814" b="-306557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4050" t="-701639" r="-708" b="-3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158437"/>
                      </a:ext>
                    </a:extLst>
                  </a:tr>
                  <a:tr h="37960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625" t="-788710" r="-1036250" b="-2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100000" t="-788710" r="-929814" b="-201613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219048" t="-265761" r="-918367" b="-1630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94366" t="-265761" r="-171630" b="-16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114050" t="-788710" r="-708" b="-2016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71713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25" t="-903279" r="-1036250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00" t="-903279" r="-929814" b="-104918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4050" t="-903279" r="-708" b="-1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07510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25" t="-1003279" r="-1036250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00" t="-1003279" r="-929814" b="-4918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4050" t="-1003279" r="-708" b="-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26733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4524FE5-E24E-94D0-628B-5011E1513469}"/>
                  </a:ext>
                </a:extLst>
              </p:cNvPr>
              <p:cNvSpPr txBox="1"/>
              <p:nvPr/>
            </p:nvSpPr>
            <p:spPr>
              <a:xfrm>
                <a:off x="10252553" y="1640348"/>
                <a:ext cx="136308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16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CN" sz="16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CN" sz="16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l-GR" altLang="zh-CN" sz="16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altLang="zh-CN" sz="16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6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600" i="1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4524FE5-E24E-94D0-628B-5011E15134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2553" y="1640348"/>
                <a:ext cx="1363082" cy="338554"/>
              </a:xfrm>
              <a:prstGeom prst="rect">
                <a:avLst/>
              </a:prstGeom>
              <a:blipFill>
                <a:blip r:embed="rId4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937649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F8EA2AA-3607-76BF-CED9-450E9DC65B0B}"/>
              </a:ext>
            </a:extLst>
          </p:cNvPr>
          <p:cNvSpPr txBox="1"/>
          <p:nvPr/>
        </p:nvSpPr>
        <p:spPr>
          <a:xfrm>
            <a:off x="507460" y="1425186"/>
            <a:ext cx="111081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针对 </a:t>
            </a:r>
            <a:r>
              <a:rPr lang="zh-CN" altLang="en-US" sz="1600" u="sng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正态总体的参数假设</a:t>
            </a: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，可以按照下表 进行假设检验：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CA67E99-AAB0-E3BF-79F5-195C055ABB25}"/>
              </a:ext>
            </a:extLst>
          </p:cNvPr>
          <p:cNvSpPr txBox="1"/>
          <p:nvPr/>
        </p:nvSpPr>
        <p:spPr>
          <a:xfrm>
            <a:off x="507461" y="496110"/>
            <a:ext cx="44174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正态总体参数的假设检验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A3E8877-77C2-C905-B6FE-068A918E81CF}"/>
              </a:ext>
            </a:extLst>
          </p:cNvPr>
          <p:cNvSpPr txBox="1"/>
          <p:nvPr/>
        </p:nvSpPr>
        <p:spPr>
          <a:xfrm>
            <a:off x="4924927" y="775742"/>
            <a:ext cx="11742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检验方法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表格 10">
                <a:extLst>
                  <a:ext uri="{FF2B5EF4-FFF2-40B4-BE49-F238E27FC236}">
                    <a16:creationId xmlns:a16="http://schemas.microsoft.com/office/drawing/2014/main" id="{4AC2B390-DF34-E790-BE84-929E542BF4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0943262"/>
                  </p:ext>
                </p:extLst>
              </p:nvPr>
            </p:nvGraphicFramePr>
            <p:xfrm>
              <a:off x="576364" y="2003019"/>
              <a:ext cx="11039272" cy="4138072"/>
            </p:xfrm>
            <a:graphic>
              <a:graphicData uri="http://schemas.openxmlformats.org/drawingml/2006/table">
                <a:tbl>
                  <a:tblPr>
                    <a:tableStyleId>{7DF18680-E054-41AD-8BC1-D1AEF772440D}</a:tableStyleId>
                  </a:tblPr>
                  <a:tblGrid>
                    <a:gridCol w="970681">
                      <a:extLst>
                        <a:ext uri="{9D8B030D-6E8A-4147-A177-3AD203B41FA5}">
                          <a16:colId xmlns:a16="http://schemas.microsoft.com/office/drawing/2014/main" val="2934686149"/>
                        </a:ext>
                      </a:extLst>
                    </a:gridCol>
                    <a:gridCol w="970681">
                      <a:extLst>
                        <a:ext uri="{9D8B030D-6E8A-4147-A177-3AD203B41FA5}">
                          <a16:colId xmlns:a16="http://schemas.microsoft.com/office/drawing/2014/main" val="2990423203"/>
                        </a:ext>
                      </a:extLst>
                    </a:gridCol>
                    <a:gridCol w="1177908">
                      <a:extLst>
                        <a:ext uri="{9D8B030D-6E8A-4147-A177-3AD203B41FA5}">
                          <a16:colId xmlns:a16="http://schemas.microsoft.com/office/drawing/2014/main" val="920957707"/>
                        </a:ext>
                      </a:extLst>
                    </a:gridCol>
                    <a:gridCol w="3692265">
                      <a:extLst>
                        <a:ext uri="{9D8B030D-6E8A-4147-A177-3AD203B41FA5}">
                          <a16:colId xmlns:a16="http://schemas.microsoft.com/office/drawing/2014/main" val="1878881520"/>
                        </a:ext>
                      </a:extLst>
                    </a:gridCol>
                    <a:gridCol w="4227737">
                      <a:extLst>
                        <a:ext uri="{9D8B030D-6E8A-4147-A177-3AD203B41FA5}">
                          <a16:colId xmlns:a16="http://schemas.microsoft.com/office/drawing/2014/main" val="1043595873"/>
                        </a:ext>
                      </a:extLst>
                    </a:gridCol>
                  </a:tblGrid>
                  <a:tr h="335376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dirty="0">
                              <a:solidFill>
                                <a:schemeClr val="bg1"/>
                              </a:solidFill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统计假设</a:t>
                          </a:r>
                        </a:p>
                      </a:txBody>
                      <a:tcPr anchor="ctr">
                        <a:solidFill>
                          <a:schemeClr val="accent5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dirty="0">
                              <a:solidFill>
                                <a:schemeClr val="bg1"/>
                              </a:solidFill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条件</a:t>
                          </a:r>
                        </a:p>
                      </a:txBody>
                      <a:tcPr anchor="ctr">
                        <a:lnB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600" b="0" dirty="0">
                              <a:solidFill>
                                <a:schemeClr val="bg1"/>
                              </a:solidFill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构造的统计量及其分布</a:t>
                          </a:r>
                        </a:p>
                      </a:txBody>
                      <a:tcPr anchor="ctr">
                        <a:lnB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dirty="0">
                              <a:solidFill>
                                <a:schemeClr val="bg1"/>
                              </a:solidFill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拒绝域</a:t>
                          </a:r>
                        </a:p>
                      </a:txBody>
                      <a:tcPr anchor="ctr">
                        <a:lnB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2150205"/>
                      </a:ext>
                    </a:extLst>
                  </a:tr>
                  <a:tr h="36722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bg1"/>
                            </a:solidFill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</a:txBody>
                      <a:tcPr anchor="ctr">
                        <a:lnB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bg1"/>
                            </a:solidFill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</a:txBody>
                      <a:tcPr anchor="ctr">
                        <a:lnB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7387934"/>
                      </a:ext>
                    </a:extLst>
                  </a:tr>
                  <a:tr h="3687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60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0" dirty="0"/>
                            <a:t>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60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60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oMath>
                          </a14:m>
                          <a:endParaRPr lang="en-US" altLang="zh-CN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  <a:p>
                          <a:pPr algn="ctr"/>
                          <a:r>
                            <a:rPr lang="zh-CN" altLang="en-US" sz="16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已知</a:t>
                          </a:r>
                        </a:p>
                      </a:txBody>
                      <a:tcPr anchor="ctr">
                        <a:lnT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̅"/>
                                        <m:ctrlPr>
                                          <a:rPr lang="zh-CN" altLang="en-US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zh-CN" altLang="en-US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acc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bSup>
                                          <m:sSubSupPr>
                                            <m:ctrlP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zh-CN" altLang="en-US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/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Sup>
                                          <m:sSubSupPr>
                                            <m:ctrlP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zh-CN" altLang="en-US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/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rad>
                                  </m:den>
                                </m:f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~ 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(0,1)</m:t>
                                </m:r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0" dirty="0">
                              <a:ea typeface="楷体" panose="02010609060101010101" pitchFamily="49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|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𝑢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|≥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𝛼</m:t>
                                  </m:r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/2</m:t>
                                  </m:r>
                                </m:sub>
                              </m:sSub>
                            </m:oMath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5332593"/>
                      </a:ext>
                    </a:extLst>
                  </a:tr>
                  <a:tr h="36872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0" dirty="0">
                              <a:ea typeface="楷体" panose="02010609060101010101" pitchFamily="49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𝑢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𝛼</m:t>
                                  </m:r>
                                </m:sub>
                              </m:sSub>
                            </m:oMath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36990910"/>
                      </a:ext>
                    </a:extLst>
                  </a:tr>
                  <a:tr h="36872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b="0" dirty="0">
                              <a:ea typeface="楷体" panose="02010609060101010101" pitchFamily="49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𝑢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≤−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𝛼</m:t>
                                  </m:r>
                                </m:sub>
                              </m:sSub>
                            </m:oMath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78911419"/>
                      </a:ext>
                    </a:extLst>
                  </a:tr>
                  <a:tr h="3687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60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0" dirty="0"/>
                            <a:t>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60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60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oMath>
                          </a14:m>
                          <a:endParaRPr lang="en-US" altLang="zh-CN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  <a:p>
                          <a:pPr algn="ctr"/>
                          <a:r>
                            <a:rPr lang="zh-CN" altLang="en-US" sz="16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未知</a:t>
                          </a:r>
                          <a:endParaRPr lang="en-US" altLang="zh-CN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  <a:p>
                          <a:pPr algn="ctr"/>
                          <a:r>
                            <a:rPr lang="zh-CN" altLang="en-US" sz="16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但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60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Sup>
                                <m:sSubSup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60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oMath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̅"/>
                                        <m:ctrlPr>
                                          <a:rPr lang="zh-CN" altLang="en-US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zh-CN" altLang="en-US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acc>
                                  </m:num>
                                  <m:den>
                                    <m:sSubSup>
                                      <m:sSubSupPr>
                                        <m:ctrlP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sub>
                                      <m:sup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1/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+1/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rad>
                                  </m:den>
                                </m:f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~  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−2)</m:t>
                                </m:r>
                              </m:oMath>
                            </m:oMathPara>
                          </a14:m>
                          <a:endParaRPr lang="en-US" altLang="zh-CN" sz="1600" b="0" dirty="0">
                            <a:solidFill>
                              <a:schemeClr val="tx1"/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其中</m:t>
                                </m:r>
                                <m:sSubSup>
                                  <m:sSubSup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  <m:sup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altLang="zh-CN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d>
                                          <m:dPr>
                                            <m:ctrlPr>
                                              <a:rPr lang="en-US" altLang="zh-CN" sz="1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12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2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2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CN" sz="1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e>
                                        </m:d>
                                        <m:sSup>
                                          <m:sSupPr>
                                            <m:ctrlPr>
                                              <a:rPr lang="en-US" altLang="zh-CN" sz="1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CN" sz="12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12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12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𝑆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12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𝑛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sub>
                                                <m:r>
                                                  <a:rPr lang="en-US" altLang="zh-CN" sz="12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altLang="zh-CN" sz="12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∗</m:t>
                                                </m:r>
                                              </m:sup>
                                            </m:sSubSup>
                                          </m:e>
                                          <m:sup>
                                            <m:r>
                                              <a:rPr lang="en-US" altLang="zh-CN" sz="1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en-US" altLang="zh-CN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CN" sz="1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12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2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2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CN" sz="1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e>
                                        </m:d>
                                        <m:sSup>
                                          <m:sSupPr>
                                            <m:ctrlPr>
                                              <a:rPr lang="en-US" altLang="zh-CN" sz="1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CN" sz="12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12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12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𝑆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12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𝑛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sub>
                                                <m:r>
                                                  <a:rPr lang="en-US" altLang="zh-CN" sz="12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altLang="zh-CN" sz="12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∗</m:t>
                                                </m:r>
                                              </m:sup>
                                            </m:sSubSup>
                                          </m:e>
                                          <m:sup>
                                            <m:r>
                                              <a:rPr lang="en-US" altLang="zh-CN" sz="1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zh-CN" sz="1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1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den>
                                    </m:f>
                                  </m:e>
                                </m:rad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b="0" dirty="0">
                              <a:ea typeface="楷体" panose="02010609060101010101" pitchFamily="49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|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𝑡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|≥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𝛼</m:t>
                                  </m:r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/2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)</m:t>
                              </m:r>
                            </m:oMath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7530143"/>
                      </a:ext>
                    </a:extLst>
                  </a:tr>
                  <a:tr h="36872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0" dirty="0">
                              <a:ea typeface="楷体" panose="02010609060101010101" pitchFamily="49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𝑡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𝛼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)</m:t>
                              </m:r>
                            </m:oMath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44213059"/>
                      </a:ext>
                    </a:extLst>
                  </a:tr>
                  <a:tr h="45870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b="0" dirty="0">
                              <a:ea typeface="楷体" panose="02010609060101010101" pitchFamily="49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𝑡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≤−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𝛼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)</m:t>
                              </m:r>
                            </m:oMath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9158437"/>
                      </a:ext>
                    </a:extLst>
                  </a:tr>
                  <a:tr h="36872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Sup>
                                  <m:sSub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Sup>
                                  <m:sSub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Sup>
                                  <m:sSubSupPr>
                                    <m:ctrlP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altLang="zh-CN" sz="160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</m:t>
                                </m:r>
                                <m:sSubSup>
                                  <m:sSubSupPr>
                                    <m:ctrlP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CN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  <a:p>
                          <a:pPr algn="ctr"/>
                          <a:r>
                            <a:rPr lang="zh-CN" altLang="en-US" sz="16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未知</a:t>
                          </a: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方正清刻本悦宋简体" panose="02000000000000000000" pitchFamily="2" charset="-122"/>
                                  </a:rPr>
                                  <m:t>𝐹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方正清刻本悦宋简体" panose="02000000000000000000" pitchFamily="2" charset="-122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Sup>
                                      <m:sSubSupPr>
                                        <m:ctrlP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</m:e>
                                      <m:sub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e>
                                  <m:sup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Sup>
                                      <m:sSubSupPr>
                                        <m:ctrlP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</m:e>
                                      <m:sub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e>
                                  <m:sup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方正清刻本悦宋简体" panose="02000000000000000000" pitchFamily="2" charset="-122"/>
                                  </a:rPr>
                                  <m:t>~ 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方正清刻本悦宋简体" panose="02000000000000000000" pitchFamily="2" charset="-122"/>
                                  </a:rPr>
                                  <m:t>𝐹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方正清刻本悦宋简体" panose="02000000000000000000" pitchFamily="2" charset="-122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方正清刻本悦宋简体" panose="02000000000000000000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方正清刻本悦宋简体" panose="02000000000000000000" pitchFamily="2" charset="-122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方正清刻本悦宋简体" panose="02000000000000000000" pitchFamily="2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方正清刻本悦宋简体" panose="02000000000000000000" pitchFamily="2" charset="-122"/>
                                  </a:rPr>
                                  <m:t>−1,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方正清刻本悦宋简体" panose="02000000000000000000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方正清刻本悦宋简体" panose="02000000000000000000" pitchFamily="2" charset="-122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方正清刻本悦宋简体" panose="02000000000000000000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方正清刻本悦宋简体" panose="02000000000000000000" pitchFamily="2" charset="-122"/>
                                  </a:rPr>
                                  <m:t>−1)</m:t>
                                </m:r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3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altLang="zh-CN" sz="13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US" altLang="zh-CN" sz="13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3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zh-CN" altLang="en-US" sz="13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𝛼</m:t>
                                  </m:r>
                                  <m:r>
                                    <a:rPr lang="en-US" altLang="zh-CN" sz="13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/2</m:t>
                                  </m:r>
                                </m:sub>
                              </m:sSub>
                              <m:r>
                                <a:rPr lang="en-US" altLang="zh-CN" sz="13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13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3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13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13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−1,</m:t>
                              </m:r>
                              <m:sSub>
                                <m:sSubPr>
                                  <m:ctrlPr>
                                    <a:rPr lang="en-US" altLang="zh-CN" sz="13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3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13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13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−1)</m:t>
                              </m:r>
                            </m:oMath>
                          </a14:m>
                          <a:r>
                            <a:rPr lang="zh-CN" altLang="en-US" sz="13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或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3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altLang="zh-CN" sz="13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altLang="zh-CN" sz="13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3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13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1−</m:t>
                                  </m:r>
                                  <m:r>
                                    <a:rPr lang="zh-CN" altLang="en-US" sz="13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𝛼</m:t>
                                  </m:r>
                                  <m:r>
                                    <a:rPr lang="en-US" altLang="zh-CN" sz="13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/2</m:t>
                                  </m:r>
                                </m:sub>
                              </m:sSub>
                              <m:r>
                                <a:rPr lang="en-US" altLang="zh-CN" sz="13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13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3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13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13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−1,</m:t>
                              </m:r>
                              <m:sSub>
                                <m:sSubPr>
                                  <m:ctrlPr>
                                    <a:rPr lang="en-US" altLang="zh-CN" sz="13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3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13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13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−1)</m:t>
                              </m:r>
                            </m:oMath>
                          </a14:m>
                          <a:endParaRPr lang="zh-CN" altLang="en-US" sz="13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7171303"/>
                      </a:ext>
                    </a:extLst>
                  </a:tr>
                  <a:tr h="3687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Sup>
                                  <m:sSub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sSubSup>
                                  <m:sSub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Sup>
                                  <m:sSubSupPr>
                                    <m:ctrlP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sSubSup>
                                  <m:sSubSupPr>
                                    <m:ctrlP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𝛼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−1,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−1)</m:t>
                              </m:r>
                            </m:oMath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30751009"/>
                      </a:ext>
                    </a:extLst>
                  </a:tr>
                  <a:tr h="3687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Sup>
                                  <m:sSub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sSubSup>
                                  <m:sSub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Sup>
                                  <m:sSubSupPr>
                                    <m:ctrlP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Sup>
                                  <m:sSubSupPr>
                                    <m:ctrlP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1−</m:t>
                                  </m:r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𝛼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−1,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−1)</m:t>
                              </m:r>
                            </m:oMath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126733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表格 10">
                <a:extLst>
                  <a:ext uri="{FF2B5EF4-FFF2-40B4-BE49-F238E27FC236}">
                    <a16:creationId xmlns:a16="http://schemas.microsoft.com/office/drawing/2014/main" id="{4AC2B390-DF34-E790-BE84-929E542BF4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80943262"/>
                  </p:ext>
                </p:extLst>
              </p:nvPr>
            </p:nvGraphicFramePr>
            <p:xfrm>
              <a:off x="576364" y="2003019"/>
              <a:ext cx="11039272" cy="4138072"/>
            </p:xfrm>
            <a:graphic>
              <a:graphicData uri="http://schemas.openxmlformats.org/drawingml/2006/table">
                <a:tbl>
                  <a:tblPr>
                    <a:tableStyleId>{7DF18680-E054-41AD-8BC1-D1AEF772440D}</a:tableStyleId>
                  </a:tblPr>
                  <a:tblGrid>
                    <a:gridCol w="970681">
                      <a:extLst>
                        <a:ext uri="{9D8B030D-6E8A-4147-A177-3AD203B41FA5}">
                          <a16:colId xmlns:a16="http://schemas.microsoft.com/office/drawing/2014/main" val="2934686149"/>
                        </a:ext>
                      </a:extLst>
                    </a:gridCol>
                    <a:gridCol w="970681">
                      <a:extLst>
                        <a:ext uri="{9D8B030D-6E8A-4147-A177-3AD203B41FA5}">
                          <a16:colId xmlns:a16="http://schemas.microsoft.com/office/drawing/2014/main" val="2990423203"/>
                        </a:ext>
                      </a:extLst>
                    </a:gridCol>
                    <a:gridCol w="1177908">
                      <a:extLst>
                        <a:ext uri="{9D8B030D-6E8A-4147-A177-3AD203B41FA5}">
                          <a16:colId xmlns:a16="http://schemas.microsoft.com/office/drawing/2014/main" val="920957707"/>
                        </a:ext>
                      </a:extLst>
                    </a:gridCol>
                    <a:gridCol w="3692265">
                      <a:extLst>
                        <a:ext uri="{9D8B030D-6E8A-4147-A177-3AD203B41FA5}">
                          <a16:colId xmlns:a16="http://schemas.microsoft.com/office/drawing/2014/main" val="1878881520"/>
                        </a:ext>
                      </a:extLst>
                    </a:gridCol>
                    <a:gridCol w="4227737">
                      <a:extLst>
                        <a:ext uri="{9D8B030D-6E8A-4147-A177-3AD203B41FA5}">
                          <a16:colId xmlns:a16="http://schemas.microsoft.com/office/drawing/2014/main" val="1043595873"/>
                        </a:ext>
                      </a:extLst>
                    </a:gridCol>
                  </a:tblGrid>
                  <a:tr h="335376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dirty="0">
                              <a:solidFill>
                                <a:schemeClr val="bg1"/>
                              </a:solidFill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统计假设</a:t>
                          </a:r>
                        </a:p>
                      </a:txBody>
                      <a:tcPr anchor="ctr">
                        <a:solidFill>
                          <a:schemeClr val="accent5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dirty="0">
                              <a:solidFill>
                                <a:schemeClr val="bg1"/>
                              </a:solidFill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条件</a:t>
                          </a:r>
                        </a:p>
                      </a:txBody>
                      <a:tcPr anchor="ctr">
                        <a:lnB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600" b="0" dirty="0">
                              <a:solidFill>
                                <a:schemeClr val="bg1"/>
                              </a:solidFill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构造的统计量及其分布</a:t>
                          </a:r>
                        </a:p>
                      </a:txBody>
                      <a:tcPr anchor="ctr">
                        <a:lnB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dirty="0">
                              <a:solidFill>
                                <a:schemeClr val="bg1"/>
                              </a:solidFill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拒绝域</a:t>
                          </a:r>
                        </a:p>
                      </a:txBody>
                      <a:tcPr anchor="ctr">
                        <a:lnB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2150205"/>
                      </a:ext>
                    </a:extLst>
                  </a:tr>
                  <a:tr h="36722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29" t="-95000" r="-1043396" b="-94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95000" r="-936875" b="-948333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7387934"/>
                      </a:ext>
                    </a:extLst>
                  </a:tr>
                  <a:tr h="36872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629" t="-191803" r="-1043396" b="-832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100000" t="-191803" r="-936875" b="-832787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5803" t="-64286" r="-676684" b="-212637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4653" t="-64286" r="-115512" b="-2126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161239" t="-191803" r="-865" b="-8327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5332593"/>
                      </a:ext>
                    </a:extLst>
                  </a:tr>
                  <a:tr h="36872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29" t="-291803" r="-1043396" b="-732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00" t="-291803" r="-936875" b="-732787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61239" t="-291803" r="-865" b="-7327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6990910"/>
                      </a:ext>
                    </a:extLst>
                  </a:tr>
                  <a:tr h="36872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29" t="-398333" r="-1043396" b="-64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398333" r="-936875" b="-645000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1239" t="-398333" r="-865" b="-64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8911419"/>
                      </a:ext>
                    </a:extLst>
                  </a:tr>
                  <a:tr h="36872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629" t="-490164" r="-1043396" b="-5344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100000" t="-490164" r="-936875" b="-534426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5803" t="-148756" r="-676684" b="-92537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4653" t="-148756" r="-115512" b="-925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161239" t="-490164" r="-865" b="-5344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7530143"/>
                      </a:ext>
                    </a:extLst>
                  </a:tr>
                  <a:tr h="36872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29" t="-600000" r="-1043396" b="-44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00" t="-600000" r="-936875" b="-443333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61239" t="-600000" r="-865" b="-44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4213059"/>
                      </a:ext>
                    </a:extLst>
                  </a:tr>
                  <a:tr h="48569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29" t="-525000" r="-1043396" b="-23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525000" r="-936875" b="-232500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1239" t="-525000" r="-865" b="-23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158437"/>
                      </a:ext>
                    </a:extLst>
                  </a:tr>
                  <a:tr h="36872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629" t="-819672" r="-1043396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100000" t="-819672" r="-936875" b="-204918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165803" t="-274725" r="-676684" b="-2198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84653" t="-274725" r="-115512" b="-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161239" t="-819672" r="-865" b="-2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7171303"/>
                      </a:ext>
                    </a:extLst>
                  </a:tr>
                  <a:tr h="36872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29" t="-935000" r="-1043396" b="-1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00" t="-935000" r="-936875" b="-108333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61239" t="-935000" r="-865" b="-10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0751009"/>
                      </a:ext>
                    </a:extLst>
                  </a:tr>
                  <a:tr h="36872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29" t="-1018033" r="-1043396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00" t="-1018033" r="-936875" b="-6557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61239" t="-1018033" r="-865" b="-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26733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3AD251B-45B0-C186-50C8-0A640510CB70}"/>
                  </a:ext>
                </a:extLst>
              </p:cNvPr>
              <p:cNvSpPr txBox="1"/>
              <p:nvPr/>
            </p:nvSpPr>
            <p:spPr>
              <a:xfrm>
                <a:off x="8060499" y="1609033"/>
                <a:ext cx="3555136" cy="370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6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sz="16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sz="16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altLang="zh-CN" sz="16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6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sz="16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16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altLang="zh-CN" sz="16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16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16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sz="16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sz="16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6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altLang="zh-CN" sz="16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6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sz="16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16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16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zh-CN" altLang="en-US" sz="1600" dirty="0">
                    <a:solidFill>
                      <a:schemeClr val="accent5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且相互独立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3AD251B-45B0-C186-50C8-0A640510CB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499" y="1609033"/>
                <a:ext cx="3555136" cy="370294"/>
              </a:xfrm>
              <a:prstGeom prst="rect">
                <a:avLst/>
              </a:prstGeom>
              <a:blipFill>
                <a:blip r:embed="rId4"/>
                <a:stretch>
                  <a:fillRect t="-3279"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8190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/>
              <p:nvPr/>
            </p:nvSpPr>
            <p:spPr>
              <a:xfrm>
                <a:off x="507460" y="1583936"/>
                <a:ext cx="11108176" cy="6713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1.1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：某厂生产一种钢索，其断裂强度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𝑁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zh-CN" altLang="en-US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𝜇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40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。从一批产品中抽测了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9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件，测得其平均断裂强度为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770 </m:t>
                    </m:r>
                    <m:r>
                      <m:rPr>
                        <m:sty m:val="p"/>
                      </m:rPr>
                      <a:rPr lang="en-US" altLang="zh-CN" sz="1600" b="0" i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M</m:t>
                    </m:r>
                    <m:r>
                      <m:rPr>
                        <m:sty m:val="p"/>
                      </m:rP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p</m:t>
                    </m:r>
                    <m:r>
                      <m:rPr>
                        <m:sty m:val="p"/>
                      </m:rPr>
                      <a:rPr lang="en-US" altLang="zh-CN" sz="1600" b="0" i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a</m:t>
                    </m:r>
                  </m:oMath>
                </a14:m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            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问：能否在显著性水平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𝛼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=0.05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下认为此厂生产的这种钢索断裂强度的期望为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𝜇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=800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M</m:t>
                    </m:r>
                    <m:r>
                      <m:rPr>
                        <m:sty m:val="p"/>
                      </m:rP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p</m:t>
                    </m:r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a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？（已知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𝑢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0.025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=1.96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）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583936"/>
                <a:ext cx="11108176" cy="671338"/>
              </a:xfrm>
              <a:prstGeom prst="rect">
                <a:avLst/>
              </a:prstGeom>
              <a:blipFill>
                <a:blip r:embed="rId3"/>
                <a:stretch>
                  <a:fillRect l="-274" t="-1818" b="-1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/>
              <p:nvPr/>
            </p:nvSpPr>
            <p:spPr>
              <a:xfrm>
                <a:off x="507460" y="2464280"/>
                <a:ext cx="11108176" cy="16751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解：由题意，检验假设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zh-CN" altLang="en-US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𝜇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=800; 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zh-CN" altLang="en-US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𝜇</m:t>
                    </m:r>
                    <m:r>
                      <a:rPr lang="zh-CN" altLang="en-US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≠800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	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6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</m:acc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=770,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=9,  </m:t>
                    </m:r>
                    <m:r>
                      <a:rPr lang="zh-CN" altLang="en-US" sz="160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𝜎</m:t>
                    </m:r>
                    <m:r>
                      <a:rPr lang="en-US" altLang="zh-CN" sz="160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=40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，显著性水平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𝛼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=0.05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构造统计量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zh-CN" altLang="en-US" sz="16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acc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1600" b="1" i="1">
                            <a:latin typeface="Cambria Math" panose="02040503050406030204" pitchFamily="18" charset="0"/>
                          </a:rPr>
                          <m:t>𝝁</m:t>
                        </m:r>
                      </m:num>
                      <m:den>
                        <m:r>
                          <a:rPr lang="zh-CN" altLang="en-US" sz="1600" b="1" i="1">
                            <a:latin typeface="Cambria Math" panose="02040503050406030204" pitchFamily="18" charset="0"/>
                          </a:rPr>
                          <m:t>𝝈</m:t>
                        </m:r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rad>
                      </m:den>
                    </m:f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成立，则</a:t>
                </a:r>
                <a14:m>
                  <m:oMath xmlns:m="http://schemas.openxmlformats.org/officeDocument/2006/math">
                    <m:r>
                      <a:rPr lang="en-US" altLang="zh-CN" sz="1600" b="0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的观测值为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𝑢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770−800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40/</m:t>
                        </m:r>
                        <m:rad>
                          <m:radPr>
                            <m:degHide m:val="on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9</m:t>
                            </m:r>
                          </m:e>
                        </m:rad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=−2.25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而拒绝域为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𝑢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&gt;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𝑢</m:t>
                        </m:r>
                      </m:e>
                      <m:sub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𝛼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/2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，即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𝑢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&gt;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1.96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，因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𝑢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=2.25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&gt;1.96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故拒绝原假设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，即在显著性水平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𝛼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=0.05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下不能认为此厂生产的这种钢索断裂强度的期望为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𝜇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=800 </m:t>
                    </m:r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M</m:t>
                    </m:r>
                    <m:r>
                      <m:rPr>
                        <m:sty m:val="p"/>
                      </m:rP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p</m:t>
                    </m:r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a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2464280"/>
                <a:ext cx="11108176" cy="1675139"/>
              </a:xfrm>
              <a:prstGeom prst="rect">
                <a:avLst/>
              </a:prstGeom>
              <a:blipFill>
                <a:blip r:embed="rId4"/>
                <a:stretch>
                  <a:fillRect l="-274" t="-1455" b="-3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260EB2EB-B95A-B20F-FB7C-9E3AE90FF958}"/>
              </a:ext>
            </a:extLst>
          </p:cNvPr>
          <p:cNvSpPr txBox="1"/>
          <p:nvPr/>
        </p:nvSpPr>
        <p:spPr>
          <a:xfrm>
            <a:off x="507461" y="496110"/>
            <a:ext cx="44174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正态总体参数的假设检验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FB1E360-0D95-47EF-046B-09F0EA3226BB}"/>
                  </a:ext>
                </a:extLst>
              </p:cNvPr>
              <p:cNvSpPr txBox="1"/>
              <p:nvPr/>
            </p:nvSpPr>
            <p:spPr>
              <a:xfrm>
                <a:off x="4924927" y="775742"/>
                <a:ext cx="279990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1600" dirty="0"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均值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𝜇</m:t>
                    </m:r>
                  </m:oMath>
                </a14:m>
                <a:r>
                  <a:rPr lang="zh-CN" altLang="en-US" sz="1600" dirty="0"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的检验方法（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600" dirty="0"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已知）</a:t>
                </a:r>
                <a:endParaRPr lang="en-US" altLang="zh-CN" sz="1600" dirty="0"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FB1E360-0D95-47EF-046B-09F0EA3226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4927" y="775742"/>
                <a:ext cx="2799903" cy="338554"/>
              </a:xfrm>
              <a:prstGeom prst="rect">
                <a:avLst/>
              </a:prstGeom>
              <a:blipFill>
                <a:blip r:embed="rId5"/>
                <a:stretch>
                  <a:fillRect l="-1307" t="-5357" r="-1089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243884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 uiExpan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/>
              <p:nvPr/>
            </p:nvSpPr>
            <p:spPr>
              <a:xfrm>
                <a:off x="507460" y="1583936"/>
                <a:ext cx="11108176" cy="6713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1.2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：设某次年级统考的学生成绩服从正态分布，某同学随机走访了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36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位考生，算得平均成绩为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66.5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分，标准差为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15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分。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            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问：能否在显著性水平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𝛼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=0.05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下认为这次考试所有学生的平均成绩不小于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70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分？（已知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𝑡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0.05</m:t>
                        </m:r>
                      </m:sub>
                    </m:sSub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35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=1.6896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）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583936"/>
                <a:ext cx="11108176" cy="671338"/>
              </a:xfrm>
              <a:prstGeom prst="rect">
                <a:avLst/>
              </a:prstGeom>
              <a:blipFill>
                <a:blip r:embed="rId3"/>
                <a:stretch>
                  <a:fillRect l="-274" t="-1818" b="-1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/>
              <p:nvPr/>
            </p:nvSpPr>
            <p:spPr>
              <a:xfrm>
                <a:off x="507460" y="2464280"/>
                <a:ext cx="11108176" cy="16751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解：由题意，检验假设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zh-CN" altLang="en-US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𝜇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≥70; 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r>
                      <a:rPr lang="zh-CN" altLang="en-US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𝜇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&lt;70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	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6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</m:acc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=66.5, 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𝑆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=15, </m:t>
                    </m:r>
                    <m:sSubSup>
                      <m:sSub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𝑆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∗</m:t>
                        </m:r>
                      </m:sup>
                    </m:sSub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=15.21,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=36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，显著性水平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𝛼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=0.05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构造统计量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altLang="zh-CN" sz="16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zh-CN" altLang="en-US" sz="16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acc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600" b="1" i="1"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  <m:sup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e>
                        </m:rad>
                      </m:den>
                    </m:f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成立，则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的观测值为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𝑡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66.5−70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15.21/</m:t>
                        </m:r>
                        <m:rad>
                          <m:radPr>
                            <m:degHide m:val="on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36</m:t>
                            </m:r>
                          </m:e>
                        </m:rad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=−1.38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而拒绝域为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𝑡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≤−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𝑡</m:t>
                        </m:r>
                      </m:e>
                      <m:sub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𝛼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(35)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𝑡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≤−1.6896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，因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𝑡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=−1.38&gt;−1.6896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故接受原假设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，即在显著性水平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𝛼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=0.05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下可以认为这次考试所有学生的平均成绩不小于</a:t>
                </a: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70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分。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2464280"/>
                <a:ext cx="11108176" cy="1675139"/>
              </a:xfrm>
              <a:prstGeom prst="rect">
                <a:avLst/>
              </a:prstGeom>
              <a:blipFill>
                <a:blip r:embed="rId4"/>
                <a:stretch>
                  <a:fillRect l="-274" t="-1455" b="-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260EB2EB-B95A-B20F-FB7C-9E3AE90FF958}"/>
              </a:ext>
            </a:extLst>
          </p:cNvPr>
          <p:cNvSpPr txBox="1"/>
          <p:nvPr/>
        </p:nvSpPr>
        <p:spPr>
          <a:xfrm>
            <a:off x="507461" y="496110"/>
            <a:ext cx="44174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正态总体参数的假设检验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73687B4-4F95-8DE7-8618-04505413202F}"/>
                  </a:ext>
                </a:extLst>
              </p:cNvPr>
              <p:cNvSpPr txBox="1"/>
              <p:nvPr/>
            </p:nvSpPr>
            <p:spPr>
              <a:xfrm>
                <a:off x="4924927" y="775742"/>
                <a:ext cx="279990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1600" dirty="0"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均值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𝜇</m:t>
                    </m:r>
                  </m:oMath>
                </a14:m>
                <a:r>
                  <a:rPr lang="zh-CN" altLang="en-US" sz="1600" dirty="0"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的检验方法（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600" dirty="0"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未知）</a:t>
                </a:r>
                <a:endParaRPr lang="en-US" altLang="zh-CN" sz="1600" dirty="0"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73687B4-4F95-8DE7-8618-0450541320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4927" y="775742"/>
                <a:ext cx="2799903" cy="338554"/>
              </a:xfrm>
              <a:prstGeom prst="rect">
                <a:avLst/>
              </a:prstGeom>
              <a:blipFill>
                <a:blip r:embed="rId5"/>
                <a:stretch>
                  <a:fillRect l="-1307" t="-5357" r="-1089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42763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 uiExpan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/>
              <p:nvPr/>
            </p:nvSpPr>
            <p:spPr>
              <a:xfrm>
                <a:off x="507460" y="1583936"/>
                <a:ext cx="11276710" cy="7243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1.3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：总体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𝑁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(</m:t>
                    </m:r>
                    <m:r>
                      <a:rPr lang="zh-CN" altLang="en-US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𝜇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𝜎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，参数均未知。从总体中抽取了一个容量为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100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的样本，测得样本均值为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2.7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en-US" sz="160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𝑖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=1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100</m:t>
                        </m:r>
                      </m:sup>
                      <m:e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华文宋体" panose="02010600040101010101" pitchFamily="2" charset="-122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m:rPr>
                                <m:brk m:alnAt="23"/>
                              </m:r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brk m:alnAt="23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=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225</m:t>
                        </m:r>
                      </m:e>
                    </m:nary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.</m:t>
                    </m:r>
                  </m:oMath>
                </a14:m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            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试检验假设：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0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: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𝜎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=2.5(</m:t>
                    </m:r>
                    <m:r>
                      <a:rPr lang="zh-CN" altLang="en-US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𝛼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=0.01)</m:t>
                    </m:r>
                  </m:oMath>
                </a14:m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. 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（已知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0.005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=2.58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，且当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𝑛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较大时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SupPr>
                      <m:e>
                        <m:r>
                          <a:rPr lang="zh-CN" altLang="en-US" sz="160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𝜒</m:t>
                        </m:r>
                      </m:e>
                      <m:sub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𝛼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≈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𝑛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radPr>
                      <m:deg/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𝑛</m:t>
                        </m:r>
                      </m:e>
                    </m:rad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𝑢</m:t>
                        </m:r>
                      </m:e>
                      <m:sub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）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583936"/>
                <a:ext cx="11276710" cy="724301"/>
              </a:xfrm>
              <a:prstGeom prst="rect">
                <a:avLst/>
              </a:prstGeom>
              <a:blipFill>
                <a:blip r:embed="rId3"/>
                <a:stretch>
                  <a:fillRect l="-270" t="-49580" b="-277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/>
              <p:nvPr/>
            </p:nvSpPr>
            <p:spPr>
              <a:xfrm>
                <a:off x="507460" y="2464280"/>
                <a:ext cx="11108176" cy="26335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解：由题意，检验假设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𝜎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=2.5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; 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𝜎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2.5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	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6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</m:acc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=2.7, </m:t>
                    </m:r>
                    <m:sSubSup>
                      <m:sSub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𝑆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b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225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100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=2.25, 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∗</m:t>
                            </m:r>
                          </m:sup>
                        </m:sSubSup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=2.27,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𝑛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=100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，显著性水平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𝛼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=0.01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构造统计量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1600" b="1" i="1">
                            <a:latin typeface="Cambria Math" panose="02040503050406030204" pitchFamily="18" charset="0"/>
                          </a:rPr>
                          <m:t>𝝌</m:t>
                        </m:r>
                      </m:e>
                      <m:sup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sz="16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sSubSup>
                          <m:sSubSupPr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sz="1600" b="1" i="1">
                                <a:latin typeface="Cambria Math" panose="02040503050406030204" pitchFamily="18" charset="0"/>
                              </a:rPr>
                              <m:t>𝝈</m:t>
                            </m:r>
                          </m:e>
                          <m:sub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  <m:sup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bSup>
                      </m:den>
                    </m:f>
                    <m:sSup>
                      <m:sSupPr>
                        <m:ctrlPr>
                          <a:rPr lang="en-US" altLang="zh-CN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  <m:sup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  <m:sup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成立，则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1600" b="0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16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的观测值为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100−1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2.5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2.27=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89.892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而拒绝域为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≥</m:t>
                    </m:r>
                    <m:sSubSup>
                      <m:sSub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zh-CN" altLang="en-US" sz="16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(99)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或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≤</m:t>
                    </m:r>
                    <m:sSubSup>
                      <m:sSub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/2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(99) 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又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/2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99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≈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99+</m:t>
                    </m:r>
                    <m:rad>
                      <m:radPr>
                        <m:degHide m:val="on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radPr>
                      <m:deg/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  <m:r>
                          <a:rPr lang="en-US" altLang="zh-CN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99</m:t>
                        </m:r>
                      </m:e>
                    </m:rad>
                    <m:r>
                      <a:rPr lang="en-US" altLang="zh-CN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2.58=135.3038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/2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99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≈99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radPr>
                      <m:deg/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×99</m:t>
                        </m:r>
                      </m:e>
                    </m:rad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×2.58=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62.6962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故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=89.892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不在拒绝域内，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故接受原假设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，即在显著性水平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𝛼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=0.0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1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下可以认为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𝜎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=2.5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2464280"/>
                <a:ext cx="11108176" cy="2633541"/>
              </a:xfrm>
              <a:prstGeom prst="rect">
                <a:avLst/>
              </a:prstGeom>
              <a:blipFill>
                <a:blip r:embed="rId4"/>
                <a:stretch>
                  <a:fillRect l="-274" b="-18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260EB2EB-B95A-B20F-FB7C-9E3AE90FF958}"/>
              </a:ext>
            </a:extLst>
          </p:cNvPr>
          <p:cNvSpPr txBox="1"/>
          <p:nvPr/>
        </p:nvSpPr>
        <p:spPr>
          <a:xfrm>
            <a:off x="507461" y="496110"/>
            <a:ext cx="44174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正态总体参数的假设检验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14A9103-77A0-DD49-0A91-51363E69DA39}"/>
                  </a:ext>
                </a:extLst>
              </p:cNvPr>
              <p:cNvSpPr txBox="1"/>
              <p:nvPr/>
            </p:nvSpPr>
            <p:spPr>
              <a:xfrm>
                <a:off x="4924927" y="775742"/>
                <a:ext cx="19045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1600" dirty="0"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方差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600" dirty="0"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的检验方法</a:t>
                </a:r>
                <a:endParaRPr lang="en-US" altLang="zh-CN" sz="1600" dirty="0"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14A9103-77A0-DD49-0A91-51363E69D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4927" y="775742"/>
                <a:ext cx="1904553" cy="338554"/>
              </a:xfrm>
              <a:prstGeom prst="rect">
                <a:avLst/>
              </a:prstGeom>
              <a:blipFill>
                <a:blip r:embed="rId5"/>
                <a:stretch>
                  <a:fillRect l="-1923" t="-5357" r="-1603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44103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 uiExpan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/>
              <p:nvPr/>
            </p:nvSpPr>
            <p:spPr>
              <a:xfrm>
                <a:off x="507460" y="1583936"/>
                <a:ext cx="11108176" cy="10420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1.4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：甲乙两机床生产同种类的某产品，设它们生产的产品重量都服从正态分布，且甲的方差为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60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，乙的方差为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80. 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今从甲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机床生产的产品中抽取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30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件，测得平均重量为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130g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；从乙机床生产的产品中抽取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40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件，测得平均重量为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125g.   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问：甲乙机床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生产的产品重量有无显著差异（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𝛼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=0.05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）？（已知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𝑢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0.025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=1.96 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）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583936"/>
                <a:ext cx="11108176" cy="1042017"/>
              </a:xfrm>
              <a:prstGeom prst="rect">
                <a:avLst/>
              </a:prstGeom>
              <a:blipFill>
                <a:blip r:embed="rId3"/>
                <a:stretch>
                  <a:fillRect l="-274" t="-1170" b="-70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/>
              <p:nvPr/>
            </p:nvSpPr>
            <p:spPr>
              <a:xfrm>
                <a:off x="507460" y="2766934"/>
                <a:ext cx="11108176" cy="21724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解：由题意，检验假设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; 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	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6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</m:acc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=130,  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=30,  </m:t>
                    </m:r>
                    <m:sSubSup>
                      <m:sSub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SupPr>
                      <m:e>
                        <m:r>
                          <a:rPr lang="zh-CN" altLang="en-US" sz="160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𝜎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bSup>
                    <m:r>
                      <a:rPr lang="en-US" altLang="zh-CN" sz="160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6</m:t>
                    </m:r>
                    <m:r>
                      <a:rPr lang="en-US" altLang="zh-CN" sz="160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zh-CN" altLang="en-US" sz="1600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</m:acc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125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 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40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 </m:t>
                    </m:r>
                    <m:sSubSup>
                      <m:sSub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𝜎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bSup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8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0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显著性水平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𝛼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=0.05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构造统计量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altLang="zh-CN" sz="16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zh-CN" altLang="en-US" sz="16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acc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zh-CN" altLang="en-US" sz="16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</m:acc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1600" b="1" i="1">
                                    <a:latin typeface="Cambria Math" panose="02040503050406030204" pitchFamily="18" charset="0"/>
                                  </a:rPr>
                                  <m:t>𝝈</m:t>
                                </m:r>
                              </m:e>
                              <m:sub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bSup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sSub>
                              <m:sSubPr>
                                <m:ctrlP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1600" b="1" i="1">
                                    <a:latin typeface="Cambria Math" panose="02040503050406030204" pitchFamily="18" charset="0"/>
                                  </a:rPr>
                                  <m:t>𝝈</m:t>
                                </m:r>
                              </m:e>
                              <m:sub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  <m:sup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bSup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sSub>
                              <m:sSubPr>
                                <m:ctrlP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成立，则</a:t>
                </a:r>
                <a14:m>
                  <m:oMath xmlns:m="http://schemas.openxmlformats.org/officeDocument/2006/math">
                    <m:r>
                      <a:rPr lang="en-US" altLang="zh-CN" sz="1600" b="0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的观测值为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𝑢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130−125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60</m:t>
                                </m:r>
                              </m:num>
                              <m:den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30</m:t>
                                </m:r>
                              </m:den>
                            </m:f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80</m:t>
                                </m:r>
                              </m:num>
                              <m:den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40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=2.5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而拒绝域为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𝑢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&gt;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𝑢</m:t>
                        </m:r>
                      </m:e>
                      <m:sub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𝛼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/2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，即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𝑢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&gt;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1.96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，因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𝑢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=2.5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&gt;1.96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故拒绝原假设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，即在显著性水平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𝛼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=0.05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下认为甲乙机床生产的产品重量有显著差异。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2766934"/>
                <a:ext cx="11108176" cy="2172454"/>
              </a:xfrm>
              <a:prstGeom prst="rect">
                <a:avLst/>
              </a:prstGeom>
              <a:blipFill>
                <a:blip r:embed="rId4"/>
                <a:stretch>
                  <a:fillRect l="-274" t="-1404" b="-28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260EB2EB-B95A-B20F-FB7C-9E3AE90FF958}"/>
              </a:ext>
            </a:extLst>
          </p:cNvPr>
          <p:cNvSpPr txBox="1"/>
          <p:nvPr/>
        </p:nvSpPr>
        <p:spPr>
          <a:xfrm>
            <a:off x="507461" y="496110"/>
            <a:ext cx="44174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正态总体参数的假设检验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2DA63FA-0BCC-9245-B175-674A187965E8}"/>
                  </a:ext>
                </a:extLst>
              </p:cNvPr>
              <p:cNvSpPr txBox="1"/>
              <p:nvPr/>
            </p:nvSpPr>
            <p:spPr>
              <a:xfrm>
                <a:off x="4924927" y="775742"/>
                <a:ext cx="3727004" cy="341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1600" dirty="0"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均值差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sSubPr>
                      <m:e>
                        <m:r>
                          <a:rPr lang="zh-CN" altLang="en-US" sz="160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−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的检验方法（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sz="1600" dirty="0"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已知）</a:t>
                </a:r>
                <a:endParaRPr lang="en-US" altLang="zh-CN" sz="1600" dirty="0"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2DA63FA-0BCC-9245-B175-674A18796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4927" y="775742"/>
                <a:ext cx="3727004" cy="341888"/>
              </a:xfrm>
              <a:prstGeom prst="rect">
                <a:avLst/>
              </a:prstGeom>
              <a:blipFill>
                <a:blip r:embed="rId5"/>
                <a:stretch>
                  <a:fillRect l="-982" t="-5357" r="-6383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693272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 uiExpan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/>
              <p:nvPr/>
            </p:nvSpPr>
            <p:spPr>
              <a:xfrm>
                <a:off x="507460" y="1583936"/>
                <a:ext cx="11108176" cy="10420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1.5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：对两批同型号的电阻进行抽样检测，各抽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6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件，测得结果如下：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已知元件电阻服从正态分布，问两批电阻是否有显著差异</a:t>
                </a:r>
                <a14:m>
                  <m:oMath xmlns:m="http://schemas.openxmlformats.org/officeDocument/2006/math">
                    <m:r>
                      <a:rPr lang="en-US" altLang="zh-CN" sz="16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zh-CN" altLang="en-US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𝛼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=0.05</m:t>
                    </m:r>
                    <m:r>
                      <a:rPr lang="en-US" altLang="zh-CN" sz="16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 。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（已知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𝑡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10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=2.2281,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𝑡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0.05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=1.8125,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𝐹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5,5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=7.15,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𝐹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0.05</m:t>
                        </m:r>
                      </m:sub>
                    </m:sSub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5,5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=5.05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）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583936"/>
                <a:ext cx="11108176" cy="1042017"/>
              </a:xfrm>
              <a:prstGeom prst="rect">
                <a:avLst/>
              </a:prstGeom>
              <a:blipFill>
                <a:blip r:embed="rId3"/>
                <a:stretch>
                  <a:fillRect l="-274" t="-1170" b="-70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/>
              <p:nvPr/>
            </p:nvSpPr>
            <p:spPr>
              <a:xfrm>
                <a:off x="507460" y="2906923"/>
                <a:ext cx="11108176" cy="27514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</a:t>
                </a: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(1)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由题意，检验假设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; 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𝜇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16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zh-CN" altLang="en-US" sz="16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</m:acc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=0.1405, </m:t>
                    </m:r>
                    <m:sSubSup>
                      <m:sSub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𝑆</m:t>
                        </m:r>
                      </m:e>
                      <m:sub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b>
                        </m:sSub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∗</m:t>
                        </m:r>
                      </m:sup>
                    </m:sSub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=7.5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−6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=6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𝑌</m:t>
                        </m:r>
                      </m:e>
                    </m:acc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=0.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1388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sSubSup>
                      <m:sSub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𝑆</m:t>
                        </m:r>
                      </m:e>
                      <m:sub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b>
                        </m:sSub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∗</m:t>
                        </m:r>
                      </m:sup>
                    </m:sSubSup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8.97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−6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=6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，显著性水平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𝛼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=0.05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构造统计量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altLang="zh-CN" sz="16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zh-CN" altLang="en-US" sz="16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acc>
                        <m:r>
                          <a:rPr lang="en-US" altLang="zh-CN" sz="1600" b="1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zh-CN" altLang="en-US" sz="16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</m:acc>
                      </m:num>
                      <m:den>
                        <m:sSubSup>
                          <m:sSubSupPr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sub>
                          <m:sup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ad>
                          <m:radPr>
                            <m:degHide m:val="on"/>
                            <m:ctrlP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sSub>
                              <m:sSubPr>
                                <m:ctrlP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CN" sz="1600" b="1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sSub>
                              <m:sSubPr>
                                <m:ctrlP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e>
                              <m:sub>
                                <m:r>
                                  <a:rPr lang="en-US" altLang="zh-CN" sz="16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，其中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Sup>
                                  <m:sSubSup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sSub>
                                      <m:sSubPr>
                                        <m:ctrlPr>
                                          <a:rPr lang="en-US" altLang="zh-CN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altLang="zh-CN" sz="16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e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Sup>
                                  <m:sSubSup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sSub>
                                      <m:sSubPr>
                                        <m:ctrlPr>
                                          <a:rPr lang="en-US" altLang="zh-CN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00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altLang="zh-CN" sz="16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e>
                              <m: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成立，则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的观测值为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𝑡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0.1405−0.1388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2.8697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−3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6</m:t>
                                </m:r>
                              </m:den>
                            </m:f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6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=1.026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而拒绝域为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𝑡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≥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𝑡</m:t>
                        </m:r>
                      </m:e>
                      <m:sub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𝛼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/2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(10)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，即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𝑡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≥2.2281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，因</a:t>
                </a:r>
                <a14:m>
                  <m:oMath xmlns:m="http://schemas.openxmlformats.org/officeDocument/2006/math">
                    <m:r>
                      <a:rPr lang="en-US" altLang="zh-CN" sz="16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|</m:t>
                    </m:r>
                    <m:r>
                      <a:rPr lang="en-US" altLang="zh-CN" sz="16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𝑡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|=1.026&lt;2.2281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故接受原假设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，即在显著性水平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𝛼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=0.05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下可以认为两批电阻的期望无显著差异。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2906923"/>
                <a:ext cx="11108176" cy="2751459"/>
              </a:xfrm>
              <a:prstGeom prst="rect">
                <a:avLst/>
              </a:prstGeom>
              <a:blipFill>
                <a:blip r:embed="rId4"/>
                <a:stretch>
                  <a:fillRect l="-274" t="-887" b="-17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260EB2EB-B95A-B20F-FB7C-9E3AE90FF958}"/>
              </a:ext>
            </a:extLst>
          </p:cNvPr>
          <p:cNvSpPr txBox="1"/>
          <p:nvPr/>
        </p:nvSpPr>
        <p:spPr>
          <a:xfrm>
            <a:off x="507461" y="496110"/>
            <a:ext cx="44174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正态总体参数的假设检验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32A4A75-8BC7-43E6-CA18-69EFDE11A33C}"/>
                  </a:ext>
                </a:extLst>
              </p:cNvPr>
              <p:cNvSpPr txBox="1"/>
              <p:nvPr/>
            </p:nvSpPr>
            <p:spPr>
              <a:xfrm>
                <a:off x="4924927" y="775742"/>
                <a:ext cx="4317553" cy="341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1600" dirty="0"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均值差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sSubPr>
                      <m:e>
                        <m:r>
                          <a:rPr lang="zh-CN" altLang="en-US" sz="160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−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𝜇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清刻本悦宋简体" panose="02000000000000000000" pitchFamily="2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的检验方法（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sz="1600" dirty="0"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但均未知）</a:t>
                </a:r>
                <a:endParaRPr lang="en-US" altLang="zh-CN" sz="1600" dirty="0"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32A4A75-8BC7-43E6-CA18-69EFDE11A3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4927" y="775742"/>
                <a:ext cx="4317553" cy="341888"/>
              </a:xfrm>
              <a:prstGeom prst="rect">
                <a:avLst/>
              </a:prstGeom>
              <a:blipFill>
                <a:blip r:embed="rId5"/>
                <a:stretch>
                  <a:fillRect l="-847" t="-5357" r="-5508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A6A7B2AE-F23E-E630-5929-E70850F3FC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4367734"/>
              </p:ext>
            </p:extLst>
          </p:nvPr>
        </p:nvGraphicFramePr>
        <p:xfrm>
          <a:off x="7006108" y="1609692"/>
          <a:ext cx="4609528" cy="611842"/>
        </p:xfrm>
        <a:graphic>
          <a:graphicData uri="http://schemas.openxmlformats.org/drawingml/2006/table">
            <a:tbl>
              <a:tblPr firstCol="1">
                <a:tableStyleId>{073A0DAA-6AF3-43AB-8588-CEC1D06C72B9}</a:tableStyleId>
              </a:tblPr>
              <a:tblGrid>
                <a:gridCol w="658504">
                  <a:extLst>
                    <a:ext uri="{9D8B030D-6E8A-4147-A177-3AD203B41FA5}">
                      <a16:colId xmlns:a16="http://schemas.microsoft.com/office/drawing/2014/main" val="2696712067"/>
                    </a:ext>
                  </a:extLst>
                </a:gridCol>
                <a:gridCol w="658504">
                  <a:extLst>
                    <a:ext uri="{9D8B030D-6E8A-4147-A177-3AD203B41FA5}">
                      <a16:colId xmlns:a16="http://schemas.microsoft.com/office/drawing/2014/main" val="4163408700"/>
                    </a:ext>
                  </a:extLst>
                </a:gridCol>
                <a:gridCol w="658504">
                  <a:extLst>
                    <a:ext uri="{9D8B030D-6E8A-4147-A177-3AD203B41FA5}">
                      <a16:colId xmlns:a16="http://schemas.microsoft.com/office/drawing/2014/main" val="184934721"/>
                    </a:ext>
                  </a:extLst>
                </a:gridCol>
                <a:gridCol w="658504">
                  <a:extLst>
                    <a:ext uri="{9D8B030D-6E8A-4147-A177-3AD203B41FA5}">
                      <a16:colId xmlns:a16="http://schemas.microsoft.com/office/drawing/2014/main" val="1684487397"/>
                    </a:ext>
                  </a:extLst>
                </a:gridCol>
                <a:gridCol w="658504">
                  <a:extLst>
                    <a:ext uri="{9D8B030D-6E8A-4147-A177-3AD203B41FA5}">
                      <a16:colId xmlns:a16="http://schemas.microsoft.com/office/drawing/2014/main" val="932011691"/>
                    </a:ext>
                  </a:extLst>
                </a:gridCol>
                <a:gridCol w="658504">
                  <a:extLst>
                    <a:ext uri="{9D8B030D-6E8A-4147-A177-3AD203B41FA5}">
                      <a16:colId xmlns:a16="http://schemas.microsoft.com/office/drawing/2014/main" val="105782468"/>
                    </a:ext>
                  </a:extLst>
                </a:gridCol>
                <a:gridCol w="658504">
                  <a:extLst>
                    <a:ext uri="{9D8B030D-6E8A-4147-A177-3AD203B41FA5}">
                      <a16:colId xmlns:a16="http://schemas.microsoft.com/office/drawing/2014/main" val="883055926"/>
                    </a:ext>
                  </a:extLst>
                </a:gridCol>
              </a:tblGrid>
              <a:tr h="3059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A</a:t>
                      </a:r>
                      <a:r>
                        <a:rPr lang="zh-CN" altLang="en-US" sz="1200" b="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0.140</a:t>
                      </a:r>
                      <a:endParaRPr lang="zh-CN" altLang="en-US" sz="1200" b="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0.138</a:t>
                      </a:r>
                      <a:endParaRPr lang="zh-CN" altLang="en-US" sz="1200" b="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0.143</a:t>
                      </a:r>
                      <a:endParaRPr lang="zh-CN" altLang="en-US" sz="1200" b="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0.141</a:t>
                      </a:r>
                      <a:endParaRPr lang="zh-CN" altLang="en-US" sz="1200" b="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0.144</a:t>
                      </a:r>
                      <a:endParaRPr lang="zh-CN" altLang="en-US" sz="1200" b="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0.137</a:t>
                      </a:r>
                      <a:endParaRPr lang="zh-CN" altLang="en-US" sz="1200" b="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7816412"/>
                  </a:ext>
                </a:extLst>
              </a:tr>
              <a:tr h="3059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B</a:t>
                      </a:r>
                      <a:r>
                        <a:rPr lang="zh-CN" altLang="en-US" sz="1200" b="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0.135</a:t>
                      </a:r>
                      <a:endParaRPr lang="zh-CN" altLang="en-US" sz="1200" b="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0.140</a:t>
                      </a:r>
                      <a:endParaRPr lang="zh-CN" altLang="en-US" sz="1200" b="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0.142</a:t>
                      </a:r>
                      <a:endParaRPr lang="zh-CN" altLang="en-US" sz="1200" b="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0.136</a:t>
                      </a:r>
                      <a:endParaRPr lang="zh-CN" altLang="en-US" sz="1200" b="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0.138</a:t>
                      </a:r>
                      <a:endParaRPr lang="zh-CN" altLang="en-US" sz="1200" b="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0.142</a:t>
                      </a:r>
                      <a:endParaRPr lang="zh-CN" altLang="en-US" sz="1200" b="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421150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76C0805-E34D-7161-FC47-2D517AEC69C5}"/>
                  </a:ext>
                </a:extLst>
              </p:cNvPr>
              <p:cNvSpPr txBox="1"/>
              <p:nvPr/>
            </p:nvSpPr>
            <p:spPr>
              <a:xfrm>
                <a:off x="10244036" y="2247290"/>
                <a:ext cx="13716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（单位：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）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76C0805-E34D-7161-FC47-2D517AEC69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4036" y="2247290"/>
                <a:ext cx="1371600" cy="307777"/>
              </a:xfrm>
              <a:prstGeom prst="rect">
                <a:avLst/>
              </a:prstGeom>
              <a:blipFill>
                <a:blip r:embed="rId6"/>
                <a:stretch>
                  <a:fillRect t="-6000" r="-1333" b="-1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02647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 uiExpand="1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/>
              <p:nvPr/>
            </p:nvSpPr>
            <p:spPr>
              <a:xfrm>
                <a:off x="507460" y="1583936"/>
                <a:ext cx="11108176" cy="10420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1.5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：对两批同型号的电阻进行抽样检测，各抽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6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件，测得结果如下：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已知元件电阻服从正态分布，问两批电阻是否有显著差异</a:t>
                </a:r>
                <a14:m>
                  <m:oMath xmlns:m="http://schemas.openxmlformats.org/officeDocument/2006/math">
                    <m:r>
                      <a:rPr lang="en-US" altLang="zh-CN" sz="16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zh-CN" altLang="en-US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𝛼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=0.05</m:t>
                    </m:r>
                    <m:r>
                      <a:rPr lang="en-US" altLang="zh-CN" sz="16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 。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（已知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𝑡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10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=2.2281,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𝑡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0.05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=1.8125,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𝐹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5,5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=7.15,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𝐹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0.05</m:t>
                        </m:r>
                      </m:sub>
                    </m:sSub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5,5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=5.05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）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9A48C2F-C397-1AB5-176A-8D4A6BFAA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583936"/>
                <a:ext cx="11108176" cy="1042017"/>
              </a:xfrm>
              <a:prstGeom prst="rect">
                <a:avLst/>
              </a:prstGeom>
              <a:blipFill>
                <a:blip r:embed="rId3"/>
                <a:stretch>
                  <a:fillRect l="-274" t="-1170" b="-70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/>
              <p:nvPr/>
            </p:nvSpPr>
            <p:spPr>
              <a:xfrm>
                <a:off x="507460" y="2906923"/>
                <a:ext cx="11108176" cy="27796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</a:t>
                </a: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(2)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由题意，检验假设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sSubSup>
                      <m:sSub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; 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:</m:t>
                    </m:r>
                    <m:sSubSup>
                      <m:sSub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Sup>
                      <m:sSub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1600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acc>
                      <m:accPr>
                        <m:chr m:val="̅"/>
                        <m:ctrlPr>
                          <a:rPr lang="zh-CN" altLang="en-US" sz="16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</m:acc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=0.1405, </m:t>
                    </m:r>
                    <m:sSubSup>
                      <m:sSub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𝑆</m:t>
                        </m:r>
                      </m:e>
                      <m:sub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b>
                        </m:sSub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∗</m:t>
                        </m:r>
                      </m:sup>
                    </m:sSub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=7.5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−6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=6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𝑌</m:t>
                        </m:r>
                      </m:e>
                    </m:acc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=0.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1388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sSubSup>
                      <m:sSub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𝑆</m:t>
                        </m:r>
                      </m:e>
                      <m:sub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b>
                        </m:sSub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∗</m:t>
                        </m:r>
                      </m:sup>
                    </m:sSubSup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8.97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−6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=6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，显著性水平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𝛼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=0.05</m:t>
                    </m:r>
                  </m:oMath>
                </a14:m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b="1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构造统计量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𝐹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方正清刻本悦宋简体" panose="02000000000000000000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成立，则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的观测值为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𝐹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7.5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−6</m:t>
                            </m:r>
                          </m:sup>
                        </m:sSup>
                      </m:num>
                      <m:den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8.97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−6</m:t>
                            </m:r>
                          </m:sup>
                        </m:sSup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=0.836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而拒绝域为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≥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𝐹</m:t>
                        </m:r>
                      </m:e>
                      <m:sub>
                        <m:r>
                          <a:rPr lang="zh-CN" altLang="en-US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𝛼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/2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−1,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−1)</m:t>
                    </m:r>
                    <m:r>
                      <m:rPr>
                        <m:nor/>
                      </m:rPr>
                      <a:rPr lang="zh-CN" altLang="en-US" sz="16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m:t>或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≤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𝐹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1−</m:t>
                        </m:r>
                        <m:r>
                          <a:rPr lang="zh-CN" altLang="en-US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𝛼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/2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−1,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−1)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𝐹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≥7.15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𝐹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≤0.1397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因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𝐹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=0.836 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不在拒绝域内，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故接受原假设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𝐻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，即在显著性水平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𝛼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=0.05</m:t>
                    </m:r>
                  </m:oMath>
                </a14:m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下可以认为两批电阻的方差无显著差异。</a:t>
                </a:r>
                <a:endParaRPr lang="en-US" altLang="zh-CN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综上，可以认为两批电阻无显著差异。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46A6C03-88DF-D0C2-F09C-74196CC03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2906923"/>
                <a:ext cx="11108176" cy="2779672"/>
              </a:xfrm>
              <a:prstGeom prst="rect">
                <a:avLst/>
              </a:prstGeom>
              <a:blipFill>
                <a:blip r:embed="rId4"/>
                <a:stretch>
                  <a:fillRect l="-274" t="-877" b="-19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260EB2EB-B95A-B20F-FB7C-9E3AE90FF958}"/>
              </a:ext>
            </a:extLst>
          </p:cNvPr>
          <p:cNvSpPr txBox="1"/>
          <p:nvPr/>
        </p:nvSpPr>
        <p:spPr>
          <a:xfrm>
            <a:off x="507461" y="496110"/>
            <a:ext cx="44174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正态总体参数的假设检验</a:t>
            </a: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A6A7B2AE-F23E-E630-5929-E70850F3FC90}"/>
              </a:ext>
            </a:extLst>
          </p:cNvPr>
          <p:cNvGraphicFramePr>
            <a:graphicFrameLocks noGrp="1"/>
          </p:cNvGraphicFramePr>
          <p:nvPr/>
        </p:nvGraphicFramePr>
        <p:xfrm>
          <a:off x="7006108" y="1609692"/>
          <a:ext cx="4609528" cy="611842"/>
        </p:xfrm>
        <a:graphic>
          <a:graphicData uri="http://schemas.openxmlformats.org/drawingml/2006/table">
            <a:tbl>
              <a:tblPr firstCol="1">
                <a:tableStyleId>{073A0DAA-6AF3-43AB-8588-CEC1D06C72B9}</a:tableStyleId>
              </a:tblPr>
              <a:tblGrid>
                <a:gridCol w="658504">
                  <a:extLst>
                    <a:ext uri="{9D8B030D-6E8A-4147-A177-3AD203B41FA5}">
                      <a16:colId xmlns:a16="http://schemas.microsoft.com/office/drawing/2014/main" val="2696712067"/>
                    </a:ext>
                  </a:extLst>
                </a:gridCol>
                <a:gridCol w="658504">
                  <a:extLst>
                    <a:ext uri="{9D8B030D-6E8A-4147-A177-3AD203B41FA5}">
                      <a16:colId xmlns:a16="http://schemas.microsoft.com/office/drawing/2014/main" val="4163408700"/>
                    </a:ext>
                  </a:extLst>
                </a:gridCol>
                <a:gridCol w="658504">
                  <a:extLst>
                    <a:ext uri="{9D8B030D-6E8A-4147-A177-3AD203B41FA5}">
                      <a16:colId xmlns:a16="http://schemas.microsoft.com/office/drawing/2014/main" val="184934721"/>
                    </a:ext>
                  </a:extLst>
                </a:gridCol>
                <a:gridCol w="658504">
                  <a:extLst>
                    <a:ext uri="{9D8B030D-6E8A-4147-A177-3AD203B41FA5}">
                      <a16:colId xmlns:a16="http://schemas.microsoft.com/office/drawing/2014/main" val="1684487397"/>
                    </a:ext>
                  </a:extLst>
                </a:gridCol>
                <a:gridCol w="658504">
                  <a:extLst>
                    <a:ext uri="{9D8B030D-6E8A-4147-A177-3AD203B41FA5}">
                      <a16:colId xmlns:a16="http://schemas.microsoft.com/office/drawing/2014/main" val="932011691"/>
                    </a:ext>
                  </a:extLst>
                </a:gridCol>
                <a:gridCol w="658504">
                  <a:extLst>
                    <a:ext uri="{9D8B030D-6E8A-4147-A177-3AD203B41FA5}">
                      <a16:colId xmlns:a16="http://schemas.microsoft.com/office/drawing/2014/main" val="105782468"/>
                    </a:ext>
                  </a:extLst>
                </a:gridCol>
                <a:gridCol w="658504">
                  <a:extLst>
                    <a:ext uri="{9D8B030D-6E8A-4147-A177-3AD203B41FA5}">
                      <a16:colId xmlns:a16="http://schemas.microsoft.com/office/drawing/2014/main" val="883055926"/>
                    </a:ext>
                  </a:extLst>
                </a:gridCol>
              </a:tblGrid>
              <a:tr h="3059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A</a:t>
                      </a:r>
                      <a:r>
                        <a:rPr lang="zh-CN" altLang="en-US" sz="1200" b="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0.140</a:t>
                      </a:r>
                      <a:endParaRPr lang="zh-CN" altLang="en-US" sz="1200" b="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0.138</a:t>
                      </a:r>
                      <a:endParaRPr lang="zh-CN" altLang="en-US" sz="1200" b="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0.143</a:t>
                      </a:r>
                      <a:endParaRPr lang="zh-CN" altLang="en-US" sz="1200" b="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0.141</a:t>
                      </a:r>
                      <a:endParaRPr lang="zh-CN" altLang="en-US" sz="1200" b="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0.144</a:t>
                      </a:r>
                      <a:endParaRPr lang="zh-CN" altLang="en-US" sz="1200" b="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0.137</a:t>
                      </a:r>
                      <a:endParaRPr lang="zh-CN" altLang="en-US" sz="1200" b="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7816412"/>
                  </a:ext>
                </a:extLst>
              </a:tr>
              <a:tr h="30592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B</a:t>
                      </a:r>
                      <a:r>
                        <a:rPr lang="zh-CN" altLang="en-US" sz="1200" b="0" dirty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0.135</a:t>
                      </a:r>
                      <a:endParaRPr lang="zh-CN" altLang="en-US" sz="1200" b="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0.140</a:t>
                      </a:r>
                      <a:endParaRPr lang="zh-CN" altLang="en-US" sz="1200" b="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0.142</a:t>
                      </a:r>
                      <a:endParaRPr lang="zh-CN" altLang="en-US" sz="1200" b="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0.136</a:t>
                      </a:r>
                      <a:endParaRPr lang="zh-CN" altLang="en-US" sz="1200" b="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0.138</a:t>
                      </a:r>
                      <a:endParaRPr lang="zh-CN" altLang="en-US" sz="1200" b="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0.142</a:t>
                      </a:r>
                      <a:endParaRPr lang="zh-CN" altLang="en-US" sz="1200" b="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421150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76C0805-E34D-7161-FC47-2D517AEC69C5}"/>
                  </a:ext>
                </a:extLst>
              </p:cNvPr>
              <p:cNvSpPr txBox="1"/>
              <p:nvPr/>
            </p:nvSpPr>
            <p:spPr>
              <a:xfrm>
                <a:off x="10244036" y="2247290"/>
                <a:ext cx="13716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（单位：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）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76C0805-E34D-7161-FC47-2D517AEC69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4036" y="2247290"/>
                <a:ext cx="1371600" cy="307777"/>
              </a:xfrm>
              <a:prstGeom prst="rect">
                <a:avLst/>
              </a:prstGeom>
              <a:blipFill>
                <a:blip r:embed="rId5"/>
                <a:stretch>
                  <a:fillRect t="-6000" r="-1333" b="-1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D36389A-B0AA-90A1-5E67-4667EE57DE82}"/>
                  </a:ext>
                </a:extLst>
              </p:cNvPr>
              <p:cNvSpPr txBox="1"/>
              <p:nvPr/>
            </p:nvSpPr>
            <p:spPr>
              <a:xfrm>
                <a:off x="4924927" y="775742"/>
                <a:ext cx="2558603" cy="341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zh-CN" altLang="en-US" sz="1600" dirty="0"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方差比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/</m:t>
                    </m:r>
                    <m:sSubSup>
                      <m:sSub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sz="1600" dirty="0"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的估计方法</a:t>
                </a:r>
                <a:endParaRPr lang="en-US" altLang="zh-CN" sz="1600" dirty="0">
                  <a:latin typeface="方正清刻本悦宋简体" panose="02000000000000000000" pitchFamily="2" charset="-122"/>
                  <a:ea typeface="方正清刻本悦宋简体" panose="02000000000000000000" pitchFamily="2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D36389A-B0AA-90A1-5E67-4667EE57D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4927" y="775742"/>
                <a:ext cx="2558603" cy="341888"/>
              </a:xfrm>
              <a:prstGeom prst="rect">
                <a:avLst/>
              </a:prstGeom>
              <a:blipFill>
                <a:blip r:embed="rId6"/>
                <a:stretch>
                  <a:fillRect l="-1429" t="-5357" r="-1190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226725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29FD73E4-56FA-6572-DE2B-71618A131228}"/>
              </a:ext>
            </a:extLst>
          </p:cNvPr>
          <p:cNvCxnSpPr>
            <a:cxnSpLocks/>
          </p:cNvCxnSpPr>
          <p:nvPr/>
        </p:nvCxnSpPr>
        <p:spPr>
          <a:xfrm>
            <a:off x="6149" y="1758189"/>
            <a:ext cx="12192000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F8EA2AA-3607-76BF-CED9-450E9DC65B0B}"/>
              </a:ext>
            </a:extLst>
          </p:cNvPr>
          <p:cNvSpPr txBox="1"/>
          <p:nvPr/>
        </p:nvSpPr>
        <p:spPr>
          <a:xfrm>
            <a:off x="4389528" y="1518395"/>
            <a:ext cx="3412943" cy="4001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正态总体参数的假设检验</a:t>
            </a:r>
            <a:endParaRPr lang="en-US" altLang="zh-CN" sz="2000" i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3D7142-4BB3-9AA1-B5B8-3F27DC579DCE}"/>
              </a:ext>
            </a:extLst>
          </p:cNvPr>
          <p:cNvSpPr txBox="1"/>
          <p:nvPr/>
        </p:nvSpPr>
        <p:spPr>
          <a:xfrm>
            <a:off x="4802336" y="528331"/>
            <a:ext cx="25750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假设检验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10">
                <a:extLst>
                  <a:ext uri="{FF2B5EF4-FFF2-40B4-BE49-F238E27FC236}">
                    <a16:creationId xmlns:a16="http://schemas.microsoft.com/office/drawing/2014/main" id="{47ACAC83-A2E3-11B2-EACD-217B2F6FB1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3880522"/>
                  </p:ext>
                </p:extLst>
              </p:nvPr>
            </p:nvGraphicFramePr>
            <p:xfrm>
              <a:off x="576364" y="2003018"/>
              <a:ext cx="11039271" cy="4088003"/>
            </p:xfrm>
            <a:graphic>
              <a:graphicData uri="http://schemas.openxmlformats.org/drawingml/2006/table">
                <a:tbl>
                  <a:tblPr>
                    <a:tableStyleId>{7DF18680-E054-41AD-8BC1-D1AEF772440D}</a:tableStyleId>
                  </a:tblPr>
                  <a:tblGrid>
                    <a:gridCol w="976386">
                      <a:extLst>
                        <a:ext uri="{9D8B030D-6E8A-4147-A177-3AD203B41FA5}">
                          <a16:colId xmlns:a16="http://schemas.microsoft.com/office/drawing/2014/main" val="2934686149"/>
                        </a:ext>
                      </a:extLst>
                    </a:gridCol>
                    <a:gridCol w="976386">
                      <a:extLst>
                        <a:ext uri="{9D8B030D-6E8A-4147-A177-3AD203B41FA5}">
                          <a16:colId xmlns:a16="http://schemas.microsoft.com/office/drawing/2014/main" val="2990423203"/>
                        </a:ext>
                      </a:extLst>
                    </a:gridCol>
                    <a:gridCol w="897974">
                      <a:extLst>
                        <a:ext uri="{9D8B030D-6E8A-4147-A177-3AD203B41FA5}">
                          <a16:colId xmlns:a16="http://schemas.microsoft.com/office/drawing/2014/main" val="920957707"/>
                        </a:ext>
                      </a:extLst>
                    </a:gridCol>
                    <a:gridCol w="3026740">
                      <a:extLst>
                        <a:ext uri="{9D8B030D-6E8A-4147-A177-3AD203B41FA5}">
                          <a16:colId xmlns:a16="http://schemas.microsoft.com/office/drawing/2014/main" val="1878881520"/>
                        </a:ext>
                      </a:extLst>
                    </a:gridCol>
                    <a:gridCol w="5161785">
                      <a:extLst>
                        <a:ext uri="{9D8B030D-6E8A-4147-A177-3AD203B41FA5}">
                          <a16:colId xmlns:a16="http://schemas.microsoft.com/office/drawing/2014/main" val="1043595873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dirty="0">
                              <a:solidFill>
                                <a:schemeClr val="bg1"/>
                              </a:solidFill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统计假设</a:t>
                          </a:r>
                        </a:p>
                      </a:txBody>
                      <a:tcPr anchor="ctr">
                        <a:solidFill>
                          <a:schemeClr val="accent5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dirty="0">
                              <a:solidFill>
                                <a:schemeClr val="bg1"/>
                              </a:solidFill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条件</a:t>
                          </a:r>
                        </a:p>
                      </a:txBody>
                      <a:tcPr anchor="ctr">
                        <a:lnB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600" b="0" dirty="0">
                              <a:solidFill>
                                <a:schemeClr val="bg1"/>
                              </a:solidFill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构造的统计量及其分布</a:t>
                          </a:r>
                        </a:p>
                      </a:txBody>
                      <a:tcPr anchor="ctr">
                        <a:lnB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dirty="0">
                              <a:solidFill>
                                <a:schemeClr val="bg1"/>
                              </a:solidFill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拒绝域</a:t>
                          </a:r>
                        </a:p>
                      </a:txBody>
                      <a:tcPr anchor="ctr">
                        <a:lnB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21502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bg1"/>
                            </a:solidFill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</a:txBody>
                      <a:tcPr anchor="ctr">
                        <a:lnB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bg1"/>
                            </a:solidFill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</a:txBody>
                      <a:tcPr anchor="ctr">
                        <a:lnB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73879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zh-CN" altLang="en-US" sz="160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zh-CN" altLang="en-US" sz="160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altLang="zh-CN" sz="160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CN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  <a:p>
                          <a:pPr algn="ctr"/>
                          <a:r>
                            <a:rPr lang="zh-CN" altLang="en-US" sz="16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已知</a:t>
                          </a:r>
                        </a:p>
                      </a:txBody>
                      <a:tcPr anchor="ctr">
                        <a:lnT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̅"/>
                                        <m:ctrlPr>
                                          <a:rPr lang="zh-CN" altLang="en-US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zh-CN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rad>
                                  </m:den>
                                </m:f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~ 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(0,1)</m:t>
                                </m:r>
                              </m:oMath>
                            </m:oMathPara>
                          </a14:m>
                          <a:endParaRPr lang="zh-CN" altLang="en-US" sz="1600" b="0" i="1" dirty="0">
                            <a:solidFill>
                              <a:schemeClr val="tx1"/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0" dirty="0">
                              <a:ea typeface="楷体" panose="02010609060101010101" pitchFamily="49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|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𝑢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|≥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𝛼</m:t>
                                  </m:r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/2</m:t>
                                  </m:r>
                                </m:sub>
                              </m:sSub>
                            </m:oMath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53325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zh-CN" altLang="en-US" sz="160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zh-CN" altLang="en-US" sz="160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0" dirty="0">
                              <a:ea typeface="楷体" panose="02010609060101010101" pitchFamily="49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𝑢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𝛼</m:t>
                                  </m:r>
                                </m:sub>
                              </m:sSub>
                            </m:oMath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369909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zh-CN" altLang="en-US" sz="160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zh-CN" altLang="en-US" sz="160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b="0" dirty="0">
                              <a:ea typeface="楷体" panose="02010609060101010101" pitchFamily="49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𝑢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≤−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𝛼</m:t>
                                  </m:r>
                                </m:sub>
                              </m:sSub>
                            </m:oMath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789114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zh-CN" altLang="en-US" sz="160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zh-CN" altLang="en-US" sz="160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altLang="zh-CN" sz="160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CN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  <a:p>
                          <a:pPr algn="ctr"/>
                          <a:r>
                            <a:rPr lang="zh-CN" altLang="en-US" sz="16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未知</a:t>
                          </a: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̅"/>
                                        <m:ctrlPr>
                                          <a:rPr lang="zh-CN" altLang="en-US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6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  <m:r>
                                      <a:rPr lang="en-US" altLang="zh-CN" sz="16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16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num>
                                  <m:den>
                                    <m:sSubSup>
                                      <m:sSubSupPr>
                                        <m:ctrlP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16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  <m:sup>
                                        <m:r>
                                          <a:rPr lang="en-US" altLang="zh-CN" sz="16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  <m:r>
                                      <a:rPr lang="en-US" altLang="zh-CN" sz="16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1600" b="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</m:rad>
                                  </m:den>
                                </m:f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~  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−1)</m:t>
                                </m:r>
                              </m:oMath>
                            </m:oMathPara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b="0" dirty="0">
                              <a:ea typeface="楷体" panose="02010609060101010101" pitchFamily="49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|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𝑡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|≥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𝛼</m:t>
                                  </m:r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/2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(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𝑛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−1)</m:t>
                              </m:r>
                            </m:oMath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75301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zh-CN" altLang="en-US" sz="160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zh-CN" altLang="en-US" sz="160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0" dirty="0">
                              <a:ea typeface="楷体" panose="02010609060101010101" pitchFamily="49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𝑡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𝛼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(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𝑛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−1)</m:t>
                              </m:r>
                            </m:oMath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442130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zh-CN" altLang="en-US" sz="160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zh-CN" altLang="en-US" sz="160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b="0" dirty="0">
                              <a:ea typeface="楷体" panose="02010609060101010101" pitchFamily="49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𝑡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≤−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𝛼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(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𝑛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−1)</m:t>
                              </m:r>
                            </m:oMath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91584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Sup>
                                  <m:sSub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160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60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</m:t>
                                </m:r>
                                <m:sSubSup>
                                  <m:sSubSupPr>
                                    <m:ctrlP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16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n-US" altLang="zh-CN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  <a:p>
                          <a:pPr algn="ctr"/>
                          <a:r>
                            <a:rPr lang="zh-CN" altLang="en-US" sz="16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未知</a:t>
                          </a: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𝜒</m:t>
                                    </m:r>
                                  </m:e>
                                  <m:sup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num>
                                  <m:den>
                                    <m:sSubSup>
                                      <m:sSubSupPr>
                                        <m:ctrlP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zh-CN" altLang="en-US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  <m:sup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Sup>
                                      <m:sSubSupPr>
                                        <m:ctrlP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  <m:sup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e>
                                  <m:sup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~ </m:t>
                                </m:r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𝜒</m:t>
                                    </m:r>
                                  </m:e>
                                  <m:sup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−1)</m:t>
                                </m:r>
                              </m:oMath>
                            </m:oMathPara>
                          </a14:m>
                          <a:endParaRPr lang="zh-CN" altLang="en-US" sz="1600" b="0" i="1" dirty="0">
                            <a:solidFill>
                              <a:schemeClr val="tx1"/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p>
                                  <m: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≥</m:t>
                              </m:r>
                              <m:sSubSup>
                                <m:sSubSup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𝛼</m:t>
                                  </m:r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/2</m:t>
                                  </m:r>
                                </m:sub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(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𝑛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−1)</m:t>
                              </m:r>
                            </m:oMath>
                          </a14:m>
                          <a:r>
                            <a:rPr lang="zh-CN" altLang="en-US" sz="16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 或 </a:t>
                          </a:r>
                          <a:r>
                            <a:rPr lang="en-US" altLang="zh-CN" sz="16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p>
                                  <m: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≤</m:t>
                              </m:r>
                              <m:sSubSup>
                                <m:sSubSup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1−</m:t>
                                  </m:r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𝛼</m:t>
                                  </m:r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/2</m:t>
                                  </m:r>
                                </m:sub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(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𝑛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−1)</m:t>
                              </m:r>
                            </m:oMath>
                          </a14:m>
                          <a:r>
                            <a:rPr lang="zh-CN" altLang="en-US" sz="16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 </a:t>
                          </a: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71713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sSubSup>
                                  <m:sSub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160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sSubSup>
                                  <m:sSubSupPr>
                                    <m:ctrlP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p>
                                  <m: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≥</m:t>
                              </m:r>
                              <m:sSubSup>
                                <m:sSubSup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𝛼</m:t>
                                  </m:r>
                                </m:sub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(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𝑛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−1)</m:t>
                              </m:r>
                            </m:oMath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307510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sSubSup>
                                  <m:sSub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160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Sup>
                                  <m:sSubSupPr>
                                    <m:ctrlP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p>
                                  <m: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≤−</m:t>
                              </m:r>
                              <m:sSubSup>
                                <m:sSubSup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1−</m:t>
                                  </m:r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𝛼</m:t>
                                  </m:r>
                                </m:sub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(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𝑛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−1)</m:t>
                              </m:r>
                            </m:oMath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126733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10">
                <a:extLst>
                  <a:ext uri="{FF2B5EF4-FFF2-40B4-BE49-F238E27FC236}">
                    <a16:creationId xmlns:a16="http://schemas.microsoft.com/office/drawing/2014/main" id="{47ACAC83-A2E3-11B2-EACD-217B2F6FB1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3880522"/>
                  </p:ext>
                </p:extLst>
              </p:nvPr>
            </p:nvGraphicFramePr>
            <p:xfrm>
              <a:off x="576364" y="2003018"/>
              <a:ext cx="11039271" cy="4088003"/>
            </p:xfrm>
            <a:graphic>
              <a:graphicData uri="http://schemas.openxmlformats.org/drawingml/2006/table">
                <a:tbl>
                  <a:tblPr>
                    <a:tableStyleId>{7DF18680-E054-41AD-8BC1-D1AEF772440D}</a:tableStyleId>
                  </a:tblPr>
                  <a:tblGrid>
                    <a:gridCol w="976386">
                      <a:extLst>
                        <a:ext uri="{9D8B030D-6E8A-4147-A177-3AD203B41FA5}">
                          <a16:colId xmlns:a16="http://schemas.microsoft.com/office/drawing/2014/main" val="2934686149"/>
                        </a:ext>
                      </a:extLst>
                    </a:gridCol>
                    <a:gridCol w="976386">
                      <a:extLst>
                        <a:ext uri="{9D8B030D-6E8A-4147-A177-3AD203B41FA5}">
                          <a16:colId xmlns:a16="http://schemas.microsoft.com/office/drawing/2014/main" val="2990423203"/>
                        </a:ext>
                      </a:extLst>
                    </a:gridCol>
                    <a:gridCol w="897974">
                      <a:extLst>
                        <a:ext uri="{9D8B030D-6E8A-4147-A177-3AD203B41FA5}">
                          <a16:colId xmlns:a16="http://schemas.microsoft.com/office/drawing/2014/main" val="920957707"/>
                        </a:ext>
                      </a:extLst>
                    </a:gridCol>
                    <a:gridCol w="3026740">
                      <a:extLst>
                        <a:ext uri="{9D8B030D-6E8A-4147-A177-3AD203B41FA5}">
                          <a16:colId xmlns:a16="http://schemas.microsoft.com/office/drawing/2014/main" val="1878881520"/>
                        </a:ext>
                      </a:extLst>
                    </a:gridCol>
                    <a:gridCol w="5161785">
                      <a:extLst>
                        <a:ext uri="{9D8B030D-6E8A-4147-A177-3AD203B41FA5}">
                          <a16:colId xmlns:a16="http://schemas.microsoft.com/office/drawing/2014/main" val="1043595873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dirty="0">
                              <a:solidFill>
                                <a:schemeClr val="bg1"/>
                              </a:solidFill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统计假设</a:t>
                          </a:r>
                        </a:p>
                      </a:txBody>
                      <a:tcPr anchor="ctr">
                        <a:solidFill>
                          <a:schemeClr val="accent5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dirty="0">
                              <a:solidFill>
                                <a:schemeClr val="bg1"/>
                              </a:solidFill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条件</a:t>
                          </a:r>
                        </a:p>
                      </a:txBody>
                      <a:tcPr anchor="ctr">
                        <a:lnB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600" b="0" dirty="0">
                              <a:solidFill>
                                <a:schemeClr val="bg1"/>
                              </a:solidFill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构造的统计量及其分布</a:t>
                          </a:r>
                        </a:p>
                      </a:txBody>
                      <a:tcPr anchor="ctr">
                        <a:lnB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dirty="0">
                              <a:solidFill>
                                <a:schemeClr val="bg1"/>
                              </a:solidFill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拒绝域</a:t>
                          </a:r>
                        </a:p>
                      </a:txBody>
                      <a:tcPr anchor="ctr">
                        <a:lnB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21502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25" t="-101639" r="-1036250" b="-9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01639" r="-929814" b="-906557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73879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625" t="-201639" r="-1036250" b="-8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100000" t="-201639" r="-929814" b="-806557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19048" t="-67213" r="-918367" b="-202186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4366" t="-67213" r="-171630" b="-2021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114050" t="-201639" r="-708" b="-8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53325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25" t="-301639" r="-1036250" b="-7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00" t="-301639" r="-929814" b="-706557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4050" t="-301639" r="-708" b="-7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69909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25" t="-401639" r="-1036250" b="-6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401639" r="-929814" b="-606557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4050" t="-401639" r="-708" b="-6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89114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625" t="-501639" r="-1036250" b="-5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100000" t="-501639" r="-929814" b="-506557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19048" t="-167213" r="-918367" b="-102186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4366" t="-167213" r="-171630" b="-1021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114050" t="-501639" r="-708" b="-5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75301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25" t="-601639" r="-1036250" b="-4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00" t="-601639" r="-929814" b="-406557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4050" t="-601639" r="-708" b="-4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42130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25" t="-701639" r="-1036250" b="-3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701639" r="-929814" b="-306557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4050" t="-701639" r="-708" b="-3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158437"/>
                      </a:ext>
                    </a:extLst>
                  </a:tr>
                  <a:tr h="37960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625" t="-788710" r="-1036250" b="-2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100000" t="-788710" r="-929814" b="-201613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219048" t="-265761" r="-918367" b="-1630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94366" t="-265761" r="-171630" b="-16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114050" t="-788710" r="-708" b="-2016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71713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25" t="-903279" r="-1036250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00" t="-903279" r="-929814" b="-104918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4050" t="-903279" r="-708" b="-1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07510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25" t="-1003279" r="-1036250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000" t="-1003279" r="-929814" b="-4918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4050" t="-1003279" r="-708" b="-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267332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表格 10">
                <a:extLst>
                  <a:ext uri="{FF2B5EF4-FFF2-40B4-BE49-F238E27FC236}">
                    <a16:creationId xmlns:a16="http://schemas.microsoft.com/office/drawing/2014/main" id="{92F45E3F-6DC8-E561-5205-BBFC3BD00E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38829734"/>
                  </p:ext>
                </p:extLst>
              </p:nvPr>
            </p:nvGraphicFramePr>
            <p:xfrm>
              <a:off x="570215" y="1997984"/>
              <a:ext cx="11039272" cy="4138072"/>
            </p:xfrm>
            <a:graphic>
              <a:graphicData uri="http://schemas.openxmlformats.org/drawingml/2006/table">
                <a:tbl>
                  <a:tblPr>
                    <a:tableStyleId>{7DF18680-E054-41AD-8BC1-D1AEF772440D}</a:tableStyleId>
                  </a:tblPr>
                  <a:tblGrid>
                    <a:gridCol w="970681">
                      <a:extLst>
                        <a:ext uri="{9D8B030D-6E8A-4147-A177-3AD203B41FA5}">
                          <a16:colId xmlns:a16="http://schemas.microsoft.com/office/drawing/2014/main" val="2934686149"/>
                        </a:ext>
                      </a:extLst>
                    </a:gridCol>
                    <a:gridCol w="970681">
                      <a:extLst>
                        <a:ext uri="{9D8B030D-6E8A-4147-A177-3AD203B41FA5}">
                          <a16:colId xmlns:a16="http://schemas.microsoft.com/office/drawing/2014/main" val="2990423203"/>
                        </a:ext>
                      </a:extLst>
                    </a:gridCol>
                    <a:gridCol w="1177908">
                      <a:extLst>
                        <a:ext uri="{9D8B030D-6E8A-4147-A177-3AD203B41FA5}">
                          <a16:colId xmlns:a16="http://schemas.microsoft.com/office/drawing/2014/main" val="920957707"/>
                        </a:ext>
                      </a:extLst>
                    </a:gridCol>
                    <a:gridCol w="3692265">
                      <a:extLst>
                        <a:ext uri="{9D8B030D-6E8A-4147-A177-3AD203B41FA5}">
                          <a16:colId xmlns:a16="http://schemas.microsoft.com/office/drawing/2014/main" val="1878881520"/>
                        </a:ext>
                      </a:extLst>
                    </a:gridCol>
                    <a:gridCol w="4227737">
                      <a:extLst>
                        <a:ext uri="{9D8B030D-6E8A-4147-A177-3AD203B41FA5}">
                          <a16:colId xmlns:a16="http://schemas.microsoft.com/office/drawing/2014/main" val="1043595873"/>
                        </a:ext>
                      </a:extLst>
                    </a:gridCol>
                  </a:tblGrid>
                  <a:tr h="335376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dirty="0">
                              <a:solidFill>
                                <a:schemeClr val="bg1"/>
                              </a:solidFill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统计假设</a:t>
                          </a:r>
                        </a:p>
                      </a:txBody>
                      <a:tcPr anchor="ctr">
                        <a:solidFill>
                          <a:schemeClr val="accent5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dirty="0">
                              <a:solidFill>
                                <a:schemeClr val="bg1"/>
                              </a:solidFill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条件</a:t>
                          </a:r>
                        </a:p>
                      </a:txBody>
                      <a:tcPr anchor="ctr">
                        <a:lnB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600" b="0" dirty="0">
                              <a:solidFill>
                                <a:schemeClr val="bg1"/>
                              </a:solidFill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构造的统计量及其分布</a:t>
                          </a:r>
                        </a:p>
                      </a:txBody>
                      <a:tcPr anchor="ctr">
                        <a:lnB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dirty="0">
                              <a:solidFill>
                                <a:schemeClr val="bg1"/>
                              </a:solidFill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拒绝域</a:t>
                          </a:r>
                        </a:p>
                      </a:txBody>
                      <a:tcPr anchor="ctr">
                        <a:lnB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2150205"/>
                      </a:ext>
                    </a:extLst>
                  </a:tr>
                  <a:tr h="36722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bg1"/>
                            </a:solidFill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</a:txBody>
                      <a:tcPr anchor="ctr">
                        <a:lnB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bg1"/>
                            </a:solidFill>
                            <a:latin typeface="汉仪润圆-65简" panose="00020600040101010101" pitchFamily="18" charset="-122"/>
                            <a:ea typeface="汉仪润圆-65简" panose="00020600040101010101" pitchFamily="18" charset="-122"/>
                          </a:endParaRPr>
                        </a:p>
                      </a:txBody>
                      <a:tcPr anchor="ctr">
                        <a:lnB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7387934"/>
                      </a:ext>
                    </a:extLst>
                  </a:tr>
                  <a:tr h="3687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60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0" dirty="0"/>
                            <a:t>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60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60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oMath>
                          </a14:m>
                          <a:endParaRPr lang="en-US" altLang="zh-CN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  <a:p>
                          <a:pPr algn="ctr"/>
                          <a:r>
                            <a:rPr lang="zh-CN" altLang="en-US" sz="16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已知</a:t>
                          </a:r>
                        </a:p>
                      </a:txBody>
                      <a:tcPr anchor="ctr">
                        <a:lnT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̅"/>
                                        <m:ctrlPr>
                                          <a:rPr lang="zh-CN" altLang="en-US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zh-CN" altLang="en-US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acc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bSup>
                                          <m:sSubSupPr>
                                            <m:ctrlP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zh-CN" altLang="en-US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/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Sup>
                                          <m:sSubSupPr>
                                            <m:ctrlP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zh-CN" altLang="en-US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/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rad>
                                  </m:den>
                                </m:f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~ 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(0,1)</m:t>
                                </m:r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0" dirty="0">
                              <a:ea typeface="楷体" panose="02010609060101010101" pitchFamily="49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|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𝑢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|≥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𝛼</m:t>
                                  </m:r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/2</m:t>
                                  </m:r>
                                </m:sub>
                              </m:sSub>
                            </m:oMath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5332593"/>
                      </a:ext>
                    </a:extLst>
                  </a:tr>
                  <a:tr h="36872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0" dirty="0">
                              <a:ea typeface="楷体" panose="02010609060101010101" pitchFamily="49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𝑢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𝛼</m:t>
                                  </m:r>
                                </m:sub>
                              </m:sSub>
                            </m:oMath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36990910"/>
                      </a:ext>
                    </a:extLst>
                  </a:tr>
                  <a:tr h="36872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b="0" dirty="0">
                              <a:ea typeface="楷体" panose="02010609060101010101" pitchFamily="49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𝑢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≤−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𝛼</m:t>
                                  </m:r>
                                </m:sub>
                              </m:sSub>
                            </m:oMath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78911419"/>
                      </a:ext>
                    </a:extLst>
                  </a:tr>
                  <a:tr h="3687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60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0" dirty="0"/>
                            <a:t>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60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60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oMath>
                          </a14:m>
                          <a:endParaRPr lang="en-US" altLang="zh-CN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  <a:p>
                          <a:pPr algn="ctr"/>
                          <a:r>
                            <a:rPr lang="zh-CN" altLang="en-US" sz="16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未知</a:t>
                          </a:r>
                          <a:endParaRPr lang="en-US" altLang="zh-CN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  <a:p>
                          <a:pPr algn="ctr"/>
                          <a:r>
                            <a:rPr lang="zh-CN" altLang="en-US" sz="16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但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60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Sup>
                                <m:sSubSup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60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oMath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̅"/>
                                        <m:ctrlPr>
                                          <a:rPr lang="zh-CN" altLang="en-US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zh-CN" altLang="en-US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acc>
                                  </m:num>
                                  <m:den>
                                    <m:sSubSup>
                                      <m:sSubSupPr>
                                        <m:ctrlP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sub>
                                      <m:sup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1/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+1/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rad>
                                  </m:den>
                                </m:f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~  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−2)</m:t>
                                </m:r>
                              </m:oMath>
                            </m:oMathPara>
                          </a14:m>
                          <a:endParaRPr lang="en-US" altLang="zh-CN" sz="1600" b="0" dirty="0">
                            <a:solidFill>
                              <a:schemeClr val="tx1"/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其中</m:t>
                                </m:r>
                                <m:sSubSup>
                                  <m:sSubSupPr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  <m:sup>
                                    <m: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zh-CN" sz="1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altLang="zh-CN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d>
                                          <m:dPr>
                                            <m:ctrlPr>
                                              <a:rPr lang="en-US" altLang="zh-CN" sz="1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12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2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2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CN" sz="1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e>
                                        </m:d>
                                        <m:sSup>
                                          <m:sSupPr>
                                            <m:ctrlPr>
                                              <a:rPr lang="en-US" altLang="zh-CN" sz="1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CN" sz="12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12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12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𝑆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12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𝑛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sub>
                                                <m:r>
                                                  <a:rPr lang="en-US" altLang="zh-CN" sz="12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altLang="zh-CN" sz="12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∗</m:t>
                                                </m:r>
                                              </m:sup>
                                            </m:sSubSup>
                                          </m:e>
                                          <m:sup>
                                            <m:r>
                                              <a:rPr lang="en-US" altLang="zh-CN" sz="1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en-US" altLang="zh-CN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CN" sz="1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12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12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12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CN" sz="1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e>
                                        </m:d>
                                        <m:sSup>
                                          <m:sSupPr>
                                            <m:ctrlPr>
                                              <a:rPr lang="en-US" altLang="zh-CN" sz="1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CN" sz="12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altLang="zh-CN" sz="12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12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𝑆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12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𝑛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  <m:sub>
                                                <m:r>
                                                  <a:rPr lang="en-US" altLang="zh-CN" sz="12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  <m:sup>
                                                <m:r>
                                                  <a:rPr lang="en-US" altLang="zh-CN" sz="12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∗</m:t>
                                                </m:r>
                                              </m:sup>
                                            </m:sSubSup>
                                          </m:e>
                                          <m:sup>
                                            <m:r>
                                              <a:rPr lang="en-US" altLang="zh-CN" sz="1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zh-CN" sz="1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sz="1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1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den>
                                    </m:f>
                                  </m:e>
                                </m:rad>
                              </m:oMath>
                            </m:oMathPara>
                          </a14:m>
                          <a:endParaRPr lang="zh-CN" altLang="en-US" sz="1200" b="0" dirty="0">
                            <a:solidFill>
                              <a:schemeClr val="tx1"/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b="0" dirty="0">
                              <a:ea typeface="楷体" panose="02010609060101010101" pitchFamily="49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|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𝑡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|≥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𝛼</m:t>
                                  </m:r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/2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)</m:t>
                              </m:r>
                            </m:oMath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7530143"/>
                      </a:ext>
                    </a:extLst>
                  </a:tr>
                  <a:tr h="36872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0" dirty="0">
                              <a:ea typeface="楷体" panose="02010609060101010101" pitchFamily="49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𝑡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𝛼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)</m:t>
                              </m:r>
                            </m:oMath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44213059"/>
                      </a:ext>
                    </a:extLst>
                  </a:tr>
                  <a:tr h="45870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altLang="zh-CN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b="0" dirty="0">
                              <a:ea typeface="楷体" panose="02010609060101010101" pitchFamily="49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𝑡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≤−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𝛼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)</m:t>
                              </m:r>
                            </m:oMath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9158437"/>
                      </a:ext>
                    </a:extLst>
                  </a:tr>
                  <a:tr h="36872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Sup>
                                  <m:sSub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Sup>
                                  <m:sSub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Sup>
                                  <m:sSubSupPr>
                                    <m:ctrlP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altLang="zh-CN" sz="160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≠</m:t>
                                </m:r>
                                <m:sSubSup>
                                  <m:sSubSupPr>
                                    <m:ctrlP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600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CN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  <a:p>
                          <a:pPr algn="ctr"/>
                          <a:r>
                            <a:rPr lang="zh-CN" altLang="en-US" sz="16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未知</a:t>
                          </a: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row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方正清刻本悦宋简体" panose="02000000000000000000" pitchFamily="2" charset="-122"/>
                                  </a:rPr>
                                  <m:t>𝐹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方正清刻本悦宋简体" panose="02000000000000000000" pitchFamily="2" charset="-122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Sup>
                                      <m:sSubSupPr>
                                        <m:ctrlP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</m:e>
                                      <m:sub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e>
                                  <m:sup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sSup>
                                  <m:sSupPr>
                                    <m:ctrlP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Sup>
                                      <m:sSubSupPr>
                                        <m:ctrlP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</m:e>
                                      <m:sub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altLang="zh-CN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e>
                                  <m:sup>
                                    <m:r>
                                      <a:rPr lang="en-US" altLang="zh-CN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方正清刻本悦宋简体" panose="02000000000000000000" pitchFamily="2" charset="-122"/>
                                  </a:rPr>
                                  <m:t>~ 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方正清刻本悦宋简体" panose="02000000000000000000" pitchFamily="2" charset="-122"/>
                                  </a:rPr>
                                  <m:t>𝐹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方正清刻本悦宋简体" panose="02000000000000000000" pitchFamily="2" charset="-122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方正清刻本悦宋简体" panose="02000000000000000000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方正清刻本悦宋简体" panose="02000000000000000000" pitchFamily="2" charset="-122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方正清刻本悦宋简体" panose="02000000000000000000" pitchFamily="2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方正清刻本悦宋简体" panose="02000000000000000000" pitchFamily="2" charset="-122"/>
                                  </a:rPr>
                                  <m:t>−1,</m:t>
                                </m:r>
                                <m:sSub>
                                  <m:sSub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方正清刻本悦宋简体" panose="02000000000000000000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方正清刻本悦宋简体" panose="02000000000000000000" pitchFamily="2" charset="-122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  <a:ea typeface="方正清刻本悦宋简体" panose="02000000000000000000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方正清刻本悦宋简体" panose="02000000000000000000" pitchFamily="2" charset="-122"/>
                                  </a:rPr>
                                  <m:t>−1)</m:t>
                                </m:r>
                              </m:oMath>
                            </m:oMathPara>
                          </a14:m>
                          <a:endParaRPr lang="zh-CN" altLang="en-US" sz="1600" b="0" dirty="0">
                            <a:solidFill>
                              <a:schemeClr val="tx1"/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3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3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altLang="zh-CN" sz="13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US" altLang="zh-CN" sz="13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3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zh-CN" altLang="en-US" sz="13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𝛼</m:t>
                                  </m:r>
                                  <m:r>
                                    <a:rPr lang="en-US" altLang="zh-CN" sz="13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/2</m:t>
                                  </m:r>
                                </m:sub>
                              </m:sSub>
                              <m:r>
                                <a:rPr lang="en-US" altLang="zh-CN" sz="13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13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3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13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13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−1,</m:t>
                              </m:r>
                              <m:sSub>
                                <m:sSubPr>
                                  <m:ctrlPr>
                                    <a:rPr lang="en-US" altLang="zh-CN" sz="13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3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13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13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−1)</m:t>
                              </m:r>
                            </m:oMath>
                          </a14:m>
                          <a:r>
                            <a:rPr lang="zh-CN" altLang="en-US" sz="1300" dirty="0">
                              <a:latin typeface="楷体" panose="02010609060101010101" pitchFamily="49" charset="-122"/>
                              <a:ea typeface="楷体" panose="02010609060101010101" pitchFamily="49" charset="-122"/>
                            </a:rPr>
                            <a:t>或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3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altLang="zh-CN" sz="13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altLang="zh-CN" sz="13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3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13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1−</m:t>
                                  </m:r>
                                  <m:r>
                                    <a:rPr lang="zh-CN" altLang="en-US" sz="13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𝛼</m:t>
                                  </m:r>
                                  <m:r>
                                    <a:rPr lang="en-US" altLang="zh-CN" sz="13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/2</m:t>
                                  </m:r>
                                </m:sub>
                              </m:sSub>
                              <m:r>
                                <a:rPr lang="en-US" altLang="zh-CN" sz="13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13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3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13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13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−1,</m:t>
                              </m:r>
                              <m:sSub>
                                <m:sSubPr>
                                  <m:ctrlPr>
                                    <a:rPr lang="en-US" altLang="zh-CN" sz="13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3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13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13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−1)</m:t>
                              </m:r>
                            </m:oMath>
                          </a14:m>
                          <a:endParaRPr lang="zh-CN" altLang="en-US" sz="13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accent5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7171303"/>
                      </a:ext>
                    </a:extLst>
                  </a:tr>
                  <a:tr h="3687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Sup>
                                  <m:sSub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sSubSup>
                                  <m:sSub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Sup>
                                  <m:sSubSupPr>
                                    <m:ctrlP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sSubSup>
                                  <m:sSubSupPr>
                                    <m:ctrlP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6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𝛼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−1,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−1)</m:t>
                              </m:r>
                            </m:oMath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30751009"/>
                      </a:ext>
                    </a:extLst>
                  </a:tr>
                  <a:tr h="3687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Sup>
                                  <m:sSub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sSubSup>
                                  <m:sSubSupPr>
                                    <m:ctrl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Sup>
                                  <m:sSubSupPr>
                                    <m:ctrlP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altLang="zh-CN" sz="1600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Sup>
                                  <m:sSubSupPr>
                                    <m:ctrlP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160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1600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altLang="en-US" sz="16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6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1−</m:t>
                                  </m:r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𝛼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−1,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−1)</m:t>
                              </m:r>
                            </m:oMath>
                          </a14:m>
                          <a:endParaRPr lang="zh-CN" altLang="en-US" sz="1600" dirty="0">
                            <a:latin typeface="楷体" panose="02010609060101010101" pitchFamily="49" charset="-122"/>
                            <a:ea typeface="楷体" panose="02010609060101010101" pitchFamily="49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126733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表格 10">
                <a:extLst>
                  <a:ext uri="{FF2B5EF4-FFF2-40B4-BE49-F238E27FC236}">
                    <a16:creationId xmlns:a16="http://schemas.microsoft.com/office/drawing/2014/main" id="{92F45E3F-6DC8-E561-5205-BBFC3BD00E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38829734"/>
                  </p:ext>
                </p:extLst>
              </p:nvPr>
            </p:nvGraphicFramePr>
            <p:xfrm>
              <a:off x="570215" y="1997984"/>
              <a:ext cx="11039272" cy="4138072"/>
            </p:xfrm>
            <a:graphic>
              <a:graphicData uri="http://schemas.openxmlformats.org/drawingml/2006/table">
                <a:tbl>
                  <a:tblPr>
                    <a:tableStyleId>{7DF18680-E054-41AD-8BC1-D1AEF772440D}</a:tableStyleId>
                  </a:tblPr>
                  <a:tblGrid>
                    <a:gridCol w="970681">
                      <a:extLst>
                        <a:ext uri="{9D8B030D-6E8A-4147-A177-3AD203B41FA5}">
                          <a16:colId xmlns:a16="http://schemas.microsoft.com/office/drawing/2014/main" val="2934686149"/>
                        </a:ext>
                      </a:extLst>
                    </a:gridCol>
                    <a:gridCol w="970681">
                      <a:extLst>
                        <a:ext uri="{9D8B030D-6E8A-4147-A177-3AD203B41FA5}">
                          <a16:colId xmlns:a16="http://schemas.microsoft.com/office/drawing/2014/main" val="2990423203"/>
                        </a:ext>
                      </a:extLst>
                    </a:gridCol>
                    <a:gridCol w="1177908">
                      <a:extLst>
                        <a:ext uri="{9D8B030D-6E8A-4147-A177-3AD203B41FA5}">
                          <a16:colId xmlns:a16="http://schemas.microsoft.com/office/drawing/2014/main" val="920957707"/>
                        </a:ext>
                      </a:extLst>
                    </a:gridCol>
                    <a:gridCol w="3692265">
                      <a:extLst>
                        <a:ext uri="{9D8B030D-6E8A-4147-A177-3AD203B41FA5}">
                          <a16:colId xmlns:a16="http://schemas.microsoft.com/office/drawing/2014/main" val="1878881520"/>
                        </a:ext>
                      </a:extLst>
                    </a:gridCol>
                    <a:gridCol w="4227737">
                      <a:extLst>
                        <a:ext uri="{9D8B030D-6E8A-4147-A177-3AD203B41FA5}">
                          <a16:colId xmlns:a16="http://schemas.microsoft.com/office/drawing/2014/main" val="1043595873"/>
                        </a:ext>
                      </a:extLst>
                    </a:gridCol>
                  </a:tblGrid>
                  <a:tr h="335376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dirty="0">
                              <a:solidFill>
                                <a:schemeClr val="bg1"/>
                              </a:solidFill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统计假设</a:t>
                          </a:r>
                        </a:p>
                      </a:txBody>
                      <a:tcPr anchor="ctr">
                        <a:solidFill>
                          <a:schemeClr val="accent5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dirty="0">
                              <a:solidFill>
                                <a:schemeClr val="bg1"/>
                              </a:solidFill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条件</a:t>
                          </a:r>
                        </a:p>
                      </a:txBody>
                      <a:tcPr anchor="ctr">
                        <a:lnB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1600" b="0" dirty="0">
                              <a:solidFill>
                                <a:schemeClr val="bg1"/>
                              </a:solidFill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构造的统计量及其分布</a:t>
                          </a:r>
                        </a:p>
                      </a:txBody>
                      <a:tcPr anchor="ctr">
                        <a:lnB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/>
                        </a:solid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600" dirty="0">
                              <a:solidFill>
                                <a:schemeClr val="bg1"/>
                              </a:solidFill>
                              <a:latin typeface="汉仪润圆-65简" panose="00020600040101010101" pitchFamily="18" charset="-122"/>
                              <a:ea typeface="汉仪润圆-65简" panose="00020600040101010101" pitchFamily="18" charset="-122"/>
                            </a:rPr>
                            <a:t>拒绝域</a:t>
                          </a:r>
                        </a:p>
                      </a:txBody>
                      <a:tcPr anchor="ctr">
                        <a:lnB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2150205"/>
                      </a:ext>
                    </a:extLst>
                  </a:tr>
                  <a:tr h="36722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29" t="-95000" r="-1043396" b="-94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95000" r="-936875" b="-948333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7387934"/>
                      </a:ext>
                    </a:extLst>
                  </a:tr>
                  <a:tr h="36872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629" t="-191803" r="-1043396" b="-832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100000" t="-191803" r="-936875" b="-832787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5803" t="-64286" r="-676684" b="-212637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4653" t="-64286" r="-115512" b="-2126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5715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161239" t="-191803" r="-865" b="-8327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5332593"/>
                      </a:ext>
                    </a:extLst>
                  </a:tr>
                  <a:tr h="36872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629" t="-291803" r="-1043396" b="-732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000" t="-291803" r="-936875" b="-732787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61239" t="-291803" r="-865" b="-7327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6990910"/>
                      </a:ext>
                    </a:extLst>
                  </a:tr>
                  <a:tr h="36872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29" t="-398333" r="-1043396" b="-64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398333" r="-936875" b="-645000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1239" t="-398333" r="-865" b="-64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8911419"/>
                      </a:ext>
                    </a:extLst>
                  </a:tr>
                  <a:tr h="36872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629" t="-490164" r="-1043396" b="-5344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100000" t="-490164" r="-936875" b="-534426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5803" t="-148756" r="-676684" b="-92537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4653" t="-148756" r="-115512" b="-925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161239" t="-490164" r="-865" b="-5344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7530143"/>
                      </a:ext>
                    </a:extLst>
                  </a:tr>
                  <a:tr h="36872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629" t="-600000" r="-1043396" b="-44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000" t="-600000" r="-936875" b="-443333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61239" t="-600000" r="-865" b="-44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4213059"/>
                      </a:ext>
                    </a:extLst>
                  </a:tr>
                  <a:tr h="48569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29" t="-525000" r="-1043396" b="-23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525000" r="-936875" b="-232500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1239" t="-525000" r="-865" b="-23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158437"/>
                      </a:ext>
                    </a:extLst>
                  </a:tr>
                  <a:tr h="36872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629" t="-819672" r="-1043396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100000" t="-819672" r="-936875" b="-204918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165803" t="-274725" r="-676684" b="-2198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84653" t="-274725" r="-115512" b="-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4"/>
                          <a:stretch>
                            <a:fillRect l="-161239" t="-819672" r="-865" b="-2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7171303"/>
                      </a:ext>
                    </a:extLst>
                  </a:tr>
                  <a:tr h="36872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629" t="-935000" r="-1043396" b="-1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000" t="-935000" r="-936875" b="-108333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61239" t="-935000" r="-865" b="-10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0751009"/>
                      </a:ext>
                    </a:extLst>
                  </a:tr>
                  <a:tr h="36872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629" t="-1018033" r="-1043396" b="-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000" t="-1018033" r="-936875" b="-6557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61239" t="-1018033" r="-865" b="-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2673323"/>
                      </a:ext>
                    </a:extLst>
                  </a:tr>
                </a:tbl>
              </a:graphicData>
            </a:graphic>
          </p:graphicFrame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399550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C8E46DFC-0A01-3FB4-439C-01AF016F5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256" y="489762"/>
            <a:ext cx="9000000" cy="56214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75A27D7C-FCEC-2B19-8130-46456C383D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201" y="500993"/>
            <a:ext cx="9000000" cy="56214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2317558F-9270-60D1-BEB6-E6FAA2433B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146" y="500993"/>
            <a:ext cx="9000000" cy="5625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C1E4A54-F0B9-A588-79B4-D83BC9D73B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091" y="497480"/>
            <a:ext cx="9000000" cy="56214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05AF24D-C0F9-C978-55C0-60746EE4EB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548" y="497480"/>
            <a:ext cx="9000000" cy="56214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CBD5C88-05BE-2551-F163-41D5CE7E75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493" y="497480"/>
            <a:ext cx="9000000" cy="56214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CCFC7B7-95F5-C9A4-3D1E-B51727084F9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2950" y="497480"/>
            <a:ext cx="9000000" cy="56214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1DDC3A9-3512-8AB9-7701-8A6988E1588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407" y="511532"/>
            <a:ext cx="9000000" cy="56214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68ADDD5-6C53-6FAA-54C8-22645A2C577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9744" y="504506"/>
            <a:ext cx="9000000" cy="56214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607865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16667" decel="1666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0"/>
                            </p:stCondLst>
                            <p:childTnLst>
                              <p:par>
                                <p:cTn id="10" presetID="2" presetClass="entr" presetSubtype="2" accel="16667" decel="16667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9000"/>
                            </p:stCondLst>
                            <p:childTnLst>
                              <p:par>
                                <p:cTn id="15" presetID="2" presetClass="entr" presetSubtype="2" accel="16667" decel="16667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3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3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0"/>
                            </p:stCondLst>
                            <p:childTnLst>
                              <p:par>
                                <p:cTn id="20" presetID="2" presetClass="entr" presetSubtype="2" accel="16667" decel="16667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3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3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000"/>
                            </p:stCondLst>
                            <p:childTnLst>
                              <p:par>
                                <p:cTn id="25" presetID="2" presetClass="entr" presetSubtype="2" accel="16667" decel="16667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7000"/>
                            </p:stCondLst>
                            <p:childTnLst>
                              <p:par>
                                <p:cTn id="30" presetID="2" presetClass="entr" presetSubtype="2" accel="16667" decel="16667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3000"/>
                            </p:stCondLst>
                            <p:childTnLst>
                              <p:par>
                                <p:cTn id="35" presetID="2" presetClass="entr" presetSubtype="2" accel="16667" decel="16667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9000"/>
                            </p:stCondLst>
                            <p:childTnLst>
                              <p:par>
                                <p:cTn id="40" presetID="2" presetClass="entr" presetSubtype="2" accel="16667" decel="16667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5000"/>
                            </p:stCondLst>
                            <p:childTnLst>
                              <p:par>
                                <p:cTn id="45" presetID="2" presetClass="entr" presetSubtype="2" accel="16667" decel="16667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7|14.8|8|46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7|14.8|8|46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7|14.8|8|46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7|14.8|8|46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|42.2|5.4|5.6|14.3|37.1|9.7|31.9|56.7|30.2|26.1|23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|42.2|5.4|5.6|14.3|37.1|9.7|31.9|56.7|30.2|26.1|23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|42.2|5.4|5.6|14.3|37.1|9.7|31.9|56.7|30.2|26.1|23.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|42.2|5.4|5.6|14.3|37.1|9.7|31.9|56.7|30.2|26.1|23.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|42.2|5.4|5.6|14.3|37.1|9.7|31.9|56.7|30.2|26.1|23.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|42.2|5.4|5.6|14.3|37.1|9.7|31.9|56.7|30.2|26.1|23.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6|31.1|4.7|8.2|2.5|26.6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18002</TotalTime>
  <Words>2751</Words>
  <Application>Microsoft Office PowerPoint</Application>
  <PresentationFormat>宽屏</PresentationFormat>
  <Paragraphs>310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方正小标宋简体</vt:lpstr>
      <vt:lpstr>仿宋</vt:lpstr>
      <vt:lpstr>Arial</vt:lpstr>
      <vt:lpstr>Cambria Math</vt:lpstr>
      <vt:lpstr>楷体</vt:lpstr>
      <vt:lpstr>方正清刻本悦宋简体</vt:lpstr>
      <vt:lpstr>华文中宋</vt:lpstr>
      <vt:lpstr>等线 Light</vt:lpstr>
      <vt:lpstr>华文宋体</vt:lpstr>
      <vt:lpstr>汉仪润圆-65简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展 未央</dc:creator>
  <cp:lastModifiedBy>展 未央</cp:lastModifiedBy>
  <cp:revision>193</cp:revision>
  <dcterms:created xsi:type="dcterms:W3CDTF">2022-05-05T07:14:53Z</dcterms:created>
  <dcterms:modified xsi:type="dcterms:W3CDTF">2023-02-19T16:58:29Z</dcterms:modified>
</cp:coreProperties>
</file>