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9"/>
  </p:notesMasterIdLst>
  <p:sldIdLst>
    <p:sldId id="269" r:id="rId2"/>
    <p:sldId id="276" r:id="rId3"/>
    <p:sldId id="277" r:id="rId4"/>
    <p:sldId id="308" r:id="rId5"/>
    <p:sldId id="301" r:id="rId6"/>
    <p:sldId id="302" r:id="rId7"/>
    <p:sldId id="307" r:id="rId8"/>
    <p:sldId id="303" r:id="rId9"/>
    <p:sldId id="309" r:id="rId10"/>
    <p:sldId id="304" r:id="rId11"/>
    <p:sldId id="310" r:id="rId12"/>
    <p:sldId id="305" r:id="rId13"/>
    <p:sldId id="300" r:id="rId14"/>
    <p:sldId id="306" r:id="rId15"/>
    <p:sldId id="311" r:id="rId16"/>
    <p:sldId id="312" r:id="rId17"/>
    <p:sldId id="298" r:id="rId18"/>
  </p:sldIdLst>
  <p:sldSz cx="12192000" cy="6858000"/>
  <p:notesSz cx="6858000" cy="9144000"/>
  <p:embeddedFontLst>
    <p:embeddedFont>
      <p:font typeface="等线" panose="02010600030101010101" pitchFamily="2" charset="-122"/>
      <p:regular r:id="rId20"/>
      <p:bold r:id="rId21"/>
    </p:embeddedFont>
    <p:embeddedFont>
      <p:font typeface="等线 Light" panose="02010600030101010101" pitchFamily="2" charset="-122"/>
      <p:regular r:id="rId22"/>
    </p:embeddedFont>
    <p:embeddedFont>
      <p:font typeface="方正清刻本悦宋简体" panose="02000000000000000000" pitchFamily="2" charset="-122"/>
      <p:regular r:id="rId23"/>
    </p:embeddedFont>
    <p:embeddedFont>
      <p:font typeface="方正小标宋简体" panose="02000000000000000000" pitchFamily="2" charset="-122"/>
      <p:regular r:id="rId24"/>
    </p:embeddedFont>
    <p:embeddedFont>
      <p:font typeface="仿宋" panose="02010609060101010101" pitchFamily="49" charset="-122"/>
      <p:regular r:id="rId25"/>
    </p:embeddedFont>
    <p:embeddedFont>
      <p:font typeface="汉仪润圆-65简" panose="00020600040101010101" pitchFamily="18" charset="-122"/>
      <p:regular r:id="rId26"/>
    </p:embeddedFont>
    <p:embeddedFont>
      <p:font typeface="汉仪文黑-85W" panose="00020600040101010101" pitchFamily="18" charset="-122"/>
      <p:regular r:id="rId27"/>
    </p:embeddedFont>
    <p:embeddedFont>
      <p:font typeface="华文宋体" panose="02010600040101010101" pitchFamily="2" charset="-122"/>
      <p:regular r:id="rId28"/>
    </p:embeddedFont>
    <p:embeddedFont>
      <p:font typeface="华文中宋" panose="02010600040101010101" pitchFamily="2" charset="-122"/>
      <p:regular r:id="rId29"/>
    </p:embeddedFont>
    <p:embeddedFont>
      <p:font typeface="楷体" panose="02010609060101010101" pitchFamily="49" charset="-122"/>
      <p:regular r:id="rId30"/>
    </p:embeddedFont>
    <p:embeddedFont>
      <p:font typeface="Cambria Math" panose="02040503050406030204" pitchFamily="18" charset="0"/>
      <p:regular r:id="rId3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展 未央" initials="展" lastIdx="1" clrIdx="0">
    <p:extLst>
      <p:ext uri="{19B8F6BF-5375-455C-9EA6-DF929625EA0E}">
        <p15:presenceInfo xmlns:p15="http://schemas.microsoft.com/office/powerpoint/2012/main" userId="e6b0a92515a3b0ce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F3F3"/>
    <a:srgbClr val="FFFFFF"/>
    <a:srgbClr val="ED7D31"/>
    <a:srgbClr val="89F3FE"/>
    <a:srgbClr val="7ECEF4"/>
    <a:srgbClr val="000000"/>
    <a:srgbClr val="F17723"/>
    <a:srgbClr val="FF9900"/>
    <a:srgbClr val="FFC000"/>
    <a:srgbClr val="84CC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225" autoAdjust="0"/>
    <p:restoredTop sz="95526" autoAdjust="0"/>
  </p:normalViewPr>
  <p:slideViewPr>
    <p:cSldViewPr snapToGrid="0">
      <p:cViewPr varScale="1">
        <p:scale>
          <a:sx n="89" d="100"/>
          <a:sy n="89" d="100"/>
        </p:scale>
        <p:origin x="79" y="141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A4BD5C-A529-48D4-AE8F-BF3361AE1A27}" type="datetimeFigureOut">
              <a:rPr lang="zh-CN" altLang="en-US" smtClean="0"/>
              <a:t>2023/2/20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71CA1E-5CB9-473F-9F69-C52F533E75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49994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CFB3BA-B18E-DEC1-3E6C-4920AFE4E2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96C1B8B-823F-2425-71B0-85CE082B45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4F92AB0-C7C0-8587-6FD3-30D04F0E97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4161D-42D6-470B-805E-5931B541BEF7}" type="datetimeFigureOut">
              <a:rPr lang="zh-CN" altLang="en-US" smtClean="0"/>
              <a:t>2023/2/20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661379A-C11E-0B4A-0FD1-486A98C02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885E933-0268-110F-AFA0-D62C45416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3561A-2E89-425E-A0A8-1AF7CAA4F9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44828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97B214-8B47-223A-1CF5-72D03FE86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8BEE03A-37AD-9C95-639F-068C82BF22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78C7AA2-FA3D-9C92-5A13-30D5AC600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4161D-42D6-470B-805E-5931B541BEF7}" type="datetimeFigureOut">
              <a:rPr lang="zh-CN" altLang="en-US" smtClean="0"/>
              <a:t>2023/2/20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AF208E-5CAA-29FC-D025-A7E107CC4F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06FD161-7AEB-89B5-A6EF-6D6982276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3561A-2E89-425E-A0A8-1AF7CAA4F9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4925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AB7A64-974B-7FF5-1FBA-71C0CB8D1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F8DE448-7135-CF17-2AAA-15114DF680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E815D61-9D72-7FE4-F1B2-8183BF9F9E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4161D-42D6-470B-805E-5931B541BEF7}" type="datetimeFigureOut">
              <a:rPr lang="zh-CN" altLang="en-US" smtClean="0"/>
              <a:t>2023/2/20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B32A689-74BB-D820-494E-8FCE39D98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AE4DC3E-2FE6-BFC6-DBFF-0D17F5F0C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3561A-2E89-425E-A0A8-1AF7CAA4F9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0746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86FB7F-2D1B-E43D-ECB5-5AD8585F0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04AA1C3-9833-A836-7282-D8BD6C8C84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72B3DB0-6400-DEC7-2B30-FB7986C756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601E174-6AD7-6427-5CE9-A9BAF4604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4161D-42D6-470B-805E-5931B541BEF7}" type="datetimeFigureOut">
              <a:rPr lang="zh-CN" altLang="en-US" smtClean="0"/>
              <a:t>2023/2/20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B5AA43E-AD34-75D5-8FF8-4F7B9DD0C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A8E0980-F99C-DDD3-A77F-E7C5414E7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3561A-2E89-425E-A0A8-1AF7CAA4F9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0766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E8CBFC-3DA5-69CF-5529-7A41DF27A7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3E7A754-AD40-3C36-0B05-022B19F7E1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6A85000-B40C-E9B8-9031-BB1EAB5B7A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BDF7258-004C-372D-2F1C-7A3F5C84D3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D973573-1120-A2A0-F0DB-1AD265A7D9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9393FD2-AC0E-DF4D-699D-4499A4FE9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4161D-42D6-470B-805E-5931B541BEF7}" type="datetimeFigureOut">
              <a:rPr lang="zh-CN" altLang="en-US" smtClean="0"/>
              <a:t>2023/2/20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A3F570D-1DE8-EC07-1540-CAACD23AC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E9C2CD7-C46B-4BFF-EE78-C6AAEA866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3561A-2E89-425E-A0A8-1AF7CAA4F9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3697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9E18C9-230E-153A-E88A-6E56F2E05D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8C6ABD0-A360-2FD9-9E5B-F2C3392847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4161D-42D6-470B-805E-5931B541BEF7}" type="datetimeFigureOut">
              <a:rPr lang="zh-CN" altLang="en-US" smtClean="0"/>
              <a:t>2023/2/20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F774B37-0D4E-65D2-D16F-6FD6B327B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50F1C27-1813-0031-0F9F-DFA7FC5DF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3561A-2E89-425E-A0A8-1AF7CAA4F9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3174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6861B1D-2614-718F-CF47-7A8B5EA33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4161D-42D6-470B-805E-5931B541BEF7}" type="datetimeFigureOut">
              <a:rPr lang="zh-CN" altLang="en-US" smtClean="0"/>
              <a:t>2023/2/20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A25DC33-02B2-B215-0AA3-BE312780E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A168D3F-DB98-98CA-52C1-149A8C847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3561A-2E89-425E-A0A8-1AF7CAA4F9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5937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DA3FFA-AFDF-C8A5-BA7E-CD7ABADEF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350BBE7-CA90-E151-2431-F102742241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3A07E09-77AB-1537-6B25-F534ED4236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EA81297-8DC3-E11E-0231-CDE195F29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4161D-42D6-470B-805E-5931B541BEF7}" type="datetimeFigureOut">
              <a:rPr lang="zh-CN" altLang="en-US" smtClean="0"/>
              <a:t>2023/2/20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9A35E25-E4B2-75BE-3B7B-72E552916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119468-1629-7EF2-8699-25A1DE29C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3561A-2E89-425E-A0A8-1AF7CAA4F9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4011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D4DFE7-99DE-FD3E-5453-36D6FAB487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499B887-3B1B-DE6A-FC03-3D8C63CEF8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EA1ACB3-8653-6CEA-1A12-7B0C7DA4D7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27C50B8-A69D-A009-5ED2-9D40FEEB2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4161D-42D6-470B-805E-5931B541BEF7}" type="datetimeFigureOut">
              <a:rPr lang="zh-CN" altLang="en-US" smtClean="0"/>
              <a:t>2023/2/20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7E8222B-B5FA-855C-2588-3B06FA59BE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0DD61D6-F19B-BE5D-B08F-2EF5BC6B2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3561A-2E89-425E-A0A8-1AF7CAA4F9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5339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C3DEE9-4017-21BA-AF15-E1AEED1E78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BC19C68-5C6F-5E0E-439E-A548984F0D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C04FDBA-A8BF-4615-40D4-071E5FEE2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4161D-42D6-470B-805E-5931B541BEF7}" type="datetimeFigureOut">
              <a:rPr lang="zh-CN" altLang="en-US" smtClean="0"/>
              <a:t>2023/2/20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076B259-A67F-AB9C-CD3F-33AF2A633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3703F1D-84A7-1844-CEE0-F6CC6F069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3561A-2E89-425E-A0A8-1AF7CAA4F9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17742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73D60B5-3F32-AD71-9045-D0FA02F9D5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DE80A2B-ADBF-6FEE-635B-FDD1641C12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6566CB7-98BA-C868-FF9A-D23A5AAD4F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4161D-42D6-470B-805E-5931B541BEF7}" type="datetimeFigureOut">
              <a:rPr lang="zh-CN" altLang="en-US" smtClean="0"/>
              <a:t>2023/2/20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B91180C-F54D-80AC-DD6D-692325DB3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E7601E0-44E1-C0D8-BA09-EF88AD66B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3561A-2E89-425E-A0A8-1AF7CAA4F9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7284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F3EE246-BB85-D84E-CBC7-F7FB34018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F74AD51-E7A9-2FA7-385A-0AC41A7521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5F5AC51-1528-2E37-6F36-4072883B00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04161D-42D6-470B-805E-5931B541BEF7}" type="datetimeFigureOut">
              <a:rPr lang="zh-CN" altLang="en-US" smtClean="0"/>
              <a:t>2023/2/20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487E83-F91B-12DB-FCC0-2130541D0C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240DCE4-16B2-A875-3AE9-DFD71CC3C8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13561A-2E89-425E-A0A8-1AF7CAA4F9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48469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0.png"/><Relationship Id="rId3" Type="http://schemas.openxmlformats.org/officeDocument/2006/relationships/image" Target="../media/image110.png"/><Relationship Id="rId7" Type="http://schemas.openxmlformats.org/officeDocument/2006/relationships/image" Target="../media/image150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Relationship Id="rId6" Type="http://schemas.openxmlformats.org/officeDocument/2006/relationships/image" Target="../media/image16.png"/><Relationship Id="rId5" Type="http://schemas.openxmlformats.org/officeDocument/2006/relationships/image" Target="../media/image130.png"/><Relationship Id="rId4" Type="http://schemas.openxmlformats.org/officeDocument/2006/relationships/image" Target="../media/image120.png"/><Relationship Id="rId9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0.png"/><Relationship Id="rId3" Type="http://schemas.openxmlformats.org/officeDocument/2006/relationships/image" Target="../media/image220.png"/><Relationship Id="rId7" Type="http://schemas.openxmlformats.org/officeDocument/2006/relationships/image" Target="../media/image260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Relationship Id="rId6" Type="http://schemas.openxmlformats.org/officeDocument/2006/relationships/image" Target="../media/image250.png"/><Relationship Id="rId5" Type="http://schemas.openxmlformats.org/officeDocument/2006/relationships/image" Target="../media/image27.png"/><Relationship Id="rId4" Type="http://schemas.openxmlformats.org/officeDocument/2006/relationships/image" Target="../media/image230.png"/><Relationship Id="rId9" Type="http://schemas.openxmlformats.org/officeDocument/2006/relationships/image" Target="../media/image2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9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0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.xml"/><Relationship Id="rId6" Type="http://schemas.openxmlformats.org/officeDocument/2006/relationships/image" Target="../media/image320.png"/><Relationship Id="rId5" Type="http://schemas.openxmlformats.org/officeDocument/2006/relationships/image" Target="../media/image34.png"/><Relationship Id="rId4" Type="http://schemas.openxmlformats.org/officeDocument/2006/relationships/image" Target="../media/image30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1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0.png"/><Relationship Id="rId3" Type="http://schemas.openxmlformats.org/officeDocument/2006/relationships/image" Target="../media/image330.png"/><Relationship Id="rId7" Type="http://schemas.openxmlformats.org/officeDocument/2006/relationships/image" Target="../media/image370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2.xml"/><Relationship Id="rId6" Type="http://schemas.openxmlformats.org/officeDocument/2006/relationships/image" Target="../media/image360.png"/><Relationship Id="rId11" Type="http://schemas.openxmlformats.org/officeDocument/2006/relationships/image" Target="../media/image41.png"/><Relationship Id="rId5" Type="http://schemas.openxmlformats.org/officeDocument/2006/relationships/image" Target="../media/image350.png"/><Relationship Id="rId10" Type="http://schemas.openxmlformats.org/officeDocument/2006/relationships/image" Target="../media/image40.png"/><Relationship Id="rId4" Type="http://schemas.openxmlformats.org/officeDocument/2006/relationships/image" Target="../media/image39.png"/><Relationship Id="rId9" Type="http://schemas.openxmlformats.org/officeDocument/2006/relationships/image" Target="../media/image39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0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3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4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5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6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13" Type="http://schemas.openxmlformats.org/officeDocument/2006/relationships/image" Target="../media/image69.png"/><Relationship Id="rId3" Type="http://schemas.openxmlformats.org/officeDocument/2006/relationships/image" Target="../media/image59.png"/><Relationship Id="rId7" Type="http://schemas.openxmlformats.org/officeDocument/2006/relationships/image" Target="../media/image63.png"/><Relationship Id="rId12" Type="http://schemas.openxmlformats.org/officeDocument/2006/relationships/image" Target="../media/image68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7.xml"/><Relationship Id="rId6" Type="http://schemas.openxmlformats.org/officeDocument/2006/relationships/image" Target="../media/image62.png"/><Relationship Id="rId11" Type="http://schemas.openxmlformats.org/officeDocument/2006/relationships/image" Target="../media/image67.png"/><Relationship Id="rId5" Type="http://schemas.openxmlformats.org/officeDocument/2006/relationships/image" Target="../media/image61.png"/><Relationship Id="rId10" Type="http://schemas.openxmlformats.org/officeDocument/2006/relationships/image" Target="../media/image66.png"/><Relationship Id="rId4" Type="http://schemas.openxmlformats.org/officeDocument/2006/relationships/image" Target="../media/image60.png"/><Relationship Id="rId9" Type="http://schemas.openxmlformats.org/officeDocument/2006/relationships/image" Target="../media/image65.png"/><Relationship Id="rId14" Type="http://schemas.openxmlformats.org/officeDocument/2006/relationships/image" Target="../media/image7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图片 29">
            <a:extLst>
              <a:ext uri="{FF2B5EF4-FFF2-40B4-BE49-F238E27FC236}">
                <a16:creationId xmlns:a16="http://schemas.microsoft.com/office/drawing/2014/main" id="{94887E1D-C6CF-1FB4-AA55-CDB7659AB1B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51" r="11474"/>
          <a:stretch/>
        </p:blipFill>
        <p:spPr>
          <a:xfrm>
            <a:off x="675497" y="898434"/>
            <a:ext cx="3638282" cy="5277566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  <p:sp>
        <p:nvSpPr>
          <p:cNvPr id="22" name="文本框 21">
            <a:extLst>
              <a:ext uri="{FF2B5EF4-FFF2-40B4-BE49-F238E27FC236}">
                <a16:creationId xmlns:a16="http://schemas.microsoft.com/office/drawing/2014/main" id="{9198C80F-89CD-BB62-A046-E187E190F0DA}"/>
              </a:ext>
            </a:extLst>
          </p:cNvPr>
          <p:cNvSpPr txBox="1"/>
          <p:nvPr/>
        </p:nvSpPr>
        <p:spPr>
          <a:xfrm>
            <a:off x="4985486" y="2537256"/>
            <a:ext cx="653101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44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随机变量的数字特征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5B70860-7B7F-79E8-BFCC-9CAB1906F829}"/>
              </a:ext>
            </a:extLst>
          </p:cNvPr>
          <p:cNvSpPr txBox="1"/>
          <p:nvPr/>
        </p:nvSpPr>
        <p:spPr>
          <a:xfrm>
            <a:off x="4985485" y="3715018"/>
            <a:ext cx="6721606" cy="17147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华文宋体" panose="02010600040101010101" pitchFamily="2" charset="-122"/>
                <a:ea typeface="华文宋体" panose="02010600040101010101" pitchFamily="2" charset="-122"/>
              </a:rPr>
              <a:t>数学期望 </a:t>
            </a:r>
            <a:r>
              <a:rPr lang="en-US" altLang="zh-CN" dirty="0">
                <a:latin typeface="华文宋体" panose="02010600040101010101" pitchFamily="2" charset="-122"/>
                <a:ea typeface="华文宋体" panose="02010600040101010101" pitchFamily="2" charset="-122"/>
              </a:rPr>
              <a:t>—— 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定义、计算及性质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华文宋体" panose="02010600040101010101" pitchFamily="2" charset="-122"/>
                <a:ea typeface="华文宋体" panose="02010600040101010101" pitchFamily="2" charset="-122"/>
              </a:rPr>
              <a:t>方差 </a:t>
            </a:r>
            <a:r>
              <a:rPr lang="en-US" altLang="zh-CN" dirty="0">
                <a:latin typeface="华文宋体" panose="02010600040101010101" pitchFamily="2" charset="-122"/>
                <a:ea typeface="华文宋体" panose="02010600040101010101" pitchFamily="2" charset="-122"/>
              </a:rPr>
              <a:t>—— 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定义、计算及性质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800" dirty="0">
                <a:latin typeface="华文宋体" panose="02010600040101010101" pitchFamily="2" charset="-122"/>
                <a:ea typeface="华文宋体" panose="02010600040101010101" pitchFamily="2" charset="-122"/>
              </a:rPr>
              <a:t>矩  </a:t>
            </a:r>
            <a:r>
              <a:rPr lang="en-US" altLang="zh-CN" sz="1800" dirty="0">
                <a:latin typeface="华文宋体" panose="02010600040101010101" pitchFamily="2" charset="-122"/>
                <a:ea typeface="华文宋体" panose="02010600040101010101" pitchFamily="2" charset="-122"/>
              </a:rPr>
              <a:t>—— 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定义、计算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华文宋体" panose="02010600040101010101" pitchFamily="2" charset="-122"/>
                <a:ea typeface="华文宋体" panose="02010600040101010101" pitchFamily="2" charset="-122"/>
              </a:rPr>
              <a:t>协方差、相关系数 </a:t>
            </a:r>
            <a:r>
              <a:rPr lang="en-US" altLang="zh-CN" dirty="0">
                <a:latin typeface="华文宋体" panose="02010600040101010101" pitchFamily="2" charset="-122"/>
                <a:ea typeface="华文宋体" panose="02010600040101010101" pitchFamily="2" charset="-122"/>
              </a:rPr>
              <a:t>—— 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定义、计算、性质、独立与相关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4B045768-D895-3AB6-17F1-0E730D6A50EA}"/>
              </a:ext>
            </a:extLst>
          </p:cNvPr>
          <p:cNvCxnSpPr>
            <a:cxnSpLocks/>
          </p:cNvCxnSpPr>
          <p:nvPr/>
        </p:nvCxnSpPr>
        <p:spPr>
          <a:xfrm>
            <a:off x="4985485" y="3510857"/>
            <a:ext cx="6531018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4FC1EA91-F8F7-91D8-20AB-953E21B71335}"/>
              </a:ext>
            </a:extLst>
          </p:cNvPr>
          <p:cNvSpPr txBox="1"/>
          <p:nvPr/>
        </p:nvSpPr>
        <p:spPr>
          <a:xfrm>
            <a:off x="4985485" y="1741822"/>
            <a:ext cx="41332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2800" dirty="0"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《</a:t>
            </a:r>
            <a:r>
              <a:rPr lang="zh-CN" altLang="en-US" sz="2800" dirty="0"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概率论与数理统计</a:t>
            </a:r>
            <a:r>
              <a:rPr lang="en-US" altLang="zh-CN" sz="2800" dirty="0"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》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677998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143FF26B-CC77-0DBB-021F-F6F65A8FA87C}"/>
              </a:ext>
            </a:extLst>
          </p:cNvPr>
          <p:cNvCxnSpPr/>
          <p:nvPr/>
        </p:nvCxnSpPr>
        <p:spPr>
          <a:xfrm>
            <a:off x="576364" y="1136063"/>
            <a:ext cx="11039272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366AA635-A21B-A433-4648-23FD4F0AB104}"/>
              </a:ext>
            </a:extLst>
          </p:cNvPr>
          <p:cNvSpPr txBox="1"/>
          <p:nvPr/>
        </p:nvSpPr>
        <p:spPr>
          <a:xfrm>
            <a:off x="507460" y="496110"/>
            <a:ext cx="36913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随机变量的数学期望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F8EA2AA-3607-76BF-CED9-450E9DC65B0B}"/>
              </a:ext>
            </a:extLst>
          </p:cNvPr>
          <p:cNvSpPr txBox="1"/>
          <p:nvPr/>
        </p:nvSpPr>
        <p:spPr>
          <a:xfrm>
            <a:off x="507460" y="1425186"/>
            <a:ext cx="11108176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在高中数学的学习中，我们已经知道，</a:t>
            </a:r>
            <a:r>
              <a:rPr lang="zh-CN" altLang="en-US" sz="1600" u="sng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数学期望</a:t>
            </a:r>
            <a:r>
              <a:rPr lang="zh-CN" altLang="en-US" sz="16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 本质上 就是 </a:t>
            </a:r>
            <a:r>
              <a:rPr lang="zh-CN" altLang="en-US" sz="1600" u="sng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随机变量取值的加权平均</a:t>
            </a:r>
            <a:r>
              <a:rPr lang="zh-CN" altLang="en-US" sz="16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，权重即为各取值的概率。</a:t>
            </a:r>
            <a:endParaRPr lang="en-US" altLang="zh-CN" sz="1600" dirty="0">
              <a:latin typeface="方正小标宋简体" panose="02000000000000000000" pitchFamily="2" charset="-122"/>
              <a:ea typeface="方正小标宋简体" panose="02000000000000000000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学习了微积分的相关知识后，无论是离散型还是连续型随机变量，我们都可以引入 数学期望 这一概念。</a:t>
            </a:r>
            <a:endParaRPr lang="en-US" altLang="zh-CN" sz="1600" dirty="0">
              <a:latin typeface="方正小标宋简体" panose="02000000000000000000" pitchFamily="2" charset="-122"/>
              <a:ea typeface="方正小标宋简体" panose="02000000000000000000" pitchFamily="2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FCFE9ED-E2C0-E136-C16A-73B705043080}"/>
              </a:ext>
            </a:extLst>
          </p:cNvPr>
          <p:cNvSpPr txBox="1"/>
          <p:nvPr/>
        </p:nvSpPr>
        <p:spPr>
          <a:xfrm>
            <a:off x="4225694" y="775742"/>
            <a:ext cx="17500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600" dirty="0"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数学期望的定义</a:t>
            </a:r>
            <a:endParaRPr lang="en-US" altLang="zh-CN" sz="1600" dirty="0">
              <a:latin typeface="方正清刻本悦宋简体" panose="02000000000000000000" pitchFamily="2" charset="-122"/>
              <a:ea typeface="方正清刻本悦宋简体" panose="02000000000000000000" pitchFamily="2" charset="-122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9347824A-50DE-9012-57C0-5C78F4A5ACBC}"/>
              </a:ext>
            </a:extLst>
          </p:cNvPr>
          <p:cNvSpPr txBox="1"/>
          <p:nvPr/>
        </p:nvSpPr>
        <p:spPr>
          <a:xfrm>
            <a:off x="507460" y="2225405"/>
            <a:ext cx="11108176" cy="3650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>
                <a:latin typeface="仿宋" panose="02010609060101010101" pitchFamily="49" charset="-122"/>
                <a:ea typeface="仿宋" panose="02010609060101010101" pitchFamily="49" charset="-122"/>
              </a:rPr>
              <a:t>* </a:t>
            </a:r>
            <a:r>
              <a:rPr lang="zh-CN" altLang="en-US" sz="1400" dirty="0">
                <a:latin typeface="仿宋" panose="02010609060101010101" pitchFamily="49" charset="-122"/>
                <a:ea typeface="仿宋" panose="02010609060101010101" pitchFamily="49" charset="-122"/>
              </a:rPr>
              <a:t>随机变量的所有数字特征都是常数，一旦随机变量完全确定，则数字特征必然完全确定为一个数，它不是随机变量！</a:t>
            </a:r>
            <a:endParaRPr lang="en-US" altLang="zh-CN" sz="1400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: 圆角 3">
                <a:extLst>
                  <a:ext uri="{FF2B5EF4-FFF2-40B4-BE49-F238E27FC236}">
                    <a16:creationId xmlns:a16="http://schemas.microsoft.com/office/drawing/2014/main" id="{0B24E69A-ADF1-68D3-25F1-B6C202465E7C}"/>
                  </a:ext>
                </a:extLst>
              </p:cNvPr>
              <p:cNvSpPr/>
              <p:nvPr/>
            </p:nvSpPr>
            <p:spPr>
              <a:xfrm>
                <a:off x="576364" y="3025624"/>
                <a:ext cx="1992971" cy="595069"/>
              </a:xfrm>
              <a:prstGeom prst="round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dirty="0">
                    <a:solidFill>
                      <a:schemeClr val="tx1"/>
                    </a:solidFill>
                    <a:latin typeface="汉仪文黑-85W" panose="00020600040101010101" pitchFamily="18" charset="-128"/>
                    <a:ea typeface="汉仪文黑-85W" panose="00020600040101010101" pitchFamily="18" charset="-128"/>
                    <a:cs typeface="汉仪文黑-85W" panose="00020600040101010101" pitchFamily="18" charset="-128"/>
                  </a:rPr>
                  <a:t>数学期望</a:t>
                </a:r>
                <a:r>
                  <a:rPr lang="en-US" altLang="zh-CN" dirty="0">
                    <a:solidFill>
                      <a:schemeClr val="tx1"/>
                    </a:solidFill>
                    <a:latin typeface="汉仪文黑-85W" panose="00020600040101010101" pitchFamily="18" charset="-128"/>
                    <a:ea typeface="汉仪文黑-85W" panose="00020600040101010101" pitchFamily="18" charset="-128"/>
                    <a:cs typeface="汉仪文黑-85W" panose="00020600040101010101" pitchFamily="18" charset="-128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en-US" dirty="0">
                  <a:solidFill>
                    <a:schemeClr val="tx1"/>
                  </a:solidFill>
                  <a:latin typeface="汉仪文黑-85W" panose="00020600040101010101" pitchFamily="18" charset="-128"/>
                  <a:ea typeface="汉仪文黑-85W" panose="00020600040101010101" pitchFamily="18" charset="-128"/>
                  <a:cs typeface="汉仪文黑-85W" panose="00020600040101010101" pitchFamily="18" charset="-128"/>
                </a:endParaRPr>
              </a:p>
            </p:txBody>
          </p:sp>
        </mc:Choice>
        <mc:Fallback xmlns="">
          <p:sp>
            <p:nvSpPr>
              <p:cNvPr id="4" name="矩形: 圆角 3">
                <a:extLst>
                  <a:ext uri="{FF2B5EF4-FFF2-40B4-BE49-F238E27FC236}">
                    <a16:creationId xmlns:a16="http://schemas.microsoft.com/office/drawing/2014/main" id="{0B24E69A-ADF1-68D3-25F1-B6C202465E7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364" y="3025624"/>
                <a:ext cx="1992971" cy="595069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037860B3-7F19-B917-DCF1-0ECD0D1E531A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2569335" y="3323159"/>
            <a:ext cx="1948398" cy="0"/>
          </a:xfrm>
          <a:prstGeom prst="line">
            <a:avLst/>
          </a:prstGeom>
          <a:ln w="28575"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0524B510-AE56-F42E-397D-8B5C7E2F1E35}"/>
              </a:ext>
            </a:extLst>
          </p:cNvPr>
          <p:cNvSpPr txBox="1"/>
          <p:nvPr/>
        </p:nvSpPr>
        <p:spPr>
          <a:xfrm>
            <a:off x="2569336" y="2943585"/>
            <a:ext cx="194839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solidFill>
                  <a:schemeClr val="accent5"/>
                </a:solidFill>
                <a:latin typeface="汉仪润圆-65简" panose="00020600040101010101" pitchFamily="18" charset="-122"/>
                <a:ea typeface="汉仪润圆-65简" panose="00020600040101010101" pitchFamily="18" charset="-122"/>
              </a:rPr>
              <a:t>离散型</a:t>
            </a:r>
            <a:r>
              <a:rPr lang="zh-CN" altLang="en-US" sz="1600" dirty="0">
                <a:latin typeface="汉仪润圆-65简" panose="00020600040101010101" pitchFamily="18" charset="-122"/>
                <a:ea typeface="汉仪润圆-65简" panose="00020600040101010101" pitchFamily="18" charset="-122"/>
              </a:rPr>
              <a:t>随机变量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028B481-20C4-CE69-9855-8B5BA99424BA}"/>
              </a:ext>
            </a:extLst>
          </p:cNvPr>
          <p:cNvSpPr txBox="1"/>
          <p:nvPr/>
        </p:nvSpPr>
        <p:spPr>
          <a:xfrm>
            <a:off x="2569335" y="3410397"/>
            <a:ext cx="194839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solidFill>
                  <a:schemeClr val="accent1"/>
                </a:solidFill>
                <a:latin typeface="汉仪润圆-65简" panose="00020600040101010101" pitchFamily="18" charset="-122"/>
                <a:ea typeface="汉仪润圆-65简" panose="00020600040101010101" pitchFamily="18" charset="-122"/>
              </a:rPr>
              <a:t>连续型</a:t>
            </a:r>
            <a:r>
              <a:rPr lang="zh-CN" altLang="en-US" sz="1600" dirty="0">
                <a:latin typeface="汉仪润圆-65简" panose="00020600040101010101" pitchFamily="18" charset="-122"/>
                <a:ea typeface="汉仪润圆-65简" panose="00020600040101010101" pitchFamily="18" charset="-122"/>
              </a:rPr>
              <a:t>随机变量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E47FE2DF-5842-320B-A93D-F8EBB7FC8ED4}"/>
                  </a:ext>
                </a:extLst>
              </p:cNvPr>
              <p:cNvSpPr txBox="1"/>
              <p:nvPr/>
            </p:nvSpPr>
            <p:spPr>
              <a:xfrm>
                <a:off x="4785308" y="2943585"/>
                <a:ext cx="640643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nary>
                  </m:oMath>
                </a14:m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:r>
                  <a:rPr lang="zh-CN" altLang="en-US" sz="1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其中随机变量</a:t>
                </a:r>
                <a14:m>
                  <m:oMath xmlns:m="http://schemas.openxmlformats.org/officeDocument/2006/math">
                    <m:r>
                      <a:rPr lang="en-US" altLang="zh-CN" sz="14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𝑋</m:t>
                    </m:r>
                  </m:oMath>
                </a14:m>
                <a:r>
                  <a:rPr lang="zh-CN" altLang="en-US" sz="1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的分布律为</a:t>
                </a:r>
                <a14:m>
                  <m:oMath xmlns:m="http://schemas.openxmlformats.org/officeDocument/2006/math">
                    <m:r>
                      <a:rPr lang="en-US" altLang="zh-CN" sz="14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14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𝑋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CN" sz="14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altLang="zh-CN" sz="14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sSub>
                      <m:sSubPr>
                        <m:ctrlPr>
                          <a:rPr lang="en-US" altLang="zh-CN" sz="14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𝑝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𝑛</m:t>
                        </m:r>
                      </m:sub>
                    </m:sSub>
                    <m:r>
                      <a:rPr lang="en-US" altLang="zh-CN" sz="14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  <m:r>
                      <a:rPr lang="en-US" altLang="zh-CN" sz="14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𝑛</m:t>
                    </m:r>
                    <m:r>
                      <a:rPr lang="en-US" altLang="zh-CN" sz="14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=1,2,…)</m:t>
                    </m:r>
                  </m:oMath>
                </a14:m>
                <a:r>
                  <a:rPr lang="zh-CN" altLang="en-US" sz="1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E47FE2DF-5842-320B-A93D-F8EBB7FC8E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5308" y="2943585"/>
                <a:ext cx="6406434" cy="276999"/>
              </a:xfrm>
              <a:prstGeom prst="rect">
                <a:avLst/>
              </a:prstGeom>
              <a:blipFill>
                <a:blip r:embed="rId4"/>
                <a:stretch>
                  <a:fillRect l="-1332" t="-175556" b="-2711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53B713A9-E222-4CC6-AF8B-72322FD34A68}"/>
                  </a:ext>
                </a:extLst>
              </p:cNvPr>
              <p:cNvSpPr txBox="1"/>
              <p:nvPr/>
            </p:nvSpPr>
            <p:spPr>
              <a:xfrm>
                <a:off x="4785307" y="3383338"/>
                <a:ext cx="5032788" cy="3656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lang="en-US" altLang="zh-CN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en-US" altLang="zh-CN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nary>
                  </m:oMath>
                </a14:m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:r>
                  <a:rPr lang="zh-CN" altLang="en-US" sz="1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其中随机变量</a:t>
                </a:r>
                <a14:m>
                  <m:oMath xmlns:m="http://schemas.openxmlformats.org/officeDocument/2006/math">
                    <m:r>
                      <a:rPr lang="en-US" altLang="zh-CN" sz="14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𝑋</m:t>
                    </m:r>
                  </m:oMath>
                </a14:m>
                <a:r>
                  <a:rPr lang="zh-CN" altLang="en-US" sz="1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的密度函数为</a:t>
                </a:r>
                <a14:m>
                  <m:oMath xmlns:m="http://schemas.openxmlformats.org/officeDocument/2006/math"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1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53B713A9-E222-4CC6-AF8B-72322FD34A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5307" y="3383338"/>
                <a:ext cx="5032788" cy="365613"/>
              </a:xfrm>
              <a:prstGeom prst="rect">
                <a:avLst/>
              </a:prstGeom>
              <a:blipFill>
                <a:blip r:embed="rId5"/>
                <a:stretch>
                  <a:fillRect l="-1695" t="-148333" b="-231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1B335EFA-23CD-4AA9-D056-138B5DBAE9F1}"/>
              </a:ext>
            </a:extLst>
          </p:cNvPr>
          <p:cNvCxnSpPr>
            <a:cxnSpLocks/>
          </p:cNvCxnSpPr>
          <p:nvPr/>
        </p:nvCxnSpPr>
        <p:spPr>
          <a:xfrm>
            <a:off x="828483" y="3484253"/>
            <a:ext cx="0" cy="1184424"/>
          </a:xfrm>
          <a:prstGeom prst="line">
            <a:avLst/>
          </a:prstGeom>
          <a:ln w="38100">
            <a:solidFill>
              <a:schemeClr val="accent6">
                <a:lumMod val="20000"/>
                <a:lumOff val="8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4" name="组合 63">
            <a:extLst>
              <a:ext uri="{FF2B5EF4-FFF2-40B4-BE49-F238E27FC236}">
                <a16:creationId xmlns:a16="http://schemas.microsoft.com/office/drawing/2014/main" id="{3DEA21CF-0639-F356-8CAA-48314FCF769B}"/>
              </a:ext>
            </a:extLst>
          </p:cNvPr>
          <p:cNvGrpSpPr/>
          <p:nvPr/>
        </p:nvGrpSpPr>
        <p:grpSpPr>
          <a:xfrm>
            <a:off x="783038" y="3896738"/>
            <a:ext cx="10832598" cy="593945"/>
            <a:chOff x="783038" y="4002579"/>
            <a:chExt cx="10832598" cy="593945"/>
          </a:xfrm>
        </p:grpSpPr>
        <p:grpSp>
          <p:nvGrpSpPr>
            <p:cNvPr id="58" name="组合 57">
              <a:extLst>
                <a:ext uri="{FF2B5EF4-FFF2-40B4-BE49-F238E27FC236}">
                  <a16:creationId xmlns:a16="http://schemas.microsoft.com/office/drawing/2014/main" id="{D80AFBC7-96D4-176F-06EE-EBFCDDF03D7E}"/>
                </a:ext>
              </a:extLst>
            </p:cNvPr>
            <p:cNvGrpSpPr/>
            <p:nvPr/>
          </p:nvGrpSpPr>
          <p:grpSpPr>
            <a:xfrm>
              <a:off x="783038" y="4136861"/>
              <a:ext cx="590428" cy="90889"/>
              <a:chOff x="783038" y="4168883"/>
              <a:chExt cx="590428" cy="90889"/>
            </a:xfrm>
          </p:grpSpPr>
          <p:cxnSp>
            <p:nvCxnSpPr>
              <p:cNvPr id="36" name="直接连接符 35">
                <a:extLst>
                  <a:ext uri="{FF2B5EF4-FFF2-40B4-BE49-F238E27FC236}">
                    <a16:creationId xmlns:a16="http://schemas.microsoft.com/office/drawing/2014/main" id="{AD2092FC-3674-2AAD-6E2E-45ACE9B3E05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4251" y="4214328"/>
                <a:ext cx="559215" cy="0"/>
              </a:xfrm>
              <a:prstGeom prst="line">
                <a:avLst/>
              </a:prstGeom>
              <a:ln w="38100">
                <a:solidFill>
                  <a:schemeClr val="accent6">
                    <a:lumMod val="20000"/>
                    <a:lumOff val="80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" name="椭圆 38">
                <a:extLst>
                  <a:ext uri="{FF2B5EF4-FFF2-40B4-BE49-F238E27FC236}">
                    <a16:creationId xmlns:a16="http://schemas.microsoft.com/office/drawing/2014/main" id="{52B963AC-F3F0-FE46-C256-732775310D58}"/>
                  </a:ext>
                </a:extLst>
              </p:cNvPr>
              <p:cNvSpPr/>
              <p:nvPr/>
            </p:nvSpPr>
            <p:spPr>
              <a:xfrm>
                <a:off x="783038" y="4168883"/>
                <a:ext cx="90889" cy="90889"/>
              </a:xfrm>
              <a:prstGeom prst="ellipse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62" name="文本框 61">
              <a:extLst>
                <a:ext uri="{FF2B5EF4-FFF2-40B4-BE49-F238E27FC236}">
                  <a16:creationId xmlns:a16="http://schemas.microsoft.com/office/drawing/2014/main" id="{8092E13C-1AD9-7057-DC57-F5FDBEDF372B}"/>
                </a:ext>
              </a:extLst>
            </p:cNvPr>
            <p:cNvSpPr txBox="1"/>
            <p:nvPr/>
          </p:nvSpPr>
          <p:spPr>
            <a:xfrm>
              <a:off x="1418911" y="4002579"/>
              <a:ext cx="10196725" cy="593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5000"/>
                </a:lnSpc>
              </a:pPr>
              <a:r>
                <a:rPr lang="zh-CN" altLang="en-US" sz="1400" dirty="0">
                  <a:latin typeface="汉仪文黑-85W" panose="00020600040101010101" pitchFamily="18" charset="-128"/>
                  <a:ea typeface="汉仪文黑-85W" panose="00020600040101010101" pitchFamily="18" charset="-128"/>
                  <a:cs typeface="汉仪文黑-85W" panose="00020600040101010101" pitchFamily="18" charset="-128"/>
                </a:rPr>
                <a:t>注</a:t>
              </a:r>
              <a:r>
                <a:rPr lang="zh-CN" altLang="en-US" sz="1400" dirty="0">
                  <a:latin typeface="仿宋" panose="02010609060101010101" pitchFamily="49" charset="-122"/>
                  <a:ea typeface="仿宋" panose="02010609060101010101" pitchFamily="49" charset="-122"/>
                </a:rPr>
                <a:t>：随机变量的数学期望</a:t>
              </a:r>
              <a:r>
                <a:rPr lang="zh-CN" altLang="en-US" sz="1400" b="1" dirty="0">
                  <a:solidFill>
                    <a:srgbClr val="00B050"/>
                  </a:solidFill>
                  <a:latin typeface="仿宋" panose="02010609060101010101" pitchFamily="49" charset="-122"/>
                  <a:ea typeface="仿宋" panose="02010609060101010101" pitchFamily="49" charset="-122"/>
                </a:rPr>
                <a:t>并不总是存在的</a:t>
              </a:r>
              <a:r>
                <a:rPr lang="zh-CN" altLang="en-US" sz="1400" dirty="0">
                  <a:latin typeface="仿宋" panose="02010609060101010101" pitchFamily="49" charset="-122"/>
                  <a:ea typeface="仿宋" panose="02010609060101010101" pitchFamily="49" charset="-122"/>
                </a:rPr>
                <a:t>！既然它由无穷级数</a:t>
              </a:r>
              <a:r>
                <a:rPr lang="en-US" altLang="zh-CN" sz="1400" dirty="0">
                  <a:latin typeface="仿宋" panose="02010609060101010101" pitchFamily="49" charset="-122"/>
                  <a:ea typeface="仿宋" panose="02010609060101010101" pitchFamily="49" charset="-122"/>
                </a:rPr>
                <a:t>/</a:t>
              </a:r>
              <a:r>
                <a:rPr lang="zh-CN" altLang="en-US" sz="1400" dirty="0">
                  <a:latin typeface="仿宋" panose="02010609060101010101" pitchFamily="49" charset="-122"/>
                  <a:ea typeface="仿宋" panose="02010609060101010101" pitchFamily="49" charset="-122"/>
                </a:rPr>
                <a:t>广义积分定义，自然存在收敛与否的问题。</a:t>
              </a:r>
              <a:endParaRPr lang="en-US" altLang="zh-CN" sz="1400" dirty="0">
                <a:latin typeface="仿宋" panose="02010609060101010101" pitchFamily="49" charset="-122"/>
                <a:ea typeface="仿宋" panose="02010609060101010101" pitchFamily="49" charset="-122"/>
              </a:endParaRPr>
            </a:p>
            <a:p>
              <a:pPr>
                <a:lnSpc>
                  <a:spcPct val="125000"/>
                </a:lnSpc>
              </a:pPr>
              <a:r>
                <a:rPr lang="en-US" altLang="zh-CN" sz="1400" dirty="0">
                  <a:latin typeface="仿宋" panose="02010609060101010101" pitchFamily="49" charset="-122"/>
                  <a:ea typeface="仿宋" panose="02010609060101010101" pitchFamily="49" charset="-122"/>
                </a:rPr>
                <a:t>    </a:t>
              </a:r>
              <a:r>
                <a:rPr lang="zh-CN" altLang="en-US" sz="1400" dirty="0">
                  <a:latin typeface="仿宋" panose="02010609060101010101" pitchFamily="49" charset="-122"/>
                  <a:ea typeface="仿宋" panose="02010609060101010101" pitchFamily="49" charset="-122"/>
                </a:rPr>
                <a:t>只有上述的无穷级数</a:t>
              </a:r>
              <a:r>
                <a:rPr lang="en-US" altLang="zh-CN" sz="1400" dirty="0">
                  <a:latin typeface="仿宋" panose="02010609060101010101" pitchFamily="49" charset="-122"/>
                  <a:ea typeface="仿宋" panose="02010609060101010101" pitchFamily="49" charset="-122"/>
                </a:rPr>
                <a:t>/</a:t>
              </a:r>
              <a:r>
                <a:rPr lang="zh-CN" altLang="en-US" sz="1400" dirty="0">
                  <a:latin typeface="仿宋" panose="02010609060101010101" pitchFamily="49" charset="-122"/>
                  <a:ea typeface="仿宋" panose="02010609060101010101" pitchFamily="49" charset="-122"/>
                </a:rPr>
                <a:t>广义积分</a:t>
              </a:r>
              <a:r>
                <a:rPr lang="zh-CN" altLang="en-US" sz="1400" dirty="0">
                  <a:solidFill>
                    <a:srgbClr val="00B050"/>
                  </a:solidFill>
                  <a:latin typeface="仿宋" panose="02010609060101010101" pitchFamily="49" charset="-122"/>
                  <a:ea typeface="仿宋" panose="02010609060101010101" pitchFamily="49" charset="-122"/>
                </a:rPr>
                <a:t>绝对收敛</a:t>
              </a:r>
              <a:r>
                <a:rPr lang="zh-CN" altLang="en-US" sz="1400" dirty="0">
                  <a:latin typeface="仿宋" panose="02010609060101010101" pitchFamily="49" charset="-122"/>
                  <a:ea typeface="仿宋" panose="02010609060101010101" pitchFamily="49" charset="-122"/>
                </a:rPr>
                <a:t>，随机变量的数学期望才存在。</a:t>
              </a:r>
              <a:endParaRPr lang="en-US" altLang="zh-CN" sz="1400" dirty="0">
                <a:latin typeface="仿宋" panose="02010609060101010101" pitchFamily="49" charset="-122"/>
                <a:ea typeface="仿宋" panose="02010609060101010101" pitchFamily="49" charset="-122"/>
              </a:endParaRPr>
            </a:p>
          </p:txBody>
        </p:sp>
      </p:grpSp>
      <p:grpSp>
        <p:nvGrpSpPr>
          <p:cNvPr id="65" name="组合 64">
            <a:extLst>
              <a:ext uri="{FF2B5EF4-FFF2-40B4-BE49-F238E27FC236}">
                <a16:creationId xmlns:a16="http://schemas.microsoft.com/office/drawing/2014/main" id="{2C50DDA7-CF1E-E941-73AB-AE5BE95C35BC}"/>
              </a:ext>
            </a:extLst>
          </p:cNvPr>
          <p:cNvGrpSpPr/>
          <p:nvPr/>
        </p:nvGrpSpPr>
        <p:grpSpPr>
          <a:xfrm>
            <a:off x="783038" y="4569955"/>
            <a:ext cx="10839955" cy="307777"/>
            <a:chOff x="783038" y="4675796"/>
            <a:chExt cx="10839955" cy="307777"/>
          </a:xfrm>
        </p:grpSpPr>
        <p:grpSp>
          <p:nvGrpSpPr>
            <p:cNvPr id="60" name="组合 59">
              <a:extLst>
                <a:ext uri="{FF2B5EF4-FFF2-40B4-BE49-F238E27FC236}">
                  <a16:creationId xmlns:a16="http://schemas.microsoft.com/office/drawing/2014/main" id="{16579F66-0AC9-BD90-740A-7C9DF1FA5A83}"/>
                </a:ext>
              </a:extLst>
            </p:cNvPr>
            <p:cNvGrpSpPr/>
            <p:nvPr/>
          </p:nvGrpSpPr>
          <p:grpSpPr>
            <a:xfrm>
              <a:off x="783038" y="4784241"/>
              <a:ext cx="597785" cy="90889"/>
              <a:chOff x="783038" y="4702121"/>
              <a:chExt cx="597785" cy="90889"/>
            </a:xfrm>
          </p:grpSpPr>
          <p:cxnSp>
            <p:nvCxnSpPr>
              <p:cNvPr id="53" name="直接连接符 52">
                <a:extLst>
                  <a:ext uri="{FF2B5EF4-FFF2-40B4-BE49-F238E27FC236}">
                    <a16:creationId xmlns:a16="http://schemas.microsoft.com/office/drawing/2014/main" id="{3628905B-F9C3-7824-74BB-89747229465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21608" y="4747565"/>
                <a:ext cx="559215" cy="0"/>
              </a:xfrm>
              <a:prstGeom prst="line">
                <a:avLst/>
              </a:prstGeom>
              <a:ln w="38100">
                <a:solidFill>
                  <a:schemeClr val="accent6">
                    <a:lumMod val="20000"/>
                    <a:lumOff val="80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1" name="椭圆 40">
                <a:extLst>
                  <a:ext uri="{FF2B5EF4-FFF2-40B4-BE49-F238E27FC236}">
                    <a16:creationId xmlns:a16="http://schemas.microsoft.com/office/drawing/2014/main" id="{A78F4475-9ADD-9BEB-4D6A-31827A134666}"/>
                  </a:ext>
                </a:extLst>
              </p:cNvPr>
              <p:cNvSpPr/>
              <p:nvPr/>
            </p:nvSpPr>
            <p:spPr>
              <a:xfrm>
                <a:off x="783038" y="4702121"/>
                <a:ext cx="90889" cy="90889"/>
              </a:xfrm>
              <a:prstGeom prst="ellipse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文本框 62">
                  <a:extLst>
                    <a:ext uri="{FF2B5EF4-FFF2-40B4-BE49-F238E27FC236}">
                      <a16:creationId xmlns:a16="http://schemas.microsoft.com/office/drawing/2014/main" id="{09ED4656-2684-3904-D828-2DE5B7657AEA}"/>
                    </a:ext>
                  </a:extLst>
                </p:cNvPr>
                <p:cNvSpPr txBox="1"/>
                <p:nvPr/>
              </p:nvSpPr>
              <p:spPr>
                <a:xfrm>
                  <a:off x="1426268" y="4675796"/>
                  <a:ext cx="10196725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400" dirty="0">
                      <a:latin typeface="汉仪文黑-85W" panose="00020600040101010101" pitchFamily="18" charset="-128"/>
                      <a:ea typeface="汉仪文黑-85W" panose="00020600040101010101" pitchFamily="18" charset="-128"/>
                      <a:cs typeface="汉仪文黑-85W" panose="00020600040101010101" pitchFamily="18" charset="-128"/>
                    </a:rPr>
                    <a:t>附</a:t>
                  </a:r>
                  <a:r>
                    <a:rPr lang="zh-CN" altLang="en-US" sz="1400" dirty="0">
                      <a:latin typeface="仿宋" panose="02010609060101010101" pitchFamily="49" charset="-122"/>
                      <a:ea typeface="仿宋" panose="02010609060101010101" pitchFamily="49" charset="-122"/>
                    </a:rPr>
                    <a:t>：当随机变量</a:t>
                  </a:r>
                  <a14:m>
                    <m:oMath xmlns:m="http://schemas.openxmlformats.org/officeDocument/2006/math">
                      <m:r>
                        <a:rPr lang="en-US" altLang="zh-CN" sz="1400" i="1" dirty="0" smtClean="0"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𝑋</m:t>
                      </m:r>
                    </m:oMath>
                  </a14:m>
                  <a:r>
                    <a:rPr lang="zh-CN" altLang="en-US" sz="1400" dirty="0">
                      <a:latin typeface="仿宋" panose="02010609060101010101" pitchFamily="49" charset="-122"/>
                      <a:ea typeface="仿宋" panose="02010609060101010101" pitchFamily="49" charset="-122"/>
                    </a:rPr>
                    <a:t>服从一些常见分布时，其数学期望如下表：</a:t>
                  </a:r>
                  <a:endParaRPr lang="en-US" altLang="zh-CN" sz="1400" dirty="0">
                    <a:latin typeface="仿宋" panose="02010609060101010101" pitchFamily="49" charset="-122"/>
                    <a:ea typeface="仿宋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63" name="文本框 62">
                  <a:extLst>
                    <a:ext uri="{FF2B5EF4-FFF2-40B4-BE49-F238E27FC236}">
                      <a16:creationId xmlns:a16="http://schemas.microsoft.com/office/drawing/2014/main" id="{09ED4656-2684-3904-D828-2DE5B7657A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26268" y="4675796"/>
                  <a:ext cx="10196725" cy="307777"/>
                </a:xfrm>
                <a:prstGeom prst="rect">
                  <a:avLst/>
                </a:prstGeom>
                <a:blipFill>
                  <a:blip r:embed="rId6"/>
                  <a:stretch>
                    <a:fillRect l="-179" t="-10000" b="-22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7" name="表格 67">
                <a:extLst>
                  <a:ext uri="{FF2B5EF4-FFF2-40B4-BE49-F238E27FC236}">
                    <a16:creationId xmlns:a16="http://schemas.microsoft.com/office/drawing/2014/main" id="{B1D657B1-C416-2333-270E-EEF3A589D55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82783081"/>
                  </p:ext>
                </p:extLst>
              </p:nvPr>
            </p:nvGraphicFramePr>
            <p:xfrm>
              <a:off x="749291" y="4922994"/>
              <a:ext cx="10693418" cy="889000"/>
            </p:xfrm>
            <a:graphic>
              <a:graphicData uri="http://schemas.openxmlformats.org/drawingml/2006/table">
                <a:tbl>
                  <a:tblPr firstRow="1" firstCol="1" bandRow="1">
                    <a:tableStyleId>{93296810-A885-4BE3-A3E7-6D5BEEA58F35}</a:tableStyleId>
                  </a:tblPr>
                  <a:tblGrid>
                    <a:gridCol w="1119574">
                      <a:extLst>
                        <a:ext uri="{9D8B030D-6E8A-4147-A177-3AD203B41FA5}">
                          <a16:colId xmlns:a16="http://schemas.microsoft.com/office/drawing/2014/main" val="3581678023"/>
                        </a:ext>
                      </a:extLst>
                    </a:gridCol>
                    <a:gridCol w="1367692">
                      <a:extLst>
                        <a:ext uri="{9D8B030D-6E8A-4147-A177-3AD203B41FA5}">
                          <a16:colId xmlns:a16="http://schemas.microsoft.com/office/drawing/2014/main" val="3021564112"/>
                        </a:ext>
                      </a:extLst>
                    </a:gridCol>
                    <a:gridCol w="1367692">
                      <a:extLst>
                        <a:ext uri="{9D8B030D-6E8A-4147-A177-3AD203B41FA5}">
                          <a16:colId xmlns:a16="http://schemas.microsoft.com/office/drawing/2014/main" val="3947614986"/>
                        </a:ext>
                      </a:extLst>
                    </a:gridCol>
                    <a:gridCol w="1367692">
                      <a:extLst>
                        <a:ext uri="{9D8B030D-6E8A-4147-A177-3AD203B41FA5}">
                          <a16:colId xmlns:a16="http://schemas.microsoft.com/office/drawing/2014/main" val="980747976"/>
                        </a:ext>
                      </a:extLst>
                    </a:gridCol>
                    <a:gridCol w="1367692">
                      <a:extLst>
                        <a:ext uri="{9D8B030D-6E8A-4147-A177-3AD203B41FA5}">
                          <a16:colId xmlns:a16="http://schemas.microsoft.com/office/drawing/2014/main" val="999525205"/>
                        </a:ext>
                      </a:extLst>
                    </a:gridCol>
                    <a:gridCol w="1367692">
                      <a:extLst>
                        <a:ext uri="{9D8B030D-6E8A-4147-A177-3AD203B41FA5}">
                          <a16:colId xmlns:a16="http://schemas.microsoft.com/office/drawing/2014/main" val="526288975"/>
                        </a:ext>
                      </a:extLst>
                    </a:gridCol>
                    <a:gridCol w="1367692">
                      <a:extLst>
                        <a:ext uri="{9D8B030D-6E8A-4147-A177-3AD203B41FA5}">
                          <a16:colId xmlns:a16="http://schemas.microsoft.com/office/drawing/2014/main" val="3336711973"/>
                        </a:ext>
                      </a:extLst>
                    </a:gridCol>
                    <a:gridCol w="1367692">
                      <a:extLst>
                        <a:ext uri="{9D8B030D-6E8A-4147-A177-3AD203B41FA5}">
                          <a16:colId xmlns:a16="http://schemas.microsoft.com/office/drawing/2014/main" val="1680860309"/>
                        </a:ext>
                      </a:extLst>
                    </a:gridCol>
                  </a:tblGrid>
                  <a:tr h="4931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600" b="0" dirty="0">
                              <a:latin typeface="汉仪文黑-85W" panose="00020600040101010101" pitchFamily="18" charset="-128"/>
                              <a:ea typeface="汉仪文黑-85W" panose="00020600040101010101" pitchFamily="18" charset="-128"/>
                              <a:cs typeface="汉仪文黑-85W" panose="00020600040101010101" pitchFamily="18" charset="-128"/>
                            </a:rPr>
                            <a:t>分布形式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400" b="0" dirty="0">
                              <a:latin typeface="汉仪润圆-65简" panose="00020600040101010101" pitchFamily="18" charset="-122"/>
                              <a:ea typeface="汉仪润圆-65简" panose="00020600040101010101" pitchFamily="18" charset="-122"/>
                            </a:rPr>
                            <a:t>0-1</a:t>
                          </a:r>
                          <a:r>
                            <a:rPr lang="zh-CN" altLang="en-US" sz="1400" b="0" dirty="0">
                              <a:latin typeface="汉仪润圆-65简" panose="00020600040101010101" pitchFamily="18" charset="-122"/>
                              <a:ea typeface="汉仪润圆-65简" panose="00020600040101010101" pitchFamily="18" charset="-122"/>
                            </a:rPr>
                            <a:t>分布</a:t>
                          </a:r>
                          <a:endParaRPr lang="en-US" altLang="zh-CN" sz="1400" b="0" dirty="0">
                            <a:latin typeface="汉仪润圆-65简" panose="00020600040101010101" pitchFamily="18" charset="-122"/>
                            <a:ea typeface="汉仪润圆-65简" panose="00020600040101010101" pitchFamily="18" charset="-122"/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400" b="0" i="1" dirty="0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altLang="zh-CN" sz="1400" b="0" i="1" dirty="0" smtClean="0">
                                    <a:latin typeface="Cambria Math" panose="02040503050406030204" pitchFamily="18" charset="0"/>
                                  </a:rPr>
                                  <m:t>~</m:t>
                                </m:r>
                                <m:r>
                                  <a:rPr lang="en-US" altLang="zh-CN" sz="1400" b="0" i="1" dirty="0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  <m:r>
                                  <a:rPr lang="en-US" altLang="zh-CN" sz="1400" b="0" i="1" dirty="0" smtClean="0">
                                    <a:latin typeface="Cambria Math" panose="02040503050406030204" pitchFamily="18" charset="0"/>
                                  </a:rPr>
                                  <m:t>(1,</m:t>
                                </m:r>
                                <m:r>
                                  <a:rPr lang="en-US" altLang="zh-CN" sz="1400" b="0" i="1" dirty="0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US" altLang="zh-CN" sz="1400" b="0" i="1" dirty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altLang="en-US" sz="1400" b="0" dirty="0">
                            <a:latin typeface="汉仪润圆-65简" panose="00020600040101010101" pitchFamily="18" charset="-122"/>
                            <a:ea typeface="汉仪润圆-65简" panose="00020600040101010101" pitchFamily="18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400" b="0" dirty="0">
                              <a:latin typeface="汉仪润圆-65简" panose="00020600040101010101" pitchFamily="18" charset="-122"/>
                              <a:ea typeface="汉仪润圆-65简" panose="00020600040101010101" pitchFamily="18" charset="-122"/>
                            </a:rPr>
                            <a:t>二项分布</a:t>
                          </a:r>
                          <a:endParaRPr lang="en-US" altLang="zh-CN" sz="1400" b="0" dirty="0">
                            <a:latin typeface="汉仪润圆-65简" panose="00020600040101010101" pitchFamily="18" charset="-122"/>
                            <a:ea typeface="汉仪润圆-65简" panose="00020600040101010101" pitchFamily="18" charset="-122"/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400" b="0" i="1" dirty="0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altLang="zh-CN" sz="1400" b="0" i="1" dirty="0" smtClean="0">
                                    <a:latin typeface="Cambria Math" panose="02040503050406030204" pitchFamily="18" charset="0"/>
                                  </a:rPr>
                                  <m:t>~</m:t>
                                </m:r>
                                <m:r>
                                  <a:rPr lang="en-US" altLang="zh-CN" sz="1400" b="0" i="1" dirty="0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  <m:r>
                                  <a:rPr lang="en-US" altLang="zh-CN" sz="1400" b="0" i="1" dirty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CN" sz="1400" b="0" i="1" dirty="0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zh-CN" sz="1400" b="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CN" sz="1400" b="0" i="1" dirty="0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US" altLang="zh-CN" sz="1400" b="0" i="1" dirty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altLang="en-US" sz="1400" b="0" dirty="0">
                            <a:latin typeface="汉仪润圆-65简" panose="00020600040101010101" pitchFamily="18" charset="-122"/>
                            <a:ea typeface="汉仪润圆-65简" panose="00020600040101010101" pitchFamily="18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400" b="0" dirty="0">
                              <a:latin typeface="汉仪润圆-65简" panose="00020600040101010101" pitchFamily="18" charset="-122"/>
                              <a:ea typeface="汉仪润圆-65简" panose="00020600040101010101" pitchFamily="18" charset="-122"/>
                            </a:rPr>
                            <a:t>几何分布</a:t>
                          </a:r>
                          <a:endParaRPr lang="en-US" altLang="zh-CN" sz="1400" b="0" dirty="0">
                            <a:latin typeface="汉仪润圆-65简" panose="00020600040101010101" pitchFamily="18" charset="-122"/>
                            <a:ea typeface="汉仪润圆-65简" panose="00020600040101010101" pitchFamily="18" charset="-122"/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400" b="0" i="1" smtClean="0">
                                    <a:latin typeface="Cambria Math" panose="02040503050406030204" pitchFamily="18" charset="0"/>
                                    <a:ea typeface="汉仪润圆-65简" panose="00020600040101010101" pitchFamily="18" charset="-122"/>
                                  </a:rPr>
                                  <m:t>𝑋</m:t>
                                </m:r>
                                <m:r>
                                  <a:rPr lang="en-US" altLang="zh-CN" sz="1400" b="0" i="1" smtClean="0">
                                    <a:latin typeface="Cambria Math" panose="02040503050406030204" pitchFamily="18" charset="0"/>
                                    <a:ea typeface="汉仪润圆-65简" panose="00020600040101010101" pitchFamily="18" charset="-122"/>
                                  </a:rPr>
                                  <m:t>~</m:t>
                                </m:r>
                                <m:r>
                                  <a:rPr lang="en-US" altLang="zh-CN" sz="1400" b="0" i="1" smtClean="0">
                                    <a:latin typeface="Cambria Math" panose="02040503050406030204" pitchFamily="18" charset="0"/>
                                    <a:ea typeface="汉仪润圆-65简" panose="00020600040101010101" pitchFamily="18" charset="-122"/>
                                  </a:rPr>
                                  <m:t>𝐺𝑒𝑜</m:t>
                                </m:r>
                                <m:r>
                                  <a:rPr lang="en-US" altLang="zh-CN" sz="1400" b="0" i="1" smtClean="0">
                                    <a:latin typeface="Cambria Math" panose="02040503050406030204" pitchFamily="18" charset="0"/>
                                    <a:ea typeface="汉仪润圆-65简" panose="00020600040101010101" pitchFamily="18" charset="-122"/>
                                  </a:rPr>
                                  <m:t>(</m:t>
                                </m:r>
                                <m:r>
                                  <a:rPr lang="en-US" altLang="zh-CN" sz="1400" b="0" i="1" smtClean="0">
                                    <a:latin typeface="Cambria Math" panose="02040503050406030204" pitchFamily="18" charset="0"/>
                                    <a:ea typeface="汉仪润圆-65简" panose="00020600040101010101" pitchFamily="18" charset="-122"/>
                                  </a:rPr>
                                  <m:t>𝑝</m:t>
                                </m:r>
                                <m:r>
                                  <a:rPr lang="en-US" altLang="zh-CN" sz="1400" b="0" i="1" smtClean="0">
                                    <a:latin typeface="Cambria Math" panose="02040503050406030204" pitchFamily="18" charset="0"/>
                                    <a:ea typeface="汉仪润圆-65简" panose="00020600040101010101" pitchFamily="18" charset="-122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altLang="en-US" sz="1400" b="0" dirty="0">
                            <a:latin typeface="汉仪润圆-65简" panose="00020600040101010101" pitchFamily="18" charset="-122"/>
                            <a:ea typeface="汉仪润圆-65简" panose="00020600040101010101" pitchFamily="18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400" b="0" dirty="0">
                              <a:latin typeface="汉仪润圆-65简" panose="00020600040101010101" pitchFamily="18" charset="-122"/>
                              <a:ea typeface="汉仪润圆-65简" panose="00020600040101010101" pitchFamily="18" charset="-122"/>
                            </a:rPr>
                            <a:t>泊松分布</a:t>
                          </a:r>
                          <a:endParaRPr lang="en-US" altLang="zh-CN" sz="1400" b="0" dirty="0">
                            <a:latin typeface="汉仪润圆-65简" panose="00020600040101010101" pitchFamily="18" charset="-122"/>
                            <a:ea typeface="汉仪润圆-65简" panose="00020600040101010101" pitchFamily="18" charset="-122"/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400" b="0" i="1" smtClean="0">
                                    <a:latin typeface="Cambria Math" panose="02040503050406030204" pitchFamily="18" charset="0"/>
                                    <a:ea typeface="汉仪润圆-65简" panose="00020600040101010101" pitchFamily="18" charset="-122"/>
                                  </a:rPr>
                                  <m:t>𝑋</m:t>
                                </m:r>
                                <m:r>
                                  <a:rPr lang="en-US" altLang="zh-CN" sz="1400" b="0" i="1" smtClean="0">
                                    <a:latin typeface="Cambria Math" panose="02040503050406030204" pitchFamily="18" charset="0"/>
                                    <a:ea typeface="汉仪润圆-65简" panose="00020600040101010101" pitchFamily="18" charset="-122"/>
                                  </a:rPr>
                                  <m:t>~</m:t>
                                </m:r>
                                <m:r>
                                  <a:rPr lang="en-US" altLang="zh-CN" sz="1400" b="0" i="1" smtClean="0">
                                    <a:latin typeface="Cambria Math" panose="02040503050406030204" pitchFamily="18" charset="0"/>
                                    <a:ea typeface="汉仪润圆-65简" panose="00020600040101010101" pitchFamily="18" charset="-122"/>
                                  </a:rPr>
                                  <m:t>𝑃</m:t>
                                </m:r>
                                <m:r>
                                  <a:rPr lang="en-US" altLang="zh-CN" sz="1400" b="0" i="1" smtClean="0">
                                    <a:latin typeface="Cambria Math" panose="02040503050406030204" pitchFamily="18" charset="0"/>
                                    <a:ea typeface="汉仪润圆-65简" panose="00020600040101010101" pitchFamily="18" charset="-122"/>
                                  </a:rPr>
                                  <m:t>(</m:t>
                                </m:r>
                                <m:r>
                                  <a:rPr lang="zh-CN" altLang="en-US" sz="1400" b="0" i="1" smtClean="0">
                                    <a:latin typeface="Cambria Math" panose="02040503050406030204" pitchFamily="18" charset="0"/>
                                    <a:ea typeface="汉仪润圆-65简" panose="00020600040101010101" pitchFamily="18" charset="-122"/>
                                  </a:rPr>
                                  <m:t>𝜆</m:t>
                                </m:r>
                                <m:r>
                                  <a:rPr lang="en-US" altLang="zh-CN" sz="1400" b="0" i="1" smtClean="0">
                                    <a:latin typeface="Cambria Math" panose="02040503050406030204" pitchFamily="18" charset="0"/>
                                    <a:ea typeface="汉仪润圆-65简" panose="00020600040101010101" pitchFamily="18" charset="-122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altLang="en-US" sz="1400" b="0" dirty="0">
                            <a:latin typeface="汉仪润圆-65简" panose="00020600040101010101" pitchFamily="18" charset="-122"/>
                            <a:ea typeface="汉仪润圆-65简" panose="00020600040101010101" pitchFamily="18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400" b="0" dirty="0">
                              <a:latin typeface="汉仪润圆-65简" panose="00020600040101010101" pitchFamily="18" charset="-122"/>
                              <a:ea typeface="汉仪润圆-65简" panose="00020600040101010101" pitchFamily="18" charset="-122"/>
                            </a:rPr>
                            <a:t>指数分布</a:t>
                          </a:r>
                          <a:endParaRPr lang="en-US" altLang="zh-CN" sz="1400" b="0" dirty="0">
                            <a:latin typeface="汉仪润圆-65简" panose="00020600040101010101" pitchFamily="18" charset="-122"/>
                            <a:ea typeface="汉仪润圆-65简" panose="00020600040101010101" pitchFamily="18" charset="-122"/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400" b="0" i="1" smtClean="0">
                                    <a:latin typeface="Cambria Math" panose="02040503050406030204" pitchFamily="18" charset="0"/>
                                    <a:ea typeface="汉仪润圆-65简" panose="00020600040101010101" pitchFamily="18" charset="-122"/>
                                  </a:rPr>
                                  <m:t>𝑋</m:t>
                                </m:r>
                                <m:r>
                                  <a:rPr lang="en-US" altLang="zh-CN" sz="1400" b="0" i="1" smtClean="0">
                                    <a:latin typeface="Cambria Math" panose="02040503050406030204" pitchFamily="18" charset="0"/>
                                    <a:ea typeface="汉仪润圆-65简" panose="00020600040101010101" pitchFamily="18" charset="-122"/>
                                  </a:rPr>
                                  <m:t>~</m:t>
                                </m:r>
                                <m:r>
                                  <a:rPr lang="en-US" altLang="zh-CN" sz="1400" b="0" i="1" smtClean="0">
                                    <a:latin typeface="Cambria Math" panose="02040503050406030204" pitchFamily="18" charset="0"/>
                                    <a:ea typeface="汉仪润圆-65简" panose="00020600040101010101" pitchFamily="18" charset="-122"/>
                                  </a:rPr>
                                  <m:t>𝐸𝑥𝑝</m:t>
                                </m:r>
                                <m:r>
                                  <a:rPr lang="en-US" altLang="zh-CN" sz="1400" b="0" i="1" smtClean="0">
                                    <a:latin typeface="Cambria Math" panose="02040503050406030204" pitchFamily="18" charset="0"/>
                                    <a:ea typeface="汉仪润圆-65简" panose="00020600040101010101" pitchFamily="18" charset="-122"/>
                                  </a:rPr>
                                  <m:t>(</m:t>
                                </m:r>
                                <m:r>
                                  <a:rPr lang="zh-CN" altLang="en-US" sz="1400" b="0" i="1" smtClean="0">
                                    <a:latin typeface="Cambria Math" panose="02040503050406030204" pitchFamily="18" charset="0"/>
                                    <a:ea typeface="汉仪润圆-65简" panose="00020600040101010101" pitchFamily="18" charset="-122"/>
                                  </a:rPr>
                                  <m:t>𝜆</m:t>
                                </m:r>
                                <m:r>
                                  <a:rPr lang="en-US" altLang="zh-CN" sz="1400" b="0" i="1" smtClean="0">
                                    <a:latin typeface="Cambria Math" panose="02040503050406030204" pitchFamily="18" charset="0"/>
                                    <a:ea typeface="汉仪润圆-65简" panose="00020600040101010101" pitchFamily="18" charset="-122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altLang="en-US" sz="1400" b="0" dirty="0">
                            <a:latin typeface="汉仪润圆-65简" panose="00020600040101010101" pitchFamily="18" charset="-122"/>
                            <a:ea typeface="汉仪润圆-65简" panose="00020600040101010101" pitchFamily="18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400" b="0" dirty="0">
                              <a:latin typeface="汉仪润圆-65简" panose="00020600040101010101" pitchFamily="18" charset="-122"/>
                              <a:ea typeface="汉仪润圆-65简" panose="00020600040101010101" pitchFamily="18" charset="-122"/>
                            </a:rPr>
                            <a:t>正态分布</a:t>
                          </a:r>
                          <a:endParaRPr lang="en-US" altLang="zh-CN" sz="1400" b="0" dirty="0">
                            <a:latin typeface="汉仪润圆-65简" panose="00020600040101010101" pitchFamily="18" charset="-122"/>
                            <a:ea typeface="汉仪润圆-65简" panose="00020600040101010101" pitchFamily="18" charset="-122"/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400" b="0" i="1" smtClean="0">
                                    <a:latin typeface="Cambria Math" panose="02040503050406030204" pitchFamily="18" charset="0"/>
                                    <a:ea typeface="汉仪润圆-65简" panose="00020600040101010101" pitchFamily="18" charset="-122"/>
                                  </a:rPr>
                                  <m:t>𝑋</m:t>
                                </m:r>
                                <m:r>
                                  <a:rPr lang="en-US" altLang="zh-CN" sz="1400" b="0" i="1" smtClean="0">
                                    <a:latin typeface="Cambria Math" panose="02040503050406030204" pitchFamily="18" charset="0"/>
                                    <a:ea typeface="汉仪润圆-65简" panose="00020600040101010101" pitchFamily="18" charset="-122"/>
                                  </a:rPr>
                                  <m:t>~</m:t>
                                </m:r>
                                <m:r>
                                  <a:rPr lang="en-US" altLang="zh-CN" sz="1400" b="0" i="1" smtClean="0">
                                    <a:latin typeface="Cambria Math" panose="02040503050406030204" pitchFamily="18" charset="0"/>
                                    <a:ea typeface="汉仪润圆-65简" panose="00020600040101010101" pitchFamily="18" charset="-122"/>
                                  </a:rPr>
                                  <m:t>𝑁</m:t>
                                </m:r>
                                <m:r>
                                  <a:rPr lang="en-US" altLang="zh-CN" sz="1400" b="0" i="1" smtClean="0">
                                    <a:latin typeface="Cambria Math" panose="02040503050406030204" pitchFamily="18" charset="0"/>
                                    <a:ea typeface="汉仪润圆-65简" panose="00020600040101010101" pitchFamily="18" charset="-122"/>
                                  </a:rPr>
                                  <m:t>(</m:t>
                                </m:r>
                                <m:r>
                                  <a:rPr lang="zh-CN" altLang="en-US" sz="1400" b="0" i="1" smtClean="0">
                                    <a:latin typeface="Cambria Math" panose="02040503050406030204" pitchFamily="18" charset="0"/>
                                    <a:ea typeface="汉仪润圆-65简" panose="00020600040101010101" pitchFamily="18" charset="-122"/>
                                  </a:rPr>
                                  <m:t>𝜇</m:t>
                                </m:r>
                                <m:r>
                                  <a:rPr lang="en-US" altLang="zh-CN" sz="1400" b="0" i="1" smtClean="0">
                                    <a:latin typeface="Cambria Math" panose="02040503050406030204" pitchFamily="18" charset="0"/>
                                    <a:ea typeface="汉仪润圆-65简" panose="00020600040101010101" pitchFamily="18" charset="-122"/>
                                  </a:rPr>
                                  <m:t>,</m:t>
                                </m:r>
                                <m:sSup>
                                  <m:sSupPr>
                                    <m:ctrlP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  <a:ea typeface="汉仪润圆-65简" panose="00020600040101010101" pitchFamily="18" charset="-122"/>
                                      </a:rPr>
                                    </m:ctrlPr>
                                  </m:sSupPr>
                                  <m:e>
                                    <m:r>
                                      <a:rPr lang="zh-CN" altLang="en-US" sz="1400" b="0" i="1" smtClean="0">
                                        <a:latin typeface="Cambria Math" panose="02040503050406030204" pitchFamily="18" charset="0"/>
                                        <a:ea typeface="汉仪润圆-65简" panose="00020600040101010101" pitchFamily="18" charset="-122"/>
                                      </a:rPr>
                                      <m:t>𝜎</m:t>
                                    </m:r>
                                  </m:e>
                                  <m:sup>
                                    <m: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  <a:ea typeface="汉仪润圆-65简" panose="00020600040101010101" pitchFamily="18" charset="-122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zh-CN" sz="1400" b="0" i="1" smtClean="0">
                                    <a:latin typeface="Cambria Math" panose="02040503050406030204" pitchFamily="18" charset="0"/>
                                    <a:ea typeface="汉仪润圆-65简" panose="00020600040101010101" pitchFamily="18" charset="-122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altLang="en-US" sz="1400" b="0" dirty="0">
                            <a:latin typeface="汉仪润圆-65简" panose="00020600040101010101" pitchFamily="18" charset="-122"/>
                            <a:ea typeface="汉仪润圆-65简" panose="00020600040101010101" pitchFamily="18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400" b="0" dirty="0">
                              <a:latin typeface="汉仪润圆-65简" panose="00020600040101010101" pitchFamily="18" charset="-122"/>
                              <a:ea typeface="汉仪润圆-65简" panose="00020600040101010101" pitchFamily="18" charset="-122"/>
                            </a:rPr>
                            <a:t>均匀分布</a:t>
                          </a:r>
                          <a:endParaRPr lang="en-US" altLang="zh-CN" sz="1400" b="0" dirty="0">
                            <a:latin typeface="汉仪润圆-65简" panose="00020600040101010101" pitchFamily="18" charset="-122"/>
                            <a:ea typeface="汉仪润圆-65简" panose="00020600040101010101" pitchFamily="18" charset="-122"/>
                          </a:endParaRP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400" b="0" i="1" smtClean="0">
                                    <a:latin typeface="Cambria Math" panose="02040503050406030204" pitchFamily="18" charset="0"/>
                                    <a:ea typeface="汉仪润圆-65简" panose="00020600040101010101" pitchFamily="18" charset="-122"/>
                                  </a:rPr>
                                  <m:t>𝑋</m:t>
                                </m:r>
                                <m:r>
                                  <a:rPr lang="en-US" altLang="zh-CN" sz="1400" b="0" i="1" smtClean="0">
                                    <a:latin typeface="Cambria Math" panose="02040503050406030204" pitchFamily="18" charset="0"/>
                                    <a:ea typeface="汉仪润圆-65简" panose="00020600040101010101" pitchFamily="18" charset="-122"/>
                                  </a:rPr>
                                  <m:t>~</m:t>
                                </m:r>
                                <m:r>
                                  <a:rPr lang="en-US" altLang="zh-CN" sz="1400" b="0" i="1" smtClean="0">
                                    <a:latin typeface="Cambria Math" panose="02040503050406030204" pitchFamily="18" charset="0"/>
                                    <a:ea typeface="汉仪润圆-65简" panose="00020600040101010101" pitchFamily="18" charset="-122"/>
                                  </a:rPr>
                                  <m:t>𝑈</m:t>
                                </m:r>
                                <m:r>
                                  <a:rPr lang="en-US" altLang="zh-CN" sz="1400" b="0" i="1" smtClean="0">
                                    <a:latin typeface="Cambria Math" panose="02040503050406030204" pitchFamily="18" charset="0"/>
                                    <a:ea typeface="汉仪润圆-65简" panose="00020600040101010101" pitchFamily="18" charset="-122"/>
                                  </a:rPr>
                                  <m:t>(</m:t>
                                </m:r>
                                <m:r>
                                  <a:rPr lang="en-US" altLang="zh-CN" sz="1400" b="0" i="1" smtClean="0">
                                    <a:latin typeface="Cambria Math" panose="02040503050406030204" pitchFamily="18" charset="0"/>
                                    <a:ea typeface="汉仪润圆-65简" panose="00020600040101010101" pitchFamily="18" charset="-122"/>
                                  </a:rPr>
                                  <m:t>𝑎</m:t>
                                </m:r>
                                <m:r>
                                  <a:rPr lang="en-US" altLang="zh-CN" sz="1400" b="0" i="1" smtClean="0">
                                    <a:latin typeface="Cambria Math" panose="02040503050406030204" pitchFamily="18" charset="0"/>
                                    <a:ea typeface="汉仪润圆-65简" panose="00020600040101010101" pitchFamily="18" charset="-122"/>
                                  </a:rPr>
                                  <m:t>,</m:t>
                                </m:r>
                                <m:r>
                                  <a:rPr lang="en-US" altLang="zh-CN" sz="1400" b="0" i="1" smtClean="0">
                                    <a:latin typeface="Cambria Math" panose="02040503050406030204" pitchFamily="18" charset="0"/>
                                    <a:ea typeface="汉仪润圆-65简" panose="00020600040101010101" pitchFamily="18" charset="-122"/>
                                  </a:rPr>
                                  <m:t>𝑏</m:t>
                                </m:r>
                                <m:r>
                                  <a:rPr lang="en-US" altLang="zh-CN" sz="1400" b="0" i="1" smtClean="0">
                                    <a:latin typeface="Cambria Math" panose="02040503050406030204" pitchFamily="18" charset="0"/>
                                    <a:ea typeface="汉仪润圆-65简" panose="00020600040101010101" pitchFamily="18" charset="-122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altLang="en-US" sz="1400" b="0" dirty="0">
                            <a:latin typeface="汉仪润圆-65简" panose="00020600040101010101" pitchFamily="18" charset="-122"/>
                            <a:ea typeface="汉仪润圆-65简" panose="00020600040101010101" pitchFamily="18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9312338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600" b="0" dirty="0">
                              <a:latin typeface="汉仪文黑-85W" panose="00020600040101010101" pitchFamily="18" charset="-128"/>
                              <a:ea typeface="汉仪文黑-85W" panose="00020600040101010101" pitchFamily="18" charset="-128"/>
                              <a:cs typeface="汉仪文黑-85W" panose="00020600040101010101" pitchFamily="18" charset="-128"/>
                            </a:rPr>
                            <a:t>数学期望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600" b="0" i="1" dirty="0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oMath>
                            </m:oMathPara>
                          </a14:m>
                          <a:endParaRPr lang="zh-CN" altLang="en-US" sz="1600" b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600" b="0" i="1" dirty="0" smtClean="0">
                                    <a:latin typeface="Cambria Math" panose="02040503050406030204" pitchFamily="18" charset="0"/>
                                  </a:rPr>
                                  <m:t>𝑛𝑝</m:t>
                                </m:r>
                              </m:oMath>
                            </m:oMathPara>
                          </a14:m>
                          <a:endParaRPr lang="zh-CN" altLang="en-US" sz="1600" b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600" b="0" i="1" dirty="0" smtClean="0">
                                    <a:latin typeface="Cambria Math" panose="02040503050406030204" pitchFamily="18" charset="0"/>
                                  </a:rPr>
                                  <m:t>1/</m:t>
                                </m:r>
                                <m:r>
                                  <a:rPr lang="en-US" altLang="zh-CN" sz="1600" b="0" i="1" dirty="0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oMath>
                            </m:oMathPara>
                          </a14:m>
                          <a:endParaRPr lang="zh-CN" altLang="en-US" sz="1600" b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CN" altLang="en-US" sz="1600" b="0" i="1" dirty="0" smtClean="0">
                                    <a:latin typeface="Cambria Math" panose="02040503050406030204" pitchFamily="18" charset="0"/>
                                    <a:ea typeface="汉仪润圆-65简" panose="00020600040101010101" pitchFamily="18" charset="-122"/>
                                  </a:rPr>
                                  <m:t>𝜆</m:t>
                                </m:r>
                              </m:oMath>
                            </m:oMathPara>
                          </a14:m>
                          <a:endParaRPr lang="zh-CN" altLang="en-US" sz="1600" b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600" b="0" i="1" dirty="0" smtClean="0">
                                    <a:latin typeface="Cambria Math" panose="02040503050406030204" pitchFamily="18" charset="0"/>
                                  </a:rPr>
                                  <m:t>1/</m:t>
                                </m:r>
                                <m:r>
                                  <a:rPr lang="zh-CN" altLang="en-US" sz="1600" b="0" i="1" smtClean="0">
                                    <a:latin typeface="Cambria Math" panose="02040503050406030204" pitchFamily="18" charset="0"/>
                                    <a:ea typeface="汉仪润圆-65简" panose="00020600040101010101" pitchFamily="18" charset="-122"/>
                                  </a:rPr>
                                  <m:t>𝜆</m:t>
                                </m:r>
                              </m:oMath>
                            </m:oMathPara>
                          </a14:m>
                          <a:endParaRPr lang="zh-CN" altLang="en-US" sz="1600" b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CN" altLang="en-US" sz="1600" b="0" i="1" dirty="0" smtClean="0">
                                    <a:latin typeface="Cambria Math" panose="02040503050406030204" pitchFamily="18" charset="0"/>
                                    <a:ea typeface="汉仪润圆-65简" panose="00020600040101010101" pitchFamily="18" charset="-122"/>
                                  </a:rPr>
                                  <m:t>𝜇</m:t>
                                </m:r>
                              </m:oMath>
                            </m:oMathPara>
                          </a14:m>
                          <a:endParaRPr lang="zh-CN" altLang="en-US" sz="1600" b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600" b="0" i="1" dirty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CN" sz="1600" b="0" i="1" dirty="0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altLang="zh-CN" sz="1600" b="0" i="1" dirty="0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CN" sz="1600" b="0" i="1" dirty="0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en-US" altLang="zh-CN" sz="1600" b="0" i="1" dirty="0" smtClean="0">
                                    <a:latin typeface="Cambria Math" panose="02040503050406030204" pitchFamily="18" charset="0"/>
                                  </a:rPr>
                                  <m:t>)/2</m:t>
                                </m:r>
                              </m:oMath>
                            </m:oMathPara>
                          </a14:m>
                          <a:endParaRPr lang="zh-CN" altLang="en-US" sz="1600" b="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8374683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7" name="表格 67">
                <a:extLst>
                  <a:ext uri="{FF2B5EF4-FFF2-40B4-BE49-F238E27FC236}">
                    <a16:creationId xmlns:a16="http://schemas.microsoft.com/office/drawing/2014/main" id="{B1D657B1-C416-2333-270E-EEF3A589D55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82783081"/>
                  </p:ext>
                </p:extLst>
              </p:nvPr>
            </p:nvGraphicFramePr>
            <p:xfrm>
              <a:off x="749291" y="4922994"/>
              <a:ext cx="10693418" cy="889000"/>
            </p:xfrm>
            <a:graphic>
              <a:graphicData uri="http://schemas.openxmlformats.org/drawingml/2006/table">
                <a:tbl>
                  <a:tblPr firstRow="1" firstCol="1" bandRow="1">
                    <a:tableStyleId>{93296810-A885-4BE3-A3E7-6D5BEEA58F35}</a:tableStyleId>
                  </a:tblPr>
                  <a:tblGrid>
                    <a:gridCol w="1119574">
                      <a:extLst>
                        <a:ext uri="{9D8B030D-6E8A-4147-A177-3AD203B41FA5}">
                          <a16:colId xmlns:a16="http://schemas.microsoft.com/office/drawing/2014/main" val="3581678023"/>
                        </a:ext>
                      </a:extLst>
                    </a:gridCol>
                    <a:gridCol w="1367692">
                      <a:extLst>
                        <a:ext uri="{9D8B030D-6E8A-4147-A177-3AD203B41FA5}">
                          <a16:colId xmlns:a16="http://schemas.microsoft.com/office/drawing/2014/main" val="3021564112"/>
                        </a:ext>
                      </a:extLst>
                    </a:gridCol>
                    <a:gridCol w="1367692">
                      <a:extLst>
                        <a:ext uri="{9D8B030D-6E8A-4147-A177-3AD203B41FA5}">
                          <a16:colId xmlns:a16="http://schemas.microsoft.com/office/drawing/2014/main" val="3947614986"/>
                        </a:ext>
                      </a:extLst>
                    </a:gridCol>
                    <a:gridCol w="1367692">
                      <a:extLst>
                        <a:ext uri="{9D8B030D-6E8A-4147-A177-3AD203B41FA5}">
                          <a16:colId xmlns:a16="http://schemas.microsoft.com/office/drawing/2014/main" val="980747976"/>
                        </a:ext>
                      </a:extLst>
                    </a:gridCol>
                    <a:gridCol w="1367692">
                      <a:extLst>
                        <a:ext uri="{9D8B030D-6E8A-4147-A177-3AD203B41FA5}">
                          <a16:colId xmlns:a16="http://schemas.microsoft.com/office/drawing/2014/main" val="999525205"/>
                        </a:ext>
                      </a:extLst>
                    </a:gridCol>
                    <a:gridCol w="1367692">
                      <a:extLst>
                        <a:ext uri="{9D8B030D-6E8A-4147-A177-3AD203B41FA5}">
                          <a16:colId xmlns:a16="http://schemas.microsoft.com/office/drawing/2014/main" val="526288975"/>
                        </a:ext>
                      </a:extLst>
                    </a:gridCol>
                    <a:gridCol w="1367692">
                      <a:extLst>
                        <a:ext uri="{9D8B030D-6E8A-4147-A177-3AD203B41FA5}">
                          <a16:colId xmlns:a16="http://schemas.microsoft.com/office/drawing/2014/main" val="3336711973"/>
                        </a:ext>
                      </a:extLst>
                    </a:gridCol>
                    <a:gridCol w="1367692">
                      <a:extLst>
                        <a:ext uri="{9D8B030D-6E8A-4147-A177-3AD203B41FA5}">
                          <a16:colId xmlns:a16="http://schemas.microsoft.com/office/drawing/2014/main" val="1680860309"/>
                        </a:ext>
                      </a:extLst>
                    </a:gridCol>
                  </a:tblGrid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600" b="0" dirty="0">
                              <a:latin typeface="汉仪文黑-85W" panose="00020600040101010101" pitchFamily="18" charset="-128"/>
                              <a:ea typeface="汉仪文黑-85W" panose="00020600040101010101" pitchFamily="18" charset="-128"/>
                              <a:cs typeface="汉仪文黑-85W" panose="00020600040101010101" pitchFamily="18" charset="-128"/>
                            </a:rPr>
                            <a:t>分布形式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82589" t="-1163" r="-603571" b="-813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181778" t="-1163" r="-500889" b="-813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281778" t="-1163" r="-400889" b="-813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383482" t="-1163" r="-302679" b="-813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481333" t="-1163" r="-201333" b="-813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583929" t="-1163" r="-102232" b="-813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680889" t="-1163" r="-1778" b="-8139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9312338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600" b="0" dirty="0">
                              <a:latin typeface="汉仪文黑-85W" panose="00020600040101010101" pitchFamily="18" charset="-128"/>
                              <a:ea typeface="汉仪文黑-85W" panose="00020600040101010101" pitchFamily="18" charset="-128"/>
                              <a:cs typeface="汉仪文黑-85W" panose="00020600040101010101" pitchFamily="18" charset="-128"/>
                            </a:rPr>
                            <a:t>数学期望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82589" t="-142623" r="-603571" b="-147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181778" t="-142623" r="-500889" b="-147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281778" t="-142623" r="-400889" b="-147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383482" t="-142623" r="-302679" b="-147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481333" t="-142623" r="-201333" b="-147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583929" t="-142623" r="-102232" b="-147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680889" t="-142623" r="-1778" b="-147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83746830"/>
                      </a:ext>
                    </a:extLst>
                  </a:tr>
                </a:tbl>
              </a:graphicData>
            </a:graphic>
          </p:graphicFrame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8931930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0"/>
                            </p:stCondLst>
                            <p:childTnLst>
                              <p:par>
                                <p:cTn id="3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50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57" grpId="0"/>
      <p:bldP spid="4" grpId="0" animBg="1"/>
      <p:bldP spid="14" grpId="0"/>
      <p:bldP spid="15" grpId="0"/>
      <p:bldP spid="21" grpId="0"/>
      <p:bldP spid="2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143FF26B-CC77-0DBB-021F-F6F65A8FA87C}"/>
              </a:ext>
            </a:extLst>
          </p:cNvPr>
          <p:cNvCxnSpPr/>
          <p:nvPr/>
        </p:nvCxnSpPr>
        <p:spPr>
          <a:xfrm>
            <a:off x="576364" y="1136063"/>
            <a:ext cx="11039272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26A51B39-5350-5E90-4B2C-5D6D06841963}"/>
              </a:ext>
            </a:extLst>
          </p:cNvPr>
          <p:cNvSpPr txBox="1"/>
          <p:nvPr/>
        </p:nvSpPr>
        <p:spPr>
          <a:xfrm>
            <a:off x="507460" y="496110"/>
            <a:ext cx="36913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随机变量的数学期望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A4603F2-F6CF-9E85-E4CE-0C35F5B2B5C7}"/>
              </a:ext>
            </a:extLst>
          </p:cNvPr>
          <p:cNvSpPr txBox="1"/>
          <p:nvPr/>
        </p:nvSpPr>
        <p:spPr>
          <a:xfrm>
            <a:off x="4225693" y="775742"/>
            <a:ext cx="20367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600" dirty="0"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数学期望的计算</a:t>
            </a:r>
            <a:r>
              <a:rPr lang="en-US" altLang="zh-CN" sz="1600" dirty="0"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(1)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D9A48C2F-C397-1AB5-176A-8D4A6BFAAC2F}"/>
                  </a:ext>
                </a:extLst>
              </p:cNvPr>
              <p:cNvSpPr txBox="1"/>
              <p:nvPr/>
            </p:nvSpPr>
            <p:spPr>
              <a:xfrm>
                <a:off x="507460" y="1425186"/>
                <a:ext cx="11108176" cy="5313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例</a:t>
                </a:r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1.1</a:t>
                </a:r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：已知离散型随机变量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𝑋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的分布律为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𝑋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=</m:t>
                        </m:r>
                        <m:f>
                          <m:f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  <a:ea typeface="华文宋体" panose="02010600040101010101" pitchFamily="2" charset="-122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  <a:ea typeface="华文宋体" panose="02010600040101010101" pitchFamily="2" charset="-122"/>
                                      </a:rPr>
                                      <m:t>−1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𝑘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𝑘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𝑘</m:t>
                            </m:r>
                          </m:den>
                        </m:f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</m:t>
                    </m:r>
                    <m:f>
                      <m:f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fPr>
                      <m:num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sSup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𝑘</m:t>
                            </m:r>
                          </m:sup>
                        </m:sSup>
                      </m:den>
                    </m:f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(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𝑘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=1,2,…)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，求随机变量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𝑋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的数学期望。</a:t>
                </a:r>
                <a:endParaRPr lang="en-US" altLang="zh-CN" sz="1600" dirty="0">
                  <a:latin typeface="华文宋体" panose="02010600040101010101" pitchFamily="2" charset="-122"/>
                  <a:ea typeface="华文宋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D9A48C2F-C397-1AB5-176A-8D4A6BFAAC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60" y="1425186"/>
                <a:ext cx="11108176" cy="531364"/>
              </a:xfrm>
              <a:prstGeom prst="rect">
                <a:avLst/>
              </a:prstGeom>
              <a:blipFill>
                <a:blip r:embed="rId3"/>
                <a:stretch>
                  <a:fillRect l="-2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B46A6C03-88DF-D0C2-F09C-74196CC03839}"/>
                  </a:ext>
                </a:extLst>
              </p:cNvPr>
              <p:cNvSpPr txBox="1"/>
              <p:nvPr/>
            </p:nvSpPr>
            <p:spPr>
              <a:xfrm>
                <a:off x="507460" y="1932371"/>
                <a:ext cx="11039269" cy="11263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解：因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zh-CN" altLang="en-US" sz="16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𝑘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=1</m:t>
                        </m:r>
                      </m:sub>
                      <m:sup>
                        <m:r>
                          <a:rPr lang="en-US" altLang="zh-CN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f>
                          <m:fPr>
                            <m:ctrlPr>
                              <a:rPr lang="en-US" altLang="zh-CN" sz="160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1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𝑘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unc>
                      <m:func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sz="1600" b="0" i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𝑘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f>
                              <m:f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(1−</m:t>
                            </m:r>
                            <m:f>
                              <m:f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1</m:t>
                                </m:r>
                              </m:num>
                              <m:den>
                                <m:sSup>
                                  <m:sSupPr>
                                    <m:ctrlPr>
                                      <a:rPr lang="en-US" altLang="zh-CN" sz="1600" i="1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𝑘</m:t>
                                    </m:r>
                                  </m:sup>
                                </m:sSup>
                              </m:den>
                            </m:f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)</m:t>
                            </m:r>
                          </m:num>
                          <m:den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1−</m:t>
                            </m:r>
                            <m:f>
                              <m:f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2</m:t>
                                </m:r>
                              </m:den>
                            </m:f>
                          </m:den>
                        </m:f>
                      </m:e>
                    </m:func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=1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，故这是一个概率分布。</a:t>
                </a:r>
                <a:endParaRPr lang="en-US" altLang="zh-CN" sz="16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>
                  <a:lnSpc>
                    <a:spcPct val="125000"/>
                  </a:lnSpc>
                </a:pPr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</a:t>
                </a:r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则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zh-CN" altLang="en-US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𝑘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=1</m:t>
                        </m:r>
                      </m:sub>
                      <m:sup>
                        <m:r>
                          <a:rPr lang="en-US" altLang="zh-CN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nary>
                      <m:naryPr>
                        <m:chr m:val="∑"/>
                        <m:ctrlPr>
                          <a:rPr lang="zh-CN" altLang="en-US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𝑘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=1</m:t>
                        </m:r>
                      </m:sub>
                      <m:sup>
                        <m:r>
                          <a:rPr lang="en-US" altLang="zh-CN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f>
                          <m:f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altLang="zh-CN" sz="1600" i="1">
                                        <a:latin typeface="Cambria Math" panose="02040503050406030204" pitchFamily="18" charset="0"/>
                                        <a:ea typeface="华文宋体" panose="02010600040101010101" pitchFamily="2" charset="-122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  <a:ea typeface="华文宋体" panose="02010600040101010101" pitchFamily="2" charset="-122"/>
                                      </a:rPr>
                                      <m:t>−1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𝑘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𝑘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𝑘</m:t>
                            </m:r>
                          </m:den>
                        </m:f>
                        <m:f>
                          <m:f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fPr>
                          <m:num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1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𝑘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zh-CN" altLang="en-US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𝑘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=1</m:t>
                        </m:r>
                      </m:sub>
                      <m:sup>
                        <m:r>
                          <a:rPr lang="en-US" altLang="zh-CN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f>
                          <m:f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altLang="zh-CN" sz="1600" i="1">
                                        <a:latin typeface="Cambria Math" panose="02040503050406030204" pitchFamily="18" charset="0"/>
                                        <a:ea typeface="华文宋体" panose="02010600040101010101" pitchFamily="2" charset="-122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  <a:ea typeface="华文宋体" panose="02010600040101010101" pitchFamily="2" charset="-122"/>
                                      </a:rPr>
                                      <m:t>−1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𝑘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𝑘</m:t>
                            </m:r>
                          </m:den>
                        </m:f>
                      </m:e>
                    </m:nary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=−</m:t>
                    </m:r>
                    <m:func>
                      <m:func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1600" b="0" i="0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ln</m:t>
                        </m:r>
                      </m:fName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2</m:t>
                        </m:r>
                      </m:e>
                    </m:func>
                  </m:oMath>
                </a14:m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. </a:t>
                </a:r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但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zh-CN" altLang="en-US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𝑘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=1</m:t>
                        </m:r>
                      </m:sub>
                      <m:sup>
                        <m:r>
                          <a:rPr lang="en-US" altLang="zh-CN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zh-CN" altLang="en-US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𝑘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=1</m:t>
                        </m:r>
                      </m:sub>
                      <m:sup>
                        <m:r>
                          <a:rPr lang="en-US" altLang="zh-CN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f>
                          <m:f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den>
                        </m:f>
                      </m:e>
                    </m:nary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显然发散，故</a:t>
                </a:r>
                <a14:m>
                  <m:oMath xmlns:m="http://schemas.openxmlformats.org/officeDocument/2006/math">
                    <m:r>
                      <a:rPr lang="en-US" altLang="zh-CN" sz="160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𝑋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的数学期望不存在。</a:t>
                </a:r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B46A6C03-88DF-D0C2-F09C-74196CC038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60" y="1932371"/>
                <a:ext cx="11039269" cy="1126334"/>
              </a:xfrm>
              <a:prstGeom prst="rect">
                <a:avLst/>
              </a:prstGeom>
              <a:blipFill>
                <a:blip r:embed="rId4"/>
                <a:stretch>
                  <a:fillRect l="-276" b="-459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7EF55F0F-FC3E-40F2-77A1-1D9FF839DD3E}"/>
              </a:ext>
            </a:extLst>
          </p:cNvPr>
          <p:cNvCxnSpPr>
            <a:cxnSpLocks/>
          </p:cNvCxnSpPr>
          <p:nvPr/>
        </p:nvCxnSpPr>
        <p:spPr>
          <a:xfrm>
            <a:off x="511212" y="3316024"/>
            <a:ext cx="11035518" cy="0"/>
          </a:xfrm>
          <a:prstGeom prst="line">
            <a:avLst/>
          </a:prstGeom>
          <a:ln w="19050">
            <a:prstDash val="dashDot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FEA450AB-100E-C628-6794-5CD948964112}"/>
                  </a:ext>
                </a:extLst>
              </p:cNvPr>
              <p:cNvSpPr txBox="1"/>
              <p:nvPr/>
            </p:nvSpPr>
            <p:spPr>
              <a:xfrm>
                <a:off x="507460" y="3541976"/>
                <a:ext cx="11108176" cy="4730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例</a:t>
                </a:r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1.2</a:t>
                </a:r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：已知连续型随机变量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𝑋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的密度函数为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𝑝</m:t>
                    </m:r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𝑥</m:t>
                        </m:r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</m:t>
                    </m:r>
                    <m:f>
                      <m:f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fPr>
                      <m:num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1</m:t>
                        </m:r>
                      </m:num>
                      <m:den>
                        <m:r>
                          <a:rPr lang="zh-CN" altLang="en-US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𝜋</m:t>
                        </m:r>
                        <m:d>
                          <m:d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d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1+</m:t>
                            </m:r>
                            <m:sSup>
                              <m:sSupPr>
                                <m:ctrlP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den>
                    </m:f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(−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∞&lt;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&lt;+∞)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（服从柯西分布），求随机变量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𝑋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的数学期望。</a:t>
                </a:r>
                <a:endParaRPr lang="en-US" altLang="zh-CN" sz="1600" dirty="0">
                  <a:latin typeface="华文宋体" panose="02010600040101010101" pitchFamily="2" charset="-122"/>
                  <a:ea typeface="华文宋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FEA450AB-100E-C628-6794-5CD9489641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60" y="3541976"/>
                <a:ext cx="11108176" cy="473078"/>
              </a:xfrm>
              <a:prstGeom prst="rect">
                <a:avLst/>
              </a:prstGeom>
              <a:blipFill>
                <a:blip r:embed="rId5"/>
                <a:stretch>
                  <a:fillRect l="-2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331C1E25-3CE5-26BE-FF67-5CB5B94F14A4}"/>
                  </a:ext>
                </a:extLst>
              </p:cNvPr>
              <p:cNvSpPr txBox="1"/>
              <p:nvPr/>
            </p:nvSpPr>
            <p:spPr>
              <a:xfrm>
                <a:off x="507459" y="4183050"/>
                <a:ext cx="11039269" cy="7878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解：显然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𝑝</m:t>
                    </m:r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𝑥</m:t>
                        </m:r>
                      </m:e>
                    </m:d>
                  </m:oMath>
                </a14:m>
                <a:r>
                  <a:rPr lang="zh-CN" altLang="en-US" sz="16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是偶函数，则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altLang="zh-CN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en-US" altLang="zh-CN" sz="16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nary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f>
                          <m:f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fPr>
                          <m:num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2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𝑥</m:t>
                            </m:r>
                          </m:num>
                          <m:den>
                            <m:r>
                              <a:rPr lang="zh-CN" altLang="en-US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𝜋</m:t>
                            </m:r>
                            <m:d>
                              <m:d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</m:ctrlPr>
                              </m:dPr>
                              <m:e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1+</m:t>
                                </m:r>
                                <m:sSup>
                                  <m:sSupPr>
                                    <m:ctrlPr>
                                      <a:rPr lang="en-US" altLang="zh-CN" sz="1600" i="1">
                                        <a:latin typeface="Cambria Math" panose="02040503050406030204" pitchFamily="18" charset="0"/>
                                        <a:ea typeface="华文宋体" panose="02010600040101010101" pitchFamily="2" charset="-122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  <a:ea typeface="华文宋体" panose="02010600040101010101" pitchFamily="2" charset="-122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  <a:ea typeface="华文宋体" panose="02010600040101010101" pitchFamily="2" charset="-122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d>
                          </m:den>
                        </m:f>
                        <m:r>
                          <m:rPr>
                            <m:sty m:val="p"/>
                          </m:rPr>
                          <a:rPr lang="en-US" altLang="zh-CN" sz="1600"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nary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zh-CN" altLang="en-US" sz="16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:endParaRPr lang="en-US" altLang="zh-CN" sz="1600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16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    </a:t>
                </a:r>
                <a:r>
                  <a:rPr lang="zh-CN" altLang="en-US" sz="16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故</a:t>
                </a:r>
                <a14:m>
                  <m:oMath xmlns:m="http://schemas.openxmlformats.org/officeDocument/2006/math">
                    <m:r>
                      <a:rPr lang="en-US" altLang="zh-CN" sz="16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𝑋</m:t>
                    </m:r>
                  </m:oMath>
                </a14:m>
                <a:r>
                  <a:rPr lang="zh-CN" altLang="en-US" sz="16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的数学期望不存在。</a:t>
                </a:r>
              </a:p>
            </p:txBody>
          </p:sp>
        </mc:Choice>
        <mc:Fallback xmlns="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331C1E25-3CE5-26BE-FF67-5CB5B94F14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59" y="4183050"/>
                <a:ext cx="11039269" cy="787844"/>
              </a:xfrm>
              <a:prstGeom prst="rect">
                <a:avLst/>
              </a:prstGeom>
              <a:blipFill>
                <a:blip r:embed="rId6"/>
                <a:stretch>
                  <a:fillRect l="-276" t="-54264" b="-418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22796258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1" grpId="0"/>
      <p:bldP spid="27" grpId="0"/>
      <p:bldP spid="2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143FF26B-CC77-0DBB-021F-F6F65A8FA87C}"/>
              </a:ext>
            </a:extLst>
          </p:cNvPr>
          <p:cNvCxnSpPr/>
          <p:nvPr/>
        </p:nvCxnSpPr>
        <p:spPr>
          <a:xfrm>
            <a:off x="576364" y="1136063"/>
            <a:ext cx="11039272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26A51B39-5350-5E90-4B2C-5D6D06841963}"/>
              </a:ext>
            </a:extLst>
          </p:cNvPr>
          <p:cNvSpPr txBox="1"/>
          <p:nvPr/>
        </p:nvSpPr>
        <p:spPr>
          <a:xfrm>
            <a:off x="507460" y="496110"/>
            <a:ext cx="36913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随机变量的数学期望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A4603F2-F6CF-9E85-E4CE-0C35F5B2B5C7}"/>
              </a:ext>
            </a:extLst>
          </p:cNvPr>
          <p:cNvSpPr txBox="1"/>
          <p:nvPr/>
        </p:nvSpPr>
        <p:spPr>
          <a:xfrm>
            <a:off x="4225693" y="775742"/>
            <a:ext cx="20367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600" dirty="0"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数学期望的计算</a:t>
            </a:r>
            <a:r>
              <a:rPr lang="en-US" altLang="zh-CN" sz="1600" dirty="0"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(1)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D9A48C2F-C397-1AB5-176A-8D4A6BFAAC2F}"/>
                  </a:ext>
                </a:extLst>
              </p:cNvPr>
              <p:cNvSpPr txBox="1"/>
              <p:nvPr/>
            </p:nvSpPr>
            <p:spPr>
              <a:xfrm>
                <a:off x="507460" y="1425186"/>
                <a:ext cx="11108176" cy="4664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例</a:t>
                </a:r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1.3</a:t>
                </a:r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：已知随机变量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𝑋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的密度函数为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𝑝</m:t>
                    </m:r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𝑥</m:t>
                        </m:r>
                      </m:e>
                    </m:d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</m:t>
                    </m:r>
                    <m:f>
                      <m:fPr>
                        <m:ctrlPr>
                          <a:rPr lang="en-US" altLang="zh-CN" sz="160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fPr>
                      <m:num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CN" sz="160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radPr>
                          <m:deg/>
                          <m:e>
                            <m:r>
                              <a:rPr lang="zh-CN" altLang="en-US" sz="160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𝜋</m:t>
                            </m:r>
                          </m:e>
                        </m:rad>
                      </m:den>
                    </m:f>
                    <m:sSup>
                      <m:sSup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p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𝑒</m:t>
                        </m:r>
                      </m:e>
                      <m: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−</m:t>
                        </m:r>
                        <m:sSup>
                          <m:sSup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sSup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+2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𝑥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−1</m:t>
                        </m:r>
                      </m:sup>
                    </m:sSup>
                    <m:r>
                      <a:rPr lang="en-US" altLang="zh-CN" sz="160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 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(−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∞&lt;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&lt;+∞)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，求随机变量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𝑋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的数学期望。</a:t>
                </a:r>
                <a:endParaRPr lang="en-US" altLang="zh-CN" sz="1600" dirty="0">
                  <a:latin typeface="华文宋体" panose="02010600040101010101" pitchFamily="2" charset="-122"/>
                  <a:ea typeface="华文宋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D9A48C2F-C397-1AB5-176A-8D4A6BFAAC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60" y="1425186"/>
                <a:ext cx="11108176" cy="466474"/>
              </a:xfrm>
              <a:prstGeom prst="rect">
                <a:avLst/>
              </a:prstGeom>
              <a:blipFill>
                <a:blip r:embed="rId3"/>
                <a:stretch>
                  <a:fillRect l="-274" b="-26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B46A6C03-88DF-D0C2-F09C-74196CC03839}"/>
                  </a:ext>
                </a:extLst>
              </p:cNvPr>
              <p:cNvSpPr txBox="1"/>
              <p:nvPr/>
            </p:nvSpPr>
            <p:spPr>
              <a:xfrm>
                <a:off x="507460" y="1932371"/>
                <a:ext cx="11039269" cy="11764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解：</a:t>
                </a:r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*</a:t>
                </a:r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此题可以求解积分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𝐸</m:t>
                    </m:r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𝑋</m:t>
                        </m:r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nary>
                      <m:nary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+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f>
                          <m:f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fPr>
                          <m:num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𝑥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zh-CN" altLang="en-US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𝜋</m:t>
                                </m:r>
                              </m:e>
                            </m:rad>
                          </m:den>
                        </m:f>
                        <m:sSup>
                          <m:sSup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sSup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+2</m:t>
                            </m:r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𝑥</m:t>
                            </m:r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−1</m:t>
                            </m:r>
                          </m:sup>
                        </m:s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𝑑𝑥</m:t>
                        </m:r>
                      </m:e>
                    </m:nary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nary>
                      <m:nary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+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f>
                          <m:f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fPr>
                          <m:num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(2</m:t>
                            </m:r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𝑥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−2+2)</m:t>
                            </m:r>
                          </m:num>
                          <m:den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2</m:t>
                            </m:r>
                            <m:rad>
                              <m:radPr>
                                <m:degHide m:val="on"/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zh-CN" altLang="en-US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𝜋</m:t>
                                </m:r>
                              </m:e>
                            </m:rad>
                          </m:den>
                        </m:f>
                        <m:sSup>
                          <m:sSup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sSup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  <a:ea typeface="华文宋体" panose="02010600040101010101" pitchFamily="2" charset="-122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  <a:ea typeface="华文宋体" panose="02010600040101010101" pitchFamily="2" charset="-122"/>
                                      </a:rPr>
                                      <m:t>𝑥</m:t>
                                    </m:r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  <a:ea typeface="华文宋体" panose="02010600040101010101" pitchFamily="2" charset="-122"/>
                                      </a:rPr>
                                      <m:t>−1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2</m:t>
                                </m:r>
                              </m:sup>
                            </m:sSup>
                          </m:sup>
                        </m:sSup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𝑑𝑥</m:t>
                        </m:r>
                      </m:e>
                    </m:nary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，但涉及到复杂的变量代换和概率积分。</a:t>
                </a:r>
                <a:endParaRPr lang="en-US" altLang="zh-CN" sz="16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</a:t>
                </a:r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显然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𝑝</m:t>
                    </m:r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𝑥</m:t>
                        </m:r>
                      </m:e>
                    </m:d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</m:t>
                    </m:r>
                    <m:f>
                      <m:f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fPr>
                      <m:num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radPr>
                          <m:deg/>
                          <m:e>
                            <m:r>
                              <a:rPr lang="zh-CN" altLang="en-US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𝜋</m:t>
                            </m:r>
                          </m:e>
                        </m:rad>
                      </m:den>
                    </m:f>
                    <m:sSup>
                      <m:sSup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p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𝑒</m:t>
                        </m:r>
                      </m:e>
                      <m:sup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−</m:t>
                        </m:r>
                        <m:sSup>
                          <m:sSup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sSup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+2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𝑥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−1</m:t>
                        </m:r>
                      </m:sup>
                    </m:sSup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</m:t>
                    </m:r>
                    <m:f>
                      <m:f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fPr>
                      <m:num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1</m:t>
                        </m:r>
                      </m:num>
                      <m:den>
                        <m:f>
                          <m:f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fPr>
                          <m:num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  <m:rad>
                          <m:radPr>
                            <m:degHide m:val="on"/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2</m:t>
                            </m:r>
                            <m:r>
                              <a:rPr lang="zh-CN" altLang="en-US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𝜋</m:t>
                            </m:r>
                          </m:e>
                        </m:rad>
                      </m:den>
                    </m:f>
                    <m:sSup>
                      <m:sSup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p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𝑒</m:t>
                        </m:r>
                      </m:e>
                      <m:sup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−</m:t>
                        </m:r>
                        <m:sSup>
                          <m:sSup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</m:ctrlPr>
                              </m:dPr>
                              <m:e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𝑥</m:t>
                                </m:r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−1</m:t>
                                </m:r>
                              </m:e>
                            </m:d>
                          </m:e>
                          <m:sup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2</m:t>
                            </m:r>
                          </m:sup>
                        </m:sSup>
                      </m:sup>
                    </m:sSup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𝑋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~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𝑁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(1,</m:t>
                    </m:r>
                    <m:f>
                      <m:f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fPr>
                      <m:num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)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的密度函数，故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𝐸</m:t>
                    </m:r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𝑋</m:t>
                        </m:r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=1</m:t>
                    </m:r>
                  </m:oMath>
                </a14:m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.</a:t>
                </a:r>
                <a:endParaRPr lang="zh-CN" altLang="en-US" sz="16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B46A6C03-88DF-D0C2-F09C-74196CC038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60" y="1932371"/>
                <a:ext cx="11039269" cy="1176412"/>
              </a:xfrm>
              <a:prstGeom prst="rect">
                <a:avLst/>
              </a:prstGeom>
              <a:blipFill>
                <a:blip r:embed="rId4"/>
                <a:stretch>
                  <a:fillRect l="-276" t="-352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7EF55F0F-FC3E-40F2-77A1-1D9FF839DD3E}"/>
              </a:ext>
            </a:extLst>
          </p:cNvPr>
          <p:cNvCxnSpPr>
            <a:cxnSpLocks/>
          </p:cNvCxnSpPr>
          <p:nvPr/>
        </p:nvCxnSpPr>
        <p:spPr>
          <a:xfrm>
            <a:off x="511212" y="3291476"/>
            <a:ext cx="11035518" cy="0"/>
          </a:xfrm>
          <a:prstGeom prst="line">
            <a:avLst/>
          </a:prstGeom>
          <a:ln w="19050">
            <a:prstDash val="dashDot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FEA450AB-100E-C628-6794-5CD948964112}"/>
                  </a:ext>
                </a:extLst>
              </p:cNvPr>
              <p:cNvSpPr txBox="1"/>
              <p:nvPr/>
            </p:nvSpPr>
            <p:spPr>
              <a:xfrm>
                <a:off x="507460" y="3376830"/>
                <a:ext cx="11108176" cy="8784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例</a:t>
                </a:r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1.4</a:t>
                </a:r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：已知随机变量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𝑋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的密度函数为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𝑝</m:t>
                    </m:r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𝑥</m:t>
                        </m:r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eqArrPr>
                          <m:e>
                            <m:f>
                              <m:fPr>
                                <m:ctrlP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3</m:t>
                                </m:r>
                                <m:sSup>
                                  <m:sSupPr>
                                    <m:ctrlP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  <a:ea typeface="华文宋体" panose="02010600040101010101" pitchFamily="2" charset="-122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  <a:ea typeface="华文宋体" panose="02010600040101010101" pitchFamily="2" charset="-122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  <a:ea typeface="华文宋体" panose="02010600040101010101" pitchFamily="2" charset="-122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sSup>
                                  <m:sSupPr>
                                    <m:ctrlP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  <a:ea typeface="华文宋体" panose="02010600040101010101" pitchFamily="2" charset="-122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  <a:ea typeface="华文宋体" panose="02010600040101010101" pitchFamily="2" charset="-122"/>
                                      </a:rPr>
                                      <m:t>𝐴</m:t>
                                    </m:r>
                                  </m:e>
                                  <m:sup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  <a:ea typeface="华文宋体" panose="02010600040101010101" pitchFamily="2" charset="-122"/>
                                      </a:rPr>
                                      <m:t>3</m:t>
                                    </m:r>
                                  </m:sup>
                                </m:sSup>
                              </m:den>
                            </m:f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,  0&lt;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𝑥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&lt;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𝐴</m:t>
                            </m:r>
                          </m:e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0,          </m:t>
                            </m:r>
                            <m:r>
                              <a:rPr lang="zh-CN" altLang="en-US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其他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       </m:t>
                            </m:r>
                          </m:e>
                        </m:eqArr>
                      </m:e>
                    </m:d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，且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𝑋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&gt;1</m:t>
                        </m:r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</m:t>
                    </m:r>
                    <m:f>
                      <m:f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fPr>
                      <m:num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7</m:t>
                        </m:r>
                      </m:num>
                      <m:den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8</m:t>
                        </m:r>
                      </m:den>
                    </m:f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，求</a:t>
                </a: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𝐸𝑋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。</a:t>
                </a:r>
                <a:endParaRPr lang="en-US" altLang="zh-CN" sz="1600" dirty="0">
                  <a:latin typeface="华文宋体" panose="02010600040101010101" pitchFamily="2" charset="-122"/>
                  <a:ea typeface="华文宋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FEA450AB-100E-C628-6794-5CD9489641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60" y="3376830"/>
                <a:ext cx="11108176" cy="878446"/>
              </a:xfrm>
              <a:prstGeom prst="rect">
                <a:avLst/>
              </a:prstGeom>
              <a:blipFill>
                <a:blip r:embed="rId5"/>
                <a:stretch>
                  <a:fillRect l="-2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331C1E25-3CE5-26BE-FF67-5CB5B94F14A4}"/>
                  </a:ext>
                </a:extLst>
              </p:cNvPr>
              <p:cNvSpPr txBox="1"/>
              <p:nvPr/>
            </p:nvSpPr>
            <p:spPr>
              <a:xfrm>
                <a:off x="507459" y="4274137"/>
                <a:ext cx="11039269" cy="10050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解：由题意，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𝑋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≤1</m:t>
                        </m:r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</m:t>
                    </m:r>
                    <m:f>
                      <m:f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fPr>
                      <m:num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8</m:t>
                        </m:r>
                      </m:den>
                    </m:f>
                  </m:oMath>
                </a14:m>
                <a:r>
                  <a:rPr lang="zh-CN" altLang="en-US" sz="16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，即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zh-CN" altLang="en-US" sz="1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  <m:sup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sup>
                      <m:e>
                        <m:f>
                          <m:f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fPr>
                          <m:num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3</m:t>
                            </m:r>
                            <m:sSup>
                              <m:sSup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sSup>
                              <m:sSup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𝐴</m:t>
                                </m:r>
                              </m:e>
                              <m:sup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3</m:t>
                                </m:r>
                              </m:sup>
                            </m:sSup>
                          </m:den>
                        </m:f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𝑑𝑥</m:t>
                        </m:r>
                      </m:e>
                    </m:nary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altLang="zh-CN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𝐴</m:t>
                            </m:r>
                          </m:e>
                          <m:sup>
                            <m:r>
                              <a:rPr lang="en-US" altLang="zh-CN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8</m:t>
                        </m:r>
                      </m:den>
                    </m:f>
                  </m:oMath>
                </a14:m>
                <a:r>
                  <a:rPr lang="zh-CN" altLang="en-US" sz="16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，故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𝐴</m:t>
                    </m:r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=2</m:t>
                    </m:r>
                  </m:oMath>
                </a14:m>
                <a:r>
                  <a:rPr lang="en-US" altLang="zh-CN" sz="16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</a:t>
                </a:r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则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𝐸𝑋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nary>
                      <m:nary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  <m: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</m:sup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𝑥</m:t>
                        </m:r>
                        <m:f>
                          <m:f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fPr>
                          <m:num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3</m:t>
                            </m:r>
                            <m:sSup>
                              <m:sSup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8</m:t>
                            </m:r>
                          </m:den>
                        </m:f>
                      </m:e>
                    </m:nary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𝑑𝑥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3</m:t>
                        </m:r>
                      </m:num>
                      <m:den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32</m:t>
                        </m:r>
                      </m:den>
                    </m:f>
                    <m:sSup>
                      <m:sSup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𝑥</m:t>
                        </m:r>
                      </m:e>
                      <m: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4</m:t>
                        </m:r>
                      </m:sup>
                    </m:sSup>
                    <m:sSubSup>
                      <m:sSubSup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SupPr>
                      <m:e>
                        <m:d>
                          <m:dPr>
                            <m:begChr m:val=""/>
                            <m:endChr m:val="|"/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zh-CN" altLang="en-US"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</m:d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  <m: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</m:sup>
                    </m:sSubSup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3</m:t>
                        </m:r>
                      </m:num>
                      <m:den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16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.</a:t>
                </a:r>
                <a:endParaRPr lang="zh-CN" altLang="en-US" sz="1600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331C1E25-3CE5-26BE-FF67-5CB5B94F14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59" y="4274137"/>
                <a:ext cx="11039269" cy="1005019"/>
              </a:xfrm>
              <a:prstGeom prst="rect">
                <a:avLst/>
              </a:prstGeom>
              <a:blipFill>
                <a:blip r:embed="rId6"/>
                <a:stretch>
                  <a:fillRect l="-276" t="-39394" b="-660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: 圆角 3">
                <a:extLst>
                  <a:ext uri="{FF2B5EF4-FFF2-40B4-BE49-F238E27FC236}">
                    <a16:creationId xmlns:a16="http://schemas.microsoft.com/office/drawing/2014/main" id="{428A2A83-72FA-CD42-A6B8-A6A243A0DDD5}"/>
                  </a:ext>
                </a:extLst>
              </p:cNvPr>
              <p:cNvSpPr/>
              <p:nvPr/>
            </p:nvSpPr>
            <p:spPr>
              <a:xfrm>
                <a:off x="8864928" y="2540923"/>
                <a:ext cx="2499757" cy="1100812"/>
              </a:xfrm>
              <a:prstGeom prst="roundRect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spcAft>
                    <a:spcPts val="300"/>
                  </a:spcAft>
                </a:pPr>
                <a:r>
                  <a:rPr lang="zh-CN" altLang="en-US" sz="1400" u="sng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概率积分</a:t>
                </a:r>
                <a:endParaRPr lang="en-US" altLang="zh-CN" sz="1400" u="sng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algn="ctr">
                  <a:spcBef>
                    <a:spcPts val="3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zh-CN" alt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sup>
                          </m:sSup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nary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zh-CN" altLang="en-US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ra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" name="矩形: 圆角 3">
                <a:extLst>
                  <a:ext uri="{FF2B5EF4-FFF2-40B4-BE49-F238E27FC236}">
                    <a16:creationId xmlns:a16="http://schemas.microsoft.com/office/drawing/2014/main" id="{428A2A83-72FA-CD42-A6B8-A6A243A0DDD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4928" y="2540923"/>
                <a:ext cx="2499757" cy="1100812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851838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1" grpId="0" uiExpand="1" build="p"/>
      <p:bldP spid="27" grpId="0"/>
      <p:bldP spid="28" grpId="0"/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143FF26B-CC77-0DBB-021F-F6F65A8FA87C}"/>
              </a:ext>
            </a:extLst>
          </p:cNvPr>
          <p:cNvCxnSpPr/>
          <p:nvPr/>
        </p:nvCxnSpPr>
        <p:spPr>
          <a:xfrm>
            <a:off x="576364" y="1136063"/>
            <a:ext cx="11039272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366AA635-A21B-A433-4648-23FD4F0AB104}"/>
              </a:ext>
            </a:extLst>
          </p:cNvPr>
          <p:cNvSpPr txBox="1"/>
          <p:nvPr/>
        </p:nvSpPr>
        <p:spPr>
          <a:xfrm>
            <a:off x="507460" y="496110"/>
            <a:ext cx="36913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随机变量的数学期望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DF8EA2AA-3607-76BF-CED9-450E9DC65B0B}"/>
                  </a:ext>
                </a:extLst>
              </p:cNvPr>
              <p:cNvSpPr txBox="1"/>
              <p:nvPr/>
            </p:nvSpPr>
            <p:spPr>
              <a:xfrm>
                <a:off x="507460" y="1425186"/>
                <a:ext cx="11108176" cy="8002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600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实际应用中，我们经常需要求出随机变量的函数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𝑌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=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𝑓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(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𝑋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)</m:t>
                    </m:r>
                  </m:oMath>
                </a14:m>
                <a:r>
                  <a:rPr lang="zh-CN" altLang="en-US" sz="1600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的数学期望。当然可以先求</a:t>
                </a: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𝑌</m:t>
                    </m:r>
                  </m:oMath>
                </a14:m>
                <a:r>
                  <a:rPr lang="zh-CN" altLang="en-US" sz="1600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的分布 再按定义求其期望，</a:t>
                </a:r>
                <a:endParaRPr lang="en-US" altLang="zh-CN" sz="1600" dirty="0">
                  <a:latin typeface="方正小标宋简体" panose="02000000000000000000" pitchFamily="2" charset="-122"/>
                  <a:ea typeface="方正小标宋简体" panose="02000000000000000000" pitchFamily="2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1600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但一般我们可以用如下的方法，不求</a:t>
                </a: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𝑌</m:t>
                    </m:r>
                  </m:oMath>
                </a14:m>
                <a:r>
                  <a:rPr lang="zh-CN" altLang="en-US" sz="1600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的分布 而直接求</a:t>
                </a: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𝑌</m:t>
                    </m:r>
                  </m:oMath>
                </a14:m>
                <a:r>
                  <a:rPr lang="zh-CN" altLang="en-US" sz="1600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的期望：</a:t>
                </a:r>
                <a:endParaRPr lang="en-US" altLang="zh-CN" sz="1600" dirty="0">
                  <a:latin typeface="方正小标宋简体" panose="02000000000000000000" pitchFamily="2" charset="-122"/>
                  <a:ea typeface="方正小标宋简体" panose="02000000000000000000" pitchFamily="2" charset="-122"/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DF8EA2AA-3607-76BF-CED9-450E9DC65B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60" y="1425186"/>
                <a:ext cx="11108176" cy="800219"/>
              </a:xfrm>
              <a:prstGeom prst="rect">
                <a:avLst/>
              </a:prstGeom>
              <a:blipFill>
                <a:blip r:embed="rId3"/>
                <a:stretch>
                  <a:fillRect l="-274" b="-91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本框 1">
            <a:extLst>
              <a:ext uri="{FF2B5EF4-FFF2-40B4-BE49-F238E27FC236}">
                <a16:creationId xmlns:a16="http://schemas.microsoft.com/office/drawing/2014/main" id="{CFCFE9ED-E2C0-E136-C16A-73B705043080}"/>
              </a:ext>
            </a:extLst>
          </p:cNvPr>
          <p:cNvSpPr txBox="1"/>
          <p:nvPr/>
        </p:nvSpPr>
        <p:spPr>
          <a:xfrm>
            <a:off x="4225694" y="775742"/>
            <a:ext cx="24574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600" dirty="0"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随机变量函数的数学期望</a:t>
            </a:r>
            <a:endParaRPr lang="en-US" altLang="zh-CN" sz="1600" dirty="0">
              <a:latin typeface="方正清刻本悦宋简体" panose="02000000000000000000" pitchFamily="2" charset="-122"/>
              <a:ea typeface="方正清刻本悦宋简体" panose="02000000000000000000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: 圆角 3">
                <a:extLst>
                  <a:ext uri="{FF2B5EF4-FFF2-40B4-BE49-F238E27FC236}">
                    <a16:creationId xmlns:a16="http://schemas.microsoft.com/office/drawing/2014/main" id="{0B24E69A-ADF1-68D3-25F1-B6C202465E7C}"/>
                  </a:ext>
                </a:extLst>
              </p:cNvPr>
              <p:cNvSpPr/>
              <p:nvPr/>
            </p:nvSpPr>
            <p:spPr>
              <a:xfrm>
                <a:off x="576364" y="2466114"/>
                <a:ext cx="1948398" cy="675197"/>
              </a:xfrm>
              <a:prstGeom prst="round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altLang="zh-CN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</m:oMath>
                  </m:oMathPara>
                </a14:m>
                <a:endParaRPr lang="en-US" altLang="zh-CN" dirty="0">
                  <a:solidFill>
                    <a:schemeClr val="tx1"/>
                  </a:solidFill>
                  <a:latin typeface="汉仪文黑-85W" panose="00020600040101010101" pitchFamily="18" charset="-128"/>
                  <a:ea typeface="汉仪文黑-85W" panose="00020600040101010101" pitchFamily="18" charset="-128"/>
                  <a:cs typeface="汉仪文黑-85W" panose="00020600040101010101" pitchFamily="18" charset="-128"/>
                </a:endParaRPr>
              </a:p>
              <a:p>
                <a:pPr algn="ctr"/>
                <a:r>
                  <a:rPr lang="zh-CN" altLang="en-US" dirty="0">
                    <a:solidFill>
                      <a:schemeClr val="tx1"/>
                    </a:solidFill>
                    <a:latin typeface="汉仪文黑-85W" panose="00020600040101010101" pitchFamily="18" charset="-128"/>
                    <a:ea typeface="汉仪文黑-85W" panose="00020600040101010101" pitchFamily="18" charset="-128"/>
                    <a:cs typeface="汉仪文黑-85W" panose="00020600040101010101" pitchFamily="18" charset="-128"/>
                  </a:rPr>
                  <a:t>数学期望</a:t>
                </a:r>
                <a:r>
                  <a:rPr lang="en-US" altLang="zh-CN" dirty="0">
                    <a:solidFill>
                      <a:schemeClr val="tx1"/>
                    </a:solidFill>
                    <a:latin typeface="汉仪文黑-85W" panose="00020600040101010101" pitchFamily="18" charset="-128"/>
                    <a:ea typeface="汉仪文黑-85W" panose="00020600040101010101" pitchFamily="18" charset="-128"/>
                    <a:cs typeface="汉仪文黑-85W" panose="00020600040101010101" pitchFamily="18" charset="-128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en-US" dirty="0">
                  <a:solidFill>
                    <a:schemeClr val="tx1"/>
                  </a:solidFill>
                  <a:latin typeface="汉仪文黑-85W" panose="00020600040101010101" pitchFamily="18" charset="-128"/>
                  <a:ea typeface="汉仪文黑-85W" panose="00020600040101010101" pitchFamily="18" charset="-128"/>
                  <a:cs typeface="汉仪文黑-85W" panose="00020600040101010101" pitchFamily="18" charset="-128"/>
                </a:endParaRPr>
              </a:p>
            </p:txBody>
          </p:sp>
        </mc:Choice>
        <mc:Fallback xmlns="">
          <p:sp>
            <p:nvSpPr>
              <p:cNvPr id="4" name="矩形: 圆角 3">
                <a:extLst>
                  <a:ext uri="{FF2B5EF4-FFF2-40B4-BE49-F238E27FC236}">
                    <a16:creationId xmlns:a16="http://schemas.microsoft.com/office/drawing/2014/main" id="{0B24E69A-ADF1-68D3-25F1-B6C202465E7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364" y="2466114"/>
                <a:ext cx="1948398" cy="675197"/>
              </a:xfrm>
              <a:prstGeom prst="roundRect">
                <a:avLst/>
              </a:prstGeom>
              <a:blipFill>
                <a:blip r:embed="rId4"/>
                <a:stretch>
                  <a:fillRect b="-727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037860B3-7F19-B917-DCF1-0ECD0D1E531A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2524762" y="2803713"/>
            <a:ext cx="1788540" cy="0"/>
          </a:xfrm>
          <a:prstGeom prst="line">
            <a:avLst/>
          </a:prstGeom>
          <a:ln w="28575"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0524B510-AE56-F42E-397D-8B5C7E2F1E35}"/>
              </a:ext>
            </a:extLst>
          </p:cNvPr>
          <p:cNvSpPr txBox="1"/>
          <p:nvPr/>
        </p:nvSpPr>
        <p:spPr>
          <a:xfrm>
            <a:off x="2524759" y="2401029"/>
            <a:ext cx="17885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solidFill>
                  <a:schemeClr val="accent5"/>
                </a:solidFill>
                <a:latin typeface="汉仪润圆-65简" panose="00020600040101010101" pitchFamily="18" charset="-122"/>
                <a:ea typeface="汉仪润圆-65简" panose="00020600040101010101" pitchFamily="18" charset="-122"/>
              </a:rPr>
              <a:t>离散型</a:t>
            </a:r>
            <a:r>
              <a:rPr lang="zh-CN" altLang="en-US" sz="1600" dirty="0">
                <a:latin typeface="汉仪润圆-65简" panose="00020600040101010101" pitchFamily="18" charset="-122"/>
                <a:ea typeface="汉仪润圆-65简" panose="00020600040101010101" pitchFamily="18" charset="-122"/>
              </a:rPr>
              <a:t>随机变量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028B481-20C4-CE69-9855-8B5BA99424BA}"/>
              </a:ext>
            </a:extLst>
          </p:cNvPr>
          <p:cNvSpPr txBox="1"/>
          <p:nvPr/>
        </p:nvSpPr>
        <p:spPr>
          <a:xfrm>
            <a:off x="2524759" y="2867841"/>
            <a:ext cx="17885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solidFill>
                  <a:schemeClr val="accent1"/>
                </a:solidFill>
                <a:latin typeface="汉仪润圆-65简" panose="00020600040101010101" pitchFamily="18" charset="-122"/>
                <a:ea typeface="汉仪润圆-65简" panose="00020600040101010101" pitchFamily="18" charset="-122"/>
              </a:rPr>
              <a:t>连续型</a:t>
            </a:r>
            <a:r>
              <a:rPr lang="zh-CN" altLang="en-US" sz="1600" dirty="0">
                <a:latin typeface="汉仪润圆-65简" panose="00020600040101010101" pitchFamily="18" charset="-122"/>
                <a:ea typeface="汉仪润圆-65简" panose="00020600040101010101" pitchFamily="18" charset="-122"/>
              </a:rPr>
              <a:t>随机变量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E47FE2DF-5842-320B-A93D-F8EBB7FC8ED4}"/>
                  </a:ext>
                </a:extLst>
              </p:cNvPr>
              <p:cNvSpPr txBox="1"/>
              <p:nvPr/>
            </p:nvSpPr>
            <p:spPr>
              <a:xfrm>
                <a:off x="4498985" y="2401029"/>
                <a:ext cx="496078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)=</m:t>
                    </m:r>
                    <m:nary>
                      <m:naryPr>
                        <m:chr m:val="∑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lang="en-US" altLang="zh-CN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altLang="zh-CN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altLang="zh-CN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nary>
                  </m:oMath>
                </a14:m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:r>
                  <a:rPr lang="zh-CN" altLang="en-US" sz="1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其中</a:t>
                </a:r>
                <a14:m>
                  <m:oMath xmlns:m="http://schemas.openxmlformats.org/officeDocument/2006/math">
                    <m:r>
                      <a:rPr lang="en-US" altLang="zh-CN" sz="14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𝑋</m:t>
                    </m:r>
                  </m:oMath>
                </a14:m>
                <a:r>
                  <a:rPr lang="zh-CN" altLang="en-US" sz="1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的分布律为</a:t>
                </a:r>
                <a14:m>
                  <m:oMath xmlns:m="http://schemas.openxmlformats.org/officeDocument/2006/math">
                    <m:r>
                      <a:rPr lang="en-US" altLang="zh-CN" sz="14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14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𝑋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CN" sz="14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altLang="zh-CN" sz="14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sSub>
                      <m:sSubPr>
                        <m:ctrlPr>
                          <a:rPr lang="en-US" altLang="zh-CN" sz="14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𝑝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𝑛</m:t>
                        </m:r>
                      </m:sub>
                    </m:sSub>
                  </m:oMath>
                </a14:m>
                <a:endParaRPr lang="zh-CN" altLang="en-US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E47FE2DF-5842-320B-A93D-F8EBB7FC8E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8985" y="2401029"/>
                <a:ext cx="4960782" cy="276999"/>
              </a:xfrm>
              <a:prstGeom prst="rect">
                <a:avLst/>
              </a:prstGeom>
              <a:blipFill>
                <a:blip r:embed="rId5"/>
                <a:stretch>
                  <a:fillRect l="-1597" t="-175556" b="-2711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53B713A9-E222-4CC6-AF8B-72322FD34A68}"/>
                  </a:ext>
                </a:extLst>
              </p:cNvPr>
              <p:cNvSpPr txBox="1"/>
              <p:nvPr/>
            </p:nvSpPr>
            <p:spPr>
              <a:xfrm>
                <a:off x="4498984" y="2840782"/>
                <a:ext cx="4638514" cy="3656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)=</m:t>
                    </m:r>
                    <m:nary>
                      <m:naryPr>
                        <m:ctrlP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lang="en-US" altLang="zh-CN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altLang="zh-CN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en-US" altLang="zh-CN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nary>
                  </m:oMath>
                </a14:m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:r>
                  <a:rPr lang="zh-CN" altLang="en-US" sz="1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其中</a:t>
                </a:r>
                <a14:m>
                  <m:oMath xmlns:m="http://schemas.openxmlformats.org/officeDocument/2006/math">
                    <m:r>
                      <a:rPr lang="en-US" altLang="zh-CN" sz="14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𝑋</m:t>
                    </m:r>
                  </m:oMath>
                </a14:m>
                <a:r>
                  <a:rPr lang="zh-CN" altLang="en-US" sz="1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的密度函数为</a:t>
                </a:r>
                <a14:m>
                  <m:oMath xmlns:m="http://schemas.openxmlformats.org/officeDocument/2006/math"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1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53B713A9-E222-4CC6-AF8B-72322FD34A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8984" y="2840782"/>
                <a:ext cx="4638514" cy="365613"/>
              </a:xfrm>
              <a:prstGeom prst="rect">
                <a:avLst/>
              </a:prstGeom>
              <a:blipFill>
                <a:blip r:embed="rId6"/>
                <a:stretch>
                  <a:fillRect l="-1708" t="-148333" b="-231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1B335EFA-23CD-4AA9-D056-138B5DBAE9F1}"/>
              </a:ext>
            </a:extLst>
          </p:cNvPr>
          <p:cNvCxnSpPr>
            <a:cxnSpLocks/>
          </p:cNvCxnSpPr>
          <p:nvPr/>
        </p:nvCxnSpPr>
        <p:spPr>
          <a:xfrm>
            <a:off x="828483" y="3013224"/>
            <a:ext cx="0" cy="1745881"/>
          </a:xfrm>
          <a:prstGeom prst="line">
            <a:avLst/>
          </a:prstGeom>
          <a:ln w="38100">
            <a:solidFill>
              <a:schemeClr val="accent6">
                <a:lumMod val="20000"/>
                <a:lumOff val="8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4" name="组合 63">
            <a:extLst>
              <a:ext uri="{FF2B5EF4-FFF2-40B4-BE49-F238E27FC236}">
                <a16:creationId xmlns:a16="http://schemas.microsoft.com/office/drawing/2014/main" id="{3DEA21CF-0639-F356-8CAA-48314FCF769B}"/>
              </a:ext>
            </a:extLst>
          </p:cNvPr>
          <p:cNvGrpSpPr/>
          <p:nvPr/>
        </p:nvGrpSpPr>
        <p:grpSpPr>
          <a:xfrm>
            <a:off x="783038" y="4568620"/>
            <a:ext cx="10832598" cy="593945"/>
            <a:chOff x="783038" y="4002579"/>
            <a:chExt cx="10832598" cy="593945"/>
          </a:xfrm>
        </p:grpSpPr>
        <p:grpSp>
          <p:nvGrpSpPr>
            <p:cNvPr id="58" name="组合 57">
              <a:extLst>
                <a:ext uri="{FF2B5EF4-FFF2-40B4-BE49-F238E27FC236}">
                  <a16:creationId xmlns:a16="http://schemas.microsoft.com/office/drawing/2014/main" id="{D80AFBC7-96D4-176F-06EE-EBFCDDF03D7E}"/>
                </a:ext>
              </a:extLst>
            </p:cNvPr>
            <p:cNvGrpSpPr/>
            <p:nvPr/>
          </p:nvGrpSpPr>
          <p:grpSpPr>
            <a:xfrm>
              <a:off x="783038" y="4136861"/>
              <a:ext cx="590428" cy="90889"/>
              <a:chOff x="783038" y="4168883"/>
              <a:chExt cx="590428" cy="90889"/>
            </a:xfrm>
          </p:grpSpPr>
          <p:cxnSp>
            <p:nvCxnSpPr>
              <p:cNvPr id="36" name="直接连接符 35">
                <a:extLst>
                  <a:ext uri="{FF2B5EF4-FFF2-40B4-BE49-F238E27FC236}">
                    <a16:creationId xmlns:a16="http://schemas.microsoft.com/office/drawing/2014/main" id="{AD2092FC-3674-2AAD-6E2E-45ACE9B3E05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4251" y="4214328"/>
                <a:ext cx="559215" cy="0"/>
              </a:xfrm>
              <a:prstGeom prst="line">
                <a:avLst/>
              </a:prstGeom>
              <a:ln w="38100">
                <a:solidFill>
                  <a:schemeClr val="accent6">
                    <a:lumMod val="20000"/>
                    <a:lumOff val="80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" name="椭圆 38">
                <a:extLst>
                  <a:ext uri="{FF2B5EF4-FFF2-40B4-BE49-F238E27FC236}">
                    <a16:creationId xmlns:a16="http://schemas.microsoft.com/office/drawing/2014/main" id="{52B963AC-F3F0-FE46-C256-732775310D58}"/>
                  </a:ext>
                </a:extLst>
              </p:cNvPr>
              <p:cNvSpPr/>
              <p:nvPr/>
            </p:nvSpPr>
            <p:spPr>
              <a:xfrm>
                <a:off x="783038" y="4168883"/>
                <a:ext cx="90889" cy="90889"/>
              </a:xfrm>
              <a:prstGeom prst="ellipse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62" name="文本框 61">
              <a:extLst>
                <a:ext uri="{FF2B5EF4-FFF2-40B4-BE49-F238E27FC236}">
                  <a16:creationId xmlns:a16="http://schemas.microsoft.com/office/drawing/2014/main" id="{8092E13C-1AD9-7057-DC57-F5FDBEDF372B}"/>
                </a:ext>
              </a:extLst>
            </p:cNvPr>
            <p:cNvSpPr txBox="1"/>
            <p:nvPr/>
          </p:nvSpPr>
          <p:spPr>
            <a:xfrm>
              <a:off x="1418911" y="4002579"/>
              <a:ext cx="10196725" cy="593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5000"/>
                </a:lnSpc>
              </a:pPr>
              <a:r>
                <a:rPr lang="zh-CN" altLang="en-US" sz="1400" dirty="0">
                  <a:latin typeface="汉仪文黑-85W" panose="00020600040101010101" pitchFamily="18" charset="-128"/>
                  <a:ea typeface="汉仪文黑-85W" panose="00020600040101010101" pitchFamily="18" charset="-128"/>
                  <a:cs typeface="汉仪文黑-85W" panose="00020600040101010101" pitchFamily="18" charset="-128"/>
                </a:rPr>
                <a:t>注</a:t>
              </a:r>
              <a:r>
                <a:rPr lang="zh-CN" altLang="en-US" sz="1400" dirty="0">
                  <a:latin typeface="仿宋" panose="02010609060101010101" pitchFamily="49" charset="-122"/>
                  <a:ea typeface="仿宋" panose="02010609060101010101" pitchFamily="49" charset="-122"/>
                </a:rPr>
                <a:t>：一般来说，二维离散型随机变量，先求分布律再按定义求数学期望，要比直接使用上面公式简单一些。</a:t>
              </a:r>
              <a:endParaRPr lang="en-US" altLang="zh-CN" sz="1400" dirty="0">
                <a:latin typeface="仿宋" panose="02010609060101010101" pitchFamily="49" charset="-122"/>
                <a:ea typeface="仿宋" panose="02010609060101010101" pitchFamily="49" charset="-122"/>
              </a:endParaRPr>
            </a:p>
            <a:p>
              <a:pPr>
                <a:lnSpc>
                  <a:spcPct val="125000"/>
                </a:lnSpc>
              </a:pPr>
              <a:r>
                <a:rPr lang="en-US" altLang="zh-CN" sz="1400" dirty="0">
                  <a:latin typeface="仿宋" panose="02010609060101010101" pitchFamily="49" charset="-122"/>
                  <a:ea typeface="仿宋" panose="02010609060101010101" pitchFamily="49" charset="-122"/>
                </a:rPr>
                <a:t>    </a:t>
              </a:r>
              <a:r>
                <a:rPr lang="zh-CN" altLang="en-US" sz="1400" dirty="0">
                  <a:latin typeface="仿宋" panose="02010609060101010101" pitchFamily="49" charset="-122"/>
                  <a:ea typeface="仿宋" panose="02010609060101010101" pitchFamily="49" charset="-122"/>
                </a:rPr>
                <a:t>其他情况都直接采用公式而不计算新的分布律</a:t>
              </a:r>
              <a:r>
                <a:rPr lang="en-US" altLang="zh-CN" sz="1400" dirty="0">
                  <a:latin typeface="仿宋" panose="02010609060101010101" pitchFamily="49" charset="-122"/>
                  <a:ea typeface="仿宋" panose="02010609060101010101" pitchFamily="49" charset="-122"/>
                </a:rPr>
                <a:t>/</a:t>
              </a:r>
              <a:r>
                <a:rPr lang="zh-CN" altLang="en-US" sz="1400" dirty="0">
                  <a:latin typeface="仿宋" panose="02010609060101010101" pitchFamily="49" charset="-122"/>
                  <a:ea typeface="仿宋" panose="02010609060101010101" pitchFamily="49" charset="-122"/>
                </a:rPr>
                <a:t>密度函数，要更方便。</a:t>
              </a:r>
              <a:endParaRPr lang="en-US" altLang="zh-CN" sz="1400" dirty="0">
                <a:latin typeface="仿宋" panose="02010609060101010101" pitchFamily="49" charset="-122"/>
                <a:ea typeface="仿宋" panose="02010609060101010101" pitchFamily="49" charset="-122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: 圆角 12">
                <a:extLst>
                  <a:ext uri="{FF2B5EF4-FFF2-40B4-BE49-F238E27FC236}">
                    <a16:creationId xmlns:a16="http://schemas.microsoft.com/office/drawing/2014/main" id="{CA88E7BF-F1A3-8FCF-F634-026BBEA1B1F3}"/>
                  </a:ext>
                </a:extLst>
              </p:cNvPr>
              <p:cNvSpPr/>
              <p:nvPr/>
            </p:nvSpPr>
            <p:spPr>
              <a:xfrm>
                <a:off x="576364" y="3491696"/>
                <a:ext cx="1948395" cy="675197"/>
              </a:xfrm>
              <a:prstGeom prst="round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altLang="zh-CN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</m:oMath>
                  </m:oMathPara>
                </a14:m>
                <a:endParaRPr lang="en-US" altLang="zh-CN" dirty="0">
                  <a:solidFill>
                    <a:schemeClr val="tx1"/>
                  </a:solidFill>
                  <a:latin typeface="汉仪文黑-85W" panose="00020600040101010101" pitchFamily="18" charset="-128"/>
                  <a:ea typeface="汉仪文黑-85W" panose="00020600040101010101" pitchFamily="18" charset="-128"/>
                  <a:cs typeface="汉仪文黑-85W" panose="00020600040101010101" pitchFamily="18" charset="-128"/>
                </a:endParaRPr>
              </a:p>
              <a:p>
                <a:pPr algn="ctr"/>
                <a:r>
                  <a:rPr lang="zh-CN" altLang="en-US" dirty="0">
                    <a:solidFill>
                      <a:schemeClr val="tx1"/>
                    </a:solidFill>
                    <a:latin typeface="汉仪文黑-85W" panose="00020600040101010101" pitchFamily="18" charset="-128"/>
                    <a:ea typeface="汉仪文黑-85W" panose="00020600040101010101" pitchFamily="18" charset="-128"/>
                    <a:cs typeface="汉仪文黑-85W" panose="00020600040101010101" pitchFamily="18" charset="-128"/>
                  </a:rPr>
                  <a:t>数学期望</a:t>
                </a:r>
                <a:r>
                  <a:rPr lang="en-US" altLang="zh-CN" dirty="0">
                    <a:solidFill>
                      <a:schemeClr val="tx1"/>
                    </a:solidFill>
                    <a:latin typeface="汉仪文黑-85W" panose="00020600040101010101" pitchFamily="18" charset="-128"/>
                    <a:ea typeface="汉仪文黑-85W" panose="00020600040101010101" pitchFamily="18" charset="-128"/>
                    <a:cs typeface="汉仪文黑-85W" panose="00020600040101010101" pitchFamily="18" charset="-128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en-US" dirty="0">
                  <a:solidFill>
                    <a:schemeClr val="tx1"/>
                  </a:solidFill>
                  <a:latin typeface="汉仪文黑-85W" panose="00020600040101010101" pitchFamily="18" charset="-128"/>
                  <a:ea typeface="汉仪文黑-85W" panose="00020600040101010101" pitchFamily="18" charset="-128"/>
                  <a:cs typeface="汉仪文黑-85W" panose="00020600040101010101" pitchFamily="18" charset="-128"/>
                </a:endParaRPr>
              </a:p>
            </p:txBody>
          </p:sp>
        </mc:Choice>
        <mc:Fallback xmlns="">
          <p:sp>
            <p:nvSpPr>
              <p:cNvPr id="13" name="矩形: 圆角 12">
                <a:extLst>
                  <a:ext uri="{FF2B5EF4-FFF2-40B4-BE49-F238E27FC236}">
                    <a16:creationId xmlns:a16="http://schemas.microsoft.com/office/drawing/2014/main" id="{CA88E7BF-F1A3-8FCF-F634-026BBEA1B1F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364" y="3491696"/>
                <a:ext cx="1948395" cy="675197"/>
              </a:xfrm>
              <a:prstGeom prst="roundRect">
                <a:avLst/>
              </a:prstGeom>
              <a:blipFill>
                <a:blip r:embed="rId7"/>
                <a:stretch>
                  <a:fillRect b="-720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99AF211E-D4CC-FFD2-E851-A2A21BD50542}"/>
              </a:ext>
            </a:extLst>
          </p:cNvPr>
          <p:cNvCxnSpPr>
            <a:cxnSpLocks/>
            <a:stCxn id="13" idx="3"/>
          </p:cNvCxnSpPr>
          <p:nvPr/>
        </p:nvCxnSpPr>
        <p:spPr>
          <a:xfrm>
            <a:off x="2524759" y="3829295"/>
            <a:ext cx="2070244" cy="0"/>
          </a:xfrm>
          <a:prstGeom prst="line">
            <a:avLst/>
          </a:prstGeom>
          <a:ln w="28575"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CDF7FE8A-E9FD-EEE9-FEAF-2E7B093E7D23}"/>
              </a:ext>
            </a:extLst>
          </p:cNvPr>
          <p:cNvSpPr txBox="1"/>
          <p:nvPr/>
        </p:nvSpPr>
        <p:spPr>
          <a:xfrm>
            <a:off x="2541921" y="3426611"/>
            <a:ext cx="20799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latin typeface="汉仪润圆-65简" panose="00020600040101010101" pitchFamily="18" charset="-122"/>
                <a:ea typeface="汉仪润圆-65简" panose="00020600040101010101" pitchFamily="18" charset="-122"/>
              </a:rPr>
              <a:t>二维</a:t>
            </a:r>
            <a:r>
              <a:rPr lang="zh-CN" altLang="en-US" sz="1600" dirty="0">
                <a:solidFill>
                  <a:schemeClr val="accent5"/>
                </a:solidFill>
                <a:latin typeface="汉仪润圆-65简" panose="00020600040101010101" pitchFamily="18" charset="-122"/>
                <a:ea typeface="汉仪润圆-65简" panose="00020600040101010101" pitchFamily="18" charset="-122"/>
              </a:rPr>
              <a:t>离散型</a:t>
            </a:r>
            <a:r>
              <a:rPr lang="zh-CN" altLang="en-US" sz="1600" dirty="0">
                <a:latin typeface="汉仪润圆-65简" panose="00020600040101010101" pitchFamily="18" charset="-122"/>
                <a:ea typeface="汉仪润圆-65简" panose="00020600040101010101" pitchFamily="18" charset="-122"/>
              </a:rPr>
              <a:t>随机变量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841485B3-E209-B19B-404B-C6E211536476}"/>
              </a:ext>
            </a:extLst>
          </p:cNvPr>
          <p:cNvSpPr txBox="1"/>
          <p:nvPr/>
        </p:nvSpPr>
        <p:spPr>
          <a:xfrm>
            <a:off x="2541920" y="3893423"/>
            <a:ext cx="20799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latin typeface="汉仪润圆-65简" panose="00020600040101010101" pitchFamily="18" charset="-122"/>
                <a:ea typeface="汉仪润圆-65简" panose="00020600040101010101" pitchFamily="18" charset="-122"/>
              </a:rPr>
              <a:t>二维</a:t>
            </a:r>
            <a:r>
              <a:rPr lang="zh-CN" altLang="en-US" sz="1600" dirty="0">
                <a:solidFill>
                  <a:schemeClr val="accent1"/>
                </a:solidFill>
                <a:latin typeface="汉仪润圆-65简" panose="00020600040101010101" pitchFamily="18" charset="-122"/>
                <a:ea typeface="汉仪润圆-65简" panose="00020600040101010101" pitchFamily="18" charset="-122"/>
              </a:rPr>
              <a:t>连续型</a:t>
            </a:r>
            <a:r>
              <a:rPr lang="zh-CN" altLang="en-US" sz="1600" dirty="0">
                <a:latin typeface="汉仪润圆-65简" panose="00020600040101010101" pitchFamily="18" charset="-122"/>
                <a:ea typeface="汉仪润圆-65简" panose="00020600040101010101" pitchFamily="18" charset="-122"/>
              </a:rPr>
              <a:t>随机变量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AB952100-8492-63FB-9A76-6E373F38A787}"/>
                  </a:ext>
                </a:extLst>
              </p:cNvPr>
              <p:cNvSpPr txBox="1"/>
              <p:nvPr/>
            </p:nvSpPr>
            <p:spPr>
              <a:xfrm>
                <a:off x="4862761" y="3426611"/>
                <a:ext cx="6259599" cy="3282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)=</m:t>
                    </m:r>
                    <m:nary>
                      <m:naryPr>
                        <m:chr m:val="∑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nary>
                          <m:naryPr>
                            <m:chr m:val="∑"/>
                            <m:limLoc m:val="subSup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5"/>
                              </m:r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∞</m:t>
                            </m:r>
                          </m:sup>
                          <m:e>
                            <m:r>
                              <a:rPr lang="en-US" altLang="zh-CN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altLang="zh-CN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zh-CN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zh-CN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e>
                            </m:d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𝑖𝑗</m:t>
                                </m:r>
                              </m:sub>
                            </m:sSub>
                          </m:e>
                        </m:nary>
                      </m:e>
                    </m:nary>
                  </m:oMath>
                </a14:m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:r>
                  <a:rPr lang="zh-CN" altLang="en-US" sz="1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其中</a:t>
                </a:r>
                <a14:m>
                  <m:oMath xmlns:m="http://schemas.openxmlformats.org/officeDocument/2006/math">
                    <m:r>
                      <a:rPr lang="en-US" altLang="zh-CN" sz="14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𝑍</m:t>
                    </m:r>
                  </m:oMath>
                </a14:m>
                <a:r>
                  <a:rPr lang="zh-CN" altLang="en-US" sz="1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的分布律为</a:t>
                </a:r>
                <a14:m>
                  <m:oMath xmlns:m="http://schemas.openxmlformats.org/officeDocument/2006/math">
                    <m:r>
                      <a:rPr lang="en-US" altLang="zh-CN" sz="14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14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𝑋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CN" sz="14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,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𝑌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CN" sz="14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en-US" altLang="zh-CN" sz="14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sSub>
                      <m:sSubPr>
                        <m:ctrlPr>
                          <a:rPr lang="en-US" altLang="zh-CN" sz="14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𝑝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𝑖𝑗</m:t>
                        </m:r>
                      </m:sub>
                    </m:sSub>
                  </m:oMath>
                </a14:m>
                <a:endParaRPr lang="zh-CN" altLang="en-US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AB952100-8492-63FB-9A76-6E373F38A7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2761" y="3426611"/>
                <a:ext cx="6259599" cy="328295"/>
              </a:xfrm>
              <a:prstGeom prst="rect">
                <a:avLst/>
              </a:prstGeom>
              <a:blipFill>
                <a:blip r:embed="rId8"/>
                <a:stretch>
                  <a:fillRect l="-1363" t="-140741" b="-2148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02956807-14B0-B59D-957A-B883825C1FB0}"/>
                  </a:ext>
                </a:extLst>
              </p:cNvPr>
              <p:cNvSpPr txBox="1"/>
              <p:nvPr/>
            </p:nvSpPr>
            <p:spPr>
              <a:xfrm>
                <a:off x="4862761" y="3866364"/>
                <a:ext cx="6619889" cy="3656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)=</m:t>
                    </m:r>
                    <m:nary>
                      <m:naryPr>
                        <m:ctrlP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nary>
                          <m:nary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∞</m:t>
                            </m:r>
                          </m:sub>
                          <m:sup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∞</m:t>
                            </m:r>
                          </m:sup>
                          <m:e>
                            <m:r>
                              <a:rPr lang="en-US" altLang="zh-CN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altLang="zh-CN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zh-CN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CN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d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en-US" altLang="zh-CN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zh-CN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CN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d>
                            <m:r>
                              <m:rPr>
                                <m:sty m:val="p"/>
                              </m:rPr>
                              <a:rPr lang="en-US" altLang="zh-CN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d</m:t>
                            </m:r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US" altLang="zh-CN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d</m:t>
                            </m:r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nary>
                      </m:e>
                    </m:nary>
                  </m:oMath>
                </a14:m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:r>
                  <a:rPr lang="zh-CN" altLang="en-US" sz="1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其中随机变量</a:t>
                </a:r>
                <a14:m>
                  <m:oMath xmlns:m="http://schemas.openxmlformats.org/officeDocument/2006/math">
                    <m:r>
                      <a:rPr lang="en-US" altLang="zh-CN" sz="14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𝑍</m:t>
                    </m:r>
                  </m:oMath>
                </a14:m>
                <a:r>
                  <a:rPr lang="zh-CN" altLang="en-US" sz="1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的密度函数为</a:t>
                </a:r>
                <a14:m>
                  <m:oMath xmlns:m="http://schemas.openxmlformats.org/officeDocument/2006/math"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1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02956807-14B0-B59D-957A-B883825C1F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2761" y="3866364"/>
                <a:ext cx="6619889" cy="365613"/>
              </a:xfrm>
              <a:prstGeom prst="rect">
                <a:avLst/>
              </a:prstGeom>
              <a:blipFill>
                <a:blip r:embed="rId9"/>
                <a:stretch>
                  <a:fillRect l="-1289" t="-148333" b="-231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672778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5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4000"/>
                            </p:stCondLst>
                            <p:childTnLst>
                              <p:par>
                                <p:cTn id="3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45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5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6000"/>
                            </p:stCondLst>
                            <p:childTnLst>
                              <p:par>
                                <p:cTn id="50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7000"/>
                            </p:stCondLst>
                            <p:childTnLst>
                              <p:par>
                                <p:cTn id="5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7500"/>
                            </p:stCondLst>
                            <p:childTnLst>
                              <p:par>
                                <p:cTn id="6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8500"/>
                            </p:stCondLst>
                            <p:childTnLst>
                              <p:par>
                                <p:cTn id="6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4" grpId="0" animBg="1"/>
      <p:bldP spid="14" grpId="0"/>
      <p:bldP spid="15" grpId="0"/>
      <p:bldP spid="21" grpId="0"/>
      <p:bldP spid="26" grpId="0"/>
      <p:bldP spid="13" grpId="0" animBg="1"/>
      <p:bldP spid="17" grpId="0"/>
      <p:bldP spid="19" grpId="0"/>
      <p:bldP spid="2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143FF26B-CC77-0DBB-021F-F6F65A8FA87C}"/>
              </a:ext>
            </a:extLst>
          </p:cNvPr>
          <p:cNvCxnSpPr/>
          <p:nvPr/>
        </p:nvCxnSpPr>
        <p:spPr>
          <a:xfrm>
            <a:off x="576364" y="1136063"/>
            <a:ext cx="11039272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366AA635-A21B-A433-4648-23FD4F0AB104}"/>
              </a:ext>
            </a:extLst>
          </p:cNvPr>
          <p:cNvSpPr txBox="1"/>
          <p:nvPr/>
        </p:nvSpPr>
        <p:spPr>
          <a:xfrm>
            <a:off x="507460" y="496110"/>
            <a:ext cx="36913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随机变量的数学期望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F8EA2AA-3607-76BF-CED9-450E9DC65B0B}"/>
              </a:ext>
            </a:extLst>
          </p:cNvPr>
          <p:cNvSpPr txBox="1"/>
          <p:nvPr/>
        </p:nvSpPr>
        <p:spPr>
          <a:xfrm>
            <a:off x="507460" y="1425186"/>
            <a:ext cx="1110817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除了直接根据定义计算，我们不加证明的给出 数学期望的如下常用性质，它们可以直接用于计算一些随机变量的期望。</a:t>
            </a:r>
            <a:endParaRPr lang="en-US" altLang="zh-CN" sz="1600" dirty="0">
              <a:latin typeface="方正小标宋简体" panose="02000000000000000000" pitchFamily="2" charset="-122"/>
              <a:ea typeface="方正小标宋简体" panose="02000000000000000000" pitchFamily="2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FCFE9ED-E2C0-E136-C16A-73B705043080}"/>
              </a:ext>
            </a:extLst>
          </p:cNvPr>
          <p:cNvSpPr txBox="1"/>
          <p:nvPr/>
        </p:nvSpPr>
        <p:spPr>
          <a:xfrm>
            <a:off x="4225694" y="775742"/>
            <a:ext cx="17790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600" dirty="0"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数学期望的性质</a:t>
            </a:r>
            <a:endParaRPr lang="en-US" altLang="zh-CN" sz="1600" dirty="0">
              <a:latin typeface="方正清刻本悦宋简体" panose="02000000000000000000" pitchFamily="2" charset="-122"/>
              <a:ea typeface="方正清刻本悦宋简体" panose="02000000000000000000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E47FE2DF-5842-320B-A93D-F8EBB7FC8ED4}"/>
                  </a:ext>
                </a:extLst>
              </p:cNvPr>
              <p:cNvSpPr txBox="1"/>
              <p:nvPr/>
            </p:nvSpPr>
            <p:spPr>
              <a:xfrm>
                <a:off x="2649820" y="2171741"/>
                <a:ext cx="2475229" cy="58862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zh-CN" altLang="en-US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若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𝐶</m:t>
                    </m:r>
                  </m:oMath>
                </a14:m>
                <a:r>
                  <a:rPr lang="zh-CN" altLang="en-US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为常数，则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𝐸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𝐶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𝐶</m:t>
                    </m:r>
                  </m:oMath>
                </a14:m>
                <a:endParaRPr lang="en-US" altLang="zh-CN" b="0" dirty="0"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* </a:t>
                </a:r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常数的期望是它本身</a:t>
                </a:r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E47FE2DF-5842-320B-A93D-F8EBB7FC8E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9820" y="2171741"/>
                <a:ext cx="2475229" cy="588623"/>
              </a:xfrm>
              <a:prstGeom prst="rect">
                <a:avLst/>
              </a:prstGeom>
              <a:blipFill>
                <a:blip r:embed="rId3"/>
                <a:stretch>
                  <a:fillRect l="-5911" t="-15464" r="-1970" b="-206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1B335EFA-23CD-4AA9-D056-138B5DBAE9F1}"/>
              </a:ext>
            </a:extLst>
          </p:cNvPr>
          <p:cNvCxnSpPr>
            <a:cxnSpLocks/>
          </p:cNvCxnSpPr>
          <p:nvPr/>
        </p:nvCxnSpPr>
        <p:spPr>
          <a:xfrm>
            <a:off x="828483" y="2415623"/>
            <a:ext cx="0" cy="2634574"/>
          </a:xfrm>
          <a:prstGeom prst="line">
            <a:avLst/>
          </a:prstGeom>
          <a:ln w="38100">
            <a:solidFill>
              <a:schemeClr val="accent6">
                <a:lumMod val="20000"/>
                <a:lumOff val="8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组合 5">
            <a:extLst>
              <a:ext uri="{FF2B5EF4-FFF2-40B4-BE49-F238E27FC236}">
                <a16:creationId xmlns:a16="http://schemas.microsoft.com/office/drawing/2014/main" id="{2E89D083-C9CE-463B-0A69-EF72C868F05B}"/>
              </a:ext>
            </a:extLst>
          </p:cNvPr>
          <p:cNvGrpSpPr/>
          <p:nvPr/>
        </p:nvGrpSpPr>
        <p:grpSpPr>
          <a:xfrm>
            <a:off x="783038" y="2145195"/>
            <a:ext cx="1391362" cy="369332"/>
            <a:chOff x="783038" y="2375304"/>
            <a:chExt cx="1391362" cy="369332"/>
          </a:xfrm>
        </p:grpSpPr>
        <p:grpSp>
          <p:nvGrpSpPr>
            <p:cNvPr id="58" name="组合 57">
              <a:extLst>
                <a:ext uri="{FF2B5EF4-FFF2-40B4-BE49-F238E27FC236}">
                  <a16:creationId xmlns:a16="http://schemas.microsoft.com/office/drawing/2014/main" id="{D80AFBC7-96D4-176F-06EE-EBFCDDF03D7E}"/>
                </a:ext>
              </a:extLst>
            </p:cNvPr>
            <p:cNvGrpSpPr/>
            <p:nvPr/>
          </p:nvGrpSpPr>
          <p:grpSpPr>
            <a:xfrm>
              <a:off x="783038" y="2514527"/>
              <a:ext cx="590428" cy="90889"/>
              <a:chOff x="783038" y="4168883"/>
              <a:chExt cx="590428" cy="90889"/>
            </a:xfrm>
          </p:grpSpPr>
          <p:cxnSp>
            <p:nvCxnSpPr>
              <p:cNvPr id="36" name="直接连接符 35">
                <a:extLst>
                  <a:ext uri="{FF2B5EF4-FFF2-40B4-BE49-F238E27FC236}">
                    <a16:creationId xmlns:a16="http://schemas.microsoft.com/office/drawing/2014/main" id="{AD2092FC-3674-2AAD-6E2E-45ACE9B3E05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4251" y="4214328"/>
                <a:ext cx="559215" cy="0"/>
              </a:xfrm>
              <a:prstGeom prst="line">
                <a:avLst/>
              </a:prstGeom>
              <a:ln w="38100">
                <a:solidFill>
                  <a:schemeClr val="accent6">
                    <a:lumMod val="20000"/>
                    <a:lumOff val="80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" name="椭圆 38">
                <a:extLst>
                  <a:ext uri="{FF2B5EF4-FFF2-40B4-BE49-F238E27FC236}">
                    <a16:creationId xmlns:a16="http://schemas.microsoft.com/office/drawing/2014/main" id="{52B963AC-F3F0-FE46-C256-732775310D58}"/>
                  </a:ext>
                </a:extLst>
              </p:cNvPr>
              <p:cNvSpPr/>
              <p:nvPr/>
            </p:nvSpPr>
            <p:spPr>
              <a:xfrm>
                <a:off x="783038" y="4168883"/>
                <a:ext cx="90889" cy="90889"/>
              </a:xfrm>
              <a:prstGeom prst="ellipse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E02E6874-46A0-A935-244A-452D04D9530F}"/>
                </a:ext>
              </a:extLst>
            </p:cNvPr>
            <p:cNvSpPr txBox="1"/>
            <p:nvPr/>
          </p:nvSpPr>
          <p:spPr>
            <a:xfrm>
              <a:off x="1396187" y="2375304"/>
              <a:ext cx="77821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rgbClr val="00B050"/>
                  </a:solidFill>
                  <a:latin typeface="汉仪文黑-85W" panose="00020600040101010101" pitchFamily="18" charset="-128"/>
                  <a:ea typeface="汉仪文黑-85W" panose="00020600040101010101" pitchFamily="18" charset="-128"/>
                  <a:cs typeface="汉仪文黑-85W" panose="00020600040101010101" pitchFamily="18" charset="-128"/>
                </a:rPr>
                <a:t>性质</a:t>
              </a:r>
              <a:r>
                <a:rPr lang="en-US" altLang="zh-CN" dirty="0">
                  <a:solidFill>
                    <a:srgbClr val="00B050"/>
                  </a:solidFill>
                  <a:latin typeface="汉仪文黑-85W" panose="00020600040101010101" pitchFamily="18" charset="-128"/>
                  <a:ea typeface="汉仪文黑-85W" panose="00020600040101010101" pitchFamily="18" charset="-128"/>
                  <a:cs typeface="汉仪文黑-85W" panose="00020600040101010101" pitchFamily="18" charset="-128"/>
                </a:rPr>
                <a:t>1</a:t>
              </a:r>
              <a:endParaRPr lang="zh-CN" altLang="en-US" dirty="0">
                <a:solidFill>
                  <a:srgbClr val="00B050"/>
                </a:solidFill>
                <a:latin typeface="汉仪文黑-85W" panose="00020600040101010101" pitchFamily="18" charset="-128"/>
                <a:ea typeface="汉仪文黑-85W" panose="00020600040101010101" pitchFamily="18" charset="-128"/>
                <a:cs typeface="汉仪文黑-85W" panose="00020600040101010101" pitchFamily="18" charset="-128"/>
              </a:endParaRP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8286F413-0205-744D-267B-8B6A1D27DF29}"/>
              </a:ext>
            </a:extLst>
          </p:cNvPr>
          <p:cNvGrpSpPr/>
          <p:nvPr/>
        </p:nvGrpSpPr>
        <p:grpSpPr>
          <a:xfrm>
            <a:off x="783038" y="2970316"/>
            <a:ext cx="1431352" cy="369332"/>
            <a:chOff x="783038" y="2375304"/>
            <a:chExt cx="1431352" cy="369332"/>
          </a:xfrm>
        </p:grpSpPr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41ADDCB3-83B4-B459-BCEA-FB2C1998928F}"/>
                </a:ext>
              </a:extLst>
            </p:cNvPr>
            <p:cNvGrpSpPr/>
            <p:nvPr/>
          </p:nvGrpSpPr>
          <p:grpSpPr>
            <a:xfrm>
              <a:off x="783038" y="2514527"/>
              <a:ext cx="590428" cy="90889"/>
              <a:chOff x="783038" y="4168883"/>
              <a:chExt cx="590428" cy="90889"/>
            </a:xfrm>
          </p:grpSpPr>
          <p:cxnSp>
            <p:nvCxnSpPr>
              <p:cNvPr id="22" name="直接连接符 21">
                <a:extLst>
                  <a:ext uri="{FF2B5EF4-FFF2-40B4-BE49-F238E27FC236}">
                    <a16:creationId xmlns:a16="http://schemas.microsoft.com/office/drawing/2014/main" id="{11E87637-0361-30C3-52C2-C5A20A01D81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4251" y="4214328"/>
                <a:ext cx="559215" cy="0"/>
              </a:xfrm>
              <a:prstGeom prst="line">
                <a:avLst/>
              </a:prstGeom>
              <a:ln w="38100">
                <a:solidFill>
                  <a:schemeClr val="accent6">
                    <a:lumMod val="20000"/>
                    <a:lumOff val="80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" name="椭圆 22">
                <a:extLst>
                  <a:ext uri="{FF2B5EF4-FFF2-40B4-BE49-F238E27FC236}">
                    <a16:creationId xmlns:a16="http://schemas.microsoft.com/office/drawing/2014/main" id="{E3435EB3-76E1-CC88-0684-201971E861AA}"/>
                  </a:ext>
                </a:extLst>
              </p:cNvPr>
              <p:cNvSpPr/>
              <p:nvPr/>
            </p:nvSpPr>
            <p:spPr>
              <a:xfrm>
                <a:off x="783038" y="4168883"/>
                <a:ext cx="90889" cy="90889"/>
              </a:xfrm>
              <a:prstGeom prst="ellipse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D787CEAB-53BB-8C00-8288-9585CB93931B}"/>
                </a:ext>
              </a:extLst>
            </p:cNvPr>
            <p:cNvSpPr txBox="1"/>
            <p:nvPr/>
          </p:nvSpPr>
          <p:spPr>
            <a:xfrm>
              <a:off x="1396187" y="2375304"/>
              <a:ext cx="8182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rgbClr val="00B050"/>
                  </a:solidFill>
                  <a:latin typeface="汉仪文黑-85W" panose="00020600040101010101" pitchFamily="18" charset="-128"/>
                  <a:ea typeface="汉仪文黑-85W" panose="00020600040101010101" pitchFamily="18" charset="-128"/>
                  <a:cs typeface="汉仪文黑-85W" panose="00020600040101010101" pitchFamily="18" charset="-128"/>
                </a:rPr>
                <a:t>性质</a:t>
              </a:r>
              <a:r>
                <a:rPr lang="en-US" altLang="zh-CN" dirty="0">
                  <a:solidFill>
                    <a:srgbClr val="00B050"/>
                  </a:solidFill>
                  <a:latin typeface="汉仪文黑-85W" panose="00020600040101010101" pitchFamily="18" charset="-128"/>
                  <a:ea typeface="汉仪文黑-85W" panose="00020600040101010101" pitchFamily="18" charset="-128"/>
                  <a:cs typeface="汉仪文黑-85W" panose="00020600040101010101" pitchFamily="18" charset="-128"/>
                </a:rPr>
                <a:t>2</a:t>
              </a:r>
              <a:endParaRPr lang="zh-CN" altLang="en-US" dirty="0">
                <a:solidFill>
                  <a:srgbClr val="00B050"/>
                </a:solidFill>
                <a:latin typeface="汉仪文黑-85W" panose="00020600040101010101" pitchFamily="18" charset="-128"/>
                <a:ea typeface="汉仪文黑-85W" panose="00020600040101010101" pitchFamily="18" charset="-128"/>
                <a:cs typeface="汉仪文黑-85W" panose="00020600040101010101" pitchFamily="18" charset="-128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BB6D38DC-00AA-245C-5FD3-BEEEBC9428D2}"/>
                  </a:ext>
                </a:extLst>
              </p:cNvPr>
              <p:cNvSpPr txBox="1"/>
              <p:nvPr/>
            </p:nvSpPr>
            <p:spPr>
              <a:xfrm>
                <a:off x="2649820" y="2993037"/>
                <a:ext cx="4649030" cy="58862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zh-CN" altLang="en-US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若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𝐶</m:t>
                    </m:r>
                  </m:oMath>
                </a14:m>
                <a:r>
                  <a:rPr lang="zh-CN" altLang="en-US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为常数，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𝑋</m:t>
                    </m:r>
                  </m:oMath>
                </a14:m>
                <a:r>
                  <a:rPr lang="zh-CN" altLang="en-US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为随机变量，则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𝐸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𝐶𝑋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𝐶𝐸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𝑋</m:t>
                        </m:r>
                      </m:e>
                    </m:d>
                  </m:oMath>
                </a14:m>
                <a:endParaRPr lang="en-US" altLang="zh-CN" b="0" dirty="0"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* </a:t>
                </a:r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求期望时，随机变量的常系数可以直接提出</a:t>
                </a:r>
              </a:p>
            </p:txBody>
          </p:sp>
        </mc:Choice>
        <mc:Fallback xmlns="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BB6D38DC-00AA-245C-5FD3-BEEEBC9428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9820" y="2993037"/>
                <a:ext cx="4649030" cy="588623"/>
              </a:xfrm>
              <a:prstGeom prst="rect">
                <a:avLst/>
              </a:prstGeom>
              <a:blipFill>
                <a:blip r:embed="rId4"/>
                <a:stretch>
                  <a:fillRect l="-3150" t="-15464" b="-1958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7" name="组合 26">
            <a:extLst>
              <a:ext uri="{FF2B5EF4-FFF2-40B4-BE49-F238E27FC236}">
                <a16:creationId xmlns:a16="http://schemas.microsoft.com/office/drawing/2014/main" id="{BFCD780E-7D4D-7054-8611-9185EE781285}"/>
              </a:ext>
            </a:extLst>
          </p:cNvPr>
          <p:cNvGrpSpPr/>
          <p:nvPr/>
        </p:nvGrpSpPr>
        <p:grpSpPr>
          <a:xfrm>
            <a:off x="783038" y="3940644"/>
            <a:ext cx="1431352" cy="369332"/>
            <a:chOff x="783038" y="2375304"/>
            <a:chExt cx="1431352" cy="369332"/>
          </a:xfrm>
        </p:grpSpPr>
        <p:grpSp>
          <p:nvGrpSpPr>
            <p:cNvPr id="28" name="组合 27">
              <a:extLst>
                <a:ext uri="{FF2B5EF4-FFF2-40B4-BE49-F238E27FC236}">
                  <a16:creationId xmlns:a16="http://schemas.microsoft.com/office/drawing/2014/main" id="{3AB34EFC-52F8-3644-C7E9-8F74E5721F63}"/>
                </a:ext>
              </a:extLst>
            </p:cNvPr>
            <p:cNvGrpSpPr/>
            <p:nvPr/>
          </p:nvGrpSpPr>
          <p:grpSpPr>
            <a:xfrm>
              <a:off x="783038" y="2514527"/>
              <a:ext cx="590428" cy="90889"/>
              <a:chOff x="783038" y="4168883"/>
              <a:chExt cx="590428" cy="90889"/>
            </a:xfrm>
          </p:grpSpPr>
          <p:cxnSp>
            <p:nvCxnSpPr>
              <p:cNvPr id="30" name="直接连接符 29">
                <a:extLst>
                  <a:ext uri="{FF2B5EF4-FFF2-40B4-BE49-F238E27FC236}">
                    <a16:creationId xmlns:a16="http://schemas.microsoft.com/office/drawing/2014/main" id="{06981B32-5DBD-1E1D-38D3-5292218413A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4251" y="4214328"/>
                <a:ext cx="559215" cy="0"/>
              </a:xfrm>
              <a:prstGeom prst="line">
                <a:avLst/>
              </a:prstGeom>
              <a:ln w="38100">
                <a:solidFill>
                  <a:schemeClr val="accent6">
                    <a:lumMod val="20000"/>
                    <a:lumOff val="80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椭圆 30">
                <a:extLst>
                  <a:ext uri="{FF2B5EF4-FFF2-40B4-BE49-F238E27FC236}">
                    <a16:creationId xmlns:a16="http://schemas.microsoft.com/office/drawing/2014/main" id="{49AB08FA-29BC-E6A9-CF5E-891D45611A48}"/>
                  </a:ext>
                </a:extLst>
              </p:cNvPr>
              <p:cNvSpPr/>
              <p:nvPr/>
            </p:nvSpPr>
            <p:spPr>
              <a:xfrm>
                <a:off x="783038" y="4168883"/>
                <a:ext cx="90889" cy="90889"/>
              </a:xfrm>
              <a:prstGeom prst="ellipse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3B93389D-8459-4A01-2514-7A61AF934C18}"/>
                </a:ext>
              </a:extLst>
            </p:cNvPr>
            <p:cNvSpPr txBox="1"/>
            <p:nvPr/>
          </p:nvSpPr>
          <p:spPr>
            <a:xfrm>
              <a:off x="1396187" y="2375304"/>
              <a:ext cx="8182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rgbClr val="00B050"/>
                  </a:solidFill>
                  <a:latin typeface="汉仪文黑-85W" panose="00020600040101010101" pitchFamily="18" charset="-128"/>
                  <a:ea typeface="汉仪文黑-85W" panose="00020600040101010101" pitchFamily="18" charset="-128"/>
                  <a:cs typeface="汉仪文黑-85W" panose="00020600040101010101" pitchFamily="18" charset="-128"/>
                </a:rPr>
                <a:t>性质</a:t>
              </a:r>
              <a:r>
                <a:rPr lang="en-US" altLang="zh-CN" dirty="0">
                  <a:solidFill>
                    <a:srgbClr val="00B050"/>
                  </a:solidFill>
                  <a:latin typeface="汉仪文黑-85W" panose="00020600040101010101" pitchFamily="18" charset="-128"/>
                  <a:ea typeface="汉仪文黑-85W" panose="00020600040101010101" pitchFamily="18" charset="-128"/>
                  <a:cs typeface="汉仪文黑-85W" panose="00020600040101010101" pitchFamily="18" charset="-128"/>
                </a:rPr>
                <a:t>3</a:t>
              </a:r>
              <a:endParaRPr lang="zh-CN" altLang="en-US" dirty="0">
                <a:solidFill>
                  <a:srgbClr val="00B050"/>
                </a:solidFill>
                <a:latin typeface="汉仪文黑-85W" panose="00020600040101010101" pitchFamily="18" charset="-128"/>
                <a:ea typeface="汉仪文黑-85W" panose="00020600040101010101" pitchFamily="18" charset="-128"/>
                <a:cs typeface="汉仪文黑-85W" panose="00020600040101010101" pitchFamily="18" charset="-128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9F137FE2-788B-09DA-14B2-AD7385712F05}"/>
                  </a:ext>
                </a:extLst>
              </p:cNvPr>
              <p:cNvSpPr txBox="1"/>
              <p:nvPr/>
            </p:nvSpPr>
            <p:spPr>
              <a:xfrm>
                <a:off x="2649820" y="3964089"/>
                <a:ext cx="4720972" cy="58862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zh-CN" altLang="en-US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若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𝑋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𝑌</m:t>
                    </m:r>
                  </m:oMath>
                </a14:m>
                <a:r>
                  <a:rPr lang="zh-CN" altLang="en-US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为随机变量，则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𝐸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𝑋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+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𝑌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𝐸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𝑋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+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𝐸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𝑌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</m:t>
                    </m:r>
                  </m:oMath>
                </a14:m>
                <a:endParaRPr lang="en-US" altLang="zh-CN" dirty="0"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* </a:t>
                </a:r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随机变量和的期望，等于它们期望的和</a:t>
                </a:r>
              </a:p>
            </p:txBody>
          </p:sp>
        </mc:Choice>
        <mc:Fallback xmlns="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9F137FE2-788B-09DA-14B2-AD7385712F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9820" y="3964089"/>
                <a:ext cx="4720972" cy="588623"/>
              </a:xfrm>
              <a:prstGeom prst="rect">
                <a:avLst/>
              </a:prstGeom>
              <a:blipFill>
                <a:blip r:embed="rId5"/>
                <a:stretch>
                  <a:fillRect l="-3101" t="-15464" r="-1421" b="-206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3" name="组合 32">
            <a:extLst>
              <a:ext uri="{FF2B5EF4-FFF2-40B4-BE49-F238E27FC236}">
                <a16:creationId xmlns:a16="http://schemas.microsoft.com/office/drawing/2014/main" id="{AEC43D21-422A-8BAD-3C42-830F770707BE}"/>
              </a:ext>
            </a:extLst>
          </p:cNvPr>
          <p:cNvGrpSpPr/>
          <p:nvPr/>
        </p:nvGrpSpPr>
        <p:grpSpPr>
          <a:xfrm>
            <a:off x="786226" y="4865529"/>
            <a:ext cx="1431352" cy="369332"/>
            <a:chOff x="783038" y="2375304"/>
            <a:chExt cx="1431352" cy="369332"/>
          </a:xfrm>
        </p:grpSpPr>
        <p:grpSp>
          <p:nvGrpSpPr>
            <p:cNvPr id="35" name="组合 34">
              <a:extLst>
                <a:ext uri="{FF2B5EF4-FFF2-40B4-BE49-F238E27FC236}">
                  <a16:creationId xmlns:a16="http://schemas.microsoft.com/office/drawing/2014/main" id="{16FFB0C1-541A-64CA-65FA-F936E46FD37E}"/>
                </a:ext>
              </a:extLst>
            </p:cNvPr>
            <p:cNvGrpSpPr/>
            <p:nvPr/>
          </p:nvGrpSpPr>
          <p:grpSpPr>
            <a:xfrm>
              <a:off x="783038" y="2514527"/>
              <a:ext cx="590428" cy="90889"/>
              <a:chOff x="783038" y="4168883"/>
              <a:chExt cx="590428" cy="90889"/>
            </a:xfrm>
          </p:grpSpPr>
          <p:cxnSp>
            <p:nvCxnSpPr>
              <p:cNvPr id="38" name="直接连接符 37">
                <a:extLst>
                  <a:ext uri="{FF2B5EF4-FFF2-40B4-BE49-F238E27FC236}">
                    <a16:creationId xmlns:a16="http://schemas.microsoft.com/office/drawing/2014/main" id="{2359B963-99C2-CE73-FBC7-11ED5882260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4251" y="4214328"/>
                <a:ext cx="559215" cy="0"/>
              </a:xfrm>
              <a:prstGeom prst="line">
                <a:avLst/>
              </a:prstGeom>
              <a:ln w="38100">
                <a:solidFill>
                  <a:schemeClr val="accent6">
                    <a:lumMod val="20000"/>
                    <a:lumOff val="80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0" name="椭圆 39">
                <a:extLst>
                  <a:ext uri="{FF2B5EF4-FFF2-40B4-BE49-F238E27FC236}">
                    <a16:creationId xmlns:a16="http://schemas.microsoft.com/office/drawing/2014/main" id="{7D5BA20D-5B77-6613-748A-561BD0C1E959}"/>
                  </a:ext>
                </a:extLst>
              </p:cNvPr>
              <p:cNvSpPr/>
              <p:nvPr/>
            </p:nvSpPr>
            <p:spPr>
              <a:xfrm>
                <a:off x="783038" y="4168883"/>
                <a:ext cx="90889" cy="90889"/>
              </a:xfrm>
              <a:prstGeom prst="ellipse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7C6A0A7F-6632-300E-BD6F-5A20141674B5}"/>
                </a:ext>
              </a:extLst>
            </p:cNvPr>
            <p:cNvSpPr txBox="1"/>
            <p:nvPr/>
          </p:nvSpPr>
          <p:spPr>
            <a:xfrm>
              <a:off x="1396187" y="2375304"/>
              <a:ext cx="8182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rgbClr val="00B050"/>
                  </a:solidFill>
                  <a:latin typeface="汉仪文黑-85W" panose="00020600040101010101" pitchFamily="18" charset="-128"/>
                  <a:ea typeface="汉仪文黑-85W" panose="00020600040101010101" pitchFamily="18" charset="-128"/>
                  <a:cs typeface="汉仪文黑-85W" panose="00020600040101010101" pitchFamily="18" charset="-128"/>
                </a:rPr>
                <a:t>性质</a:t>
              </a:r>
              <a:r>
                <a:rPr lang="en-US" altLang="zh-CN" dirty="0">
                  <a:solidFill>
                    <a:srgbClr val="00B050"/>
                  </a:solidFill>
                  <a:latin typeface="汉仪文黑-85W" panose="00020600040101010101" pitchFamily="18" charset="-128"/>
                  <a:ea typeface="汉仪文黑-85W" panose="00020600040101010101" pitchFamily="18" charset="-128"/>
                  <a:cs typeface="汉仪文黑-85W" panose="00020600040101010101" pitchFamily="18" charset="-128"/>
                </a:rPr>
                <a:t>4</a:t>
              </a:r>
              <a:endParaRPr lang="zh-CN" altLang="en-US" dirty="0">
                <a:solidFill>
                  <a:srgbClr val="00B050"/>
                </a:solidFill>
                <a:latin typeface="汉仪文黑-85W" panose="00020600040101010101" pitchFamily="18" charset="-128"/>
                <a:ea typeface="汉仪文黑-85W" panose="00020600040101010101" pitchFamily="18" charset="-128"/>
                <a:cs typeface="汉仪文黑-85W" panose="00020600040101010101" pitchFamily="18" charset="-128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95FED42E-FE19-164C-7CE7-1D47FC37AA7E}"/>
                  </a:ext>
                </a:extLst>
              </p:cNvPr>
              <p:cNvSpPr txBox="1"/>
              <p:nvPr/>
            </p:nvSpPr>
            <p:spPr>
              <a:xfrm>
                <a:off x="2649820" y="4888973"/>
                <a:ext cx="7288149" cy="58862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zh-CN" altLang="en-US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若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𝑋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𝑌</m:t>
                    </m:r>
                  </m:oMath>
                </a14:m>
                <a:r>
                  <a:rPr lang="zh-CN" altLang="en-US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为</a:t>
                </a:r>
                <a:r>
                  <a:rPr lang="zh-CN" altLang="en-US" b="1" dirty="0">
                    <a:solidFill>
                      <a:srgbClr val="00B050"/>
                    </a:solidFill>
                    <a:latin typeface="仿宋" panose="02010609060101010101" pitchFamily="49" charset="-122"/>
                    <a:ea typeface="仿宋" panose="02010609060101010101" pitchFamily="49" charset="-122"/>
                  </a:rPr>
                  <a:t>相互独立的</a:t>
                </a:r>
                <a:r>
                  <a:rPr lang="zh-CN" altLang="en-US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随机变量，则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𝐸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𝑋𝑌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𝐸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𝑋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𝐸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𝑌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</m:t>
                    </m:r>
                  </m:oMath>
                </a14:m>
                <a:r>
                  <a:rPr lang="zh-CN" altLang="en-US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 （反之不成立！）</a:t>
                </a:r>
                <a:endParaRPr lang="en-US" altLang="zh-CN" dirty="0"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* </a:t>
                </a:r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相互独立的随机变量乘积的期望，等于它们期望的积</a:t>
                </a:r>
              </a:p>
            </p:txBody>
          </p:sp>
        </mc:Choice>
        <mc:Fallback xmlns=""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95FED42E-FE19-164C-7CE7-1D47FC37AA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9820" y="4888973"/>
                <a:ext cx="7288149" cy="588623"/>
              </a:xfrm>
              <a:prstGeom prst="rect">
                <a:avLst/>
              </a:prstGeom>
              <a:blipFill>
                <a:blip r:embed="rId6"/>
                <a:stretch>
                  <a:fillRect l="-2008" t="-15464" r="-1088" b="-1958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星形: 五角 45">
            <a:extLst>
              <a:ext uri="{FF2B5EF4-FFF2-40B4-BE49-F238E27FC236}">
                <a16:creationId xmlns:a16="http://schemas.microsoft.com/office/drawing/2014/main" id="{E71B4F20-7AC1-2D0B-C597-BCDB414767AE}"/>
              </a:ext>
            </a:extLst>
          </p:cNvPr>
          <p:cNvSpPr/>
          <p:nvPr/>
        </p:nvSpPr>
        <p:spPr>
          <a:xfrm>
            <a:off x="2410031" y="3932402"/>
            <a:ext cx="147465" cy="147465"/>
          </a:xfrm>
          <a:prstGeom prst="star5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66433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21" grpId="0"/>
      <p:bldP spid="25" grpId="0"/>
      <p:bldP spid="32" grpId="0"/>
      <p:bldP spid="42" grpId="0"/>
      <p:bldP spid="4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143FF26B-CC77-0DBB-021F-F6F65A8FA87C}"/>
              </a:ext>
            </a:extLst>
          </p:cNvPr>
          <p:cNvCxnSpPr/>
          <p:nvPr/>
        </p:nvCxnSpPr>
        <p:spPr>
          <a:xfrm>
            <a:off x="576364" y="1136063"/>
            <a:ext cx="11039272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26A51B39-5350-5E90-4B2C-5D6D06841963}"/>
              </a:ext>
            </a:extLst>
          </p:cNvPr>
          <p:cNvSpPr txBox="1"/>
          <p:nvPr/>
        </p:nvSpPr>
        <p:spPr>
          <a:xfrm>
            <a:off x="507460" y="496110"/>
            <a:ext cx="36913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随机变量的数学期望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A4603F2-F6CF-9E85-E4CE-0C35F5B2B5C7}"/>
              </a:ext>
            </a:extLst>
          </p:cNvPr>
          <p:cNvSpPr txBox="1"/>
          <p:nvPr/>
        </p:nvSpPr>
        <p:spPr>
          <a:xfrm>
            <a:off x="4225693" y="775742"/>
            <a:ext cx="20367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600" dirty="0"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数学期望的计算</a:t>
            </a:r>
            <a:r>
              <a:rPr lang="en-US" altLang="zh-CN" sz="1600" dirty="0"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(2)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D9A48C2F-C397-1AB5-176A-8D4A6BFAAC2F}"/>
                  </a:ext>
                </a:extLst>
              </p:cNvPr>
              <p:cNvSpPr txBox="1"/>
              <p:nvPr/>
            </p:nvSpPr>
            <p:spPr>
              <a:xfrm>
                <a:off x="507460" y="1498830"/>
                <a:ext cx="11108176" cy="3491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例</a:t>
                </a:r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2.1</a:t>
                </a:r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：若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𝑋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服从参数为</a:t>
                </a:r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2</a:t>
                </a:r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的指数分布，求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𝐸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(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𝑋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−</m:t>
                    </m:r>
                    <m:sSup>
                      <m:sSup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p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𝑒</m:t>
                        </m:r>
                      </m:e>
                      <m: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−2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𝑋</m:t>
                        </m:r>
                      </m:sup>
                    </m:sSup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)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。</a:t>
                </a:r>
                <a:endParaRPr lang="en-US" altLang="zh-CN" sz="1600" dirty="0">
                  <a:latin typeface="华文宋体" panose="02010600040101010101" pitchFamily="2" charset="-122"/>
                  <a:ea typeface="华文宋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D9A48C2F-C397-1AB5-176A-8D4A6BFAAC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60" y="1498830"/>
                <a:ext cx="11108176" cy="349135"/>
              </a:xfrm>
              <a:prstGeom prst="rect">
                <a:avLst/>
              </a:prstGeom>
              <a:blipFill>
                <a:blip r:embed="rId3"/>
                <a:stretch>
                  <a:fillRect l="-274" t="-3509" b="-210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B46A6C03-88DF-D0C2-F09C-74196CC03839}"/>
                  </a:ext>
                </a:extLst>
              </p:cNvPr>
              <p:cNvSpPr txBox="1"/>
              <p:nvPr/>
            </p:nvSpPr>
            <p:spPr>
              <a:xfrm>
                <a:off x="507460" y="1932371"/>
                <a:ext cx="11039269" cy="1467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解：</a:t>
                </a:r>
                <a:r>
                  <a:rPr lang="en-US" altLang="zh-CN" sz="1600" dirty="0">
                    <a:ea typeface="华文宋体" panose="02010600040101010101" pitchFamily="2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𝐸</m:t>
                    </m:r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𝑋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−</m:t>
                        </m:r>
                        <m:sSup>
                          <m:sSup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sSup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−2</m:t>
                            </m:r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𝑋</m:t>
                            </m:r>
                          </m:sup>
                        </m:sSup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𝐸</m:t>
                    </m:r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𝑋</m:t>
                        </m:r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−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𝐸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(</m:t>
                    </m:r>
                    <m:sSup>
                      <m:sSup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p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𝑒</m:t>
                        </m:r>
                      </m:e>
                      <m:sup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−2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𝑋</m:t>
                        </m:r>
                      </m:sup>
                    </m:sSup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)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。易知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𝐸</m:t>
                    </m:r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𝑋</m:t>
                        </m:r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</m:t>
                    </m:r>
                    <m:f>
                      <m:f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fPr>
                      <m:num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，且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𝑝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𝑥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)=</m:t>
                    </m:r>
                    <m:d>
                      <m:dPr>
                        <m:begChr m:val="{"/>
                        <m:endChr m:val=""/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eqArr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2</m:t>
                            </m:r>
                            <m:sSup>
                              <m:sSup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−</m:t>
                                </m:r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2</m:t>
                                </m:r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𝑥</m:t>
                                </m:r>
                              </m:sup>
                            </m:sSup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,  </m:t>
                            </m:r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≥0</m:t>
                            </m:r>
                          </m:e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0,           </m:t>
                            </m:r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&lt;0</m:t>
                            </m:r>
                          </m:e>
                        </m:eqArr>
                      </m:e>
                    </m:d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:endParaRPr lang="en-US" altLang="zh-CN" sz="16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</a:t>
                </a:r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则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𝐸</m:t>
                    </m:r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sSup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−2</m:t>
                            </m:r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𝑋</m:t>
                            </m:r>
                          </m:sup>
                        </m:sSup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</m:t>
                    </m:r>
                    <m:nary>
                      <m:nary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−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+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sSup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−2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𝑥</m:t>
                            </m:r>
                          </m:sup>
                        </m:s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𝑝</m:t>
                        </m:r>
                        <m:d>
                          <m:d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d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𝑥</m:t>
                            </m:r>
                          </m:e>
                        </m:d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𝑑𝑥</m:t>
                        </m:r>
                      </m:e>
                    </m:nary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</m:t>
                    </m:r>
                    <m:nary>
                      <m:nary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naryPr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+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sSup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−2</m:t>
                            </m:r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𝑥</m:t>
                            </m:r>
                          </m:sup>
                        </m:sSup>
                        <m:r>
                          <a:rPr lang="en-US" altLang="zh-CN" sz="160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·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  <m:sSup>
                          <m:sSup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−2</m:t>
                            </m:r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𝑥</m:t>
                            </m:r>
                          </m:sup>
                        </m:sSup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𝑑𝑥</m:t>
                        </m:r>
                      </m:e>
                    </m:nary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</m:t>
                    </m:r>
                    <m:f>
                      <m:f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fPr>
                      <m:num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</a:t>
                </a:r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则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𝐸</m:t>
                    </m:r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𝑋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−</m:t>
                        </m:r>
                        <m:sSup>
                          <m:sSup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sSup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−2</m:t>
                            </m:r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𝑋</m:t>
                            </m:r>
                          </m:sup>
                        </m:sSup>
                      </m:e>
                    </m:d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𝐸</m:t>
                    </m:r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𝑋</m:t>
                        </m:r>
                      </m:e>
                    </m:d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−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𝐸</m:t>
                    </m:r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sSup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−2</m:t>
                            </m:r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𝑋</m:t>
                            </m:r>
                          </m:sup>
                        </m:sSup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</m:t>
                    </m:r>
                    <m:f>
                      <m:f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fPr>
                      <m:num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2</m:t>
                        </m:r>
                      </m:den>
                    </m:f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−</m:t>
                    </m:r>
                    <m:f>
                      <m:f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fPr>
                      <m:num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2</m:t>
                        </m:r>
                      </m:den>
                    </m:f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=0</m:t>
                    </m:r>
                  </m:oMath>
                </a14:m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.</a:t>
                </a:r>
                <a:endParaRPr lang="zh-CN" altLang="en-US" sz="16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B46A6C03-88DF-D0C2-F09C-74196CC038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60" y="1932371"/>
                <a:ext cx="11039269" cy="1467325"/>
              </a:xfrm>
              <a:prstGeom prst="rect">
                <a:avLst/>
              </a:prstGeom>
              <a:blipFill>
                <a:blip r:embed="rId4"/>
                <a:stretch>
                  <a:fillRect l="-276" b="-128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7EF55F0F-FC3E-40F2-77A1-1D9FF839DD3E}"/>
              </a:ext>
            </a:extLst>
          </p:cNvPr>
          <p:cNvCxnSpPr>
            <a:cxnSpLocks/>
          </p:cNvCxnSpPr>
          <p:nvPr/>
        </p:nvCxnSpPr>
        <p:spPr>
          <a:xfrm>
            <a:off x="511212" y="3564118"/>
            <a:ext cx="11035518" cy="0"/>
          </a:xfrm>
          <a:prstGeom prst="line">
            <a:avLst/>
          </a:prstGeom>
          <a:ln w="19050">
            <a:prstDash val="dashDot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FEA450AB-100E-C628-6794-5CD948964112}"/>
                  </a:ext>
                </a:extLst>
              </p:cNvPr>
              <p:cNvSpPr txBox="1"/>
              <p:nvPr/>
            </p:nvSpPr>
            <p:spPr>
              <a:xfrm>
                <a:off x="507460" y="3698748"/>
                <a:ext cx="11108176" cy="7318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例</a:t>
                </a:r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2.2</a:t>
                </a:r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：设二维随机变量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(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𝑋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,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𝑌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)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的密度函数为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𝑝</m:t>
                    </m:r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𝑥</m:t>
                        </m:r>
                      </m:e>
                    </m:d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eqArr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4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𝑥𝑦</m:t>
                            </m:r>
                            <m:sSup>
                              <m:sSupPr>
                                <m:ctrlP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−(</m:t>
                                </m:r>
                                <m:sSup>
                                  <m:sSupPr>
                                    <m:ctrlP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  <a:ea typeface="华文宋体" panose="02010600040101010101" pitchFamily="2" charset="-122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  <a:ea typeface="华文宋体" panose="02010600040101010101" pitchFamily="2" charset="-122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  <a:ea typeface="华文宋体" panose="02010600040101010101" pitchFamily="2" charset="-122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  <a:ea typeface="华文宋体" panose="02010600040101010101" pitchFamily="2" charset="-122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  <a:ea typeface="华文宋体" panose="02010600040101010101" pitchFamily="2" charset="-122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  <a:ea typeface="华文宋体" panose="02010600040101010101" pitchFamily="2" charset="-122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)</m:t>
                                </m:r>
                              </m:sup>
                            </m:sSup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,  </m:t>
                            </m:r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𝑥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&gt;0,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𝑦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&gt;0</m:t>
                            </m:r>
                          </m:e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         </m:t>
                            </m:r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0,  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    </m:t>
                            </m:r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 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      </m:t>
                            </m:r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       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 </m:t>
                            </m:r>
                            <m:r>
                              <a:rPr lang="zh-CN" altLang="en-US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其他</m:t>
                            </m:r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       </m:t>
                            </m:r>
                          </m:e>
                        </m:eqArr>
                      </m:e>
                    </m:d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，求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𝐸</m:t>
                    </m:r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𝑋𝑌</m:t>
                        </m:r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,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𝐸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sSup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𝑋</m:t>
                            </m:r>
                          </m:e>
                          <m:sup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+</m:t>
                        </m:r>
                        <m:sSup>
                          <m:sSup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sSup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𝑌</m:t>
                            </m:r>
                          </m:e>
                          <m:sup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)</m:t>
                    </m:r>
                  </m:oMath>
                </a14:m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FEA450AB-100E-C628-6794-5CD9489641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60" y="3698748"/>
                <a:ext cx="11108176" cy="731867"/>
              </a:xfrm>
              <a:prstGeom prst="rect">
                <a:avLst/>
              </a:prstGeom>
              <a:blipFill>
                <a:blip r:embed="rId5"/>
                <a:stretch>
                  <a:fillRect l="-2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331C1E25-3CE5-26BE-FF67-5CB5B94F14A4}"/>
                  </a:ext>
                </a:extLst>
              </p:cNvPr>
              <p:cNvSpPr txBox="1"/>
              <p:nvPr/>
            </p:nvSpPr>
            <p:spPr>
              <a:xfrm>
                <a:off x="507459" y="4565244"/>
                <a:ext cx="11039269" cy="12779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解：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𝐸</m:t>
                    </m:r>
                    <m:d>
                      <m:dPr>
                        <m:ctrlP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𝑋𝑌</m:t>
                        </m:r>
                      </m:e>
                    </m:d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nary>
                      <m:naryPr>
                        <m:ctrlP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+</m:t>
                        </m:r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nary>
                          <m:naryPr>
                            <m:ctrlPr>
                              <a:rPr lang="en-US" altLang="zh-CN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CN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−</m:t>
                            </m:r>
                            <m:r>
                              <a:rPr lang="en-US" altLang="zh-CN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∞</m:t>
                            </m:r>
                          </m:sub>
                          <m:sup>
                            <m:r>
                              <a:rPr lang="en-US" altLang="zh-CN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+</m:t>
                            </m:r>
                            <m:r>
                              <a:rPr lang="en-US" altLang="zh-CN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∞</m:t>
                            </m:r>
                          </m:sup>
                          <m:e>
                            <m:r>
                              <a:rPr lang="en-US" altLang="zh-CN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𝑥𝑦</m:t>
                            </m:r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·</m:t>
                            </m:r>
                            <m:r>
                              <a:rPr lang="en-US" altLang="zh-CN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en-US" altLang="zh-CN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dPr>
                              <m:e>
                                <m:r>
                                  <a:rPr lang="en-US" altLang="zh-CN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𝑥</m:t>
                                </m:r>
                                <m:r>
                                  <a:rPr lang="en-US" altLang="zh-CN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,</m:t>
                                </m:r>
                                <m:r>
                                  <a:rPr lang="en-US" altLang="zh-CN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𝑦</m:t>
                                </m:r>
                              </m:e>
                            </m:d>
                            <m:r>
                              <a:rPr lang="en-US" altLang="zh-CN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 </m:t>
                            </m:r>
                            <m:r>
                              <a:rPr lang="en-US" altLang="zh-CN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𝑑𝑥𝑑𝑦</m:t>
                            </m:r>
                          </m:e>
                        </m:nary>
                      </m:e>
                    </m:nary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nary>
                      <m:nary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+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nary>
                          <m:nary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naryPr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+</m:t>
                            </m:r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∞</m:t>
                            </m:r>
                          </m:sup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</m:t>
                            </m:r>
                            <m:sSup>
                              <m:sSupPr>
                                <m:ctrlP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2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2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−(</m:t>
                                </m:r>
                                <m:sSup>
                                  <m:sSupPr>
                                    <m:ctrlPr>
                                      <a:rPr lang="en-US" altLang="zh-CN" sz="1600" i="1">
                                        <a:latin typeface="Cambria Math" panose="02040503050406030204" pitchFamily="18" charset="0"/>
                                        <a:ea typeface="华文宋体" panose="02010600040101010101" pitchFamily="2" charset="-122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  <a:ea typeface="华文宋体" panose="02010600040101010101" pitchFamily="2" charset="-122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  <a:ea typeface="华文宋体" panose="02010600040101010101" pitchFamily="2" charset="-122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lang="en-US" altLang="zh-CN" sz="1600" i="1">
                                        <a:latin typeface="Cambria Math" panose="02040503050406030204" pitchFamily="18" charset="0"/>
                                        <a:ea typeface="华文宋体" panose="02010600040101010101" pitchFamily="2" charset="-122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  <a:ea typeface="华文宋体" panose="02010600040101010101" pitchFamily="2" charset="-122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  <a:ea typeface="华文宋体" panose="02010600040101010101" pitchFamily="2" charset="-122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)</m:t>
                                </m:r>
                              </m:sup>
                            </m:sSup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𝑑𝑥𝑑𝑦</m:t>
                            </m:r>
                          </m:e>
                        </m:nary>
                      </m:e>
                    </m:nary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=4</m:t>
                    </m:r>
                    <m:nary>
                      <m:nary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+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lang="en-US" altLang="zh-CN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  <m:sSup>
                          <m:sSup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sSup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2</m:t>
                                </m:r>
                              </m:sup>
                            </m:sSup>
                          </m:sup>
                        </m:s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)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𝑑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𝑦</m:t>
                        </m:r>
                        <m:nary>
                          <m:nary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naryPr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+</m:t>
                            </m:r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∞</m:t>
                            </m:r>
                          </m:sup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sSup>
                              <m:sSup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US" altLang="zh-CN" sz="1600" i="1">
                                        <a:latin typeface="Cambria Math" panose="02040503050406030204" pitchFamily="18" charset="0"/>
                                        <a:ea typeface="华文宋体" panose="02010600040101010101" pitchFamily="2" charset="-122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  <a:ea typeface="华文宋体" panose="02010600040101010101" pitchFamily="2" charset="-122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  <a:ea typeface="华文宋体" panose="02010600040101010101" pitchFamily="2" charset="-122"/>
                                      </a:rPr>
                                      <m:t>2</m:t>
                                    </m:r>
                                  </m:sup>
                                </m:sSup>
                              </m:sup>
                            </m:sSup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)</m:t>
                            </m:r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𝑑𝑥</m:t>
                            </m:r>
                          </m:e>
                        </m:nary>
                      </m:e>
                    </m:nary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zh-CN" altLang="en-US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𝜋</m:t>
                        </m:r>
                      </m:num>
                      <m:den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4</m:t>
                        </m:r>
                      </m:den>
                    </m:f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.</m:t>
                    </m:r>
                  </m:oMath>
                </a14:m>
                <a:endParaRPr lang="en-US" altLang="zh-CN" sz="1600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>
                  <a:spcBef>
                    <a:spcPts val="1200"/>
                  </a:spcBef>
                </a:pPr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𝐸</m:t>
                    </m:r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𝑋</m:t>
                                </m:r>
                              </m:e>
                              <m:sup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𝑌</m:t>
                                </m:r>
                              </m:e>
                              <m:sup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e>
                    </m:d>
                    <m:r>
                      <a:rPr lang="en-US" altLang="zh-CN" sz="1600" b="0" i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</m:t>
                    </m:r>
                    <m:nary>
                      <m:nary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+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nary>
                          <m:nary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−</m:t>
                            </m:r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∞</m:t>
                            </m:r>
                          </m:sub>
                          <m:sup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+</m:t>
                            </m:r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∞</m:t>
                            </m:r>
                          </m:sup>
                          <m:e>
                            <m:rad>
                              <m:radPr>
                                <m:degHide m:val="on"/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</m:ctrlPr>
                              </m:radPr>
                              <m:deg/>
                              <m:e>
                                <m:sSup>
                                  <m:sSupPr>
                                    <m:ctrlPr>
                                      <a:rPr lang="en-US" altLang="zh-CN" sz="1600" i="1">
                                        <a:latin typeface="Cambria Math" panose="02040503050406030204" pitchFamily="18" charset="0"/>
                                        <a:ea typeface="华文宋体" panose="02010600040101010101" pitchFamily="2" charset="-122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  <a:ea typeface="华文宋体" panose="02010600040101010101" pitchFamily="2" charset="-122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  <a:ea typeface="华文宋体" panose="02010600040101010101" pitchFamily="2" charset="-122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lang="en-US" altLang="zh-CN" sz="1600" i="1">
                                        <a:latin typeface="Cambria Math" panose="02040503050406030204" pitchFamily="18" charset="0"/>
                                        <a:ea typeface="华文宋体" panose="02010600040101010101" pitchFamily="2" charset="-122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  <a:ea typeface="华文宋体" panose="02010600040101010101" pitchFamily="2" charset="-122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  <a:ea typeface="华文宋体" panose="02010600040101010101" pitchFamily="2" charset="-122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·</m:t>
                            </m:r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dPr>
                              <m:e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𝑥</m:t>
                                </m:r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,</m:t>
                                </m:r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𝑦</m:t>
                                </m:r>
                              </m:e>
                            </m:d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 </m:t>
                            </m:r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𝑑𝑥𝑑𝑦</m:t>
                            </m:r>
                          </m:e>
                        </m:nary>
                      </m:e>
                    </m:nary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nary>
                      <m:nary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+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nary>
                          <m:nary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naryPr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+</m:t>
                            </m:r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∞</m:t>
                            </m:r>
                          </m:sup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𝑥𝑦</m:t>
                            </m:r>
                            <m:rad>
                              <m:radPr>
                                <m:degHide m:val="on"/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</m:ctrlPr>
                              </m:radPr>
                              <m:deg/>
                              <m:e>
                                <m:sSup>
                                  <m:sSupPr>
                                    <m:ctrlPr>
                                      <a:rPr lang="en-US" altLang="zh-CN" sz="1600" i="1">
                                        <a:latin typeface="Cambria Math" panose="02040503050406030204" pitchFamily="18" charset="0"/>
                                        <a:ea typeface="华文宋体" panose="02010600040101010101" pitchFamily="2" charset="-122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  <a:ea typeface="华文宋体" panose="02010600040101010101" pitchFamily="2" charset="-122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  <a:ea typeface="华文宋体" panose="02010600040101010101" pitchFamily="2" charset="-122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lang="en-US" altLang="zh-CN" sz="1600" i="1">
                                        <a:latin typeface="Cambria Math" panose="02040503050406030204" pitchFamily="18" charset="0"/>
                                        <a:ea typeface="华文宋体" panose="02010600040101010101" pitchFamily="2" charset="-122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  <a:ea typeface="华文宋体" panose="02010600040101010101" pitchFamily="2" charset="-122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  <a:ea typeface="华文宋体" panose="02010600040101010101" pitchFamily="2" charset="-122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  <m:sSup>
                              <m:sSup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−(</m:t>
                                </m:r>
                                <m:sSup>
                                  <m:sSupPr>
                                    <m:ctrlPr>
                                      <a:rPr lang="en-US" altLang="zh-CN" sz="1600" i="1">
                                        <a:latin typeface="Cambria Math" panose="02040503050406030204" pitchFamily="18" charset="0"/>
                                        <a:ea typeface="华文宋体" panose="02010600040101010101" pitchFamily="2" charset="-122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  <a:ea typeface="华文宋体" panose="02010600040101010101" pitchFamily="2" charset="-122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  <a:ea typeface="华文宋体" panose="02010600040101010101" pitchFamily="2" charset="-122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lang="en-US" altLang="zh-CN" sz="1600" i="1">
                                        <a:latin typeface="Cambria Math" panose="02040503050406030204" pitchFamily="18" charset="0"/>
                                        <a:ea typeface="华文宋体" panose="02010600040101010101" pitchFamily="2" charset="-122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  <a:ea typeface="华文宋体" panose="02010600040101010101" pitchFamily="2" charset="-122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  <a:ea typeface="华文宋体" panose="02010600040101010101" pitchFamily="2" charset="-122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)</m:t>
                                </m:r>
                              </m:sup>
                            </m:sSup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𝑑𝑥𝑑𝑦</m:t>
                            </m:r>
                          </m:e>
                        </m:nary>
                      </m:e>
                    </m:nary>
                  </m:oMath>
                </a14:m>
                <a:r>
                  <a:rPr lang="en-US" altLang="zh-CN" sz="16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.</a:t>
                </a:r>
              </a:p>
              <a:p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</a:t>
                </a:r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令</a:t>
                </a:r>
                <a14:m>
                  <m:oMath xmlns:m="http://schemas.openxmlformats.org/officeDocument/2006/math">
                    <m:r>
                      <a:rPr lang="en-US" altLang="zh-CN" sz="160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𝑥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zh-CN" altLang="en-US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𝜌</m:t>
                    </m:r>
                    <m:func>
                      <m:func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1600" b="0" i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cos</m:t>
                        </m:r>
                      </m:fName>
                      <m:e>
                        <m:r>
                          <a:rPr lang="zh-CN" altLang="en-US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𝜃</m:t>
                        </m:r>
                      </m:e>
                    </m:func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𝑦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zh-CN" altLang="en-US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𝜌</m:t>
                    </m:r>
                    <m:func>
                      <m:func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1600" b="0" i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sin</m:t>
                        </m:r>
                      </m:fName>
                      <m:e>
                        <m:r>
                          <a:rPr lang="zh-CN" altLang="en-US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𝜃</m:t>
                        </m:r>
                      </m:e>
                    </m:func>
                  </m:oMath>
                </a14:m>
                <a:r>
                  <a:rPr lang="zh-CN" altLang="en-US" sz="16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，则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𝐸</m:t>
                    </m:r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𝑋</m:t>
                                </m:r>
                              </m:e>
                              <m:sup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𝑌</m:t>
                                </m:r>
                              </m:e>
                              <m:sup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e>
                    </m:d>
                    <m:r>
                      <a:rPr lang="en-US" altLang="zh-CN" sz="160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</m:t>
                    </m:r>
                    <m:nary>
                      <m:nary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zh-CN" altLang="en-US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/2</m:t>
                        </m:r>
                      </m:sup>
                      <m:e>
                        <m:func>
                          <m:func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 sz="160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cos</m:t>
                            </m:r>
                          </m:fName>
                          <m:e>
                            <m:r>
                              <a:rPr lang="zh-CN" altLang="en-US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𝜃</m:t>
                            </m:r>
                          </m:e>
                        </m:func>
                        <m:func>
                          <m:func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 sz="160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sin</m:t>
                            </m:r>
                          </m:fName>
                          <m:e>
                            <m:r>
                              <a:rPr lang="zh-CN" altLang="en-US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𝜃</m:t>
                            </m:r>
                          </m:e>
                        </m:func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𝑑</m:t>
                        </m:r>
                        <m:r>
                          <a:rPr lang="zh-CN" altLang="en-US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𝜃</m:t>
                        </m:r>
                        <m:nary>
                          <m:nary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naryPr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+</m:t>
                            </m:r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∞</m:t>
                            </m:r>
                          </m:sup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</m:t>
                            </m:r>
                            <m:sSup>
                              <m:sSupPr>
                                <m:ctrlP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zh-CN" altLang="en-US" sz="16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𝜌</m:t>
                                </m:r>
                              </m:e>
                              <m:sup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  <a:ea typeface="华文宋体" panose="02010600040101010101" pitchFamily="2" charset="-122"/>
                                      </a:rPr>
                                    </m:ctrlPr>
                                  </m:sSupPr>
                                  <m:e>
                                    <m:r>
                                      <a:rPr lang="zh-CN" altLang="en-US" sz="1600" i="1" smtClean="0">
                                        <a:latin typeface="Cambria Math" panose="02040503050406030204" pitchFamily="18" charset="0"/>
                                        <a:ea typeface="华文宋体" panose="02010600040101010101" pitchFamily="2" charset="-122"/>
                                      </a:rPr>
                                      <m:t>𝜌</m:t>
                                    </m:r>
                                  </m:e>
                                  <m:sup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  <a:ea typeface="华文宋体" panose="02010600040101010101" pitchFamily="2" charset="-122"/>
                                      </a:rPr>
                                      <m:t>2</m:t>
                                    </m:r>
                                  </m:sup>
                                </m:sSup>
                              </m:sup>
                            </m:sSup>
                            <m:r>
                              <a:rPr lang="zh-CN" altLang="en-US" sz="160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𝜌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𝑑</m:t>
                            </m:r>
                            <m:r>
                              <a:rPr lang="zh-CN" altLang="en-US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𝜌</m:t>
                            </m:r>
                          </m:e>
                        </m:nary>
                      </m:e>
                    </m:nary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3</m:t>
                        </m:r>
                      </m:num>
                      <m:den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4</m:t>
                        </m:r>
                      </m:den>
                    </m:f>
                    <m:rad>
                      <m:radPr>
                        <m:degHide m:val="on"/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radPr>
                      <m:deg/>
                      <m:e>
                        <m:r>
                          <a:rPr lang="zh-CN" altLang="en-US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𝜋</m:t>
                        </m:r>
                      </m:e>
                    </m:rad>
                  </m:oMath>
                </a14:m>
                <a:r>
                  <a:rPr lang="en-US" altLang="zh-CN" sz="16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.</a:t>
                </a:r>
                <a:endParaRPr lang="zh-CN" altLang="en-US" sz="1600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331C1E25-3CE5-26BE-FF67-5CB5B94F14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59" y="4565244"/>
                <a:ext cx="11039269" cy="1277914"/>
              </a:xfrm>
              <a:prstGeom prst="rect">
                <a:avLst/>
              </a:prstGeom>
              <a:blipFill>
                <a:blip r:embed="rId6"/>
                <a:stretch>
                  <a:fillRect l="-276" t="-33810" b="-519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: 圆角 3">
                <a:extLst>
                  <a:ext uri="{FF2B5EF4-FFF2-40B4-BE49-F238E27FC236}">
                    <a16:creationId xmlns:a16="http://schemas.microsoft.com/office/drawing/2014/main" id="{6D8C20BA-696A-4C65-4CD1-C62C9E02F951}"/>
                  </a:ext>
                </a:extLst>
              </p:cNvPr>
              <p:cNvSpPr/>
              <p:nvPr/>
            </p:nvSpPr>
            <p:spPr>
              <a:xfrm>
                <a:off x="8918367" y="2608846"/>
                <a:ext cx="2499757" cy="1100812"/>
              </a:xfrm>
              <a:prstGeom prst="roundRect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spcAft>
                    <a:spcPts val="300"/>
                  </a:spcAft>
                </a:pPr>
                <a:r>
                  <a:rPr lang="zh-CN" altLang="en-US" sz="1400" u="sng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概率积分</a:t>
                </a:r>
                <a:endParaRPr lang="en-US" altLang="zh-CN" sz="1400" u="sng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algn="ctr">
                  <a:spcBef>
                    <a:spcPts val="3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zh-CN" alt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sup>
                          </m:sSup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nary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zh-CN" altLang="en-US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ra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" name="矩形: 圆角 3">
                <a:extLst>
                  <a:ext uri="{FF2B5EF4-FFF2-40B4-BE49-F238E27FC236}">
                    <a16:creationId xmlns:a16="http://schemas.microsoft.com/office/drawing/2014/main" id="{6D8C20BA-696A-4C65-4CD1-C62C9E02F95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8367" y="2608846"/>
                <a:ext cx="2499757" cy="1100812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33771770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1" grpId="0"/>
      <p:bldP spid="27" grpId="0"/>
      <p:bldP spid="28" grpId="0"/>
      <p:bldP spid="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143FF26B-CC77-0DBB-021F-F6F65A8FA87C}"/>
              </a:ext>
            </a:extLst>
          </p:cNvPr>
          <p:cNvCxnSpPr/>
          <p:nvPr/>
        </p:nvCxnSpPr>
        <p:spPr>
          <a:xfrm>
            <a:off x="576364" y="1136063"/>
            <a:ext cx="11039272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366AA635-A21B-A433-4648-23FD4F0AB104}"/>
              </a:ext>
            </a:extLst>
          </p:cNvPr>
          <p:cNvSpPr txBox="1"/>
          <p:nvPr/>
        </p:nvSpPr>
        <p:spPr>
          <a:xfrm>
            <a:off x="507460" y="496110"/>
            <a:ext cx="31501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随机变量的方差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F8EA2AA-3607-76BF-CED9-450E9DC65B0B}"/>
              </a:ext>
            </a:extLst>
          </p:cNvPr>
          <p:cNvSpPr txBox="1"/>
          <p:nvPr/>
        </p:nvSpPr>
        <p:spPr>
          <a:xfrm>
            <a:off x="507460" y="1425186"/>
            <a:ext cx="11108176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在高中数学的学习中，我们已经知道，</a:t>
            </a:r>
            <a:r>
              <a:rPr lang="zh-CN" altLang="en-US" sz="1600" u="sng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方差</a:t>
            </a:r>
            <a:r>
              <a:rPr lang="zh-CN" altLang="en-US" sz="16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 本质上 刻画了 </a:t>
            </a:r>
            <a:r>
              <a:rPr lang="zh-CN" altLang="en-US" sz="1600" u="sng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随机变量取值的离散或集中程度</a:t>
            </a:r>
            <a:r>
              <a:rPr lang="zh-CN" altLang="en-US" sz="16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，方差越小取值越集中。</a:t>
            </a:r>
            <a:endParaRPr lang="en-US" altLang="zh-CN" sz="1600" dirty="0">
              <a:latin typeface="方正小标宋简体" panose="02000000000000000000" pitchFamily="2" charset="-122"/>
              <a:ea typeface="方正小标宋简体" panose="02000000000000000000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学习了微积分的相关知识后，无论是离散型还是连续型随机变量，我们都可以引入 方差 这一概念。</a:t>
            </a:r>
            <a:endParaRPr lang="en-US" altLang="zh-CN" sz="1600" dirty="0">
              <a:latin typeface="方正小标宋简体" panose="02000000000000000000" pitchFamily="2" charset="-122"/>
              <a:ea typeface="方正小标宋简体" panose="02000000000000000000" pitchFamily="2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FCFE9ED-E2C0-E136-C16A-73B705043080}"/>
              </a:ext>
            </a:extLst>
          </p:cNvPr>
          <p:cNvSpPr txBox="1"/>
          <p:nvPr/>
        </p:nvSpPr>
        <p:spPr>
          <a:xfrm>
            <a:off x="3657600" y="775742"/>
            <a:ext cx="15073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600" dirty="0"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方差的定义</a:t>
            </a:r>
            <a:endParaRPr lang="en-US" altLang="zh-CN" sz="1600" dirty="0">
              <a:latin typeface="方正清刻本悦宋简体" panose="02000000000000000000" pitchFamily="2" charset="-122"/>
              <a:ea typeface="方正清刻本悦宋简体" panose="02000000000000000000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: 圆角 3">
                <a:extLst>
                  <a:ext uri="{FF2B5EF4-FFF2-40B4-BE49-F238E27FC236}">
                    <a16:creationId xmlns:a16="http://schemas.microsoft.com/office/drawing/2014/main" id="{0B24E69A-ADF1-68D3-25F1-B6C202465E7C}"/>
                  </a:ext>
                </a:extLst>
              </p:cNvPr>
              <p:cNvSpPr/>
              <p:nvPr/>
            </p:nvSpPr>
            <p:spPr>
              <a:xfrm>
                <a:off x="576364" y="3025624"/>
                <a:ext cx="1992971" cy="595069"/>
              </a:xfrm>
              <a:prstGeom prst="round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dirty="0">
                    <a:solidFill>
                      <a:schemeClr val="tx1"/>
                    </a:solidFill>
                    <a:latin typeface="汉仪文黑-85W" panose="00020600040101010101" pitchFamily="18" charset="-128"/>
                    <a:ea typeface="汉仪文黑-85W" panose="00020600040101010101" pitchFamily="18" charset="-128"/>
                    <a:cs typeface="汉仪文黑-85W" panose="00020600040101010101" pitchFamily="18" charset="-128"/>
                  </a:rPr>
                  <a:t>方差</a:t>
                </a:r>
                <a:r>
                  <a:rPr lang="en-US" altLang="zh-CN" dirty="0">
                    <a:solidFill>
                      <a:schemeClr val="tx1"/>
                    </a:solidFill>
                    <a:latin typeface="汉仪文黑-85W" panose="00020600040101010101" pitchFamily="18" charset="-128"/>
                    <a:ea typeface="汉仪文黑-85W" panose="00020600040101010101" pitchFamily="18" charset="-128"/>
                    <a:cs typeface="汉仪文黑-85W" panose="00020600040101010101" pitchFamily="18" charset="-128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en-US" dirty="0">
                  <a:solidFill>
                    <a:schemeClr val="tx1"/>
                  </a:solidFill>
                  <a:latin typeface="汉仪文黑-85W" panose="00020600040101010101" pitchFamily="18" charset="-128"/>
                  <a:ea typeface="汉仪文黑-85W" panose="00020600040101010101" pitchFamily="18" charset="-128"/>
                  <a:cs typeface="汉仪文黑-85W" panose="00020600040101010101" pitchFamily="18" charset="-128"/>
                </a:endParaRPr>
              </a:p>
            </p:txBody>
          </p:sp>
        </mc:Choice>
        <mc:Fallback xmlns="">
          <p:sp>
            <p:nvSpPr>
              <p:cNvPr id="4" name="矩形: 圆角 3">
                <a:extLst>
                  <a:ext uri="{FF2B5EF4-FFF2-40B4-BE49-F238E27FC236}">
                    <a16:creationId xmlns:a16="http://schemas.microsoft.com/office/drawing/2014/main" id="{0B24E69A-ADF1-68D3-25F1-B6C202465E7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364" y="3025624"/>
                <a:ext cx="1992971" cy="595069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037860B3-7F19-B917-DCF1-0ECD0D1E531A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2569335" y="3323159"/>
            <a:ext cx="1948398" cy="0"/>
          </a:xfrm>
          <a:prstGeom prst="line">
            <a:avLst/>
          </a:prstGeom>
          <a:ln w="28575"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0524B510-AE56-F42E-397D-8B5C7E2F1E35}"/>
              </a:ext>
            </a:extLst>
          </p:cNvPr>
          <p:cNvSpPr txBox="1"/>
          <p:nvPr/>
        </p:nvSpPr>
        <p:spPr>
          <a:xfrm>
            <a:off x="2569336" y="2943585"/>
            <a:ext cx="194839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solidFill>
                  <a:schemeClr val="accent5"/>
                </a:solidFill>
                <a:latin typeface="汉仪润圆-65简" panose="00020600040101010101" pitchFamily="18" charset="-122"/>
                <a:ea typeface="汉仪润圆-65简" panose="00020600040101010101" pitchFamily="18" charset="-122"/>
              </a:rPr>
              <a:t>离散型</a:t>
            </a:r>
            <a:r>
              <a:rPr lang="zh-CN" altLang="en-US" sz="1600" dirty="0">
                <a:latin typeface="汉仪润圆-65简" panose="00020600040101010101" pitchFamily="18" charset="-122"/>
                <a:ea typeface="汉仪润圆-65简" panose="00020600040101010101" pitchFamily="18" charset="-122"/>
              </a:rPr>
              <a:t>随机变量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028B481-20C4-CE69-9855-8B5BA99424BA}"/>
              </a:ext>
            </a:extLst>
          </p:cNvPr>
          <p:cNvSpPr txBox="1"/>
          <p:nvPr/>
        </p:nvSpPr>
        <p:spPr>
          <a:xfrm>
            <a:off x="2569335" y="3410397"/>
            <a:ext cx="194839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solidFill>
                  <a:schemeClr val="accent1"/>
                </a:solidFill>
                <a:latin typeface="汉仪润圆-65简" panose="00020600040101010101" pitchFamily="18" charset="-122"/>
                <a:ea typeface="汉仪润圆-65简" panose="00020600040101010101" pitchFamily="18" charset="-122"/>
              </a:rPr>
              <a:t>连续型</a:t>
            </a:r>
            <a:r>
              <a:rPr lang="zh-CN" altLang="en-US" sz="1600" dirty="0">
                <a:latin typeface="汉仪润圆-65简" panose="00020600040101010101" pitchFamily="18" charset="-122"/>
                <a:ea typeface="汉仪润圆-65简" panose="00020600040101010101" pitchFamily="18" charset="-122"/>
              </a:rPr>
              <a:t>随机变量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E47FE2DF-5842-320B-A93D-F8EBB7FC8ED4}"/>
                  </a:ext>
                </a:extLst>
              </p:cNvPr>
              <p:cNvSpPr txBox="1"/>
              <p:nvPr/>
            </p:nvSpPr>
            <p:spPr>
              <a:xfrm>
                <a:off x="4785308" y="2943585"/>
                <a:ext cx="648337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en-US" altLang="zh-CN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CN" b="0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b="0" i="1" smtClean="0">
                                        <a:solidFill>
                                          <a:schemeClr val="accent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chemeClr val="accent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solidFill>
                                          <a:schemeClr val="accent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zh-CN" b="0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b="0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  <m:d>
                                  <m:dPr>
                                    <m:ctrlPr>
                                      <a:rPr lang="en-US" altLang="zh-CN" b="0" i="1" smtClean="0">
                                        <a:solidFill>
                                          <a:schemeClr val="accent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chemeClr val="accent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en-US" altLang="zh-CN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nary>
                  </m:oMath>
                </a14:m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:r>
                  <a:rPr lang="zh-CN" altLang="en-US" sz="1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其中随机变量</a:t>
                </a:r>
                <a14:m>
                  <m:oMath xmlns:m="http://schemas.openxmlformats.org/officeDocument/2006/math">
                    <m:r>
                      <a:rPr lang="en-US" altLang="zh-CN" sz="14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𝑋</m:t>
                    </m:r>
                  </m:oMath>
                </a14:m>
                <a:r>
                  <a:rPr lang="zh-CN" altLang="en-US" sz="1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的分布律为</a:t>
                </a:r>
                <a14:m>
                  <m:oMath xmlns:m="http://schemas.openxmlformats.org/officeDocument/2006/math">
                    <m:r>
                      <a:rPr lang="en-US" altLang="zh-CN" sz="14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14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𝑋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CN" sz="14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altLang="zh-CN" sz="14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sSub>
                      <m:sSubPr>
                        <m:ctrlPr>
                          <a:rPr lang="en-US" altLang="zh-CN" sz="14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𝑝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𝑛</m:t>
                        </m:r>
                      </m:sub>
                    </m:sSub>
                  </m:oMath>
                </a14:m>
                <a:endParaRPr lang="zh-CN" altLang="en-US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E47FE2DF-5842-320B-A93D-F8EBB7FC8E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5308" y="2943585"/>
                <a:ext cx="6483378" cy="276999"/>
              </a:xfrm>
              <a:prstGeom prst="rect">
                <a:avLst/>
              </a:prstGeom>
              <a:blipFill>
                <a:blip r:embed="rId4"/>
                <a:stretch>
                  <a:fillRect l="-1316" t="-175556" b="-2711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53B713A9-E222-4CC6-AF8B-72322FD34A68}"/>
                  </a:ext>
                </a:extLst>
              </p:cNvPr>
              <p:cNvSpPr txBox="1"/>
              <p:nvPr/>
            </p:nvSpPr>
            <p:spPr>
              <a:xfrm>
                <a:off x="4785307" y="3383338"/>
                <a:ext cx="6110968" cy="3656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en-US" altLang="zh-CN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CN" i="1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b="0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zh-CN" i="1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i="1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  <m:d>
                                  <m:dPr>
                                    <m:ctrlPr>
                                      <a:rPr lang="en-US" altLang="zh-CN" i="1">
                                        <a:solidFill>
                                          <a:schemeClr val="accent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i="1">
                                        <a:solidFill>
                                          <a:schemeClr val="accent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en-US" altLang="zh-CN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en-US" altLang="zh-CN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nary>
                  </m:oMath>
                </a14:m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:r>
                  <a:rPr lang="zh-CN" altLang="en-US" sz="1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其中随机变量</a:t>
                </a:r>
                <a14:m>
                  <m:oMath xmlns:m="http://schemas.openxmlformats.org/officeDocument/2006/math">
                    <m:r>
                      <a:rPr lang="en-US" altLang="zh-CN" sz="14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𝑋</m:t>
                    </m:r>
                  </m:oMath>
                </a14:m>
                <a:r>
                  <a:rPr lang="zh-CN" altLang="en-US" sz="1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的密度函数为</a:t>
                </a:r>
                <a14:m>
                  <m:oMath xmlns:m="http://schemas.openxmlformats.org/officeDocument/2006/math"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1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53B713A9-E222-4CC6-AF8B-72322FD34A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5307" y="3383338"/>
                <a:ext cx="6110968" cy="365613"/>
              </a:xfrm>
              <a:prstGeom prst="rect">
                <a:avLst/>
              </a:prstGeom>
              <a:blipFill>
                <a:blip r:embed="rId5"/>
                <a:stretch>
                  <a:fillRect l="-1397" t="-148333" b="-231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1B335EFA-23CD-4AA9-D056-138B5DBAE9F1}"/>
              </a:ext>
            </a:extLst>
          </p:cNvPr>
          <p:cNvCxnSpPr>
            <a:cxnSpLocks/>
          </p:cNvCxnSpPr>
          <p:nvPr/>
        </p:nvCxnSpPr>
        <p:spPr>
          <a:xfrm>
            <a:off x="828483" y="3484253"/>
            <a:ext cx="0" cy="1184424"/>
          </a:xfrm>
          <a:prstGeom prst="line">
            <a:avLst/>
          </a:prstGeom>
          <a:ln w="38100">
            <a:solidFill>
              <a:schemeClr val="accent2">
                <a:lumMod val="20000"/>
                <a:lumOff val="8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4" name="组合 63">
            <a:extLst>
              <a:ext uri="{FF2B5EF4-FFF2-40B4-BE49-F238E27FC236}">
                <a16:creationId xmlns:a16="http://schemas.microsoft.com/office/drawing/2014/main" id="{3DEA21CF-0639-F356-8CAA-48314FCF769B}"/>
              </a:ext>
            </a:extLst>
          </p:cNvPr>
          <p:cNvGrpSpPr/>
          <p:nvPr/>
        </p:nvGrpSpPr>
        <p:grpSpPr>
          <a:xfrm>
            <a:off x="783038" y="3882778"/>
            <a:ext cx="10832598" cy="636456"/>
            <a:chOff x="783038" y="3988619"/>
            <a:chExt cx="10832598" cy="636456"/>
          </a:xfrm>
        </p:grpSpPr>
        <p:grpSp>
          <p:nvGrpSpPr>
            <p:cNvPr id="58" name="组合 57">
              <a:extLst>
                <a:ext uri="{FF2B5EF4-FFF2-40B4-BE49-F238E27FC236}">
                  <a16:creationId xmlns:a16="http://schemas.microsoft.com/office/drawing/2014/main" id="{D80AFBC7-96D4-176F-06EE-EBFCDDF03D7E}"/>
                </a:ext>
              </a:extLst>
            </p:cNvPr>
            <p:cNvGrpSpPr/>
            <p:nvPr/>
          </p:nvGrpSpPr>
          <p:grpSpPr>
            <a:xfrm>
              <a:off x="783038" y="4136861"/>
              <a:ext cx="590428" cy="90889"/>
              <a:chOff x="783038" y="4168883"/>
              <a:chExt cx="590428" cy="90889"/>
            </a:xfrm>
          </p:grpSpPr>
          <p:cxnSp>
            <p:nvCxnSpPr>
              <p:cNvPr id="36" name="直接连接符 35">
                <a:extLst>
                  <a:ext uri="{FF2B5EF4-FFF2-40B4-BE49-F238E27FC236}">
                    <a16:creationId xmlns:a16="http://schemas.microsoft.com/office/drawing/2014/main" id="{AD2092FC-3674-2AAD-6E2E-45ACE9B3E05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4251" y="4214328"/>
                <a:ext cx="559215" cy="0"/>
              </a:xfrm>
              <a:prstGeom prst="line">
                <a:avLst/>
              </a:prstGeom>
              <a:ln w="38100">
                <a:solidFill>
                  <a:schemeClr val="accent2">
                    <a:lumMod val="20000"/>
                    <a:lumOff val="80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" name="椭圆 38">
                <a:extLst>
                  <a:ext uri="{FF2B5EF4-FFF2-40B4-BE49-F238E27FC236}">
                    <a16:creationId xmlns:a16="http://schemas.microsoft.com/office/drawing/2014/main" id="{52B963AC-F3F0-FE46-C256-732775310D58}"/>
                  </a:ext>
                </a:extLst>
              </p:cNvPr>
              <p:cNvSpPr/>
              <p:nvPr/>
            </p:nvSpPr>
            <p:spPr>
              <a:xfrm>
                <a:off x="783038" y="4168883"/>
                <a:ext cx="90889" cy="90889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文本框 61">
                  <a:extLst>
                    <a:ext uri="{FF2B5EF4-FFF2-40B4-BE49-F238E27FC236}">
                      <a16:creationId xmlns:a16="http://schemas.microsoft.com/office/drawing/2014/main" id="{8092E13C-1AD9-7057-DC57-F5FDBEDF372B}"/>
                    </a:ext>
                  </a:extLst>
                </p:cNvPr>
                <p:cNvSpPr txBox="1"/>
                <p:nvPr/>
              </p:nvSpPr>
              <p:spPr>
                <a:xfrm>
                  <a:off x="1418911" y="3988619"/>
                  <a:ext cx="10196725" cy="63645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ct val="125000"/>
                    </a:lnSpc>
                  </a:pPr>
                  <a:r>
                    <a:rPr lang="zh-CN" altLang="en-US" sz="1400" dirty="0">
                      <a:latin typeface="汉仪文黑-85W" panose="00020600040101010101" pitchFamily="18" charset="-128"/>
                      <a:ea typeface="汉仪文黑-85W" panose="00020600040101010101" pitchFamily="18" charset="-128"/>
                      <a:cs typeface="汉仪文黑-85W" panose="00020600040101010101" pitchFamily="18" charset="-128"/>
                    </a:rPr>
                    <a:t>注</a:t>
                  </a:r>
                  <a:r>
                    <a:rPr lang="zh-CN" altLang="en-US" sz="1400" dirty="0">
                      <a:latin typeface="仿宋" panose="02010609060101010101" pitchFamily="49" charset="-122"/>
                      <a:ea typeface="仿宋" panose="02010609060101010101" pitchFamily="49" charset="-122"/>
                    </a:rPr>
                    <a:t>：根据方差的定义，可得如下计算方差的公式：</a:t>
                  </a:r>
                  <a14:m>
                    <m:oMath xmlns:m="http://schemas.openxmlformats.org/officeDocument/2006/math">
                      <m:r>
                        <a:rPr lang="en-US" altLang="zh-CN" sz="1400" b="1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𝑫</m:t>
                      </m:r>
                      <m:d>
                        <m:dPr>
                          <m:ctrlPr>
                            <a:rPr lang="en-US" altLang="zh-CN" sz="14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</m:ctrlPr>
                        </m:dPr>
                        <m:e>
                          <m:r>
                            <a:rPr lang="en-US" altLang="zh-CN" sz="14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  <m:t>𝑿</m:t>
                          </m:r>
                        </m:e>
                      </m:d>
                      <m:r>
                        <a:rPr lang="en-US" altLang="zh-CN" sz="1400" b="1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=</m:t>
                      </m:r>
                      <m:r>
                        <a:rPr lang="en-US" altLang="zh-CN" sz="1400" b="1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𝑬</m:t>
                      </m:r>
                      <m:d>
                        <m:dPr>
                          <m:ctrlPr>
                            <a:rPr lang="en-US" altLang="zh-CN" sz="14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1400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ea typeface="仿宋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1400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ea typeface="仿宋" panose="02010609060101010101" pitchFamily="49" charset="-122"/>
                                </a:rPr>
                                <m:t>𝑿</m:t>
                              </m:r>
                            </m:e>
                            <m:sup>
                              <m:r>
                                <a:rPr lang="en-US" altLang="zh-CN" sz="1400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ea typeface="仿宋" panose="02010609060101010101" pitchFamily="49" charset="-122"/>
                                </a:rPr>
                                <m:t>𝟐</m:t>
                              </m:r>
                            </m:sup>
                          </m:sSup>
                        </m:e>
                      </m:d>
                      <m:r>
                        <a:rPr lang="en-US" altLang="zh-CN" sz="1400" b="1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−</m:t>
                      </m:r>
                      <m:sSup>
                        <m:sSupPr>
                          <m:ctrlPr>
                            <a:rPr lang="en-US" altLang="zh-CN" sz="14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1400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ea typeface="仿宋" panose="02010609060101010101" pitchFamily="49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1400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ea typeface="仿宋" panose="02010609060101010101" pitchFamily="49" charset="-122"/>
                                </a:rPr>
                                <m:t>𝑬</m:t>
                              </m:r>
                              <m:d>
                                <m:dPr>
                                  <m:ctrlPr>
                                    <a:rPr lang="en-US" altLang="zh-CN" sz="1400" b="1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  <a:ea typeface="仿宋" panose="02010609060101010101" pitchFamily="49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400" b="1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  <a:ea typeface="仿宋" panose="02010609060101010101" pitchFamily="49" charset="-122"/>
                                    </a:rPr>
                                    <m:t>𝑿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zh-CN" sz="14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  <m:t>𝟐</m:t>
                          </m:r>
                        </m:sup>
                      </m:sSup>
                    </m:oMath>
                  </a14:m>
                  <a:r>
                    <a:rPr lang="en-US" altLang="zh-CN" sz="1400" dirty="0">
                      <a:latin typeface="仿宋" panose="02010609060101010101" pitchFamily="49" charset="-122"/>
                      <a:ea typeface="仿宋" panose="02010609060101010101" pitchFamily="49" charset="-122"/>
                    </a:rPr>
                    <a:t>. </a:t>
                  </a:r>
                  <a:r>
                    <a:rPr lang="zh-CN" altLang="en-US" sz="1400" dirty="0">
                      <a:latin typeface="仿宋" panose="02010609060101010101" pitchFamily="49" charset="-122"/>
                      <a:ea typeface="仿宋" panose="02010609060101010101" pitchFamily="49" charset="-122"/>
                    </a:rPr>
                    <a:t>此公式非常常用！</a:t>
                  </a:r>
                  <a:endParaRPr lang="en-US" altLang="zh-CN" sz="1400" dirty="0">
                    <a:latin typeface="仿宋" panose="02010609060101010101" pitchFamily="49" charset="-122"/>
                    <a:ea typeface="仿宋" panose="02010609060101010101" pitchFamily="49" charset="-122"/>
                  </a:endParaRPr>
                </a:p>
                <a:p>
                  <a:pPr>
                    <a:lnSpc>
                      <a:spcPct val="125000"/>
                    </a:lnSpc>
                  </a:pPr>
                  <a:r>
                    <a:rPr lang="en-US" altLang="zh-CN" sz="1400" dirty="0">
                      <a:latin typeface="仿宋" panose="02010609060101010101" pitchFamily="49" charset="-122"/>
                      <a:ea typeface="仿宋" panose="02010609060101010101" pitchFamily="49" charset="-122"/>
                    </a:rPr>
                    <a:t>    </a:t>
                  </a:r>
                  <a:r>
                    <a:rPr lang="zh-CN" altLang="en-US" sz="1400" dirty="0">
                      <a:latin typeface="仿宋" panose="02010609060101010101" pitchFamily="49" charset="-122"/>
                      <a:ea typeface="仿宋" panose="02010609060101010101" pitchFamily="49" charset="-122"/>
                    </a:rPr>
                    <a:t>但是如果要使用这个公式，需要先求出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altLang="zh-CN" sz="1400" b="0" i="1" smtClean="0"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</m:ctrlPr>
                        </m:sSupPr>
                        <m:e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  <m:t>𝑋</m:t>
                          </m:r>
                        </m:e>
                        <m:sup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  <m:t>2</m:t>
                          </m:r>
                        </m:sup>
                      </m:sSup>
                    </m:oMath>
                  </a14:m>
                  <a:r>
                    <a:rPr lang="zh-CN" altLang="en-US" sz="1400" dirty="0">
                      <a:latin typeface="仿宋" panose="02010609060101010101" pitchFamily="49" charset="-122"/>
                      <a:ea typeface="仿宋" panose="02010609060101010101" pitchFamily="49" charset="-122"/>
                    </a:rPr>
                    <a:t>的数学期望</a:t>
                  </a:r>
                  <a14:m>
                    <m:oMath xmlns:m="http://schemas.openxmlformats.org/officeDocument/2006/math">
                      <m:r>
                        <a:rPr lang="en-US" altLang="zh-CN" sz="1400" i="1"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𝐸</m:t>
                      </m:r>
                      <m:d>
                        <m:dPr>
                          <m:ctrlPr>
                            <a:rPr lang="en-US" altLang="zh-CN" sz="1400" i="1"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  <a:ea typeface="仿宋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  <a:ea typeface="仿宋" panose="02010609060101010101" pitchFamily="49" charset="-122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  <a:ea typeface="仿宋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a14:m>
                  <a:r>
                    <a:rPr lang="en-US" altLang="zh-CN" sz="1400" dirty="0">
                      <a:latin typeface="仿宋" panose="02010609060101010101" pitchFamily="49" charset="-122"/>
                      <a:ea typeface="仿宋" panose="02010609060101010101" pitchFamily="49" charset="-122"/>
                    </a:rPr>
                    <a:t>.  </a:t>
                  </a:r>
                  <a:r>
                    <a:rPr lang="zh-CN" altLang="en-US" sz="1400" dirty="0">
                      <a:latin typeface="仿宋" panose="02010609060101010101" pitchFamily="49" charset="-122"/>
                      <a:ea typeface="仿宋" panose="02010609060101010101" pitchFamily="49" charset="-122"/>
                    </a:rPr>
                    <a:t>同时，已知</a:t>
                  </a:r>
                  <a14:m>
                    <m:oMath xmlns:m="http://schemas.openxmlformats.org/officeDocument/2006/math">
                      <m:r>
                        <a:rPr lang="en-US" altLang="zh-CN" sz="1400" b="0" i="1" smtClean="0"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𝐷</m:t>
                      </m:r>
                      <m:d>
                        <m:dPr>
                          <m:ctrlPr>
                            <a:rPr lang="en-US" altLang="zh-CN" sz="1400" b="0" i="1" smtClean="0"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  <m:t>𝑋</m:t>
                          </m:r>
                        </m:e>
                      </m:d>
                      <m:r>
                        <a:rPr lang="en-US" altLang="zh-CN" sz="1400" b="0" i="1" smtClean="0"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,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𝐸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(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𝑋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)</m:t>
                      </m:r>
                    </m:oMath>
                  </a14:m>
                  <a:r>
                    <a:rPr lang="zh-CN" altLang="en-US" sz="1400" dirty="0">
                      <a:latin typeface="仿宋" panose="02010609060101010101" pitchFamily="49" charset="-122"/>
                      <a:ea typeface="仿宋" panose="02010609060101010101" pitchFamily="49" charset="-122"/>
                    </a:rPr>
                    <a:t>，也可以求出</a:t>
                  </a:r>
                  <a14:m>
                    <m:oMath xmlns:m="http://schemas.openxmlformats.org/officeDocument/2006/math">
                      <m:r>
                        <a:rPr lang="en-US" altLang="zh-CN" sz="1400" i="1"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𝐸</m:t>
                      </m:r>
                      <m:d>
                        <m:dPr>
                          <m:ctrlPr>
                            <a:rPr lang="en-US" altLang="zh-CN" sz="1400" i="1"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  <a:ea typeface="仿宋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  <a:ea typeface="仿宋" panose="02010609060101010101" pitchFamily="49" charset="-122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  <a:ea typeface="仿宋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a14:m>
                  <a:r>
                    <a:rPr lang="zh-CN" altLang="en-US" sz="1400" dirty="0">
                      <a:latin typeface="仿宋" panose="02010609060101010101" pitchFamily="49" charset="-122"/>
                      <a:ea typeface="仿宋" panose="02010609060101010101" pitchFamily="49" charset="-122"/>
                    </a:rPr>
                    <a:t>！</a:t>
                  </a:r>
                  <a:endParaRPr lang="en-US" altLang="zh-CN" sz="1400" dirty="0">
                    <a:latin typeface="仿宋" panose="02010609060101010101" pitchFamily="49" charset="-122"/>
                    <a:ea typeface="仿宋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62" name="文本框 61">
                  <a:extLst>
                    <a:ext uri="{FF2B5EF4-FFF2-40B4-BE49-F238E27FC236}">
                      <a16:creationId xmlns:a16="http://schemas.microsoft.com/office/drawing/2014/main" id="{8092E13C-1AD9-7057-DC57-F5FDBEDF372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18911" y="3988619"/>
                  <a:ext cx="10196725" cy="636456"/>
                </a:xfrm>
                <a:prstGeom prst="rect">
                  <a:avLst/>
                </a:prstGeom>
                <a:blipFill>
                  <a:blip r:embed="rId6"/>
                  <a:stretch>
                    <a:fillRect l="-179" b="-769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5" name="组合 64">
            <a:extLst>
              <a:ext uri="{FF2B5EF4-FFF2-40B4-BE49-F238E27FC236}">
                <a16:creationId xmlns:a16="http://schemas.microsoft.com/office/drawing/2014/main" id="{2C50DDA7-CF1E-E941-73AB-AE5BE95C35BC}"/>
              </a:ext>
            </a:extLst>
          </p:cNvPr>
          <p:cNvGrpSpPr/>
          <p:nvPr/>
        </p:nvGrpSpPr>
        <p:grpSpPr>
          <a:xfrm>
            <a:off x="783038" y="4569955"/>
            <a:ext cx="10839955" cy="307777"/>
            <a:chOff x="783038" y="4675796"/>
            <a:chExt cx="10839955" cy="307777"/>
          </a:xfrm>
        </p:grpSpPr>
        <p:grpSp>
          <p:nvGrpSpPr>
            <p:cNvPr id="60" name="组合 59">
              <a:extLst>
                <a:ext uri="{FF2B5EF4-FFF2-40B4-BE49-F238E27FC236}">
                  <a16:creationId xmlns:a16="http://schemas.microsoft.com/office/drawing/2014/main" id="{16579F66-0AC9-BD90-740A-7C9DF1FA5A83}"/>
                </a:ext>
              </a:extLst>
            </p:cNvPr>
            <p:cNvGrpSpPr/>
            <p:nvPr/>
          </p:nvGrpSpPr>
          <p:grpSpPr>
            <a:xfrm>
              <a:off x="783038" y="4784241"/>
              <a:ext cx="597785" cy="90889"/>
              <a:chOff x="783038" y="4702121"/>
              <a:chExt cx="597785" cy="90889"/>
            </a:xfrm>
          </p:grpSpPr>
          <p:cxnSp>
            <p:nvCxnSpPr>
              <p:cNvPr id="53" name="直接连接符 52">
                <a:extLst>
                  <a:ext uri="{FF2B5EF4-FFF2-40B4-BE49-F238E27FC236}">
                    <a16:creationId xmlns:a16="http://schemas.microsoft.com/office/drawing/2014/main" id="{3628905B-F9C3-7824-74BB-89747229465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21608" y="4747565"/>
                <a:ext cx="559215" cy="0"/>
              </a:xfrm>
              <a:prstGeom prst="line">
                <a:avLst/>
              </a:prstGeom>
              <a:ln w="38100">
                <a:solidFill>
                  <a:schemeClr val="accent2">
                    <a:lumMod val="20000"/>
                    <a:lumOff val="80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1" name="椭圆 40">
                <a:extLst>
                  <a:ext uri="{FF2B5EF4-FFF2-40B4-BE49-F238E27FC236}">
                    <a16:creationId xmlns:a16="http://schemas.microsoft.com/office/drawing/2014/main" id="{A78F4475-9ADD-9BEB-4D6A-31827A134666}"/>
                  </a:ext>
                </a:extLst>
              </p:cNvPr>
              <p:cNvSpPr/>
              <p:nvPr/>
            </p:nvSpPr>
            <p:spPr>
              <a:xfrm>
                <a:off x="783038" y="4702121"/>
                <a:ext cx="90889" cy="90889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文本框 62">
                  <a:extLst>
                    <a:ext uri="{FF2B5EF4-FFF2-40B4-BE49-F238E27FC236}">
                      <a16:creationId xmlns:a16="http://schemas.microsoft.com/office/drawing/2014/main" id="{09ED4656-2684-3904-D828-2DE5B7657AEA}"/>
                    </a:ext>
                  </a:extLst>
                </p:cNvPr>
                <p:cNvSpPr txBox="1"/>
                <p:nvPr/>
              </p:nvSpPr>
              <p:spPr>
                <a:xfrm>
                  <a:off x="1426268" y="4675796"/>
                  <a:ext cx="10196725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400" dirty="0">
                      <a:latin typeface="汉仪文黑-85W" panose="00020600040101010101" pitchFamily="18" charset="-128"/>
                      <a:ea typeface="汉仪文黑-85W" panose="00020600040101010101" pitchFamily="18" charset="-128"/>
                      <a:cs typeface="汉仪文黑-85W" panose="00020600040101010101" pitchFamily="18" charset="-128"/>
                    </a:rPr>
                    <a:t>附</a:t>
                  </a:r>
                  <a:r>
                    <a:rPr lang="zh-CN" altLang="en-US" sz="1400" dirty="0">
                      <a:latin typeface="仿宋" panose="02010609060101010101" pitchFamily="49" charset="-122"/>
                      <a:ea typeface="仿宋" panose="02010609060101010101" pitchFamily="49" charset="-122"/>
                    </a:rPr>
                    <a:t>：当随机变量</a:t>
                  </a:r>
                  <a14:m>
                    <m:oMath xmlns:m="http://schemas.openxmlformats.org/officeDocument/2006/math">
                      <m:r>
                        <a:rPr lang="en-US" altLang="zh-CN" sz="1400" i="1" dirty="0" smtClean="0"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𝑋</m:t>
                      </m:r>
                    </m:oMath>
                  </a14:m>
                  <a:r>
                    <a:rPr lang="zh-CN" altLang="en-US" sz="1400" dirty="0">
                      <a:latin typeface="仿宋" panose="02010609060101010101" pitchFamily="49" charset="-122"/>
                      <a:ea typeface="仿宋" panose="02010609060101010101" pitchFamily="49" charset="-122"/>
                    </a:rPr>
                    <a:t>服从一些常见分布时，其方差如下表：</a:t>
                  </a:r>
                  <a:endParaRPr lang="en-US" altLang="zh-CN" sz="1400" dirty="0">
                    <a:latin typeface="仿宋" panose="02010609060101010101" pitchFamily="49" charset="-122"/>
                    <a:ea typeface="仿宋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63" name="文本框 62">
                  <a:extLst>
                    <a:ext uri="{FF2B5EF4-FFF2-40B4-BE49-F238E27FC236}">
                      <a16:creationId xmlns:a16="http://schemas.microsoft.com/office/drawing/2014/main" id="{09ED4656-2684-3904-D828-2DE5B7657A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26268" y="4675796"/>
                  <a:ext cx="10196725" cy="307777"/>
                </a:xfrm>
                <a:prstGeom prst="rect">
                  <a:avLst/>
                </a:prstGeom>
                <a:blipFill>
                  <a:blip r:embed="rId7"/>
                  <a:stretch>
                    <a:fillRect l="-179" t="-10000" b="-22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7" name="表格 67">
                <a:extLst>
                  <a:ext uri="{FF2B5EF4-FFF2-40B4-BE49-F238E27FC236}">
                    <a16:creationId xmlns:a16="http://schemas.microsoft.com/office/drawing/2014/main" id="{B1D657B1-C416-2333-270E-EEF3A589D55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1134573"/>
                  </p:ext>
                </p:extLst>
              </p:nvPr>
            </p:nvGraphicFramePr>
            <p:xfrm>
              <a:off x="749291" y="4922994"/>
              <a:ext cx="10693418" cy="889000"/>
            </p:xfrm>
            <a:graphic>
              <a:graphicData uri="http://schemas.openxmlformats.org/drawingml/2006/table">
                <a:tbl>
                  <a:tblPr firstRow="1" firstCol="1" bandRow="1">
                    <a:tableStyleId>{21E4AEA4-8DFA-4A89-87EB-49C32662AFE0}</a:tableStyleId>
                  </a:tblPr>
                  <a:tblGrid>
                    <a:gridCol w="1119574">
                      <a:extLst>
                        <a:ext uri="{9D8B030D-6E8A-4147-A177-3AD203B41FA5}">
                          <a16:colId xmlns:a16="http://schemas.microsoft.com/office/drawing/2014/main" val="3581678023"/>
                        </a:ext>
                      </a:extLst>
                    </a:gridCol>
                    <a:gridCol w="1367692">
                      <a:extLst>
                        <a:ext uri="{9D8B030D-6E8A-4147-A177-3AD203B41FA5}">
                          <a16:colId xmlns:a16="http://schemas.microsoft.com/office/drawing/2014/main" val="3021564112"/>
                        </a:ext>
                      </a:extLst>
                    </a:gridCol>
                    <a:gridCol w="1367692">
                      <a:extLst>
                        <a:ext uri="{9D8B030D-6E8A-4147-A177-3AD203B41FA5}">
                          <a16:colId xmlns:a16="http://schemas.microsoft.com/office/drawing/2014/main" val="3947614986"/>
                        </a:ext>
                      </a:extLst>
                    </a:gridCol>
                    <a:gridCol w="1367692">
                      <a:extLst>
                        <a:ext uri="{9D8B030D-6E8A-4147-A177-3AD203B41FA5}">
                          <a16:colId xmlns:a16="http://schemas.microsoft.com/office/drawing/2014/main" val="980747976"/>
                        </a:ext>
                      </a:extLst>
                    </a:gridCol>
                    <a:gridCol w="1367692">
                      <a:extLst>
                        <a:ext uri="{9D8B030D-6E8A-4147-A177-3AD203B41FA5}">
                          <a16:colId xmlns:a16="http://schemas.microsoft.com/office/drawing/2014/main" val="999525205"/>
                        </a:ext>
                      </a:extLst>
                    </a:gridCol>
                    <a:gridCol w="1367692">
                      <a:extLst>
                        <a:ext uri="{9D8B030D-6E8A-4147-A177-3AD203B41FA5}">
                          <a16:colId xmlns:a16="http://schemas.microsoft.com/office/drawing/2014/main" val="526288975"/>
                        </a:ext>
                      </a:extLst>
                    </a:gridCol>
                    <a:gridCol w="1367692">
                      <a:extLst>
                        <a:ext uri="{9D8B030D-6E8A-4147-A177-3AD203B41FA5}">
                          <a16:colId xmlns:a16="http://schemas.microsoft.com/office/drawing/2014/main" val="3336711973"/>
                        </a:ext>
                      </a:extLst>
                    </a:gridCol>
                    <a:gridCol w="1367692">
                      <a:extLst>
                        <a:ext uri="{9D8B030D-6E8A-4147-A177-3AD203B41FA5}">
                          <a16:colId xmlns:a16="http://schemas.microsoft.com/office/drawing/2014/main" val="1680860309"/>
                        </a:ext>
                      </a:extLst>
                    </a:gridCol>
                  </a:tblGrid>
                  <a:tr h="4931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600" b="0" dirty="0">
                              <a:latin typeface="汉仪文黑-85W" panose="00020600040101010101" pitchFamily="18" charset="-128"/>
                              <a:ea typeface="汉仪文黑-85W" panose="00020600040101010101" pitchFamily="18" charset="-128"/>
                              <a:cs typeface="汉仪文黑-85W" panose="00020600040101010101" pitchFamily="18" charset="-128"/>
                            </a:rPr>
                            <a:t>分布形式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400" b="0" dirty="0">
                              <a:latin typeface="汉仪润圆-65简" panose="00020600040101010101" pitchFamily="18" charset="-122"/>
                              <a:ea typeface="汉仪润圆-65简" panose="00020600040101010101" pitchFamily="18" charset="-122"/>
                            </a:rPr>
                            <a:t>0-1</a:t>
                          </a:r>
                          <a:r>
                            <a:rPr lang="zh-CN" altLang="en-US" sz="1400" b="0" dirty="0">
                              <a:latin typeface="汉仪润圆-65简" panose="00020600040101010101" pitchFamily="18" charset="-122"/>
                              <a:ea typeface="汉仪润圆-65简" panose="00020600040101010101" pitchFamily="18" charset="-122"/>
                            </a:rPr>
                            <a:t>分布</a:t>
                          </a:r>
                          <a:endParaRPr lang="en-US" altLang="zh-CN" sz="1400" b="0" dirty="0">
                            <a:latin typeface="汉仪润圆-65简" panose="00020600040101010101" pitchFamily="18" charset="-122"/>
                            <a:ea typeface="汉仪润圆-65简" panose="00020600040101010101" pitchFamily="18" charset="-122"/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400" b="0" dirty="0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altLang="zh-CN" sz="1400" b="0" dirty="0" smtClean="0">
                                    <a:latin typeface="Cambria Math" panose="02040503050406030204" pitchFamily="18" charset="0"/>
                                  </a:rPr>
                                  <m:t>~</m:t>
                                </m:r>
                                <m:r>
                                  <a:rPr lang="en-US" altLang="zh-CN" sz="1400" b="0" dirty="0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  <m:r>
                                  <a:rPr lang="en-US" altLang="zh-CN" sz="1400" b="0" dirty="0" smtClean="0">
                                    <a:latin typeface="Cambria Math" panose="02040503050406030204" pitchFamily="18" charset="0"/>
                                  </a:rPr>
                                  <m:t>(1,</m:t>
                                </m:r>
                                <m:r>
                                  <a:rPr lang="en-US" altLang="zh-CN" sz="1400" b="0" dirty="0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US" altLang="zh-CN" sz="1400" b="0" dirty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altLang="en-US" sz="1400" b="0" dirty="0">
                            <a:latin typeface="汉仪润圆-65简" panose="00020600040101010101" pitchFamily="18" charset="-122"/>
                            <a:ea typeface="汉仪润圆-65简" panose="00020600040101010101" pitchFamily="18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400" b="0" dirty="0">
                              <a:latin typeface="汉仪润圆-65简" panose="00020600040101010101" pitchFamily="18" charset="-122"/>
                              <a:ea typeface="汉仪润圆-65简" panose="00020600040101010101" pitchFamily="18" charset="-122"/>
                            </a:rPr>
                            <a:t>二项分布</a:t>
                          </a:r>
                          <a:endParaRPr lang="en-US" altLang="zh-CN" sz="1400" b="0" dirty="0">
                            <a:latin typeface="汉仪润圆-65简" panose="00020600040101010101" pitchFamily="18" charset="-122"/>
                            <a:ea typeface="汉仪润圆-65简" panose="00020600040101010101" pitchFamily="18" charset="-122"/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400" b="0" dirty="0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altLang="zh-CN" sz="1400" b="0" dirty="0" smtClean="0">
                                    <a:latin typeface="Cambria Math" panose="02040503050406030204" pitchFamily="18" charset="0"/>
                                  </a:rPr>
                                  <m:t>~</m:t>
                                </m:r>
                                <m:r>
                                  <a:rPr lang="en-US" altLang="zh-CN" sz="1400" b="0" dirty="0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  <m:r>
                                  <a:rPr lang="en-US" altLang="zh-CN" sz="1400" b="0" dirty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CN" sz="1400" b="0" dirty="0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zh-CN" sz="1400" b="0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CN" sz="1400" b="0" dirty="0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US" altLang="zh-CN" sz="1400" b="0" dirty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altLang="en-US" sz="1400" b="0" dirty="0">
                            <a:latin typeface="汉仪润圆-65简" panose="00020600040101010101" pitchFamily="18" charset="-122"/>
                            <a:ea typeface="汉仪润圆-65简" panose="00020600040101010101" pitchFamily="18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400" b="0" dirty="0">
                              <a:latin typeface="汉仪润圆-65简" panose="00020600040101010101" pitchFamily="18" charset="-122"/>
                              <a:ea typeface="汉仪润圆-65简" panose="00020600040101010101" pitchFamily="18" charset="-122"/>
                            </a:rPr>
                            <a:t>几何分布</a:t>
                          </a:r>
                          <a:endParaRPr lang="en-US" altLang="zh-CN" sz="1400" b="0" dirty="0">
                            <a:latin typeface="汉仪润圆-65简" panose="00020600040101010101" pitchFamily="18" charset="-122"/>
                            <a:ea typeface="汉仪润圆-65简" panose="00020600040101010101" pitchFamily="18" charset="-122"/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400" b="0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altLang="zh-CN" sz="1400" b="0" smtClean="0">
                                    <a:latin typeface="Cambria Math" panose="02040503050406030204" pitchFamily="18" charset="0"/>
                                  </a:rPr>
                                  <m:t>~</m:t>
                                </m:r>
                                <m:r>
                                  <a:rPr lang="en-US" altLang="zh-CN" sz="1400" b="0" smtClean="0">
                                    <a:latin typeface="Cambria Math" panose="02040503050406030204" pitchFamily="18" charset="0"/>
                                  </a:rPr>
                                  <m:t>𝐺𝑒𝑜</m:t>
                                </m:r>
                                <m:r>
                                  <a:rPr lang="en-US" altLang="zh-CN" sz="1400" b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CN" sz="1400" b="0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US" altLang="zh-CN" sz="1400" b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altLang="en-US" sz="1400" b="0" dirty="0">
                            <a:latin typeface="汉仪润圆-65简" panose="00020600040101010101" pitchFamily="18" charset="-122"/>
                            <a:ea typeface="汉仪润圆-65简" panose="00020600040101010101" pitchFamily="18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400" b="0" dirty="0">
                              <a:latin typeface="汉仪润圆-65简" panose="00020600040101010101" pitchFamily="18" charset="-122"/>
                              <a:ea typeface="汉仪润圆-65简" panose="00020600040101010101" pitchFamily="18" charset="-122"/>
                            </a:rPr>
                            <a:t>泊松分布</a:t>
                          </a:r>
                          <a:endParaRPr lang="en-US" altLang="zh-CN" sz="1400" b="0" dirty="0">
                            <a:latin typeface="汉仪润圆-65简" panose="00020600040101010101" pitchFamily="18" charset="-122"/>
                            <a:ea typeface="汉仪润圆-65简" panose="00020600040101010101" pitchFamily="18" charset="-122"/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400" b="0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altLang="zh-CN" sz="1400" b="0" smtClean="0">
                                    <a:latin typeface="Cambria Math" panose="02040503050406030204" pitchFamily="18" charset="0"/>
                                  </a:rPr>
                                  <m:t>~</m:t>
                                </m:r>
                                <m:r>
                                  <a:rPr lang="en-US" altLang="zh-CN" sz="1400" b="0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US" altLang="zh-CN" sz="1400" b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zh-CN" altLang="en-US" sz="1400" b="0" smtClean="0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  <m:r>
                                  <a:rPr lang="en-US" altLang="zh-CN" sz="1400" b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altLang="en-US" sz="1400" b="0" dirty="0">
                            <a:latin typeface="汉仪润圆-65简" panose="00020600040101010101" pitchFamily="18" charset="-122"/>
                            <a:ea typeface="汉仪润圆-65简" panose="00020600040101010101" pitchFamily="18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400" b="0" dirty="0">
                              <a:latin typeface="汉仪润圆-65简" panose="00020600040101010101" pitchFamily="18" charset="-122"/>
                              <a:ea typeface="汉仪润圆-65简" panose="00020600040101010101" pitchFamily="18" charset="-122"/>
                            </a:rPr>
                            <a:t>指数分布</a:t>
                          </a:r>
                          <a:endParaRPr lang="en-US" altLang="zh-CN" sz="1400" b="0" dirty="0">
                            <a:latin typeface="汉仪润圆-65简" panose="00020600040101010101" pitchFamily="18" charset="-122"/>
                            <a:ea typeface="汉仪润圆-65简" panose="00020600040101010101" pitchFamily="18" charset="-122"/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400" b="0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altLang="zh-CN" sz="1400" b="0" smtClean="0">
                                    <a:latin typeface="Cambria Math" panose="02040503050406030204" pitchFamily="18" charset="0"/>
                                  </a:rPr>
                                  <m:t>~</m:t>
                                </m:r>
                                <m:r>
                                  <a:rPr lang="en-US" altLang="zh-CN" sz="1400" b="0" smtClean="0">
                                    <a:latin typeface="Cambria Math" panose="02040503050406030204" pitchFamily="18" charset="0"/>
                                  </a:rPr>
                                  <m:t>𝐸𝑥𝑝</m:t>
                                </m:r>
                                <m:r>
                                  <a:rPr lang="en-US" altLang="zh-CN" sz="1400" b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zh-CN" altLang="en-US" sz="1400" b="0" smtClean="0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  <m:r>
                                  <a:rPr lang="en-US" altLang="zh-CN" sz="1400" b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altLang="en-US" sz="1400" b="0" dirty="0">
                            <a:latin typeface="汉仪润圆-65简" panose="00020600040101010101" pitchFamily="18" charset="-122"/>
                            <a:ea typeface="汉仪润圆-65简" panose="00020600040101010101" pitchFamily="18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400" b="0" dirty="0">
                              <a:latin typeface="汉仪润圆-65简" panose="00020600040101010101" pitchFamily="18" charset="-122"/>
                              <a:ea typeface="汉仪润圆-65简" panose="00020600040101010101" pitchFamily="18" charset="-122"/>
                            </a:rPr>
                            <a:t>正态分布</a:t>
                          </a:r>
                          <a:endParaRPr lang="en-US" altLang="zh-CN" sz="1400" b="0" dirty="0">
                            <a:latin typeface="汉仪润圆-65简" panose="00020600040101010101" pitchFamily="18" charset="-122"/>
                            <a:ea typeface="汉仪润圆-65简" panose="00020600040101010101" pitchFamily="18" charset="-122"/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400" b="0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altLang="zh-CN" sz="1400" b="0" smtClean="0">
                                    <a:latin typeface="Cambria Math" panose="02040503050406030204" pitchFamily="18" charset="0"/>
                                  </a:rPr>
                                  <m:t>~</m:t>
                                </m:r>
                                <m:r>
                                  <a:rPr lang="en-US" altLang="zh-CN" sz="1400" b="0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  <m:r>
                                  <a:rPr lang="en-US" altLang="zh-CN" sz="1400" b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zh-CN" altLang="en-US" sz="1400" b="0" smtClean="0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  <m:r>
                                  <a:rPr lang="en-US" altLang="zh-CN" sz="1400" b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p>
                                  <m:sSupPr>
                                    <m:ctrlP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zh-CN" altLang="en-US" sz="1400" b="0" smtClean="0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p>
                                    <m:r>
                                      <a:rPr lang="en-US" altLang="zh-CN" sz="1400" b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zh-CN" sz="1400" b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altLang="en-US" sz="1400" b="0" dirty="0">
                            <a:latin typeface="汉仪润圆-65简" panose="00020600040101010101" pitchFamily="18" charset="-122"/>
                            <a:ea typeface="汉仪润圆-65简" panose="00020600040101010101" pitchFamily="18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400" b="0" dirty="0">
                              <a:latin typeface="汉仪润圆-65简" panose="00020600040101010101" pitchFamily="18" charset="-122"/>
                              <a:ea typeface="汉仪润圆-65简" panose="00020600040101010101" pitchFamily="18" charset="-122"/>
                            </a:rPr>
                            <a:t>均匀分布</a:t>
                          </a:r>
                          <a:endParaRPr lang="en-US" altLang="zh-CN" sz="1400" b="0" dirty="0">
                            <a:latin typeface="汉仪润圆-65简" panose="00020600040101010101" pitchFamily="18" charset="-122"/>
                            <a:ea typeface="汉仪润圆-65简" panose="00020600040101010101" pitchFamily="18" charset="-122"/>
                          </a:endParaRP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400" b="0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altLang="zh-CN" sz="1400" b="0" smtClean="0">
                                    <a:latin typeface="Cambria Math" panose="02040503050406030204" pitchFamily="18" charset="0"/>
                                  </a:rPr>
                                  <m:t>~</m:t>
                                </m:r>
                                <m:r>
                                  <a:rPr lang="en-US" altLang="zh-CN" sz="1400" b="0" smtClean="0"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  <m:r>
                                  <a:rPr lang="en-US" altLang="zh-CN" sz="1400" b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CN" sz="1400" b="0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altLang="zh-CN" sz="1400" b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CN" sz="1400" b="0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en-US" altLang="zh-CN" sz="1400" b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altLang="en-US" sz="1400" b="0" dirty="0">
                            <a:latin typeface="汉仪润圆-65简" panose="00020600040101010101" pitchFamily="18" charset="-122"/>
                            <a:ea typeface="汉仪润圆-65简" panose="00020600040101010101" pitchFamily="18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9312338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600" b="0" dirty="0">
                              <a:latin typeface="汉仪文黑-85W" panose="00020600040101010101" pitchFamily="18" charset="-128"/>
                              <a:ea typeface="汉仪文黑-85W" panose="00020600040101010101" pitchFamily="18" charset="-128"/>
                              <a:cs typeface="汉仪文黑-85W" panose="00020600040101010101" pitchFamily="18" charset="-128"/>
                            </a:rPr>
                            <a:t>方差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600" b="0" i="1" dirty="0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US" altLang="zh-CN" sz="1600" b="0" i="1" dirty="0" smtClean="0">
                                    <a:latin typeface="Cambria Math" panose="02040503050406030204" pitchFamily="18" charset="0"/>
                                  </a:rPr>
                                  <m:t>(1−</m:t>
                                </m:r>
                                <m:r>
                                  <a:rPr lang="en-US" altLang="zh-CN" sz="1600" b="0" i="1" dirty="0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US" altLang="zh-CN" sz="1600" b="0" i="1" dirty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altLang="en-US" sz="1600" b="0" i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600" b="0" i="1" dirty="0" smtClean="0">
                                    <a:latin typeface="Cambria Math" panose="02040503050406030204" pitchFamily="18" charset="0"/>
                                  </a:rPr>
                                  <m:t>𝑛𝑝</m:t>
                                </m:r>
                                <m:r>
                                  <a:rPr lang="en-US" altLang="zh-CN" sz="1600" b="0" i="1" dirty="0" smtClean="0">
                                    <a:latin typeface="Cambria Math" panose="02040503050406030204" pitchFamily="18" charset="0"/>
                                  </a:rPr>
                                  <m:t>(1−</m:t>
                                </m:r>
                                <m:r>
                                  <a:rPr lang="en-US" altLang="zh-CN" sz="1600" b="0" i="1" dirty="0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US" altLang="zh-CN" sz="1600" b="0" i="1" dirty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altLang="en-US" sz="1600" b="0" i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600" b="0" i="1" dirty="0" smtClean="0">
                                    <a:latin typeface="Cambria Math" panose="02040503050406030204" pitchFamily="18" charset="0"/>
                                  </a:rPr>
                                  <m:t>(1−</m:t>
                                </m:r>
                                <m:r>
                                  <a:rPr lang="en-US" altLang="zh-CN" sz="1600" b="0" i="1" dirty="0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US" altLang="zh-CN" sz="1600" b="0" i="1" dirty="0" smtClean="0">
                                    <a:latin typeface="Cambria Math" panose="02040503050406030204" pitchFamily="18" charset="0"/>
                                  </a:rPr>
                                  <m:t>)/</m:t>
                                </m:r>
                                <m:sSup>
                                  <m:sSupPr>
                                    <m:ctrlPr>
                                      <a:rPr lang="en-US" altLang="zh-CN" sz="16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1600" b="0" i="1" dirty="0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p>
                                    <m:r>
                                      <a:rPr lang="en-US" altLang="zh-CN" sz="1600" b="0" i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zh-CN" altLang="en-US" sz="1600" b="0" i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CN" altLang="en-US" sz="1600" b="0" i="1" dirty="0" smtClean="0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oMath>
                            </m:oMathPara>
                          </a14:m>
                          <a:endParaRPr lang="zh-CN" altLang="en-US" sz="1600" b="0" i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600" b="0" i="1" dirty="0" smtClean="0">
                                    <a:latin typeface="Cambria Math" panose="02040503050406030204" pitchFamily="18" charset="0"/>
                                  </a:rPr>
                                  <m:t>1/</m:t>
                                </m:r>
                                <m:sSup>
                                  <m:sSupPr>
                                    <m:ctrlP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zh-CN" altLang="en-US" sz="1600" b="0" i="1" smtClean="0"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  <m:sup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zh-CN" altLang="en-US" sz="1600" b="0" i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zh-CN" altLang="en-US" sz="1600" b="0" i="1" smtClean="0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p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zh-CN" altLang="en-US" sz="1600" b="0" i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CN" sz="16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altLang="zh-CN" sz="1600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sz="1600" b="0" i="1" dirty="0" smtClean="0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  <m:r>
                                          <a:rPr lang="en-US" altLang="zh-CN" sz="1600" b="0" i="1" dirty="0" smtClean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altLang="zh-CN" sz="1600" b="0" i="1" dirty="0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US" altLang="zh-CN" sz="1600" b="0" i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zh-CN" sz="1600" b="0" i="1" dirty="0" smtClean="0">
                                    <a:latin typeface="Cambria Math" panose="02040503050406030204" pitchFamily="18" charset="0"/>
                                  </a:rPr>
                                  <m:t>/12</m:t>
                                </m:r>
                              </m:oMath>
                            </m:oMathPara>
                          </a14:m>
                          <a:endParaRPr lang="zh-CN" altLang="en-US" sz="1600" b="0" i="1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8374683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7" name="表格 67">
                <a:extLst>
                  <a:ext uri="{FF2B5EF4-FFF2-40B4-BE49-F238E27FC236}">
                    <a16:creationId xmlns:a16="http://schemas.microsoft.com/office/drawing/2014/main" id="{B1D657B1-C416-2333-270E-EEF3A589D55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1134573"/>
                  </p:ext>
                </p:extLst>
              </p:nvPr>
            </p:nvGraphicFramePr>
            <p:xfrm>
              <a:off x="749291" y="4922994"/>
              <a:ext cx="10693418" cy="893763"/>
            </p:xfrm>
            <a:graphic>
              <a:graphicData uri="http://schemas.openxmlformats.org/drawingml/2006/table">
                <a:tbl>
                  <a:tblPr firstRow="1" firstCol="1" bandRow="1">
                    <a:tableStyleId>{21E4AEA4-8DFA-4A89-87EB-49C32662AFE0}</a:tableStyleId>
                  </a:tblPr>
                  <a:tblGrid>
                    <a:gridCol w="1119574">
                      <a:extLst>
                        <a:ext uri="{9D8B030D-6E8A-4147-A177-3AD203B41FA5}">
                          <a16:colId xmlns:a16="http://schemas.microsoft.com/office/drawing/2014/main" val="3581678023"/>
                        </a:ext>
                      </a:extLst>
                    </a:gridCol>
                    <a:gridCol w="1367692">
                      <a:extLst>
                        <a:ext uri="{9D8B030D-6E8A-4147-A177-3AD203B41FA5}">
                          <a16:colId xmlns:a16="http://schemas.microsoft.com/office/drawing/2014/main" val="3021564112"/>
                        </a:ext>
                      </a:extLst>
                    </a:gridCol>
                    <a:gridCol w="1367692">
                      <a:extLst>
                        <a:ext uri="{9D8B030D-6E8A-4147-A177-3AD203B41FA5}">
                          <a16:colId xmlns:a16="http://schemas.microsoft.com/office/drawing/2014/main" val="3947614986"/>
                        </a:ext>
                      </a:extLst>
                    </a:gridCol>
                    <a:gridCol w="1367692">
                      <a:extLst>
                        <a:ext uri="{9D8B030D-6E8A-4147-A177-3AD203B41FA5}">
                          <a16:colId xmlns:a16="http://schemas.microsoft.com/office/drawing/2014/main" val="980747976"/>
                        </a:ext>
                      </a:extLst>
                    </a:gridCol>
                    <a:gridCol w="1367692">
                      <a:extLst>
                        <a:ext uri="{9D8B030D-6E8A-4147-A177-3AD203B41FA5}">
                          <a16:colId xmlns:a16="http://schemas.microsoft.com/office/drawing/2014/main" val="999525205"/>
                        </a:ext>
                      </a:extLst>
                    </a:gridCol>
                    <a:gridCol w="1367692">
                      <a:extLst>
                        <a:ext uri="{9D8B030D-6E8A-4147-A177-3AD203B41FA5}">
                          <a16:colId xmlns:a16="http://schemas.microsoft.com/office/drawing/2014/main" val="526288975"/>
                        </a:ext>
                      </a:extLst>
                    </a:gridCol>
                    <a:gridCol w="1367692">
                      <a:extLst>
                        <a:ext uri="{9D8B030D-6E8A-4147-A177-3AD203B41FA5}">
                          <a16:colId xmlns:a16="http://schemas.microsoft.com/office/drawing/2014/main" val="3336711973"/>
                        </a:ext>
                      </a:extLst>
                    </a:gridCol>
                    <a:gridCol w="1367692">
                      <a:extLst>
                        <a:ext uri="{9D8B030D-6E8A-4147-A177-3AD203B41FA5}">
                          <a16:colId xmlns:a16="http://schemas.microsoft.com/office/drawing/2014/main" val="1680860309"/>
                        </a:ext>
                      </a:extLst>
                    </a:gridCol>
                  </a:tblGrid>
                  <a:tr h="52292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600" b="0" dirty="0">
                              <a:latin typeface="汉仪文黑-85W" panose="00020600040101010101" pitchFamily="18" charset="-128"/>
                              <a:ea typeface="汉仪文黑-85W" panose="00020600040101010101" pitchFamily="18" charset="-128"/>
                              <a:cs typeface="汉仪文黑-85W" panose="00020600040101010101" pitchFamily="18" charset="-128"/>
                            </a:rPr>
                            <a:t>分布形式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8"/>
                          <a:stretch>
                            <a:fillRect l="-82589" t="-1149" r="-603571" b="-8046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8"/>
                          <a:stretch>
                            <a:fillRect l="-181778" t="-1149" r="-500889" b="-8046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8"/>
                          <a:stretch>
                            <a:fillRect l="-281778" t="-1149" r="-400889" b="-8046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8"/>
                          <a:stretch>
                            <a:fillRect l="-383482" t="-1149" r="-302679" b="-8046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8"/>
                          <a:stretch>
                            <a:fillRect l="-481333" t="-1149" r="-201333" b="-8046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8"/>
                          <a:stretch>
                            <a:fillRect l="-583929" t="-1149" r="-102232" b="-8046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8"/>
                          <a:stretch>
                            <a:fillRect l="-680889" t="-1149" r="-1778" b="-8046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9312338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600" b="0" dirty="0">
                              <a:latin typeface="汉仪文黑-85W" panose="00020600040101010101" pitchFamily="18" charset="-128"/>
                              <a:ea typeface="汉仪文黑-85W" panose="00020600040101010101" pitchFamily="18" charset="-128"/>
                              <a:cs typeface="汉仪文黑-85W" panose="00020600040101010101" pitchFamily="18" charset="-128"/>
                            </a:rPr>
                            <a:t>方差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8"/>
                          <a:stretch>
                            <a:fillRect l="-82589" t="-144262" r="-603571" b="-147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8"/>
                          <a:stretch>
                            <a:fillRect l="-181778" t="-144262" r="-500889" b="-147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8"/>
                          <a:stretch>
                            <a:fillRect l="-281778" t="-144262" r="-400889" b="-147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8"/>
                          <a:stretch>
                            <a:fillRect l="-383482" t="-144262" r="-302679" b="-147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8"/>
                          <a:stretch>
                            <a:fillRect l="-481333" t="-144262" r="-201333" b="-147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8"/>
                          <a:stretch>
                            <a:fillRect l="-583929" t="-144262" r="-102232" b="-147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8"/>
                          <a:stretch>
                            <a:fillRect l="-680889" t="-144262" r="-1778" b="-147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8374683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DD04B0A2-0E92-FA0F-A102-8E7B64A48166}"/>
                  </a:ext>
                </a:extLst>
              </p:cNvPr>
              <p:cNvSpPr txBox="1"/>
              <p:nvPr/>
            </p:nvSpPr>
            <p:spPr>
              <a:xfrm>
                <a:off x="507460" y="2341651"/>
                <a:ext cx="11108176" cy="3532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方差的基本定义：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𝐷</m:t>
                    </m:r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  <m:t>𝑋</m:t>
                        </m:r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=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𝐸</m:t>
                    </m:r>
                    <m:sSup>
                      <m:sSup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仿宋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仿宋" panose="02010609060101010101" pitchFamily="49" charset="-122"/>
                              </a:rPr>
                              <m:t>𝑋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仿宋" panose="02010609060101010101" pitchFamily="49" charset="-122"/>
                              </a:rPr>
                              <m:t>−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仿宋" panose="02010609060101010101" pitchFamily="49" charset="-122"/>
                              </a:rPr>
                              <m:t>𝐸</m:t>
                            </m:r>
                            <m:d>
                              <m:dPr>
                                <m:ctrlP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仿宋" panose="02010609060101010101" pitchFamily="49" charset="-122"/>
                                  </a:rPr>
                                </m:ctrlPr>
                              </m:dPr>
                              <m:e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仿宋" panose="02010609060101010101" pitchFamily="49" charset="-122"/>
                                  </a:rPr>
                                  <m:t>𝑋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sz="16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，即：随机变量偏离其期望的平方值 的期望。            </a:t>
                </a:r>
                <a:r>
                  <a:rPr lang="en-US" altLang="zh-CN" sz="14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* </a:t>
                </a:r>
                <a:r>
                  <a:rPr lang="zh-CN" altLang="en-US" sz="14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标准差：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b="0" i="1" smtClean="0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</m:ctrlPr>
                      </m:sSubPr>
                      <m:e>
                        <m:r>
                          <a:rPr lang="zh-CN" altLang="en-US" sz="1400" i="1" smtClean="0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  <m:t>𝜎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  <m:t>𝑋</m:t>
                        </m:r>
                      </m:sub>
                    </m:sSub>
                    <m:r>
                      <a:rPr lang="en-US" altLang="zh-CN" sz="1400" b="0" i="1" smtClean="0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zh-CN" sz="1400" b="0" i="1" smtClean="0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</m:ctrlPr>
                      </m:radPr>
                      <m:deg/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  <m:t>𝐷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  <m:t>(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  <m:t>𝑋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  <m:t>)</m:t>
                        </m:r>
                      </m:e>
                    </m:rad>
                  </m:oMath>
                </a14:m>
                <a:r>
                  <a:rPr lang="en-US" altLang="zh-CN" sz="14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.</a:t>
                </a:r>
                <a:endParaRPr lang="en-US" altLang="zh-CN" sz="1600" dirty="0"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DD04B0A2-0E92-FA0F-A102-8E7B64A481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60" y="2341651"/>
                <a:ext cx="11108176" cy="353238"/>
              </a:xfrm>
              <a:prstGeom prst="rect">
                <a:avLst/>
              </a:prstGeom>
              <a:blipFill>
                <a:blip r:embed="rId9"/>
                <a:stretch>
                  <a:fillRect l="-274" t="-6897" b="-155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星形: 五角 4">
            <a:extLst>
              <a:ext uri="{FF2B5EF4-FFF2-40B4-BE49-F238E27FC236}">
                <a16:creationId xmlns:a16="http://schemas.microsoft.com/office/drawing/2014/main" id="{B85C8B21-E087-7335-25DD-C5593239E166}"/>
              </a:ext>
            </a:extLst>
          </p:cNvPr>
          <p:cNvSpPr/>
          <p:nvPr/>
        </p:nvSpPr>
        <p:spPr>
          <a:xfrm>
            <a:off x="5283859" y="3875830"/>
            <a:ext cx="147465" cy="147465"/>
          </a:xfrm>
          <a:prstGeom prst="star5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75089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0"/>
                            </p:stCondLst>
                            <p:childTnLst>
                              <p:par>
                                <p:cTn id="3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50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4" grpId="0" animBg="1"/>
      <p:bldP spid="14" grpId="0"/>
      <p:bldP spid="15" grpId="0"/>
      <p:bldP spid="21" grpId="0"/>
      <p:bldP spid="26" grpId="0"/>
      <p:bldP spid="3" grpId="0"/>
      <p:bldP spid="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143FF26B-CC77-0DBB-021F-F6F65A8FA87C}"/>
              </a:ext>
            </a:extLst>
          </p:cNvPr>
          <p:cNvCxnSpPr/>
          <p:nvPr/>
        </p:nvCxnSpPr>
        <p:spPr>
          <a:xfrm>
            <a:off x="576364" y="1136063"/>
            <a:ext cx="11039272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D9A48C2F-C397-1AB5-176A-8D4A6BFAAC2F}"/>
                  </a:ext>
                </a:extLst>
              </p:cNvPr>
              <p:cNvSpPr txBox="1"/>
              <p:nvPr/>
            </p:nvSpPr>
            <p:spPr>
              <a:xfrm>
                <a:off x="507460" y="1298962"/>
                <a:ext cx="11108176" cy="8784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例</a:t>
                </a:r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3.1</a:t>
                </a:r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：若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𝑋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在区间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[−1,2]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上服从均匀分布，随机变量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𝑌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eqArr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1,   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𝑋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&gt;0</m:t>
                            </m:r>
                          </m:e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0,   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𝑋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=0</m:t>
                            </m:r>
                          </m:e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−1,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𝑋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&lt;0</m:t>
                            </m:r>
                          </m:e>
                        </m:eqArr>
                      </m:e>
                    </m:d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，求</a:t>
                </a: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𝐷</m:t>
                    </m:r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(</m:t>
                    </m:r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𝑌</m:t>
                    </m:r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)</m:t>
                    </m:r>
                  </m:oMath>
                </a14:m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D9A48C2F-C397-1AB5-176A-8D4A6BFAAC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60" y="1298962"/>
                <a:ext cx="11108176" cy="878446"/>
              </a:xfrm>
              <a:prstGeom prst="rect">
                <a:avLst/>
              </a:prstGeom>
              <a:blipFill>
                <a:blip r:embed="rId3"/>
                <a:stretch>
                  <a:fillRect l="-2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B46A6C03-88DF-D0C2-F09C-74196CC03839}"/>
                  </a:ext>
                </a:extLst>
              </p:cNvPr>
              <p:cNvSpPr txBox="1"/>
              <p:nvPr/>
            </p:nvSpPr>
            <p:spPr>
              <a:xfrm>
                <a:off x="507460" y="2300363"/>
                <a:ext cx="11039269" cy="8588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解：</a:t>
                </a:r>
                <a:r>
                  <a:rPr lang="en-US" altLang="zh-CN" sz="1600" dirty="0">
                    <a:ea typeface="华文宋体" panose="02010600040101010101" pitchFamily="2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𝐸</m:t>
                    </m:r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𝑌</m:t>
                        </m:r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=1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&gt;0</m:t>
                        </m:r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+0+</m:t>
                    </m:r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&lt;0</m:t>
                        </m:r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=1×</m:t>
                    </m:r>
                    <m:f>
                      <m:f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+0+</m:t>
                    </m:r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.</a:t>
                </a:r>
              </a:p>
              <a:p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</a:t>
                </a:r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故</a:t>
                </a:r>
                <a14:m>
                  <m:oMath xmlns:m="http://schemas.openxmlformats.org/officeDocument/2006/math">
                    <m:r>
                      <a:rPr lang="en-US" altLang="zh-CN" sz="1600" i="1" dirty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𝐷</m:t>
                    </m:r>
                    <m:d>
                      <m:dPr>
                        <m:ctrlPr>
                          <a:rPr lang="en-US" altLang="zh-CN" sz="1600" i="1" dirty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1600" i="1" dirty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𝑌</m:t>
                        </m:r>
                      </m:e>
                    </m:d>
                    <m:r>
                      <a:rPr lang="en-US" altLang="zh-CN" sz="1600" b="0" i="0" dirty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</m:t>
                    </m:r>
                    <m:sSup>
                      <m:sSupPr>
                        <m:ctrlPr>
                          <a:rPr lang="en-US" altLang="zh-CN" sz="1600" b="0" i="1" dirty="0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1600" b="0" i="1" dirty="0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dPr>
                          <m:e>
                            <m:r>
                              <a:rPr lang="en-US" altLang="zh-CN" sz="1600" b="0" i="0" dirty="0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1−</m:t>
                            </m:r>
                            <m:f>
                              <m:fPr>
                                <m:ctrlPr>
                                  <a:rPr lang="en-US" altLang="zh-CN" sz="1600" b="0" i="1" dirty="0" smtClean="0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1600" b="0" i="0" dirty="0" smtClean="0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altLang="zh-CN" sz="1600" b="0" i="0" dirty="0" smtClean="0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altLang="zh-CN" sz="1600" b="0" i="0" dirty="0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2</m:t>
                        </m:r>
                      </m:sup>
                    </m:sSup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altLang="zh-CN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0−</m:t>
                            </m:r>
                            <m:f>
                              <m:fPr>
                                <m:ctrlP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×0+</m:t>
                    </m:r>
                    <m:sSup>
                      <m:sSup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−1−</m:t>
                            </m:r>
                            <m:f>
                              <m:fPr>
                                <m:ctrlP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.</a:t>
                </a:r>
                <a:endParaRPr lang="zh-CN" altLang="en-US" sz="16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B46A6C03-88DF-D0C2-F09C-74196CC038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60" y="2300363"/>
                <a:ext cx="11039269" cy="858889"/>
              </a:xfrm>
              <a:prstGeom prst="rect">
                <a:avLst/>
              </a:prstGeom>
              <a:blipFill>
                <a:blip r:embed="rId4"/>
                <a:stretch>
                  <a:fillRect l="-2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7EF55F0F-FC3E-40F2-77A1-1D9FF839DD3E}"/>
              </a:ext>
            </a:extLst>
          </p:cNvPr>
          <p:cNvCxnSpPr>
            <a:cxnSpLocks/>
          </p:cNvCxnSpPr>
          <p:nvPr/>
        </p:nvCxnSpPr>
        <p:spPr>
          <a:xfrm>
            <a:off x="511212" y="3429000"/>
            <a:ext cx="11035518" cy="0"/>
          </a:xfrm>
          <a:prstGeom prst="line">
            <a:avLst/>
          </a:prstGeom>
          <a:ln w="19050">
            <a:prstDash val="dashDot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FEA450AB-100E-C628-6794-5CD948964112}"/>
                  </a:ext>
                </a:extLst>
              </p:cNvPr>
              <p:cNvSpPr txBox="1"/>
              <p:nvPr/>
            </p:nvSpPr>
            <p:spPr>
              <a:xfrm>
                <a:off x="507460" y="3698748"/>
                <a:ext cx="1110817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例</a:t>
                </a:r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3.2</a:t>
                </a:r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：设二维随机变量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(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𝑋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,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𝑌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)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服从</a:t>
                </a:r>
                <a14:m>
                  <m:oMath xmlns:m="http://schemas.openxmlformats.org/officeDocument/2006/math"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𝑁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(</m:t>
                    </m:r>
                    <m:r>
                      <a:rPr lang="zh-CN" altLang="en-US" sz="1600" b="0" i="1" dirty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𝜇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,</m:t>
                    </m:r>
                    <m:r>
                      <a:rPr lang="zh-CN" altLang="en-US" sz="1600" b="0" i="1" dirty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𝜇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;</m:t>
                    </m:r>
                    <m:sSup>
                      <m:sSupPr>
                        <m:ctrlPr>
                          <a:rPr lang="en-US" altLang="zh-CN" sz="1600" b="0" i="1" dirty="0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pPr>
                      <m:e>
                        <m:r>
                          <a:rPr lang="zh-CN" altLang="en-US" sz="1600" b="0" i="1" dirty="0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𝜎</m:t>
                        </m:r>
                      </m:e>
                      <m:sup>
                        <m:r>
                          <a:rPr lang="en-US" altLang="zh-CN" sz="1600" b="0" i="1" dirty="0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2</m:t>
                        </m:r>
                      </m:sup>
                    </m:sSup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,</m:t>
                    </m:r>
                    <m:sSup>
                      <m:sSupPr>
                        <m:ctrlPr>
                          <a:rPr lang="en-US" altLang="zh-CN" sz="1600" b="0" i="1" dirty="0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pPr>
                      <m:e>
                        <m:r>
                          <a:rPr lang="zh-CN" altLang="en-US" sz="1600" b="0" i="1" dirty="0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𝜎</m:t>
                        </m:r>
                      </m:e>
                      <m:sup>
                        <m:r>
                          <a:rPr lang="en-US" altLang="zh-CN" sz="1600" b="0" i="1" dirty="0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2</m:t>
                        </m:r>
                      </m:sup>
                    </m:sSup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;0)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，求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𝐸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(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𝑋</m:t>
                    </m:r>
                    <m:sSup>
                      <m:sSup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p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𝑌</m:t>
                        </m:r>
                      </m:e>
                      <m: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2</m:t>
                        </m:r>
                      </m:sup>
                    </m:sSup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)</m:t>
                    </m:r>
                  </m:oMath>
                </a14:m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FEA450AB-100E-C628-6794-5CD9489641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60" y="3698748"/>
                <a:ext cx="11108176" cy="338554"/>
              </a:xfrm>
              <a:prstGeom prst="rect">
                <a:avLst/>
              </a:prstGeom>
              <a:blipFill>
                <a:blip r:embed="rId5"/>
                <a:stretch>
                  <a:fillRect l="-274" t="-3636" b="-254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331C1E25-3CE5-26BE-FF67-5CB5B94F14A4}"/>
                  </a:ext>
                </a:extLst>
              </p:cNvPr>
              <p:cNvSpPr txBox="1"/>
              <p:nvPr/>
            </p:nvSpPr>
            <p:spPr>
              <a:xfrm>
                <a:off x="507459" y="4198650"/>
                <a:ext cx="11039269" cy="10285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解：</a:t>
                </a:r>
                <a14:m>
                  <m:oMath xmlns:m="http://schemas.openxmlformats.org/officeDocument/2006/math">
                    <m:r>
                      <a:rPr lang="zh-CN" alt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因为</m:t>
                    </m:r>
                    <m:r>
                      <a:rPr lang="zh-CN" alt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𝜌</m:t>
                    </m:r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=0</m:t>
                    </m:r>
                  </m:oMath>
                </a14:m>
                <a:r>
                  <a:rPr lang="zh-CN" altLang="en-US" sz="16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，故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𝑋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,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𝑌</m:t>
                    </m:r>
                  </m:oMath>
                </a14:m>
                <a:r>
                  <a:rPr lang="zh-CN" altLang="en-US" sz="16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相互独立，则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𝐸</m:t>
                    </m:r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𝑋</m:t>
                        </m:r>
                        <m:sSup>
                          <m:sSup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sSup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𝑌</m:t>
                            </m:r>
                          </m:e>
                          <m:sup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altLang="zh-CN" sz="1600" b="0" i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𝐸</m:t>
                    </m:r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𝑋</m:t>
                        </m:r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𝐸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(</m:t>
                    </m:r>
                    <m:sSup>
                      <m:sSup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p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𝑌</m:t>
                        </m:r>
                      </m:e>
                      <m: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2</m:t>
                        </m:r>
                      </m:sup>
                    </m:sSup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)</m:t>
                    </m:r>
                  </m:oMath>
                </a14:m>
                <a:r>
                  <a:rPr lang="en-US" altLang="zh-CN" sz="1600" i="1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</a:t>
                </a:r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而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𝐸</m:t>
                    </m:r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𝑋</m:t>
                        </m:r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</m:t>
                    </m:r>
                    <m:r>
                      <a:rPr lang="zh-CN" altLang="en-US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𝜇</m:t>
                    </m:r>
                  </m:oMath>
                </a14:m>
                <a:r>
                  <a:rPr lang="zh-CN" altLang="en-US" sz="16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:r>
                  <a:rPr lang="en-US" altLang="zh-CN" sz="1600" dirty="0">
                    <a:ea typeface="华文宋体" panose="02010600040101010101" pitchFamily="2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𝐸</m:t>
                    </m:r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sSup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𝑌</m:t>
                            </m:r>
                          </m:e>
                          <m:sup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𝐷</m:t>
                    </m:r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𝑌</m:t>
                        </m:r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+</m:t>
                    </m:r>
                    <m:sSup>
                      <m:sSup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d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𝐸</m:t>
                            </m:r>
                            <m:d>
                              <m:dPr>
                                <m:ctrlP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</m:ctrlPr>
                              </m:dPr>
                              <m:e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𝑌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2</m:t>
                        </m:r>
                      </m:sup>
                    </m:sSup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</m:t>
                    </m:r>
                    <m:sSup>
                      <m:sSupPr>
                        <m:ctrlPr>
                          <a:rPr lang="en-US" altLang="zh-CN" sz="1600" i="1" dirty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pPr>
                      <m:e>
                        <m:r>
                          <a:rPr lang="zh-CN" altLang="en-US" sz="1600" i="1" dirty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𝜎</m:t>
                        </m:r>
                      </m:e>
                      <m:sup>
                        <m:r>
                          <a:rPr lang="en-US" altLang="zh-CN" sz="1600" i="1" dirty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2</m:t>
                        </m:r>
                      </m:sup>
                    </m:sSup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+</m:t>
                    </m:r>
                    <m:sSup>
                      <m:sSupPr>
                        <m:ctrlPr>
                          <a:rPr lang="en-US" altLang="zh-CN" sz="1600" b="0" i="1" dirty="0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pPr>
                      <m:e>
                        <m:r>
                          <a:rPr lang="zh-CN" altLang="en-US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𝜇</m:t>
                        </m:r>
                      </m:e>
                      <m: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sz="16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:endParaRPr lang="en-US" altLang="zh-CN" sz="1600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</a:t>
                </a:r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故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𝐸</m:t>
                    </m:r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𝑋</m:t>
                        </m:r>
                        <m:sSup>
                          <m:sSup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sSup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𝑌</m:t>
                            </m:r>
                          </m:e>
                          <m:sup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</m:t>
                    </m:r>
                    <m:r>
                      <a:rPr lang="zh-CN" altLang="en-US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𝜇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(</m:t>
                    </m:r>
                    <m:sSup>
                      <m:sSupPr>
                        <m:ctrlPr>
                          <a:rPr lang="en-US" altLang="zh-CN" sz="1600" i="1" dirty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pPr>
                      <m:e>
                        <m:r>
                          <a:rPr lang="zh-CN" altLang="en-US" sz="1600" i="1" dirty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𝜎</m:t>
                        </m:r>
                      </m:e>
                      <m:sup>
                        <m:r>
                          <a:rPr lang="en-US" altLang="zh-CN" sz="1600" i="1" dirty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2</m:t>
                        </m:r>
                      </m:sup>
                    </m:sSup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+</m:t>
                    </m:r>
                    <m:sSup>
                      <m:sSupPr>
                        <m:ctrlPr>
                          <a:rPr lang="en-US" altLang="zh-CN" sz="1600" i="1" dirty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pPr>
                      <m:e>
                        <m:r>
                          <a:rPr lang="zh-CN" altLang="en-US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𝜇</m:t>
                        </m:r>
                      </m:e>
                      <m:sup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2</m:t>
                        </m:r>
                      </m:sup>
                    </m:sSup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)</m:t>
                    </m:r>
                  </m:oMath>
                </a14:m>
                <a:r>
                  <a:rPr lang="en-US" altLang="zh-CN" sz="16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.</a:t>
                </a:r>
                <a:endParaRPr lang="zh-CN" altLang="en-US" sz="1600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331C1E25-3CE5-26BE-FF67-5CB5B94F14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59" y="4198650"/>
                <a:ext cx="11039269" cy="1028551"/>
              </a:xfrm>
              <a:prstGeom prst="rect">
                <a:avLst/>
              </a:prstGeom>
              <a:blipFill>
                <a:blip r:embed="rId6"/>
                <a:stretch>
                  <a:fillRect l="-276" t="-2381" b="-65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本框 4">
            <a:extLst>
              <a:ext uri="{FF2B5EF4-FFF2-40B4-BE49-F238E27FC236}">
                <a16:creationId xmlns:a16="http://schemas.microsoft.com/office/drawing/2014/main" id="{596CA755-228F-C167-9F9A-FF85F4BFC0D5}"/>
              </a:ext>
            </a:extLst>
          </p:cNvPr>
          <p:cNvSpPr txBox="1"/>
          <p:nvPr/>
        </p:nvSpPr>
        <p:spPr>
          <a:xfrm>
            <a:off x="507460" y="496110"/>
            <a:ext cx="31501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随机变量的方差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5904BCA-804D-F46F-20FB-62C3489361F5}"/>
              </a:ext>
            </a:extLst>
          </p:cNvPr>
          <p:cNvSpPr txBox="1"/>
          <p:nvPr/>
        </p:nvSpPr>
        <p:spPr>
          <a:xfrm>
            <a:off x="3657600" y="775742"/>
            <a:ext cx="15073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600" dirty="0"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方差的计算</a:t>
            </a:r>
            <a:r>
              <a:rPr lang="en-US" altLang="zh-CN" sz="1600" dirty="0"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(1)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: 圆角 9">
                <a:extLst>
                  <a:ext uri="{FF2B5EF4-FFF2-40B4-BE49-F238E27FC236}">
                    <a16:creationId xmlns:a16="http://schemas.microsoft.com/office/drawing/2014/main" id="{17D8182D-FA2E-7692-4B19-447A0DFDAE23}"/>
                  </a:ext>
                </a:extLst>
              </p:cNvPr>
              <p:cNvSpPr/>
              <p:nvPr/>
            </p:nvSpPr>
            <p:spPr>
              <a:xfrm>
                <a:off x="8185760" y="4198650"/>
                <a:ext cx="3019423" cy="735502"/>
              </a:xfrm>
              <a:prstGeom prst="round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𝐷</m:t>
                      </m:r>
                      <m:d>
                        <m:dPr>
                          <m:ctrlPr>
                            <a:rPr lang="en-US" altLang="zh-CN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  <m:t>𝑋</m:t>
                          </m:r>
                        </m:e>
                      </m:d>
                      <m:r>
                        <a:rPr lang="en-US" altLang="zh-CN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=</m:t>
                      </m:r>
                      <m:r>
                        <a:rPr lang="en-US" altLang="zh-CN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𝐸</m:t>
                      </m:r>
                      <m:d>
                        <m:dPr>
                          <m:ctrlPr>
                            <a:rPr lang="en-US" altLang="zh-CN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仿宋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仿宋" panose="02010609060101010101" pitchFamily="49" charset="-122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仿宋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altLang="zh-CN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−</m:t>
                      </m:r>
                      <m:sSup>
                        <m:sSupPr>
                          <m:ctrlPr>
                            <a:rPr lang="en-US" altLang="zh-CN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仿宋" panose="02010609060101010101" pitchFamily="49" charset="-122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仿宋" panose="02010609060101010101" pitchFamily="49" charset="-122"/>
                                </a:rPr>
                                <m:t>𝐸</m:t>
                              </m:r>
                              <m:d>
                                <m:dPr>
                                  <m:ctrlPr>
                                    <a:rPr lang="en-US" altLang="zh-CN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仿宋" panose="02010609060101010101" pitchFamily="49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仿宋" panose="02010609060101010101" pitchFamily="49" charset="-122"/>
                                    </a:rPr>
                                    <m:t>𝑋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zh-CN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CN" altLang="en-US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0" name="矩形: 圆角 9">
                <a:extLst>
                  <a:ext uri="{FF2B5EF4-FFF2-40B4-BE49-F238E27FC236}">
                    <a16:creationId xmlns:a16="http://schemas.microsoft.com/office/drawing/2014/main" id="{17D8182D-FA2E-7692-4B19-447A0DFDAE2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85760" y="4198650"/>
                <a:ext cx="3019423" cy="735502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5102899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1" grpId="0"/>
      <p:bldP spid="27" grpId="0"/>
      <p:bldP spid="28" grpId="0"/>
      <p:bldP spid="1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143FF26B-CC77-0DBB-021F-F6F65A8FA87C}"/>
              </a:ext>
            </a:extLst>
          </p:cNvPr>
          <p:cNvCxnSpPr/>
          <p:nvPr/>
        </p:nvCxnSpPr>
        <p:spPr>
          <a:xfrm>
            <a:off x="576364" y="1136063"/>
            <a:ext cx="11039272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DF8EA2AA-3607-76BF-CED9-450E9DC65B0B}"/>
              </a:ext>
            </a:extLst>
          </p:cNvPr>
          <p:cNvSpPr txBox="1"/>
          <p:nvPr/>
        </p:nvSpPr>
        <p:spPr>
          <a:xfrm>
            <a:off x="507460" y="1425186"/>
            <a:ext cx="1110817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除了直接根据定义计算，我们不加证明的给出 方差的如下常用性质，它们可以直接用于计算一些随机变量的方差。</a:t>
            </a:r>
            <a:endParaRPr lang="en-US" altLang="zh-CN" sz="1600" dirty="0">
              <a:latin typeface="方正小标宋简体" panose="02000000000000000000" pitchFamily="2" charset="-122"/>
              <a:ea typeface="方正小标宋简体" panose="02000000000000000000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E47FE2DF-5842-320B-A93D-F8EBB7FC8ED4}"/>
                  </a:ext>
                </a:extLst>
              </p:cNvPr>
              <p:cNvSpPr txBox="1"/>
              <p:nvPr/>
            </p:nvSpPr>
            <p:spPr>
              <a:xfrm>
                <a:off x="2649820" y="2171741"/>
                <a:ext cx="7078861" cy="58862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zh-CN" altLang="en-US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若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𝐶</m:t>
                    </m:r>
                  </m:oMath>
                </a14:m>
                <a:r>
                  <a:rPr lang="zh-CN" altLang="en-US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为常数，则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𝐷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𝐶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=0</m:t>
                    </m:r>
                  </m:oMath>
                </a14:m>
                <a:r>
                  <a:rPr lang="zh-CN" altLang="en-US" b="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；反之也成立，即若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𝐷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  <m:t>𝑋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=0</m:t>
                    </m:r>
                  </m:oMath>
                </a14:m>
                <a:r>
                  <a:rPr lang="zh-CN" altLang="en-US" b="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，则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𝑋</m:t>
                    </m:r>
                  </m:oMath>
                </a14:m>
                <a:r>
                  <a:rPr lang="zh-CN" altLang="en-US" b="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必为常数</a:t>
                </a:r>
                <a:endParaRPr lang="en-US" altLang="zh-CN" b="0" dirty="0"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* </a:t>
                </a:r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常数的方差为零；方差为零的随机变量必为常数（取值为常数的概率必为</a:t>
                </a:r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1</a:t>
                </a:r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）</a:t>
                </a:r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E47FE2DF-5842-320B-A93D-F8EBB7FC8E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9820" y="2171741"/>
                <a:ext cx="7078861" cy="588623"/>
              </a:xfrm>
              <a:prstGeom prst="rect">
                <a:avLst/>
              </a:prstGeom>
              <a:blipFill>
                <a:blip r:embed="rId3"/>
                <a:stretch>
                  <a:fillRect l="-2067" t="-15464" r="-775" b="-206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1B335EFA-23CD-4AA9-D056-138B5DBAE9F1}"/>
              </a:ext>
            </a:extLst>
          </p:cNvPr>
          <p:cNvCxnSpPr>
            <a:cxnSpLocks/>
          </p:cNvCxnSpPr>
          <p:nvPr/>
        </p:nvCxnSpPr>
        <p:spPr>
          <a:xfrm>
            <a:off x="828483" y="2415623"/>
            <a:ext cx="0" cy="2634574"/>
          </a:xfrm>
          <a:prstGeom prst="line">
            <a:avLst/>
          </a:prstGeom>
          <a:ln w="38100">
            <a:solidFill>
              <a:schemeClr val="accent2">
                <a:lumMod val="20000"/>
                <a:lumOff val="8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组合 5">
            <a:extLst>
              <a:ext uri="{FF2B5EF4-FFF2-40B4-BE49-F238E27FC236}">
                <a16:creationId xmlns:a16="http://schemas.microsoft.com/office/drawing/2014/main" id="{2E89D083-C9CE-463B-0A69-EF72C868F05B}"/>
              </a:ext>
            </a:extLst>
          </p:cNvPr>
          <p:cNvGrpSpPr/>
          <p:nvPr/>
        </p:nvGrpSpPr>
        <p:grpSpPr>
          <a:xfrm>
            <a:off x="783038" y="2145195"/>
            <a:ext cx="1391362" cy="369332"/>
            <a:chOff x="783038" y="2375304"/>
            <a:chExt cx="1391362" cy="369332"/>
          </a:xfrm>
        </p:grpSpPr>
        <p:grpSp>
          <p:nvGrpSpPr>
            <p:cNvPr id="58" name="组合 57">
              <a:extLst>
                <a:ext uri="{FF2B5EF4-FFF2-40B4-BE49-F238E27FC236}">
                  <a16:creationId xmlns:a16="http://schemas.microsoft.com/office/drawing/2014/main" id="{D80AFBC7-96D4-176F-06EE-EBFCDDF03D7E}"/>
                </a:ext>
              </a:extLst>
            </p:cNvPr>
            <p:cNvGrpSpPr/>
            <p:nvPr/>
          </p:nvGrpSpPr>
          <p:grpSpPr>
            <a:xfrm>
              <a:off x="783038" y="2514527"/>
              <a:ext cx="590428" cy="90889"/>
              <a:chOff x="783038" y="4168883"/>
              <a:chExt cx="590428" cy="90889"/>
            </a:xfrm>
          </p:grpSpPr>
          <p:cxnSp>
            <p:nvCxnSpPr>
              <p:cNvPr id="36" name="直接连接符 35">
                <a:extLst>
                  <a:ext uri="{FF2B5EF4-FFF2-40B4-BE49-F238E27FC236}">
                    <a16:creationId xmlns:a16="http://schemas.microsoft.com/office/drawing/2014/main" id="{AD2092FC-3674-2AAD-6E2E-45ACE9B3E05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4251" y="4214328"/>
                <a:ext cx="559215" cy="0"/>
              </a:xfrm>
              <a:prstGeom prst="line">
                <a:avLst/>
              </a:prstGeom>
              <a:ln w="38100">
                <a:solidFill>
                  <a:schemeClr val="accent2">
                    <a:lumMod val="20000"/>
                    <a:lumOff val="80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" name="椭圆 38">
                <a:extLst>
                  <a:ext uri="{FF2B5EF4-FFF2-40B4-BE49-F238E27FC236}">
                    <a16:creationId xmlns:a16="http://schemas.microsoft.com/office/drawing/2014/main" id="{52B963AC-F3F0-FE46-C256-732775310D58}"/>
                  </a:ext>
                </a:extLst>
              </p:cNvPr>
              <p:cNvSpPr/>
              <p:nvPr/>
            </p:nvSpPr>
            <p:spPr>
              <a:xfrm>
                <a:off x="783038" y="4168883"/>
                <a:ext cx="90889" cy="90889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E02E6874-46A0-A935-244A-452D04D9530F}"/>
                </a:ext>
              </a:extLst>
            </p:cNvPr>
            <p:cNvSpPr txBox="1"/>
            <p:nvPr/>
          </p:nvSpPr>
          <p:spPr>
            <a:xfrm>
              <a:off x="1396187" y="2375304"/>
              <a:ext cx="77821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chemeClr val="accent2"/>
                  </a:solidFill>
                  <a:latin typeface="汉仪文黑-85W" panose="00020600040101010101" pitchFamily="18" charset="-128"/>
                  <a:ea typeface="汉仪文黑-85W" panose="00020600040101010101" pitchFamily="18" charset="-128"/>
                  <a:cs typeface="汉仪文黑-85W" panose="00020600040101010101" pitchFamily="18" charset="-128"/>
                </a:rPr>
                <a:t>性质</a:t>
              </a:r>
              <a:r>
                <a:rPr lang="en-US" altLang="zh-CN" dirty="0">
                  <a:solidFill>
                    <a:schemeClr val="accent2"/>
                  </a:solidFill>
                  <a:latin typeface="汉仪文黑-85W" panose="00020600040101010101" pitchFamily="18" charset="-128"/>
                  <a:ea typeface="汉仪文黑-85W" panose="00020600040101010101" pitchFamily="18" charset="-128"/>
                  <a:cs typeface="汉仪文黑-85W" panose="00020600040101010101" pitchFamily="18" charset="-128"/>
                </a:rPr>
                <a:t>1</a:t>
              </a:r>
              <a:endParaRPr lang="zh-CN" altLang="en-US" dirty="0">
                <a:solidFill>
                  <a:schemeClr val="accent2"/>
                </a:solidFill>
                <a:latin typeface="汉仪文黑-85W" panose="00020600040101010101" pitchFamily="18" charset="-128"/>
                <a:ea typeface="汉仪文黑-85W" panose="00020600040101010101" pitchFamily="18" charset="-128"/>
                <a:cs typeface="汉仪文黑-85W" panose="00020600040101010101" pitchFamily="18" charset="-128"/>
              </a:endParaRP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8286F413-0205-744D-267B-8B6A1D27DF29}"/>
              </a:ext>
            </a:extLst>
          </p:cNvPr>
          <p:cNvGrpSpPr/>
          <p:nvPr/>
        </p:nvGrpSpPr>
        <p:grpSpPr>
          <a:xfrm>
            <a:off x="783038" y="2970316"/>
            <a:ext cx="1431352" cy="369332"/>
            <a:chOff x="783038" y="2375304"/>
            <a:chExt cx="1431352" cy="369332"/>
          </a:xfrm>
        </p:grpSpPr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41ADDCB3-83B4-B459-BCEA-FB2C1998928F}"/>
                </a:ext>
              </a:extLst>
            </p:cNvPr>
            <p:cNvGrpSpPr/>
            <p:nvPr/>
          </p:nvGrpSpPr>
          <p:grpSpPr>
            <a:xfrm>
              <a:off x="783038" y="2514527"/>
              <a:ext cx="590428" cy="90889"/>
              <a:chOff x="783038" y="4168883"/>
              <a:chExt cx="590428" cy="90889"/>
            </a:xfrm>
          </p:grpSpPr>
          <p:cxnSp>
            <p:nvCxnSpPr>
              <p:cNvPr id="22" name="直接连接符 21">
                <a:extLst>
                  <a:ext uri="{FF2B5EF4-FFF2-40B4-BE49-F238E27FC236}">
                    <a16:creationId xmlns:a16="http://schemas.microsoft.com/office/drawing/2014/main" id="{11E87637-0361-30C3-52C2-C5A20A01D81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4251" y="4214328"/>
                <a:ext cx="559215" cy="0"/>
              </a:xfrm>
              <a:prstGeom prst="line">
                <a:avLst/>
              </a:prstGeom>
              <a:ln w="38100">
                <a:solidFill>
                  <a:schemeClr val="accent2">
                    <a:lumMod val="20000"/>
                    <a:lumOff val="80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" name="椭圆 22">
                <a:extLst>
                  <a:ext uri="{FF2B5EF4-FFF2-40B4-BE49-F238E27FC236}">
                    <a16:creationId xmlns:a16="http://schemas.microsoft.com/office/drawing/2014/main" id="{E3435EB3-76E1-CC88-0684-201971E861AA}"/>
                  </a:ext>
                </a:extLst>
              </p:cNvPr>
              <p:cNvSpPr/>
              <p:nvPr/>
            </p:nvSpPr>
            <p:spPr>
              <a:xfrm>
                <a:off x="783038" y="4168883"/>
                <a:ext cx="90889" cy="90889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D787CEAB-53BB-8C00-8288-9585CB93931B}"/>
                </a:ext>
              </a:extLst>
            </p:cNvPr>
            <p:cNvSpPr txBox="1"/>
            <p:nvPr/>
          </p:nvSpPr>
          <p:spPr>
            <a:xfrm>
              <a:off x="1396187" y="2375304"/>
              <a:ext cx="8182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chemeClr val="accent2"/>
                  </a:solidFill>
                  <a:latin typeface="汉仪文黑-85W" panose="00020600040101010101" pitchFamily="18" charset="-128"/>
                  <a:ea typeface="汉仪文黑-85W" panose="00020600040101010101" pitchFamily="18" charset="-128"/>
                  <a:cs typeface="汉仪文黑-85W" panose="00020600040101010101" pitchFamily="18" charset="-128"/>
                </a:rPr>
                <a:t>性质</a:t>
              </a:r>
              <a:r>
                <a:rPr lang="en-US" altLang="zh-CN" dirty="0">
                  <a:solidFill>
                    <a:schemeClr val="accent2"/>
                  </a:solidFill>
                  <a:latin typeface="汉仪文黑-85W" panose="00020600040101010101" pitchFamily="18" charset="-128"/>
                  <a:ea typeface="汉仪文黑-85W" panose="00020600040101010101" pitchFamily="18" charset="-128"/>
                  <a:cs typeface="汉仪文黑-85W" panose="00020600040101010101" pitchFamily="18" charset="-128"/>
                </a:rPr>
                <a:t>2</a:t>
              </a:r>
              <a:endParaRPr lang="zh-CN" altLang="en-US" dirty="0">
                <a:solidFill>
                  <a:schemeClr val="accent2"/>
                </a:solidFill>
                <a:latin typeface="汉仪文黑-85W" panose="00020600040101010101" pitchFamily="18" charset="-128"/>
                <a:ea typeface="汉仪文黑-85W" panose="00020600040101010101" pitchFamily="18" charset="-128"/>
                <a:cs typeface="汉仪文黑-85W" panose="00020600040101010101" pitchFamily="18" charset="-128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BB6D38DC-00AA-245C-5FD3-BEEEBC9428D2}"/>
                  </a:ext>
                </a:extLst>
              </p:cNvPr>
              <p:cNvSpPr txBox="1"/>
              <p:nvPr/>
            </p:nvSpPr>
            <p:spPr>
              <a:xfrm>
                <a:off x="2649820" y="2993037"/>
                <a:ext cx="4903522" cy="58862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zh-CN" altLang="en-US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若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𝑘</m:t>
                    </m:r>
                  </m:oMath>
                </a14:m>
                <a:r>
                  <a:rPr lang="zh-CN" altLang="en-US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为常数，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𝑋</m:t>
                    </m:r>
                  </m:oMath>
                </a14:m>
                <a:r>
                  <a:rPr lang="zh-CN" altLang="en-US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为随机变量，则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𝐷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𝑘𝑋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𝑘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𝐸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𝑋</m:t>
                        </m:r>
                      </m:e>
                    </m:d>
                  </m:oMath>
                </a14:m>
                <a:endParaRPr lang="en-US" altLang="zh-CN" b="0" dirty="0"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* </a:t>
                </a:r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求方差时，随机变量的常系数可以平方后提出</a:t>
                </a:r>
              </a:p>
            </p:txBody>
          </p:sp>
        </mc:Choice>
        <mc:Fallback xmlns="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BB6D38DC-00AA-245C-5FD3-BEEEBC9428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9820" y="2993037"/>
                <a:ext cx="4903522" cy="588623"/>
              </a:xfrm>
              <a:prstGeom prst="rect">
                <a:avLst/>
              </a:prstGeom>
              <a:blipFill>
                <a:blip r:embed="rId4"/>
                <a:stretch>
                  <a:fillRect l="-2985" t="-15464" b="-1958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7" name="组合 26">
            <a:extLst>
              <a:ext uri="{FF2B5EF4-FFF2-40B4-BE49-F238E27FC236}">
                <a16:creationId xmlns:a16="http://schemas.microsoft.com/office/drawing/2014/main" id="{BFCD780E-7D4D-7054-8611-9185EE781285}"/>
              </a:ext>
            </a:extLst>
          </p:cNvPr>
          <p:cNvGrpSpPr/>
          <p:nvPr/>
        </p:nvGrpSpPr>
        <p:grpSpPr>
          <a:xfrm>
            <a:off x="783038" y="3940644"/>
            <a:ext cx="1431352" cy="369332"/>
            <a:chOff x="783038" y="2375304"/>
            <a:chExt cx="1431352" cy="369332"/>
          </a:xfrm>
        </p:grpSpPr>
        <p:grpSp>
          <p:nvGrpSpPr>
            <p:cNvPr id="28" name="组合 27">
              <a:extLst>
                <a:ext uri="{FF2B5EF4-FFF2-40B4-BE49-F238E27FC236}">
                  <a16:creationId xmlns:a16="http://schemas.microsoft.com/office/drawing/2014/main" id="{3AB34EFC-52F8-3644-C7E9-8F74E5721F63}"/>
                </a:ext>
              </a:extLst>
            </p:cNvPr>
            <p:cNvGrpSpPr/>
            <p:nvPr/>
          </p:nvGrpSpPr>
          <p:grpSpPr>
            <a:xfrm>
              <a:off x="783038" y="2514527"/>
              <a:ext cx="590428" cy="90889"/>
              <a:chOff x="783038" y="4168883"/>
              <a:chExt cx="590428" cy="90889"/>
            </a:xfrm>
          </p:grpSpPr>
          <p:cxnSp>
            <p:nvCxnSpPr>
              <p:cNvPr id="30" name="直接连接符 29">
                <a:extLst>
                  <a:ext uri="{FF2B5EF4-FFF2-40B4-BE49-F238E27FC236}">
                    <a16:creationId xmlns:a16="http://schemas.microsoft.com/office/drawing/2014/main" id="{06981B32-5DBD-1E1D-38D3-5292218413A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4251" y="4214328"/>
                <a:ext cx="559215" cy="0"/>
              </a:xfrm>
              <a:prstGeom prst="line">
                <a:avLst/>
              </a:prstGeom>
              <a:ln w="38100">
                <a:solidFill>
                  <a:schemeClr val="accent2">
                    <a:lumMod val="20000"/>
                    <a:lumOff val="80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椭圆 30">
                <a:extLst>
                  <a:ext uri="{FF2B5EF4-FFF2-40B4-BE49-F238E27FC236}">
                    <a16:creationId xmlns:a16="http://schemas.microsoft.com/office/drawing/2014/main" id="{49AB08FA-29BC-E6A9-CF5E-891D45611A48}"/>
                  </a:ext>
                </a:extLst>
              </p:cNvPr>
              <p:cNvSpPr/>
              <p:nvPr/>
            </p:nvSpPr>
            <p:spPr>
              <a:xfrm>
                <a:off x="783038" y="4168883"/>
                <a:ext cx="90889" cy="90889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3B93389D-8459-4A01-2514-7A61AF934C18}"/>
                </a:ext>
              </a:extLst>
            </p:cNvPr>
            <p:cNvSpPr txBox="1"/>
            <p:nvPr/>
          </p:nvSpPr>
          <p:spPr>
            <a:xfrm>
              <a:off x="1396187" y="2375304"/>
              <a:ext cx="8182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chemeClr val="accent2"/>
                  </a:solidFill>
                  <a:latin typeface="汉仪文黑-85W" panose="00020600040101010101" pitchFamily="18" charset="-128"/>
                  <a:ea typeface="汉仪文黑-85W" panose="00020600040101010101" pitchFamily="18" charset="-128"/>
                  <a:cs typeface="汉仪文黑-85W" panose="00020600040101010101" pitchFamily="18" charset="-128"/>
                </a:rPr>
                <a:t>性质</a:t>
              </a:r>
              <a:r>
                <a:rPr lang="en-US" altLang="zh-CN" dirty="0">
                  <a:solidFill>
                    <a:schemeClr val="accent2"/>
                  </a:solidFill>
                  <a:latin typeface="汉仪文黑-85W" panose="00020600040101010101" pitchFamily="18" charset="-128"/>
                  <a:ea typeface="汉仪文黑-85W" panose="00020600040101010101" pitchFamily="18" charset="-128"/>
                  <a:cs typeface="汉仪文黑-85W" panose="00020600040101010101" pitchFamily="18" charset="-128"/>
                </a:rPr>
                <a:t>3</a:t>
              </a:r>
              <a:endParaRPr lang="zh-CN" altLang="en-US" dirty="0">
                <a:solidFill>
                  <a:schemeClr val="accent2"/>
                </a:solidFill>
                <a:latin typeface="汉仪文黑-85W" panose="00020600040101010101" pitchFamily="18" charset="-128"/>
                <a:ea typeface="汉仪文黑-85W" panose="00020600040101010101" pitchFamily="18" charset="-128"/>
                <a:cs typeface="汉仪文黑-85W" panose="00020600040101010101" pitchFamily="18" charset="-128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9F137FE2-788B-09DA-14B2-AD7385712F05}"/>
                  </a:ext>
                </a:extLst>
              </p:cNvPr>
              <p:cNvSpPr txBox="1"/>
              <p:nvPr/>
            </p:nvSpPr>
            <p:spPr>
              <a:xfrm>
                <a:off x="2649820" y="3964089"/>
                <a:ext cx="7655557" cy="58862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zh-CN" altLang="en-US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若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𝑋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𝑌</m:t>
                    </m:r>
                  </m:oMath>
                </a14:m>
                <a:r>
                  <a:rPr lang="zh-CN" altLang="en-US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为</a:t>
                </a:r>
                <a:r>
                  <a:rPr lang="zh-CN" altLang="en-US" b="1" dirty="0">
                    <a:solidFill>
                      <a:schemeClr val="accent2"/>
                    </a:solidFill>
                    <a:latin typeface="仿宋" panose="02010609060101010101" pitchFamily="49" charset="-122"/>
                    <a:ea typeface="仿宋" panose="02010609060101010101" pitchFamily="49" charset="-122"/>
                  </a:rPr>
                  <a:t>相互独立的</a:t>
                </a:r>
                <a:r>
                  <a:rPr lang="zh-CN" altLang="en-US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随机变量，则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𝐷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𝑋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±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𝑌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𝐷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𝑋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+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𝐷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𝑌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</m:t>
                    </m:r>
                  </m:oMath>
                </a14:m>
                <a:r>
                  <a:rPr lang="en-US" altLang="zh-CN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 </a:t>
                </a:r>
                <a:r>
                  <a:rPr lang="zh-CN" altLang="en-US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（反之不成立）</a:t>
                </a:r>
                <a:endParaRPr lang="en-US" altLang="zh-CN" dirty="0"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* </a:t>
                </a:r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相互独立的随机变量和差的方差，等于它们方差的和</a:t>
                </a:r>
              </a:p>
            </p:txBody>
          </p:sp>
        </mc:Choice>
        <mc:Fallback xmlns="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9F137FE2-788B-09DA-14B2-AD7385712F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9820" y="3964089"/>
                <a:ext cx="7655557" cy="588623"/>
              </a:xfrm>
              <a:prstGeom prst="rect">
                <a:avLst/>
              </a:prstGeom>
              <a:blipFill>
                <a:blip r:embed="rId5"/>
                <a:stretch>
                  <a:fillRect l="-1911" t="-15464" r="-876" b="-206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3" name="组合 32">
            <a:extLst>
              <a:ext uri="{FF2B5EF4-FFF2-40B4-BE49-F238E27FC236}">
                <a16:creationId xmlns:a16="http://schemas.microsoft.com/office/drawing/2014/main" id="{AEC43D21-422A-8BAD-3C42-830F770707BE}"/>
              </a:ext>
            </a:extLst>
          </p:cNvPr>
          <p:cNvGrpSpPr/>
          <p:nvPr/>
        </p:nvGrpSpPr>
        <p:grpSpPr>
          <a:xfrm>
            <a:off x="786226" y="4865529"/>
            <a:ext cx="1431352" cy="369332"/>
            <a:chOff x="783038" y="2375304"/>
            <a:chExt cx="1431352" cy="369332"/>
          </a:xfrm>
        </p:grpSpPr>
        <p:grpSp>
          <p:nvGrpSpPr>
            <p:cNvPr id="35" name="组合 34">
              <a:extLst>
                <a:ext uri="{FF2B5EF4-FFF2-40B4-BE49-F238E27FC236}">
                  <a16:creationId xmlns:a16="http://schemas.microsoft.com/office/drawing/2014/main" id="{16FFB0C1-541A-64CA-65FA-F936E46FD37E}"/>
                </a:ext>
              </a:extLst>
            </p:cNvPr>
            <p:cNvGrpSpPr/>
            <p:nvPr/>
          </p:nvGrpSpPr>
          <p:grpSpPr>
            <a:xfrm>
              <a:off x="783038" y="2514527"/>
              <a:ext cx="590428" cy="90889"/>
              <a:chOff x="783038" y="4168883"/>
              <a:chExt cx="590428" cy="90889"/>
            </a:xfrm>
          </p:grpSpPr>
          <p:cxnSp>
            <p:nvCxnSpPr>
              <p:cNvPr id="38" name="直接连接符 37">
                <a:extLst>
                  <a:ext uri="{FF2B5EF4-FFF2-40B4-BE49-F238E27FC236}">
                    <a16:creationId xmlns:a16="http://schemas.microsoft.com/office/drawing/2014/main" id="{2359B963-99C2-CE73-FBC7-11ED5882260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4251" y="4214328"/>
                <a:ext cx="559215" cy="0"/>
              </a:xfrm>
              <a:prstGeom prst="line">
                <a:avLst/>
              </a:prstGeom>
              <a:ln w="38100">
                <a:solidFill>
                  <a:schemeClr val="accent2">
                    <a:lumMod val="20000"/>
                    <a:lumOff val="80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0" name="椭圆 39">
                <a:extLst>
                  <a:ext uri="{FF2B5EF4-FFF2-40B4-BE49-F238E27FC236}">
                    <a16:creationId xmlns:a16="http://schemas.microsoft.com/office/drawing/2014/main" id="{7D5BA20D-5B77-6613-748A-561BD0C1E959}"/>
                  </a:ext>
                </a:extLst>
              </p:cNvPr>
              <p:cNvSpPr/>
              <p:nvPr/>
            </p:nvSpPr>
            <p:spPr>
              <a:xfrm>
                <a:off x="783038" y="4168883"/>
                <a:ext cx="90889" cy="90889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7C6A0A7F-6632-300E-BD6F-5A20141674B5}"/>
                </a:ext>
              </a:extLst>
            </p:cNvPr>
            <p:cNvSpPr txBox="1"/>
            <p:nvPr/>
          </p:nvSpPr>
          <p:spPr>
            <a:xfrm>
              <a:off x="1396187" y="2375304"/>
              <a:ext cx="8182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chemeClr val="accent2"/>
                  </a:solidFill>
                  <a:latin typeface="汉仪文黑-85W" panose="00020600040101010101" pitchFamily="18" charset="-128"/>
                  <a:ea typeface="汉仪文黑-85W" panose="00020600040101010101" pitchFamily="18" charset="-128"/>
                  <a:cs typeface="汉仪文黑-85W" panose="00020600040101010101" pitchFamily="18" charset="-128"/>
                </a:rPr>
                <a:t>性质</a:t>
              </a:r>
              <a:r>
                <a:rPr lang="en-US" altLang="zh-CN" dirty="0">
                  <a:solidFill>
                    <a:schemeClr val="accent2"/>
                  </a:solidFill>
                  <a:latin typeface="汉仪文黑-85W" panose="00020600040101010101" pitchFamily="18" charset="-128"/>
                  <a:ea typeface="汉仪文黑-85W" panose="00020600040101010101" pitchFamily="18" charset="-128"/>
                  <a:cs typeface="汉仪文黑-85W" panose="00020600040101010101" pitchFamily="18" charset="-128"/>
                </a:rPr>
                <a:t>4</a:t>
              </a:r>
              <a:endParaRPr lang="zh-CN" altLang="en-US" dirty="0">
                <a:solidFill>
                  <a:schemeClr val="accent2"/>
                </a:solidFill>
                <a:latin typeface="汉仪文黑-85W" panose="00020600040101010101" pitchFamily="18" charset="-128"/>
                <a:ea typeface="汉仪文黑-85W" panose="00020600040101010101" pitchFamily="18" charset="-128"/>
                <a:cs typeface="汉仪文黑-85W" panose="00020600040101010101" pitchFamily="18" charset="-128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95FED42E-FE19-164C-7CE7-1D47FC37AA7E}"/>
                  </a:ext>
                </a:extLst>
              </p:cNvPr>
              <p:cNvSpPr txBox="1"/>
              <p:nvPr/>
            </p:nvSpPr>
            <p:spPr>
              <a:xfrm>
                <a:off x="2649820" y="4888973"/>
                <a:ext cx="8965816" cy="58862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zh-CN" altLang="en-US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若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𝑋</m:t>
                    </m:r>
                  </m:oMath>
                </a14:m>
                <a:r>
                  <a:rPr lang="zh-CN" altLang="en-US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存在期望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𝐸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  <m:t>𝑋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=</m:t>
                    </m:r>
                    <m:r>
                      <a:rPr lang="zh-CN" altLang="en-US" b="0" i="1" smtClean="0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𝜇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𝐷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  <m:t>𝑋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=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</m:ctrlPr>
                      </m:sSupPr>
                      <m:e>
                        <m:r>
                          <a:rPr lang="zh-CN" altLang="en-US" b="0" i="1" smtClean="0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  <m:t>𝜎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，则对于任意正数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𝜀</m:t>
                    </m:r>
                  </m:oMath>
                </a14:m>
                <a:r>
                  <a:rPr lang="zh-CN" altLang="en-US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  <a:ea typeface="仿宋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  <a:ea typeface="仿宋" panose="02010609060101010101" pitchFamily="49" charset="-122"/>
                              </a:rPr>
                              <m:t>𝑋</m:t>
                            </m:r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  <a:ea typeface="仿宋" panose="02010609060101010101" pitchFamily="49" charset="-122"/>
                              </a:rPr>
                              <m:t>−</m:t>
                            </m:r>
                            <m:r>
                              <a:rPr lang="zh-CN" altLang="en-US" b="0" i="1" dirty="0" smtClean="0">
                                <a:latin typeface="Cambria Math" panose="02040503050406030204" pitchFamily="18" charset="0"/>
                                <a:ea typeface="仿宋" panose="02010609060101010101" pitchFamily="49" charset="-122"/>
                              </a:rPr>
                              <m:t>𝜇</m:t>
                            </m:r>
                          </m:e>
                        </m:d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  <m:t>≥</m:t>
                        </m:r>
                        <m:r>
                          <a:rPr lang="zh-CN" altLang="en-US" b="0" i="1" dirty="0" smtClean="0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  <m:t>𝜀</m:t>
                        </m:r>
                      </m:e>
                    </m:d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≤</m:t>
                    </m:r>
                    <m:sSup>
                      <m:sSup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</m:ctrlPr>
                      </m:sSupPr>
                      <m:e>
                        <m:r>
                          <a:rPr lang="zh-CN" altLang="en-US" b="0" i="1" dirty="0" smtClean="0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  <m:t>𝜎</m:t>
                        </m:r>
                      </m:e>
                      <m:sup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  <m:t>2</m:t>
                        </m:r>
                      </m:sup>
                    </m:sSup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/</m:t>
                    </m:r>
                    <m:sSup>
                      <m:sSup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</m:ctrlPr>
                      </m:sSupPr>
                      <m:e>
                        <m:r>
                          <a:rPr lang="zh-CN" altLang="en-US" b="0" i="1" dirty="0" smtClean="0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  <m:t>𝜀</m:t>
                        </m:r>
                      </m:e>
                      <m:sup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  <m:t>2</m:t>
                        </m:r>
                      </m:sup>
                    </m:sSup>
                  </m:oMath>
                </a14:m>
                <a:endParaRPr lang="en-US" altLang="zh-CN" dirty="0"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* </a:t>
                </a:r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切比雪夫不等式，可在仅知期望和方差的情况下，估计随机变量偏离均值之概率 的取值</a:t>
                </a:r>
              </a:p>
            </p:txBody>
          </p:sp>
        </mc:Choice>
        <mc:Fallback xmlns=""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95FED42E-FE19-164C-7CE7-1D47FC37AA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9820" y="4888973"/>
                <a:ext cx="8965816" cy="588623"/>
              </a:xfrm>
              <a:prstGeom prst="rect">
                <a:avLst/>
              </a:prstGeom>
              <a:blipFill>
                <a:blip r:embed="rId6"/>
                <a:stretch>
                  <a:fillRect l="-1633" t="-15464" b="-1958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本框 2">
            <a:extLst>
              <a:ext uri="{FF2B5EF4-FFF2-40B4-BE49-F238E27FC236}">
                <a16:creationId xmlns:a16="http://schemas.microsoft.com/office/drawing/2014/main" id="{6CF4FECC-A254-5962-BCAC-8436DFD94432}"/>
              </a:ext>
            </a:extLst>
          </p:cNvPr>
          <p:cNvSpPr txBox="1"/>
          <p:nvPr/>
        </p:nvSpPr>
        <p:spPr>
          <a:xfrm>
            <a:off x="507460" y="496110"/>
            <a:ext cx="31501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随机变量的方差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33A2E3F-03E0-E450-BD60-ECE49668907C}"/>
              </a:ext>
            </a:extLst>
          </p:cNvPr>
          <p:cNvSpPr txBox="1"/>
          <p:nvPr/>
        </p:nvSpPr>
        <p:spPr>
          <a:xfrm>
            <a:off x="3657600" y="775742"/>
            <a:ext cx="15073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600" dirty="0"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方差的性质</a:t>
            </a:r>
            <a:endParaRPr lang="en-US" altLang="zh-CN" sz="1600" dirty="0">
              <a:latin typeface="方正清刻本悦宋简体" panose="02000000000000000000" pitchFamily="2" charset="-122"/>
              <a:ea typeface="方正清刻本悦宋简体" panose="02000000000000000000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26435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21" grpId="0"/>
      <p:bldP spid="25" grpId="0"/>
      <p:bldP spid="32" grpId="0"/>
      <p:bldP spid="4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143FF26B-CC77-0DBB-021F-F6F65A8FA87C}"/>
              </a:ext>
            </a:extLst>
          </p:cNvPr>
          <p:cNvCxnSpPr/>
          <p:nvPr/>
        </p:nvCxnSpPr>
        <p:spPr>
          <a:xfrm>
            <a:off x="576364" y="1136063"/>
            <a:ext cx="11039272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D9A48C2F-C397-1AB5-176A-8D4A6BFAAC2F}"/>
                  </a:ext>
                </a:extLst>
              </p:cNvPr>
              <p:cNvSpPr txBox="1"/>
              <p:nvPr/>
            </p:nvSpPr>
            <p:spPr>
              <a:xfrm>
                <a:off x="507460" y="1393928"/>
                <a:ext cx="11108176" cy="4412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例</a:t>
                </a:r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4.1</a:t>
                </a:r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：若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𝑋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1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,</m:t>
                    </m:r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𝑋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2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,…,</m:t>
                    </m:r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𝑋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𝑛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(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𝑛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&gt;2)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独立且同服从正态分布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𝑁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(0,</m:t>
                    </m:r>
                    <m:sSup>
                      <m:sSup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pPr>
                      <m:e>
                        <m:r>
                          <a:rPr lang="zh-CN" altLang="en-US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𝜎</m:t>
                        </m:r>
                      </m:e>
                      <m: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2</m:t>
                        </m:r>
                      </m:sup>
                    </m:sSup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)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，且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en-US" sz="160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acc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𝑋</m:t>
                        </m:r>
                      </m:e>
                    </m:acc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</m:t>
                    </m:r>
                    <m:f>
                      <m:f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fPr>
                      <m:num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limLoc m:val="subSup"/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𝑖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=1</m:t>
                        </m:r>
                      </m:sub>
                      <m: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，记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𝑌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𝑖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</m:t>
                    </m:r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𝑋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𝑖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−</m:t>
                    </m:r>
                    <m:acc>
                      <m:accPr>
                        <m:chr m:val="̅"/>
                        <m:ctrlPr>
                          <a:rPr lang="zh-CN" altLang="en-US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acc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𝑋</m:t>
                        </m:r>
                      </m:e>
                    </m:acc>
                    <m:r>
                      <a:rPr lang="en-US" altLang="zh-CN" sz="1600" b="0" i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,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𝑖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=1,2,…,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𝑛</m:t>
                    </m:r>
                  </m:oMath>
                </a14:m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.  </a:t>
                </a:r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求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𝐷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(</m:t>
                    </m:r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𝑌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𝑖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)</m:t>
                    </m:r>
                  </m:oMath>
                </a14:m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D9A48C2F-C397-1AB5-176A-8D4A6BFAAC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60" y="1393928"/>
                <a:ext cx="11108176" cy="441275"/>
              </a:xfrm>
              <a:prstGeom prst="rect">
                <a:avLst/>
              </a:prstGeom>
              <a:blipFill>
                <a:blip r:embed="rId3"/>
                <a:stretch>
                  <a:fillRect l="-274" t="-72222" b="-1208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B46A6C03-88DF-D0C2-F09C-74196CC03839}"/>
                  </a:ext>
                </a:extLst>
              </p:cNvPr>
              <p:cNvSpPr txBox="1"/>
              <p:nvPr/>
            </p:nvSpPr>
            <p:spPr>
              <a:xfrm>
                <a:off x="507460" y="1850860"/>
                <a:ext cx="11039269" cy="16600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解：由题意，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𝑌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𝑖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𝑋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𝑖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−</m:t>
                    </m:r>
                    <m:acc>
                      <m:accPr>
                        <m:chr m:val="̅"/>
                        <m:ctrlPr>
                          <a:rPr lang="zh-CN" altLang="en-US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acc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𝑋</m:t>
                        </m:r>
                      </m:e>
                    </m:acc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𝑋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𝑖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−</m:t>
                    </m:r>
                    <m:f>
                      <m:f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fPr>
                      <m:num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𝑛</m:t>
                        </m:r>
                      </m:den>
                    </m:f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+…+</m:t>
                        </m:r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+…+</m:t>
                        </m:r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</m:t>
                    </m:r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1−</m:t>
                        </m:r>
                        <m:f>
                          <m:f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fPr>
                          <m:num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𝑛</m:t>
                            </m:r>
                          </m:den>
                        </m:f>
                      </m:e>
                    </m:d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𝑋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𝑖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−</m:t>
                    </m:r>
                    <m:f>
                      <m:f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fPr>
                      <m:num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limLoc m:val="subSup"/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naryPr>
                      <m:sub>
                        <m:r>
                          <m:rPr>
                            <m:brk m:alnAt="1"/>
                          </m:r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𝑗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=1</m:t>
                        </m:r>
                      </m:sub>
                      <m:sup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𝑗</m:t>
                            </m:r>
                          </m:sub>
                        </m:sSub>
                      </m:e>
                    </m:nary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(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𝑗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</a:t>
                </a:r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则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𝐷</m:t>
                    </m:r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𝑌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zh-CN" sz="1600" b="0" i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  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𝐷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d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1−</m:t>
                            </m:r>
                            <m:f>
                              <m:f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𝑛</m:t>
                                </m:r>
                              </m:den>
                            </m:f>
                          </m:e>
                        </m:d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−</m:t>
                        </m:r>
                        <m:f>
                          <m:f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fPr>
                          <m:num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𝑛</m:t>
                            </m:r>
                          </m:den>
                        </m:f>
                        <m:nary>
                          <m:naryPr>
                            <m:chr m:val="∑"/>
                            <m:limLoc m:val="subSup"/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naryPr>
                          <m:sub>
                            <m:r>
                              <m:rPr>
                                <m:brk m:alnAt="1"/>
                              </m:rP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𝑗</m:t>
                            </m:r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𝑛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𝑗</m:t>
                                </m:r>
                              </m:sub>
                            </m:sSub>
                          </m:e>
                        </m:nary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  =  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𝐷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d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1−</m:t>
                            </m:r>
                            <m:f>
                              <m:f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𝑛</m:t>
                                </m:r>
                              </m:den>
                            </m:f>
                          </m:e>
                        </m:d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+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𝐷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fPr>
                          <m:num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𝑛</m:t>
                            </m:r>
                          </m:den>
                        </m:f>
                        <m:nary>
                          <m:naryPr>
                            <m:chr m:val="∑"/>
                            <m:limLoc m:val="subSup"/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naryPr>
                          <m:sub>
                            <m:r>
                              <m:rPr>
                                <m:brk m:alnAt="1"/>
                              </m:rP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𝑗</m:t>
                            </m:r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𝑛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𝑗</m:t>
                                </m:r>
                              </m:sub>
                            </m:sSub>
                          </m:e>
                        </m:nary>
                      </m:e>
                    </m:d>
                    <m:r>
                      <a:rPr lang="en-US" altLang="zh-CN" sz="1600" b="0" i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 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 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  </m:t>
                    </m:r>
                    <m:sSup>
                      <m:sSup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1−</m:t>
                            </m:r>
                            <m:f>
                              <m:fPr>
                                <m:ctrlP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𝑛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</m:sup>
                    </m:sSup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𝐷</m:t>
                    </m:r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+</m:t>
                    </m:r>
                    <m:f>
                      <m:f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fPr>
                      <m:num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sSup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𝑛</m:t>
                            </m:r>
                          </m:e>
                          <m:sup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2</m:t>
                            </m:r>
                          </m:sup>
                        </m:sSup>
                      </m:den>
                    </m:f>
                    <m:nary>
                      <m:naryPr>
                        <m:chr m:val="∑"/>
                        <m:limLoc m:val="subSup"/>
                        <m:ctrlPr>
                          <a:rPr lang="en-US" altLang="zh-CN" sz="160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𝑗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=1</m:t>
                        </m:r>
                      </m:sub>
                      <m: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𝑛</m:t>
                        </m:r>
                      </m:sup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𝐷</m:t>
                        </m:r>
                        <m:d>
                          <m:d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endParaRPr lang="en-US" altLang="zh-CN" sz="1600" i="1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1600" dirty="0">
                    <a:ea typeface="楷体" panose="02010609060101010101" pitchFamily="49" charset="-122"/>
                  </a:rPr>
                  <a:t>                  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 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  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  </m:t>
                    </m:r>
                    <m:sSup>
                      <m:sSup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1−</m:t>
                            </m:r>
                            <m:f>
                              <m:f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𝑛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pPr>
                      <m:e>
                        <m:r>
                          <a:rPr lang="zh-CN" altLang="en-US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𝜎</m:t>
                        </m:r>
                      </m:e>
                      <m:sup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2</m:t>
                        </m:r>
                      </m:sup>
                    </m:sSup>
                    <m:r>
                      <a:rPr lang="en-US" altLang="zh-CN" sz="16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+</m:t>
                    </m:r>
                    <m:f>
                      <m:f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fPr>
                      <m:num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𝑛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−1</m:t>
                        </m:r>
                      </m:num>
                      <m:den>
                        <m:sSup>
                          <m:sSup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sSup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𝑛</m:t>
                            </m:r>
                          </m:e>
                          <m:sup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2</m:t>
                            </m:r>
                          </m:sup>
                        </m:sSup>
                      </m:den>
                    </m:f>
                    <m:sSup>
                      <m:sSup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pPr>
                      <m:e>
                        <m:r>
                          <a:rPr lang="zh-CN" altLang="en-US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𝜎</m:t>
                        </m:r>
                      </m:e>
                      <m:sup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2</m:t>
                        </m:r>
                      </m:sup>
                    </m:sSup>
                    <m:r>
                      <a:rPr lang="en-US" altLang="zh-CN" sz="16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16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𝑛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−1</m:t>
                        </m:r>
                      </m:num>
                      <m:den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𝑛</m:t>
                        </m:r>
                      </m:den>
                    </m:f>
                    <m:sSup>
                      <m:sSup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pPr>
                      <m:e>
                        <m:r>
                          <a:rPr lang="zh-CN" altLang="en-US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𝜎</m:t>
                        </m:r>
                      </m:e>
                      <m:sup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2</m:t>
                        </m:r>
                      </m:sup>
                    </m:sSup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.</m:t>
                    </m:r>
                  </m:oMath>
                </a14:m>
                <a:endParaRPr lang="zh-CN" altLang="en-US" sz="1600" i="1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B46A6C03-88DF-D0C2-F09C-74196CC038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60" y="1850860"/>
                <a:ext cx="11039269" cy="1660070"/>
              </a:xfrm>
              <a:prstGeom prst="rect">
                <a:avLst/>
              </a:prstGeom>
              <a:blipFill>
                <a:blip r:embed="rId4"/>
                <a:stretch>
                  <a:fillRect l="-276" t="-183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本框 4">
            <a:extLst>
              <a:ext uri="{FF2B5EF4-FFF2-40B4-BE49-F238E27FC236}">
                <a16:creationId xmlns:a16="http://schemas.microsoft.com/office/drawing/2014/main" id="{596CA755-228F-C167-9F9A-FF85F4BFC0D5}"/>
              </a:ext>
            </a:extLst>
          </p:cNvPr>
          <p:cNvSpPr txBox="1"/>
          <p:nvPr/>
        </p:nvSpPr>
        <p:spPr>
          <a:xfrm>
            <a:off x="507460" y="496110"/>
            <a:ext cx="31501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随机变量的方差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5904BCA-804D-F46F-20FB-62C3489361F5}"/>
              </a:ext>
            </a:extLst>
          </p:cNvPr>
          <p:cNvSpPr txBox="1"/>
          <p:nvPr/>
        </p:nvSpPr>
        <p:spPr>
          <a:xfrm>
            <a:off x="3657600" y="775742"/>
            <a:ext cx="15073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600" dirty="0"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方差的计算</a:t>
            </a:r>
            <a:r>
              <a:rPr lang="en-US" altLang="zh-CN" sz="1600" dirty="0"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(2)</a:t>
            </a:r>
          </a:p>
        </p:txBody>
      </p:sp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81D6264B-D585-2861-BD1D-12B3E50137C1}"/>
              </a:ext>
            </a:extLst>
          </p:cNvPr>
          <p:cNvCxnSpPr>
            <a:cxnSpLocks/>
          </p:cNvCxnSpPr>
          <p:nvPr/>
        </p:nvCxnSpPr>
        <p:spPr>
          <a:xfrm>
            <a:off x="511212" y="3729624"/>
            <a:ext cx="11035518" cy="0"/>
          </a:xfrm>
          <a:prstGeom prst="line">
            <a:avLst/>
          </a:prstGeom>
          <a:ln w="19050">
            <a:prstDash val="dashDot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186BD7E0-3526-9AD6-189B-998889843D74}"/>
                  </a:ext>
                </a:extLst>
              </p:cNvPr>
              <p:cNvSpPr txBox="1"/>
              <p:nvPr/>
            </p:nvSpPr>
            <p:spPr>
              <a:xfrm>
                <a:off x="507460" y="3948319"/>
                <a:ext cx="11108176" cy="4405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例</a:t>
                </a:r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4.2</a:t>
                </a:r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：若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𝑋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~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𝑁</m:t>
                    </m:r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0,1</m:t>
                        </m:r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,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𝑌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~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𝑁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(0,</m:t>
                    </m:r>
                    <m:f>
                      <m:f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fPr>
                      <m:num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3</m:t>
                        </m:r>
                      </m:num>
                      <m:den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4</m:t>
                        </m:r>
                      </m:den>
                    </m:f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)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，且它们相互独立，记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𝑍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𝑋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−2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𝑌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，求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𝐸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𝑍</m:t>
                        </m:r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,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𝐷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|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𝑍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|</m:t>
                    </m:r>
                  </m:oMath>
                </a14:m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186BD7E0-3526-9AD6-189B-998889843D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60" y="3948319"/>
                <a:ext cx="11108176" cy="440505"/>
              </a:xfrm>
              <a:prstGeom prst="rect">
                <a:avLst/>
              </a:prstGeom>
              <a:blipFill>
                <a:blip r:embed="rId5"/>
                <a:stretch>
                  <a:fillRect l="-274" b="-8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4CA4DCF-22CD-EC44-A6A8-E9FAD91DE6C2}"/>
                  </a:ext>
                </a:extLst>
              </p:cNvPr>
              <p:cNvSpPr txBox="1"/>
              <p:nvPr/>
            </p:nvSpPr>
            <p:spPr>
              <a:xfrm>
                <a:off x="507460" y="4410744"/>
                <a:ext cx="11329636" cy="16203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解：由题意，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𝐸</m:t>
                    </m:r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𝑋</m:t>
                        </m:r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=0,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𝐸</m:t>
                    </m:r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𝑌</m:t>
                        </m:r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=0,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𝐷</m:t>
                    </m:r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𝑋</m:t>
                        </m:r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=1,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𝐷</m:t>
                    </m:r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𝑌</m:t>
                        </m:r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3</m:t>
                        </m:r>
                      </m:num>
                      <m:den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4</m:t>
                        </m:r>
                      </m:den>
                    </m:f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𝑋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𝑌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相互独立，则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𝐸</m:t>
                    </m:r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𝑍</m:t>
                        </m:r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=0,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𝐷</m:t>
                    </m:r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𝑍</m:t>
                        </m:r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𝐷</m:t>
                    </m:r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𝑋</m:t>
                        </m:r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+4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𝐷</m:t>
                    </m:r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𝑌</m:t>
                        </m:r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=4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，故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𝑍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~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𝑁</m:t>
                    </m:r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0,4</m:t>
                        </m:r>
                      </m:e>
                    </m:d>
                  </m:oMath>
                </a14:m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</a:t>
                </a:r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则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𝐸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𝑍</m:t>
                        </m:r>
                      </m:e>
                    </m:d>
                    <m:r>
                      <a:rPr lang="en-US" altLang="zh-CN" sz="16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nary>
                      <m:naryPr>
                        <m:ctrlPr>
                          <a:rPr lang="en-US" altLang="zh-CN" sz="16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+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</m:d>
                        <m:f>
                          <m:f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2</m:t>
                            </m:r>
                            <m:rad>
                              <m:radPr>
                                <m:degHide m:val="on"/>
                                <m:ctrlP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2</m:t>
                                </m:r>
                                <m:r>
                                  <a:rPr lang="zh-CN" altLang="en-US" sz="16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𝜋</m:t>
                                </m:r>
                              </m:e>
                            </m:rad>
                          </m:den>
                        </m:f>
                        <m:sSup>
                          <m:sSup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𝑧</m:t>
                                    </m:r>
                                  </m:e>
                                  <m:sup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8</m:t>
                                </m:r>
                              </m:den>
                            </m:f>
                          </m:sup>
                        </m:sSup>
                      </m:e>
                    </m:nary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𝑑𝑧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=2</m:t>
                    </m:r>
                    <m:rad>
                      <m:radPr>
                        <m:degHide m:val="on"/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2</m:t>
                            </m:r>
                          </m:num>
                          <m:den>
                            <m:r>
                              <a:rPr lang="zh-CN" altLang="en-US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𝜋</m:t>
                            </m:r>
                          </m:den>
                        </m:f>
                      </m:e>
                    </m:rad>
                  </m:oMath>
                </a14:m>
                <a:r>
                  <a:rPr lang="en-US" altLang="zh-CN" sz="1600" b="0" i="1" dirty="0">
                    <a:latin typeface="Cambria Math" panose="02040503050406030204" pitchFamily="18" charset="0"/>
                    <a:ea typeface="楷体" panose="02010609060101010101" pitchFamily="49" charset="-122"/>
                  </a:rPr>
                  <a:t>.</a:t>
                </a:r>
              </a:p>
              <a:p>
                <a:r>
                  <a:rPr lang="en-US" altLang="zh-CN" sz="1600" b="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  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𝐷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𝑍</m:t>
                        </m:r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𝐸</m:t>
                    </m:r>
                    <m:sSup>
                      <m:sSup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𝑍</m:t>
                            </m:r>
                          </m:e>
                        </m:d>
                      </m:e>
                      <m: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</m:sup>
                    </m:sSup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−</m:t>
                    </m:r>
                    <m:sSup>
                      <m:sSup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𝐸</m:t>
                            </m:r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dPr>
                              <m:e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𝑍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</m:sup>
                    </m:sSup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𝐸</m:t>
                    </m:r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𝑍</m:t>
                            </m:r>
                          </m:e>
                          <m:sup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altLang="zh-CN" sz="16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−</m:t>
                    </m:r>
                    <m:sSup>
                      <m:sSup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𝐸</m:t>
                            </m:r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dPr>
                              <m:e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𝑍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</m:sup>
                    </m:sSup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𝐷</m:t>
                        </m:r>
                        <m:d>
                          <m:d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𝑍</m:t>
                            </m:r>
                          </m:e>
                        </m:d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+</m:t>
                        </m:r>
                        <m:sSup>
                          <m:sSup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dPr>
                              <m:e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𝐸</m:t>
                                </m:r>
                                <m:d>
                                  <m:dPr>
                                    <m:ctrlP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𝑍</m:t>
                                    </m:r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−</m:t>
                    </m:r>
                    <m:sSup>
                      <m:sSup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𝐸</m:t>
                            </m:r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dPr>
                              <m:e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𝑍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</m:sup>
                    </m:sSup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4−</m:t>
                        </m:r>
                        <m:sSup>
                          <m:sSup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0</m:t>
                            </m:r>
                          </m:e>
                          <m:sup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−</m:t>
                    </m:r>
                    <m:sSup>
                      <m:sSup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2</m:t>
                            </m:r>
                            <m:rad>
                              <m:radPr>
                                <m:degHide m:val="on"/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radPr>
                              <m:deg/>
                              <m:e>
                                <m:f>
                                  <m:fPr>
                                    <m:ctrlPr>
                                      <a:rPr lang="en-US" altLang="zh-CN" sz="1600" i="1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zh-CN" altLang="en-US" sz="1600" i="1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𝜋</m:t>
                                    </m:r>
                                  </m:den>
                                </m:f>
                              </m:e>
                            </m:rad>
                          </m:e>
                        </m:d>
                      </m:e>
                      <m: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</m:sup>
                    </m:sSup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=4(1−</m:t>
                    </m:r>
                    <m:f>
                      <m:f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</m:num>
                      <m:den>
                        <m:r>
                          <a:rPr lang="zh-CN" altLang="en-US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𝜋</m:t>
                        </m:r>
                      </m:den>
                    </m:f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</m:t>
                    </m:r>
                  </m:oMath>
                </a14:m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.</a:t>
                </a:r>
                <a:endParaRPr lang="zh-CN" altLang="en-US" sz="16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4CA4DCF-22CD-EC44-A6A8-E9FAD91DE6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60" y="4410744"/>
                <a:ext cx="11329636" cy="1620380"/>
              </a:xfrm>
              <a:prstGeom prst="rect">
                <a:avLst/>
              </a:prstGeom>
              <a:blipFill>
                <a:blip r:embed="rId6"/>
                <a:stretch>
                  <a:fillRect l="-2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2920153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1" grpId="0"/>
      <p:bldP spid="3" grpId="0"/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143FF26B-CC77-0DBB-021F-F6F65A8FA87C}"/>
              </a:ext>
            </a:extLst>
          </p:cNvPr>
          <p:cNvCxnSpPr/>
          <p:nvPr/>
        </p:nvCxnSpPr>
        <p:spPr>
          <a:xfrm>
            <a:off x="576364" y="1136063"/>
            <a:ext cx="11039272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366AA635-A21B-A433-4648-23FD4F0AB104}"/>
              </a:ext>
            </a:extLst>
          </p:cNvPr>
          <p:cNvSpPr txBox="1"/>
          <p:nvPr/>
        </p:nvSpPr>
        <p:spPr>
          <a:xfrm>
            <a:off x="507460" y="496110"/>
            <a:ext cx="28377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随机变量的矩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DF8EA2AA-3607-76BF-CED9-450E9DC65B0B}"/>
                  </a:ext>
                </a:extLst>
              </p:cNvPr>
              <p:cNvSpPr txBox="1"/>
              <p:nvPr/>
            </p:nvSpPr>
            <p:spPr>
              <a:xfrm>
                <a:off x="507460" y="1425186"/>
                <a:ext cx="11108176" cy="8002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600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「矩」这一概念更常见于物理中，例如 力矩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𝑴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=</m:t>
                    </m:r>
                    <m:r>
                      <a:rPr lang="en-US" altLang="zh-CN" sz="1600" b="1" i="1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𝒓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zh-CN" sz="1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𝑭</m:t>
                    </m:r>
                  </m:oMath>
                </a14:m>
                <a:r>
                  <a:rPr lang="zh-CN" altLang="en-US" sz="1600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。事实上，可以将它称作 力的“一阶矩”。</a:t>
                </a:r>
                <a:endParaRPr lang="en-US" altLang="zh-CN" sz="1600" dirty="0">
                  <a:latin typeface="方正小标宋简体" panose="02000000000000000000" pitchFamily="2" charset="-122"/>
                  <a:ea typeface="方正小标宋简体" panose="02000000000000000000" pitchFamily="2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1600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在概率论中，随机变量的</a:t>
                </a: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𝑘</m:t>
                    </m:r>
                  </m:oMath>
                </a14:m>
                <a:r>
                  <a:rPr lang="zh-CN" altLang="en-US" sz="1600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阶矩 就是 概率 与 随机变量取值的</a:t>
                </a: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𝑘</m:t>
                    </m:r>
                  </m:oMath>
                </a14:m>
                <a:r>
                  <a:rPr lang="zh-CN" altLang="en-US" sz="1600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次方 的乘积。</a:t>
                </a:r>
                <a:endParaRPr lang="en-US" altLang="zh-CN" sz="1600" dirty="0">
                  <a:latin typeface="方正小标宋简体" panose="02000000000000000000" pitchFamily="2" charset="-122"/>
                  <a:ea typeface="方正小标宋简体" panose="02000000000000000000" pitchFamily="2" charset="-122"/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DF8EA2AA-3607-76BF-CED9-450E9DC65B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60" y="1425186"/>
                <a:ext cx="11108176" cy="800219"/>
              </a:xfrm>
              <a:prstGeom prst="rect">
                <a:avLst/>
              </a:prstGeom>
              <a:blipFill>
                <a:blip r:embed="rId3"/>
                <a:stretch>
                  <a:fillRect l="-274" b="-91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本框 1">
            <a:extLst>
              <a:ext uri="{FF2B5EF4-FFF2-40B4-BE49-F238E27FC236}">
                <a16:creationId xmlns:a16="http://schemas.microsoft.com/office/drawing/2014/main" id="{CFCFE9ED-E2C0-E136-C16A-73B705043080}"/>
              </a:ext>
            </a:extLst>
          </p:cNvPr>
          <p:cNvSpPr txBox="1"/>
          <p:nvPr/>
        </p:nvSpPr>
        <p:spPr>
          <a:xfrm>
            <a:off x="3345180" y="775742"/>
            <a:ext cx="17500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600" dirty="0"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矩的定义及计算</a:t>
            </a:r>
            <a:endParaRPr lang="en-US" altLang="zh-CN" sz="1600" dirty="0">
              <a:latin typeface="方正清刻本悦宋简体" panose="02000000000000000000" pitchFamily="2" charset="-122"/>
              <a:ea typeface="方正清刻本悦宋简体" panose="02000000000000000000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9347824A-50DE-9012-57C0-5C78F4A5ACBC}"/>
                  </a:ext>
                </a:extLst>
              </p:cNvPr>
              <p:cNvSpPr txBox="1"/>
              <p:nvPr/>
            </p:nvSpPr>
            <p:spPr>
              <a:xfrm>
                <a:off x="507460" y="2225405"/>
                <a:ext cx="11108176" cy="3729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sz="14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* </a:t>
                </a:r>
                <a:r>
                  <a:rPr lang="zh-CN" altLang="en-US" sz="14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举个更容易理解的例子，质量关于距离的 零阶矩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zh-CN" altLang="en-US" sz="1400" i="1" smtClean="0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lang="en-US" altLang="zh-CN" sz="1400" b="0" i="1" smtClean="0">
                                <a:latin typeface="Cambria Math" panose="02040503050406030204" pitchFamily="18" charset="0"/>
                                <a:ea typeface="仿宋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  <a:ea typeface="仿宋" panose="02010609060101010101" pitchFamily="49" charset="-122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  <a:ea typeface="仿宋" panose="02010609060101010101" pitchFamily="49" charset="-122"/>
                              </a:rPr>
                              <m:t>𝑖</m:t>
                            </m:r>
                          </m:sub>
                        </m:sSub>
                        <m:sSup>
                          <m:sSupPr>
                            <m:ctrlPr>
                              <a:rPr lang="en-US" altLang="zh-CN" sz="1400" b="0" i="1" smtClean="0">
                                <a:latin typeface="Cambria Math" panose="02040503050406030204" pitchFamily="18" charset="0"/>
                                <a:ea typeface="仿宋" panose="02010609060101010101" pitchFamily="49" charset="-122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sz="1400" b="0" i="1" smtClean="0">
                                    <a:latin typeface="Cambria Math" panose="02040503050406030204" pitchFamily="18" charset="0"/>
                                    <a:ea typeface="仿宋" panose="02010609060101010101" pitchFamily="49" charset="-122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  <a:ea typeface="仿宋" panose="02010609060101010101" pitchFamily="49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  <a:ea typeface="仿宋" panose="02010609060101010101" pitchFamily="49" charset="-122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  <a:ea typeface="仿宋" panose="02010609060101010101" pitchFamily="49" charset="-122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  <a:ea typeface="仿宋" panose="02010609060101010101" pitchFamily="49" charset="-122"/>
                              </a:rPr>
                              <m:t>0</m:t>
                            </m:r>
                          </m:sup>
                        </m:sSup>
                      </m:e>
                    </m:nary>
                  </m:oMath>
                </a14:m>
                <a:r>
                  <a:rPr lang="zh-CN" altLang="en-US" sz="14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为总质量，一阶矩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zh-CN" altLang="en-US" sz="1400" i="1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lang="en-US" altLang="zh-CN" sz="1400" b="0" i="1" smtClean="0">
                                <a:latin typeface="Cambria Math" panose="02040503050406030204" pitchFamily="18" charset="0"/>
                                <a:ea typeface="仿宋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1400" i="1">
                                <a:latin typeface="Cambria Math" panose="02040503050406030204" pitchFamily="18" charset="0"/>
                                <a:ea typeface="仿宋" panose="02010609060101010101" pitchFamily="49" charset="-122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  <a:ea typeface="仿宋" panose="02010609060101010101" pitchFamily="49" charset="-122"/>
                              </a:rPr>
                              <m:t>𝑖</m:t>
                            </m:r>
                          </m:sub>
                        </m:sSub>
                        <m:sSup>
                          <m:sSupPr>
                            <m:ctrlPr>
                              <a:rPr lang="en-US" altLang="zh-CN" sz="1400" i="1">
                                <a:latin typeface="Cambria Math" panose="02040503050406030204" pitchFamily="18" charset="0"/>
                                <a:ea typeface="仿宋" panose="02010609060101010101" pitchFamily="49" charset="-122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sz="1400" i="1">
                                    <a:latin typeface="Cambria Math" panose="02040503050406030204" pitchFamily="18" charset="0"/>
                                    <a:ea typeface="仿宋" panose="02010609060101010101" pitchFamily="49" charset="-122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sz="1400" i="1">
                                        <a:latin typeface="Cambria Math" panose="02040503050406030204" pitchFamily="18" charset="0"/>
                                        <a:ea typeface="仿宋" panose="02010609060101010101" pitchFamily="49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400" i="1">
                                        <a:latin typeface="Cambria Math" panose="02040503050406030204" pitchFamily="18" charset="0"/>
                                        <a:ea typeface="仿宋" panose="02010609060101010101" pitchFamily="49" charset="-122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altLang="zh-CN" sz="1400" i="1">
                                        <a:latin typeface="Cambria Math" panose="02040503050406030204" pitchFamily="18" charset="0"/>
                                        <a:ea typeface="仿宋" panose="02010609060101010101" pitchFamily="49" charset="-122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  <a:ea typeface="仿宋" panose="02010609060101010101" pitchFamily="49" charset="-122"/>
                              </a:rPr>
                              <m:t>1</m:t>
                            </m:r>
                          </m:sup>
                        </m:sSup>
                      </m:e>
                    </m:nary>
                  </m:oMath>
                </a14:m>
                <a:r>
                  <a:rPr lang="zh-CN" altLang="en-US" sz="14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为质心位置，二阶矩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zh-CN" altLang="en-US" sz="1400" i="1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lang="en-US" altLang="zh-CN" sz="1400" b="0" i="1" smtClean="0">
                                <a:latin typeface="Cambria Math" panose="02040503050406030204" pitchFamily="18" charset="0"/>
                                <a:ea typeface="仿宋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1400" i="1">
                                <a:latin typeface="Cambria Math" panose="02040503050406030204" pitchFamily="18" charset="0"/>
                                <a:ea typeface="仿宋" panose="02010609060101010101" pitchFamily="49" charset="-122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  <a:ea typeface="仿宋" panose="02010609060101010101" pitchFamily="49" charset="-122"/>
                              </a:rPr>
                              <m:t>𝑖</m:t>
                            </m:r>
                          </m:sub>
                        </m:sSub>
                        <m:sSup>
                          <m:sSupPr>
                            <m:ctrlPr>
                              <a:rPr lang="en-US" altLang="zh-CN" sz="1400" i="1">
                                <a:latin typeface="Cambria Math" panose="02040503050406030204" pitchFamily="18" charset="0"/>
                                <a:ea typeface="仿宋" panose="02010609060101010101" pitchFamily="49" charset="-122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sz="1400" i="1">
                                    <a:latin typeface="Cambria Math" panose="02040503050406030204" pitchFamily="18" charset="0"/>
                                    <a:ea typeface="仿宋" panose="02010609060101010101" pitchFamily="49" charset="-122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sz="1400" i="1">
                                        <a:latin typeface="Cambria Math" panose="02040503050406030204" pitchFamily="18" charset="0"/>
                                        <a:ea typeface="仿宋" panose="02010609060101010101" pitchFamily="49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400" i="1">
                                        <a:latin typeface="Cambria Math" panose="02040503050406030204" pitchFamily="18" charset="0"/>
                                        <a:ea typeface="仿宋" panose="02010609060101010101" pitchFamily="49" charset="-122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altLang="zh-CN" sz="1400" i="1">
                                        <a:latin typeface="Cambria Math" panose="02040503050406030204" pitchFamily="18" charset="0"/>
                                        <a:ea typeface="仿宋" panose="02010609060101010101" pitchFamily="49" charset="-122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  <a:ea typeface="仿宋" panose="02010609060101010101" pitchFamily="49" charset="-122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r>
                  <a:rPr lang="zh-CN" altLang="en-US" sz="14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为转动惯量。</a:t>
                </a:r>
                <a:endParaRPr lang="en-US" altLang="zh-CN" sz="1400" dirty="0"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9347824A-50DE-9012-57C0-5C78F4A5AC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60" y="2225405"/>
                <a:ext cx="11108176" cy="372923"/>
              </a:xfrm>
              <a:prstGeom prst="rect">
                <a:avLst/>
              </a:prstGeom>
              <a:blipFill>
                <a:blip r:embed="rId4"/>
                <a:stretch>
                  <a:fillRect l="-165" t="-65574" b="-1344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" name="组合 15">
            <a:extLst>
              <a:ext uri="{FF2B5EF4-FFF2-40B4-BE49-F238E27FC236}">
                <a16:creationId xmlns:a16="http://schemas.microsoft.com/office/drawing/2014/main" id="{A65E85B1-6596-295C-B1B8-44FB8027FD5A}"/>
              </a:ext>
            </a:extLst>
          </p:cNvPr>
          <p:cNvGrpSpPr/>
          <p:nvPr/>
        </p:nvGrpSpPr>
        <p:grpSpPr>
          <a:xfrm>
            <a:off x="576364" y="2709636"/>
            <a:ext cx="3501086" cy="1471086"/>
            <a:chOff x="576364" y="2709636"/>
            <a:chExt cx="3501086" cy="147108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矩形: 圆角 3">
                  <a:extLst>
                    <a:ext uri="{FF2B5EF4-FFF2-40B4-BE49-F238E27FC236}">
                      <a16:creationId xmlns:a16="http://schemas.microsoft.com/office/drawing/2014/main" id="{0B24E69A-ADF1-68D3-25F1-B6C202465E7C}"/>
                    </a:ext>
                  </a:extLst>
                </p:cNvPr>
                <p:cNvSpPr/>
                <p:nvPr/>
              </p:nvSpPr>
              <p:spPr>
                <a:xfrm>
                  <a:off x="576364" y="2709636"/>
                  <a:ext cx="3501086" cy="631976"/>
                </a:xfrm>
                <a:prstGeom prst="round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altLang="zh-CN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汉仪文黑-85W" panose="00020600040101010101" pitchFamily="18" charset="-128"/>
                          <a:cs typeface="汉仪文黑-85W" panose="00020600040101010101" pitchFamily="18" charset="-128"/>
                        </a:rPr>
                        <m:t>𝑘</m:t>
                      </m:r>
                    </m:oMath>
                  </a14:m>
                  <a:r>
                    <a:rPr lang="zh-CN" altLang="en-US" dirty="0">
                      <a:solidFill>
                        <a:schemeClr val="tx1"/>
                      </a:solidFill>
                      <a:latin typeface="汉仪文黑-85W" panose="00020600040101010101" pitchFamily="18" charset="-128"/>
                      <a:ea typeface="汉仪文黑-85W" panose="00020600040101010101" pitchFamily="18" charset="-128"/>
                      <a:cs typeface="汉仪文黑-85W" panose="00020600040101010101" pitchFamily="18" charset="-128"/>
                    </a:rPr>
                    <a:t>阶原点矩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汉仪文黑-85W" panose="00020600040101010101" pitchFamily="18" charset="-128"/>
                              <a:cs typeface="汉仪文黑-85W" panose="00020600040101010101" pitchFamily="18" charset="-128"/>
                            </a:rPr>
                          </m:ctrlPr>
                        </m:sSubPr>
                        <m:e>
                          <m:r>
                            <a:rPr lang="zh-CN" alt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汉仪文黑-85W" panose="00020600040101010101" pitchFamily="18" charset="-128"/>
                              <a:cs typeface="汉仪文黑-85W" panose="00020600040101010101" pitchFamily="18" charset="-128"/>
                            </a:rPr>
                            <m:t>𝛼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汉仪文黑-85W" panose="00020600040101010101" pitchFamily="18" charset="-128"/>
                              <a:cs typeface="汉仪文黑-85W" panose="00020600040101010101" pitchFamily="18" charset="-128"/>
                            </a:rPr>
                            <m:t>𝑘</m:t>
                          </m:r>
                        </m:sub>
                      </m:sSub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汉仪文黑-85W" panose="00020600040101010101" pitchFamily="18" charset="-128"/>
                          <a:cs typeface="汉仪文黑-85W" panose="00020600040101010101" pitchFamily="18" charset="-128"/>
                        </a:rPr>
                        <m:t>=</m:t>
                      </m:r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汉仪文黑-85W" panose="00020600040101010101" pitchFamily="18" charset="-128"/>
                          <a:cs typeface="汉仪文黑-85W" panose="00020600040101010101" pitchFamily="18" charset="-128"/>
                        </a:rPr>
                        <m:t>𝐸</m:t>
                      </m:r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汉仪文黑-85W" panose="00020600040101010101" pitchFamily="18" charset="-128"/>
                          <a:cs typeface="汉仪文黑-85W" panose="00020600040101010101" pitchFamily="18" charset="-128"/>
                        </a:rPr>
                        <m:t>(</m:t>
                      </m:r>
                      <m:sSup>
                        <m:sSupPr>
                          <m:ctrlP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汉仪文黑-85W" panose="00020600040101010101" pitchFamily="18" charset="-128"/>
                              <a:cs typeface="汉仪文黑-85W" panose="00020600040101010101" pitchFamily="18" charset="-128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汉仪文黑-85W" panose="00020600040101010101" pitchFamily="18" charset="-128"/>
                              <a:cs typeface="汉仪文黑-85W" panose="00020600040101010101" pitchFamily="18" charset="-128"/>
                            </a:rPr>
                            <m:t>𝑋</m:t>
                          </m:r>
                        </m:e>
                        <m:sup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汉仪文黑-85W" panose="00020600040101010101" pitchFamily="18" charset="-128"/>
                              <a:cs typeface="汉仪文黑-85W" panose="00020600040101010101" pitchFamily="18" charset="-128"/>
                            </a:rPr>
                            <m:t>𝑘</m:t>
                          </m:r>
                        </m:sup>
                      </m:sSup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汉仪文黑-85W" panose="00020600040101010101" pitchFamily="18" charset="-128"/>
                          <a:cs typeface="汉仪文黑-85W" panose="00020600040101010101" pitchFamily="18" charset="-128"/>
                        </a:rPr>
                        <m:t>)</m:t>
                      </m:r>
                    </m:oMath>
                  </a14:m>
                  <a:endParaRPr lang="zh-CN" altLang="en-US" dirty="0">
                    <a:solidFill>
                      <a:schemeClr val="tx1"/>
                    </a:solidFill>
                    <a:latin typeface="汉仪文黑-85W" panose="00020600040101010101" pitchFamily="18" charset="-128"/>
                    <a:ea typeface="汉仪文黑-85W" panose="00020600040101010101" pitchFamily="18" charset="-128"/>
                    <a:cs typeface="汉仪文黑-85W" panose="00020600040101010101" pitchFamily="18" charset="-128"/>
                  </a:endParaRPr>
                </a:p>
              </p:txBody>
            </p:sp>
          </mc:Choice>
          <mc:Fallback xmlns="">
            <p:sp>
              <p:nvSpPr>
                <p:cNvPr id="4" name="矩形: 圆角 3">
                  <a:extLst>
                    <a:ext uri="{FF2B5EF4-FFF2-40B4-BE49-F238E27FC236}">
                      <a16:creationId xmlns:a16="http://schemas.microsoft.com/office/drawing/2014/main" id="{0B24E69A-ADF1-68D3-25F1-B6C202465E7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6364" y="2709636"/>
                  <a:ext cx="3501086" cy="631976"/>
                </a:xfrm>
                <a:prstGeom prst="round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文本框 5">
                  <a:extLst>
                    <a:ext uri="{FF2B5EF4-FFF2-40B4-BE49-F238E27FC236}">
                      <a16:creationId xmlns:a16="http://schemas.microsoft.com/office/drawing/2014/main" id="{E9903F11-4157-34C1-2B38-34002C8CCFFA}"/>
                    </a:ext>
                  </a:extLst>
                </p:cNvPr>
                <p:cNvSpPr txBox="1"/>
                <p:nvPr/>
              </p:nvSpPr>
              <p:spPr>
                <a:xfrm>
                  <a:off x="1328626" y="3347096"/>
                  <a:ext cx="1996562" cy="37568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  <a:ea typeface="汉仪文黑-85W" panose="00020600040101010101" pitchFamily="18" charset="-128"/>
                              <a:cs typeface="汉仪文黑-85W" panose="00020600040101010101" pitchFamily="18" charset="-128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  <a:ea typeface="汉仪文黑-85W" panose="00020600040101010101" pitchFamily="18" charset="-128"/>
                              <a:cs typeface="汉仪文黑-85W" panose="00020600040101010101" pitchFamily="18" charset="-128"/>
                            </a:rPr>
                            <m:t>𝛼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汉仪文黑-85W" panose="00020600040101010101" pitchFamily="18" charset="-128"/>
                              <a:cs typeface="汉仪文黑-85W" panose="00020600040101010101" pitchFamily="18" charset="-128"/>
                            </a:rPr>
                            <m:t>𝑘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Sup>
                            <m:sSubSupPr>
                              <m:ctrlPr>
                                <a:rPr lang="en-US" altLang="zh-CN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nary>
                    </m:oMath>
                  </a14:m>
                  <a:r>
                    <a:rPr lang="zh-CN" altLang="en-US" dirty="0"/>
                    <a:t> </a:t>
                  </a:r>
                </a:p>
              </p:txBody>
            </p:sp>
          </mc:Choice>
          <mc:Fallback xmlns="">
            <p:sp>
              <p:nvSpPr>
                <p:cNvPr id="6" name="文本框 5">
                  <a:extLst>
                    <a:ext uri="{FF2B5EF4-FFF2-40B4-BE49-F238E27FC236}">
                      <a16:creationId xmlns:a16="http://schemas.microsoft.com/office/drawing/2014/main" id="{E9903F11-4157-34C1-2B38-34002C8CCFF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28626" y="3347096"/>
                  <a:ext cx="1996562" cy="375680"/>
                </a:xfrm>
                <a:prstGeom prst="rect">
                  <a:avLst/>
                </a:prstGeom>
                <a:blipFill>
                  <a:blip r:embed="rId6"/>
                  <a:stretch>
                    <a:fillRect t="-116129" b="-18064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4F86AE2D-740C-B8B1-6FEB-583B6832D58B}"/>
                    </a:ext>
                  </a:extLst>
                </p:cNvPr>
                <p:cNvSpPr txBox="1"/>
                <p:nvPr/>
              </p:nvSpPr>
              <p:spPr>
                <a:xfrm>
                  <a:off x="1193538" y="3722776"/>
                  <a:ext cx="2266737" cy="45794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altLang="zh-CN" dirty="0">
                      <a:ea typeface="汉仪文黑-85W" panose="00020600040101010101" pitchFamily="18" charset="-128"/>
                      <a:cs typeface="汉仪文黑-85W" panose="00020600040101010101" pitchFamily="18" charset="-128"/>
                    </a:rPr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汉仪文黑-85W" panose="00020600040101010101" pitchFamily="18" charset="-128"/>
                              <a:cs typeface="汉仪文黑-85W" panose="00020600040101010101" pitchFamily="18" charset="-128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  <a:ea typeface="汉仪文黑-85W" panose="00020600040101010101" pitchFamily="18" charset="-128"/>
                              <a:cs typeface="汉仪文黑-85W" panose="00020600040101010101" pitchFamily="18" charset="-128"/>
                            </a:rPr>
                            <m:t>𝛼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汉仪文黑-85W" panose="00020600040101010101" pitchFamily="18" charset="-128"/>
                              <a:cs typeface="汉仪文黑-85W" panose="00020600040101010101" pitchFamily="18" charset="-128"/>
                            </a:rPr>
                            <m:t>𝑘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en-US" altLang="zh-CN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en-US" altLang="zh-CN" b="0" i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dx</m:t>
                          </m:r>
                        </m:e>
                      </m:nary>
                    </m:oMath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4F86AE2D-740C-B8B1-6FEB-583B6832D58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93538" y="3722776"/>
                  <a:ext cx="2266737" cy="457946"/>
                </a:xfrm>
                <a:prstGeom prst="rect">
                  <a:avLst/>
                </a:prstGeom>
                <a:blipFill>
                  <a:blip r:embed="rId7"/>
                  <a:stretch>
                    <a:fillRect t="-109333" b="-174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082E33EB-8428-AF25-3572-48ADE3FAEEF3}"/>
              </a:ext>
            </a:extLst>
          </p:cNvPr>
          <p:cNvGrpSpPr/>
          <p:nvPr/>
        </p:nvGrpSpPr>
        <p:grpSpPr>
          <a:xfrm>
            <a:off x="576364" y="4258568"/>
            <a:ext cx="3501086" cy="1548932"/>
            <a:chOff x="576364" y="4258568"/>
            <a:chExt cx="3501086" cy="15489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矩形: 圆角 2">
                  <a:extLst>
                    <a:ext uri="{FF2B5EF4-FFF2-40B4-BE49-F238E27FC236}">
                      <a16:creationId xmlns:a16="http://schemas.microsoft.com/office/drawing/2014/main" id="{99C236EC-F938-50DC-15FF-9F98CFACA0AD}"/>
                    </a:ext>
                  </a:extLst>
                </p:cNvPr>
                <p:cNvSpPr/>
                <p:nvPr/>
              </p:nvSpPr>
              <p:spPr>
                <a:xfrm>
                  <a:off x="576364" y="4258568"/>
                  <a:ext cx="3501086" cy="631976"/>
                </a:xfrm>
                <a:prstGeom prst="round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altLang="zh-CN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汉仪文黑-85W" panose="00020600040101010101" pitchFamily="18" charset="-128"/>
                          <a:cs typeface="汉仪文黑-85W" panose="00020600040101010101" pitchFamily="18" charset="-128"/>
                        </a:rPr>
                        <m:t>𝑘</m:t>
                      </m:r>
                    </m:oMath>
                  </a14:m>
                  <a:r>
                    <a:rPr lang="zh-CN" altLang="en-US" dirty="0">
                      <a:solidFill>
                        <a:schemeClr val="tx1"/>
                      </a:solidFill>
                      <a:latin typeface="汉仪文黑-85W" panose="00020600040101010101" pitchFamily="18" charset="-128"/>
                      <a:ea typeface="汉仪文黑-85W" panose="00020600040101010101" pitchFamily="18" charset="-128"/>
                      <a:cs typeface="汉仪文黑-85W" panose="00020600040101010101" pitchFamily="18" charset="-128"/>
                    </a:rPr>
                    <a:t>阶中心矩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汉仪文黑-85W" panose="00020600040101010101" pitchFamily="18" charset="-128"/>
                              <a:cs typeface="汉仪文黑-85W" panose="00020600040101010101" pitchFamily="18" charset="-128"/>
                            </a:rPr>
                          </m:ctrlPr>
                        </m:sSubPr>
                        <m:e>
                          <m:r>
                            <a:rPr lang="zh-CN" alt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汉仪文黑-85W" panose="00020600040101010101" pitchFamily="18" charset="-128"/>
                              <a:cs typeface="汉仪文黑-85W" panose="00020600040101010101" pitchFamily="18" charset="-128"/>
                            </a:rPr>
                            <m:t>𝜇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汉仪文黑-85W" panose="00020600040101010101" pitchFamily="18" charset="-128"/>
                              <a:cs typeface="汉仪文黑-85W" panose="00020600040101010101" pitchFamily="18" charset="-128"/>
                            </a:rPr>
                            <m:t>𝑘</m:t>
                          </m:r>
                        </m:sub>
                      </m:sSub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汉仪文黑-85W" panose="00020600040101010101" pitchFamily="18" charset="-128"/>
                          <a:cs typeface="汉仪文黑-85W" panose="00020600040101010101" pitchFamily="18" charset="-128"/>
                        </a:rPr>
                        <m:t>=</m:t>
                      </m:r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汉仪文黑-85W" panose="00020600040101010101" pitchFamily="18" charset="-128"/>
                          <a:cs typeface="汉仪文黑-85W" panose="00020600040101010101" pitchFamily="18" charset="-128"/>
                        </a:rPr>
                        <m:t>𝐸</m:t>
                      </m:r>
                      <m:sSup>
                        <m:sSupPr>
                          <m:ctrlP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汉仪文黑-85W" panose="00020600040101010101" pitchFamily="18" charset="-128"/>
                              <a:cs typeface="汉仪文黑-85W" panose="00020600040101010101" pitchFamily="18" charset="-128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汉仪文黑-85W" panose="00020600040101010101" pitchFamily="18" charset="-128"/>
                                  <a:cs typeface="汉仪文黑-85W" panose="00020600040101010101" pitchFamily="18" charset="-128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汉仪文黑-85W" panose="00020600040101010101" pitchFamily="18" charset="-128"/>
                                  <a:cs typeface="汉仪文黑-85W" panose="00020600040101010101" pitchFamily="18" charset="-128"/>
                                </a:rPr>
                                <m:t>𝑋</m:t>
                              </m:r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汉仪文黑-85W" panose="00020600040101010101" pitchFamily="18" charset="-128"/>
                                  <a:cs typeface="汉仪文黑-85W" panose="00020600040101010101" pitchFamily="18" charset="-128"/>
                                </a:rPr>
                                <m:t>−</m:t>
                              </m:r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汉仪文黑-85W" panose="00020600040101010101" pitchFamily="18" charset="-128"/>
                                  <a:cs typeface="汉仪文黑-85W" panose="00020600040101010101" pitchFamily="18" charset="-128"/>
                                </a:rPr>
                                <m:t>𝐸</m:t>
                              </m:r>
                              <m:d>
                                <m:dPr>
                                  <m:ctrlPr>
                                    <a:rPr lang="en-US" altLang="zh-CN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汉仪文黑-85W" panose="00020600040101010101" pitchFamily="18" charset="-128"/>
                                      <a:cs typeface="汉仪文黑-85W" panose="00020600040101010101" pitchFamily="18" charset="-128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汉仪文黑-85W" panose="00020600040101010101" pitchFamily="18" charset="-128"/>
                                      <a:cs typeface="汉仪文黑-85W" panose="00020600040101010101" pitchFamily="18" charset="-128"/>
                                    </a:rPr>
                                    <m:t>𝑋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汉仪文黑-85W" panose="00020600040101010101" pitchFamily="18" charset="-128"/>
                              <a:cs typeface="汉仪文黑-85W" panose="00020600040101010101" pitchFamily="18" charset="-128"/>
                            </a:rPr>
                            <m:t>𝑘</m:t>
                          </m:r>
                        </m:sup>
                      </m:sSup>
                    </m:oMath>
                  </a14:m>
                  <a:endParaRPr lang="zh-CN" altLang="en-US" dirty="0">
                    <a:solidFill>
                      <a:schemeClr val="tx1"/>
                    </a:solidFill>
                    <a:latin typeface="汉仪文黑-85W" panose="00020600040101010101" pitchFamily="18" charset="-128"/>
                    <a:ea typeface="汉仪文黑-85W" panose="00020600040101010101" pitchFamily="18" charset="-128"/>
                    <a:cs typeface="汉仪文黑-85W" panose="00020600040101010101" pitchFamily="18" charset="-128"/>
                  </a:endParaRPr>
                </a:p>
              </p:txBody>
            </p:sp>
          </mc:Choice>
          <mc:Fallback xmlns="">
            <p:sp>
              <p:nvSpPr>
                <p:cNvPr id="3" name="矩形: 圆角 2">
                  <a:extLst>
                    <a:ext uri="{FF2B5EF4-FFF2-40B4-BE49-F238E27FC236}">
                      <a16:creationId xmlns:a16="http://schemas.microsoft.com/office/drawing/2014/main" id="{99C236EC-F938-50DC-15FF-9F98CFACA0A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6364" y="4258568"/>
                  <a:ext cx="3501086" cy="631976"/>
                </a:xfrm>
                <a:prstGeom prst="round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63C0EB10-FB94-D04A-3BC9-5EC5008D09B3}"/>
                    </a:ext>
                  </a:extLst>
                </p:cNvPr>
                <p:cNvSpPr txBox="1"/>
                <p:nvPr/>
              </p:nvSpPr>
              <p:spPr>
                <a:xfrm>
                  <a:off x="879028" y="4884106"/>
                  <a:ext cx="2895757" cy="46544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  <a:ea typeface="汉仪文黑-85W" panose="00020600040101010101" pitchFamily="18" charset="-128"/>
                              <a:cs typeface="汉仪文黑-85W" panose="00020600040101010101" pitchFamily="18" charset="-128"/>
                            </a:rPr>
                          </m:ctrlPr>
                        </m:sSubPr>
                        <m:e>
                          <m:r>
                            <a:rPr lang="zh-CN" altLang="en-US" i="1" smtClean="0">
                              <a:latin typeface="Cambria Math" panose="02040503050406030204" pitchFamily="18" charset="0"/>
                              <a:ea typeface="汉仪文黑-85W" panose="00020600040101010101" pitchFamily="18" charset="-128"/>
                              <a:cs typeface="汉仪文黑-85W" panose="00020600040101010101" pitchFamily="18" charset="-128"/>
                            </a:rPr>
                            <m:t>𝜇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汉仪文黑-85W" panose="00020600040101010101" pitchFamily="18" charset="-128"/>
                              <a:cs typeface="汉仪文黑-85W" panose="00020600040101010101" pitchFamily="18" charset="-128"/>
                            </a:rPr>
                            <m:t>𝑘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en-US" altLang="zh-CN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  <m:r>
                                    <a:rPr lang="en-US" altLang="zh-CN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  <m:d>
                                    <m:dPr>
                                      <m:ctrlPr>
                                        <a:rPr lang="en-US" altLang="zh-CN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altLang="zh-CN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nary>
                    </m:oMath>
                  </a14:m>
                  <a:r>
                    <a:rPr lang="zh-CN" altLang="en-US" dirty="0"/>
                    <a:t> </a:t>
                  </a:r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63C0EB10-FB94-D04A-3BC9-5EC5008D09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9028" y="4884106"/>
                  <a:ext cx="2895757" cy="465448"/>
                </a:xfrm>
                <a:prstGeom prst="rect">
                  <a:avLst/>
                </a:prstGeom>
                <a:blipFill>
                  <a:blip r:embed="rId9"/>
                  <a:stretch>
                    <a:fillRect t="-76623" b="-14285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文本框 12">
                  <a:extLst>
                    <a:ext uri="{FF2B5EF4-FFF2-40B4-BE49-F238E27FC236}">
                      <a16:creationId xmlns:a16="http://schemas.microsoft.com/office/drawing/2014/main" id="{ED5616FA-C8A2-E255-9AFF-60CA53B42CE8}"/>
                    </a:ext>
                  </a:extLst>
                </p:cNvPr>
                <p:cNvSpPr txBox="1"/>
                <p:nvPr/>
              </p:nvSpPr>
              <p:spPr>
                <a:xfrm>
                  <a:off x="715873" y="5349554"/>
                  <a:ext cx="3222065" cy="45794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altLang="zh-CN" dirty="0">
                      <a:ea typeface="汉仪文黑-85W" panose="00020600040101010101" pitchFamily="18" charset="-128"/>
                      <a:cs typeface="汉仪文黑-85W" panose="00020600040101010101" pitchFamily="18" charset="-128"/>
                    </a:rPr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汉仪文黑-85W" panose="00020600040101010101" pitchFamily="18" charset="-128"/>
                              <a:cs typeface="汉仪文黑-85W" panose="00020600040101010101" pitchFamily="18" charset="-128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  <a:ea typeface="汉仪文黑-85W" panose="00020600040101010101" pitchFamily="18" charset="-128"/>
                              <a:cs typeface="汉仪文黑-85W" panose="00020600040101010101" pitchFamily="18" charset="-128"/>
                            </a:rPr>
                            <m:t>𝛼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汉仪文黑-85W" panose="00020600040101010101" pitchFamily="18" charset="-128"/>
                              <a:cs typeface="汉仪文黑-85W" panose="00020600040101010101" pitchFamily="18" charset="-128"/>
                            </a:rPr>
                            <m:t>𝑘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en-US" altLang="zh-CN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d>
                                <m:dPr>
                                  <m:ctrlPr>
                                    <a:rPr lang="en-US" altLang="zh-CN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d>
                              <m:r>
                                <a:rPr lang="en-US" altLang="zh-CN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en-US" altLang="zh-CN" b="0" i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dx</m:t>
                          </m:r>
                        </m:e>
                      </m:nary>
                    </m:oMath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3" name="文本框 12">
                  <a:extLst>
                    <a:ext uri="{FF2B5EF4-FFF2-40B4-BE49-F238E27FC236}">
                      <a16:creationId xmlns:a16="http://schemas.microsoft.com/office/drawing/2014/main" id="{ED5616FA-C8A2-E255-9AFF-60CA53B42C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5873" y="5349554"/>
                  <a:ext cx="3222065" cy="457946"/>
                </a:xfrm>
                <a:prstGeom prst="rect">
                  <a:avLst/>
                </a:prstGeom>
                <a:blipFill>
                  <a:blip r:embed="rId10"/>
                  <a:stretch>
                    <a:fillRect t="-109333" b="-174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8" name="文本框 17">
            <a:extLst>
              <a:ext uri="{FF2B5EF4-FFF2-40B4-BE49-F238E27FC236}">
                <a16:creationId xmlns:a16="http://schemas.microsoft.com/office/drawing/2014/main" id="{18E69F7C-51C0-C657-7B72-2E98D9CBCE08}"/>
              </a:ext>
            </a:extLst>
          </p:cNvPr>
          <p:cNvSpPr txBox="1"/>
          <p:nvPr/>
        </p:nvSpPr>
        <p:spPr>
          <a:xfrm>
            <a:off x="4380114" y="2709636"/>
            <a:ext cx="5068808" cy="30508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1600" dirty="0">
                <a:latin typeface="汉仪文黑-85W" panose="00020600040101010101" pitchFamily="18" charset="-128"/>
                <a:ea typeface="汉仪文黑-85W" panose="00020600040101010101" pitchFamily="18" charset="-128"/>
                <a:cs typeface="汉仪文黑-85W" panose="00020600040101010101" pitchFamily="18" charset="-128"/>
              </a:rPr>
              <a:t>注</a:t>
            </a:r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</a:rPr>
              <a:t>：矩的阶数越高，越难以描述与理解。</a:t>
            </a:r>
            <a:endParaRPr lang="en-US" altLang="zh-CN" sz="16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1600" dirty="0">
                <a:latin typeface="仿宋" panose="02010609060101010101" pitchFamily="49" charset="-122"/>
                <a:ea typeface="仿宋" panose="02010609060101010101" pitchFamily="49" charset="-122"/>
              </a:rPr>
              <a:t>    </a:t>
            </a:r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</a:rPr>
              <a:t>就像位移的一阶导数是速度，二阶导数是加速度，</a:t>
            </a:r>
            <a:endParaRPr lang="en-US" altLang="zh-CN" sz="16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1600" dirty="0">
                <a:latin typeface="仿宋" panose="02010609060101010101" pitchFamily="49" charset="-122"/>
                <a:ea typeface="仿宋" panose="02010609060101010101" pitchFamily="49" charset="-122"/>
              </a:rPr>
              <a:t>    </a:t>
            </a:r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</a:rPr>
              <a:t>而三阶以上导数很少讨论了。</a:t>
            </a:r>
            <a:endParaRPr lang="en-US" altLang="zh-CN" sz="16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ct val="125000"/>
              </a:lnSpc>
              <a:spcBef>
                <a:spcPts val="1200"/>
              </a:spcBef>
            </a:pPr>
            <a:r>
              <a:rPr lang="en-US" altLang="zh-CN" sz="1600" dirty="0">
                <a:latin typeface="仿宋" panose="02010609060101010101" pitchFamily="49" charset="-122"/>
                <a:ea typeface="仿宋" panose="02010609060101010101" pitchFamily="49" charset="-122"/>
              </a:rPr>
              <a:t>    </a:t>
            </a:r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</a:rPr>
              <a:t>概率论中，常用的矩一般最多到四阶。</a:t>
            </a:r>
            <a:endParaRPr lang="en-US" altLang="zh-CN" sz="16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lang="en-US" altLang="zh-CN" sz="1600" dirty="0">
                <a:latin typeface="仿宋" panose="02010609060101010101" pitchFamily="49" charset="-122"/>
                <a:ea typeface="仿宋" panose="02010609060101010101" pitchFamily="49" charset="-122"/>
              </a:rPr>
              <a:t>    </a:t>
            </a:r>
            <a:r>
              <a:rPr lang="zh-CN" altLang="en-US" sz="1600" dirty="0">
                <a:latin typeface="楷体" panose="02010609060101010101" pitchFamily="49" charset="-122"/>
                <a:ea typeface="楷体" panose="02010609060101010101" pitchFamily="49" charset="-122"/>
              </a:rPr>
              <a:t>零阶矩：总概率（为</a:t>
            </a:r>
            <a:r>
              <a:rPr lang="en-US" altLang="zh-CN" sz="1600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1600" dirty="0">
                <a:latin typeface="楷体" panose="02010609060101010101" pitchFamily="49" charset="-122"/>
                <a:ea typeface="楷体" panose="02010609060101010101" pitchFamily="49" charset="-122"/>
              </a:rPr>
              <a:t>）；</a:t>
            </a:r>
            <a:endParaRPr lang="en-US" altLang="zh-CN" sz="16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1600" dirty="0"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  <a:r>
              <a:rPr lang="zh-CN" altLang="en-US" sz="1600" b="1" dirty="0">
                <a:latin typeface="楷体" panose="02010609060101010101" pitchFamily="49" charset="-122"/>
                <a:ea typeface="楷体" panose="02010609060101010101" pitchFamily="49" charset="-122"/>
              </a:rPr>
              <a:t>一阶原点矩：数学期望；</a:t>
            </a:r>
            <a:endParaRPr lang="en-US" altLang="zh-CN" sz="16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1600" dirty="0"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  <a:r>
              <a:rPr lang="zh-CN" altLang="en-US" sz="1600" b="1" dirty="0">
                <a:latin typeface="楷体" panose="02010609060101010101" pitchFamily="49" charset="-122"/>
                <a:ea typeface="楷体" panose="02010609060101010101" pitchFamily="49" charset="-122"/>
              </a:rPr>
              <a:t>二阶中心矩：方差；</a:t>
            </a:r>
            <a:endParaRPr lang="en-US" altLang="zh-CN" sz="16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1600" dirty="0">
                <a:latin typeface="楷体" panose="02010609060101010101" pitchFamily="49" charset="-122"/>
                <a:ea typeface="楷体" panose="02010609060101010101" pitchFamily="49" charset="-122"/>
              </a:rPr>
              <a:t>   *</a:t>
            </a:r>
            <a:r>
              <a:rPr lang="zh-CN" altLang="en-US" sz="1600" dirty="0">
                <a:latin typeface="楷体" panose="02010609060101010101" pitchFamily="49" charset="-122"/>
                <a:ea typeface="楷体" panose="02010609060101010101" pitchFamily="49" charset="-122"/>
              </a:rPr>
              <a:t>三阶中心矩：偏度；</a:t>
            </a:r>
            <a:endParaRPr lang="en-US" altLang="zh-CN" sz="16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1600" dirty="0">
                <a:latin typeface="楷体" panose="02010609060101010101" pitchFamily="49" charset="-122"/>
                <a:ea typeface="楷体" panose="02010609060101010101" pitchFamily="49" charset="-122"/>
              </a:rPr>
              <a:t>   *</a:t>
            </a:r>
            <a:r>
              <a:rPr lang="zh-CN" altLang="en-US" sz="1600" dirty="0">
                <a:latin typeface="楷体" panose="02010609060101010101" pitchFamily="49" charset="-122"/>
                <a:ea typeface="楷体" panose="02010609060101010101" pitchFamily="49" charset="-122"/>
              </a:rPr>
              <a:t>四阶中心矩：峰度。</a:t>
            </a:r>
            <a:endParaRPr lang="en-US" altLang="zh-CN" sz="16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: 圆角 4">
                <a:extLst>
                  <a:ext uri="{FF2B5EF4-FFF2-40B4-BE49-F238E27FC236}">
                    <a16:creationId xmlns:a16="http://schemas.microsoft.com/office/drawing/2014/main" id="{E166EAB4-48D3-8A7D-2159-D50DBFC4B8E6}"/>
                  </a:ext>
                </a:extLst>
              </p:cNvPr>
              <p:cNvSpPr/>
              <p:nvPr/>
            </p:nvSpPr>
            <p:spPr>
              <a:xfrm>
                <a:off x="7646594" y="5378181"/>
                <a:ext cx="3969042" cy="429319"/>
              </a:xfrm>
              <a:prstGeom prst="roundRect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400" dirty="0">
                    <a:solidFill>
                      <a:schemeClr val="bg1"/>
                    </a:solidFill>
                    <a:latin typeface="汉仪润圆-65简" panose="00020600040101010101" pitchFamily="18" charset="-122"/>
                    <a:ea typeface="汉仪润圆-65简" panose="00020600040101010101" pitchFamily="18" charset="-122"/>
                    <a:cs typeface="汉仪文黑-85W" panose="00020600040101010101" pitchFamily="18" charset="-128"/>
                  </a:rPr>
                  <a:t>请牢记：矩的本质只是随机变量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汉仪文黑-85W" panose="00020600040101010101" pitchFamily="18" charset="-128"/>
                            <a:cs typeface="汉仪文黑-85W" panose="00020600040101010101" pitchFamily="18" charset="-128"/>
                          </a:rPr>
                        </m:ctrlPr>
                      </m:sSupPr>
                      <m:e>
                        <m:r>
                          <a:rPr lang="en-US" altLang="zh-CN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汉仪文黑-85W" panose="00020600040101010101" pitchFamily="18" charset="-128"/>
                            <a:cs typeface="汉仪文黑-85W" panose="00020600040101010101" pitchFamily="18" charset="-128"/>
                          </a:rPr>
                          <m:t>𝑋</m:t>
                        </m:r>
                      </m:e>
                      <m:sup>
                        <m:r>
                          <a:rPr lang="en-US" altLang="zh-CN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汉仪文黑-85W" panose="00020600040101010101" pitchFamily="18" charset="-128"/>
                            <a:cs typeface="汉仪文黑-85W" panose="00020600040101010101" pitchFamily="18" charset="-128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zh-CN" altLang="en-US" sz="1400" dirty="0">
                    <a:solidFill>
                      <a:schemeClr val="bg1"/>
                    </a:solidFill>
                    <a:latin typeface="汉仪润圆-65简" panose="00020600040101010101" pitchFamily="18" charset="-122"/>
                    <a:ea typeface="汉仪润圆-65简" panose="00020600040101010101" pitchFamily="18" charset="-122"/>
                    <a:cs typeface="汉仪文黑-85W" panose="00020600040101010101" pitchFamily="18" charset="-128"/>
                  </a:rPr>
                  <a:t>的均值。</a:t>
                </a:r>
              </a:p>
            </p:txBody>
          </p:sp>
        </mc:Choice>
        <mc:Fallback xmlns="">
          <p:sp>
            <p:nvSpPr>
              <p:cNvPr id="5" name="矩形: 圆角 4">
                <a:extLst>
                  <a:ext uri="{FF2B5EF4-FFF2-40B4-BE49-F238E27FC236}">
                    <a16:creationId xmlns:a16="http://schemas.microsoft.com/office/drawing/2014/main" id="{E166EAB4-48D3-8A7D-2159-D50DBFC4B8E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6594" y="5378181"/>
                <a:ext cx="3969042" cy="429319"/>
              </a:xfrm>
              <a:prstGeom prst="round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69818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57" grpId="0"/>
      <p:bldP spid="18" grpId="0"/>
      <p:bldP spid="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143FF26B-CC77-0DBB-021F-F6F65A8FA87C}"/>
              </a:ext>
            </a:extLst>
          </p:cNvPr>
          <p:cNvCxnSpPr/>
          <p:nvPr/>
        </p:nvCxnSpPr>
        <p:spPr>
          <a:xfrm>
            <a:off x="576364" y="1136063"/>
            <a:ext cx="11039272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4E896CA5-6289-B087-607E-59A6F00799F2}"/>
              </a:ext>
            </a:extLst>
          </p:cNvPr>
          <p:cNvSpPr txBox="1"/>
          <p:nvPr/>
        </p:nvSpPr>
        <p:spPr>
          <a:xfrm>
            <a:off x="507460" y="496110"/>
            <a:ext cx="54591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随机变量的协方差与相关系数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C25D15E-7559-13E6-28DC-2B107A80BBD1}"/>
              </a:ext>
            </a:extLst>
          </p:cNvPr>
          <p:cNvSpPr txBox="1"/>
          <p:nvPr/>
        </p:nvSpPr>
        <p:spPr>
          <a:xfrm>
            <a:off x="5966624" y="775742"/>
            <a:ext cx="219370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600" dirty="0"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协方差的定义与性质</a:t>
            </a:r>
            <a:endParaRPr lang="en-US" altLang="zh-CN" sz="1600" dirty="0">
              <a:latin typeface="方正清刻本悦宋简体" panose="02000000000000000000" pitchFamily="2" charset="-122"/>
              <a:ea typeface="方正清刻本悦宋简体" panose="02000000000000000000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975FF12-4FFA-876F-AE0B-715D3ACB08FE}"/>
              </a:ext>
            </a:extLst>
          </p:cNvPr>
          <p:cNvSpPr txBox="1"/>
          <p:nvPr/>
        </p:nvSpPr>
        <p:spPr>
          <a:xfrm>
            <a:off x="507460" y="1425186"/>
            <a:ext cx="11108176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之前不论是讨论 数学期望 还是 方差，针对的都是 一维随机变量 的情形。</a:t>
            </a:r>
            <a:endParaRPr lang="en-US" altLang="zh-CN" sz="1600" dirty="0">
              <a:latin typeface="方正小标宋简体" panose="02000000000000000000" pitchFamily="2" charset="-122"/>
              <a:ea typeface="方正小标宋简体" panose="02000000000000000000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对于 二维随机变量 来讲，它们之间倘若有一定的关系，那么仅靠 期望 或 方差 是无法刻画的。</a:t>
            </a:r>
            <a:endParaRPr lang="en-US" altLang="zh-CN" sz="1600" dirty="0">
              <a:latin typeface="方正小标宋简体" panose="02000000000000000000" pitchFamily="2" charset="-122"/>
              <a:ea typeface="方正小标宋简体" panose="02000000000000000000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: 圆角 13">
                <a:extLst>
                  <a:ext uri="{FF2B5EF4-FFF2-40B4-BE49-F238E27FC236}">
                    <a16:creationId xmlns:a16="http://schemas.microsoft.com/office/drawing/2014/main" id="{8F8FEB21-1291-372C-1378-3CA3F61C6D15}"/>
                  </a:ext>
                </a:extLst>
              </p:cNvPr>
              <p:cNvSpPr/>
              <p:nvPr/>
            </p:nvSpPr>
            <p:spPr>
              <a:xfrm>
                <a:off x="576364" y="2944733"/>
                <a:ext cx="2232620" cy="595069"/>
              </a:xfrm>
              <a:prstGeom prst="round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dirty="0">
                    <a:solidFill>
                      <a:schemeClr val="tx1"/>
                    </a:solidFill>
                    <a:latin typeface="汉仪文黑-85W" panose="00020600040101010101" pitchFamily="18" charset="-128"/>
                    <a:ea typeface="汉仪文黑-85W" panose="00020600040101010101" pitchFamily="18" charset="-128"/>
                    <a:cs typeface="汉仪文黑-85W" panose="00020600040101010101" pitchFamily="18" charset="-128"/>
                  </a:rPr>
                  <a:t>协方差</a:t>
                </a:r>
                <a:r>
                  <a:rPr lang="en-US" altLang="zh-CN" dirty="0">
                    <a:solidFill>
                      <a:schemeClr val="tx1"/>
                    </a:solidFill>
                    <a:latin typeface="汉仪文黑-85W" panose="00020600040101010101" pitchFamily="18" charset="-128"/>
                    <a:ea typeface="汉仪文黑-85W" panose="00020600040101010101" pitchFamily="18" charset="-128"/>
                    <a:cs typeface="汉仪文黑-85W" panose="00020600040101010101" pitchFamily="18" charset="-128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cov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en-US" dirty="0">
                  <a:solidFill>
                    <a:schemeClr val="tx1"/>
                  </a:solidFill>
                  <a:latin typeface="汉仪文黑-85W" panose="00020600040101010101" pitchFamily="18" charset="-128"/>
                  <a:ea typeface="汉仪文黑-85W" panose="00020600040101010101" pitchFamily="18" charset="-128"/>
                  <a:cs typeface="汉仪文黑-85W" panose="00020600040101010101" pitchFamily="18" charset="-128"/>
                </a:endParaRPr>
              </a:p>
            </p:txBody>
          </p:sp>
        </mc:Choice>
        <mc:Fallback xmlns="">
          <p:sp>
            <p:nvSpPr>
              <p:cNvPr id="14" name="矩形: 圆角 13">
                <a:extLst>
                  <a:ext uri="{FF2B5EF4-FFF2-40B4-BE49-F238E27FC236}">
                    <a16:creationId xmlns:a16="http://schemas.microsoft.com/office/drawing/2014/main" id="{8F8FEB21-1291-372C-1378-3CA3F61C6D1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364" y="2944733"/>
                <a:ext cx="2232620" cy="595069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文本框 15">
            <a:extLst>
              <a:ext uri="{FF2B5EF4-FFF2-40B4-BE49-F238E27FC236}">
                <a16:creationId xmlns:a16="http://schemas.microsoft.com/office/drawing/2014/main" id="{2D2A312C-1B02-E0F5-6108-14D4705C33C5}"/>
              </a:ext>
            </a:extLst>
          </p:cNvPr>
          <p:cNvSpPr txBox="1"/>
          <p:nvPr/>
        </p:nvSpPr>
        <p:spPr>
          <a:xfrm>
            <a:off x="507460" y="2514527"/>
            <a:ext cx="609490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「协方差」可以刻画 两随机变量间 的关系。</a:t>
            </a:r>
            <a:endParaRPr lang="en-US" altLang="zh-CN" sz="1600" dirty="0">
              <a:latin typeface="方正小标宋简体" panose="02000000000000000000" pitchFamily="2" charset="-122"/>
              <a:ea typeface="方正小标宋简体" panose="02000000000000000000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ABF166A2-EB1C-C565-54C8-FFA344E82C75}"/>
                  </a:ext>
                </a:extLst>
              </p:cNvPr>
              <p:cNvSpPr txBox="1"/>
              <p:nvPr/>
            </p:nvSpPr>
            <p:spPr>
              <a:xfrm>
                <a:off x="3064890" y="3103767"/>
                <a:ext cx="759278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b="0" i="0" smtClean="0">
                        <a:latin typeface="Cambria Math" panose="02040503050406030204" pitchFamily="18" charset="0"/>
                      </a:rPr>
                      <m:t>cov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{"/>
                        <m:endChr m:val="}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  <m:d>
                          <m:dPr>
                            <m:begChr m:val="["/>
                            <m:endChr m:val="]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  <m:d>
                              <m:d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</m:d>
                          </m:e>
                        </m:d>
                      </m:e>
                    </m:d>
                  </m:oMath>
                </a14:m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:r>
                  <a:rPr lang="zh-CN" altLang="en-US" sz="1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其中随机变量</a:t>
                </a:r>
                <a14:m>
                  <m:oMath xmlns:m="http://schemas.openxmlformats.org/officeDocument/2006/math">
                    <m:r>
                      <a:rPr lang="en-US" altLang="zh-CN" sz="14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𝑋</m:t>
                    </m:r>
                    <m:r>
                      <a:rPr lang="en-US" altLang="zh-CN" sz="14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</m:t>
                    </m:r>
                    <m:r>
                      <a:rPr lang="en-US" altLang="zh-CN" sz="14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𝑌</m:t>
                    </m:r>
                  </m:oMath>
                </a14:m>
                <a:r>
                  <a:rPr lang="zh-CN" altLang="en-US" sz="1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的数学期望分别为</a:t>
                </a:r>
                <a14:m>
                  <m:oMath xmlns:m="http://schemas.openxmlformats.org/officeDocument/2006/math">
                    <m:r>
                      <a:rPr lang="en-US" altLang="zh-CN" sz="14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𝐸</m:t>
                    </m:r>
                    <m:d>
                      <m:dPr>
                        <m:ctrlPr>
                          <a:rPr lang="en-US" altLang="zh-CN" sz="14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𝑋</m:t>
                        </m:r>
                      </m:e>
                    </m:d>
                    <m:r>
                      <a:rPr lang="en-US" altLang="zh-CN" sz="14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</m:t>
                    </m:r>
                    <m:r>
                      <a:rPr lang="en-US" altLang="zh-CN" sz="14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𝐸</m:t>
                    </m:r>
                    <m:r>
                      <a:rPr lang="en-US" altLang="zh-CN" sz="14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  <m:r>
                      <a:rPr lang="en-US" altLang="zh-CN" sz="14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𝑌</m:t>
                    </m:r>
                    <m:r>
                      <a:rPr lang="en-US" altLang="zh-CN" sz="14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</m:t>
                    </m:r>
                  </m:oMath>
                </a14:m>
                <a:endParaRPr lang="zh-CN" altLang="en-US" sz="14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ABF166A2-EB1C-C565-54C8-FFA344E82C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4890" y="3103767"/>
                <a:ext cx="7592784" cy="276999"/>
              </a:xfrm>
              <a:prstGeom prst="rect">
                <a:avLst/>
              </a:prstGeom>
              <a:blipFill>
                <a:blip r:embed="rId4"/>
                <a:stretch>
                  <a:fillRect l="-803" t="-32609" r="-161" b="-456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68EE91F9-D546-781E-51A8-27DBABCC1DB8}"/>
              </a:ext>
            </a:extLst>
          </p:cNvPr>
          <p:cNvCxnSpPr>
            <a:cxnSpLocks/>
          </p:cNvCxnSpPr>
          <p:nvPr/>
        </p:nvCxnSpPr>
        <p:spPr>
          <a:xfrm>
            <a:off x="828483" y="3429000"/>
            <a:ext cx="0" cy="1168890"/>
          </a:xfrm>
          <a:prstGeom prst="line">
            <a:avLst/>
          </a:prstGeom>
          <a:ln w="38100">
            <a:solidFill>
              <a:schemeClr val="accent4">
                <a:lumMod val="20000"/>
                <a:lumOff val="8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20A75254-0838-177F-5A55-3C56BC246E02}"/>
              </a:ext>
            </a:extLst>
          </p:cNvPr>
          <p:cNvGrpSpPr/>
          <p:nvPr/>
        </p:nvGrpSpPr>
        <p:grpSpPr>
          <a:xfrm>
            <a:off x="783038" y="3720107"/>
            <a:ext cx="10832598" cy="607923"/>
            <a:chOff x="783038" y="4002579"/>
            <a:chExt cx="10832598" cy="607923"/>
          </a:xfrm>
        </p:grpSpPr>
        <p:grpSp>
          <p:nvGrpSpPr>
            <p:cNvPr id="28" name="组合 27">
              <a:extLst>
                <a:ext uri="{FF2B5EF4-FFF2-40B4-BE49-F238E27FC236}">
                  <a16:creationId xmlns:a16="http://schemas.microsoft.com/office/drawing/2014/main" id="{42CABE89-549D-7751-21F3-4CC4B4F14ACF}"/>
                </a:ext>
              </a:extLst>
            </p:cNvPr>
            <p:cNvGrpSpPr/>
            <p:nvPr/>
          </p:nvGrpSpPr>
          <p:grpSpPr>
            <a:xfrm>
              <a:off x="783038" y="4136861"/>
              <a:ext cx="590428" cy="90889"/>
              <a:chOff x="783038" y="4168883"/>
              <a:chExt cx="590428" cy="90889"/>
            </a:xfrm>
          </p:grpSpPr>
          <p:cxnSp>
            <p:nvCxnSpPr>
              <p:cNvPr id="30" name="直接连接符 29">
                <a:extLst>
                  <a:ext uri="{FF2B5EF4-FFF2-40B4-BE49-F238E27FC236}">
                    <a16:creationId xmlns:a16="http://schemas.microsoft.com/office/drawing/2014/main" id="{25BE37D2-F0AC-78CB-6E4F-1DEFD52040A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4251" y="4214328"/>
                <a:ext cx="559215" cy="0"/>
              </a:xfrm>
              <a:prstGeom prst="line">
                <a:avLst/>
              </a:prstGeom>
              <a:ln w="38100">
                <a:solidFill>
                  <a:schemeClr val="accent4">
                    <a:lumMod val="20000"/>
                    <a:lumOff val="80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椭圆 30">
                <a:extLst>
                  <a:ext uri="{FF2B5EF4-FFF2-40B4-BE49-F238E27FC236}">
                    <a16:creationId xmlns:a16="http://schemas.microsoft.com/office/drawing/2014/main" id="{24E6BBA3-2DD4-71C1-E369-D3D2D3ECE62A}"/>
                  </a:ext>
                </a:extLst>
              </p:cNvPr>
              <p:cNvSpPr/>
              <p:nvPr/>
            </p:nvSpPr>
            <p:spPr>
              <a:xfrm>
                <a:off x="783038" y="4168883"/>
                <a:ext cx="90889" cy="90889"/>
              </a:xfrm>
              <a:prstGeom prst="ellipse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文本框 28">
                  <a:extLst>
                    <a:ext uri="{FF2B5EF4-FFF2-40B4-BE49-F238E27FC236}">
                      <a16:creationId xmlns:a16="http://schemas.microsoft.com/office/drawing/2014/main" id="{20F502C8-65DA-8A42-2F65-1F6E240C377C}"/>
                    </a:ext>
                  </a:extLst>
                </p:cNvPr>
                <p:cNvSpPr txBox="1"/>
                <p:nvPr/>
              </p:nvSpPr>
              <p:spPr>
                <a:xfrm>
                  <a:off x="1418911" y="4002579"/>
                  <a:ext cx="10196725" cy="60792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ct val="125000"/>
                    </a:lnSpc>
                  </a:pPr>
                  <a:r>
                    <a:rPr lang="zh-CN" altLang="en-US" sz="1400" dirty="0">
                      <a:latin typeface="汉仪文黑-85W" panose="00020600040101010101" pitchFamily="18" charset="-128"/>
                      <a:ea typeface="汉仪文黑-85W" panose="00020600040101010101" pitchFamily="18" charset="-128"/>
                      <a:cs typeface="汉仪文黑-85W" panose="00020600040101010101" pitchFamily="18" charset="-128"/>
                    </a:rPr>
                    <a:t>注</a:t>
                  </a:r>
                  <a:r>
                    <a:rPr lang="zh-CN" altLang="en-US" sz="1400" dirty="0">
                      <a:latin typeface="仿宋" panose="02010609060101010101" pitchFamily="49" charset="-122"/>
                      <a:ea typeface="仿宋" panose="02010609060101010101" pitchFamily="49" charset="-122"/>
                    </a:rPr>
                    <a:t>：由于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1400" b="0" i="0" smtClean="0">
                          <a:latin typeface="Cambria Math" panose="02040503050406030204" pitchFamily="18" charset="0"/>
                        </a:rPr>
                        <m:t>cov</m:t>
                      </m:r>
                      <m:d>
                        <m:dPr>
                          <m:ctrlP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d>
                                <m:dPr>
                                  <m:ctrlPr>
                                    <a:rPr lang="en-US" altLang="zh-CN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400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d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d>
                                <m:dPr>
                                  <m:ctrlPr>
                                    <a:rPr lang="en-US" altLang="zh-CN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400" b="0" i="1" smtClean="0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</m:d>
                            </m:e>
                          </m:d>
                        </m:e>
                      </m:d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𝑋𝑌</m:t>
                          </m:r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𝑋𝐸</m:t>
                          </m:r>
                          <m:d>
                            <m:dPr>
                              <m:ctrlP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d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𝑌𝐸</m:t>
                          </m:r>
                          <m:d>
                            <m:dPr>
                              <m:ctrlP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𝑋𝑌</m:t>
                          </m:r>
                        </m:e>
                      </m:d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zh-CN" altLang="en-US" sz="1400" dirty="0">
                      <a:latin typeface="仿宋" panose="02010609060101010101" pitchFamily="49" charset="-122"/>
                      <a:ea typeface="仿宋" panose="02010609060101010101" pitchFamily="49" charset="-122"/>
                    </a:rPr>
                    <a:t>，</a:t>
                  </a:r>
                  <a:endParaRPr lang="en-US" altLang="zh-CN" sz="1400" dirty="0">
                    <a:latin typeface="仿宋" panose="02010609060101010101" pitchFamily="49" charset="-122"/>
                    <a:ea typeface="仿宋" panose="02010609060101010101" pitchFamily="49" charset="-122"/>
                  </a:endParaRPr>
                </a:p>
                <a:p>
                  <a:pPr>
                    <a:lnSpc>
                      <a:spcPct val="125000"/>
                    </a:lnSpc>
                  </a:pPr>
                  <a:r>
                    <a:rPr lang="en-US" altLang="zh-CN" sz="1400" dirty="0">
                      <a:latin typeface="仿宋" panose="02010609060101010101" pitchFamily="49" charset="-122"/>
                      <a:ea typeface="仿宋" panose="02010609060101010101" pitchFamily="49" charset="-122"/>
                    </a:rPr>
                    <a:t>    </a:t>
                  </a:r>
                  <a:r>
                    <a:rPr lang="zh-CN" altLang="en-US" sz="1400" dirty="0">
                      <a:latin typeface="仿宋" panose="02010609060101010101" pitchFamily="49" charset="-122"/>
                      <a:ea typeface="仿宋" panose="02010609060101010101" pitchFamily="49" charset="-122"/>
                    </a:rPr>
                    <a:t>而当</a:t>
                  </a:r>
                  <a14:m>
                    <m:oMath xmlns:m="http://schemas.openxmlformats.org/officeDocument/2006/math">
                      <m:r>
                        <a:rPr lang="en-US" altLang="zh-CN" sz="1400" b="0" i="1" smtClean="0"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𝑋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,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𝑌</m:t>
                      </m:r>
                    </m:oMath>
                  </a14:m>
                  <a:r>
                    <a:rPr lang="zh-CN" altLang="en-US" sz="1400" dirty="0">
                      <a:latin typeface="仿宋" panose="02010609060101010101" pitchFamily="49" charset="-122"/>
                      <a:ea typeface="仿宋" panose="02010609060101010101" pitchFamily="49" charset="-122"/>
                    </a:rPr>
                    <a:t>独立时，</a:t>
                  </a:r>
                  <a:r>
                    <a:rPr lang="en-US" altLang="zh-CN" sz="1400" dirty="0"/>
                    <a:t> </a:t>
                  </a:r>
                  <a14:m>
                    <m:oMath xmlns:m="http://schemas.openxmlformats.org/officeDocument/2006/math">
                      <m:r>
                        <a:rPr lang="en-US" altLang="zh-CN" sz="1400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altLang="zh-CN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𝑋𝑌</m:t>
                          </m:r>
                        </m:e>
                      </m:d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400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altLang="zh-CN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altLang="zh-CN" sz="1400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 sz="14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400" i="1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altLang="zh-CN" sz="14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zh-CN" altLang="en-US" sz="1400" dirty="0">
                      <a:latin typeface="仿宋" panose="02010609060101010101" pitchFamily="49" charset="-122"/>
                      <a:ea typeface="仿宋" panose="02010609060101010101" pitchFamily="49" charset="-122"/>
                    </a:rPr>
                    <a:t>，则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1400">
                          <a:latin typeface="Cambria Math" panose="02040503050406030204" pitchFamily="18" charset="0"/>
                        </a:rPr>
                        <m:t>cov</m:t>
                      </m:r>
                      <m:d>
                        <m:dPr>
                          <m:ctrlPr>
                            <a:rPr lang="en-US" altLang="zh-CN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en-US" altLang="zh-CN" sz="1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a14:m>
                  <a:r>
                    <a:rPr lang="en-US" altLang="zh-CN" sz="1400" dirty="0">
                      <a:latin typeface="仿宋" panose="02010609060101010101" pitchFamily="49" charset="-122"/>
                      <a:ea typeface="仿宋" panose="02010609060101010101" pitchFamily="49" charset="-122"/>
                    </a:rPr>
                    <a:t>. </a:t>
                  </a:r>
                  <a:r>
                    <a:rPr lang="zh-CN" altLang="en-US" sz="1400" dirty="0">
                      <a:latin typeface="仿宋" panose="02010609060101010101" pitchFamily="49" charset="-122"/>
                      <a:ea typeface="仿宋" panose="02010609060101010101" pitchFamily="49" charset="-122"/>
                    </a:rPr>
                    <a:t>也即：</a:t>
                  </a:r>
                  <a:r>
                    <a:rPr lang="zh-CN" altLang="en-US" sz="1400" b="1" dirty="0">
                      <a:latin typeface="仿宋" panose="02010609060101010101" pitchFamily="49" charset="-122"/>
                      <a:ea typeface="仿宋" panose="02010609060101010101" pitchFamily="49" charset="-122"/>
                    </a:rPr>
                    <a:t>独立的两随机变量协方差为</a:t>
                  </a:r>
                  <a:r>
                    <a:rPr lang="en-US" altLang="zh-CN" sz="1400" b="1" dirty="0">
                      <a:latin typeface="仿宋" panose="02010609060101010101" pitchFamily="49" charset="-122"/>
                      <a:ea typeface="仿宋" panose="02010609060101010101" pitchFamily="49" charset="-122"/>
                    </a:rPr>
                    <a:t>0.</a:t>
                  </a:r>
                  <a:r>
                    <a:rPr lang="zh-CN" altLang="en-US" sz="1400" b="1" dirty="0">
                      <a:latin typeface="仿宋" panose="02010609060101010101" pitchFamily="49" charset="-122"/>
                      <a:ea typeface="仿宋" panose="02010609060101010101" pitchFamily="49" charset="-122"/>
                    </a:rPr>
                    <a:t>（</a:t>
                  </a:r>
                  <a:r>
                    <a:rPr lang="zh-CN" altLang="en-US" sz="1400" b="1" u="sng" dirty="0">
                      <a:latin typeface="仿宋" panose="02010609060101010101" pitchFamily="49" charset="-122"/>
                      <a:ea typeface="仿宋" panose="02010609060101010101" pitchFamily="49" charset="-122"/>
                    </a:rPr>
                    <a:t>反之不一定</a:t>
                  </a:r>
                  <a:r>
                    <a:rPr lang="zh-CN" altLang="en-US" sz="1400" b="1" dirty="0">
                      <a:latin typeface="仿宋" panose="02010609060101010101" pitchFamily="49" charset="-122"/>
                      <a:ea typeface="仿宋" panose="02010609060101010101" pitchFamily="49" charset="-122"/>
                    </a:rPr>
                    <a:t>）</a:t>
                  </a:r>
                  <a:endParaRPr lang="en-US" altLang="zh-CN" sz="1400" b="1" dirty="0">
                    <a:latin typeface="仿宋" panose="02010609060101010101" pitchFamily="49" charset="-122"/>
                    <a:ea typeface="仿宋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29" name="文本框 28">
                  <a:extLst>
                    <a:ext uri="{FF2B5EF4-FFF2-40B4-BE49-F238E27FC236}">
                      <a16:creationId xmlns:a16="http://schemas.microsoft.com/office/drawing/2014/main" id="{20F502C8-65DA-8A42-2F65-1F6E240C377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18911" y="4002579"/>
                  <a:ext cx="10196725" cy="607923"/>
                </a:xfrm>
                <a:prstGeom prst="rect">
                  <a:avLst/>
                </a:prstGeom>
                <a:blipFill>
                  <a:blip r:embed="rId5"/>
                  <a:stretch>
                    <a:fillRect l="-179" b="-8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998E9167-571C-19F0-736E-B590A6582ACA}"/>
              </a:ext>
            </a:extLst>
          </p:cNvPr>
          <p:cNvGrpSpPr/>
          <p:nvPr/>
        </p:nvGrpSpPr>
        <p:grpSpPr>
          <a:xfrm>
            <a:off x="783038" y="4418164"/>
            <a:ext cx="10832598" cy="943913"/>
            <a:chOff x="783038" y="4002579"/>
            <a:chExt cx="10832598" cy="943913"/>
          </a:xfrm>
        </p:grpSpPr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BD1D3F67-22DF-E52F-65A8-E52B8F522609}"/>
                </a:ext>
              </a:extLst>
            </p:cNvPr>
            <p:cNvGrpSpPr/>
            <p:nvPr/>
          </p:nvGrpSpPr>
          <p:grpSpPr>
            <a:xfrm>
              <a:off x="783038" y="4136861"/>
              <a:ext cx="590428" cy="90889"/>
              <a:chOff x="783038" y="4168883"/>
              <a:chExt cx="590428" cy="90889"/>
            </a:xfrm>
          </p:grpSpPr>
          <p:cxnSp>
            <p:nvCxnSpPr>
              <p:cNvPr id="36" name="直接连接符 35">
                <a:extLst>
                  <a:ext uri="{FF2B5EF4-FFF2-40B4-BE49-F238E27FC236}">
                    <a16:creationId xmlns:a16="http://schemas.microsoft.com/office/drawing/2014/main" id="{1DC7D85E-46A0-8FF0-8160-E00B6980085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4251" y="4214328"/>
                <a:ext cx="559215" cy="0"/>
              </a:xfrm>
              <a:prstGeom prst="line">
                <a:avLst/>
              </a:prstGeom>
              <a:ln w="38100">
                <a:solidFill>
                  <a:schemeClr val="accent4">
                    <a:lumMod val="20000"/>
                    <a:lumOff val="80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7" name="椭圆 36">
                <a:extLst>
                  <a:ext uri="{FF2B5EF4-FFF2-40B4-BE49-F238E27FC236}">
                    <a16:creationId xmlns:a16="http://schemas.microsoft.com/office/drawing/2014/main" id="{198789DD-A876-52E1-E11B-0ED46F2ACEE1}"/>
                  </a:ext>
                </a:extLst>
              </p:cNvPr>
              <p:cNvSpPr/>
              <p:nvPr/>
            </p:nvSpPr>
            <p:spPr>
              <a:xfrm>
                <a:off x="783038" y="4168883"/>
                <a:ext cx="90889" cy="90889"/>
              </a:xfrm>
              <a:prstGeom prst="ellipse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文本框 34">
                  <a:extLst>
                    <a:ext uri="{FF2B5EF4-FFF2-40B4-BE49-F238E27FC236}">
                      <a16:creationId xmlns:a16="http://schemas.microsoft.com/office/drawing/2014/main" id="{76F02BCC-7337-D29A-FAEE-2D4D756E6964}"/>
                    </a:ext>
                  </a:extLst>
                </p:cNvPr>
                <p:cNvSpPr txBox="1"/>
                <p:nvPr/>
              </p:nvSpPr>
              <p:spPr>
                <a:xfrm>
                  <a:off x="1418911" y="4002579"/>
                  <a:ext cx="10196725" cy="94391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ct val="125000"/>
                    </a:lnSpc>
                  </a:pPr>
                  <a:r>
                    <a:rPr lang="zh-CN" altLang="en-US" sz="1400" dirty="0">
                      <a:latin typeface="汉仪文黑-85W" panose="00020600040101010101" pitchFamily="18" charset="-128"/>
                      <a:ea typeface="汉仪文黑-85W" panose="00020600040101010101" pitchFamily="18" charset="-128"/>
                      <a:cs typeface="汉仪文黑-85W" panose="00020600040101010101" pitchFamily="18" charset="-128"/>
                    </a:rPr>
                    <a:t>协方差的性质</a:t>
                  </a:r>
                  <a:r>
                    <a:rPr lang="zh-CN" altLang="en-US" sz="1400" dirty="0">
                      <a:latin typeface="仿宋" panose="02010609060101010101" pitchFamily="49" charset="-122"/>
                      <a:ea typeface="仿宋" panose="02010609060101010101" pitchFamily="49" charset="-122"/>
                    </a:rPr>
                    <a:t>：</a:t>
                  </a:r>
                  <a:endParaRPr lang="en-US" altLang="zh-CN" sz="1400" dirty="0">
                    <a:latin typeface="仿宋" panose="02010609060101010101" pitchFamily="49" charset="-122"/>
                    <a:ea typeface="仿宋" panose="02010609060101010101" pitchFamily="49" charset="-122"/>
                  </a:endParaRPr>
                </a:p>
                <a:p>
                  <a:pPr>
                    <a:lnSpc>
                      <a:spcPct val="125000"/>
                    </a:lnSpc>
                  </a:pPr>
                  <a:r>
                    <a:rPr lang="zh-CN" altLang="en-US" sz="1600" dirty="0">
                      <a:latin typeface="仿宋" panose="02010609060101010101" pitchFamily="49" charset="-122"/>
                      <a:ea typeface="仿宋" panose="02010609060101010101" pitchFamily="49" charset="-122"/>
                    </a:rPr>
                    <a:t>（</a:t>
                  </a:r>
                  <a:r>
                    <a:rPr lang="en-US" altLang="zh-CN" sz="1600" dirty="0">
                      <a:latin typeface="仿宋" panose="02010609060101010101" pitchFamily="49" charset="-122"/>
                      <a:ea typeface="仿宋" panose="02010609060101010101" pitchFamily="49" charset="-122"/>
                    </a:rPr>
                    <a:t>1</a:t>
                  </a:r>
                  <a:r>
                    <a:rPr lang="zh-CN" altLang="en-US" sz="1600" dirty="0">
                      <a:latin typeface="仿宋" panose="02010609060101010101" pitchFamily="49" charset="-122"/>
                      <a:ea typeface="仿宋" panose="02010609060101010101" pitchFamily="49" charset="-122"/>
                    </a:rPr>
                    <a:t>）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1600">
                          <a:latin typeface="Cambria Math" panose="02040503050406030204" pitchFamily="18" charset="0"/>
                        </a:rPr>
                        <m:t>cov</m:t>
                      </m:r>
                      <m:d>
                        <m:dPr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𝑋𝑌</m:t>
                          </m:r>
                        </m:e>
                      </m:d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en-US" altLang="zh-CN" sz="1600" dirty="0">
                      <a:latin typeface="仿宋" panose="02010609060101010101" pitchFamily="49" charset="-122"/>
                      <a:ea typeface="仿宋" panose="02010609060101010101" pitchFamily="49" charset="-122"/>
                    </a:rPr>
                    <a:t>			</a:t>
                  </a:r>
                  <a:r>
                    <a:rPr lang="zh-CN" altLang="en-US" sz="1600" dirty="0">
                      <a:latin typeface="仿宋" panose="02010609060101010101" pitchFamily="49" charset="-122"/>
                      <a:ea typeface="仿宋" panose="02010609060101010101" pitchFamily="49" charset="-122"/>
                    </a:rPr>
                    <a:t>（</a:t>
                  </a:r>
                  <a:r>
                    <a:rPr lang="en-US" altLang="zh-CN" sz="1600" dirty="0">
                      <a:latin typeface="仿宋" panose="02010609060101010101" pitchFamily="49" charset="-122"/>
                      <a:ea typeface="仿宋" panose="02010609060101010101" pitchFamily="49" charset="-122"/>
                    </a:rPr>
                    <a:t>2</a:t>
                  </a:r>
                  <a:r>
                    <a:rPr lang="zh-CN" altLang="en-US" sz="1600" dirty="0">
                      <a:latin typeface="仿宋" panose="02010609060101010101" pitchFamily="49" charset="-122"/>
                      <a:ea typeface="仿宋" panose="02010609060101010101" pitchFamily="49" charset="-122"/>
                    </a:rPr>
                    <a:t>）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1600">
                          <a:latin typeface="Cambria Math" panose="02040503050406030204" pitchFamily="18" charset="0"/>
                        </a:rPr>
                        <m:t>cov</m:t>
                      </m:r>
                      <m:d>
                        <m:dPr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𝑎𝑏</m:t>
                      </m:r>
                      <m:r>
                        <m:rPr>
                          <m:sty m:val="p"/>
                        </m:rPr>
                        <a:rPr lang="en-US" altLang="zh-CN" sz="1600">
                          <a:latin typeface="Cambria Math" panose="02040503050406030204" pitchFamily="18" charset="0"/>
                        </a:rPr>
                        <m:t>cov</m:t>
                      </m:r>
                      <m:d>
                        <m:dPr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</m:oMath>
                  </a14:m>
                  <a:endParaRPr lang="en-US" altLang="zh-CN" sz="1600" dirty="0">
                    <a:latin typeface="仿宋" panose="02010609060101010101" pitchFamily="49" charset="-122"/>
                    <a:ea typeface="仿宋" panose="02010609060101010101" pitchFamily="49" charset="-122"/>
                  </a:endParaRPr>
                </a:p>
                <a:p>
                  <a:pPr>
                    <a:lnSpc>
                      <a:spcPct val="125000"/>
                    </a:lnSpc>
                  </a:pPr>
                  <a:r>
                    <a:rPr lang="zh-CN" altLang="en-US" sz="1600" dirty="0">
                      <a:latin typeface="仿宋" panose="02010609060101010101" pitchFamily="49" charset="-122"/>
                      <a:ea typeface="仿宋" panose="02010609060101010101" pitchFamily="49" charset="-122"/>
                    </a:rPr>
                    <a:t>（</a:t>
                  </a:r>
                  <a:r>
                    <a:rPr lang="en-US" altLang="zh-CN" sz="1600" dirty="0">
                      <a:latin typeface="仿宋" panose="02010609060101010101" pitchFamily="49" charset="-122"/>
                      <a:ea typeface="仿宋" panose="02010609060101010101" pitchFamily="49" charset="-122"/>
                    </a:rPr>
                    <a:t>3</a:t>
                  </a:r>
                  <a:r>
                    <a:rPr lang="zh-CN" altLang="en-US" sz="1600" dirty="0">
                      <a:latin typeface="仿宋" panose="02010609060101010101" pitchFamily="49" charset="-122"/>
                      <a:ea typeface="仿宋" panose="02010609060101010101" pitchFamily="49" charset="-122"/>
                    </a:rPr>
                    <a:t>）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1600" smtClean="0">
                          <a:latin typeface="Cambria Math" panose="02040503050406030204" pitchFamily="18" charset="0"/>
                        </a:rPr>
                        <m:t>cov</m:t>
                      </m:r>
                      <m:d>
                        <m:dPr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sz="1600">
                          <a:latin typeface="Cambria Math" panose="02040503050406030204" pitchFamily="18" charset="0"/>
                        </a:rPr>
                        <m:t>cov</m:t>
                      </m:r>
                      <m:d>
                        <m:dPr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altLang="zh-CN" sz="1600">
                          <a:latin typeface="Cambria Math" panose="02040503050406030204" pitchFamily="18" charset="0"/>
                        </a:rPr>
                        <m:t>cov</m:t>
                      </m:r>
                      <m:d>
                        <m:dPr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</m:oMath>
                  </a14:m>
                  <a:r>
                    <a:rPr lang="en-US" altLang="zh-CN" sz="1600" dirty="0">
                      <a:latin typeface="仿宋" panose="02010609060101010101" pitchFamily="49" charset="-122"/>
                      <a:ea typeface="仿宋" panose="02010609060101010101" pitchFamily="49" charset="-122"/>
                    </a:rPr>
                    <a:t>		</a:t>
                  </a:r>
                  <a:r>
                    <a:rPr lang="zh-CN" altLang="en-US" sz="1600" dirty="0">
                      <a:latin typeface="仿宋" panose="02010609060101010101" pitchFamily="49" charset="-122"/>
                      <a:ea typeface="仿宋" panose="02010609060101010101" pitchFamily="49" charset="-122"/>
                    </a:rPr>
                    <a:t>（</a:t>
                  </a:r>
                  <a:r>
                    <a:rPr lang="en-US" altLang="zh-CN" sz="1600" dirty="0">
                      <a:latin typeface="仿宋" panose="02010609060101010101" pitchFamily="49" charset="-122"/>
                      <a:ea typeface="仿宋" panose="02010609060101010101" pitchFamily="49" charset="-122"/>
                    </a:rPr>
                    <a:t>4</a:t>
                  </a:r>
                  <a:r>
                    <a:rPr lang="zh-CN" altLang="en-US" sz="1600" dirty="0">
                      <a:latin typeface="仿宋" panose="02010609060101010101" pitchFamily="49" charset="-122"/>
                      <a:ea typeface="仿宋" panose="02010609060101010101" pitchFamily="49" charset="-122"/>
                    </a:rPr>
                    <a:t>）</a:t>
                  </a:r>
                  <a14:m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𝐷</m:t>
                      </m:r>
                      <m:d>
                        <m:d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d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𝑋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±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𝑌</m:t>
                          </m:r>
                        </m:e>
                      </m:d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=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𝐷</m:t>
                      </m:r>
                      <m:d>
                        <m:d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d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𝑋</m:t>
                          </m:r>
                        </m:e>
                      </m:d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+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𝐷</m:t>
                      </m:r>
                      <m:d>
                        <m:d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d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𝑌</m:t>
                          </m:r>
                        </m:e>
                      </m:d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±2</m:t>
                      </m:r>
                      <m:r>
                        <m:rPr>
                          <m:sty m:val="p"/>
                        </m:rPr>
                        <a:rPr lang="en-US" altLang="zh-CN" sz="1600" b="0" i="0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cov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(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𝑋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,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𝑌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)</m:t>
                      </m:r>
                    </m:oMath>
                  </a14:m>
                  <a:endParaRPr lang="en-US" altLang="zh-CN" sz="1400" dirty="0">
                    <a:latin typeface="仿宋" panose="02010609060101010101" pitchFamily="49" charset="-122"/>
                    <a:ea typeface="仿宋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35" name="文本框 34">
                  <a:extLst>
                    <a:ext uri="{FF2B5EF4-FFF2-40B4-BE49-F238E27FC236}">
                      <a16:creationId xmlns:a16="http://schemas.microsoft.com/office/drawing/2014/main" id="{76F02BCC-7337-D29A-FAEE-2D4D756E696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18911" y="4002579"/>
                  <a:ext cx="10196725" cy="943913"/>
                </a:xfrm>
                <a:prstGeom prst="rect">
                  <a:avLst/>
                </a:prstGeom>
                <a:blipFill>
                  <a:blip r:embed="rId6"/>
                  <a:stretch>
                    <a:fillRect l="-359" b="-645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9" name="星形: 五角 38">
            <a:extLst>
              <a:ext uri="{FF2B5EF4-FFF2-40B4-BE49-F238E27FC236}">
                <a16:creationId xmlns:a16="http://schemas.microsoft.com/office/drawing/2014/main" id="{88CCD0C8-E0F0-01BA-B70A-BD611B16BDDB}"/>
              </a:ext>
            </a:extLst>
          </p:cNvPr>
          <p:cNvSpPr/>
          <p:nvPr/>
        </p:nvSpPr>
        <p:spPr>
          <a:xfrm>
            <a:off x="1454807" y="4748503"/>
            <a:ext cx="147465" cy="147465"/>
          </a:xfrm>
          <a:prstGeom prst="star5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星形: 五角 39">
            <a:extLst>
              <a:ext uri="{FF2B5EF4-FFF2-40B4-BE49-F238E27FC236}">
                <a16:creationId xmlns:a16="http://schemas.microsoft.com/office/drawing/2014/main" id="{CFC5E259-0554-32ED-BF26-A0D5253B1206}"/>
              </a:ext>
            </a:extLst>
          </p:cNvPr>
          <p:cNvSpPr/>
          <p:nvPr/>
        </p:nvSpPr>
        <p:spPr>
          <a:xfrm>
            <a:off x="6969725" y="5047591"/>
            <a:ext cx="147465" cy="147465"/>
          </a:xfrm>
          <a:prstGeom prst="star5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8877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 animBg="1"/>
      <p:bldP spid="16" grpId="0"/>
      <p:bldP spid="17" grpId="0"/>
      <p:bldP spid="39" grpId="0" animBg="1"/>
      <p:bldP spid="40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143FF26B-CC77-0DBB-021F-F6F65A8FA87C}"/>
              </a:ext>
            </a:extLst>
          </p:cNvPr>
          <p:cNvCxnSpPr/>
          <p:nvPr/>
        </p:nvCxnSpPr>
        <p:spPr>
          <a:xfrm>
            <a:off x="576364" y="1136063"/>
            <a:ext cx="11039272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4E896CA5-6289-B087-607E-59A6F00799F2}"/>
              </a:ext>
            </a:extLst>
          </p:cNvPr>
          <p:cNvSpPr txBox="1"/>
          <p:nvPr/>
        </p:nvSpPr>
        <p:spPr>
          <a:xfrm>
            <a:off x="507460" y="496110"/>
            <a:ext cx="54591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随机变量的协方差与相关系数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C25D15E-7559-13E6-28DC-2B107A80BBD1}"/>
              </a:ext>
            </a:extLst>
          </p:cNvPr>
          <p:cNvSpPr txBox="1"/>
          <p:nvPr/>
        </p:nvSpPr>
        <p:spPr>
          <a:xfrm>
            <a:off x="5966624" y="775742"/>
            <a:ext cx="23876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600" dirty="0"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相关系数的定义与性质</a:t>
            </a:r>
            <a:endParaRPr lang="en-US" altLang="zh-CN" sz="1600" dirty="0">
              <a:latin typeface="方正清刻本悦宋简体" panose="02000000000000000000" pitchFamily="2" charset="-122"/>
              <a:ea typeface="方正清刻本悦宋简体" panose="02000000000000000000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3975FF12-4FFA-876F-AE0B-715D3ACB08FE}"/>
                  </a:ext>
                </a:extLst>
              </p:cNvPr>
              <p:cNvSpPr txBox="1"/>
              <p:nvPr/>
            </p:nvSpPr>
            <p:spPr>
              <a:xfrm>
                <a:off x="507460" y="1425186"/>
                <a:ext cx="11108176" cy="11679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600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实际应用中，很多随机变量之间往往近似存在着某种</a:t>
                </a:r>
                <a:r>
                  <a:rPr lang="zh-CN" altLang="en-US" sz="1600" u="sng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线性关系</a:t>
                </a:r>
                <a:r>
                  <a:rPr lang="zh-CN" altLang="en-US" sz="1600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。</a:t>
                </a:r>
                <a:endParaRPr lang="en-US" altLang="zh-CN" sz="1600" dirty="0">
                  <a:latin typeface="方正小标宋简体" panose="02000000000000000000" pitchFamily="2" charset="-122"/>
                  <a:ea typeface="方正小标宋简体" panose="02000000000000000000" pitchFamily="2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16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某企业每年的广告费用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𝑋</m:t>
                    </m:r>
                  </m:oMath>
                </a14:m>
                <a:r>
                  <a:rPr lang="zh-CN" altLang="en-US" sz="16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与每年的月均销售额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𝑌</m:t>
                    </m:r>
                  </m:oMath>
                </a14:m>
                <a:r>
                  <a:rPr lang="zh-CN" altLang="en-US" sz="16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近似正相关，即</a:t>
                </a: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𝑌</m:t>
                    </m:r>
                  </m:oMath>
                </a14:m>
                <a:r>
                  <a:rPr lang="zh-CN" altLang="en-US" sz="16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与</a:t>
                </a: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𝑎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+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𝑏𝑋</m:t>
                    </m:r>
                  </m:oMath>
                </a14:m>
                <a:r>
                  <a:rPr lang="zh-CN" altLang="en-US" sz="16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近似相等；</a:t>
                </a:r>
                <a:endParaRPr lang="en-US" altLang="zh-CN" sz="1600" dirty="0"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16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掷硬币</a:t>
                </a: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𝑎</m:t>
                    </m:r>
                  </m:oMath>
                </a14:m>
                <a:r>
                  <a:rPr lang="zh-CN" altLang="en-US" sz="16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次，其中有</a:t>
                </a: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𝑋</m:t>
                    </m:r>
                  </m:oMath>
                </a14:m>
                <a:r>
                  <a:rPr lang="zh-CN" altLang="en-US" sz="16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次正面、</a:t>
                </a: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𝑌</m:t>
                    </m:r>
                  </m:oMath>
                </a14:m>
                <a:r>
                  <a:rPr lang="zh-CN" altLang="en-US" sz="16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次反面，则</a:t>
                </a: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𝑋</m:t>
                    </m:r>
                  </m:oMath>
                </a14:m>
                <a:r>
                  <a:rPr lang="zh-CN" altLang="en-US" sz="16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与</a:t>
                </a: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𝑌</m:t>
                    </m:r>
                  </m:oMath>
                </a14:m>
                <a:r>
                  <a:rPr lang="zh-CN" altLang="en-US" sz="16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必定负相关，即</a:t>
                </a: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𝑌</m:t>
                    </m:r>
                  </m:oMath>
                </a14:m>
                <a:r>
                  <a:rPr lang="zh-CN" altLang="en-US" sz="16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与</a:t>
                </a: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𝑎</m:t>
                    </m:r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−</m:t>
                    </m:r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𝑋</m:t>
                    </m:r>
                  </m:oMath>
                </a14:m>
                <a:r>
                  <a:rPr lang="zh-CN" altLang="en-US" sz="16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必定相等。</a:t>
                </a:r>
                <a:endParaRPr lang="en-US" altLang="zh-CN" sz="1600" dirty="0"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3975FF12-4FFA-876F-AE0B-715D3ACB08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60" y="1425186"/>
                <a:ext cx="11108176" cy="1167948"/>
              </a:xfrm>
              <a:prstGeom prst="rect">
                <a:avLst/>
              </a:prstGeom>
              <a:blipFill>
                <a:blip r:embed="rId3"/>
                <a:stretch>
                  <a:fillRect l="-274" b="-418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40F4EE97-965C-1D94-4EC4-896B5F905D3E}"/>
                  </a:ext>
                </a:extLst>
              </p:cNvPr>
              <p:cNvSpPr txBox="1"/>
              <p:nvPr/>
            </p:nvSpPr>
            <p:spPr>
              <a:xfrm>
                <a:off x="507459" y="2882256"/>
                <a:ext cx="11108175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1600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「相关系数」可以刻画 两随机变量间 线性相关 的程度</a:t>
                </a:r>
                <a:r>
                  <a:rPr lang="zh-CN" altLang="en-US" sz="1400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。            </a:t>
                </a:r>
                <a:r>
                  <a:rPr lang="en-US" altLang="zh-CN" sz="1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* </a:t>
                </a:r>
                <a:r>
                  <a:rPr lang="zh-CN" altLang="en-US" sz="1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实际上是这么推导的：令</a:t>
                </a:r>
                <a14:m>
                  <m:oMath xmlns:m="http://schemas.openxmlformats.org/officeDocument/2006/math">
                    <m:r>
                      <a:rPr lang="en-US" altLang="zh-CN" sz="1400" i="1" dirty="0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𝑍</m:t>
                    </m:r>
                    <m:r>
                      <a:rPr lang="en-US" altLang="zh-CN" sz="1400" i="1" dirty="0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=</m:t>
                    </m:r>
                    <m:r>
                      <a:rPr lang="en-US" altLang="zh-CN" sz="1400" i="1" dirty="0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𝑌</m:t>
                    </m:r>
                    <m:r>
                      <a:rPr lang="en-US" altLang="zh-CN" sz="1400" i="1" dirty="0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−(</m:t>
                    </m:r>
                    <m:r>
                      <a:rPr lang="en-US" altLang="zh-CN" sz="1400" b="0" i="1" dirty="0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𝑎</m:t>
                    </m:r>
                    <m:r>
                      <a:rPr lang="en-US" altLang="zh-CN" sz="1400" b="0" i="1" dirty="0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+</m:t>
                    </m:r>
                    <m:r>
                      <a:rPr lang="en-US" altLang="zh-CN" sz="1400" b="0" i="1" dirty="0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𝑏𝑋</m:t>
                    </m:r>
                    <m:r>
                      <a:rPr lang="en-US" altLang="zh-CN" sz="1400" i="1" dirty="0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)</m:t>
                    </m:r>
                  </m:oMath>
                </a14:m>
                <a:r>
                  <a:rPr lang="zh-CN" altLang="en-US" sz="1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，寻找</a:t>
                </a:r>
                <a14:m>
                  <m:oMath xmlns:m="http://schemas.openxmlformats.org/officeDocument/2006/math">
                    <m:r>
                      <a:rPr lang="en-US" altLang="zh-CN" sz="1400" i="1" dirty="0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𝐷</m:t>
                    </m:r>
                    <m:r>
                      <a:rPr lang="en-US" altLang="zh-CN" sz="1400" i="1" dirty="0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(</m:t>
                    </m:r>
                    <m:r>
                      <a:rPr lang="en-US" altLang="zh-CN" sz="1400" i="1" dirty="0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𝑍</m:t>
                    </m:r>
                    <m:r>
                      <a:rPr lang="en-US" altLang="zh-CN" sz="1400" i="1" dirty="0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)</m:t>
                    </m:r>
                  </m:oMath>
                </a14:m>
                <a:r>
                  <a:rPr lang="zh-CN" altLang="en-US" sz="1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最小的条件</a:t>
                </a:r>
                <a:endParaRPr lang="en-US" altLang="zh-CN" sz="16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40F4EE97-965C-1D94-4EC4-896B5F905D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59" y="2882256"/>
                <a:ext cx="11108175" cy="338554"/>
              </a:xfrm>
              <a:prstGeom prst="rect">
                <a:avLst/>
              </a:prstGeom>
              <a:blipFill>
                <a:blip r:embed="rId4"/>
                <a:stretch>
                  <a:fillRect l="-274" t="-5455" b="-236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: 圆角 2">
                <a:extLst>
                  <a:ext uri="{FF2B5EF4-FFF2-40B4-BE49-F238E27FC236}">
                    <a16:creationId xmlns:a16="http://schemas.microsoft.com/office/drawing/2014/main" id="{CBBA9D46-55D1-82C5-47CD-3D67B7136D09}"/>
                  </a:ext>
                </a:extLst>
              </p:cNvPr>
              <p:cNvSpPr/>
              <p:nvPr/>
            </p:nvSpPr>
            <p:spPr>
              <a:xfrm>
                <a:off x="576364" y="3339656"/>
                <a:ext cx="2232620" cy="595069"/>
              </a:xfrm>
              <a:prstGeom prst="round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dirty="0">
                    <a:solidFill>
                      <a:schemeClr val="tx1"/>
                    </a:solidFill>
                    <a:latin typeface="汉仪文黑-85W" panose="00020600040101010101" pitchFamily="18" charset="-128"/>
                    <a:ea typeface="汉仪文黑-85W" panose="00020600040101010101" pitchFamily="18" charset="-128"/>
                    <a:cs typeface="汉仪文黑-85W" panose="00020600040101010101" pitchFamily="18" charset="-128"/>
                  </a:rPr>
                  <a:t>相关系数</a:t>
                </a:r>
                <a:r>
                  <a:rPr lang="en-US" altLang="zh-CN" dirty="0">
                    <a:solidFill>
                      <a:schemeClr val="tx1"/>
                    </a:solidFill>
                    <a:latin typeface="汉仪文黑-85W" panose="00020600040101010101" pitchFamily="18" charset="-128"/>
                    <a:ea typeface="汉仪文黑-85W" panose="00020600040101010101" pitchFamily="18" charset="-128"/>
                    <a:cs typeface="汉仪文黑-85W" panose="00020600040101010101" pitchFamily="18" charset="-128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𝑋𝑌</m:t>
                        </m:r>
                      </m:sub>
                    </m:sSub>
                  </m:oMath>
                </a14:m>
                <a:endParaRPr lang="zh-CN" altLang="en-US" i="1" dirty="0">
                  <a:solidFill>
                    <a:schemeClr val="tx1"/>
                  </a:solidFill>
                  <a:latin typeface="汉仪文黑-85W" panose="00020600040101010101" pitchFamily="18" charset="-128"/>
                  <a:ea typeface="汉仪文黑-85W" panose="00020600040101010101" pitchFamily="18" charset="-128"/>
                  <a:cs typeface="汉仪文黑-85W" panose="00020600040101010101" pitchFamily="18" charset="-128"/>
                </a:endParaRPr>
              </a:p>
            </p:txBody>
          </p:sp>
        </mc:Choice>
        <mc:Fallback xmlns="">
          <p:sp>
            <p:nvSpPr>
              <p:cNvPr id="3" name="矩形: 圆角 2">
                <a:extLst>
                  <a:ext uri="{FF2B5EF4-FFF2-40B4-BE49-F238E27FC236}">
                    <a16:creationId xmlns:a16="http://schemas.microsoft.com/office/drawing/2014/main" id="{CBBA9D46-55D1-82C5-47CD-3D67B7136D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364" y="3339656"/>
                <a:ext cx="2232620" cy="595069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AEC6E70E-43DA-FB0F-E4F7-4F1C5C3EC70A}"/>
                  </a:ext>
                </a:extLst>
              </p:cNvPr>
              <p:cNvSpPr txBox="1"/>
              <p:nvPr/>
            </p:nvSpPr>
            <p:spPr>
              <a:xfrm>
                <a:off x="3064890" y="3418027"/>
                <a:ext cx="7225119" cy="43832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𝑋𝑌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cov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𝑌</m:t>
                            </m:r>
                          </m:sub>
                        </m:sSub>
                      </m:den>
                    </m:f>
                  </m:oMath>
                </a14:m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:r>
                  <a:rPr lang="zh-CN" altLang="en-US" sz="1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其中随机变量</a:t>
                </a:r>
                <a14:m>
                  <m:oMath xmlns:m="http://schemas.openxmlformats.org/officeDocument/2006/math">
                    <m:r>
                      <a:rPr lang="en-US" altLang="zh-CN" sz="14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𝑋</m:t>
                    </m:r>
                    <m:r>
                      <a:rPr lang="en-US" altLang="zh-CN" sz="14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</m:t>
                    </m:r>
                    <m:r>
                      <a:rPr lang="en-US" altLang="zh-CN" sz="14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𝑌</m:t>
                    </m:r>
                  </m:oMath>
                </a14:m>
                <a:r>
                  <a:rPr lang="zh-CN" altLang="en-US" sz="1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间的协方差为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cov</m:t>
                    </m:r>
                    <m:r>
                      <a:rPr lang="en-US" altLang="zh-CN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  <m:r>
                      <a:rPr lang="en-US" altLang="zh-CN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  <m:r>
                      <a:rPr lang="en-US" altLang="zh-CN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1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，它们的</a:t>
                </a:r>
                <a:r>
                  <a:rPr lang="zh-CN" altLang="en-US" sz="1400" u="sng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标准差</a:t>
                </a:r>
                <a:r>
                  <a:rPr lang="zh-CN" altLang="en-US" sz="1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分别为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zh-CN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altLang="zh-CN" sz="14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</m:t>
                    </m:r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zh-CN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</m:sub>
                    </m:sSub>
                  </m:oMath>
                </a14:m>
                <a:endParaRPr lang="zh-CN" altLang="en-US" sz="14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AEC6E70E-43DA-FB0F-E4F7-4F1C5C3EC7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4890" y="3418027"/>
                <a:ext cx="7225119" cy="438325"/>
              </a:xfrm>
              <a:prstGeom prst="rect">
                <a:avLst/>
              </a:prstGeom>
              <a:blipFill>
                <a:blip r:embed="rId6"/>
                <a:stretch>
                  <a:fillRect l="-1181" t="-6944" b="-111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9C65063D-CEBF-2C76-8577-AAE78E76EFC6}"/>
              </a:ext>
            </a:extLst>
          </p:cNvPr>
          <p:cNvCxnSpPr>
            <a:cxnSpLocks/>
          </p:cNvCxnSpPr>
          <p:nvPr/>
        </p:nvCxnSpPr>
        <p:spPr>
          <a:xfrm>
            <a:off x="828483" y="3856522"/>
            <a:ext cx="0" cy="1168890"/>
          </a:xfrm>
          <a:prstGeom prst="line">
            <a:avLst/>
          </a:prstGeom>
          <a:ln w="38100">
            <a:solidFill>
              <a:schemeClr val="accent4">
                <a:lumMod val="20000"/>
                <a:lumOff val="8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50224ED9-40AC-243B-BF68-3438CC848391}"/>
              </a:ext>
            </a:extLst>
          </p:cNvPr>
          <p:cNvGrpSpPr/>
          <p:nvPr/>
        </p:nvGrpSpPr>
        <p:grpSpPr>
          <a:xfrm>
            <a:off x="783038" y="4116314"/>
            <a:ext cx="10832598" cy="646395"/>
            <a:chOff x="783038" y="3971264"/>
            <a:chExt cx="10832598" cy="646395"/>
          </a:xfrm>
        </p:grpSpPr>
        <p:grpSp>
          <p:nvGrpSpPr>
            <p:cNvPr id="38" name="组合 37">
              <a:extLst>
                <a:ext uri="{FF2B5EF4-FFF2-40B4-BE49-F238E27FC236}">
                  <a16:creationId xmlns:a16="http://schemas.microsoft.com/office/drawing/2014/main" id="{1CADA099-FF38-22DB-74A6-97D378F3349E}"/>
                </a:ext>
              </a:extLst>
            </p:cNvPr>
            <p:cNvGrpSpPr/>
            <p:nvPr/>
          </p:nvGrpSpPr>
          <p:grpSpPr>
            <a:xfrm>
              <a:off x="783038" y="4136861"/>
              <a:ext cx="590428" cy="90889"/>
              <a:chOff x="783038" y="4168883"/>
              <a:chExt cx="590428" cy="90889"/>
            </a:xfrm>
          </p:grpSpPr>
          <p:cxnSp>
            <p:nvCxnSpPr>
              <p:cNvPr id="42" name="直接连接符 41">
                <a:extLst>
                  <a:ext uri="{FF2B5EF4-FFF2-40B4-BE49-F238E27FC236}">
                    <a16:creationId xmlns:a16="http://schemas.microsoft.com/office/drawing/2014/main" id="{6196BAEC-FF72-3E9D-7DCF-6329152F71D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4251" y="4214328"/>
                <a:ext cx="559215" cy="0"/>
              </a:xfrm>
              <a:prstGeom prst="line">
                <a:avLst/>
              </a:prstGeom>
              <a:ln w="38100">
                <a:solidFill>
                  <a:schemeClr val="accent4">
                    <a:lumMod val="20000"/>
                    <a:lumOff val="80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3" name="椭圆 42">
                <a:extLst>
                  <a:ext uri="{FF2B5EF4-FFF2-40B4-BE49-F238E27FC236}">
                    <a16:creationId xmlns:a16="http://schemas.microsoft.com/office/drawing/2014/main" id="{29B5DD78-F741-7B09-2DF1-324E7EB8806F}"/>
                  </a:ext>
                </a:extLst>
              </p:cNvPr>
              <p:cNvSpPr/>
              <p:nvPr/>
            </p:nvSpPr>
            <p:spPr>
              <a:xfrm>
                <a:off x="783038" y="4168883"/>
                <a:ext cx="90889" cy="90889"/>
              </a:xfrm>
              <a:prstGeom prst="ellipse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AA9D9041-3625-840A-4AC4-DBB767FBC4D7}"/>
                    </a:ext>
                  </a:extLst>
                </p:cNvPr>
                <p:cNvSpPr txBox="1"/>
                <p:nvPr/>
              </p:nvSpPr>
              <p:spPr>
                <a:xfrm>
                  <a:off x="1418911" y="3971264"/>
                  <a:ext cx="10196725" cy="64639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ct val="125000"/>
                    </a:lnSpc>
                  </a:pPr>
                  <a:r>
                    <a:rPr lang="zh-CN" altLang="en-US" sz="1400" dirty="0">
                      <a:latin typeface="汉仪文黑-85W" panose="00020600040101010101" pitchFamily="18" charset="-128"/>
                      <a:ea typeface="汉仪文黑-85W" panose="00020600040101010101" pitchFamily="18" charset="-128"/>
                      <a:cs typeface="汉仪文黑-85W" panose="00020600040101010101" pitchFamily="18" charset="-128"/>
                    </a:rPr>
                    <a:t>注</a:t>
                  </a:r>
                  <a:r>
                    <a:rPr lang="zh-CN" altLang="en-US" sz="1400" dirty="0">
                      <a:latin typeface="仿宋" panose="02010609060101010101" pitchFamily="49" charset="-122"/>
                      <a:ea typeface="仿宋" panose="02010609060101010101" pitchFamily="49" charset="-122"/>
                    </a:rPr>
                    <a:t>：相关系数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altLang="zh-CN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altLang="zh-CN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𝑋𝑌</m:t>
                          </m:r>
                        </m:sub>
                      </m:sSub>
                      <m:r>
                        <a:rPr lang="en-US" altLang="zh-CN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a14:m>
                  <a:r>
                    <a:rPr lang="zh-CN" altLang="en-US" sz="1400" dirty="0">
                      <a:latin typeface="仿宋" panose="02010609060101010101" pitchFamily="49" charset="-122"/>
                      <a:ea typeface="仿宋" panose="02010609060101010101" pitchFamily="49" charset="-122"/>
                    </a:rPr>
                    <a:t>，称</a:t>
                  </a:r>
                  <a14:m>
                    <m:oMath xmlns:m="http://schemas.openxmlformats.org/officeDocument/2006/math">
                      <m:r>
                        <a:rPr lang="en-US" altLang="zh-CN" sz="1400" i="1" dirty="0" smtClean="0"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𝑋</m:t>
                      </m:r>
                    </m:oMath>
                  </a14:m>
                  <a:r>
                    <a:rPr lang="zh-CN" altLang="en-US" sz="1400" dirty="0">
                      <a:latin typeface="仿宋" panose="02010609060101010101" pitchFamily="49" charset="-122"/>
                      <a:ea typeface="仿宋" panose="02010609060101010101" pitchFamily="49" charset="-122"/>
                    </a:rPr>
                    <a:t>和</a:t>
                  </a:r>
                  <a14:m>
                    <m:oMath xmlns:m="http://schemas.openxmlformats.org/officeDocument/2006/math">
                      <m:r>
                        <a:rPr lang="en-US" altLang="zh-CN" sz="1400" i="1" dirty="0" smtClean="0"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𝑌</m:t>
                      </m:r>
                    </m:oMath>
                  </a14:m>
                  <a:r>
                    <a:rPr lang="zh-CN" altLang="en-US" sz="1400" dirty="0">
                      <a:latin typeface="仿宋" panose="02010609060101010101" pitchFamily="49" charset="-122"/>
                      <a:ea typeface="仿宋" panose="02010609060101010101" pitchFamily="49" charset="-122"/>
                    </a:rPr>
                    <a:t>不（线性）相关。因此，</a:t>
                  </a:r>
                  <a:r>
                    <a:rPr lang="zh-CN" altLang="en-US" sz="1600" b="1" u="sng" dirty="0">
                      <a:latin typeface="仿宋" panose="02010609060101010101" pitchFamily="49" charset="-122"/>
                      <a:ea typeface="仿宋" panose="02010609060101010101" pitchFamily="49" charset="-122"/>
                    </a:rPr>
                    <a:t>独立 一定 不相关</a:t>
                  </a:r>
                  <a:r>
                    <a:rPr lang="zh-CN" altLang="en-US" sz="1600" b="1" dirty="0">
                      <a:latin typeface="仿宋" panose="02010609060101010101" pitchFamily="49" charset="-122"/>
                      <a:ea typeface="仿宋" panose="02010609060101010101" pitchFamily="49" charset="-122"/>
                    </a:rPr>
                    <a:t>，</a:t>
                  </a:r>
                  <a:r>
                    <a:rPr lang="zh-CN" altLang="en-US" sz="1600" b="1" u="sng" dirty="0">
                      <a:latin typeface="仿宋" panose="02010609060101010101" pitchFamily="49" charset="-122"/>
                      <a:ea typeface="仿宋" panose="02010609060101010101" pitchFamily="49" charset="-122"/>
                    </a:rPr>
                    <a:t>不相关 不一定 独立</a:t>
                  </a:r>
                  <a:r>
                    <a:rPr lang="zh-CN" altLang="en-US" sz="1600" b="1" dirty="0">
                      <a:latin typeface="仿宋" panose="02010609060101010101" pitchFamily="49" charset="-122"/>
                      <a:ea typeface="仿宋" panose="02010609060101010101" pitchFamily="49" charset="-122"/>
                    </a:rPr>
                    <a:t>！</a:t>
                  </a:r>
                  <a:endParaRPr lang="en-US" altLang="zh-CN" sz="1600" b="1" dirty="0">
                    <a:latin typeface="仿宋" panose="02010609060101010101" pitchFamily="49" charset="-122"/>
                    <a:ea typeface="仿宋" panose="02010609060101010101" pitchFamily="49" charset="-122"/>
                  </a:endParaRPr>
                </a:p>
                <a:p>
                  <a:pPr>
                    <a:lnSpc>
                      <a:spcPct val="125000"/>
                    </a:lnSpc>
                  </a:pPr>
                  <a:r>
                    <a:rPr lang="en-US" altLang="zh-CN" sz="1400" b="1" dirty="0">
                      <a:latin typeface="仿宋" panose="02010609060101010101" pitchFamily="49" charset="-122"/>
                      <a:ea typeface="仿宋" panose="02010609060101010101" pitchFamily="49" charset="-122"/>
                    </a:rPr>
                    <a:t>    </a:t>
                  </a:r>
                  <a:r>
                    <a:rPr lang="zh-CN" altLang="en-US" sz="1400" b="1" dirty="0">
                      <a:latin typeface="仿宋" panose="02010609060101010101" pitchFamily="49" charset="-122"/>
                      <a:ea typeface="仿宋" panose="02010609060101010101" pitchFamily="49" charset="-122"/>
                    </a:rPr>
                    <a:t>不相关时，</a:t>
                  </a:r>
                  <a:r>
                    <a:rPr lang="zh-CN" altLang="en-US" sz="1400" dirty="0">
                      <a:latin typeface="仿宋" panose="02010609060101010101" pitchFamily="49" charset="-122"/>
                      <a:ea typeface="仿宋" panose="02010609060101010101" pitchFamily="49" charset="-122"/>
                    </a:rPr>
                    <a:t>以下条件等价：</a:t>
                  </a:r>
                  <a:r>
                    <a:rPr lang="en-US" altLang="zh-CN" sz="1400" dirty="0">
                      <a:ea typeface="仿宋" panose="02010609060101010101" pitchFamily="49" charset="-122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altLang="zh-CN" sz="1400" b="1" i="1" dirty="0" smtClean="0"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𝑿</m:t>
                      </m:r>
                    </m:oMath>
                  </a14:m>
                  <a:r>
                    <a:rPr lang="zh-CN" altLang="en-US" sz="1400" b="1" dirty="0">
                      <a:latin typeface="仿宋" panose="02010609060101010101" pitchFamily="49" charset="-122"/>
                      <a:ea typeface="仿宋" panose="02010609060101010101" pitchFamily="49" charset="-122"/>
                    </a:rPr>
                    <a:t>和</a:t>
                  </a:r>
                  <a14:m>
                    <m:oMath xmlns:m="http://schemas.openxmlformats.org/officeDocument/2006/math">
                      <m:r>
                        <a:rPr lang="en-US" altLang="zh-CN" sz="1400" b="1" i="1" dirty="0" smtClean="0"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𝒀</m:t>
                      </m:r>
                    </m:oMath>
                  </a14:m>
                  <a:r>
                    <a:rPr lang="zh-CN" altLang="en-US" sz="1400" b="1" dirty="0">
                      <a:latin typeface="仿宋" panose="02010609060101010101" pitchFamily="49" charset="-122"/>
                      <a:ea typeface="仿宋" panose="02010609060101010101" pitchFamily="49" charset="-122"/>
                    </a:rPr>
                    <a:t>不相关</a:t>
                  </a:r>
                  <a14:m>
                    <m:oMath xmlns:m="http://schemas.openxmlformats.org/officeDocument/2006/math">
                      <m:r>
                        <a:rPr lang="en-US" altLang="zh-CN" sz="1400" b="1" i="1" smtClean="0"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 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⇔</m:t>
                      </m:r>
                      <m:sSub>
                        <m:sSubPr>
                          <m:ctrlPr>
                            <a:rPr lang="en-US" altLang="zh-CN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altLang="zh-CN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altLang="zh-CN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𝑋𝑌</m:t>
                          </m:r>
                        </m:sub>
                      </m:sSub>
                      <m:r>
                        <a:rPr lang="en-US" altLang="zh-CN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⇔</m:t>
                      </m:r>
                      <m:r>
                        <m:rPr>
                          <m:sty m:val="p"/>
                        </m:rPr>
                        <a:rPr lang="en-US" altLang="zh-CN" sz="14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cov</m:t>
                      </m:r>
                      <m:d>
                        <m:dPr>
                          <m:ctrlPr>
                            <a:rPr lang="en-US" altLang="zh-CN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en-US" altLang="zh-CN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⇔ 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altLang="zh-C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𝑋𝑌</m:t>
                          </m:r>
                        </m:e>
                      </m:d>
                      <m:r>
                        <a:rPr lang="en-US" altLang="zh-CN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altLang="zh-C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altLang="zh-CN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altLang="zh-C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en-US" altLang="zh-CN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⇔ 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en-US" altLang="zh-C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±</m:t>
                          </m:r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en-US" altLang="zh-CN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en-US" altLang="zh-C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altLang="zh-CN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𝐷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𝑌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en-US" altLang="zh-CN" sz="1400" dirty="0">
                      <a:latin typeface="仿宋" panose="02010609060101010101" pitchFamily="49" charset="-122"/>
                      <a:ea typeface="仿宋" panose="02010609060101010101" pitchFamily="49" charset="-122"/>
                    </a:rPr>
                    <a:t>.</a:t>
                  </a:r>
                </a:p>
              </p:txBody>
            </p:sp>
          </mc:Choice>
          <mc:Fallback xmlns="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AA9D9041-3625-840A-4AC4-DBB767FBC4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18911" y="3971264"/>
                  <a:ext cx="10196725" cy="646395"/>
                </a:xfrm>
                <a:prstGeom prst="rect">
                  <a:avLst/>
                </a:prstGeom>
                <a:blipFill>
                  <a:blip r:embed="rId7"/>
                  <a:stretch>
                    <a:fillRect l="-179" b="-754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2606EF72-77B3-A944-4C35-933A01DC7A26}"/>
              </a:ext>
            </a:extLst>
          </p:cNvPr>
          <p:cNvGrpSpPr/>
          <p:nvPr/>
        </p:nvGrpSpPr>
        <p:grpSpPr>
          <a:xfrm>
            <a:off x="783036" y="4851533"/>
            <a:ext cx="10832598" cy="947119"/>
            <a:chOff x="783038" y="4002579"/>
            <a:chExt cx="10832598" cy="947119"/>
          </a:xfrm>
        </p:grpSpPr>
        <p:grpSp>
          <p:nvGrpSpPr>
            <p:cNvPr id="45" name="组合 44">
              <a:extLst>
                <a:ext uri="{FF2B5EF4-FFF2-40B4-BE49-F238E27FC236}">
                  <a16:creationId xmlns:a16="http://schemas.microsoft.com/office/drawing/2014/main" id="{7B60F52F-7FED-CF08-044A-28E55F2B8FE6}"/>
                </a:ext>
              </a:extLst>
            </p:cNvPr>
            <p:cNvGrpSpPr/>
            <p:nvPr/>
          </p:nvGrpSpPr>
          <p:grpSpPr>
            <a:xfrm>
              <a:off x="783038" y="4136861"/>
              <a:ext cx="590428" cy="90889"/>
              <a:chOff x="783038" y="4168883"/>
              <a:chExt cx="590428" cy="90889"/>
            </a:xfrm>
          </p:grpSpPr>
          <p:cxnSp>
            <p:nvCxnSpPr>
              <p:cNvPr id="47" name="直接连接符 46">
                <a:extLst>
                  <a:ext uri="{FF2B5EF4-FFF2-40B4-BE49-F238E27FC236}">
                    <a16:creationId xmlns:a16="http://schemas.microsoft.com/office/drawing/2014/main" id="{42EB9E64-2BEF-750E-636D-A18060A4AC3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4251" y="4214328"/>
                <a:ext cx="559215" cy="0"/>
              </a:xfrm>
              <a:prstGeom prst="line">
                <a:avLst/>
              </a:prstGeom>
              <a:ln w="38100">
                <a:solidFill>
                  <a:schemeClr val="accent4">
                    <a:lumMod val="20000"/>
                    <a:lumOff val="80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8" name="椭圆 47">
                <a:extLst>
                  <a:ext uri="{FF2B5EF4-FFF2-40B4-BE49-F238E27FC236}">
                    <a16:creationId xmlns:a16="http://schemas.microsoft.com/office/drawing/2014/main" id="{7F3034D8-72C5-409B-8A25-0CBEABE5A62F}"/>
                  </a:ext>
                </a:extLst>
              </p:cNvPr>
              <p:cNvSpPr/>
              <p:nvPr/>
            </p:nvSpPr>
            <p:spPr>
              <a:xfrm>
                <a:off x="783038" y="4168883"/>
                <a:ext cx="90889" cy="90889"/>
              </a:xfrm>
              <a:prstGeom prst="ellipse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文本框 45">
                  <a:extLst>
                    <a:ext uri="{FF2B5EF4-FFF2-40B4-BE49-F238E27FC236}">
                      <a16:creationId xmlns:a16="http://schemas.microsoft.com/office/drawing/2014/main" id="{5338BAB8-DD11-9CE6-FD0A-27B5DFB571F1}"/>
                    </a:ext>
                  </a:extLst>
                </p:cNvPr>
                <p:cNvSpPr txBox="1"/>
                <p:nvPr/>
              </p:nvSpPr>
              <p:spPr>
                <a:xfrm>
                  <a:off x="1418911" y="4002579"/>
                  <a:ext cx="10196725" cy="94711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ct val="125000"/>
                    </a:lnSpc>
                  </a:pPr>
                  <a:r>
                    <a:rPr lang="zh-CN" altLang="en-US" sz="1400" dirty="0">
                      <a:latin typeface="汉仪文黑-85W" panose="00020600040101010101" pitchFamily="18" charset="-128"/>
                      <a:ea typeface="汉仪文黑-85W" panose="00020600040101010101" pitchFamily="18" charset="-128"/>
                      <a:cs typeface="汉仪文黑-85W" panose="00020600040101010101" pitchFamily="18" charset="-128"/>
                    </a:rPr>
                    <a:t>相关系数的性质</a:t>
                  </a:r>
                  <a:r>
                    <a:rPr lang="zh-CN" altLang="en-US" sz="1400" dirty="0">
                      <a:latin typeface="仿宋" panose="02010609060101010101" pitchFamily="49" charset="-122"/>
                      <a:ea typeface="仿宋" panose="02010609060101010101" pitchFamily="49" charset="-122"/>
                    </a:rPr>
                    <a:t>：</a:t>
                  </a:r>
                  <a:endParaRPr lang="en-US" altLang="zh-CN" sz="1400" dirty="0">
                    <a:latin typeface="仿宋" panose="02010609060101010101" pitchFamily="49" charset="-122"/>
                    <a:ea typeface="仿宋" panose="02010609060101010101" pitchFamily="49" charset="-122"/>
                  </a:endParaRPr>
                </a:p>
                <a:p>
                  <a:pPr>
                    <a:lnSpc>
                      <a:spcPct val="125000"/>
                    </a:lnSpc>
                  </a:pPr>
                  <a:r>
                    <a:rPr lang="zh-CN" altLang="en-US" sz="1600" dirty="0">
                      <a:latin typeface="仿宋" panose="02010609060101010101" pitchFamily="49" charset="-122"/>
                      <a:ea typeface="仿宋" panose="02010609060101010101" pitchFamily="49" charset="-122"/>
                    </a:rPr>
                    <a:t>（</a:t>
                  </a:r>
                  <a:r>
                    <a:rPr lang="en-US" altLang="zh-CN" sz="1600" dirty="0">
                      <a:latin typeface="仿宋" panose="02010609060101010101" pitchFamily="49" charset="-122"/>
                      <a:ea typeface="仿宋" panose="02010609060101010101" pitchFamily="49" charset="-122"/>
                    </a:rPr>
                    <a:t>1</a:t>
                  </a:r>
                  <a:r>
                    <a:rPr lang="zh-CN" altLang="en-US" sz="1600" dirty="0">
                      <a:latin typeface="仿宋" panose="02010609060101010101" pitchFamily="49" charset="-122"/>
                      <a:ea typeface="仿宋" panose="02010609060101010101" pitchFamily="49" charset="-122"/>
                    </a:rPr>
                    <a:t>）</a:t>
                  </a:r>
                  <a14:m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l-GR" altLang="zh-CN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𝑋𝑌</m:t>
                              </m:r>
                            </m:sub>
                          </m:sSub>
                        </m:e>
                      </m:d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≤1</m:t>
                      </m:r>
                    </m:oMath>
                  </a14:m>
                  <a:r>
                    <a:rPr lang="en-US" altLang="zh-CN" sz="1600" dirty="0">
                      <a:latin typeface="仿宋" panose="02010609060101010101" pitchFamily="49" charset="-122"/>
                      <a:ea typeface="仿宋" panose="02010609060101010101" pitchFamily="49" charset="-122"/>
                    </a:rPr>
                    <a:t>			</a:t>
                  </a:r>
                  <a:r>
                    <a:rPr lang="zh-CN" altLang="en-US" sz="1600" dirty="0">
                      <a:latin typeface="仿宋" panose="02010609060101010101" pitchFamily="49" charset="-122"/>
                      <a:ea typeface="仿宋" panose="02010609060101010101" pitchFamily="49" charset="-122"/>
                    </a:rPr>
                    <a:t>（</a:t>
                  </a:r>
                  <a:r>
                    <a:rPr lang="en-US" altLang="zh-CN" sz="1600" dirty="0">
                      <a:latin typeface="仿宋" panose="02010609060101010101" pitchFamily="49" charset="-122"/>
                      <a:ea typeface="仿宋" panose="02010609060101010101" pitchFamily="49" charset="-122"/>
                    </a:rPr>
                    <a:t>2</a:t>
                  </a:r>
                  <a:r>
                    <a:rPr lang="zh-CN" altLang="en-US" sz="1600" dirty="0">
                      <a:latin typeface="仿宋" panose="02010609060101010101" pitchFamily="49" charset="-122"/>
                      <a:ea typeface="仿宋" panose="02010609060101010101" pitchFamily="49" charset="-122"/>
                    </a:rPr>
                    <a:t>）</a:t>
                  </a:r>
                  <a14:m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l-GR" altLang="zh-CN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𝑋𝑌</m:t>
                              </m:r>
                            </m:sub>
                          </m:sSub>
                        </m:e>
                      </m:d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CN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⇔ </m:t>
                      </m:r>
                    </m:oMath>
                  </a14:m>
                  <a:r>
                    <a:rPr lang="zh-CN" altLang="en-US" sz="1600" dirty="0">
                      <a:latin typeface="仿宋" panose="02010609060101010101" pitchFamily="49" charset="-122"/>
                      <a:ea typeface="仿宋" panose="02010609060101010101" pitchFamily="49" charset="-122"/>
                    </a:rPr>
                    <a:t>存在</a:t>
                  </a:r>
                  <a14:m>
                    <m:oMath xmlns:m="http://schemas.openxmlformats.org/officeDocument/2006/math">
                      <m:r>
                        <a:rPr lang="en-US" altLang="zh-CN" sz="1600" i="1" dirty="0" smtClean="0"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𝑎</m:t>
                      </m:r>
                      <m:r>
                        <a:rPr lang="en-US" altLang="zh-CN" sz="1600" i="1" dirty="0" smtClean="0"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,</m:t>
                      </m:r>
                      <m:r>
                        <a:rPr lang="en-US" altLang="zh-CN" sz="1600" i="1" dirty="0" smtClean="0"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𝑏</m:t>
                      </m:r>
                    </m:oMath>
                  </a14:m>
                  <a:r>
                    <a:rPr lang="zh-CN" altLang="en-US" sz="1600" dirty="0">
                      <a:latin typeface="仿宋" panose="02010609060101010101" pitchFamily="49" charset="-122"/>
                      <a:ea typeface="仿宋" panose="02010609060101010101" pitchFamily="49" charset="-122"/>
                    </a:rPr>
                    <a:t>使</a:t>
                  </a:r>
                  <a14:m>
                    <m:oMath xmlns:m="http://schemas.openxmlformats.org/officeDocument/2006/math">
                      <m:r>
                        <a:rPr lang="en-US" altLang="zh-CN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𝑎𝑋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altLang="zh-CN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</m:oMath>
                  </a14:m>
                  <a:endParaRPr lang="en-US" altLang="zh-CN" sz="1600" dirty="0">
                    <a:latin typeface="仿宋" panose="02010609060101010101" pitchFamily="49" charset="-122"/>
                    <a:ea typeface="仿宋" panose="02010609060101010101" pitchFamily="49" charset="-122"/>
                  </a:endParaRPr>
                </a:p>
                <a:p>
                  <a:pPr>
                    <a:lnSpc>
                      <a:spcPct val="125000"/>
                    </a:lnSpc>
                  </a:pPr>
                  <a:r>
                    <a:rPr lang="zh-CN" altLang="en-US" sz="1600" dirty="0">
                      <a:latin typeface="仿宋" panose="02010609060101010101" pitchFamily="49" charset="-122"/>
                      <a:ea typeface="仿宋" panose="02010609060101010101" pitchFamily="49" charset="-122"/>
                    </a:rPr>
                    <a:t>（</a:t>
                  </a:r>
                  <a:r>
                    <a:rPr lang="en-US" altLang="zh-CN" sz="1600" dirty="0">
                      <a:latin typeface="仿宋" panose="02010609060101010101" pitchFamily="49" charset="-122"/>
                      <a:ea typeface="仿宋" panose="02010609060101010101" pitchFamily="49" charset="-122"/>
                    </a:rPr>
                    <a:t>3</a:t>
                  </a:r>
                  <a:r>
                    <a:rPr lang="zh-CN" altLang="en-US" sz="1600" dirty="0">
                      <a:latin typeface="仿宋" panose="02010609060101010101" pitchFamily="49" charset="-122"/>
                      <a:ea typeface="仿宋" panose="02010609060101010101" pitchFamily="49" charset="-122"/>
                    </a:rPr>
                    <a:t>）仅对</a:t>
                  </a:r>
                  <a:r>
                    <a:rPr lang="zh-CN" altLang="en-US" sz="1600" b="1" dirty="0">
                      <a:latin typeface="仿宋" panose="02010609060101010101" pitchFamily="49" charset="-122"/>
                      <a:ea typeface="仿宋" panose="02010609060101010101" pitchFamily="49" charset="-122"/>
                    </a:rPr>
                    <a:t>二维正态分布</a:t>
                  </a:r>
                  <a14:m>
                    <m:oMath xmlns:m="http://schemas.openxmlformats.org/officeDocument/2006/math">
                      <m:d>
                        <m:d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sz="1600" b="0" i="0" smtClean="0"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  <m:t>X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  <m:t>,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  <m:t>𝑌</m:t>
                          </m:r>
                        </m:e>
                      </m:d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~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𝑁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(</m:t>
                      </m:r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zh-CN" altLang="en-US" sz="1600" b="0" i="1" smtClean="0"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  <m:t>𝜇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  <m:t>1</m:t>
                          </m:r>
                        </m:sub>
                      </m:sSub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,</m:t>
                      </m:r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zh-CN" altLang="en-US" sz="1600" b="0" i="1" smtClean="0"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  <m:t>𝜇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  <m:t>2</m:t>
                          </m:r>
                        </m:sub>
                      </m:sSub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,</m:t>
                      </m:r>
                      <m:sSubSup>
                        <m:sSubSup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</m:ctrlPr>
                        </m:sSubSupPr>
                        <m:e>
                          <m:r>
                            <a:rPr lang="zh-CN" altLang="en-US" sz="1600" b="0" i="1" smtClean="0"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  <m:t>𝜎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  <m:t>1</m:t>
                          </m:r>
                        </m:sub>
                        <m:sup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  <m:t>2</m:t>
                          </m:r>
                        </m:sup>
                      </m:sSubSup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,</m:t>
                      </m:r>
                      <m:sSubSup>
                        <m:sSubSup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</m:ctrlPr>
                        </m:sSubSupPr>
                        <m:e>
                          <m:r>
                            <a:rPr lang="zh-CN" altLang="en-US" sz="1600" b="0" i="1" smtClean="0"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  <m:t>𝜎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  <m:t>2</m:t>
                          </m:r>
                        </m:sub>
                        <m:sup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  <m:t>2</m:t>
                          </m:r>
                        </m:sup>
                      </m:sSubSup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,</m:t>
                      </m:r>
                      <m:r>
                        <a:rPr lang="zh-CN" altLang="en-US" sz="1600" b="0" i="1" smtClean="0"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𝜌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)</m:t>
                      </m:r>
                    </m:oMath>
                  </a14:m>
                  <a:r>
                    <a:rPr lang="zh-CN" altLang="en-US" sz="1600" dirty="0">
                      <a:latin typeface="仿宋" panose="02010609060101010101" pitchFamily="49" charset="-122"/>
                      <a:ea typeface="仿宋" panose="02010609060101010101" pitchFamily="49" charset="-122"/>
                    </a:rPr>
                    <a:t>而言，不相关与独立等价</a:t>
                  </a:r>
                  <a:r>
                    <a:rPr lang="en-US" altLang="zh-CN" sz="1600" dirty="0">
                      <a:latin typeface="仿宋" panose="02010609060101010101" pitchFamily="49" charset="-122"/>
                      <a:ea typeface="仿宋" panose="02010609060101010101" pitchFamily="49" charset="-122"/>
                    </a:rPr>
                    <a:t>	</a:t>
                  </a:r>
                  <a:endParaRPr lang="en-US" altLang="zh-CN" sz="1400" dirty="0">
                    <a:latin typeface="仿宋" panose="02010609060101010101" pitchFamily="49" charset="-122"/>
                    <a:ea typeface="仿宋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46" name="文本框 45">
                  <a:extLst>
                    <a:ext uri="{FF2B5EF4-FFF2-40B4-BE49-F238E27FC236}">
                      <a16:creationId xmlns:a16="http://schemas.microsoft.com/office/drawing/2014/main" id="{5338BAB8-DD11-9CE6-FD0A-27B5DFB571F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18911" y="4002579"/>
                  <a:ext cx="10196725" cy="947119"/>
                </a:xfrm>
                <a:prstGeom prst="rect">
                  <a:avLst/>
                </a:prstGeom>
                <a:blipFill>
                  <a:blip r:embed="rId8"/>
                  <a:stretch>
                    <a:fillRect l="-359" b="-709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0" name="星形: 五角 49">
            <a:extLst>
              <a:ext uri="{FF2B5EF4-FFF2-40B4-BE49-F238E27FC236}">
                <a16:creationId xmlns:a16="http://schemas.microsoft.com/office/drawing/2014/main" id="{41C61860-6248-6F53-8EB3-E3C4FD99DA6C}"/>
              </a:ext>
            </a:extLst>
          </p:cNvPr>
          <p:cNvSpPr/>
          <p:nvPr/>
        </p:nvSpPr>
        <p:spPr>
          <a:xfrm>
            <a:off x="5770643" y="4116314"/>
            <a:ext cx="147465" cy="147465"/>
          </a:xfrm>
          <a:prstGeom prst="star5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582956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2" grpId="0"/>
      <p:bldP spid="3" grpId="0" animBg="1"/>
      <p:bldP spid="4" grpId="0"/>
      <p:bldP spid="50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143FF26B-CC77-0DBB-021F-F6F65A8FA87C}"/>
              </a:ext>
            </a:extLst>
          </p:cNvPr>
          <p:cNvCxnSpPr/>
          <p:nvPr/>
        </p:nvCxnSpPr>
        <p:spPr>
          <a:xfrm>
            <a:off x="576364" y="1136063"/>
            <a:ext cx="11039272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D9A48C2F-C397-1AB5-176A-8D4A6BFAAC2F}"/>
                  </a:ext>
                </a:extLst>
              </p:cNvPr>
              <p:cNvSpPr txBox="1"/>
              <p:nvPr/>
            </p:nvSpPr>
            <p:spPr>
              <a:xfrm>
                <a:off x="507460" y="1393928"/>
                <a:ext cx="1110817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例</a:t>
                </a:r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5.1</a:t>
                </a:r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：若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𝑋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与</a:t>
                </a:r>
                <a14:m>
                  <m:oMath xmlns:m="http://schemas.openxmlformats.org/officeDocument/2006/math"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𝑌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独立，并同服从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𝑁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~(</m:t>
                    </m:r>
                    <m:r>
                      <a:rPr lang="zh-CN" altLang="en-US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𝜇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,</m:t>
                    </m:r>
                    <m:sSup>
                      <m:sSup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pPr>
                      <m:e>
                        <m:r>
                          <a:rPr lang="zh-CN" altLang="en-US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𝜎</m:t>
                        </m:r>
                      </m:e>
                      <m: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2</m:t>
                        </m:r>
                      </m:sup>
                    </m:sSup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)</m:t>
                    </m:r>
                  </m:oMath>
                </a14:m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. </a:t>
                </a:r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令</a:t>
                </a:r>
                <a14:m>
                  <m:oMath xmlns:m="http://schemas.openxmlformats.org/officeDocument/2006/math"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𝑈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</m:t>
                    </m:r>
                    <m:r>
                      <a:rPr lang="zh-CN" altLang="en-US" sz="1600" b="0" i="1" dirty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𝛼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𝑋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+</m:t>
                    </m:r>
                    <m:r>
                      <a:rPr lang="zh-CN" altLang="en-US" sz="1600" b="0" i="1" dirty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𝛽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𝑌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,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𝑉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</m:t>
                    </m:r>
                    <m:r>
                      <a:rPr lang="zh-CN" altLang="en-US" sz="1600" b="0" i="1" dirty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𝛼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𝑋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−</m:t>
                    </m:r>
                    <m:r>
                      <a:rPr lang="zh-CN" altLang="en-US" sz="1600" b="0" i="1" dirty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𝛽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𝑌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，求相关系数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bPr>
                      <m:e>
                        <m:r>
                          <a:rPr lang="zh-CN" altLang="en-US" sz="160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𝜌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𝑈𝑉</m:t>
                        </m:r>
                      </m:sub>
                    </m:sSub>
                  </m:oMath>
                </a14:m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D9A48C2F-C397-1AB5-176A-8D4A6BFAAC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60" y="1393928"/>
                <a:ext cx="11108176" cy="338554"/>
              </a:xfrm>
              <a:prstGeom prst="rect">
                <a:avLst/>
              </a:prstGeom>
              <a:blipFill>
                <a:blip r:embed="rId3"/>
                <a:stretch>
                  <a:fillRect l="-274" t="-3636" b="-254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B46A6C03-88DF-D0C2-F09C-74196CC03839}"/>
                  </a:ext>
                </a:extLst>
              </p:cNvPr>
              <p:cNvSpPr txBox="1"/>
              <p:nvPr/>
            </p:nvSpPr>
            <p:spPr>
              <a:xfrm>
                <a:off x="507460" y="1850860"/>
                <a:ext cx="11039269" cy="16774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解：若</a:t>
                </a:r>
                <a14:m>
                  <m:oMath xmlns:m="http://schemas.openxmlformats.org/officeDocument/2006/math">
                    <m:r>
                      <a:rPr lang="zh-CN" altLang="en-US" sz="160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𝑋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与</a:t>
                </a:r>
                <a14:m>
                  <m:oMath xmlns:m="http://schemas.openxmlformats.org/officeDocument/2006/math">
                    <m:r>
                      <a:rPr lang="zh-CN" altLang="en-US" sz="160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𝑌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独立，则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𝐸</m:t>
                    </m:r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𝑈</m:t>
                        </m:r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zh-CN" altLang="en-US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𝛼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𝐸</m:t>
                    </m:r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𝑋</m:t>
                        </m:r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+</m:t>
                    </m:r>
                    <m:r>
                      <a:rPr lang="zh-CN" altLang="en-US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𝛽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𝐸</m:t>
                    </m:r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𝑌</m:t>
                        </m:r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zh-CN" altLang="en-US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𝛼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+</m:t>
                        </m:r>
                        <m:r>
                          <a:rPr lang="zh-CN" altLang="en-US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𝛽</m:t>
                        </m:r>
                      </m:e>
                    </m:d>
                    <m:r>
                      <a:rPr lang="zh-CN" altLang="en-US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𝜇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  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𝐸</m:t>
                    </m:r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𝑉</m:t>
                        </m:r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zh-CN" altLang="en-US" sz="16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𝛼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𝐸</m:t>
                    </m:r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𝑋</m:t>
                        </m:r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−</m:t>
                    </m:r>
                    <m:r>
                      <a:rPr lang="zh-CN" altLang="en-US" sz="16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𝛽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𝐸</m:t>
                    </m:r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𝑌</m:t>
                        </m:r>
                      </m:e>
                    </m:d>
                    <m:r>
                      <a:rPr lang="en-US" altLang="zh-CN" sz="16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  <m:r>
                      <a:rPr lang="zh-CN" altLang="en-US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𝛼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−</m:t>
                    </m:r>
                    <m:r>
                      <a:rPr lang="zh-CN" altLang="en-US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𝛽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</m:t>
                    </m:r>
                    <m:r>
                      <a:rPr lang="zh-CN" altLang="en-US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𝜇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；</a:t>
                </a:r>
                <a:endParaRPr lang="en-US" altLang="zh-CN" sz="16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              </a:t>
                </a:r>
                <a14:m>
                  <m:oMath xmlns:m="http://schemas.openxmlformats.org/officeDocument/2006/math">
                    <m:r>
                      <a:rPr lang="en-US" altLang="zh-CN" sz="1600" b="0" i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 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𝐷</m:t>
                    </m:r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𝑈</m:t>
                        </m:r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𝐷</m:t>
                    </m:r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𝑉</m:t>
                        </m:r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sSup>
                      <m:sSup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zh-CN" altLang="en-US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𝛼</m:t>
                        </m:r>
                      </m:e>
                      <m: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</m:sup>
                    </m:sSup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𝐷</m:t>
                    </m:r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𝑋</m:t>
                        </m:r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+</m:t>
                    </m:r>
                    <m:sSup>
                      <m:sSup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zh-CN" altLang="en-US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𝛽</m:t>
                        </m:r>
                      </m:e>
                      <m: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</m:sup>
                    </m:sSup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𝐷</m:t>
                    </m:r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𝑌</m:t>
                        </m:r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zh-CN" altLang="en-US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𝛼</m:t>
                            </m:r>
                          </m:e>
                          <m:sup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+</m:t>
                        </m:r>
                        <m:sSup>
                          <m:sSup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zh-CN" altLang="en-US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𝛽</m:t>
                            </m:r>
                          </m:e>
                          <m:sup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2</m:t>
                            </m:r>
                          </m:sup>
                        </m:sSup>
                      </m:e>
                    </m:d>
                    <m:sSup>
                      <m:sSup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zh-CN" altLang="en-US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𝜎</m:t>
                        </m:r>
                      </m:e>
                      <m: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</a:t>
                </a:r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又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𝐸</m:t>
                    </m:r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𝑈𝑉</m:t>
                        </m:r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zh-CN" altLang="en-US" sz="1600" i="1" dirty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𝛼</m:t>
                            </m:r>
                            <m:r>
                              <a:rPr lang="en-US" altLang="zh-CN" sz="1600" i="1" dirty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𝑋</m:t>
                            </m:r>
                            <m:r>
                              <a:rPr lang="en-US" altLang="zh-CN" sz="1600" i="1" dirty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+</m:t>
                            </m:r>
                            <m:r>
                              <a:rPr lang="zh-CN" altLang="en-US" sz="1600" i="1" dirty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𝛽</m:t>
                            </m:r>
                            <m:r>
                              <a:rPr lang="en-US" altLang="zh-CN" sz="1600" i="1" dirty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𝑌</m:t>
                            </m:r>
                          </m:e>
                        </m:d>
                        <m:d>
                          <m:d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zh-CN" altLang="en-US" sz="1600" i="1" dirty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𝛼</m:t>
                            </m:r>
                            <m:r>
                              <a:rPr lang="en-US" altLang="zh-CN" sz="1600" i="1" dirty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𝑋</m:t>
                            </m:r>
                            <m:r>
                              <a:rPr lang="en-US" altLang="zh-CN" sz="1600" i="1" dirty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−</m:t>
                            </m:r>
                            <m:r>
                              <a:rPr lang="zh-CN" altLang="en-US" sz="1600" i="1" dirty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𝛽</m:t>
                            </m:r>
                            <m:r>
                              <a:rPr lang="en-US" altLang="zh-CN" sz="1600" i="1" dirty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𝑌</m:t>
                            </m:r>
                          </m:e>
                        </m:d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𝐸</m:t>
                    </m:r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zh-CN" altLang="en-US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𝛼</m:t>
                            </m:r>
                          </m:e>
                          <m:sup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2</m:t>
                            </m:r>
                          </m:sup>
                        </m:sSup>
                        <m:sSup>
                          <m:sSup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𝑋</m:t>
                            </m:r>
                          </m:e>
                          <m:sup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</m:t>
                        </m:r>
                        <m:sSup>
                          <m:sSup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zh-CN" altLang="en-US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𝛽</m:t>
                            </m:r>
                          </m:e>
                          <m:sup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2</m:t>
                            </m:r>
                          </m:sup>
                        </m:sSup>
                        <m:sSup>
                          <m:sSup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𝑌</m:t>
                            </m:r>
                          </m:e>
                          <m:sup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sSup>
                      <m:sSup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zh-CN" altLang="en-US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𝛼</m:t>
                        </m:r>
                      </m:e>
                      <m:sup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</m:sup>
                    </m:sSup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𝐸</m:t>
                    </m:r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𝑋</m:t>
                            </m:r>
                          </m:e>
                          <m:sup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−</m:t>
                    </m:r>
                    <m:sSup>
                      <m:sSup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zh-CN" altLang="en-US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𝛽</m:t>
                        </m:r>
                      </m:e>
                      <m: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</m:sup>
                    </m:sSup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𝐸</m:t>
                    </m:r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𝑌</m:t>
                            </m:r>
                          </m:e>
                          <m:sup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=(</m:t>
                    </m:r>
                    <m:sSup>
                      <m:sSup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zh-CN" altLang="en-US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𝛼</m:t>
                        </m:r>
                      </m:e>
                      <m:sup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</m:sup>
                    </m:sSup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−</m:t>
                    </m:r>
                    <m:sSup>
                      <m:sSup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zh-CN" altLang="en-US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𝛽</m:t>
                        </m:r>
                      </m:e>
                      <m:sup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</m:sup>
                    </m:sSup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)(</m:t>
                    </m:r>
                    <m:sSup>
                      <m:sSup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zh-CN" altLang="en-US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𝜇</m:t>
                        </m:r>
                      </m:e>
                      <m: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</m:sup>
                    </m:sSup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+</m:t>
                    </m:r>
                    <m:sSup>
                      <m:sSup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zh-CN" altLang="en-US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𝜎</m:t>
                        </m:r>
                      </m:e>
                      <m: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</m:sup>
                    </m:sSup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</m:t>
                    </m:r>
                  </m:oMath>
                </a14:m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</a:t>
                </a:r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则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600">
                        <a:latin typeface="Cambria Math" panose="02040503050406030204" pitchFamily="18" charset="0"/>
                      </a:rPr>
                      <m:t>cov</m:t>
                    </m:r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US" altLang="zh-CN" sz="16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600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𝑈𝑉</m:t>
                        </m:r>
                      </m:e>
                    </m:d>
                    <m:r>
                      <a:rPr lang="en-US" altLang="zh-CN" sz="16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1600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</m:d>
                    <m:r>
                      <a:rPr lang="en-US" altLang="zh-CN" sz="1600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US" altLang="zh-CN" sz="16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=(</m:t>
                    </m:r>
                    <m:sSup>
                      <m:sSup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zh-CN" altLang="en-US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𝛼</m:t>
                        </m:r>
                      </m:e>
                      <m:sup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</m:sup>
                    </m:sSup>
                    <m:r>
                      <a:rPr lang="en-US" altLang="zh-CN" sz="16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−</m:t>
                    </m:r>
                    <m:sSup>
                      <m:sSup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zh-CN" altLang="en-US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𝛽</m:t>
                        </m:r>
                      </m:e>
                      <m:sup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</m:sup>
                    </m:sSup>
                    <m:r>
                      <a:rPr lang="en-US" altLang="zh-CN" sz="16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</m:t>
                    </m:r>
                    <m:sSup>
                      <m:sSup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zh-CN" altLang="en-US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𝜎</m:t>
                        </m:r>
                      </m:e>
                      <m:sup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</m:sup>
                    </m:sSup>
                    <m:r>
                      <m:rPr>
                        <m:nor/>
                      </m:rPr>
                      <a:rPr lang="en-US" altLang="zh-CN" sz="1600" b="0" i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.</m:t>
                    </m:r>
                  </m:oMath>
                </a14:m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	</a:t>
                </a:r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则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bPr>
                      <m:e>
                        <m:r>
                          <a:rPr lang="zh-CN" altLang="en-US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𝜌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𝑈𝑉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</m:t>
                    </m:r>
                    <m:f>
                      <m:f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sz="1600">
                            <a:latin typeface="Cambria Math" panose="02040503050406030204" pitchFamily="18" charset="0"/>
                          </a:rPr>
                          <m:t>cov</m:t>
                        </m:r>
                        <m:d>
                          <m:d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𝑈</m:t>
                            </m:r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</m:d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𝐷</m:t>
                            </m:r>
                            <m:d>
                              <m:dPr>
                                <m:ctrlP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</m:ctrlPr>
                              </m:dPr>
                              <m:e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𝑈</m:t>
                                </m:r>
                              </m:e>
                            </m:d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𝐷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(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𝑉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)</m:t>
                            </m:r>
                          </m:e>
                        </m:rad>
                      </m:den>
                    </m:f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</m:t>
                    </m:r>
                    <m:f>
                      <m:f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zh-CN" altLang="en-US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𝛼</m:t>
                            </m:r>
                          </m:e>
                          <m:sup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</m:t>
                        </m:r>
                        <m:sSup>
                          <m:sSup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zh-CN" altLang="en-US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𝛽</m:t>
                            </m:r>
                          </m:e>
                          <m:sup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16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 </m:t>
                        </m:r>
                      </m:num>
                      <m:den>
                        <m:sSup>
                          <m:sSup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zh-CN" altLang="en-US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𝛼</m:t>
                            </m:r>
                          </m:e>
                          <m:sup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+</m:t>
                        </m:r>
                        <m:sSup>
                          <m:sSup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zh-CN" altLang="en-US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𝛽</m:t>
                            </m:r>
                          </m:e>
                          <m:sup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.</a:t>
                </a:r>
                <a:endParaRPr lang="zh-CN" altLang="en-US" sz="16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B46A6C03-88DF-D0C2-F09C-74196CC038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60" y="1850860"/>
                <a:ext cx="11039269" cy="1677447"/>
              </a:xfrm>
              <a:prstGeom prst="rect">
                <a:avLst/>
              </a:prstGeom>
              <a:blipFill>
                <a:blip r:embed="rId4"/>
                <a:stretch>
                  <a:fillRect l="-276" t="-14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81D6264B-D585-2861-BD1D-12B3E50137C1}"/>
              </a:ext>
            </a:extLst>
          </p:cNvPr>
          <p:cNvCxnSpPr>
            <a:cxnSpLocks/>
          </p:cNvCxnSpPr>
          <p:nvPr/>
        </p:nvCxnSpPr>
        <p:spPr>
          <a:xfrm>
            <a:off x="511212" y="3729624"/>
            <a:ext cx="11035518" cy="0"/>
          </a:xfrm>
          <a:prstGeom prst="line">
            <a:avLst/>
          </a:prstGeom>
          <a:ln w="19050">
            <a:prstDash val="dashDot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186BD7E0-3526-9AD6-189B-998889843D74}"/>
                  </a:ext>
                </a:extLst>
              </p:cNvPr>
              <p:cNvSpPr txBox="1"/>
              <p:nvPr/>
            </p:nvSpPr>
            <p:spPr>
              <a:xfrm>
                <a:off x="507460" y="3948319"/>
                <a:ext cx="11108176" cy="6726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例</a:t>
                </a:r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5.2</a:t>
                </a:r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：设随机变量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𝑋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与</a:t>
                </a:r>
                <a14:m>
                  <m:oMath xmlns:m="http://schemas.openxmlformats.org/officeDocument/2006/math">
                    <m:r>
                      <a:rPr lang="en-US" altLang="zh-CN" sz="1600" i="1" dirty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𝑌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独立同分布，记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𝑈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𝑋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+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𝑌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,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𝑉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𝑋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−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𝑌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，则随机变量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𝑈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𝑉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必然（    ）。</a:t>
                </a:r>
                <a:endParaRPr lang="en-US" altLang="zh-CN" sz="1600" dirty="0">
                  <a:latin typeface="华文宋体" panose="02010600040101010101" pitchFamily="2" charset="-122"/>
                  <a:ea typeface="华文宋体" panose="02010600040101010101" pitchFamily="2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             A.</a:t>
                </a:r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不独立</a:t>
                </a:r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		B.</a:t>
                </a:r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独立</a:t>
                </a:r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		C.</a:t>
                </a:r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相关系数不为</a:t>
                </a:r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0		D.</a:t>
                </a:r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相关系数为</a:t>
                </a:r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0</a:t>
                </a: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186BD7E0-3526-9AD6-189B-998889843D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60" y="3948319"/>
                <a:ext cx="11108176" cy="672685"/>
              </a:xfrm>
              <a:prstGeom prst="rect">
                <a:avLst/>
              </a:prstGeom>
              <a:blipFill>
                <a:blip r:embed="rId5"/>
                <a:stretch>
                  <a:fillRect l="-274" t="-1818" b="-118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4CA4DCF-22CD-EC44-A6A8-E9FAD91DE6C2}"/>
                  </a:ext>
                </a:extLst>
              </p:cNvPr>
              <p:cNvSpPr txBox="1"/>
              <p:nvPr/>
            </p:nvSpPr>
            <p:spPr>
              <a:xfrm>
                <a:off x="507460" y="4786965"/>
                <a:ext cx="11329636" cy="6501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解：由上例知，当</a:t>
                </a:r>
                <a14:m>
                  <m:oMath xmlns:m="http://schemas.openxmlformats.org/officeDocument/2006/math">
                    <m:r>
                      <a:rPr lang="zh-CN" altLang="en-US" sz="160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𝛼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=1,</m:t>
                    </m:r>
                    <m:r>
                      <a:rPr lang="zh-CN" altLang="en-US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𝛽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=1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时，</a:t>
                </a:r>
                <a:r>
                  <a:rPr lang="en-US" altLang="zh-CN" sz="1600" dirty="0">
                    <a:ea typeface="华文宋体" panose="02010600040101010101" pitchFamily="2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bPr>
                      <m:e>
                        <m:r>
                          <a:rPr lang="zh-CN" altLang="en-US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𝜌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𝑈𝑉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=0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，故它们的相关系数必为</a:t>
                </a:r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0.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</a:t>
                </a:r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故选</a:t>
                </a:r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D.</a:t>
                </a:r>
                <a:endParaRPr lang="zh-CN" altLang="en-US" sz="16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4CA4DCF-22CD-EC44-A6A8-E9FAD91DE6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60" y="4786965"/>
                <a:ext cx="11329636" cy="650178"/>
              </a:xfrm>
              <a:prstGeom prst="rect">
                <a:avLst/>
              </a:prstGeom>
              <a:blipFill>
                <a:blip r:embed="rId6"/>
                <a:stretch>
                  <a:fillRect l="-269" t="-4673" b="-112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本框 6">
            <a:extLst>
              <a:ext uri="{FF2B5EF4-FFF2-40B4-BE49-F238E27FC236}">
                <a16:creationId xmlns:a16="http://schemas.microsoft.com/office/drawing/2014/main" id="{9CACC549-8505-240D-F50F-3C4AA7B44A15}"/>
              </a:ext>
            </a:extLst>
          </p:cNvPr>
          <p:cNvSpPr txBox="1"/>
          <p:nvPr/>
        </p:nvSpPr>
        <p:spPr>
          <a:xfrm>
            <a:off x="507460" y="496110"/>
            <a:ext cx="54591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随机变量的协方差与相关系数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84C9253-47A7-5760-8083-CB18A728AF58}"/>
              </a:ext>
            </a:extLst>
          </p:cNvPr>
          <p:cNvSpPr txBox="1"/>
          <p:nvPr/>
        </p:nvSpPr>
        <p:spPr>
          <a:xfrm>
            <a:off x="5966624" y="775742"/>
            <a:ext cx="25698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600" dirty="0"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协方差与相关系数的计算</a:t>
            </a:r>
            <a:endParaRPr lang="en-US" altLang="zh-CN" sz="1600" dirty="0">
              <a:latin typeface="方正清刻本悦宋简体" panose="02000000000000000000" pitchFamily="2" charset="-122"/>
              <a:ea typeface="方正清刻本悦宋简体" panose="02000000000000000000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06253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1" grpId="0"/>
      <p:bldP spid="3" grpId="0"/>
      <p:bldP spid="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143FF26B-CC77-0DBB-021F-F6F65A8FA87C}"/>
              </a:ext>
            </a:extLst>
          </p:cNvPr>
          <p:cNvCxnSpPr/>
          <p:nvPr/>
        </p:nvCxnSpPr>
        <p:spPr>
          <a:xfrm>
            <a:off x="576364" y="1136063"/>
            <a:ext cx="11039272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D9A48C2F-C397-1AB5-176A-8D4A6BFAAC2F}"/>
                  </a:ext>
                </a:extLst>
              </p:cNvPr>
              <p:cNvSpPr txBox="1"/>
              <p:nvPr/>
            </p:nvSpPr>
            <p:spPr>
              <a:xfrm>
                <a:off x="507460" y="1393928"/>
                <a:ext cx="11108176" cy="8784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例</a:t>
                </a:r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5.3</a:t>
                </a:r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：设二维随机变量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(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𝑋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,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𝑌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)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的分布密度为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𝑝</m:t>
                    </m:r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𝑥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,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𝑦</m:t>
                        </m:r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altLang="zh-CN" sz="160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sz="160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eqArrPr>
                          <m:e>
                            <m:f>
                              <m:fPr>
                                <m:ctrlP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zh-CN" altLang="en-US" sz="1600" b="0" i="1" smtClean="0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𝜋</m:t>
                                </m:r>
                              </m:den>
                            </m:f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≤1</m:t>
                            </m:r>
                          </m:e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0,</m:t>
                            </m:r>
                            <m:r>
                              <a:rPr lang="zh-CN" altLang="en-US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其他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               </m:t>
                            </m:r>
                          </m:e>
                        </m:eqArr>
                      </m:e>
                    </m:d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，问：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𝑋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,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𝑌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是否不相关？是否独立？</a:t>
                </a:r>
                <a:endParaRPr lang="en-US" altLang="zh-CN" sz="1600" dirty="0">
                  <a:latin typeface="华文宋体" panose="02010600040101010101" pitchFamily="2" charset="-122"/>
                  <a:ea typeface="华文宋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D9A48C2F-C397-1AB5-176A-8D4A6BFAAC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60" y="1393928"/>
                <a:ext cx="11108176" cy="878446"/>
              </a:xfrm>
              <a:prstGeom prst="rect">
                <a:avLst/>
              </a:prstGeom>
              <a:blipFill>
                <a:blip r:embed="rId3"/>
                <a:stretch>
                  <a:fillRect l="-2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B46A6C03-88DF-D0C2-F09C-74196CC03839}"/>
                  </a:ext>
                </a:extLst>
              </p:cNvPr>
              <p:cNvSpPr txBox="1"/>
              <p:nvPr/>
            </p:nvSpPr>
            <p:spPr>
              <a:xfrm>
                <a:off x="507460" y="2228190"/>
                <a:ext cx="11039269" cy="18737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解：由题意，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𝑝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𝑋</m:t>
                        </m:r>
                      </m:sub>
                    </m:sSub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𝑥</m:t>
                        </m:r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nary>
                      <m:nary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+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𝑝</m:t>
                        </m:r>
                        <m:d>
                          <m:d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𝑥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,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𝑦</m:t>
                            </m:r>
                          </m:e>
                        </m:d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𝑑𝑦</m:t>
                        </m:r>
                      </m:e>
                    </m:nary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nary>
                      <m:nary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16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US" altLang="zh-CN" sz="160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1−</m:t>
                            </m:r>
                            <m:sSup>
                              <m:sSupPr>
                                <m:ctrlP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sub>
                      <m:sup>
                        <m:rad>
                          <m:radPr>
                            <m:degHide m:val="on"/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1−</m:t>
                            </m:r>
                            <m:sSup>
                              <m:sSup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sup>
                      <m:e>
                        <m:f>
                          <m:f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fPr>
                          <m:num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1</m:t>
                            </m:r>
                          </m:num>
                          <m:den>
                            <m:r>
                              <a:rPr lang="zh-CN" altLang="en-US" sz="1600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𝜋</m:t>
                            </m:r>
                          </m:den>
                        </m:f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𝑑𝑦</m:t>
                        </m:r>
                      </m:e>
                    </m:nary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</m:num>
                      <m:den>
                        <m:r>
                          <a:rPr lang="zh-CN" altLang="en-US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𝜋</m:t>
                        </m:r>
                      </m:den>
                    </m:f>
                    <m:rad>
                      <m:radPr>
                        <m:degHide m:val="on"/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radPr>
                      <m:deg/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1−</m:t>
                        </m:r>
                        <m:sSup>
                          <m:sSup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.  </a:t>
                </a:r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同理，</a:t>
                </a:r>
                <a:r>
                  <a:rPr lang="en-US" altLang="zh-CN" sz="1600" dirty="0">
                    <a:ea typeface="楷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𝑝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𝑌</m:t>
                        </m:r>
                      </m:sub>
                    </m:sSub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𝑦</m:t>
                        </m:r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</m:num>
                      <m:den>
                        <m:r>
                          <a:rPr lang="zh-CN" altLang="en-US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𝜋</m:t>
                        </m:r>
                      </m:den>
                    </m:f>
                    <m:rad>
                      <m:radPr>
                        <m:degHide m:val="on"/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radPr>
                      <m:deg/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1−</m:t>
                        </m:r>
                        <m:sSup>
                          <m:sSup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𝑦</m:t>
                            </m:r>
                          </m:e>
                          <m:sup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</a:t>
                </a:r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则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𝑝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𝑋</m:t>
                        </m:r>
                      </m:sub>
                    </m:sSub>
                    <m:d>
                      <m:dPr>
                        <m:ctrlPr>
                          <a:rPr lang="en-US" altLang="zh-CN" sz="16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𝑥</m:t>
                        </m:r>
                      </m:e>
                    </m:d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𝑝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𝑌</m:t>
                        </m:r>
                      </m:sub>
                    </m:sSub>
                    <m:d>
                      <m:dPr>
                        <m:ctrlPr>
                          <a:rPr lang="en-US" altLang="zh-CN" sz="16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𝑦</m:t>
                        </m:r>
                      </m:e>
                    </m:d>
                    <m:r>
                      <a:rPr lang="en-US" altLang="zh-CN" sz="160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4</m:t>
                        </m:r>
                      </m:num>
                      <m:den>
                        <m:sSup>
                          <m:sSup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zh-CN" altLang="en-US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𝜋</m:t>
                            </m:r>
                          </m:e>
                          <m:sup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2</m:t>
                            </m:r>
                          </m:sup>
                        </m:sSup>
                      </m:den>
                    </m:f>
                    <m:rad>
                      <m:radPr>
                        <m:degHide m:val="on"/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radPr>
                      <m:deg/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(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1−</m:t>
                        </m:r>
                        <m:sSup>
                          <m:sSup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)(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1−</m:t>
                        </m:r>
                        <m:sSup>
                          <m:sSup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𝑦</m:t>
                            </m:r>
                          </m:e>
                          <m:sup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)</m:t>
                        </m:r>
                      </m:e>
                    </m:rad>
                    <m:r>
                      <a:rPr lang="en-US" altLang="zh-CN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𝑝</m:t>
                    </m:r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𝑥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,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𝑦</m:t>
                        </m:r>
                      </m:e>
                    </m:d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，故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𝑋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,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𝑌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不独立。</a:t>
                </a:r>
                <a:endParaRPr lang="en-US" altLang="zh-CN" sz="16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</a:t>
                </a:r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又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𝐸</m:t>
                    </m:r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𝑋</m:t>
                        </m:r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nary>
                      <m:nary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sup>
                      <m:e>
                        <m:f>
                          <m:f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2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𝑥</m:t>
                            </m:r>
                          </m:num>
                          <m:den>
                            <m:r>
                              <a:rPr lang="zh-CN" altLang="en-US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𝜋</m:t>
                            </m:r>
                          </m:den>
                        </m:f>
                        <m:rad>
                          <m:radPr>
                            <m:degHide m:val="on"/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1−</m:t>
                            </m:r>
                            <m:sSup>
                              <m:sSup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𝑑𝑥</m:t>
                        </m:r>
                      </m:e>
                    </m:nary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=0</m:t>
                    </m:r>
                    <m:r>
                      <a:rPr lang="en-US" altLang="zh-CN" sz="1600" b="0" i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  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𝐸</m:t>
                    </m:r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𝑌</m:t>
                        </m:r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=0,  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𝐸</m:t>
                    </m:r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𝑋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𝑌</m:t>
                        </m:r>
                      </m:e>
                    </m:d>
                    <m:r>
                      <a:rPr lang="en-US" altLang="zh-CN" sz="16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nary>
                      <m:naryPr>
                        <m:chr m:val="∬"/>
                        <m:ctrlPr>
                          <a:rPr lang="en-US" altLang="zh-CN" sz="16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𝐷</m:t>
                        </m:r>
                      </m:sub>
                      <m: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 </m:t>
                        </m:r>
                      </m:sup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𝑥𝑦</m:t>
                        </m:r>
                        <m:f>
                          <m:f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1</m:t>
                            </m:r>
                          </m:num>
                          <m:den>
                            <m:r>
                              <a:rPr lang="zh-CN" altLang="en-US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𝜋</m:t>
                            </m:r>
                          </m:den>
                        </m:f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𝑑𝑥𝑑𝑦</m:t>
                        </m:r>
                      </m:e>
                    </m:nary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r>
                          <a:rPr lang="zh-CN" altLang="en-US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𝜋</m:t>
                        </m:r>
                      </m:den>
                    </m:f>
                    <m:nary>
                      <m:nary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  <m: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  <m:r>
                          <a:rPr lang="zh-CN" altLang="en-US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𝜋</m:t>
                        </m:r>
                      </m:sup>
                      <m:e>
                        <m:func>
                          <m:func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 sz="1600" b="0" i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cos</m:t>
                            </m:r>
                          </m:fName>
                          <m:e>
                            <m:r>
                              <a:rPr lang="zh-CN" altLang="en-US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𝜃</m:t>
                            </m:r>
                          </m:e>
                        </m:func>
                        <m:func>
                          <m:func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 sz="1600" b="0" i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sin</m:t>
                            </m:r>
                          </m:fName>
                          <m:e>
                            <m:r>
                              <a:rPr lang="zh-CN" altLang="en-US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𝜃</m:t>
                            </m:r>
                          </m:e>
                        </m:func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𝑑</m:t>
                        </m:r>
                        <m:r>
                          <a:rPr lang="zh-CN" altLang="en-US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𝜃</m:t>
                        </m:r>
                        <m:nary>
                          <m:naryPr>
                            <m:ctrlPr>
                              <a:rPr lang="zh-CN" altLang="en-US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0</m:t>
                            </m:r>
                          </m:sub>
                          <m:sup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1</m:t>
                            </m:r>
                          </m:sup>
                          <m:e>
                            <m:sSup>
                              <m:sSupPr>
                                <m:ctrlP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lang="zh-CN" altLang="en-US" sz="16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𝜌</m:t>
                                </m:r>
                              </m:e>
                              <m:sup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3</m:t>
                                </m:r>
                              </m:sup>
                            </m:sSup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𝑑</m:t>
                            </m:r>
                            <m:r>
                              <a:rPr lang="zh-CN" altLang="en-US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𝜌</m:t>
                            </m:r>
                          </m:e>
                        </m:nary>
                      </m:e>
                    </m:nary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=0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:endParaRPr lang="en-US" altLang="zh-CN" sz="16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</a:t>
                </a:r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则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600">
                        <a:latin typeface="Cambria Math" panose="02040503050406030204" pitchFamily="18" charset="0"/>
                      </a:rPr>
                      <m:t>cov</m:t>
                    </m:r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lang="en-US" altLang="zh-CN" sz="16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600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𝑋𝑌</m:t>
                        </m:r>
                      </m:e>
                    </m:d>
                    <m:r>
                      <a:rPr lang="en-US" altLang="zh-CN" sz="16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1600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altLang="zh-CN" sz="1600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，故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𝑋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,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𝑌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不相关。</a:t>
                </a:r>
                <a:endParaRPr lang="en-US" altLang="zh-CN" sz="16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B46A6C03-88DF-D0C2-F09C-74196CC038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60" y="2228190"/>
                <a:ext cx="11039269" cy="1873718"/>
              </a:xfrm>
              <a:prstGeom prst="rect">
                <a:avLst/>
              </a:prstGeom>
              <a:blipFill>
                <a:blip r:embed="rId4"/>
                <a:stretch>
                  <a:fillRect l="-276" t="-19870" b="-159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81D6264B-D585-2861-BD1D-12B3E50137C1}"/>
              </a:ext>
            </a:extLst>
          </p:cNvPr>
          <p:cNvCxnSpPr>
            <a:cxnSpLocks/>
          </p:cNvCxnSpPr>
          <p:nvPr/>
        </p:nvCxnSpPr>
        <p:spPr>
          <a:xfrm>
            <a:off x="511212" y="4339507"/>
            <a:ext cx="11035518" cy="0"/>
          </a:xfrm>
          <a:prstGeom prst="line">
            <a:avLst/>
          </a:prstGeom>
          <a:ln w="19050">
            <a:prstDash val="dashDot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186BD7E0-3526-9AD6-189B-998889843D74}"/>
                  </a:ext>
                </a:extLst>
              </p:cNvPr>
              <p:cNvSpPr txBox="1"/>
              <p:nvPr/>
            </p:nvSpPr>
            <p:spPr>
              <a:xfrm>
                <a:off x="507459" y="4558202"/>
                <a:ext cx="11329635" cy="6713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例</a:t>
                </a:r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5.4</a:t>
                </a:r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：随机变量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𝑋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~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𝑁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(0,1)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1600" i="1" dirty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𝑌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~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𝑁</m:t>
                    </m:r>
                    <m:d>
                      <m:dPr>
                        <m:ctrlPr>
                          <a:rPr lang="en-US" altLang="zh-CN" sz="1600" b="0" i="1" dirty="0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1600" b="0" i="1" dirty="0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1,4</m:t>
                        </m:r>
                      </m:e>
                    </m:d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，且相关系数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bPr>
                      <m:e>
                        <m:r>
                          <a:rPr lang="zh-CN" altLang="en-US" sz="160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𝜌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𝑋𝑌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=1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，则（    ）。</a:t>
                </a:r>
                <a:endParaRPr lang="en-US" altLang="zh-CN" sz="1600" dirty="0">
                  <a:latin typeface="华文宋体" panose="02010600040101010101" pitchFamily="2" charset="-122"/>
                  <a:ea typeface="华文宋体" panose="02010600040101010101" pitchFamily="2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             A.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𝑌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=−2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𝑋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−1</m:t>
                        </m:r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=1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 </a:t>
                </a:r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		B.</a:t>
                </a:r>
                <a:r>
                  <a:rPr lang="en-US" altLang="zh-CN" sz="1600" dirty="0">
                    <a:ea typeface="华文宋体" panose="02010600040101010101" pitchFamily="2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𝑌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=2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𝑋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−1</m:t>
                        </m:r>
                      </m:e>
                    </m:d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=1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 </a:t>
                </a:r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	C.</a:t>
                </a:r>
                <a:r>
                  <a:rPr lang="en-US" altLang="zh-CN" sz="1600" dirty="0">
                    <a:ea typeface="华文宋体" panose="02010600040101010101" pitchFamily="2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𝑌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=−2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𝑋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+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1</m:t>
                        </m:r>
                      </m:e>
                    </m:d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=1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 </a:t>
                </a:r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	D.</a:t>
                </a:r>
                <a:r>
                  <a:rPr lang="en-US" altLang="zh-CN" sz="1600" dirty="0">
                    <a:ea typeface="华文宋体" panose="02010600040101010101" pitchFamily="2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𝑌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=2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𝑋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+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1</m:t>
                        </m:r>
                      </m:e>
                    </m:d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=1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 </a:t>
                </a:r>
                <a:endParaRPr lang="en-US" altLang="zh-CN" sz="1600" dirty="0">
                  <a:latin typeface="华文宋体" panose="02010600040101010101" pitchFamily="2" charset="-122"/>
                  <a:ea typeface="华文宋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186BD7E0-3526-9AD6-189B-998889843D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59" y="4558202"/>
                <a:ext cx="11329635" cy="671338"/>
              </a:xfrm>
              <a:prstGeom prst="rect">
                <a:avLst/>
              </a:prstGeom>
              <a:blipFill>
                <a:blip r:embed="rId5"/>
                <a:stretch>
                  <a:fillRect l="-269" t="-1818" b="-118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4CA4DCF-22CD-EC44-A6A8-E9FAD91DE6C2}"/>
                  </a:ext>
                </a:extLst>
              </p:cNvPr>
              <p:cNvSpPr txBox="1"/>
              <p:nvPr/>
            </p:nvSpPr>
            <p:spPr>
              <a:xfrm>
                <a:off x="507460" y="5396848"/>
                <a:ext cx="1132963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解：由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𝑋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~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𝑁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(0,1)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，当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𝑌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=2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𝑋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+1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时，</a:t>
                </a:r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600" i="1" dirty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𝑌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~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𝑁</m:t>
                    </m:r>
                    <m:d>
                      <m:dPr>
                        <m:ctrlPr>
                          <a:rPr lang="en-US" altLang="zh-CN" sz="1600" i="1" dirty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1600" i="1" dirty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1,</m:t>
                        </m:r>
                        <m:r>
                          <a:rPr lang="en-US" altLang="zh-CN" sz="1600" b="0" i="1" dirty="0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4</m:t>
                        </m:r>
                      </m:e>
                    </m:d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，故若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bPr>
                      <m:e>
                        <m:r>
                          <a:rPr lang="zh-CN" altLang="en-US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𝜌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𝑋𝑌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=1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，则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𝑌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=2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𝑋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+1</m:t>
                        </m:r>
                      </m:e>
                    </m:d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=1</m:t>
                    </m:r>
                  </m:oMath>
                </a14:m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.	</a:t>
                </a:r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故选</a:t>
                </a:r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D.</a:t>
                </a:r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4CA4DCF-22CD-EC44-A6A8-E9FAD91DE6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60" y="5396848"/>
                <a:ext cx="11329636" cy="338554"/>
              </a:xfrm>
              <a:prstGeom prst="rect">
                <a:avLst/>
              </a:prstGeom>
              <a:blipFill>
                <a:blip r:embed="rId6"/>
                <a:stretch>
                  <a:fillRect l="-269" t="-7143" b="-196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本框 6">
            <a:extLst>
              <a:ext uri="{FF2B5EF4-FFF2-40B4-BE49-F238E27FC236}">
                <a16:creationId xmlns:a16="http://schemas.microsoft.com/office/drawing/2014/main" id="{9CACC549-8505-240D-F50F-3C4AA7B44A15}"/>
              </a:ext>
            </a:extLst>
          </p:cNvPr>
          <p:cNvSpPr txBox="1"/>
          <p:nvPr/>
        </p:nvSpPr>
        <p:spPr>
          <a:xfrm>
            <a:off x="507460" y="496110"/>
            <a:ext cx="54591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随机变量的协方差与相关系数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84C9253-47A7-5760-8083-CB18A728AF58}"/>
              </a:ext>
            </a:extLst>
          </p:cNvPr>
          <p:cNvSpPr txBox="1"/>
          <p:nvPr/>
        </p:nvSpPr>
        <p:spPr>
          <a:xfrm>
            <a:off x="5966624" y="775742"/>
            <a:ext cx="25698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600" dirty="0"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协方差与相关系数的计算</a:t>
            </a:r>
            <a:endParaRPr lang="en-US" altLang="zh-CN" sz="1600" dirty="0">
              <a:latin typeface="方正清刻本悦宋简体" panose="02000000000000000000" pitchFamily="2" charset="-122"/>
              <a:ea typeface="方正清刻本悦宋简体" panose="02000000000000000000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170414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1" grpId="0"/>
      <p:bldP spid="3" grpId="0"/>
      <p:bldP spid="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4" name="直接连接符 53">
            <a:extLst>
              <a:ext uri="{FF2B5EF4-FFF2-40B4-BE49-F238E27FC236}">
                <a16:creationId xmlns:a16="http://schemas.microsoft.com/office/drawing/2014/main" id="{5E840CA6-BB1D-071F-2E84-AF8446A5012B}"/>
              </a:ext>
            </a:extLst>
          </p:cNvPr>
          <p:cNvCxnSpPr>
            <a:cxnSpLocks/>
          </p:cNvCxnSpPr>
          <p:nvPr/>
        </p:nvCxnSpPr>
        <p:spPr>
          <a:xfrm flipV="1">
            <a:off x="9844338" y="1944639"/>
            <a:ext cx="0" cy="2350874"/>
          </a:xfrm>
          <a:prstGeom prst="line">
            <a:avLst/>
          </a:prstGeom>
          <a:ln w="28575">
            <a:solidFill>
              <a:schemeClr val="bg2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35E9E3B3-0C63-998D-DF33-6D6908A4846C}"/>
              </a:ext>
            </a:extLst>
          </p:cNvPr>
          <p:cNvCxnSpPr>
            <a:cxnSpLocks/>
          </p:cNvCxnSpPr>
          <p:nvPr/>
        </p:nvCxnSpPr>
        <p:spPr>
          <a:xfrm flipV="1">
            <a:off x="6535417" y="1879099"/>
            <a:ext cx="0" cy="2350874"/>
          </a:xfrm>
          <a:prstGeom prst="line">
            <a:avLst/>
          </a:prstGeom>
          <a:ln w="28575">
            <a:solidFill>
              <a:schemeClr val="bg2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02359FFD-64A3-22F2-C5A3-4A8B22AF2B76}"/>
              </a:ext>
            </a:extLst>
          </p:cNvPr>
          <p:cNvCxnSpPr>
            <a:cxnSpLocks/>
          </p:cNvCxnSpPr>
          <p:nvPr/>
        </p:nvCxnSpPr>
        <p:spPr>
          <a:xfrm flipV="1">
            <a:off x="4036524" y="2024244"/>
            <a:ext cx="0" cy="2754603"/>
          </a:xfrm>
          <a:prstGeom prst="line">
            <a:avLst/>
          </a:prstGeom>
          <a:ln w="28575">
            <a:solidFill>
              <a:schemeClr val="bg2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32099ACD-D88C-3A44-EC7F-850E69D70D45}"/>
              </a:ext>
            </a:extLst>
          </p:cNvPr>
          <p:cNvCxnSpPr>
            <a:cxnSpLocks/>
          </p:cNvCxnSpPr>
          <p:nvPr/>
        </p:nvCxnSpPr>
        <p:spPr>
          <a:xfrm flipV="1">
            <a:off x="1543151" y="2024244"/>
            <a:ext cx="0" cy="2754603"/>
          </a:xfrm>
          <a:prstGeom prst="line">
            <a:avLst/>
          </a:prstGeom>
          <a:ln w="28575">
            <a:solidFill>
              <a:schemeClr val="bg2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29FD73E4-56FA-6572-DE2B-71618A131228}"/>
              </a:ext>
            </a:extLst>
          </p:cNvPr>
          <p:cNvCxnSpPr>
            <a:cxnSpLocks/>
          </p:cNvCxnSpPr>
          <p:nvPr/>
        </p:nvCxnSpPr>
        <p:spPr>
          <a:xfrm>
            <a:off x="0" y="1918838"/>
            <a:ext cx="12192000" cy="0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143FF26B-CC77-0DBB-021F-F6F65A8FA87C}"/>
              </a:ext>
            </a:extLst>
          </p:cNvPr>
          <p:cNvCxnSpPr/>
          <p:nvPr/>
        </p:nvCxnSpPr>
        <p:spPr>
          <a:xfrm>
            <a:off x="576364" y="1136063"/>
            <a:ext cx="11039272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DF8EA2AA-3607-76BF-CED9-450E9DC65B0B}"/>
              </a:ext>
            </a:extLst>
          </p:cNvPr>
          <p:cNvSpPr txBox="1"/>
          <p:nvPr/>
        </p:nvSpPr>
        <p:spPr>
          <a:xfrm>
            <a:off x="576364" y="1679044"/>
            <a:ext cx="1922531" cy="40011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数学期望</a:t>
            </a:r>
            <a:endParaRPr lang="en-US" altLang="zh-CN" sz="2000" i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7170BE7-0F76-5811-175E-EA30464C19C2}"/>
              </a:ext>
            </a:extLst>
          </p:cNvPr>
          <p:cNvSpPr txBox="1"/>
          <p:nvPr/>
        </p:nvSpPr>
        <p:spPr>
          <a:xfrm>
            <a:off x="3075259" y="1679044"/>
            <a:ext cx="1922530" cy="40011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方差</a:t>
            </a:r>
            <a:endParaRPr lang="en-US" altLang="zh-CN" sz="2000" i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7AB62AB-D9C7-9698-0FC6-8674D5DF6915}"/>
              </a:ext>
            </a:extLst>
          </p:cNvPr>
          <p:cNvSpPr txBox="1"/>
          <p:nvPr/>
        </p:nvSpPr>
        <p:spPr>
          <a:xfrm>
            <a:off x="8073047" y="1679044"/>
            <a:ext cx="3542588" cy="40011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协方差与相关系数</a:t>
            </a:r>
            <a:endParaRPr lang="en-US" altLang="zh-CN" sz="2000" i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43D7142-4BB3-9AA1-B5B8-3F27DC579DCE}"/>
              </a:ext>
            </a:extLst>
          </p:cNvPr>
          <p:cNvSpPr txBox="1"/>
          <p:nvPr/>
        </p:nvSpPr>
        <p:spPr>
          <a:xfrm>
            <a:off x="3742797" y="528331"/>
            <a:ext cx="47064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随机变量的数字特征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761B817-DB8C-8A7C-CAF4-7D47597D3EA4}"/>
              </a:ext>
            </a:extLst>
          </p:cNvPr>
          <p:cNvSpPr txBox="1"/>
          <p:nvPr/>
        </p:nvSpPr>
        <p:spPr>
          <a:xfrm>
            <a:off x="5574153" y="1679044"/>
            <a:ext cx="1922530" cy="40011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矩</a:t>
            </a:r>
            <a:endParaRPr lang="en-US" altLang="zh-CN" sz="2000" i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表格 67">
                <a:extLst>
                  <a:ext uri="{FF2B5EF4-FFF2-40B4-BE49-F238E27FC236}">
                    <a16:creationId xmlns:a16="http://schemas.microsoft.com/office/drawing/2014/main" id="{EF29B5FA-5C9E-BCF9-AD90-09874C8220E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96072851"/>
                  </p:ext>
                </p:extLst>
              </p:nvPr>
            </p:nvGraphicFramePr>
            <p:xfrm>
              <a:off x="576364" y="4462097"/>
              <a:ext cx="11039273" cy="1259840"/>
            </p:xfrm>
            <a:graphic>
              <a:graphicData uri="http://schemas.openxmlformats.org/drawingml/2006/table">
                <a:tbl>
                  <a:tblPr firstRow="1" firstCol="1" bandRow="1">
                    <a:tableStyleId>{7DF18680-E054-41AD-8BC1-D1AEF772440D}</a:tableStyleId>
                  </a:tblPr>
                  <a:tblGrid>
                    <a:gridCol w="1155784">
                      <a:extLst>
                        <a:ext uri="{9D8B030D-6E8A-4147-A177-3AD203B41FA5}">
                          <a16:colId xmlns:a16="http://schemas.microsoft.com/office/drawing/2014/main" val="3581678023"/>
                        </a:ext>
                      </a:extLst>
                    </a:gridCol>
                    <a:gridCol w="1411927">
                      <a:extLst>
                        <a:ext uri="{9D8B030D-6E8A-4147-A177-3AD203B41FA5}">
                          <a16:colId xmlns:a16="http://schemas.microsoft.com/office/drawing/2014/main" val="3021564112"/>
                        </a:ext>
                      </a:extLst>
                    </a:gridCol>
                    <a:gridCol w="1411927">
                      <a:extLst>
                        <a:ext uri="{9D8B030D-6E8A-4147-A177-3AD203B41FA5}">
                          <a16:colId xmlns:a16="http://schemas.microsoft.com/office/drawing/2014/main" val="3947614986"/>
                        </a:ext>
                      </a:extLst>
                    </a:gridCol>
                    <a:gridCol w="1411927">
                      <a:extLst>
                        <a:ext uri="{9D8B030D-6E8A-4147-A177-3AD203B41FA5}">
                          <a16:colId xmlns:a16="http://schemas.microsoft.com/office/drawing/2014/main" val="980747976"/>
                        </a:ext>
                      </a:extLst>
                    </a:gridCol>
                    <a:gridCol w="1411927">
                      <a:extLst>
                        <a:ext uri="{9D8B030D-6E8A-4147-A177-3AD203B41FA5}">
                          <a16:colId xmlns:a16="http://schemas.microsoft.com/office/drawing/2014/main" val="999525205"/>
                        </a:ext>
                      </a:extLst>
                    </a:gridCol>
                    <a:gridCol w="1411927">
                      <a:extLst>
                        <a:ext uri="{9D8B030D-6E8A-4147-A177-3AD203B41FA5}">
                          <a16:colId xmlns:a16="http://schemas.microsoft.com/office/drawing/2014/main" val="526288975"/>
                        </a:ext>
                      </a:extLst>
                    </a:gridCol>
                    <a:gridCol w="1411927">
                      <a:extLst>
                        <a:ext uri="{9D8B030D-6E8A-4147-A177-3AD203B41FA5}">
                          <a16:colId xmlns:a16="http://schemas.microsoft.com/office/drawing/2014/main" val="3336711973"/>
                        </a:ext>
                      </a:extLst>
                    </a:gridCol>
                    <a:gridCol w="1411927">
                      <a:extLst>
                        <a:ext uri="{9D8B030D-6E8A-4147-A177-3AD203B41FA5}">
                          <a16:colId xmlns:a16="http://schemas.microsoft.com/office/drawing/2014/main" val="1680860309"/>
                        </a:ext>
                      </a:extLst>
                    </a:gridCol>
                  </a:tblGrid>
                  <a:tr h="4931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600" b="0" dirty="0">
                              <a:latin typeface="汉仪润圆-65简" panose="00020600040101010101" pitchFamily="18" charset="-122"/>
                              <a:ea typeface="汉仪润圆-65简" panose="00020600040101010101" pitchFamily="18" charset="-122"/>
                            </a:rPr>
                            <a:t>分布形式</a:t>
                          </a:r>
                          <a:endParaRPr lang="zh-CN" altLang="en-US" sz="1600" b="0" dirty="0">
                            <a:latin typeface="汉仪润圆-65简" panose="00020600040101010101" pitchFamily="18" charset="-122"/>
                            <a:ea typeface="汉仪润圆-65简" panose="00020600040101010101" pitchFamily="18" charset="-122"/>
                            <a:cs typeface="汉仪文黑-85W" panose="00020600040101010101" pitchFamily="18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400" b="0" dirty="0">
                              <a:latin typeface="汉仪润圆-65简" panose="00020600040101010101" pitchFamily="18" charset="-122"/>
                              <a:ea typeface="汉仪润圆-65简" panose="00020600040101010101" pitchFamily="18" charset="-122"/>
                            </a:rPr>
                            <a:t>0-1</a:t>
                          </a:r>
                          <a:r>
                            <a:rPr lang="zh-CN" altLang="en-US" sz="1400" b="0" dirty="0">
                              <a:latin typeface="汉仪润圆-65简" panose="00020600040101010101" pitchFamily="18" charset="-122"/>
                              <a:ea typeface="汉仪润圆-65简" panose="00020600040101010101" pitchFamily="18" charset="-122"/>
                            </a:rPr>
                            <a:t>分布</a:t>
                          </a:r>
                          <a:endParaRPr lang="en-US" altLang="zh-CN" sz="1400" b="0" dirty="0">
                            <a:latin typeface="汉仪润圆-65简" panose="00020600040101010101" pitchFamily="18" charset="-122"/>
                            <a:ea typeface="汉仪润圆-65简" panose="00020600040101010101" pitchFamily="18" charset="-122"/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400" b="0" dirty="0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altLang="zh-CN" sz="1400" b="0" dirty="0" smtClean="0">
                                    <a:latin typeface="Cambria Math" panose="02040503050406030204" pitchFamily="18" charset="0"/>
                                  </a:rPr>
                                  <m:t>~</m:t>
                                </m:r>
                                <m:r>
                                  <a:rPr lang="en-US" altLang="zh-CN" sz="1400" b="0" dirty="0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  <m:r>
                                  <a:rPr lang="en-US" altLang="zh-CN" sz="1400" b="0" dirty="0" smtClean="0">
                                    <a:latin typeface="Cambria Math" panose="02040503050406030204" pitchFamily="18" charset="0"/>
                                  </a:rPr>
                                  <m:t>(1,</m:t>
                                </m:r>
                                <m:r>
                                  <a:rPr lang="en-US" altLang="zh-CN" sz="1400" b="0" dirty="0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US" altLang="zh-CN" sz="1400" b="0" dirty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altLang="en-US" sz="1400" b="0" dirty="0">
                            <a:latin typeface="汉仪润圆-65简" panose="00020600040101010101" pitchFamily="18" charset="-122"/>
                            <a:ea typeface="汉仪润圆-65简" panose="00020600040101010101" pitchFamily="18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400" b="0" dirty="0">
                              <a:latin typeface="汉仪润圆-65简" panose="00020600040101010101" pitchFamily="18" charset="-122"/>
                              <a:ea typeface="汉仪润圆-65简" panose="00020600040101010101" pitchFamily="18" charset="-122"/>
                            </a:rPr>
                            <a:t>二项分布</a:t>
                          </a:r>
                          <a:endParaRPr lang="en-US" altLang="zh-CN" sz="1400" b="0" dirty="0">
                            <a:latin typeface="汉仪润圆-65简" panose="00020600040101010101" pitchFamily="18" charset="-122"/>
                            <a:ea typeface="汉仪润圆-65简" panose="00020600040101010101" pitchFamily="18" charset="-122"/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400" b="0" dirty="0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altLang="zh-CN" sz="1400" b="0" dirty="0" smtClean="0">
                                    <a:latin typeface="Cambria Math" panose="02040503050406030204" pitchFamily="18" charset="0"/>
                                  </a:rPr>
                                  <m:t>~</m:t>
                                </m:r>
                                <m:r>
                                  <a:rPr lang="en-US" altLang="zh-CN" sz="1400" b="0" dirty="0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  <m:r>
                                  <a:rPr lang="en-US" altLang="zh-CN" sz="1400" b="0" dirty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CN" sz="1400" b="0" dirty="0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zh-CN" sz="1400" b="0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CN" sz="1400" b="0" dirty="0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US" altLang="zh-CN" sz="1400" b="0" dirty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altLang="en-US" sz="1400" b="0" dirty="0">
                            <a:latin typeface="汉仪润圆-65简" panose="00020600040101010101" pitchFamily="18" charset="-122"/>
                            <a:ea typeface="汉仪润圆-65简" panose="00020600040101010101" pitchFamily="18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400" b="0" dirty="0">
                              <a:latin typeface="汉仪润圆-65简" panose="00020600040101010101" pitchFamily="18" charset="-122"/>
                              <a:ea typeface="汉仪润圆-65简" panose="00020600040101010101" pitchFamily="18" charset="-122"/>
                            </a:rPr>
                            <a:t>几何分布</a:t>
                          </a:r>
                          <a:endParaRPr lang="en-US" altLang="zh-CN" sz="1400" b="0" dirty="0">
                            <a:latin typeface="汉仪润圆-65简" panose="00020600040101010101" pitchFamily="18" charset="-122"/>
                            <a:ea typeface="汉仪润圆-65简" panose="00020600040101010101" pitchFamily="18" charset="-122"/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400" b="0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altLang="zh-CN" sz="1400" b="0" smtClean="0">
                                    <a:latin typeface="Cambria Math" panose="02040503050406030204" pitchFamily="18" charset="0"/>
                                  </a:rPr>
                                  <m:t>~</m:t>
                                </m:r>
                                <m:r>
                                  <a:rPr lang="en-US" altLang="zh-CN" sz="1400" b="0" smtClean="0">
                                    <a:latin typeface="Cambria Math" panose="02040503050406030204" pitchFamily="18" charset="0"/>
                                  </a:rPr>
                                  <m:t>𝐺𝑒𝑜</m:t>
                                </m:r>
                                <m:r>
                                  <a:rPr lang="en-US" altLang="zh-CN" sz="1400" b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CN" sz="1400" b="0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US" altLang="zh-CN" sz="1400" b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altLang="en-US" sz="1400" b="0" dirty="0">
                            <a:latin typeface="汉仪润圆-65简" panose="00020600040101010101" pitchFamily="18" charset="-122"/>
                            <a:ea typeface="汉仪润圆-65简" panose="00020600040101010101" pitchFamily="18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400" b="0" dirty="0">
                              <a:latin typeface="汉仪润圆-65简" panose="00020600040101010101" pitchFamily="18" charset="-122"/>
                              <a:ea typeface="汉仪润圆-65简" panose="00020600040101010101" pitchFamily="18" charset="-122"/>
                            </a:rPr>
                            <a:t>泊松分布</a:t>
                          </a:r>
                          <a:endParaRPr lang="en-US" altLang="zh-CN" sz="1400" b="0" dirty="0">
                            <a:latin typeface="汉仪润圆-65简" panose="00020600040101010101" pitchFamily="18" charset="-122"/>
                            <a:ea typeface="汉仪润圆-65简" panose="00020600040101010101" pitchFamily="18" charset="-122"/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400" b="0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altLang="zh-CN" sz="1400" b="0" smtClean="0">
                                    <a:latin typeface="Cambria Math" panose="02040503050406030204" pitchFamily="18" charset="0"/>
                                  </a:rPr>
                                  <m:t>~</m:t>
                                </m:r>
                                <m:r>
                                  <a:rPr lang="en-US" altLang="zh-CN" sz="1400" b="0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US" altLang="zh-CN" sz="1400" b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zh-CN" altLang="en-US" sz="1400" b="0" smtClean="0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  <m:r>
                                  <a:rPr lang="en-US" altLang="zh-CN" sz="1400" b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altLang="en-US" sz="1400" b="0" dirty="0">
                            <a:latin typeface="汉仪润圆-65简" panose="00020600040101010101" pitchFamily="18" charset="-122"/>
                            <a:ea typeface="汉仪润圆-65简" panose="00020600040101010101" pitchFamily="18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400" b="0" dirty="0">
                              <a:latin typeface="汉仪润圆-65简" panose="00020600040101010101" pitchFamily="18" charset="-122"/>
                              <a:ea typeface="汉仪润圆-65简" panose="00020600040101010101" pitchFamily="18" charset="-122"/>
                            </a:rPr>
                            <a:t>指数分布</a:t>
                          </a:r>
                          <a:endParaRPr lang="en-US" altLang="zh-CN" sz="1400" b="0" dirty="0">
                            <a:latin typeface="汉仪润圆-65简" panose="00020600040101010101" pitchFamily="18" charset="-122"/>
                            <a:ea typeface="汉仪润圆-65简" panose="00020600040101010101" pitchFamily="18" charset="-122"/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400" b="0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altLang="zh-CN" sz="1400" b="0" smtClean="0">
                                    <a:latin typeface="Cambria Math" panose="02040503050406030204" pitchFamily="18" charset="0"/>
                                  </a:rPr>
                                  <m:t>~</m:t>
                                </m:r>
                                <m:r>
                                  <a:rPr lang="en-US" altLang="zh-CN" sz="1400" b="0" smtClean="0">
                                    <a:latin typeface="Cambria Math" panose="02040503050406030204" pitchFamily="18" charset="0"/>
                                  </a:rPr>
                                  <m:t>𝐸𝑥𝑝</m:t>
                                </m:r>
                                <m:r>
                                  <a:rPr lang="en-US" altLang="zh-CN" sz="1400" b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zh-CN" altLang="en-US" sz="1400" b="0" smtClean="0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  <m:r>
                                  <a:rPr lang="en-US" altLang="zh-CN" sz="1400" b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altLang="en-US" sz="1400" b="0" dirty="0">
                            <a:latin typeface="汉仪润圆-65简" panose="00020600040101010101" pitchFamily="18" charset="-122"/>
                            <a:ea typeface="汉仪润圆-65简" panose="00020600040101010101" pitchFamily="18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400" b="0" dirty="0">
                              <a:latin typeface="汉仪润圆-65简" panose="00020600040101010101" pitchFamily="18" charset="-122"/>
                              <a:ea typeface="汉仪润圆-65简" panose="00020600040101010101" pitchFamily="18" charset="-122"/>
                            </a:rPr>
                            <a:t>正态分布</a:t>
                          </a:r>
                          <a:endParaRPr lang="en-US" altLang="zh-CN" sz="1400" b="0" dirty="0">
                            <a:latin typeface="汉仪润圆-65简" panose="00020600040101010101" pitchFamily="18" charset="-122"/>
                            <a:ea typeface="汉仪润圆-65简" panose="00020600040101010101" pitchFamily="18" charset="-122"/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400" b="0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altLang="zh-CN" sz="1400" b="0" smtClean="0">
                                    <a:latin typeface="Cambria Math" panose="02040503050406030204" pitchFamily="18" charset="0"/>
                                  </a:rPr>
                                  <m:t>~</m:t>
                                </m:r>
                                <m:r>
                                  <a:rPr lang="en-US" altLang="zh-CN" sz="1400" b="0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  <m:r>
                                  <a:rPr lang="en-US" altLang="zh-CN" sz="1400" b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zh-CN" altLang="en-US" sz="1400" b="0" smtClean="0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  <m:r>
                                  <a:rPr lang="en-US" altLang="zh-CN" sz="1400" b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p>
                                  <m:sSupPr>
                                    <m:ctrlP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zh-CN" altLang="en-US" sz="1400" b="0" smtClean="0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p>
                                    <m:r>
                                      <a:rPr lang="en-US" altLang="zh-CN" sz="1400" b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zh-CN" sz="1400" b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altLang="en-US" sz="1400" b="0" dirty="0">
                            <a:latin typeface="汉仪润圆-65简" panose="00020600040101010101" pitchFamily="18" charset="-122"/>
                            <a:ea typeface="汉仪润圆-65简" panose="00020600040101010101" pitchFamily="18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400" b="0" dirty="0">
                              <a:latin typeface="汉仪润圆-65简" panose="00020600040101010101" pitchFamily="18" charset="-122"/>
                              <a:ea typeface="汉仪润圆-65简" panose="00020600040101010101" pitchFamily="18" charset="-122"/>
                            </a:rPr>
                            <a:t>均匀分布</a:t>
                          </a:r>
                          <a:endParaRPr lang="en-US" altLang="zh-CN" sz="1400" b="0" dirty="0">
                            <a:latin typeface="汉仪润圆-65简" panose="00020600040101010101" pitchFamily="18" charset="-122"/>
                            <a:ea typeface="汉仪润圆-65简" panose="00020600040101010101" pitchFamily="18" charset="-122"/>
                          </a:endParaRP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400" b="0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altLang="zh-CN" sz="1400" b="0" smtClean="0">
                                    <a:latin typeface="Cambria Math" panose="02040503050406030204" pitchFamily="18" charset="0"/>
                                  </a:rPr>
                                  <m:t>~</m:t>
                                </m:r>
                                <m:r>
                                  <a:rPr lang="en-US" altLang="zh-CN" sz="1400" b="0" smtClean="0"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  <m:r>
                                  <a:rPr lang="en-US" altLang="zh-CN" sz="1400" b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CN" sz="1400" b="0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altLang="zh-CN" sz="1400" b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CN" sz="1400" b="0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en-US" altLang="zh-CN" sz="1400" b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altLang="en-US" sz="1400" b="0" dirty="0">
                            <a:latin typeface="汉仪润圆-65简" panose="00020600040101010101" pitchFamily="18" charset="-122"/>
                            <a:ea typeface="汉仪润圆-65简" panose="00020600040101010101" pitchFamily="18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9312338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600" b="0" dirty="0">
                              <a:latin typeface="汉仪润圆-65简" panose="00020600040101010101" pitchFamily="18" charset="-122"/>
                              <a:ea typeface="汉仪润圆-65简" panose="00020600040101010101" pitchFamily="18" charset="-122"/>
                            </a:rPr>
                            <a:t>数学期望</a:t>
                          </a:r>
                          <a:endParaRPr lang="zh-CN" altLang="en-US" sz="1600" b="0" dirty="0">
                            <a:latin typeface="汉仪润圆-65简" panose="00020600040101010101" pitchFamily="18" charset="-122"/>
                            <a:ea typeface="汉仪润圆-65简" panose="00020600040101010101" pitchFamily="18" charset="-122"/>
                            <a:cs typeface="汉仪文黑-85W" panose="00020600040101010101" pitchFamily="18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600" b="0" dirty="0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oMath>
                            </m:oMathPara>
                          </a14:m>
                          <a:endParaRPr lang="zh-CN" altLang="en-US" sz="1600" b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600" b="0" dirty="0" smtClean="0">
                                    <a:latin typeface="Cambria Math" panose="02040503050406030204" pitchFamily="18" charset="0"/>
                                  </a:rPr>
                                  <m:t>𝑛𝑝</m:t>
                                </m:r>
                              </m:oMath>
                            </m:oMathPara>
                          </a14:m>
                          <a:endParaRPr lang="zh-CN" altLang="en-US" sz="1600" b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600" b="0" dirty="0" smtClean="0">
                                    <a:latin typeface="Cambria Math" panose="02040503050406030204" pitchFamily="18" charset="0"/>
                                  </a:rPr>
                                  <m:t>1/</m:t>
                                </m:r>
                                <m:r>
                                  <a:rPr lang="en-US" altLang="zh-CN" sz="1600" b="0" dirty="0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oMath>
                            </m:oMathPara>
                          </a14:m>
                          <a:endParaRPr lang="zh-CN" altLang="en-US" sz="1600" b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CN" altLang="en-US" sz="1600" b="0" dirty="0" smtClean="0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oMath>
                            </m:oMathPara>
                          </a14:m>
                          <a:endParaRPr lang="zh-CN" altLang="en-US" sz="1600" b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600" b="0" dirty="0" smtClean="0">
                                    <a:latin typeface="Cambria Math" panose="02040503050406030204" pitchFamily="18" charset="0"/>
                                  </a:rPr>
                                  <m:t>1/</m:t>
                                </m:r>
                                <m:r>
                                  <a:rPr lang="zh-CN" altLang="en-US" sz="1600" b="0" smtClean="0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oMath>
                            </m:oMathPara>
                          </a14:m>
                          <a:endParaRPr lang="zh-CN" altLang="en-US" sz="1600" b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CN" altLang="en-US" sz="1600" b="0" dirty="0" smtClean="0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oMath>
                            </m:oMathPara>
                          </a14:m>
                          <a:endParaRPr lang="zh-CN" altLang="en-US" sz="1600" b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600" b="0" dirty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CN" sz="1600" b="0" dirty="0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altLang="zh-CN" sz="1600" b="0" dirty="0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CN" sz="1600" b="0" dirty="0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en-US" altLang="zh-CN" sz="1600" b="0" dirty="0" smtClean="0">
                                    <a:latin typeface="Cambria Math" panose="02040503050406030204" pitchFamily="18" charset="0"/>
                                  </a:rPr>
                                  <m:t>)/2</m:t>
                                </m:r>
                              </m:oMath>
                            </m:oMathPara>
                          </a14:m>
                          <a:endParaRPr lang="zh-CN" altLang="en-US" sz="1600" b="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8374683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600" b="0" dirty="0">
                              <a:latin typeface="汉仪润圆-65简" panose="00020600040101010101" pitchFamily="18" charset="-122"/>
                              <a:ea typeface="汉仪润圆-65简" panose="00020600040101010101" pitchFamily="18" charset="-122"/>
                            </a:rPr>
                            <a:t>方差</a:t>
                          </a:r>
                          <a:endParaRPr lang="zh-CN" altLang="en-US" sz="1600" b="0" dirty="0">
                            <a:latin typeface="汉仪润圆-65简" panose="00020600040101010101" pitchFamily="18" charset="-122"/>
                            <a:ea typeface="汉仪润圆-65简" panose="00020600040101010101" pitchFamily="18" charset="-122"/>
                            <a:cs typeface="汉仪文黑-85W" panose="00020600040101010101" pitchFamily="18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600" b="0" dirty="0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US" altLang="zh-CN" sz="1600" b="0" dirty="0" smtClean="0">
                                    <a:latin typeface="Cambria Math" panose="02040503050406030204" pitchFamily="18" charset="0"/>
                                  </a:rPr>
                                  <m:t>(1−</m:t>
                                </m:r>
                                <m:r>
                                  <a:rPr lang="en-US" altLang="zh-CN" sz="1600" b="0" dirty="0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US" altLang="zh-CN" sz="1600" b="0" dirty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altLang="en-US" sz="1600" b="0" i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600" b="0" dirty="0" smtClean="0">
                                    <a:latin typeface="Cambria Math" panose="02040503050406030204" pitchFamily="18" charset="0"/>
                                  </a:rPr>
                                  <m:t>𝑛𝑝</m:t>
                                </m:r>
                                <m:r>
                                  <a:rPr lang="en-US" altLang="zh-CN" sz="1600" b="0" dirty="0" smtClean="0">
                                    <a:latin typeface="Cambria Math" panose="02040503050406030204" pitchFamily="18" charset="0"/>
                                  </a:rPr>
                                  <m:t>(1−</m:t>
                                </m:r>
                                <m:r>
                                  <a:rPr lang="en-US" altLang="zh-CN" sz="1600" b="0" dirty="0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US" altLang="zh-CN" sz="1600" b="0" dirty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altLang="en-US" sz="1600" b="0" i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600" b="0" dirty="0" smtClean="0">
                                    <a:latin typeface="Cambria Math" panose="02040503050406030204" pitchFamily="18" charset="0"/>
                                  </a:rPr>
                                  <m:t>(1−</m:t>
                                </m:r>
                                <m:r>
                                  <a:rPr lang="en-US" altLang="zh-CN" sz="1600" b="0" dirty="0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US" altLang="zh-CN" sz="1600" b="0" dirty="0" smtClean="0">
                                    <a:latin typeface="Cambria Math" panose="02040503050406030204" pitchFamily="18" charset="0"/>
                                  </a:rPr>
                                  <m:t>)/</m:t>
                                </m:r>
                                <m:sSup>
                                  <m:sSupPr>
                                    <m:ctrlPr>
                                      <a:rPr lang="en-US" altLang="zh-CN" sz="16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1600" b="0" dirty="0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p>
                                    <m:r>
                                      <a:rPr lang="en-US" altLang="zh-CN" sz="1600" b="0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zh-CN" altLang="en-US" sz="1600" b="0" i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CN" altLang="en-US" sz="1600" b="0" dirty="0" smtClean="0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oMath>
                            </m:oMathPara>
                          </a14:m>
                          <a:endParaRPr lang="zh-CN" altLang="en-US" sz="1600" b="0" i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600" b="0" dirty="0" smtClean="0">
                                    <a:latin typeface="Cambria Math" panose="02040503050406030204" pitchFamily="18" charset="0"/>
                                  </a:rPr>
                                  <m:t>1/</m:t>
                                </m:r>
                                <m:sSup>
                                  <m:sSupPr>
                                    <m:ctrlP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zh-CN" altLang="en-US" sz="1600" b="0" smtClean="0"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  <m:sup>
                                    <m:r>
                                      <a:rPr lang="en-US" altLang="zh-CN" sz="1600" b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zh-CN" altLang="en-US" sz="1600" b="0" i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zh-CN" altLang="en-US" sz="1600" b="0" smtClean="0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p>
                                    <m:r>
                                      <a:rPr lang="en-US" altLang="zh-CN" sz="1600" b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zh-CN" altLang="en-US" sz="1600" b="0" i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CN" sz="16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altLang="zh-CN" sz="1600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sz="1600" b="0" dirty="0" smtClean="0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  <m:r>
                                          <a:rPr lang="en-US" altLang="zh-CN" sz="1600" b="0" dirty="0" smtClean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altLang="zh-CN" sz="1600" b="0" dirty="0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US" altLang="zh-CN" sz="1600" b="0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zh-CN" sz="1600" b="0" dirty="0" smtClean="0">
                                    <a:latin typeface="Cambria Math" panose="02040503050406030204" pitchFamily="18" charset="0"/>
                                  </a:rPr>
                                  <m:t>/12</m:t>
                                </m:r>
                              </m:oMath>
                            </m:oMathPara>
                          </a14:m>
                          <a:endParaRPr lang="zh-CN" altLang="en-US" sz="1600" b="0" i="1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8059494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表格 67">
                <a:extLst>
                  <a:ext uri="{FF2B5EF4-FFF2-40B4-BE49-F238E27FC236}">
                    <a16:creationId xmlns:a16="http://schemas.microsoft.com/office/drawing/2014/main" id="{EF29B5FA-5C9E-BCF9-AD90-09874C8220E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96072851"/>
                  </p:ext>
                </p:extLst>
              </p:nvPr>
            </p:nvGraphicFramePr>
            <p:xfrm>
              <a:off x="576364" y="4462097"/>
              <a:ext cx="11039273" cy="1264603"/>
            </p:xfrm>
            <a:graphic>
              <a:graphicData uri="http://schemas.openxmlformats.org/drawingml/2006/table">
                <a:tbl>
                  <a:tblPr firstRow="1" firstCol="1" bandRow="1">
                    <a:tableStyleId>{7DF18680-E054-41AD-8BC1-D1AEF772440D}</a:tableStyleId>
                  </a:tblPr>
                  <a:tblGrid>
                    <a:gridCol w="1155784">
                      <a:extLst>
                        <a:ext uri="{9D8B030D-6E8A-4147-A177-3AD203B41FA5}">
                          <a16:colId xmlns:a16="http://schemas.microsoft.com/office/drawing/2014/main" val="3581678023"/>
                        </a:ext>
                      </a:extLst>
                    </a:gridCol>
                    <a:gridCol w="1411927">
                      <a:extLst>
                        <a:ext uri="{9D8B030D-6E8A-4147-A177-3AD203B41FA5}">
                          <a16:colId xmlns:a16="http://schemas.microsoft.com/office/drawing/2014/main" val="3021564112"/>
                        </a:ext>
                      </a:extLst>
                    </a:gridCol>
                    <a:gridCol w="1411927">
                      <a:extLst>
                        <a:ext uri="{9D8B030D-6E8A-4147-A177-3AD203B41FA5}">
                          <a16:colId xmlns:a16="http://schemas.microsoft.com/office/drawing/2014/main" val="3947614986"/>
                        </a:ext>
                      </a:extLst>
                    </a:gridCol>
                    <a:gridCol w="1411927">
                      <a:extLst>
                        <a:ext uri="{9D8B030D-6E8A-4147-A177-3AD203B41FA5}">
                          <a16:colId xmlns:a16="http://schemas.microsoft.com/office/drawing/2014/main" val="980747976"/>
                        </a:ext>
                      </a:extLst>
                    </a:gridCol>
                    <a:gridCol w="1411927">
                      <a:extLst>
                        <a:ext uri="{9D8B030D-6E8A-4147-A177-3AD203B41FA5}">
                          <a16:colId xmlns:a16="http://schemas.microsoft.com/office/drawing/2014/main" val="999525205"/>
                        </a:ext>
                      </a:extLst>
                    </a:gridCol>
                    <a:gridCol w="1411927">
                      <a:extLst>
                        <a:ext uri="{9D8B030D-6E8A-4147-A177-3AD203B41FA5}">
                          <a16:colId xmlns:a16="http://schemas.microsoft.com/office/drawing/2014/main" val="526288975"/>
                        </a:ext>
                      </a:extLst>
                    </a:gridCol>
                    <a:gridCol w="1411927">
                      <a:extLst>
                        <a:ext uri="{9D8B030D-6E8A-4147-A177-3AD203B41FA5}">
                          <a16:colId xmlns:a16="http://schemas.microsoft.com/office/drawing/2014/main" val="3336711973"/>
                        </a:ext>
                      </a:extLst>
                    </a:gridCol>
                    <a:gridCol w="1411927">
                      <a:extLst>
                        <a:ext uri="{9D8B030D-6E8A-4147-A177-3AD203B41FA5}">
                          <a16:colId xmlns:a16="http://schemas.microsoft.com/office/drawing/2014/main" val="1680860309"/>
                        </a:ext>
                      </a:extLst>
                    </a:gridCol>
                  </a:tblGrid>
                  <a:tr h="52292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600" b="0" dirty="0">
                              <a:latin typeface="汉仪润圆-65简" panose="00020600040101010101" pitchFamily="18" charset="-122"/>
                              <a:ea typeface="汉仪润圆-65简" panose="00020600040101010101" pitchFamily="18" charset="-122"/>
                            </a:rPr>
                            <a:t>分布形式</a:t>
                          </a:r>
                          <a:endParaRPr lang="zh-CN" altLang="en-US" sz="1600" b="0" dirty="0">
                            <a:latin typeface="汉仪润圆-65简" panose="00020600040101010101" pitchFamily="18" charset="-122"/>
                            <a:ea typeface="汉仪润圆-65简" panose="00020600040101010101" pitchFamily="18" charset="-122"/>
                            <a:cs typeface="汉仪文黑-85W" panose="00020600040101010101" pitchFamily="18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82684" t="-1163" r="-603896" b="-1546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81897" t="-1163" r="-501293" b="-1546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81897" t="-1163" r="-401293" b="-1546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81897" t="-1163" r="-301293" b="-1546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83983" t="-1163" r="-202597" b="-1546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581466" t="-1163" r="-101724" b="-1546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681466" t="-1163" r="-1724" b="-1546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9312338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600" b="0" dirty="0">
                              <a:latin typeface="汉仪润圆-65简" panose="00020600040101010101" pitchFamily="18" charset="-122"/>
                              <a:ea typeface="汉仪润圆-65简" panose="00020600040101010101" pitchFamily="18" charset="-122"/>
                            </a:rPr>
                            <a:t>数学期望</a:t>
                          </a:r>
                          <a:endParaRPr lang="zh-CN" altLang="en-US" sz="1600" b="0" dirty="0">
                            <a:latin typeface="汉仪润圆-65简" panose="00020600040101010101" pitchFamily="18" charset="-122"/>
                            <a:ea typeface="汉仪润圆-65简" panose="00020600040101010101" pitchFamily="18" charset="-122"/>
                            <a:cs typeface="汉仪文黑-85W" panose="00020600040101010101" pitchFamily="18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82684" t="-140323" r="-603896" b="-11451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81897" t="-140323" r="-501293" b="-11451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81897" t="-140323" r="-401293" b="-11451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81897" t="-140323" r="-301293" b="-11451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83983" t="-140323" r="-202597" b="-11451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581466" t="-140323" r="-101724" b="-11451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681466" t="-140323" r="-1724" b="-11451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8374683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600" b="0" dirty="0">
                              <a:latin typeface="汉仪润圆-65简" panose="00020600040101010101" pitchFamily="18" charset="-122"/>
                              <a:ea typeface="汉仪润圆-65简" panose="00020600040101010101" pitchFamily="18" charset="-122"/>
                            </a:rPr>
                            <a:t>方差</a:t>
                          </a:r>
                          <a:endParaRPr lang="zh-CN" altLang="en-US" sz="1600" b="0" dirty="0">
                            <a:latin typeface="汉仪润圆-65简" panose="00020600040101010101" pitchFamily="18" charset="-122"/>
                            <a:ea typeface="汉仪润圆-65简" panose="00020600040101010101" pitchFamily="18" charset="-122"/>
                            <a:cs typeface="汉仪文黑-85W" panose="00020600040101010101" pitchFamily="18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82684" t="-244262" r="-603896" b="-163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81897" t="-244262" r="-501293" b="-163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81897" t="-244262" r="-401293" b="-163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81897" t="-244262" r="-301293" b="-163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83983" t="-244262" r="-202597" b="-163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581466" t="-244262" r="-101724" b="-163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681466" t="-244262" r="-1724" b="-1639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8059494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BCFE587C-FDD9-70F0-5BDF-08A4CEFD0F82}"/>
                  </a:ext>
                </a:extLst>
              </p:cNvPr>
              <p:cNvSpPr txBox="1"/>
              <p:nvPr/>
            </p:nvSpPr>
            <p:spPr>
              <a:xfrm>
                <a:off x="467048" y="2235307"/>
                <a:ext cx="2141162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1600" b="0" dirty="0"/>
                  <a:t> 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b>
                          <m:sSubPr>
                            <m:ctrlPr>
                              <a:rPr lang="en-US" altLang="zh-CN" sz="16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nary>
                  </m:oMath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BCFE587C-FDD9-70F0-5BDF-08A4CEFD0F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048" y="2235307"/>
                <a:ext cx="2141162" cy="338554"/>
              </a:xfrm>
              <a:prstGeom prst="rect">
                <a:avLst/>
              </a:prstGeom>
              <a:blipFill>
                <a:blip r:embed="rId4"/>
                <a:stretch>
                  <a:fillRect t="-110909" b="-1727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D59BBDD4-8613-58F3-5B86-2CC9B16F46FF}"/>
                  </a:ext>
                </a:extLst>
              </p:cNvPr>
              <p:cNvSpPr txBox="1"/>
              <p:nvPr/>
            </p:nvSpPr>
            <p:spPr>
              <a:xfrm>
                <a:off x="276588" y="2567931"/>
                <a:ext cx="2522081" cy="4173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1600" b="0" dirty="0"/>
                  <a:t> 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lang="en-US" altLang="zh-CN" sz="16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altLang="zh-CN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en-US" altLang="zh-CN" sz="16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nary>
                  </m:oMath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D59BBDD4-8613-58F3-5B86-2CC9B16F46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588" y="2567931"/>
                <a:ext cx="2522081" cy="417358"/>
              </a:xfrm>
              <a:prstGeom prst="rect">
                <a:avLst/>
              </a:prstGeom>
              <a:blipFill>
                <a:blip r:embed="rId5"/>
                <a:stretch>
                  <a:fillRect t="-102899" b="-16376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4FF6E83A-F247-4413-CD65-99177BA4C20B}"/>
                  </a:ext>
                </a:extLst>
              </p:cNvPr>
              <p:cNvSpPr txBox="1"/>
              <p:nvPr/>
            </p:nvSpPr>
            <p:spPr>
              <a:xfrm>
                <a:off x="2893686" y="2280333"/>
                <a:ext cx="2585451" cy="24673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en-US" altLang="zh-CN" sz="1600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CN" sz="1600" b="0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sz="1600" b="0" i="1" smtClean="0">
                                        <a:solidFill>
                                          <a:schemeClr val="accent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0" i="1" smtClean="0">
                                        <a:solidFill>
                                          <a:schemeClr val="accent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solidFill>
                                          <a:schemeClr val="accent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zh-CN" sz="1600" b="0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sz="1600" b="0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  <m:d>
                                  <m:dPr>
                                    <m:ctrlPr>
                                      <a:rPr lang="en-US" altLang="zh-CN" sz="1600" b="0" i="1" smtClean="0">
                                        <a:solidFill>
                                          <a:schemeClr val="accent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1600" b="0" i="1" smtClean="0">
                                        <a:solidFill>
                                          <a:schemeClr val="accent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en-US" altLang="zh-CN" sz="1600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nary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4FF6E83A-F247-4413-CD65-99177BA4C2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3686" y="2280333"/>
                <a:ext cx="2585451" cy="246734"/>
              </a:xfrm>
              <a:prstGeom prst="rect">
                <a:avLst/>
              </a:prstGeom>
              <a:blipFill>
                <a:blip r:embed="rId6"/>
                <a:stretch>
                  <a:fillRect l="-2358" t="-160976" b="-25365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F0FBD60A-9670-12A4-2CF2-294923CAAA05}"/>
                  </a:ext>
                </a:extLst>
              </p:cNvPr>
              <p:cNvSpPr txBox="1"/>
              <p:nvPr/>
            </p:nvSpPr>
            <p:spPr>
              <a:xfrm>
                <a:off x="2751787" y="2614097"/>
                <a:ext cx="2869247" cy="32502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en-US" altLang="zh-CN" sz="160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CN" sz="1600" i="1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1600" b="0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zh-CN" sz="1600" i="1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sz="1600" i="1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  <m:d>
                                  <m:dPr>
                                    <m:ctrlPr>
                                      <a:rPr lang="en-US" altLang="zh-CN" sz="1600" i="1">
                                        <a:solidFill>
                                          <a:schemeClr val="accent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1600" i="1">
                                        <a:solidFill>
                                          <a:schemeClr val="accent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en-US" altLang="zh-CN" sz="1600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altLang="zh-CN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en-US" altLang="zh-CN" sz="16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nary>
                  </m:oMath>
                </a14:m>
                <a:r>
                  <a:rPr lang="zh-CN" altLang="en-US" sz="16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</a:p>
            </p:txBody>
          </p:sp>
        </mc:Choice>
        <mc:Fallback xmlns="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F0FBD60A-9670-12A4-2CF2-294923CAAA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1787" y="2614097"/>
                <a:ext cx="2869247" cy="325025"/>
              </a:xfrm>
              <a:prstGeom prst="rect">
                <a:avLst/>
              </a:prstGeom>
              <a:blipFill>
                <a:blip r:embed="rId7"/>
                <a:stretch>
                  <a:fillRect l="-1911" t="-149057" b="-22830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5816A020-B617-154F-F0C6-513921977FB3}"/>
                  </a:ext>
                </a:extLst>
              </p:cNvPr>
              <p:cNvSpPr txBox="1"/>
              <p:nvPr/>
            </p:nvSpPr>
            <p:spPr>
              <a:xfrm>
                <a:off x="5782434" y="2375227"/>
                <a:ext cx="1505968" cy="34297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汉仪文黑-85W" panose="00020600040101010101" pitchFamily="18" charset="-128"/>
                              <a:cs typeface="汉仪文黑-85W" panose="00020600040101010101" pitchFamily="18" charset="-128"/>
                            </a:rPr>
                          </m:ctrlPr>
                        </m:sSubPr>
                        <m:e>
                          <m:r>
                            <a:rPr lang="zh-CN" alt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汉仪文黑-85W" panose="00020600040101010101" pitchFamily="18" charset="-128"/>
                              <a:cs typeface="汉仪文黑-85W" panose="00020600040101010101" pitchFamily="18" charset="-128"/>
                            </a:rPr>
                            <m:t>𝛼</m:t>
                          </m:r>
                        </m:e>
                        <m:sub>
                          <m:r>
                            <a:rPr lang="en-US" altLang="zh-C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汉仪文黑-85W" panose="00020600040101010101" pitchFamily="18" charset="-128"/>
                              <a:cs typeface="汉仪文黑-85W" panose="00020600040101010101" pitchFamily="18" charset="-128"/>
                            </a:rPr>
                            <m:t>𝑘</m:t>
                          </m:r>
                        </m:sub>
                      </m:sSub>
                      <m:r>
                        <a:rPr lang="en-US" altLang="zh-CN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汉仪文黑-85W" panose="00020600040101010101" pitchFamily="18" charset="-128"/>
                          <a:cs typeface="汉仪文黑-85W" panose="00020600040101010101" pitchFamily="18" charset="-128"/>
                        </a:rPr>
                        <m:t>=</m:t>
                      </m:r>
                      <m:r>
                        <a:rPr lang="en-US" altLang="zh-CN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汉仪文黑-85W" panose="00020600040101010101" pitchFamily="18" charset="-128"/>
                          <a:cs typeface="汉仪文黑-85W" panose="00020600040101010101" pitchFamily="18" charset="-128"/>
                        </a:rPr>
                        <m:t>𝐸</m:t>
                      </m:r>
                      <m:r>
                        <a:rPr lang="en-US" altLang="zh-CN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汉仪文黑-85W" panose="00020600040101010101" pitchFamily="18" charset="-128"/>
                          <a:cs typeface="汉仪文黑-85W" panose="00020600040101010101" pitchFamily="18" charset="-128"/>
                        </a:rPr>
                        <m:t>(</m:t>
                      </m:r>
                      <m:sSup>
                        <m:sSupPr>
                          <m:ctrlPr>
                            <a:rPr lang="en-US" altLang="zh-C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汉仪文黑-85W" panose="00020600040101010101" pitchFamily="18" charset="-128"/>
                              <a:cs typeface="汉仪文黑-85W" panose="00020600040101010101" pitchFamily="18" charset="-128"/>
                            </a:rPr>
                          </m:ctrlPr>
                        </m:sSupPr>
                        <m:e>
                          <m:r>
                            <a:rPr lang="en-US" altLang="zh-C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汉仪文黑-85W" panose="00020600040101010101" pitchFamily="18" charset="-128"/>
                              <a:cs typeface="汉仪文黑-85W" panose="00020600040101010101" pitchFamily="18" charset="-128"/>
                            </a:rPr>
                            <m:t>𝑋</m:t>
                          </m:r>
                        </m:e>
                        <m:sup>
                          <m:r>
                            <a:rPr lang="en-US" altLang="zh-C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汉仪文黑-85W" panose="00020600040101010101" pitchFamily="18" charset="-128"/>
                              <a:cs typeface="汉仪文黑-85W" panose="00020600040101010101" pitchFamily="18" charset="-128"/>
                            </a:rPr>
                            <m:t>𝑘</m:t>
                          </m:r>
                        </m:sup>
                      </m:sSup>
                      <m:r>
                        <a:rPr lang="en-US" altLang="zh-CN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汉仪文黑-85W" panose="00020600040101010101" pitchFamily="18" charset="-128"/>
                          <a:cs typeface="汉仪文黑-85W" panose="00020600040101010101" pitchFamily="18" charset="-128"/>
                        </a:rPr>
                        <m:t>)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5816A020-B617-154F-F0C6-513921977F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2434" y="2375227"/>
                <a:ext cx="1505968" cy="342979"/>
              </a:xfrm>
              <a:prstGeom prst="rect">
                <a:avLst/>
              </a:prstGeom>
              <a:blipFill>
                <a:blip r:embed="rId8"/>
                <a:stretch>
                  <a:fillRect b="-107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8DDB8B5D-B82D-9419-F014-9540D70EA101}"/>
                  </a:ext>
                </a:extLst>
              </p:cNvPr>
              <p:cNvSpPr txBox="1"/>
              <p:nvPr/>
            </p:nvSpPr>
            <p:spPr>
              <a:xfrm>
                <a:off x="5499738" y="2941607"/>
                <a:ext cx="2071360" cy="34297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汉仪文黑-85W" panose="00020600040101010101" pitchFamily="18" charset="-128"/>
                              <a:cs typeface="汉仪文黑-85W" panose="00020600040101010101" pitchFamily="18" charset="-128"/>
                            </a:rPr>
                          </m:ctrlPr>
                        </m:sSubPr>
                        <m:e>
                          <m:r>
                            <a:rPr lang="zh-CN" alt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汉仪文黑-85W" panose="00020600040101010101" pitchFamily="18" charset="-128"/>
                              <a:cs typeface="汉仪文黑-85W" panose="00020600040101010101" pitchFamily="18" charset="-128"/>
                            </a:rPr>
                            <m:t>𝜇</m:t>
                          </m:r>
                        </m:e>
                        <m:sub>
                          <m:r>
                            <a:rPr lang="en-US" altLang="zh-C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汉仪文黑-85W" panose="00020600040101010101" pitchFamily="18" charset="-128"/>
                              <a:cs typeface="汉仪文黑-85W" panose="00020600040101010101" pitchFamily="18" charset="-128"/>
                            </a:rPr>
                            <m:t>𝑘</m:t>
                          </m:r>
                        </m:sub>
                      </m:sSub>
                      <m:r>
                        <a:rPr lang="en-US" altLang="zh-CN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汉仪文黑-85W" panose="00020600040101010101" pitchFamily="18" charset="-128"/>
                          <a:cs typeface="汉仪文黑-85W" panose="00020600040101010101" pitchFamily="18" charset="-128"/>
                        </a:rPr>
                        <m:t>=</m:t>
                      </m:r>
                      <m:r>
                        <a:rPr lang="en-US" altLang="zh-CN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汉仪文黑-85W" panose="00020600040101010101" pitchFamily="18" charset="-128"/>
                          <a:cs typeface="汉仪文黑-85W" panose="00020600040101010101" pitchFamily="18" charset="-128"/>
                        </a:rPr>
                        <m:t>𝐸</m:t>
                      </m:r>
                      <m:sSup>
                        <m:sSupPr>
                          <m:ctrlPr>
                            <a:rPr lang="en-US" altLang="zh-C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汉仪文黑-85W" panose="00020600040101010101" pitchFamily="18" charset="-128"/>
                              <a:cs typeface="汉仪文黑-85W" panose="00020600040101010101" pitchFamily="18" charset="-128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汉仪文黑-85W" panose="00020600040101010101" pitchFamily="18" charset="-128"/>
                                  <a:cs typeface="汉仪文黑-85W" panose="00020600040101010101" pitchFamily="18" charset="-128"/>
                                </a:rPr>
                              </m:ctrlPr>
                            </m:dPr>
                            <m:e>
                              <m:r>
                                <a:rPr lang="en-US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汉仪文黑-85W" panose="00020600040101010101" pitchFamily="18" charset="-128"/>
                                  <a:cs typeface="汉仪文黑-85W" panose="00020600040101010101" pitchFamily="18" charset="-128"/>
                                </a:rPr>
                                <m:t>𝑋</m:t>
                              </m:r>
                              <m:r>
                                <a:rPr lang="en-US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汉仪文黑-85W" panose="00020600040101010101" pitchFamily="18" charset="-128"/>
                                  <a:cs typeface="汉仪文黑-85W" panose="00020600040101010101" pitchFamily="18" charset="-128"/>
                                </a:rPr>
                                <m:t>−</m:t>
                              </m:r>
                              <m:r>
                                <a:rPr lang="en-US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汉仪文黑-85W" panose="00020600040101010101" pitchFamily="18" charset="-128"/>
                                  <a:cs typeface="汉仪文黑-85W" panose="00020600040101010101" pitchFamily="18" charset="-128"/>
                                </a:rPr>
                                <m:t>𝐸</m:t>
                              </m:r>
                              <m:d>
                                <m:dPr>
                                  <m:ctrlPr>
                                    <a:rPr lang="en-US" altLang="zh-CN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汉仪文黑-85W" panose="00020600040101010101" pitchFamily="18" charset="-128"/>
                                      <a:cs typeface="汉仪文黑-85W" panose="00020600040101010101" pitchFamily="18" charset="-128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汉仪文黑-85W" panose="00020600040101010101" pitchFamily="18" charset="-128"/>
                                      <a:cs typeface="汉仪文黑-85W" panose="00020600040101010101" pitchFamily="18" charset="-128"/>
                                    </a:rPr>
                                    <m:t>𝑋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zh-C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汉仪文黑-85W" panose="00020600040101010101" pitchFamily="18" charset="-128"/>
                              <a:cs typeface="汉仪文黑-85W" panose="00020600040101010101" pitchFamily="18" charset="-128"/>
                            </a:rPr>
                            <m:t>𝑘</m:t>
                          </m:r>
                        </m:sup>
                      </m:sSup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8DDB8B5D-B82D-9419-F014-9540D70EA1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9738" y="2941607"/>
                <a:ext cx="2071360" cy="342979"/>
              </a:xfrm>
              <a:prstGeom prst="rect">
                <a:avLst/>
              </a:prstGeom>
              <a:blipFill>
                <a:blip r:embed="rId9"/>
                <a:stretch>
                  <a:fillRect b="-17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文本框 31">
            <a:extLst>
              <a:ext uri="{FF2B5EF4-FFF2-40B4-BE49-F238E27FC236}">
                <a16:creationId xmlns:a16="http://schemas.microsoft.com/office/drawing/2014/main" id="{1BDAB56B-768D-236E-7ECA-0747200BFE90}"/>
              </a:ext>
            </a:extLst>
          </p:cNvPr>
          <p:cNvSpPr txBox="1"/>
          <p:nvPr/>
        </p:nvSpPr>
        <p:spPr>
          <a:xfrm>
            <a:off x="5363489" y="3468496"/>
            <a:ext cx="2343857" cy="6815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1600" dirty="0">
                <a:latin typeface="楷体" panose="02010609060101010101" pitchFamily="49" charset="-122"/>
                <a:ea typeface="楷体" panose="02010609060101010101" pitchFamily="49" charset="-122"/>
              </a:rPr>
              <a:t>一阶原点矩：数学期望</a:t>
            </a:r>
            <a:endParaRPr lang="en-US" altLang="zh-CN" sz="16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>
              <a:lnSpc>
                <a:spcPct val="125000"/>
              </a:lnSpc>
            </a:pPr>
            <a:r>
              <a:rPr lang="zh-CN" altLang="en-US" sz="1600" dirty="0">
                <a:latin typeface="楷体" panose="02010609060101010101" pitchFamily="49" charset="-122"/>
                <a:ea typeface="楷体" panose="02010609060101010101" pitchFamily="49" charset="-122"/>
              </a:rPr>
              <a:t>二阶中心矩：方差</a:t>
            </a:r>
            <a:endParaRPr lang="zh-CN" alt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A8591022-3348-859D-C91F-AF6229343FEF}"/>
                  </a:ext>
                </a:extLst>
              </p:cNvPr>
              <p:cNvSpPr txBox="1"/>
              <p:nvPr/>
            </p:nvSpPr>
            <p:spPr>
              <a:xfrm>
                <a:off x="8073046" y="2281767"/>
                <a:ext cx="3542588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1600" b="0" i="0" smtClean="0">
                          <a:latin typeface="Cambria Math" panose="02040503050406030204" pitchFamily="18" charset="0"/>
                        </a:rPr>
                        <m:t>cov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d>
                                <m:dPr>
                                  <m:ctrlP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</m:d>
                            </m:e>
                          </m:d>
                        </m:e>
                      </m:d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A8591022-3348-859D-C91F-AF6229343F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3046" y="2281767"/>
                <a:ext cx="3542588" cy="338554"/>
              </a:xfrm>
              <a:prstGeom prst="rect">
                <a:avLst/>
              </a:prstGeom>
              <a:blipFill>
                <a:blip r:embed="rId10"/>
                <a:stretch>
                  <a:fillRect b="-89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381B3E75-91C7-B4C5-BBD6-0A00BD8AD5FD}"/>
                  </a:ext>
                </a:extLst>
              </p:cNvPr>
              <p:cNvSpPr txBox="1"/>
              <p:nvPr/>
            </p:nvSpPr>
            <p:spPr>
              <a:xfrm>
                <a:off x="8073045" y="2627603"/>
                <a:ext cx="3542588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1600" smtClean="0">
                          <a:latin typeface="Cambria Math" panose="02040503050406030204" pitchFamily="18" charset="0"/>
                        </a:rPr>
                        <m:t>cov</m:t>
                      </m:r>
                      <m:d>
                        <m:dPr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𝑋𝑌</m:t>
                          </m:r>
                        </m:e>
                      </m:d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381B3E75-91C7-B4C5-BBD6-0A00BD8AD5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3045" y="2627603"/>
                <a:ext cx="3542588" cy="338554"/>
              </a:xfrm>
              <a:prstGeom prst="rect">
                <a:avLst/>
              </a:prstGeom>
              <a:blipFill>
                <a:blip r:embed="rId11"/>
                <a:stretch>
                  <a:fillRect b="-89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B27BD5E6-9D21-EE4C-58E9-FDC315F24783}"/>
                  </a:ext>
                </a:extLst>
              </p:cNvPr>
              <p:cNvSpPr txBox="1"/>
              <p:nvPr/>
            </p:nvSpPr>
            <p:spPr>
              <a:xfrm>
                <a:off x="8073045" y="3049963"/>
                <a:ext cx="3542588" cy="6016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altLang="zh-CN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𝑋𝑌</m:t>
                          </m:r>
                        </m:sub>
                      </m:sSub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CN" sz="16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cov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𝑌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B27BD5E6-9D21-EE4C-58E9-FDC315F247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3045" y="3049963"/>
                <a:ext cx="3542588" cy="60164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文本框 39">
            <a:extLst>
              <a:ext uri="{FF2B5EF4-FFF2-40B4-BE49-F238E27FC236}">
                <a16:creationId xmlns:a16="http://schemas.microsoft.com/office/drawing/2014/main" id="{5B9F2AFB-8184-999E-6FF2-16C24B0EA728}"/>
              </a:ext>
            </a:extLst>
          </p:cNvPr>
          <p:cNvSpPr txBox="1"/>
          <p:nvPr/>
        </p:nvSpPr>
        <p:spPr>
          <a:xfrm>
            <a:off x="7917487" y="3735409"/>
            <a:ext cx="385370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00" dirty="0">
                <a:latin typeface="楷体" panose="02010609060101010101" pitchFamily="49" charset="-122"/>
                <a:ea typeface="楷体" panose="02010609060101010101" pitchFamily="49" charset="-122"/>
              </a:rPr>
              <a:t>独立 一定 不相关，不相关 不一定 独立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086DEE76-EFE5-FB79-D99F-FAF30395D5B2}"/>
                  </a:ext>
                </a:extLst>
              </p:cNvPr>
              <p:cNvSpPr txBox="1"/>
              <p:nvPr/>
            </p:nvSpPr>
            <p:spPr>
              <a:xfrm>
                <a:off x="324286" y="3058395"/>
                <a:ext cx="2417751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函数的期望</a:t>
                </a:r>
                <a:endParaRPr lang="en-US" altLang="zh-CN" sz="16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algn="ctr"/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将对应的</a:t>
                </a: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𝑥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换为</a:t>
                </a: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𝑓</m:t>
                    </m:r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𝑥</m:t>
                    </m:r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即可</a:t>
                </a:r>
              </a:p>
            </p:txBody>
          </p:sp>
        </mc:Choice>
        <mc:Fallback xmlns="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086DEE76-EFE5-FB79-D99F-FAF30395D5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286" y="3058395"/>
                <a:ext cx="2417751" cy="584775"/>
              </a:xfrm>
              <a:prstGeom prst="rect">
                <a:avLst/>
              </a:prstGeom>
              <a:blipFill>
                <a:blip r:embed="rId13"/>
                <a:stretch>
                  <a:fillRect t="-3125" b="-114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1EFF3842-CDD4-07AE-BBA4-1E9527D881B1}"/>
                  </a:ext>
                </a:extLst>
              </p:cNvPr>
              <p:cNvSpPr txBox="1"/>
              <p:nvPr/>
            </p:nvSpPr>
            <p:spPr>
              <a:xfrm>
                <a:off x="2812691" y="3168252"/>
                <a:ext cx="2447666" cy="3702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1600" b="1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𝑫</m:t>
                      </m:r>
                      <m:d>
                        <m:dPr>
                          <m:ctrlPr>
                            <a:rPr lang="en-US" altLang="zh-CN" sz="16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</m:ctrlPr>
                        </m:dPr>
                        <m:e>
                          <m:r>
                            <a:rPr lang="en-US" altLang="zh-CN" sz="16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  <m:t>𝑿</m:t>
                          </m:r>
                        </m:e>
                      </m:d>
                      <m:r>
                        <a:rPr lang="en-US" altLang="zh-CN" sz="1600" b="1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=</m:t>
                      </m:r>
                      <m:r>
                        <a:rPr lang="en-US" altLang="zh-CN" sz="1600" b="1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𝑬</m:t>
                      </m:r>
                      <m:d>
                        <m:dPr>
                          <m:ctrlPr>
                            <a:rPr lang="en-US" altLang="zh-CN" sz="16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1600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ea typeface="仿宋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1600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ea typeface="仿宋" panose="02010609060101010101" pitchFamily="49" charset="-122"/>
                                </a:rPr>
                                <m:t>𝑿</m:t>
                              </m:r>
                            </m:e>
                            <m:sup>
                              <m:r>
                                <a:rPr lang="en-US" altLang="zh-CN" sz="1600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ea typeface="仿宋" panose="02010609060101010101" pitchFamily="49" charset="-122"/>
                                </a:rPr>
                                <m:t>𝟐</m:t>
                              </m:r>
                            </m:sup>
                          </m:sSup>
                        </m:e>
                      </m:d>
                      <m:r>
                        <a:rPr lang="en-US" altLang="zh-CN" sz="1600" b="1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−</m:t>
                      </m:r>
                      <m:sSup>
                        <m:sSupPr>
                          <m:ctrlPr>
                            <a:rPr lang="en-US" altLang="zh-CN" sz="16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1600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ea typeface="仿宋" panose="02010609060101010101" pitchFamily="49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1600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ea typeface="仿宋" panose="02010609060101010101" pitchFamily="49" charset="-122"/>
                                </a:rPr>
                                <m:t>𝑬</m:t>
                              </m:r>
                              <m:d>
                                <m:dPr>
                                  <m:ctrlPr>
                                    <a:rPr lang="en-US" altLang="zh-CN" sz="1600" b="1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  <a:ea typeface="仿宋" panose="02010609060101010101" pitchFamily="49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600" b="1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  <a:ea typeface="仿宋" panose="02010609060101010101" pitchFamily="49" charset="-122"/>
                                    </a:rPr>
                                    <m:t>𝑿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zh-CN" sz="16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1EFF3842-CDD4-07AE-BBA4-1E9527D881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2691" y="3168252"/>
                <a:ext cx="2447666" cy="370294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文本框 55">
            <a:extLst>
              <a:ext uri="{FF2B5EF4-FFF2-40B4-BE49-F238E27FC236}">
                <a16:creationId xmlns:a16="http://schemas.microsoft.com/office/drawing/2014/main" id="{4265D96E-A39F-DBBA-8B03-7C2B3326401F}"/>
              </a:ext>
            </a:extLst>
          </p:cNvPr>
          <p:cNvSpPr txBox="1"/>
          <p:nvPr/>
        </p:nvSpPr>
        <p:spPr>
          <a:xfrm>
            <a:off x="576363" y="3804216"/>
            <a:ext cx="192253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00" dirty="0">
                <a:latin typeface="楷体" panose="02010609060101010101" pitchFamily="49" charset="-122"/>
                <a:ea typeface="楷体" panose="02010609060101010101" pitchFamily="49" charset="-122"/>
              </a:rPr>
              <a:t>数学期望的性质</a:t>
            </a:r>
            <a:endParaRPr lang="en-US" altLang="zh-CN" sz="16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43A319F4-EA44-F28A-85DC-6AFAA19E091C}"/>
              </a:ext>
            </a:extLst>
          </p:cNvPr>
          <p:cNvSpPr txBox="1"/>
          <p:nvPr/>
        </p:nvSpPr>
        <p:spPr>
          <a:xfrm>
            <a:off x="3075255" y="3814166"/>
            <a:ext cx="192253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00" dirty="0">
                <a:latin typeface="楷体" panose="02010609060101010101" pitchFamily="49" charset="-122"/>
                <a:ea typeface="楷体" panose="02010609060101010101" pitchFamily="49" charset="-122"/>
              </a:rPr>
              <a:t>方差的性质</a:t>
            </a:r>
            <a:endParaRPr lang="en-US" altLang="zh-CN" sz="16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99550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reveal/>
      </p:transition>
    </mc:Choice>
    <mc:Fallback xmlns="">
      <p:transition spd="slow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4.7|14.8|8|46.4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1|42.2|5.4|5.6|14.3|37.1|9.7|31.9|56.7|30.2|26.1|23.4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1|42.2|5.4|5.6|14.3|37.1|9.7|31.9|56.7|30.2|26.1|23.4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4.7|14.8|8|46.4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4.7|14.8|8|46.4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1|42.2|5.4|5.6|14.3|37.1|9.7|31.9|56.7|30.2|26.1|23.4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4.7|14.8|8|46.4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1|42.2|5.4|5.6|14.3|37.1|9.7|31.9|56.7|30.2|26.1|23.4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4.7|14.8|8|46.4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1|42.2|5.4|5.6|14.3|37.1|9.7|31.9|56.7|30.2|26.1|23.4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4.7|14.8|8|46.4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0.4|11.1|20.1|14.5|3.3|20.2|10.2|99.6|8.8|27.2|23.5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0.4|11.1|20.1|14.5|3.3|20.2|10.2|99.6|8.8|27.2|23.5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1|42.2|5.4|5.6|14.3|37.1|9.7|31.9|56.7|30.2|26.1|23.4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1|42.2|5.4|5.6|14.3|37.1|9.7|31.9|56.7|30.2|26.1|23.4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6|31.1|4.7|8.2|2.5|26.6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16190</TotalTime>
  <Words>3450</Words>
  <Application>Microsoft Office PowerPoint</Application>
  <PresentationFormat>宽屏</PresentationFormat>
  <Paragraphs>296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30" baseType="lpstr">
      <vt:lpstr>汉仪润圆-65简</vt:lpstr>
      <vt:lpstr>仿宋</vt:lpstr>
      <vt:lpstr>Arial</vt:lpstr>
      <vt:lpstr>Cambria Math</vt:lpstr>
      <vt:lpstr>华文中宋</vt:lpstr>
      <vt:lpstr>等线 Light</vt:lpstr>
      <vt:lpstr>楷体</vt:lpstr>
      <vt:lpstr>汉仪文黑-85W</vt:lpstr>
      <vt:lpstr>方正清刻本悦宋简体</vt:lpstr>
      <vt:lpstr>等线</vt:lpstr>
      <vt:lpstr>方正小标宋简体</vt:lpstr>
      <vt:lpstr>华文宋体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展 未央</dc:creator>
  <cp:lastModifiedBy>展 未央</cp:lastModifiedBy>
  <cp:revision>159</cp:revision>
  <dcterms:created xsi:type="dcterms:W3CDTF">2022-05-05T07:14:53Z</dcterms:created>
  <dcterms:modified xsi:type="dcterms:W3CDTF">2023-02-19T16:56:14Z</dcterms:modified>
</cp:coreProperties>
</file>