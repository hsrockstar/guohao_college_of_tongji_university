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312" r:id="rId2"/>
    <p:sldId id="269" r:id="rId3"/>
    <p:sldId id="276" r:id="rId4"/>
    <p:sldId id="301" r:id="rId5"/>
    <p:sldId id="302" r:id="rId6"/>
    <p:sldId id="277" r:id="rId7"/>
    <p:sldId id="303" r:id="rId8"/>
    <p:sldId id="304" r:id="rId9"/>
    <p:sldId id="305" r:id="rId10"/>
    <p:sldId id="306" r:id="rId11"/>
    <p:sldId id="307" r:id="rId12"/>
    <p:sldId id="308" r:id="rId13"/>
    <p:sldId id="311" r:id="rId14"/>
    <p:sldId id="309" r:id="rId15"/>
    <p:sldId id="310" r:id="rId16"/>
    <p:sldId id="313" r:id="rId17"/>
    <p:sldId id="298" r:id="rId18"/>
  </p:sldIdLst>
  <p:sldSz cx="12192000" cy="6858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方正清刻本悦宋简体" panose="02000000000000000000" pitchFamily="2" charset="-122"/>
      <p:regular r:id="rId23"/>
    </p:embeddedFont>
    <p:embeddedFont>
      <p:font typeface="方正小标宋简体" panose="02000000000000000000" pitchFamily="2" charset="-122"/>
      <p:regular r:id="rId24"/>
    </p:embeddedFont>
    <p:embeddedFont>
      <p:font typeface="仿宋" panose="02010609060101010101" pitchFamily="49" charset="-122"/>
      <p:regular r:id="rId25"/>
    </p:embeddedFont>
    <p:embeddedFont>
      <p:font typeface="汉仪润圆-65简" panose="00020600040101010101" pitchFamily="18" charset="-122"/>
      <p:regular r:id="rId26"/>
    </p:embeddedFont>
    <p:embeddedFont>
      <p:font typeface="汉仪文黑-85W" panose="00020600040101010101" pitchFamily="18" charset="-122"/>
      <p:regular r:id="rId27"/>
    </p:embeddedFont>
    <p:embeddedFont>
      <p:font typeface="华文宋体" panose="02010600040101010101" pitchFamily="2" charset="-122"/>
      <p:regular r:id="rId28"/>
    </p:embeddedFont>
    <p:embeddedFont>
      <p:font typeface="华文中宋" panose="02010600040101010101" pitchFamily="2" charset="-122"/>
      <p:regular r:id="rId29"/>
    </p:embeddedFont>
    <p:embeddedFont>
      <p:font typeface="楷体" panose="02010609060101010101" pitchFamily="49" charset="-122"/>
      <p:regular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000"/>
    <a:srgbClr val="89F3FE"/>
    <a:srgbClr val="F3F3F3"/>
    <a:srgbClr val="ED7D31"/>
    <a:srgbClr val="7ECEF4"/>
    <a:srgbClr val="000000"/>
    <a:srgbClr val="F17723"/>
    <a:srgbClr val="FF9900"/>
    <a:srgbClr val="84C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10.png"/><Relationship Id="rId18" Type="http://schemas.openxmlformats.org/officeDocument/2006/relationships/image" Target="../media/image170.png"/><Relationship Id="rId3" Type="http://schemas.openxmlformats.org/officeDocument/2006/relationships/image" Target="../media/image210.png"/><Relationship Id="rId21" Type="http://schemas.openxmlformats.org/officeDocument/2006/relationships/image" Target="../media/image200.png"/><Relationship Id="rId7" Type="http://schemas.openxmlformats.org/officeDocument/2006/relationships/image" Target="../media/image610.png"/><Relationship Id="rId12" Type="http://schemas.openxmlformats.org/officeDocument/2006/relationships/image" Target="../media/image1110.png"/><Relationship Id="rId17" Type="http://schemas.openxmlformats.org/officeDocument/2006/relationships/image" Target="../media/image16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9.png"/><Relationship Id="rId20" Type="http://schemas.openxmlformats.org/officeDocument/2006/relationships/image" Target="../media/image190.png"/><Relationship Id="rId1" Type="http://schemas.openxmlformats.org/officeDocument/2006/relationships/tags" Target="../tags/tag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5" Type="http://schemas.openxmlformats.org/officeDocument/2006/relationships/image" Target="../media/image410.png"/><Relationship Id="rId15" Type="http://schemas.openxmlformats.org/officeDocument/2006/relationships/image" Target="../media/image1410.png"/><Relationship Id="rId23" Type="http://schemas.openxmlformats.org/officeDocument/2006/relationships/image" Target="../media/image220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Relationship Id="rId14" Type="http://schemas.openxmlformats.org/officeDocument/2006/relationships/image" Target="../media/image1310.png"/><Relationship Id="rId22" Type="http://schemas.openxmlformats.org/officeDocument/2006/relationships/image" Target="../media/image2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0.png"/><Relationship Id="rId18" Type="http://schemas.openxmlformats.org/officeDocument/2006/relationships/image" Target="../media/image380.png"/><Relationship Id="rId26" Type="http://schemas.openxmlformats.org/officeDocument/2006/relationships/image" Target="../media/image460.png"/><Relationship Id="rId3" Type="http://schemas.openxmlformats.org/officeDocument/2006/relationships/image" Target="../media/image230.png"/><Relationship Id="rId21" Type="http://schemas.openxmlformats.org/officeDocument/2006/relationships/image" Target="../media/image411.png"/><Relationship Id="rId7" Type="http://schemas.openxmlformats.org/officeDocument/2006/relationships/image" Target="../media/image270.png"/><Relationship Id="rId12" Type="http://schemas.openxmlformats.org/officeDocument/2006/relationships/image" Target="../media/image32.png"/><Relationship Id="rId17" Type="http://schemas.openxmlformats.org/officeDocument/2006/relationships/image" Target="../media/image370.png"/><Relationship Id="rId25" Type="http://schemas.openxmlformats.org/officeDocument/2006/relationships/image" Target="../media/image45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60.png"/><Relationship Id="rId20" Type="http://schemas.openxmlformats.org/officeDocument/2006/relationships/image" Target="../media/image400.png"/><Relationship Id="rId1" Type="http://schemas.openxmlformats.org/officeDocument/2006/relationships/tags" Target="../tags/tag3.xml"/><Relationship Id="rId6" Type="http://schemas.openxmlformats.org/officeDocument/2006/relationships/image" Target="../media/image26.png"/><Relationship Id="rId11" Type="http://schemas.openxmlformats.org/officeDocument/2006/relationships/image" Target="../media/image311.png"/><Relationship Id="rId24" Type="http://schemas.openxmlformats.org/officeDocument/2006/relationships/image" Target="../media/image440.png"/><Relationship Id="rId5" Type="http://schemas.openxmlformats.org/officeDocument/2006/relationships/image" Target="../media/image250.png"/><Relationship Id="rId15" Type="http://schemas.openxmlformats.org/officeDocument/2006/relationships/image" Target="../media/image350.png"/><Relationship Id="rId23" Type="http://schemas.openxmlformats.org/officeDocument/2006/relationships/image" Target="../media/image430.png"/><Relationship Id="rId10" Type="http://schemas.openxmlformats.org/officeDocument/2006/relationships/image" Target="../media/image30.png"/><Relationship Id="rId19" Type="http://schemas.openxmlformats.org/officeDocument/2006/relationships/image" Target="../media/image390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Relationship Id="rId14" Type="http://schemas.openxmlformats.org/officeDocument/2006/relationships/image" Target="../media/image340.png"/><Relationship Id="rId22" Type="http://schemas.openxmlformats.org/officeDocument/2006/relationships/image" Target="../media/image4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470.png"/><Relationship Id="rId7" Type="http://schemas.openxmlformats.org/officeDocument/2006/relationships/image" Target="../media/image5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00.png"/><Relationship Id="rId5" Type="http://schemas.openxmlformats.org/officeDocument/2006/relationships/image" Target="../media/image490.png"/><Relationship Id="rId10" Type="http://schemas.openxmlformats.org/officeDocument/2006/relationships/image" Target="../media/image540.png"/><Relationship Id="rId4" Type="http://schemas.openxmlformats.org/officeDocument/2006/relationships/image" Target="../media/image480.png"/><Relationship Id="rId9" Type="http://schemas.openxmlformats.org/officeDocument/2006/relationships/image" Target="../media/image5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50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tags" Target="../tags/tag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94.png"/><Relationship Id="rId1" Type="http://schemas.openxmlformats.org/officeDocument/2006/relationships/tags" Target="../tags/tag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tags" Target="../tags/tag10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0.png"/><Relationship Id="rId7" Type="http://schemas.openxmlformats.org/officeDocument/2006/relationships/image" Target="../media/image1470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6.png"/><Relationship Id="rId1" Type="http://schemas.openxmlformats.org/officeDocument/2006/relationships/tags" Target="../tags/tag16.xml"/><Relationship Id="rId6" Type="http://schemas.openxmlformats.org/officeDocument/2006/relationships/image" Target="../media/image1460.png"/><Relationship Id="rId11" Type="http://schemas.openxmlformats.org/officeDocument/2006/relationships/image" Target="../media/image151.png"/><Relationship Id="rId5" Type="http://schemas.openxmlformats.org/officeDocument/2006/relationships/image" Target="../media/image1450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0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3318AC-1E79-02CA-E406-5DD8E3D9C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620"/>
            <a:ext cx="12192000" cy="761524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96D8F7-12A1-2E5B-2382-D3008B9C4463}"/>
              </a:ext>
            </a:extLst>
          </p:cNvPr>
          <p:cNvGrpSpPr/>
          <p:nvPr/>
        </p:nvGrpSpPr>
        <p:grpSpPr>
          <a:xfrm>
            <a:off x="1213989" y="4968687"/>
            <a:ext cx="8265510" cy="1251848"/>
            <a:chOff x="1213989" y="4968687"/>
            <a:chExt cx="8265510" cy="125184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880DB26-4CC0-78B2-5517-045EB5FE47BD}"/>
                </a:ext>
              </a:extLst>
            </p:cNvPr>
            <p:cNvGrpSpPr/>
            <p:nvPr/>
          </p:nvGrpSpPr>
          <p:grpSpPr>
            <a:xfrm>
              <a:off x="1213989" y="4968687"/>
              <a:ext cx="8265510" cy="1251848"/>
              <a:chOff x="1213989" y="4968687"/>
              <a:chExt cx="8265510" cy="1251848"/>
            </a:xfrm>
          </p:grpSpPr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90D4E62F-CE9D-868C-80D5-778556EA48EB}"/>
                  </a:ext>
                </a:extLst>
              </p:cNvPr>
              <p:cNvSpPr/>
              <p:nvPr/>
            </p:nvSpPr>
            <p:spPr>
              <a:xfrm>
                <a:off x="1213989" y="4968687"/>
                <a:ext cx="8265510" cy="125184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99FC0E7-57DC-CF79-6F49-98D75A41A476}"/>
                  </a:ext>
                </a:extLst>
              </p:cNvPr>
              <p:cNvSpPr txBox="1"/>
              <p:nvPr/>
            </p:nvSpPr>
            <p:spPr>
              <a:xfrm>
                <a:off x="1376818" y="5155200"/>
                <a:ext cx="104866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第一章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随机事件的概律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A1B2DA3-DA73-B34B-971C-8EC963A3F22E}"/>
                  </a:ext>
                </a:extLst>
              </p:cNvPr>
              <p:cNvSpPr txBox="1"/>
              <p:nvPr/>
            </p:nvSpPr>
            <p:spPr>
              <a:xfrm>
                <a:off x="2509154" y="5155199"/>
                <a:ext cx="104866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第二章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随机变量及其描述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7266346-4DEE-126A-BAE0-AC61AA6E1D8C}"/>
                  </a:ext>
                </a:extLst>
              </p:cNvPr>
              <p:cNvSpPr txBox="1"/>
              <p:nvPr/>
            </p:nvSpPr>
            <p:spPr>
              <a:xfrm>
                <a:off x="3671299" y="5155198"/>
                <a:ext cx="104866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第三章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随机变量数字特征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47CAD0-B873-C7F6-33FD-1F7E5340A835}"/>
                  </a:ext>
                </a:extLst>
              </p:cNvPr>
              <p:cNvSpPr txBox="1"/>
              <p:nvPr/>
            </p:nvSpPr>
            <p:spPr>
              <a:xfrm>
                <a:off x="4821361" y="5156039"/>
                <a:ext cx="1048662" cy="66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第四章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极限定理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964ECFB-970C-0022-0189-05F066AC06C9}"/>
                  </a:ext>
                </a:extLst>
              </p:cNvPr>
              <p:cNvSpPr txBox="1"/>
              <p:nvPr/>
            </p:nvSpPr>
            <p:spPr>
              <a:xfrm>
                <a:off x="5936117" y="5155199"/>
                <a:ext cx="1048662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第五章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数理统计抽样分布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EEC8C98-9E61-66C2-00F1-45D1C54CCBDE}"/>
                  </a:ext>
                </a:extLst>
              </p:cNvPr>
              <p:cNvSpPr txBox="1"/>
              <p:nvPr/>
            </p:nvSpPr>
            <p:spPr>
              <a:xfrm>
                <a:off x="7080205" y="5153735"/>
                <a:ext cx="1048662" cy="66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第六章</a:t>
                </a:r>
                <a:endParaRPr lang="en-US" altLang="zh-CN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参数估计</a:t>
                </a: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DD6113A-2AE2-4BF5-C70F-98349CA8B806}"/>
                  </a:ext>
                </a:extLst>
              </p:cNvPr>
              <p:cNvCxnSpPr/>
              <p:nvPr/>
            </p:nvCxnSpPr>
            <p:spPr>
              <a:xfrm>
                <a:off x="2479885" y="5153735"/>
                <a:ext cx="0" cy="87716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A650626-C7AF-B5B2-3AA9-DDDF509BCA53}"/>
                  </a:ext>
                </a:extLst>
              </p:cNvPr>
              <p:cNvCxnSpPr/>
              <p:nvPr/>
            </p:nvCxnSpPr>
            <p:spPr>
              <a:xfrm>
                <a:off x="3616059" y="5155391"/>
                <a:ext cx="0" cy="87716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AFC13E2-AEA9-E30A-AC20-F497F156FA60}"/>
                  </a:ext>
                </a:extLst>
              </p:cNvPr>
              <p:cNvCxnSpPr/>
              <p:nvPr/>
            </p:nvCxnSpPr>
            <p:spPr>
              <a:xfrm>
                <a:off x="4772029" y="5153735"/>
                <a:ext cx="0" cy="87716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4F2F282-2E31-FA9A-EF7D-1B49D083AF7B}"/>
                  </a:ext>
                </a:extLst>
              </p:cNvPr>
              <p:cNvCxnSpPr/>
              <p:nvPr/>
            </p:nvCxnSpPr>
            <p:spPr>
              <a:xfrm>
                <a:off x="5886786" y="5153735"/>
                <a:ext cx="0" cy="87716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663EF80-649F-8A60-EB03-043FBF1892AA}"/>
                  </a:ext>
                </a:extLst>
              </p:cNvPr>
              <p:cNvCxnSpPr/>
              <p:nvPr/>
            </p:nvCxnSpPr>
            <p:spPr>
              <a:xfrm>
                <a:off x="7026222" y="5173928"/>
                <a:ext cx="0" cy="877163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E8EC4B9-54A5-772E-2CEF-50A4EC20AF53}"/>
                </a:ext>
              </a:extLst>
            </p:cNvPr>
            <p:cNvCxnSpPr/>
            <p:nvPr/>
          </p:nvCxnSpPr>
          <p:spPr>
            <a:xfrm>
              <a:off x="8198535" y="5173928"/>
              <a:ext cx="0" cy="87716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CFD0AF9-7D53-F79E-1E10-F2FE8BCCBFC7}"/>
                </a:ext>
              </a:extLst>
            </p:cNvPr>
            <p:cNvSpPr txBox="1"/>
            <p:nvPr/>
          </p:nvSpPr>
          <p:spPr>
            <a:xfrm>
              <a:off x="8252517" y="5153735"/>
              <a:ext cx="1048662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dirty="0"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第七章</a:t>
              </a:r>
              <a:endParaRPr lang="en-US" altLang="zh-CN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假设检验</a:t>
              </a: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A604CD8D-7BBF-0F53-E6E4-703C875DEE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8124214" y="1889314"/>
            <a:ext cx="2985884" cy="4331222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65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7" y="2767776"/>
            <a:ext cx="62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随机事件及其概率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129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随机事件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事件的关系与运算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随机事件的概率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古典概型、几何概型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条件概率  </a:t>
            </a:r>
            <a:r>
              <a:rPr lang="en-US" altLang="zh-CN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全概率公式、贝叶斯公式、事件的独立性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215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在高中数学的概率统计部分的学习中，我们已经接触过 随机事件 这一概念。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利用 集合与元素 的思想，我们给出 随机事件 的有关概念。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2661797" y="775742"/>
            <a:ext cx="2008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随机事件的概念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EEC64E-806B-0B2E-1FD9-C2E3B1BB2BEE}"/>
              </a:ext>
            </a:extLst>
          </p:cNvPr>
          <p:cNvSpPr/>
          <p:nvPr/>
        </p:nvSpPr>
        <p:spPr>
          <a:xfrm>
            <a:off x="4191516" y="2514527"/>
            <a:ext cx="4526924" cy="8002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随机试验</a:t>
            </a:r>
            <a:r>
              <a:rPr lang="zh-CN" altLang="en-US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（可重复性</a:t>
            </a:r>
            <a:r>
              <a:rPr lang="en-US" altLang="zh-CN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随机性）</a:t>
            </a:r>
            <a:endParaRPr lang="en-US" altLang="zh-CN" sz="14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e.g.</a:t>
            </a:r>
            <a:r>
              <a:rPr lang="zh-CN" altLang="en-US" sz="14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掷一枚六面骰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854BC90-D64D-BC2B-42AC-4ECD4F027FCC}"/>
              </a:ext>
            </a:extLst>
          </p:cNvPr>
          <p:cNvGrpSpPr/>
          <p:nvPr/>
        </p:nvGrpSpPr>
        <p:grpSpPr>
          <a:xfrm>
            <a:off x="3657943" y="3635922"/>
            <a:ext cx="5594069" cy="508858"/>
            <a:chOff x="3412847" y="3635922"/>
            <a:chExt cx="5594069" cy="5088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B318146B-4FE5-2C3B-5EDE-FDBEF0B6F975}"/>
                    </a:ext>
                  </a:extLst>
                </p:cNvPr>
                <p:cNvSpPr/>
                <p:nvPr/>
              </p:nvSpPr>
              <p:spPr>
                <a:xfrm>
                  <a:off x="3412847" y="3642504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B318146B-4FE5-2C3B-5EDE-FDBEF0B6F9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847" y="3642504"/>
                  <a:ext cx="354169" cy="50227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1441244F-C69B-30FF-3804-FB340E065F06}"/>
                    </a:ext>
                  </a:extLst>
                </p:cNvPr>
                <p:cNvSpPr/>
                <p:nvPr/>
              </p:nvSpPr>
              <p:spPr>
                <a:xfrm>
                  <a:off x="4460827" y="3642504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1441244F-C69B-30FF-3804-FB340E065F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827" y="3642504"/>
                  <a:ext cx="354169" cy="50227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8950D785-5B5A-84DB-D986-2DE9546A3CFE}"/>
                    </a:ext>
                  </a:extLst>
                </p:cNvPr>
                <p:cNvSpPr/>
                <p:nvPr/>
              </p:nvSpPr>
              <p:spPr>
                <a:xfrm>
                  <a:off x="5508807" y="3642504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3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8950D785-5B5A-84DB-D986-2DE9546A3C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07" y="3642504"/>
                  <a:ext cx="354169" cy="50227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2F6BB6B3-7F55-18D5-868F-095CC84118DD}"/>
                    </a:ext>
                  </a:extLst>
                </p:cNvPr>
                <p:cNvSpPr/>
                <p:nvPr/>
              </p:nvSpPr>
              <p:spPr>
                <a:xfrm>
                  <a:off x="6556787" y="3640286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4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2F6BB6B3-7F55-18D5-868F-095CC84118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787" y="3640286"/>
                  <a:ext cx="354169" cy="50227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55E4B386-1057-3D97-205B-AC1A541E84CC}"/>
                    </a:ext>
                  </a:extLst>
                </p:cNvPr>
                <p:cNvSpPr/>
                <p:nvPr/>
              </p:nvSpPr>
              <p:spPr>
                <a:xfrm>
                  <a:off x="7604767" y="3640286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5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55E4B386-1057-3D97-205B-AC1A541E84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4767" y="3640286"/>
                  <a:ext cx="354169" cy="50227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88516F47-A000-30CC-C245-8C4ADA221AA5}"/>
                    </a:ext>
                  </a:extLst>
                </p:cNvPr>
                <p:cNvSpPr/>
                <p:nvPr/>
              </p:nvSpPr>
              <p:spPr>
                <a:xfrm>
                  <a:off x="8652747" y="3635922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6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88516F47-A000-30CC-C245-8C4ADA221A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2747" y="3635922"/>
                  <a:ext cx="354169" cy="50227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DDAE924-2CCB-B81E-ECB7-33CCA2250987}"/>
                  </a:ext>
                </a:extLst>
              </p:cNvPr>
              <p:cNvSpPr/>
              <p:nvPr/>
            </p:nvSpPr>
            <p:spPr>
              <a:xfrm>
                <a:off x="576364" y="3436352"/>
                <a:ext cx="1842986" cy="91458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样本点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altLang="zh-CN" sz="1600" dirty="0"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  <a:p>
                <a:pPr algn="ctr"/>
                <a:r>
                  <a:rPr lang="en-US" altLang="zh-CN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- </a:t>
                </a:r>
                <a:r>
                  <a:rPr lang="zh-CN" altLang="en-US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元素 </a:t>
                </a:r>
                <a:r>
                  <a:rPr lang="en-US" altLang="zh-CN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-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每次试验的结果</a:t>
                </a:r>
                <a:endParaRPr lang="en-US" altLang="zh-CN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DDAE924-2CCB-B81E-ECB7-33CCA22509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436352"/>
                <a:ext cx="1842986" cy="9145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2D9970-DEF7-1D54-D83D-AE06FB6E48FE}"/>
                  </a:ext>
                </a:extLst>
              </p:cNvPr>
              <p:cNvSpPr/>
              <p:nvPr/>
            </p:nvSpPr>
            <p:spPr>
              <a:xfrm>
                <a:off x="576364" y="4519326"/>
                <a:ext cx="1842986" cy="9145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1600" dirty="0"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  <a:p>
                <a:pPr algn="ctr"/>
                <a:r>
                  <a:rPr lang="en-US" altLang="zh-CN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- </a:t>
                </a:r>
                <a:r>
                  <a:rPr lang="zh-CN" altLang="en-US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集合 </a:t>
                </a:r>
                <a:r>
                  <a:rPr lang="en-US" altLang="zh-CN" sz="11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-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样本点组成的集合</a:t>
                </a:r>
                <a:endParaRPr lang="en-US" altLang="zh-CN" sz="14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2D9970-DEF7-1D54-D83D-AE06FB6E48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4519326"/>
                <a:ext cx="1842986" cy="914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E2F369D0-DDB6-9E89-0EEA-6757D3F93CA1}"/>
              </a:ext>
            </a:extLst>
          </p:cNvPr>
          <p:cNvGrpSpPr/>
          <p:nvPr/>
        </p:nvGrpSpPr>
        <p:grpSpPr>
          <a:xfrm>
            <a:off x="2930681" y="4519326"/>
            <a:ext cx="1763286" cy="1042553"/>
            <a:chOff x="3121445" y="4519326"/>
            <a:chExt cx="1763286" cy="104255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F6F54E9-EF15-BA29-B6F7-559342AB3808}"/>
                </a:ext>
              </a:extLst>
            </p:cNvPr>
            <p:cNvGrpSpPr/>
            <p:nvPr/>
          </p:nvGrpSpPr>
          <p:grpSpPr>
            <a:xfrm>
              <a:off x="3121445" y="4519326"/>
              <a:ext cx="1763286" cy="697161"/>
              <a:chOff x="3121445" y="4519326"/>
              <a:chExt cx="1763286" cy="697161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79BD8A42-57CA-628A-738B-8AD9AC76D5B9}"/>
                  </a:ext>
                </a:extLst>
              </p:cNvPr>
              <p:cNvSpPr/>
              <p:nvPr/>
            </p:nvSpPr>
            <p:spPr>
              <a:xfrm>
                <a:off x="3121445" y="4519326"/>
                <a:ext cx="1763286" cy="697161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矩形: 圆角 26">
                    <a:extLst>
                      <a:ext uri="{FF2B5EF4-FFF2-40B4-BE49-F238E27FC236}">
                        <a16:creationId xmlns:a16="http://schemas.microsoft.com/office/drawing/2014/main" id="{FEDA7F10-4CD2-2DB1-B96A-22573A7E9365}"/>
                      </a:ext>
                    </a:extLst>
                  </p:cNvPr>
                  <p:cNvSpPr/>
                  <p:nvPr/>
                </p:nvSpPr>
                <p:spPr>
                  <a:xfrm>
                    <a:off x="3298528" y="4616768"/>
                    <a:ext cx="354169" cy="502276"/>
                  </a:xfrm>
                  <a:prstGeom prst="roundRect">
                    <a:avLst/>
                  </a:prstGeom>
                  <a:noFill/>
                  <a:ln>
                    <a:solidFill>
                      <a:srgbClr val="00B05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矩形: 圆角 26">
                    <a:extLst>
                      <a:ext uri="{FF2B5EF4-FFF2-40B4-BE49-F238E27FC236}">
                        <a16:creationId xmlns:a16="http://schemas.microsoft.com/office/drawing/2014/main" id="{FEDA7F10-4CD2-2DB1-B96A-22573A7E93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8528" y="4616768"/>
                    <a:ext cx="354169" cy="502276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  <a:prstDash val="sys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矩形: 圆角 27">
                    <a:extLst>
                      <a:ext uri="{FF2B5EF4-FFF2-40B4-BE49-F238E27FC236}">
                        <a16:creationId xmlns:a16="http://schemas.microsoft.com/office/drawing/2014/main" id="{947B4880-B00F-E2DF-0A21-55EFE9F42143}"/>
                      </a:ext>
                    </a:extLst>
                  </p:cNvPr>
                  <p:cNvSpPr/>
                  <p:nvPr/>
                </p:nvSpPr>
                <p:spPr>
                  <a:xfrm>
                    <a:off x="3822518" y="4616768"/>
                    <a:ext cx="354169" cy="502276"/>
                  </a:xfrm>
                  <a:prstGeom prst="roundRect">
                    <a:avLst/>
                  </a:prstGeom>
                  <a:noFill/>
                  <a:ln>
                    <a:solidFill>
                      <a:srgbClr val="00B05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矩形: 圆角 27">
                    <a:extLst>
                      <a:ext uri="{FF2B5EF4-FFF2-40B4-BE49-F238E27FC236}">
                        <a16:creationId xmlns:a16="http://schemas.microsoft.com/office/drawing/2014/main" id="{947B4880-B00F-E2DF-0A21-55EFE9F4214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2518" y="4616768"/>
                    <a:ext cx="354169" cy="502276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  <a:prstDash val="sys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矩形: 圆角 30">
                    <a:extLst>
                      <a:ext uri="{FF2B5EF4-FFF2-40B4-BE49-F238E27FC236}">
                        <a16:creationId xmlns:a16="http://schemas.microsoft.com/office/drawing/2014/main" id="{ABEC4FFF-C414-9FC8-2E65-21674895F2CC}"/>
                      </a:ext>
                    </a:extLst>
                  </p:cNvPr>
                  <p:cNvSpPr/>
                  <p:nvPr/>
                </p:nvSpPr>
                <p:spPr>
                  <a:xfrm>
                    <a:off x="4346508" y="4616768"/>
                    <a:ext cx="354169" cy="502276"/>
                  </a:xfrm>
                  <a:prstGeom prst="roundRect">
                    <a:avLst/>
                  </a:prstGeom>
                  <a:noFill/>
                  <a:ln>
                    <a:solidFill>
                      <a:srgbClr val="00B05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5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矩形: 圆角 30">
                    <a:extLst>
                      <a:ext uri="{FF2B5EF4-FFF2-40B4-BE49-F238E27FC236}">
                        <a16:creationId xmlns:a16="http://schemas.microsoft.com/office/drawing/2014/main" id="{ABEC4FFF-C414-9FC8-2E65-21674895F2C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6508" y="4616768"/>
                    <a:ext cx="354169" cy="502276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  <a:prstDash val="sys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196E2AF-5559-9946-4EC5-24F013D2689C}"/>
                    </a:ext>
                  </a:extLst>
                </p:cNvPr>
                <p:cNvSpPr txBox="1"/>
                <p:nvPr/>
              </p:nvSpPr>
              <p:spPr>
                <a:xfrm>
                  <a:off x="3209986" y="5254102"/>
                  <a:ext cx="157923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  <a:cs typeface="汉仪文黑-85W" panose="00020600040101010101" pitchFamily="18" charset="-128"/>
                    </a:rPr>
                    <a:t>：掷出奇数</a:t>
                  </a:r>
                  <a:endPara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  <a:cs typeface="汉仪文黑-85W" panose="00020600040101010101" pitchFamily="18" charset="-128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196E2AF-5559-9946-4EC5-24F013D26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986" y="5254102"/>
                  <a:ext cx="1579232" cy="307777"/>
                </a:xfrm>
                <a:prstGeom prst="rect">
                  <a:avLst/>
                </a:prstGeom>
                <a:blipFill>
                  <a:blip r:embed="rId14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5993422-6E95-9368-6FAE-8DEE271621A3}"/>
              </a:ext>
            </a:extLst>
          </p:cNvPr>
          <p:cNvGrpSpPr/>
          <p:nvPr/>
        </p:nvGrpSpPr>
        <p:grpSpPr>
          <a:xfrm>
            <a:off x="5274202" y="4519326"/>
            <a:ext cx="949784" cy="1042553"/>
            <a:chOff x="3015842" y="4519326"/>
            <a:chExt cx="949784" cy="104255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7F72CB79-B66B-BE81-6BA4-66302D6D624D}"/>
                </a:ext>
              </a:extLst>
            </p:cNvPr>
            <p:cNvGrpSpPr/>
            <p:nvPr/>
          </p:nvGrpSpPr>
          <p:grpSpPr>
            <a:xfrm>
              <a:off x="3121445" y="4519326"/>
              <a:ext cx="713538" cy="697161"/>
              <a:chOff x="3121445" y="4519326"/>
              <a:chExt cx="713538" cy="69716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5CA1BD9B-4CB5-3555-A475-057960D694EB}"/>
                  </a:ext>
                </a:extLst>
              </p:cNvPr>
              <p:cNvSpPr/>
              <p:nvPr/>
            </p:nvSpPr>
            <p:spPr>
              <a:xfrm>
                <a:off x="3121445" y="4519326"/>
                <a:ext cx="713538" cy="697161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矩形: 圆角 52">
                    <a:extLst>
                      <a:ext uri="{FF2B5EF4-FFF2-40B4-BE49-F238E27FC236}">
                        <a16:creationId xmlns:a16="http://schemas.microsoft.com/office/drawing/2014/main" id="{A5683C9F-FE39-2B15-BFA2-DAF854DED990}"/>
                      </a:ext>
                    </a:extLst>
                  </p:cNvPr>
                  <p:cNvSpPr/>
                  <p:nvPr/>
                </p:nvSpPr>
                <p:spPr>
                  <a:xfrm>
                    <a:off x="3298528" y="4616768"/>
                    <a:ext cx="354169" cy="502276"/>
                  </a:xfrm>
                  <a:prstGeom prst="roundRect">
                    <a:avLst/>
                  </a:prstGeom>
                  <a:noFill/>
                  <a:ln>
                    <a:solidFill>
                      <a:srgbClr val="00B05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矩形: 圆角 52">
                    <a:extLst>
                      <a:ext uri="{FF2B5EF4-FFF2-40B4-BE49-F238E27FC236}">
                        <a16:creationId xmlns:a16="http://schemas.microsoft.com/office/drawing/2014/main" id="{A5683C9F-FE39-2B15-BFA2-DAF854DED9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8528" y="4616768"/>
                    <a:ext cx="354169" cy="502276"/>
                  </a:xfrm>
                  <a:prstGeom prst="round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  <a:prstDash val="sys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1468FC6-03BE-BDE4-6DAA-647F11A929F9}"/>
                </a:ext>
              </a:extLst>
            </p:cNvPr>
            <p:cNvSpPr txBox="1"/>
            <p:nvPr/>
          </p:nvSpPr>
          <p:spPr>
            <a:xfrm>
              <a:off x="3015842" y="5254102"/>
              <a:ext cx="949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rPr>
                <a:t>基本事件</a:t>
              </a:r>
              <a:endParaRPr lang="en-US" altLang="zh-CN" sz="1400" dirty="0"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C80B228-F856-8B63-3ADE-DE5B355F23F6}"/>
              </a:ext>
            </a:extLst>
          </p:cNvPr>
          <p:cNvGrpSpPr/>
          <p:nvPr/>
        </p:nvGrpSpPr>
        <p:grpSpPr>
          <a:xfrm>
            <a:off x="6306087" y="4519326"/>
            <a:ext cx="2642202" cy="1042553"/>
            <a:chOff x="6646704" y="4519326"/>
            <a:chExt cx="2642202" cy="1042553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3D1D953-9AB0-0082-5449-53E269B998BF}"/>
                </a:ext>
              </a:extLst>
            </p:cNvPr>
            <p:cNvGrpSpPr/>
            <p:nvPr/>
          </p:nvGrpSpPr>
          <p:grpSpPr>
            <a:xfrm>
              <a:off x="6646704" y="4519326"/>
              <a:ext cx="2642202" cy="1042553"/>
              <a:chOff x="3121445" y="4519326"/>
              <a:chExt cx="2642202" cy="1042553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01270949-5BAD-CF2F-935F-586E54EB0778}"/>
                  </a:ext>
                </a:extLst>
              </p:cNvPr>
              <p:cNvGrpSpPr/>
              <p:nvPr/>
            </p:nvGrpSpPr>
            <p:grpSpPr>
              <a:xfrm>
                <a:off x="3121445" y="4519326"/>
                <a:ext cx="2642202" cy="697161"/>
                <a:chOff x="3121445" y="4519326"/>
                <a:chExt cx="2642202" cy="697161"/>
              </a:xfrm>
            </p:grpSpPr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8A05A382-6681-3CA9-D7D0-DA58793FC9A0}"/>
                    </a:ext>
                  </a:extLst>
                </p:cNvPr>
                <p:cNvSpPr/>
                <p:nvPr/>
              </p:nvSpPr>
              <p:spPr>
                <a:xfrm>
                  <a:off x="3121445" y="4519326"/>
                  <a:ext cx="2642202" cy="697161"/>
                </a:xfrm>
                <a:prstGeom prst="round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矩形: 圆角 65">
                      <a:extLst>
                        <a:ext uri="{FF2B5EF4-FFF2-40B4-BE49-F238E27FC236}">
                          <a16:creationId xmlns:a16="http://schemas.microsoft.com/office/drawing/2014/main" id="{F42E86DB-2972-D889-1B8A-A1CE1A54C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8528" y="4616768"/>
                      <a:ext cx="354169" cy="502276"/>
                    </a:xfrm>
                    <a:prstGeom prst="roundRect">
                      <a:avLst/>
                    </a:prstGeom>
                    <a:noFill/>
                    <a:ln>
                      <a:solidFill>
                        <a:srgbClr val="00B05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</m:t>
                            </m:r>
                          </m:oMath>
                        </m:oMathPara>
                      </a14:m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6" name="矩形: 圆角 65">
                      <a:extLst>
                        <a:ext uri="{FF2B5EF4-FFF2-40B4-BE49-F238E27FC236}">
                          <a16:creationId xmlns:a16="http://schemas.microsoft.com/office/drawing/2014/main" id="{F42E86DB-2972-D889-1B8A-A1CE1A54CC9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8528" y="4616768"/>
                      <a:ext cx="354169" cy="502276"/>
                    </a:xfrm>
                    <a:prstGeom prst="round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solidFill>
                        <a:srgbClr val="00B050"/>
                      </a:solidFill>
                      <a:prstDash val="sysDot"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CFFCBDCD-8C92-59E4-EDA3-CF720749A7E3}"/>
                      </a:ext>
                    </a:extLst>
                  </p:cNvPr>
                  <p:cNvSpPr txBox="1"/>
                  <p:nvPr/>
                </p:nvSpPr>
                <p:spPr>
                  <a:xfrm>
                    <a:off x="3468260" y="5254102"/>
                    <a:ext cx="199776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4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a:t>必然事件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汉仪文黑-85W" panose="00020600040101010101" pitchFamily="18" charset="-128"/>
                          </a:rPr>
                          <m:t>Ω</m:t>
                        </m:r>
                      </m:oMath>
                    </a14:m>
                    <a:r>
                      <a:rPr lang="zh-CN" altLang="en-US" sz="14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a:t>（样本空间）</a:t>
                    </a:r>
                    <a:endParaRPr lang="en-US" altLang="zh-CN" sz="14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  <a:cs typeface="汉仪文黑-85W" panose="00020600040101010101" pitchFamily="18" charset="-128"/>
                    </a:endParaRPr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CFFCBDCD-8C92-59E4-EDA3-CF720749A7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8260" y="5254102"/>
                    <a:ext cx="1997764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183" t="-4000" r="-5793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85022494-6702-C02D-CECB-048D436166D2}"/>
                    </a:ext>
                  </a:extLst>
                </p:cNvPr>
                <p:cNvSpPr/>
                <p:nvPr/>
              </p:nvSpPr>
              <p:spPr>
                <a:xfrm>
                  <a:off x="7213325" y="4616768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85022494-6702-C02D-CECB-048D436166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3325" y="4616768"/>
                  <a:ext cx="354169" cy="502276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A5005A7C-99F0-B8A5-D6C5-B837966A8F78}"/>
                    </a:ext>
                  </a:extLst>
                </p:cNvPr>
                <p:cNvSpPr/>
                <p:nvPr/>
              </p:nvSpPr>
              <p:spPr>
                <a:xfrm>
                  <a:off x="7602863" y="4616768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3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A5005A7C-99F0-B8A5-D6C5-B837966A8F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863" y="4616768"/>
                  <a:ext cx="354169" cy="502276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B7F3AC41-C39F-EC68-0B04-7766C7DF7D9C}"/>
                    </a:ext>
                  </a:extLst>
                </p:cNvPr>
                <p:cNvSpPr/>
                <p:nvPr/>
              </p:nvSpPr>
              <p:spPr>
                <a:xfrm>
                  <a:off x="7992401" y="4616768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4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B7F3AC41-C39F-EC68-0B04-7766C7DF7D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2401" y="4616768"/>
                  <a:ext cx="354169" cy="502276"/>
                </a:xfrm>
                <a:prstGeom prst="round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: 圆角 70">
                  <a:extLst>
                    <a:ext uri="{FF2B5EF4-FFF2-40B4-BE49-F238E27FC236}">
                      <a16:creationId xmlns:a16="http://schemas.microsoft.com/office/drawing/2014/main" id="{9013FEC6-CE94-FB0B-8D42-2FD257F9FD1A}"/>
                    </a:ext>
                  </a:extLst>
                </p:cNvPr>
                <p:cNvSpPr/>
                <p:nvPr/>
              </p:nvSpPr>
              <p:spPr>
                <a:xfrm>
                  <a:off x="8381939" y="4616768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5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: 圆角 70">
                  <a:extLst>
                    <a:ext uri="{FF2B5EF4-FFF2-40B4-BE49-F238E27FC236}">
                      <a16:creationId xmlns:a16="http://schemas.microsoft.com/office/drawing/2014/main" id="{9013FEC6-CE94-FB0B-8D42-2FD257F9FD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39" y="4616768"/>
                  <a:ext cx="354169" cy="502276"/>
                </a:xfrm>
                <a:prstGeom prst="round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D30818B4-4258-8C15-F642-69207C3D837B}"/>
                    </a:ext>
                  </a:extLst>
                </p:cNvPr>
                <p:cNvSpPr/>
                <p:nvPr/>
              </p:nvSpPr>
              <p:spPr>
                <a:xfrm>
                  <a:off x="8771477" y="4616768"/>
                  <a:ext cx="354169" cy="502276"/>
                </a:xfrm>
                <a:prstGeom prst="roundRect">
                  <a:avLst/>
                </a:pr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6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D30818B4-4258-8C15-F642-69207C3D83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477" y="4616768"/>
                  <a:ext cx="354169" cy="502276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6CB6C681-9440-3935-3BEF-0CC3E49B1E20}"/>
              </a:ext>
            </a:extLst>
          </p:cNvPr>
          <p:cNvGrpSpPr/>
          <p:nvPr/>
        </p:nvGrpSpPr>
        <p:grpSpPr>
          <a:xfrm>
            <a:off x="8926300" y="4519326"/>
            <a:ext cx="1075715" cy="1042553"/>
            <a:chOff x="8926300" y="4519326"/>
            <a:chExt cx="1075715" cy="1042553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E108D928-59A9-18BA-34FF-6296EA1925F2}"/>
                </a:ext>
              </a:extLst>
            </p:cNvPr>
            <p:cNvGrpSpPr/>
            <p:nvPr/>
          </p:nvGrpSpPr>
          <p:grpSpPr>
            <a:xfrm>
              <a:off x="8926300" y="4519326"/>
              <a:ext cx="1075715" cy="1042553"/>
              <a:chOff x="2962195" y="4519326"/>
              <a:chExt cx="1075715" cy="1042553"/>
            </a:xfrm>
          </p:grpSpPr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AE072F79-399B-786B-62F6-C50B913FA302}"/>
                  </a:ext>
                </a:extLst>
              </p:cNvPr>
              <p:cNvSpPr/>
              <p:nvPr/>
            </p:nvSpPr>
            <p:spPr>
              <a:xfrm>
                <a:off x="3196928" y="4519326"/>
                <a:ext cx="606251" cy="697161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D59A26E-AD05-3888-D413-1E7ECC262B11}"/>
                  </a:ext>
                </a:extLst>
              </p:cNvPr>
              <p:cNvSpPr txBox="1"/>
              <p:nvPr/>
            </p:nvSpPr>
            <p:spPr>
              <a:xfrm>
                <a:off x="2962195" y="5254102"/>
                <a:ext cx="107571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不可能事件</a:t>
                </a:r>
                <a:endParaRPr lang="en-US" altLang="zh-CN" sz="1400" dirty="0"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2B99B40D-BF8F-89FA-AED5-3F0808EBCAEE}"/>
                    </a:ext>
                  </a:extLst>
                </p:cNvPr>
                <p:cNvSpPr txBox="1"/>
                <p:nvPr/>
              </p:nvSpPr>
              <p:spPr>
                <a:xfrm>
                  <a:off x="9360763" y="4729406"/>
                  <a:ext cx="2067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2B99B40D-BF8F-89FA-AED5-3F0808EBC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763" y="4729406"/>
                  <a:ext cx="20678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3333" r="-33333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23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BE3F2CD5-5053-E5FA-A779-A1CC6F3BA54A}"/>
              </a:ext>
            </a:extLst>
          </p:cNvPr>
          <p:cNvGrpSpPr/>
          <p:nvPr/>
        </p:nvGrpSpPr>
        <p:grpSpPr>
          <a:xfrm>
            <a:off x="6354853" y="2706826"/>
            <a:ext cx="274287" cy="873403"/>
            <a:chOff x="6932364" y="2820318"/>
            <a:chExt cx="301395" cy="959722"/>
          </a:xfrm>
        </p:grpSpPr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759CA78-29D2-62E0-B2B9-459B78538BB0}"/>
                </a:ext>
              </a:extLst>
            </p:cNvPr>
            <p:cNvSpPr/>
            <p:nvPr/>
          </p:nvSpPr>
          <p:spPr>
            <a:xfrm>
              <a:off x="6932364" y="2820318"/>
              <a:ext cx="181778" cy="559106"/>
            </a:xfrm>
            <a:custGeom>
              <a:avLst/>
              <a:gdLst>
                <a:gd name="connsiteX0" fmla="*/ 126694 w 181778"/>
                <a:gd name="connsiteY0" fmla="*/ 0 h 559106"/>
                <a:gd name="connsiteX1" fmla="*/ 49576 w 181778"/>
                <a:gd name="connsiteY1" fmla="*/ 90889 h 559106"/>
                <a:gd name="connsiteX2" fmla="*/ 0 w 181778"/>
                <a:gd name="connsiteY2" fmla="*/ 198304 h 559106"/>
                <a:gd name="connsiteX3" fmla="*/ 0 w 181778"/>
                <a:gd name="connsiteY3" fmla="*/ 341523 h 559106"/>
                <a:gd name="connsiteX4" fmla="*/ 41313 w 181778"/>
                <a:gd name="connsiteY4" fmla="*/ 473725 h 559106"/>
                <a:gd name="connsiteX5" fmla="*/ 121185 w 181778"/>
                <a:gd name="connsiteY5" fmla="*/ 559106 h 559106"/>
                <a:gd name="connsiteX6" fmla="*/ 156990 w 181778"/>
                <a:gd name="connsiteY6" fmla="*/ 446183 h 559106"/>
                <a:gd name="connsiteX7" fmla="*/ 179024 w 181778"/>
                <a:gd name="connsiteY7" fmla="*/ 327752 h 559106"/>
                <a:gd name="connsiteX8" fmla="*/ 181778 w 181778"/>
                <a:gd name="connsiteY8" fmla="*/ 239617 h 559106"/>
                <a:gd name="connsiteX9" fmla="*/ 165253 w 181778"/>
                <a:gd name="connsiteY9" fmla="*/ 123940 h 559106"/>
                <a:gd name="connsiteX10" fmla="*/ 126694 w 181778"/>
                <a:gd name="connsiteY10" fmla="*/ 0 h 55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778" h="559106">
                  <a:moveTo>
                    <a:pt x="126694" y="0"/>
                  </a:moveTo>
                  <a:lnTo>
                    <a:pt x="49576" y="90889"/>
                  </a:lnTo>
                  <a:lnTo>
                    <a:pt x="0" y="198304"/>
                  </a:lnTo>
                  <a:lnTo>
                    <a:pt x="0" y="341523"/>
                  </a:lnTo>
                  <a:lnTo>
                    <a:pt x="41313" y="473725"/>
                  </a:lnTo>
                  <a:lnTo>
                    <a:pt x="121185" y="559106"/>
                  </a:lnTo>
                  <a:lnTo>
                    <a:pt x="156990" y="446183"/>
                  </a:lnTo>
                  <a:lnTo>
                    <a:pt x="179024" y="327752"/>
                  </a:lnTo>
                  <a:lnTo>
                    <a:pt x="181778" y="239617"/>
                  </a:lnTo>
                  <a:lnTo>
                    <a:pt x="165253" y="123940"/>
                  </a:lnTo>
                  <a:lnTo>
                    <a:pt x="12669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9A5D254-797C-1424-57F1-0AACCC56A654}"/>
                    </a:ext>
                  </a:extLst>
                </p:cNvPr>
                <p:cNvSpPr txBox="1"/>
                <p:nvPr/>
              </p:nvSpPr>
              <p:spPr>
                <a:xfrm>
                  <a:off x="7023253" y="3503041"/>
                  <a:ext cx="210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9A5D254-797C-1424-57F1-0AACCC56A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3253" y="3503041"/>
                  <a:ext cx="2105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9032" r="-32258" b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865FDA2-D145-80F6-9171-35F44E824B98}"/>
              </a:ext>
            </a:extLst>
          </p:cNvPr>
          <p:cNvGrpSpPr/>
          <p:nvPr/>
        </p:nvGrpSpPr>
        <p:grpSpPr>
          <a:xfrm>
            <a:off x="2838241" y="2277211"/>
            <a:ext cx="1929701" cy="1432969"/>
            <a:chOff x="3858106" y="2421128"/>
            <a:chExt cx="2120413" cy="1574589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657AF78-893A-2061-584F-F0B52026A52C}"/>
                </a:ext>
              </a:extLst>
            </p:cNvPr>
            <p:cNvGrpSpPr/>
            <p:nvPr/>
          </p:nvGrpSpPr>
          <p:grpSpPr>
            <a:xfrm>
              <a:off x="3858106" y="2421128"/>
              <a:ext cx="2120413" cy="1513267"/>
              <a:chOff x="2964637" y="2343950"/>
              <a:chExt cx="2120413" cy="1513267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E38A39D0-5309-F83C-7AE3-33AA7B505988}"/>
                  </a:ext>
                </a:extLst>
              </p:cNvPr>
              <p:cNvSpPr/>
              <p:nvPr/>
            </p:nvSpPr>
            <p:spPr>
              <a:xfrm>
                <a:off x="4305172" y="2710645"/>
                <a:ext cx="779878" cy="77987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E2F76DB4-A93D-8FBB-D56C-9FA0499D17E5}"/>
                  </a:ext>
                </a:extLst>
              </p:cNvPr>
              <p:cNvSpPr/>
              <p:nvPr/>
            </p:nvSpPr>
            <p:spPr>
              <a:xfrm>
                <a:off x="2964637" y="2343950"/>
                <a:ext cx="1513267" cy="1513267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E3A996-7CC5-E9C5-CC2A-63E0DB73B38F}"/>
                    </a:ext>
                  </a:extLst>
                </p:cNvPr>
                <p:cNvSpPr txBox="1"/>
                <p:nvPr/>
              </p:nvSpPr>
              <p:spPr>
                <a:xfrm>
                  <a:off x="5649826" y="3718718"/>
                  <a:ext cx="210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E3A996-7CC5-E9C5-CC2A-63E0DB73B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826" y="3718718"/>
                  <a:ext cx="21050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9032" r="-32258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215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734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在概率论中，我们常常要考虑诸多 有一定联系的若干事件。为了表述它们的联系，定义事件的如下运算：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实际上完全可以类比集合与元素间的运算。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2661797" y="775742"/>
            <a:ext cx="2398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随机事件的关系与运算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4DEBFAF-5C59-1F8D-A410-31E6E039158E}"/>
                  </a:ext>
                </a:extLst>
              </p:cNvPr>
              <p:cNvSpPr/>
              <p:nvPr/>
            </p:nvSpPr>
            <p:spPr>
              <a:xfrm>
                <a:off x="7639454" y="1865154"/>
                <a:ext cx="3976182" cy="341203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发生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试验结果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样本点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属于该事件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4DEBFAF-5C59-1F8D-A410-31E6E03915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454" y="1865154"/>
                <a:ext cx="3976182" cy="341203"/>
              </a:xfrm>
              <a:prstGeom prst="rect">
                <a:avLst/>
              </a:prstGeom>
              <a:blipFill>
                <a:blip r:embed="rId5"/>
                <a:stretch>
                  <a:fillRect b="-6780"/>
                </a:stretch>
              </a:blipFill>
              <a:ln w="19050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59F87B8-A569-64AF-52A8-CF8B22E9C0EE}"/>
                  </a:ext>
                </a:extLst>
              </p:cNvPr>
              <p:cNvSpPr/>
              <p:nvPr/>
            </p:nvSpPr>
            <p:spPr>
              <a:xfrm>
                <a:off x="815117" y="2277213"/>
                <a:ext cx="1377162" cy="1377162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959F87B8-A569-64AF-52A8-CF8B22E9C0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17" y="2277213"/>
                <a:ext cx="1377162" cy="137716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23CF256A-4F6E-C9B9-E610-615FBA5C7F13}"/>
                  </a:ext>
                </a:extLst>
              </p:cNvPr>
              <p:cNvSpPr/>
              <p:nvPr/>
            </p:nvSpPr>
            <p:spPr>
              <a:xfrm>
                <a:off x="1359726" y="2615039"/>
                <a:ext cx="709735" cy="709735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23CF256A-4F6E-C9B9-E610-615FBA5C7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726" y="2615039"/>
                <a:ext cx="709735" cy="70973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63DA20-2DE8-673A-76F1-838A2D39C64D}"/>
                  </a:ext>
                </a:extLst>
              </p:cNvPr>
              <p:cNvSpPr txBox="1"/>
              <p:nvPr/>
            </p:nvSpPr>
            <p:spPr>
              <a:xfrm>
                <a:off x="942557" y="3867656"/>
                <a:ext cx="12583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事件的包含</a:t>
                </a:r>
                <a:endParaRPr lang="en-US" altLang="zh-CN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𝐴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63DA20-2DE8-673A-76F1-838A2D39C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57" y="3867656"/>
                <a:ext cx="1258383" cy="584775"/>
              </a:xfrm>
              <a:prstGeom prst="rect">
                <a:avLst/>
              </a:prstGeom>
              <a:blipFill>
                <a:blip r:embed="rId8"/>
                <a:stretch>
                  <a:fillRect l="-485" t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5171693-8630-716D-FF25-766453BDDC65}"/>
              </a:ext>
            </a:extLst>
          </p:cNvPr>
          <p:cNvSpPr txBox="1"/>
          <p:nvPr/>
        </p:nvSpPr>
        <p:spPr>
          <a:xfrm>
            <a:off x="770612" y="4452431"/>
            <a:ext cx="162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样本点能落在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r>
              <a:rPr lang="zh-CN" altLang="en-US" sz="14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必然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能落在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98128FF-D3F8-9C8A-9A9D-EBE314C479D1}"/>
              </a:ext>
            </a:extLst>
          </p:cNvPr>
          <p:cNvGrpSpPr/>
          <p:nvPr/>
        </p:nvGrpSpPr>
        <p:grpSpPr>
          <a:xfrm>
            <a:off x="2821612" y="2277212"/>
            <a:ext cx="1918344" cy="1377162"/>
            <a:chOff x="2952158" y="2343951"/>
            <a:chExt cx="2107934" cy="1513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DFDBA6D-D230-6BFE-B09B-C60CD4C6F057}"/>
                    </a:ext>
                  </a:extLst>
                </p:cNvPr>
                <p:cNvSpPr/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CDFDBA6D-D230-6BFE-B09B-C60CD4C6F0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DAC77321-6445-3947-75FF-E75F55F27978}"/>
                    </a:ext>
                  </a:extLst>
                </p:cNvPr>
                <p:cNvSpPr/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DAC77321-6445-3947-75FF-E75F55F279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C3975C-AFA7-9BB9-662B-62BB7C73B76B}"/>
                  </a:ext>
                </a:extLst>
              </p:cNvPr>
              <p:cNvSpPr txBox="1"/>
              <p:nvPr/>
            </p:nvSpPr>
            <p:spPr>
              <a:xfrm>
                <a:off x="3134256" y="3867655"/>
                <a:ext cx="12583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事件的并</a:t>
                </a:r>
                <a:endParaRPr lang="en-US" altLang="zh-CN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𝐴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C3975C-AFA7-9BB9-662B-62BB7C73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256" y="3867655"/>
                <a:ext cx="1258383" cy="584775"/>
              </a:xfrm>
              <a:prstGeom prst="rect">
                <a:avLst/>
              </a:prstGeom>
              <a:blipFill>
                <a:blip r:embed="rId11"/>
                <a:stretch>
                  <a:fillRect t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8AC7EFD4-2296-2E27-3C64-EDA237BCAF95}"/>
              </a:ext>
            </a:extLst>
          </p:cNvPr>
          <p:cNvSpPr txBox="1"/>
          <p:nvPr/>
        </p:nvSpPr>
        <p:spPr>
          <a:xfrm>
            <a:off x="2682034" y="4452429"/>
            <a:ext cx="216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样本点若落在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则至少落在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的一个内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68C53C4-2CEC-B9AD-32D5-DFDBE6644AFD}"/>
              </a:ext>
            </a:extLst>
          </p:cNvPr>
          <p:cNvGrpSpPr/>
          <p:nvPr/>
        </p:nvGrpSpPr>
        <p:grpSpPr>
          <a:xfrm>
            <a:off x="5146244" y="2283392"/>
            <a:ext cx="1918344" cy="1377162"/>
            <a:chOff x="2952158" y="2343951"/>
            <a:chExt cx="2107934" cy="1513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48E86053-A975-3466-AE2E-71ADD4ABAF9A}"/>
                    </a:ext>
                  </a:extLst>
                </p:cNvPr>
                <p:cNvSpPr/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48E86053-A975-3466-AE2E-71ADD4ABAF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A21D33AA-D631-9E36-A743-9D271F4120B5}"/>
                    </a:ext>
                  </a:extLst>
                </p:cNvPr>
                <p:cNvSpPr/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A21D33AA-D631-9E36-A743-9D271F4120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59B37E-7CD5-324E-7712-616F9DD2DDFC}"/>
                  </a:ext>
                </a:extLst>
              </p:cNvPr>
              <p:cNvSpPr txBox="1"/>
              <p:nvPr/>
            </p:nvSpPr>
            <p:spPr>
              <a:xfrm>
                <a:off x="5154191" y="3867654"/>
                <a:ext cx="18814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事件的交</a:t>
                </a:r>
                <a:endParaRPr lang="en-US" altLang="zh-CN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𝐴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859B37E-7CD5-324E-7712-616F9DD2D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191" y="3867654"/>
                <a:ext cx="1881448" cy="584775"/>
              </a:xfrm>
              <a:prstGeom prst="rect">
                <a:avLst/>
              </a:prstGeom>
              <a:blipFill>
                <a:blip r:embed="rId14"/>
                <a:stretch>
                  <a:fillRect t="-3125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28E08560-952B-2F89-8469-BA837C66103C}"/>
              </a:ext>
            </a:extLst>
          </p:cNvPr>
          <p:cNvSpPr txBox="1"/>
          <p:nvPr/>
        </p:nvSpPr>
        <p:spPr>
          <a:xfrm>
            <a:off x="5014603" y="4452430"/>
            <a:ext cx="216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样本点若落在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则又落在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内又落在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1106ABD-8A9C-AB17-B191-2039F683FA4D}"/>
              </a:ext>
            </a:extLst>
          </p:cNvPr>
          <p:cNvGrpSpPr/>
          <p:nvPr/>
        </p:nvGrpSpPr>
        <p:grpSpPr>
          <a:xfrm>
            <a:off x="7454247" y="2356494"/>
            <a:ext cx="1718553" cy="1247480"/>
            <a:chOff x="7336317" y="2429720"/>
            <a:chExt cx="1718553" cy="1247480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7EB361EC-B9ED-CD09-0BC3-34425DE6B763}"/>
                </a:ext>
              </a:extLst>
            </p:cNvPr>
            <p:cNvGrpSpPr/>
            <p:nvPr/>
          </p:nvGrpSpPr>
          <p:grpSpPr>
            <a:xfrm>
              <a:off x="7336317" y="2429720"/>
              <a:ext cx="1718553" cy="1247480"/>
              <a:chOff x="7354111" y="2399489"/>
              <a:chExt cx="1718553" cy="1247480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4C5C278-1F08-C12F-E348-633C5D495B26}"/>
                  </a:ext>
                </a:extLst>
              </p:cNvPr>
              <p:cNvSpPr/>
              <p:nvPr/>
            </p:nvSpPr>
            <p:spPr>
              <a:xfrm>
                <a:off x="7354111" y="2399489"/>
                <a:ext cx="1718553" cy="12474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89206227-E2FB-4A53-7FAC-785E6D05126D}"/>
                  </a:ext>
                </a:extLst>
              </p:cNvPr>
              <p:cNvSpPr/>
              <p:nvPr/>
            </p:nvSpPr>
            <p:spPr>
              <a:xfrm>
                <a:off x="7858519" y="2652020"/>
                <a:ext cx="709735" cy="709735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F7AAFDE-C745-0092-7074-C2D2DE53DB29}"/>
                    </a:ext>
                  </a:extLst>
                </p:cNvPr>
                <p:cNvSpPr txBox="1"/>
                <p:nvPr/>
              </p:nvSpPr>
              <p:spPr>
                <a:xfrm>
                  <a:off x="8732615" y="3302957"/>
                  <a:ext cx="191573" cy="2520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F7AAFDE-C745-0092-7074-C2D2DE53D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2615" y="3302957"/>
                  <a:ext cx="191573" cy="252085"/>
                </a:xfrm>
                <a:prstGeom prst="rect">
                  <a:avLst/>
                </a:prstGeom>
                <a:blipFill>
                  <a:blip r:embed="rId15"/>
                  <a:stretch>
                    <a:fillRect l="-32258" r="-29032" b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467F0016-769A-9D9E-120E-C3D3084E5795}"/>
                  </a:ext>
                </a:extLst>
              </p:cNvPr>
              <p:cNvSpPr/>
              <p:nvPr/>
            </p:nvSpPr>
            <p:spPr>
              <a:xfrm>
                <a:off x="7935842" y="2611923"/>
                <a:ext cx="709735" cy="709735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467F0016-769A-9D9E-120E-C3D3084E5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842" y="2611923"/>
                <a:ext cx="709735" cy="70973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66E8022-2EFC-9129-0B12-FDDC4EDC4E31}"/>
                  </a:ext>
                </a:extLst>
              </p:cNvPr>
              <p:cNvSpPr txBox="1"/>
              <p:nvPr/>
            </p:nvSpPr>
            <p:spPr>
              <a:xfrm>
                <a:off x="7743603" y="3867654"/>
                <a:ext cx="1258383" cy="6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事件的对立</a:t>
                </a:r>
                <a:endParaRPr lang="en-US" altLang="zh-CN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acc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66E8022-2EFC-9129-0B12-FDDC4EDC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603" y="3867654"/>
                <a:ext cx="1258383" cy="606576"/>
              </a:xfrm>
              <a:prstGeom prst="rect">
                <a:avLst/>
              </a:prstGeom>
              <a:blipFill>
                <a:blip r:embed="rId17"/>
                <a:stretch>
                  <a:fillRect t="-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EC19DA3-75BE-D7C8-3B26-EB19E7F7AC69}"/>
                  </a:ext>
                </a:extLst>
              </p:cNvPr>
              <p:cNvSpPr txBox="1"/>
              <p:nvPr/>
            </p:nvSpPr>
            <p:spPr>
              <a:xfrm>
                <a:off x="7181037" y="4452429"/>
                <a:ext cx="2160624" cy="523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样本点不是落在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acc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就是落在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EC19DA3-75BE-D7C8-3B26-EB19E7F7A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037" y="4452429"/>
                <a:ext cx="2160624" cy="523670"/>
              </a:xfrm>
              <a:prstGeom prst="rect">
                <a:avLst/>
              </a:prstGeom>
              <a:blipFill>
                <a:blip r:embed="rId18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A078CCFF-CA35-78A0-93BA-AE935EB8BA0E}"/>
              </a:ext>
            </a:extLst>
          </p:cNvPr>
          <p:cNvGrpSpPr/>
          <p:nvPr/>
        </p:nvGrpSpPr>
        <p:grpSpPr>
          <a:xfrm>
            <a:off x="9664763" y="2283390"/>
            <a:ext cx="1929701" cy="1432970"/>
            <a:chOff x="3858106" y="2421128"/>
            <a:chExt cx="2120413" cy="1574591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2ADE1240-9E54-6D51-13EE-600FB40C6840}"/>
                </a:ext>
              </a:extLst>
            </p:cNvPr>
            <p:cNvGrpSpPr/>
            <p:nvPr/>
          </p:nvGrpSpPr>
          <p:grpSpPr>
            <a:xfrm>
              <a:off x="3858106" y="2421128"/>
              <a:ext cx="2120413" cy="1513267"/>
              <a:chOff x="2964637" y="2343950"/>
              <a:chExt cx="2120413" cy="1513267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C21C0A60-1269-8510-2592-96D4F8C2D6E3}"/>
                  </a:ext>
                </a:extLst>
              </p:cNvPr>
              <p:cNvSpPr/>
              <p:nvPr/>
            </p:nvSpPr>
            <p:spPr>
              <a:xfrm>
                <a:off x="4305172" y="2710645"/>
                <a:ext cx="779878" cy="77987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8B115433-D9DC-4FC1-50DE-326CB6239D72}"/>
                  </a:ext>
                </a:extLst>
              </p:cNvPr>
              <p:cNvSpPr/>
              <p:nvPr/>
            </p:nvSpPr>
            <p:spPr>
              <a:xfrm>
                <a:off x="2964637" y="2343950"/>
                <a:ext cx="1513267" cy="1513267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30FA31B-F0C4-D6DE-533B-4DE92D7AD5BC}"/>
                    </a:ext>
                  </a:extLst>
                </p:cNvPr>
                <p:cNvSpPr txBox="1"/>
                <p:nvPr/>
              </p:nvSpPr>
              <p:spPr>
                <a:xfrm>
                  <a:off x="5649826" y="3718720"/>
                  <a:ext cx="210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30FA31B-F0C4-D6DE-533B-4DE92D7AD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826" y="3718720"/>
                  <a:ext cx="210506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2258" r="-29032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8EBFCDD8-8B6C-4CA6-BFCA-3174783856B1}"/>
              </a:ext>
            </a:extLst>
          </p:cNvPr>
          <p:cNvGrpSpPr/>
          <p:nvPr/>
        </p:nvGrpSpPr>
        <p:grpSpPr>
          <a:xfrm>
            <a:off x="9648134" y="2283393"/>
            <a:ext cx="1918344" cy="1377162"/>
            <a:chOff x="2952158" y="2343951"/>
            <a:chExt cx="2107934" cy="1513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182F2B32-0FAD-A86D-9BC9-8E0A9EA563B8}"/>
                    </a:ext>
                  </a:extLst>
                </p:cNvPr>
                <p:cNvSpPr/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182F2B32-0FAD-A86D-9BC9-8E0A9EA563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158" y="2343951"/>
                  <a:ext cx="1513267" cy="1513267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3C207C3D-7B4B-F84E-CD75-D962C865396E}"/>
                    </a:ext>
                  </a:extLst>
                </p:cNvPr>
                <p:cNvSpPr/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3C207C3D-7B4B-F84E-CD75-D962C86539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0214" y="2710645"/>
                  <a:ext cx="779878" cy="779878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FCA00201-3F6E-6437-3ADB-8E6504CE31CD}"/>
                  </a:ext>
                </a:extLst>
              </p:cNvPr>
              <p:cNvSpPr txBox="1"/>
              <p:nvPr/>
            </p:nvSpPr>
            <p:spPr>
              <a:xfrm>
                <a:off x="9727729" y="3873836"/>
                <a:ext cx="1724478" cy="6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事件的差</a:t>
                </a:r>
                <a:endParaRPr lang="en-US" altLang="zh-CN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𝐴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</m:ctrlPr>
                        </m:acc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16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FCA00201-3F6E-6437-3ADB-8E6504CE3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729" y="3873836"/>
                <a:ext cx="1724478" cy="606576"/>
              </a:xfrm>
              <a:prstGeom prst="rect">
                <a:avLst/>
              </a:prstGeom>
              <a:blipFill>
                <a:blip r:embed="rId22"/>
                <a:stretch>
                  <a:fillRect t="-3000" r="-8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本框 100">
            <a:extLst>
              <a:ext uri="{FF2B5EF4-FFF2-40B4-BE49-F238E27FC236}">
                <a16:creationId xmlns:a16="http://schemas.microsoft.com/office/drawing/2014/main" id="{F6273AE3-082E-410F-59DD-0A3855891E15}"/>
              </a:ext>
            </a:extLst>
          </p:cNvPr>
          <p:cNvSpPr txBox="1"/>
          <p:nvPr/>
        </p:nvSpPr>
        <p:spPr>
          <a:xfrm>
            <a:off x="9426209" y="4458610"/>
            <a:ext cx="2327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样本点若落在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则落在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内但同时不能在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内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350B455F-7DA8-079A-DF6B-A0DA4C517525}"/>
              </a:ext>
            </a:extLst>
          </p:cNvPr>
          <p:cNvGrpSpPr/>
          <p:nvPr/>
        </p:nvGrpSpPr>
        <p:grpSpPr>
          <a:xfrm>
            <a:off x="768762" y="5086598"/>
            <a:ext cx="5840504" cy="927390"/>
            <a:chOff x="3224510" y="5073166"/>
            <a:chExt cx="5840504" cy="927390"/>
          </a:xfrm>
        </p:grpSpPr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C48174EB-B587-761F-B063-6BE42E414B96}"/>
                </a:ext>
              </a:extLst>
            </p:cNvPr>
            <p:cNvGrpSpPr/>
            <p:nvPr/>
          </p:nvGrpSpPr>
          <p:grpSpPr>
            <a:xfrm>
              <a:off x="3500051" y="5179477"/>
              <a:ext cx="5564963" cy="746934"/>
              <a:chOff x="4301629" y="5199205"/>
              <a:chExt cx="5564963" cy="746934"/>
            </a:xfrm>
          </p:grpSpPr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2F3DB566-7D3E-E1B1-66F1-A3BB245A58BA}"/>
                  </a:ext>
                </a:extLst>
              </p:cNvPr>
              <p:cNvGrpSpPr/>
              <p:nvPr/>
            </p:nvGrpSpPr>
            <p:grpSpPr>
              <a:xfrm>
                <a:off x="4301629" y="5199205"/>
                <a:ext cx="1236722" cy="688939"/>
                <a:chOff x="2535835" y="2343951"/>
                <a:chExt cx="2134248" cy="118892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椭圆 56">
                      <a:extLst>
                        <a:ext uri="{FF2B5EF4-FFF2-40B4-BE49-F238E27FC236}">
                          <a16:creationId xmlns:a16="http://schemas.microsoft.com/office/drawing/2014/main" id="{228FBB8F-A54A-94A4-2633-CC4D9E93C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5835" y="2343951"/>
                      <a:ext cx="1188923" cy="1188923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zh-CN" alt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椭圆 56">
                      <a:extLst>
                        <a:ext uri="{FF2B5EF4-FFF2-40B4-BE49-F238E27FC236}">
                          <a16:creationId xmlns:a16="http://schemas.microsoft.com/office/drawing/2014/main" id="{228FBB8F-A54A-94A4-2633-CC4D9E93CD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35835" y="2343951"/>
                      <a:ext cx="1188923" cy="1188923"/>
                    </a:xfrm>
                    <a:prstGeom prst="ellipse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 w="28575"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椭圆 57">
                      <a:extLst>
                        <a:ext uri="{FF2B5EF4-FFF2-40B4-BE49-F238E27FC236}">
                          <a16:creationId xmlns:a16="http://schemas.microsoft.com/office/drawing/2014/main" id="{E82D3047-3135-8BBA-F38C-653CDDE82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76061" y="2563688"/>
                      <a:ext cx="794022" cy="79402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" name="椭圆 57">
                      <a:extLst>
                        <a:ext uri="{FF2B5EF4-FFF2-40B4-BE49-F238E27FC236}">
                          <a16:creationId xmlns:a16="http://schemas.microsoft.com/office/drawing/2014/main" id="{E82D3047-3135-8BBA-F38C-653CDDE82B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76061" y="2563688"/>
                      <a:ext cx="794022" cy="794022"/>
                    </a:xfrm>
                    <a:prstGeom prst="ellipse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  <a:ln w="28575">
                      <a:solidFill>
                        <a:srgbClr val="C0000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C0E7D98E-66CB-422F-744B-9E7322BC46CE}"/>
                      </a:ext>
                    </a:extLst>
                  </p:cNvPr>
                  <p:cNvSpPr txBox="1"/>
                  <p:nvPr/>
                </p:nvSpPr>
                <p:spPr>
                  <a:xfrm>
                    <a:off x="5556639" y="5290204"/>
                    <a:ext cx="230409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汉仪润圆-65简" panose="00020600040101010101" pitchFamily="18" charset="-122"/>
                        <a:ea typeface="汉仪润圆-65简" panose="00020600040101010101" pitchFamily="18" charset="-122"/>
                      </a:rPr>
                      <a:t>互不相容（互斥）事件</a:t>
                    </a:r>
                    <a:endParaRPr lang="en-US" altLang="zh-CN" sz="1600" b="0" i="1" dirty="0">
                      <a:latin typeface="Cambria Math" panose="02040503050406030204" pitchFamily="18" charset="0"/>
                      <a:ea typeface="汉仪润圆-65简" panose="00020600040101010101" pitchFamily="18" charset="-122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</a:rPr>
                            <m:t>𝐴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=∅</m:t>
                          </m:r>
                        </m:oMath>
                      </m:oMathPara>
                    </a14:m>
                    <a:endPara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endParaRPr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C0E7D98E-66CB-422F-744B-9E7322BC46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6639" y="5290204"/>
                    <a:ext cx="2304094" cy="584775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312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F5D5A6BD-FCB9-917F-C860-87BB2BC6132F}"/>
                      </a:ext>
                    </a:extLst>
                  </p:cNvPr>
                  <p:cNvSpPr txBox="1"/>
                  <p:nvPr/>
                </p:nvSpPr>
                <p:spPr>
                  <a:xfrm>
                    <a:off x="7510722" y="5207475"/>
                    <a:ext cx="2355870" cy="738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样本点若落在</a:t>
                    </a:r>
                    <a:r>
                      <a:rPr lang="en-US" altLang="zh-CN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A</a:t>
                    </a:r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内</a:t>
                    </a:r>
                    <a:endPara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则必不可能落在</a:t>
                    </a:r>
                    <a:r>
                      <a:rPr lang="en-US" altLang="zh-CN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B</a:t>
                    </a:r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内</a:t>
                    </a:r>
                    <a:endPara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（此时可写</a:t>
                    </a:r>
                    <a14:m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为</a:t>
                    </a:r>
                    <a14:m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oMath>
                    </a14:m>
                    <a:r>
                      <a:rPr lang="zh-CN" altLang="en-US" sz="14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）</a:t>
                    </a:r>
                    <a:endParaRPr lang="en-US" altLang="zh-CN" sz="14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F5D5A6BD-FCB9-917F-C860-87BB2BC613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0722" y="5207475"/>
                    <a:ext cx="2355870" cy="73866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1653" b="-743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269FC4C0-8814-F448-E87D-B6B06764B462}"/>
                </a:ext>
              </a:extLst>
            </p:cNvPr>
            <p:cNvSpPr/>
            <p:nvPr/>
          </p:nvSpPr>
          <p:spPr>
            <a:xfrm>
              <a:off x="3224510" y="5073166"/>
              <a:ext cx="5746032" cy="927390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BD0808A-15E3-0579-0019-FE0A955E7052}"/>
              </a:ext>
            </a:extLst>
          </p:cNvPr>
          <p:cNvGrpSpPr/>
          <p:nvPr/>
        </p:nvGrpSpPr>
        <p:grpSpPr>
          <a:xfrm>
            <a:off x="6686907" y="5070035"/>
            <a:ext cx="1781970" cy="930637"/>
            <a:chOff x="6686907" y="5136775"/>
            <a:chExt cx="1781970" cy="930637"/>
          </a:xfrm>
        </p:grpSpPr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8DB22E81-376E-71B0-BF5F-D1518FAA16D3}"/>
                </a:ext>
              </a:extLst>
            </p:cNvPr>
            <p:cNvSpPr/>
            <p:nvPr/>
          </p:nvSpPr>
          <p:spPr>
            <a:xfrm>
              <a:off x="6741459" y="5136776"/>
              <a:ext cx="1555376" cy="508996"/>
            </a:xfrm>
            <a:custGeom>
              <a:avLst/>
              <a:gdLst>
                <a:gd name="connsiteX0" fmla="*/ 1555376 w 1555376"/>
                <a:gd name="connsiteY0" fmla="*/ 0 h 508996"/>
                <a:gd name="connsiteX1" fmla="*/ 1214717 w 1555376"/>
                <a:gd name="connsiteY1" fmla="*/ 439271 h 508996"/>
                <a:gd name="connsiteX2" fmla="*/ 0 w 1555376"/>
                <a:gd name="connsiteY2" fmla="*/ 502024 h 508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376" h="508996">
                  <a:moveTo>
                    <a:pt x="1555376" y="0"/>
                  </a:moveTo>
                  <a:cubicBezTo>
                    <a:pt x="1514661" y="177800"/>
                    <a:pt x="1473946" y="355600"/>
                    <a:pt x="1214717" y="439271"/>
                  </a:cubicBezTo>
                  <a:cubicBezTo>
                    <a:pt x="955488" y="522942"/>
                    <a:pt x="477744" y="512483"/>
                    <a:pt x="0" y="502024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81FBB8A7-5C95-5291-EE2A-3FB5A077816E}"/>
                </a:ext>
              </a:extLst>
            </p:cNvPr>
            <p:cNvSpPr/>
            <p:nvPr/>
          </p:nvSpPr>
          <p:spPr>
            <a:xfrm>
              <a:off x="6741460" y="5136775"/>
              <a:ext cx="1653988" cy="617531"/>
            </a:xfrm>
            <a:custGeom>
              <a:avLst/>
              <a:gdLst>
                <a:gd name="connsiteX0" fmla="*/ 1555376 w 1555376"/>
                <a:gd name="connsiteY0" fmla="*/ 0 h 508996"/>
                <a:gd name="connsiteX1" fmla="*/ 1214717 w 1555376"/>
                <a:gd name="connsiteY1" fmla="*/ 439271 h 508996"/>
                <a:gd name="connsiteX2" fmla="*/ 0 w 1555376"/>
                <a:gd name="connsiteY2" fmla="*/ 502024 h 508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376" h="508996">
                  <a:moveTo>
                    <a:pt x="1555376" y="0"/>
                  </a:moveTo>
                  <a:cubicBezTo>
                    <a:pt x="1514661" y="177800"/>
                    <a:pt x="1473946" y="355600"/>
                    <a:pt x="1214717" y="439271"/>
                  </a:cubicBezTo>
                  <a:cubicBezTo>
                    <a:pt x="955488" y="522942"/>
                    <a:pt x="477744" y="512483"/>
                    <a:pt x="0" y="502024"/>
                  </a:cubicBez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CB0FE7E2-CE95-6F11-4BFC-0AB8D1AE5337}"/>
                </a:ext>
              </a:extLst>
            </p:cNvPr>
            <p:cNvSpPr txBox="1"/>
            <p:nvPr/>
          </p:nvSpPr>
          <p:spPr>
            <a:xfrm>
              <a:off x="6686907" y="5278925"/>
              <a:ext cx="1603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对立 一定 互斥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9505B966-526B-04B3-78CE-4CC79DD15C23}"/>
                </a:ext>
              </a:extLst>
            </p:cNvPr>
            <p:cNvSpPr txBox="1"/>
            <p:nvPr/>
          </p:nvSpPr>
          <p:spPr>
            <a:xfrm>
              <a:off x="6686907" y="5759635"/>
              <a:ext cx="17819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互斥 不一定 对立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8967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5" grpId="0" animBg="1"/>
      <p:bldP spid="6" grpId="0" animBg="1"/>
      <p:bldP spid="7" grpId="0"/>
      <p:bldP spid="10" grpId="0"/>
      <p:bldP spid="17" grpId="0"/>
      <p:bldP spid="40" grpId="0"/>
      <p:bldP spid="50" grpId="0"/>
      <p:bldP spid="55" grpId="0"/>
      <p:bldP spid="69" grpId="0" animBg="1"/>
      <p:bldP spid="80" grpId="0"/>
      <p:bldP spid="81" grpId="0"/>
      <p:bldP spid="100" grpId="0"/>
      <p:bldP spid="10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215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随机事件的运算关系 有 如下的运算律：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2661797" y="775742"/>
            <a:ext cx="2398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随机事件的关系与运算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20A5D47-C5E5-40A8-4617-9CAA97070F50}"/>
              </a:ext>
            </a:extLst>
          </p:cNvPr>
          <p:cNvGrpSpPr/>
          <p:nvPr/>
        </p:nvGrpSpPr>
        <p:grpSpPr>
          <a:xfrm>
            <a:off x="576364" y="1948075"/>
            <a:ext cx="11039272" cy="1114149"/>
            <a:chOff x="576364" y="1941871"/>
            <a:chExt cx="11039272" cy="1114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E827ADF-9398-6137-B2F9-59DA9315F06F}"/>
                    </a:ext>
                  </a:extLst>
                </p:cNvPr>
                <p:cNvSpPr txBox="1"/>
                <p:nvPr/>
              </p:nvSpPr>
              <p:spPr>
                <a:xfrm>
                  <a:off x="794554" y="2044974"/>
                  <a:ext cx="1580148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交换律</a:t>
                  </a:r>
                  <a:endParaRPr lang="en-US" altLang="zh-CN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zh-CN" sz="16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𝐵𝐴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E827ADF-9398-6137-B2F9-59DA9315F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554" y="2044974"/>
                  <a:ext cx="1580148" cy="907941"/>
                </a:xfrm>
                <a:prstGeom prst="rect">
                  <a:avLst/>
                </a:prstGeom>
                <a:blipFill>
                  <a:blip r:embed="rId3"/>
                  <a:stretch>
                    <a:fillRect t="-20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9EE2D20-67E3-7AA6-2058-8F67CC1FF35D}"/>
                    </a:ext>
                  </a:extLst>
                </p:cNvPr>
                <p:cNvSpPr txBox="1"/>
                <p:nvPr/>
              </p:nvSpPr>
              <p:spPr>
                <a:xfrm>
                  <a:off x="3197413" y="2042699"/>
                  <a:ext cx="2531837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结合律</a:t>
                  </a:r>
                  <a:endParaRPr lang="en-US" altLang="zh-CN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zh-CN" sz="16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9EE2D20-67E3-7AA6-2058-8F67CC1FF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7413" y="2042699"/>
                  <a:ext cx="2531837" cy="907941"/>
                </a:xfrm>
                <a:prstGeom prst="rect">
                  <a:avLst/>
                </a:prstGeom>
                <a:blipFill>
                  <a:blip r:embed="rId4"/>
                  <a:stretch>
                    <a:fillRect t="-2013" b="-33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A00072-7E39-7B93-379C-8D1BA5764CAF}"/>
                    </a:ext>
                  </a:extLst>
                </p:cNvPr>
                <p:cNvSpPr txBox="1"/>
                <p:nvPr/>
              </p:nvSpPr>
              <p:spPr>
                <a:xfrm>
                  <a:off x="6688398" y="2042699"/>
                  <a:ext cx="2118753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分配律</a:t>
                  </a:r>
                  <a:endParaRPr lang="en-US" altLang="zh-CN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𝐴𝐶</m:t>
                        </m:r>
                      </m:oMath>
                    </m:oMathPara>
                  </a14:m>
                  <a:endParaRPr lang="en-US" altLang="zh-CN" sz="16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𝐴𝐶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A00072-7E39-7B93-379C-8D1BA5764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8398" y="2042699"/>
                  <a:ext cx="2118753" cy="907941"/>
                </a:xfrm>
                <a:prstGeom prst="rect">
                  <a:avLst/>
                </a:prstGeom>
                <a:blipFill>
                  <a:blip r:embed="rId5"/>
                  <a:stretch>
                    <a:fillRect t="-20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DC0AD5E-C7AA-AD31-85C5-10E28C78F8DD}"/>
                    </a:ext>
                  </a:extLst>
                </p:cNvPr>
                <p:cNvSpPr txBox="1"/>
                <p:nvPr/>
              </p:nvSpPr>
              <p:spPr>
                <a:xfrm>
                  <a:off x="9847031" y="2042699"/>
                  <a:ext cx="1498786" cy="929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对偶律</a:t>
                  </a:r>
                  <a:endParaRPr lang="en-US" altLang="zh-CN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altLang="zh-CN" sz="16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DC0AD5E-C7AA-AD31-85C5-10E28C78F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031" y="2042699"/>
                  <a:ext cx="1498786" cy="929742"/>
                </a:xfrm>
                <a:prstGeom prst="rect">
                  <a:avLst/>
                </a:prstGeom>
                <a:blipFill>
                  <a:blip r:embed="rId6"/>
                  <a:stretch>
                    <a:fillRect t="-1961" r="-93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2D8B3E4-3349-6457-4423-D02EBA94ADE2}"/>
                </a:ext>
              </a:extLst>
            </p:cNvPr>
            <p:cNvSpPr/>
            <p:nvPr/>
          </p:nvSpPr>
          <p:spPr>
            <a:xfrm>
              <a:off x="576364" y="1941871"/>
              <a:ext cx="11039272" cy="1114149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6289788-4C5B-A89D-163D-38A723B3FE0E}"/>
              </a:ext>
            </a:extLst>
          </p:cNvPr>
          <p:cNvSpPr txBox="1"/>
          <p:nvPr/>
        </p:nvSpPr>
        <p:spPr>
          <a:xfrm>
            <a:off x="507460" y="3341893"/>
            <a:ext cx="11108176" cy="1103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介绍 随机事件的运算关系与运算律，主要目的 并非是为了探究事件之间具体有什么联系，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而是将 复杂事件 表述成 简单事件的运算，通过计算 简单事件的概率 来计算 复杂事件的概率。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概率可以用频率来定义（概率的统计定义），也可以用严谨的数学语言表述（概率的公理化定义），这里均不给出，大家知晓即可。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FE6326A-3057-B550-315A-46023CD72EB9}"/>
              </a:ext>
            </a:extLst>
          </p:cNvPr>
          <p:cNvGrpSpPr/>
          <p:nvPr/>
        </p:nvGrpSpPr>
        <p:grpSpPr>
          <a:xfrm>
            <a:off x="576364" y="4541840"/>
            <a:ext cx="9416141" cy="949496"/>
            <a:chOff x="576364" y="4607789"/>
            <a:chExt cx="9416141" cy="94949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E3F27EB-B511-ED89-BB58-B23132C37D9C}"/>
                </a:ext>
              </a:extLst>
            </p:cNvPr>
            <p:cNvSpPr/>
            <p:nvPr/>
          </p:nvSpPr>
          <p:spPr>
            <a:xfrm>
              <a:off x="576364" y="4607789"/>
              <a:ext cx="9416141" cy="949496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286D8DE-1FD6-F5FD-01D2-FC83F17D988D}"/>
                    </a:ext>
                  </a:extLst>
                </p:cNvPr>
                <p:cNvSpPr txBox="1"/>
                <p:nvPr/>
              </p:nvSpPr>
              <p:spPr>
                <a:xfrm>
                  <a:off x="680636" y="4731466"/>
                  <a:ext cx="31607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互斥，则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286D8DE-1FD6-F5FD-01D2-FC83F17D9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36" y="4731466"/>
                  <a:ext cx="3160758" cy="338554"/>
                </a:xfrm>
                <a:prstGeom prst="rect">
                  <a:avLst/>
                </a:prstGeom>
                <a:blipFill>
                  <a:blip r:embed="rId7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535448D-302A-9E76-DF63-67CAB24CB572}"/>
                    </a:ext>
                  </a:extLst>
                </p:cNvPr>
                <p:cNvSpPr txBox="1"/>
                <p:nvPr/>
              </p:nvSpPr>
              <p:spPr>
                <a:xfrm>
                  <a:off x="680636" y="5094260"/>
                  <a:ext cx="42234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互斥，则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535448D-302A-9E76-DF63-67CAB24CB5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36" y="5094260"/>
                  <a:ext cx="4223467" cy="338554"/>
                </a:xfrm>
                <a:prstGeom prst="rect">
                  <a:avLst/>
                </a:prstGeom>
                <a:blipFill>
                  <a:blip r:embed="rId8"/>
                  <a:stretch>
                    <a:fillRect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ACA5272-E232-02BB-9BF8-0E22638E3C00}"/>
                    </a:ext>
                  </a:extLst>
                </p:cNvPr>
                <p:cNvSpPr txBox="1"/>
                <p:nvPr/>
              </p:nvSpPr>
              <p:spPr>
                <a:xfrm>
                  <a:off x="5008375" y="4743586"/>
                  <a:ext cx="4984130" cy="3506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概率加法公式：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ACA5272-E232-02BB-9BF8-0E22638E3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8375" y="4743586"/>
                  <a:ext cx="4984130" cy="350674"/>
                </a:xfrm>
                <a:prstGeom prst="rect">
                  <a:avLst/>
                </a:prstGeom>
                <a:blipFill>
                  <a:blip r:embed="rId9"/>
                  <a:stretch>
                    <a:fillRect t="-6897" b="-155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8B12C11A-0161-C31F-0366-CDB16AC92F66}"/>
                    </a:ext>
                  </a:extLst>
                </p:cNvPr>
                <p:cNvSpPr txBox="1"/>
                <p:nvPr/>
              </p:nvSpPr>
              <p:spPr>
                <a:xfrm>
                  <a:off x="5008375" y="5094260"/>
                  <a:ext cx="498413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⊃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8B12C11A-0161-C31F-0366-CDB16AC92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8375" y="5094260"/>
                  <a:ext cx="4984130" cy="338554"/>
                </a:xfrm>
                <a:prstGeom prst="rect">
                  <a:avLst/>
                </a:prstGeom>
                <a:blipFill>
                  <a:blip r:embed="rId10"/>
                  <a:stretch>
                    <a:fillRect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B7A5875-03BB-E979-8CF7-88BD88726DF5}"/>
                </a:ext>
              </a:extLst>
            </p:cNvPr>
            <p:cNvCxnSpPr/>
            <p:nvPr/>
          </p:nvCxnSpPr>
          <p:spPr>
            <a:xfrm>
              <a:off x="4852385" y="4743586"/>
              <a:ext cx="0" cy="689228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C03B6B98-E369-AB70-B96B-0D3946970435}"/>
              </a:ext>
            </a:extLst>
          </p:cNvPr>
          <p:cNvSpPr txBox="1"/>
          <p:nvPr/>
        </p:nvSpPr>
        <p:spPr>
          <a:xfrm>
            <a:off x="10148494" y="4520479"/>
            <a:ext cx="1584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完全可以用频率模型求概率，即使是抽象事件的概率。但要注意，样本空间必须全程保持一致。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64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E405BB3-C368-55F1-D6D1-6C400BD6ECD3}"/>
              </a:ext>
            </a:extLst>
          </p:cNvPr>
          <p:cNvGrpSpPr/>
          <p:nvPr/>
        </p:nvGrpSpPr>
        <p:grpSpPr>
          <a:xfrm>
            <a:off x="7964435" y="2767887"/>
            <a:ext cx="2880000" cy="473596"/>
            <a:chOff x="7946728" y="1394711"/>
            <a:chExt cx="2880000" cy="473596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FFBB608-0382-7DCD-94DC-F0C122ADDA7A}"/>
                </a:ext>
              </a:extLst>
            </p:cNvPr>
            <p:cNvSpPr/>
            <p:nvPr/>
          </p:nvSpPr>
          <p:spPr>
            <a:xfrm>
              <a:off x="7946728" y="1537107"/>
              <a:ext cx="2880000" cy="331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986CDAE-3610-BB55-DF15-6F5870A5C3E3}"/>
                    </a:ext>
                  </a:extLst>
                </p:cNvPr>
                <p:cNvSpPr txBox="1"/>
                <p:nvPr/>
              </p:nvSpPr>
              <p:spPr>
                <a:xfrm>
                  <a:off x="8100541" y="1394711"/>
                  <a:ext cx="8165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986CDAE-3610-BB55-DF15-6F5870A5C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541" y="1394711"/>
                  <a:ext cx="81657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970" r="-597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3553A9A-1351-AFB2-D66F-153D0A4DC295}"/>
              </a:ext>
            </a:extLst>
          </p:cNvPr>
          <p:cNvGrpSpPr/>
          <p:nvPr/>
        </p:nvGrpSpPr>
        <p:grpSpPr>
          <a:xfrm>
            <a:off x="9145528" y="1597659"/>
            <a:ext cx="2397600" cy="473786"/>
            <a:chOff x="8993128" y="1435075"/>
            <a:chExt cx="2397600" cy="47378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3B5D25E-8D78-ADD4-EC8D-C792599AAEB9}"/>
                </a:ext>
              </a:extLst>
            </p:cNvPr>
            <p:cNvSpPr/>
            <p:nvPr/>
          </p:nvSpPr>
          <p:spPr>
            <a:xfrm>
              <a:off x="8993128" y="1577851"/>
              <a:ext cx="2397600" cy="3310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43628C0-F8DF-A748-FA96-4D9A85FA66CF}"/>
                    </a:ext>
                  </a:extLst>
                </p:cNvPr>
                <p:cNvSpPr txBox="1"/>
                <p:nvPr/>
              </p:nvSpPr>
              <p:spPr>
                <a:xfrm>
                  <a:off x="9670120" y="1435075"/>
                  <a:ext cx="8822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=2/3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43628C0-F8DF-A748-FA96-4D9A85FA6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0120" y="1435075"/>
                  <a:ext cx="88229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828" t="-4348" r="-6207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58B557-808C-5A7A-DDCD-BE631DBFD0F5}"/>
              </a:ext>
            </a:extLst>
          </p:cNvPr>
          <p:cNvGrpSpPr/>
          <p:nvPr/>
        </p:nvGrpSpPr>
        <p:grpSpPr>
          <a:xfrm>
            <a:off x="9746728" y="1815478"/>
            <a:ext cx="1800000" cy="276999"/>
            <a:chOff x="7946728" y="1811658"/>
            <a:chExt cx="1800000" cy="27699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45F9F0B-A58B-3A2E-C3AD-1B6827DEAE61}"/>
                </a:ext>
              </a:extLst>
            </p:cNvPr>
            <p:cNvSpPr/>
            <p:nvPr/>
          </p:nvSpPr>
          <p:spPr>
            <a:xfrm>
              <a:off x="7946728" y="1881261"/>
              <a:ext cx="1800000" cy="18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1458A4-E214-9392-4B86-800C6818BE8F}"/>
                    </a:ext>
                  </a:extLst>
                </p:cNvPr>
                <p:cNvSpPr txBox="1"/>
                <p:nvPr/>
              </p:nvSpPr>
              <p:spPr>
                <a:xfrm>
                  <a:off x="8405908" y="1811658"/>
                  <a:ext cx="8926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81458A4-E214-9392-4B86-800C6818B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5908" y="1811658"/>
                  <a:ext cx="89268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762" t="-2222" r="-5442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466361D-5E09-D470-1C24-E1668EDB7D63}"/>
              </a:ext>
            </a:extLst>
          </p:cNvPr>
          <p:cNvGrpSpPr/>
          <p:nvPr/>
        </p:nvGrpSpPr>
        <p:grpSpPr>
          <a:xfrm>
            <a:off x="7946728" y="1599906"/>
            <a:ext cx="1198800" cy="471539"/>
            <a:chOff x="7946728" y="1589722"/>
            <a:chExt cx="1198800" cy="47153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3AE30C2-D209-4A2E-5C3C-26BCB7A11D37}"/>
                </a:ext>
              </a:extLst>
            </p:cNvPr>
            <p:cNvSpPr/>
            <p:nvPr/>
          </p:nvSpPr>
          <p:spPr>
            <a:xfrm>
              <a:off x="7946728" y="1730251"/>
              <a:ext cx="1198800" cy="33101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81DB02A-79DC-465F-AA0E-7AABB9A2500C}"/>
                    </a:ext>
                  </a:extLst>
                </p:cNvPr>
                <p:cNvSpPr txBox="1"/>
                <p:nvPr/>
              </p:nvSpPr>
              <p:spPr>
                <a:xfrm>
                  <a:off x="8122689" y="1589722"/>
                  <a:ext cx="8822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=1/3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81DB02A-79DC-465F-AA0E-7AABB9A25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2689" y="1589722"/>
                  <a:ext cx="88229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828" t="-2174" r="-6207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7136548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=1/2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互斥，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=________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7136548" cy="339132"/>
              </a:xfrm>
              <a:prstGeom prst="rect">
                <a:avLst/>
              </a:prstGeom>
              <a:blipFill>
                <a:blip r:embed="rId7"/>
                <a:stretch>
                  <a:fillRect l="-427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796484"/>
                <a:ext cx="63211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解：如图，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=1/2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796484"/>
                <a:ext cx="6321129" cy="338554"/>
              </a:xfrm>
              <a:prstGeom prst="rect">
                <a:avLst/>
              </a:prstGeom>
              <a:blipFill>
                <a:blip r:embed="rId8"/>
                <a:stretch>
                  <a:fillRect l="-482" t="-909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90540" y="2303492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2531748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=________.</m:t>
                    </m:r>
                  </m:oMath>
                </a14:m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531748"/>
                <a:ext cx="11108176" cy="339132"/>
              </a:xfrm>
              <a:prstGeom prst="rect">
                <a:avLst/>
              </a:prstGeom>
              <a:blipFill>
                <a:blip r:embed="rId9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59" y="2860318"/>
                <a:ext cx="7259079" cy="707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解：由对偶律，</a:t>
                </a:r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因为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=0.5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860318"/>
                <a:ext cx="7259079" cy="707053"/>
              </a:xfrm>
              <a:prstGeom prst="rect">
                <a:avLst/>
              </a:prstGeom>
              <a:blipFill>
                <a:blip r:embed="rId10"/>
                <a:stretch>
                  <a:fillRect l="-420" b="-9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5105636-5DE9-1D3C-889F-DED8A2D70EB6}"/>
              </a:ext>
            </a:extLst>
          </p:cNvPr>
          <p:cNvSpPr txBox="1"/>
          <p:nvPr/>
        </p:nvSpPr>
        <p:spPr>
          <a:xfrm>
            <a:off x="507460" y="496110"/>
            <a:ext cx="2154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3576AD-018E-9539-115C-EDDE99AB089C}"/>
              </a:ext>
            </a:extLst>
          </p:cNvPr>
          <p:cNvSpPr txBox="1"/>
          <p:nvPr/>
        </p:nvSpPr>
        <p:spPr>
          <a:xfrm>
            <a:off x="2661797" y="775741"/>
            <a:ext cx="2154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随机事件的概率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9FD9FF6-ED7C-1E5B-7B81-38C9C0DF2A9C}"/>
              </a:ext>
            </a:extLst>
          </p:cNvPr>
          <p:cNvGrpSpPr/>
          <p:nvPr/>
        </p:nvGrpSpPr>
        <p:grpSpPr>
          <a:xfrm>
            <a:off x="7946728" y="1353263"/>
            <a:ext cx="3668908" cy="722241"/>
            <a:chOff x="7946728" y="1629964"/>
            <a:chExt cx="3668908" cy="722241"/>
          </a:xfrm>
        </p:grpSpPr>
        <p:sp>
          <p:nvSpPr>
            <p:cNvPr id="6" name="右中括号 5">
              <a:extLst>
                <a:ext uri="{FF2B5EF4-FFF2-40B4-BE49-F238E27FC236}">
                  <a16:creationId xmlns:a16="http://schemas.microsoft.com/office/drawing/2014/main" id="{53CE4740-2858-3274-EB05-682B5EFEA2D4}"/>
                </a:ext>
              </a:extLst>
            </p:cNvPr>
            <p:cNvSpPr/>
            <p:nvPr/>
          </p:nvSpPr>
          <p:spPr>
            <a:xfrm rot="5400000">
              <a:off x="9581223" y="386700"/>
              <a:ext cx="331010" cy="3600000"/>
            </a:xfrm>
            <a:prstGeom prst="rightBracket">
              <a:avLst>
                <a:gd name="adj" fmla="val 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883ADF-ED01-B202-3CA7-14254E0539D8}"/>
                    </a:ext>
                  </a:extLst>
                </p:cNvPr>
                <p:cNvSpPr txBox="1"/>
                <p:nvPr/>
              </p:nvSpPr>
              <p:spPr>
                <a:xfrm>
                  <a:off x="11038362" y="1629964"/>
                  <a:ext cx="5772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883ADF-ED01-B202-3CA7-14254E053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8362" y="1629964"/>
                  <a:ext cx="57727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7447" r="-6383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AE3AA8A-8F0F-39BE-7927-D5B7D36F5044}"/>
              </a:ext>
            </a:extLst>
          </p:cNvPr>
          <p:cNvGrpSpPr/>
          <p:nvPr/>
        </p:nvGrpSpPr>
        <p:grpSpPr>
          <a:xfrm>
            <a:off x="9044435" y="2887685"/>
            <a:ext cx="1800000" cy="322219"/>
            <a:chOff x="9590728" y="1601453"/>
            <a:chExt cx="1800000" cy="322219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92A352E-6639-AF85-EF62-E3E154F9D63F}"/>
                </a:ext>
              </a:extLst>
            </p:cNvPr>
            <p:cNvSpPr/>
            <p:nvPr/>
          </p:nvSpPr>
          <p:spPr>
            <a:xfrm>
              <a:off x="9590728" y="1743672"/>
              <a:ext cx="180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23E85A8-7F75-44C9-8D1F-34BFFE2B3B85}"/>
                    </a:ext>
                  </a:extLst>
                </p:cNvPr>
                <p:cNvSpPr txBox="1"/>
                <p:nvPr/>
              </p:nvSpPr>
              <p:spPr>
                <a:xfrm>
                  <a:off x="9792619" y="1601453"/>
                  <a:ext cx="968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23E85A8-7F75-44C9-8D1F-34BFFE2B3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619" y="1601453"/>
                  <a:ext cx="968727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5031" r="-566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FB9042B-22D4-7226-B733-D2482D40AF05}"/>
              </a:ext>
            </a:extLst>
          </p:cNvPr>
          <p:cNvGrpSpPr/>
          <p:nvPr/>
        </p:nvGrpSpPr>
        <p:grpSpPr>
          <a:xfrm>
            <a:off x="7951401" y="2524451"/>
            <a:ext cx="3668908" cy="695740"/>
            <a:chOff x="7946728" y="1656464"/>
            <a:chExt cx="3668908" cy="695740"/>
          </a:xfrm>
        </p:grpSpPr>
        <p:sp>
          <p:nvSpPr>
            <p:cNvPr id="22" name="右中括号 21">
              <a:extLst>
                <a:ext uri="{FF2B5EF4-FFF2-40B4-BE49-F238E27FC236}">
                  <a16:creationId xmlns:a16="http://schemas.microsoft.com/office/drawing/2014/main" id="{80776C4E-7121-4954-1165-A25035B19DF4}"/>
                </a:ext>
              </a:extLst>
            </p:cNvPr>
            <p:cNvSpPr/>
            <p:nvPr/>
          </p:nvSpPr>
          <p:spPr>
            <a:xfrm rot="5400000">
              <a:off x="9589825" y="395302"/>
              <a:ext cx="313805" cy="3600000"/>
            </a:xfrm>
            <a:prstGeom prst="rightBracket">
              <a:avLst>
                <a:gd name="adj" fmla="val 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D60CF40-1EA0-820F-CD09-0346F26D952D}"/>
                    </a:ext>
                  </a:extLst>
                </p:cNvPr>
                <p:cNvSpPr txBox="1"/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D60CF40-1EA0-820F-CD09-0346F26D9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7447" r="-6383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7B0628E-81FC-0ECD-4F4F-E67DB64C56A5}"/>
              </a:ext>
            </a:extLst>
          </p:cNvPr>
          <p:cNvGrpSpPr/>
          <p:nvPr/>
        </p:nvGrpSpPr>
        <p:grpSpPr>
          <a:xfrm>
            <a:off x="7957148" y="5886604"/>
            <a:ext cx="3084349" cy="523524"/>
            <a:chOff x="7943896" y="3487248"/>
            <a:chExt cx="3084349" cy="523524"/>
          </a:xfrm>
        </p:grpSpPr>
        <p:sp>
          <p:nvSpPr>
            <p:cNvPr id="34" name="左大括号 33">
              <a:extLst>
                <a:ext uri="{FF2B5EF4-FFF2-40B4-BE49-F238E27FC236}">
                  <a16:creationId xmlns:a16="http://schemas.microsoft.com/office/drawing/2014/main" id="{9D272A6C-30CE-3810-1D4B-039D8C438EAD}"/>
                </a:ext>
              </a:extLst>
            </p:cNvPr>
            <p:cNvSpPr/>
            <p:nvPr/>
          </p:nvSpPr>
          <p:spPr>
            <a:xfrm rot="16200000">
              <a:off x="9402316" y="2028828"/>
              <a:ext cx="167510" cy="3084349"/>
            </a:xfrm>
            <a:prstGeom prst="leftBrace">
              <a:avLst>
                <a:gd name="adj1" fmla="val 5956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8042E03-C44A-D0F2-69E7-6FA7BAB063A4}"/>
                    </a:ext>
                  </a:extLst>
                </p:cNvPr>
                <p:cNvSpPr txBox="1"/>
                <p:nvPr/>
              </p:nvSpPr>
              <p:spPr>
                <a:xfrm>
                  <a:off x="8819978" y="3672218"/>
                  <a:ext cx="1372678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8042E03-C44A-D0F2-69E7-6FA7BAB06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9978" y="3672218"/>
                  <a:ext cx="1372678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DC1A639-B15A-10C2-B3AD-D03C15849A73}"/>
              </a:ext>
            </a:extLst>
          </p:cNvPr>
          <p:cNvCxnSpPr>
            <a:cxnSpLocks/>
          </p:cNvCxnSpPr>
          <p:nvPr/>
        </p:nvCxnSpPr>
        <p:spPr>
          <a:xfrm>
            <a:off x="590540" y="3822244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4D56EBE-AC8D-2695-38EE-E2155EEEADCD}"/>
                  </a:ext>
                </a:extLst>
              </p:cNvPr>
              <p:cNvSpPr txBox="1"/>
              <p:nvPr/>
            </p:nvSpPr>
            <p:spPr>
              <a:xfrm>
                <a:off x="507460" y="4004331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=0.2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=________.</m:t>
                    </m:r>
                  </m:oMath>
                </a14:m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4D56EBE-AC8D-2695-38EE-E2155EEEA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004331"/>
                <a:ext cx="11108176" cy="339132"/>
              </a:xfrm>
              <a:prstGeom prst="rect">
                <a:avLst/>
              </a:prstGeom>
              <a:blipFill>
                <a:blip r:embed="rId15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5CC2FB27-7725-9D38-F663-5E17C63FED68}"/>
              </a:ext>
            </a:extLst>
          </p:cNvPr>
          <p:cNvGrpSpPr/>
          <p:nvPr/>
        </p:nvGrpSpPr>
        <p:grpSpPr>
          <a:xfrm>
            <a:off x="7958419" y="4202391"/>
            <a:ext cx="2160000" cy="473596"/>
            <a:chOff x="7946728" y="1394711"/>
            <a:chExt cx="2160000" cy="47359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5659015-F5D2-ABD0-FFDC-16C81A026C77}"/>
                </a:ext>
              </a:extLst>
            </p:cNvPr>
            <p:cNvSpPr/>
            <p:nvPr/>
          </p:nvSpPr>
          <p:spPr>
            <a:xfrm>
              <a:off x="7946728" y="1537107"/>
              <a:ext cx="2160000" cy="331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F43C5AE-75E2-AAE5-A9A0-DA2CC808362A}"/>
                    </a:ext>
                  </a:extLst>
                </p:cNvPr>
                <p:cNvSpPr txBox="1"/>
                <p:nvPr/>
              </p:nvSpPr>
              <p:spPr>
                <a:xfrm>
                  <a:off x="8100541" y="1394711"/>
                  <a:ext cx="8165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F43C5AE-75E2-AAE5-A9A0-DA2CC8083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541" y="1394711"/>
                  <a:ext cx="81657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5970" r="-5970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70EAAC2-8140-270C-3400-AD33EA9F783E}"/>
              </a:ext>
            </a:extLst>
          </p:cNvPr>
          <p:cNvGrpSpPr/>
          <p:nvPr/>
        </p:nvGrpSpPr>
        <p:grpSpPr>
          <a:xfrm>
            <a:off x="9392735" y="4328551"/>
            <a:ext cx="1637220" cy="341026"/>
            <a:chOff x="7962282" y="1733346"/>
            <a:chExt cx="1637220" cy="34102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C1CD2C1-56E3-D194-8215-850FD25BA64E}"/>
                </a:ext>
              </a:extLst>
            </p:cNvPr>
            <p:cNvSpPr/>
            <p:nvPr/>
          </p:nvSpPr>
          <p:spPr>
            <a:xfrm>
              <a:off x="8668001" y="1894371"/>
              <a:ext cx="931501" cy="180001"/>
            </a:xfrm>
            <a:prstGeom prst="rect">
              <a:avLst/>
            </a:prstGeom>
            <a:pattFill prst="pct20">
              <a:fgClr>
                <a:srgbClr val="FFC000"/>
              </a:fgClr>
              <a:bgClr>
                <a:schemeClr val="bg1"/>
              </a:bgClr>
            </a:pattFill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872DE6B-E261-0311-4AC1-2BF0EC1C07CA}"/>
                </a:ext>
              </a:extLst>
            </p:cNvPr>
            <p:cNvSpPr/>
            <p:nvPr/>
          </p:nvSpPr>
          <p:spPr>
            <a:xfrm>
              <a:off x="7962282" y="1894372"/>
              <a:ext cx="720000" cy="18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6F5D238-A300-B265-619C-DEFBAB234EFE}"/>
                    </a:ext>
                  </a:extLst>
                </p:cNvPr>
                <p:cNvSpPr txBox="1"/>
                <p:nvPr/>
              </p:nvSpPr>
              <p:spPr>
                <a:xfrm>
                  <a:off x="8784600" y="1733346"/>
                  <a:ext cx="6073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6F5D238-A300-B265-619C-DEFBAB234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4600" y="1733346"/>
                  <a:ext cx="607346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9091" r="-8081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370D263-5005-E9AE-6F15-6150ECB73B53}"/>
              </a:ext>
            </a:extLst>
          </p:cNvPr>
          <p:cNvGrpSpPr/>
          <p:nvPr/>
        </p:nvGrpSpPr>
        <p:grpSpPr>
          <a:xfrm>
            <a:off x="7957150" y="3973836"/>
            <a:ext cx="3668908" cy="695740"/>
            <a:chOff x="7946728" y="1656464"/>
            <a:chExt cx="3668908" cy="695740"/>
          </a:xfrm>
        </p:grpSpPr>
        <p:sp>
          <p:nvSpPr>
            <p:cNvPr id="41" name="右中括号 40">
              <a:extLst>
                <a:ext uri="{FF2B5EF4-FFF2-40B4-BE49-F238E27FC236}">
                  <a16:creationId xmlns:a16="http://schemas.microsoft.com/office/drawing/2014/main" id="{60B12486-31E7-A448-3211-E354C2B18104}"/>
                </a:ext>
              </a:extLst>
            </p:cNvPr>
            <p:cNvSpPr/>
            <p:nvPr/>
          </p:nvSpPr>
          <p:spPr>
            <a:xfrm rot="5400000">
              <a:off x="9589825" y="395302"/>
              <a:ext cx="313805" cy="3600000"/>
            </a:xfrm>
            <a:prstGeom prst="rightBracket">
              <a:avLst>
                <a:gd name="adj" fmla="val 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9B926F7-25E7-CFDB-3E2B-B6858D9C002D}"/>
                    </a:ext>
                  </a:extLst>
                </p:cNvPr>
                <p:cNvSpPr txBox="1"/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9B926F7-25E7-CFDB-3E2B-B6858D9C0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6316" r="-6316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F43F47-F49B-DD9A-2FEC-1F8EEBFE7FB7}"/>
              </a:ext>
            </a:extLst>
          </p:cNvPr>
          <p:cNvGrpSpPr/>
          <p:nvPr/>
        </p:nvGrpSpPr>
        <p:grpSpPr>
          <a:xfrm>
            <a:off x="9213328" y="3896936"/>
            <a:ext cx="1066800" cy="461468"/>
            <a:chOff x="7771776" y="2736421"/>
            <a:chExt cx="1066800" cy="461468"/>
          </a:xfrm>
        </p:grpSpPr>
        <p:sp>
          <p:nvSpPr>
            <p:cNvPr id="54" name="左大括号 53">
              <a:extLst>
                <a:ext uri="{FF2B5EF4-FFF2-40B4-BE49-F238E27FC236}">
                  <a16:creationId xmlns:a16="http://schemas.microsoft.com/office/drawing/2014/main" id="{2266C11E-F7CE-43DE-909E-7825B12F7809}"/>
                </a:ext>
              </a:extLst>
            </p:cNvPr>
            <p:cNvSpPr/>
            <p:nvPr/>
          </p:nvSpPr>
          <p:spPr>
            <a:xfrm rot="5400000">
              <a:off x="8227210" y="2753913"/>
              <a:ext cx="167950" cy="720001"/>
            </a:xfrm>
            <a:prstGeom prst="leftBrace">
              <a:avLst>
                <a:gd name="adj1" fmla="val 5956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C6C09E1-EDD3-99CC-0AA9-D6801E88355A}"/>
                    </a:ext>
                  </a:extLst>
                </p:cNvPr>
                <p:cNvSpPr txBox="1"/>
                <p:nvPr/>
              </p:nvSpPr>
              <p:spPr>
                <a:xfrm>
                  <a:off x="7771776" y="2736421"/>
                  <a:ext cx="10668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=0.2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C6C09E1-EDD3-99CC-0AA9-D6801E883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776" y="2736421"/>
                  <a:ext cx="1066800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78D7879-5859-B829-A8F3-8F7C30BEC05E}"/>
                  </a:ext>
                </a:extLst>
              </p:cNvPr>
              <p:cNvSpPr txBox="1"/>
              <p:nvPr/>
            </p:nvSpPr>
            <p:spPr>
              <a:xfrm>
                <a:off x="503860" y="4371255"/>
                <a:ext cx="63211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解：如图，因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1600" dirty="0"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=0.4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78D7879-5859-B829-A8F3-8F7C30BEC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60" y="4371255"/>
                <a:ext cx="6321129" cy="338554"/>
              </a:xfrm>
              <a:prstGeom prst="rect">
                <a:avLst/>
              </a:prstGeom>
              <a:blipFill>
                <a:blip r:embed="rId20"/>
                <a:stretch>
                  <a:fillRect l="-579" t="-892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7C8BFF9-BFBD-8F4B-4ECC-73372E2FF1B7}"/>
              </a:ext>
            </a:extLst>
          </p:cNvPr>
          <p:cNvCxnSpPr>
            <a:cxnSpLocks/>
          </p:cNvCxnSpPr>
          <p:nvPr/>
        </p:nvCxnSpPr>
        <p:spPr>
          <a:xfrm>
            <a:off x="590540" y="4922417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40FB5AF-BCA3-0DB8-6E9A-4CF1031BAC7B}"/>
                  </a:ext>
                </a:extLst>
              </p:cNvPr>
              <p:cNvSpPr txBox="1"/>
              <p:nvPr/>
            </p:nvSpPr>
            <p:spPr>
              <a:xfrm>
                <a:off x="507460" y="5088582"/>
                <a:ext cx="7935722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=____.</m:t>
                    </m:r>
                  </m:oMath>
                </a14:m>
                <a:endParaRPr lang="en-US" altLang="zh-CN" sz="1600" i="1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40FB5AF-BCA3-0DB8-6E9A-4CF1031BA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5088582"/>
                <a:ext cx="7935722" cy="339132"/>
              </a:xfrm>
              <a:prstGeom prst="rect">
                <a:avLst/>
              </a:prstGeom>
              <a:blipFill>
                <a:blip r:embed="rId21"/>
                <a:stretch>
                  <a:fillRect l="-38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F7087901-AC16-9B2A-7550-FD14B02970FF}"/>
              </a:ext>
            </a:extLst>
          </p:cNvPr>
          <p:cNvGrpSpPr/>
          <p:nvPr/>
        </p:nvGrpSpPr>
        <p:grpSpPr>
          <a:xfrm>
            <a:off x="7968276" y="5371937"/>
            <a:ext cx="2022391" cy="473596"/>
            <a:chOff x="7946728" y="1394711"/>
            <a:chExt cx="2022391" cy="473596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87DE35B-2EE5-C346-4478-456EA351ACD6}"/>
                </a:ext>
              </a:extLst>
            </p:cNvPr>
            <p:cNvSpPr/>
            <p:nvPr/>
          </p:nvSpPr>
          <p:spPr>
            <a:xfrm>
              <a:off x="7946728" y="1537107"/>
              <a:ext cx="2022391" cy="331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E4DB720-2111-7530-B56E-F17D3C7CB02E}"/>
                    </a:ext>
                  </a:extLst>
                </p:cNvPr>
                <p:cNvSpPr txBox="1"/>
                <p:nvPr/>
              </p:nvSpPr>
              <p:spPr>
                <a:xfrm>
                  <a:off x="8100541" y="1394711"/>
                  <a:ext cx="7349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E4DB720-2111-7530-B56E-F17D3C7CB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541" y="1394711"/>
                  <a:ext cx="734945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5785" r="-2479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A17CAB8-2ADA-EF3B-9572-4BABA17A3610}"/>
              </a:ext>
            </a:extLst>
          </p:cNvPr>
          <p:cNvGrpSpPr/>
          <p:nvPr/>
        </p:nvGrpSpPr>
        <p:grpSpPr>
          <a:xfrm>
            <a:off x="9246326" y="5523527"/>
            <a:ext cx="1802457" cy="315714"/>
            <a:chOff x="7946728" y="1745547"/>
            <a:chExt cx="1800000" cy="315714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C071AED-3A6F-1C59-D851-EB9E4B022A4E}"/>
                </a:ext>
              </a:extLst>
            </p:cNvPr>
            <p:cNvSpPr/>
            <p:nvPr/>
          </p:nvSpPr>
          <p:spPr>
            <a:xfrm>
              <a:off x="7946728" y="1881261"/>
              <a:ext cx="1800000" cy="18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85B4D85-BB1D-70CB-8925-23C36A324F06}"/>
                    </a:ext>
                  </a:extLst>
                </p:cNvPr>
                <p:cNvSpPr txBox="1"/>
                <p:nvPr/>
              </p:nvSpPr>
              <p:spPr>
                <a:xfrm>
                  <a:off x="8843658" y="1745547"/>
                  <a:ext cx="78280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85B4D85-BB1D-70CB-8925-23C36A324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3658" y="1745547"/>
                  <a:ext cx="78280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876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C4192B1-AB1A-35A6-EECF-40D67AFF24B9}"/>
              </a:ext>
            </a:extLst>
          </p:cNvPr>
          <p:cNvGrpSpPr/>
          <p:nvPr/>
        </p:nvGrpSpPr>
        <p:grpSpPr>
          <a:xfrm>
            <a:off x="7957149" y="5153502"/>
            <a:ext cx="3668908" cy="695740"/>
            <a:chOff x="7946728" y="1656464"/>
            <a:chExt cx="3668908" cy="695740"/>
          </a:xfrm>
        </p:grpSpPr>
        <p:sp>
          <p:nvSpPr>
            <p:cNvPr id="60" name="右中括号 59">
              <a:extLst>
                <a:ext uri="{FF2B5EF4-FFF2-40B4-BE49-F238E27FC236}">
                  <a16:creationId xmlns:a16="http://schemas.microsoft.com/office/drawing/2014/main" id="{BDF48582-99DB-9482-CEBE-9FFE2A00B2F4}"/>
                </a:ext>
              </a:extLst>
            </p:cNvPr>
            <p:cNvSpPr/>
            <p:nvPr/>
          </p:nvSpPr>
          <p:spPr>
            <a:xfrm rot="5400000">
              <a:off x="9589825" y="395302"/>
              <a:ext cx="313805" cy="3600000"/>
            </a:xfrm>
            <a:prstGeom prst="rightBracket">
              <a:avLst>
                <a:gd name="adj" fmla="val 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25D8F3-1E3C-E115-6C01-FA83788B2A71}"/>
                    </a:ext>
                  </a:extLst>
                </p:cNvPr>
                <p:cNvSpPr txBox="1"/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25D8F3-1E3C-E115-6C01-FA83788B2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blipFill>
                  <a:blip r:embed="rId24"/>
                  <a:stretch>
                    <a:fillRect l="-6316" r="-631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9F038B7-797F-8A9D-6DB5-A3CD36F9B63E}"/>
              </a:ext>
            </a:extLst>
          </p:cNvPr>
          <p:cNvGrpSpPr/>
          <p:nvPr/>
        </p:nvGrpSpPr>
        <p:grpSpPr>
          <a:xfrm>
            <a:off x="7951400" y="3228247"/>
            <a:ext cx="1122422" cy="506504"/>
            <a:chOff x="7951183" y="3531588"/>
            <a:chExt cx="1122422" cy="506504"/>
          </a:xfrm>
        </p:grpSpPr>
        <p:sp>
          <p:nvSpPr>
            <p:cNvPr id="69" name="左大括号 68">
              <a:extLst>
                <a:ext uri="{FF2B5EF4-FFF2-40B4-BE49-F238E27FC236}">
                  <a16:creationId xmlns:a16="http://schemas.microsoft.com/office/drawing/2014/main" id="{567DFD5D-2AB9-59D7-314C-64DBE46B4681}"/>
                </a:ext>
              </a:extLst>
            </p:cNvPr>
            <p:cNvSpPr/>
            <p:nvPr/>
          </p:nvSpPr>
          <p:spPr>
            <a:xfrm rot="16200000">
              <a:off x="8413726" y="3069045"/>
              <a:ext cx="167950" cy="1093035"/>
            </a:xfrm>
            <a:prstGeom prst="leftBrace">
              <a:avLst>
                <a:gd name="adj1" fmla="val 5956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3733073-4DF6-A878-5792-52EB8ECDFB2E}"/>
                    </a:ext>
                  </a:extLst>
                </p:cNvPr>
                <p:cNvSpPr txBox="1"/>
                <p:nvPr/>
              </p:nvSpPr>
              <p:spPr>
                <a:xfrm>
                  <a:off x="8006805" y="3699538"/>
                  <a:ext cx="10668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𝐵𝐶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3733073-4DF6-A878-5792-52EB8ECDF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6805" y="3699538"/>
                  <a:ext cx="1066800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2305F1F-C8E4-EEE2-6F6D-CB7D110D1FF9}"/>
                  </a:ext>
                </a:extLst>
              </p:cNvPr>
              <p:cNvSpPr txBox="1"/>
              <p:nvPr/>
            </p:nvSpPr>
            <p:spPr>
              <a:xfrm>
                <a:off x="503860" y="5455501"/>
                <a:ext cx="63211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解：如图，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2305F1F-C8E4-EEE2-6F6D-CB7D110D1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60" y="5455501"/>
                <a:ext cx="6321129" cy="338554"/>
              </a:xfrm>
              <a:prstGeom prst="rect">
                <a:avLst/>
              </a:prstGeom>
              <a:blipFill>
                <a:blip r:embed="rId26"/>
                <a:stretch>
                  <a:fillRect l="-579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7962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7" grpId="0"/>
      <p:bldP spid="28" grpId="0"/>
      <p:bldP spid="39" grpId="0"/>
      <p:bldP spid="56" grpId="0"/>
      <p:bldP spid="58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385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随机事件的概率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最简单的一类 随机事件，其各结果发生的概率 均相等，称为 等可能概率模型。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例如掷一枚骰子出现的点数等。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根据 随机事件包含样本点个数 是 有限 还是 无穷，将其分为 古典概型 和 几何概型。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892463" y="775742"/>
            <a:ext cx="1276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等可能概型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789124-665C-591A-D2AC-E754F111FD73}"/>
              </a:ext>
            </a:extLst>
          </p:cNvPr>
          <p:cNvGrpSpPr/>
          <p:nvPr/>
        </p:nvGrpSpPr>
        <p:grpSpPr>
          <a:xfrm>
            <a:off x="576363" y="2514527"/>
            <a:ext cx="5205566" cy="787329"/>
            <a:chOff x="576363" y="4474723"/>
            <a:chExt cx="5205566" cy="787329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850B5641-D00D-F7DF-7CF6-FDDCFD14BD62}"/>
                </a:ext>
              </a:extLst>
            </p:cNvPr>
            <p:cNvCxnSpPr>
              <a:cxnSpLocks/>
            </p:cNvCxnSpPr>
            <p:nvPr/>
          </p:nvCxnSpPr>
          <p:spPr>
            <a:xfrm>
              <a:off x="576363" y="4846814"/>
              <a:ext cx="5205566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607857D-6FE7-6088-ED0C-9521A13843A0}"/>
                </a:ext>
              </a:extLst>
            </p:cNvPr>
            <p:cNvSpPr txBox="1"/>
            <p:nvPr/>
          </p:nvSpPr>
          <p:spPr>
            <a:xfrm>
              <a:off x="576363" y="4474723"/>
              <a:ext cx="52055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古典概型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407E9A1-E2DE-ED62-8FB7-094C3E1BDE2C}"/>
                </a:ext>
              </a:extLst>
            </p:cNvPr>
            <p:cNvSpPr txBox="1"/>
            <p:nvPr/>
          </p:nvSpPr>
          <p:spPr>
            <a:xfrm>
              <a:off x="576363" y="4923498"/>
              <a:ext cx="52055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基本事件有有限多个，均等可能发生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4DCFF4E-DFE2-53EA-BC28-BEF720A8694B}"/>
              </a:ext>
            </a:extLst>
          </p:cNvPr>
          <p:cNvGrpSpPr/>
          <p:nvPr/>
        </p:nvGrpSpPr>
        <p:grpSpPr>
          <a:xfrm>
            <a:off x="6410073" y="2514527"/>
            <a:ext cx="5205567" cy="787329"/>
            <a:chOff x="6410073" y="4474723"/>
            <a:chExt cx="5205567" cy="787329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B892EB3-4EE4-9F12-1CB4-CF1193456BBD}"/>
                </a:ext>
              </a:extLst>
            </p:cNvPr>
            <p:cNvCxnSpPr>
              <a:cxnSpLocks/>
            </p:cNvCxnSpPr>
            <p:nvPr/>
          </p:nvCxnSpPr>
          <p:spPr>
            <a:xfrm>
              <a:off x="6410074" y="4846814"/>
              <a:ext cx="520556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8E49362-9ACE-89D9-B3DC-7A69562CF109}"/>
                </a:ext>
              </a:extLst>
            </p:cNvPr>
            <p:cNvSpPr txBox="1"/>
            <p:nvPr/>
          </p:nvSpPr>
          <p:spPr>
            <a:xfrm>
              <a:off x="6410074" y="4474723"/>
              <a:ext cx="52055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5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几何概型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6A1EC1E-6D4C-D104-EBFD-33387E1DC8E2}"/>
                </a:ext>
              </a:extLst>
            </p:cNvPr>
            <p:cNvSpPr txBox="1"/>
            <p:nvPr/>
          </p:nvSpPr>
          <p:spPr>
            <a:xfrm>
              <a:off x="6410073" y="4923498"/>
              <a:ext cx="52055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基本事件有无限多个，均等可能发生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D23B821-AE1C-621D-7FC1-2CA5CAA0D0AD}"/>
                  </a:ext>
                </a:extLst>
              </p:cNvPr>
              <p:cNvSpPr txBox="1"/>
              <p:nvPr/>
            </p:nvSpPr>
            <p:spPr>
              <a:xfrm>
                <a:off x="1392310" y="3429000"/>
                <a:ext cx="3573671" cy="5869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事件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包含的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样本点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数目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样本空间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包含的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样本点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数目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D23B821-AE1C-621D-7FC1-2CA5CAA0D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310" y="3429000"/>
                <a:ext cx="3573671" cy="5869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C1D4ECE-7E46-BFB1-390F-B576831BD591}"/>
                  </a:ext>
                </a:extLst>
              </p:cNvPr>
              <p:cNvSpPr txBox="1"/>
              <p:nvPr/>
            </p:nvSpPr>
            <p:spPr>
              <a:xfrm>
                <a:off x="7226021" y="3429000"/>
                <a:ext cx="2881173" cy="5869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事件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的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几何测度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样本空间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的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几何测度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C1D4ECE-7E46-BFB1-390F-B576831BD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021" y="3429000"/>
                <a:ext cx="2881173" cy="586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2193729B-A71C-1DB0-F50A-8D715DA0B9E0}"/>
              </a:ext>
            </a:extLst>
          </p:cNvPr>
          <p:cNvSpPr txBox="1"/>
          <p:nvPr/>
        </p:nvSpPr>
        <p:spPr>
          <a:xfrm>
            <a:off x="507459" y="4143100"/>
            <a:ext cx="11108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公式本身非常简单，重点在于寻找事件包含的所有样本点数目，不能多找、少找、漏找、重复找。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完成这项工作需要借助高中数学中的分类加法原理、分步乘法原理、排列组合公式等。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53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9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A832E63-335C-CAC2-98CA-864C05D66B70}"/>
              </a:ext>
            </a:extLst>
          </p:cNvPr>
          <p:cNvGrpSpPr/>
          <p:nvPr/>
        </p:nvGrpSpPr>
        <p:grpSpPr>
          <a:xfrm>
            <a:off x="9790626" y="3852658"/>
            <a:ext cx="2062595" cy="2152127"/>
            <a:chOff x="9790626" y="3852658"/>
            <a:chExt cx="2062595" cy="2152127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CC60C5D-83B7-17A8-3AAF-F477906744BE}"/>
                </a:ext>
              </a:extLst>
            </p:cNvPr>
            <p:cNvSpPr/>
            <p:nvPr/>
          </p:nvSpPr>
          <p:spPr>
            <a:xfrm>
              <a:off x="10037675" y="4191213"/>
              <a:ext cx="1516630" cy="15166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AE5087A-1E59-989E-BA49-4769D16CE2C7}"/>
                </a:ext>
              </a:extLst>
            </p:cNvPr>
            <p:cNvCxnSpPr>
              <a:cxnSpLocks/>
            </p:cNvCxnSpPr>
            <p:nvPr/>
          </p:nvCxnSpPr>
          <p:spPr>
            <a:xfrm>
              <a:off x="9790626" y="5707843"/>
              <a:ext cx="193999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ADE150C1-6AC0-A4DE-4C28-2689F84C6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4914" y="4038948"/>
              <a:ext cx="0" cy="18313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70F00D8E-C4AE-FFE2-803A-53C0B74A382B}"/>
                    </a:ext>
                  </a:extLst>
                </p:cNvPr>
                <p:cNvSpPr txBox="1"/>
                <p:nvPr/>
              </p:nvSpPr>
              <p:spPr>
                <a:xfrm>
                  <a:off x="11554305" y="5666231"/>
                  <a:ext cx="29891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70F00D8E-C4AE-FFE2-803A-53C0B74A3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305" y="5666231"/>
                  <a:ext cx="298916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F4020D3-8649-FD64-EC95-6E2B6DA3861F}"/>
                    </a:ext>
                  </a:extLst>
                </p:cNvPr>
                <p:cNvSpPr txBox="1"/>
                <p:nvPr/>
              </p:nvSpPr>
              <p:spPr>
                <a:xfrm>
                  <a:off x="9990404" y="3852658"/>
                  <a:ext cx="37169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F4020D3-8649-FD64-EC95-6E2B6DA38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0404" y="3852658"/>
                  <a:ext cx="37169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7385D123-FEB9-AFF6-AAF0-98319B3D94C1}"/>
              </a:ext>
            </a:extLst>
          </p:cNvPr>
          <p:cNvGrpSpPr/>
          <p:nvPr/>
        </p:nvGrpSpPr>
        <p:grpSpPr>
          <a:xfrm>
            <a:off x="9681560" y="4131214"/>
            <a:ext cx="1864695" cy="1908371"/>
            <a:chOff x="9681560" y="4131214"/>
            <a:chExt cx="1864695" cy="19083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164E67A-512F-EA32-8EA5-44DC6594CD15}"/>
                    </a:ext>
                  </a:extLst>
                </p:cNvPr>
                <p:cNvSpPr txBox="1"/>
                <p:nvPr/>
              </p:nvSpPr>
              <p:spPr>
                <a:xfrm>
                  <a:off x="11247339" y="5701031"/>
                  <a:ext cx="29891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164E67A-512F-EA32-8EA5-44DC6594C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7339" y="5701031"/>
                  <a:ext cx="298916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B0382FFC-C400-735B-279F-59156CB52352}"/>
                    </a:ext>
                  </a:extLst>
                </p:cNvPr>
                <p:cNvSpPr txBox="1"/>
                <p:nvPr/>
              </p:nvSpPr>
              <p:spPr>
                <a:xfrm>
                  <a:off x="9681560" y="4131214"/>
                  <a:ext cx="29891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B0382FFC-C400-735B-279F-59156CB52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560" y="4131214"/>
                  <a:ext cx="298916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936BAFE-3A70-4A59-7E6F-21D4D890EE40}"/>
                    </a:ext>
                  </a:extLst>
                </p:cNvPr>
                <p:cNvSpPr txBox="1"/>
                <p:nvPr/>
              </p:nvSpPr>
              <p:spPr>
                <a:xfrm>
                  <a:off x="9738759" y="5666231"/>
                  <a:ext cx="29891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𝑂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936BAFE-3A70-4A59-7E6F-21D4D890E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759" y="5666231"/>
                  <a:ext cx="298916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7" name="斜纹 116">
            <a:extLst>
              <a:ext uri="{FF2B5EF4-FFF2-40B4-BE49-F238E27FC236}">
                <a16:creationId xmlns:a16="http://schemas.microsoft.com/office/drawing/2014/main" id="{7F73EC96-606B-76E6-29EE-D8F68F5BD4EC}"/>
              </a:ext>
            </a:extLst>
          </p:cNvPr>
          <p:cNvSpPr/>
          <p:nvPr/>
        </p:nvSpPr>
        <p:spPr>
          <a:xfrm flipH="1" flipV="1">
            <a:off x="10049403" y="4200424"/>
            <a:ext cx="1497769" cy="1496205"/>
          </a:xfrm>
          <a:prstGeom prst="diagStripe">
            <a:avLst>
              <a:gd name="adj" fmla="val 685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6" name="斜纹 115">
            <a:extLst>
              <a:ext uri="{FF2B5EF4-FFF2-40B4-BE49-F238E27FC236}">
                <a16:creationId xmlns:a16="http://schemas.microsoft.com/office/drawing/2014/main" id="{9EF15E8D-3D26-5561-0E1A-187F9B7826D3}"/>
              </a:ext>
            </a:extLst>
          </p:cNvPr>
          <p:cNvSpPr/>
          <p:nvPr/>
        </p:nvSpPr>
        <p:spPr>
          <a:xfrm>
            <a:off x="10044577" y="4197560"/>
            <a:ext cx="1497769" cy="1496205"/>
          </a:xfrm>
          <a:prstGeom prst="diagStripe">
            <a:avLst>
              <a:gd name="adj" fmla="val 685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EA66F122-8FB2-1DBE-E123-FBC8AA6CBEB6}"/>
              </a:ext>
            </a:extLst>
          </p:cNvPr>
          <p:cNvGrpSpPr/>
          <p:nvPr/>
        </p:nvGrpSpPr>
        <p:grpSpPr>
          <a:xfrm>
            <a:off x="10033036" y="3868658"/>
            <a:ext cx="1820185" cy="1839185"/>
            <a:chOff x="10033036" y="3868658"/>
            <a:chExt cx="1820185" cy="1839185"/>
          </a:xfrm>
        </p:grpSpPr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6C2D86E6-DC40-D762-B49A-03EB15CEC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3036" y="4153930"/>
              <a:ext cx="1553913" cy="1553913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54F5FC3F-4B7B-9808-71E6-DADB918BFA51}"/>
                    </a:ext>
                  </a:extLst>
                </p:cNvPr>
                <p:cNvSpPr txBox="1"/>
                <p:nvPr/>
              </p:nvSpPr>
              <p:spPr>
                <a:xfrm>
                  <a:off x="11161674" y="3868658"/>
                  <a:ext cx="69154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  <m:r>
                          <a:rPr lang="en-US" altLang="zh-CN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54F5FC3F-4B7B-9808-71E6-DADB918BF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1674" y="3868658"/>
                  <a:ext cx="691547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9A48C2F-C397-1AB5-176A-8D4A6BFAAC2F}"/>
              </a:ext>
            </a:extLst>
          </p:cNvPr>
          <p:cNvSpPr txBox="1"/>
          <p:nvPr/>
        </p:nvSpPr>
        <p:spPr>
          <a:xfrm>
            <a:off x="507460" y="1425186"/>
            <a:ext cx="1110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2.1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：在书架上任意排放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本不同的书，其中指定的四本书放在一起的概率为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________.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796484"/>
                <a:ext cx="6321129" cy="1211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解：样本空间含有基本事件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=10!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所求事件含有基本事件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7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=7×4!×6!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故所求概率为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7×4!×6!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10!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796484"/>
                <a:ext cx="6321129" cy="1211870"/>
              </a:xfrm>
              <a:prstGeom prst="rect">
                <a:avLst/>
              </a:prstGeom>
              <a:blipFill>
                <a:blip r:embed="rId9"/>
                <a:stretch>
                  <a:fillRect l="-482" t="-2020" b="-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90540" y="3209611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EA450AB-100E-C628-6794-5CD948964112}"/>
              </a:ext>
            </a:extLst>
          </p:cNvPr>
          <p:cNvSpPr txBox="1"/>
          <p:nvPr/>
        </p:nvSpPr>
        <p:spPr>
          <a:xfrm>
            <a:off x="507460" y="3418602"/>
            <a:ext cx="11108176" cy="339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2.2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：甲乙两人相约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8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点到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9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点之间在某地会面，先到者等候另一人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20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分钟后就会离去，求两人能会面的概率。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60" y="3784144"/>
                <a:ext cx="9375328" cy="1686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解：设甲、乙抵达的时间分别为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min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(0&lt;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&lt;60,8&lt;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&lt;60)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，则它们离去的时间为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+20,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+20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若他们能会面，则应有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&lt;20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+20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（甲比乙先到，乙到时甲还没离去）</a:t>
                </a:r>
                <a:endParaRPr lang="en-US" altLang="zh-CN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+20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（乙比甲先到，甲到时乙还没离去）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则如图，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×40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×60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784144"/>
                <a:ext cx="9375328" cy="1686103"/>
              </a:xfrm>
              <a:prstGeom prst="rect">
                <a:avLst/>
              </a:prstGeom>
              <a:blipFill>
                <a:blip r:embed="rId10"/>
                <a:stretch>
                  <a:fillRect l="-325" t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14D222D1-7F00-49A0-7021-86DC9C763125}"/>
              </a:ext>
            </a:extLst>
          </p:cNvPr>
          <p:cNvSpPr txBox="1"/>
          <p:nvPr/>
        </p:nvSpPr>
        <p:spPr>
          <a:xfrm>
            <a:off x="507460" y="496110"/>
            <a:ext cx="3385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随机事件的概率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560F34-FE7B-5C75-664B-1C041AA8281D}"/>
              </a:ext>
            </a:extLst>
          </p:cNvPr>
          <p:cNvSpPr txBox="1"/>
          <p:nvPr/>
        </p:nvSpPr>
        <p:spPr>
          <a:xfrm>
            <a:off x="3892463" y="775742"/>
            <a:ext cx="23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古典概型与几何概型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表格 45">
                <a:extLst>
                  <a:ext uri="{FF2B5EF4-FFF2-40B4-BE49-F238E27FC236}">
                    <a16:creationId xmlns:a16="http://schemas.microsoft.com/office/drawing/2014/main" id="{031BEC8D-10DA-2620-5715-1B9BC2070B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168971"/>
                  </p:ext>
                </p:extLst>
              </p:nvPr>
            </p:nvGraphicFramePr>
            <p:xfrm>
              <a:off x="8733106" y="1499157"/>
              <a:ext cx="2882534" cy="568356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83361">
                      <a:extLst>
                        <a:ext uri="{9D8B030D-6E8A-4147-A177-3AD203B41FA5}">
                          <a16:colId xmlns:a16="http://schemas.microsoft.com/office/drawing/2014/main" val="371448863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643006948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242855758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881424837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481005948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15488452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312818677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4229917104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582369998"/>
                        </a:ext>
                      </a:extLst>
                    </a:gridCol>
                    <a:gridCol w="332285">
                      <a:extLst>
                        <a:ext uri="{9D8B030D-6E8A-4147-A177-3AD203B41FA5}">
                          <a16:colId xmlns:a16="http://schemas.microsoft.com/office/drawing/2014/main" val="3484070758"/>
                        </a:ext>
                      </a:extLst>
                    </a:gridCol>
                  </a:tblGrid>
                  <a:tr h="5683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03165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表格 45">
                <a:extLst>
                  <a:ext uri="{FF2B5EF4-FFF2-40B4-BE49-F238E27FC236}">
                    <a16:creationId xmlns:a16="http://schemas.microsoft.com/office/drawing/2014/main" id="{031BEC8D-10DA-2620-5715-1B9BC2070B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168971"/>
                  </p:ext>
                </p:extLst>
              </p:nvPr>
            </p:nvGraphicFramePr>
            <p:xfrm>
              <a:off x="8733106" y="1499157"/>
              <a:ext cx="2882534" cy="568356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83361">
                      <a:extLst>
                        <a:ext uri="{9D8B030D-6E8A-4147-A177-3AD203B41FA5}">
                          <a16:colId xmlns:a16="http://schemas.microsoft.com/office/drawing/2014/main" val="371448863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643006948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242855758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881424837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481005948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154884523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1312818677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4229917104"/>
                        </a:ext>
                      </a:extLst>
                    </a:gridCol>
                    <a:gridCol w="283361">
                      <a:extLst>
                        <a:ext uri="{9D8B030D-6E8A-4147-A177-3AD203B41FA5}">
                          <a16:colId xmlns:a16="http://schemas.microsoft.com/office/drawing/2014/main" val="3582369998"/>
                        </a:ext>
                      </a:extLst>
                    </a:gridCol>
                    <a:gridCol w="332285">
                      <a:extLst>
                        <a:ext uri="{9D8B030D-6E8A-4147-A177-3AD203B41FA5}">
                          <a16:colId xmlns:a16="http://schemas.microsoft.com/office/drawing/2014/main" val="3484070758"/>
                        </a:ext>
                      </a:extLst>
                    </a:gridCol>
                  </a:tblGrid>
                  <a:tr h="5683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2128" t="-1053" r="-914894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104348" t="-1053" r="-834783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200000" t="-1053" r="-717021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306522" t="-1053" r="-632609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397872" t="-1053" r="-519149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497872" t="-1053" r="-419149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610870" t="-1053" r="-328261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695745" t="-1053" r="-221277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813043" t="-1053" r="-126087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763636" t="-1053" r="-5455" b="-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31659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2" name="组合 71">
            <a:extLst>
              <a:ext uri="{FF2B5EF4-FFF2-40B4-BE49-F238E27FC236}">
                <a16:creationId xmlns:a16="http://schemas.microsoft.com/office/drawing/2014/main" id="{AC313C3D-7402-99BB-24BE-7213FF3763F3}"/>
              </a:ext>
            </a:extLst>
          </p:cNvPr>
          <p:cNvGrpSpPr/>
          <p:nvPr/>
        </p:nvGrpSpPr>
        <p:grpSpPr>
          <a:xfrm>
            <a:off x="4674946" y="1425186"/>
            <a:ext cx="2040747" cy="1128900"/>
            <a:chOff x="4674946" y="1425186"/>
            <a:chExt cx="2040747" cy="112890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20BF313-E949-8338-B514-64B57C90EE11}"/>
                </a:ext>
              </a:extLst>
            </p:cNvPr>
            <p:cNvSpPr/>
            <p:nvPr/>
          </p:nvSpPr>
          <p:spPr>
            <a:xfrm>
              <a:off x="4674946" y="1425186"/>
              <a:ext cx="2040747" cy="338553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3EC340DD-BA50-6CBF-17B1-9EDAF456D13E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>
              <a:off x="5695320" y="1763739"/>
              <a:ext cx="670662" cy="79034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BC68932D-4AD3-CD26-06DB-7B42EF05106C}"/>
              </a:ext>
            </a:extLst>
          </p:cNvPr>
          <p:cNvGrpSpPr/>
          <p:nvPr/>
        </p:nvGrpSpPr>
        <p:grpSpPr>
          <a:xfrm>
            <a:off x="6394744" y="2400199"/>
            <a:ext cx="5113112" cy="307777"/>
            <a:chOff x="6394744" y="2550221"/>
            <a:chExt cx="5113112" cy="307777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4494D9BF-2502-D384-C795-7D49DFF212C4}"/>
                </a:ext>
              </a:extLst>
            </p:cNvPr>
            <p:cNvSpPr txBox="1"/>
            <p:nvPr/>
          </p:nvSpPr>
          <p:spPr>
            <a:xfrm>
              <a:off x="6394744" y="2550221"/>
              <a:ext cx="1818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为四本书选一个位置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C77520B-C160-CDF9-E679-CB9EFE83C415}"/>
                </a:ext>
              </a:extLst>
            </p:cNvPr>
            <p:cNvSpPr txBox="1"/>
            <p:nvPr/>
          </p:nvSpPr>
          <p:spPr>
            <a:xfrm>
              <a:off x="8457143" y="2550221"/>
              <a:ext cx="13334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给四本书排序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38AEC02-C436-BBD2-353B-11AC0F888DE9}"/>
                </a:ext>
              </a:extLst>
            </p:cNvPr>
            <p:cNvSpPr txBox="1"/>
            <p:nvPr/>
          </p:nvSpPr>
          <p:spPr>
            <a:xfrm>
              <a:off x="10034177" y="2550221"/>
              <a:ext cx="1473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给剩下的书排序</a:t>
              </a:r>
            </a:p>
          </p:txBody>
        </p:sp>
        <p:sp>
          <p:nvSpPr>
            <p:cNvPr id="78" name="加号 77">
              <a:extLst>
                <a:ext uri="{FF2B5EF4-FFF2-40B4-BE49-F238E27FC236}">
                  <a16:creationId xmlns:a16="http://schemas.microsoft.com/office/drawing/2014/main" id="{01E2435B-E3C3-4BB6-729F-E73BE2BC8DFA}"/>
                </a:ext>
              </a:extLst>
            </p:cNvPr>
            <p:cNvSpPr/>
            <p:nvPr/>
          </p:nvSpPr>
          <p:spPr>
            <a:xfrm rot="2700000">
              <a:off x="8213592" y="2567857"/>
              <a:ext cx="272503" cy="272503"/>
            </a:xfrm>
            <a:prstGeom prst="mathPlus">
              <a:avLst>
                <a:gd name="adj1" fmla="val 552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加号 78">
              <a:extLst>
                <a:ext uri="{FF2B5EF4-FFF2-40B4-BE49-F238E27FC236}">
                  <a16:creationId xmlns:a16="http://schemas.microsoft.com/office/drawing/2014/main" id="{1884D630-C100-A533-CCAC-743ABF331BFB}"/>
                </a:ext>
              </a:extLst>
            </p:cNvPr>
            <p:cNvSpPr/>
            <p:nvPr/>
          </p:nvSpPr>
          <p:spPr>
            <a:xfrm rot="2700000">
              <a:off x="9790626" y="2568372"/>
              <a:ext cx="272503" cy="272503"/>
            </a:xfrm>
            <a:prstGeom prst="mathPlus">
              <a:avLst>
                <a:gd name="adj1" fmla="val 552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40919325-BDEF-99F5-8C44-6CB783359978}"/>
              </a:ext>
            </a:extLst>
          </p:cNvPr>
          <p:cNvSpPr/>
          <p:nvPr/>
        </p:nvSpPr>
        <p:spPr>
          <a:xfrm>
            <a:off x="8707250" y="1622853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646D8892-A87F-9ED7-7B9E-A37FC8C82702}"/>
                  </a:ext>
                </a:extLst>
              </p:cNvPr>
              <p:cNvSpPr txBox="1"/>
              <p:nvPr/>
            </p:nvSpPr>
            <p:spPr>
              <a:xfrm>
                <a:off x="7120228" y="2675994"/>
                <a:ext cx="367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646D8892-A87F-9ED7-7B9E-A37FC8C82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228" y="2675994"/>
                <a:ext cx="36788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15A7639-58A5-FCFF-E588-C385792537ED}"/>
                  </a:ext>
                </a:extLst>
              </p:cNvPr>
              <p:cNvSpPr txBox="1"/>
              <p:nvPr/>
            </p:nvSpPr>
            <p:spPr>
              <a:xfrm>
                <a:off x="8723999" y="2672602"/>
                <a:ext cx="561660" cy="371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015A7639-58A5-FCFF-E588-C38579253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999" y="2672602"/>
                <a:ext cx="561660" cy="371127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173371D-B5EF-BC50-D47A-2AA464ABA133}"/>
                  </a:ext>
                </a:extLst>
              </p:cNvPr>
              <p:cNvSpPr txBox="1"/>
              <p:nvPr/>
            </p:nvSpPr>
            <p:spPr>
              <a:xfrm>
                <a:off x="10521550" y="2672602"/>
                <a:ext cx="476881" cy="376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173371D-B5EF-BC50-D47A-2AA464ABA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1550" y="2672602"/>
                <a:ext cx="476881" cy="3765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FB26A66-B3ED-D354-C8EB-0EB13191AAC8}"/>
                  </a:ext>
                </a:extLst>
              </p:cNvPr>
              <p:cNvSpPr txBox="1"/>
              <p:nvPr/>
            </p:nvSpPr>
            <p:spPr>
              <a:xfrm>
                <a:off x="10358351" y="5701031"/>
                <a:ext cx="2989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FFB26A66-B3ED-D354-C8EB-0EB13191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8351" y="5701031"/>
                <a:ext cx="298916" cy="338554"/>
              </a:xfrm>
              <a:prstGeom prst="rect">
                <a:avLst/>
              </a:prstGeom>
              <a:blipFill>
                <a:blip r:embed="rId15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FCB4B34-BA46-AD8B-BB70-B49C90B0CB3E}"/>
                  </a:ext>
                </a:extLst>
              </p:cNvPr>
              <p:cNvSpPr txBox="1"/>
              <p:nvPr/>
            </p:nvSpPr>
            <p:spPr>
              <a:xfrm>
                <a:off x="9676351" y="5063475"/>
                <a:ext cx="2989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FCB4B34-BA46-AD8B-BB70-B49C90B0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351" y="5063475"/>
                <a:ext cx="298916" cy="338554"/>
              </a:xfrm>
              <a:prstGeom prst="rect">
                <a:avLst/>
              </a:prstGeom>
              <a:blipFill>
                <a:blip r:embed="rId16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 126">
            <a:extLst>
              <a:ext uri="{FF2B5EF4-FFF2-40B4-BE49-F238E27FC236}">
                <a16:creationId xmlns:a16="http://schemas.microsoft.com/office/drawing/2014/main" id="{1D752B19-5002-8016-B4DE-3774883D47D3}"/>
              </a:ext>
            </a:extLst>
          </p:cNvPr>
          <p:cNvSpPr/>
          <p:nvPr/>
        </p:nvSpPr>
        <p:spPr>
          <a:xfrm>
            <a:off x="9004829" y="1623839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2E501D4-B197-D425-E59E-017503D8F5E3}"/>
              </a:ext>
            </a:extLst>
          </p:cNvPr>
          <p:cNvSpPr/>
          <p:nvPr/>
        </p:nvSpPr>
        <p:spPr>
          <a:xfrm>
            <a:off x="9276552" y="1626224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F8C08E39-7520-0660-EA0C-0C06DAE8653D}"/>
              </a:ext>
            </a:extLst>
          </p:cNvPr>
          <p:cNvSpPr/>
          <p:nvPr/>
        </p:nvSpPr>
        <p:spPr>
          <a:xfrm>
            <a:off x="9566742" y="1626224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E509ADB-FCE8-EDE4-7F95-CF91B4DDE208}"/>
              </a:ext>
            </a:extLst>
          </p:cNvPr>
          <p:cNvSpPr/>
          <p:nvPr/>
        </p:nvSpPr>
        <p:spPr>
          <a:xfrm>
            <a:off x="9838465" y="1621454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B6DD024F-B908-346B-793C-1DF0B3904B08}"/>
              </a:ext>
            </a:extLst>
          </p:cNvPr>
          <p:cNvSpPr/>
          <p:nvPr/>
        </p:nvSpPr>
        <p:spPr>
          <a:xfrm>
            <a:off x="10124019" y="1628241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DA933C3-4847-4346-CDF1-ED57AC9B0B7F}"/>
              </a:ext>
            </a:extLst>
          </p:cNvPr>
          <p:cNvSpPr/>
          <p:nvPr/>
        </p:nvSpPr>
        <p:spPr>
          <a:xfrm>
            <a:off x="10435668" y="1616638"/>
            <a:ext cx="1175538" cy="30777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616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16" grpId="0" animBg="1"/>
      <p:bldP spid="8" grpId="0"/>
      <p:bldP spid="21" grpId="0" uiExpand="1" build="p"/>
      <p:bldP spid="27" grpId="0"/>
      <p:bldP spid="28" grpId="0" uiExpand="1" build="p"/>
      <p:bldP spid="82" grpId="0" animBg="1"/>
      <p:bldP spid="82" grpId="1" animBg="1"/>
      <p:bldP spid="84" grpId="0"/>
      <p:bldP spid="86" grpId="0"/>
      <p:bldP spid="88" grpId="0"/>
      <p:bldP spid="114" grpId="0"/>
      <p:bldP spid="115" grpId="0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142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一般而言，我们所认为的 概率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在统计定义下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指的都是 事件包含的基本点 占 样本空间包含的基本点 的比例。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然而，如果给事件的发生 附上一定的前提条件，那么 所占的“样本空间”将会减小。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事件“掷一枚骰子，得到小于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的数”，其样本空间包含基本点为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1,2,3,4,5,6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，事件包含基本点为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1,2,3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事件“掷一枚骰子，在得到奇数的条件下，得到小于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的数”，其样本空间包含基本点为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1,3,5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，事件包含基本点为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1,3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079103" y="775742"/>
            <a:ext cx="1774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条件概率的定义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4A51787-FBAE-AD98-6351-0A4B19E50036}"/>
              </a:ext>
            </a:extLst>
          </p:cNvPr>
          <p:cNvSpPr/>
          <p:nvPr/>
        </p:nvSpPr>
        <p:spPr>
          <a:xfrm>
            <a:off x="576364" y="3193032"/>
            <a:ext cx="1457709" cy="46031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条件概率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B91624-88D5-8727-6A05-2F1DA0F57D9F}"/>
                  </a:ext>
                </a:extLst>
              </p:cNvPr>
              <p:cNvSpPr txBox="1"/>
              <p:nvPr/>
            </p:nvSpPr>
            <p:spPr>
              <a:xfrm>
                <a:off x="2111589" y="3180912"/>
                <a:ext cx="5601717" cy="484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发生的条件下，事件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发生的概率：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B91624-88D5-8727-6A05-2F1DA0F57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89" y="3180912"/>
                <a:ext cx="5601717" cy="484556"/>
              </a:xfrm>
              <a:prstGeom prst="rect">
                <a:avLst/>
              </a:prstGeom>
              <a:blipFill>
                <a:blip r:embed="rId3"/>
                <a:stretch>
                  <a:fillRect l="-544" b="-5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星形: 五角 4">
            <a:extLst>
              <a:ext uri="{FF2B5EF4-FFF2-40B4-BE49-F238E27FC236}">
                <a16:creationId xmlns:a16="http://schemas.microsoft.com/office/drawing/2014/main" id="{51F3462D-66EA-29D7-9C2A-458D9A470086}"/>
              </a:ext>
            </a:extLst>
          </p:cNvPr>
          <p:cNvSpPr/>
          <p:nvPr/>
        </p:nvSpPr>
        <p:spPr>
          <a:xfrm>
            <a:off x="5994208" y="3135364"/>
            <a:ext cx="134679" cy="13467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DC3032-7FF4-79B0-9E53-9FE3529346D0}"/>
              </a:ext>
            </a:extLst>
          </p:cNvPr>
          <p:cNvSpPr/>
          <p:nvPr/>
        </p:nvSpPr>
        <p:spPr>
          <a:xfrm>
            <a:off x="7713306" y="3239082"/>
            <a:ext cx="3902330" cy="3682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注：分母上是“条件”的概率，也即缩减后的样本空间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A1259F-3723-AF50-B3E2-A8E40A59D4D6}"/>
              </a:ext>
            </a:extLst>
          </p:cNvPr>
          <p:cNvSpPr txBox="1"/>
          <p:nvPr/>
        </p:nvSpPr>
        <p:spPr>
          <a:xfrm>
            <a:off x="507459" y="3994328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由此，条件概率 有两种基本的求解方法：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CB63F68-41BB-C419-C7BD-48ABF51D4D43}"/>
              </a:ext>
            </a:extLst>
          </p:cNvPr>
          <p:cNvGrpSpPr/>
          <p:nvPr/>
        </p:nvGrpSpPr>
        <p:grpSpPr>
          <a:xfrm>
            <a:off x="576363" y="4501901"/>
            <a:ext cx="5205566" cy="760151"/>
            <a:chOff x="576363" y="4501901"/>
            <a:chExt cx="5205566" cy="760151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E079D36-741A-8B3F-8EE2-8621B4936B9B}"/>
                </a:ext>
              </a:extLst>
            </p:cNvPr>
            <p:cNvCxnSpPr>
              <a:cxnSpLocks/>
            </p:cNvCxnSpPr>
            <p:nvPr/>
          </p:nvCxnSpPr>
          <p:spPr>
            <a:xfrm>
              <a:off x="576363" y="4846814"/>
              <a:ext cx="5205566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DFA305F-87B5-91E3-E2AF-56ABE619ACFE}"/>
                </a:ext>
              </a:extLst>
            </p:cNvPr>
            <p:cNvSpPr txBox="1"/>
            <p:nvPr/>
          </p:nvSpPr>
          <p:spPr>
            <a:xfrm>
              <a:off x="576363" y="4501901"/>
              <a:ext cx="5205566" cy="344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缩减样本空间法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96380A-EA08-590F-F049-FD56E623B807}"/>
                </a:ext>
              </a:extLst>
            </p:cNvPr>
            <p:cNvSpPr txBox="1"/>
            <p:nvPr/>
          </p:nvSpPr>
          <p:spPr>
            <a:xfrm>
              <a:off x="576363" y="4923498"/>
              <a:ext cx="52055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直接根据条件，缩减样本空间后，再求事件的概率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868E007-75F1-25A6-5517-33BE6E8CB2F4}"/>
              </a:ext>
            </a:extLst>
          </p:cNvPr>
          <p:cNvGrpSpPr/>
          <p:nvPr/>
        </p:nvGrpSpPr>
        <p:grpSpPr>
          <a:xfrm>
            <a:off x="6410073" y="4501901"/>
            <a:ext cx="5205567" cy="760151"/>
            <a:chOff x="6410073" y="4501901"/>
            <a:chExt cx="5205567" cy="760151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B0B828A-C5AB-BE82-78E5-AAE50DBAF045}"/>
                </a:ext>
              </a:extLst>
            </p:cNvPr>
            <p:cNvCxnSpPr>
              <a:cxnSpLocks/>
            </p:cNvCxnSpPr>
            <p:nvPr/>
          </p:nvCxnSpPr>
          <p:spPr>
            <a:xfrm>
              <a:off x="6410074" y="4846814"/>
              <a:ext cx="520556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B435120-E90C-5A8E-A4A8-1799473DB388}"/>
                </a:ext>
              </a:extLst>
            </p:cNvPr>
            <p:cNvSpPr txBox="1"/>
            <p:nvPr/>
          </p:nvSpPr>
          <p:spPr>
            <a:xfrm>
              <a:off x="6410074" y="4501901"/>
              <a:ext cx="5205566" cy="344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公式法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01422FA-7FF8-BEB8-7635-70D615F64C38}"/>
                    </a:ext>
                  </a:extLst>
                </p:cNvPr>
                <p:cNvSpPr txBox="1"/>
                <p:nvPr/>
              </p:nvSpPr>
              <p:spPr>
                <a:xfrm>
                  <a:off x="6410073" y="4923498"/>
                  <a:ext cx="520556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直接求解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，根据公式得到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|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01422FA-7FF8-BEB8-7635-70D615F64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073" y="4923498"/>
                  <a:ext cx="5205562" cy="338554"/>
                </a:xfrm>
                <a:prstGeom prst="rect">
                  <a:avLst/>
                </a:prstGeom>
                <a:blipFill>
                  <a:blip r:embed="rId4"/>
                  <a:stretch>
                    <a:fillRect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88970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5D2939-D667-77CB-FC2F-0A4C861C51F3}"/>
              </a:ext>
            </a:extLst>
          </p:cNvPr>
          <p:cNvGrpSpPr/>
          <p:nvPr/>
        </p:nvGrpSpPr>
        <p:grpSpPr>
          <a:xfrm>
            <a:off x="7961216" y="1980391"/>
            <a:ext cx="2880000" cy="307920"/>
            <a:chOff x="11062258" y="1814741"/>
            <a:chExt cx="7199998" cy="30792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FECE66E-C4B1-C6D9-EB69-D9E1FB05FC37}"/>
                </a:ext>
              </a:extLst>
            </p:cNvPr>
            <p:cNvSpPr/>
            <p:nvPr/>
          </p:nvSpPr>
          <p:spPr>
            <a:xfrm>
              <a:off x="11062258" y="1814741"/>
              <a:ext cx="7199998" cy="3079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904B206-72B6-60EE-E4A3-DCCBF7414808}"/>
                    </a:ext>
                  </a:extLst>
                </p:cNvPr>
                <p:cNvSpPr txBox="1"/>
                <p:nvPr/>
              </p:nvSpPr>
              <p:spPr>
                <a:xfrm>
                  <a:off x="14979362" y="1829817"/>
                  <a:ext cx="2205412" cy="277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=4/5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904B206-72B6-60EE-E4A3-DCCBF7414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9362" y="1829817"/>
                  <a:ext cx="2205412" cy="277576"/>
                </a:xfrm>
                <a:prstGeom prst="rect">
                  <a:avLst/>
                </a:prstGeom>
                <a:blipFill>
                  <a:blip r:embed="rId3"/>
                  <a:stretch>
                    <a:fillRect l="-4828" t="-4348" r="-6207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是随机事件，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互斥，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𝐶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=________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blipFill>
                <a:blip r:embed="rId4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66962"/>
                <a:ext cx="6321129" cy="481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解：如图，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1/3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4/5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66962"/>
                <a:ext cx="6321129" cy="481927"/>
              </a:xfrm>
              <a:prstGeom prst="rect">
                <a:avLst/>
              </a:prstGeom>
              <a:blipFill>
                <a:blip r:embed="rId5"/>
                <a:stretch>
                  <a:fillRect l="-482"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90540" y="2710257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003072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=0.5,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=0.6,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=0.8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=________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003072"/>
                <a:ext cx="11108176" cy="339132"/>
              </a:xfrm>
              <a:prstGeom prst="rect">
                <a:avLst/>
              </a:prstGeom>
              <a:blipFill>
                <a:blip r:embed="rId6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60" y="3441399"/>
                <a:ext cx="9375328" cy="659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)=0.8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=0.4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=0.5+0.6−0.4=0.7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441399"/>
                <a:ext cx="9375328" cy="659219"/>
              </a:xfrm>
              <a:prstGeom prst="rect">
                <a:avLst/>
              </a:prstGeom>
              <a:blipFill>
                <a:blip r:embed="rId7"/>
                <a:stretch>
                  <a:fillRect l="-325" t="-4630" b="-10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7F595A-5F88-5716-A160-66C56C91B30C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82430-890A-B9A4-8DCB-65EDE224968A}"/>
              </a:ext>
            </a:extLst>
          </p:cNvPr>
          <p:cNvSpPr txBox="1"/>
          <p:nvPr/>
        </p:nvSpPr>
        <p:spPr>
          <a:xfrm>
            <a:off x="3079103" y="775742"/>
            <a:ext cx="1774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条件概率的计算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EFBE8E7-1ADC-DBBC-2FC2-84F69E29DBDD}"/>
              </a:ext>
            </a:extLst>
          </p:cNvPr>
          <p:cNvGrpSpPr/>
          <p:nvPr/>
        </p:nvGrpSpPr>
        <p:grpSpPr>
          <a:xfrm>
            <a:off x="7964435" y="1956456"/>
            <a:ext cx="1198800" cy="350079"/>
            <a:chOff x="7946728" y="1518227"/>
            <a:chExt cx="1198800" cy="35007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CBF28A7-7BA0-3B5B-58FF-895B43C73267}"/>
                </a:ext>
              </a:extLst>
            </p:cNvPr>
            <p:cNvSpPr/>
            <p:nvPr/>
          </p:nvSpPr>
          <p:spPr>
            <a:xfrm>
              <a:off x="7946728" y="1656727"/>
              <a:ext cx="1198800" cy="211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F4E4AFD-EB2F-0ED0-C784-864138A6C0CD}"/>
                    </a:ext>
                  </a:extLst>
                </p:cNvPr>
                <p:cNvSpPr txBox="1"/>
                <p:nvPr/>
              </p:nvSpPr>
              <p:spPr>
                <a:xfrm>
                  <a:off x="8026851" y="1518227"/>
                  <a:ext cx="1038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=1/3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F4E4AFD-EB2F-0ED0-C784-864138A6C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851" y="1518227"/>
                  <a:ext cx="103855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706" t="-2222" r="-4706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DC1FDF1-4654-4856-026B-87326C906487}"/>
              </a:ext>
            </a:extLst>
          </p:cNvPr>
          <p:cNvGrpSpPr/>
          <p:nvPr/>
        </p:nvGrpSpPr>
        <p:grpSpPr>
          <a:xfrm>
            <a:off x="10649057" y="1836875"/>
            <a:ext cx="905563" cy="451052"/>
            <a:chOff x="13602282" y="1472620"/>
            <a:chExt cx="2263907" cy="45105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C56A9E8-03DB-6A24-CD75-7B87E7824A65}"/>
                </a:ext>
              </a:extLst>
            </p:cNvPr>
            <p:cNvSpPr/>
            <p:nvPr/>
          </p:nvSpPr>
          <p:spPr>
            <a:xfrm>
              <a:off x="14066189" y="1615752"/>
              <a:ext cx="1800000" cy="3079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47C9E1A-94DA-30D7-8BB8-886B94E3278D}"/>
                    </a:ext>
                  </a:extLst>
                </p:cNvPr>
                <p:cNvSpPr txBox="1"/>
                <p:nvPr/>
              </p:nvSpPr>
              <p:spPr>
                <a:xfrm>
                  <a:off x="13602282" y="1472620"/>
                  <a:ext cx="22054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=1/5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47C9E1A-94DA-30D7-8BB8-886B94E32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02282" y="1472620"/>
                  <a:ext cx="220541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517" t="-2174" r="-6207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A39F7F7-0A2A-517B-E371-19459742B895}"/>
              </a:ext>
            </a:extLst>
          </p:cNvPr>
          <p:cNvGrpSpPr/>
          <p:nvPr/>
        </p:nvGrpSpPr>
        <p:grpSpPr>
          <a:xfrm>
            <a:off x="7951401" y="1602474"/>
            <a:ext cx="3668908" cy="695740"/>
            <a:chOff x="7946728" y="1656464"/>
            <a:chExt cx="3668908" cy="695740"/>
          </a:xfrm>
        </p:grpSpPr>
        <p:sp>
          <p:nvSpPr>
            <p:cNvPr id="14" name="右中括号 13">
              <a:extLst>
                <a:ext uri="{FF2B5EF4-FFF2-40B4-BE49-F238E27FC236}">
                  <a16:creationId xmlns:a16="http://schemas.microsoft.com/office/drawing/2014/main" id="{269B0A57-B7B5-93E9-A9CA-6EB5BE430DD3}"/>
                </a:ext>
              </a:extLst>
            </p:cNvPr>
            <p:cNvSpPr/>
            <p:nvPr/>
          </p:nvSpPr>
          <p:spPr>
            <a:xfrm rot="5400000">
              <a:off x="9589825" y="395302"/>
              <a:ext cx="313805" cy="3600000"/>
            </a:xfrm>
            <a:prstGeom prst="rightBracket">
              <a:avLst>
                <a:gd name="adj" fmla="val 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2AFB70-81E4-663C-4A8D-46466D6B5E8C}"/>
                    </a:ext>
                  </a:extLst>
                </p:cNvPr>
                <p:cNvSpPr txBox="1"/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2AFB70-81E4-663C-4A8D-46466D6B5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8362" y="1656464"/>
                  <a:ext cx="577274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7447" r="-6383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5419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317B3ABF-E218-3F80-0B54-45215DCF93A7}"/>
              </a:ext>
            </a:extLst>
          </p:cNvPr>
          <p:cNvGrpSpPr/>
          <p:nvPr/>
        </p:nvGrpSpPr>
        <p:grpSpPr>
          <a:xfrm>
            <a:off x="3698873" y="4485868"/>
            <a:ext cx="4794253" cy="958570"/>
            <a:chOff x="3698873" y="4485868"/>
            <a:chExt cx="4794253" cy="958570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9557FD06-67CC-8ACF-019A-B34FB245BE92}"/>
                </a:ext>
              </a:extLst>
            </p:cNvPr>
            <p:cNvSpPr/>
            <p:nvPr/>
          </p:nvSpPr>
          <p:spPr>
            <a:xfrm>
              <a:off x="3698873" y="4500857"/>
              <a:ext cx="4794253" cy="943108"/>
            </a:xfrm>
            <a:prstGeom prst="roundRect">
              <a:avLst/>
            </a:prstGeom>
            <a:pattFill prst="openDmnd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B1A9A75-D667-3096-5DFB-E391141459DB}"/>
                </a:ext>
              </a:extLst>
            </p:cNvPr>
            <p:cNvGrpSpPr/>
            <p:nvPr/>
          </p:nvGrpSpPr>
          <p:grpSpPr>
            <a:xfrm>
              <a:off x="3698873" y="4485868"/>
              <a:ext cx="4794253" cy="958570"/>
              <a:chOff x="3698873" y="4485868"/>
              <a:chExt cx="4794253" cy="958570"/>
            </a:xfrm>
          </p:grpSpPr>
          <p:sp>
            <p:nvSpPr>
              <p:cNvPr id="52" name="左中括号 51">
                <a:extLst>
                  <a:ext uri="{FF2B5EF4-FFF2-40B4-BE49-F238E27FC236}">
                    <a16:creationId xmlns:a16="http://schemas.microsoft.com/office/drawing/2014/main" id="{25D69315-B90F-DD37-6912-2127944B9538}"/>
                  </a:ext>
                </a:extLst>
              </p:cNvPr>
              <p:cNvSpPr/>
              <p:nvPr/>
            </p:nvSpPr>
            <p:spPr>
              <a:xfrm>
                <a:off x="3698873" y="4486342"/>
                <a:ext cx="139900" cy="958096"/>
              </a:xfrm>
              <a:prstGeom prst="leftBracket">
                <a:avLst>
                  <a:gd name="adj" fmla="val 75269"/>
                </a:avLst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左中括号 52">
                <a:extLst>
                  <a:ext uri="{FF2B5EF4-FFF2-40B4-BE49-F238E27FC236}">
                    <a16:creationId xmlns:a16="http://schemas.microsoft.com/office/drawing/2014/main" id="{AEDE8B95-0F96-4D13-5578-857AAD06F315}"/>
                  </a:ext>
                </a:extLst>
              </p:cNvPr>
              <p:cNvSpPr/>
              <p:nvPr/>
            </p:nvSpPr>
            <p:spPr>
              <a:xfrm rot="10800000">
                <a:off x="8353226" y="4485868"/>
                <a:ext cx="139900" cy="958096"/>
              </a:xfrm>
              <a:prstGeom prst="leftBracket">
                <a:avLst>
                  <a:gd name="adj" fmla="val 75269"/>
                </a:avLst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A189CE5A-8015-0E1C-CA88-F0CCF450EF79}"/>
                      </a:ext>
                    </a:extLst>
                  </p:cNvPr>
                  <p:cNvSpPr txBox="1"/>
                  <p:nvPr/>
                </p:nvSpPr>
                <p:spPr>
                  <a:xfrm>
                    <a:off x="3743593" y="4797427"/>
                    <a:ext cx="38986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altLang="zh-CN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汉仪文黑-85W" panose="00020600040101010101" pitchFamily="18" charset="-128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A189CE5A-8015-0E1C-CA88-F0CCF450EF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3593" y="4797427"/>
                    <a:ext cx="38986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若 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 可分解成 若干较简单的事件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发生，则事件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发生的概率 即为各个事件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发生的概率之和。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430887"/>
              </a:xfrm>
              <a:prstGeom prst="rect">
                <a:avLst/>
              </a:prstGeom>
              <a:blipFill>
                <a:blip r:embed="rId4"/>
                <a:stretch>
                  <a:fillRect l="-274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079103" y="775742"/>
            <a:ext cx="2571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全概率公式、贝叶斯公式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4A51787-FBAE-AD98-6351-0A4B19E50036}"/>
              </a:ext>
            </a:extLst>
          </p:cNvPr>
          <p:cNvSpPr/>
          <p:nvPr/>
        </p:nvSpPr>
        <p:spPr>
          <a:xfrm>
            <a:off x="576364" y="2031770"/>
            <a:ext cx="1457709" cy="46031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全概率公式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B91624-88D5-8727-6A05-2F1DA0F57D9F}"/>
                  </a:ext>
                </a:extLst>
              </p:cNvPr>
              <p:cNvSpPr txBox="1"/>
              <p:nvPr/>
            </p:nvSpPr>
            <p:spPr>
              <a:xfrm>
                <a:off x="2111589" y="1895994"/>
                <a:ext cx="6837858" cy="73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两两</m:t>
                            </m:r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互斥</m:t>
                            </m:r>
                          </m:e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𝐵𝐴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nary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8B91624-88D5-8727-6A05-2F1DA0F57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89" y="1895994"/>
                <a:ext cx="6837858" cy="731867"/>
              </a:xfrm>
              <a:prstGeom prst="rect">
                <a:avLst/>
              </a:prstGeom>
              <a:blipFill>
                <a:blip r:embed="rId5"/>
                <a:stretch>
                  <a:fillRect l="-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星形: 五角 4">
            <a:extLst>
              <a:ext uri="{FF2B5EF4-FFF2-40B4-BE49-F238E27FC236}">
                <a16:creationId xmlns:a16="http://schemas.microsoft.com/office/drawing/2014/main" id="{51F3462D-66EA-29D7-9C2A-458D9A470086}"/>
              </a:ext>
            </a:extLst>
          </p:cNvPr>
          <p:cNvSpPr/>
          <p:nvPr/>
        </p:nvSpPr>
        <p:spPr>
          <a:xfrm>
            <a:off x="5961320" y="2010515"/>
            <a:ext cx="134679" cy="13467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F667192-B3A9-06B3-556C-0157A7ACEE2F}"/>
                  </a:ext>
                </a:extLst>
              </p:cNvPr>
              <p:cNvSpPr/>
              <p:nvPr/>
            </p:nvSpPr>
            <p:spPr>
              <a:xfrm>
                <a:off x="7996136" y="1984730"/>
                <a:ext cx="3619500" cy="55439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注：取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为基本事件可以轻松满足公式的条件。</a:t>
                </a:r>
                <a:endParaRPr lang="en-US" altLang="zh-CN" sz="12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|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必然为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1.</a:t>
                </a:r>
                <a:endParaRPr lang="zh-CN" altLang="en-US" sz="12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F667192-B3A9-06B3-556C-0157A7ACE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36" y="1984730"/>
                <a:ext cx="3619500" cy="554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66E9485-A41E-B019-CEF4-1D36CC15A586}"/>
                  </a:ext>
                </a:extLst>
              </p:cNvPr>
              <p:cNvSpPr txBox="1"/>
              <p:nvPr/>
            </p:nvSpPr>
            <p:spPr>
              <a:xfrm>
                <a:off x="507460" y="2818271"/>
                <a:ext cx="1110817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若 已知事件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发生的概率，则可根据全概率公式，推导出事件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是由分支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完成的概率。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66E9485-A41E-B019-CEF4-1D36CC15A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818271"/>
                <a:ext cx="11108176" cy="430887"/>
              </a:xfrm>
              <a:prstGeom prst="rect">
                <a:avLst/>
              </a:prstGeom>
              <a:blipFill>
                <a:blip r:embed="rId7"/>
                <a:stretch>
                  <a:fillRect l="-274"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34D97C-F1E3-D16C-D8E8-6CAE525679EF}"/>
              </a:ext>
            </a:extLst>
          </p:cNvPr>
          <p:cNvSpPr/>
          <p:nvPr/>
        </p:nvSpPr>
        <p:spPr>
          <a:xfrm>
            <a:off x="576363" y="3420809"/>
            <a:ext cx="1457709" cy="4603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贝叶斯公式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6D733EA-2772-C56D-0AF1-182D71E2AFDB}"/>
              </a:ext>
            </a:extLst>
          </p:cNvPr>
          <p:cNvCxnSpPr>
            <a:cxnSpLocks/>
          </p:cNvCxnSpPr>
          <p:nvPr/>
        </p:nvCxnSpPr>
        <p:spPr>
          <a:xfrm>
            <a:off x="590540" y="4245381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B44D86D-FEC7-9D31-3383-0C38B3851DC5}"/>
                  </a:ext>
                </a:extLst>
              </p:cNvPr>
              <p:cNvSpPr txBox="1"/>
              <p:nvPr/>
            </p:nvSpPr>
            <p:spPr>
              <a:xfrm>
                <a:off x="2111589" y="3285033"/>
                <a:ext cx="5884547" cy="73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两两</m:t>
                            </m:r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互斥</m:t>
                            </m:r>
                          </m:e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𝐵𝐴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nary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B44D86D-FEC7-9D31-3383-0C38B3851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89" y="3285033"/>
                <a:ext cx="5884547" cy="731867"/>
              </a:xfrm>
              <a:prstGeom prst="rect">
                <a:avLst/>
              </a:prstGeom>
              <a:blipFill>
                <a:blip r:embed="rId8"/>
                <a:stretch>
                  <a:fillRect l="-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星形: 五角 24">
            <a:extLst>
              <a:ext uri="{FF2B5EF4-FFF2-40B4-BE49-F238E27FC236}">
                <a16:creationId xmlns:a16="http://schemas.microsoft.com/office/drawing/2014/main" id="{35D9B929-CD12-0487-950E-1F403B06CE35}"/>
              </a:ext>
            </a:extLst>
          </p:cNvPr>
          <p:cNvSpPr/>
          <p:nvPr/>
        </p:nvSpPr>
        <p:spPr>
          <a:xfrm>
            <a:off x="4894765" y="3365018"/>
            <a:ext cx="134679" cy="13467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98E67A6-AB60-96D8-E17F-A93F014D2D94}"/>
                  </a:ext>
                </a:extLst>
              </p:cNvPr>
              <p:cNvSpPr/>
              <p:nvPr/>
            </p:nvSpPr>
            <p:spPr>
              <a:xfrm>
                <a:off x="7996136" y="3435453"/>
                <a:ext cx="3619500" cy="430887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注：式中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12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为定值。</a:t>
                </a: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98E67A6-AB60-96D8-E17F-A93F014D2D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36" y="3435453"/>
                <a:ext cx="36195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5F979756-FC88-085F-2B20-BCC3F8FA31AE}"/>
              </a:ext>
            </a:extLst>
          </p:cNvPr>
          <p:cNvGrpSpPr/>
          <p:nvPr/>
        </p:nvGrpSpPr>
        <p:grpSpPr>
          <a:xfrm>
            <a:off x="4251654" y="4431442"/>
            <a:ext cx="3688691" cy="1050788"/>
            <a:chOff x="4251654" y="4648877"/>
            <a:chExt cx="3688691" cy="10507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AB5E08-8537-4626-6AD0-3F63DA46CAFB}"/>
                    </a:ext>
                  </a:extLst>
                </p:cNvPr>
                <p:cNvSpPr/>
                <p:nvPr/>
              </p:nvSpPr>
              <p:spPr>
                <a:xfrm>
                  <a:off x="4251654" y="5267665"/>
                  <a:ext cx="3688691" cy="432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AB5E08-8537-4626-6AD0-3F63DA46CA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1654" y="5267665"/>
                  <a:ext cx="3688691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ABFBB886-D5C0-E1CB-AAD7-3BD8D901CF23}"/>
                </a:ext>
              </a:extLst>
            </p:cNvPr>
            <p:cNvGrpSpPr/>
            <p:nvPr/>
          </p:nvGrpSpPr>
          <p:grpSpPr>
            <a:xfrm>
              <a:off x="4251654" y="4648877"/>
              <a:ext cx="3688691" cy="642869"/>
              <a:chOff x="4251654" y="4712902"/>
              <a:chExt cx="3688691" cy="6428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2C800D88-77EB-847D-7CCD-4DE992E451FF}"/>
                      </a:ext>
                    </a:extLst>
                  </p:cNvPr>
                  <p:cNvSpPr/>
                  <p:nvPr/>
                </p:nvSpPr>
                <p:spPr>
                  <a:xfrm>
                    <a:off x="4251654" y="4712902"/>
                    <a:ext cx="608607" cy="43200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2C800D88-77EB-847D-7CCD-4DE992E451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1654" y="4712902"/>
                    <a:ext cx="608607" cy="4320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矩形 28">
                    <a:extLst>
                      <a:ext uri="{FF2B5EF4-FFF2-40B4-BE49-F238E27FC236}">
                        <a16:creationId xmlns:a16="http://schemas.microsoft.com/office/drawing/2014/main" id="{C87CE1FE-8C9C-2766-727F-53357EA56E5C}"/>
                      </a:ext>
                    </a:extLst>
                  </p:cNvPr>
                  <p:cNvSpPr/>
                  <p:nvPr/>
                </p:nvSpPr>
                <p:spPr>
                  <a:xfrm>
                    <a:off x="5021675" y="4712902"/>
                    <a:ext cx="608607" cy="43200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" name="矩形 28">
                    <a:extLst>
                      <a:ext uri="{FF2B5EF4-FFF2-40B4-BE49-F238E27FC236}">
                        <a16:creationId xmlns:a16="http://schemas.microsoft.com/office/drawing/2014/main" id="{C87CE1FE-8C9C-2766-727F-53357EA56E5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1675" y="4712902"/>
                    <a:ext cx="608607" cy="4320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57560B1F-44DD-3606-7721-C37547E848C9}"/>
                      </a:ext>
                    </a:extLst>
                  </p:cNvPr>
                  <p:cNvSpPr/>
                  <p:nvPr/>
                </p:nvSpPr>
                <p:spPr>
                  <a:xfrm>
                    <a:off x="5791696" y="4712902"/>
                    <a:ext cx="608607" cy="43200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57560B1F-44DD-3606-7721-C37547E848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1696" y="4712902"/>
                    <a:ext cx="608607" cy="4320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4C480091-48B8-298F-CC90-FD2706491BC9}"/>
                      </a:ext>
                    </a:extLst>
                  </p:cNvPr>
                  <p:cNvSpPr/>
                  <p:nvPr/>
                </p:nvSpPr>
                <p:spPr>
                  <a:xfrm>
                    <a:off x="7331738" y="4712902"/>
                    <a:ext cx="608607" cy="43200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4C480091-48B8-298F-CC90-FD2706491B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1738" y="4712902"/>
                    <a:ext cx="608607" cy="4320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03BD0B8-DEA3-B455-6703-B022B7F9DF51}"/>
                  </a:ext>
                </a:extLst>
              </p:cNvPr>
              <p:cNvSpPr txBox="1"/>
              <p:nvPr/>
            </p:nvSpPr>
            <p:spPr>
              <a:xfrm>
                <a:off x="6594149" y="4744236"/>
                <a:ext cx="5437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5"/>
                    </a:solidFill>
                  </a:rPr>
                  <a:t>……</a:t>
                </a:r>
                <a:endParaRPr lang="zh-CN" altLang="en-US" dirty="0">
                  <a:solidFill>
                    <a:schemeClr val="accent5"/>
                  </a:solidFill>
                </a:endParaRPr>
              </a:p>
            </p:txBody>
          </p: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CE944312-BEF7-10A9-0D0B-E5963A8043D7}"/>
                  </a:ext>
                </a:extLst>
              </p:cNvPr>
              <p:cNvCxnSpPr>
                <a:cxnSpLocks/>
                <a:stCxn id="28" idx="2"/>
              </p:cNvCxnSpPr>
              <p:nvPr/>
            </p:nvCxnSpPr>
            <p:spPr>
              <a:xfrm>
                <a:off x="4555958" y="5144902"/>
                <a:ext cx="0" cy="210869"/>
              </a:xfrm>
              <a:prstGeom prst="straightConnector1">
                <a:avLst/>
              </a:prstGeom>
              <a:ln w="12700"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5400000" scaled="0"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7D08717D-6A47-99D8-1C53-55CA7883A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5978" y="5144902"/>
                <a:ext cx="0" cy="210869"/>
              </a:xfrm>
              <a:prstGeom prst="straightConnector1">
                <a:avLst/>
              </a:prstGeom>
              <a:ln w="12700"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5400000" scaled="0"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D8A70E64-DD18-6856-E9B6-73A676750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5999" y="5144901"/>
                <a:ext cx="0" cy="210869"/>
              </a:xfrm>
              <a:prstGeom prst="straightConnector1">
                <a:avLst/>
              </a:prstGeom>
              <a:ln w="12700"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5400000" scaled="0"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12F0144-555F-5291-2839-A55414618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36041" y="5144900"/>
                <a:ext cx="0" cy="210869"/>
              </a:xfrm>
              <a:prstGeom prst="straightConnector1">
                <a:avLst/>
              </a:prstGeom>
              <a:ln w="12700">
                <a:gradFill>
                  <a:gsLst>
                    <a:gs pos="0">
                      <a:schemeClr val="accent5"/>
                    </a:gs>
                    <a:gs pos="100000">
                      <a:schemeClr val="accent6"/>
                    </a:gs>
                  </a:gsLst>
                  <a:lin ang="5400000" scaled="0"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8C3B42B-C026-9BBF-CF77-E37D07E48719}"/>
                  </a:ext>
                </a:extLst>
              </p:cNvPr>
              <p:cNvSpPr txBox="1"/>
              <p:nvPr/>
            </p:nvSpPr>
            <p:spPr>
              <a:xfrm>
                <a:off x="1224708" y="4413451"/>
                <a:ext cx="20084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effectLst/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effectLst/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effectLst/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发生的概率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8C3B42B-C026-9BBF-CF77-E37D07E48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708" y="4413451"/>
                <a:ext cx="2008447" cy="338554"/>
              </a:xfrm>
              <a:prstGeom prst="rect">
                <a:avLst/>
              </a:prstGeom>
              <a:blipFill>
                <a:blip r:embed="rId15"/>
                <a:stretch>
                  <a:fillRect l="-1824" t="-5357" r="-1520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964A8BF-5C34-E06A-B448-E2CC1E4C3FAB}"/>
                  </a:ext>
                </a:extLst>
              </p:cNvPr>
              <p:cNvSpPr txBox="1"/>
              <p:nvPr/>
            </p:nvSpPr>
            <p:spPr>
              <a:xfrm>
                <a:off x="507460" y="4832108"/>
                <a:ext cx="3542025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1600" u="sng" dirty="0"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前提</a:t>
                </a:r>
                <a:endParaRPr lang="en-US" altLang="zh-CN" sz="1600" u="sng" dirty="0"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𝐵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完全由两两互斥的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组成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𝐵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都有交集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𝐵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发生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⇔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有且只有一个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𝐵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同时发生）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964A8BF-5C34-E06A-B448-E2CC1E4C3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832108"/>
                <a:ext cx="3542025" cy="1061829"/>
              </a:xfrm>
              <a:prstGeom prst="rect">
                <a:avLst/>
              </a:prstGeom>
              <a:blipFill>
                <a:blip r:embed="rId16"/>
                <a:stretch>
                  <a:fillRect l="-2926" t="-1724" r="-3098" b="-4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A59D80EA-8C21-637F-75BC-4F5BAE9C9D50}"/>
              </a:ext>
            </a:extLst>
          </p:cNvPr>
          <p:cNvSpPr txBox="1"/>
          <p:nvPr/>
        </p:nvSpPr>
        <p:spPr>
          <a:xfrm>
            <a:off x="8055656" y="4419288"/>
            <a:ext cx="368869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600" u="sng" dirty="0">
                <a:solidFill>
                  <a:schemeClr val="accent4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全概率公式</a:t>
            </a:r>
            <a:endParaRPr lang="en-US" altLang="zh-CN" sz="1600" u="sng" dirty="0">
              <a:solidFill>
                <a:schemeClr val="accent4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汉仪文黑-85W" panose="00020600040101010101" pitchFamily="18" charset="-128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总概率 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各路径概率之和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2C4A815-0F19-9918-0607-C835E97A9555}"/>
              </a:ext>
            </a:extLst>
          </p:cNvPr>
          <p:cNvSpPr txBox="1"/>
          <p:nvPr/>
        </p:nvSpPr>
        <p:spPr>
          <a:xfrm>
            <a:off x="8055655" y="5166759"/>
            <a:ext cx="368869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600" u="sng" dirty="0">
                <a:solidFill>
                  <a:schemeClr val="accent2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贝叶斯公式</a:t>
            </a:r>
            <a:endParaRPr lang="en-US" altLang="zh-CN" sz="1600" u="sng" dirty="0">
              <a:solidFill>
                <a:schemeClr val="accent2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汉仪文黑-85W" panose="00020600040101010101" pitchFamily="18" charset="-128"/>
            </a:endParaRPr>
          </a:p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选择某路径的概率 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该路径的概率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总概率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3791F06-C560-B933-D824-FDD03FDD8607}"/>
              </a:ext>
            </a:extLst>
          </p:cNvPr>
          <p:cNvGrpSpPr/>
          <p:nvPr/>
        </p:nvGrpSpPr>
        <p:grpSpPr>
          <a:xfrm>
            <a:off x="4192084" y="5546462"/>
            <a:ext cx="3804052" cy="307778"/>
            <a:chOff x="4192084" y="5849143"/>
            <a:chExt cx="3804052" cy="307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FFC7C57-B261-A7F0-72C5-5EC492C4BEB6}"/>
                    </a:ext>
                  </a:extLst>
                </p:cNvPr>
                <p:cNvSpPr txBox="1"/>
                <p:nvPr/>
              </p:nvSpPr>
              <p:spPr>
                <a:xfrm>
                  <a:off x="4192084" y="5849144"/>
                  <a:ext cx="72774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oMath>
                    </m:oMathPara>
                  </a14:m>
                  <a:endParaRPr lang="zh-CN" altLang="en-US" sz="1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FFC7C57-B261-A7F0-72C5-5EC492C4B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2084" y="5849144"/>
                  <a:ext cx="727746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DB54DA9C-1C8D-31C3-3BBB-911E640508F8}"/>
                    </a:ext>
                  </a:extLst>
                </p:cNvPr>
                <p:cNvSpPr txBox="1"/>
                <p:nvPr/>
              </p:nvSpPr>
              <p:spPr>
                <a:xfrm>
                  <a:off x="4962105" y="5849144"/>
                  <a:ext cx="72774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1400" b="0" i="1">
                      <a:solidFill>
                        <a:schemeClr val="accent5"/>
                      </a:solidFill>
                      <a:latin typeface="Cambria Math" panose="02040503050406030204" pitchFamily="18" charset="0"/>
                      <a:ea typeface="楷体" panose="02010609060101010101" pitchFamily="49" charset="-122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DB54DA9C-1C8D-31C3-3BBB-911E64050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2105" y="5849144"/>
                  <a:ext cx="727746" cy="30777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C7EDA6B-51C3-9043-8471-AC01CE796E84}"/>
                    </a:ext>
                  </a:extLst>
                </p:cNvPr>
                <p:cNvSpPr txBox="1"/>
                <p:nvPr/>
              </p:nvSpPr>
              <p:spPr>
                <a:xfrm>
                  <a:off x="5732126" y="5849143"/>
                  <a:ext cx="72774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1400" b="0" i="1">
                      <a:solidFill>
                        <a:schemeClr val="accent5"/>
                      </a:solidFill>
                      <a:latin typeface="Cambria Math" panose="02040503050406030204" pitchFamily="18" charset="0"/>
                      <a:ea typeface="楷体" panose="02010609060101010101" pitchFamily="49" charset="-122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C7EDA6B-51C3-9043-8471-AC01CE796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2126" y="5849143"/>
                  <a:ext cx="727746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6E027DA-9CFE-A6F5-781C-0326DC279196}"/>
                    </a:ext>
                  </a:extLst>
                </p:cNvPr>
                <p:cNvSpPr txBox="1"/>
                <p:nvPr/>
              </p:nvSpPr>
              <p:spPr>
                <a:xfrm>
                  <a:off x="7268390" y="5849143"/>
                  <a:ext cx="72774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1400" b="0" i="1">
                      <a:solidFill>
                        <a:schemeClr val="accent5"/>
                      </a:solidFill>
                      <a:latin typeface="Cambria Math" panose="02040503050406030204" pitchFamily="18" charset="0"/>
                      <a:ea typeface="楷体" panose="02010609060101010101" pitchFamily="49" charset="-122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6E027DA-9CFE-A6F5-781C-0326DC279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390" y="5849143"/>
                  <a:ext cx="727746" cy="3077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62283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4" grpId="0"/>
      <p:bldP spid="5" grpId="0" animBg="1"/>
      <p:bldP spid="12" grpId="0" animBg="1"/>
      <p:bldP spid="13" grpId="0"/>
      <p:bldP spid="14" grpId="0" animBg="1"/>
      <p:bldP spid="19" grpId="0"/>
      <p:bldP spid="25" grpId="0" animBg="1"/>
      <p:bldP spid="26" grpId="0" animBg="1"/>
      <p:bldP spid="42" grpId="0"/>
      <p:bldP spid="43" grpId="0"/>
      <p:bldP spid="44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9A48C2F-C397-1AB5-176A-8D4A6BFAAC2F}"/>
              </a:ext>
            </a:extLst>
          </p:cNvPr>
          <p:cNvSpPr txBox="1"/>
          <p:nvPr/>
        </p:nvSpPr>
        <p:spPr>
          <a:xfrm>
            <a:off x="507460" y="1425186"/>
            <a:ext cx="11108176" cy="1042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4.1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：某高校规定一门课程除了期末考试之外可以再给两次补考机会。某同学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《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概率论与数理统计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》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课程的基础不扎实，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他每次考试及格的概率为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60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％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.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求：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(1)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该同学最终通过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《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概率论与数理统计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》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的概率。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(2)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若已知他通过了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《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概率论与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数理统计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》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，求他是第二次补考通过的概率。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593060"/>
                <a:ext cx="11108176" cy="1638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设他第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</a:t>
                </a:r>
                <a:r>
                  <a:rPr lang="zh-CN" altLang="en-US" sz="16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才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通过考试为事件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=1,2,3)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，他最终通过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《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概率论与数理统计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》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=0.6,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=0.4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×0.6=0.24,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=0.4×0.4×0.6=0.096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由全概率公式，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=0.936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(2)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由题意，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0.096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0.936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39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593060"/>
                <a:ext cx="11108176" cy="1638525"/>
              </a:xfrm>
              <a:prstGeom prst="rect">
                <a:avLst/>
              </a:prstGeom>
              <a:blipFill>
                <a:blip r:embed="rId3"/>
                <a:stretch>
                  <a:fillRect l="-274" t="-1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7F595A-5F88-5716-A160-66C56C91B30C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82430-890A-B9A4-8DCB-65EDE224968A}"/>
              </a:ext>
            </a:extLst>
          </p:cNvPr>
          <p:cNvSpPr txBox="1"/>
          <p:nvPr/>
        </p:nvSpPr>
        <p:spPr>
          <a:xfrm>
            <a:off x="3079103" y="775742"/>
            <a:ext cx="3439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全概率公式与贝叶斯公式的应用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475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9A48C2F-C397-1AB5-176A-8D4A6BFAAC2F}"/>
              </a:ext>
            </a:extLst>
          </p:cNvPr>
          <p:cNvSpPr txBox="1"/>
          <p:nvPr/>
        </p:nvSpPr>
        <p:spPr>
          <a:xfrm>
            <a:off x="507460" y="1425186"/>
            <a:ext cx="11108176" cy="1042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例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4.2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：已知甲、乙两箱中装有同种产品，其中甲箱中装有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件合格品和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件次品，乙箱中仅有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件合格品。从甲箱中任取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产品放入乙箱后，求：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(1)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从乙箱中任取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1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件产品取到次品的概率；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(2)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如果从乙箱中取到一件次品，则从甲箱中取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        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产品时，有</a:t>
            </a:r>
            <a:r>
              <a:rPr lang="en-US" altLang="zh-CN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sz="1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件是次品的概率是多少？</a:t>
            </a:r>
            <a:endParaRPr lang="en-US" altLang="zh-CN" sz="1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593060"/>
                <a:ext cx="11108176" cy="1937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由题意，设事件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为“从甲箱中取得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件产品，其中有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件是次品”，则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=0,1,2,3)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为“从乙箱中任取一件产品取到次品”，则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则由全概率公式，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(2)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由题意，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6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bSup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·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den>
                        </m:f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1/4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593060"/>
                <a:ext cx="11108176" cy="1937069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7F595A-5F88-5716-A160-66C56C91B30C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82430-890A-B9A4-8DCB-65EDE224968A}"/>
              </a:ext>
            </a:extLst>
          </p:cNvPr>
          <p:cNvSpPr txBox="1"/>
          <p:nvPr/>
        </p:nvSpPr>
        <p:spPr>
          <a:xfrm>
            <a:off x="3079103" y="775742"/>
            <a:ext cx="3439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全概率公式与贝叶斯公式的应用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48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473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根据条件概率的定义，事件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A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 条件概率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和 无条件概率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一般是不相等的。</a:t>
                </a:r>
                <a:endParaRPr lang="en-US" altLang="zh-CN" sz="1600" dirty="0">
                  <a:solidFill>
                    <a:schemeClr val="tx1"/>
                  </a:solidFill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然而，如果这两事件发生在不同的“维度”，那么条件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将无法产生约束，此时条件概率与无条件概率相等。</a:t>
                </a:r>
                <a:endParaRPr lang="en-US" altLang="zh-CN" sz="1600" dirty="0">
                  <a:solidFill>
                    <a:schemeClr val="tx1"/>
                  </a:solidFill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此时我们称 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与事件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en-US" altLang="zh-CN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相互独立。</a:t>
                </a:r>
                <a:endParaRPr lang="en-US" altLang="zh-CN" sz="1600" dirty="0">
                  <a:solidFill>
                    <a:schemeClr val="tx1"/>
                  </a:solidFill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可以认为是 事件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无法影响到事件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的样本空间。也就是说，倘若一定要在一个样本空间内研究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，那么样本空间必须“升维”。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473032"/>
              </a:xfrm>
              <a:prstGeom prst="rect">
                <a:avLst/>
              </a:prstGeom>
              <a:blipFill>
                <a:blip r:embed="rId3"/>
                <a:stretch>
                  <a:fillRect l="-274" b="-3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079103" y="775742"/>
            <a:ext cx="1645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事件的独立性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87E3A9B-7CA1-74B9-A9F4-6E7E7F94A6CF}"/>
              </a:ext>
            </a:extLst>
          </p:cNvPr>
          <p:cNvSpPr/>
          <p:nvPr/>
        </p:nvSpPr>
        <p:spPr>
          <a:xfrm>
            <a:off x="576364" y="3120030"/>
            <a:ext cx="1457709" cy="46031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独立事件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4988EE6-B04F-8589-C12D-320A70A5531D}"/>
                  </a:ext>
                </a:extLst>
              </p:cNvPr>
              <p:cNvSpPr txBox="1"/>
              <p:nvPr/>
            </p:nvSpPr>
            <p:spPr>
              <a:xfrm>
                <a:off x="2111590" y="3180912"/>
                <a:ext cx="6251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满足：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相互独立。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4988EE6-B04F-8589-C12D-320A70A55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90" y="3180912"/>
                <a:ext cx="6251500" cy="338554"/>
              </a:xfrm>
              <a:prstGeom prst="rect">
                <a:avLst/>
              </a:prstGeom>
              <a:blipFill>
                <a:blip r:embed="rId4"/>
                <a:stretch>
                  <a:fillRect l="-487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2E7B805A-3396-5CF1-59E7-15AF0648D0FB}"/>
              </a:ext>
            </a:extLst>
          </p:cNvPr>
          <p:cNvSpPr/>
          <p:nvPr/>
        </p:nvSpPr>
        <p:spPr>
          <a:xfrm>
            <a:off x="8363089" y="3160766"/>
            <a:ext cx="3252546" cy="3682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注：务必区分 独立 与 互斥！！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36FA60-6A5C-6813-B953-90B5FF940691}"/>
              </a:ext>
            </a:extLst>
          </p:cNvPr>
          <p:cNvGrpSpPr/>
          <p:nvPr/>
        </p:nvGrpSpPr>
        <p:grpSpPr>
          <a:xfrm>
            <a:off x="576363" y="3738193"/>
            <a:ext cx="5205566" cy="760151"/>
            <a:chOff x="576363" y="4501901"/>
            <a:chExt cx="5205566" cy="760151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16C8219-033F-3624-0D50-AA155133E418}"/>
                </a:ext>
              </a:extLst>
            </p:cNvPr>
            <p:cNvCxnSpPr>
              <a:cxnSpLocks/>
            </p:cNvCxnSpPr>
            <p:nvPr/>
          </p:nvCxnSpPr>
          <p:spPr>
            <a:xfrm>
              <a:off x="576363" y="4846814"/>
              <a:ext cx="5205566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B222496-62E9-B6DB-784B-C6BFA56B8336}"/>
                </a:ext>
              </a:extLst>
            </p:cNvPr>
            <p:cNvSpPr txBox="1"/>
            <p:nvPr/>
          </p:nvSpPr>
          <p:spPr>
            <a:xfrm>
              <a:off x="576363" y="4501901"/>
              <a:ext cx="5205566" cy="344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独立事件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A08E923-380A-811C-E037-37921E581094}"/>
                    </a:ext>
                  </a:extLst>
                </p:cNvPr>
                <p:cNvSpPr txBox="1"/>
                <p:nvPr/>
              </p:nvSpPr>
              <p:spPr>
                <a:xfrm>
                  <a:off x="576363" y="4923498"/>
                  <a:ext cx="52055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，单独看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的样本空间不一致</a:t>
                  </a: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A08E923-380A-811C-E037-37921E581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3" y="4923498"/>
                  <a:ext cx="520556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92CD144-7C70-C445-8471-D414A54B2CE7}"/>
              </a:ext>
            </a:extLst>
          </p:cNvPr>
          <p:cNvGrpSpPr/>
          <p:nvPr/>
        </p:nvGrpSpPr>
        <p:grpSpPr>
          <a:xfrm>
            <a:off x="6410073" y="3738193"/>
            <a:ext cx="5205567" cy="760151"/>
            <a:chOff x="6410073" y="4501901"/>
            <a:chExt cx="5205567" cy="760151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10F09F6-A19E-0954-4753-058EA1081285}"/>
                </a:ext>
              </a:extLst>
            </p:cNvPr>
            <p:cNvCxnSpPr>
              <a:cxnSpLocks/>
            </p:cNvCxnSpPr>
            <p:nvPr/>
          </p:nvCxnSpPr>
          <p:spPr>
            <a:xfrm>
              <a:off x="6410074" y="4846814"/>
              <a:ext cx="520556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A2406F-40C9-012A-0E86-FBE9A7F596E0}"/>
                </a:ext>
              </a:extLst>
            </p:cNvPr>
            <p:cNvSpPr txBox="1"/>
            <p:nvPr/>
          </p:nvSpPr>
          <p:spPr>
            <a:xfrm>
              <a:off x="6410074" y="4501901"/>
              <a:ext cx="5205566" cy="344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互斥事件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06064B0-3CFE-157A-CE1E-9E9626B2A298}"/>
                    </a:ext>
                  </a:extLst>
                </p:cNvPr>
                <p:cNvSpPr txBox="1"/>
                <p:nvPr/>
              </p:nvSpPr>
              <p:spPr>
                <a:xfrm>
                  <a:off x="6410073" y="4923498"/>
                  <a:ext cx="520556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，单独看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的样本空间可以一致</a:t>
                  </a: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06064B0-3CFE-157A-CE1E-9E9626B2A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073" y="4923498"/>
                  <a:ext cx="5205562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65DC4C5-7982-840B-B00C-21D2DEAB98C7}"/>
                  </a:ext>
                </a:extLst>
              </p:cNvPr>
              <p:cNvSpPr txBox="1"/>
              <p:nvPr/>
            </p:nvSpPr>
            <p:spPr>
              <a:xfrm>
                <a:off x="576363" y="4575027"/>
                <a:ext cx="52055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e.g. 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掷骰子掷出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6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；事件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次掷骰子掷出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则单独研究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，它们的样本空间显然不同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65DC4C5-7982-840B-B00C-21D2DEAB9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4575027"/>
                <a:ext cx="5205566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BD9CBA7-877A-8141-6BD2-E69329FCE14F}"/>
                  </a:ext>
                </a:extLst>
              </p:cNvPr>
              <p:cNvSpPr txBox="1"/>
              <p:nvPr/>
            </p:nvSpPr>
            <p:spPr>
              <a:xfrm>
                <a:off x="6410069" y="4575027"/>
                <a:ext cx="52055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e.g. 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掷一次骰子，事件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掷骰子掷出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6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；事件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掷骰子掷出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则单独研究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，可以在一个样本空间下研究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BD9CBA7-877A-8141-6BD2-E69329FCE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069" y="4575027"/>
                <a:ext cx="5205566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2A9D77C-9C95-9978-4C2D-3ACFDC0931B5}"/>
                  </a:ext>
                </a:extLst>
              </p:cNvPr>
              <p:cNvSpPr/>
              <p:nvPr/>
            </p:nvSpPr>
            <p:spPr>
              <a:xfrm>
                <a:off x="576359" y="5248706"/>
                <a:ext cx="11039275" cy="473231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独立关于逆运算封闭。即：若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相互独立，则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acc>
                    <m: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acc>
                      <m:accPr>
                        <m:chr m:val="̅"/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acc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acc>
                      <m:accPr>
                        <m:chr m:val="̅"/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acc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均相互独立。</a:t>
                </a: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2A9D77C-9C95-9978-4C2D-3ACFDC093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59" y="5248706"/>
                <a:ext cx="11039275" cy="4732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3156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/>
      <p:bldP spid="14" grpId="0" animBg="1"/>
      <p:bldP spid="30" grpId="0"/>
      <p:bldP spid="31" grpId="0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是相互独立的随机事件，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=1/9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blipFill>
                <a:blip r:embed="rId3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66962"/>
                <a:ext cx="8479591" cy="1434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=1/9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ea typeface="华文宋体" panose="02010600040101010101" pitchFamily="2" charset="-122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=(1−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=1/3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=2/3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=2/9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66962"/>
                <a:ext cx="8479591" cy="1434175"/>
              </a:xfrm>
              <a:prstGeom prst="rect">
                <a:avLst/>
              </a:prstGeom>
              <a:blipFill>
                <a:blip r:embed="rId4"/>
                <a:stretch>
                  <a:fillRect l="-359" t="-2119" b="-12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90540" y="3649142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935062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为相互独立的随机事件，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=1,2,3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，则这三个事件恰好发生一个的概率为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________.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935062"/>
                <a:ext cx="11108176" cy="339132"/>
              </a:xfrm>
              <a:prstGeom prst="rect">
                <a:avLst/>
              </a:prstGeom>
              <a:blipFill>
                <a:blip r:embed="rId5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60" y="4402413"/>
                <a:ext cx="9375328" cy="659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402413"/>
                <a:ext cx="9375328" cy="659796"/>
              </a:xfrm>
              <a:prstGeom prst="rect">
                <a:avLst/>
              </a:prstGeom>
              <a:blipFill>
                <a:blip r:embed="rId6"/>
                <a:stretch>
                  <a:fillRect l="-325" t="-4630" b="-10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7F595A-5F88-5716-A160-66C56C91B30C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494E67-AE5C-4BEB-3268-05EFA4212D13}"/>
              </a:ext>
            </a:extLst>
          </p:cNvPr>
          <p:cNvSpPr txBox="1"/>
          <p:nvPr/>
        </p:nvSpPr>
        <p:spPr>
          <a:xfrm>
            <a:off x="3079103" y="775742"/>
            <a:ext cx="1645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事件的独立性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3345E4-1D1E-ECFA-8A2A-D69B82FA8B25}"/>
              </a:ext>
            </a:extLst>
          </p:cNvPr>
          <p:cNvGrpSpPr/>
          <p:nvPr/>
        </p:nvGrpSpPr>
        <p:grpSpPr>
          <a:xfrm>
            <a:off x="9807218" y="1423372"/>
            <a:ext cx="594000" cy="1800000"/>
            <a:chOff x="9807218" y="1423372"/>
            <a:chExt cx="594000" cy="18000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25E229A-4F42-BC23-8652-D496F5B9ACBA}"/>
                </a:ext>
              </a:extLst>
            </p:cNvPr>
            <p:cNvSpPr/>
            <p:nvPr/>
          </p:nvSpPr>
          <p:spPr>
            <a:xfrm>
              <a:off x="9807218" y="1423372"/>
              <a:ext cx="594000" cy="1800000"/>
            </a:xfrm>
            <a:prstGeom prst="rect">
              <a:avLst/>
            </a:prstGeom>
            <a:solidFill>
              <a:schemeClr val="accent5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43D8A39-6B92-12AB-CD57-19DD52F3DFEC}"/>
                    </a:ext>
                  </a:extLst>
                </p:cNvPr>
                <p:cNvSpPr txBox="1"/>
                <p:nvPr/>
              </p:nvSpPr>
              <p:spPr>
                <a:xfrm>
                  <a:off x="9855303" y="2680651"/>
                  <a:ext cx="4978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43D8A39-6B92-12AB-CD57-19DD52F3D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5303" y="2680651"/>
                  <a:ext cx="497829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8642" t="-5000" r="-35802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BD9FAC2-6A62-AAF4-50E5-445B8AD544B0}"/>
              </a:ext>
            </a:extLst>
          </p:cNvPr>
          <p:cNvGrpSpPr/>
          <p:nvPr/>
        </p:nvGrpSpPr>
        <p:grpSpPr>
          <a:xfrm>
            <a:off x="10401217" y="1428387"/>
            <a:ext cx="1197581" cy="1800000"/>
            <a:chOff x="10401217" y="1428387"/>
            <a:chExt cx="1197581" cy="1800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365BA2F-3F8B-0AB8-6B70-7EF3065A0574}"/>
                </a:ext>
              </a:extLst>
            </p:cNvPr>
            <p:cNvSpPr/>
            <p:nvPr/>
          </p:nvSpPr>
          <p:spPr>
            <a:xfrm>
              <a:off x="10401217" y="1428387"/>
              <a:ext cx="1197581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1E84352-D1DA-AB6B-2D81-314DB6EAE60A}"/>
                    </a:ext>
                  </a:extLst>
                </p:cNvPr>
                <p:cNvSpPr txBox="1"/>
                <p:nvPr/>
              </p:nvSpPr>
              <p:spPr>
                <a:xfrm>
                  <a:off x="10755213" y="2680650"/>
                  <a:ext cx="4978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1E84352-D1DA-AB6B-2D81-314DB6EAE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5213" y="2680650"/>
                  <a:ext cx="497829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7317" r="-13415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D580571-F460-22F1-BFB3-48893EBB160F}"/>
              </a:ext>
            </a:extLst>
          </p:cNvPr>
          <p:cNvGrpSpPr/>
          <p:nvPr/>
        </p:nvGrpSpPr>
        <p:grpSpPr>
          <a:xfrm>
            <a:off x="9814351" y="1417547"/>
            <a:ext cx="1800000" cy="594000"/>
            <a:chOff x="9815636" y="499603"/>
            <a:chExt cx="1800000" cy="5940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52BFC7C-A7E2-9FAF-BB67-9116C3122339}"/>
                </a:ext>
              </a:extLst>
            </p:cNvPr>
            <p:cNvSpPr/>
            <p:nvPr/>
          </p:nvSpPr>
          <p:spPr>
            <a:xfrm rot="5400000">
              <a:off x="10418636" y="-103397"/>
              <a:ext cx="594000" cy="1800000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61F8E3B-3CD3-8C78-00D2-349A6D8CE9C4}"/>
                    </a:ext>
                  </a:extLst>
                </p:cNvPr>
                <p:cNvSpPr txBox="1"/>
                <p:nvPr/>
              </p:nvSpPr>
              <p:spPr>
                <a:xfrm>
                  <a:off x="10972062" y="677285"/>
                  <a:ext cx="489493" cy="2467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61F8E3B-3CD3-8C78-00D2-349A6D8CE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2062" y="677285"/>
                  <a:ext cx="489493" cy="246799"/>
                </a:xfrm>
                <a:prstGeom prst="rect">
                  <a:avLst/>
                </a:prstGeom>
                <a:blipFill>
                  <a:blip r:embed="rId9"/>
                  <a:stretch>
                    <a:fillRect l="-8750" t="-2500" r="-41250" b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6456F3E-3BF0-F724-5D3D-342A01D9A562}"/>
              </a:ext>
            </a:extLst>
          </p:cNvPr>
          <p:cNvGrpSpPr/>
          <p:nvPr/>
        </p:nvGrpSpPr>
        <p:grpSpPr>
          <a:xfrm>
            <a:off x="9798798" y="2017372"/>
            <a:ext cx="1800000" cy="1197000"/>
            <a:chOff x="7501289" y="2108230"/>
            <a:chExt cx="1800000" cy="11970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BF3B9E9-4954-9404-A27F-75AE02196F74}"/>
                </a:ext>
              </a:extLst>
            </p:cNvPr>
            <p:cNvSpPr/>
            <p:nvPr/>
          </p:nvSpPr>
          <p:spPr>
            <a:xfrm rot="5400000">
              <a:off x="7802789" y="1806730"/>
              <a:ext cx="1197000" cy="180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2410456-FC04-4C7E-A5E4-3909135F9190}"/>
                    </a:ext>
                  </a:extLst>
                </p:cNvPr>
                <p:cNvSpPr txBox="1"/>
                <p:nvPr/>
              </p:nvSpPr>
              <p:spPr>
                <a:xfrm>
                  <a:off x="8717871" y="2575300"/>
                  <a:ext cx="4978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2410456-FC04-4C7E-A5E4-3909135F9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7871" y="2575300"/>
                  <a:ext cx="497829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7317" r="-10976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D79B9CA-A462-FFEB-D2AC-A9A30B1F32E1}"/>
              </a:ext>
            </a:extLst>
          </p:cNvPr>
          <p:cNvGrpSpPr/>
          <p:nvPr/>
        </p:nvGrpSpPr>
        <p:grpSpPr>
          <a:xfrm>
            <a:off x="9257741" y="1425185"/>
            <a:ext cx="2349393" cy="2094005"/>
            <a:chOff x="9257741" y="1425185"/>
            <a:chExt cx="2349393" cy="209400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7247EC1-36FE-2608-AF03-F4392D460061}"/>
                </a:ext>
              </a:extLst>
            </p:cNvPr>
            <p:cNvGrpSpPr/>
            <p:nvPr/>
          </p:nvGrpSpPr>
          <p:grpSpPr>
            <a:xfrm>
              <a:off x="9257741" y="1425185"/>
              <a:ext cx="2341058" cy="2094005"/>
              <a:chOff x="9274578" y="1425185"/>
              <a:chExt cx="2341058" cy="2094005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A3FDF2D-C05F-F271-7FE3-AC14085DF052}"/>
                  </a:ext>
                </a:extLst>
              </p:cNvPr>
              <p:cNvSpPr/>
              <p:nvPr/>
            </p:nvSpPr>
            <p:spPr>
              <a:xfrm>
                <a:off x="9815636" y="1425185"/>
                <a:ext cx="1800000" cy="180000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FB8F98D0-707A-4683-EBCF-08D3024D4CB0}"/>
                      </a:ext>
                    </a:extLst>
                  </p:cNvPr>
                  <p:cNvSpPr txBox="1"/>
                  <p:nvPr/>
                </p:nvSpPr>
                <p:spPr>
                  <a:xfrm>
                    <a:off x="9274578" y="3272969"/>
                    <a:ext cx="57727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altLang="zh-CN" sz="16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FB8F98D0-707A-4683-EBCF-08D3024D4C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74578" y="3272969"/>
                    <a:ext cx="577274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7447" r="-6383" b="-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FA88416-7DA2-1955-0BF0-6BD0BC9E71E3}"/>
                    </a:ext>
                  </a:extLst>
                </p:cNvPr>
                <p:cNvSpPr txBox="1"/>
                <p:nvPr/>
              </p:nvSpPr>
              <p:spPr>
                <a:xfrm>
                  <a:off x="11240944" y="3268086"/>
                  <a:ext cx="36619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FA88416-7DA2-1955-0BF0-6BD0BC9E7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0944" y="3268086"/>
                  <a:ext cx="366190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8333" r="-16667" b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6951FE1-DA50-B396-58FD-97E981BEA985}"/>
                    </a:ext>
                  </a:extLst>
                </p:cNvPr>
                <p:cNvSpPr txBox="1"/>
                <p:nvPr/>
              </p:nvSpPr>
              <p:spPr>
                <a:xfrm>
                  <a:off x="9363283" y="1425784"/>
                  <a:ext cx="36619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6951FE1-DA50-B396-58FD-97E981BEA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283" y="1425784"/>
                  <a:ext cx="366190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18333" r="-16667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45766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两两独立，且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𝐶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的最大值为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________.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39132"/>
              </a:xfrm>
              <a:prstGeom prst="rect">
                <a:avLst/>
              </a:prstGeom>
              <a:blipFill>
                <a:blip r:embed="rId3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66962"/>
                <a:ext cx="11108174" cy="2096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:r>
                  <a:rPr lang="en-US" altLang="zh-CN" sz="1600" dirty="0"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𝐴𝐵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①根据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0≤3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−3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②根据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显然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0≤2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≤1/2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③根据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显然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𝐵𝐶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≤(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/2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综上，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的最大值为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1/2.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66962"/>
                <a:ext cx="11108174" cy="2096728"/>
              </a:xfrm>
              <a:prstGeom prst="rect">
                <a:avLst/>
              </a:prstGeom>
              <a:blipFill>
                <a:blip r:embed="rId4"/>
                <a:stretch>
                  <a:fillRect l="-274" t="-1453" b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7F595A-5F88-5716-A160-66C56C91B30C}"/>
              </a:ext>
            </a:extLst>
          </p:cNvPr>
          <p:cNvSpPr txBox="1"/>
          <p:nvPr/>
        </p:nvSpPr>
        <p:spPr>
          <a:xfrm>
            <a:off x="507461" y="496110"/>
            <a:ext cx="257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条件概率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494E67-AE5C-4BEB-3268-05EFA4212D13}"/>
              </a:ext>
            </a:extLst>
          </p:cNvPr>
          <p:cNvSpPr txBox="1"/>
          <p:nvPr/>
        </p:nvSpPr>
        <p:spPr>
          <a:xfrm>
            <a:off x="3079103" y="775742"/>
            <a:ext cx="1645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事件的独立性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948BF030-FA38-EF19-BD8F-5C0CE7028474}"/>
                  </a:ext>
                </a:extLst>
              </p:cNvPr>
              <p:cNvSpPr/>
              <p:nvPr/>
            </p:nvSpPr>
            <p:spPr>
              <a:xfrm>
                <a:off x="576359" y="4158327"/>
                <a:ext cx="11039275" cy="935356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三个事件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可以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两两之间相互独立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（即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𝐴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独立，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𝐴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独立，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独立），但并不等同于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它们三者相互独立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！</a:t>
                </a:r>
                <a:endParaRPr lang="en-US" altLang="zh-CN" sz="16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𝐴𝐶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𝐶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𝐵𝐶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𝐶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并不能推出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𝐴𝐵𝐶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𝐶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zh-CN" altLang="en-US" sz="1600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948BF030-FA38-EF19-BD8F-5C0CE70284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59" y="4158327"/>
                <a:ext cx="11039275" cy="9353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4F4B92F5-196F-4816-DC58-EF96644425FF}"/>
              </a:ext>
            </a:extLst>
          </p:cNvPr>
          <p:cNvGrpSpPr/>
          <p:nvPr/>
        </p:nvGrpSpPr>
        <p:grpSpPr>
          <a:xfrm>
            <a:off x="1067312" y="5295613"/>
            <a:ext cx="10917002" cy="738664"/>
            <a:chOff x="576359" y="4694150"/>
            <a:chExt cx="10917002" cy="738664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68C8F41-E964-14E6-1784-D7D918017937}"/>
                </a:ext>
              </a:extLst>
            </p:cNvPr>
            <p:cNvSpPr txBox="1"/>
            <p:nvPr/>
          </p:nvSpPr>
          <p:spPr>
            <a:xfrm>
              <a:off x="576359" y="4694150"/>
              <a:ext cx="359674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事件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：掷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骰子得到奇数</a:t>
              </a:r>
              <a:endPara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事件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：掷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骰子得到奇数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	</a:t>
              </a:r>
            </a:p>
            <a:p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事件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：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和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骰子点数的和是奇数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9A9F858D-1140-88AF-76C2-BB7E1DA73AC3}"/>
                </a:ext>
              </a:extLst>
            </p:cNvPr>
            <p:cNvCxnSpPr>
              <a:cxnSpLocks/>
            </p:cNvCxnSpPr>
            <p:nvPr/>
          </p:nvCxnSpPr>
          <p:spPr>
            <a:xfrm>
              <a:off x="3792612" y="5063482"/>
              <a:ext cx="1043275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1D50AD8-96A0-4566-D6A5-82AAFD23FC5F}"/>
                    </a:ext>
                  </a:extLst>
                </p:cNvPr>
                <p:cNvSpPr txBox="1"/>
                <p:nvPr/>
              </p:nvSpPr>
              <p:spPr>
                <a:xfrm>
                  <a:off x="5131536" y="4755658"/>
                  <a:ext cx="385551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𝐴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𝐴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𝐶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𝐵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𝐶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</a:t>
                  </a:r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1D50AD8-96A0-4566-D6A5-82AAFD23F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536" y="4755658"/>
                  <a:ext cx="3855515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9091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C29F173-392D-A1E5-5AF9-2C02E04A14C8}"/>
                    </a:ext>
                  </a:extLst>
                </p:cNvPr>
                <p:cNvSpPr txBox="1"/>
                <p:nvPr/>
              </p:nvSpPr>
              <p:spPr>
                <a:xfrm>
                  <a:off x="4835887" y="5056987"/>
                  <a:ext cx="6657474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但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不相互独立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因为若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𝐴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都发生，则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𝐶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不可能发生</a:t>
                  </a:r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C29F173-392D-A1E5-5AF9-2C02E04A14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887" y="5056987"/>
                  <a:ext cx="6657474" cy="338554"/>
                </a:xfrm>
                <a:prstGeom prst="rect">
                  <a:avLst/>
                </a:prstGeom>
                <a:blipFill>
                  <a:blip r:embed="rId7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5629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3970849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016251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30801" y="1776457"/>
            <a:ext cx="213039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随机事件的关系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5030801" y="3770794"/>
            <a:ext cx="2130396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等可能概型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5537492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5030801" y="5334138"/>
            <a:ext cx="2130397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条件概率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4238519" y="528331"/>
            <a:ext cx="382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随机事件及其概率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A25290D-E728-FBAA-6FC2-99C71965BA8B}"/>
              </a:ext>
            </a:extLst>
          </p:cNvPr>
          <p:cNvGrpSpPr/>
          <p:nvPr/>
        </p:nvGrpSpPr>
        <p:grpSpPr>
          <a:xfrm>
            <a:off x="576365" y="2053057"/>
            <a:ext cx="4291345" cy="943443"/>
            <a:chOff x="576365" y="2169125"/>
            <a:chExt cx="4291345" cy="9434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7884E9F-89EC-C996-14BE-534AC4DE44FE}"/>
                    </a:ext>
                  </a:extLst>
                </p:cNvPr>
                <p:cNvSpPr txBox="1"/>
                <p:nvPr/>
              </p:nvSpPr>
              <p:spPr>
                <a:xfrm>
                  <a:off x="576365" y="2169125"/>
                  <a:ext cx="1020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事件的包含</a:t>
                  </a:r>
                  <a:endParaRPr lang="en-US" altLang="zh-CN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7884E9F-89EC-C996-14BE-534AC4DE4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5" y="2169125"/>
                  <a:ext cx="1020424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558711D-7137-1AF4-1C7E-FE60FA051C0A}"/>
                    </a:ext>
                  </a:extLst>
                </p:cNvPr>
                <p:cNvSpPr txBox="1"/>
                <p:nvPr/>
              </p:nvSpPr>
              <p:spPr>
                <a:xfrm>
                  <a:off x="1596789" y="2169125"/>
                  <a:ext cx="10204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事件的并</a:t>
                  </a:r>
                  <a:endParaRPr lang="en-US" altLang="zh-CN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𝐶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558711D-7137-1AF4-1C7E-FE60FA051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6789" y="2169125"/>
                  <a:ext cx="1020425" cy="461665"/>
                </a:xfrm>
                <a:prstGeom prst="rect">
                  <a:avLst/>
                </a:prstGeom>
                <a:blipFill>
                  <a:blip r:embed="rId4"/>
                  <a:stretch>
                    <a:fillRect t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010C1C-928D-34EF-E656-A18C0719CCA2}"/>
                    </a:ext>
                  </a:extLst>
                </p:cNvPr>
                <p:cNvSpPr txBox="1"/>
                <p:nvPr/>
              </p:nvSpPr>
              <p:spPr>
                <a:xfrm>
                  <a:off x="2488249" y="2170636"/>
                  <a:ext cx="13387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事件的交</a:t>
                  </a:r>
                  <a:endParaRPr lang="en-US" altLang="zh-CN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𝐶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010C1C-928D-34EF-E656-A18C0719C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249" y="2170636"/>
                  <a:ext cx="133878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D78718-539E-1A23-10F3-B4ED1B87EB77}"/>
                    </a:ext>
                  </a:extLst>
                </p:cNvPr>
                <p:cNvSpPr txBox="1"/>
                <p:nvPr/>
              </p:nvSpPr>
              <p:spPr>
                <a:xfrm>
                  <a:off x="3609327" y="2169277"/>
                  <a:ext cx="1258383" cy="462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事件的对立</a:t>
                  </a:r>
                  <a:endParaRPr lang="en-US" altLang="zh-CN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𝐶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D78718-539E-1A23-10F3-B4ED1B87E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327" y="2169277"/>
                  <a:ext cx="1258383" cy="462050"/>
                </a:xfrm>
                <a:prstGeom prst="rect">
                  <a:avLst/>
                </a:prstGeom>
                <a:blipFill>
                  <a:blip r:embed="rId6"/>
                  <a:stretch>
                    <a:fillRect t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AA4AE43-F85C-9228-3498-AE27CB11697A}"/>
                    </a:ext>
                  </a:extLst>
                </p:cNvPr>
                <p:cNvSpPr txBox="1"/>
                <p:nvPr/>
              </p:nvSpPr>
              <p:spPr>
                <a:xfrm>
                  <a:off x="927399" y="2650903"/>
                  <a:ext cx="133878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事件的差</a:t>
                  </a:r>
                  <a:endParaRPr lang="en-US" altLang="zh-CN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𝐶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AA4AE43-F85C-9228-3498-AE27CB116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399" y="2650903"/>
                  <a:ext cx="1338780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316" r="-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2B55607-888B-BA14-AC5B-1A2DAF26E708}"/>
                    </a:ext>
                  </a:extLst>
                </p:cNvPr>
                <p:cNvSpPr txBox="1"/>
                <p:nvPr/>
              </p:nvSpPr>
              <p:spPr>
                <a:xfrm>
                  <a:off x="2107001" y="2650903"/>
                  <a:ext cx="23040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互不相容（互斥）事件</a:t>
                  </a:r>
                  <a:endParaRPr lang="en-US" altLang="zh-CN" sz="1200" b="0" i="1" dirty="0">
                    <a:latin typeface="Cambria Math" panose="02040503050406030204" pitchFamily="18" charset="0"/>
                    <a:ea typeface="汉仪润圆-65简" panose="00020600040101010101" pitchFamily="18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汉仪润圆-65简" panose="00020600040101010101" pitchFamily="18" charset="-122"/>
                          </a:rPr>
                          <m:t>𝐴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=∅</m:t>
                        </m:r>
                      </m:oMath>
                    </m:oMathPara>
                  </a14:m>
                  <a:endParaRPr lang="zh-CN" altLang="en-US" sz="12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2B55607-888B-BA14-AC5B-1A2DAF26E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001" y="2650903"/>
                  <a:ext cx="2304094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AC1169D-2265-DC90-EB55-8E2882F4DAEE}"/>
              </a:ext>
            </a:extLst>
          </p:cNvPr>
          <p:cNvGrpSpPr/>
          <p:nvPr/>
        </p:nvGrpSpPr>
        <p:grpSpPr>
          <a:xfrm>
            <a:off x="7406446" y="2056849"/>
            <a:ext cx="4984130" cy="1245193"/>
            <a:chOff x="7161197" y="2056849"/>
            <a:chExt cx="4984130" cy="12451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30B8473-63D6-57FD-0264-B914E03926F5}"/>
                    </a:ext>
                  </a:extLst>
                </p:cNvPr>
                <p:cNvSpPr txBox="1"/>
                <p:nvPr/>
              </p:nvSpPr>
              <p:spPr>
                <a:xfrm>
                  <a:off x="7161197" y="2056849"/>
                  <a:ext cx="316075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互斥，则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30B8473-63D6-57FD-0264-B914E0392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1197" y="2056849"/>
                  <a:ext cx="3160758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3922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02F214E-B99A-FCBE-689B-8B83C22C5B2F}"/>
                    </a:ext>
                  </a:extLst>
                </p:cNvPr>
                <p:cNvSpPr txBox="1"/>
                <p:nvPr/>
              </p:nvSpPr>
              <p:spPr>
                <a:xfrm>
                  <a:off x="7161197" y="2355821"/>
                  <a:ext cx="42234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互斥，则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02F214E-B99A-FCBE-689B-8B83C22C5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1197" y="2355821"/>
                  <a:ext cx="4223467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3922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5DDE4C3-1E76-6E62-F796-C70060F9FD80}"/>
                    </a:ext>
                  </a:extLst>
                </p:cNvPr>
                <p:cNvSpPr txBox="1"/>
                <p:nvPr/>
              </p:nvSpPr>
              <p:spPr>
                <a:xfrm>
                  <a:off x="7161197" y="2673081"/>
                  <a:ext cx="49841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概率加法公式：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5DDE4C3-1E76-6E62-F796-C70060F9F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1197" y="2673081"/>
                  <a:ext cx="4984130" cy="307777"/>
                </a:xfrm>
                <a:prstGeom prst="rect">
                  <a:avLst/>
                </a:prstGeom>
                <a:blipFill>
                  <a:blip r:embed="rId11"/>
                  <a:stretch>
                    <a:fillRect t="-3922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B774C85-A23E-41F8-CF81-CBD408D4E6E7}"/>
                    </a:ext>
                  </a:extLst>
                </p:cNvPr>
                <p:cNvSpPr txBox="1"/>
                <p:nvPr/>
              </p:nvSpPr>
              <p:spPr>
                <a:xfrm>
                  <a:off x="7161197" y="2994265"/>
                  <a:ext cx="49841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若</a:t>
                  </a:r>
                  <a14:m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⊃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a14:m>
                  <a:endPara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B774C85-A23E-41F8-CF81-CBD408D4E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1197" y="2994265"/>
                  <a:ext cx="4984130" cy="307777"/>
                </a:xfrm>
                <a:prstGeom prst="rect">
                  <a:avLst/>
                </a:prstGeom>
                <a:blipFill>
                  <a:blip r:embed="rId12"/>
                  <a:stretch>
                    <a:fillRect t="-5882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921F55DB-5B09-6662-DD6F-8C39208F8390}"/>
              </a:ext>
            </a:extLst>
          </p:cNvPr>
          <p:cNvSpPr txBox="1"/>
          <p:nvPr/>
        </p:nvSpPr>
        <p:spPr>
          <a:xfrm>
            <a:off x="471540" y="2996500"/>
            <a:ext cx="4291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交换律、结合律、分配律、对偶律</a:t>
            </a:r>
            <a:endParaRPr lang="en-US" altLang="zh-CN" sz="1200" dirty="0"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92C48A3-B3D6-258D-7543-4D647D528F7A}"/>
              </a:ext>
            </a:extLst>
          </p:cNvPr>
          <p:cNvSpPr/>
          <p:nvPr/>
        </p:nvSpPr>
        <p:spPr>
          <a:xfrm>
            <a:off x="1552015" y="1662669"/>
            <a:ext cx="2130396" cy="351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6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随机事件的运算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9C2C35-F303-3898-0334-B2D933241858}"/>
              </a:ext>
            </a:extLst>
          </p:cNvPr>
          <p:cNvSpPr/>
          <p:nvPr/>
        </p:nvSpPr>
        <p:spPr>
          <a:xfrm>
            <a:off x="8509589" y="1666965"/>
            <a:ext cx="2130396" cy="351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随机事件的概率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CDA1B9-1CA5-2D78-E4DA-C605E4614555}"/>
              </a:ext>
            </a:extLst>
          </p:cNvPr>
          <p:cNvSpPr txBox="1"/>
          <p:nvPr/>
        </p:nvSpPr>
        <p:spPr>
          <a:xfrm>
            <a:off x="1774463" y="3637924"/>
            <a:ext cx="1685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古典概型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FFCEA75-98C7-646F-0F80-8B610CBC168D}"/>
              </a:ext>
            </a:extLst>
          </p:cNvPr>
          <p:cNvSpPr txBox="1"/>
          <p:nvPr/>
        </p:nvSpPr>
        <p:spPr>
          <a:xfrm>
            <a:off x="8732035" y="3647788"/>
            <a:ext cx="1685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5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几何概型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FCD2F4C-D495-1C6F-7261-6BCA90AFF278}"/>
                  </a:ext>
                </a:extLst>
              </p:cNvPr>
              <p:cNvSpPr txBox="1"/>
              <p:nvPr/>
            </p:nvSpPr>
            <p:spPr>
              <a:xfrm>
                <a:off x="1029246" y="4067265"/>
                <a:ext cx="3175934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事件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包含的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样本点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数目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样本空间</m:t>
                          </m:r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包含的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样本点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数目</m:t>
                          </m:r>
                        </m:den>
                      </m:f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EFCD2F4C-D495-1C6F-7261-6BCA90AFF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46" y="4067265"/>
                <a:ext cx="3175934" cy="5217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7292B1F-E0C6-86DC-CAB6-F5E8A06D2C19}"/>
                  </a:ext>
                </a:extLst>
              </p:cNvPr>
              <p:cNvSpPr txBox="1"/>
              <p:nvPr/>
            </p:nvSpPr>
            <p:spPr>
              <a:xfrm>
                <a:off x="8237989" y="4040803"/>
                <a:ext cx="2560380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事件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的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几何测度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样本空间</m:t>
                          </m:r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的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几何测度</m:t>
                          </m:r>
                        </m:den>
                      </m:f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7292B1F-E0C6-86DC-CAB6-F5E8A06D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989" y="4040803"/>
                <a:ext cx="2560380" cy="5217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F0A55F8-0842-C78B-BC73-2A9041548EB1}"/>
              </a:ext>
            </a:extLst>
          </p:cNvPr>
          <p:cNvSpPr/>
          <p:nvPr/>
        </p:nvSpPr>
        <p:spPr>
          <a:xfrm>
            <a:off x="981752" y="5070475"/>
            <a:ext cx="1125249" cy="35981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条件概率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F50ABF8-5D60-0D98-5661-7200DD9AA887}"/>
                  </a:ext>
                </a:extLst>
              </p:cNvPr>
              <p:cNvSpPr txBox="1"/>
              <p:nvPr/>
            </p:nvSpPr>
            <p:spPr>
              <a:xfrm>
                <a:off x="2113048" y="4964712"/>
                <a:ext cx="1835624" cy="54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F50ABF8-5D60-0D98-5661-7200DD9AA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048" y="4964712"/>
                <a:ext cx="1835624" cy="540917"/>
              </a:xfrm>
              <a:prstGeom prst="rect">
                <a:avLst/>
              </a:prstGeom>
              <a:blipFill>
                <a:blip r:embed="rId15"/>
                <a:stretch>
                  <a:fillRect b="-4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1F984CA-F031-50AB-8493-912AB1266762}"/>
              </a:ext>
            </a:extLst>
          </p:cNvPr>
          <p:cNvSpPr/>
          <p:nvPr/>
        </p:nvSpPr>
        <p:spPr>
          <a:xfrm>
            <a:off x="981752" y="5611631"/>
            <a:ext cx="1125249" cy="35981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独立事件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A2582AA-61EF-6FB7-DC65-AFB85B90CF7D}"/>
                  </a:ext>
                </a:extLst>
              </p:cNvPr>
              <p:cNvSpPr txBox="1"/>
              <p:nvPr/>
            </p:nvSpPr>
            <p:spPr>
              <a:xfrm>
                <a:off x="1964934" y="5632212"/>
                <a:ext cx="23854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A2582AA-61EF-6FB7-DC65-AFB85B90C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934" y="5632212"/>
                <a:ext cx="2385410" cy="307777"/>
              </a:xfrm>
              <a:prstGeom prst="rect">
                <a:avLst/>
              </a:prstGeom>
              <a:blipFill>
                <a:blip r:embed="rId1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B2F3E42-2BDA-25EE-5582-FA7E011CF84C}"/>
              </a:ext>
            </a:extLst>
          </p:cNvPr>
          <p:cNvSpPr/>
          <p:nvPr/>
        </p:nvSpPr>
        <p:spPr>
          <a:xfrm>
            <a:off x="7837367" y="5076103"/>
            <a:ext cx="1240791" cy="3598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全概率公式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A44475F-C907-0AF4-9615-DCBB5DA2A1D1}"/>
              </a:ext>
            </a:extLst>
          </p:cNvPr>
          <p:cNvSpPr/>
          <p:nvPr/>
        </p:nvSpPr>
        <p:spPr>
          <a:xfrm>
            <a:off x="7837367" y="5611392"/>
            <a:ext cx="1240791" cy="35979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贝叶斯公式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FBFB892-ECD4-1553-D02B-EFD5891EBA62}"/>
                  </a:ext>
                </a:extLst>
              </p:cNvPr>
              <p:cNvSpPr txBox="1"/>
              <p:nvPr/>
            </p:nvSpPr>
            <p:spPr>
              <a:xfrm>
                <a:off x="8509589" y="4885532"/>
                <a:ext cx="3439308" cy="596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FBFB892-ECD4-1553-D02B-EFD5891EB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589" y="4885532"/>
                <a:ext cx="3439308" cy="596445"/>
              </a:xfrm>
              <a:prstGeom prst="rect">
                <a:avLst/>
              </a:prstGeom>
              <a:blipFill>
                <a:blip r:embed="rId17"/>
                <a:stretch>
                  <a:fillRect t="-95918" b="-147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B0EBF4E-1710-EEAB-D9FD-2300C6F0BCE0}"/>
                  </a:ext>
                </a:extLst>
              </p:cNvPr>
              <p:cNvSpPr txBox="1"/>
              <p:nvPr/>
            </p:nvSpPr>
            <p:spPr>
              <a:xfrm>
                <a:off x="8732035" y="5574943"/>
                <a:ext cx="3005480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B0EBF4E-1710-EEAB-D9FD-2300C6F0B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035" y="5574943"/>
                <a:ext cx="3005480" cy="483466"/>
              </a:xfrm>
              <a:prstGeom prst="rect">
                <a:avLst/>
              </a:prstGeom>
              <a:blipFill>
                <a:blip r:embed="rId18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15839</TotalTime>
  <Words>3285</Words>
  <Application>Microsoft Office PowerPoint</Application>
  <PresentationFormat>宽屏</PresentationFormat>
  <Paragraphs>359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方正清刻本悦宋简体</vt:lpstr>
      <vt:lpstr>Cambria Math</vt:lpstr>
      <vt:lpstr>Arial</vt:lpstr>
      <vt:lpstr>华文中宋</vt:lpstr>
      <vt:lpstr>等线 Light</vt:lpstr>
      <vt:lpstr>汉仪润圆-65简</vt:lpstr>
      <vt:lpstr>楷体</vt:lpstr>
      <vt:lpstr>方正小标宋简体</vt:lpstr>
      <vt:lpstr>仿宋</vt:lpstr>
      <vt:lpstr>等线</vt:lpstr>
      <vt:lpstr>汉仪文黑-85W</vt:lpstr>
      <vt:lpstr>华文宋体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171</cp:revision>
  <dcterms:created xsi:type="dcterms:W3CDTF">2022-05-05T07:14:53Z</dcterms:created>
  <dcterms:modified xsi:type="dcterms:W3CDTF">2023-02-19T16:53:47Z</dcterms:modified>
</cp:coreProperties>
</file>