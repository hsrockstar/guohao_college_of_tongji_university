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69" r:id="rId2"/>
    <p:sldId id="276" r:id="rId3"/>
    <p:sldId id="301" r:id="rId4"/>
    <p:sldId id="320" r:id="rId5"/>
    <p:sldId id="323" r:id="rId6"/>
    <p:sldId id="321" r:id="rId7"/>
    <p:sldId id="324" r:id="rId8"/>
    <p:sldId id="325" r:id="rId9"/>
    <p:sldId id="312" r:id="rId10"/>
    <p:sldId id="318" r:id="rId11"/>
    <p:sldId id="322" r:id="rId12"/>
    <p:sldId id="302" r:id="rId13"/>
    <p:sldId id="308" r:id="rId14"/>
    <p:sldId id="326" r:id="rId15"/>
    <p:sldId id="327" r:id="rId16"/>
    <p:sldId id="330" r:id="rId17"/>
    <p:sldId id="328" r:id="rId18"/>
    <p:sldId id="329" r:id="rId19"/>
    <p:sldId id="298" r:id="rId20"/>
  </p:sldIdLst>
  <p:sldSz cx="12192000" cy="6858000"/>
  <p:notesSz cx="6858000" cy="9144000"/>
  <p:embeddedFontLst>
    <p:embeddedFont>
      <p:font typeface="等线" panose="02010600030101010101" pitchFamily="2" charset="-122"/>
      <p:regular r:id="rId22"/>
      <p:bold r:id="rId23"/>
    </p:embeddedFont>
    <p:embeddedFont>
      <p:font typeface="等线 Light" panose="02010600030101010101" pitchFamily="2" charset="-122"/>
      <p:regular r:id="rId24"/>
    </p:embeddedFont>
    <p:embeddedFont>
      <p:font typeface="方正清刻本悦宋简体" panose="02000000000000000000" pitchFamily="2" charset="-122"/>
      <p:regular r:id="rId25"/>
    </p:embeddedFont>
    <p:embeddedFont>
      <p:font typeface="方正小标宋简体" panose="02000000000000000000" pitchFamily="2" charset="-122"/>
      <p:regular r:id="rId26"/>
    </p:embeddedFont>
    <p:embeddedFont>
      <p:font typeface="仿宋" panose="02010609060101010101" pitchFamily="49" charset="-122"/>
      <p:regular r:id="rId27"/>
    </p:embeddedFont>
    <p:embeddedFont>
      <p:font typeface="汉仪润圆-65简" panose="00020600040101010101" pitchFamily="18" charset="-122"/>
      <p:regular r:id="rId28"/>
    </p:embeddedFont>
    <p:embeddedFont>
      <p:font typeface="华文宋体" panose="02010600040101010101" pitchFamily="2" charset="-122"/>
      <p:regular r:id="rId29"/>
    </p:embeddedFont>
    <p:embeddedFont>
      <p:font typeface="华文中宋" panose="02010600040101010101" pitchFamily="2" charset="-122"/>
      <p:regular r:id="rId30"/>
    </p:embeddedFont>
    <p:embeddedFont>
      <p:font typeface="楷体" panose="02010609060101010101" pitchFamily="49" charset="-122"/>
      <p:regular r:id="rId31"/>
    </p:embeddedFont>
    <p:embeddedFont>
      <p:font typeface="Cambria Math" panose="02040503050406030204" pitchFamily="18" charset="0"/>
      <p:regular r:id="rId3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展 未央" initials="展" lastIdx="1" clrIdx="0">
    <p:extLst>
      <p:ext uri="{19B8F6BF-5375-455C-9EA6-DF929625EA0E}">
        <p15:presenceInfo xmlns:p15="http://schemas.microsoft.com/office/powerpoint/2012/main" userId="e6b0a92515a3b0c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BFBF"/>
    <a:srgbClr val="FF3300"/>
    <a:srgbClr val="FF6600"/>
    <a:srgbClr val="C00000"/>
    <a:srgbClr val="DF7F7F"/>
    <a:srgbClr val="FFFFFF"/>
    <a:srgbClr val="FFC000"/>
    <a:srgbClr val="89F3FE"/>
    <a:srgbClr val="F3F3F3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25" autoAdjust="0"/>
    <p:restoredTop sz="94660"/>
  </p:normalViewPr>
  <p:slideViewPr>
    <p:cSldViewPr snapToGrid="0">
      <p:cViewPr varScale="1">
        <p:scale>
          <a:sx n="89" d="100"/>
          <a:sy n="89" d="100"/>
        </p:scale>
        <p:origin x="79" y="1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A4BD5C-A529-48D4-AE8F-BF3361AE1A2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71CA1E-5CB9-473F-9F69-C52F533E7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999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CFB3BA-B18E-DEC1-3E6C-4920AFE4E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6C1B8B-823F-2425-71B0-85CE082B4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F92AB0-C7C0-8587-6FD3-30D04F0E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61379A-C11E-0B4A-0FD1-486A98C02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85E933-0268-110F-AFA0-D62C4541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48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97B214-8B47-223A-1CF5-72D03FE8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BEE03A-37AD-9C95-639F-068C82BF2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C7AA2-FA3D-9C92-5A13-30D5AC600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AF208E-5CAA-29FC-D025-A7E107CC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6FD161-7AEB-89B5-A6EF-6D69822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92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AB7A64-974B-7FF5-1FBA-71C0CB8D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8DE448-7135-CF17-2AAA-15114DF68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815D61-9D72-7FE4-F1B2-8183BF9F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32A689-74BB-D820-494E-8FCE39D98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E4DC3E-2FE6-BFC6-DBFF-0D17F5F0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74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6FB7F-2D1B-E43D-ECB5-5AD8585F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4AA1C3-9833-A836-7282-D8BD6C8C8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2B3DB0-6400-DEC7-2B30-FB7986C75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01E174-6AD7-6427-5CE9-A9BAF460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5AA43E-AD34-75D5-8FF8-4F7B9DD0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8E0980-F99C-DDD3-A77F-E7C5414E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76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8CBFC-3DA5-69CF-5529-7A41DF27A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7A754-AD40-3C36-0B05-022B19F7E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A85000-B40C-E9B8-9031-BB1EAB5B7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DF7258-004C-372D-2F1C-7A3F5C84D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973573-1120-A2A0-F0DB-1AD265A7D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393FD2-AC0E-DF4D-699D-4499A4FE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A3F570D-1DE8-EC07-1540-CAACD23A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9C2CD7-C46B-4BFF-EE78-C6AAEA86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69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E18C9-230E-153A-E88A-6E56F2E0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C6ABD0-A360-2FD9-9E5B-F2C33928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774B37-0D4E-65D2-D16F-6FD6B327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0F1C27-1813-0031-0F9F-DFA7FC5D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17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861B1D-2614-718F-CF47-7A8B5EA33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25DC33-02B2-B215-0AA3-BE312780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168D3F-DB98-98CA-52C1-149A8C84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93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A3FFA-AFDF-C8A5-BA7E-CD7ABADEF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50BBE7-CA90-E151-2431-F10274224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A07E09-77AB-1537-6B25-F534ED423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A81297-8DC3-E11E-0231-CDE195F2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A35E25-E4B2-75BE-3B7B-72E55291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119468-1629-7EF2-8699-25A1DE29C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01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4DFE7-99DE-FD3E-5453-36D6FAB4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99B887-3B1B-DE6A-FC03-3D8C63CEF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A1ACB3-8653-6CEA-1A12-7B0C7DA4D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7C50B8-A69D-A009-5ED2-9D40FEEB2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E8222B-B5FA-855C-2588-3B06FA59B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DD61D6-F19B-BE5D-B08F-2EF5BC6B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339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3DEE9-4017-21BA-AF15-E1AEED1E7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C19C68-5C6F-5E0E-439E-A548984F0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4FDBA-A8BF-4615-40D4-071E5FEE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76B259-A67F-AB9C-CD3F-33AF2A63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703F1D-84A7-1844-CEE0-F6CC6F06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774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3D60B5-3F32-AD71-9045-D0FA02F9D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E80A2B-ADBF-6FEE-635B-FDD1641C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566CB7-98BA-C868-FF9A-D23A5AAD4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91180C-F54D-80AC-DD6D-692325DB3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7601E0-44E1-C0D8-BA09-EF88AD66B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28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3EE246-BB85-D84E-CBC7-F7FB34018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74AD51-E7A9-2FA7-385A-0AC41A752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F5AC51-1528-2E37-6F36-4072883B0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487E83-F91B-12DB-FCC0-2130541D0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40DCE4-16B2-A875-3AE9-DFD71CC3C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84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18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10.png"/><Relationship Id="rId7" Type="http://schemas.openxmlformats.org/officeDocument/2006/relationships/image" Target="../media/image25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10" Type="http://schemas.openxmlformats.org/officeDocument/2006/relationships/image" Target="../media/image280.png"/><Relationship Id="rId4" Type="http://schemas.openxmlformats.org/officeDocument/2006/relationships/image" Target="../media/image220.png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42.png"/><Relationship Id="rId5" Type="http://schemas.openxmlformats.org/officeDocument/2006/relationships/image" Target="../media/image310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330.png"/><Relationship Id="rId7" Type="http://schemas.openxmlformats.org/officeDocument/2006/relationships/image" Target="../media/image37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Relationship Id="rId6" Type="http://schemas.openxmlformats.org/officeDocument/2006/relationships/image" Target="../media/image360.png"/><Relationship Id="rId5" Type="http://schemas.openxmlformats.org/officeDocument/2006/relationships/image" Target="../media/image350.png"/><Relationship Id="rId4" Type="http://schemas.openxmlformats.org/officeDocument/2006/relationships/image" Target="../media/image3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94887E1D-C6CF-1FB4-AA55-CDB7659AB1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1" r="11474"/>
          <a:stretch/>
        </p:blipFill>
        <p:spPr>
          <a:xfrm>
            <a:off x="675497" y="898434"/>
            <a:ext cx="3638282" cy="5277566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9198C80F-89CD-BB62-A046-E187E190F0DA}"/>
              </a:ext>
            </a:extLst>
          </p:cNvPr>
          <p:cNvSpPr txBox="1"/>
          <p:nvPr/>
        </p:nvSpPr>
        <p:spPr>
          <a:xfrm>
            <a:off x="4985488" y="2767776"/>
            <a:ext cx="41332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参数估计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B70860-7B7F-79E8-BFCC-9CAB1906F829}"/>
              </a:ext>
            </a:extLst>
          </p:cNvPr>
          <p:cNvSpPr txBox="1"/>
          <p:nvPr/>
        </p:nvSpPr>
        <p:spPr>
          <a:xfrm>
            <a:off x="4985485" y="3945538"/>
            <a:ext cx="6721606" cy="1293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参数的点估计 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矩估计，最大似然估计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估计量的优良性 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无偏性，有效性，相合性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华文宋体" panose="02010600040101010101" pitchFamily="2" charset="-122"/>
                <a:ea typeface="华文宋体" panose="02010600040101010101" pitchFamily="2" charset="-122"/>
              </a:rPr>
              <a:t>参数的区间估计  </a:t>
            </a:r>
            <a:r>
              <a:rPr lang="en-US" altLang="zh-CN" sz="1800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 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正态总体的参数区间估计</a:t>
            </a:r>
            <a:endParaRPr lang="en-US" altLang="zh-CN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B045768-D895-3AB6-17F1-0E730D6A50EA}"/>
              </a:ext>
            </a:extLst>
          </p:cNvPr>
          <p:cNvCxnSpPr>
            <a:cxnSpLocks/>
          </p:cNvCxnSpPr>
          <p:nvPr/>
        </p:nvCxnSpPr>
        <p:spPr>
          <a:xfrm>
            <a:off x="4985485" y="3741377"/>
            <a:ext cx="653101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FC1EA91-F8F7-91D8-20AB-953E21B71335}"/>
              </a:ext>
            </a:extLst>
          </p:cNvPr>
          <p:cNvSpPr txBox="1"/>
          <p:nvPr/>
        </p:nvSpPr>
        <p:spPr>
          <a:xfrm>
            <a:off x="4985485" y="1972342"/>
            <a:ext cx="4133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《</a:t>
            </a:r>
            <a:r>
              <a:rPr lang="zh-CN" altLang="en-US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概率论与数理统计</a:t>
            </a:r>
            <a:r>
              <a:rPr lang="en-US" altLang="zh-CN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779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0" y="496110"/>
            <a:ext cx="3568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参数的点估计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2004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实际问题中，我们常常遇到已知随机变量分布，但是不知道分布中的参数如何的情况。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一台车床加工某零件的公差为随机变量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应当服从正态分布，但其参数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𝜇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,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我们难以推测或直接测量。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某种类的元器件的寿命为随机变量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应当服从指数分布，但其参数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𝜆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我们难以推测或直接测量。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为了估计出未知参数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的大致取值，可以从总体中抽取样本，构造样本的一个统计量，使其能够合理估计总体中的参数。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参数</a:t>
                </a:r>
                <a14:m>
                  <m:oMath xmlns:m="http://schemas.openxmlformats.org/officeDocument/2006/math">
                    <m:r>
                      <a:rPr lang="zh-CN" altLang="en-US" sz="140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𝜃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的估计量 仍然是 从样本中来的，是一个统计量。也就是说，</a:t>
                </a:r>
                <a:r>
                  <a:rPr lang="zh-CN" altLang="en-US" sz="1400" u="sng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估计量仍然是随机变量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。样本观测值不同时，估计量会改变。</a:t>
                </a:r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2004138"/>
              </a:xfrm>
              <a:prstGeom prst="rect">
                <a:avLst/>
              </a:prstGeom>
              <a:blipFill>
                <a:blip r:embed="rId3"/>
                <a:stretch>
                  <a:fillRect l="-274" b="-15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146997" y="775742"/>
            <a:ext cx="1738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参数估计的概念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D8DA862-DA53-1159-AE16-DFD2CFB90A06}"/>
              </a:ext>
            </a:extLst>
          </p:cNvPr>
          <p:cNvGrpSpPr/>
          <p:nvPr/>
        </p:nvGrpSpPr>
        <p:grpSpPr>
          <a:xfrm>
            <a:off x="576364" y="3567900"/>
            <a:ext cx="11039272" cy="2154037"/>
            <a:chOff x="576364" y="3567900"/>
            <a:chExt cx="11039272" cy="21540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: 圆角 20">
                  <a:extLst>
                    <a:ext uri="{FF2B5EF4-FFF2-40B4-BE49-F238E27FC236}">
                      <a16:creationId xmlns:a16="http://schemas.microsoft.com/office/drawing/2014/main" id="{46F334CE-7B45-1BF8-ED44-704429794971}"/>
                    </a:ext>
                  </a:extLst>
                </p:cNvPr>
                <p:cNvSpPr/>
                <p:nvPr/>
              </p:nvSpPr>
              <p:spPr>
                <a:xfrm>
                  <a:off x="4009450" y="5222674"/>
                  <a:ext cx="4173100" cy="499263"/>
                </a:xfrm>
                <a:prstGeom prst="roundRect">
                  <a:avLst>
                    <a:gd name="adj" fmla="val 36367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altLang="en-US" sz="16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估计总体中的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𝑛</m:t>
                      </m:r>
                    </m:oMath>
                  </a14:m>
                  <a:r>
                    <a:rPr lang="zh-CN" altLang="en-US" sz="16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个未知参数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,…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𝑛</m:t>
                          </m:r>
                        </m:sub>
                      </m:sSub>
                    </m:oMath>
                  </a14:m>
                  <a:endParaRPr lang="zh-CN" altLang="en-US" sz="16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21" name="矩形: 圆角 20">
                  <a:extLst>
                    <a:ext uri="{FF2B5EF4-FFF2-40B4-BE49-F238E27FC236}">
                      <a16:creationId xmlns:a16="http://schemas.microsoft.com/office/drawing/2014/main" id="{46F334CE-7B45-1BF8-ED44-7044297949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9450" y="5222674"/>
                  <a:ext cx="4173100" cy="499263"/>
                </a:xfrm>
                <a:prstGeom prst="roundRect">
                  <a:avLst>
                    <a:gd name="adj" fmla="val 36367"/>
                  </a:avLst>
                </a:prstGeom>
                <a:blipFill>
                  <a:blip r:embed="rId4"/>
                  <a:stretch>
                    <a:fillRect b="-609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2308B4E3-E944-855D-8A56-02FE8BCA1FAF}"/>
                </a:ext>
              </a:extLst>
            </p:cNvPr>
            <p:cNvSpPr/>
            <p:nvPr/>
          </p:nvSpPr>
          <p:spPr>
            <a:xfrm>
              <a:off x="576364" y="3567900"/>
              <a:ext cx="11039272" cy="1736747"/>
            </a:xfrm>
            <a:prstGeom prst="roundRect">
              <a:avLst>
                <a:gd name="adj" fmla="val 854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2A830F05-0022-1F0A-496D-45707565EDBD}"/>
                    </a:ext>
                  </a:extLst>
                </p:cNvPr>
                <p:cNvSpPr txBox="1"/>
                <p:nvPr/>
              </p:nvSpPr>
              <p:spPr>
                <a:xfrm>
                  <a:off x="1055670" y="3835180"/>
                  <a:ext cx="3401753" cy="12021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16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eqArr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总体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 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与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 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样本</m:t>
                                </m:r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统计量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间的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关系式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总体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 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与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 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样本统计量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 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间的关系式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……</m:t>
                                </m:r>
                              </m:e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总体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 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与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 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样本统计量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 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间的关系式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2A830F05-0022-1F0A-496D-45707565ED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670" y="3835180"/>
                  <a:ext cx="3401753" cy="120218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E104D239-2524-733B-E2F4-E62CE76D79D8}"/>
                </a:ext>
              </a:extLst>
            </p:cNvPr>
            <p:cNvGrpSpPr/>
            <p:nvPr/>
          </p:nvGrpSpPr>
          <p:grpSpPr>
            <a:xfrm>
              <a:off x="4728620" y="3952281"/>
              <a:ext cx="2994067" cy="898345"/>
              <a:chOff x="4661358" y="4099958"/>
              <a:chExt cx="2994067" cy="898345"/>
            </a:xfrm>
          </p:grpSpPr>
          <p:sp>
            <p:nvSpPr>
              <p:cNvPr id="14" name="箭头: 右 13">
                <a:extLst>
                  <a:ext uri="{FF2B5EF4-FFF2-40B4-BE49-F238E27FC236}">
                    <a16:creationId xmlns:a16="http://schemas.microsoft.com/office/drawing/2014/main" id="{A51F0D88-766B-5A08-417F-17585B971FEB}"/>
                  </a:ext>
                </a:extLst>
              </p:cNvPr>
              <p:cNvSpPr/>
              <p:nvPr/>
            </p:nvSpPr>
            <p:spPr>
              <a:xfrm>
                <a:off x="4661358" y="4321195"/>
                <a:ext cx="2994067" cy="525512"/>
              </a:xfrm>
              <a:prstGeom prst="rightArrow">
                <a:avLst>
                  <a:gd name="adj1" fmla="val 33651"/>
                  <a:gd name="adj2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AA7C58D2-86CE-8B09-3124-A744FF489D0F}"/>
                      </a:ext>
                    </a:extLst>
                  </p:cNvPr>
                  <p:cNvSpPr txBox="1"/>
                  <p:nvPr/>
                </p:nvSpPr>
                <p:spPr>
                  <a:xfrm>
                    <a:off x="4980735" y="4099958"/>
                    <a:ext cx="2174513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总体中有</a:t>
                    </a:r>
                    <a14:m>
                      <m:oMath xmlns:m="http://schemas.openxmlformats.org/officeDocument/2006/math"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𝑛</m:t>
                        </m:r>
                      </m:oMath>
                    </a14:m>
                    <a:r>
                      <a:rPr lang="zh-CN" alt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个未知数</a:t>
                    </a:r>
                  </a:p>
                </p:txBody>
              </p:sp>
            </mc:Choice>
            <mc:Fallback xmlns="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AA7C58D2-86CE-8B09-3124-A744FF489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80735" y="4099958"/>
                    <a:ext cx="2174513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7143" b="-196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8B51AD4-3A1F-917D-A3D3-915EEE3FD8F4}"/>
                  </a:ext>
                </a:extLst>
              </p:cNvPr>
              <p:cNvSpPr txBox="1"/>
              <p:nvPr/>
            </p:nvSpPr>
            <p:spPr>
              <a:xfrm>
                <a:off x="4890338" y="4659749"/>
                <a:ext cx="235530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样本统计量均为已知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DEFE0D42-187D-813B-3848-72CEC5832B8F}"/>
                    </a:ext>
                  </a:extLst>
                </p:cNvPr>
                <p:cNvSpPr txBox="1"/>
                <p:nvPr/>
              </p:nvSpPr>
              <p:spPr>
                <a:xfrm>
                  <a:off x="7993885" y="3835180"/>
                  <a:ext cx="2783313" cy="12021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ea typeface="楷体" panose="02010609060101010101" pitchFamily="49" charset="-122"/>
                    </a:rPr>
                    <a:t>解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</m:oMath>
                  </a14:m>
                  <a:r>
                    <a:rPr lang="zh-CN" altLang="en-US" sz="1600" dirty="0">
                      <a:ea typeface="楷体" panose="02010609060101010101" pitchFamily="49" charset="-122"/>
                    </a:rPr>
                    <a:t>元方程组，得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=…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=…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……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=…</m:t>
                              </m:r>
                            </m:e>
                          </m:eqArr>
                        </m:e>
                      </m:d>
                    </m:oMath>
                  </a14:m>
                  <a:endPara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DEFE0D42-187D-813B-3848-72CEC5832B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3885" y="3835180"/>
                  <a:ext cx="2783313" cy="1202189"/>
                </a:xfrm>
                <a:prstGeom prst="rect">
                  <a:avLst/>
                </a:prstGeom>
                <a:blipFill>
                  <a:blip r:embed="rId7"/>
                  <a:stretch>
                    <a:fillRect l="-10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189319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样本的统计量 与 总体 之间有着什么样的关系呢？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（请注意是 统计量，而非 统计量的数字特征，总体未知时 统计量的数字特征是无法确切得知的）</a:t>
                </a:r>
                <a:endParaRPr lang="en-US" altLang="zh-CN" sz="1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上一章中 我们学习的 样本矩（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𝑘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阶原点矩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𝑘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阶中心距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𝐵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），在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𝑛</m:t>
                    </m:r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时 依概率收敛于 总体矩。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因为 样本矩 是已知的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（只要有一次观测值，就能得到一个样本矩的值）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，且 总体矩 是包含了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𝜃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𝜃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,…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𝜃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的未知量，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故 用样本矩近似与总体矩相等，从而解出 各个未知参数，是一种可行的估计方法。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称这种方法为 参数的 </a:t>
                </a:r>
                <a:r>
                  <a:rPr lang="zh-CN" altLang="en-US" sz="1600" dirty="0">
                    <a:solidFill>
                      <a:schemeClr val="accent6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矩估计法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，得到的估计量 为 </a:t>
                </a:r>
                <a:r>
                  <a:rPr lang="zh-CN" altLang="en-US" sz="1600" dirty="0">
                    <a:solidFill>
                      <a:schemeClr val="accent6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矩估计量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，当样本有观测值时得到的估计值为 </a:t>
                </a:r>
                <a:r>
                  <a:rPr lang="zh-CN" altLang="en-US" sz="1600" dirty="0">
                    <a:solidFill>
                      <a:schemeClr val="accent6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矩估计值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2062103"/>
              </a:xfrm>
              <a:prstGeom prst="rect">
                <a:avLst/>
              </a:prstGeom>
              <a:blipFill>
                <a:blip r:embed="rId3"/>
                <a:stretch>
                  <a:fillRect l="-274" r="-1153" b="-29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9CD38119-F761-E923-3EF1-86B3A3B8BEAB}"/>
              </a:ext>
            </a:extLst>
          </p:cNvPr>
          <p:cNvSpPr txBox="1"/>
          <p:nvPr/>
        </p:nvSpPr>
        <p:spPr>
          <a:xfrm>
            <a:off x="507460" y="496110"/>
            <a:ext cx="3568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参数的点估计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03DF84-A52A-608E-BB30-D62BAE350A0E}"/>
              </a:ext>
            </a:extLst>
          </p:cNvPr>
          <p:cNvSpPr txBox="1"/>
          <p:nvPr/>
        </p:nvSpPr>
        <p:spPr>
          <a:xfrm>
            <a:off x="4146997" y="775742"/>
            <a:ext cx="1271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矩估计法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EE3F376F-F173-1C0B-6349-F45C4EE7E717}"/>
              </a:ext>
            </a:extLst>
          </p:cNvPr>
          <p:cNvGrpSpPr/>
          <p:nvPr/>
        </p:nvGrpSpPr>
        <p:grpSpPr>
          <a:xfrm>
            <a:off x="576364" y="3622491"/>
            <a:ext cx="11039272" cy="2099446"/>
            <a:chOff x="576364" y="3622491"/>
            <a:chExt cx="11039272" cy="2099446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CED4F18-3D40-DE2E-4697-7EADE8FE1A79}"/>
                </a:ext>
              </a:extLst>
            </p:cNvPr>
            <p:cNvGrpSpPr/>
            <p:nvPr/>
          </p:nvGrpSpPr>
          <p:grpSpPr>
            <a:xfrm>
              <a:off x="576364" y="3622491"/>
              <a:ext cx="11039272" cy="2099446"/>
              <a:chOff x="576364" y="3622491"/>
              <a:chExt cx="11039272" cy="2099446"/>
            </a:xfrm>
          </p:grpSpPr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51A88DAE-E4EF-B6CA-C076-70E9DD85F01A}"/>
                  </a:ext>
                </a:extLst>
              </p:cNvPr>
              <p:cNvGrpSpPr/>
              <p:nvPr/>
            </p:nvGrpSpPr>
            <p:grpSpPr>
              <a:xfrm>
                <a:off x="576364" y="3622491"/>
                <a:ext cx="11039272" cy="2099446"/>
                <a:chOff x="576364" y="3567900"/>
                <a:chExt cx="11039272" cy="2099446"/>
              </a:xfrm>
            </p:grpSpPr>
            <p:sp>
              <p:nvSpPr>
                <p:cNvPr id="6" name="矩形: 圆角 5">
                  <a:extLst>
                    <a:ext uri="{FF2B5EF4-FFF2-40B4-BE49-F238E27FC236}">
                      <a16:creationId xmlns:a16="http://schemas.microsoft.com/office/drawing/2014/main" id="{8FA82342-788B-927E-B54B-CF152AAFC48E}"/>
                    </a:ext>
                  </a:extLst>
                </p:cNvPr>
                <p:cNvSpPr/>
                <p:nvPr/>
              </p:nvSpPr>
              <p:spPr>
                <a:xfrm>
                  <a:off x="4952465" y="5168083"/>
                  <a:ext cx="2287070" cy="499263"/>
                </a:xfrm>
                <a:prstGeom prst="roundRect">
                  <a:avLst>
                    <a:gd name="adj" fmla="val 36367"/>
                  </a:avLst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altLang="en-US" sz="16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参数的矩估计</a:t>
                  </a:r>
                </a:p>
              </p:txBody>
            </p:sp>
            <p:sp>
              <p:nvSpPr>
                <p:cNvPr id="7" name="矩形: 圆角 6">
                  <a:extLst>
                    <a:ext uri="{FF2B5EF4-FFF2-40B4-BE49-F238E27FC236}">
                      <a16:creationId xmlns:a16="http://schemas.microsoft.com/office/drawing/2014/main" id="{7DE56F9F-4916-CB84-6295-85D6A7EC7F1B}"/>
                    </a:ext>
                  </a:extLst>
                </p:cNvPr>
                <p:cNvSpPr/>
                <p:nvPr/>
              </p:nvSpPr>
              <p:spPr>
                <a:xfrm>
                  <a:off x="576364" y="3567900"/>
                  <a:ext cx="11039272" cy="1700136"/>
                </a:xfrm>
                <a:prstGeom prst="roundRect">
                  <a:avLst>
                    <a:gd name="adj" fmla="val 8540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3F99DE9D-AB09-0880-BF2D-1430E24440AC}"/>
                      </a:ext>
                    </a:extLst>
                  </p:cNvPr>
                  <p:cNvSpPr txBox="1"/>
                  <p:nvPr/>
                </p:nvSpPr>
                <p:spPr>
                  <a:xfrm>
                    <a:off x="576364" y="3799802"/>
                    <a:ext cx="4107977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计算总体</a:t>
                    </a:r>
                    <a14:m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a14:m>
                    <a: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的</a:t>
                    </a:r>
                    <a:endParaRPr lang="en-US" altLang="zh-CN" sz="1600" dirty="0"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  <a:p>
                    <a:pPr algn="ctr"/>
                    <a: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 期望</a:t>
                    </a:r>
                    <a14:m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US" altLang="zh-CN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(</a:t>
                    </a:r>
                    <a: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一阶原点矩</a:t>
                    </a:r>
                    <a:r>
                      <a:rPr lang="en-US" altLang="zh-CN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)</a:t>
                    </a:r>
                    <a:r>
                      <a:rPr lang="zh-CN" altLang="en-US" sz="1600" dirty="0">
                        <a:solidFill>
                          <a:schemeClr val="accent6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（含未知参数）</a:t>
                    </a:r>
                    <a:endParaRPr lang="en-US" altLang="zh-CN" sz="1600" dirty="0">
                      <a:solidFill>
                        <a:schemeClr val="accent6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  <a:p>
                    <a:pPr algn="ctr"/>
                    <a: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 方差</a:t>
                    </a:r>
                    <a14:m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US" altLang="zh-CN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(</a:t>
                    </a:r>
                    <a: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二阶中心矩</a:t>
                    </a:r>
                    <a:r>
                      <a:rPr lang="en-US" altLang="zh-CN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)</a:t>
                    </a:r>
                    <a:r>
                      <a:rPr lang="zh-CN" altLang="en-US" sz="1600" dirty="0">
                        <a:solidFill>
                          <a:schemeClr val="accent6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（含未知参数）</a:t>
                    </a:r>
                    <a:endParaRPr lang="en-US" altLang="zh-CN" sz="1600" dirty="0">
                      <a:solidFill>
                        <a:schemeClr val="accent6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3F99DE9D-AB09-0880-BF2D-1430E24440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6364" y="3799802"/>
                    <a:ext cx="4107977" cy="83099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2920" b="-729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426018E9-9510-9332-FBF7-B9BEDD74027E}"/>
                      </a:ext>
                    </a:extLst>
                  </p:cNvPr>
                  <p:cNvSpPr txBox="1"/>
                  <p:nvPr/>
                </p:nvSpPr>
                <p:spPr>
                  <a:xfrm>
                    <a:off x="4781707" y="3799802"/>
                    <a:ext cx="3769057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计算样本</a:t>
                    </a:r>
                    <a14:m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的</a:t>
                    </a:r>
                    <a:endParaRPr lang="en-US" altLang="zh-CN" sz="1600" dirty="0"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  <a:p>
                    <a:pPr algn="ctr"/>
                    <a: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  样本均值</a:t>
                    </a:r>
                    <a14:m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16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</m:acc>
                      </m:oMath>
                    </a14:m>
                    <a:r>
                      <a:rPr lang="en-US" altLang="zh-CN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(</a:t>
                    </a:r>
                    <a: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一阶原点矩</a:t>
                    </a:r>
                    <a:r>
                      <a:rPr lang="en-US" altLang="zh-CN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)</a:t>
                    </a:r>
                    <a:r>
                      <a:rPr lang="zh-CN" altLang="en-US" sz="1600" dirty="0">
                        <a:solidFill>
                          <a:schemeClr val="accent6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（统计量）</a:t>
                    </a:r>
                    <a:endParaRPr lang="en-US" altLang="zh-CN" sz="1600" dirty="0">
                      <a:solidFill>
                        <a:schemeClr val="accent6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  <a:p>
                    <a:pPr algn="ctr"/>
                    <a: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  样本方差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(</a:t>
                    </a:r>
                    <a: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二阶中心矩</a:t>
                    </a:r>
                    <a:r>
                      <a:rPr lang="en-US" altLang="zh-CN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)</a:t>
                    </a:r>
                    <a:r>
                      <a:rPr lang="zh-CN" altLang="en-US" sz="1600" dirty="0">
                        <a:solidFill>
                          <a:schemeClr val="accent6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（统计量）</a:t>
                    </a:r>
                    <a:endParaRPr lang="en-US" altLang="zh-CN" sz="1600" dirty="0">
                      <a:solidFill>
                        <a:schemeClr val="accent6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426018E9-9510-9332-FBF7-B9BEDD7402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81707" y="3799802"/>
                    <a:ext cx="3769057" cy="83099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2920" b="-729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0E72F1A7-A7CE-90CC-F3E1-445DB0B8A173}"/>
                      </a:ext>
                    </a:extLst>
                  </p:cNvPr>
                  <p:cNvSpPr txBox="1"/>
                  <p:nvPr/>
                </p:nvSpPr>
                <p:spPr>
                  <a:xfrm>
                    <a:off x="576364" y="4728019"/>
                    <a:ext cx="797440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r>
                      <a:rPr lang="en-US" altLang="zh-CN" sz="12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*</a:t>
                    </a:r>
                    <a:r>
                      <a:rPr lang="zh-CN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未知参数多于两个，或者低阶的矩中不含未知参数，则要计算更高阶的矩</a:t>
                    </a:r>
                    <a:endParaRPr lang="en-US" altLang="zh-CN" sz="1200" dirty="0"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  <a:p>
                    <a:pPr algn="ctr"/>
                    <a:r>
                      <a:rPr lang="en-US" altLang="zh-CN" sz="12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*</a:t>
                    </a:r>
                    <a:r>
                      <a:rPr lang="zh-CN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不限制是原点矩还是中心距，因此二阶原点矩</a:t>
                    </a:r>
                    <a14:m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zh-CN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也可能有用</a:t>
                    </a:r>
                  </a:p>
                </p:txBody>
              </p:sp>
            </mc:Choice>
            <mc:Fallback xmlns=""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0E72F1A7-A7CE-90CC-F3E1-445DB0B8A1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6364" y="4728019"/>
                    <a:ext cx="7974400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0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3816AC8-1401-80AA-4C17-C365333A194C}"/>
                  </a:ext>
                </a:extLst>
              </p:cNvPr>
              <p:cNvSpPr txBox="1"/>
              <p:nvPr/>
            </p:nvSpPr>
            <p:spPr>
              <a:xfrm>
                <a:off x="9089853" y="3923731"/>
                <a:ext cx="203351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令样本矩等于总体矩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解方程得到参数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5CD8726-0A4C-B6CF-7D48-C3F241FADED2}"/>
                  </a:ext>
                </a:extLst>
              </p:cNvPr>
              <p:cNvSpPr txBox="1"/>
              <p:nvPr/>
            </p:nvSpPr>
            <p:spPr>
              <a:xfrm>
                <a:off x="8792318" y="4732466"/>
                <a:ext cx="262858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若只有样本，则估计量是统计量</a:t>
                </a:r>
                <a:endParaRPr lang="en-US" altLang="zh-CN" sz="1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若样本有观测值，则估计量是常值</a:t>
                </a:r>
              </a:p>
            </p:txBody>
          </p:sp>
          <p:sp>
            <p:nvSpPr>
              <p:cNvPr id="29" name="箭头: 右 28">
                <a:extLst>
                  <a:ext uri="{FF2B5EF4-FFF2-40B4-BE49-F238E27FC236}">
                    <a16:creationId xmlns:a16="http://schemas.microsoft.com/office/drawing/2014/main" id="{D0E42F44-3717-8EF4-EF8A-10CDB2A2B3FD}"/>
                  </a:ext>
                </a:extLst>
              </p:cNvPr>
              <p:cNvSpPr/>
              <p:nvPr/>
            </p:nvSpPr>
            <p:spPr>
              <a:xfrm>
                <a:off x="4512175" y="4215333"/>
                <a:ext cx="487180" cy="250417"/>
              </a:xfrm>
              <a:prstGeom prst="rightArrow">
                <a:avLst>
                  <a:gd name="adj1" fmla="val 29487"/>
                  <a:gd name="adj2" fmla="val 50000"/>
                </a:avLst>
              </a:prstGeom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箭头: 右 29">
                <a:extLst>
                  <a:ext uri="{FF2B5EF4-FFF2-40B4-BE49-F238E27FC236}">
                    <a16:creationId xmlns:a16="http://schemas.microsoft.com/office/drawing/2014/main" id="{F254CEC2-5F2F-9BF9-F504-FB86515AA3CE}"/>
                  </a:ext>
                </a:extLst>
              </p:cNvPr>
              <p:cNvSpPr/>
              <p:nvPr/>
            </p:nvSpPr>
            <p:spPr>
              <a:xfrm>
                <a:off x="8473869" y="4215871"/>
                <a:ext cx="487180" cy="250417"/>
              </a:xfrm>
              <a:prstGeom prst="rightArrow">
                <a:avLst>
                  <a:gd name="adj1" fmla="val 29487"/>
                  <a:gd name="adj2" fmla="val 50000"/>
                </a:avLst>
              </a:prstGeom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3FA03557-37A4-F981-AFF0-0913A1369B58}"/>
                </a:ext>
              </a:extLst>
            </p:cNvPr>
            <p:cNvCxnSpPr/>
            <p:nvPr/>
          </p:nvCxnSpPr>
          <p:spPr>
            <a:xfrm>
              <a:off x="852731" y="4700121"/>
              <a:ext cx="3555242" cy="0"/>
            </a:xfrm>
            <a:prstGeom prst="line">
              <a:avLst/>
            </a:prstGeom>
            <a:ln w="127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3D20527E-7959-04ED-C871-2447B9727C35}"/>
                </a:ext>
              </a:extLst>
            </p:cNvPr>
            <p:cNvCxnSpPr>
              <a:cxnSpLocks/>
            </p:cNvCxnSpPr>
            <p:nvPr/>
          </p:nvCxnSpPr>
          <p:spPr>
            <a:xfrm>
              <a:off x="5095826" y="4700121"/>
              <a:ext cx="3290723" cy="0"/>
            </a:xfrm>
            <a:prstGeom prst="line">
              <a:avLst/>
            </a:prstGeom>
            <a:ln w="127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A5D37B53-3A88-84E7-4C6B-D7064846F2E1}"/>
                </a:ext>
              </a:extLst>
            </p:cNvPr>
            <p:cNvCxnSpPr>
              <a:cxnSpLocks/>
            </p:cNvCxnSpPr>
            <p:nvPr/>
          </p:nvCxnSpPr>
          <p:spPr>
            <a:xfrm>
              <a:off x="9089853" y="4700121"/>
              <a:ext cx="2033516" cy="0"/>
            </a:xfrm>
            <a:prstGeom prst="line">
              <a:avLst/>
            </a:prstGeom>
            <a:ln w="127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28967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2239728"/>
                <a:ext cx="11177316" cy="371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𝜆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acc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𝜆</m:t>
                        </m:r>
                      </m:e>
                    </m:acc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𝜆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的矩估计量，则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𝜆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________.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239728"/>
                <a:ext cx="11177316" cy="371705"/>
              </a:xfrm>
              <a:prstGeom prst="rect">
                <a:avLst/>
              </a:prstGeom>
              <a:blipFill>
                <a:blip r:embed="rId3"/>
                <a:stretch>
                  <a:fillRect l="-273" b="-196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CB0309C-520E-3844-F82D-8D9ACB950C46}"/>
              </a:ext>
            </a:extLst>
          </p:cNvPr>
          <p:cNvCxnSpPr>
            <a:cxnSpLocks/>
          </p:cNvCxnSpPr>
          <p:nvPr/>
        </p:nvCxnSpPr>
        <p:spPr>
          <a:xfrm>
            <a:off x="511212" y="3275508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F9E8275-0D8D-B1EC-6CAA-79D07057F425}"/>
                  </a:ext>
                </a:extLst>
              </p:cNvPr>
              <p:cNvSpPr txBox="1"/>
              <p:nvPr/>
            </p:nvSpPr>
            <p:spPr>
              <a:xfrm>
                <a:off x="507460" y="3429000"/>
                <a:ext cx="11108176" cy="34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的分布律为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=(1−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=1,2,…)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的矩估计量为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____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F9E8275-0D8D-B1EC-6CAA-79D07057F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429000"/>
                <a:ext cx="11108176" cy="342979"/>
              </a:xfrm>
              <a:prstGeom prst="rect">
                <a:avLst/>
              </a:prstGeom>
              <a:blipFill>
                <a:blip r:embed="rId4"/>
                <a:stretch>
                  <a:fillRect l="-274" t="-1786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AF56AEF4-4CB8-7FDA-554F-9CFE15F4F3F7}"/>
              </a:ext>
            </a:extLst>
          </p:cNvPr>
          <p:cNvSpPr txBox="1"/>
          <p:nvPr/>
        </p:nvSpPr>
        <p:spPr>
          <a:xfrm>
            <a:off x="507460" y="496110"/>
            <a:ext cx="3568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参数的点估计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47650F-A0C8-D3B0-FC14-54937651AEDB}"/>
              </a:ext>
            </a:extLst>
          </p:cNvPr>
          <p:cNvSpPr txBox="1"/>
          <p:nvPr/>
        </p:nvSpPr>
        <p:spPr>
          <a:xfrm>
            <a:off x="4146996" y="775742"/>
            <a:ext cx="1650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矩估计量的求解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: 圆角 1">
                <a:extLst>
                  <a:ext uri="{FF2B5EF4-FFF2-40B4-BE49-F238E27FC236}">
                    <a16:creationId xmlns:a16="http://schemas.microsoft.com/office/drawing/2014/main" id="{0F440349-532D-55C4-730C-966B96BE0DF3}"/>
                  </a:ext>
                </a:extLst>
              </p:cNvPr>
              <p:cNvSpPr/>
              <p:nvPr/>
            </p:nvSpPr>
            <p:spPr>
              <a:xfrm>
                <a:off x="576364" y="1487920"/>
                <a:ext cx="11039272" cy="490740"/>
              </a:xfrm>
              <a:prstGeom prst="roundRect">
                <a:avLst>
                  <a:gd name="adj" fmla="val 19795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对任何总体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，其期望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𝜇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的矩估计量 都是 样本均值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，方差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sSupPr>
                      <m:e>
                        <m:r>
                          <a:rPr lang="zh-CN" alt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的矩估计量 都是 样本方差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2" name="矩形: 圆角 1">
                <a:extLst>
                  <a:ext uri="{FF2B5EF4-FFF2-40B4-BE49-F238E27FC236}">
                    <a16:creationId xmlns:a16="http://schemas.microsoft.com/office/drawing/2014/main" id="{0F440349-532D-55C4-730C-966B96BE0D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1487920"/>
                <a:ext cx="11039272" cy="490740"/>
              </a:xfrm>
              <a:prstGeom prst="roundRect">
                <a:avLst>
                  <a:gd name="adj" fmla="val 19795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0F0B41B-E165-D7DF-BB60-0A60081DC9A2}"/>
                  </a:ext>
                </a:extLst>
              </p:cNvPr>
              <p:cNvSpPr txBox="1"/>
              <p:nvPr/>
            </p:nvSpPr>
            <p:spPr>
              <a:xfrm>
                <a:off x="507460" y="2692384"/>
                <a:ext cx="11108176" cy="441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解：因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𝜆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的均值，故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acc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𝜆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	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𝜆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𝑛</m:t>
                        </m:r>
                      </m:den>
                    </m:f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𝜆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0F0B41B-E165-D7DF-BB60-0A60081DC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692384"/>
                <a:ext cx="11108176" cy="441275"/>
              </a:xfrm>
              <a:prstGeom prst="rect">
                <a:avLst/>
              </a:prstGeom>
              <a:blipFill>
                <a:blip r:embed="rId6"/>
                <a:stretch>
                  <a:fillRect l="-274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638C946-A111-64D7-924F-EA1A0DC51067}"/>
                  </a:ext>
                </a:extLst>
              </p:cNvPr>
              <p:cNvSpPr txBox="1"/>
              <p:nvPr/>
            </p:nvSpPr>
            <p:spPr>
              <a:xfrm>
                <a:off x="507460" y="3856046"/>
                <a:ext cx="111081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解：显然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服从几何分布，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1/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的均值，故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1/</m:t>
                    </m:r>
                    <m:acc>
                      <m:accPr>
                        <m:chr m:val="̂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	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=1/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638C946-A111-64D7-924F-EA1A0DC51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856046"/>
                <a:ext cx="11108176" cy="338554"/>
              </a:xfrm>
              <a:prstGeom prst="rect">
                <a:avLst/>
              </a:prstGeom>
              <a:blipFill>
                <a:blip r:embed="rId7"/>
                <a:stretch>
                  <a:fillRect l="-274" t="-7273" b="-2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ED6D439-9571-3D8D-8703-CFD08AD64573}"/>
              </a:ext>
            </a:extLst>
          </p:cNvPr>
          <p:cNvCxnSpPr>
            <a:cxnSpLocks/>
          </p:cNvCxnSpPr>
          <p:nvPr/>
        </p:nvCxnSpPr>
        <p:spPr>
          <a:xfrm>
            <a:off x="511212" y="4391403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B9ECC88-9C75-1716-9E4C-35565B908BA3}"/>
                  </a:ext>
                </a:extLst>
              </p:cNvPr>
              <p:cNvSpPr txBox="1"/>
              <p:nvPr/>
            </p:nvSpPr>
            <p:spPr>
              <a:xfrm>
                <a:off x="507460" y="4588207"/>
                <a:ext cx="11108176" cy="34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1.3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𝑈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+1)(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&gt;0)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的一个样本，则</a:t>
                </a:r>
                <a14:m>
                  <m:oMath xmlns:m="http://schemas.openxmlformats.org/officeDocument/2006/math">
                    <m:r>
                      <a:rPr lang="zh-CN" altLang="en-US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的矩估计量为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____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B9ECC88-9C75-1716-9E4C-35565B908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4588207"/>
                <a:ext cx="11108176" cy="342979"/>
              </a:xfrm>
              <a:prstGeom prst="rect">
                <a:avLst/>
              </a:prstGeom>
              <a:blipFill>
                <a:blip r:embed="rId8"/>
                <a:stretch>
                  <a:fillRect l="-274" t="-3571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973D899-FFD2-D173-EBC1-5D7210257067}"/>
                  </a:ext>
                </a:extLst>
              </p:cNvPr>
              <p:cNvSpPr txBox="1"/>
              <p:nvPr/>
            </p:nvSpPr>
            <p:spPr>
              <a:xfrm>
                <a:off x="507460" y="5011114"/>
                <a:ext cx="11108176" cy="4520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解：因总体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的期望为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𝜃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acc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𝜃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acc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𝜃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−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973D899-FFD2-D173-EBC1-5D7210257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5011114"/>
                <a:ext cx="11108176" cy="452047"/>
              </a:xfrm>
              <a:prstGeom prst="rect">
                <a:avLst/>
              </a:prstGeom>
              <a:blipFill>
                <a:blip r:embed="rId9"/>
                <a:stretch>
                  <a:fillRect l="-274"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89006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2" grpId="0" animBg="1"/>
      <p:bldP spid="4" grpId="0" uiExpand="1" build="p"/>
      <p:bldP spid="9" grpId="0" uiExpand="1" build="p"/>
      <p:bldP spid="12" grpId="0"/>
      <p:bldP spid="1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F56AEF4-4CB8-7FDA-554F-9CFE15F4F3F7}"/>
              </a:ext>
            </a:extLst>
          </p:cNvPr>
          <p:cNvSpPr txBox="1"/>
          <p:nvPr/>
        </p:nvSpPr>
        <p:spPr>
          <a:xfrm>
            <a:off x="507460" y="496110"/>
            <a:ext cx="3568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参数的点估计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47650F-A0C8-D3B0-FC14-54937651AEDB}"/>
              </a:ext>
            </a:extLst>
          </p:cNvPr>
          <p:cNvSpPr txBox="1"/>
          <p:nvPr/>
        </p:nvSpPr>
        <p:spPr>
          <a:xfrm>
            <a:off x="4146996" y="775742"/>
            <a:ext cx="1650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矩估计量的求解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E704446-9F3A-BC9E-1F3E-CC080CBC5C74}"/>
                  </a:ext>
                </a:extLst>
              </p:cNvPr>
              <p:cNvSpPr txBox="1"/>
              <p:nvPr/>
            </p:nvSpPr>
            <p:spPr>
              <a:xfrm>
                <a:off x="507460" y="1488712"/>
                <a:ext cx="11108176" cy="878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1.4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的密度函数为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𝜃</m:t>
                                    </m:r>
                                  </m:num>
                                  <m:den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𝑥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&gt;0</m:t>
                            </m:r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0,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其它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未知，求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的矩估计量。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E704446-9F3A-BC9E-1F3E-CC080CBC5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88712"/>
                <a:ext cx="11108176" cy="878446"/>
              </a:xfrm>
              <a:prstGeom prst="rect">
                <a:avLst/>
              </a:prstGeom>
              <a:blipFill>
                <a:blip r:embed="rId3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FE62DA6-14CF-03ED-5C25-59D4AC208682}"/>
                  </a:ext>
                </a:extLst>
              </p:cNvPr>
              <p:cNvSpPr txBox="1"/>
              <p:nvPr/>
            </p:nvSpPr>
            <p:spPr>
              <a:xfrm>
                <a:off x="507460" y="2367158"/>
                <a:ext cx="11108176" cy="983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解：总体期望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𝑥𝑝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num>
                              <m:den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	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den>
                    </m:f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𝑑𝑡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𝑑𝑥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∈(−∞,0)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nary>
                      <m:nary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p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𝑑𝑡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		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而样本均值为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acc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𝜃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FE62DA6-14CF-03ED-5C25-59D4AC208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367158"/>
                <a:ext cx="11108176" cy="983795"/>
              </a:xfrm>
              <a:prstGeom prst="rect">
                <a:avLst/>
              </a:prstGeom>
              <a:blipFill>
                <a:blip r:embed="rId4"/>
                <a:stretch>
                  <a:fillRect l="-274" t="-37037" b="-672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B492862-8B65-06D0-1F71-1C53EC6CB1C2}"/>
                  </a:ext>
                </a:extLst>
              </p:cNvPr>
              <p:cNvSpPr txBox="1"/>
              <p:nvPr/>
            </p:nvSpPr>
            <p:spPr>
              <a:xfrm>
                <a:off x="507460" y="3755453"/>
                <a:ext cx="11108176" cy="499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1.5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的密度函数为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den>
                    </m:f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|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|</m:t>
                            </m:r>
                          </m:num>
                          <m:den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&gt;0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未知，求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的矩估计量。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B492862-8B65-06D0-1F71-1C53EC6CB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755453"/>
                <a:ext cx="11108176" cy="499560"/>
              </a:xfrm>
              <a:prstGeom prst="rect">
                <a:avLst/>
              </a:prstGeom>
              <a:blipFill>
                <a:blip r:embed="rId5"/>
                <a:stretch>
                  <a:fillRect l="-274" b="-6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1E80EDA-AC0E-8CEF-78C8-EEC399BA7409}"/>
              </a:ext>
            </a:extLst>
          </p:cNvPr>
          <p:cNvCxnSpPr>
            <a:cxnSpLocks/>
          </p:cNvCxnSpPr>
          <p:nvPr/>
        </p:nvCxnSpPr>
        <p:spPr>
          <a:xfrm>
            <a:off x="511212" y="3612397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AAA1FCC-6527-18FF-49B1-A378A73EDE2D}"/>
                  </a:ext>
                </a:extLst>
              </p:cNvPr>
              <p:cNvSpPr txBox="1"/>
              <p:nvPr/>
            </p:nvSpPr>
            <p:spPr>
              <a:xfrm>
                <a:off x="507460" y="4346840"/>
                <a:ext cx="11108176" cy="14104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解：总体期望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𝑥𝑝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|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|</m:t>
                                </m:r>
                              </m:num>
                              <m:den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（无法由此求矩估计）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而二阶原点矩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|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|</m:t>
                                </m:r>
                              </m:num>
                              <m:den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</m:t>
                        </m:r>
                      </m:e>
                    </m:nary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=2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l-G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样本二阶原点矩为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acc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𝜃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rad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 	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AAA1FCC-6527-18FF-49B1-A378A73ED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4346840"/>
                <a:ext cx="11108176" cy="1410451"/>
              </a:xfrm>
              <a:prstGeom prst="rect">
                <a:avLst/>
              </a:prstGeom>
              <a:blipFill>
                <a:blip r:embed="rId6"/>
                <a:stretch>
                  <a:fillRect l="-274" t="-26407" b="-12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71323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uiExpand="1" build="p"/>
      <p:bldP spid="13" grpId="0"/>
      <p:bldP spid="1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样本的统计量 与 总体 之间有着什么样的关系呢？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（请注意是 统计量，而非 统计量的数字特征，总体未知时 统计量的数字特征是无法确切得知的）</a:t>
                </a:r>
                <a:endParaRPr lang="en-US" altLang="zh-CN" sz="1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上一章中 我们已经知道样本是一个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𝑛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维随机变量，样本的观测值 实际上就是 这个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𝑛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维随机变量 取到了某组值。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既然是 随机变量的取值，那么自然有 取到此值的概率，这概率可以由 样本的联合分布（含有未知参数） 来计算。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当样本能够取得这组观测值时，我们直观认为，样本的联合分布 应当 最有利于这组观测值出现，即取得它的概率最大。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称这种方法为 参数的 </a:t>
                </a:r>
                <a:r>
                  <a:rPr lang="zh-CN" altLang="en-US" sz="1600" dirty="0">
                    <a:solidFill>
                      <a:srgbClr val="00B050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最大似然估计法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，得到的估计值为 </a:t>
                </a:r>
                <a:r>
                  <a:rPr lang="zh-CN" altLang="en-US" sz="1600" dirty="0">
                    <a:solidFill>
                      <a:srgbClr val="00B050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最大似然估计值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，将观测值替换为样本 得到 </a:t>
                </a:r>
                <a:r>
                  <a:rPr lang="zh-CN" altLang="en-US" sz="1600" dirty="0">
                    <a:solidFill>
                      <a:srgbClr val="00B050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最大似然估计量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2062103"/>
              </a:xfrm>
              <a:prstGeom prst="rect">
                <a:avLst/>
              </a:prstGeom>
              <a:blipFill>
                <a:blip r:embed="rId3"/>
                <a:stretch>
                  <a:fillRect l="-274" r="-1153" b="-29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9CD38119-F761-E923-3EF1-86B3A3B8BEAB}"/>
              </a:ext>
            </a:extLst>
          </p:cNvPr>
          <p:cNvSpPr txBox="1"/>
          <p:nvPr/>
        </p:nvSpPr>
        <p:spPr>
          <a:xfrm>
            <a:off x="507460" y="496110"/>
            <a:ext cx="3568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参数的点估计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03DF84-A52A-608E-BB30-D62BAE350A0E}"/>
              </a:ext>
            </a:extLst>
          </p:cNvPr>
          <p:cNvSpPr txBox="1"/>
          <p:nvPr/>
        </p:nvSpPr>
        <p:spPr>
          <a:xfrm>
            <a:off x="4146997" y="775742"/>
            <a:ext cx="1793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最大似然估计法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BA9C756-B1BA-5182-278B-40F38C9B2680}"/>
              </a:ext>
            </a:extLst>
          </p:cNvPr>
          <p:cNvGrpSpPr/>
          <p:nvPr/>
        </p:nvGrpSpPr>
        <p:grpSpPr>
          <a:xfrm>
            <a:off x="576364" y="3622491"/>
            <a:ext cx="11039272" cy="2099446"/>
            <a:chOff x="576364" y="3622491"/>
            <a:chExt cx="11039272" cy="2099446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51A88DAE-E4EF-B6CA-C076-70E9DD85F01A}"/>
                </a:ext>
              </a:extLst>
            </p:cNvPr>
            <p:cNvGrpSpPr/>
            <p:nvPr/>
          </p:nvGrpSpPr>
          <p:grpSpPr>
            <a:xfrm>
              <a:off x="576364" y="3622491"/>
              <a:ext cx="11039272" cy="2099446"/>
              <a:chOff x="576364" y="3567900"/>
              <a:chExt cx="11039272" cy="2099446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8FA82342-788B-927E-B54B-CF152AAFC48E}"/>
                  </a:ext>
                </a:extLst>
              </p:cNvPr>
              <p:cNvSpPr/>
              <p:nvPr/>
            </p:nvSpPr>
            <p:spPr>
              <a:xfrm>
                <a:off x="4952465" y="5168083"/>
                <a:ext cx="2287070" cy="499263"/>
              </a:xfrm>
              <a:prstGeom prst="roundRect">
                <a:avLst>
                  <a:gd name="adj" fmla="val 36367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6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参数的最大似然估计</a:t>
                </a:r>
              </a:p>
            </p:txBody>
          </p:sp>
          <p:sp>
            <p:nvSpPr>
              <p:cNvPr id="7" name="矩形: 圆角 6">
                <a:extLst>
                  <a:ext uri="{FF2B5EF4-FFF2-40B4-BE49-F238E27FC236}">
                    <a16:creationId xmlns:a16="http://schemas.microsoft.com/office/drawing/2014/main" id="{7DE56F9F-4916-CB84-6295-85D6A7EC7F1B}"/>
                  </a:ext>
                </a:extLst>
              </p:cNvPr>
              <p:cNvSpPr/>
              <p:nvPr/>
            </p:nvSpPr>
            <p:spPr>
              <a:xfrm>
                <a:off x="576364" y="3567900"/>
                <a:ext cx="11039272" cy="1700136"/>
              </a:xfrm>
              <a:prstGeom prst="roundRect">
                <a:avLst>
                  <a:gd name="adj" fmla="val 854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6DF2D94-0018-5611-E02D-E21EE00414DD}"/>
                    </a:ext>
                  </a:extLst>
                </p:cNvPr>
                <p:cNvSpPr txBox="1"/>
                <p:nvPr/>
              </p:nvSpPr>
              <p:spPr>
                <a:xfrm>
                  <a:off x="733163" y="3852855"/>
                  <a:ext cx="4219302" cy="13173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已知总体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a14:m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的分布</a:t>
                  </a:r>
                  <a:r>
                    <a:rPr lang="zh-CN" altLang="en-US" sz="1400" dirty="0">
                      <a:solidFill>
                        <a:srgbClr val="00B05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（含未知参数）</a:t>
                  </a:r>
                  <a:endParaRPr lang="en-US" altLang="zh-CN" sz="1400" dirty="0">
                    <a:solidFill>
                      <a:srgbClr val="00B05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计算样本的联合分布</a:t>
                  </a:r>
                  <a14:m>
                    <m:oMath xmlns:m="http://schemas.openxmlformats.org/officeDocument/2006/math">
                      <m:nary>
                        <m:naryPr>
                          <m:chr m:val="∏"/>
                          <m:limLoc m:val="subSup"/>
                          <m:ctrlPr>
                            <a:rPr lang="zh-CN" alt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𝑖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𝑝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</m:t>
                          </m:r>
                        </m:e>
                      </m:nary>
                    </m:oMath>
                  </a14:m>
                  <a:endParaRPr lang="en-US" altLang="zh-CN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:r>
                    <a:rPr lang="zh-CN" altLang="en-US" sz="12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其中样本值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zh-CN" altLang="en-US" sz="12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已知，但含有未知参数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,…</m:t>
                      </m:r>
                    </m:oMath>
                  </a14:m>
                  <a:r>
                    <a:rPr lang="zh-CN" altLang="en-US" sz="12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）</a:t>
                  </a:r>
                  <a:endParaRPr lang="en-US" altLang="zh-CN" sz="12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>
                    <a:spcBef>
                      <a:spcPts val="600"/>
                    </a:spcBef>
                  </a:pPr>
                  <a:r>
                    <a:rPr lang="zh-CN" altLang="en-US" sz="16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似然函数</a:t>
                  </a:r>
                  <a:endParaRPr lang="en-US" altLang="zh-CN" sz="16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  <a:p>
                  <a:pPr algn="ctr">
                    <a:spcBef>
                      <a:spcPts val="300"/>
                    </a:spcBef>
                  </a:pP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关于未知参数的函数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𝐿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,…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zh-CN" altLang="en-US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𝑝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</m:t>
                          </m:r>
                        </m:e>
                      </m:nary>
                    </m:oMath>
                  </a14:m>
                  <a:endParaRPr lang="en-US" altLang="zh-CN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6DF2D94-0018-5611-E02D-E21EE00414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163" y="3852855"/>
                  <a:ext cx="4219302" cy="1317348"/>
                </a:xfrm>
                <a:prstGeom prst="rect">
                  <a:avLst/>
                </a:prstGeom>
                <a:blipFill>
                  <a:blip r:embed="rId4"/>
                  <a:stretch>
                    <a:fillRect l="-578" t="-7407" b="-435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731C467C-C3F9-7CBB-6BBF-B8088B112B29}"/>
                    </a:ext>
                  </a:extLst>
                </p:cNvPr>
                <p:cNvSpPr txBox="1"/>
                <p:nvPr/>
              </p:nvSpPr>
              <p:spPr>
                <a:xfrm>
                  <a:off x="4952465" y="3767061"/>
                  <a:ext cx="4219302" cy="13944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为使样本取得这组样本观测值的概率最大</a:t>
                  </a:r>
                  <a:endPara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似然函数（即样本的联合分布）应取最大值</a:t>
                  </a:r>
                  <a:endParaRPr lang="en-US" altLang="zh-CN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此时似然函数</a:t>
                  </a:r>
                  <a:r>
                    <a:rPr lang="zh-CN" altLang="en-US" sz="1400" u="sng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的对数</a:t>
                  </a: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关于各未知数的偏导数为</a:t>
                  </a:r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0</a:t>
                  </a:r>
                  <a:endParaRPr lang="en-US" altLang="zh-CN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>
                    <a:spcBef>
                      <a:spcPts val="600"/>
                    </a:spcBef>
                  </a:pPr>
                  <a:r>
                    <a:rPr lang="zh-CN" altLang="en-US" sz="16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似然方程</a:t>
                  </a:r>
                  <a:r>
                    <a:rPr lang="en-US" altLang="zh-CN" sz="16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𝜕</m:t>
                          </m:r>
                          <m:func>
                            <m:func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𝐿</m:t>
                              </m:r>
                            </m:e>
                          </m:func>
                        </m:num>
                        <m:den>
                          <m:r>
                            <a:rPr lang="en-US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=0</m:t>
                      </m:r>
                    </m:oMath>
                  </a14:m>
                  <a:r>
                    <a:rPr lang="en-US" altLang="zh-CN" sz="16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</a:t>
                  </a:r>
                </a:p>
                <a:p>
                  <a:pPr algn="ctr"/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（由于似然函数是连乘形式，取对数是更容易计算的）</a:t>
                  </a:r>
                  <a:endParaRPr lang="en-US" altLang="zh-CN" sz="12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731C467C-C3F9-7CBB-6BBF-B8088B112B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2465" y="3767061"/>
                  <a:ext cx="4219302" cy="1394421"/>
                </a:xfrm>
                <a:prstGeom prst="rect">
                  <a:avLst/>
                </a:prstGeom>
                <a:blipFill>
                  <a:blip r:embed="rId5"/>
                  <a:stretch>
                    <a:fillRect t="-873" b="-262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F2D51CA-DE6F-937C-5CF2-361E3D365519}"/>
                </a:ext>
              </a:extLst>
            </p:cNvPr>
            <p:cNvSpPr txBox="1"/>
            <p:nvPr/>
          </p:nvSpPr>
          <p:spPr>
            <a:xfrm>
              <a:off x="9443207" y="3887190"/>
              <a:ext cx="2015630" cy="1154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rPr>
                <a:t>求解似然方程</a:t>
              </a:r>
              <a:endPara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algn="ctr"/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rPr>
                <a:t>得到参数的估计值</a:t>
              </a:r>
              <a:endPara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algn="ctr">
                <a:spcBef>
                  <a:spcPts val="600"/>
                </a:spcBef>
              </a:pPr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rPr>
                <a:t>将样本值用样本替换</a:t>
              </a:r>
              <a:endPara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algn="ctr"/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rPr>
                <a:t>得到参数的估计量</a:t>
              </a:r>
              <a:endPara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" name="箭头: 右 11">
              <a:extLst>
                <a:ext uri="{FF2B5EF4-FFF2-40B4-BE49-F238E27FC236}">
                  <a16:creationId xmlns:a16="http://schemas.microsoft.com/office/drawing/2014/main" id="{3A8D5A75-9B6E-8C54-2C86-824DC0E2DC5E}"/>
                </a:ext>
              </a:extLst>
            </p:cNvPr>
            <p:cNvSpPr/>
            <p:nvPr/>
          </p:nvSpPr>
          <p:spPr>
            <a:xfrm>
              <a:off x="4708875" y="4572947"/>
              <a:ext cx="487180" cy="250417"/>
            </a:xfrm>
            <a:prstGeom prst="rightArrow">
              <a:avLst>
                <a:gd name="adj1" fmla="val 29487"/>
                <a:gd name="adj2" fmla="val 5000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箭头: 右 12">
              <a:extLst>
                <a:ext uri="{FF2B5EF4-FFF2-40B4-BE49-F238E27FC236}">
                  <a16:creationId xmlns:a16="http://schemas.microsoft.com/office/drawing/2014/main" id="{D2C6A588-846B-C645-DC80-41560B7D55AC}"/>
                </a:ext>
              </a:extLst>
            </p:cNvPr>
            <p:cNvSpPr/>
            <p:nvPr/>
          </p:nvSpPr>
          <p:spPr>
            <a:xfrm>
              <a:off x="8799228" y="4576415"/>
              <a:ext cx="487180" cy="250417"/>
            </a:xfrm>
            <a:prstGeom prst="rightArrow">
              <a:avLst>
                <a:gd name="adj1" fmla="val 29487"/>
                <a:gd name="adj2" fmla="val 5000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86861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3090446"/>
                <a:ext cx="1117731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2.1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(1.2,0.3,2.8,3.5,4.9,0.5,1.8)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𝑈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𝜃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𝜃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𝜃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的最大似然估计为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___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:r>
                  <a:rPr lang="en-US" altLang="zh-CN" sz="1600" dirty="0">
                    <a:ea typeface="汉仪润圆-65简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𝜃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的最大似然估计为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___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090446"/>
                <a:ext cx="11177316" cy="338554"/>
              </a:xfrm>
              <a:prstGeom prst="rect">
                <a:avLst/>
              </a:prstGeom>
              <a:blipFill>
                <a:blip r:embed="rId3"/>
                <a:stretch>
                  <a:fillRect l="-273" t="-3571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CB0309C-520E-3844-F82D-8D9ACB950C46}"/>
              </a:ext>
            </a:extLst>
          </p:cNvPr>
          <p:cNvCxnSpPr>
            <a:cxnSpLocks/>
          </p:cNvCxnSpPr>
          <p:nvPr/>
        </p:nvCxnSpPr>
        <p:spPr>
          <a:xfrm>
            <a:off x="511212" y="4077851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F9E8275-0D8D-B1EC-6CAA-79D07057F425}"/>
                  </a:ext>
                </a:extLst>
              </p:cNvPr>
              <p:cNvSpPr txBox="1"/>
              <p:nvPr/>
            </p:nvSpPr>
            <p:spPr>
              <a:xfrm>
                <a:off x="507460" y="4370654"/>
                <a:ext cx="11108176" cy="34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2.2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𝐵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的一个样本，则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的最大似然估计量为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____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F9E8275-0D8D-B1EC-6CAA-79D07057F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4370654"/>
                <a:ext cx="11108176" cy="342979"/>
              </a:xfrm>
              <a:prstGeom prst="rect">
                <a:avLst/>
              </a:prstGeom>
              <a:blipFill>
                <a:blip r:embed="rId4"/>
                <a:stretch>
                  <a:fillRect l="-274" t="-3571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AF56AEF4-4CB8-7FDA-554F-9CFE15F4F3F7}"/>
              </a:ext>
            </a:extLst>
          </p:cNvPr>
          <p:cNvSpPr txBox="1"/>
          <p:nvPr/>
        </p:nvSpPr>
        <p:spPr>
          <a:xfrm>
            <a:off x="507460" y="496110"/>
            <a:ext cx="3568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参数的点估计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: 圆角 1">
                <a:extLst>
                  <a:ext uri="{FF2B5EF4-FFF2-40B4-BE49-F238E27FC236}">
                    <a16:creationId xmlns:a16="http://schemas.microsoft.com/office/drawing/2014/main" id="{0F440349-532D-55C4-730C-966B96BE0DF3}"/>
                  </a:ext>
                </a:extLst>
              </p:cNvPr>
              <p:cNvSpPr/>
              <p:nvPr/>
            </p:nvSpPr>
            <p:spPr>
              <a:xfrm>
                <a:off x="576364" y="1487920"/>
                <a:ext cx="11039272" cy="1355398"/>
              </a:xfrm>
              <a:prstGeom prst="roundRect">
                <a:avLst>
                  <a:gd name="adj" fmla="val 19795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6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对 </a:t>
                </a:r>
                <a:r>
                  <a:rPr lang="zh-CN" altLang="en-US" sz="1600" u="sng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几何分布、二项分布、泊松分布、指数分布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，期望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𝐸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(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𝑋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的最大似然估计量 为 样本均值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𝑋</m:t>
                        </m:r>
                      </m:e>
                    </m:acc>
                  </m:oMath>
                </a14:m>
                <a:endParaRPr lang="en-US" altLang="zh-CN" sz="1600" dirty="0">
                  <a:solidFill>
                    <a:schemeClr val="tx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zh-CN" altLang="en-US" sz="16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对 </a:t>
                </a:r>
                <a:r>
                  <a:rPr lang="zh-CN" altLang="en-US" sz="1600" u="sng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正态分布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，期望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𝜇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、方差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sSupPr>
                      <m:e>
                        <m:r>
                          <a:rPr lang="zh-CN" alt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的最大似然估计量 为 样本均值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acc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、样本方差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sz="1600" dirty="0">
                  <a:solidFill>
                    <a:schemeClr val="tx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zh-CN" altLang="en-US" sz="16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对 </a:t>
                </a:r>
                <a:r>
                  <a:rPr lang="zh-CN" altLang="en-US" sz="1600" u="sng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均匀分布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，下限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𝜃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的最大似然估计量 为 最小次序统计量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(1)</m:t>
                        </m:r>
                      </m:sub>
                    </m:sSub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，上限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𝜃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的最大似然估计量 为 最大次序统计量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(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𝑛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)</m:t>
                        </m:r>
                      </m:sub>
                    </m:sSub>
                  </m:oMath>
                </a14:m>
                <a:endParaRPr lang="en-US" altLang="zh-CN" sz="1600" dirty="0">
                  <a:solidFill>
                    <a:schemeClr val="tx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2" name="矩形: 圆角 1">
                <a:extLst>
                  <a:ext uri="{FF2B5EF4-FFF2-40B4-BE49-F238E27FC236}">
                    <a16:creationId xmlns:a16="http://schemas.microsoft.com/office/drawing/2014/main" id="{0F440349-532D-55C4-730C-966B96BE0D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1487920"/>
                <a:ext cx="11039272" cy="1355398"/>
              </a:xfrm>
              <a:prstGeom prst="roundRect">
                <a:avLst>
                  <a:gd name="adj" fmla="val 19795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0F0B41B-E165-D7DF-BB60-0A60081DC9A2}"/>
                  </a:ext>
                </a:extLst>
              </p:cNvPr>
              <p:cNvSpPr txBox="1"/>
              <p:nvPr/>
            </p:nvSpPr>
            <p:spPr>
              <a:xfrm>
                <a:off x="507460" y="3516089"/>
                <a:ext cx="111081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解：样本的最小值为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0.3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，最大值为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4.9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𝜃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的最大似然估计为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0.3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𝜃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的最大似然估计为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4.9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0F0B41B-E165-D7DF-BB60-0A60081DC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516089"/>
                <a:ext cx="11108176" cy="338554"/>
              </a:xfrm>
              <a:prstGeom prst="rect">
                <a:avLst/>
              </a:prstGeom>
              <a:blipFill>
                <a:blip r:embed="rId6"/>
                <a:stretch>
                  <a:fillRect l="-274" t="-7273" b="-2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638C946-A111-64D7-924F-EA1A0DC51067}"/>
                  </a:ext>
                </a:extLst>
              </p:cNvPr>
              <p:cNvSpPr txBox="1"/>
              <p:nvPr/>
            </p:nvSpPr>
            <p:spPr>
              <a:xfrm>
                <a:off x="507460" y="4797700"/>
                <a:ext cx="11108176" cy="466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解：因总体期望为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𝑛𝑝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𝑛𝑝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的最大似然估计量为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的最大似然估计量为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</a:rPr>
                              <m:t>𝑋</m:t>
                            </m:r>
                          </m:e>
                        </m:acc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638C946-A111-64D7-924F-EA1A0DC51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4797700"/>
                <a:ext cx="11108176" cy="466025"/>
              </a:xfrm>
              <a:prstGeom prst="rect">
                <a:avLst/>
              </a:prstGeom>
              <a:blipFill>
                <a:blip r:embed="rId7"/>
                <a:stretch>
                  <a:fillRect l="-274"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7D77D5D3-7673-8E83-C5D4-330CEE8CCCE4}"/>
              </a:ext>
            </a:extLst>
          </p:cNvPr>
          <p:cNvSpPr txBox="1"/>
          <p:nvPr/>
        </p:nvSpPr>
        <p:spPr>
          <a:xfrm>
            <a:off x="4146996" y="775742"/>
            <a:ext cx="23554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最大似然估计量的求解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383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2" grpId="0" animBg="1"/>
      <p:bldP spid="4" grpId="0" uiExpand="1" build="p"/>
      <p:bldP spid="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F56AEF4-4CB8-7FDA-554F-9CFE15F4F3F7}"/>
              </a:ext>
            </a:extLst>
          </p:cNvPr>
          <p:cNvSpPr txBox="1"/>
          <p:nvPr/>
        </p:nvSpPr>
        <p:spPr>
          <a:xfrm>
            <a:off x="507460" y="496110"/>
            <a:ext cx="3568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参数的点估计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E704446-9F3A-BC9E-1F3E-CC080CBC5C74}"/>
                  </a:ext>
                </a:extLst>
              </p:cNvPr>
              <p:cNvSpPr txBox="1"/>
              <p:nvPr/>
            </p:nvSpPr>
            <p:spPr>
              <a:xfrm>
                <a:off x="507460" y="1488712"/>
                <a:ext cx="11108176" cy="878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2.3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的密度函数为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𝜃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&gt;0</m:t>
                            </m:r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0,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其它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未知，求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的最大似然估计量。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E704446-9F3A-BC9E-1F3E-CC080CBC5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88712"/>
                <a:ext cx="11108176" cy="878446"/>
              </a:xfrm>
              <a:prstGeom prst="rect">
                <a:avLst/>
              </a:prstGeom>
              <a:blipFill>
                <a:blip r:embed="rId3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FE62DA6-14CF-03ED-5C25-59D4AC208682}"/>
                  </a:ext>
                </a:extLst>
              </p:cNvPr>
              <p:cNvSpPr txBox="1"/>
              <p:nvPr/>
            </p:nvSpPr>
            <p:spPr>
              <a:xfrm>
                <a:off x="507460" y="2367158"/>
                <a:ext cx="11108176" cy="987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解：似然函数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𝐿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&gt;0)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ln</m:t>
                        </m:r>
                      </m:fName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𝐿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fun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6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−2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func>
                      <m:func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ln</m:t>
                        </m:r>
                      </m:fName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e>
                    </m:fun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似然方程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func>
                          <m:func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6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𝐿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</m:func>
                      </m:num>
                      <m:den>
                        <m: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zh-CN" altLang="en-US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num>
                      <m:den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，解得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acc>
                      <m:accPr>
                        <m:chr m:val="̅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的最大似然估计量为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acc>
                      <m:accPr>
                        <m:chr m:val="̅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FE62DA6-14CF-03ED-5C25-59D4AC208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367158"/>
                <a:ext cx="11108176" cy="987643"/>
              </a:xfrm>
              <a:prstGeom prst="rect">
                <a:avLst/>
              </a:prstGeom>
              <a:blipFill>
                <a:blip r:embed="rId4"/>
                <a:stretch>
                  <a:fillRect l="-274" t="-27160" b="-52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B492862-8B65-06D0-1F71-1C53EC6CB1C2}"/>
                  </a:ext>
                </a:extLst>
              </p:cNvPr>
              <p:cNvSpPr txBox="1"/>
              <p:nvPr/>
            </p:nvSpPr>
            <p:spPr>
              <a:xfrm>
                <a:off x="507460" y="3780853"/>
                <a:ext cx="11108176" cy="878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2.4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的密度函数为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altLang="zh-CN" sz="16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−2</m:t>
                                </m:r>
                              </m:den>
                            </m:f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2≤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≤</m:t>
                            </m:r>
                            <m:r>
                              <a:rPr lang="en-US" altLang="zh-CN" sz="16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e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0,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其它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未知，求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的最大似然估计量。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B492862-8B65-06D0-1F71-1C53EC6CB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780853"/>
                <a:ext cx="11108176" cy="878446"/>
              </a:xfrm>
              <a:prstGeom prst="rect">
                <a:avLst/>
              </a:prstGeom>
              <a:blipFill>
                <a:blip r:embed="rId5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1E80EDA-AC0E-8CEF-78C8-EEC399BA7409}"/>
              </a:ext>
            </a:extLst>
          </p:cNvPr>
          <p:cNvCxnSpPr>
            <a:cxnSpLocks/>
          </p:cNvCxnSpPr>
          <p:nvPr/>
        </p:nvCxnSpPr>
        <p:spPr>
          <a:xfrm>
            <a:off x="511212" y="3593347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AAA1FCC-6527-18FF-49B1-A378A73EDE2D}"/>
                  </a:ext>
                </a:extLst>
              </p:cNvPr>
              <p:cNvSpPr txBox="1"/>
              <p:nvPr/>
            </p:nvSpPr>
            <p:spPr>
              <a:xfrm>
                <a:off x="507460" y="4659299"/>
                <a:ext cx="11108176" cy="12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解：似然函数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𝐿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−2</m:t>
                            </m:r>
                          </m:den>
                        </m:f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(2≤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=1,2,…)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这是关于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的严格单调减函数，又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2≤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，故当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取得其小值即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时，似然函数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𝐿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取得最大值。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的最大似然估计量为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AAA1FCC-6527-18FF-49B1-A378A73ED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4659299"/>
                <a:ext cx="11108176" cy="1265539"/>
              </a:xfrm>
              <a:prstGeom prst="rect">
                <a:avLst/>
              </a:prstGeom>
              <a:blipFill>
                <a:blip r:embed="rId6"/>
                <a:stretch>
                  <a:fillRect l="-274" t="-21635" b="-24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E6360CA6-37F5-2066-4D28-B6E8923377E1}"/>
              </a:ext>
            </a:extLst>
          </p:cNvPr>
          <p:cNvSpPr txBox="1"/>
          <p:nvPr/>
        </p:nvSpPr>
        <p:spPr>
          <a:xfrm>
            <a:off x="4146996" y="775742"/>
            <a:ext cx="23554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最大似然估计量的求解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18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uiExpand="1" build="p"/>
      <p:bldP spid="13" grpId="0"/>
      <p:bldP spid="1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5501AC9-E5AE-7CAC-8725-087CAEFA9E4C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844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使用不同的估计方法，未知参数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的估计量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acc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𝜃</m:t>
                        </m:r>
                      </m:e>
                    </m:acc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可能是不同的。如何评价估计量孰优孰劣呢？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我们引入 无偏性、有效性、相合性 三种标准来判断。</a:t>
                </a:r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请牢记，估计量也是个随机变量，样本的观测值不同，估计量的取值就不同。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5501AC9-E5AE-7CAC-8725-087CAEFA9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844462"/>
              </a:xfrm>
              <a:prstGeom prst="rect">
                <a:avLst/>
              </a:prstGeom>
              <a:blipFill>
                <a:blip r:embed="rId3"/>
                <a:stretch>
                  <a:fillRect l="-274" b="-50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A37D5B5D-C46C-24F0-1CC4-CEF4E2EBC268}"/>
              </a:ext>
            </a:extLst>
          </p:cNvPr>
          <p:cNvSpPr txBox="1"/>
          <p:nvPr/>
        </p:nvSpPr>
        <p:spPr>
          <a:xfrm>
            <a:off x="507460" y="496110"/>
            <a:ext cx="3568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估计量的优良性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095F10-A426-C66F-6E47-9B96252F9C9E}"/>
              </a:ext>
            </a:extLst>
          </p:cNvPr>
          <p:cNvSpPr txBox="1"/>
          <p:nvPr/>
        </p:nvSpPr>
        <p:spPr>
          <a:xfrm>
            <a:off x="4146997" y="775742"/>
            <a:ext cx="26221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无偏性、有效性、相合性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7FFB505-3B42-E2A1-BE55-9F3BF59962E7}"/>
              </a:ext>
            </a:extLst>
          </p:cNvPr>
          <p:cNvGrpSpPr/>
          <p:nvPr/>
        </p:nvGrpSpPr>
        <p:grpSpPr>
          <a:xfrm>
            <a:off x="570720" y="2514527"/>
            <a:ext cx="3328679" cy="1164380"/>
            <a:chOff x="570720" y="2514527"/>
            <a:chExt cx="3328679" cy="1164380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C6DA4646-0B98-34A6-B905-6A4AB923E95B}"/>
                </a:ext>
              </a:extLst>
            </p:cNvPr>
            <p:cNvSpPr/>
            <p:nvPr/>
          </p:nvSpPr>
          <p:spPr>
            <a:xfrm>
              <a:off x="1612104" y="2514527"/>
              <a:ext cx="1245915" cy="49338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无偏性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B8B5F8F-8626-12A2-EDCB-1F03E7FA0251}"/>
                    </a:ext>
                  </a:extLst>
                </p:cNvPr>
                <p:cNvSpPr txBox="1"/>
                <p:nvPr/>
              </p:nvSpPr>
              <p:spPr>
                <a:xfrm>
                  <a:off x="1736206" y="3366257"/>
                  <a:ext cx="997709" cy="3126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</m:ctrlPr>
                              </m:acc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𝜃</m:t>
                                </m:r>
                              </m:e>
                            </m:acc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=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𝜃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B8B5F8F-8626-12A2-EDCB-1F03E7FA02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6206" y="3366257"/>
                  <a:ext cx="997709" cy="312650"/>
                </a:xfrm>
                <a:prstGeom prst="rect">
                  <a:avLst/>
                </a:prstGeom>
                <a:blipFill>
                  <a:blip r:embed="rId4"/>
                  <a:stretch>
                    <a:fillRect l="-4908" t="-19608" r="-4294" b="-39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46FB2BFA-0676-9294-8B82-2DDD080535CF}"/>
                </a:ext>
              </a:extLst>
            </p:cNvPr>
            <p:cNvSpPr txBox="1"/>
            <p:nvPr/>
          </p:nvSpPr>
          <p:spPr>
            <a:xfrm>
              <a:off x="570720" y="3007907"/>
              <a:ext cx="33286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楷体" panose="02010609060101010101" pitchFamily="49" charset="-122"/>
                  <a:ea typeface="楷体" panose="02010609060101010101" pitchFamily="49" charset="-122"/>
                </a:rPr>
                <a:t>无偏估计量的期望等于参数本身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8D602E9E-2FA6-48C7-ABE6-A4C88759302F}"/>
              </a:ext>
            </a:extLst>
          </p:cNvPr>
          <p:cNvGrpSpPr/>
          <p:nvPr/>
        </p:nvGrpSpPr>
        <p:grpSpPr>
          <a:xfrm>
            <a:off x="4397208" y="2514526"/>
            <a:ext cx="3328679" cy="1164381"/>
            <a:chOff x="4397208" y="2514526"/>
            <a:chExt cx="3328679" cy="1164381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558AE739-4ADD-6DCA-A8D0-95AEB83CE745}"/>
                </a:ext>
              </a:extLst>
            </p:cNvPr>
            <p:cNvSpPr/>
            <p:nvPr/>
          </p:nvSpPr>
          <p:spPr>
            <a:xfrm>
              <a:off x="5473042" y="2514526"/>
              <a:ext cx="1245915" cy="49338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有效性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BF6D45A-6274-A509-4525-9F4FD1A98FCF}"/>
                </a:ext>
              </a:extLst>
            </p:cNvPr>
            <p:cNvSpPr txBox="1"/>
            <p:nvPr/>
          </p:nvSpPr>
          <p:spPr>
            <a:xfrm>
              <a:off x="4397208" y="3007907"/>
              <a:ext cx="33286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楷体" panose="02010609060101010101" pitchFamily="49" charset="-122"/>
                  <a:ea typeface="楷体" panose="02010609060101010101" pitchFamily="49" charset="-122"/>
                </a:rPr>
                <a:t>估计量的方差越小越有效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34A6C8BB-54E6-B4C0-9C33-E460F17C27E2}"/>
                    </a:ext>
                  </a:extLst>
                </p:cNvPr>
                <p:cNvSpPr txBox="1"/>
                <p:nvPr/>
              </p:nvSpPr>
              <p:spPr>
                <a:xfrm>
                  <a:off x="5313284" y="3366257"/>
                  <a:ext cx="1565429" cy="3126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  <a:ea typeface="方正小标宋简体" panose="02000000000000000000" pitchFamily="2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  <a:ea typeface="方正小标宋简体" panose="02000000000000000000" pitchFamily="2" charset="-122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&lt;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  <a:ea typeface="方正小标宋简体" panose="02000000000000000000" pitchFamily="2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  <a:ea typeface="方正小标宋简体" panose="02000000000000000000" pitchFamily="2" charset="-122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34A6C8BB-54E6-B4C0-9C33-E460F17C27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3284" y="3366257"/>
                  <a:ext cx="1565429" cy="312650"/>
                </a:xfrm>
                <a:prstGeom prst="rect">
                  <a:avLst/>
                </a:prstGeom>
                <a:blipFill>
                  <a:blip r:embed="rId5"/>
                  <a:stretch>
                    <a:fillRect l="-3125" t="-19608" r="-3516" b="-117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B3446CA-F004-1E33-925E-9E13F0753D4F}"/>
              </a:ext>
            </a:extLst>
          </p:cNvPr>
          <p:cNvGrpSpPr/>
          <p:nvPr/>
        </p:nvGrpSpPr>
        <p:grpSpPr>
          <a:xfrm>
            <a:off x="8365796" y="2514526"/>
            <a:ext cx="3182281" cy="1216382"/>
            <a:chOff x="8365796" y="2514526"/>
            <a:chExt cx="3182281" cy="1216382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5D2C40F7-0AB3-8203-DD78-B40CE61B7A36}"/>
                </a:ext>
              </a:extLst>
            </p:cNvPr>
            <p:cNvSpPr/>
            <p:nvPr/>
          </p:nvSpPr>
          <p:spPr>
            <a:xfrm>
              <a:off x="9333981" y="2514526"/>
              <a:ext cx="1245915" cy="49338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相合性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A6F768FA-009E-2450-8226-6A093FA4E4E4}"/>
                </a:ext>
              </a:extLst>
            </p:cNvPr>
            <p:cNvSpPr txBox="1"/>
            <p:nvPr/>
          </p:nvSpPr>
          <p:spPr>
            <a:xfrm>
              <a:off x="8678802" y="3007906"/>
              <a:ext cx="25562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楷体" panose="02010609060101010101" pitchFamily="49" charset="-122"/>
                  <a:ea typeface="楷体" panose="02010609060101010101" pitchFamily="49" charset="-122"/>
                </a:rPr>
                <a:t>样本容量很大时估计量收敛于参数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64E1B6BA-ACA7-75AB-16EA-2598BBB27C7F}"/>
                    </a:ext>
                  </a:extLst>
                </p:cNvPr>
                <p:cNvSpPr txBox="1"/>
                <p:nvPr/>
              </p:nvSpPr>
              <p:spPr>
                <a:xfrm>
                  <a:off x="8365796" y="3336505"/>
                  <a:ext cx="3182281" cy="39440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acc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𝜃</m:t>
                            </m:r>
                          </m:e>
                        </m:acc>
                        <m:groupChr>
                          <m:groupChrPr>
                            <m:chr m:val="→"/>
                            <m:vertJc m:val="bot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</m:groupChr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⇒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</m:ctrlPr>
                              </m:acc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𝜃</m:t>
                                </m:r>
                              </m:e>
                            </m:acc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𝐷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</m:ctrlPr>
                              </m:acc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𝜃</m:t>
                                </m:r>
                              </m:e>
                            </m:acc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64E1B6BA-ACA7-75AB-16EA-2598BBB27C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5796" y="3336505"/>
                  <a:ext cx="3182281" cy="39440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D89FC34-B9B1-01A5-A409-4E9030D6DBC4}"/>
              </a:ext>
            </a:extLst>
          </p:cNvPr>
          <p:cNvCxnSpPr>
            <a:cxnSpLocks/>
          </p:cNvCxnSpPr>
          <p:nvPr/>
        </p:nvCxnSpPr>
        <p:spPr>
          <a:xfrm>
            <a:off x="576364" y="3868449"/>
            <a:ext cx="341091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73613EC5-47C4-2E33-CEB4-E7FDFD47575A}"/>
              </a:ext>
            </a:extLst>
          </p:cNvPr>
          <p:cNvCxnSpPr>
            <a:cxnSpLocks/>
          </p:cNvCxnSpPr>
          <p:nvPr/>
        </p:nvCxnSpPr>
        <p:spPr>
          <a:xfrm>
            <a:off x="4390539" y="3868449"/>
            <a:ext cx="3410918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312276B4-C07E-733A-B90B-3A5F5559A021}"/>
              </a:ext>
            </a:extLst>
          </p:cNvPr>
          <p:cNvCxnSpPr>
            <a:cxnSpLocks/>
          </p:cNvCxnSpPr>
          <p:nvPr/>
        </p:nvCxnSpPr>
        <p:spPr>
          <a:xfrm>
            <a:off x="8204718" y="3868449"/>
            <a:ext cx="341091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FF2DF121-40C8-8EBD-59C8-55B7B41AF0B4}"/>
                  </a:ext>
                </a:extLst>
              </p:cNvPr>
              <p:cNvSpPr txBox="1"/>
              <p:nvPr/>
            </p:nvSpPr>
            <p:spPr>
              <a:xfrm>
                <a:off x="450961" y="3977207"/>
                <a:ext cx="3568196" cy="16135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不论总体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服从什么分布</a:t>
                </a:r>
                <a:endParaRPr lang="en-US" altLang="zh-CN" sz="1600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以下结论总成立</a:t>
                </a:r>
                <a:endParaRPr lang="en-US" altLang="zh-CN" sz="1600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样本均值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是总体期望</a:t>
                </a:r>
                <a14:m>
                  <m:oMath xmlns:m="http://schemas.openxmlformats.org/officeDocument/2006/math">
                    <m:r>
                      <a:rPr lang="zh-CN" alt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的无偏估计</a:t>
                </a:r>
                <a:endParaRPr lang="en-US" altLang="zh-CN" sz="1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样本方差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是总体方差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的渐进无偏估计</a:t>
                </a:r>
                <a:endParaRPr lang="en-US" altLang="zh-CN" sz="1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修正样本方差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  <m:sup>
                        <m:r>
                          <a:rPr lang="en-US" altLang="zh-CN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是总体方差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的无偏估计</a:t>
                </a:r>
                <a:endParaRPr lang="en-US" altLang="zh-CN" sz="1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FF2DF121-40C8-8EBD-59C8-55B7B41AF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961" y="3977207"/>
                <a:ext cx="3568196" cy="1613519"/>
              </a:xfrm>
              <a:prstGeom prst="rect">
                <a:avLst/>
              </a:prstGeom>
              <a:blipFill>
                <a:blip r:embed="rId7"/>
                <a:stretch>
                  <a:fillRect t="-1509" b="-26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5E66E6FE-37E3-8CA9-7D8B-64252498C41F}"/>
                  </a:ext>
                </a:extLst>
              </p:cNvPr>
              <p:cNvSpPr txBox="1"/>
              <p:nvPr/>
            </p:nvSpPr>
            <p:spPr>
              <a:xfrm>
                <a:off x="4277449" y="3982735"/>
                <a:ext cx="3568196" cy="1613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最小方差无偏估计量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acc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𝜃</m:t>
                        </m:r>
                      </m:e>
                    </m:acc>
                  </m:oMath>
                </a14:m>
                <a:endParaRPr lang="en-US" altLang="zh-CN" sz="1600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zh-CN" altLang="en-US" sz="14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accPr>
                          <m:e>
                            <m:r>
                              <a:rPr lang="zh-CN" altLang="en-US" sz="14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zh-CN" altLang="en-US" sz="14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𝜃</m:t>
                    </m:r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且 </a:t>
                </a:r>
                <a14:m>
                  <m:oMath xmlns:m="http://schemas.openxmlformats.org/officeDocument/2006/math">
                    <m:r>
                      <a:rPr lang="en-US" altLang="zh-CN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zh-CN" altLang="en-US" sz="14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accPr>
                          <m:e>
                            <m:r>
                              <a:rPr lang="zh-CN" altLang="en-US" sz="14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fPr>
                      <m:num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𝑛𝐼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(</m:t>
                        </m:r>
                        <m:r>
                          <a:rPr lang="zh-CN" altLang="en-US" sz="14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𝜃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1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𝐼</m:t>
                    </m:r>
                    <m:d>
                      <m:d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r>
                          <a:rPr lang="zh-CN" altLang="en-US" sz="14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𝜃</m:t>
                        </m:r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𝐸</m:t>
                    </m:r>
                    <m:sSup>
                      <m:sSup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𝜕</m:t>
                                </m:r>
                                <m:func>
                                  <m:func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方正小标宋简体" panose="02000000000000000000" pitchFamily="2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1400" b="0" i="0" smtClean="0">
                                        <a:latin typeface="Cambria Math" panose="02040503050406030204" pitchFamily="18" charset="0"/>
                                        <a:ea typeface="方正小标宋简体" panose="02000000000000000000" pitchFamily="2" charset="-122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方正小标宋简体" panose="02000000000000000000" pitchFamily="2" charset="-122"/>
                                      </a:rPr>
                                      <m:t>𝑝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𝜕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 </m:t>
                                </m:r>
                                <m:r>
                                  <a:rPr lang="zh-CN" altLang="en-US" sz="1400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𝜃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4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(=−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140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sSup>
                              <m:sSup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sz="14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𝜃</m:t>
                            </m:r>
                          </m:den>
                        </m:f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endParaRPr lang="en-US" altLang="zh-CN" sz="1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称作费希尔</a:t>
                </a:r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(Fisher)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信息量</a:t>
                </a:r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5E66E6FE-37E3-8CA9-7D8B-64252498C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449" y="3982735"/>
                <a:ext cx="3568196" cy="1613070"/>
              </a:xfrm>
              <a:prstGeom prst="rect">
                <a:avLst/>
              </a:prstGeom>
              <a:blipFill>
                <a:blip r:embed="rId8"/>
                <a:stretch>
                  <a:fillRect t="-1132" b="-30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E5958250-3DCE-2DAE-F20D-C99388008AA2}"/>
                  </a:ext>
                </a:extLst>
              </p:cNvPr>
              <p:cNvSpPr txBox="1"/>
              <p:nvPr/>
            </p:nvSpPr>
            <p:spPr>
              <a:xfrm>
                <a:off x="570720" y="5685621"/>
                <a:ext cx="7230737" cy="307777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一般来说，样本均值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是总体期望</a:t>
                </a:r>
                <a14:m>
                  <m:oMath xmlns:m="http://schemas.openxmlformats.org/officeDocument/2006/math">
                    <m:r>
                      <a:rPr lang="zh-CN" alt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 </a:t>
                </a:r>
                <a:r>
                  <a:rPr lang="zh-CN" altLang="en-US" sz="1400" b="1" u="sng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最小方差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无偏估计</a:t>
                </a:r>
                <a:endParaRPr lang="en-US" altLang="zh-CN" sz="1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E5958250-3DCE-2DAE-F20D-C99388008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20" y="5685621"/>
                <a:ext cx="7230737" cy="307777"/>
              </a:xfrm>
              <a:prstGeom prst="rect">
                <a:avLst/>
              </a:prstGeom>
              <a:blipFill>
                <a:blip r:embed="rId9"/>
                <a:stretch>
                  <a:fillRect t="-3846" b="-15385"/>
                </a:stretch>
              </a:blipFill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文本框 61">
            <a:extLst>
              <a:ext uri="{FF2B5EF4-FFF2-40B4-BE49-F238E27FC236}">
                <a16:creationId xmlns:a16="http://schemas.microsoft.com/office/drawing/2014/main" id="{33B4E92C-ADC9-36D4-F072-27B8D094562B}"/>
              </a:ext>
            </a:extLst>
          </p:cNvPr>
          <p:cNvSpPr txBox="1"/>
          <p:nvPr/>
        </p:nvSpPr>
        <p:spPr>
          <a:xfrm>
            <a:off x="8172839" y="3977207"/>
            <a:ext cx="35681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矩估计量一般是相合估计</a:t>
            </a:r>
            <a:endParaRPr lang="en-US" altLang="zh-CN" sz="16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spcBef>
                <a:spcPts val="1800"/>
              </a:spcBef>
            </a:pP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最大似然估计量唯一时一般也是相合估计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由于相合性只有在样本容量很大时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才显现其优越性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而增大样本容量实际上是较难做到的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因此我们较少考虑相合性的条件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（但</a:t>
            </a: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相合性是估计量应当满足的基本要求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5371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8" grpId="0"/>
      <p:bldP spid="59" grpId="0"/>
      <p:bldP spid="61" grpId="0" animBg="1"/>
      <p:bldP spid="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317236"/>
                <a:ext cx="11108176" cy="119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3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的密度函数为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2</m:t>
                                    </m:r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𝜃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&gt;0</m:t>
                            </m:r>
                          </m:e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0,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其它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&gt;0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未知，求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的最大似然估计量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acc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𝜃</m:t>
                        </m:r>
                      </m:e>
                    </m:acc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判断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acc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𝜃</m:t>
                        </m:r>
                      </m:e>
                    </m:acc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是否为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的无偏估计，相合估计？（注：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Gamma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函数：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𝑑𝑦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，且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! </m:t>
                    </m:r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为正整数）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317236"/>
                <a:ext cx="11108176" cy="1191993"/>
              </a:xfrm>
              <a:prstGeom prst="rect">
                <a:avLst/>
              </a:prstGeom>
              <a:blipFill>
                <a:blip r:embed="rId3"/>
                <a:stretch>
                  <a:fillRect l="-274" b="-5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2509229"/>
                <a:ext cx="11108176" cy="32038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解：似然函数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𝐿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den>
                            </m:f>
                          </m:sup>
                        </m:sSup>
                      </m:e>
                    </m:nary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ln</m:t>
                        </m:r>
                      </m:fName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𝐿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fun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6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func>
                      <m:func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ln</m:t>
                        </m:r>
                      </m:fName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e>
                    </m:fun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似然方程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func>
                          <m:func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6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𝐿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</m:func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den>
                    </m:f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num>
                      <m:den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，解得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m:rPr>
                        <m:nor/>
                      </m:rP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，故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m:rPr>
                        <m:nor/>
                      </m:rP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的最大似然估计量</m:t>
                    </m:r>
                    <m:acc>
                      <m:accPr>
                        <m:chr m:val="̂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acc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𝜃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m:rPr>
                        <m:nor/>
                      </m:rPr>
                      <a:rPr lang="en-US" altLang="zh-CN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.</m:t>
                    </m:r>
                  </m:oMath>
                </a14:m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因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，令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𝑦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den>
                    </m:f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𝑑𝑦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num>
                      <m:den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𝑑𝑥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𝜃</m:t>
                    </m:r>
                    <m:nary>
                      <m:nary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𝜃</m:t>
                    </m:r>
                    <m:r>
                      <m:rPr>
                        <m:sty m:val="p"/>
                      </m:rPr>
                      <a:rPr lang="el-GR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acc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𝜃</m:t>
                        </m:r>
                      </m:e>
                    </m:acc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的无偏估计。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又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</m:den>
                    </m:f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den>
                    </m:f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𝐸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)]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4</m:t>
                            </m:r>
                          </m:sup>
                        </m:sSup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4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nary>
                      <m:nary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𝑑𝑦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4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l-GR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8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8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acc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𝜃</m:t>
                        </m:r>
                      </m:e>
                    </m:acc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的相合估计。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509229"/>
                <a:ext cx="11108176" cy="3203890"/>
              </a:xfrm>
              <a:prstGeom prst="rect">
                <a:avLst/>
              </a:prstGeom>
              <a:blipFill>
                <a:blip r:embed="rId4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4A2BD574-D140-DDCC-9943-FBC69595E494}"/>
              </a:ext>
            </a:extLst>
          </p:cNvPr>
          <p:cNvSpPr txBox="1"/>
          <p:nvPr/>
        </p:nvSpPr>
        <p:spPr>
          <a:xfrm>
            <a:off x="507460" y="496110"/>
            <a:ext cx="3568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估计量的优良性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2A5421A-087E-29B5-722E-305F3635A502}"/>
              </a:ext>
            </a:extLst>
          </p:cNvPr>
          <p:cNvSpPr txBox="1"/>
          <p:nvPr/>
        </p:nvSpPr>
        <p:spPr>
          <a:xfrm>
            <a:off x="4146996" y="775742"/>
            <a:ext cx="3111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无偏性、有效性、相合性的检验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509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0" y="496110"/>
            <a:ext cx="3568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参数的区间估计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111081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参数的点估计 可以根据一个样本 给出对应的参数估计值，但由于抽样的随机性，我们无法得知这估计值的误差。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因此，我们尝试给出一个 参数可能的取值区间，作为参数的一种估计。这称为 参数的</a:t>
            </a:r>
            <a:r>
              <a:rPr lang="zh-CN" altLang="en-US" sz="1600" dirty="0">
                <a:solidFill>
                  <a:srgbClr val="C00000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区间估计</a:t>
            </a: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当然，参数的真实值也有可能不落在我们所估计的区间内，称其 落在估计区间的概率 为 </a:t>
            </a:r>
            <a:r>
              <a:rPr lang="zh-CN" altLang="en-US" sz="1600" dirty="0">
                <a:solidFill>
                  <a:schemeClr val="accent2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置信度</a:t>
            </a: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146997" y="775742"/>
            <a:ext cx="1738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区间估计的概念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1B559E2-CA6C-F304-9300-E0A0C2971ACC}"/>
              </a:ext>
            </a:extLst>
          </p:cNvPr>
          <p:cNvSpPr/>
          <p:nvPr/>
        </p:nvSpPr>
        <p:spPr>
          <a:xfrm>
            <a:off x="576364" y="2883859"/>
            <a:ext cx="1899358" cy="710707"/>
          </a:xfrm>
          <a:prstGeom prst="roundRect">
            <a:avLst>
              <a:gd name="adj" fmla="val 2266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参数的区间估计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23EF65F-0B24-4B86-E12B-0DAAC976436E}"/>
                  </a:ext>
                </a:extLst>
              </p:cNvPr>
              <p:cNvSpPr txBox="1"/>
              <p:nvPr/>
            </p:nvSpPr>
            <p:spPr>
              <a:xfrm>
                <a:off x="2792963" y="2883859"/>
                <a:ext cx="8822673" cy="710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若总体中含有一个未知参数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，存在两个统计量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acc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acc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&lt;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=1−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𝛼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则称随机区间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acc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acc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为参数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</a:t>
                </a:r>
                <a:r>
                  <a:rPr lang="zh-CN" altLang="en-US" sz="1600" dirty="0">
                    <a:solidFill>
                      <a:schemeClr val="accent2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置信度为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1−</m:t>
                    </m:r>
                    <m:r>
                      <a:rPr lang="zh-CN" altLang="en-US" sz="16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𝛼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</a:t>
                </a:r>
                <a:r>
                  <a:rPr lang="zh-CN" altLang="en-US" sz="1600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区间估计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acc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acc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分别称为</a:t>
                </a:r>
                <a:r>
                  <a:rPr lang="zh-CN" altLang="en-US" sz="1600" dirty="0">
                    <a:solidFill>
                      <a:schemeClr val="accent2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置信下限、置信上限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23EF65F-0B24-4B86-E12B-0DAAC9764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2963" y="2883859"/>
                <a:ext cx="8822673" cy="710707"/>
              </a:xfrm>
              <a:prstGeom prst="rect">
                <a:avLst/>
              </a:prstGeom>
              <a:blipFill>
                <a:blip r:embed="rId3"/>
                <a:stretch>
                  <a:fillRect l="-346" t="-2564" r="-276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组合 39">
            <a:extLst>
              <a:ext uri="{FF2B5EF4-FFF2-40B4-BE49-F238E27FC236}">
                <a16:creationId xmlns:a16="http://schemas.microsoft.com/office/drawing/2014/main" id="{C250B4CB-7ECB-FFF7-5924-476780522ABD}"/>
              </a:ext>
            </a:extLst>
          </p:cNvPr>
          <p:cNvGrpSpPr/>
          <p:nvPr/>
        </p:nvGrpSpPr>
        <p:grpSpPr>
          <a:xfrm>
            <a:off x="576364" y="3883688"/>
            <a:ext cx="11039272" cy="1838249"/>
            <a:chOff x="576364" y="3883688"/>
            <a:chExt cx="11039272" cy="183824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AC575AA-094D-30A9-4E42-DF8CC39F3EBD}"/>
                </a:ext>
              </a:extLst>
            </p:cNvPr>
            <p:cNvGrpSpPr/>
            <p:nvPr/>
          </p:nvGrpSpPr>
          <p:grpSpPr>
            <a:xfrm>
              <a:off x="576364" y="3883688"/>
              <a:ext cx="11039272" cy="1838249"/>
              <a:chOff x="576364" y="3567900"/>
              <a:chExt cx="11039272" cy="183824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矩形: 圆角 22">
                    <a:extLst>
                      <a:ext uri="{FF2B5EF4-FFF2-40B4-BE49-F238E27FC236}">
                        <a16:creationId xmlns:a16="http://schemas.microsoft.com/office/drawing/2014/main" id="{882D5013-CB65-5CED-92D4-23B4101D4A78}"/>
                      </a:ext>
                    </a:extLst>
                  </p:cNvPr>
                  <p:cNvSpPr/>
                  <p:nvPr/>
                </p:nvSpPr>
                <p:spPr>
                  <a:xfrm>
                    <a:off x="4487046" y="4906886"/>
                    <a:ext cx="3217908" cy="499263"/>
                  </a:xfrm>
                  <a:prstGeom prst="roundRect">
                    <a:avLst>
                      <a:gd name="adj" fmla="val 36367"/>
                    </a:avLst>
                  </a:prstGeom>
                  <a:solidFill>
                    <a:srgbClr val="C0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lnSpc>
                        <a:spcPct val="150000"/>
                      </a:lnSpc>
                    </a:pPr>
                    <a:r>
                      <a:rPr lang="zh-CN" altLang="en-US" sz="1600" dirty="0">
                        <a:latin typeface="汉仪润圆-65简" panose="00020600040101010101" pitchFamily="18" charset="-122"/>
                        <a:ea typeface="汉仪润圆-65简" panose="00020600040101010101" pitchFamily="18" charset="-122"/>
                      </a:rPr>
                      <a:t>参数的区间估计 </a:t>
                    </a:r>
                    <a:r>
                      <a:rPr lang="en-US" altLang="zh-CN" sz="1600" dirty="0">
                        <a:latin typeface="汉仪润圆-65简" panose="00020600040101010101" pitchFamily="18" charset="-122"/>
                        <a:ea typeface="汉仪润圆-65简" panose="00020600040101010101" pitchFamily="18" charset="-122"/>
                      </a:rPr>
                      <a:t>(</a:t>
                    </a:r>
                    <a:r>
                      <a:rPr lang="zh-CN" altLang="en-US" sz="1600" dirty="0">
                        <a:latin typeface="汉仪润圆-65简" panose="00020600040101010101" pitchFamily="18" charset="-122"/>
                        <a:ea typeface="汉仪润圆-65简" panose="00020600040101010101" pitchFamily="18" charset="-122"/>
                      </a:rPr>
                      <a:t>置信度</a:t>
                    </a:r>
                    <a14:m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1−</m:t>
                        </m:r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𝛼</m:t>
                        </m:r>
                      </m:oMath>
                    </a14:m>
                    <a:r>
                      <a:rPr lang="en-US" altLang="zh-CN" sz="1600" dirty="0">
                        <a:latin typeface="汉仪润圆-65简" panose="00020600040101010101" pitchFamily="18" charset="-122"/>
                        <a:ea typeface="汉仪润圆-65简" panose="00020600040101010101" pitchFamily="18" charset="-122"/>
                      </a:rPr>
                      <a:t>)</a:t>
                    </a:r>
                    <a:endParaRPr lang="zh-CN" altLang="en-US" sz="16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endParaRPr>
                  </a:p>
                </p:txBody>
              </p:sp>
            </mc:Choice>
            <mc:Fallback xmlns="">
              <p:sp>
                <p:nvSpPr>
                  <p:cNvPr id="23" name="矩形: 圆角 22">
                    <a:extLst>
                      <a:ext uri="{FF2B5EF4-FFF2-40B4-BE49-F238E27FC236}">
                        <a16:creationId xmlns:a16="http://schemas.microsoft.com/office/drawing/2014/main" id="{882D5013-CB65-5CED-92D4-23B4101D4A7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87046" y="4906886"/>
                    <a:ext cx="3217908" cy="499263"/>
                  </a:xfrm>
                  <a:prstGeom prst="roundRect">
                    <a:avLst>
                      <a:gd name="adj" fmla="val 36367"/>
                    </a:avLst>
                  </a:prstGeom>
                  <a:blipFill>
                    <a:blip r:embed="rId4"/>
                    <a:stretch>
                      <a:fillRect b="-6098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矩形: 圆角 24">
                <a:extLst>
                  <a:ext uri="{FF2B5EF4-FFF2-40B4-BE49-F238E27FC236}">
                    <a16:creationId xmlns:a16="http://schemas.microsoft.com/office/drawing/2014/main" id="{D2F1CF26-7F6A-CB3E-F463-EECE1E2223E3}"/>
                  </a:ext>
                </a:extLst>
              </p:cNvPr>
              <p:cNvSpPr/>
              <p:nvPr/>
            </p:nvSpPr>
            <p:spPr>
              <a:xfrm>
                <a:off x="576364" y="3567900"/>
                <a:ext cx="11039272" cy="1440981"/>
              </a:xfrm>
              <a:prstGeom prst="roundRect">
                <a:avLst>
                  <a:gd name="adj" fmla="val 854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E2337F5-F9A9-BC68-8CAE-32118C017E85}"/>
                    </a:ext>
                  </a:extLst>
                </p:cNvPr>
                <p:cNvSpPr txBox="1"/>
                <p:nvPr/>
              </p:nvSpPr>
              <p:spPr>
                <a:xfrm>
                  <a:off x="903743" y="4064960"/>
                  <a:ext cx="302525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构造一个关于样本的含</a:t>
                  </a:r>
                  <a14:m>
                    <m:oMath xmlns:m="http://schemas.openxmlformats.org/officeDocument/2006/math">
                      <m:r>
                        <a:rPr lang="zh-CN" alt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的函数</a:t>
                  </a:r>
                  <a14:m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𝑊</m:t>
                      </m:r>
                    </m:oMath>
                  </a14:m>
                  <a:endParaRPr lang="en-US" altLang="zh-CN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但其分布中不能含有未知参数</a:t>
                  </a:r>
                  <a:endParaRPr lang="en-US" altLang="zh-CN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E2337F5-F9A9-BC68-8CAE-32118C017E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743" y="4064960"/>
                  <a:ext cx="3025252" cy="523220"/>
                </a:xfrm>
                <a:prstGeom prst="rect">
                  <a:avLst/>
                </a:prstGeom>
                <a:blipFill>
                  <a:blip r:embed="rId5"/>
                  <a:stretch>
                    <a:fillRect t="-3488" b="-104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884C93DA-BE75-9F87-4D72-C6C859263E3B}"/>
                    </a:ext>
                  </a:extLst>
                </p:cNvPr>
                <p:cNvSpPr txBox="1"/>
                <p:nvPr/>
              </p:nvSpPr>
              <p:spPr>
                <a:xfrm>
                  <a:off x="4347166" y="4036205"/>
                  <a:ext cx="4076083" cy="6290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  <a:ea typeface="楷体" panose="02010609060101010101" pitchFamily="49" charset="-122"/>
                    </a:rPr>
                    <a:t>取</a:t>
                  </a:r>
                  <a14:m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𝑊</m:t>
                      </m:r>
                    </m:oMath>
                  </a14:m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的分布对应的上</a:t>
                  </a:r>
                  <a14:m>
                    <m:oMath xmlns:m="http://schemas.openxmlformats.org/officeDocument/2006/math">
                      <m:r>
                        <a:rPr lang="en-US" altLang="zh-CN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1−</m:t>
                      </m:r>
                      <m:f>
                        <m:f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zh-CN" alt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𝛼</m:t>
                          </m:r>
                        </m:num>
                        <m:den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分位点、上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𝛼</m:t>
                          </m:r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分位点</a:t>
                  </a:r>
                  <a:endPara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则满足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1−</m:t>
                              </m:r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𝛼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/2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&lt;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𝛼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/2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=1−</m:t>
                      </m:r>
                      <m:r>
                        <a:rPr lang="zh-CN" altLang="en-US" sz="1400" b="0" i="1" smtClean="0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𝛼</m:t>
                      </m:r>
                    </m:oMath>
                  </a14:m>
                  <a:endParaRPr lang="en-US" altLang="zh-CN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884C93DA-BE75-9F87-4D72-C6C859263E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7166" y="4036205"/>
                  <a:ext cx="4076083" cy="629083"/>
                </a:xfrm>
                <a:prstGeom prst="rect">
                  <a:avLst/>
                </a:prstGeom>
                <a:blipFill>
                  <a:blip r:embed="rId6"/>
                  <a:stretch>
                    <a:fillRect b="-48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A684AD4A-8B97-9012-676A-E6EE145ECACA}"/>
                    </a:ext>
                  </a:extLst>
                </p:cNvPr>
                <p:cNvSpPr txBox="1"/>
                <p:nvPr/>
              </p:nvSpPr>
              <p:spPr>
                <a:xfrm>
                  <a:off x="8743591" y="4064960"/>
                  <a:ext cx="254466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不等式中仅有唯一参数</a:t>
                  </a:r>
                  <a14:m>
                    <m:oMath xmlns:m="http://schemas.openxmlformats.org/officeDocument/2006/math">
                      <m:r>
                        <a:rPr lang="zh-CN" alt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endParaRPr lang="en-US" altLang="zh-CN" sz="1400" dirty="0">
                    <a:solidFill>
                      <a:schemeClr val="tx1"/>
                    </a:solidFill>
                    <a:latin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解其取值范围得到置信区间</a:t>
                  </a:r>
                  <a:endParaRPr lang="en-US" altLang="zh-CN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A684AD4A-8B97-9012-676A-E6EE145ECA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3591" y="4064960"/>
                  <a:ext cx="2544666" cy="523220"/>
                </a:xfrm>
                <a:prstGeom prst="rect">
                  <a:avLst/>
                </a:prstGeom>
                <a:blipFill>
                  <a:blip r:embed="rId7"/>
                  <a:stretch>
                    <a:fillRect t="-3488" b="-104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4A09E8CF-3B42-13D5-6A78-B38537515F79}"/>
                </a:ext>
              </a:extLst>
            </p:cNvPr>
            <p:cNvCxnSpPr>
              <a:cxnSpLocks/>
            </p:cNvCxnSpPr>
            <p:nvPr/>
          </p:nvCxnSpPr>
          <p:spPr>
            <a:xfrm>
              <a:off x="852731" y="4700121"/>
              <a:ext cx="3076264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492EACC2-22D8-AD24-359A-10A8866AFA88}"/>
                </a:ext>
              </a:extLst>
            </p:cNvPr>
            <p:cNvCxnSpPr>
              <a:cxnSpLocks/>
            </p:cNvCxnSpPr>
            <p:nvPr/>
          </p:nvCxnSpPr>
          <p:spPr>
            <a:xfrm>
              <a:off x="4347167" y="4700121"/>
              <a:ext cx="404908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8D8000FC-F768-27BD-F8DD-C0105F9943B6}"/>
                </a:ext>
              </a:extLst>
            </p:cNvPr>
            <p:cNvCxnSpPr>
              <a:cxnSpLocks/>
            </p:cNvCxnSpPr>
            <p:nvPr/>
          </p:nvCxnSpPr>
          <p:spPr>
            <a:xfrm>
              <a:off x="8826287" y="4700121"/>
              <a:ext cx="2395329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35" name="箭头: 右 34">
              <a:extLst>
                <a:ext uri="{FF2B5EF4-FFF2-40B4-BE49-F238E27FC236}">
                  <a16:creationId xmlns:a16="http://schemas.microsoft.com/office/drawing/2014/main" id="{4E7E5521-104B-BA67-93FB-00B21A6D1FC5}"/>
                </a:ext>
              </a:extLst>
            </p:cNvPr>
            <p:cNvSpPr/>
            <p:nvPr/>
          </p:nvSpPr>
          <p:spPr>
            <a:xfrm>
              <a:off x="3966714" y="4205825"/>
              <a:ext cx="403037" cy="241490"/>
            </a:xfrm>
            <a:prstGeom prst="rightArrow">
              <a:avLst>
                <a:gd name="adj1" fmla="val 29487"/>
                <a:gd name="adj2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箭头: 右 35">
              <a:extLst>
                <a:ext uri="{FF2B5EF4-FFF2-40B4-BE49-F238E27FC236}">
                  <a16:creationId xmlns:a16="http://schemas.microsoft.com/office/drawing/2014/main" id="{D8A2D3BC-3BDA-4015-173E-ED295337F1A0}"/>
                </a:ext>
              </a:extLst>
            </p:cNvPr>
            <p:cNvSpPr/>
            <p:nvPr/>
          </p:nvSpPr>
          <p:spPr>
            <a:xfrm>
              <a:off x="8423250" y="4205825"/>
              <a:ext cx="403037" cy="241490"/>
            </a:xfrm>
            <a:prstGeom prst="rightArrow">
              <a:avLst>
                <a:gd name="adj1" fmla="val 29487"/>
                <a:gd name="adj2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9CF28991-53CD-BDD7-7160-BC8F00008076}"/>
                    </a:ext>
                  </a:extLst>
                </p:cNvPr>
                <p:cNvSpPr txBox="1"/>
                <p:nvPr/>
              </p:nvSpPr>
              <p:spPr>
                <a:xfrm>
                  <a:off x="903743" y="4767951"/>
                  <a:ext cx="302525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1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构造依据见上一章“抽样分布”</a:t>
                  </a:r>
                  <a:endParaRPr lang="en-US" altLang="zh-CN" sz="11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1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例如构造了一个</a:t>
                  </a:r>
                  <a14:m>
                    <m:oMath xmlns:m="http://schemas.openxmlformats.org/officeDocument/2006/math">
                      <m:r>
                        <a:rPr lang="en-US" altLang="zh-CN" sz="11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𝑊</m:t>
                      </m:r>
                      <m:r>
                        <a:rPr lang="en-US" altLang="zh-CN" sz="11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~</m:t>
                      </m:r>
                      <m:r>
                        <a:rPr lang="en-US" altLang="zh-CN" sz="11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𝑁</m:t>
                      </m:r>
                      <m:r>
                        <a:rPr lang="en-US" altLang="zh-CN" sz="11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(0,1)</m:t>
                      </m:r>
                    </m:oMath>
                  </a14:m>
                  <a:endParaRPr lang="en-US" altLang="zh-CN" sz="11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9CF28991-53CD-BDD7-7160-BC8F000080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743" y="4767951"/>
                  <a:ext cx="3025252" cy="430887"/>
                </a:xfrm>
                <a:prstGeom prst="rect">
                  <a:avLst/>
                </a:prstGeom>
                <a:blipFill>
                  <a:blip r:embed="rId8"/>
                  <a:stretch>
                    <a:fillRect b="-70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CAF1E549-1DDD-73B5-158E-947CE259696D}"/>
                    </a:ext>
                  </a:extLst>
                </p:cNvPr>
                <p:cNvSpPr txBox="1"/>
                <p:nvPr/>
              </p:nvSpPr>
              <p:spPr>
                <a:xfrm>
                  <a:off x="4347166" y="4761505"/>
                  <a:ext cx="4049088" cy="4871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1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当</a:t>
                  </a:r>
                  <a14:m>
                    <m:oMath xmlns:m="http://schemas.openxmlformats.org/officeDocument/2006/math">
                      <m:r>
                        <a:rPr lang="en-US" altLang="zh-CN" sz="11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𝑊</m:t>
                      </m:r>
                    </m:oMath>
                  </a14:m>
                  <a:r>
                    <a:rPr lang="zh-CN" altLang="en-US" sz="11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分布已知时，其分位点确定，</a:t>
                  </a:r>
                  <a:endParaRPr lang="en-US" altLang="zh-CN" sz="11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1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而</a:t>
                  </a:r>
                  <a14:m>
                    <m:oMath xmlns:m="http://schemas.openxmlformats.org/officeDocument/2006/math">
                      <m:r>
                        <a:rPr lang="en-US" altLang="zh-CN" sz="11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100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d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sz="1100" i="1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1100" i="1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100" i="1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𝛼</m:t>
                              </m:r>
                              <m:r>
                                <a:rPr lang="en-US" altLang="zh-CN" sz="11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/2</m:t>
                              </m:r>
                            </m:sub>
                          </m:sSub>
                        </m:e>
                      </m:d>
                      <m:r>
                        <a:rPr lang="en-US" altLang="zh-CN" sz="11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=1−</m:t>
                      </m:r>
                      <m:f>
                        <m:fPr>
                          <m:ctrlPr>
                            <a:rPr lang="en-US" altLang="zh-CN" sz="11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zh-CN" altLang="en-US" sz="11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𝛼</m:t>
                          </m:r>
                        </m:num>
                        <m:den>
                          <m:r>
                            <a:rPr lang="en-US" altLang="zh-CN" sz="11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zh-CN" altLang="en-US" sz="11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</a:t>
                  </a:r>
                  <a:r>
                    <a:rPr lang="en-US" altLang="zh-CN" sz="1100" dirty="0">
                      <a:ea typeface="方正小标宋简体" panose="02000000000000000000" pitchFamily="2" charset="-122"/>
                    </a:rPr>
                    <a:t> 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sz="1100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d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sz="110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1100" i="1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100" i="1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100" i="1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1−</m:t>
                              </m:r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𝛼</m:t>
                              </m:r>
                              <m:r>
                                <a:rPr lang="en-US" altLang="zh-CN" sz="11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/2</m:t>
                              </m:r>
                            </m:sub>
                          </m:sSub>
                        </m:e>
                      </m:d>
                      <m:r>
                        <a:rPr lang="en-US" altLang="zh-CN" sz="11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=1−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(1−</m:t>
                      </m:r>
                      <m:f>
                        <m:fPr>
                          <m:ctrlPr>
                            <a:rPr lang="en-US" altLang="zh-CN" sz="11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zh-CN" altLang="en-US" sz="11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𝛼</m:t>
                          </m:r>
                        </m:num>
                        <m:den>
                          <m:r>
                            <a:rPr lang="en-US" altLang="zh-CN" sz="11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lang="en-US" altLang="zh-CN" sz="11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endParaRPr lang="en-US" altLang="zh-CN" sz="11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CAF1E549-1DDD-73B5-158E-947CE25969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7166" y="4761505"/>
                  <a:ext cx="4049088" cy="487185"/>
                </a:xfrm>
                <a:prstGeom prst="rect">
                  <a:avLst/>
                </a:prstGeom>
                <a:blipFill>
                  <a:blip r:embed="rId9"/>
                  <a:stretch>
                    <a:fillRect t="-1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C9383183-CB63-1367-A1B8-28CB9DF7E936}"/>
                    </a:ext>
                  </a:extLst>
                </p:cNvPr>
                <p:cNvSpPr txBox="1"/>
                <p:nvPr/>
              </p:nvSpPr>
              <p:spPr>
                <a:xfrm>
                  <a:off x="8826287" y="4772073"/>
                  <a:ext cx="2395329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1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由样本构造的</a:t>
                  </a:r>
                  <a14:m>
                    <m:oMath xmlns:m="http://schemas.openxmlformats.org/officeDocument/2006/math">
                      <m:r>
                        <a:rPr lang="en-US" altLang="zh-CN" sz="11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𝑊</m:t>
                      </m:r>
                    </m:oMath>
                  </a14:m>
                  <a:r>
                    <a:rPr lang="zh-CN" altLang="en-US" sz="11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</a:t>
                  </a:r>
                  <a:r>
                    <a:rPr lang="zh-CN" altLang="en-US" sz="11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得到的</a:t>
                  </a:r>
                  <a14:m>
                    <m:oMath xmlns:m="http://schemas.openxmlformats.org/officeDocument/2006/math">
                      <m:r>
                        <a:rPr lang="zh-CN" altLang="en-US" sz="11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zh-CN" altLang="en-US" sz="11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为统计量</a:t>
                  </a:r>
                  <a:endParaRPr lang="en-US" altLang="zh-CN" sz="11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1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代入观测值以后</a:t>
                  </a:r>
                  <a:r>
                    <a:rPr lang="zh-CN" altLang="en-US" sz="11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</a:t>
                  </a:r>
                  <a:r>
                    <a:rPr lang="zh-CN" altLang="en-US" sz="11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得到的</a:t>
                  </a:r>
                  <a14:m>
                    <m:oMath xmlns:m="http://schemas.openxmlformats.org/officeDocument/2006/math">
                      <m:r>
                        <a:rPr lang="zh-CN" altLang="en-US" sz="11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zh-CN" altLang="en-US" sz="11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为</a:t>
                  </a:r>
                  <a:r>
                    <a:rPr lang="zh-CN" altLang="en-US" sz="11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常数</a:t>
                  </a:r>
                  <a:endParaRPr lang="en-US" altLang="zh-CN" sz="11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C9383183-CB63-1367-A1B8-28CB9DF7E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6287" y="4772073"/>
                  <a:ext cx="2395329" cy="430887"/>
                </a:xfrm>
                <a:prstGeom prst="rect">
                  <a:avLst/>
                </a:prstGeom>
                <a:blipFill>
                  <a:blip r:embed="rId10"/>
                  <a:stretch>
                    <a:fillRect t="-1408" b="-70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205536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11108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针对 </a:t>
            </a:r>
            <a:r>
              <a:rPr lang="zh-CN" altLang="en-US" sz="1600" u="sng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来自正态总体的样本</a:t>
            </a: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，可以按照下表 直接得到参数的区间估计量：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829F58-D1A1-C326-0F46-59C4981C258F}"/>
              </a:ext>
            </a:extLst>
          </p:cNvPr>
          <p:cNvSpPr txBox="1"/>
          <p:nvPr/>
        </p:nvSpPr>
        <p:spPr>
          <a:xfrm>
            <a:off x="507460" y="496110"/>
            <a:ext cx="3568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参数的区间估计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8E8BE6-C65D-6382-E9C0-CF0AB20A6FA2}"/>
              </a:ext>
            </a:extLst>
          </p:cNvPr>
          <p:cNvSpPr txBox="1"/>
          <p:nvPr/>
        </p:nvSpPr>
        <p:spPr>
          <a:xfrm>
            <a:off x="4146996" y="775742"/>
            <a:ext cx="25014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正态总体区间估计的方法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7A7499AD-5A8B-B907-5C1A-5DB972A409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7273752"/>
                  </p:ext>
                </p:extLst>
              </p:nvPr>
            </p:nvGraphicFramePr>
            <p:xfrm>
              <a:off x="576365" y="2254201"/>
              <a:ext cx="4830255" cy="3692421"/>
            </p:xfrm>
            <a:graphic>
              <a:graphicData uri="http://schemas.openxmlformats.org/drawingml/2006/table">
                <a:tbl>
                  <a:tblPr firstRow="1">
                    <a:tableStyleId>{21E4AEA4-8DFA-4A89-87EB-49C32662AFE0}</a:tableStyleId>
                  </a:tblPr>
                  <a:tblGrid>
                    <a:gridCol w="1168364">
                      <a:extLst>
                        <a:ext uri="{9D8B030D-6E8A-4147-A177-3AD203B41FA5}">
                          <a16:colId xmlns:a16="http://schemas.microsoft.com/office/drawing/2014/main" val="327724714"/>
                        </a:ext>
                      </a:extLst>
                    </a:gridCol>
                    <a:gridCol w="1083530">
                      <a:extLst>
                        <a:ext uri="{9D8B030D-6E8A-4147-A177-3AD203B41FA5}">
                          <a16:colId xmlns:a16="http://schemas.microsoft.com/office/drawing/2014/main" val="888420955"/>
                        </a:ext>
                      </a:extLst>
                    </a:gridCol>
                    <a:gridCol w="2578361">
                      <a:extLst>
                        <a:ext uri="{9D8B030D-6E8A-4147-A177-3AD203B41FA5}">
                          <a16:colId xmlns:a16="http://schemas.microsoft.com/office/drawing/2014/main" val="1637538899"/>
                        </a:ext>
                      </a:extLst>
                    </a:gridCol>
                  </a:tblGrid>
                  <a:tr h="3802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待估参数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条件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构造的统计量及其分布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919068"/>
                      </a:ext>
                    </a:extLst>
                  </a:tr>
                  <a:tr h="1104058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均值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160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已知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num>
                                  <m:den>
                                    <m:r>
                                      <a:rPr lang="zh-CN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rad>
                                  </m:den>
                                </m:f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~ 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(0,1)</m:t>
                                </m:r>
                              </m:oMath>
                            </m:oMathPara>
                          </a14:m>
                          <a:endParaRPr lang="zh-CN" altLang="en-US" sz="1600" b="0" i="1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439556"/>
                      </a:ext>
                    </a:extLst>
                  </a:tr>
                  <a:tr h="1104058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未知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6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altLang="zh-CN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sz="16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6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  <m:r>
                                      <a:rPr lang="en-US" altLang="zh-CN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16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rad>
                                  </m:den>
                                </m:f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~ 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zh-CN" altLang="en-US" sz="1600" b="0" i="1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38541292"/>
                      </a:ext>
                    </a:extLst>
                  </a:tr>
                  <a:tr h="11040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方差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zh-CN" altLang="en-US" sz="160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未知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altLang="zh-CN" sz="16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16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𝝈</m:t>
                                        </m:r>
                                      </m:e>
                                      <m:sup>
                                        <m:r>
                                          <a:rPr lang="en-US" altLang="zh-CN" sz="16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~ 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zh-CN" altLang="en-US" sz="1600" b="0" i="1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153601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7A7499AD-5A8B-B907-5C1A-5DB972A409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7273752"/>
                  </p:ext>
                </p:extLst>
              </p:nvPr>
            </p:nvGraphicFramePr>
            <p:xfrm>
              <a:off x="576365" y="2254201"/>
              <a:ext cx="4830255" cy="3692421"/>
            </p:xfrm>
            <a:graphic>
              <a:graphicData uri="http://schemas.openxmlformats.org/drawingml/2006/table">
                <a:tbl>
                  <a:tblPr firstRow="1">
                    <a:tableStyleId>{21E4AEA4-8DFA-4A89-87EB-49C32662AFE0}</a:tableStyleId>
                  </a:tblPr>
                  <a:tblGrid>
                    <a:gridCol w="1168364">
                      <a:extLst>
                        <a:ext uri="{9D8B030D-6E8A-4147-A177-3AD203B41FA5}">
                          <a16:colId xmlns:a16="http://schemas.microsoft.com/office/drawing/2014/main" val="327724714"/>
                        </a:ext>
                      </a:extLst>
                    </a:gridCol>
                    <a:gridCol w="1083530">
                      <a:extLst>
                        <a:ext uri="{9D8B030D-6E8A-4147-A177-3AD203B41FA5}">
                          <a16:colId xmlns:a16="http://schemas.microsoft.com/office/drawing/2014/main" val="888420955"/>
                        </a:ext>
                      </a:extLst>
                    </a:gridCol>
                    <a:gridCol w="2578361">
                      <a:extLst>
                        <a:ext uri="{9D8B030D-6E8A-4147-A177-3AD203B41FA5}">
                          <a16:colId xmlns:a16="http://schemas.microsoft.com/office/drawing/2014/main" val="1637538899"/>
                        </a:ext>
                      </a:extLst>
                    </a:gridCol>
                  </a:tblGrid>
                  <a:tr h="3802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待估参数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条件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构造的统计量及其分布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919068"/>
                      </a:ext>
                    </a:extLst>
                  </a:tr>
                  <a:tr h="1104058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1" t="-17631" r="-315625" b="-5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8427" t="-35359" r="-240449" b="-201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7707" t="-35359" r="-1182" b="-2016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3439556"/>
                      </a:ext>
                    </a:extLst>
                  </a:tr>
                  <a:tr h="1104058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8427" t="-134615" r="-240449" b="-1005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7707" t="-134615" r="-1182" b="-1005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8541292"/>
                      </a:ext>
                    </a:extLst>
                  </a:tr>
                  <a:tr h="11040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1" t="-235912" r="-315625" b="-1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8427" t="-235912" r="-240449" b="-1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7707" t="-235912" r="-1182" b="-1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5360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4">
                <a:extLst>
                  <a:ext uri="{FF2B5EF4-FFF2-40B4-BE49-F238E27FC236}">
                    <a16:creationId xmlns:a16="http://schemas.microsoft.com/office/drawing/2014/main" id="{F7763D2E-20F3-9C5F-9057-882E1547DD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4617782"/>
                  </p:ext>
                </p:extLst>
              </p:nvPr>
            </p:nvGraphicFramePr>
            <p:xfrm>
              <a:off x="5656007" y="2245948"/>
              <a:ext cx="5948672" cy="3695084"/>
            </p:xfrm>
            <a:graphic>
              <a:graphicData uri="http://schemas.openxmlformats.org/drawingml/2006/table">
                <a:tbl>
                  <a:tblPr firstRow="1">
                    <a:tableStyleId>{21E4AEA4-8DFA-4A89-87EB-49C32662AFE0}</a:tableStyleId>
                  </a:tblPr>
                  <a:tblGrid>
                    <a:gridCol w="1291956">
                      <a:extLst>
                        <a:ext uri="{9D8B030D-6E8A-4147-A177-3AD203B41FA5}">
                          <a16:colId xmlns:a16="http://schemas.microsoft.com/office/drawing/2014/main" val="327724714"/>
                        </a:ext>
                      </a:extLst>
                    </a:gridCol>
                    <a:gridCol w="1226849">
                      <a:extLst>
                        <a:ext uri="{9D8B030D-6E8A-4147-A177-3AD203B41FA5}">
                          <a16:colId xmlns:a16="http://schemas.microsoft.com/office/drawing/2014/main" val="888420955"/>
                        </a:ext>
                      </a:extLst>
                    </a:gridCol>
                    <a:gridCol w="3429867">
                      <a:extLst>
                        <a:ext uri="{9D8B030D-6E8A-4147-A177-3AD203B41FA5}">
                          <a16:colId xmlns:a16="http://schemas.microsoft.com/office/drawing/2014/main" val="1637538899"/>
                        </a:ext>
                      </a:extLst>
                    </a:gridCol>
                  </a:tblGrid>
                  <a:tr h="3828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待估参数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条件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构造的统计量及其分布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919068"/>
                      </a:ext>
                    </a:extLst>
                  </a:tr>
                  <a:tr h="1104075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均值差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zh-CN" altLang="en-US" sz="14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14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已知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altLang="zh-CN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  <m:r>
                                      <a:rPr lang="en-US" altLang="zh-CN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400" b="1" i="1" smtClean="0"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400" b="1" i="1" smtClean="0"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zh-CN" altLang="en-US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  <m:r>
                                          <a:rPr lang="en-US" altLang="zh-CN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zh-CN" altLang="en-US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  <m:r>
                                          <a:rPr lang="en-US" altLang="zh-CN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den>
                                </m:f>
                                <m:r>
                                  <a:rPr lang="en-US" altLang="zh-CN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~ </m:t>
                                </m:r>
                                <m:r>
                                  <a:rPr lang="en-US" altLang="zh-CN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(0,1)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439556"/>
                      </a:ext>
                    </a:extLst>
                  </a:tr>
                  <a:tr h="1104075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14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未知</a:t>
                          </a:r>
                          <a:endParaRPr lang="en-US" altLang="zh-CN" sz="14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:r>
                            <a:rPr lang="zh-CN" altLang="en-US" sz="14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但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endParaRPr lang="zh-CN" altLang="en-US" sz="14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altLang="zh-CN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  <m:r>
                                      <a:rPr lang="en-US" altLang="zh-CN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400" b="1" i="1" smtClean="0"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400" b="1" i="1" smtClean="0"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  <m:sup>
                                        <m:r>
                                          <a:rPr lang="en-US" altLang="zh-CN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1/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+1/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den>
                                </m:f>
                                <m:r>
                                  <a:rPr lang="en-US" altLang="zh-CN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~  </m:t>
                                </m:r>
                                <m:r>
                                  <a:rPr lang="en-US" altLang="zh-CN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−2)</m:t>
                                </m:r>
                              </m:oMath>
                            </m:oMathPara>
                          </a14:m>
                          <a:endParaRPr lang="en-US" altLang="zh-CN" sz="1400" b="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其中</m:t>
                                </m:r>
                                <m:sSubSup>
                                  <m:sSubSupPr>
                                    <m:ctrlPr>
                                      <a:rPr lang="en-US" altLang="zh-CN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  <m:sup>
                                    <m:r>
                                      <a:rPr lang="en-US" altLang="zh-CN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altLang="zh-CN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zh-CN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d>
                                          <m:dPr>
                                            <m:ctrlPr>
                                              <a:rPr lang="en-US" altLang="zh-CN" sz="11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1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1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1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11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  <m:sSup>
                                          <m:sSupPr>
                                            <m:ctrlPr>
                                              <a:rPr lang="en-US" altLang="zh-CN" sz="11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11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11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11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𝑆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11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𝑛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sub>
                                                <m:r>
                                                  <a:rPr lang="en-US" altLang="zh-CN" sz="11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11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∗</m:t>
                                                </m:r>
                                              </m:sup>
                                            </m:sSubSup>
                                          </m:e>
                                          <m:sup>
                                            <m:r>
                                              <a:rPr lang="en-US" altLang="zh-CN" sz="11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11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1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1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1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11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  <m:sSup>
                                          <m:sSupPr>
                                            <m:ctrlPr>
                                              <a:rPr lang="en-US" altLang="zh-CN" sz="11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11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11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11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𝑆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11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𝑛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sub>
                                                <m:r>
                                                  <a:rPr lang="en-US" altLang="zh-CN" sz="11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11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∗</m:t>
                                                </m:r>
                                              </m:sup>
                                            </m:sSubSup>
                                          </m:e>
                                          <m:sup>
                                            <m:r>
                                              <a:rPr lang="en-US" altLang="zh-CN" sz="11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CN" sz="11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1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1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1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1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1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zh-CN" altLang="en-US" sz="1100" b="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38541292"/>
                      </a:ext>
                    </a:extLst>
                  </a:tr>
                  <a:tr h="11040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方差比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Sup>
                                <m:sSubSup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4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endParaRPr lang="zh-CN" altLang="en-US" sz="14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4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未知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  <m:sub>
                                            <m: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  <m:sup>
                                        <m:r>
                                          <a:rPr lang="en-US" altLang="zh-CN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zh-CN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sSup>
                                      <m:sSupPr>
                                        <m:ctrlPr>
                                          <a:rPr lang="en-US" altLang="zh-CN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  <m:sub>
                                            <m: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  <m:sup>
                                        <m:r>
                                          <a:rPr lang="en-US" altLang="zh-CN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sz="1400" b="1" i="1" smtClean="0">
                                            <a:latin typeface="Cambria Math" panose="02040503050406030204" pitchFamily="18" charset="0"/>
                                          </a:rPr>
                                          <m:t>𝝈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  <m:sup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bSup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sSubSup>
                                      <m:sSubSupPr>
                                        <m:ctrlP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sz="1400" b="1" i="1" smtClean="0">
                                            <a:latin typeface="Cambria Math" panose="02040503050406030204" pitchFamily="18" charset="0"/>
                                          </a:rPr>
                                          <m:t>𝝈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  <m:sup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bSup>
                                  </m:den>
                                </m:f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~ 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𝐹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−1,</m:t>
                                </m:r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153601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4">
                <a:extLst>
                  <a:ext uri="{FF2B5EF4-FFF2-40B4-BE49-F238E27FC236}">
                    <a16:creationId xmlns:a16="http://schemas.microsoft.com/office/drawing/2014/main" id="{F7763D2E-20F3-9C5F-9057-882E1547DD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4617782"/>
                  </p:ext>
                </p:extLst>
              </p:nvPr>
            </p:nvGraphicFramePr>
            <p:xfrm>
              <a:off x="5656007" y="2245948"/>
              <a:ext cx="5948672" cy="3695084"/>
            </p:xfrm>
            <a:graphic>
              <a:graphicData uri="http://schemas.openxmlformats.org/drawingml/2006/table">
                <a:tbl>
                  <a:tblPr firstRow="1">
                    <a:tableStyleId>{21E4AEA4-8DFA-4A89-87EB-49C32662AFE0}</a:tableStyleId>
                  </a:tblPr>
                  <a:tblGrid>
                    <a:gridCol w="1291956">
                      <a:extLst>
                        <a:ext uri="{9D8B030D-6E8A-4147-A177-3AD203B41FA5}">
                          <a16:colId xmlns:a16="http://schemas.microsoft.com/office/drawing/2014/main" val="327724714"/>
                        </a:ext>
                      </a:extLst>
                    </a:gridCol>
                    <a:gridCol w="1226849">
                      <a:extLst>
                        <a:ext uri="{9D8B030D-6E8A-4147-A177-3AD203B41FA5}">
                          <a16:colId xmlns:a16="http://schemas.microsoft.com/office/drawing/2014/main" val="888420955"/>
                        </a:ext>
                      </a:extLst>
                    </a:gridCol>
                    <a:gridCol w="3429867">
                      <a:extLst>
                        <a:ext uri="{9D8B030D-6E8A-4147-A177-3AD203B41FA5}">
                          <a16:colId xmlns:a16="http://schemas.microsoft.com/office/drawing/2014/main" val="1637538899"/>
                        </a:ext>
                      </a:extLst>
                    </a:gridCol>
                  </a:tblGrid>
                  <a:tr h="3828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待估参数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条件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构造的统计量及其分布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919068"/>
                      </a:ext>
                    </a:extLst>
                  </a:tr>
                  <a:tr h="1104075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72" t="-17631" r="-362736" b="-5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5446" t="-35359" r="-280693" b="-201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3712" t="-35359" r="-710" b="-2016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3439556"/>
                      </a:ext>
                    </a:extLst>
                  </a:tr>
                  <a:tr h="1104075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5446" t="-134615" r="-280693" b="-1005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3712" t="-134615" r="-710" b="-1005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8541292"/>
                      </a:ext>
                    </a:extLst>
                  </a:tr>
                  <a:tr h="110407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72" t="-235912" r="-362736" b="-1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5446" t="-235912" r="-280693" b="-1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3712" t="-235912" r="-710" b="-1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5360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AD67E7D-FB54-6D77-13DC-C67ECFD01C7D}"/>
                  </a:ext>
                </a:extLst>
              </p:cNvPr>
              <p:cNvSpPr txBox="1"/>
              <p:nvPr/>
            </p:nvSpPr>
            <p:spPr>
              <a:xfrm>
                <a:off x="2220836" y="1912027"/>
                <a:ext cx="1790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l-GR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i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AD67E7D-FB54-6D77-13DC-C67ECFD01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836" y="1912027"/>
                <a:ext cx="1790700" cy="338554"/>
              </a:xfrm>
              <a:prstGeom prst="rect">
                <a:avLst/>
              </a:prstGeom>
              <a:blipFill>
                <a:blip r:embed="rId5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E4C8FF0-4F80-12D3-35E9-03A97BD5288B}"/>
                  </a:ext>
                </a:extLst>
              </p:cNvPr>
              <p:cNvSpPr txBox="1"/>
              <p:nvPr/>
            </p:nvSpPr>
            <p:spPr>
              <a:xfrm>
                <a:off x="6735081" y="1854993"/>
                <a:ext cx="3790523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6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16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zh-CN" sz="16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16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zh-CN" sz="16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16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16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16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zh-CN" sz="16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6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16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6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zh-CN" altLang="en-US" sz="1600" dirty="0">
                    <a:solidFill>
                      <a:schemeClr val="accent2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且相互独立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E4C8FF0-4F80-12D3-35E9-03A97BD52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081" y="1854993"/>
                <a:ext cx="3790523" cy="370294"/>
              </a:xfrm>
              <a:prstGeom prst="rect">
                <a:avLst/>
              </a:prstGeom>
              <a:blipFill>
                <a:blip r:embed="rId6"/>
                <a:stretch>
                  <a:fillRect t="-3279"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3764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583936"/>
                <a:ext cx="11108176" cy="671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4.1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：从大批彩色显像管中选取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100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只，测试得知其平均寿命为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10000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小时。可以认为显像管的寿命服从正态分布，且已知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           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标准差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𝜎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=40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小时。求这批显像管的平均寿命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的置信度为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95%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的置信区间。（已知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𝑢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0.025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=1.96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）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583936"/>
                <a:ext cx="11108176" cy="671338"/>
              </a:xfrm>
              <a:prstGeom prst="rect">
                <a:avLst/>
              </a:prstGeom>
              <a:blipFill>
                <a:blip r:embed="rId3"/>
                <a:stretch>
                  <a:fillRect l="-274" t="-1818" b="-1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2464280"/>
                <a:ext cx="11108176" cy="1793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=10000,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=100,  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𝜎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=40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，置信度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1−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=0.95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=0.05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构造统计量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1600" b="1" i="1">
                            <a:latin typeface="Cambria Math" panose="02040503050406030204" pitchFamily="18" charset="0"/>
                          </a:rPr>
                          <m:t>𝝁</m:t>
                        </m:r>
                      </m:num>
                      <m:den>
                        <m:r>
                          <a:rPr lang="zh-CN" altLang="en-US" sz="1600" b="1" i="1">
                            <a:latin typeface="Cambria Math" panose="02040503050406030204" pitchFamily="18" charset="0"/>
                          </a:rPr>
                          <m:t>𝝈</m:t>
                        </m:r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rad>
                      </m:den>
                    </m:f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𝑢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1−0.025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即置信下限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=9992.16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，置信上限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=10007.86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故平均寿命的置信度为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95%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的置信区间为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[9992.16,10007.86].</m:t>
                    </m:r>
                  </m:oMath>
                </a14:m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464280"/>
                <a:ext cx="11108176" cy="1793889"/>
              </a:xfrm>
              <a:prstGeom prst="rect">
                <a:avLst/>
              </a:prstGeom>
              <a:blipFill>
                <a:blip r:embed="rId4"/>
                <a:stretch>
                  <a:fillRect l="-274" t="-1356"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3B86E294-DD94-A275-83F7-F290567AAF4B}"/>
              </a:ext>
            </a:extLst>
          </p:cNvPr>
          <p:cNvSpPr txBox="1"/>
          <p:nvPr/>
        </p:nvSpPr>
        <p:spPr>
          <a:xfrm>
            <a:off x="507460" y="496110"/>
            <a:ext cx="3568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参数的区间估计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B3534B2-0B07-35D1-A64A-1E2D25CC771C}"/>
                  </a:ext>
                </a:extLst>
              </p:cNvPr>
              <p:cNvSpPr txBox="1"/>
              <p:nvPr/>
            </p:nvSpPr>
            <p:spPr>
              <a:xfrm>
                <a:off x="4146997" y="775742"/>
                <a:ext cx="27999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均值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𝜇</m:t>
                    </m:r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的估计方法（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已知）</a:t>
                </a:r>
                <a:endParaRPr lang="en-US" altLang="zh-CN" sz="1600" dirty="0"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B3534B2-0B07-35D1-A64A-1E2D25CC7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997" y="775742"/>
                <a:ext cx="2799903" cy="338554"/>
              </a:xfrm>
              <a:prstGeom prst="rect">
                <a:avLst/>
              </a:prstGeom>
              <a:blipFill>
                <a:blip r:embed="rId5"/>
                <a:stretch>
                  <a:fillRect l="-1087" t="-5357" r="-108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4475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583936"/>
                <a:ext cx="11108176" cy="1042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4.2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：抽查了一批钢件的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20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件样品，得其屈服点（吨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/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厘米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²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）如表：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设屈服点服从正态分布，求其总体均值的置信度为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0.95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的置信区间。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（已知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19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=2.093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=2.0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86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19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1.7291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0.05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=1.72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47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）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583936"/>
                <a:ext cx="11108176" cy="1042017"/>
              </a:xfrm>
              <a:prstGeom prst="rect">
                <a:avLst/>
              </a:prstGeom>
              <a:blipFill>
                <a:blip r:embed="rId3"/>
                <a:stretch>
                  <a:fillRect l="-274" t="-1170" b="-70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2855724"/>
                <a:ext cx="11108176" cy="2129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=5.2005,  </m:t>
                    </m:r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∗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=0.2081,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=20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，置信度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1−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=0.95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=0.05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构造统计量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1600" b="1" i="1">
                            <a:latin typeface="Cambria Math" panose="02040503050406030204" pitchFamily="18" charset="0"/>
                          </a:rPr>
                          <m:t>𝝁</m:t>
                        </m:r>
                      </m:num>
                      <m:den>
                        <m:sSubSup>
                          <m:sSubSup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  <m:sup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rad>
                      </m:den>
                    </m:f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1−0.025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(19)≤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1600" b="0" i="1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f>
                          <m:fPr>
                            <m:ctrlP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(19)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(19)≤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(19)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即置信下限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(19)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=5.1069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，置信上限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(19)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=5.3131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故总体均值的置信度为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95%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的置信区间为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5.1069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5.3131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].</m:t>
                    </m:r>
                  </m:oMath>
                </a14:m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855724"/>
                <a:ext cx="11108176" cy="2129429"/>
              </a:xfrm>
              <a:prstGeom prst="rect">
                <a:avLst/>
              </a:prstGeom>
              <a:blipFill>
                <a:blip r:embed="rId4"/>
                <a:stretch>
                  <a:fillRect l="-274" t="-1143" b="-2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3B86E294-DD94-A275-83F7-F290567AAF4B}"/>
              </a:ext>
            </a:extLst>
          </p:cNvPr>
          <p:cNvSpPr txBox="1"/>
          <p:nvPr/>
        </p:nvSpPr>
        <p:spPr>
          <a:xfrm>
            <a:off x="507460" y="496110"/>
            <a:ext cx="3568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参数的区间估计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B3534B2-0B07-35D1-A64A-1E2D25CC771C}"/>
                  </a:ext>
                </a:extLst>
              </p:cNvPr>
              <p:cNvSpPr txBox="1"/>
              <p:nvPr/>
            </p:nvSpPr>
            <p:spPr>
              <a:xfrm>
                <a:off x="4146997" y="775742"/>
                <a:ext cx="27999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均值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𝜇</m:t>
                    </m:r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的估计方法（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未知）</a:t>
                </a:r>
                <a:endParaRPr lang="en-US" altLang="zh-CN" sz="1600" dirty="0"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B3534B2-0B07-35D1-A64A-1E2D25CC7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997" y="775742"/>
                <a:ext cx="2799903" cy="338554"/>
              </a:xfrm>
              <a:prstGeom prst="rect">
                <a:avLst/>
              </a:prstGeom>
              <a:blipFill>
                <a:blip r:embed="rId5"/>
                <a:stretch>
                  <a:fillRect l="-1087" t="-5357" r="-108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5DFD1992-3037-C8C6-C708-837CAEB5C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836865"/>
              </p:ext>
            </p:extLst>
          </p:nvPr>
        </p:nvGraphicFramePr>
        <p:xfrm>
          <a:off x="6737350" y="1549438"/>
          <a:ext cx="487829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7829">
                  <a:extLst>
                    <a:ext uri="{9D8B030D-6E8A-4147-A177-3AD203B41FA5}">
                      <a16:colId xmlns:a16="http://schemas.microsoft.com/office/drawing/2014/main" val="1237767410"/>
                    </a:ext>
                  </a:extLst>
                </a:gridCol>
                <a:gridCol w="487829">
                  <a:extLst>
                    <a:ext uri="{9D8B030D-6E8A-4147-A177-3AD203B41FA5}">
                      <a16:colId xmlns:a16="http://schemas.microsoft.com/office/drawing/2014/main" val="3649794506"/>
                    </a:ext>
                  </a:extLst>
                </a:gridCol>
                <a:gridCol w="487829">
                  <a:extLst>
                    <a:ext uri="{9D8B030D-6E8A-4147-A177-3AD203B41FA5}">
                      <a16:colId xmlns:a16="http://schemas.microsoft.com/office/drawing/2014/main" val="2597240412"/>
                    </a:ext>
                  </a:extLst>
                </a:gridCol>
                <a:gridCol w="487829">
                  <a:extLst>
                    <a:ext uri="{9D8B030D-6E8A-4147-A177-3AD203B41FA5}">
                      <a16:colId xmlns:a16="http://schemas.microsoft.com/office/drawing/2014/main" val="606020931"/>
                    </a:ext>
                  </a:extLst>
                </a:gridCol>
                <a:gridCol w="487829">
                  <a:extLst>
                    <a:ext uri="{9D8B030D-6E8A-4147-A177-3AD203B41FA5}">
                      <a16:colId xmlns:a16="http://schemas.microsoft.com/office/drawing/2014/main" val="1650796169"/>
                    </a:ext>
                  </a:extLst>
                </a:gridCol>
                <a:gridCol w="487829">
                  <a:extLst>
                    <a:ext uri="{9D8B030D-6E8A-4147-A177-3AD203B41FA5}">
                      <a16:colId xmlns:a16="http://schemas.microsoft.com/office/drawing/2014/main" val="1729786064"/>
                    </a:ext>
                  </a:extLst>
                </a:gridCol>
                <a:gridCol w="487829">
                  <a:extLst>
                    <a:ext uri="{9D8B030D-6E8A-4147-A177-3AD203B41FA5}">
                      <a16:colId xmlns:a16="http://schemas.microsoft.com/office/drawing/2014/main" val="1734715065"/>
                    </a:ext>
                  </a:extLst>
                </a:gridCol>
                <a:gridCol w="487829">
                  <a:extLst>
                    <a:ext uri="{9D8B030D-6E8A-4147-A177-3AD203B41FA5}">
                      <a16:colId xmlns:a16="http://schemas.microsoft.com/office/drawing/2014/main" val="1781558025"/>
                    </a:ext>
                  </a:extLst>
                </a:gridCol>
                <a:gridCol w="487829">
                  <a:extLst>
                    <a:ext uri="{9D8B030D-6E8A-4147-A177-3AD203B41FA5}">
                      <a16:colId xmlns:a16="http://schemas.microsoft.com/office/drawing/2014/main" val="3837869173"/>
                    </a:ext>
                  </a:extLst>
                </a:gridCol>
                <a:gridCol w="487829">
                  <a:extLst>
                    <a:ext uri="{9D8B030D-6E8A-4147-A177-3AD203B41FA5}">
                      <a16:colId xmlns:a16="http://schemas.microsoft.com/office/drawing/2014/main" val="316351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4.99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5.11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5.20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5.20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5.11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5.00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5.61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4.88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5.27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5.38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944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5.46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5.27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5.23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4.96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5.35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5.15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5.35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4.77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5.38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5.34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21363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046490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583936"/>
                <a:ext cx="11108176" cy="1042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4.3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：抽查了一批钢件的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20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件样品，得其屈服点（吨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/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厘米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²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）如表：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设屈服点服从正态分布，求其总体方差的置信度为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0.95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的置信区间。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（已知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19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=32.9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97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19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8.91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）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583936"/>
                <a:ext cx="11108176" cy="1042017"/>
              </a:xfrm>
              <a:prstGeom prst="rect">
                <a:avLst/>
              </a:prstGeom>
              <a:blipFill>
                <a:blip r:embed="rId3"/>
                <a:stretch>
                  <a:fillRect l="-274" t="-1170" b="-81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2855724"/>
                <a:ext cx="11108176" cy="2127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=5.2005,  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∗</m:t>
                            </m:r>
                          </m:sup>
                        </m:sSubSup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 0433,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=20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，置信度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1−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=0.95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=0.05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构造统计量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  <m:sup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  <m:sup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(19)≤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600" b="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  <m:sup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(19)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(19)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97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(19)</m:t>
                        </m:r>
                      </m:den>
                    </m:f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即置信下限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(19)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=0.0238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，置信上限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0.975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(19)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=0.0879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故总体方差的置信度为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95%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的置信区间为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0.0238,0.0879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].</m:t>
                    </m:r>
                  </m:oMath>
                </a14:m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855724"/>
                <a:ext cx="11108176" cy="2127314"/>
              </a:xfrm>
              <a:prstGeom prst="rect">
                <a:avLst/>
              </a:prstGeom>
              <a:blipFill>
                <a:blip r:embed="rId4"/>
                <a:stretch>
                  <a:fillRect l="-274" t="-287" b="-22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3B86E294-DD94-A275-83F7-F290567AAF4B}"/>
              </a:ext>
            </a:extLst>
          </p:cNvPr>
          <p:cNvSpPr txBox="1"/>
          <p:nvPr/>
        </p:nvSpPr>
        <p:spPr>
          <a:xfrm>
            <a:off x="507460" y="496110"/>
            <a:ext cx="3568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参数的区间估计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B3534B2-0B07-35D1-A64A-1E2D25CC771C}"/>
                  </a:ext>
                </a:extLst>
              </p:cNvPr>
              <p:cNvSpPr txBox="1"/>
              <p:nvPr/>
            </p:nvSpPr>
            <p:spPr>
              <a:xfrm>
                <a:off x="4146997" y="775742"/>
                <a:ext cx="1904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方差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的估计方法</a:t>
                </a:r>
                <a:endParaRPr lang="en-US" altLang="zh-CN" sz="1600" dirty="0"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B3534B2-0B07-35D1-A64A-1E2D25CC7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997" y="775742"/>
                <a:ext cx="1904553" cy="338554"/>
              </a:xfrm>
              <a:prstGeom prst="rect">
                <a:avLst/>
              </a:prstGeom>
              <a:blipFill>
                <a:blip r:embed="rId5"/>
                <a:stretch>
                  <a:fillRect l="-1597" t="-5357" r="-159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5DFD1992-3037-C8C6-C708-837CAEB5C65C}"/>
              </a:ext>
            </a:extLst>
          </p:cNvPr>
          <p:cNvGraphicFramePr>
            <a:graphicFrameLocks noGrp="1"/>
          </p:cNvGraphicFramePr>
          <p:nvPr/>
        </p:nvGraphicFramePr>
        <p:xfrm>
          <a:off x="6737350" y="1549438"/>
          <a:ext cx="487829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7829">
                  <a:extLst>
                    <a:ext uri="{9D8B030D-6E8A-4147-A177-3AD203B41FA5}">
                      <a16:colId xmlns:a16="http://schemas.microsoft.com/office/drawing/2014/main" val="1237767410"/>
                    </a:ext>
                  </a:extLst>
                </a:gridCol>
                <a:gridCol w="487829">
                  <a:extLst>
                    <a:ext uri="{9D8B030D-6E8A-4147-A177-3AD203B41FA5}">
                      <a16:colId xmlns:a16="http://schemas.microsoft.com/office/drawing/2014/main" val="3649794506"/>
                    </a:ext>
                  </a:extLst>
                </a:gridCol>
                <a:gridCol w="487829">
                  <a:extLst>
                    <a:ext uri="{9D8B030D-6E8A-4147-A177-3AD203B41FA5}">
                      <a16:colId xmlns:a16="http://schemas.microsoft.com/office/drawing/2014/main" val="2597240412"/>
                    </a:ext>
                  </a:extLst>
                </a:gridCol>
                <a:gridCol w="487829">
                  <a:extLst>
                    <a:ext uri="{9D8B030D-6E8A-4147-A177-3AD203B41FA5}">
                      <a16:colId xmlns:a16="http://schemas.microsoft.com/office/drawing/2014/main" val="606020931"/>
                    </a:ext>
                  </a:extLst>
                </a:gridCol>
                <a:gridCol w="487829">
                  <a:extLst>
                    <a:ext uri="{9D8B030D-6E8A-4147-A177-3AD203B41FA5}">
                      <a16:colId xmlns:a16="http://schemas.microsoft.com/office/drawing/2014/main" val="1650796169"/>
                    </a:ext>
                  </a:extLst>
                </a:gridCol>
                <a:gridCol w="487829">
                  <a:extLst>
                    <a:ext uri="{9D8B030D-6E8A-4147-A177-3AD203B41FA5}">
                      <a16:colId xmlns:a16="http://schemas.microsoft.com/office/drawing/2014/main" val="1729786064"/>
                    </a:ext>
                  </a:extLst>
                </a:gridCol>
                <a:gridCol w="487829">
                  <a:extLst>
                    <a:ext uri="{9D8B030D-6E8A-4147-A177-3AD203B41FA5}">
                      <a16:colId xmlns:a16="http://schemas.microsoft.com/office/drawing/2014/main" val="1734715065"/>
                    </a:ext>
                  </a:extLst>
                </a:gridCol>
                <a:gridCol w="487829">
                  <a:extLst>
                    <a:ext uri="{9D8B030D-6E8A-4147-A177-3AD203B41FA5}">
                      <a16:colId xmlns:a16="http://schemas.microsoft.com/office/drawing/2014/main" val="1781558025"/>
                    </a:ext>
                  </a:extLst>
                </a:gridCol>
                <a:gridCol w="487829">
                  <a:extLst>
                    <a:ext uri="{9D8B030D-6E8A-4147-A177-3AD203B41FA5}">
                      <a16:colId xmlns:a16="http://schemas.microsoft.com/office/drawing/2014/main" val="3837869173"/>
                    </a:ext>
                  </a:extLst>
                </a:gridCol>
                <a:gridCol w="487829">
                  <a:extLst>
                    <a:ext uri="{9D8B030D-6E8A-4147-A177-3AD203B41FA5}">
                      <a16:colId xmlns:a16="http://schemas.microsoft.com/office/drawing/2014/main" val="316351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4.99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5.11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5.20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5.20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5.11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5.00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5.61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4.88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5.27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5.38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944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5.46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5.27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5.23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4.96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5.35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5.15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5.35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4.77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5.38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5.34</a:t>
                      </a:r>
                      <a:endParaRPr lang="zh-CN" altLang="en-US" sz="12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21363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0846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583936"/>
                <a:ext cx="11108176" cy="1049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4.5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：两种机床生产同一型号的滚珠，从甲机床生产的滚珠中抽取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8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个，从乙机床生产的滚珠中抽取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9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个，测得其直径如表。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设直径均服从正态分布，且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=0.18,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的置信度为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95%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置信区间。（已知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）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583936"/>
                <a:ext cx="11108176" cy="1049775"/>
              </a:xfrm>
              <a:prstGeom prst="rect">
                <a:avLst/>
              </a:prstGeom>
              <a:blipFill>
                <a:blip r:embed="rId3"/>
                <a:stretch>
                  <a:fillRect l="-274" t="-1163" r="-933" b="-6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2760474"/>
                <a:ext cx="11108176" cy="2752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解：由题意，甲机床的样本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=15.05,  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∗</m:t>
                            </m:r>
                          </m:sup>
                        </m:sSubSup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 0457,  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=8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，乙机床的样本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14.9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∗</m:t>
                            </m:r>
                          </m:sup>
                        </m:sSubSup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 0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575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9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置信度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1−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=0.95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=0.05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构造统计量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−(</m:t>
                        </m:r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1600" b="1" i="1">
                                    <a:latin typeface="Cambria Math" panose="02040503050406030204" pitchFamily="18" charset="0"/>
                                  </a:rPr>
                                  <m:t>𝝈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1600" b="1" i="1">
                                    <a:latin typeface="Cambria Math" panose="02040503050406030204" pitchFamily="18" charset="0"/>
                                  </a:rPr>
                                  <m:t>𝝈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−(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b="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b="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1600" b="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1600" b="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(15)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即置信下限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6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=−0.018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，置信上限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6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=0.318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故均值差的置信度为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95%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的置信区间为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−0.018,0.318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].</m:t>
                    </m:r>
                  </m:oMath>
                </a14:m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760474"/>
                <a:ext cx="11108176" cy="2752677"/>
              </a:xfrm>
              <a:prstGeom prst="rect">
                <a:avLst/>
              </a:prstGeom>
              <a:blipFill>
                <a:blip r:embed="rId4"/>
                <a:stretch>
                  <a:fillRect l="-274" t="-222" b="-1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3B86E294-DD94-A275-83F7-F290567AAF4B}"/>
              </a:ext>
            </a:extLst>
          </p:cNvPr>
          <p:cNvSpPr txBox="1"/>
          <p:nvPr/>
        </p:nvSpPr>
        <p:spPr>
          <a:xfrm>
            <a:off x="507460" y="496110"/>
            <a:ext cx="3568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参数的区间估计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0A3718B-02A8-1C29-BC0C-4E9194B165EC}"/>
                  </a:ext>
                </a:extLst>
              </p:cNvPr>
              <p:cNvSpPr txBox="1"/>
              <p:nvPr/>
            </p:nvSpPr>
            <p:spPr>
              <a:xfrm>
                <a:off x="4146997" y="775742"/>
                <a:ext cx="3727004" cy="341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均值差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的估计方法（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已知）</a:t>
                </a:r>
                <a:endParaRPr lang="en-US" altLang="zh-CN" sz="1600" dirty="0"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0A3718B-02A8-1C29-BC0C-4E9194B16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997" y="775742"/>
                <a:ext cx="3727004" cy="341888"/>
              </a:xfrm>
              <a:prstGeom prst="rect">
                <a:avLst/>
              </a:prstGeom>
              <a:blipFill>
                <a:blip r:embed="rId5"/>
                <a:stretch>
                  <a:fillRect l="-817" t="-5357" r="-6373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1D29977A-924C-C21B-A87B-7F502C93C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947914"/>
              </p:ext>
            </p:extLst>
          </p:nvPr>
        </p:nvGraphicFramePr>
        <p:xfrm>
          <a:off x="7551093" y="2005538"/>
          <a:ext cx="4064543" cy="6331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596">
                  <a:extLst>
                    <a:ext uri="{9D8B030D-6E8A-4147-A177-3AD203B41FA5}">
                      <a16:colId xmlns:a16="http://schemas.microsoft.com/office/drawing/2014/main" val="2799288135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4068894843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630755668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2684118675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3354590739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3790596851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221306634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1431964278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3575114998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2022899465"/>
                    </a:ext>
                  </a:extLst>
                </a:gridCol>
              </a:tblGrid>
              <a:tr h="3165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15.0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14.8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15.2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15.4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14.9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15.1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15.2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14.8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Cambria Math" panose="02040503050406030204" pitchFamily="18" charset="0"/>
                        </a:rPr>
                        <a:t>(mm)</a:t>
                      </a:r>
                      <a:endParaRPr lang="zh-CN" altLang="en-US" sz="8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2900764"/>
                  </a:ext>
                </a:extLst>
              </a:tr>
              <a:tr h="3165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15.2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15.0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14.8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15.1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14.6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14.8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15.1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14.5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15.0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652767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118582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583936"/>
                <a:ext cx="11108176" cy="10456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4.5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：两种机床生产同一型号的滚珠，从甲机床生产的滚珠中抽取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8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个，从乙机床生产的滚珠中抽取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9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个，测得其直径如表。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设直径均服从正态分布，且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的置信度为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95%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的置信区间。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（已知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=2.1315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）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583936"/>
                <a:ext cx="11108176" cy="1045671"/>
              </a:xfrm>
              <a:prstGeom prst="rect">
                <a:avLst/>
              </a:prstGeom>
              <a:blipFill>
                <a:blip r:embed="rId3"/>
                <a:stretch>
                  <a:fillRect l="-274" t="-1170" r="-933" b="-76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2855724"/>
                <a:ext cx="11108176" cy="2611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解：由题意，甲机床的样本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=15.05,  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∗</m:t>
                            </m:r>
                          </m:sup>
                        </m:sSubSup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 0457,  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=8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，乙机床的样本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14.9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∗</m:t>
                            </m:r>
                          </m:sup>
                        </m:sSubSup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 0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575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9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置信度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1−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=0.95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=0.05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构造统计量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−(</m:t>
                        </m:r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Sup>
                          <m:sSubSup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  <m:sup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ad>
                          <m:radPr>
                            <m:degHide m:val="on"/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，其中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1600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Sup>
                                  <m:sSubSupPr>
                                    <m:ctrlPr>
                                      <a:rPr lang="en-US" altLang="zh-CN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>
                                            <a:latin typeface="Cambria Math" panose="02040503050406030204" pitchFamily="18" charset="0"/>
                                          </a:rPr>
                                          <m:t>𝑺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sub>
                                    </m:sSub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  <m:sup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Sup>
                                  <m:sSubSupPr>
                                    <m:ctrlPr>
                                      <a:rPr lang="en-US" altLang="zh-CN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>
                                            <a:latin typeface="Cambria Math" panose="02040503050406030204" pitchFamily="18" charset="0"/>
                                          </a:rPr>
                                          <m:t>𝑺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sub>
                                    </m:sSub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  <m:sup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ra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(15)≤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−(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b="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b="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1/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+1/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(15)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即置信下限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6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=−0.08614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，置信上限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6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=0.38614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故均值差的置信度为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95%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的置信区间为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−0.08614,0.38614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].</m:t>
                    </m:r>
                  </m:oMath>
                </a14:m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855724"/>
                <a:ext cx="11108176" cy="2611099"/>
              </a:xfrm>
              <a:prstGeom prst="rect">
                <a:avLst/>
              </a:prstGeom>
              <a:blipFill>
                <a:blip r:embed="rId4"/>
                <a:stretch>
                  <a:fillRect l="-274" t="-233" r="-2141" b="-1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3B86E294-DD94-A275-83F7-F290567AAF4B}"/>
              </a:ext>
            </a:extLst>
          </p:cNvPr>
          <p:cNvSpPr txBox="1"/>
          <p:nvPr/>
        </p:nvSpPr>
        <p:spPr>
          <a:xfrm>
            <a:off x="507460" y="496110"/>
            <a:ext cx="3568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参数的区间估计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0A3718B-02A8-1C29-BC0C-4E9194B165EC}"/>
                  </a:ext>
                </a:extLst>
              </p:cNvPr>
              <p:cNvSpPr txBox="1"/>
              <p:nvPr/>
            </p:nvSpPr>
            <p:spPr>
              <a:xfrm>
                <a:off x="4146996" y="775742"/>
                <a:ext cx="4317553" cy="341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均值差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的估计方法（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但均未知）</a:t>
                </a:r>
                <a:endParaRPr lang="en-US" altLang="zh-CN" sz="1600" dirty="0"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0A3718B-02A8-1C29-BC0C-4E9194B16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996" y="775742"/>
                <a:ext cx="4317553" cy="341888"/>
              </a:xfrm>
              <a:prstGeom prst="rect">
                <a:avLst/>
              </a:prstGeom>
              <a:blipFill>
                <a:blip r:embed="rId5"/>
                <a:stretch>
                  <a:fillRect l="-705" t="-5357" r="-5501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1D29977A-924C-C21B-A87B-7F502C93C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632353"/>
              </p:ext>
            </p:extLst>
          </p:nvPr>
        </p:nvGraphicFramePr>
        <p:xfrm>
          <a:off x="7551093" y="2005538"/>
          <a:ext cx="4064543" cy="6331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596">
                  <a:extLst>
                    <a:ext uri="{9D8B030D-6E8A-4147-A177-3AD203B41FA5}">
                      <a16:colId xmlns:a16="http://schemas.microsoft.com/office/drawing/2014/main" val="2799288135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4068894843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630755668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2684118675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3354590739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3790596851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221306634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1431964278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3575114998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2022899465"/>
                    </a:ext>
                  </a:extLst>
                </a:gridCol>
              </a:tblGrid>
              <a:tr h="3165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15.0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14.8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15.2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15.4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14.9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15.1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15.2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14.8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Cambria Math" panose="02040503050406030204" pitchFamily="18" charset="0"/>
                        </a:rPr>
                        <a:t>(mm)</a:t>
                      </a:r>
                      <a:endParaRPr lang="zh-CN" altLang="en-US" sz="8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2900764"/>
                  </a:ext>
                </a:extLst>
              </a:tr>
              <a:tr h="3165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15.2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15.0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14.8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15.1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14.6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14.8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15.1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14.5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15.0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652767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0375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583936"/>
                <a:ext cx="11108176" cy="1054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4.6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：两种机床生产同一型号的滚珠，从甲机床生产的滚珠中抽取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8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个，从乙机床生产的滚珠中抽取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9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个，测得其直径如表。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设直径均服从正态分布，求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 pitchFamily="18" charset="0"/>
                      </a:rPr>
                      <m:t>/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的置信度为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95%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的置信区间。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（已知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7,8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=4.53,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=4.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）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583936"/>
                <a:ext cx="11108176" cy="1054776"/>
              </a:xfrm>
              <a:prstGeom prst="rect">
                <a:avLst/>
              </a:prstGeom>
              <a:blipFill>
                <a:blip r:embed="rId3"/>
                <a:stretch>
                  <a:fillRect l="-274" t="-1156" r="-933" b="-63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2855724"/>
                <a:ext cx="11328940" cy="2481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解：由题意，甲机床的样本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=15.05,  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∗</m:t>
                            </m:r>
                          </m:sup>
                        </m:sSubSup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 0457,  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=8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，乙机床的样本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14.9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∗</m:t>
                            </m:r>
                          </m:sup>
                        </m:sSubSup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 0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575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9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置信度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1−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=0.95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=0.05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构造统计量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/</m:t>
                        </m:r>
                        <m:sSubSup>
                          <m:sSubSup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den>
                    </m:f>
                  </m:oMath>
                </a14:m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7,8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b="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b="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00" b="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/</m:t>
                        </m:r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00" b="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7,8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7,8</m:t>
                            </m:r>
                          </m:e>
                        </m: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b="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b="0" i="1">
                        <a:latin typeface="Cambria Math" panose="02040503050406030204" pitchFamily="18" charset="0"/>
                      </a:rPr>
                      <m:t>/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b="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97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7,8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97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7,8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8,7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即置信下限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7,8</m:t>
                            </m:r>
                          </m:e>
                        </m: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=0.1755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，置信上限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0.975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7,8</m:t>
                            </m:r>
                          </m:e>
                        </m: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=3.8944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故方差比的置信度为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95%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的置信区间为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0.1755,3.8944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].</m:t>
                    </m:r>
                  </m:oMath>
                </a14:m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855724"/>
                <a:ext cx="11328940" cy="2481833"/>
              </a:xfrm>
              <a:prstGeom prst="rect">
                <a:avLst/>
              </a:prstGeom>
              <a:blipFill>
                <a:blip r:embed="rId4"/>
                <a:stretch>
                  <a:fillRect l="-269" t="-245" r="-2098" b="-17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3B86E294-DD94-A275-83F7-F290567AAF4B}"/>
              </a:ext>
            </a:extLst>
          </p:cNvPr>
          <p:cNvSpPr txBox="1"/>
          <p:nvPr/>
        </p:nvSpPr>
        <p:spPr>
          <a:xfrm>
            <a:off x="507460" y="496110"/>
            <a:ext cx="3568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参数的区间估计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0A3718B-02A8-1C29-BC0C-4E9194B165EC}"/>
                  </a:ext>
                </a:extLst>
              </p:cNvPr>
              <p:cNvSpPr txBox="1"/>
              <p:nvPr/>
            </p:nvSpPr>
            <p:spPr>
              <a:xfrm>
                <a:off x="4146997" y="775742"/>
                <a:ext cx="2558603" cy="341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方差比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/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的估计方法</a:t>
                </a:r>
                <a:endParaRPr lang="en-US" altLang="zh-CN" sz="1600" dirty="0"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0A3718B-02A8-1C29-BC0C-4E9194B16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997" y="775742"/>
                <a:ext cx="2558603" cy="341888"/>
              </a:xfrm>
              <a:prstGeom prst="rect">
                <a:avLst/>
              </a:prstGeom>
              <a:blipFill>
                <a:blip r:embed="rId5"/>
                <a:stretch>
                  <a:fillRect l="-1190" t="-5357" r="-1429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1D29977A-924C-C21B-A87B-7F502C93C683}"/>
              </a:ext>
            </a:extLst>
          </p:cNvPr>
          <p:cNvGraphicFramePr>
            <a:graphicFrameLocks noGrp="1"/>
          </p:cNvGraphicFramePr>
          <p:nvPr/>
        </p:nvGraphicFramePr>
        <p:xfrm>
          <a:off x="7551093" y="2005538"/>
          <a:ext cx="4064543" cy="6331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596">
                  <a:extLst>
                    <a:ext uri="{9D8B030D-6E8A-4147-A177-3AD203B41FA5}">
                      <a16:colId xmlns:a16="http://schemas.microsoft.com/office/drawing/2014/main" val="2799288135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4068894843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630755668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2684118675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3354590739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3790596851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221306634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1431964278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3575114998"/>
                    </a:ext>
                  </a:extLst>
                </a:gridCol>
                <a:gridCol w="417883">
                  <a:extLst>
                    <a:ext uri="{9D8B030D-6E8A-4147-A177-3AD203B41FA5}">
                      <a16:colId xmlns:a16="http://schemas.microsoft.com/office/drawing/2014/main" val="2022899465"/>
                    </a:ext>
                  </a:extLst>
                </a:gridCol>
              </a:tblGrid>
              <a:tr h="3165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15.0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14.8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15.2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15.4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14.9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15.1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15.2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14.8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Cambria Math" panose="02040503050406030204" pitchFamily="18" charset="0"/>
                        </a:rPr>
                        <a:t>(mm)</a:t>
                      </a:r>
                      <a:endParaRPr lang="zh-CN" altLang="en-US" sz="8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2900764"/>
                  </a:ext>
                </a:extLst>
              </a:tr>
              <a:tr h="3165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15.2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15.0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14.8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15.1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14.6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14.8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15.1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14.5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15.0</a:t>
                      </a:r>
                      <a:endParaRPr lang="zh-CN" altLang="en-US" sz="10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652767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0222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DA699433-94B9-422C-C0AC-B8CF736B0CE1}"/>
              </a:ext>
            </a:extLst>
          </p:cNvPr>
          <p:cNvCxnSpPr>
            <a:cxnSpLocks/>
          </p:cNvCxnSpPr>
          <p:nvPr/>
        </p:nvCxnSpPr>
        <p:spPr>
          <a:xfrm>
            <a:off x="0" y="2900397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9FD73E4-56FA-6572-DE2B-71618A131228}"/>
              </a:ext>
            </a:extLst>
          </p:cNvPr>
          <p:cNvCxnSpPr>
            <a:cxnSpLocks/>
          </p:cNvCxnSpPr>
          <p:nvPr/>
        </p:nvCxnSpPr>
        <p:spPr>
          <a:xfrm>
            <a:off x="0" y="1913903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4802336" y="1674109"/>
            <a:ext cx="2587326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参数的点估计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170BE7-0F76-5811-175E-EA30464C19C2}"/>
              </a:ext>
            </a:extLst>
          </p:cNvPr>
          <p:cNvSpPr txBox="1"/>
          <p:nvPr/>
        </p:nvSpPr>
        <p:spPr>
          <a:xfrm>
            <a:off x="4802336" y="2700342"/>
            <a:ext cx="2587326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估计量的优良性</a:t>
            </a: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224B2CB-7DEC-89D6-385B-3B3A5D8DBA8B}"/>
              </a:ext>
            </a:extLst>
          </p:cNvPr>
          <p:cNvCxnSpPr>
            <a:cxnSpLocks/>
          </p:cNvCxnSpPr>
          <p:nvPr/>
        </p:nvCxnSpPr>
        <p:spPr>
          <a:xfrm>
            <a:off x="0" y="4694496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7AB62AB-D9C7-9698-0FC6-8674D5DF6915}"/>
              </a:ext>
            </a:extLst>
          </p:cNvPr>
          <p:cNvSpPr txBox="1"/>
          <p:nvPr/>
        </p:nvSpPr>
        <p:spPr>
          <a:xfrm>
            <a:off x="4802336" y="4491142"/>
            <a:ext cx="2604109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参数的区间估计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3D7142-4BB3-9AA1-B5B8-3F27DC579DCE}"/>
              </a:ext>
            </a:extLst>
          </p:cNvPr>
          <p:cNvSpPr txBox="1"/>
          <p:nvPr/>
        </p:nvSpPr>
        <p:spPr>
          <a:xfrm>
            <a:off x="4802336" y="528331"/>
            <a:ext cx="2575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参数估计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89333B52-D148-7CA3-1A72-D478DA0F2C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483504"/>
                  </p:ext>
                </p:extLst>
              </p:nvPr>
            </p:nvGraphicFramePr>
            <p:xfrm>
              <a:off x="576364" y="3496540"/>
              <a:ext cx="3649607" cy="2313330"/>
            </p:xfrm>
            <a:graphic>
              <a:graphicData uri="http://schemas.openxmlformats.org/drawingml/2006/table">
                <a:tbl>
                  <a:tblPr firstRow="1">
                    <a:tableStyleId>{21E4AEA4-8DFA-4A89-87EB-49C32662AFE0}</a:tableStyleId>
                  </a:tblPr>
                  <a:tblGrid>
                    <a:gridCol w="839443">
                      <a:extLst>
                        <a:ext uri="{9D8B030D-6E8A-4147-A177-3AD203B41FA5}">
                          <a16:colId xmlns:a16="http://schemas.microsoft.com/office/drawing/2014/main" val="327724714"/>
                        </a:ext>
                      </a:extLst>
                    </a:gridCol>
                    <a:gridCol w="778492">
                      <a:extLst>
                        <a:ext uri="{9D8B030D-6E8A-4147-A177-3AD203B41FA5}">
                          <a16:colId xmlns:a16="http://schemas.microsoft.com/office/drawing/2014/main" val="888420955"/>
                        </a:ext>
                      </a:extLst>
                    </a:gridCol>
                    <a:gridCol w="2031672">
                      <a:extLst>
                        <a:ext uri="{9D8B030D-6E8A-4147-A177-3AD203B41FA5}">
                          <a16:colId xmlns:a16="http://schemas.microsoft.com/office/drawing/2014/main" val="1637538899"/>
                        </a:ext>
                      </a:extLst>
                    </a:gridCol>
                  </a:tblGrid>
                  <a:tr h="2431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0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待估参数</a:t>
                          </a:r>
                        </a:p>
                      </a:txBody>
                      <a:tcPr marL="65697" marR="65697" marT="32849" marB="3284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0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条件</a:t>
                          </a:r>
                        </a:p>
                      </a:txBody>
                      <a:tcPr marL="65697" marR="65697" marT="32849" marB="3284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0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构造的统计量及其分布</a:t>
                          </a:r>
                        </a:p>
                      </a:txBody>
                      <a:tcPr marL="65697" marR="65697" marT="32849" marB="32849" anchor="ctr"/>
                    </a:tc>
                    <a:extLst>
                      <a:ext uri="{0D108BD9-81ED-4DB2-BD59-A6C34878D82A}">
                        <a16:rowId xmlns:a16="http://schemas.microsoft.com/office/drawing/2014/main" val="11919068"/>
                      </a:ext>
                    </a:extLst>
                  </a:tr>
                  <a:tr h="69006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均值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100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endParaRPr lang="zh-CN" altLang="en-US" sz="10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marL="85840" marR="85840" marT="42920" marB="4292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0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sz="1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已知</a:t>
                          </a:r>
                        </a:p>
                      </a:txBody>
                      <a:tcPr marL="65697" marR="65697" marT="32849" marB="3284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sz="1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num>
                                  <m:den>
                                    <m:r>
                                      <a:rPr lang="zh-CN" alt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  <m: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rad>
                                  </m:den>
                                </m:f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~ </m:t>
                                </m:r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(0,1)</m:t>
                                </m:r>
                              </m:oMath>
                            </m:oMathPara>
                          </a14:m>
                          <a:endParaRPr lang="zh-CN" altLang="en-US" sz="1000" b="0" i="1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marL="65697" marR="65697" marT="32849" marB="32849" anchor="ctr"/>
                    </a:tc>
                    <a:extLst>
                      <a:ext uri="{0D108BD9-81ED-4DB2-BD59-A6C34878D82A}">
                        <a16:rowId xmlns:a16="http://schemas.microsoft.com/office/drawing/2014/main" val="3203439556"/>
                      </a:ext>
                    </a:extLst>
                  </a:tr>
                  <a:tr h="690063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0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sz="1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未知</a:t>
                          </a:r>
                        </a:p>
                      </a:txBody>
                      <a:tcPr marL="65697" marR="65697" marT="32849" marB="3284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altLang="zh-CN" sz="1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sz="1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CN" sz="1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US" altLang="zh-CN" sz="1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  <m:r>
                                      <a:rPr lang="en-US" altLang="zh-CN" sz="1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1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rad>
                                  </m:den>
                                </m:f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~ </m:t>
                                </m:r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zh-CN" altLang="en-US" sz="1000" b="0" i="1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marL="65697" marR="65697" marT="32849" marB="32849" anchor="ctr"/>
                    </a:tc>
                    <a:extLst>
                      <a:ext uri="{0D108BD9-81ED-4DB2-BD59-A6C34878D82A}">
                        <a16:rowId xmlns:a16="http://schemas.microsoft.com/office/drawing/2014/main" val="938541292"/>
                      </a:ext>
                    </a:extLst>
                  </a:tr>
                  <a:tr h="6900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方差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0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zh-CN" altLang="en-US" sz="10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marL="65697" marR="65697" marT="32849" marB="3284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zh-CN" altLang="en-US" sz="100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r>
                            <a:rPr lang="zh-CN" altLang="en-US" sz="1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未知</a:t>
                          </a:r>
                        </a:p>
                      </a:txBody>
                      <a:tcPr marL="65697" marR="65697" marT="32849" marB="3284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altLang="zh-CN" sz="10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10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𝝈</m:t>
                                        </m:r>
                                      </m:e>
                                      <m:sup>
                                        <m:r>
                                          <a:rPr lang="en-US" altLang="zh-CN" sz="10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  <m:sup>
                                    <m: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~ </m:t>
                                </m:r>
                                <m:sSup>
                                  <m:sSupPr>
                                    <m:ctrlP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p>
                                    <m: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zh-CN" altLang="en-US" sz="1000" b="0" i="1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marL="65697" marR="65697" marT="32849" marB="32849" anchor="ctr"/>
                    </a:tc>
                    <a:extLst>
                      <a:ext uri="{0D108BD9-81ED-4DB2-BD59-A6C34878D82A}">
                        <a16:rowId xmlns:a16="http://schemas.microsoft.com/office/drawing/2014/main" val="38153601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89333B52-D148-7CA3-1A72-D478DA0F2C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483504"/>
                  </p:ext>
                </p:extLst>
              </p:nvPr>
            </p:nvGraphicFramePr>
            <p:xfrm>
              <a:off x="576364" y="3496540"/>
              <a:ext cx="3649607" cy="2313330"/>
            </p:xfrm>
            <a:graphic>
              <a:graphicData uri="http://schemas.openxmlformats.org/drawingml/2006/table">
                <a:tbl>
                  <a:tblPr firstRow="1">
                    <a:tableStyleId>{21E4AEA4-8DFA-4A89-87EB-49C32662AFE0}</a:tableStyleId>
                  </a:tblPr>
                  <a:tblGrid>
                    <a:gridCol w="839443">
                      <a:extLst>
                        <a:ext uri="{9D8B030D-6E8A-4147-A177-3AD203B41FA5}">
                          <a16:colId xmlns:a16="http://schemas.microsoft.com/office/drawing/2014/main" val="327724714"/>
                        </a:ext>
                      </a:extLst>
                    </a:gridCol>
                    <a:gridCol w="778492">
                      <a:extLst>
                        <a:ext uri="{9D8B030D-6E8A-4147-A177-3AD203B41FA5}">
                          <a16:colId xmlns:a16="http://schemas.microsoft.com/office/drawing/2014/main" val="888420955"/>
                        </a:ext>
                      </a:extLst>
                    </a:gridCol>
                    <a:gridCol w="2031672">
                      <a:extLst>
                        <a:ext uri="{9D8B030D-6E8A-4147-A177-3AD203B41FA5}">
                          <a16:colId xmlns:a16="http://schemas.microsoft.com/office/drawing/2014/main" val="1637538899"/>
                        </a:ext>
                      </a:extLst>
                    </a:gridCol>
                  </a:tblGrid>
                  <a:tr h="2431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0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待估参数</a:t>
                          </a:r>
                        </a:p>
                      </a:txBody>
                      <a:tcPr marL="65697" marR="65697" marT="32849" marB="3284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0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条件</a:t>
                          </a:r>
                        </a:p>
                      </a:txBody>
                      <a:tcPr marL="65697" marR="65697" marT="32849" marB="3284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0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构造的统计量及其分布</a:t>
                          </a:r>
                        </a:p>
                      </a:txBody>
                      <a:tcPr marL="65697" marR="65697" marT="32849" marB="32849" anchor="ctr"/>
                    </a:tc>
                    <a:extLst>
                      <a:ext uri="{0D108BD9-81ED-4DB2-BD59-A6C34878D82A}">
                        <a16:rowId xmlns:a16="http://schemas.microsoft.com/office/drawing/2014/main" val="11919068"/>
                      </a:ext>
                    </a:extLst>
                  </a:tr>
                  <a:tr h="690063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5840" marR="85840" marT="42920" marB="42920" anchor="ctr">
                        <a:blipFill>
                          <a:blip r:embed="rId3"/>
                          <a:stretch>
                            <a:fillRect l="-725" t="-18062" r="-337681" b="-51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5697" marR="65697" marT="32849" marB="32849" anchor="ctr">
                        <a:blipFill>
                          <a:blip r:embed="rId3"/>
                          <a:stretch>
                            <a:fillRect l="-108594" t="-35965" r="-264063" b="-2008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5697" marR="65697" marT="32849" marB="32849" anchor="ctr">
                        <a:blipFill>
                          <a:blip r:embed="rId3"/>
                          <a:stretch>
                            <a:fillRect l="-79940" t="-35965" r="-1198" b="-2008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3439556"/>
                      </a:ext>
                    </a:extLst>
                  </a:tr>
                  <a:tr h="690063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5697" marR="65697" marT="32849" marB="32849" anchor="ctr">
                        <a:blipFill>
                          <a:blip r:embed="rId3"/>
                          <a:stretch>
                            <a:fillRect l="-108594" t="-137168" r="-264063" b="-102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5697" marR="65697" marT="32849" marB="32849" anchor="ctr">
                        <a:blipFill>
                          <a:blip r:embed="rId3"/>
                          <a:stretch>
                            <a:fillRect l="-79940" t="-137168" r="-1198" b="-102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8541292"/>
                      </a:ext>
                    </a:extLst>
                  </a:tr>
                  <a:tr h="69006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5697" marR="65697" marT="32849" marB="32849" anchor="ctr">
                        <a:blipFill>
                          <a:blip r:embed="rId3"/>
                          <a:stretch>
                            <a:fillRect l="-725" t="-235088" r="-337681" b="-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5697" marR="65697" marT="32849" marB="32849" anchor="ctr">
                        <a:blipFill>
                          <a:blip r:embed="rId3"/>
                          <a:stretch>
                            <a:fillRect l="-108594" t="-235088" r="-264063" b="-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5697" marR="65697" marT="32849" marB="32849" anchor="ctr">
                        <a:blipFill>
                          <a:blip r:embed="rId3"/>
                          <a:stretch>
                            <a:fillRect l="-79940" t="-235088" r="-1198" b="-1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5360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4">
                <a:extLst>
                  <a:ext uri="{FF2B5EF4-FFF2-40B4-BE49-F238E27FC236}">
                    <a16:creationId xmlns:a16="http://schemas.microsoft.com/office/drawing/2014/main" id="{DF758C8D-C684-82C6-ACD6-4741AADDC0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020601"/>
                  </p:ext>
                </p:extLst>
              </p:nvPr>
            </p:nvGraphicFramePr>
            <p:xfrm>
              <a:off x="7861300" y="3496541"/>
              <a:ext cx="3754335" cy="2305899"/>
            </p:xfrm>
            <a:graphic>
              <a:graphicData uri="http://schemas.openxmlformats.org/drawingml/2006/table">
                <a:tbl>
                  <a:tblPr firstRow="1">
                    <a:tableStyleId>{21E4AEA4-8DFA-4A89-87EB-49C32662AFE0}</a:tableStyleId>
                  </a:tblPr>
                  <a:tblGrid>
                    <a:gridCol w="859962">
                      <a:extLst>
                        <a:ext uri="{9D8B030D-6E8A-4147-A177-3AD203B41FA5}">
                          <a16:colId xmlns:a16="http://schemas.microsoft.com/office/drawing/2014/main" val="327724714"/>
                        </a:ext>
                      </a:extLst>
                    </a:gridCol>
                    <a:gridCol w="816626">
                      <a:extLst>
                        <a:ext uri="{9D8B030D-6E8A-4147-A177-3AD203B41FA5}">
                          <a16:colId xmlns:a16="http://schemas.microsoft.com/office/drawing/2014/main" val="888420955"/>
                        </a:ext>
                      </a:extLst>
                    </a:gridCol>
                    <a:gridCol w="2077747">
                      <a:extLst>
                        <a:ext uri="{9D8B030D-6E8A-4147-A177-3AD203B41FA5}">
                          <a16:colId xmlns:a16="http://schemas.microsoft.com/office/drawing/2014/main" val="1637538899"/>
                        </a:ext>
                      </a:extLst>
                    </a:gridCol>
                  </a:tblGrid>
                  <a:tr h="2235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05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待估参数</a:t>
                          </a:r>
                        </a:p>
                      </a:txBody>
                      <a:tcPr marL="63336" marR="63336" marT="31668" marB="3166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05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条件</a:t>
                          </a:r>
                        </a:p>
                      </a:txBody>
                      <a:tcPr marL="63336" marR="63336" marT="31668" marB="3166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05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构造的统计量及其分布</a:t>
                          </a:r>
                        </a:p>
                      </a:txBody>
                      <a:tcPr marL="63336" marR="63336" marT="31668" marB="31668" anchor="ctr"/>
                    </a:tc>
                    <a:extLst>
                      <a:ext uri="{0D108BD9-81ED-4DB2-BD59-A6C34878D82A}">
                        <a16:rowId xmlns:a16="http://schemas.microsoft.com/office/drawing/2014/main" val="11919068"/>
                      </a:ext>
                    </a:extLst>
                  </a:tr>
                  <a:tr h="644640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均值差</a:t>
                          </a:r>
                          <a:endParaRPr lang="en-US" altLang="zh-CN" sz="10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00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0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0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marL="63336" marR="63336" marT="31668" marB="3166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0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0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1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已知</a:t>
                          </a:r>
                        </a:p>
                      </a:txBody>
                      <a:tcPr marL="63336" marR="63336" marT="31668" marB="3166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  <m: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000" b="1" i="1" smtClean="0"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000" b="1" i="1" smtClean="0"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zh-CN" altLang="en-US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zh-CN" altLang="en-US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den>
                                </m:f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~ </m:t>
                                </m:r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(0,1)</m:t>
                                </m:r>
                              </m:oMath>
                            </m:oMathPara>
                          </a14:m>
                          <a:endParaRPr lang="zh-CN" altLang="en-US" sz="1000" b="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marL="63336" marR="63336" marT="31668" marB="31668" anchor="ctr"/>
                    </a:tc>
                    <a:extLst>
                      <a:ext uri="{0D108BD9-81ED-4DB2-BD59-A6C34878D82A}">
                        <a16:rowId xmlns:a16="http://schemas.microsoft.com/office/drawing/2014/main" val="3203439556"/>
                      </a:ext>
                    </a:extLst>
                  </a:tr>
                  <a:tr h="748922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0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0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1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未知</a:t>
                          </a:r>
                          <a:endParaRPr lang="en-US" altLang="zh-CN" sz="10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:r>
                            <a:rPr lang="zh-CN" altLang="en-US" sz="1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但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0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0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endParaRPr lang="zh-CN" altLang="en-US" sz="10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marL="63336" marR="63336" marT="31668" marB="3166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r>
                                      <a:rPr lang="en-US" altLang="zh-CN" sz="1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000" b="1" i="1" smtClean="0"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000" b="1" i="1" smtClean="0"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  <m:sup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  <m: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1/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+1/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den>
                                </m:f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~ </m:t>
                                </m:r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−2)</m:t>
                                </m:r>
                              </m:oMath>
                            </m:oMathPara>
                          </a14:m>
                          <a:endParaRPr lang="en-US" altLang="zh-CN" sz="1000" b="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其中</m:t>
                                </m:r>
                                <m:sSubSup>
                                  <m:sSubSupPr>
                                    <m:ctrlPr>
                                      <a:rPr lang="en-US" altLang="zh-CN" sz="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  <m:sup>
                                    <m:r>
                                      <a:rPr lang="en-US" altLang="zh-CN" sz="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sz="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zh-CN" sz="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d>
                                          <m:dPr>
                                            <m:ctrlPr>
                                              <a:rPr lang="en-US" altLang="zh-CN" sz="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  <m:sSup>
                                          <m:sSupPr>
                                            <m:ctrlPr>
                                              <a:rPr lang="en-US" altLang="zh-CN" sz="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𝑆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𝑛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sub>
                                                <m:r>
                                                  <a:rPr lang="en-US" altLang="zh-CN" sz="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∗</m:t>
                                                </m:r>
                                              </m:sup>
                                            </m:sSubSup>
                                          </m:e>
                                          <m:sup>
                                            <m:r>
                                              <a:rPr lang="en-US" altLang="zh-CN" sz="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  <m:sSubSup>
                                          <m:sSubSupPr>
                                            <m:ctrlPr>
                                              <a:rPr lang="en-US" altLang="zh-CN" sz="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  <m:sub>
                                            <m:r>
                                              <a:rPr lang="en-US" altLang="zh-CN" sz="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CN" sz="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zh-CN" altLang="en-US" sz="800" b="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marL="63336" marR="63336" marT="31668" marB="31668" anchor="ctr"/>
                    </a:tc>
                    <a:extLst>
                      <a:ext uri="{0D108BD9-81ED-4DB2-BD59-A6C34878D82A}">
                        <a16:rowId xmlns:a16="http://schemas.microsoft.com/office/drawing/2014/main" val="938541292"/>
                      </a:ext>
                    </a:extLst>
                  </a:tr>
                  <a:tr h="644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方差比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0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Sup>
                                <m:sSubSupPr>
                                  <m:ctrlP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0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endParaRPr lang="zh-CN" altLang="en-US" sz="10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marL="63336" marR="63336" marT="31668" marB="3166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00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0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未知</a:t>
                          </a:r>
                        </a:p>
                      </a:txBody>
                      <a:tcPr marL="63336" marR="63336" marT="31668" marB="3166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  <m:sub>
                                            <m: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  <m:sup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zh-CN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sSup>
                                      <m:sSupPr>
                                        <m:ctrlP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  <m:sub>
                                            <m: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  <m:sup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sz="1000" b="1" i="1" smtClean="0">
                                            <a:latin typeface="Cambria Math" panose="02040503050406030204" pitchFamily="18" charset="0"/>
                                          </a:rPr>
                                          <m:t>𝝈</m:t>
                                        </m:r>
                                      </m:e>
                                      <m:sub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  <m:sup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bSup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sSubSup>
                                      <m:sSubSupPr>
                                        <m:ctrlP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sz="1000" b="1" i="1" smtClean="0">
                                            <a:latin typeface="Cambria Math" panose="02040503050406030204" pitchFamily="18" charset="0"/>
                                          </a:rPr>
                                          <m:t>𝝈</m:t>
                                        </m:r>
                                      </m:e>
                                      <m:sub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  <m:sup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bSup>
                                  </m:den>
                                </m:f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~</m:t>
                                </m:r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𝐹</m:t>
                                </m:r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−1,</m:t>
                                </m:r>
                                <m:sSub>
                                  <m:sSubPr>
                                    <m:ctrlP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zh-CN" altLang="en-US" sz="1000" b="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marL="63336" marR="63336" marT="31668" marB="31668" anchor="ctr"/>
                    </a:tc>
                    <a:extLst>
                      <a:ext uri="{0D108BD9-81ED-4DB2-BD59-A6C34878D82A}">
                        <a16:rowId xmlns:a16="http://schemas.microsoft.com/office/drawing/2014/main" val="38153601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4">
                <a:extLst>
                  <a:ext uri="{FF2B5EF4-FFF2-40B4-BE49-F238E27FC236}">
                    <a16:creationId xmlns:a16="http://schemas.microsoft.com/office/drawing/2014/main" id="{DF758C8D-C684-82C6-ACD6-4741AADDC0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020601"/>
                  </p:ext>
                </p:extLst>
              </p:nvPr>
            </p:nvGraphicFramePr>
            <p:xfrm>
              <a:off x="7861300" y="3496541"/>
              <a:ext cx="3754335" cy="2305899"/>
            </p:xfrm>
            <a:graphic>
              <a:graphicData uri="http://schemas.openxmlformats.org/drawingml/2006/table">
                <a:tbl>
                  <a:tblPr firstRow="1">
                    <a:tableStyleId>{21E4AEA4-8DFA-4A89-87EB-49C32662AFE0}</a:tableStyleId>
                  </a:tblPr>
                  <a:tblGrid>
                    <a:gridCol w="859962">
                      <a:extLst>
                        <a:ext uri="{9D8B030D-6E8A-4147-A177-3AD203B41FA5}">
                          <a16:colId xmlns:a16="http://schemas.microsoft.com/office/drawing/2014/main" val="327724714"/>
                        </a:ext>
                      </a:extLst>
                    </a:gridCol>
                    <a:gridCol w="816626">
                      <a:extLst>
                        <a:ext uri="{9D8B030D-6E8A-4147-A177-3AD203B41FA5}">
                          <a16:colId xmlns:a16="http://schemas.microsoft.com/office/drawing/2014/main" val="888420955"/>
                        </a:ext>
                      </a:extLst>
                    </a:gridCol>
                    <a:gridCol w="2077747">
                      <a:extLst>
                        <a:ext uri="{9D8B030D-6E8A-4147-A177-3AD203B41FA5}">
                          <a16:colId xmlns:a16="http://schemas.microsoft.com/office/drawing/2014/main" val="1637538899"/>
                        </a:ext>
                      </a:extLst>
                    </a:gridCol>
                  </a:tblGrid>
                  <a:tr h="2235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05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待估参数</a:t>
                          </a:r>
                        </a:p>
                      </a:txBody>
                      <a:tcPr marL="63336" marR="63336" marT="31668" marB="3166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05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条件</a:t>
                          </a:r>
                        </a:p>
                      </a:txBody>
                      <a:tcPr marL="63336" marR="63336" marT="31668" marB="3166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05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构造的统计量及其分布</a:t>
                          </a:r>
                        </a:p>
                      </a:txBody>
                      <a:tcPr marL="63336" marR="63336" marT="31668" marB="31668" anchor="ctr"/>
                    </a:tc>
                    <a:extLst>
                      <a:ext uri="{0D108BD9-81ED-4DB2-BD59-A6C34878D82A}">
                        <a16:rowId xmlns:a16="http://schemas.microsoft.com/office/drawing/2014/main" val="11919068"/>
                      </a:ext>
                    </a:extLst>
                  </a:tr>
                  <a:tr h="644640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3336" marR="63336" marT="31668" marB="31668" anchor="ctr">
                        <a:blipFill>
                          <a:blip r:embed="rId4"/>
                          <a:stretch>
                            <a:fillRect l="-709" t="-16102" r="-340426" b="-457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3336" marR="63336" marT="31668" marB="31668" anchor="ctr">
                        <a:blipFill>
                          <a:blip r:embed="rId4"/>
                          <a:stretch>
                            <a:fillRect l="-105185" t="-35849" r="-255556" b="-2245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3336" marR="63336" marT="31668" marB="31668" anchor="ctr">
                        <a:blipFill>
                          <a:blip r:embed="rId4"/>
                          <a:stretch>
                            <a:fillRect l="-81232" t="-35849" r="-1173" b="-2245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3439556"/>
                      </a:ext>
                    </a:extLst>
                  </a:tr>
                  <a:tr h="793078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3336" marR="63336" marT="31668" marB="31668" anchor="ctr">
                        <a:blipFill>
                          <a:blip r:embed="rId4"/>
                          <a:stretch>
                            <a:fillRect l="-105185" t="-110769" r="-255556" b="-8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3336" marR="63336" marT="31668" marB="31668" anchor="ctr">
                        <a:blipFill>
                          <a:blip r:embed="rId4"/>
                          <a:stretch>
                            <a:fillRect l="-81232" t="-110769" r="-1173" b="-8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8541292"/>
                      </a:ext>
                    </a:extLst>
                  </a:tr>
                  <a:tr h="6446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3336" marR="63336" marT="31668" marB="31668" anchor="ctr">
                        <a:blipFill>
                          <a:blip r:embed="rId4"/>
                          <a:stretch>
                            <a:fillRect l="-709" t="-258491" r="-340426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3336" marR="63336" marT="31668" marB="31668" anchor="ctr">
                        <a:blipFill>
                          <a:blip r:embed="rId4"/>
                          <a:stretch>
                            <a:fillRect l="-105185" t="-258491" r="-255556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3336" marR="63336" marT="31668" marB="31668" anchor="ctr">
                        <a:blipFill>
                          <a:blip r:embed="rId4"/>
                          <a:stretch>
                            <a:fillRect l="-81232" t="-258491" r="-1173" b="-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5360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C92EC93-67EE-F6AB-0D68-A8F354121930}"/>
                  </a:ext>
                </a:extLst>
              </p:cNvPr>
              <p:cNvSpPr txBox="1"/>
              <p:nvPr/>
            </p:nvSpPr>
            <p:spPr>
              <a:xfrm>
                <a:off x="4225970" y="3457243"/>
                <a:ext cx="1544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l-GR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i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C92EC93-67EE-F6AB-0D68-A8F354121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970" y="3457243"/>
                <a:ext cx="1544515" cy="338554"/>
              </a:xfrm>
              <a:prstGeom prst="rect">
                <a:avLst/>
              </a:prstGeom>
              <a:blipFill>
                <a:blip r:embed="rId5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E456C37-4180-BAA0-CD2D-6E0A23B3D38E}"/>
                  </a:ext>
                </a:extLst>
              </p:cNvPr>
              <p:cNvSpPr txBox="1"/>
              <p:nvPr/>
            </p:nvSpPr>
            <p:spPr>
              <a:xfrm>
                <a:off x="5173586" y="3457243"/>
                <a:ext cx="2687714" cy="648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CN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CN" sz="1600" b="0" i="1" dirty="0">
                  <a:solidFill>
                    <a:schemeClr val="accent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6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16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sz="1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1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1600" i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E456C37-4180-BAA0-CD2D-6E0A23B3D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586" y="3457243"/>
                <a:ext cx="2687714" cy="648254"/>
              </a:xfrm>
              <a:prstGeom prst="rect">
                <a:avLst/>
              </a:prstGeom>
              <a:blipFill>
                <a:blip r:embed="rId6"/>
                <a:stretch>
                  <a:fillRect t="-943" r="-27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B7A5DDD-927D-525E-7854-C4DE9DFC2F45}"/>
              </a:ext>
            </a:extLst>
          </p:cNvPr>
          <p:cNvSpPr/>
          <p:nvPr/>
        </p:nvSpPr>
        <p:spPr>
          <a:xfrm>
            <a:off x="576365" y="2654792"/>
            <a:ext cx="871436" cy="49338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无偏性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2EA06DF-023F-32AA-BCF8-8A71CF758377}"/>
              </a:ext>
            </a:extLst>
          </p:cNvPr>
          <p:cNvSpPr/>
          <p:nvPr/>
        </p:nvSpPr>
        <p:spPr>
          <a:xfrm>
            <a:off x="10744199" y="2652561"/>
            <a:ext cx="871435" cy="49338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有效性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4EC0BA0-2CD3-9DBB-FEEF-EEE7A06A4CA2}"/>
                  </a:ext>
                </a:extLst>
              </p:cNvPr>
              <p:cNvSpPr txBox="1"/>
              <p:nvPr/>
            </p:nvSpPr>
            <p:spPr>
              <a:xfrm>
                <a:off x="1447801" y="2567204"/>
                <a:ext cx="3105149" cy="664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样本均值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sz="12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是总体期望</a:t>
                </a:r>
                <a14:m>
                  <m:oMath xmlns:m="http://schemas.openxmlformats.org/officeDocument/2006/math">
                    <m:r>
                      <a:rPr lang="zh-CN" altLang="en-US" sz="1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12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的无偏估计</a:t>
                </a:r>
                <a:endParaRPr lang="en-US" altLang="zh-CN" sz="12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样本方差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2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是总体方差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2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的渐进无偏估计</a:t>
                </a:r>
                <a:endParaRPr lang="en-US" altLang="zh-CN" sz="12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修正样本方差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  <m:sup>
                        <m:r>
                          <a:rPr lang="en-US" altLang="zh-CN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2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是总体方差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2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的无偏估计</a:t>
                </a:r>
                <a:endParaRPr lang="zh-CN" altLang="en-US" sz="12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4EC0BA0-2CD3-9DBB-FEEF-EEE7A06A4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1" y="2567204"/>
                <a:ext cx="3105149" cy="664093"/>
              </a:xfrm>
              <a:prstGeom prst="rect">
                <a:avLst/>
              </a:prstGeom>
              <a:blipFill>
                <a:blip r:embed="rId7"/>
                <a:stretch>
                  <a:fillRect b="-4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0BAE442-7B1F-4EF6-1E0D-5C1B68124338}"/>
                  </a:ext>
                </a:extLst>
              </p:cNvPr>
              <p:cNvSpPr txBox="1"/>
              <p:nvPr/>
            </p:nvSpPr>
            <p:spPr>
              <a:xfrm>
                <a:off x="7639048" y="2498472"/>
                <a:ext cx="3105149" cy="857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最小方差无偏估计量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20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acc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𝜃</m:t>
                        </m:r>
                      </m:e>
                    </m:acc>
                  </m:oMath>
                </a14:m>
                <a:endParaRPr lang="en-US" altLang="zh-CN" sz="1200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/>
                <a:r>
                  <a:rPr lang="zh-CN" altLang="en-US" sz="11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zh-CN" altLang="en-US" sz="11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accPr>
                          <m:e>
                            <m:r>
                              <a:rPr lang="zh-CN" altLang="en-US" sz="11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altLang="zh-CN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</m:t>
                    </m:r>
                  </m:oMath>
                </a14:m>
                <a:r>
                  <a:rPr lang="zh-CN" altLang="en-US" sz="11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且 </a:t>
                </a:r>
                <a14:m>
                  <m:oMath xmlns:m="http://schemas.openxmlformats.org/officeDocument/2006/math">
                    <m:r>
                      <a:rPr lang="en-US" altLang="zh-CN" sz="11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sz="11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zh-CN" altLang="en-US" sz="11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accPr>
                          <m:e>
                            <m:r>
                              <a:rPr lang="zh-CN" altLang="en-US" sz="11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altLang="zh-CN" sz="11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1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fPr>
                      <m:num>
                        <m:r>
                          <a:rPr lang="en-US" altLang="zh-CN" sz="11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1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𝑛𝐼</m:t>
                        </m:r>
                        <m:r>
                          <a:rPr lang="en-US" altLang="zh-CN" sz="11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(</m:t>
                        </m:r>
                        <m:r>
                          <a:rPr lang="zh-CN" altLang="en-US" sz="11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𝜃</m:t>
                        </m:r>
                        <m:r>
                          <a:rPr lang="en-US" altLang="zh-CN" sz="11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11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r>
                  <a:rPr lang="zh-CN" altLang="en-US" sz="11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11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𝐼</m:t>
                    </m:r>
                    <m:d>
                      <m:dPr>
                        <m:ctrlPr>
                          <a:rPr lang="en-US" altLang="zh-CN" sz="11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r>
                          <a:rPr lang="zh-CN" altLang="en-US" sz="11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𝜃</m:t>
                        </m:r>
                      </m:e>
                    </m:d>
                    <m:r>
                      <a:rPr lang="en-US" altLang="zh-CN" sz="11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r>
                      <a:rPr lang="en-US" altLang="zh-CN" sz="11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𝐸</m:t>
                    </m:r>
                    <m:sSup>
                      <m:sSupPr>
                        <m:ctrlPr>
                          <a:rPr lang="en-US" altLang="zh-CN" sz="11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100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𝜕</m:t>
                                </m:r>
                                <m:func>
                                  <m:funcPr>
                                    <m:ctrlP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  <a:ea typeface="方正小标宋简体" panose="02000000000000000000" pitchFamily="2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1100" b="0" i="0" smtClean="0">
                                        <a:latin typeface="Cambria Math" panose="02040503050406030204" pitchFamily="18" charset="0"/>
                                        <a:ea typeface="方正小标宋简体" panose="02000000000000000000" pitchFamily="2" charset="-122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  <a:ea typeface="方正小标宋简体" panose="02000000000000000000" pitchFamily="2" charset="-122"/>
                                      </a:rPr>
                                      <m:t>𝑝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𝜕</m:t>
                                </m:r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 </m:t>
                                </m:r>
                                <m:r>
                                  <a:rPr lang="zh-CN" altLang="en-US" sz="1100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𝜃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11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1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(=−</m:t>
                    </m:r>
                    <m:r>
                      <a:rPr lang="en-US" altLang="zh-CN" sz="11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1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1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1100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100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altLang="zh-CN" sz="1100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110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altLang="zh-CN" sz="1100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sSup>
                              <m:sSupPr>
                                <m:ctrlPr>
                                  <a:rPr lang="en-US" altLang="zh-CN" sz="1100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100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sz="11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𝜃</m:t>
                            </m:r>
                          </m:den>
                        </m:f>
                      </m:e>
                    </m:d>
                    <m:r>
                      <a:rPr lang="en-US" altLang="zh-CN" sz="11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endParaRPr lang="en-US" altLang="zh-CN" sz="11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0BAE442-7B1F-4EF6-1E0D-5C1B68124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048" y="2498472"/>
                <a:ext cx="3105149" cy="8570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6CC01B24-F67A-C74A-680D-7B5EF40EF173}"/>
              </a:ext>
            </a:extLst>
          </p:cNvPr>
          <p:cNvSpPr/>
          <p:nvPr/>
        </p:nvSpPr>
        <p:spPr>
          <a:xfrm>
            <a:off x="576364" y="1662819"/>
            <a:ext cx="2173186" cy="499263"/>
          </a:xfrm>
          <a:prstGeom prst="roundRect">
            <a:avLst>
              <a:gd name="adj" fmla="val 363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参数的矩估计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EC6013C-15D2-DF58-A476-53CEE8F4BCEE}"/>
              </a:ext>
            </a:extLst>
          </p:cNvPr>
          <p:cNvSpPr/>
          <p:nvPr/>
        </p:nvSpPr>
        <p:spPr>
          <a:xfrm>
            <a:off x="9442448" y="1662818"/>
            <a:ext cx="2173186" cy="499263"/>
          </a:xfrm>
          <a:prstGeom prst="roundRect">
            <a:avLst>
              <a:gd name="adj" fmla="val 363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参数的最大似然估计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978A784-4BA9-4D6E-C6D4-8AFC6D5E504F}"/>
              </a:ext>
            </a:extLst>
          </p:cNvPr>
          <p:cNvSpPr txBox="1"/>
          <p:nvPr/>
        </p:nvSpPr>
        <p:spPr>
          <a:xfrm>
            <a:off x="2749550" y="1921775"/>
            <a:ext cx="1479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样本矩</a:t>
            </a:r>
            <a:r>
              <a:rPr lang="en-US" altLang="zh-CN" sz="1400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lang="zh-CN" altLang="en-US" sz="1400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总体矩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B1CD4BE-1B3C-295A-3C4C-94DFBFFD4219}"/>
              </a:ext>
            </a:extLst>
          </p:cNvPr>
          <p:cNvSpPr txBox="1"/>
          <p:nvPr/>
        </p:nvSpPr>
        <p:spPr>
          <a:xfrm>
            <a:off x="7962898" y="1925420"/>
            <a:ext cx="1479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似然方程等于</a:t>
            </a:r>
            <a:r>
              <a:rPr lang="en-US" altLang="zh-CN" sz="1400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zh-CN" altLang="en-US" sz="1400" dirty="0">
              <a:solidFill>
                <a:srgbClr val="00B05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955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reveal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6|31.1|4.7|8.2|2.5|26.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19701</TotalTime>
  <Words>4022</Words>
  <Application>Microsoft Office PowerPoint</Application>
  <PresentationFormat>宽屏</PresentationFormat>
  <Paragraphs>388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华文宋体</vt:lpstr>
      <vt:lpstr>方正小标宋简体</vt:lpstr>
      <vt:lpstr>Cambria Math</vt:lpstr>
      <vt:lpstr>华文中宋</vt:lpstr>
      <vt:lpstr>仿宋</vt:lpstr>
      <vt:lpstr>Arial</vt:lpstr>
      <vt:lpstr>方正清刻本悦宋简体</vt:lpstr>
      <vt:lpstr>汉仪润圆-65简</vt:lpstr>
      <vt:lpstr>楷体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展 未央</dc:creator>
  <cp:lastModifiedBy>展 未央</cp:lastModifiedBy>
  <cp:revision>202</cp:revision>
  <dcterms:created xsi:type="dcterms:W3CDTF">2022-05-05T07:14:53Z</dcterms:created>
  <dcterms:modified xsi:type="dcterms:W3CDTF">2023-02-19T16:57:51Z</dcterms:modified>
</cp:coreProperties>
</file>