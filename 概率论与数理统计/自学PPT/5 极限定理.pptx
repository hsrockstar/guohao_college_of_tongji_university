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69" r:id="rId2"/>
    <p:sldId id="276" r:id="rId3"/>
    <p:sldId id="277" r:id="rId4"/>
    <p:sldId id="300" r:id="rId5"/>
    <p:sldId id="278" r:id="rId6"/>
    <p:sldId id="279" r:id="rId7"/>
    <p:sldId id="280" r:id="rId8"/>
    <p:sldId id="291" r:id="rId9"/>
    <p:sldId id="281" r:id="rId10"/>
    <p:sldId id="294" r:id="rId11"/>
    <p:sldId id="295" r:id="rId12"/>
    <p:sldId id="298" r:id="rId13"/>
  </p:sldIdLst>
  <p:sldSz cx="12192000" cy="6858000"/>
  <p:notesSz cx="6858000" cy="9144000"/>
  <p:embeddedFontLst>
    <p:embeddedFont>
      <p:font typeface="等线" panose="02010600030101010101" pitchFamily="2" charset="-122"/>
      <p:regular r:id="rId15"/>
      <p:bold r:id="rId16"/>
    </p:embeddedFont>
    <p:embeddedFont>
      <p:font typeface="等线 Light" panose="02010600030101010101" pitchFamily="2" charset="-122"/>
      <p:regular r:id="rId17"/>
    </p:embeddedFont>
    <p:embeddedFont>
      <p:font typeface="方正清刻本悦宋简体" panose="02000000000000000000" pitchFamily="2" charset="-122"/>
      <p:regular r:id="rId18"/>
    </p:embeddedFont>
    <p:embeddedFont>
      <p:font typeface="方正小标宋简体" panose="02000000000000000000" pitchFamily="2" charset="-122"/>
      <p:regular r:id="rId19"/>
    </p:embeddedFont>
    <p:embeddedFont>
      <p:font typeface="仿宋" panose="02010609060101010101" pitchFamily="49" charset="-122"/>
      <p:regular r:id="rId20"/>
    </p:embeddedFont>
    <p:embeddedFont>
      <p:font typeface="汉仪润圆-65简" panose="00020600040101010101" pitchFamily="18" charset="-122"/>
      <p:regular r:id="rId21"/>
    </p:embeddedFont>
    <p:embeddedFont>
      <p:font typeface="汉仪文黑-85W" panose="00020600040101010101" pitchFamily="18" charset="-122"/>
      <p:regular r:id="rId22"/>
    </p:embeddedFont>
    <p:embeddedFont>
      <p:font typeface="华文宋体" panose="02010600040101010101" pitchFamily="2" charset="-122"/>
      <p:regular r:id="rId23"/>
    </p:embeddedFont>
    <p:embeddedFont>
      <p:font typeface="华文中宋" panose="02010600040101010101" pitchFamily="2" charset="-122"/>
      <p:regular r:id="rId24"/>
    </p:embeddedFont>
    <p:embeddedFont>
      <p:font typeface="楷体" panose="02010609060101010101" pitchFamily="49" charset="-122"/>
      <p:regular r:id="rId25"/>
    </p:embeddedFont>
    <p:embeddedFont>
      <p:font typeface="Cambria Math" panose="02040503050406030204" pitchFamily="18" charset="0"/>
      <p:regular r:id="rId26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展 未央" initials="展" lastIdx="1" clrIdx="0">
    <p:extLst>
      <p:ext uri="{19B8F6BF-5375-455C-9EA6-DF929625EA0E}">
        <p15:presenceInfo xmlns:p15="http://schemas.microsoft.com/office/powerpoint/2012/main" userId="e6b0a92515a3b0c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F3F3"/>
    <a:srgbClr val="FFFFFF"/>
    <a:srgbClr val="ED7D31"/>
    <a:srgbClr val="89F3FE"/>
    <a:srgbClr val="7ECEF4"/>
    <a:srgbClr val="000000"/>
    <a:srgbClr val="F17723"/>
    <a:srgbClr val="FF9900"/>
    <a:srgbClr val="FFC000"/>
    <a:srgbClr val="84CC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25" autoAdjust="0"/>
    <p:restoredTop sz="94660"/>
  </p:normalViewPr>
  <p:slideViewPr>
    <p:cSldViewPr snapToGrid="0">
      <p:cViewPr varScale="1">
        <p:scale>
          <a:sx n="89" d="100"/>
          <a:sy n="89" d="100"/>
        </p:scale>
        <p:origin x="79" y="1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A4BD5C-A529-48D4-AE8F-BF3361AE1A2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71CA1E-5CB9-473F-9F69-C52F533E75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4999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CFB3BA-B18E-DEC1-3E6C-4920AFE4E2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96C1B8B-823F-2425-71B0-85CE082B45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F92AB0-C7C0-8587-6FD3-30D04F0E9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61379A-C11E-0B4A-0FD1-486A98C02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85E933-0268-110F-AFA0-D62C45416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4482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97B214-8B47-223A-1CF5-72D03FE86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BEE03A-37AD-9C95-639F-068C82BF2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8C7AA2-FA3D-9C92-5A13-30D5AC600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AF208E-5CAA-29FC-D025-A7E107CC4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6FD161-7AEB-89B5-A6EF-6D6982276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4925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AB7A64-974B-7FF5-1FBA-71C0CB8D1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F8DE448-7135-CF17-2AAA-15114DF68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815D61-9D72-7FE4-F1B2-8183BF9F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32A689-74BB-D820-494E-8FCE39D98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E4DC3E-2FE6-BFC6-DBFF-0D17F5F0C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0746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86FB7F-2D1B-E43D-ECB5-5AD8585F0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4AA1C3-9833-A836-7282-D8BD6C8C84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2B3DB0-6400-DEC7-2B30-FB7986C75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601E174-6AD7-6427-5CE9-A9BAF4604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5AA43E-AD34-75D5-8FF8-4F7B9DD0C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8E0980-F99C-DDD3-A77F-E7C5414E7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0766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E8CBFC-3DA5-69CF-5529-7A41DF27A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3E7A754-AD40-3C36-0B05-022B19F7E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6A85000-B40C-E9B8-9031-BB1EAB5B7A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BDF7258-004C-372D-2F1C-7A3F5C84D3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D973573-1120-A2A0-F0DB-1AD265A7D9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9393FD2-AC0E-DF4D-699D-4499A4FE9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A3F570D-1DE8-EC07-1540-CAACD23AC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E9C2CD7-C46B-4BFF-EE78-C6AAEA866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3697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9E18C9-230E-153A-E88A-6E56F2E05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8C6ABD0-A360-2FD9-9E5B-F2C339284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F774B37-0D4E-65D2-D16F-6FD6B327B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50F1C27-1813-0031-0F9F-DFA7FC5DF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3174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6861B1D-2614-718F-CF47-7A8B5EA33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A25DC33-02B2-B215-0AA3-BE312780E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168D3F-DB98-98CA-52C1-149A8C847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5937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DA3FFA-AFDF-C8A5-BA7E-CD7ABADEF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50BBE7-CA90-E151-2431-F10274224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3A07E09-77AB-1537-6B25-F534ED4236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EA81297-8DC3-E11E-0231-CDE195F29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9A35E25-E4B2-75BE-3B7B-72E552916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119468-1629-7EF2-8699-25A1DE29C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4011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D4DFE7-99DE-FD3E-5453-36D6FAB48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499B887-3B1B-DE6A-FC03-3D8C63CEF8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A1ACB3-8653-6CEA-1A12-7B0C7DA4D7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27C50B8-A69D-A009-5ED2-9D40FEEB2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7E8222B-B5FA-855C-2588-3B06FA59B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DD61D6-F19B-BE5D-B08F-2EF5BC6B2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5339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C3DEE9-4017-21BA-AF15-E1AEED1E7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BC19C68-5C6F-5E0E-439E-A548984F0D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04FDBA-A8BF-4615-40D4-071E5FEE2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76B259-A67F-AB9C-CD3F-33AF2A633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703F1D-84A7-1844-CEE0-F6CC6F069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1774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73D60B5-3F32-AD71-9045-D0FA02F9D5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DE80A2B-ADBF-6FEE-635B-FDD1641C12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566CB7-98BA-C868-FF9A-D23A5AAD4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91180C-F54D-80AC-DD6D-692325DB3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7601E0-44E1-C0D8-BA09-EF88AD66B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7284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F3EE246-BB85-D84E-CBC7-F7FB34018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74AD51-E7A9-2FA7-385A-0AC41A7521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F5AC51-1528-2E37-6F36-4072883B00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487E83-F91B-12DB-FCC0-2130541D0C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40DCE4-16B2-A875-3AE9-DFD71CC3C8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4846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tags" Target="../tags/tag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6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4" Type="http://schemas.openxmlformats.org/officeDocument/2006/relationships/image" Target="../media/image6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79.png"/><Relationship Id="rId3" Type="http://schemas.openxmlformats.org/officeDocument/2006/relationships/image" Target="../media/image690.png"/><Relationship Id="rId7" Type="http://schemas.openxmlformats.org/officeDocument/2006/relationships/image" Target="../media/image73.png"/><Relationship Id="rId12" Type="http://schemas.openxmlformats.org/officeDocument/2006/relationships/image" Target="../media/image7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6" Type="http://schemas.openxmlformats.org/officeDocument/2006/relationships/image" Target="../media/image72.png"/><Relationship Id="rId11" Type="http://schemas.openxmlformats.org/officeDocument/2006/relationships/image" Target="../media/image77.png"/><Relationship Id="rId5" Type="http://schemas.openxmlformats.org/officeDocument/2006/relationships/image" Target="../media/image71.png"/><Relationship Id="rId15" Type="http://schemas.openxmlformats.org/officeDocument/2006/relationships/image" Target="../media/image81.png"/><Relationship Id="rId10" Type="http://schemas.openxmlformats.org/officeDocument/2006/relationships/image" Target="../media/image76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Relationship Id="rId14" Type="http://schemas.openxmlformats.org/officeDocument/2006/relationships/image" Target="../media/image8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>
            <a:extLst>
              <a:ext uri="{FF2B5EF4-FFF2-40B4-BE49-F238E27FC236}">
                <a16:creationId xmlns:a16="http://schemas.microsoft.com/office/drawing/2014/main" id="{94887E1D-C6CF-1FB4-AA55-CDB7659AB1B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51" r="11474"/>
          <a:stretch/>
        </p:blipFill>
        <p:spPr>
          <a:xfrm>
            <a:off x="675497" y="898434"/>
            <a:ext cx="3638282" cy="5277566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9198C80F-89CD-BB62-A046-E187E190F0DA}"/>
              </a:ext>
            </a:extLst>
          </p:cNvPr>
          <p:cNvSpPr txBox="1"/>
          <p:nvPr/>
        </p:nvSpPr>
        <p:spPr>
          <a:xfrm>
            <a:off x="4985486" y="2767776"/>
            <a:ext cx="413323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4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极限定理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5B70860-7B7F-79E8-BFCC-9CAB1906F829}"/>
              </a:ext>
            </a:extLst>
          </p:cNvPr>
          <p:cNvSpPr txBox="1"/>
          <p:nvPr/>
        </p:nvSpPr>
        <p:spPr>
          <a:xfrm>
            <a:off x="4985485" y="3945538"/>
            <a:ext cx="6721606" cy="1293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随机变量序列 </a:t>
            </a: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—— 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随机变量序列的含义及其收敛性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大数定律 </a:t>
            </a: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—— 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切比雪夫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/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辛钦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/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伯努利大数定律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latin typeface="华文宋体" panose="02010600040101010101" pitchFamily="2" charset="-122"/>
                <a:ea typeface="华文宋体" panose="02010600040101010101" pitchFamily="2" charset="-122"/>
              </a:rPr>
              <a:t>中心极限定理  </a:t>
            </a:r>
            <a:r>
              <a:rPr lang="en-US" altLang="zh-CN" sz="1800" dirty="0">
                <a:latin typeface="华文宋体" panose="02010600040101010101" pitchFamily="2" charset="-122"/>
                <a:ea typeface="华文宋体" panose="02010600040101010101" pitchFamily="2" charset="-122"/>
              </a:rPr>
              <a:t>—— 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独立同分布中心极限定理</a:t>
            </a:r>
            <a:endParaRPr lang="en-US" altLang="zh-CN" sz="18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4B045768-D895-3AB6-17F1-0E730D6A50EA}"/>
              </a:ext>
            </a:extLst>
          </p:cNvPr>
          <p:cNvCxnSpPr>
            <a:cxnSpLocks/>
          </p:cNvCxnSpPr>
          <p:nvPr/>
        </p:nvCxnSpPr>
        <p:spPr>
          <a:xfrm>
            <a:off x="4985485" y="3741377"/>
            <a:ext cx="6531018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4FC1EA91-F8F7-91D8-20AB-953E21B71335}"/>
              </a:ext>
            </a:extLst>
          </p:cNvPr>
          <p:cNvSpPr txBox="1"/>
          <p:nvPr/>
        </p:nvSpPr>
        <p:spPr>
          <a:xfrm>
            <a:off x="4985485" y="1972342"/>
            <a:ext cx="4133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8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《</a:t>
            </a:r>
            <a:r>
              <a:rPr lang="zh-CN" altLang="en-US" sz="28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概率论与数理统计</a:t>
            </a:r>
            <a:r>
              <a:rPr lang="en-US" altLang="zh-CN" sz="28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》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67799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366AA635-A21B-A433-4648-23FD4F0AB104}"/>
              </a:ext>
            </a:extLst>
          </p:cNvPr>
          <p:cNvSpPr txBox="1"/>
          <p:nvPr/>
        </p:nvSpPr>
        <p:spPr>
          <a:xfrm>
            <a:off x="507460" y="496110"/>
            <a:ext cx="26591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随机变量序列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/>
              <p:nvPr/>
            </p:nvSpPr>
            <p:spPr>
              <a:xfrm>
                <a:off x="507460" y="1425186"/>
                <a:ext cx="11108176" cy="800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在第二章中我们已经知道，随机变量的本质是 函数。</a:t>
                </a:r>
                <a:endParaRPr lang="en-US" altLang="zh-CN" sz="1600" dirty="0">
                  <a:latin typeface="方正小标宋简体" panose="02000000000000000000" pitchFamily="2" charset="-122"/>
                  <a:ea typeface="方正小标宋简体" panose="02000000000000000000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若干 常数 可以组成 常数列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{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𝑛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，若干 函数 可以组成 函数列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{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𝑓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𝑛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(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𝑥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)} 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，若干 随机变量 亦可组成 随机变量序列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{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𝑛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。</a:t>
                </a:r>
                <a:endParaRPr lang="en-US" altLang="zh-CN" sz="1600" dirty="0">
                  <a:latin typeface="方正小标宋简体" panose="02000000000000000000" pitchFamily="2" charset="-122"/>
                  <a:ea typeface="方正小标宋简体" panose="02000000000000000000" pitchFamily="2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425186"/>
                <a:ext cx="11108176" cy="800219"/>
              </a:xfrm>
              <a:prstGeom prst="rect">
                <a:avLst/>
              </a:prstGeom>
              <a:blipFill>
                <a:blip r:embed="rId3"/>
                <a:stretch>
                  <a:fillRect l="-274" b="-91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CFCFE9ED-E2C0-E136-C16A-73B705043080}"/>
              </a:ext>
            </a:extLst>
          </p:cNvPr>
          <p:cNvSpPr txBox="1"/>
          <p:nvPr/>
        </p:nvSpPr>
        <p:spPr>
          <a:xfrm>
            <a:off x="3178016" y="775742"/>
            <a:ext cx="21655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随机变量序列的含义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0595D0F5-C727-7CB0-CD1D-F1F86FE43457}"/>
              </a:ext>
            </a:extLst>
          </p:cNvPr>
          <p:cNvGrpSpPr/>
          <p:nvPr/>
        </p:nvGrpSpPr>
        <p:grpSpPr>
          <a:xfrm>
            <a:off x="576363" y="2974811"/>
            <a:ext cx="1721123" cy="501133"/>
            <a:chOff x="576363" y="2584298"/>
            <a:chExt cx="1721123" cy="501133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DFE317AB-60F0-DC2B-564A-D26D16FC30C0}"/>
                </a:ext>
              </a:extLst>
            </p:cNvPr>
            <p:cNvSpPr/>
            <p:nvPr/>
          </p:nvSpPr>
          <p:spPr>
            <a:xfrm>
              <a:off x="576363" y="2584298"/>
              <a:ext cx="1721123" cy="501133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EF492338-091D-D4CB-4BB9-59443F123F51}"/>
                </a:ext>
              </a:extLst>
            </p:cNvPr>
            <p:cNvSpPr txBox="1"/>
            <p:nvPr/>
          </p:nvSpPr>
          <p:spPr>
            <a:xfrm>
              <a:off x="919852" y="2650198"/>
              <a:ext cx="10341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latin typeface="汉仪润圆-65简" panose="00020600040101010101" pitchFamily="18" charset="-122"/>
                  <a:ea typeface="汉仪润圆-65简" panose="00020600040101010101" pitchFamily="18" charset="-122"/>
                </a:rPr>
                <a:t>常数列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6F70E95E-144B-F1CC-BD89-0886C19F9794}"/>
              </a:ext>
            </a:extLst>
          </p:cNvPr>
          <p:cNvGrpSpPr/>
          <p:nvPr/>
        </p:nvGrpSpPr>
        <p:grpSpPr>
          <a:xfrm>
            <a:off x="576363" y="3976783"/>
            <a:ext cx="1721124" cy="501133"/>
            <a:chOff x="576363" y="3348670"/>
            <a:chExt cx="1721124" cy="501133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B9163EC7-0D0E-A922-4478-422DE9412A57}"/>
                </a:ext>
              </a:extLst>
            </p:cNvPr>
            <p:cNvSpPr/>
            <p:nvPr/>
          </p:nvSpPr>
          <p:spPr>
            <a:xfrm>
              <a:off x="576363" y="3348670"/>
              <a:ext cx="1721124" cy="501133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635A8176-6255-BED5-83CB-439D544983CD}"/>
                </a:ext>
              </a:extLst>
            </p:cNvPr>
            <p:cNvSpPr txBox="1"/>
            <p:nvPr/>
          </p:nvSpPr>
          <p:spPr>
            <a:xfrm>
              <a:off x="919853" y="3414570"/>
              <a:ext cx="10341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latin typeface="汉仪润圆-65简" panose="00020600040101010101" pitchFamily="18" charset="-122"/>
                  <a:ea typeface="汉仪润圆-65简" panose="00020600040101010101" pitchFamily="18" charset="-122"/>
                </a:rPr>
                <a:t>函数列</a:t>
              </a: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F3C967D6-8243-B6A8-A84E-8FB609CA198C}"/>
              </a:ext>
            </a:extLst>
          </p:cNvPr>
          <p:cNvGrpSpPr/>
          <p:nvPr/>
        </p:nvGrpSpPr>
        <p:grpSpPr>
          <a:xfrm>
            <a:off x="576363" y="4978755"/>
            <a:ext cx="1721124" cy="501133"/>
            <a:chOff x="576363" y="4208696"/>
            <a:chExt cx="1721124" cy="501133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7C6C15AE-D628-34F4-4B64-EBDC11FAEF80}"/>
                </a:ext>
              </a:extLst>
            </p:cNvPr>
            <p:cNvSpPr/>
            <p:nvPr/>
          </p:nvSpPr>
          <p:spPr>
            <a:xfrm>
              <a:off x="576363" y="4208696"/>
              <a:ext cx="1721124" cy="501133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B9361D4D-1C51-B53F-8727-91F10735C78F}"/>
                </a:ext>
              </a:extLst>
            </p:cNvPr>
            <p:cNvSpPr txBox="1"/>
            <p:nvPr/>
          </p:nvSpPr>
          <p:spPr>
            <a:xfrm>
              <a:off x="655935" y="4274596"/>
              <a:ext cx="1561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latin typeface="汉仪润圆-65简" panose="00020600040101010101" pitchFamily="18" charset="-122"/>
                  <a:ea typeface="汉仪润圆-65简" panose="00020600040101010101" pitchFamily="18" charset="-122"/>
                </a:rPr>
                <a:t>随机变量序列</a:t>
              </a:r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C4F4694D-6C00-AD9F-647F-75CD32977339}"/>
              </a:ext>
            </a:extLst>
          </p:cNvPr>
          <p:cNvGrpSpPr/>
          <p:nvPr/>
        </p:nvGrpSpPr>
        <p:grpSpPr>
          <a:xfrm>
            <a:off x="2805459" y="3040710"/>
            <a:ext cx="6059453" cy="277000"/>
            <a:chOff x="2805459" y="2580426"/>
            <a:chExt cx="6059453" cy="277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9D97E5D8-BFC4-5754-9FF4-FB87C2424E04}"/>
                    </a:ext>
                  </a:extLst>
                </p:cNvPr>
                <p:cNvSpPr txBox="1"/>
                <p:nvPr/>
              </p:nvSpPr>
              <p:spPr>
                <a:xfrm>
                  <a:off x="2805459" y="2580427"/>
                  <a:ext cx="72237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9D97E5D8-BFC4-5754-9FF4-FB87C2424E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05459" y="2580427"/>
                  <a:ext cx="722377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3361" r="-6723" b="-1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67028F56-AA16-B5D9-21C1-6F4BFE7119ED}"/>
                    </a:ext>
                  </a:extLst>
                </p:cNvPr>
                <p:cNvSpPr txBox="1"/>
                <p:nvPr/>
              </p:nvSpPr>
              <p:spPr>
                <a:xfrm>
                  <a:off x="4198798" y="2580427"/>
                  <a:ext cx="72770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67028F56-AA16-B5D9-21C1-6F4BFE7119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98798" y="2580427"/>
                  <a:ext cx="727700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3361" r="-6723" b="-1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EB116E6C-BAF3-646F-8143-06AA61675A63}"/>
                    </a:ext>
                  </a:extLst>
                </p:cNvPr>
                <p:cNvSpPr txBox="1"/>
                <p:nvPr/>
              </p:nvSpPr>
              <p:spPr>
                <a:xfrm>
                  <a:off x="5597460" y="2580426"/>
                  <a:ext cx="72770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EB116E6C-BAF3-646F-8143-06AA61675A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7460" y="2580426"/>
                  <a:ext cx="727700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3333" r="-6667" b="-1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6F4680E4-CCC3-FF3E-10D3-79D5D90EFA64}"/>
                    </a:ext>
                  </a:extLst>
                </p:cNvPr>
                <p:cNvSpPr txBox="1"/>
                <p:nvPr/>
              </p:nvSpPr>
              <p:spPr>
                <a:xfrm>
                  <a:off x="8114322" y="2580426"/>
                  <a:ext cx="75059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6F4680E4-CCC3-FF3E-10D3-79D5D90EFA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14322" y="2580426"/>
                  <a:ext cx="750590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3252" r="-3252" b="-111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AEBB29F7-C565-0E62-79BE-DD0685C2FDBE}"/>
                    </a:ext>
                  </a:extLst>
                </p:cNvPr>
                <p:cNvSpPr txBox="1"/>
                <p:nvPr/>
              </p:nvSpPr>
              <p:spPr>
                <a:xfrm>
                  <a:off x="6996122" y="2580426"/>
                  <a:ext cx="44723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……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AEBB29F7-C565-0E62-79BE-DD0685C2FD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6122" y="2580426"/>
                  <a:ext cx="447238" cy="27699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8AF465D3-FF16-3FA1-399D-4F5F840F2F62}"/>
              </a:ext>
            </a:extLst>
          </p:cNvPr>
          <p:cNvGrpSpPr/>
          <p:nvPr/>
        </p:nvGrpSpPr>
        <p:grpSpPr>
          <a:xfrm>
            <a:off x="2661797" y="4088849"/>
            <a:ext cx="6410992" cy="276999"/>
            <a:chOff x="2661797" y="3628565"/>
            <a:chExt cx="6410992" cy="27699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DAE6F971-F2BD-4FD9-0175-569FEFA08A28}"/>
                    </a:ext>
                  </a:extLst>
                </p:cNvPr>
                <p:cNvSpPr txBox="1"/>
                <p:nvPr/>
              </p:nvSpPr>
              <p:spPr>
                <a:xfrm>
                  <a:off x="2661797" y="3628565"/>
                  <a:ext cx="100970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)=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DAE6F971-F2BD-4FD9-0175-569FEFA08A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61797" y="3628565"/>
                  <a:ext cx="1009700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7273" t="-4444" r="-2424" b="-3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EA9B4BEB-003C-9F8C-F062-36294C3A5990}"/>
                    </a:ext>
                  </a:extLst>
                </p:cNvPr>
                <p:cNvSpPr txBox="1"/>
                <p:nvPr/>
              </p:nvSpPr>
              <p:spPr>
                <a:xfrm>
                  <a:off x="4057798" y="3628565"/>
                  <a:ext cx="112800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)=</m:t>
                        </m:r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EA9B4BEB-003C-9F8C-F062-36294C3A59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57798" y="3628565"/>
                  <a:ext cx="1128001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6486" t="-4444" r="-541" b="-3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52D2C3BA-8F2B-B712-4FCF-15FBD0F376FE}"/>
                    </a:ext>
                  </a:extLst>
                </p:cNvPr>
                <p:cNvSpPr txBox="1"/>
                <p:nvPr/>
              </p:nvSpPr>
              <p:spPr>
                <a:xfrm>
                  <a:off x="5399970" y="3628565"/>
                  <a:ext cx="112800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)=</m:t>
                        </m:r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52D2C3BA-8F2B-B712-4FCF-15FBD0F376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99970" y="3628565"/>
                  <a:ext cx="1128001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6486" t="-4444" r="-541" b="-3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985AE210-623A-A347-6884-0B066FFD94BE}"/>
                    </a:ext>
                  </a:extLst>
                </p:cNvPr>
                <p:cNvSpPr txBox="1"/>
                <p:nvPr/>
              </p:nvSpPr>
              <p:spPr>
                <a:xfrm>
                  <a:off x="7925616" y="3628565"/>
                  <a:ext cx="114717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)=</m:t>
                        </m:r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985AE210-623A-A347-6884-0B066FFD94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25616" y="3628565"/>
                  <a:ext cx="1147173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6383" t="-4444" b="-3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7C4E0558-1637-6EBC-6185-93CB71D2BF98}"/>
                    </a:ext>
                  </a:extLst>
                </p:cNvPr>
                <p:cNvSpPr txBox="1"/>
                <p:nvPr/>
              </p:nvSpPr>
              <p:spPr>
                <a:xfrm>
                  <a:off x="6996122" y="3628565"/>
                  <a:ext cx="44723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……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7C4E0558-1637-6EBC-6185-93CB71D2BF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6122" y="3628565"/>
                  <a:ext cx="447238" cy="276999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330A289A-6228-B869-915F-C0042B5D5F4F}"/>
              </a:ext>
            </a:extLst>
          </p:cNvPr>
          <p:cNvGrpSpPr/>
          <p:nvPr/>
        </p:nvGrpSpPr>
        <p:grpSpPr>
          <a:xfrm>
            <a:off x="2527464" y="5090820"/>
            <a:ext cx="6676355" cy="277000"/>
            <a:chOff x="2527464" y="4630536"/>
            <a:chExt cx="6676355" cy="277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1372D7DA-7A1E-DC07-3AAE-CFF76657D698}"/>
                    </a:ext>
                  </a:extLst>
                </p:cNvPr>
                <p:cNvSpPr txBox="1"/>
                <p:nvPr/>
              </p:nvSpPr>
              <p:spPr>
                <a:xfrm>
                  <a:off x="2527464" y="4630537"/>
                  <a:ext cx="130035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~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(1,0.5)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1372D7DA-7A1E-DC07-3AAE-CFF76657D6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7464" y="4630537"/>
                  <a:ext cx="1300356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3756" t="-2174" r="-6103" b="-326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0CBF19C6-C300-C492-9867-2EF01E73803C}"/>
                    </a:ext>
                  </a:extLst>
                </p:cNvPr>
                <p:cNvSpPr txBox="1"/>
                <p:nvPr/>
              </p:nvSpPr>
              <p:spPr>
                <a:xfrm>
                  <a:off x="3915306" y="4630537"/>
                  <a:ext cx="130567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~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(2,0.5)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0CBF19C6-C300-C492-9867-2EF01E7380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15306" y="4630537"/>
                  <a:ext cx="1305678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3271" t="-2174" r="-6075" b="-326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2CE18D05-DBD1-39FF-E036-2400A5C41D94}"/>
                    </a:ext>
                  </a:extLst>
                </p:cNvPr>
                <p:cNvSpPr txBox="1"/>
                <p:nvPr/>
              </p:nvSpPr>
              <p:spPr>
                <a:xfrm>
                  <a:off x="5308471" y="4630537"/>
                  <a:ext cx="130567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~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(3,0.5)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2CE18D05-DBD1-39FF-E036-2400A5C41D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08471" y="4630537"/>
                  <a:ext cx="1305678" cy="276999"/>
                </a:xfrm>
                <a:prstGeom prst="rect">
                  <a:avLst/>
                </a:prstGeom>
                <a:blipFill>
                  <a:blip r:embed="rId16"/>
                  <a:stretch>
                    <a:fillRect l="-3738" t="-2174" r="-6075" b="-326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832CD2C7-819D-FD89-5A33-47655CAAEC31}"/>
                    </a:ext>
                  </a:extLst>
                </p:cNvPr>
                <p:cNvSpPr txBox="1"/>
                <p:nvPr/>
              </p:nvSpPr>
              <p:spPr>
                <a:xfrm>
                  <a:off x="7836778" y="4630537"/>
                  <a:ext cx="136704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~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,0.5)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832CD2C7-819D-FD89-5A33-47655CAAEC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36778" y="4630537"/>
                  <a:ext cx="1367041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3571" t="-2174" r="-5804" b="-326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ED054F79-8252-4A39-80F9-3BEF521F7FA2}"/>
                    </a:ext>
                  </a:extLst>
                </p:cNvPr>
                <p:cNvSpPr txBox="1"/>
                <p:nvPr/>
              </p:nvSpPr>
              <p:spPr>
                <a:xfrm>
                  <a:off x="6996122" y="4630536"/>
                  <a:ext cx="44723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……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ED054F79-8252-4A39-80F9-3BEF521F7F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6122" y="4630536"/>
                  <a:ext cx="447238" cy="276999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7" name="文本框 56">
            <a:extLst>
              <a:ext uri="{FF2B5EF4-FFF2-40B4-BE49-F238E27FC236}">
                <a16:creationId xmlns:a16="http://schemas.microsoft.com/office/drawing/2014/main" id="{9347824A-50DE-9012-57C0-5C78F4A5ACBC}"/>
              </a:ext>
            </a:extLst>
          </p:cNvPr>
          <p:cNvSpPr txBox="1"/>
          <p:nvPr/>
        </p:nvSpPr>
        <p:spPr>
          <a:xfrm>
            <a:off x="507460" y="2228561"/>
            <a:ext cx="1110817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运算常数列 能得到 常数，运算函数列 能得到 函数，运算随机变量序列 也能得到 随机变量。</a:t>
            </a:r>
            <a:endParaRPr lang="en-US" altLang="zh-CN" sz="1600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7688950B-8B4D-BFF7-AEB0-63734DCFD249}"/>
              </a:ext>
            </a:extLst>
          </p:cNvPr>
          <p:cNvGrpSpPr/>
          <p:nvPr/>
        </p:nvGrpSpPr>
        <p:grpSpPr>
          <a:xfrm>
            <a:off x="9158849" y="2863347"/>
            <a:ext cx="2456787" cy="623135"/>
            <a:chOff x="9158849" y="2863347"/>
            <a:chExt cx="2456787" cy="623135"/>
          </a:xfrm>
        </p:grpSpPr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EF283841-226C-B57C-3EAE-47E5CDAD4D5B}"/>
                </a:ext>
              </a:extLst>
            </p:cNvPr>
            <p:cNvCxnSpPr>
              <a:cxnSpLocks/>
            </p:cNvCxnSpPr>
            <p:nvPr/>
          </p:nvCxnSpPr>
          <p:spPr>
            <a:xfrm>
              <a:off x="9158849" y="3191694"/>
              <a:ext cx="1034462" cy="0"/>
            </a:xfrm>
            <a:prstGeom prst="line">
              <a:avLst/>
            </a:prstGeom>
            <a:ln w="28575">
              <a:solidFill>
                <a:schemeClr val="accent5"/>
              </a:solidFill>
              <a:prstDash val="sysDash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grpSp>
          <p:nvGrpSpPr>
            <p:cNvPr id="78" name="组合 77">
              <a:extLst>
                <a:ext uri="{FF2B5EF4-FFF2-40B4-BE49-F238E27FC236}">
                  <a16:creationId xmlns:a16="http://schemas.microsoft.com/office/drawing/2014/main" id="{2CCE54F9-1A09-E7E7-7744-E26532AFC6ED}"/>
                </a:ext>
              </a:extLst>
            </p:cNvPr>
            <p:cNvGrpSpPr/>
            <p:nvPr/>
          </p:nvGrpSpPr>
          <p:grpSpPr>
            <a:xfrm>
              <a:off x="10477569" y="2863347"/>
              <a:ext cx="1138067" cy="623135"/>
              <a:chOff x="10477569" y="2877441"/>
              <a:chExt cx="1138067" cy="62313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6" name="文本框 75">
                    <a:extLst>
                      <a:ext uri="{FF2B5EF4-FFF2-40B4-BE49-F238E27FC236}">
                        <a16:creationId xmlns:a16="http://schemas.microsoft.com/office/drawing/2014/main" id="{1DEAF60D-9D1F-144F-0CC6-2193676E7418}"/>
                      </a:ext>
                    </a:extLst>
                  </p:cNvPr>
                  <p:cNvSpPr txBox="1"/>
                  <p:nvPr/>
                </p:nvSpPr>
                <p:spPr>
                  <a:xfrm>
                    <a:off x="10633443" y="2877441"/>
                    <a:ext cx="918778" cy="31425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1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14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4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14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14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14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+1)</m:t>
                            </m:r>
                          </m:num>
                          <m:den>
                            <m:r>
                              <a:rPr lang="en-US" altLang="zh-CN" sz="14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a14:m>
                    <a:r>
                      <a:rPr lang="zh-CN" altLang="en-US" sz="1400" dirty="0">
                        <a:solidFill>
                          <a:schemeClr val="accent5"/>
                        </a:solidFill>
                      </a:rPr>
                      <a:t> </a:t>
                    </a:r>
                  </a:p>
                </p:txBody>
              </p:sp>
            </mc:Choice>
            <mc:Fallback xmlns="">
              <p:sp>
                <p:nvSpPr>
                  <p:cNvPr id="76" name="文本框 75">
                    <a:extLst>
                      <a:ext uri="{FF2B5EF4-FFF2-40B4-BE49-F238E27FC236}">
                        <a16:creationId xmlns:a16="http://schemas.microsoft.com/office/drawing/2014/main" id="{1DEAF60D-9D1F-144F-0CC6-2193676E741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33443" y="2877441"/>
                    <a:ext cx="918778" cy="314253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l="-5960" t="-3922" r="-1325" b="-13725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4DD58510-670F-030D-7004-AB25646689D3}"/>
                  </a:ext>
                </a:extLst>
              </p:cNvPr>
              <p:cNvSpPr txBox="1"/>
              <p:nvPr/>
            </p:nvSpPr>
            <p:spPr>
              <a:xfrm>
                <a:off x="10477569" y="3192799"/>
                <a:ext cx="113806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 dirty="0">
                    <a:solidFill>
                      <a:schemeClr val="accent5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求级数</a:t>
                </a:r>
              </a:p>
            </p:txBody>
          </p:sp>
        </p:grpSp>
      </p:grp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C9EFFCAA-0BC6-48C0-5EF9-EE3C0AA221A2}"/>
              </a:ext>
            </a:extLst>
          </p:cNvPr>
          <p:cNvGrpSpPr/>
          <p:nvPr/>
        </p:nvGrpSpPr>
        <p:grpSpPr>
          <a:xfrm>
            <a:off x="9278911" y="3893893"/>
            <a:ext cx="2401805" cy="666910"/>
            <a:chOff x="9278911" y="3893893"/>
            <a:chExt cx="2401805" cy="666910"/>
          </a:xfrm>
        </p:grpSpPr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50DC947D-A4A6-82A2-E218-8265FAB5FF11}"/>
                </a:ext>
              </a:extLst>
            </p:cNvPr>
            <p:cNvCxnSpPr>
              <a:cxnSpLocks/>
            </p:cNvCxnSpPr>
            <p:nvPr/>
          </p:nvCxnSpPr>
          <p:spPr>
            <a:xfrm>
              <a:off x="9278911" y="4227348"/>
              <a:ext cx="914400" cy="0"/>
            </a:xfrm>
            <a:prstGeom prst="line">
              <a:avLst/>
            </a:prstGeom>
            <a:ln w="28575">
              <a:solidFill>
                <a:schemeClr val="accent2"/>
              </a:solidFill>
              <a:prstDash val="sysDash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grpSp>
          <p:nvGrpSpPr>
            <p:cNvPr id="79" name="组合 78">
              <a:extLst>
                <a:ext uri="{FF2B5EF4-FFF2-40B4-BE49-F238E27FC236}">
                  <a16:creationId xmlns:a16="http://schemas.microsoft.com/office/drawing/2014/main" id="{D52627C6-318E-91D5-CE78-1BAD2D2AA07F}"/>
                </a:ext>
              </a:extLst>
            </p:cNvPr>
            <p:cNvGrpSpPr/>
            <p:nvPr/>
          </p:nvGrpSpPr>
          <p:grpSpPr>
            <a:xfrm>
              <a:off x="10412487" y="3893893"/>
              <a:ext cx="1268229" cy="666910"/>
              <a:chOff x="10412487" y="2863193"/>
              <a:chExt cx="1268229" cy="66691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0" name="文本框 79">
                    <a:extLst>
                      <a:ext uri="{FF2B5EF4-FFF2-40B4-BE49-F238E27FC236}">
                        <a16:creationId xmlns:a16="http://schemas.microsoft.com/office/drawing/2014/main" id="{05B9A0E5-A303-5933-DA26-749FD9CCDD60}"/>
                      </a:ext>
                    </a:extLst>
                  </p:cNvPr>
                  <p:cNvSpPr txBox="1"/>
                  <p:nvPr/>
                </p:nvSpPr>
                <p:spPr>
                  <a:xfrm>
                    <a:off x="10521680" y="2863193"/>
                    <a:ext cx="1049839" cy="32618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14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4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sz="1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14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1400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400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1400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14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en-US" altLang="zh-CN" sz="1400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400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1400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oMath>
                    </a14:m>
                    <a:r>
                      <a:rPr lang="zh-CN" altLang="en-US" sz="1400" dirty="0">
                        <a:solidFill>
                          <a:schemeClr val="accent2"/>
                        </a:solidFill>
                      </a:rPr>
                      <a:t> </a:t>
                    </a:r>
                  </a:p>
                </p:txBody>
              </p:sp>
            </mc:Choice>
            <mc:Fallback xmlns="">
              <p:sp>
                <p:nvSpPr>
                  <p:cNvPr id="80" name="文本框 79">
                    <a:extLst>
                      <a:ext uri="{FF2B5EF4-FFF2-40B4-BE49-F238E27FC236}">
                        <a16:creationId xmlns:a16="http://schemas.microsoft.com/office/drawing/2014/main" id="{05B9A0E5-A303-5933-DA26-749FD9CCDD6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521680" y="2863193"/>
                    <a:ext cx="1049839" cy="326180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l="-5233" b="-1320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339108B3-46EC-A549-80A1-A59791EADAC7}"/>
                  </a:ext>
                </a:extLst>
              </p:cNvPr>
              <p:cNvSpPr txBox="1"/>
              <p:nvPr/>
            </p:nvSpPr>
            <p:spPr>
              <a:xfrm>
                <a:off x="10412487" y="3222326"/>
                <a:ext cx="126822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 dirty="0">
                    <a:solidFill>
                      <a:schemeClr val="accent2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求函数项级数</a:t>
                </a:r>
              </a:p>
            </p:txBody>
          </p:sp>
        </p:grpSp>
      </p:grpSp>
      <p:grpSp>
        <p:nvGrpSpPr>
          <p:cNvPr id="87" name="组合 86">
            <a:extLst>
              <a:ext uri="{FF2B5EF4-FFF2-40B4-BE49-F238E27FC236}">
                <a16:creationId xmlns:a16="http://schemas.microsoft.com/office/drawing/2014/main" id="{1ECBBFEB-BB32-ADD2-F6E2-949C739FBAA3}"/>
              </a:ext>
            </a:extLst>
          </p:cNvPr>
          <p:cNvGrpSpPr/>
          <p:nvPr/>
        </p:nvGrpSpPr>
        <p:grpSpPr>
          <a:xfrm>
            <a:off x="9428813" y="4902578"/>
            <a:ext cx="2230409" cy="634518"/>
            <a:chOff x="9428813" y="4902578"/>
            <a:chExt cx="2230409" cy="634518"/>
          </a:xfrm>
        </p:grpSpPr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D9FF919B-E6B8-E5F4-7246-2F159B8B054E}"/>
                </a:ext>
              </a:extLst>
            </p:cNvPr>
            <p:cNvCxnSpPr>
              <a:cxnSpLocks/>
            </p:cNvCxnSpPr>
            <p:nvPr/>
          </p:nvCxnSpPr>
          <p:spPr>
            <a:xfrm>
              <a:off x="9428813" y="5229319"/>
              <a:ext cx="764498" cy="0"/>
            </a:xfrm>
            <a:prstGeom prst="line">
              <a:avLst/>
            </a:prstGeom>
            <a:ln w="28575">
              <a:solidFill>
                <a:schemeClr val="accent6"/>
              </a:solidFill>
              <a:prstDash val="sysDash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grpSp>
          <p:nvGrpSpPr>
            <p:cNvPr id="82" name="组合 81">
              <a:extLst>
                <a:ext uri="{FF2B5EF4-FFF2-40B4-BE49-F238E27FC236}">
                  <a16:creationId xmlns:a16="http://schemas.microsoft.com/office/drawing/2014/main" id="{5E467BEA-DA48-A2D4-8E79-75E965901998}"/>
                </a:ext>
              </a:extLst>
            </p:cNvPr>
            <p:cNvGrpSpPr/>
            <p:nvPr/>
          </p:nvGrpSpPr>
          <p:grpSpPr>
            <a:xfrm>
              <a:off x="10426448" y="4902578"/>
              <a:ext cx="1232774" cy="634518"/>
              <a:chOff x="10477569" y="2940014"/>
              <a:chExt cx="1232774" cy="63451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3" name="文本框 82">
                    <a:extLst>
                      <a:ext uri="{FF2B5EF4-FFF2-40B4-BE49-F238E27FC236}">
                        <a16:creationId xmlns:a16="http://schemas.microsoft.com/office/drawing/2014/main" id="{07C2AC57-1792-48BA-F594-53B274A2E18D}"/>
                      </a:ext>
                    </a:extLst>
                  </p:cNvPr>
                  <p:cNvSpPr txBox="1"/>
                  <p:nvPr/>
                </p:nvSpPr>
                <p:spPr>
                  <a:xfrm>
                    <a:off x="10592473" y="2940014"/>
                    <a:ext cx="1117870" cy="30534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14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14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4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4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altLang="zh-CN" sz="14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14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14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altLang="zh-CN" sz="14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sz="1400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400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1400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oMath>
                    </a14:m>
                    <a:r>
                      <a:rPr lang="zh-CN" altLang="en-US" sz="1400" dirty="0">
                        <a:solidFill>
                          <a:schemeClr val="accent6"/>
                        </a:solidFill>
                      </a:rPr>
                      <a:t> </a:t>
                    </a:r>
                  </a:p>
                </p:txBody>
              </p:sp>
            </mc:Choice>
            <mc:Fallback xmlns="">
              <p:sp>
                <p:nvSpPr>
                  <p:cNvPr id="83" name="文本框 82">
                    <a:extLst>
                      <a:ext uri="{FF2B5EF4-FFF2-40B4-BE49-F238E27FC236}">
                        <a16:creationId xmlns:a16="http://schemas.microsoft.com/office/drawing/2014/main" id="{07C2AC57-1792-48BA-F594-53B274A2E18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592473" y="2940014"/>
                    <a:ext cx="1117870" cy="305340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l="-5435" t="-102000" r="-18478" b="-1640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FE33F381-2953-6DC0-4085-1E61A4BE8E20}"/>
                  </a:ext>
                </a:extLst>
              </p:cNvPr>
              <p:cNvSpPr txBox="1"/>
              <p:nvPr/>
            </p:nvSpPr>
            <p:spPr>
              <a:xfrm>
                <a:off x="10477569" y="3266755"/>
                <a:ext cx="113806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 dirty="0">
                    <a:solidFill>
                      <a:schemeClr val="accent6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求平均</a:t>
                </a:r>
              </a:p>
            </p:txBody>
          </p:sp>
        </p:grpSp>
      </p:grpSp>
      <p:sp>
        <p:nvSpPr>
          <p:cNvPr id="88" name="文本框 87">
            <a:extLst>
              <a:ext uri="{FF2B5EF4-FFF2-40B4-BE49-F238E27FC236}">
                <a16:creationId xmlns:a16="http://schemas.microsoft.com/office/drawing/2014/main" id="{A5DF939D-6667-C98B-271B-E2472626D62E}"/>
              </a:ext>
            </a:extLst>
          </p:cNvPr>
          <p:cNvSpPr txBox="1"/>
          <p:nvPr/>
        </p:nvSpPr>
        <p:spPr>
          <a:xfrm>
            <a:off x="7158200" y="1454100"/>
            <a:ext cx="4457436" cy="30777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txBody>
          <a:bodyPr wrap="square" rtlCol="0">
            <a:spAutoFit/>
          </a:bodyPr>
          <a:lstStyle/>
          <a:p>
            <a:pPr algn="r"/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注：随机变量的取值 和 随机变量的概率 是两回事。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93193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57" grpId="0"/>
      <p:bldP spid="8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DF8EA2AA-3607-76BF-CED9-450E9DC65B0B}"/>
              </a:ext>
            </a:extLst>
          </p:cNvPr>
          <p:cNvSpPr txBox="1"/>
          <p:nvPr/>
        </p:nvSpPr>
        <p:spPr>
          <a:xfrm>
            <a:off x="507459" y="1425186"/>
            <a:ext cx="934290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常数列 可以收敛于一个确定的 数，</a:t>
            </a:r>
            <a:endParaRPr lang="en-US" altLang="zh-CN" sz="1600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函数列 可以收敛于一个确定的 函数，</a:t>
            </a:r>
            <a:endParaRPr lang="en-US" altLang="zh-CN" sz="1600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随机变量序列 也可以收敛于一个确定的 随机变量。</a:t>
            </a:r>
            <a:endParaRPr lang="en-US" altLang="zh-CN" sz="1600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AF511F4-D99A-8E84-01B0-DA87238138FB}"/>
              </a:ext>
            </a:extLst>
          </p:cNvPr>
          <p:cNvSpPr txBox="1"/>
          <p:nvPr/>
        </p:nvSpPr>
        <p:spPr>
          <a:xfrm>
            <a:off x="507460" y="496110"/>
            <a:ext cx="26591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随机变量序列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D5B1FA2-C58A-14F5-489D-9DCB25C35CDB}"/>
              </a:ext>
            </a:extLst>
          </p:cNvPr>
          <p:cNvSpPr txBox="1"/>
          <p:nvPr/>
        </p:nvSpPr>
        <p:spPr>
          <a:xfrm>
            <a:off x="3178016" y="775742"/>
            <a:ext cx="24943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随机变量序列的收敛性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D9E68B1-02A1-0B23-49F9-63CC540AC879}"/>
              </a:ext>
            </a:extLst>
          </p:cNvPr>
          <p:cNvSpPr txBox="1"/>
          <p:nvPr/>
        </p:nvSpPr>
        <p:spPr>
          <a:xfrm>
            <a:off x="507460" y="2594737"/>
            <a:ext cx="1110817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问题在于，常数仅用 值 就可以刻画，函数 仅用 表达式 就可以刻画，但 随机变量 有很多刻画角度。</a:t>
            </a:r>
            <a:endParaRPr lang="en-US" altLang="zh-CN" sz="1600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AD300ACE-2547-41A4-DECB-F7AE806D874B}"/>
              </a:ext>
            </a:extLst>
          </p:cNvPr>
          <p:cNvGrpSpPr/>
          <p:nvPr/>
        </p:nvGrpSpPr>
        <p:grpSpPr>
          <a:xfrm>
            <a:off x="5770865" y="1501965"/>
            <a:ext cx="2471939" cy="305340"/>
            <a:chOff x="9158849" y="3034567"/>
            <a:chExt cx="2471939" cy="305340"/>
          </a:xfrm>
        </p:grpSpPr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0A0AAEBF-C97C-650A-E9C5-54227DF1B3BF}"/>
                </a:ext>
              </a:extLst>
            </p:cNvPr>
            <p:cNvCxnSpPr>
              <a:cxnSpLocks/>
            </p:cNvCxnSpPr>
            <p:nvPr/>
          </p:nvCxnSpPr>
          <p:spPr>
            <a:xfrm>
              <a:off x="9158849" y="3191694"/>
              <a:ext cx="889850" cy="0"/>
            </a:xfrm>
            <a:prstGeom prst="line">
              <a:avLst/>
            </a:prstGeom>
            <a:ln w="28575">
              <a:solidFill>
                <a:schemeClr val="accent5"/>
              </a:solidFill>
              <a:prstDash val="sysDash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19E5D8D2-AE3B-E8D1-F529-A9580B53F932}"/>
                    </a:ext>
                  </a:extLst>
                </p:cNvPr>
                <p:cNvSpPr txBox="1"/>
                <p:nvPr/>
              </p:nvSpPr>
              <p:spPr>
                <a:xfrm>
                  <a:off x="10605957" y="3034567"/>
                  <a:ext cx="1024831" cy="30534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1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14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4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altLang="zh-CN" sz="14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sz="1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1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→0</m:t>
                      </m:r>
                    </m:oMath>
                  </a14:m>
                  <a:r>
                    <a:rPr lang="zh-CN" altLang="en-US" sz="1400" dirty="0">
                      <a:solidFill>
                        <a:schemeClr val="accent5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19E5D8D2-AE3B-E8D1-F529-A9580B53F9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05957" y="3034567"/>
                  <a:ext cx="1024831" cy="305340"/>
                </a:xfrm>
                <a:prstGeom prst="rect">
                  <a:avLst/>
                </a:prstGeom>
                <a:blipFill>
                  <a:blip r:embed="rId3"/>
                  <a:stretch>
                    <a:fillRect l="-3571" r="-595" b="-12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8EB1B548-F1F2-4D6D-E5E0-EC8DC3A1B8A0}"/>
              </a:ext>
            </a:extLst>
          </p:cNvPr>
          <p:cNvGrpSpPr/>
          <p:nvPr/>
        </p:nvGrpSpPr>
        <p:grpSpPr>
          <a:xfrm>
            <a:off x="5770865" y="1870464"/>
            <a:ext cx="3483020" cy="322396"/>
            <a:chOff x="9278911" y="4066150"/>
            <a:chExt cx="3483020" cy="322396"/>
          </a:xfrm>
        </p:grpSpPr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DFBED12E-B7DC-12FD-B892-C4245D68701B}"/>
                </a:ext>
              </a:extLst>
            </p:cNvPr>
            <p:cNvCxnSpPr>
              <a:cxnSpLocks/>
            </p:cNvCxnSpPr>
            <p:nvPr/>
          </p:nvCxnSpPr>
          <p:spPr>
            <a:xfrm>
              <a:off x="9278911" y="4227348"/>
              <a:ext cx="914400" cy="0"/>
            </a:xfrm>
            <a:prstGeom prst="line">
              <a:avLst/>
            </a:prstGeom>
            <a:ln w="28575">
              <a:solidFill>
                <a:schemeClr val="accent2"/>
              </a:solidFill>
              <a:prstDash val="sysDash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2BFD2E86-E4E9-2E8E-4B27-375856E20CDC}"/>
                    </a:ext>
                  </a:extLst>
                </p:cNvPr>
                <p:cNvSpPr txBox="1"/>
                <p:nvPr/>
              </p:nvSpPr>
              <p:spPr>
                <a:xfrm>
                  <a:off x="10726019" y="4066150"/>
                  <a:ext cx="2035912" cy="32239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1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altLang="zh-CN" sz="1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1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1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sz="14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4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altLang="zh-CN" sz="14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altLang="zh-CN" sz="1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sSup>
                        <m:sSupPr>
                          <m:ctrlPr>
                            <a:rPr lang="en-US" altLang="zh-CN" sz="1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1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altLang="zh-CN" sz="1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1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altLang="zh-CN" sz="1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1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a14:m>
                  <a:r>
                    <a:rPr lang="zh-CN" altLang="en-US" sz="1400" dirty="0">
                      <a:solidFill>
                        <a:schemeClr val="accent2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2BFD2E86-E4E9-2E8E-4B27-375856E20C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26019" y="4066150"/>
                  <a:ext cx="2035912" cy="322396"/>
                </a:xfrm>
                <a:prstGeom prst="rect">
                  <a:avLst/>
                </a:prstGeom>
                <a:blipFill>
                  <a:blip r:embed="rId4"/>
                  <a:stretch>
                    <a:fillRect l="-2994" b="-75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7A3CEDC3-071D-B4A7-AF6E-801DF3C7859C}"/>
              </a:ext>
            </a:extLst>
          </p:cNvPr>
          <p:cNvGrpSpPr/>
          <p:nvPr/>
        </p:nvGrpSpPr>
        <p:grpSpPr>
          <a:xfrm>
            <a:off x="5770865" y="2303151"/>
            <a:ext cx="2095106" cy="215444"/>
            <a:chOff x="9428813" y="5118756"/>
            <a:chExt cx="2095106" cy="215444"/>
          </a:xfrm>
        </p:grpSpPr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8FE34CBD-648B-573C-93FC-6FCC6B4332D1}"/>
                </a:ext>
              </a:extLst>
            </p:cNvPr>
            <p:cNvCxnSpPr>
              <a:cxnSpLocks/>
            </p:cNvCxnSpPr>
            <p:nvPr/>
          </p:nvCxnSpPr>
          <p:spPr>
            <a:xfrm>
              <a:off x="9428813" y="5223693"/>
              <a:ext cx="889850" cy="0"/>
            </a:xfrm>
            <a:prstGeom prst="line">
              <a:avLst/>
            </a:prstGeom>
            <a:ln w="28575">
              <a:solidFill>
                <a:schemeClr val="accent6"/>
              </a:solidFill>
              <a:prstDash val="sysDash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7CB015A3-23CF-6954-9B55-9469C4E9EC71}"/>
                    </a:ext>
                  </a:extLst>
                </p:cNvPr>
                <p:cNvSpPr txBox="1"/>
                <p:nvPr/>
              </p:nvSpPr>
              <p:spPr>
                <a:xfrm>
                  <a:off x="10875921" y="5118756"/>
                  <a:ext cx="647998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1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1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1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  ?</m:t>
                      </m:r>
                    </m:oMath>
                  </a14:m>
                  <a:r>
                    <a:rPr lang="zh-CN" altLang="en-US" sz="1400" dirty="0">
                      <a:solidFill>
                        <a:schemeClr val="accent6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7CB015A3-23CF-6954-9B55-9469C4E9EC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75921" y="5118756"/>
                  <a:ext cx="647998" cy="215444"/>
                </a:xfrm>
                <a:prstGeom prst="rect">
                  <a:avLst/>
                </a:prstGeom>
                <a:blipFill>
                  <a:blip r:embed="rId5"/>
                  <a:stretch>
                    <a:fillRect l="-9434" r="-943" b="-8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11BDB74-3EF4-2126-7127-CEDFAB8A649A}"/>
                  </a:ext>
                </a:extLst>
              </p:cNvPr>
              <p:cNvSpPr txBox="1"/>
              <p:nvPr/>
            </p:nvSpPr>
            <p:spPr>
              <a:xfrm>
                <a:off x="1533509" y="4145743"/>
                <a:ext cx="905607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显然它是 </a:t>
                </a:r>
                <a:r>
                  <a:rPr lang="zh-CN" altLang="en-US" sz="1600" dirty="0">
                    <a:solidFill>
                      <a:schemeClr val="accent5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发散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的，因为并不存在某个数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𝑁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使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zh-CN" altLang="en-US" sz="1600" b="0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（</a:t>
                </a:r>
                <a14:m>
                  <m:oMath xmlns:m="http://schemas.openxmlformats.org/officeDocument/2006/math">
                    <m:r>
                      <a:rPr lang="zh-CN" altLang="en-US" sz="1600" i="1" dirty="0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为任意小的正数）</a:t>
                </a:r>
                <a:r>
                  <a:rPr lang="zh-CN" altLang="en-US" sz="16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恒成立</a:t>
                </a: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11BDB74-3EF4-2126-7127-CEDFAB8A64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3509" y="4145743"/>
                <a:ext cx="9056077" cy="338554"/>
              </a:xfrm>
              <a:prstGeom prst="rect">
                <a:avLst/>
              </a:prstGeom>
              <a:blipFill>
                <a:blip r:embed="rId6"/>
                <a:stretch>
                  <a:fillRect t="-7143" b="-196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组合 18">
            <a:extLst>
              <a:ext uri="{FF2B5EF4-FFF2-40B4-BE49-F238E27FC236}">
                <a16:creationId xmlns:a16="http://schemas.microsoft.com/office/drawing/2014/main" id="{761875F6-AE68-694F-706B-3A22555A89E4}"/>
              </a:ext>
            </a:extLst>
          </p:cNvPr>
          <p:cNvGrpSpPr/>
          <p:nvPr/>
        </p:nvGrpSpPr>
        <p:grpSpPr>
          <a:xfrm>
            <a:off x="576364" y="3218508"/>
            <a:ext cx="11039272" cy="1340522"/>
            <a:chOff x="576364" y="3218508"/>
            <a:chExt cx="11039272" cy="1340522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C89D2CCD-353C-5E8A-5B62-E9C952ED5FBF}"/>
                </a:ext>
              </a:extLst>
            </p:cNvPr>
            <p:cNvSpPr/>
            <p:nvPr/>
          </p:nvSpPr>
          <p:spPr>
            <a:xfrm>
              <a:off x="576364" y="3218508"/>
              <a:ext cx="11039272" cy="1340522"/>
            </a:xfrm>
            <a:prstGeom prst="roundRect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936C6F01-70FD-7376-0D1D-8134532F6FEE}"/>
                    </a:ext>
                  </a:extLst>
                </p:cNvPr>
                <p:cNvSpPr txBox="1"/>
                <p:nvPr/>
              </p:nvSpPr>
              <p:spPr>
                <a:xfrm>
                  <a:off x="882161" y="3330740"/>
                  <a:ext cx="10427677" cy="6415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考虑如下 </a:t>
                  </a:r>
                  <a:r>
                    <a:rPr lang="zh-CN" altLang="en-US" sz="1600" b="1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数列</a:t>
                  </a:r>
                  <a:r>
                    <a: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：</a:t>
                  </a:r>
                  <a14:m>
                    <m:oMath xmlns:m="http://schemas.openxmlformats.org/officeDocument/2006/math">
                      <m:r>
                        <a:rPr lang="en-US" altLang="zh-CN" sz="160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1</m:t>
                      </m:r>
                      <m:r>
                        <a:rPr lang="en-US" altLang="zh-CN" sz="1600" b="0" i="0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,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  1,0,  1,0,0,0,  1,0,0,0,0,0,0,0,  1,0,0,0,0,0,0,0,0,0,0,0,0,0,0,0,  …</m:t>
                      </m:r>
                    </m:oMath>
                  </a14:m>
                  <a:r>
                    <a: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 ，即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𝑛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1600" i="1" smtClean="0"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</m:ctrlPr>
                            </m:eqArr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  <m:t>1,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  <m:t>𝑛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仿宋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仿宋" panose="02010609060101010101" pitchFamily="49" charset="-122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仿宋" panose="02010609060101010101" pitchFamily="49" charset="-122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  <m:t>0,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  <m:t>𝑛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sSup>
                                <m:sSup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eqAr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,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𝑘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=0,1,2,…</m:t>
                          </m:r>
                        </m:e>
                      </m:d>
                    </m:oMath>
                  </a14:m>
                  <a:endPara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936C6F01-70FD-7376-0D1D-8134532F6F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2161" y="3330740"/>
                  <a:ext cx="10427677" cy="641586"/>
                </a:xfrm>
                <a:prstGeom prst="rect">
                  <a:avLst/>
                </a:prstGeom>
                <a:blipFill>
                  <a:blip r:embed="rId7"/>
                  <a:stretch>
                    <a:fillRect l="-3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4FBA2449-04AC-5FC5-EA17-AF74317806C9}"/>
                </a:ext>
              </a:extLst>
            </p:cNvPr>
            <p:cNvCxnSpPr/>
            <p:nvPr/>
          </p:nvCxnSpPr>
          <p:spPr>
            <a:xfrm>
              <a:off x="774969" y="4068712"/>
              <a:ext cx="10629090" cy="0"/>
            </a:xfrm>
            <a:prstGeom prst="line">
              <a:avLst/>
            </a:prstGeom>
            <a:ln w="1270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7E9B8119-1E7C-D799-EF72-FA71455A2D1D}"/>
                  </a:ext>
                </a:extLst>
              </p:cNvPr>
              <p:cNvSpPr txBox="1"/>
              <p:nvPr/>
            </p:nvSpPr>
            <p:spPr>
              <a:xfrm>
                <a:off x="1533509" y="5582651"/>
                <a:ext cx="9056077" cy="342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显然它是 </a:t>
                </a:r>
                <a:r>
                  <a:rPr lang="zh-CN" altLang="en-US" sz="1600" dirty="0">
                    <a:solidFill>
                      <a:schemeClr val="accent5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发散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的，但是当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𝑛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时，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16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=1</m:t>
                        </m:r>
                      </m:e>
                    </m:d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=1/</m:t>
                    </m:r>
                    <m:sSup>
                      <m:sSup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e>
                      <m:sup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</m:sup>
                    </m:sSup>
                    <m:r>
                      <a:rPr lang="en-US" altLang="zh-CN" sz="1600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→0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……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？</a:t>
                </a: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7E9B8119-1E7C-D799-EF72-FA71455A2D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3509" y="5582651"/>
                <a:ext cx="9056077" cy="342979"/>
              </a:xfrm>
              <a:prstGeom prst="rect">
                <a:avLst/>
              </a:prstGeom>
              <a:blipFill>
                <a:blip r:embed="rId8"/>
                <a:stretch>
                  <a:fillRect t="-5357"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组合 19">
            <a:extLst>
              <a:ext uri="{FF2B5EF4-FFF2-40B4-BE49-F238E27FC236}">
                <a16:creationId xmlns:a16="http://schemas.microsoft.com/office/drawing/2014/main" id="{3274EDFC-0355-010C-D81B-DF3C0A7F5258}"/>
              </a:ext>
            </a:extLst>
          </p:cNvPr>
          <p:cNvGrpSpPr/>
          <p:nvPr/>
        </p:nvGrpSpPr>
        <p:grpSpPr>
          <a:xfrm>
            <a:off x="576364" y="4655416"/>
            <a:ext cx="11039272" cy="1340522"/>
            <a:chOff x="576364" y="4655416"/>
            <a:chExt cx="11039272" cy="1340522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42572E59-3440-7FA8-DCB3-BF7BA1BA386A}"/>
                </a:ext>
              </a:extLst>
            </p:cNvPr>
            <p:cNvSpPr/>
            <p:nvPr/>
          </p:nvSpPr>
          <p:spPr>
            <a:xfrm>
              <a:off x="576364" y="4655416"/>
              <a:ext cx="11039272" cy="1340522"/>
            </a:xfrm>
            <a:prstGeom prst="roundRect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64BC5189-43CE-7853-F55D-20DEC88AE0C2}"/>
                    </a:ext>
                  </a:extLst>
                </p:cNvPr>
                <p:cNvSpPr txBox="1"/>
                <p:nvPr/>
              </p:nvSpPr>
              <p:spPr>
                <a:xfrm>
                  <a:off x="882161" y="4767648"/>
                  <a:ext cx="10629090" cy="6415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考虑如下 </a:t>
                  </a:r>
                  <a:r>
                    <a:rPr lang="zh-CN" altLang="en-US" sz="1600" b="1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随机变量序列</a:t>
                  </a:r>
                  <a:r>
                    <a: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：</a:t>
                  </a:r>
                  <a14:m>
                    <m:oMath xmlns:m="http://schemas.openxmlformats.org/officeDocument/2006/math">
                      <m:r>
                        <a:rPr lang="zh-CN" altLang="en-US" sz="16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在</m:t>
                      </m:r>
                      <m:sSup>
                        <m:sSup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2</m:t>
                          </m:r>
                        </m:e>
                        <m:sup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𝑘</m:t>
                          </m:r>
                        </m:sup>
                      </m:sSup>
                    </m:oMath>
                  </a14:m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个球中有</a:t>
                  </a:r>
                  <a:r>
                    <a:rPr lang="en-US" altLang="zh-CN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1</a:t>
                  </a:r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个黑球，随机摸一次球是黑球记为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𝑛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=1</m:t>
                      </m:r>
                    </m:oMath>
                  </a14:m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，即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𝑛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1600" i="1" smtClean="0"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</m:ctrlPr>
                            </m:eqArr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  <m:t>1,</m:t>
                              </m:r>
                              <m:r>
                                <a:rPr lang="zh-CN" altLang="en-US" sz="1600" i="1"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  <m:t>摸到</m:t>
                              </m:r>
                              <m:r>
                                <a:rPr lang="zh-CN" altLang="en-US" sz="1600" i="1" smtClean="0"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  <m:t>黑球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  <m:t>         </m:t>
                              </m:r>
                            </m:e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  <m:t>0,</m:t>
                              </m:r>
                              <m:r>
                                <a:rPr lang="zh-CN" altLang="en-US" sz="1600" i="1"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  <m:t>没有</m:t>
                              </m:r>
                              <m:r>
                                <a:rPr lang="zh-CN" altLang="en-US" sz="1600" i="1" smtClean="0"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  <m:t>摸到</m:t>
                              </m:r>
                              <m:r>
                                <a:rPr lang="zh-CN" altLang="en-US" sz="1600" i="1"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  <m:t>黑球</m:t>
                              </m:r>
                            </m:e>
                          </m:eqArr>
                        </m:e>
                      </m:d>
                    </m:oMath>
                  </a14:m>
                  <a:endPara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64BC5189-43CE-7853-F55D-20DEC88AE0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2161" y="4767648"/>
                  <a:ext cx="10629090" cy="641586"/>
                </a:xfrm>
                <a:prstGeom prst="rect">
                  <a:avLst/>
                </a:prstGeom>
                <a:blipFill>
                  <a:blip r:embed="rId9"/>
                  <a:stretch>
                    <a:fillRect l="-34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81070AD4-5241-B18C-60DF-16AD2DFB13F5}"/>
                </a:ext>
              </a:extLst>
            </p:cNvPr>
            <p:cNvCxnSpPr/>
            <p:nvPr/>
          </p:nvCxnSpPr>
          <p:spPr>
            <a:xfrm>
              <a:off x="774969" y="5505620"/>
              <a:ext cx="10629090" cy="0"/>
            </a:xfrm>
            <a:prstGeom prst="line">
              <a:avLst/>
            </a:prstGeom>
            <a:ln w="1270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2279625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4" grpId="0"/>
      <p:bldP spid="7" grpId="0"/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>
            <a:extLst>
              <a:ext uri="{FF2B5EF4-FFF2-40B4-BE49-F238E27FC236}">
                <a16:creationId xmlns:a16="http://schemas.microsoft.com/office/drawing/2014/main" id="{85F698B7-83F2-40D8-149E-134216C44292}"/>
              </a:ext>
            </a:extLst>
          </p:cNvPr>
          <p:cNvGrpSpPr/>
          <p:nvPr/>
        </p:nvGrpSpPr>
        <p:grpSpPr>
          <a:xfrm>
            <a:off x="689430" y="2293403"/>
            <a:ext cx="10926204" cy="952073"/>
            <a:chOff x="689430" y="2293403"/>
            <a:chExt cx="10926204" cy="952073"/>
          </a:xfrm>
        </p:grpSpPr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C045E207-1075-3518-CE9F-94CECB3DC90C}"/>
                </a:ext>
              </a:extLst>
            </p:cNvPr>
            <p:cNvCxnSpPr/>
            <p:nvPr/>
          </p:nvCxnSpPr>
          <p:spPr>
            <a:xfrm flipV="1">
              <a:off x="1676400" y="2410749"/>
              <a:ext cx="0" cy="729394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2D5CC642-8B1B-621C-5C7B-D387F907449B}"/>
                </a:ext>
              </a:extLst>
            </p:cNvPr>
            <p:cNvSpPr/>
            <p:nvPr/>
          </p:nvSpPr>
          <p:spPr>
            <a:xfrm>
              <a:off x="689430" y="2293403"/>
              <a:ext cx="10926204" cy="952073"/>
            </a:xfrm>
            <a:prstGeom prst="roundRect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4A1F2B3B-FE63-7D15-7FDD-B59202A102F4}"/>
                    </a:ext>
                  </a:extLst>
                </p:cNvPr>
                <p:cNvSpPr txBox="1"/>
                <p:nvPr/>
              </p:nvSpPr>
              <p:spPr>
                <a:xfrm>
                  <a:off x="1848442" y="2357813"/>
                  <a:ext cx="5748602" cy="782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en-US" altLang="zh-CN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1.</a:t>
                  </a:r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表示出</a:t>
                  </a:r>
                  <a14:m>
                    <m:oMath xmlns:m="http://schemas.openxmlformats.org/officeDocument/2006/math">
                      <m:r>
                        <a:rPr lang="en-US" altLang="zh-CN" sz="1600" b="0" i="0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|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𝑌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𝑛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−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𝑌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|</m:t>
                      </m:r>
                    </m:oMath>
                  </a14:m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的表达式，一般而言都是含有</a:t>
                  </a:r>
                  <a14:m>
                    <m:oMath xmlns:m="http://schemas.openxmlformats.org/officeDocument/2006/math">
                      <m:r>
                        <a:rPr lang="en-US" altLang="zh-CN" sz="1600" i="1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𝑛</m:t>
                      </m:r>
                    </m:oMath>
                  </a14:m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的式子</a:t>
                  </a:r>
                  <a:endPara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en-US" altLang="zh-CN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2.</a:t>
                  </a:r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求随机变量</a:t>
                  </a:r>
                  <a14:m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−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𝑌</m:t>
                          </m:r>
                        </m:e>
                      </m:d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&gt;</m:t>
                      </m:r>
                      <m:r>
                        <a:rPr lang="zh-CN" altLang="en-US" sz="16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𝜀</m:t>
                      </m:r>
                    </m:oMath>
                  </a14:m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的概率，一般而言结果含有</a:t>
                  </a:r>
                  <a14:m>
                    <m:oMath xmlns:m="http://schemas.openxmlformats.org/officeDocument/2006/math">
                      <m:r>
                        <a:rPr lang="zh-CN" altLang="en-US" sz="160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𝜀</m:t>
                      </m:r>
                    </m:oMath>
                  </a14:m>
                  <a:endPara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4A1F2B3B-FE63-7D15-7FDD-B59202A102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48442" y="2357813"/>
                  <a:ext cx="5748602" cy="782330"/>
                </a:xfrm>
                <a:prstGeom prst="rect">
                  <a:avLst/>
                </a:prstGeom>
                <a:blipFill>
                  <a:blip r:embed="rId3"/>
                  <a:stretch>
                    <a:fillRect l="-530" b="-859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46A2F095-BFCE-6911-5BCB-5AB1EEA21E08}"/>
                    </a:ext>
                  </a:extLst>
                </p:cNvPr>
                <p:cNvSpPr txBox="1"/>
                <p:nvPr/>
              </p:nvSpPr>
              <p:spPr>
                <a:xfrm>
                  <a:off x="7769085" y="2357813"/>
                  <a:ext cx="3443603" cy="4129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en-US" altLang="zh-CN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3.</a:t>
                  </a:r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考察</a:t>
                  </a:r>
                  <a14:m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𝑛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→∞</m:t>
                      </m:r>
                    </m:oMath>
                  </a14:m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时此概率是否一定为</a:t>
                  </a:r>
                  <a:r>
                    <a:rPr lang="en-US" altLang="zh-CN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0</a:t>
                  </a:r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46A2F095-BFCE-6911-5BCB-5AB1EEA21E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9085" y="2357813"/>
                  <a:ext cx="3443603" cy="412998"/>
                </a:xfrm>
                <a:prstGeom prst="rect">
                  <a:avLst/>
                </a:prstGeom>
                <a:blipFill>
                  <a:blip r:embed="rId4"/>
                  <a:stretch>
                    <a:fillRect l="-885" b="-1617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885E0130-FAF0-6A7F-8BD8-B5C3DA42AE7D}"/>
                </a:ext>
              </a:extLst>
            </p:cNvPr>
            <p:cNvCxnSpPr/>
            <p:nvPr/>
          </p:nvCxnSpPr>
          <p:spPr>
            <a:xfrm flipV="1">
              <a:off x="7326234" y="2410749"/>
              <a:ext cx="0" cy="729394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777B1296-1EAB-A3C6-EA80-DF798A092CC2}"/>
                </a:ext>
              </a:extLst>
            </p:cNvPr>
            <p:cNvSpPr txBox="1"/>
            <p:nvPr/>
          </p:nvSpPr>
          <p:spPr>
            <a:xfrm>
              <a:off x="884757" y="2550413"/>
              <a:ext cx="63923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>
                  <a:latin typeface="汉仪润圆-65简" panose="00020600040101010101" pitchFamily="18" charset="-122"/>
                  <a:ea typeface="汉仪润圆-65简" panose="00020600040101010101" pitchFamily="18" charset="-122"/>
                </a:rPr>
                <a:t>判断</a:t>
              </a:r>
              <a:endParaRPr lang="en-US" altLang="zh-CN" sz="1600" dirty="0">
                <a:latin typeface="汉仪润圆-65简" panose="00020600040101010101" pitchFamily="18" charset="-122"/>
                <a:ea typeface="汉仪润圆-65简" panose="00020600040101010101" pitchFamily="18" charset="-122"/>
              </a:endParaRPr>
            </a:p>
            <a:p>
              <a:pPr algn="ctr"/>
              <a:r>
                <a:rPr lang="zh-CN" altLang="en-US" sz="1600" dirty="0">
                  <a:latin typeface="汉仪润圆-65简" panose="00020600040101010101" pitchFamily="18" charset="-122"/>
                  <a:ea typeface="汉仪润圆-65简" panose="00020600040101010101" pitchFamily="18" charset="-122"/>
                </a:rPr>
                <a:t>方法</a:t>
              </a:r>
            </a:p>
          </p:txBody>
        </p:sp>
      </p:grp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/>
              <p:nvPr/>
            </p:nvSpPr>
            <p:spPr>
              <a:xfrm>
                <a:off x="507460" y="1425186"/>
                <a:ext cx="11108174" cy="7825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依 概率 收敛</a:t>
                </a:r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：随机变量序列的通项为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𝑌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，若有另一个随机变量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𝑌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，使得当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𝑛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时，对于任意小的正数</a:t>
                </a:r>
                <a14:m>
                  <m:oMath xmlns:m="http://schemas.openxmlformats.org/officeDocument/2006/math">
                    <m:r>
                      <a:rPr lang="zh-CN" altLang="en-US" sz="160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𝜀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&gt;0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，总有：</a:t>
                </a:r>
                <a:endParaRPr lang="en-US" altLang="zh-CN" sz="16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          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160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1600" i="0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l</m:t>
                        </m:r>
                        <m:r>
                          <m:rPr>
                            <m:sty m:val="p"/>
                          </m:rPr>
                          <a:rPr lang="en-US" altLang="zh-CN" sz="1600" b="0" i="0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i</m:t>
                        </m:r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1600" b="0" i="0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m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600" i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n</m:t>
                            </m:r>
                            <m:r>
                              <a:rPr lang="en-US" altLang="zh-CN" sz="16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→∞</m:t>
                            </m:r>
                          </m:sub>
                        </m:sSub>
                      </m:fName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仿宋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仿宋" panose="02010609060101010101" pitchFamily="49" charset="-122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仿宋" panose="02010609060101010101" pitchFamily="49" charset="-122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  <m:t>−</m:t>
                                </m:r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  <m:t>𝑌</m:t>
                                </m:r>
                              </m:e>
                            </m:d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&gt;</m:t>
                            </m:r>
                            <m:r>
                              <a:rPr lang="zh-CN" altLang="en-US" sz="1600" b="0" i="1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𝜀</m:t>
                            </m:r>
                          </m:e>
                        </m:d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=0</m:t>
                        </m:r>
                      </m:e>
                    </m:func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，则称随机变量序列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{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𝑌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𝑛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}</m:t>
                    </m:r>
                  </m:oMath>
                </a14:m>
                <a:r>
                  <a:rPr lang="zh-CN" altLang="en-US" sz="1600" b="1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依概率收敛于随机变量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𝒀</m:t>
                    </m:r>
                  </m:oMath>
                </a14:m>
                <a:r>
                  <a:rPr lang="en-US" altLang="zh-CN" sz="1600" b="1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425186"/>
                <a:ext cx="11108174" cy="782587"/>
              </a:xfrm>
              <a:prstGeom prst="rect">
                <a:avLst/>
              </a:prstGeom>
              <a:blipFill>
                <a:blip r:embed="rId5"/>
                <a:stretch>
                  <a:fillRect l="-274" b="-85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0BBFC071-A108-3AF1-C917-CC6D69D48428}"/>
              </a:ext>
            </a:extLst>
          </p:cNvPr>
          <p:cNvSpPr txBox="1"/>
          <p:nvPr/>
        </p:nvSpPr>
        <p:spPr>
          <a:xfrm>
            <a:off x="507460" y="496110"/>
            <a:ext cx="26591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随机变量序列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BEB8415-75D6-EE75-D81A-F8F42DC5B079}"/>
              </a:ext>
            </a:extLst>
          </p:cNvPr>
          <p:cNvSpPr txBox="1"/>
          <p:nvPr/>
        </p:nvSpPr>
        <p:spPr>
          <a:xfrm>
            <a:off x="3178016" y="775742"/>
            <a:ext cx="24943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随机变量序列的收敛性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9FB55C3B-8E9E-8FC4-5358-EF5F99583F3E}"/>
              </a:ext>
            </a:extLst>
          </p:cNvPr>
          <p:cNvGrpSpPr/>
          <p:nvPr/>
        </p:nvGrpSpPr>
        <p:grpSpPr>
          <a:xfrm>
            <a:off x="576364" y="1911350"/>
            <a:ext cx="1246086" cy="585288"/>
            <a:chOff x="576364" y="1911350"/>
            <a:chExt cx="1246086" cy="585288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57001F09-5DB2-0142-AEAD-770CEB797971}"/>
                </a:ext>
              </a:extLst>
            </p:cNvPr>
            <p:cNvSpPr/>
            <p:nvPr/>
          </p:nvSpPr>
          <p:spPr>
            <a:xfrm>
              <a:off x="576364" y="1911350"/>
              <a:ext cx="1246086" cy="585288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6A274593-89C4-81EC-60D8-8934E8168F3B}"/>
                    </a:ext>
                  </a:extLst>
                </p:cNvPr>
                <p:cNvSpPr txBox="1"/>
                <p:nvPr/>
              </p:nvSpPr>
              <p:spPr>
                <a:xfrm>
                  <a:off x="810069" y="1997238"/>
                  <a:ext cx="778675" cy="41351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groupChr>
                          <m:groupChrPr>
                            <m:chr m:val="→"/>
                            <m:vertJc m:val="bot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m:rPr>
                                <m:brk m:alnAt="2"/>
                              </m:r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</m:groupCh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6A274593-89C4-81EC-60D8-8934E8168F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0069" y="1997238"/>
                  <a:ext cx="778675" cy="41351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C77A59C-E633-0318-CC61-107801433876}"/>
                  </a:ext>
                </a:extLst>
              </p:cNvPr>
              <p:cNvSpPr txBox="1"/>
              <p:nvPr/>
            </p:nvSpPr>
            <p:spPr>
              <a:xfrm>
                <a:off x="507460" y="3429000"/>
                <a:ext cx="11039270" cy="7944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1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：某随机数产生器可以等可能的产生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</a:rPr>
                      <m:t>[0,1]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上的任一实数。有人用它产生了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个随机数，记第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个随机数为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，又设第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𝑛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次 </a:t>
                </a:r>
                <a:endParaRPr lang="en-US" altLang="zh-CN" sz="160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          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试验时，这些随机数中的最大值为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𝑌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𝑛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func>
                      <m:func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1600" b="0" i="0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max</m:t>
                            </m:r>
                          </m:e>
                          <m:lim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1≤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𝑖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≤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𝑛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𝑖</m:t>
                            </m:r>
                          </m:sub>
                        </m:sSub>
                      </m:e>
                    </m:func>
                  </m:oMath>
                </a14:m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.   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试证：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𝑌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依概率收敛于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1.</a:t>
                </a:r>
                <a:endParaRPr lang="zh-CN" altLang="en-US" sz="160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C77A59C-E633-0318-CC61-1078014338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3429000"/>
                <a:ext cx="11039270" cy="794448"/>
              </a:xfrm>
              <a:prstGeom prst="rect">
                <a:avLst/>
              </a:prstGeom>
              <a:blipFill>
                <a:blip r:embed="rId7"/>
                <a:stretch>
                  <a:fillRect l="-276" r="-55" b="-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5FE5927-9572-F797-6EBE-DE0505A6F3B1}"/>
                  </a:ext>
                </a:extLst>
              </p:cNvPr>
              <p:cNvSpPr txBox="1"/>
              <p:nvPr/>
            </p:nvSpPr>
            <p:spPr>
              <a:xfrm>
                <a:off x="507460" y="4311130"/>
                <a:ext cx="11039269" cy="12858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解：显然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~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𝑈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(0,1)</m:t>
                    </m:r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则</a:t>
                </a: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16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600" b="0" i="1" dirty="0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dirty="0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zh-CN" sz="1600" b="0" i="1" dirty="0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altLang="zh-CN" sz="16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−1</m:t>
                            </m:r>
                          </m:e>
                        </m:d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&gt;</m:t>
                        </m:r>
                        <m:r>
                          <a:rPr lang="zh-CN" altLang="en-US" sz="1600" i="1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𝜀</m:t>
                        </m:r>
                      </m:e>
                    </m:d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 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 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sz="16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−1&gt;</m:t>
                        </m:r>
                        <m:r>
                          <a:rPr lang="zh-CN" altLang="en-US" sz="16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𝜀</m:t>
                        </m:r>
                      </m:e>
                    </m:d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sz="16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−1&lt;−</m:t>
                        </m:r>
                        <m:r>
                          <a:rPr lang="zh-CN" altLang="en-US" sz="16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𝜀</m:t>
                        </m:r>
                      </m:e>
                    </m:d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= 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sz="16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&gt;1+</m:t>
                        </m:r>
                        <m:r>
                          <a:rPr lang="zh-CN" altLang="en-US" sz="16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𝜀</m:t>
                        </m:r>
                      </m:e>
                    </m:d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sz="16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&lt;1−</m:t>
                        </m:r>
                        <m:r>
                          <a:rPr lang="zh-CN" altLang="en-US" sz="16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𝜀</m:t>
                        </m:r>
                      </m:e>
                    </m:d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.</m:t>
                    </m:r>
                  </m:oMath>
                </a14:m>
                <a:endParaRPr lang="en-US" altLang="zh-CN" sz="1600" b="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𝑌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≤1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恒成立，故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&gt;1+</m:t>
                        </m:r>
                        <m:r>
                          <a:rPr lang="zh-CN" altLang="en-US" sz="16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𝜀</m:t>
                        </m:r>
                      </m:e>
                    </m:d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=0</m:t>
                    </m:r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  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又</a:t>
                </a: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sz="16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&lt;1−</m:t>
                        </m:r>
                        <m:r>
                          <a:rPr lang="zh-CN" altLang="en-US" sz="16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𝜀</m:t>
                        </m:r>
                      </m:e>
                    </m:d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&lt;1−</m:t>
                        </m:r>
                        <m:r>
                          <a:rPr lang="zh-CN" altLang="en-US" sz="160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𝜀</m:t>
                        </m:r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  </m:t>
                        </m:r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=1,2,3,…</m:t>
                        </m:r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e>
                    </m:d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sSup>
                      <m:sSupPr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6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16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1−</m:t>
                            </m:r>
                            <m:r>
                              <a:rPr lang="zh-CN" altLang="en-US" sz="16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𝜀</m:t>
                            </m:r>
                          </m:e>
                        </m:d>
                      </m:e>
                      <m:sup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则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16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160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CN" sz="16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1600" i="1" dirty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1600" i="1" dirty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 dirty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altLang="zh-CN" sz="1600" i="1" dirty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altLang="zh-CN" sz="1600" i="1" dirty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&gt;</m:t>
                            </m:r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𝜀</m:t>
                            </m:r>
                          </m:e>
                        </m:d>
                      </m:e>
                    </m:func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unc>
                      <m:func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160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0+</m:t>
                        </m:r>
                      </m:e>
                    </m:func>
                    <m:sSup>
                      <m:sSupPr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6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1−</m:t>
                            </m:r>
                            <m:r>
                              <a:rPr lang="zh-CN" altLang="en-US" sz="16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𝜀</m:t>
                            </m:r>
                          </m:e>
                        </m:d>
                      </m:e>
                      <m:sup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sup>
                    </m:sSup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=0</m:t>
                    </m:r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 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</m:groupCh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  <a:endPara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5FE5927-9572-F797-6EBE-DE0505A6F3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4311130"/>
                <a:ext cx="11039269" cy="1285865"/>
              </a:xfrm>
              <a:prstGeom prst="rect">
                <a:avLst/>
              </a:prstGeom>
              <a:blipFill>
                <a:blip r:embed="rId8"/>
                <a:stretch>
                  <a:fillRect l="-276" b="-99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28877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0BBFC071-A108-3AF1-C917-CC6D69D48428}"/>
              </a:ext>
            </a:extLst>
          </p:cNvPr>
          <p:cNvSpPr txBox="1"/>
          <p:nvPr/>
        </p:nvSpPr>
        <p:spPr>
          <a:xfrm>
            <a:off x="507460" y="496110"/>
            <a:ext cx="26591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随机变量序列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BEB8415-75D6-EE75-D81A-F8F42DC5B079}"/>
              </a:ext>
            </a:extLst>
          </p:cNvPr>
          <p:cNvSpPr txBox="1"/>
          <p:nvPr/>
        </p:nvSpPr>
        <p:spPr>
          <a:xfrm>
            <a:off x="3178016" y="775742"/>
            <a:ext cx="24943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随机变量序列的收敛性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5CE7FF90-2FAC-F1E5-16FC-24F145614552}"/>
              </a:ext>
            </a:extLst>
          </p:cNvPr>
          <p:cNvGrpSpPr/>
          <p:nvPr/>
        </p:nvGrpSpPr>
        <p:grpSpPr>
          <a:xfrm>
            <a:off x="507460" y="1425186"/>
            <a:ext cx="11108174" cy="1071452"/>
            <a:chOff x="507460" y="1425186"/>
            <a:chExt cx="11108174" cy="107145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DF8EA2AA-3607-76BF-CED9-450E9DC65B0B}"/>
                    </a:ext>
                  </a:extLst>
                </p:cNvPr>
                <p:cNvSpPr txBox="1"/>
                <p:nvPr/>
              </p:nvSpPr>
              <p:spPr>
                <a:xfrm>
                  <a:off x="507460" y="1425186"/>
                  <a:ext cx="11108174" cy="782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zh-CN" altLang="en-US" sz="1600" dirty="0">
                      <a:latin typeface="方正小标宋简体" panose="02000000000000000000" pitchFamily="2" charset="-122"/>
                      <a:ea typeface="方正小标宋简体" panose="02000000000000000000" pitchFamily="2" charset="-122"/>
                    </a:rPr>
                    <a:t>依 分布 收敛</a:t>
                  </a:r>
                  <a:r>
                    <a: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：随机变量序列的通项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𝑌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𝑛</m:t>
                          </m:r>
                        </m:sub>
                      </m:sSub>
                    </m:oMath>
                  </a14:m>
                  <a:r>
                    <a: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的分布函数为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𝑛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(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𝑥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)</m:t>
                      </m:r>
                    </m:oMath>
                  </a14:m>
                  <a:r>
                    <a: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，若有另一个随机变量</a:t>
                  </a:r>
                  <a14:m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𝑌</m:t>
                      </m:r>
                    </m:oMath>
                  </a14:m>
                  <a:r>
                    <a: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（其分布函数为</a:t>
                  </a:r>
                  <a14:m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𝐹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(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𝑥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)</m:t>
                      </m:r>
                    </m:oMath>
                  </a14:m>
                  <a:r>
                    <a: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），使得当</a:t>
                  </a:r>
                  <a14:m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𝑛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→∞</m:t>
                      </m:r>
                    </m:oMath>
                  </a14:m>
                  <a:r>
                    <a: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时，</a:t>
                  </a:r>
                  <a:endParaRPr lang="en-US" altLang="zh-CN" sz="1600" dirty="0">
                    <a:latin typeface="仿宋" panose="02010609060101010101" pitchFamily="49" charset="-122"/>
                    <a:ea typeface="仿宋" panose="02010609060101010101" pitchFamily="49" charset="-122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en-US" altLang="zh-CN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          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𝑛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(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𝑥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)</m:t>
                      </m:r>
                    </m:oMath>
                  </a14:m>
                  <a:r>
                    <a: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收敛到</a:t>
                  </a:r>
                  <a14:m>
                    <m:oMath xmlns:m="http://schemas.openxmlformats.org/officeDocument/2006/math">
                      <m:r>
                        <a:rPr lang="en-US" altLang="zh-CN" sz="1600" i="1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𝐹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(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𝑥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)</m:t>
                      </m:r>
                    </m:oMath>
                  </a14:m>
                  <a:r>
                    <a: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（即</a:t>
                  </a:r>
                  <a14:m>
                    <m:oMath xmlns:m="http://schemas.openxmlformats.org/officeDocument/2006/math">
                      <m:func>
                        <m:func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altLang="zh-CN" sz="1600" i="1" smtClean="0"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600" b="0" i="0" smtClean="0"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  <m:t>lim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600" b="0" i="0" smtClean="0"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  <m:t>n</m:t>
                              </m:r>
                              <m:r>
                                <a:rPr lang="en-US" altLang="zh-CN" sz="16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sub>
                          </m:sSub>
                        </m:fName>
                        <m:e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(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𝑥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)</m:t>
                          </m:r>
                        </m:e>
                      </m:func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=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𝐹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(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𝑥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)</m:t>
                      </m:r>
                    </m:oMath>
                  </a14:m>
                  <a:r>
                    <a: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），则称随机变量序列</a:t>
                  </a:r>
                  <a14:m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{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𝑌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𝑛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}</m:t>
                      </m:r>
                    </m:oMath>
                  </a14:m>
                  <a:r>
                    <a:rPr lang="zh-CN" altLang="en-US" sz="1600" b="1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依分布收敛于随机变量</a:t>
                  </a:r>
                  <a14:m>
                    <m:oMath xmlns:m="http://schemas.openxmlformats.org/officeDocument/2006/math">
                      <m:r>
                        <a:rPr lang="en-US" altLang="zh-CN" sz="1600" b="1" i="1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𝒀</m:t>
                      </m:r>
                    </m:oMath>
                  </a14:m>
                  <a:r>
                    <a:rPr lang="en-US" altLang="zh-CN" sz="1600" b="1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.</a:t>
                  </a:r>
                </a:p>
              </p:txBody>
            </p:sp>
          </mc:Choice>
          <mc:Fallback xmlns="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DF8EA2AA-3607-76BF-CED9-450E9DC65B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7460" y="1425186"/>
                  <a:ext cx="11108174" cy="782330"/>
                </a:xfrm>
                <a:prstGeom prst="rect">
                  <a:avLst/>
                </a:prstGeom>
                <a:blipFill>
                  <a:blip r:embed="rId3"/>
                  <a:stretch>
                    <a:fillRect l="-274" r="-2141" b="-859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1" name="组合 50">
              <a:extLst>
                <a:ext uri="{FF2B5EF4-FFF2-40B4-BE49-F238E27FC236}">
                  <a16:creationId xmlns:a16="http://schemas.microsoft.com/office/drawing/2014/main" id="{3ADE677D-9AB4-A6E6-C8D2-2BE4D01C45A1}"/>
                </a:ext>
              </a:extLst>
            </p:cNvPr>
            <p:cNvGrpSpPr/>
            <p:nvPr/>
          </p:nvGrpSpPr>
          <p:grpSpPr>
            <a:xfrm>
              <a:off x="576364" y="1911350"/>
              <a:ext cx="11039270" cy="585288"/>
              <a:chOff x="576364" y="1911350"/>
              <a:chExt cx="11039270" cy="585288"/>
            </a:xfrm>
          </p:grpSpPr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D4E6BBA2-ECA8-0E34-9650-715502FBF8F2}"/>
                  </a:ext>
                </a:extLst>
              </p:cNvPr>
              <p:cNvCxnSpPr/>
              <p:nvPr/>
            </p:nvCxnSpPr>
            <p:spPr>
              <a:xfrm flipH="1">
                <a:off x="689430" y="2293403"/>
                <a:ext cx="10926204" cy="0"/>
              </a:xfrm>
              <a:prstGeom prst="line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" name="组合 26">
                <a:extLst>
                  <a:ext uri="{FF2B5EF4-FFF2-40B4-BE49-F238E27FC236}">
                    <a16:creationId xmlns:a16="http://schemas.microsoft.com/office/drawing/2014/main" id="{9FB55C3B-8E9E-8FC4-5358-EF5F99583F3E}"/>
                  </a:ext>
                </a:extLst>
              </p:cNvPr>
              <p:cNvGrpSpPr/>
              <p:nvPr/>
            </p:nvGrpSpPr>
            <p:grpSpPr>
              <a:xfrm>
                <a:off x="576364" y="1911350"/>
                <a:ext cx="1246086" cy="585288"/>
                <a:chOff x="576364" y="1911350"/>
                <a:chExt cx="1246086" cy="585288"/>
              </a:xfrm>
            </p:grpSpPr>
            <p:sp>
              <p:nvSpPr>
                <p:cNvPr id="10" name="矩形: 圆角 9">
                  <a:extLst>
                    <a:ext uri="{FF2B5EF4-FFF2-40B4-BE49-F238E27FC236}">
                      <a16:creationId xmlns:a16="http://schemas.microsoft.com/office/drawing/2014/main" id="{57001F09-5DB2-0142-AEAD-770CEB797971}"/>
                    </a:ext>
                  </a:extLst>
                </p:cNvPr>
                <p:cNvSpPr/>
                <p:nvPr/>
              </p:nvSpPr>
              <p:spPr>
                <a:xfrm>
                  <a:off x="576364" y="1911350"/>
                  <a:ext cx="1246086" cy="585288"/>
                </a:xfrm>
                <a:prstGeom prst="round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" name="文本框 6">
                      <a:extLst>
                        <a:ext uri="{FF2B5EF4-FFF2-40B4-BE49-F238E27FC236}">
                          <a16:creationId xmlns:a16="http://schemas.microsoft.com/office/drawing/2014/main" id="{6A274593-89C4-81EC-60D8-8934E8168F3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10069" y="1997238"/>
                      <a:ext cx="778675" cy="413511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groupChr>
                              <m:groupChrPr>
                                <m:chr m:val="→"/>
                                <m:vertJc m:val="bot"/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groupChrPr>
                              <m:e>
                                <m:r>
                                  <m:rPr>
                                    <m:brk m:alnAt="2"/>
                                  </m:rP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</m:groupCh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oMath>
                        </m:oMathPara>
                      </a14:m>
                      <a:endParaRPr lang="zh-CN" altLang="en-US" sz="2000" dirty="0"/>
                    </a:p>
                  </p:txBody>
                </p:sp>
              </mc:Choice>
              <mc:Fallback xmlns="">
                <p:sp>
                  <p:nvSpPr>
                    <p:cNvPr id="7" name="文本框 6">
                      <a:extLst>
                        <a:ext uri="{FF2B5EF4-FFF2-40B4-BE49-F238E27FC236}">
                          <a16:creationId xmlns:a16="http://schemas.microsoft.com/office/drawing/2014/main" id="{6A274593-89C4-81EC-60D8-8934E8168F3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10069" y="1997238"/>
                      <a:ext cx="778675" cy="413511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54F76B3B-2D81-6EE4-4D20-B49A16513F49}"/>
                  </a:ext>
                </a:extLst>
              </p:cNvPr>
              <p:cNvSpPr txBox="1"/>
              <p:nvPr/>
            </p:nvSpPr>
            <p:spPr>
              <a:xfrm>
                <a:off x="465634" y="2364290"/>
                <a:ext cx="11260732" cy="641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6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掷</a:t>
                </a:r>
                <a:r>
                  <a:rPr lang="en-US" altLang="zh-CN" sz="16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n</a:t>
                </a:r>
                <a:r>
                  <a:rPr lang="zh-CN" altLang="en-US" sz="16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次硬币，每次掷出的结果记为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sub>
                    </m:sSub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eqArrPr>
                          <m:e>
                            <m: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1,     </m:t>
                            </m:r>
                            <m:r>
                              <a:rPr lang="zh-CN" alt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掷出</m:t>
                            </m:r>
                            <m:r>
                              <a:rPr lang="zh-CN" altLang="en-US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正面</m:t>
                            </m:r>
                          </m:e>
                          <m:e>
                            <m: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−1,  </m:t>
                            </m:r>
                            <m:r>
                              <a:rPr lang="zh-CN" alt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掷出</m:t>
                            </m:r>
                            <m:r>
                              <a:rPr lang="zh-CN" altLang="en-US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反面</m:t>
                            </m:r>
                          </m:e>
                        </m:eqArr>
                      </m:e>
                    </m:d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，但设随机变量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𝑋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=−</m:t>
                    </m:r>
                    <m:sSub>
                      <m:sSub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16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. </a:t>
                </a:r>
                <a:r>
                  <a:rPr lang="zh-CN" altLang="en-US" sz="16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依分布收敛于</a:t>
                </a:r>
                <a14:m>
                  <m:oMath xmlns:m="http://schemas.openxmlformats.org/officeDocument/2006/math">
                    <m:r>
                      <a:rPr lang="en-US" altLang="zh-CN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，但不依概率收敛于</a:t>
                </a:r>
                <a14:m>
                  <m:oMath xmlns:m="http://schemas.openxmlformats.org/officeDocument/2006/math">
                    <m:r>
                      <a:rPr lang="en-US" altLang="zh-CN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𝑋</m:t>
                    </m:r>
                  </m:oMath>
                </a14:m>
                <a:r>
                  <a:rPr lang="en-US" altLang="zh-CN" sz="16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  <a:endParaRPr lang="zh-CN" altLang="en-US" sz="16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54F76B3B-2D81-6EE4-4D20-B49A16513F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634" y="2364290"/>
                <a:ext cx="11260732" cy="641586"/>
              </a:xfrm>
              <a:prstGeom prst="rect">
                <a:avLst/>
              </a:prstGeom>
              <a:blipFill>
                <a:blip r:embed="rId5"/>
                <a:stretch>
                  <a:fillRect l="-54" r="-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7" name="组合 96">
            <a:extLst>
              <a:ext uri="{FF2B5EF4-FFF2-40B4-BE49-F238E27FC236}">
                <a16:creationId xmlns:a16="http://schemas.microsoft.com/office/drawing/2014/main" id="{26265BF6-1965-C0A3-EB0E-47CE5356E1BC}"/>
              </a:ext>
            </a:extLst>
          </p:cNvPr>
          <p:cNvGrpSpPr/>
          <p:nvPr/>
        </p:nvGrpSpPr>
        <p:grpSpPr>
          <a:xfrm>
            <a:off x="507460" y="2524267"/>
            <a:ext cx="11108174" cy="1071452"/>
            <a:chOff x="507460" y="2524267"/>
            <a:chExt cx="11108174" cy="107145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8E89D1F7-0E91-399E-5ED8-2011F93D3D05}"/>
                    </a:ext>
                  </a:extLst>
                </p:cNvPr>
                <p:cNvSpPr txBox="1"/>
                <p:nvPr/>
              </p:nvSpPr>
              <p:spPr>
                <a:xfrm>
                  <a:off x="507460" y="2524267"/>
                  <a:ext cx="11108174" cy="7893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en-US" altLang="zh-CN" sz="1600" dirty="0">
                      <a:latin typeface="方正小标宋简体" panose="02000000000000000000" pitchFamily="2" charset="-122"/>
                      <a:ea typeface="方正小标宋简体" panose="02000000000000000000" pitchFamily="2" charset="-122"/>
                    </a:rPr>
                    <a:t>       </a:t>
                  </a:r>
                  <a14:m>
                    <m:oMath xmlns:m="http://schemas.openxmlformats.org/officeDocument/2006/math">
                      <m:r>
                        <a:rPr lang="en-US" altLang="zh-CN" sz="1600" i="1" dirty="0" smtClean="0">
                          <a:latin typeface="Cambria Math" panose="02040503050406030204" pitchFamily="18" charset="0"/>
                          <a:ea typeface="方正小标宋简体" panose="02000000000000000000" pitchFamily="2" charset="-122"/>
                        </a:rPr>
                        <m:t>𝑟</m:t>
                      </m:r>
                    </m:oMath>
                  </a14:m>
                  <a:r>
                    <a:rPr lang="zh-CN" altLang="en-US" sz="1600" dirty="0">
                      <a:latin typeface="方正小标宋简体" panose="02000000000000000000" pitchFamily="2" charset="-122"/>
                      <a:ea typeface="方正小标宋简体" panose="02000000000000000000" pitchFamily="2" charset="-122"/>
                    </a:rPr>
                    <a:t>阶 收敛</a:t>
                  </a:r>
                  <a:r>
                    <a: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：随机变量序列通项为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𝑌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𝑛</m:t>
                          </m:r>
                        </m:sub>
                      </m:sSub>
                    </m:oMath>
                  </a14:m>
                  <a:r>
                    <a: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，若有另一个随机变量</a:t>
                  </a:r>
                  <a14:m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𝑌</m:t>
                      </m:r>
                    </m:oMath>
                  </a14:m>
                  <a:r>
                    <a: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，使</a:t>
                  </a:r>
                  <a14:m>
                    <m:oMath xmlns:m="http://schemas.openxmlformats.org/officeDocument/2006/math">
                      <m:r>
                        <a:rPr lang="en-US" altLang="zh-CN" sz="1600" i="1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𝑟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&gt;0,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𝑛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→∞</m:t>
                      </m:r>
                    </m:oMath>
                  </a14:m>
                  <a:r>
                    <a: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时</a:t>
                  </a:r>
                  <a14:m>
                    <m:oMath xmlns:m="http://schemas.openxmlformats.org/officeDocument/2006/math"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𝐸</m:t>
                      </m:r>
                      <m:sSup>
                        <m:sSupPr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1600" b="0" i="1" dirty="0" smtClean="0"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  <a:ea typeface="仿宋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  <a:ea typeface="仿宋" panose="02010609060101010101" pitchFamily="49" charset="-122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  <a:ea typeface="仿宋" panose="02010609060101010101" pitchFamily="49" charset="-122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𝑟</m:t>
                          </m:r>
                        </m:sup>
                      </m:sSup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,</m:t>
                      </m:r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𝐸</m:t>
                      </m:r>
                      <m:sSup>
                        <m:sSupPr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1600" b="0" i="1" dirty="0" smtClean="0"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  <m:t>𝑌</m:t>
                              </m:r>
                            </m:e>
                          </m:d>
                        </m:e>
                        <m:sup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𝑟</m:t>
                          </m:r>
                        </m:sup>
                      </m:sSup>
                    </m:oMath>
                  </a14:m>
                  <a:r>
                    <a: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均存在，且使得当</a:t>
                  </a:r>
                  <a14:m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𝑛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→∞</m:t>
                      </m:r>
                    </m:oMath>
                  </a14:m>
                  <a:r>
                    <a: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时，</a:t>
                  </a:r>
                  <a:endParaRPr lang="en-US" altLang="zh-CN" sz="1600" dirty="0">
                    <a:latin typeface="仿宋" panose="02010609060101010101" pitchFamily="49" charset="-122"/>
                    <a:ea typeface="仿宋" panose="02010609060101010101" pitchFamily="49" charset="-122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en-US" altLang="zh-CN" sz="1600" dirty="0">
                      <a:ea typeface="仿宋" panose="02010609060101010101" pitchFamily="49" charset="-122"/>
                    </a:rPr>
                    <a:t>                        </a:t>
                  </a:r>
                  <a14:m>
                    <m:oMath xmlns:m="http://schemas.openxmlformats.org/officeDocument/2006/math">
                      <m:func>
                        <m:func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600" b="0" i="0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li</m:t>
                          </m:r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600" b="0" i="0" smtClean="0"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  <m:t>m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600" b="0" i="0" smtClean="0"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  <m:t>n</m:t>
                              </m:r>
                              <m:r>
                                <a:rPr lang="en-US" altLang="zh-CN" sz="16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sub>
                          </m:sSub>
                        </m:fName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  <m:sSup>
                            <m:sSup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sup>
                          </m:sSup>
                        </m:e>
                      </m:func>
                      <m:r>
                        <a:rPr lang="en-US" altLang="zh-CN" sz="1600" i="1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=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0</m:t>
                      </m:r>
                    </m:oMath>
                  </a14:m>
                  <a:r>
                    <a: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，则称随机变量序列</a:t>
                  </a:r>
                  <a14:m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{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𝑌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𝑛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}</m:t>
                      </m:r>
                    </m:oMath>
                  </a14:m>
                  <a:r>
                    <a:rPr lang="en-US" altLang="zh-CN" sz="1600" b="1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𝒓</m:t>
                      </m:r>
                    </m:oMath>
                  </a14:m>
                  <a:r>
                    <a:rPr lang="zh-CN" altLang="en-US" sz="1600" b="1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阶收敛于随机变量</a:t>
                  </a:r>
                  <a14:m>
                    <m:oMath xmlns:m="http://schemas.openxmlformats.org/officeDocument/2006/math">
                      <m:r>
                        <a:rPr lang="en-US" altLang="zh-CN" sz="1600" b="1" i="1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𝒀</m:t>
                      </m:r>
                    </m:oMath>
                  </a14:m>
                  <a:r>
                    <a:rPr lang="en-US" altLang="zh-CN" sz="1600" b="1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.</a:t>
                  </a:r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8E89D1F7-0E91-399E-5ED8-2011F93D3D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7460" y="2524267"/>
                  <a:ext cx="11108174" cy="789319"/>
                </a:xfrm>
                <a:prstGeom prst="rect">
                  <a:avLst/>
                </a:prstGeom>
                <a:blipFill>
                  <a:blip r:embed="rId6"/>
                  <a:stretch>
                    <a:fillRect r="-2141" b="-692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2" name="组合 51">
              <a:extLst>
                <a:ext uri="{FF2B5EF4-FFF2-40B4-BE49-F238E27FC236}">
                  <a16:creationId xmlns:a16="http://schemas.microsoft.com/office/drawing/2014/main" id="{1C20D7F4-234E-919E-6A1A-10B92A7E1FAD}"/>
                </a:ext>
              </a:extLst>
            </p:cNvPr>
            <p:cNvGrpSpPr/>
            <p:nvPr/>
          </p:nvGrpSpPr>
          <p:grpSpPr>
            <a:xfrm>
              <a:off x="576364" y="3010431"/>
              <a:ext cx="11039270" cy="585288"/>
              <a:chOff x="576364" y="3152486"/>
              <a:chExt cx="11039270" cy="585288"/>
            </a:xfrm>
          </p:grpSpPr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55834FB9-D80A-23AB-3550-E95840FBDD52}"/>
                  </a:ext>
                </a:extLst>
              </p:cNvPr>
              <p:cNvCxnSpPr/>
              <p:nvPr/>
            </p:nvCxnSpPr>
            <p:spPr>
              <a:xfrm flipH="1">
                <a:off x="689430" y="3534539"/>
                <a:ext cx="10926204" cy="0"/>
              </a:xfrm>
              <a:prstGeom prst="line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组合 47">
                <a:extLst>
                  <a:ext uri="{FF2B5EF4-FFF2-40B4-BE49-F238E27FC236}">
                    <a16:creationId xmlns:a16="http://schemas.microsoft.com/office/drawing/2014/main" id="{308A1BEB-563F-14E1-B617-6510AA80A071}"/>
                  </a:ext>
                </a:extLst>
              </p:cNvPr>
              <p:cNvGrpSpPr/>
              <p:nvPr/>
            </p:nvGrpSpPr>
            <p:grpSpPr>
              <a:xfrm>
                <a:off x="576364" y="3152486"/>
                <a:ext cx="1246086" cy="585288"/>
                <a:chOff x="576364" y="1911350"/>
                <a:chExt cx="1246086" cy="585288"/>
              </a:xfrm>
            </p:grpSpPr>
            <p:sp>
              <p:nvSpPr>
                <p:cNvPr id="49" name="矩形: 圆角 48">
                  <a:extLst>
                    <a:ext uri="{FF2B5EF4-FFF2-40B4-BE49-F238E27FC236}">
                      <a16:creationId xmlns:a16="http://schemas.microsoft.com/office/drawing/2014/main" id="{2A881F70-C9AF-52EB-088D-62262E38F161}"/>
                    </a:ext>
                  </a:extLst>
                </p:cNvPr>
                <p:cNvSpPr/>
                <p:nvPr/>
              </p:nvSpPr>
              <p:spPr>
                <a:xfrm>
                  <a:off x="576364" y="1911350"/>
                  <a:ext cx="1246086" cy="585288"/>
                </a:xfrm>
                <a:prstGeom prst="round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0" name="文本框 49">
                      <a:extLst>
                        <a:ext uri="{FF2B5EF4-FFF2-40B4-BE49-F238E27FC236}">
                          <a16:creationId xmlns:a16="http://schemas.microsoft.com/office/drawing/2014/main" id="{F88BA601-1EDC-1D7D-F417-355D8D67132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10069" y="1997238"/>
                      <a:ext cx="778675" cy="388311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groupChr>
                              <m:groupChrPr>
                                <m:chr m:val="→"/>
                                <m:vertJc m:val="bot"/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groupChrPr>
                              <m:e>
                                <m:r>
                                  <m:rPr>
                                    <m:brk m:alnAt="2"/>
                                  </m:rP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groupCh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oMath>
                        </m:oMathPara>
                      </a14:m>
                      <a:endParaRPr lang="zh-CN" altLang="en-US" sz="2000" dirty="0"/>
                    </a:p>
                  </p:txBody>
                </p:sp>
              </mc:Choice>
              <mc:Fallback xmlns="">
                <p:sp>
                  <p:nvSpPr>
                    <p:cNvPr id="50" name="文本框 49">
                      <a:extLst>
                        <a:ext uri="{FF2B5EF4-FFF2-40B4-BE49-F238E27FC236}">
                          <a16:creationId xmlns:a16="http://schemas.microsoft.com/office/drawing/2014/main" id="{F88BA601-1EDC-1D7D-F417-355D8D67132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10069" y="1997238"/>
                      <a:ext cx="778675" cy="388311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</p:grp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7E668722-D4CB-45E0-05E0-35899366729E}"/>
              </a:ext>
            </a:extLst>
          </p:cNvPr>
          <p:cNvGrpSpPr/>
          <p:nvPr/>
        </p:nvGrpSpPr>
        <p:grpSpPr>
          <a:xfrm>
            <a:off x="507460" y="3674617"/>
            <a:ext cx="11108174" cy="1071452"/>
            <a:chOff x="507460" y="3674617"/>
            <a:chExt cx="11108174" cy="107145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EEAF3351-8FF0-B053-837F-EEA0A5CF851C}"/>
                    </a:ext>
                  </a:extLst>
                </p:cNvPr>
                <p:cNvSpPr txBox="1"/>
                <p:nvPr/>
              </p:nvSpPr>
              <p:spPr>
                <a:xfrm>
                  <a:off x="507460" y="3674617"/>
                  <a:ext cx="11108174" cy="7893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zh-CN" altLang="en-US" sz="1600" dirty="0">
                      <a:latin typeface="方正小标宋简体" panose="02000000000000000000" pitchFamily="2" charset="-122"/>
                      <a:ea typeface="方正小标宋简体" panose="02000000000000000000" pitchFamily="2" charset="-122"/>
                    </a:rPr>
                    <a:t>以概率</a:t>
                  </a:r>
                  <a:r>
                    <a:rPr lang="en-US" altLang="zh-CN" sz="1600" dirty="0">
                      <a:latin typeface="方正小标宋简体" panose="02000000000000000000" pitchFamily="2" charset="-122"/>
                      <a:ea typeface="方正小标宋简体" panose="02000000000000000000" pitchFamily="2" charset="-122"/>
                    </a:rPr>
                    <a:t>1</a:t>
                  </a:r>
                  <a:r>
                    <a:rPr lang="zh-CN" altLang="en-US" sz="1600" dirty="0">
                      <a:latin typeface="方正小标宋简体" panose="02000000000000000000" pitchFamily="2" charset="-122"/>
                      <a:ea typeface="方正小标宋简体" panose="02000000000000000000" pitchFamily="2" charset="-122"/>
                    </a:rPr>
                    <a:t>收敛</a:t>
                  </a:r>
                  <a:r>
                    <a: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：随机变量序列通项为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𝑌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𝑛</m:t>
                          </m:r>
                        </m:sub>
                      </m:sSub>
                    </m:oMath>
                  </a14:m>
                  <a:r>
                    <a: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，若有另一个随机变量</a:t>
                  </a:r>
                  <a14:m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𝑌</m:t>
                      </m:r>
                    </m:oMath>
                  </a14:m>
                  <a:r>
                    <a: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，使得当</a:t>
                  </a:r>
                  <a14:m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𝑛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→∞</m:t>
                      </m:r>
                    </m:oMath>
                  </a14:m>
                  <a:r>
                    <a: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时，</a:t>
                  </a:r>
                  <a14:m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1600"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  <m:t>li</m:t>
                              </m:r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仿宋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1600">
                                      <a:latin typeface="Cambria Math" panose="02040503050406030204" pitchFamily="18" charset="0"/>
                                      <a:ea typeface="仿宋" panose="02010609060101010101" pitchFamily="49" charset="-122"/>
                                    </a:rPr>
                                    <m:t>m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1600">
                                      <a:latin typeface="Cambria Math" panose="02040503050406030204" pitchFamily="18" charset="0"/>
                                      <a:ea typeface="仿宋" panose="02010609060101010101" pitchFamily="49" charset="-122"/>
                                    </a:rPr>
                                    <m:t>n</m:t>
                                  </m:r>
                                  <m:r>
                                    <a:rPr lang="en-US" altLang="zh-CN" sz="16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→∞</m:t>
                                  </m:r>
                                </m:sub>
                              </m:sSub>
                            </m:fName>
                            <m:e>
                              <m:sSub>
                                <m:sSub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func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=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𝑌</m:t>
                          </m:r>
                        </m:e>
                      </m:d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=1</m:t>
                      </m:r>
                    </m:oMath>
                  </a14:m>
                  <a:r>
                    <a: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，</a:t>
                  </a:r>
                  <a:endParaRPr lang="en-US" altLang="zh-CN" sz="1600" dirty="0">
                    <a:latin typeface="仿宋" panose="02010609060101010101" pitchFamily="49" charset="-122"/>
                    <a:ea typeface="仿宋" panose="02010609060101010101" pitchFamily="49" charset="-122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             则称随机变量序列</a:t>
                  </a:r>
                  <a14:m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{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𝑌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𝑛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}</m:t>
                      </m:r>
                    </m:oMath>
                  </a14:m>
                  <a:r>
                    <a:rPr lang="zh-CN" altLang="en-US" sz="1600" b="1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以概率</a:t>
                  </a:r>
                  <a:r>
                    <a:rPr lang="en-US" altLang="zh-CN" sz="1600" b="1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1</a:t>
                  </a:r>
                  <a:r>
                    <a:rPr lang="zh-CN" altLang="en-US" sz="1600" b="1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收敛（</a:t>
                  </a:r>
                  <a:r>
                    <a: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或</a:t>
                  </a:r>
                  <a:r>
                    <a:rPr lang="zh-CN" altLang="en-US" sz="1600" b="1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几乎处处收敛）于随机变量</a:t>
                  </a:r>
                  <a14:m>
                    <m:oMath xmlns:m="http://schemas.openxmlformats.org/officeDocument/2006/math">
                      <m:r>
                        <a:rPr lang="en-US" altLang="zh-CN" sz="1600" b="1" i="1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𝒀</m:t>
                      </m:r>
                    </m:oMath>
                  </a14:m>
                  <a:r>
                    <a:rPr lang="en-US" altLang="zh-CN" sz="1600" b="1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.</a:t>
                  </a:r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EEAF3351-8FF0-B053-837F-EEA0A5CF85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7460" y="3674617"/>
                  <a:ext cx="11108174" cy="789319"/>
                </a:xfrm>
                <a:prstGeom prst="rect">
                  <a:avLst/>
                </a:prstGeom>
                <a:blipFill>
                  <a:blip r:embed="rId8"/>
                  <a:stretch>
                    <a:fillRect l="-274" b="-775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8A30532D-60AB-2513-9322-EBC1629FA3D7}"/>
                </a:ext>
              </a:extLst>
            </p:cNvPr>
            <p:cNvGrpSpPr/>
            <p:nvPr/>
          </p:nvGrpSpPr>
          <p:grpSpPr>
            <a:xfrm>
              <a:off x="576364" y="4160781"/>
              <a:ext cx="11039270" cy="585288"/>
              <a:chOff x="576364" y="3152486"/>
              <a:chExt cx="11039270" cy="585288"/>
            </a:xfrm>
          </p:grpSpPr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2AE308A5-C979-27FA-4077-0368A7B802FB}"/>
                  </a:ext>
                </a:extLst>
              </p:cNvPr>
              <p:cNvCxnSpPr/>
              <p:nvPr/>
            </p:nvCxnSpPr>
            <p:spPr>
              <a:xfrm flipH="1">
                <a:off x="689430" y="3534539"/>
                <a:ext cx="10926204" cy="0"/>
              </a:xfrm>
              <a:prstGeom prst="line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6" name="组合 55">
                <a:extLst>
                  <a:ext uri="{FF2B5EF4-FFF2-40B4-BE49-F238E27FC236}">
                    <a16:creationId xmlns:a16="http://schemas.microsoft.com/office/drawing/2014/main" id="{2C84766C-D752-03BB-E0E8-F76C03248445}"/>
                  </a:ext>
                </a:extLst>
              </p:cNvPr>
              <p:cNvGrpSpPr/>
              <p:nvPr/>
            </p:nvGrpSpPr>
            <p:grpSpPr>
              <a:xfrm>
                <a:off x="576364" y="3152486"/>
                <a:ext cx="1246086" cy="585288"/>
                <a:chOff x="576364" y="1911350"/>
                <a:chExt cx="1246086" cy="585288"/>
              </a:xfrm>
            </p:grpSpPr>
            <p:sp>
              <p:nvSpPr>
                <p:cNvPr id="57" name="矩形: 圆角 56">
                  <a:extLst>
                    <a:ext uri="{FF2B5EF4-FFF2-40B4-BE49-F238E27FC236}">
                      <a16:creationId xmlns:a16="http://schemas.microsoft.com/office/drawing/2014/main" id="{53C1563C-1556-7B1A-BB06-415667D921EE}"/>
                    </a:ext>
                  </a:extLst>
                </p:cNvPr>
                <p:cNvSpPr/>
                <p:nvPr/>
              </p:nvSpPr>
              <p:spPr>
                <a:xfrm>
                  <a:off x="576364" y="1911350"/>
                  <a:ext cx="1246086" cy="585288"/>
                </a:xfrm>
                <a:prstGeom prst="round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8" name="文本框 57">
                      <a:extLst>
                        <a:ext uri="{FF2B5EF4-FFF2-40B4-BE49-F238E27FC236}">
                          <a16:creationId xmlns:a16="http://schemas.microsoft.com/office/drawing/2014/main" id="{D60F02C2-8E6B-D63E-BF0C-70C11FAB466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64960" y="2020349"/>
                      <a:ext cx="868892" cy="388311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groupChr>
                              <m:groupChrPr>
                                <m:chr m:val="→"/>
                                <m:vertJc m:val="bot"/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groupChr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</m:e>
                            </m:groupCh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oMath>
                        </m:oMathPara>
                      </a14:m>
                      <a:endParaRPr lang="zh-CN" altLang="en-US" sz="2000" dirty="0"/>
                    </a:p>
                  </p:txBody>
                </p:sp>
              </mc:Choice>
              <mc:Fallback xmlns="">
                <p:sp>
                  <p:nvSpPr>
                    <p:cNvPr id="58" name="文本框 57">
                      <a:extLst>
                        <a:ext uri="{FF2B5EF4-FFF2-40B4-BE49-F238E27FC236}">
                          <a16:creationId xmlns:a16="http://schemas.microsoft.com/office/drawing/2014/main" id="{D60F02C2-8E6B-D63E-BF0C-70C11FAB466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4960" y="2020349"/>
                      <a:ext cx="868892" cy="388311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</p:grp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3F240F0B-DFBA-9423-3A82-7E3F3D6C247E}"/>
              </a:ext>
            </a:extLst>
          </p:cNvPr>
          <p:cNvGrpSpPr/>
          <p:nvPr/>
        </p:nvGrpSpPr>
        <p:grpSpPr>
          <a:xfrm>
            <a:off x="-116732" y="5028498"/>
            <a:ext cx="12509770" cy="895597"/>
            <a:chOff x="-116732" y="5028498"/>
            <a:chExt cx="12509770" cy="895597"/>
          </a:xfrm>
        </p:grpSpPr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29991890-667E-25A8-832E-A3F2F1FDB8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116732" y="5468890"/>
              <a:ext cx="12509770" cy="0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矩形: 圆角 58">
              <a:extLst>
                <a:ext uri="{FF2B5EF4-FFF2-40B4-BE49-F238E27FC236}">
                  <a16:creationId xmlns:a16="http://schemas.microsoft.com/office/drawing/2014/main" id="{8AC52190-BD67-B32E-01C7-0C5CF298EB58}"/>
                </a:ext>
              </a:extLst>
            </p:cNvPr>
            <p:cNvSpPr/>
            <p:nvPr/>
          </p:nvSpPr>
          <p:spPr>
            <a:xfrm>
              <a:off x="2997186" y="5028498"/>
              <a:ext cx="1695032" cy="404316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  <a:latin typeface="汉仪润圆-65简" panose="00020600040101010101" pitchFamily="18" charset="-122"/>
                  <a:ea typeface="汉仪润圆-65简" panose="00020600040101010101" pitchFamily="18" charset="-122"/>
                </a:rPr>
                <a:t>几乎处处收敛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矩形: 圆角 61">
                  <a:extLst>
                    <a:ext uri="{FF2B5EF4-FFF2-40B4-BE49-F238E27FC236}">
                      <a16:creationId xmlns:a16="http://schemas.microsoft.com/office/drawing/2014/main" id="{55879803-FBD1-8882-59AC-5C7FC04F183C}"/>
                    </a:ext>
                  </a:extLst>
                </p:cNvPr>
                <p:cNvSpPr/>
                <p:nvPr/>
              </p:nvSpPr>
              <p:spPr>
                <a:xfrm>
                  <a:off x="2997186" y="5519779"/>
                  <a:ext cx="1695032" cy="404316"/>
                </a:xfrm>
                <a:prstGeom prst="round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汉仪润圆-65简" panose="00020600040101010101" pitchFamily="18" charset="-122"/>
                        </a:rPr>
                        <m:t>𝑟</m:t>
                      </m:r>
                    </m:oMath>
                  </a14:m>
                  <a:r>
                    <a:rPr lang="zh-CN" altLang="en-US" sz="1600" dirty="0">
                      <a:solidFill>
                        <a:schemeClr val="tx1"/>
                      </a:solidFill>
                      <a:latin typeface="汉仪润圆-65简" panose="00020600040101010101" pitchFamily="18" charset="-122"/>
                      <a:ea typeface="汉仪润圆-65简" panose="00020600040101010101" pitchFamily="18" charset="-122"/>
                    </a:rPr>
                    <a:t>阶收敛</a:t>
                  </a:r>
                </a:p>
              </p:txBody>
            </p:sp>
          </mc:Choice>
          <mc:Fallback xmlns="">
            <p:sp>
              <p:nvSpPr>
                <p:cNvPr id="62" name="矩形: 圆角 61">
                  <a:extLst>
                    <a:ext uri="{FF2B5EF4-FFF2-40B4-BE49-F238E27FC236}">
                      <a16:creationId xmlns:a16="http://schemas.microsoft.com/office/drawing/2014/main" id="{55879803-FBD1-8882-59AC-5C7FC04F183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7186" y="5519779"/>
                  <a:ext cx="1695032" cy="404316"/>
                </a:xfrm>
                <a:prstGeom prst="roundRect">
                  <a:avLst/>
                </a:prstGeom>
                <a:blipFill>
                  <a:blip r:embed="rId10"/>
                  <a:stretch>
                    <a:fillRect b="-1044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7" name="矩形: 圆角 66">
              <a:extLst>
                <a:ext uri="{FF2B5EF4-FFF2-40B4-BE49-F238E27FC236}">
                  <a16:creationId xmlns:a16="http://schemas.microsoft.com/office/drawing/2014/main" id="{2C1F636D-2197-5199-26B5-2EADB83793BE}"/>
                </a:ext>
              </a:extLst>
            </p:cNvPr>
            <p:cNvSpPr/>
            <p:nvPr/>
          </p:nvSpPr>
          <p:spPr>
            <a:xfrm>
              <a:off x="5248484" y="5260231"/>
              <a:ext cx="1695032" cy="40431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  <a:latin typeface="汉仪润圆-65简" panose="00020600040101010101" pitchFamily="18" charset="-122"/>
                  <a:ea typeface="汉仪润圆-65简" panose="00020600040101010101" pitchFamily="18" charset="-122"/>
                </a:rPr>
                <a:t>依概率收敛</a:t>
              </a:r>
            </a:p>
          </p:txBody>
        </p:sp>
        <p:sp>
          <p:nvSpPr>
            <p:cNvPr id="69" name="矩形: 圆角 68">
              <a:extLst>
                <a:ext uri="{FF2B5EF4-FFF2-40B4-BE49-F238E27FC236}">
                  <a16:creationId xmlns:a16="http://schemas.microsoft.com/office/drawing/2014/main" id="{5472489A-5811-831C-1EA3-45C5B559A390}"/>
                </a:ext>
              </a:extLst>
            </p:cNvPr>
            <p:cNvSpPr/>
            <p:nvPr/>
          </p:nvSpPr>
          <p:spPr>
            <a:xfrm>
              <a:off x="7499780" y="5260231"/>
              <a:ext cx="1695032" cy="404316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  <a:latin typeface="汉仪润圆-65简" panose="00020600040101010101" pitchFamily="18" charset="-122"/>
                  <a:ea typeface="汉仪润圆-65简" panose="00020600040101010101" pitchFamily="18" charset="-122"/>
                </a:rPr>
                <a:t>依分布收敛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A1922AEF-7EEE-D4E7-3EF5-6158819149EE}"/>
                    </a:ext>
                  </a:extLst>
                </p:cNvPr>
                <p:cNvSpPr txBox="1"/>
                <p:nvPr/>
              </p:nvSpPr>
              <p:spPr>
                <a:xfrm>
                  <a:off x="1145747" y="5170001"/>
                  <a:ext cx="1573306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随机变量序列</a:t>
                  </a:r>
                  <a:endParaRPr lang="en-US" altLang="zh-CN" sz="1600" dirty="0">
                    <a:latin typeface="仿宋" panose="02010609060101010101" pitchFamily="49" charset="-122"/>
                    <a:ea typeface="仿宋" panose="02010609060101010101" pitchFamily="49" charset="-122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A1922AEF-7EEE-D4E7-3EF5-6158819149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5747" y="5170001"/>
                  <a:ext cx="1573306" cy="584775"/>
                </a:xfrm>
                <a:prstGeom prst="rect">
                  <a:avLst/>
                </a:prstGeom>
                <a:blipFill>
                  <a:blip r:embed="rId11"/>
                  <a:stretch>
                    <a:fillRect t="-3125" b="-729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E4BBA178-05F8-F299-FEC0-A60779394A3C}"/>
                    </a:ext>
                  </a:extLst>
                </p:cNvPr>
                <p:cNvSpPr txBox="1"/>
                <p:nvPr/>
              </p:nvSpPr>
              <p:spPr>
                <a:xfrm>
                  <a:off x="9472947" y="5293111"/>
                  <a:ext cx="1573306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于 随机变量</a:t>
                  </a:r>
                  <a14:m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𝑌</m:t>
                      </m:r>
                    </m:oMath>
                  </a14:m>
                  <a:endPara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E4BBA178-05F8-F299-FEC0-A60779394A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72947" y="5293111"/>
                  <a:ext cx="1573306" cy="338554"/>
                </a:xfrm>
                <a:prstGeom prst="rect">
                  <a:avLst/>
                </a:prstGeom>
                <a:blipFill>
                  <a:blip r:embed="rId12"/>
                  <a:stretch>
                    <a:fillRect t="-7143" b="-196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0" name="直接箭头连接符 79">
              <a:extLst>
                <a:ext uri="{FF2B5EF4-FFF2-40B4-BE49-F238E27FC236}">
                  <a16:creationId xmlns:a16="http://schemas.microsoft.com/office/drawing/2014/main" id="{97113D0C-7630-5F91-3308-113A26E7E1A6}"/>
                </a:ext>
              </a:extLst>
            </p:cNvPr>
            <p:cNvCxnSpPr>
              <a:cxnSpLocks/>
              <a:stCxn id="59" idx="3"/>
            </p:cNvCxnSpPr>
            <p:nvPr/>
          </p:nvCxnSpPr>
          <p:spPr>
            <a:xfrm>
              <a:off x="4692218" y="5230656"/>
              <a:ext cx="556266" cy="10433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直接箭头连接符 83">
              <a:extLst>
                <a:ext uri="{FF2B5EF4-FFF2-40B4-BE49-F238E27FC236}">
                  <a16:creationId xmlns:a16="http://schemas.microsoft.com/office/drawing/2014/main" id="{109E2443-9418-6ED3-ECA4-EC0C35188B47}"/>
                </a:ext>
              </a:extLst>
            </p:cNvPr>
            <p:cNvCxnSpPr>
              <a:cxnSpLocks/>
              <a:stCxn id="62" idx="3"/>
            </p:cNvCxnSpPr>
            <p:nvPr/>
          </p:nvCxnSpPr>
          <p:spPr>
            <a:xfrm flipV="1">
              <a:off x="4692218" y="5577114"/>
              <a:ext cx="556266" cy="1448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直接箭头连接符 91">
              <a:extLst>
                <a:ext uri="{FF2B5EF4-FFF2-40B4-BE49-F238E27FC236}">
                  <a16:creationId xmlns:a16="http://schemas.microsoft.com/office/drawing/2014/main" id="{44066C33-74CC-87B9-64F4-20A89414E617}"/>
                </a:ext>
              </a:extLst>
            </p:cNvPr>
            <p:cNvCxnSpPr>
              <a:stCxn id="67" idx="3"/>
              <a:endCxn id="69" idx="1"/>
            </p:cNvCxnSpPr>
            <p:nvPr/>
          </p:nvCxnSpPr>
          <p:spPr>
            <a:xfrm>
              <a:off x="6943516" y="5462389"/>
              <a:ext cx="55626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3" name="文本框 92">
            <a:extLst>
              <a:ext uri="{FF2B5EF4-FFF2-40B4-BE49-F238E27FC236}">
                <a16:creationId xmlns:a16="http://schemas.microsoft.com/office/drawing/2014/main" id="{6390DE7B-315E-6522-DC11-56BDF26844E4}"/>
              </a:ext>
            </a:extLst>
          </p:cNvPr>
          <p:cNvSpPr txBox="1"/>
          <p:nvPr/>
        </p:nvSpPr>
        <p:spPr>
          <a:xfrm>
            <a:off x="7289101" y="2296168"/>
            <a:ext cx="4395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同一分布函数可以对应不同的随机变量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42077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5" grpId="1"/>
      <p:bldP spid="9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366AA635-A21B-A433-4648-23FD4F0AB104}"/>
              </a:ext>
            </a:extLst>
          </p:cNvPr>
          <p:cNvSpPr txBox="1"/>
          <p:nvPr/>
        </p:nvSpPr>
        <p:spPr>
          <a:xfrm>
            <a:off x="507459" y="496110"/>
            <a:ext cx="22565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大数定律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/>
              <p:nvPr/>
            </p:nvSpPr>
            <p:spPr>
              <a:xfrm>
                <a:off x="507459" y="1425187"/>
                <a:ext cx="11108177" cy="800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众所周知，当试验次数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𝑛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很大时，</a:t>
                </a:r>
                <a:r>
                  <a:rPr lang="zh-CN" altLang="en-US" sz="1600" u="sng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事件发生的频率</a:t>
                </a: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就稳定于某个常数。这一概念是从 概率的统计定义 得到的。</a:t>
                </a:r>
                <a:endParaRPr lang="en-US" altLang="zh-CN" sz="16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实际上，当试验次数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𝑛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很大时，</a:t>
                </a:r>
                <a:r>
                  <a:rPr lang="zh-CN" altLang="en-US" sz="1600" u="sng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观测值的算术平均值</a:t>
                </a: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也具有稳定性。这就是 大数定律 要指出的内容。</a:t>
                </a:r>
                <a:endParaRPr lang="en-US" altLang="zh-CN" sz="1600" dirty="0">
                  <a:latin typeface="方正小标宋简体" panose="02000000000000000000" pitchFamily="2" charset="-122"/>
                  <a:ea typeface="方正小标宋简体" panose="02000000000000000000" pitchFamily="2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59" y="1425187"/>
                <a:ext cx="11108177" cy="800219"/>
              </a:xfrm>
              <a:prstGeom prst="rect">
                <a:avLst/>
              </a:prstGeom>
              <a:blipFill>
                <a:blip r:embed="rId3"/>
                <a:stretch>
                  <a:fillRect l="-274" b="-91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CFCFE9ED-E2C0-E136-C16A-73B705043080}"/>
              </a:ext>
            </a:extLst>
          </p:cNvPr>
          <p:cNvSpPr txBox="1"/>
          <p:nvPr/>
        </p:nvSpPr>
        <p:spPr>
          <a:xfrm>
            <a:off x="2763982" y="775742"/>
            <a:ext cx="18010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大数定律的概念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EDDEBC0-6E8B-8A14-DE06-259A2317A373}"/>
              </a:ext>
            </a:extLst>
          </p:cNvPr>
          <p:cNvSpPr/>
          <p:nvPr/>
        </p:nvSpPr>
        <p:spPr>
          <a:xfrm>
            <a:off x="576364" y="2514529"/>
            <a:ext cx="1300881" cy="662999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汉仪润圆-65简" panose="00020600040101010101" pitchFamily="18" charset="-122"/>
                <a:ea typeface="汉仪润圆-65简" panose="00020600040101010101" pitchFamily="18" charset="-122"/>
              </a:rPr>
              <a:t>大数定律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EA34AFD2-C955-DBDA-18EB-4539293D136A}"/>
                  </a:ext>
                </a:extLst>
              </p:cNvPr>
              <p:cNvSpPr txBox="1"/>
              <p:nvPr/>
            </p:nvSpPr>
            <p:spPr>
              <a:xfrm>
                <a:off x="1977956" y="2448130"/>
                <a:ext cx="9637679" cy="7957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为一随机变量序列，</a:t>
                </a:r>
                <a14:m>
                  <m:oMath xmlns:m="http://schemas.openxmlformats.org/officeDocument/2006/math">
                    <m:r>
                      <a:rPr lang="en-US" altLang="zh-CN" sz="1600" b="0" i="0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为一常数序列，设随机变量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𝑌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𝑛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6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𝑖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=1</m:t>
                        </m:r>
                      </m:sub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zh-CN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. </a:t>
                </a:r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对任意小的</a:t>
                </a:r>
                <a14:m>
                  <m:oMath xmlns:m="http://schemas.openxmlformats.org/officeDocument/2006/math">
                    <m:r>
                      <a:rPr lang="zh-CN" altLang="en-US" sz="1600" i="1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，当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𝑛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时，</a:t>
                </a:r>
                <a:endParaRPr lang="en-US" altLang="zh-CN" sz="16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恒有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160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1600" i="1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1600" i="0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𝑛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𝑃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{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&lt;</m:t>
                        </m:r>
                        <m:r>
                          <a:rPr lang="zh-CN" altLang="en-US" sz="16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𝜀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}</m:t>
                        </m:r>
                      </m:e>
                    </m:func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=1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（或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𝑌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𝑛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−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𝑛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</m:groupCh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），则称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1600" b="1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服从大数定律</a:t>
                </a:r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。</a:t>
                </a: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EA34AFD2-C955-DBDA-18EB-4539293D13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7956" y="2448130"/>
                <a:ext cx="9637679" cy="795795"/>
              </a:xfrm>
              <a:prstGeom prst="rect">
                <a:avLst/>
              </a:prstGeom>
              <a:blipFill>
                <a:blip r:embed="rId4"/>
                <a:stretch>
                  <a:fillRect l="-316" t="-40000" r="-2467" b="-22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1AD584B1-1D19-D8AB-4771-3A634CD63A3C}"/>
                  </a:ext>
                </a:extLst>
              </p:cNvPr>
              <p:cNvSpPr txBox="1"/>
              <p:nvPr/>
            </p:nvSpPr>
            <p:spPr>
              <a:xfrm>
                <a:off x="576364" y="3306299"/>
                <a:ext cx="1103927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dirty="0">
                    <a:solidFill>
                      <a:schemeClr val="bg1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意义是：当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𝑛</m:t>
                    </m:r>
                  </m:oMath>
                </a14:m>
                <a:r>
                  <a:rPr lang="zh-CN" altLang="en-US" sz="1400" dirty="0">
                    <a:solidFill>
                      <a:schemeClr val="bg1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很大时，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𝑛</m:t>
                    </m:r>
                  </m:oMath>
                </a14:m>
                <a:r>
                  <a:rPr lang="zh-CN" altLang="en-US" sz="1400" dirty="0">
                    <a:solidFill>
                      <a:schemeClr val="bg1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个随机变量的算术平均值将依概率收敛于某一个常值。至于这个常值是多少，可由以下三种定律给出。</a:t>
                </a: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1AD584B1-1D19-D8AB-4771-3A634CD63A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364" y="3306299"/>
                <a:ext cx="11039271" cy="307777"/>
              </a:xfrm>
              <a:prstGeom prst="rect">
                <a:avLst/>
              </a:prstGeom>
              <a:blipFill>
                <a:blip r:embed="rId5"/>
                <a:stretch>
                  <a:fillRect l="-166" t="-3922" b="-176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2" name="表格 40">
                <a:extLst>
                  <a:ext uri="{FF2B5EF4-FFF2-40B4-BE49-F238E27FC236}">
                    <a16:creationId xmlns:a16="http://schemas.microsoft.com/office/drawing/2014/main" id="{3D3D104F-0725-2E6A-F255-B5F5982417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302694"/>
                  </p:ext>
                </p:extLst>
              </p:nvPr>
            </p:nvGraphicFramePr>
            <p:xfrm>
              <a:off x="507459" y="3920205"/>
              <a:ext cx="11108176" cy="1615694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2595603">
                      <a:extLst>
                        <a:ext uri="{9D8B030D-6E8A-4147-A177-3AD203B41FA5}">
                          <a16:colId xmlns:a16="http://schemas.microsoft.com/office/drawing/2014/main" val="1200597479"/>
                        </a:ext>
                      </a:extLst>
                    </a:gridCol>
                    <a:gridCol w="4846620">
                      <a:extLst>
                        <a:ext uri="{9D8B030D-6E8A-4147-A177-3AD203B41FA5}">
                          <a16:colId xmlns:a16="http://schemas.microsoft.com/office/drawing/2014/main" val="3912919019"/>
                        </a:ext>
                      </a:extLst>
                    </a:gridCol>
                    <a:gridCol w="3665953">
                      <a:extLst>
                        <a:ext uri="{9D8B030D-6E8A-4147-A177-3AD203B41FA5}">
                          <a16:colId xmlns:a16="http://schemas.microsoft.com/office/drawing/2014/main" val="303854832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b="0" dirty="0">
                              <a:latin typeface="汉仪文黑-85W" panose="00020600040101010101" pitchFamily="18" charset="-128"/>
                              <a:ea typeface="汉仪文黑-85W" panose="00020600040101010101" pitchFamily="18" charset="-128"/>
                              <a:cs typeface="汉仪文黑-85W" panose="00020600040101010101" pitchFamily="18" charset="-128"/>
                            </a:rPr>
                            <a:t>大数定律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b="0" dirty="0">
                              <a:latin typeface="汉仪文黑-85W" panose="00020600040101010101" pitchFamily="18" charset="-128"/>
                              <a:ea typeface="汉仪文黑-85W" panose="00020600040101010101" pitchFamily="18" charset="-128"/>
                              <a:cs typeface="汉仪文黑-85W" panose="00020600040101010101" pitchFamily="18" charset="-128"/>
                            </a:rPr>
                            <a:t>对随机变量序列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600" b="0" smtClean="0"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sSub>
                                <m:sSub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altLang="zh-CN" sz="1600" b="0" smtClean="0"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</m:oMath>
                          </a14:m>
                          <a:r>
                            <a:rPr lang="zh-CN" altLang="en-US" sz="1600" b="0" dirty="0">
                              <a:latin typeface="汉仪文黑-85W" panose="00020600040101010101" pitchFamily="18" charset="-128"/>
                              <a:ea typeface="汉仪文黑-85W" panose="00020600040101010101" pitchFamily="18" charset="-128"/>
                              <a:cs typeface="汉仪文黑-85W" panose="00020600040101010101" pitchFamily="18" charset="-128"/>
                            </a:rPr>
                            <a:t>的要求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b="0" dirty="0">
                              <a:latin typeface="汉仪文黑-85W" panose="00020600040101010101" pitchFamily="18" charset="-128"/>
                              <a:ea typeface="汉仪文黑-85W" panose="00020600040101010101" pitchFamily="18" charset="-128"/>
                              <a:cs typeface="汉仪文黑-85W" panose="00020600040101010101" pitchFamily="18" charset="-128"/>
                            </a:rPr>
                            <a:t>算术平均值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  <m:nary>
                                <m:naryPr>
                                  <m:chr m:val="∑"/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1600" b="0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oMath>
                          </a14:m>
                          <a:r>
                            <a:rPr lang="zh-CN" altLang="en-US" sz="1600" b="0" dirty="0">
                              <a:latin typeface="汉仪文黑-85W" panose="00020600040101010101" pitchFamily="18" charset="-128"/>
                              <a:ea typeface="汉仪文黑-85W" panose="00020600040101010101" pitchFamily="18" charset="-128"/>
                              <a:cs typeface="汉仪文黑-85W" panose="00020600040101010101" pitchFamily="18" charset="-128"/>
                            </a:rPr>
                            <a:t>依概率收敛于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207632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b="0" dirty="0"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切比雪夫大数定律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b="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两两不相关，方差均存在且有共同上界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b="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数学期望的平均值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  <m:nary>
                                <m:naryPr>
                                  <m:chr m:val="∑"/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1600" b="0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oMath>
                          </a14:m>
                          <a:endParaRPr lang="zh-CN" altLang="en-US" sz="1600" b="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637292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b="0" dirty="0"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辛钦大数定律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b="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独立同分布（即同期望），期望存在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b="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共同的数学期望</a:t>
                          </a:r>
                          <a14:m>
                            <m:oMath xmlns:m="http://schemas.openxmlformats.org/officeDocument/2006/math">
                              <m:r>
                                <a:rPr lang="zh-CN" altLang="en-US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𝜇</m:t>
                              </m:r>
                            </m:oMath>
                          </a14:m>
                          <a:endParaRPr lang="zh-CN" altLang="en-US" sz="1600" b="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854182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b="0" dirty="0"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伯努利大数定律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~</m:t>
                                </m:r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𝐵</m:t>
                                </m:r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(1,</m:t>
                                </m:r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𝑝</m:t>
                                </m:r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1600" b="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1600" b="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共同的数学期望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𝑝</m:t>
                              </m:r>
                            </m:oMath>
                          </a14:m>
                          <a:endParaRPr lang="zh-CN" altLang="en-US" sz="1600" b="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265500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2" name="表格 40">
                <a:extLst>
                  <a:ext uri="{FF2B5EF4-FFF2-40B4-BE49-F238E27FC236}">
                    <a16:creationId xmlns:a16="http://schemas.microsoft.com/office/drawing/2014/main" id="{3D3D104F-0725-2E6A-F255-B5F5982417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302694"/>
                  </p:ext>
                </p:extLst>
              </p:nvPr>
            </p:nvGraphicFramePr>
            <p:xfrm>
              <a:off x="507459" y="3920205"/>
              <a:ext cx="11108176" cy="1615694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2595603">
                      <a:extLst>
                        <a:ext uri="{9D8B030D-6E8A-4147-A177-3AD203B41FA5}">
                          <a16:colId xmlns:a16="http://schemas.microsoft.com/office/drawing/2014/main" val="1200597479"/>
                        </a:ext>
                      </a:extLst>
                    </a:gridCol>
                    <a:gridCol w="4846620">
                      <a:extLst>
                        <a:ext uri="{9D8B030D-6E8A-4147-A177-3AD203B41FA5}">
                          <a16:colId xmlns:a16="http://schemas.microsoft.com/office/drawing/2014/main" val="3912919019"/>
                        </a:ext>
                      </a:extLst>
                    </a:gridCol>
                    <a:gridCol w="3665953">
                      <a:extLst>
                        <a:ext uri="{9D8B030D-6E8A-4147-A177-3AD203B41FA5}">
                          <a16:colId xmlns:a16="http://schemas.microsoft.com/office/drawing/2014/main" val="3038548324"/>
                        </a:ext>
                      </a:extLst>
                    </a:gridCol>
                  </a:tblGrid>
                  <a:tr h="4370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b="0" dirty="0">
                              <a:latin typeface="汉仪文黑-85W" panose="00020600040101010101" pitchFamily="18" charset="-128"/>
                              <a:ea typeface="汉仪文黑-85W" panose="00020600040101010101" pitchFamily="18" charset="-128"/>
                              <a:cs typeface="汉仪文黑-85W" panose="00020600040101010101" pitchFamily="18" charset="-128"/>
                            </a:rPr>
                            <a:t>大数定律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53711" t="-72222" r="-76226" b="-2819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02990" t="-72222" r="-664" b="-2819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20763211"/>
                      </a:ext>
                    </a:extLst>
                  </a:tr>
                  <a:tr h="4370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b="0" dirty="0"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切比雪夫大数定律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b="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两两不相关，方差均存在且有共同上界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02990" t="-172222" r="-664" b="-1819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637292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b="0" dirty="0"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辛钦大数定律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b="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独立同分布（即同期望），期望存在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02990" t="-321311" r="-664" b="-1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854182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b="0" dirty="0"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伯努利大数定律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53711" t="-421311" r="-76226" b="-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02990" t="-421311" r="-664" b="-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6550056"/>
                      </a:ext>
                    </a:extLst>
                  </a:tr>
                </a:tbl>
              </a:graphicData>
            </a:graphic>
          </p:graphicFrame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12192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 animBg="1"/>
      <p:bldP spid="28" grpId="0"/>
      <p:bldP spid="2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6F33AAF4-4080-5DA1-655C-B7C708E1B2F1}"/>
              </a:ext>
            </a:extLst>
          </p:cNvPr>
          <p:cNvSpPr txBox="1"/>
          <p:nvPr/>
        </p:nvSpPr>
        <p:spPr>
          <a:xfrm>
            <a:off x="507459" y="496110"/>
            <a:ext cx="22565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大数定律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EB1C3AD-1B14-0491-2F89-D00273FE2483}"/>
              </a:ext>
            </a:extLst>
          </p:cNvPr>
          <p:cNvSpPr txBox="1"/>
          <p:nvPr/>
        </p:nvSpPr>
        <p:spPr>
          <a:xfrm>
            <a:off x="2763982" y="775742"/>
            <a:ext cx="20112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切比雪夫大数定律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C509813B-CF8F-6076-2A10-B7C0F651A801}"/>
                  </a:ext>
                </a:extLst>
              </p:cNvPr>
              <p:cNvSpPr txBox="1"/>
              <p:nvPr/>
            </p:nvSpPr>
            <p:spPr>
              <a:xfrm>
                <a:off x="541912" y="3295253"/>
                <a:ext cx="11108176" cy="16190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2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：某回合制战斗游戏中有一技能名为“幸运礼物”，效果为：</a:t>
                </a:r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“使用后，对手下一次攻击可能无法对你造成伤害，也可</a:t>
                </a:r>
                <a:endParaRPr lang="en-US" altLang="zh-CN" sz="16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>
                  <a:spcBef>
                    <a:spcPts val="300"/>
                  </a:spcBef>
                </a:pPr>
                <a:r>
                  <a:rPr lang="en-US" altLang="zh-CN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     </a:t>
                </a:r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能对你造成更大的伤害，甚至可能为你提供治疗。使用次数越多，无法造成伤害的可能性越大。”</a:t>
                </a:r>
                <a:endParaRPr lang="en-US" altLang="zh-CN" sz="16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          程序员是这样设计这个技能的：</a:t>
                </a:r>
                <a:endParaRPr lang="en-US" altLang="zh-CN" sz="160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  <a:p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          </a:t>
                </a:r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战斗中第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𝑛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次使用该技能时，该技能使对手的下一次伤害系数变为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=0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=1−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den>
                    </m:f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，</a:t>
                </a:r>
                <a:r>
                  <a:rPr lang="en-US" altLang="zh-CN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e>
                        </m:rad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altLang="zh-CN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          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试证明：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{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𝑛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服从大数定律。</a:t>
                </a:r>
                <a:endParaRPr lang="en-US" altLang="zh-CN" sz="16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C509813B-CF8F-6076-2A10-B7C0F651A8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912" y="3295253"/>
                <a:ext cx="11108176" cy="1619033"/>
              </a:xfrm>
              <a:prstGeom prst="rect">
                <a:avLst/>
              </a:prstGeom>
              <a:blipFill>
                <a:blip r:embed="rId3"/>
                <a:stretch>
                  <a:fillRect l="-329" t="-1887" b="-49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组合 18">
            <a:extLst>
              <a:ext uri="{FF2B5EF4-FFF2-40B4-BE49-F238E27FC236}">
                <a16:creationId xmlns:a16="http://schemas.microsoft.com/office/drawing/2014/main" id="{F9163CBD-72FF-24B4-1DA5-8FB8E43E1949}"/>
              </a:ext>
            </a:extLst>
          </p:cNvPr>
          <p:cNvGrpSpPr/>
          <p:nvPr/>
        </p:nvGrpSpPr>
        <p:grpSpPr>
          <a:xfrm>
            <a:off x="576364" y="2544066"/>
            <a:ext cx="11039272" cy="499212"/>
            <a:chOff x="576364" y="2544066"/>
            <a:chExt cx="11039272" cy="4992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3E66A812-0C05-1BE8-0D30-83373A44DA23}"/>
                    </a:ext>
                  </a:extLst>
                </p:cNvPr>
                <p:cNvSpPr txBox="1"/>
                <p:nvPr/>
              </p:nvSpPr>
              <p:spPr>
                <a:xfrm>
                  <a:off x="576364" y="2544066"/>
                  <a:ext cx="11039272" cy="4591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注：此定理的证明需要使用切比雪夫不等式，即：若随机变量</a:t>
                  </a:r>
                  <a14:m>
                    <m:oMath xmlns:m="http://schemas.openxmlformats.org/officeDocument/2006/math">
                      <m:r>
                        <a:rPr lang="en-US" altLang="zh-CN" sz="1600" i="1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𝑋</m:t>
                      </m:r>
                    </m:oMath>
                  </a14:m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的期望、方差均存在，则 </a:t>
                  </a:r>
                  <a14:m>
                    <m:oMath xmlns:m="http://schemas.openxmlformats.org/officeDocument/2006/math">
                      <m:r>
                        <a:rPr lang="en-US" altLang="zh-CN" sz="1600" b="1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𝑷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|</m:t>
                          </m:r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𝑿</m:t>
                          </m:r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−</m:t>
                          </m:r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𝑬</m:t>
                          </m:r>
                          <m:d>
                            <m:dPr>
                              <m:ctrlPr>
                                <a:rPr lang="en-US" altLang="zh-CN" sz="1600" b="1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1600" b="1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𝑿</m:t>
                              </m:r>
                            </m:e>
                          </m:d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≥</m:t>
                          </m:r>
                          <m:r>
                            <a:rPr lang="zh-CN" altLang="en-US" sz="1600" b="1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𝜺</m:t>
                          </m:r>
                        </m:e>
                      </m:d>
                      <m:r>
                        <a:rPr lang="en-US" altLang="zh-CN" sz="1600" b="1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≤</m:t>
                      </m:r>
                      <m:f>
                        <m:fPr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𝑫</m:t>
                          </m:r>
                          <m:d>
                            <m:dPr>
                              <m:ctrlPr>
                                <a:rPr lang="en-US" altLang="zh-CN" sz="1600" b="1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1600" b="1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𝑿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altLang="zh-CN" sz="1600" b="1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zh-CN" altLang="en-US" sz="1600" b="1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𝜺</m:t>
                              </m:r>
                            </m:e>
                            <m:sup>
                              <m:r>
                                <a:rPr lang="en-US" altLang="zh-CN" sz="1600" b="1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</m:oMath>
                  </a14:m>
                  <a:endParaRPr lang="zh-CN" altLang="en-US" sz="1600" b="1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3E66A812-0C05-1BE8-0D30-83373A44DA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364" y="2544066"/>
                  <a:ext cx="11039272" cy="459165"/>
                </a:xfrm>
                <a:prstGeom prst="rect">
                  <a:avLst/>
                </a:prstGeom>
                <a:blipFill>
                  <a:blip r:embed="rId4"/>
                  <a:stretch>
                    <a:fillRect l="-331"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94E61094-CA7B-D4DE-5FFD-9CE56BA84D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6364" y="3043278"/>
              <a:ext cx="11039272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3CFA5629-C9B3-7F30-DCE3-143FB6D8FE5E}"/>
                  </a:ext>
                </a:extLst>
              </p:cNvPr>
              <p:cNvSpPr txBox="1"/>
              <p:nvPr/>
            </p:nvSpPr>
            <p:spPr>
              <a:xfrm>
                <a:off x="541912" y="4914286"/>
                <a:ext cx="11039269" cy="10353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5000"/>
                  </a:lnSpc>
                </a:pP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解：显然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=0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，而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𝐷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b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0=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den>
                        </m:f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ad>
                                  <m:radPr>
                                    <m:degHide m:val="on"/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𝑛</m:t>
                                    </m:r>
                                  </m:e>
                                </m:rad>
                              </m:e>
                            </m:d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𝑛</m:t>
                                    </m:r>
                                  </m:e>
                                </m:rad>
                              </m:e>
                            </m:d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+0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−0=2</m:t>
                    </m:r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  <a:p>
                <a:pPr>
                  <a:lnSpc>
                    <a:spcPct val="125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故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{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𝑛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服从切比雪夫大数定律，即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160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𝑛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𝑃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{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  <m:t>𝑛</m:t>
                                </m:r>
                              </m:den>
                            </m:f>
                            <m:nary>
                              <m:naryPr>
                                <m:chr m:val="∑"/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sz="1600" i="1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  <m:t>𝑖</m:t>
                                </m:r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  <m:t>𝑛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仿宋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仿宋" panose="02010609060101010101" pitchFamily="49" charset="-122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仿宋" panose="02010609060101010101" pitchFamily="49" charset="-122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0</m:t>
                            </m:r>
                          </m:e>
                        </m:d>
                        <m:r>
                          <a:rPr lang="en-US" altLang="zh-CN" sz="1600" i="1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&lt;</m:t>
                        </m:r>
                        <m:r>
                          <a:rPr lang="zh-CN" altLang="en-US" sz="1600" i="1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𝜀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}</m:t>
                        </m:r>
                      </m:e>
                    </m:func>
                    <m:r>
                      <a:rPr lang="en-US" altLang="zh-CN" sz="1600" i="1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=1</m:t>
                    </m:r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  <a:endPara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3CFA5629-C9B3-7F30-DCE3-143FB6D8FE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912" y="4914286"/>
                <a:ext cx="11039269" cy="1035348"/>
              </a:xfrm>
              <a:prstGeom prst="rect">
                <a:avLst/>
              </a:prstGeom>
              <a:blipFill>
                <a:blip r:embed="rId5"/>
                <a:stretch>
                  <a:fillRect l="-331" b="-482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组合 21">
            <a:extLst>
              <a:ext uri="{FF2B5EF4-FFF2-40B4-BE49-F238E27FC236}">
                <a16:creationId xmlns:a16="http://schemas.microsoft.com/office/drawing/2014/main" id="{09DBE0F1-4317-04EE-887D-9310B56F40FF}"/>
              </a:ext>
            </a:extLst>
          </p:cNvPr>
          <p:cNvGrpSpPr/>
          <p:nvPr/>
        </p:nvGrpSpPr>
        <p:grpSpPr>
          <a:xfrm>
            <a:off x="576364" y="1359803"/>
            <a:ext cx="11039272" cy="1144216"/>
            <a:chOff x="576364" y="1359803"/>
            <a:chExt cx="11039272" cy="1144216"/>
          </a:xfrm>
        </p:grpSpPr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CEDDE874-0E92-5891-C0FB-5CB902797554}"/>
                </a:ext>
              </a:extLst>
            </p:cNvPr>
            <p:cNvGrpSpPr/>
            <p:nvPr/>
          </p:nvGrpSpPr>
          <p:grpSpPr>
            <a:xfrm>
              <a:off x="576364" y="1449424"/>
              <a:ext cx="11039272" cy="1054595"/>
              <a:chOff x="576364" y="1449424"/>
              <a:chExt cx="11039272" cy="1054595"/>
            </a:xfrm>
          </p:grpSpPr>
          <p:sp>
            <p:nvSpPr>
              <p:cNvPr id="10" name="矩形: 圆角 9">
                <a:extLst>
                  <a:ext uri="{FF2B5EF4-FFF2-40B4-BE49-F238E27FC236}">
                    <a16:creationId xmlns:a16="http://schemas.microsoft.com/office/drawing/2014/main" id="{7093673C-2826-B7DD-A72B-274DA69378C7}"/>
                  </a:ext>
                </a:extLst>
              </p:cNvPr>
              <p:cNvSpPr/>
              <p:nvPr/>
            </p:nvSpPr>
            <p:spPr>
              <a:xfrm>
                <a:off x="576364" y="1611778"/>
                <a:ext cx="2187618" cy="662999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>
                    <a:latin typeface="汉仪润圆-65简" panose="00020600040101010101" pitchFamily="18" charset="-122"/>
                    <a:ea typeface="汉仪润圆-65简" panose="00020600040101010101" pitchFamily="18" charset="-122"/>
                  </a:rPr>
                  <a:t>切比雪夫大数定律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文本框 10">
                    <a:extLst>
                      <a:ext uri="{FF2B5EF4-FFF2-40B4-BE49-F238E27FC236}">
                        <a16:creationId xmlns:a16="http://schemas.microsoft.com/office/drawing/2014/main" id="{5C810211-C7BF-42DF-65B0-E1BC830676EA}"/>
                      </a:ext>
                    </a:extLst>
                  </p:cNvPr>
                  <p:cNvSpPr txBox="1"/>
                  <p:nvPr/>
                </p:nvSpPr>
                <p:spPr>
                  <a:xfrm>
                    <a:off x="2913321" y="1449424"/>
                    <a:ext cx="8702315" cy="98770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>
                      <a:lnSpc>
                        <a:spcPct val="150000"/>
                      </a:lnSpc>
                    </a:pPr>
                    <a:r>
                      <a:rPr lang="zh-CN" altLang="en-US" sz="1600" dirty="0">
                        <a:latin typeface="仿宋" panose="02010609060101010101" pitchFamily="49" charset="-122"/>
                        <a:ea typeface="仿宋" panose="02010609060101010101" pitchFamily="49" charset="-122"/>
                      </a:rPr>
                      <a:t>若</a:t>
                    </a:r>
                    <a14:m>
                      <m:oMath xmlns:m="http://schemas.openxmlformats.org/officeDocument/2006/math"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a14:m>
                    <a:r>
                      <a:rPr lang="zh-CN" altLang="en-US" sz="1600" dirty="0">
                        <a:latin typeface="仿宋" panose="02010609060101010101" pitchFamily="49" charset="-122"/>
                        <a:ea typeface="仿宋" panose="02010609060101010101" pitchFamily="49" charset="-122"/>
                      </a:rPr>
                      <a:t>两两不相关，它们方差存在且有共同上界，即</a:t>
                    </a:r>
                    <a14:m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𝐷</m:t>
                        </m:r>
                        <m:d>
                          <m:d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≤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𝐶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(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𝑖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=1,2,…)(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𝐶</m:t>
                        </m:r>
                        <m:r>
                          <a:rPr lang="zh-CN" altLang="en-US" sz="1600" i="1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为</m:t>
                        </m:r>
                        <m:r>
                          <a:rPr lang="zh-CN" altLang="en-US" sz="160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常数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)</m:t>
                        </m:r>
                      </m:oMath>
                    </a14:m>
                    <a:r>
                      <a:rPr lang="zh-CN" altLang="en-US" sz="1600" dirty="0">
                        <a:latin typeface="仿宋" panose="02010609060101010101" pitchFamily="49" charset="-122"/>
                        <a:ea typeface="仿宋" panose="02010609060101010101" pitchFamily="49" charset="-122"/>
                      </a:rPr>
                      <a:t>，</a:t>
                    </a:r>
                    <a:endParaRPr lang="en-US" altLang="zh-CN" sz="1600" dirty="0">
                      <a:latin typeface="仿宋" panose="02010609060101010101" pitchFamily="49" charset="-122"/>
                      <a:ea typeface="仿宋" panose="02010609060101010101" pitchFamily="49" charset="-122"/>
                    </a:endParaRPr>
                  </a:p>
                  <a:p>
                    <a:pPr>
                      <a:lnSpc>
                        <a:spcPct val="150000"/>
                      </a:lnSpc>
                    </a:pPr>
                    <a:r>
                      <a:rPr lang="zh-CN" altLang="en-US" sz="1600" dirty="0">
                        <a:latin typeface="仿宋" panose="02010609060101010101" pitchFamily="49" charset="-122"/>
                        <a:ea typeface="仿宋" panose="02010609060101010101" pitchFamily="49" charset="-122"/>
                      </a:rPr>
                      <a:t>则</a:t>
                    </a:r>
                    <a14:m>
                      <m:oMath xmlns:m="http://schemas.openxmlformats.org/officeDocument/2006/math"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a14:m>
                    <a:r>
                      <a:rPr lang="zh-CN" altLang="en-US" sz="1600" dirty="0">
                        <a:latin typeface="仿宋" panose="02010609060101010101" pitchFamily="49" charset="-122"/>
                        <a:ea typeface="仿宋" panose="02010609060101010101" pitchFamily="49" charset="-122"/>
                      </a:rPr>
                      <a:t>服从大数定律，</a:t>
                    </a:r>
                    <a:r>
                      <a:rPr lang="en-US" altLang="zh-CN" sz="1600" dirty="0">
                        <a:ea typeface="仿宋" panose="02010609060101010101" pitchFamily="49" charset="-122"/>
                      </a:rPr>
                      <a:t> </a:t>
                    </a:r>
                    <a:r>
                      <a:rPr lang="zh-CN" altLang="en-US" sz="1600" dirty="0">
                        <a:ea typeface="仿宋" panose="02010609060101010101" pitchFamily="49" charset="-122"/>
                      </a:rPr>
                      <a:t>均值</a:t>
                    </a:r>
                    <a:r>
                      <a:rPr lang="zh-CN" altLang="en-US" sz="1600" dirty="0">
                        <a:latin typeface="仿宋" panose="02010609060101010101" pitchFamily="49" charset="-122"/>
                        <a:ea typeface="仿宋" panose="02010609060101010101" pitchFamily="49" charset="-122"/>
                      </a:rPr>
                      <a:t>依概率收敛于其期望，即</a:t>
                    </a:r>
                    <a14:m>
                      <m:oMath xmlns:m="http://schemas.openxmlformats.org/officeDocument/2006/math">
                        <m:func>
                          <m:func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1600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  <m:t>𝑛</m:t>
                                </m:r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→∞</m:t>
                                </m:r>
                              </m:lim>
                            </m:limLow>
                          </m:fName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𝑃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{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仿宋" panose="02010609060101010101" pitchFamily="49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仿宋" panose="02010609060101010101" pitchFamily="49" charset="-122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仿宋" panose="02010609060101010101" pitchFamily="49" charset="-122"/>
                                      </a:rPr>
                                      <m:t>𝑛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仿宋" panose="02010609060101010101" pitchFamily="49" charset="-122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仿宋" panose="02010609060101010101" pitchFamily="49" charset="-122"/>
                                      </a:rPr>
                                      <m:t>𝑖</m:t>
                                    </m:r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仿宋" panose="02010609060101010101" pitchFamily="49" charset="-122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仿宋" panose="02010609060101010101" pitchFamily="49" charset="-122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zh-CN" sz="1600" i="1">
                                            <a:latin typeface="Cambria Math" panose="02040503050406030204" pitchFamily="18" charset="0"/>
                                            <a:ea typeface="仿宋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i="1">
                                            <a:latin typeface="Cambria Math" panose="02040503050406030204" pitchFamily="18" charset="0"/>
                                            <a:ea typeface="仿宋" panose="02010609060101010101" pitchFamily="49" charset="-122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altLang="zh-CN" sz="1600" i="1">
                                            <a:latin typeface="Cambria Math" panose="02040503050406030204" pitchFamily="18" charset="0"/>
                                            <a:ea typeface="仿宋" panose="02010609060101010101" pitchFamily="49" charset="-122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仿宋" panose="02010609060101010101" pitchFamily="49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仿宋" panose="02010609060101010101" pitchFamily="49" charset="-122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仿宋" panose="02010609060101010101" pitchFamily="49" charset="-122"/>
                                      </a:rPr>
                                      <m:t>𝑛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仿宋" panose="02010609060101010101" pitchFamily="49" charset="-122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仿宋" panose="02010609060101010101" pitchFamily="49" charset="-122"/>
                                      </a:rPr>
                                      <m:t>𝑖</m:t>
                                    </m:r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仿宋" panose="02010609060101010101" pitchFamily="49" charset="-122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仿宋" panose="02010609060101010101" pitchFamily="49" charset="-122"/>
                                      </a:rPr>
                                      <m:t>𝑛</m:t>
                                    </m:r>
                                  </m:sup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仿宋" panose="02010609060101010101" pitchFamily="49" charset="-122"/>
                                      </a:rPr>
                                      <m:t>𝐸</m:t>
                                    </m:r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仿宋" panose="02010609060101010101" pitchFamily="49" charset="-122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altLang="zh-CN" sz="1600" i="1">
                                            <a:latin typeface="Cambria Math" panose="02040503050406030204" pitchFamily="18" charset="0"/>
                                            <a:ea typeface="仿宋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i="1">
                                            <a:latin typeface="Cambria Math" panose="02040503050406030204" pitchFamily="18" charset="0"/>
                                            <a:ea typeface="仿宋" panose="02010609060101010101" pitchFamily="49" charset="-122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altLang="zh-CN" sz="1600" i="1">
                                            <a:latin typeface="Cambria Math" panose="02040503050406030204" pitchFamily="18" charset="0"/>
                                            <a:ea typeface="仿宋" panose="02010609060101010101" pitchFamily="49" charset="-122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仿宋" panose="02010609060101010101" pitchFamily="49" charset="-122"/>
                                      </a:rPr>
                                      <m:t>)</m:t>
                                    </m:r>
                                  </m:e>
                                </m:nary>
                              </m:e>
                            </m:d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&lt;</m:t>
                            </m:r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𝜀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}</m:t>
                            </m:r>
                          </m:e>
                        </m:func>
                        <m:r>
                          <a:rPr lang="en-US" altLang="zh-CN" sz="1600" i="1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=1</m:t>
                        </m:r>
                      </m:oMath>
                    </a14:m>
                    <a:r>
                      <a:rPr lang="en-US" altLang="zh-CN" sz="1600" dirty="0">
                        <a:latin typeface="仿宋" panose="02010609060101010101" pitchFamily="49" charset="-122"/>
                        <a:ea typeface="仿宋" panose="02010609060101010101" pitchFamily="49" charset="-122"/>
                      </a:rPr>
                      <a:t>.</a:t>
                    </a:r>
                    <a:endPara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endParaRPr>
                  </a:p>
                </p:txBody>
              </p:sp>
            </mc:Choice>
            <mc:Fallback xmlns="">
              <p:sp>
                <p:nvSpPr>
                  <p:cNvPr id="11" name="文本框 10">
                    <a:extLst>
                      <a:ext uri="{FF2B5EF4-FFF2-40B4-BE49-F238E27FC236}">
                        <a16:creationId xmlns:a16="http://schemas.microsoft.com/office/drawing/2014/main" id="{5C810211-C7BF-42DF-65B0-E1BC830676E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13321" y="1449424"/>
                    <a:ext cx="8702315" cy="987706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420" b="-5061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9E5709A7-8639-5718-5566-5A5AC34528D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364" y="2504019"/>
                <a:ext cx="11039272" cy="0"/>
              </a:xfrm>
              <a:prstGeom prst="line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E1538302-FD08-E893-5405-D657258A81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6364" y="1359803"/>
              <a:ext cx="11039272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503174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49D0473E-FA18-AC5A-B9FB-E3B5FFCACF48}"/>
              </a:ext>
            </a:extLst>
          </p:cNvPr>
          <p:cNvSpPr txBox="1"/>
          <p:nvPr/>
        </p:nvSpPr>
        <p:spPr>
          <a:xfrm>
            <a:off x="507459" y="496110"/>
            <a:ext cx="22565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大数定律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3609B4F-2EAB-340F-9778-4B07EEA32200}"/>
              </a:ext>
            </a:extLst>
          </p:cNvPr>
          <p:cNvSpPr txBox="1"/>
          <p:nvPr/>
        </p:nvSpPr>
        <p:spPr>
          <a:xfrm>
            <a:off x="2763982" y="775742"/>
            <a:ext cx="1723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辛钦大数定律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982E0960-A581-7C7E-241D-AB5EB70C4431}"/>
                  </a:ext>
                </a:extLst>
              </p:cNvPr>
              <p:cNvSpPr txBox="1"/>
              <p:nvPr/>
            </p:nvSpPr>
            <p:spPr>
              <a:xfrm>
                <a:off x="507460" y="2660530"/>
                <a:ext cx="11308404" cy="9155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3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：某随机数产生器一次可以给出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3</m:t>
                            </m:r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,…,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𝑘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𝑘</m:t>
                            </m:r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,…(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𝑘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=1,2,…)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等数，给出每个数的概率为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𝑘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𝑘</m:t>
                            </m:r>
                          </m:sup>
                        </m:sSup>
                      </m:den>
                    </m:f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𝑘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=1,2,…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.</m:t>
                    </m:r>
                  </m:oMath>
                </a14:m>
                <a:endParaRPr lang="en-US" altLang="zh-CN" sz="160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  <a:p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          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使用它产生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𝑛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个随机数，记为随机变量序列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{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𝑛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}</m:t>
                    </m:r>
                  </m:oMath>
                </a14:m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.  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试判断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{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𝑛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是否服从大数定律。（已知：级数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zh-CN" altLang="en-US" sz="160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𝑛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=1</m:t>
                        </m:r>
                      </m:sub>
                      <m:sup>
                        <m:r>
                          <a:rPr lang="en-US" altLang="zh-CN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fPr>
                          <m:num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zh-CN" altLang="en-US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6</m:t>
                        </m:r>
                      </m:den>
                    </m:f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）</a:t>
                </a: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982E0960-A581-7C7E-241D-AB5EB70C44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2660530"/>
                <a:ext cx="11308404" cy="915507"/>
              </a:xfrm>
              <a:prstGeom prst="rect">
                <a:avLst/>
              </a:prstGeom>
              <a:blipFill>
                <a:blip r:embed="rId3"/>
                <a:stretch>
                  <a:fillRect l="-270" b="-562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C09A1BA3-3EDC-0831-7027-529F28BFDC33}"/>
                  </a:ext>
                </a:extLst>
              </p:cNvPr>
              <p:cNvSpPr txBox="1"/>
              <p:nvPr/>
            </p:nvSpPr>
            <p:spPr>
              <a:xfrm>
                <a:off x="507459" y="3429000"/>
                <a:ext cx="11039269" cy="6370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解：显然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独立同分布，且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=1</m:t>
                        </m:r>
                      </m:sub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𝑘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fPr>
                          <m:num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𝑘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zh-CN" altLang="en-US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naryPr>
                      <m:sub>
                        <m:r>
                          <m:rPr>
                            <m:brk m:alnAt="1"/>
                          </m:r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𝑘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=1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fPr>
                          <m:num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𝑘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则由辛钦大数定律知，</a:t>
                </a:r>
                <a:r>
                  <a:rPr lang="en-US" altLang="zh-CN" sz="1600" dirty="0">
                    <a:ea typeface="华文宋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{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𝑛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服从大数定律</a:t>
                </a: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  <a:endPara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C09A1BA3-3EDC-0831-7027-529F28BFDC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59" y="3429000"/>
                <a:ext cx="11039269" cy="637034"/>
              </a:xfrm>
              <a:prstGeom prst="rect">
                <a:avLst/>
              </a:prstGeom>
              <a:blipFill>
                <a:blip r:embed="rId4"/>
                <a:stretch>
                  <a:fillRect l="-276" t="-19231" b="-82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组合 22">
            <a:extLst>
              <a:ext uri="{FF2B5EF4-FFF2-40B4-BE49-F238E27FC236}">
                <a16:creationId xmlns:a16="http://schemas.microsoft.com/office/drawing/2014/main" id="{772B2EFE-086D-547B-FF0F-A913E604F171}"/>
              </a:ext>
            </a:extLst>
          </p:cNvPr>
          <p:cNvGrpSpPr/>
          <p:nvPr/>
        </p:nvGrpSpPr>
        <p:grpSpPr>
          <a:xfrm>
            <a:off x="576364" y="5526182"/>
            <a:ext cx="11039272" cy="379681"/>
            <a:chOff x="576364" y="2663597"/>
            <a:chExt cx="11039272" cy="379681"/>
          </a:xfrm>
        </p:grpSpPr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27AA3251-0C76-CF57-FDA9-13E33FAD5909}"/>
                </a:ext>
              </a:extLst>
            </p:cNvPr>
            <p:cNvSpPr txBox="1"/>
            <p:nvPr/>
          </p:nvSpPr>
          <p:spPr>
            <a:xfrm>
              <a:off x="576364" y="2663597"/>
              <a:ext cx="1103927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</a:rPr>
                <a:t>注：它是辛钦大数定律的特殊情况。</a:t>
              </a:r>
            </a:p>
          </p:txBody>
        </p: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7843D010-6530-952C-96B6-1B8100B0A5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6364" y="3043278"/>
              <a:ext cx="11039272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ABDABD65-180F-99AD-2645-8CFC07FACD7C}"/>
              </a:ext>
            </a:extLst>
          </p:cNvPr>
          <p:cNvGrpSpPr/>
          <p:nvPr/>
        </p:nvGrpSpPr>
        <p:grpSpPr>
          <a:xfrm>
            <a:off x="576364" y="1359803"/>
            <a:ext cx="11039272" cy="1144216"/>
            <a:chOff x="576364" y="1359803"/>
            <a:chExt cx="11039272" cy="1144216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EB9C7194-B4BB-49EB-172E-FFB2204E04AB}"/>
                </a:ext>
              </a:extLst>
            </p:cNvPr>
            <p:cNvGrpSpPr/>
            <p:nvPr/>
          </p:nvGrpSpPr>
          <p:grpSpPr>
            <a:xfrm>
              <a:off x="576364" y="1438058"/>
              <a:ext cx="11039272" cy="1065961"/>
              <a:chOff x="576364" y="1438058"/>
              <a:chExt cx="11039272" cy="1065961"/>
            </a:xfrm>
          </p:grpSpPr>
          <p:sp>
            <p:nvSpPr>
              <p:cNvPr id="7" name="矩形: 圆角 6">
                <a:extLst>
                  <a:ext uri="{FF2B5EF4-FFF2-40B4-BE49-F238E27FC236}">
                    <a16:creationId xmlns:a16="http://schemas.microsoft.com/office/drawing/2014/main" id="{9571D4BB-A2CE-1B23-356C-516D2201E257}"/>
                  </a:ext>
                </a:extLst>
              </p:cNvPr>
              <p:cNvSpPr/>
              <p:nvPr/>
            </p:nvSpPr>
            <p:spPr>
              <a:xfrm>
                <a:off x="576364" y="1600411"/>
                <a:ext cx="2187618" cy="662999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>
                    <a:latin typeface="汉仪润圆-65简" panose="00020600040101010101" pitchFamily="18" charset="-122"/>
                    <a:ea typeface="汉仪润圆-65简" panose="00020600040101010101" pitchFamily="18" charset="-122"/>
                  </a:rPr>
                  <a:t>辛钦大数定律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文本框 7">
                    <a:extLst>
                      <a:ext uri="{FF2B5EF4-FFF2-40B4-BE49-F238E27FC236}">
                        <a16:creationId xmlns:a16="http://schemas.microsoft.com/office/drawing/2014/main" id="{BA43EFBF-4675-E8E5-B19A-4DD40E9EE925}"/>
                      </a:ext>
                    </a:extLst>
                  </p:cNvPr>
                  <p:cNvSpPr txBox="1"/>
                  <p:nvPr/>
                </p:nvSpPr>
                <p:spPr>
                  <a:xfrm>
                    <a:off x="2913321" y="1438058"/>
                    <a:ext cx="8702315" cy="98770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>
                      <a:lnSpc>
                        <a:spcPct val="150000"/>
                      </a:lnSpc>
                    </a:pPr>
                    <a:r>
                      <a:rPr lang="zh-CN" altLang="en-US" sz="1600" dirty="0">
                        <a:latin typeface="仿宋" panose="02010609060101010101" pitchFamily="49" charset="-122"/>
                        <a:ea typeface="仿宋" panose="02010609060101010101" pitchFamily="49" charset="-122"/>
                      </a:rPr>
                      <a:t>若</a:t>
                    </a:r>
                    <a14:m>
                      <m:oMath xmlns:m="http://schemas.openxmlformats.org/officeDocument/2006/math"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a14:m>
                    <a:r>
                      <a:rPr lang="zh-CN" altLang="en-US" sz="1600" dirty="0">
                        <a:latin typeface="仿宋" panose="02010609060101010101" pitchFamily="49" charset="-122"/>
                        <a:ea typeface="仿宋" panose="02010609060101010101" pitchFamily="49" charset="-122"/>
                      </a:rPr>
                      <a:t>独立同分布，它们的期望</a:t>
                    </a:r>
                    <a14:m>
                      <m:oMath xmlns:m="http://schemas.openxmlformats.org/officeDocument/2006/math">
                        <m:r>
                          <a:rPr lang="zh-CN" altLang="en-US" sz="160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𝜇</m:t>
                        </m:r>
                      </m:oMath>
                    </a14:m>
                    <a:r>
                      <a:rPr lang="zh-CN" altLang="en-US" sz="1600" dirty="0">
                        <a:latin typeface="仿宋" panose="02010609060101010101" pitchFamily="49" charset="-122"/>
                        <a:ea typeface="仿宋" panose="02010609060101010101" pitchFamily="49" charset="-122"/>
                      </a:rPr>
                      <a:t>存在，</a:t>
                    </a:r>
                    <a:endParaRPr lang="en-US" altLang="zh-CN" sz="1600" dirty="0">
                      <a:latin typeface="仿宋" panose="02010609060101010101" pitchFamily="49" charset="-122"/>
                      <a:ea typeface="仿宋" panose="02010609060101010101" pitchFamily="49" charset="-122"/>
                    </a:endParaRPr>
                  </a:p>
                  <a:p>
                    <a:pPr>
                      <a:lnSpc>
                        <a:spcPct val="150000"/>
                      </a:lnSpc>
                    </a:pPr>
                    <a:r>
                      <a:rPr lang="zh-CN" altLang="en-US" sz="1600" dirty="0">
                        <a:latin typeface="仿宋" panose="02010609060101010101" pitchFamily="49" charset="-122"/>
                        <a:ea typeface="仿宋" panose="02010609060101010101" pitchFamily="49" charset="-122"/>
                      </a:rPr>
                      <a:t>则</a:t>
                    </a:r>
                    <a14:m>
                      <m:oMath xmlns:m="http://schemas.openxmlformats.org/officeDocument/2006/math"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a14:m>
                    <a:r>
                      <a:rPr lang="zh-CN" altLang="en-US" sz="1600" dirty="0">
                        <a:latin typeface="仿宋" panose="02010609060101010101" pitchFamily="49" charset="-122"/>
                        <a:ea typeface="仿宋" panose="02010609060101010101" pitchFamily="49" charset="-122"/>
                      </a:rPr>
                      <a:t>服从大数定律，</a:t>
                    </a:r>
                    <a:r>
                      <a:rPr lang="en-US" altLang="zh-CN" sz="1600" dirty="0">
                        <a:ea typeface="仿宋" panose="02010609060101010101" pitchFamily="49" charset="-122"/>
                      </a:rPr>
                      <a:t> </a:t>
                    </a:r>
                    <a:r>
                      <a:rPr lang="zh-CN" altLang="en-US" sz="1600" dirty="0">
                        <a:ea typeface="仿宋" panose="02010609060101010101" pitchFamily="49" charset="-122"/>
                      </a:rPr>
                      <a:t>均值</a:t>
                    </a:r>
                    <a:r>
                      <a:rPr lang="zh-CN" altLang="en-US" sz="1600" dirty="0">
                        <a:latin typeface="仿宋" panose="02010609060101010101" pitchFamily="49" charset="-122"/>
                        <a:ea typeface="仿宋" panose="02010609060101010101" pitchFamily="49" charset="-122"/>
                      </a:rPr>
                      <a:t>依概率收敛于其期望，即</a:t>
                    </a:r>
                    <a14:m>
                      <m:oMath xmlns:m="http://schemas.openxmlformats.org/officeDocument/2006/math">
                        <m:func>
                          <m:func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1600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  <m:t>𝑛</m:t>
                                </m:r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→∞</m:t>
                                </m:r>
                              </m:lim>
                            </m:limLow>
                          </m:fName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𝑃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{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仿宋" panose="02010609060101010101" pitchFamily="49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仿宋" panose="02010609060101010101" pitchFamily="49" charset="-122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仿宋" panose="02010609060101010101" pitchFamily="49" charset="-122"/>
                                      </a:rPr>
                                      <m:t>𝑛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仿宋" panose="02010609060101010101" pitchFamily="49" charset="-122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仿宋" panose="02010609060101010101" pitchFamily="49" charset="-122"/>
                                      </a:rPr>
                                      <m:t>𝑖</m:t>
                                    </m:r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仿宋" panose="02010609060101010101" pitchFamily="49" charset="-122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仿宋" panose="02010609060101010101" pitchFamily="49" charset="-122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zh-CN" sz="1600" i="1">
                                            <a:latin typeface="Cambria Math" panose="02040503050406030204" pitchFamily="18" charset="0"/>
                                            <a:ea typeface="仿宋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i="1">
                                            <a:latin typeface="Cambria Math" panose="02040503050406030204" pitchFamily="18" charset="0"/>
                                            <a:ea typeface="仿宋" panose="02010609060101010101" pitchFamily="49" charset="-122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altLang="zh-CN" sz="1600" i="1">
                                            <a:latin typeface="Cambria Math" panose="02040503050406030204" pitchFamily="18" charset="0"/>
                                            <a:ea typeface="仿宋" panose="02010609060101010101" pitchFamily="49" charset="-122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  <m:t>−</m:t>
                                </m:r>
                                <m:r>
                                  <a:rPr lang="zh-CN" altLang="en-US" sz="1600" i="1" smtClean="0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  <m:t>𝜇</m:t>
                                </m:r>
                              </m:e>
                            </m:d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&lt;</m:t>
                            </m:r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𝜀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}</m:t>
                            </m:r>
                          </m:e>
                        </m:func>
                        <m:r>
                          <a:rPr lang="en-US" altLang="zh-CN" sz="1600" i="1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=1</m:t>
                        </m:r>
                      </m:oMath>
                    </a14:m>
                    <a:r>
                      <a:rPr lang="en-US" altLang="zh-CN" sz="1600" dirty="0">
                        <a:latin typeface="仿宋" panose="02010609060101010101" pitchFamily="49" charset="-122"/>
                        <a:ea typeface="仿宋" panose="02010609060101010101" pitchFamily="49" charset="-122"/>
                      </a:rPr>
                      <a:t>.</a:t>
                    </a:r>
                    <a:endPara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endParaRPr>
                  </a:p>
                </p:txBody>
              </p:sp>
            </mc:Choice>
            <mc:Fallback xmlns="">
              <p:sp>
                <p:nvSpPr>
                  <p:cNvPr id="8" name="文本框 7">
                    <a:extLst>
                      <a:ext uri="{FF2B5EF4-FFF2-40B4-BE49-F238E27FC236}">
                        <a16:creationId xmlns:a16="http://schemas.microsoft.com/office/drawing/2014/main" id="{BA43EFBF-4675-E8E5-B19A-4DD40E9EE92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13321" y="1438058"/>
                    <a:ext cx="8702315" cy="987706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420" b="-5061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8352701C-A8E9-AD5C-3BB0-DF41882AF5C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364" y="2504019"/>
                <a:ext cx="11039272" cy="0"/>
              </a:xfrm>
              <a:prstGeom prst="line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F5D7A8ED-BB0F-6446-BC31-2AC3EB63F3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6364" y="1359803"/>
              <a:ext cx="11039272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B8726820-0E0D-2795-4D51-CBF6C9F7326A}"/>
              </a:ext>
            </a:extLst>
          </p:cNvPr>
          <p:cNvGrpSpPr/>
          <p:nvPr/>
        </p:nvGrpSpPr>
        <p:grpSpPr>
          <a:xfrm>
            <a:off x="576364" y="4341582"/>
            <a:ext cx="11039272" cy="1144216"/>
            <a:chOff x="576364" y="4341582"/>
            <a:chExt cx="11039272" cy="1144216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19A3F95D-6ADF-71B0-CF8D-1E525C1145F5}"/>
                </a:ext>
              </a:extLst>
            </p:cNvPr>
            <p:cNvGrpSpPr/>
            <p:nvPr/>
          </p:nvGrpSpPr>
          <p:grpSpPr>
            <a:xfrm>
              <a:off x="576364" y="4418770"/>
              <a:ext cx="11039272" cy="1067028"/>
              <a:chOff x="576364" y="1436991"/>
              <a:chExt cx="11039272" cy="1067028"/>
            </a:xfrm>
          </p:grpSpPr>
          <p:sp>
            <p:nvSpPr>
              <p:cNvPr id="20" name="矩形: 圆角 19">
                <a:extLst>
                  <a:ext uri="{FF2B5EF4-FFF2-40B4-BE49-F238E27FC236}">
                    <a16:creationId xmlns:a16="http://schemas.microsoft.com/office/drawing/2014/main" id="{043B8339-7743-0F71-8689-56681AF7DB65}"/>
                  </a:ext>
                </a:extLst>
              </p:cNvPr>
              <p:cNvSpPr/>
              <p:nvPr/>
            </p:nvSpPr>
            <p:spPr>
              <a:xfrm>
                <a:off x="576364" y="1600412"/>
                <a:ext cx="2187618" cy="662999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>
                    <a:latin typeface="汉仪润圆-65简" panose="00020600040101010101" pitchFamily="18" charset="-122"/>
                    <a:ea typeface="汉仪润圆-65简" panose="00020600040101010101" pitchFamily="18" charset="-122"/>
                  </a:rPr>
                  <a:t>伯努利大数定律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文本框 20">
                    <a:extLst>
                      <a:ext uri="{FF2B5EF4-FFF2-40B4-BE49-F238E27FC236}">
                        <a16:creationId xmlns:a16="http://schemas.microsoft.com/office/drawing/2014/main" id="{98D04CB2-140F-835A-5606-F5CA2D15D9BA}"/>
                      </a:ext>
                    </a:extLst>
                  </p:cNvPr>
                  <p:cNvSpPr txBox="1"/>
                  <p:nvPr/>
                </p:nvSpPr>
                <p:spPr>
                  <a:xfrm>
                    <a:off x="2913321" y="1436991"/>
                    <a:ext cx="8702315" cy="100117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>
                      <a:lnSpc>
                        <a:spcPct val="150000"/>
                      </a:lnSpc>
                    </a:pPr>
                    <a:r>
                      <a:rPr lang="zh-CN" altLang="en-US" sz="1600" dirty="0">
                        <a:latin typeface="仿宋" panose="02010609060101010101" pitchFamily="49" charset="-122"/>
                        <a:ea typeface="仿宋" panose="02010609060101010101" pitchFamily="49" charset="-122"/>
                      </a:rPr>
                      <a:t>若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~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𝐵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(1,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𝑝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)</m:t>
                        </m:r>
                      </m:oMath>
                    </a14:m>
                    <a:r>
                      <a:rPr lang="zh-CN" altLang="en-US" sz="1600" dirty="0">
                        <a:latin typeface="仿宋" panose="02010609060101010101" pitchFamily="49" charset="-122"/>
                        <a:ea typeface="仿宋" panose="02010609060101010101" pitchFamily="49" charset="-122"/>
                      </a:rPr>
                      <a:t>，它们的期望均为</a:t>
                    </a:r>
                    <a14:m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𝑝</m:t>
                        </m:r>
                      </m:oMath>
                    </a14:m>
                    <a:r>
                      <a:rPr lang="zh-CN" altLang="en-US" sz="1600" dirty="0">
                        <a:latin typeface="仿宋" panose="02010609060101010101" pitchFamily="49" charset="-122"/>
                        <a:ea typeface="仿宋" panose="02010609060101010101" pitchFamily="49" charset="-122"/>
                      </a:rPr>
                      <a:t>，且有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𝐴</m:t>
                            </m:r>
                          </m:sub>
                        </m:sSub>
                      </m:oMath>
                    </a14:m>
                    <a:r>
                      <a:rPr lang="zh-CN" altLang="en-US" sz="1600" dirty="0">
                        <a:latin typeface="仿宋" panose="02010609060101010101" pitchFamily="49" charset="-122"/>
                        <a:ea typeface="仿宋" panose="02010609060101010101" pitchFamily="49" charset="-122"/>
                      </a:rPr>
                      <a:t>次试验中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=1</m:t>
                        </m:r>
                      </m:oMath>
                    </a14:m>
                    <a:r>
                      <a:rPr lang="zh-CN" altLang="en-US" sz="1600" dirty="0">
                        <a:latin typeface="仿宋" panose="02010609060101010101" pitchFamily="49" charset="-122"/>
                        <a:ea typeface="仿宋" panose="02010609060101010101" pitchFamily="49" charset="-122"/>
                      </a:rPr>
                      <a:t>，</a:t>
                    </a:r>
                    <a:endParaRPr lang="en-US" altLang="zh-CN" sz="1600" dirty="0">
                      <a:latin typeface="仿宋" panose="02010609060101010101" pitchFamily="49" charset="-122"/>
                      <a:ea typeface="仿宋" panose="02010609060101010101" pitchFamily="49" charset="-122"/>
                    </a:endParaRPr>
                  </a:p>
                  <a:p>
                    <a:pPr>
                      <a:lnSpc>
                        <a:spcPct val="150000"/>
                      </a:lnSpc>
                    </a:pPr>
                    <a:r>
                      <a:rPr lang="zh-CN" altLang="en-US" sz="1600" dirty="0">
                        <a:latin typeface="仿宋" panose="02010609060101010101" pitchFamily="49" charset="-122"/>
                        <a:ea typeface="仿宋" panose="02010609060101010101" pitchFamily="49" charset="-122"/>
                      </a:rPr>
                      <a:t>则</a:t>
                    </a:r>
                    <a14:m>
                      <m:oMath xmlns:m="http://schemas.openxmlformats.org/officeDocument/2006/math"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a14:m>
                    <a:r>
                      <a:rPr lang="zh-CN" altLang="en-US" sz="1600" dirty="0">
                        <a:latin typeface="仿宋" panose="02010609060101010101" pitchFamily="49" charset="-122"/>
                        <a:ea typeface="仿宋" panose="02010609060101010101" pitchFamily="49" charset="-122"/>
                      </a:rPr>
                      <a:t>服从大数定律，</a:t>
                    </a:r>
                    <a:r>
                      <a:rPr lang="en-US" altLang="zh-CN" sz="1600" dirty="0">
                        <a:ea typeface="仿宋" panose="02010609060101010101" pitchFamily="49" charset="-122"/>
                      </a:rPr>
                      <a:t> </a:t>
                    </a:r>
                    <a:r>
                      <a:rPr lang="zh-CN" altLang="en-US" sz="1600" dirty="0">
                        <a:ea typeface="仿宋" panose="02010609060101010101" pitchFamily="49" charset="-122"/>
                      </a:rPr>
                      <a:t>均值</a:t>
                    </a:r>
                    <a:r>
                      <a:rPr lang="zh-CN" altLang="en-US" sz="1600" dirty="0">
                        <a:latin typeface="仿宋" panose="02010609060101010101" pitchFamily="49" charset="-122"/>
                        <a:ea typeface="仿宋" panose="02010609060101010101" pitchFamily="49" charset="-122"/>
                      </a:rPr>
                      <a:t>依概率收敛于其期望，即</a:t>
                    </a:r>
                    <a14:m>
                      <m:oMath xmlns:m="http://schemas.openxmlformats.org/officeDocument/2006/math">
                        <m:func>
                          <m:func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1600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  <m:t>𝑛</m:t>
                                </m:r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→∞</m:t>
                                </m:r>
                              </m:lim>
                            </m:limLow>
                          </m:fName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𝑃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{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仿宋" panose="02010609060101010101" pitchFamily="49" charset="-122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zh-CN" sz="1600" b="0" i="1" smtClean="0">
                                            <a:latin typeface="Cambria Math" panose="02040503050406030204" pitchFamily="18" charset="0"/>
                                            <a:ea typeface="仿宋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0" i="1" smtClean="0">
                                            <a:latin typeface="Cambria Math" panose="02040503050406030204" pitchFamily="18" charset="0"/>
                                            <a:ea typeface="仿宋" panose="02010609060101010101" pitchFamily="49" charset="-122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0" i="1" smtClean="0">
                                            <a:latin typeface="Cambria Math" panose="02040503050406030204" pitchFamily="18" charset="0"/>
                                            <a:ea typeface="仿宋" panose="02010609060101010101" pitchFamily="49" charset="-122"/>
                                          </a:rPr>
                                          <m:t>𝐴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仿宋" panose="02010609060101010101" pitchFamily="49" charset="-122"/>
                                      </a:rPr>
                                      <m:t>𝑛</m:t>
                                    </m:r>
                                  </m:den>
                                </m:f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  <m:t>−</m:t>
                                </m:r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  <m:t>𝑝</m:t>
                                </m:r>
                              </m:e>
                            </m:d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&lt;</m:t>
                            </m:r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𝜀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}</m:t>
                            </m:r>
                          </m:e>
                        </m:func>
                        <m:r>
                          <a:rPr lang="en-US" altLang="zh-CN" sz="1600" i="1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=1</m:t>
                        </m:r>
                      </m:oMath>
                    </a14:m>
                    <a:r>
                      <a:rPr lang="en-US" altLang="zh-CN" sz="1600" dirty="0">
                        <a:latin typeface="仿宋" panose="02010609060101010101" pitchFamily="49" charset="-122"/>
                        <a:ea typeface="仿宋" panose="02010609060101010101" pitchFamily="49" charset="-122"/>
                      </a:rPr>
                      <a:t>.</a:t>
                    </a:r>
                    <a:endPara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endParaRPr>
                  </a:p>
                </p:txBody>
              </p:sp>
            </mc:Choice>
            <mc:Fallback xmlns="">
              <p:sp>
                <p:nvSpPr>
                  <p:cNvPr id="21" name="文本框 20">
                    <a:extLst>
                      <a:ext uri="{FF2B5EF4-FFF2-40B4-BE49-F238E27FC236}">
                        <a16:creationId xmlns:a16="http://schemas.microsoft.com/office/drawing/2014/main" id="{98D04CB2-140F-835A-5606-F5CA2D15D9B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13321" y="1436991"/>
                    <a:ext cx="8702315" cy="100117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42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89DDF6BD-679F-717D-5563-826C003B72E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364" y="2504019"/>
                <a:ext cx="11039272" cy="0"/>
              </a:xfrm>
              <a:prstGeom prst="line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2B3AB5DB-341B-B22E-4477-6CABD4DA64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6364" y="4341582"/>
              <a:ext cx="11039272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473774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DCE9AD91-A2AF-F9FF-4656-19FDE6EE6721}"/>
              </a:ext>
            </a:extLst>
          </p:cNvPr>
          <p:cNvSpPr/>
          <p:nvPr/>
        </p:nvSpPr>
        <p:spPr>
          <a:xfrm>
            <a:off x="762000" y="4287179"/>
            <a:ext cx="10653386" cy="1646064"/>
          </a:xfrm>
          <a:prstGeom prst="roundRect">
            <a:avLst/>
          </a:prstGeom>
          <a:noFill/>
          <a:ln w="19050">
            <a:solidFill>
              <a:schemeClr val="accent2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BC58B840-1E0F-ED85-C633-5FBDFA44C945}"/>
              </a:ext>
            </a:extLst>
          </p:cNvPr>
          <p:cNvGrpSpPr/>
          <p:nvPr/>
        </p:nvGrpSpPr>
        <p:grpSpPr>
          <a:xfrm>
            <a:off x="3854525" y="3640307"/>
            <a:ext cx="7761112" cy="948914"/>
            <a:chOff x="3854525" y="3640307"/>
            <a:chExt cx="7761112" cy="948914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7A5701A3-84A3-A225-21C1-E18D5B6EB1FC}"/>
                </a:ext>
              </a:extLst>
            </p:cNvPr>
            <p:cNvSpPr/>
            <p:nvPr/>
          </p:nvSpPr>
          <p:spPr>
            <a:xfrm>
              <a:off x="3854525" y="4114764"/>
              <a:ext cx="4525387" cy="4411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70BDEA00-B634-DE45-8EC3-2BD94BD75801}"/>
                    </a:ext>
                  </a:extLst>
                </p:cNvPr>
                <p:cNvSpPr txBox="1"/>
                <p:nvPr/>
              </p:nvSpPr>
              <p:spPr>
                <a:xfrm>
                  <a:off x="3854525" y="3640307"/>
                  <a:ext cx="7761112" cy="9489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25000"/>
                    </a:lnSpc>
                  </a:pPr>
                  <a:r>
                    <a: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若随机变量序列</a:t>
                  </a:r>
                  <a14:m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r>
                    <a: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独立同分布，且其期望</a:t>
                  </a:r>
                  <a14:m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𝐸</m:t>
                      </m:r>
                      <m:d>
                        <m:d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=</m:t>
                      </m:r>
                      <m:r>
                        <a:rPr lang="zh-CN" altLang="en-US" sz="16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𝜇</m:t>
                      </m:r>
                    </m:oMath>
                  </a14:m>
                  <a:r>
                    <a: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，方差</a:t>
                  </a:r>
                  <a14:m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𝐷</m:t>
                      </m:r>
                      <m:d>
                        <m:d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zh-CN" altLang="en-US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𝜎</m:t>
                          </m:r>
                        </m:e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&gt;0</m:t>
                      </m:r>
                    </m:oMath>
                  </a14:m>
                  <a:r>
                    <a: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均存在，</a:t>
                  </a:r>
                  <a:endParaRPr lang="en-US" altLang="zh-CN" sz="1600" dirty="0">
                    <a:latin typeface="仿宋" panose="02010609060101010101" pitchFamily="49" charset="-122"/>
                    <a:ea typeface="仿宋" panose="02010609060101010101" pitchFamily="49" charset="-122"/>
                  </a:endParaRPr>
                </a:p>
                <a:p>
                  <a:pPr>
                    <a:lnSpc>
                      <a:spcPct val="125000"/>
                    </a:lnSpc>
                  </a:pPr>
                  <a:r>
                    <a: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则对任意</a:t>
                  </a:r>
                  <a14:m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𝑥</m:t>
                      </m:r>
                    </m:oMath>
                  </a14:m>
                  <a:r>
                    <a: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，有</a:t>
                  </a:r>
                  <a14:m>
                    <m:oMath xmlns:m="http://schemas.openxmlformats.org/officeDocument/2006/math">
                      <m:func>
                        <m:func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1600" i="1" smtClean="0"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600" i="0" smtClean="0"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  <m:t>𝑛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𝑃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仿宋" panose="02010609060101010101" pitchFamily="49" charset="-122"/>
                                    </a:rPr>
                                  </m:ctrlPr>
                                </m:fPr>
                                <m:num>
                                  <m:nary>
                                    <m:naryPr>
                                      <m:chr m:val="∑"/>
                                      <m:ctrlP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  <a:ea typeface="仿宋" panose="02010609060101010101" pitchFamily="49" charset="-122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  <a:ea typeface="仿宋" panose="02010609060101010101" pitchFamily="49" charset="-122"/>
                                        </a:rPr>
                                        <m:t>𝑖</m:t>
                                      </m:r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  <a:ea typeface="仿宋" panose="02010609060101010101" pitchFamily="49" charset="-122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  <a:ea typeface="仿宋" panose="02010609060101010101" pitchFamily="49" charset="-122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  <a:ea typeface="仿宋" panose="02010609060101010101" pitchFamily="49" charset="-12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  <a:ea typeface="仿宋" panose="02010609060101010101" pitchFamily="49" charset="-122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  <a:ea typeface="仿宋" panose="02010609060101010101" pitchFamily="49" charset="-122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nary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仿宋" panose="02010609060101010101" pitchFamily="49" charset="-122"/>
                                    </a:rPr>
                                    <m:t>−</m:t>
                                  </m:r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仿宋" panose="02010609060101010101" pitchFamily="49" charset="-122"/>
                                    </a:rPr>
                                    <m:t>𝑛</m:t>
                                  </m:r>
                                  <m:r>
                                    <a:rPr lang="zh-CN" altLang="en-US" sz="1600" b="0" i="1" smtClean="0">
                                      <a:latin typeface="Cambria Math" panose="02040503050406030204" pitchFamily="18" charset="0"/>
                                      <a:ea typeface="仿宋" panose="02010609060101010101" pitchFamily="49" charset="-122"/>
                                    </a:rPr>
                                    <m:t>𝜇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  <a:ea typeface="仿宋" panose="02010609060101010101" pitchFamily="49" charset="-122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  <a:ea typeface="仿宋" panose="02010609060101010101" pitchFamily="49" charset="-122"/>
                                        </a:rPr>
                                        <m:t>𝑛</m:t>
                                      </m:r>
                                    </m:e>
                                  </m:rad>
                                  <m:r>
                                    <a:rPr lang="zh-CN" altLang="en-US" sz="1600" b="0" i="1" smtClean="0">
                                      <a:latin typeface="Cambria Math" panose="02040503050406030204" pitchFamily="18" charset="0"/>
                                      <a:ea typeface="仿宋" panose="02010609060101010101" pitchFamily="49" charset="-122"/>
                                    </a:rPr>
                                    <m:t>𝜎</m:t>
                                  </m:r>
                                </m:den>
                              </m:f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  <m:t>≤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l-GR" altLang="zh-C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Φ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.</m:t>
                      </m:r>
                    </m:oMath>
                  </a14:m>
                  <a:endPara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70BDEA00-B634-DE45-8EC3-2BD94BD758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54525" y="3640307"/>
                  <a:ext cx="7761112" cy="948914"/>
                </a:xfrm>
                <a:prstGeom prst="rect">
                  <a:avLst/>
                </a:prstGeom>
                <a:blipFill>
                  <a:blip r:embed="rId3"/>
                  <a:stretch>
                    <a:fillRect l="-393" b="-1859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366AA635-A21B-A433-4648-23FD4F0AB104}"/>
              </a:ext>
            </a:extLst>
          </p:cNvPr>
          <p:cNvSpPr txBox="1"/>
          <p:nvPr/>
        </p:nvSpPr>
        <p:spPr>
          <a:xfrm>
            <a:off x="507460" y="496110"/>
            <a:ext cx="30009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中心极限定理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/>
              <p:nvPr/>
            </p:nvSpPr>
            <p:spPr>
              <a:xfrm>
                <a:off x="507460" y="1425186"/>
                <a:ext cx="11108176" cy="15388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我们已经知道，许多实际问题中的随机变量都是服从 正态分布 的，而它又可以看做是 诸多独立因素作用的和。</a:t>
                </a:r>
                <a:endParaRPr lang="en-US" altLang="zh-CN" sz="1600" dirty="0">
                  <a:latin typeface="方正小标宋简体" panose="02000000000000000000" pitchFamily="2" charset="-122"/>
                  <a:ea typeface="方正小标宋简体" panose="02000000000000000000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某地方的用电总负载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𝑌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 服从正态分布，它是 相互独立的 各用户的负载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的作用 之和。</a:t>
                </a:r>
                <a:endParaRPr lang="en-US" altLang="zh-CN" sz="16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某保险公司的利润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𝑌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 </a:t>
                </a:r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服从正态分布，它是 相互独立的 各签约者发生事故与否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的作用 之和。</a:t>
                </a:r>
                <a:endParaRPr lang="en-US" altLang="zh-CN" sz="16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某信号受噪声影响失真的幅度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𝑌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 </a:t>
                </a:r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服从正态分布，它是 相互独立的 各噪声的幅度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的作用 之和。</a:t>
                </a:r>
                <a:endParaRPr lang="en-US" altLang="zh-CN" sz="16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425186"/>
                <a:ext cx="11108176" cy="1538883"/>
              </a:xfrm>
              <a:prstGeom prst="rect">
                <a:avLst/>
              </a:prstGeom>
              <a:blipFill>
                <a:blip r:embed="rId4"/>
                <a:stretch>
                  <a:fillRect l="-274" b="-2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CFCFE9ED-E2C0-E136-C16A-73B705043080}"/>
              </a:ext>
            </a:extLst>
          </p:cNvPr>
          <p:cNvSpPr txBox="1"/>
          <p:nvPr/>
        </p:nvSpPr>
        <p:spPr>
          <a:xfrm>
            <a:off x="3508444" y="775742"/>
            <a:ext cx="26524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独立同分布中心极限定理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DB6EC69-4A97-B4D0-DA12-412E89B4948E}"/>
              </a:ext>
            </a:extLst>
          </p:cNvPr>
          <p:cNvSpPr txBox="1"/>
          <p:nvPr/>
        </p:nvSpPr>
        <p:spPr>
          <a:xfrm>
            <a:off x="507460" y="2998113"/>
            <a:ext cx="9468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中心极限定理 研究的就是这样一类问题，即 什么条件下 </a:t>
            </a:r>
            <a:r>
              <a:rPr lang="zh-CN" altLang="en-US" sz="1600" dirty="0">
                <a:solidFill>
                  <a:schemeClr val="accent2"/>
                </a:solidFill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大量随机变量之和的分布 </a:t>
            </a:r>
            <a:r>
              <a:rPr lang="zh-CN" altLang="en-US" sz="16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以 </a:t>
            </a:r>
            <a:r>
              <a:rPr lang="zh-CN" altLang="en-US" sz="1600" dirty="0">
                <a:solidFill>
                  <a:schemeClr val="accent2"/>
                </a:solidFill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正态分布</a:t>
            </a:r>
            <a:r>
              <a:rPr lang="zh-CN" altLang="en-US" sz="16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 为极限。</a:t>
            </a:r>
            <a:endParaRPr lang="en-US" altLang="zh-CN" sz="1600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1E326EEA-FB49-44B3-F474-00BCABCC5970}"/>
              </a:ext>
            </a:extLst>
          </p:cNvPr>
          <p:cNvSpPr/>
          <p:nvPr/>
        </p:nvSpPr>
        <p:spPr>
          <a:xfrm>
            <a:off x="576364" y="3699092"/>
            <a:ext cx="3074309" cy="83134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汉仪润圆-65简" panose="00020600040101010101" pitchFamily="18" charset="-122"/>
                <a:ea typeface="汉仪润圆-65简" panose="00020600040101010101" pitchFamily="18" charset="-122"/>
              </a:rPr>
              <a:t>林德伯格</a:t>
            </a:r>
            <a:r>
              <a:rPr lang="en-US" altLang="zh-CN" sz="1600" dirty="0">
                <a:latin typeface="汉仪润圆-65简" panose="00020600040101010101" pitchFamily="18" charset="-122"/>
                <a:ea typeface="汉仪润圆-65简" panose="00020600040101010101" pitchFamily="18" charset="-122"/>
              </a:rPr>
              <a:t>-</a:t>
            </a:r>
            <a:r>
              <a:rPr lang="zh-CN" altLang="en-US" sz="1600" dirty="0">
                <a:latin typeface="汉仪润圆-65简" panose="00020600040101010101" pitchFamily="18" charset="-122"/>
                <a:ea typeface="汉仪润圆-65简" panose="00020600040101010101" pitchFamily="18" charset="-122"/>
              </a:rPr>
              <a:t>莱维 中心极限定理</a:t>
            </a:r>
            <a:endParaRPr lang="en-US" altLang="zh-CN" sz="1600" dirty="0">
              <a:latin typeface="汉仪润圆-65简" panose="00020600040101010101" pitchFamily="18" charset="-122"/>
              <a:ea typeface="汉仪润圆-65简" panose="00020600040101010101" pitchFamily="18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600" dirty="0">
                <a:latin typeface="汉仪润圆-65简" panose="00020600040101010101" pitchFamily="18" charset="-122"/>
                <a:ea typeface="汉仪润圆-65简" panose="00020600040101010101" pitchFamily="18" charset="-122"/>
              </a:rPr>
              <a:t>（独立同分布中心极限定理）</a:t>
            </a:r>
          </a:p>
        </p:txBody>
      </p: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BF3F089B-1AD0-4E03-84FC-1BA796E0E200}"/>
              </a:ext>
            </a:extLst>
          </p:cNvPr>
          <p:cNvGrpSpPr/>
          <p:nvPr/>
        </p:nvGrpSpPr>
        <p:grpSpPr>
          <a:xfrm>
            <a:off x="4018915" y="4076764"/>
            <a:ext cx="4135456" cy="1324783"/>
            <a:chOff x="4321440" y="4076764"/>
            <a:chExt cx="4135456" cy="1324783"/>
          </a:xfrm>
        </p:grpSpPr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561FC076-41F9-9A93-0CDE-6B6860CFD800}"/>
                </a:ext>
              </a:extLst>
            </p:cNvPr>
            <p:cNvCxnSpPr>
              <a:cxnSpLocks/>
              <a:stCxn id="12" idx="2"/>
            </p:cNvCxnSpPr>
            <p:nvPr/>
          </p:nvCxnSpPr>
          <p:spPr>
            <a:xfrm>
              <a:off x="6722685" y="4589222"/>
              <a:ext cx="0" cy="436456"/>
            </a:xfrm>
            <a:prstGeom prst="straightConnector1">
              <a:avLst/>
            </a:prstGeom>
            <a:ln w="1905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B5EC58E2-919A-72EF-8426-D5395DEEA2B7}"/>
                </a:ext>
              </a:extLst>
            </p:cNvPr>
            <p:cNvSpPr/>
            <p:nvPr/>
          </p:nvSpPr>
          <p:spPr>
            <a:xfrm>
              <a:off x="5953850" y="4076764"/>
              <a:ext cx="1537669" cy="512458"/>
            </a:xfrm>
            <a:prstGeom prst="rect">
              <a:avLst/>
            </a:prstGeom>
            <a:noFill/>
            <a:ln w="19050">
              <a:solidFill>
                <a:schemeClr val="accent2">
                  <a:lumMod val="60000"/>
                  <a:lumOff val="4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821262EC-8E14-13D9-586D-72783E6F5016}"/>
                    </a:ext>
                  </a:extLst>
                </p:cNvPr>
                <p:cNvSpPr txBox="1"/>
                <p:nvPr/>
              </p:nvSpPr>
              <p:spPr>
                <a:xfrm>
                  <a:off x="4321440" y="5062993"/>
                  <a:ext cx="4135456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1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1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≤</m:t>
                          </m:r>
                          <m:r>
                            <a:rPr lang="en-US" altLang="zh-CN" sz="1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𝑥</m:t>
                          </m:r>
                        </m:e>
                      </m:d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altLang="zh-CN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r>
                        <a:rPr lang="en-US" altLang="zh-CN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zh-CN" altLang="en-US" sz="1600" dirty="0">
                      <a:solidFill>
                        <a:schemeClr val="tx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，</a:t>
                  </a:r>
                  <a:r>
                    <a:rPr lang="el-GR" altLang="zh-CN" sz="1600" dirty="0"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zh-C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zh-CN" altLang="en-US" sz="1600" dirty="0">
                      <a:solidFill>
                        <a:schemeClr val="tx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为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𝑌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𝑛</m:t>
                          </m:r>
                        </m:sub>
                      </m:sSub>
                    </m:oMath>
                  </a14:m>
                  <a:r>
                    <a:rPr lang="zh-CN" altLang="en-US" sz="1600" dirty="0">
                      <a:solidFill>
                        <a:schemeClr val="tx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的</a:t>
                  </a:r>
                  <a:r>
                    <a:rPr lang="zh-CN" altLang="en-US" sz="1600" dirty="0">
                      <a:solidFill>
                        <a:schemeClr val="accent2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分布函数</a:t>
                  </a:r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821262EC-8E14-13D9-586D-72783E6F50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1440" y="5062993"/>
                  <a:ext cx="4135456" cy="338554"/>
                </a:xfrm>
                <a:prstGeom prst="rect">
                  <a:avLst/>
                </a:prstGeom>
                <a:blipFill>
                  <a:blip r:embed="rId5"/>
                  <a:stretch>
                    <a:fillRect t="-9091" b="-2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15E64234-5608-7E32-1A71-60835C5F8359}"/>
                  </a:ext>
                </a:extLst>
              </p:cNvPr>
              <p:cNvSpPr txBox="1"/>
              <p:nvPr/>
            </p:nvSpPr>
            <p:spPr>
              <a:xfrm>
                <a:off x="8484690" y="4332983"/>
                <a:ext cx="2868400" cy="8572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zh-CN" alt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rad>
                            </m:den>
                          </m:f>
                          <m:sSup>
                            <m:sSup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zh-CN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  <m:r>
                            <m:rPr>
                              <m:sty m:val="p"/>
                            </m:rPr>
                            <a:rPr lang="en-US" altLang="zh-CN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endParaRPr lang="en-US" altLang="zh-CN" sz="1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>
                  <a:spcBef>
                    <a:spcPts val="600"/>
                  </a:spcBef>
                </a:pPr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标准正态分布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(0,1)</m:t>
                    </m:r>
                  </m:oMath>
                </a14:m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的分布函数</a:t>
                </a: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15E64234-5608-7E32-1A71-60835C5F83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4690" y="4332983"/>
                <a:ext cx="2868400" cy="857286"/>
              </a:xfrm>
              <a:prstGeom prst="rect">
                <a:avLst/>
              </a:prstGeom>
              <a:blipFill>
                <a:blip r:embed="rId6"/>
                <a:stretch>
                  <a:fillRect t="-98571" b="-112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组合 40">
            <a:extLst>
              <a:ext uri="{FF2B5EF4-FFF2-40B4-BE49-F238E27FC236}">
                <a16:creationId xmlns:a16="http://schemas.microsoft.com/office/drawing/2014/main" id="{6BA27495-4130-CA4F-4412-95C0570AC0B0}"/>
              </a:ext>
            </a:extLst>
          </p:cNvPr>
          <p:cNvGrpSpPr/>
          <p:nvPr/>
        </p:nvGrpSpPr>
        <p:grpSpPr>
          <a:xfrm>
            <a:off x="8456896" y="5232270"/>
            <a:ext cx="2845945" cy="598311"/>
            <a:chOff x="8484690" y="5232270"/>
            <a:chExt cx="2845945" cy="598311"/>
          </a:xfrm>
        </p:grpSpPr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063F39FA-5A43-A06A-7F63-FDD54E0DEF55}"/>
                </a:ext>
              </a:extLst>
            </p:cNvPr>
            <p:cNvCxnSpPr>
              <a:cxnSpLocks/>
            </p:cNvCxnSpPr>
            <p:nvPr/>
          </p:nvCxnSpPr>
          <p:spPr>
            <a:xfrm>
              <a:off x="8484690" y="5232270"/>
              <a:ext cx="2828837" cy="0"/>
            </a:xfrm>
            <a:prstGeom prst="line">
              <a:avLst/>
            </a:prstGeom>
            <a:ln w="19050">
              <a:solidFill>
                <a:schemeClr val="accent2">
                  <a:lumMod val="60000"/>
                  <a:lumOff val="4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EBF9C4CF-2662-501E-EFF0-BD4F938F2E34}"/>
                    </a:ext>
                  </a:extLst>
                </p:cNvPr>
                <p:cNvSpPr txBox="1"/>
                <p:nvPr/>
              </p:nvSpPr>
              <p:spPr>
                <a:xfrm>
                  <a:off x="9523577" y="5334932"/>
                  <a:ext cx="980293" cy="49564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sz="14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num>
                          <m:den>
                            <m:r>
                              <a:rPr lang="zh-CN" altLang="en-US" sz="14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den>
                        </m:f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EBF9C4CF-2662-501E-EFF0-BD4F938F2E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23577" y="5334932"/>
                  <a:ext cx="980293" cy="49564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18AB1164-429D-B627-84B7-EA1999DF1A45}"/>
                    </a:ext>
                  </a:extLst>
                </p:cNvPr>
                <p:cNvSpPr txBox="1"/>
                <p:nvPr/>
              </p:nvSpPr>
              <p:spPr>
                <a:xfrm>
                  <a:off x="8612061" y="5498118"/>
                  <a:ext cx="903516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1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1100" b="0" i="1" smtClean="0">
                            <a:latin typeface="Cambria Math" panose="02040503050406030204" pitchFamily="18" charset="0"/>
                          </a:rPr>
                          <m:t>~</m:t>
                        </m:r>
                        <m:r>
                          <a:rPr lang="en-US" altLang="zh-CN" sz="11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d>
                          <m:dPr>
                            <m:ctrlPr>
                              <a:rPr lang="en-US" altLang="zh-CN" sz="11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11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n-US" altLang="zh-CN" sz="11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CN" sz="1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1100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CN" sz="11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a:rPr lang="en-US" altLang="zh-CN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</m:oMath>
                    </m:oMathPara>
                  </a14:m>
                  <a:endParaRPr lang="zh-CN" altLang="en-US" sz="1100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18AB1164-429D-B627-84B7-EA1999DF1A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2061" y="5498118"/>
                  <a:ext cx="903516" cy="169277"/>
                </a:xfrm>
                <a:prstGeom prst="rect">
                  <a:avLst/>
                </a:prstGeom>
                <a:blipFill>
                  <a:blip r:embed="rId8"/>
                  <a:stretch>
                    <a:fillRect l="-2703" r="-1351" b="-2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BB9527FF-0862-810E-2CDC-86117C8208F1}"/>
                    </a:ext>
                  </a:extLst>
                </p:cNvPr>
                <p:cNvSpPr txBox="1"/>
                <p:nvPr/>
              </p:nvSpPr>
              <p:spPr>
                <a:xfrm>
                  <a:off x="10503870" y="5498118"/>
                  <a:ext cx="826765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 </m:t>
                        </m:r>
                        <m:r>
                          <a:rPr lang="en-US" altLang="zh-CN" sz="11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altLang="zh-CN" sz="1100" b="0" i="1" smtClean="0">
                            <a:latin typeface="Cambria Math" panose="02040503050406030204" pitchFamily="18" charset="0"/>
                          </a:rPr>
                          <m:t>~</m:t>
                        </m:r>
                        <m:r>
                          <a:rPr lang="en-US" altLang="zh-CN" sz="11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1100" b="0" i="1" smtClean="0">
                            <a:latin typeface="Cambria Math" panose="02040503050406030204" pitchFamily="18" charset="0"/>
                          </a:rPr>
                          <m:t>(0,1)</m:t>
                        </m:r>
                      </m:oMath>
                    </m:oMathPara>
                  </a14:m>
                  <a:endParaRPr lang="zh-CN" altLang="en-US" sz="1100" dirty="0"/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BB9527FF-0862-810E-2CDC-86117C8208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03870" y="5498118"/>
                  <a:ext cx="826765" cy="169277"/>
                </a:xfrm>
                <a:prstGeom prst="rect">
                  <a:avLst/>
                </a:prstGeom>
                <a:blipFill>
                  <a:blip r:embed="rId9"/>
                  <a:stretch>
                    <a:fillRect l="-1481" t="-3571" r="-6667" b="-32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D72008E8-642F-EE64-B48A-A94A6D6C3891}"/>
              </a:ext>
            </a:extLst>
          </p:cNvPr>
          <p:cNvGrpSpPr/>
          <p:nvPr/>
        </p:nvGrpSpPr>
        <p:grpSpPr>
          <a:xfrm>
            <a:off x="762000" y="4589221"/>
            <a:ext cx="2994276" cy="1153456"/>
            <a:chOff x="762000" y="4589221"/>
            <a:chExt cx="2994276" cy="115345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9B91B7B8-D3E6-AE9F-60CA-1315D264646A}"/>
                    </a:ext>
                  </a:extLst>
                </p:cNvPr>
                <p:cNvSpPr txBox="1"/>
                <p:nvPr/>
              </p:nvSpPr>
              <p:spPr>
                <a:xfrm>
                  <a:off x="762000" y="4779436"/>
                  <a:ext cx="2888673" cy="8963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独立同分布随机变量序列</a:t>
                  </a:r>
                  <a14:m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endParaRPr lang="en-US" altLang="zh-CN" sz="1600" dirty="0">
                    <a:latin typeface="仿宋" panose="02010609060101010101" pitchFamily="49" charset="-122"/>
                    <a:ea typeface="仿宋" panose="02010609060101010101" pitchFamily="49" charset="-122"/>
                  </a:endParaRPr>
                </a:p>
                <a:p>
                  <a:pPr algn="r"/>
                  <a:r>
                    <a: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其期望、方差（不为</a:t>
                  </a:r>
                  <a:r>
                    <a:rPr lang="en-US" altLang="zh-CN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0</a:t>
                  </a:r>
                  <a:r>
                    <a: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）存在</a:t>
                  </a:r>
                  <a:endParaRPr lang="en-US" altLang="zh-CN" sz="1600" dirty="0">
                    <a:latin typeface="仿宋" panose="02010609060101010101" pitchFamily="49" charset="-122"/>
                    <a:ea typeface="仿宋" panose="02010609060101010101" pitchFamily="49" charset="-122"/>
                  </a:endParaRPr>
                </a:p>
                <a:p>
                  <a:pPr algn="r">
                    <a:lnSpc>
                      <a:spcPct val="150000"/>
                    </a:lnSpc>
                  </a:pPr>
                  <a:r>
                    <a: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当</a:t>
                  </a:r>
                  <a:r>
                    <a:rPr lang="en-US" altLang="zh-CN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n</a:t>
                  </a:r>
                  <a:r>
                    <a: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充分大时</a:t>
                  </a:r>
                </a:p>
              </p:txBody>
            </p:sp>
          </mc:Choice>
          <mc:Fallback xmlns="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9B91B7B8-D3E6-AE9F-60CA-1315D26464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000" y="4779436"/>
                  <a:ext cx="2888673" cy="896399"/>
                </a:xfrm>
                <a:prstGeom prst="rect">
                  <a:avLst/>
                </a:prstGeom>
                <a:blipFill>
                  <a:blip r:embed="rId10"/>
                  <a:stretch>
                    <a:fillRect t="-2721" r="-1055" b="-816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250662A4-13A5-23F3-5997-CC5CEBACF8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56276" y="4589221"/>
              <a:ext cx="0" cy="1153456"/>
            </a:xfrm>
            <a:prstGeom prst="line">
              <a:avLst/>
            </a:prstGeom>
            <a:ln w="19050">
              <a:solidFill>
                <a:schemeClr val="accent2">
                  <a:lumMod val="60000"/>
                  <a:lumOff val="4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CFEEBD40-FE2C-1B1D-C65D-EF2B9186480F}"/>
              </a:ext>
            </a:extLst>
          </p:cNvPr>
          <p:cNvGrpSpPr/>
          <p:nvPr/>
        </p:nvGrpSpPr>
        <p:grpSpPr>
          <a:xfrm>
            <a:off x="3836309" y="4580231"/>
            <a:ext cx="4649560" cy="1153456"/>
            <a:chOff x="3836309" y="4587158"/>
            <a:chExt cx="4649560" cy="115345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B1E41B88-5D25-66E3-DCAC-277226421CEC}"/>
                    </a:ext>
                  </a:extLst>
                </p:cNvPr>
                <p:cNvSpPr txBox="1"/>
                <p:nvPr/>
              </p:nvSpPr>
              <p:spPr>
                <a:xfrm>
                  <a:off x="3836309" y="4809858"/>
                  <a:ext cx="4173512" cy="34432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600" dirty="0">
                      <a:solidFill>
                        <a:schemeClr val="accent2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诸随机变量的和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𝐴𝑁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16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𝑛</m:t>
                      </m:r>
                      <m:sSup>
                        <m:sSup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16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B1E41B88-5D25-66E3-DCAC-277226421C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6309" y="4809858"/>
                  <a:ext cx="4173512" cy="344325"/>
                </a:xfrm>
                <a:prstGeom prst="rect">
                  <a:avLst/>
                </a:prstGeom>
                <a:blipFill>
                  <a:blip r:embed="rId11"/>
                  <a:stretch>
                    <a:fillRect l="-730" t="-105357" b="-17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41F15429-DA42-1DC2-18EB-9C0F807540F3}"/>
                    </a:ext>
                  </a:extLst>
                </p:cNvPr>
                <p:cNvSpPr txBox="1"/>
                <p:nvPr/>
              </p:nvSpPr>
              <p:spPr>
                <a:xfrm>
                  <a:off x="3836309" y="5180909"/>
                  <a:ext cx="4649560" cy="47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600" dirty="0">
                      <a:solidFill>
                        <a:schemeClr val="accent2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诸随机变量的平均值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16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den>
                      </m:f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𝐴𝑁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16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6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41F15429-DA42-1DC2-18EB-9C0F807540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6309" y="5180909"/>
                  <a:ext cx="4649560" cy="476221"/>
                </a:xfrm>
                <a:prstGeom prst="rect">
                  <a:avLst/>
                </a:prstGeom>
                <a:blipFill>
                  <a:blip r:embed="rId12"/>
                  <a:stretch>
                    <a:fillRect l="-655" t="-60256" b="-1102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F4682529-6B8F-2AC3-1BBF-E2380DDD3E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12345" y="4587158"/>
              <a:ext cx="0" cy="1153456"/>
            </a:xfrm>
            <a:prstGeom prst="line">
              <a:avLst/>
            </a:prstGeom>
            <a:ln w="19050">
              <a:solidFill>
                <a:schemeClr val="accent2">
                  <a:lumMod val="60000"/>
                  <a:lumOff val="4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AC827362-29BD-910D-1538-E3B015708EEA}"/>
              </a:ext>
            </a:extLst>
          </p:cNvPr>
          <p:cNvGrpSpPr/>
          <p:nvPr/>
        </p:nvGrpSpPr>
        <p:grpSpPr>
          <a:xfrm>
            <a:off x="9626600" y="2287958"/>
            <a:ext cx="1795932" cy="1313305"/>
            <a:chOff x="9626600" y="2287958"/>
            <a:chExt cx="1795932" cy="1313305"/>
          </a:xfrm>
        </p:grpSpPr>
        <p:sp>
          <p:nvSpPr>
            <p:cNvPr id="71" name="矩形: 圆角 70">
              <a:extLst>
                <a:ext uri="{FF2B5EF4-FFF2-40B4-BE49-F238E27FC236}">
                  <a16:creationId xmlns:a16="http://schemas.microsoft.com/office/drawing/2014/main" id="{EFB27AD7-EC57-A6F7-8416-8103702D6276}"/>
                </a:ext>
              </a:extLst>
            </p:cNvPr>
            <p:cNvSpPr/>
            <p:nvPr/>
          </p:nvSpPr>
          <p:spPr>
            <a:xfrm>
              <a:off x="9626600" y="2287958"/>
              <a:ext cx="1795932" cy="675453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latin typeface="汉仪润圆-65简" panose="00020600040101010101" pitchFamily="18" charset="-122"/>
                  <a:ea typeface="汉仪润圆-65简" panose="00020600040101010101" pitchFamily="18" charset="-122"/>
                </a:rPr>
                <a:t>棣莫弗</a:t>
              </a:r>
              <a:r>
                <a:rPr lang="en-US" altLang="zh-CN" sz="1400" dirty="0">
                  <a:latin typeface="汉仪润圆-65简" panose="00020600040101010101" pitchFamily="18" charset="-122"/>
                  <a:ea typeface="汉仪润圆-65简" panose="00020600040101010101" pitchFamily="18" charset="-122"/>
                </a:rPr>
                <a:t>-</a:t>
              </a:r>
              <a:r>
                <a:rPr lang="zh-CN" altLang="en-US" sz="1400" dirty="0">
                  <a:latin typeface="汉仪润圆-65简" panose="00020600040101010101" pitchFamily="18" charset="-122"/>
                  <a:ea typeface="汉仪润圆-65简" panose="00020600040101010101" pitchFamily="18" charset="-122"/>
                </a:rPr>
                <a:t>拉普拉斯</a:t>
              </a:r>
              <a:endParaRPr lang="en-US" altLang="zh-CN" sz="1400" dirty="0">
                <a:latin typeface="汉仪润圆-65简" panose="00020600040101010101" pitchFamily="18" charset="-122"/>
                <a:ea typeface="汉仪润圆-65简" panose="00020600040101010101" pitchFamily="18" charset="-122"/>
              </a:endParaRPr>
            </a:p>
            <a:p>
              <a:pPr algn="ctr"/>
              <a:r>
                <a:rPr lang="zh-CN" altLang="en-US" sz="1400" dirty="0">
                  <a:latin typeface="汉仪润圆-65简" panose="00020600040101010101" pitchFamily="18" charset="-122"/>
                  <a:ea typeface="汉仪润圆-65简" panose="00020600040101010101" pitchFamily="18" charset="-122"/>
                </a:rPr>
                <a:t>中心极限定理</a:t>
              </a:r>
              <a:endParaRPr lang="en-US" altLang="zh-CN" sz="1400" dirty="0">
                <a:latin typeface="汉仪润圆-65简" panose="00020600040101010101" pitchFamily="18" charset="-122"/>
                <a:ea typeface="汉仪润圆-65简" panose="00020600040101010101" pitchFamily="18" charset="-122"/>
              </a:endParaRPr>
            </a:p>
          </p:txBody>
        </p:sp>
        <p:cxnSp>
          <p:nvCxnSpPr>
            <p:cNvPr id="73" name="直接箭头连接符 72">
              <a:extLst>
                <a:ext uri="{FF2B5EF4-FFF2-40B4-BE49-F238E27FC236}">
                  <a16:creationId xmlns:a16="http://schemas.microsoft.com/office/drawing/2014/main" id="{6EF083B3-05C0-8DC2-1A7F-369E9C10631B}"/>
                </a:ext>
              </a:extLst>
            </p:cNvPr>
            <p:cNvCxnSpPr>
              <a:cxnSpLocks/>
            </p:cNvCxnSpPr>
            <p:nvPr/>
          </p:nvCxnSpPr>
          <p:spPr>
            <a:xfrm>
              <a:off x="10232682" y="2963411"/>
              <a:ext cx="0" cy="637852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8F23A249-1553-BB3A-2F24-1E3151ED281E}"/>
                    </a:ext>
                  </a:extLst>
                </p:cNvPr>
                <p:cNvSpPr txBox="1"/>
                <p:nvPr/>
              </p:nvSpPr>
              <p:spPr>
                <a:xfrm>
                  <a:off x="10306675" y="3126597"/>
                  <a:ext cx="1046415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1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~</m:t>
                        </m:r>
                        <m:r>
                          <a:rPr lang="en-US" altLang="zh-CN" sz="1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sz="1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(1,</m:t>
                        </m:r>
                        <m:r>
                          <a:rPr lang="en-US" altLang="zh-CN" sz="1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1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1400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8F23A249-1553-BB3A-2F24-1E3151ED28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06675" y="3126597"/>
                  <a:ext cx="1046415" cy="307777"/>
                </a:xfrm>
                <a:prstGeom prst="rect">
                  <a:avLst/>
                </a:prstGeom>
                <a:blipFill>
                  <a:blip r:embed="rId13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custDataLst>
      <p:tags r:id="rId1"/>
    </p:custDataLst>
    <p:extLst>
      <p:ext uri="{BB962C8B-B14F-4D97-AF65-F5344CB8AC3E}">
        <p14:creationId xmlns:p14="http://schemas.microsoft.com/office/powerpoint/2010/main" val="3032924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9" grpId="0" uiExpand="1" build="p"/>
      <p:bldP spid="3" grpId="0"/>
      <p:bldP spid="4" grpId="0" animBg="1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DF8EA2AA-3607-76BF-CED9-450E9DC65B0B}"/>
              </a:ext>
            </a:extLst>
          </p:cNvPr>
          <p:cNvSpPr txBox="1"/>
          <p:nvPr/>
        </p:nvSpPr>
        <p:spPr>
          <a:xfrm>
            <a:off x="507460" y="1425186"/>
            <a:ext cx="11108176" cy="672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例</a:t>
            </a:r>
            <a:r>
              <a:rPr lang="en-US" altLang="zh-CN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4</a:t>
            </a:r>
            <a:r>
              <a:rPr lang="zh-CN" altLang="en-US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：一家保险公司的某意外保险合同有</a:t>
            </a:r>
            <a:r>
              <a:rPr lang="en-US" altLang="zh-CN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10000</a:t>
            </a:r>
            <a:r>
              <a:rPr lang="zh-CN" altLang="en-US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人参保，每人每年付</a:t>
            </a:r>
            <a:r>
              <a:rPr lang="en-US" altLang="zh-CN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12</a:t>
            </a:r>
            <a:r>
              <a:rPr lang="zh-CN" altLang="en-US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元保费。假设一年中某人发生意外的概率是</a:t>
            </a:r>
            <a:r>
              <a:rPr lang="en-US" altLang="zh-CN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0.006</a:t>
            </a:r>
            <a:r>
              <a:rPr lang="zh-CN" altLang="en-US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，</a:t>
            </a:r>
            <a:endParaRPr lang="en-US" altLang="zh-CN" sz="1600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          </a:t>
            </a:r>
            <a:r>
              <a:rPr lang="zh-CN" altLang="en-US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发生意外时保险公司向其赔偿</a:t>
            </a:r>
            <a:r>
              <a:rPr lang="en-US" altLang="zh-CN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1000</a:t>
            </a:r>
            <a:r>
              <a:rPr lang="zh-CN" altLang="en-US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元。求：</a:t>
            </a:r>
            <a:r>
              <a:rPr lang="en-US" altLang="zh-CN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(1)</a:t>
            </a:r>
            <a:r>
              <a:rPr lang="zh-CN" altLang="en-US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保险公司亏本的概率？</a:t>
            </a:r>
            <a:r>
              <a:rPr lang="en-US" altLang="zh-CN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(2)</a:t>
            </a:r>
            <a:r>
              <a:rPr lang="zh-CN" altLang="en-US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保险公司年利润不少于</a:t>
            </a:r>
            <a:r>
              <a:rPr lang="en-US" altLang="zh-CN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4</a:t>
            </a:r>
            <a:r>
              <a:rPr lang="zh-CN" altLang="en-US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万元的概率？</a:t>
            </a:r>
            <a:endParaRPr lang="en-US" altLang="zh-CN" sz="1600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4E240F2-763C-05F2-821A-55C17D9C6E15}"/>
                  </a:ext>
                </a:extLst>
              </p:cNvPr>
              <p:cNvSpPr txBox="1"/>
              <p:nvPr/>
            </p:nvSpPr>
            <p:spPr>
              <a:xfrm>
                <a:off x="507458" y="2097871"/>
                <a:ext cx="11177081" cy="3533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</a:t>
                </a: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(1)</a:t>
                </a:r>
                <a:r>
                  <a:rPr lang="zh-CN" altLang="en-US" sz="1600" dirty="0">
                    <a:solidFill>
                      <a:schemeClr val="accent2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（使用 独立同分布中心极限定理）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一年的总收入为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10000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×12=120000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（元）。</a:t>
                </a: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𝑛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=1,2,…,10000)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表示一年内一发生意外与否，则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~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𝐵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(1,0.006)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，且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{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相互独立。</a:t>
                </a: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若保险公司亏本，则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1000</m:t>
                    </m:r>
                    <m:nary>
                      <m:naryPr>
                        <m:chr m:val="∑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600" i="1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𝑖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=1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10000</m:t>
                        </m:r>
                      </m:sup>
                      <m:e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&gt;120000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，即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600" i="1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𝑖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=1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10000</m:t>
                        </m:r>
                      </m:sup>
                      <m:e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zh-CN" sz="1600" i="1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&gt;12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0</m:t>
                    </m:r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  <a:p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由独立同分布中心极限定理，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16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𝑖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10000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&gt;120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=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sz="1600" i="1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  <m:t>𝑖</m:t>
                                </m:r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  <m:t>10000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仿宋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仿宋" panose="02010609060101010101" pitchFamily="49" charset="-122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仿宋" panose="02010609060101010101" pitchFamily="49" charset="-122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10000</m:t>
                            </m:r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𝜇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  <m:t>10000</m:t>
                                </m:r>
                              </m:e>
                            </m:rad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𝜎</m:t>
                            </m:r>
                          </m:den>
                        </m:f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&gt;</m:t>
                        </m:r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120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−10000</m:t>
                            </m:r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𝜇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  <m:t>10000</m:t>
                                </m:r>
                              </m:e>
                            </m:rad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𝜎</m:t>
                            </m:r>
                          </m:den>
                        </m:f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=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sz="1600" i="1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  <m:t>𝑖</m:t>
                                </m:r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  <m:t>10000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仿宋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仿宋" panose="02010609060101010101" pitchFamily="49" charset="-122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仿宋" panose="02010609060101010101" pitchFamily="49" charset="-122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1600" i="1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10000</m:t>
                            </m:r>
                            <m:r>
                              <a:rPr lang="zh-CN" altLang="en-US" sz="1600" i="1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𝜇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  <m:t>10000</m:t>
                                </m:r>
                              </m:e>
                            </m:rad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𝜎</m:t>
                            </m:r>
                          </m:den>
                        </m:f>
                        <m:r>
                          <a:rPr lang="en-US" altLang="zh-CN" sz="1600" i="1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&gt;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7.769</m:t>
                        </m:r>
                      </m:e>
                    </m:d>
                  </m:oMath>
                </a14:m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en-US" altLang="zh-CN" sz="1600" dirty="0">
                    <a:ea typeface="仿宋" panose="02010609060101010101" pitchFamily="49" charset="-122"/>
                  </a:rPr>
                  <a:t>                                                                                           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1−</m:t>
                    </m:r>
                    <m:r>
                      <m:rPr>
                        <m:sty m:val="p"/>
                      </m:rPr>
                      <a:rPr lang="el-GR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7.769</m:t>
                        </m:r>
                      </m:e>
                    </m:d>
                    <m:r>
                      <a:rPr lang="en-US" altLang="zh-CN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</m:t>
                    </m:r>
                  </m:oMath>
                </a14:m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(2)</a:t>
                </a:r>
                <a:r>
                  <a:rPr lang="zh-CN" altLang="en-US" sz="1600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（使用 棣莫弗</a:t>
                </a:r>
                <a:r>
                  <a:rPr lang="en-US" altLang="zh-CN" sz="1600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-</a:t>
                </a:r>
                <a:r>
                  <a:rPr lang="zh-CN" altLang="en-US" sz="1600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拉普拉斯定理）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表示一年内发生意外人数，则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𝑋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~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𝐵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(10000,0.006)</m:t>
                    </m:r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若保险公司一年内利润不少于</a:t>
                </a: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4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万元，则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120000−1000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𝑋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≥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40000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𝑋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≤80</m:t>
                    </m:r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  <a:p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由棣莫弗</a:t>
                </a: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-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拉普拉斯定理，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𝑋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≤80</m:t>
                        </m:r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=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𝑋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−10000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𝑝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  <m:t>10000</m:t>
                                </m:r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  <m:t>𝑝</m:t>
                                </m:r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  <m:t>(1−</m:t>
                                </m:r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  <m:t>𝑝</m:t>
                                </m:r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  <m:t>)</m:t>
                                </m:r>
                              </m:e>
                            </m:rad>
                          </m:den>
                        </m:f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≤</m:t>
                        </m:r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80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−10000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𝑝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  <m:t>10000</m:t>
                                </m:r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  <m:t>𝑝</m:t>
                                </m:r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  <m:t>(1−</m:t>
                                </m:r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  <m:t>𝑝</m:t>
                                </m:r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  <m:t>)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=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𝑋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−10000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𝑝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  <m:t>10000</m:t>
                                </m:r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  <m:t>𝑝</m:t>
                                </m:r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  <m:t>(1−</m:t>
                                </m:r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  <m:t>𝑝</m:t>
                                </m:r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  <m:t>)</m:t>
                                </m:r>
                              </m:e>
                            </m:rad>
                          </m:den>
                        </m:f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≤2.5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9</m:t>
                        </m:r>
                      </m:e>
                    </m:d>
                    <m:r>
                      <a:rPr lang="en-US" altLang="zh-CN" sz="1600" b="0" i="0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=</m:t>
                    </m:r>
                    <m:r>
                      <m:rPr>
                        <m:sty m:val="p"/>
                      </m:rPr>
                      <a:rPr lang="el-GR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2.59</m:t>
                        </m:r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≈0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.995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4E240F2-763C-05F2-821A-55C17D9C6E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58" y="2097871"/>
                <a:ext cx="11177081" cy="3533660"/>
              </a:xfrm>
              <a:prstGeom prst="rect">
                <a:avLst/>
              </a:prstGeom>
              <a:blipFill>
                <a:blip r:embed="rId3"/>
                <a:stretch>
                  <a:fillRect l="-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5C3E42EC-678A-EE39-E823-79DF21587A02}"/>
              </a:ext>
            </a:extLst>
          </p:cNvPr>
          <p:cNvSpPr txBox="1"/>
          <p:nvPr/>
        </p:nvSpPr>
        <p:spPr>
          <a:xfrm>
            <a:off x="507460" y="496110"/>
            <a:ext cx="30009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中心极限定理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1AF8105-EB53-F58D-D316-0BE3979E1F91}"/>
              </a:ext>
            </a:extLst>
          </p:cNvPr>
          <p:cNvSpPr txBox="1"/>
          <p:nvPr/>
        </p:nvSpPr>
        <p:spPr>
          <a:xfrm>
            <a:off x="3508444" y="775742"/>
            <a:ext cx="26524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独立同分布中心极限定理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34847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DF8EA2AA-3607-76BF-CED9-450E9DC65B0B}"/>
              </a:ext>
            </a:extLst>
          </p:cNvPr>
          <p:cNvSpPr txBox="1"/>
          <p:nvPr/>
        </p:nvSpPr>
        <p:spPr>
          <a:xfrm>
            <a:off x="507460" y="1425186"/>
            <a:ext cx="11108176" cy="1042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例</a:t>
            </a:r>
            <a:r>
              <a:rPr lang="en-US" altLang="zh-CN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5</a:t>
            </a:r>
            <a:r>
              <a:rPr lang="zh-CN" altLang="en-US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：每年秋季是各大高校的开学迎新季。西北工业大学学生会调查发现，一天内来报道学生的陪同家长数量是个随机变量，</a:t>
            </a:r>
            <a:endParaRPr lang="en-US" altLang="zh-CN" sz="1600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          </a:t>
            </a:r>
            <a:r>
              <a:rPr lang="zh-CN" altLang="en-US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取值为</a:t>
            </a:r>
            <a:r>
              <a:rPr lang="en-US" altLang="zh-CN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0,1,2</a:t>
            </a:r>
            <a:r>
              <a:rPr lang="zh-CN" altLang="en-US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，且不同学生的陪同家长数量相互独立。根据往年的经验，一个学生无家长、有</a:t>
            </a:r>
            <a:r>
              <a:rPr lang="en-US" altLang="zh-CN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1</a:t>
            </a:r>
            <a:r>
              <a:rPr lang="zh-CN" altLang="en-US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名家长、有</a:t>
            </a:r>
            <a:r>
              <a:rPr lang="en-US" altLang="zh-CN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2</a:t>
            </a:r>
            <a:r>
              <a:rPr lang="zh-CN" altLang="en-US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名家长陪同</a:t>
            </a:r>
            <a:endParaRPr lang="en-US" altLang="zh-CN" sz="1600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          </a:t>
            </a:r>
            <a:r>
              <a:rPr lang="zh-CN" altLang="en-US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的概率分别为</a:t>
            </a:r>
            <a:r>
              <a:rPr lang="en-US" altLang="zh-CN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0.05, 0.8, 0.15. </a:t>
            </a:r>
            <a:r>
              <a:rPr lang="zh-CN" altLang="en-US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若某天有</a:t>
            </a:r>
            <a:r>
              <a:rPr lang="en-US" altLang="zh-CN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400</a:t>
            </a:r>
            <a:r>
              <a:rPr lang="zh-CN" altLang="en-US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名学生来报道，求：当天的陪同家长总数超过</a:t>
            </a:r>
            <a:r>
              <a:rPr lang="en-US" altLang="zh-CN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450</a:t>
            </a:r>
            <a:r>
              <a:rPr lang="zh-CN" altLang="en-US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的概率。</a:t>
            </a:r>
            <a:endParaRPr lang="en-US" altLang="zh-CN" sz="1600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009FB06-FF17-B770-BAB3-AD958ADE3818}"/>
                  </a:ext>
                </a:extLst>
              </p:cNvPr>
              <p:cNvSpPr txBox="1"/>
              <p:nvPr/>
            </p:nvSpPr>
            <p:spPr>
              <a:xfrm>
                <a:off x="576364" y="2557928"/>
                <a:ext cx="11039272" cy="17340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解：设第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𝑘</m:t>
                    </m:r>
                  </m:oMath>
                </a14:m>
                <a:r>
                  <a:rPr lang="zh-CN" altLang="en-US" sz="16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个学生的陪同家长数目为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𝑘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=1,2,…,400)</m:t>
                    </m:r>
                  </m:oMath>
                </a14:m>
                <a:r>
                  <a:rPr lang="zh-CN" altLang="en-US" sz="16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16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的分布律如表所示，</a:t>
                </a:r>
                <a:endParaRPr lang="en-US" altLang="zh-CN" sz="1600" b="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易得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=1.1</m:t>
                    </m:r>
                  </m:oMath>
                </a14:m>
                <a:r>
                  <a:rPr lang="zh-CN" altLang="en-US" sz="16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𝐷</m:t>
                    </m:r>
                    <m:d>
                      <m:dPr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=0.19</m:t>
                    </m:r>
                  </m:oMath>
                </a14:m>
                <a:r>
                  <a:rPr lang="en-US" altLang="zh-CN" sz="16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 </a:t>
                </a:r>
                <a:r>
                  <a:rPr lang="zh-CN" altLang="en-US" sz="16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且随机变量序列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{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}</m:t>
                    </m:r>
                  </m:oMath>
                </a14:m>
                <a:r>
                  <a:rPr lang="zh-CN" altLang="en-US" sz="16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独立同分布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。</a:t>
                </a: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设当天的陪同家长总数为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𝑋</m:t>
                    </m:r>
                  </m:oMath>
                </a14:m>
                <a:r>
                  <a:rPr lang="zh-CN" altLang="en-US" sz="16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𝑋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=1</m:t>
                        </m:r>
                      </m:sub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400</m:t>
                        </m:r>
                      </m:sup>
                      <m:e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zh-CN" sz="16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由独立同分布中心极限定理，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&gt;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45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0</m:t>
                        </m:r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=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𝑋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400</m:t>
                            </m:r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𝜇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  <m:t>400</m:t>
                                </m:r>
                              </m:e>
                            </m:rad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𝜎</m:t>
                            </m:r>
                          </m:den>
                        </m:f>
                        <m:r>
                          <a:rPr lang="en-US" altLang="zh-CN" sz="1600" i="1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&gt;</m:t>
                        </m:r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450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400</m:t>
                            </m:r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𝜇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  <m:t>400</m:t>
                                </m:r>
                              </m:e>
                            </m:rad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𝜎</m:t>
                            </m:r>
                          </m:den>
                        </m:f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=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𝑋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−400</m:t>
                            </m:r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𝜇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  <m:t>400</m:t>
                                </m:r>
                              </m:e>
                            </m:rad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𝜎</m:t>
                            </m:r>
                          </m:den>
                        </m:f>
                        <m:r>
                          <a:rPr lang="en-US" altLang="zh-CN" sz="1600" i="1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&gt;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1.15</m:t>
                        </m:r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=1−</m:t>
                    </m:r>
                    <m:r>
                      <m:rPr>
                        <m:sty m:val="p"/>
                      </m:rPr>
                      <a:rPr lang="el-GR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1.15</m:t>
                        </m:r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0.1251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009FB06-FF17-B770-BAB3-AD958ADE38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364" y="2557928"/>
                <a:ext cx="11039272" cy="1734064"/>
              </a:xfrm>
              <a:prstGeom prst="rect">
                <a:avLst/>
              </a:prstGeom>
              <a:blipFill>
                <a:blip r:embed="rId3"/>
                <a:stretch>
                  <a:fillRect l="-331" b="-7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66D424AC-F145-E26F-2477-E44CF09E4BCD}"/>
              </a:ext>
            </a:extLst>
          </p:cNvPr>
          <p:cNvSpPr txBox="1"/>
          <p:nvPr/>
        </p:nvSpPr>
        <p:spPr>
          <a:xfrm>
            <a:off x="507460" y="496110"/>
            <a:ext cx="30009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中心极限定理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5706F9D-871D-8451-F001-08F8D479CB7A}"/>
              </a:ext>
            </a:extLst>
          </p:cNvPr>
          <p:cNvSpPr txBox="1"/>
          <p:nvPr/>
        </p:nvSpPr>
        <p:spPr>
          <a:xfrm>
            <a:off x="3508444" y="775742"/>
            <a:ext cx="26524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独立同分布中心极限定理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格 3">
                <a:extLst>
                  <a:ext uri="{FF2B5EF4-FFF2-40B4-BE49-F238E27FC236}">
                    <a16:creationId xmlns:a16="http://schemas.microsoft.com/office/drawing/2014/main" id="{267A7323-62EA-9860-7F86-B5BE48B3E8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17039305"/>
                  </p:ext>
                </p:extLst>
              </p:nvPr>
            </p:nvGraphicFramePr>
            <p:xfrm>
              <a:off x="8614652" y="2762575"/>
              <a:ext cx="3000984" cy="74168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750246">
                      <a:extLst>
                        <a:ext uri="{9D8B030D-6E8A-4147-A177-3AD203B41FA5}">
                          <a16:colId xmlns:a16="http://schemas.microsoft.com/office/drawing/2014/main" val="663545397"/>
                        </a:ext>
                      </a:extLst>
                    </a:gridCol>
                    <a:gridCol w="750246">
                      <a:extLst>
                        <a:ext uri="{9D8B030D-6E8A-4147-A177-3AD203B41FA5}">
                          <a16:colId xmlns:a16="http://schemas.microsoft.com/office/drawing/2014/main" val="3737454263"/>
                        </a:ext>
                      </a:extLst>
                    </a:gridCol>
                    <a:gridCol w="750246">
                      <a:extLst>
                        <a:ext uri="{9D8B030D-6E8A-4147-A177-3AD203B41FA5}">
                          <a16:colId xmlns:a16="http://schemas.microsoft.com/office/drawing/2014/main" val="2473298332"/>
                        </a:ext>
                      </a:extLst>
                    </a:gridCol>
                    <a:gridCol w="750246">
                      <a:extLst>
                        <a:ext uri="{9D8B030D-6E8A-4147-A177-3AD203B41FA5}">
                          <a16:colId xmlns:a16="http://schemas.microsoft.com/office/drawing/2014/main" val="355131451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alt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alt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CN" altLang="en-US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0962142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zh-CN" alt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0.05</m:t>
                                </m:r>
                              </m:oMath>
                            </m:oMathPara>
                          </a14:m>
                          <a:endParaRPr lang="zh-CN" alt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0.8</m:t>
                                </m:r>
                              </m:oMath>
                            </m:oMathPara>
                          </a14:m>
                          <a:endParaRPr lang="zh-CN" alt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0.12</m:t>
                                </m:r>
                              </m:oMath>
                            </m:oMathPara>
                          </a14:m>
                          <a:endParaRPr lang="zh-CN" altLang="en-US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596845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格 3">
                <a:extLst>
                  <a:ext uri="{FF2B5EF4-FFF2-40B4-BE49-F238E27FC236}">
                    <a16:creationId xmlns:a16="http://schemas.microsoft.com/office/drawing/2014/main" id="{267A7323-62EA-9860-7F86-B5BE48B3E8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17039305"/>
                  </p:ext>
                </p:extLst>
              </p:nvPr>
            </p:nvGraphicFramePr>
            <p:xfrm>
              <a:off x="8614652" y="2762575"/>
              <a:ext cx="3000984" cy="74168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750246">
                      <a:extLst>
                        <a:ext uri="{9D8B030D-6E8A-4147-A177-3AD203B41FA5}">
                          <a16:colId xmlns:a16="http://schemas.microsoft.com/office/drawing/2014/main" val="663545397"/>
                        </a:ext>
                      </a:extLst>
                    </a:gridCol>
                    <a:gridCol w="750246">
                      <a:extLst>
                        <a:ext uri="{9D8B030D-6E8A-4147-A177-3AD203B41FA5}">
                          <a16:colId xmlns:a16="http://schemas.microsoft.com/office/drawing/2014/main" val="3737454263"/>
                        </a:ext>
                      </a:extLst>
                    </a:gridCol>
                    <a:gridCol w="750246">
                      <a:extLst>
                        <a:ext uri="{9D8B030D-6E8A-4147-A177-3AD203B41FA5}">
                          <a16:colId xmlns:a16="http://schemas.microsoft.com/office/drawing/2014/main" val="2473298332"/>
                        </a:ext>
                      </a:extLst>
                    </a:gridCol>
                    <a:gridCol w="750246">
                      <a:extLst>
                        <a:ext uri="{9D8B030D-6E8A-4147-A177-3AD203B41FA5}">
                          <a16:colId xmlns:a16="http://schemas.microsoft.com/office/drawing/2014/main" val="355131451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813" t="-1639" r="-304065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1639" r="-201613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201626" t="-1639" r="-103252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301626" t="-1639" r="-3252" b="-1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62142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813" t="-101639" r="-304065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101639" r="-201613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201626" t="-101639" r="-103252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301626" t="-101639" r="-3252" b="-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9684575"/>
                      </a:ext>
                    </a:extLst>
                  </a:tr>
                </a:tbl>
              </a:graphicData>
            </a:graphic>
          </p:graphicFrame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72030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DA699433-94B9-422C-C0AC-B8CF736B0CE1}"/>
              </a:ext>
            </a:extLst>
          </p:cNvPr>
          <p:cNvCxnSpPr>
            <a:cxnSpLocks/>
          </p:cNvCxnSpPr>
          <p:nvPr/>
        </p:nvCxnSpPr>
        <p:spPr>
          <a:xfrm>
            <a:off x="0" y="3927997"/>
            <a:ext cx="12192000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29FD73E4-56FA-6572-DE2B-71618A131228}"/>
              </a:ext>
            </a:extLst>
          </p:cNvPr>
          <p:cNvCxnSpPr>
            <a:cxnSpLocks/>
          </p:cNvCxnSpPr>
          <p:nvPr/>
        </p:nvCxnSpPr>
        <p:spPr>
          <a:xfrm>
            <a:off x="0" y="2233215"/>
            <a:ext cx="12192000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DF8EA2AA-3607-76BF-CED9-450E9DC65B0B}"/>
              </a:ext>
            </a:extLst>
          </p:cNvPr>
          <p:cNvSpPr txBox="1"/>
          <p:nvPr/>
        </p:nvSpPr>
        <p:spPr>
          <a:xfrm>
            <a:off x="5030801" y="1993421"/>
            <a:ext cx="2130396" cy="4001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随机变量序列</a:t>
            </a:r>
            <a:endParaRPr lang="en-US" altLang="zh-CN" sz="2000" i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文本框 120">
                <a:extLst>
                  <a:ext uri="{FF2B5EF4-FFF2-40B4-BE49-F238E27FC236}">
                    <a16:creationId xmlns:a16="http://schemas.microsoft.com/office/drawing/2014/main" id="{F996CD23-6495-5B9D-E542-063D0B66014B}"/>
                  </a:ext>
                </a:extLst>
              </p:cNvPr>
              <p:cNvSpPr txBox="1"/>
              <p:nvPr/>
            </p:nvSpPr>
            <p:spPr>
              <a:xfrm>
                <a:off x="576364" y="1777978"/>
                <a:ext cx="3999234" cy="1005403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0" dirty="0">
                    <a:latin typeface="汉仪润圆-65简" panose="00020600040101010101" pitchFamily="18" charset="-122"/>
                    <a:ea typeface="汉仪润圆-65简" panose="00020600040101010101" pitchFamily="18" charset="-122"/>
                  </a:rPr>
                  <a:t>依概率收敛：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</m:groupCh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endParaRPr lang="en-US" altLang="zh-CN" dirty="0">
                  <a:latin typeface="汉仪润圆-65简" panose="00020600040101010101" pitchFamily="18" charset="-122"/>
                  <a:ea typeface="汉仪润圆-65简" panose="00020600040101010101" pitchFamily="18" charset="-122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180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1800" i="1" smtClean="0"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800" i="0" smtClean="0"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  <m:t>𝑛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𝑃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  <a:ea typeface="仿宋" panose="02010609060101010101" pitchFamily="49" charset="-12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800" b="0" i="1" smtClean="0">
                                          <a:latin typeface="Cambria Math" panose="02040503050406030204" pitchFamily="18" charset="0"/>
                                          <a:ea typeface="仿宋" panose="02010609060101010101" pitchFamily="49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b="0" i="1" smtClean="0">
                                          <a:latin typeface="Cambria Math" panose="02040503050406030204" pitchFamily="18" charset="0"/>
                                          <a:ea typeface="仿宋" panose="02010609060101010101" pitchFamily="49" charset="-122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altLang="zh-CN" sz="1800" b="0" i="1" smtClean="0">
                                          <a:latin typeface="Cambria Math" panose="02040503050406030204" pitchFamily="18" charset="0"/>
                                          <a:ea typeface="仿宋" panose="02010609060101010101" pitchFamily="49" charset="-122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  <a:ea typeface="仿宋" panose="02010609060101010101" pitchFamily="49" charset="-122"/>
                                    </a:rPr>
                                    <m:t>−</m:t>
                                  </m:r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  <a:ea typeface="仿宋" panose="02010609060101010101" pitchFamily="49" charset="-122"/>
                                    </a:rPr>
                                    <m:t>𝑌</m:t>
                                  </m:r>
                                </m:e>
                              </m:d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  <m:t>&gt;</m:t>
                              </m:r>
                              <m:r>
                                <a:rPr lang="zh-CN" altLang="en-US" sz="1800" b="0" i="1" smtClean="0"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  <m:t>𝜀</m:t>
                              </m:r>
                            </m:e>
                          </m:d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=0</m:t>
                          </m:r>
                        </m:e>
                      </m:func>
                    </m:oMath>
                  </m:oMathPara>
                </a14:m>
                <a:endParaRPr lang="zh-CN" altLang="en-US" dirty="0">
                  <a:latin typeface="汉仪润圆-65简" panose="00020600040101010101" pitchFamily="18" charset="-122"/>
                  <a:ea typeface="汉仪润圆-65简" panose="00020600040101010101" pitchFamily="18" charset="-122"/>
                </a:endParaRPr>
              </a:p>
            </p:txBody>
          </p:sp>
        </mc:Choice>
        <mc:Fallback xmlns="">
          <p:sp>
            <p:nvSpPr>
              <p:cNvPr id="121" name="文本框 120">
                <a:extLst>
                  <a:ext uri="{FF2B5EF4-FFF2-40B4-BE49-F238E27FC236}">
                    <a16:creationId xmlns:a16="http://schemas.microsoft.com/office/drawing/2014/main" id="{F996CD23-6495-5B9D-E542-063D0B6601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364" y="1777978"/>
                <a:ext cx="3999234" cy="100540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77170BE7-0F76-5811-175E-EA30464C19C2}"/>
              </a:ext>
            </a:extLst>
          </p:cNvPr>
          <p:cNvSpPr txBox="1"/>
          <p:nvPr/>
        </p:nvSpPr>
        <p:spPr>
          <a:xfrm>
            <a:off x="5030801" y="3727942"/>
            <a:ext cx="2130396" cy="4001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大数定律</a:t>
            </a:r>
            <a:endParaRPr lang="en-US" altLang="zh-CN" sz="2000" i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5FCC150-EE9F-448F-015A-A7763D959BEC}"/>
                  </a:ext>
                </a:extLst>
              </p:cNvPr>
              <p:cNvSpPr txBox="1"/>
              <p:nvPr/>
            </p:nvSpPr>
            <p:spPr>
              <a:xfrm>
                <a:off x="576360" y="3466332"/>
                <a:ext cx="4011882" cy="1028615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zh-CN" altLang="en-US" b="0" dirty="0">
                    <a:latin typeface="汉仪润圆-65简" panose="00020600040101010101" pitchFamily="18" charset="-122"/>
                    <a:ea typeface="汉仪润圆-65简" panose="00020600040101010101" pitchFamily="18" charset="-122"/>
                  </a:rPr>
                  <a:t>切比雪夫大数定律</a:t>
                </a:r>
                <a:endParaRPr lang="en-US" altLang="zh-CN" b="0" dirty="0">
                  <a:latin typeface="汉仪润圆-65简" panose="00020600040101010101" pitchFamily="18" charset="-122"/>
                  <a:ea typeface="汉仪润圆-65简" panose="00020600040101010101" pitchFamily="18" charset="-122"/>
                </a:endParaRPr>
              </a:p>
              <a:p>
                <a:pPr algn="ctr"/>
                <a:r>
                  <a:rPr lang="zh-CN" altLang="en-US" sz="14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两两不相关，方差均存在且有共同上界</a:t>
                </a:r>
              </a:p>
              <a:p>
                <a:pPr algn="ctr"/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依概率收敛于</a:t>
                </a:r>
                <a:r>
                  <a:rPr lang="zh-CN" altLang="en-US" sz="14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数学期望的平均值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400" b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altLang="zh-CN" sz="1400" b="0" dirty="0">
                  <a:latin typeface="汉仪润圆-65简" panose="00020600040101010101" pitchFamily="18" charset="-122"/>
                  <a:ea typeface="汉仪润圆-65简" panose="00020600040101010101" pitchFamily="18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5FCC150-EE9F-448F-015A-A7763D959B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360" y="3466332"/>
                <a:ext cx="4011882" cy="1028615"/>
              </a:xfrm>
              <a:prstGeom prst="rect">
                <a:avLst/>
              </a:prstGeom>
              <a:blipFill>
                <a:blip r:embed="rId4"/>
                <a:stretch>
                  <a:fillRect b="-434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A975380-1403-30D3-DC8B-56E3F1958197}"/>
                  </a:ext>
                </a:extLst>
              </p:cNvPr>
              <p:cNvSpPr txBox="1"/>
              <p:nvPr/>
            </p:nvSpPr>
            <p:spPr>
              <a:xfrm>
                <a:off x="7603755" y="3502926"/>
                <a:ext cx="4011881" cy="938719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zh-CN" altLang="en-US" b="0" dirty="0">
                    <a:latin typeface="汉仪润圆-65简" panose="00020600040101010101" pitchFamily="18" charset="-122"/>
                    <a:ea typeface="汉仪润圆-65简" panose="00020600040101010101" pitchFamily="18" charset="-122"/>
                  </a:rPr>
                  <a:t>辛钦大数定律</a:t>
                </a:r>
                <a:endParaRPr lang="en-US" altLang="zh-CN" b="0" dirty="0">
                  <a:latin typeface="汉仪润圆-65简" panose="00020600040101010101" pitchFamily="18" charset="-122"/>
                  <a:ea typeface="汉仪润圆-65简" panose="00020600040101010101" pitchFamily="18" charset="-122"/>
                </a:endParaRPr>
              </a:p>
              <a:p>
                <a:pPr algn="ctr"/>
                <a:r>
                  <a:rPr lang="zh-CN" altLang="en-US" sz="14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独立同分布（即同期望），期望存在</a:t>
                </a:r>
              </a:p>
              <a:p>
                <a:pPr algn="ctr"/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依概率收敛于</a:t>
                </a:r>
                <a:r>
                  <a:rPr lang="zh-CN" altLang="en-US" sz="14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共同的数学期望</a:t>
                </a:r>
                <a14:m>
                  <m:oMath xmlns:m="http://schemas.openxmlformats.org/officeDocument/2006/math">
                    <m:r>
                      <a:rPr lang="zh-CN" altLang="en-US" sz="14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𝜇</m:t>
                    </m:r>
                  </m:oMath>
                </a14:m>
                <a:endParaRPr lang="zh-CN" altLang="en-US" sz="1400" b="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A975380-1403-30D3-DC8B-56E3F19581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3755" y="3502926"/>
                <a:ext cx="4011881" cy="938719"/>
              </a:xfrm>
              <a:prstGeom prst="rect">
                <a:avLst/>
              </a:prstGeom>
              <a:blipFill>
                <a:blip r:embed="rId5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6224B2CB-7DEC-89D6-385B-3B3A5D8DBA8B}"/>
              </a:ext>
            </a:extLst>
          </p:cNvPr>
          <p:cNvCxnSpPr>
            <a:cxnSpLocks/>
          </p:cNvCxnSpPr>
          <p:nvPr/>
        </p:nvCxnSpPr>
        <p:spPr>
          <a:xfrm>
            <a:off x="0" y="5622778"/>
            <a:ext cx="12192000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>
            <a:extLst>
              <a:ext uri="{FF2B5EF4-FFF2-40B4-BE49-F238E27FC236}">
                <a16:creationId xmlns:a16="http://schemas.microsoft.com/office/drawing/2014/main" id="{FB6261D1-9307-06E1-2224-6578FD93683E}"/>
              </a:ext>
            </a:extLst>
          </p:cNvPr>
          <p:cNvSpPr/>
          <p:nvPr/>
        </p:nvSpPr>
        <p:spPr>
          <a:xfrm>
            <a:off x="4388295" y="5545295"/>
            <a:ext cx="3372255" cy="1541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7AB62AB-D9C7-9698-0FC6-8674D5DF6915}"/>
              </a:ext>
            </a:extLst>
          </p:cNvPr>
          <p:cNvSpPr txBox="1"/>
          <p:nvPr/>
        </p:nvSpPr>
        <p:spPr>
          <a:xfrm>
            <a:off x="5030800" y="5422723"/>
            <a:ext cx="2130397" cy="4001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中心极限定理</a:t>
            </a:r>
            <a:endParaRPr lang="en-US" altLang="zh-CN" sz="2000" i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3D7142-4BB3-9AA1-B5B8-3F27DC579DCE}"/>
              </a:ext>
            </a:extLst>
          </p:cNvPr>
          <p:cNvSpPr txBox="1"/>
          <p:nvPr/>
        </p:nvSpPr>
        <p:spPr>
          <a:xfrm>
            <a:off x="4588242" y="528331"/>
            <a:ext cx="3015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极限定理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2942A81-D2CE-0B42-210D-7B6087B421BC}"/>
                  </a:ext>
                </a:extLst>
              </p:cNvPr>
              <p:cNvSpPr txBox="1"/>
              <p:nvPr/>
            </p:nvSpPr>
            <p:spPr>
              <a:xfrm>
                <a:off x="7616400" y="1840788"/>
                <a:ext cx="1329995" cy="8799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zh-CN" altLang="en-US" b="0" dirty="0">
                    <a:latin typeface="汉仪润圆-65简" panose="00020600040101010101" pitchFamily="18" charset="-122"/>
                    <a:ea typeface="汉仪润圆-65简" panose="00020600040101010101" pitchFamily="18" charset="-122"/>
                  </a:rPr>
                  <a:t>依分布收敛</a:t>
                </a:r>
                <a:endParaRPr lang="en-US" altLang="zh-CN" b="0" dirty="0">
                  <a:latin typeface="汉仪润圆-65简" panose="00020600040101010101" pitchFamily="18" charset="-122"/>
                  <a:ea typeface="汉仪润圆-65简" panose="00020600040101010101" pitchFamily="18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groupChr>
                        <m:groupChrPr>
                          <m:chr m:val="→"/>
                          <m:vertJc m:val="bot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</m:groupCh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zh-CN" altLang="en-US" dirty="0">
                  <a:latin typeface="汉仪润圆-65简" panose="00020600040101010101" pitchFamily="18" charset="-122"/>
                  <a:ea typeface="汉仪润圆-65简" panose="00020600040101010101" pitchFamily="18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2942A81-D2CE-0B42-210D-7B6087B421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6400" y="1840788"/>
                <a:ext cx="1329995" cy="879984"/>
              </a:xfrm>
              <a:prstGeom prst="rect">
                <a:avLst/>
              </a:prstGeom>
              <a:blipFill>
                <a:blip r:embed="rId6"/>
                <a:stretch>
                  <a:fillRect l="-3653" r="-36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BD27A9E-9E06-8573-6F9A-8BF2DCF05028}"/>
                  </a:ext>
                </a:extLst>
              </p:cNvPr>
              <p:cNvSpPr txBox="1"/>
              <p:nvPr/>
            </p:nvSpPr>
            <p:spPr>
              <a:xfrm>
                <a:off x="9005929" y="1852137"/>
                <a:ext cx="1070019" cy="85728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zh-CN" b="0" dirty="0">
                    <a:latin typeface="汉仪润圆-65简" panose="00020600040101010101" pitchFamily="18" charset="-122"/>
                    <a:ea typeface="汉仪润圆-65简" panose="00020600040101010101" pitchFamily="18" charset="-122"/>
                  </a:rPr>
                  <a:t>r</a:t>
                </a:r>
                <a:r>
                  <a:rPr lang="zh-CN" altLang="en-US" b="0" dirty="0">
                    <a:latin typeface="汉仪润圆-65简" panose="00020600040101010101" pitchFamily="18" charset="-122"/>
                    <a:ea typeface="汉仪润圆-65简" panose="00020600040101010101" pitchFamily="18" charset="-122"/>
                  </a:rPr>
                  <a:t>阶收敛</a:t>
                </a:r>
                <a:endParaRPr lang="en-US" altLang="zh-CN" b="0" dirty="0">
                  <a:latin typeface="汉仪润圆-65简" panose="00020600040101010101" pitchFamily="18" charset="-122"/>
                  <a:ea typeface="汉仪润圆-65简" panose="00020600040101010101" pitchFamily="18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groupChr>
                        <m:groupChrPr>
                          <m:chr m:val="→"/>
                          <m:vertJc m:val="bot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</m:groupCh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zh-CN" altLang="en-US" dirty="0">
                  <a:latin typeface="汉仪润圆-65简" panose="00020600040101010101" pitchFamily="18" charset="-122"/>
                  <a:ea typeface="汉仪润圆-65简" panose="00020600040101010101" pitchFamily="18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BD27A9E-9E06-8573-6F9A-8BF2DCF050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929" y="1852137"/>
                <a:ext cx="1070019" cy="857286"/>
              </a:xfrm>
              <a:prstGeom prst="rect">
                <a:avLst/>
              </a:prstGeom>
              <a:blipFill>
                <a:blip r:embed="rId7"/>
                <a:stretch>
                  <a:fillRect l="-568" r="-24432" b="-20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473882E9-F88B-3079-CE9D-1DCE8AEFE2D1}"/>
                  </a:ext>
                </a:extLst>
              </p:cNvPr>
              <p:cNvSpPr txBox="1"/>
              <p:nvPr/>
            </p:nvSpPr>
            <p:spPr>
              <a:xfrm>
                <a:off x="10135481" y="1841914"/>
                <a:ext cx="1480155" cy="85728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zh-CN" altLang="en-US" dirty="0">
                    <a:latin typeface="汉仪润圆-65简" panose="00020600040101010101" pitchFamily="18" charset="-122"/>
                    <a:ea typeface="汉仪润圆-65简" panose="00020600040101010101" pitchFamily="18" charset="-122"/>
                  </a:rPr>
                  <a:t>以</a:t>
                </a:r>
                <a:r>
                  <a:rPr lang="zh-CN" altLang="en-US" b="0" dirty="0">
                    <a:latin typeface="汉仪润圆-65简" panose="00020600040101010101" pitchFamily="18" charset="-122"/>
                    <a:ea typeface="汉仪润圆-65简" panose="00020600040101010101" pitchFamily="18" charset="-122"/>
                  </a:rPr>
                  <a:t>概率</a:t>
                </a:r>
                <a:r>
                  <a:rPr lang="en-US" altLang="zh-CN" b="0" dirty="0">
                    <a:latin typeface="汉仪润圆-65简" panose="00020600040101010101" pitchFamily="18" charset="-122"/>
                    <a:ea typeface="汉仪润圆-65简" panose="00020600040101010101" pitchFamily="18" charset="-122"/>
                  </a:rPr>
                  <a:t>1</a:t>
                </a:r>
                <a:r>
                  <a:rPr lang="zh-CN" altLang="en-US" b="0" dirty="0">
                    <a:latin typeface="汉仪润圆-65简" panose="00020600040101010101" pitchFamily="18" charset="-122"/>
                    <a:ea typeface="汉仪润圆-65简" panose="00020600040101010101" pitchFamily="18" charset="-122"/>
                  </a:rPr>
                  <a:t>收敛</a:t>
                </a:r>
                <a:endParaRPr lang="en-US" altLang="zh-CN" b="0" dirty="0">
                  <a:latin typeface="汉仪润圆-65简" panose="00020600040101010101" pitchFamily="18" charset="-122"/>
                  <a:ea typeface="汉仪润圆-65简" panose="00020600040101010101" pitchFamily="18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groupChr>
                        <m:groupChrPr>
                          <m:chr m:val="→"/>
                          <m:vertJc m:val="bot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</m:e>
                      </m:groupCh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zh-CN" altLang="en-US" dirty="0">
                  <a:latin typeface="汉仪润圆-65简" panose="00020600040101010101" pitchFamily="18" charset="-122"/>
                  <a:ea typeface="汉仪润圆-65简" panose="00020600040101010101" pitchFamily="18" charset="-122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473882E9-F88B-3079-CE9D-1DCE8AEFE2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5481" y="1841914"/>
                <a:ext cx="1480155" cy="857286"/>
              </a:xfrm>
              <a:prstGeom prst="rect">
                <a:avLst/>
              </a:prstGeom>
              <a:blipFill>
                <a:blip r:embed="rId8"/>
                <a:stretch>
                  <a:fillRect l="-3719" r="-371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组合 31">
            <a:extLst>
              <a:ext uri="{FF2B5EF4-FFF2-40B4-BE49-F238E27FC236}">
                <a16:creationId xmlns:a16="http://schemas.microsoft.com/office/drawing/2014/main" id="{90389A85-7776-1CB0-ED90-56495EDF7F0F}"/>
              </a:ext>
            </a:extLst>
          </p:cNvPr>
          <p:cNvGrpSpPr/>
          <p:nvPr/>
        </p:nvGrpSpPr>
        <p:grpSpPr>
          <a:xfrm>
            <a:off x="5017159" y="2450191"/>
            <a:ext cx="2186667" cy="646236"/>
            <a:chOff x="5017159" y="2450191"/>
            <a:chExt cx="2186667" cy="64623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06955539-D405-6C6E-30DE-2CF80AE0C209}"/>
                    </a:ext>
                  </a:extLst>
                </p:cNvPr>
                <p:cNvSpPr txBox="1"/>
                <p:nvPr/>
              </p:nvSpPr>
              <p:spPr>
                <a:xfrm>
                  <a:off x="5809294" y="2536032"/>
                  <a:ext cx="684006" cy="38177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sz="1400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groupChr>
                          <m:groupChrPr>
                            <m:chr m:val="→"/>
                            <m:vertJc m:val="bot"/>
                            <m:ctrlPr>
                              <a:rPr lang="en-US" altLang="zh-CN" sz="1400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m:rPr>
                                <m:brk m:alnAt="2"/>
                              </m:rPr>
                              <a:rPr lang="en-US" altLang="zh-CN" sz="1400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</m:groupChr>
                        <m:r>
                          <a:rPr lang="en-US" altLang="zh-CN" sz="14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oMath>
                    </m:oMathPara>
                  </a14:m>
                  <a:endParaRPr lang="en-US" altLang="zh-CN" sz="14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06955539-D405-6C6E-30DE-2CF80AE0C2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09294" y="2536032"/>
                  <a:ext cx="684006" cy="381771"/>
                </a:xfrm>
                <a:prstGeom prst="rect">
                  <a:avLst/>
                </a:prstGeom>
                <a:blipFill>
                  <a:blip r:embed="rId9"/>
                  <a:stretch>
                    <a:fillRect r="-35714" b="-3809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A106740F-232D-FD5E-172C-4EC36441C371}"/>
                    </a:ext>
                  </a:extLst>
                </p:cNvPr>
                <p:cNvSpPr txBox="1"/>
                <p:nvPr/>
              </p:nvSpPr>
              <p:spPr>
                <a:xfrm>
                  <a:off x="5017159" y="2450191"/>
                  <a:ext cx="621062" cy="36413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sz="140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groupChr>
                          <m:groupChrPr>
                            <m:chr m:val="→"/>
                            <m:vertJc m:val="bot"/>
                            <m:ctrlPr>
                              <a:rPr lang="en-US" altLang="zh-CN" sz="140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m:rPr>
                                <m:brk m:alnAt="2"/>
                              </m:rPr>
                              <a:rPr lang="en-US" altLang="zh-CN" sz="14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14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altLang="zh-CN" sz="14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en-US" altLang="zh-CN" sz="14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</m:t>
                            </m:r>
                          </m:e>
                        </m:groupChr>
                        <m:r>
                          <a:rPr lang="en-US" altLang="zh-CN" sz="14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oMath>
                    </m:oMathPara>
                  </a14:m>
                  <a:endParaRPr lang="zh-CN" altLang="en-US" sz="1400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A106740F-232D-FD5E-172C-4EC36441C3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7159" y="2450191"/>
                  <a:ext cx="621062" cy="364139"/>
                </a:xfrm>
                <a:prstGeom prst="rect">
                  <a:avLst/>
                </a:prstGeom>
                <a:blipFill>
                  <a:blip r:embed="rId10"/>
                  <a:stretch>
                    <a:fillRect r="-1274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C25641C8-089C-0456-E934-E5087DC1D148}"/>
                    </a:ext>
                  </a:extLst>
                </p:cNvPr>
                <p:cNvSpPr txBox="1"/>
                <p:nvPr/>
              </p:nvSpPr>
              <p:spPr>
                <a:xfrm>
                  <a:off x="5086099" y="2732288"/>
                  <a:ext cx="588110" cy="36413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sz="14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groupChr>
                          <m:groupChrPr>
                            <m:chr m:val="→"/>
                            <m:vertJc m:val="bot"/>
                            <m:ctrlPr>
                              <a:rPr lang="en-US" altLang="zh-CN" sz="14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m:rPr>
                                <m:brk m:alnAt="2"/>
                              </m:rPr>
                              <a:rPr lang="en-US" altLang="zh-CN" sz="1400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e>
                        </m:groupChr>
                        <m:r>
                          <a:rPr lang="en-US" altLang="zh-CN" sz="140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oMath>
                    </m:oMathPara>
                  </a14:m>
                  <a:endParaRPr lang="zh-CN" altLang="en-US" sz="1400" dirty="0">
                    <a:solidFill>
                      <a:srgbClr val="FFC000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C25641C8-089C-0456-E934-E5087DC1D1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86099" y="2732288"/>
                  <a:ext cx="588110" cy="364139"/>
                </a:xfrm>
                <a:prstGeom prst="rect">
                  <a:avLst/>
                </a:prstGeom>
                <a:blipFill>
                  <a:blip r:embed="rId11"/>
                  <a:stretch>
                    <a:fillRect l="-6186" r="-31959" b="-41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CEFB9A8E-C2FC-E309-4F90-18F04C7BB722}"/>
                    </a:ext>
                  </a:extLst>
                </p:cNvPr>
                <p:cNvSpPr txBox="1"/>
                <p:nvPr/>
              </p:nvSpPr>
              <p:spPr>
                <a:xfrm>
                  <a:off x="6522764" y="2538951"/>
                  <a:ext cx="681062" cy="38177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sz="14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groupChr>
                          <m:groupChrPr>
                            <m:chr m:val="→"/>
                            <m:vertJc m:val="bot"/>
                            <m:ctrlPr>
                              <a:rPr lang="en-US" altLang="zh-CN" sz="14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m:rPr>
                                <m:brk m:alnAt="2"/>
                              </m:rPr>
                              <a:rPr lang="en-US" altLang="zh-CN" sz="14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</m:e>
                        </m:groupChr>
                        <m:r>
                          <a:rPr lang="en-US" altLang="zh-CN" sz="1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oMath>
                    </m:oMathPara>
                  </a14:m>
                  <a:endParaRPr lang="zh-CN" altLang="en-US" sz="1400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CEFB9A8E-C2FC-E309-4F90-18F04C7BB7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22764" y="2538951"/>
                  <a:ext cx="681062" cy="381771"/>
                </a:xfrm>
                <a:prstGeom prst="rect">
                  <a:avLst/>
                </a:prstGeom>
                <a:blipFill>
                  <a:blip r:embed="rId12"/>
                  <a:stretch>
                    <a:fillRect r="-38393" b="-3809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6816DDE2-9A31-D8E7-6B64-21244219A337}"/>
                </a:ext>
              </a:extLst>
            </p:cNvPr>
            <p:cNvCxnSpPr>
              <a:cxnSpLocks/>
            </p:cNvCxnSpPr>
            <p:nvPr/>
          </p:nvCxnSpPr>
          <p:spPr>
            <a:xfrm>
              <a:off x="5670488" y="2694881"/>
              <a:ext cx="171073" cy="9465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AF19E682-84DE-36E5-6B52-81A09347BF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67685" y="2802445"/>
              <a:ext cx="171073" cy="9465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DFACE0BC-9761-4EF0-FF46-815721A2E289}"/>
                </a:ext>
              </a:extLst>
            </p:cNvPr>
            <p:cNvCxnSpPr>
              <a:cxnSpLocks/>
            </p:cNvCxnSpPr>
            <p:nvPr/>
          </p:nvCxnSpPr>
          <p:spPr>
            <a:xfrm>
              <a:off x="6390343" y="2772877"/>
              <a:ext cx="192865" cy="173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D5CCF7D5-080C-5094-EAEB-675D2F502FF7}"/>
                  </a:ext>
                </a:extLst>
              </p:cNvPr>
              <p:cNvSpPr txBox="1"/>
              <p:nvPr/>
            </p:nvSpPr>
            <p:spPr>
              <a:xfrm>
                <a:off x="4772345" y="4248388"/>
                <a:ext cx="2757903" cy="4270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140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1400" i="1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1400" i="0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𝑛</m:t>
                            </m:r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𝑃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{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CN" sz="1400" b="0" i="1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140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14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14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  <m:t>𝑛</m:t>
                                </m:r>
                              </m:den>
                            </m:f>
                            <m:nary>
                              <m:naryPr>
                                <m:chr m:val="∑"/>
                                <m:ctrlPr>
                                  <a:rPr lang="en-US" altLang="zh-CN" sz="14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sz="14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  <m:t>𝑖</m:t>
                                </m:r>
                                <m:r>
                                  <a:rPr lang="en-US" altLang="zh-CN" sz="14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zh-CN" sz="14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  <m:t>𝑛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zh-CN" sz="1400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仿宋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仿宋" panose="02010609060101010101" pitchFamily="49" charset="-122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zh-CN" sz="1400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仿宋" panose="02010609060101010101" pitchFamily="49" charset="-122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&lt;</m:t>
                        </m:r>
                        <m:r>
                          <a:rPr lang="zh-CN" altLang="en-US" sz="14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𝜀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}</m:t>
                        </m:r>
                      </m:e>
                    </m:func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=1</m:t>
                    </m:r>
                  </m:oMath>
                </a14:m>
                <a:r>
                  <a:rPr lang="zh-CN" altLang="en-US" sz="1400" dirty="0"/>
                  <a:t> </a:t>
                </a: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D5CCF7D5-080C-5094-EAEB-675D2F502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2345" y="4248388"/>
                <a:ext cx="2757903" cy="427040"/>
              </a:xfrm>
              <a:prstGeom prst="rect">
                <a:avLst/>
              </a:prstGeom>
              <a:blipFill>
                <a:blip r:embed="rId13"/>
                <a:stretch>
                  <a:fillRect t="-60000" b="-10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矩形: 圆角 34">
                <a:extLst>
                  <a:ext uri="{FF2B5EF4-FFF2-40B4-BE49-F238E27FC236}">
                    <a16:creationId xmlns:a16="http://schemas.microsoft.com/office/drawing/2014/main" id="{1C07CA8F-7085-53A6-676E-42EFE2C89EF6}"/>
                  </a:ext>
                </a:extLst>
              </p:cNvPr>
              <p:cNvSpPr/>
              <p:nvPr/>
            </p:nvSpPr>
            <p:spPr>
              <a:xfrm>
                <a:off x="570040" y="5086550"/>
                <a:ext cx="4011882" cy="977700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>
                    <a:solidFill>
                      <a:schemeClr val="tx1"/>
                    </a:solidFill>
                    <a:latin typeface="汉仪润圆-65简" panose="00020600040101010101" pitchFamily="18" charset="-122"/>
                    <a:ea typeface="汉仪润圆-65简" panose="00020600040101010101" pitchFamily="18" charset="-122"/>
                  </a:rPr>
                  <a:t>独立同分布中心极限定理</a:t>
                </a:r>
                <a:endParaRPr lang="en-US" altLang="zh-CN" dirty="0">
                  <a:solidFill>
                    <a:schemeClr val="tx1"/>
                  </a:solidFill>
                  <a:latin typeface="汉仪润圆-65简" panose="00020600040101010101" pitchFamily="18" charset="-122"/>
                  <a:ea typeface="汉仪润圆-65简" panose="00020600040101010101" pitchFamily="18" charset="-122"/>
                </a:endParaRPr>
              </a:p>
              <a:p>
                <a:pPr algn="ctr"/>
                <a:r>
                  <a:rPr lang="zh-CN" altLang="en-US" sz="14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独立同分布随机变量序列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sz="14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r>
                  <a:rPr lang="zh-CN" altLang="en-US" sz="14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其期望、方差（不为</a:t>
                </a:r>
                <a:r>
                  <a:rPr lang="en-US" altLang="zh-CN" sz="14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0</a:t>
                </a:r>
                <a:r>
                  <a:rPr lang="zh-CN" altLang="en-US" sz="14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）存在</a:t>
                </a:r>
                <a:endParaRPr lang="en-US" altLang="zh-CN" sz="14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5" name="矩形: 圆角 34">
                <a:extLst>
                  <a:ext uri="{FF2B5EF4-FFF2-40B4-BE49-F238E27FC236}">
                    <a16:creationId xmlns:a16="http://schemas.microsoft.com/office/drawing/2014/main" id="{1C07CA8F-7085-53A6-676E-42EFE2C89E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040" y="5086550"/>
                <a:ext cx="4011882" cy="977700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矩形: 圆角 35">
                <a:extLst>
                  <a:ext uri="{FF2B5EF4-FFF2-40B4-BE49-F238E27FC236}">
                    <a16:creationId xmlns:a16="http://schemas.microsoft.com/office/drawing/2014/main" id="{AC25FB55-AFEB-B385-91FC-DFDF412A023F}"/>
                  </a:ext>
                </a:extLst>
              </p:cNvPr>
              <p:cNvSpPr/>
              <p:nvPr/>
            </p:nvSpPr>
            <p:spPr>
              <a:xfrm>
                <a:off x="7603755" y="5086550"/>
                <a:ext cx="4011882" cy="977700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4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诸随机变量的和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zh-CN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zh-CN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zh-CN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𝐴𝑁</m:t>
                    </m:r>
                    <m:r>
                      <a:rPr lang="en-US" altLang="zh-CN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zh-CN" altLang="en-US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zh-CN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p>
                      <m:sSupPr>
                        <m:ctrlP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14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4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诸随机变量的平均值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1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  <m:sSub>
                      <m:sSubPr>
                        <m:ctrlP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zh-CN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zh-CN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zh-CN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𝐴𝑁</m:t>
                    </m:r>
                    <m:r>
                      <a:rPr lang="en-US" altLang="zh-CN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zh-CN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CN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altLang="zh-CN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14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6" name="矩形: 圆角 35">
                <a:extLst>
                  <a:ext uri="{FF2B5EF4-FFF2-40B4-BE49-F238E27FC236}">
                    <a16:creationId xmlns:a16="http://schemas.microsoft.com/office/drawing/2014/main" id="{AC25FB55-AFEB-B385-91FC-DFDF412A02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3755" y="5086550"/>
                <a:ext cx="4011882" cy="977700"/>
              </a:xfrm>
              <a:prstGeom prst="roundRect">
                <a:avLst/>
              </a:prstGeom>
              <a:blipFill>
                <a:blip r:embed="rId15"/>
                <a:stretch>
                  <a:fillRect t="-18634" b="-4099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399550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5|29.8|10|30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1|9.4|31.4|20.6|35.3|40.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2.2|31.7|43.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0.4|11.1|20.1|14.5|3.3|20.2|10.2|99.6|8.8|27.2|23.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8.9|12.1|5.5|16.3|14.9|15.9|20.5|41.3|7.6|3.4|10.3|8.2|1.1|49.2|34.4|1.8|15.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2|13.8|13.5|32|37.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7.1|22.8|14.1|15.1|6.4|23.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.2|12.3|16.2|9.8|11.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5|65.5|15|89.6|14.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6.3|1.1|85.7|121.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6|31.1|4.7|8.2|2.5|26.6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16872</TotalTime>
  <Words>2401</Words>
  <Application>Microsoft Office PowerPoint</Application>
  <PresentationFormat>宽屏</PresentationFormat>
  <Paragraphs>210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Cambria Math</vt:lpstr>
      <vt:lpstr>华文中宋</vt:lpstr>
      <vt:lpstr>楷体</vt:lpstr>
      <vt:lpstr>Arial</vt:lpstr>
      <vt:lpstr>方正小标宋简体</vt:lpstr>
      <vt:lpstr>仿宋</vt:lpstr>
      <vt:lpstr>汉仪润圆-65简</vt:lpstr>
      <vt:lpstr>汉仪文黑-85W</vt:lpstr>
      <vt:lpstr>方正清刻本悦宋简体</vt:lpstr>
      <vt:lpstr>等线</vt:lpstr>
      <vt:lpstr>等线 Light</vt:lpstr>
      <vt:lpstr>华文宋体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展 未央</dc:creator>
  <cp:lastModifiedBy>展 未央</cp:lastModifiedBy>
  <cp:revision>147</cp:revision>
  <dcterms:created xsi:type="dcterms:W3CDTF">2022-05-05T07:14:53Z</dcterms:created>
  <dcterms:modified xsi:type="dcterms:W3CDTF">2023-02-19T16:56:54Z</dcterms:modified>
</cp:coreProperties>
</file>