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69" r:id="rId2"/>
    <p:sldId id="276" r:id="rId3"/>
    <p:sldId id="277" r:id="rId4"/>
    <p:sldId id="278" r:id="rId5"/>
    <p:sldId id="279" r:id="rId6"/>
    <p:sldId id="280" r:id="rId7"/>
    <p:sldId id="291" r:id="rId8"/>
    <p:sldId id="292" r:id="rId9"/>
    <p:sldId id="293" r:id="rId10"/>
    <p:sldId id="281" r:id="rId11"/>
    <p:sldId id="282" r:id="rId12"/>
    <p:sldId id="283" r:id="rId13"/>
    <p:sldId id="284" r:id="rId14"/>
    <p:sldId id="285" r:id="rId15"/>
    <p:sldId id="294" r:id="rId16"/>
    <p:sldId id="295" r:id="rId17"/>
    <p:sldId id="289" r:id="rId18"/>
    <p:sldId id="286" r:id="rId19"/>
    <p:sldId id="287" r:id="rId20"/>
    <p:sldId id="288" r:id="rId21"/>
    <p:sldId id="296" r:id="rId22"/>
    <p:sldId id="290" r:id="rId23"/>
    <p:sldId id="297" r:id="rId24"/>
    <p:sldId id="299" r:id="rId25"/>
    <p:sldId id="298" r:id="rId26"/>
  </p:sldIdLst>
  <p:sldSz cx="12192000" cy="6858000"/>
  <p:notesSz cx="6858000" cy="9144000"/>
  <p:embeddedFontLst>
    <p:embeddedFont>
      <p:font typeface="等线" panose="02010600030101010101" pitchFamily="2" charset="-122"/>
      <p:regular r:id="rId28"/>
      <p:bold r:id="rId29"/>
    </p:embeddedFont>
    <p:embeddedFont>
      <p:font typeface="等线 Light" panose="02010600030101010101" pitchFamily="2" charset="-122"/>
      <p:regular r:id="rId30"/>
    </p:embeddedFont>
    <p:embeddedFont>
      <p:font typeface="方正清刻本悦宋简体" panose="02000000000000000000" pitchFamily="2" charset="-122"/>
      <p:regular r:id="rId31"/>
    </p:embeddedFont>
    <p:embeddedFont>
      <p:font typeface="方正小标宋简体" panose="02000000000000000000" pitchFamily="2" charset="-122"/>
      <p:regular r:id="rId32"/>
    </p:embeddedFont>
    <p:embeddedFont>
      <p:font typeface="仿宋" panose="02010609060101010101" pitchFamily="49" charset="-122"/>
      <p:regular r:id="rId33"/>
    </p:embeddedFont>
    <p:embeddedFont>
      <p:font typeface="汉仪润圆-65简" panose="00020600040101010101" pitchFamily="18" charset="-122"/>
      <p:regular r:id="rId34"/>
    </p:embeddedFont>
    <p:embeddedFont>
      <p:font typeface="华文宋体" panose="02010600040101010101" pitchFamily="2" charset="-122"/>
      <p:regular r:id="rId35"/>
    </p:embeddedFont>
    <p:embeddedFont>
      <p:font typeface="华文中宋" panose="02010600040101010101" pitchFamily="2" charset="-122"/>
      <p:regular r:id="rId36"/>
    </p:embeddedFont>
    <p:embeddedFont>
      <p:font typeface="楷体" panose="02010609060101010101" pitchFamily="49" charset="-122"/>
      <p:regular r:id="rId37"/>
    </p:embeddedFont>
    <p:embeddedFont>
      <p:font typeface="Cambria Math" panose="02040503050406030204" pitchFamily="18" charset="0"/>
      <p:regular r:id="rId38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展 未央" initials="展" lastIdx="1" clrIdx="0">
    <p:extLst>
      <p:ext uri="{19B8F6BF-5375-455C-9EA6-DF929625EA0E}">
        <p15:presenceInfo xmlns:p15="http://schemas.microsoft.com/office/powerpoint/2012/main" userId="e6b0a92515a3b0ce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3"/>
    <a:srgbClr val="FFFFFF"/>
    <a:srgbClr val="ED7D31"/>
    <a:srgbClr val="89F3FE"/>
    <a:srgbClr val="7ECEF4"/>
    <a:srgbClr val="000000"/>
    <a:srgbClr val="F17723"/>
    <a:srgbClr val="FF9900"/>
    <a:srgbClr val="FFC000"/>
    <a:srgbClr val="84CC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25" autoAdjust="0"/>
    <p:restoredTop sz="94660"/>
  </p:normalViewPr>
  <p:slideViewPr>
    <p:cSldViewPr snapToGrid="0">
      <p:cViewPr varScale="1">
        <p:scale>
          <a:sx n="89" d="100"/>
          <a:sy n="89" d="100"/>
        </p:scale>
        <p:origin x="79" y="1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ommentAuthors" Target="commentAuthors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BD5C-A529-48D4-AE8F-BF3361AE1A2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1CA1E-5CB9-473F-9F69-C52F533E75A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9994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CFB3BA-B18E-DEC1-3E6C-4920AFE4E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6C1B8B-823F-2425-71B0-85CE082B45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F92AB0-C7C0-8587-6FD3-30D04F0E9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61379A-C11E-0B4A-0FD1-486A98C02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885E933-0268-110F-AFA0-D62C45416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48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97B214-8B47-223A-1CF5-72D03FE86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BEE03A-37AD-9C95-639F-068C82BF22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8C7AA2-FA3D-9C92-5A13-30D5AC600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AF208E-5CAA-29FC-D025-A7E107CC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06FD161-7AEB-89B5-A6EF-6D6982276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492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AB7A64-974B-7FF5-1FBA-71C0CB8D1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F8DE448-7135-CF17-2AAA-15114DF6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815D61-9D72-7FE4-F1B2-8183BF9F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32A689-74BB-D820-494E-8FCE39D98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E4DC3E-2FE6-BFC6-DBFF-0D17F5F0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074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6FB7F-2D1B-E43D-ECB5-5AD8585F0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4AA1C3-9833-A836-7282-D8BD6C8C84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2B3DB0-6400-DEC7-2B30-FB7986C756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01E174-6AD7-6427-5CE9-A9BAF4604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B5AA43E-AD34-75D5-8FF8-4F7B9DD0C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8E0980-F99C-DDD3-A77F-E7C5414E7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76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E8CBFC-3DA5-69CF-5529-7A41DF27A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7A754-AD40-3C36-0B05-022B19F7E1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85000-B40C-E9B8-9031-BB1EAB5B7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BDF7258-004C-372D-2F1C-7A3F5C84D3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D973573-1120-A2A0-F0DB-1AD265A7D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9393FD2-AC0E-DF4D-699D-4499A4FE9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A3F570D-1DE8-EC07-1540-CAACD23A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E9C2CD7-C46B-4BFF-EE78-C6AAEA86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697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9E18C9-230E-153A-E88A-6E56F2E0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8C6ABD0-A360-2FD9-9E5B-F2C339284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F774B37-0D4E-65D2-D16F-6FD6B327B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50F1C27-1813-0031-0F9F-DFA7FC5DF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174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6861B1D-2614-718F-CF47-7A8B5EA33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A25DC33-02B2-B215-0AA3-BE312780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168D3F-DB98-98CA-52C1-149A8C8475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5937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DA3FFA-AFDF-C8A5-BA7E-CD7ABADEF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0BBE7-CA90-E151-2431-F10274224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3A07E09-77AB-1537-6B25-F534ED4236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EA81297-8DC3-E11E-0231-CDE195F298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A35E25-E4B2-75BE-3B7B-72E552916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119468-1629-7EF2-8699-25A1DE29C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011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D4DFE7-99DE-FD3E-5453-36D6FAB48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99B887-3B1B-DE6A-FC03-3D8C63CEF8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EA1ACB3-8653-6CEA-1A12-7B0C7DA4D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7C50B8-A69D-A009-5ED2-9D40FEEB2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7E8222B-B5FA-855C-2588-3B06FA59B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DD61D6-F19B-BE5D-B08F-2EF5BC6B2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533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C3DEE9-4017-21BA-AF15-E1AEED1E7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C19C68-5C6F-5E0E-439E-A548984F0D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04FDBA-A8BF-4615-40D4-071E5FE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076B259-A67F-AB9C-CD3F-33AF2A633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703F1D-84A7-1844-CEE0-F6CC6F069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774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73D60B5-3F32-AD71-9045-D0FA02F9D5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DE80A2B-ADBF-6FEE-635B-FDD1641C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566CB7-98BA-C868-FF9A-D23A5AAD4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91180C-F54D-80AC-DD6D-692325DB3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E7601E0-44E1-C0D8-BA09-EF88AD66B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8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3EE246-BB85-D84E-CBC7-F7FB34018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74AD51-E7A9-2FA7-385A-0AC41A752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5AC51-1528-2E37-6F36-4072883B00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04161D-42D6-470B-805E-5931B541BEF7}" type="datetimeFigureOut">
              <a:rPr lang="zh-CN" altLang="en-US" smtClean="0"/>
              <a:t>2023/2/20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487E83-F91B-12DB-FCC0-2130541D0C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40DCE4-16B2-A875-3AE9-DFD71CC3C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13561A-2E89-425E-A0A8-1AF7CAA4F99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4846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3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2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tags" Target="../tags/tag3.xml"/><Relationship Id="rId11" Type="http://schemas.openxmlformats.org/officeDocument/2006/relationships/image" Target="../media/image11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3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26" Type="http://schemas.openxmlformats.org/officeDocument/2006/relationships/image" Target="../media/image43.png"/><Relationship Id="rId39" Type="http://schemas.openxmlformats.org/officeDocument/2006/relationships/image" Target="../media/image56.png"/><Relationship Id="rId21" Type="http://schemas.openxmlformats.org/officeDocument/2006/relationships/image" Target="../media/image39.png"/><Relationship Id="rId34" Type="http://schemas.openxmlformats.org/officeDocument/2006/relationships/image" Target="../media/image51.png"/><Relationship Id="rId42" Type="http://schemas.openxmlformats.org/officeDocument/2006/relationships/image" Target="../media/image59.png"/><Relationship Id="rId47" Type="http://schemas.openxmlformats.org/officeDocument/2006/relationships/image" Target="../media/image64.png"/><Relationship Id="rId50" Type="http://schemas.openxmlformats.org/officeDocument/2006/relationships/image" Target="../media/image67.png"/><Relationship Id="rId7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4.png"/><Relationship Id="rId29" Type="http://schemas.openxmlformats.org/officeDocument/2006/relationships/image" Target="../media/image46.png"/><Relationship Id="rId11" Type="http://schemas.openxmlformats.org/officeDocument/2006/relationships/image" Target="../media/image29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37" Type="http://schemas.openxmlformats.org/officeDocument/2006/relationships/image" Target="../media/image54.png"/><Relationship Id="rId40" Type="http://schemas.openxmlformats.org/officeDocument/2006/relationships/image" Target="../media/image57.png"/><Relationship Id="rId45" Type="http://schemas.openxmlformats.org/officeDocument/2006/relationships/image" Target="../media/image62.png"/><Relationship Id="rId53" Type="http://schemas.openxmlformats.org/officeDocument/2006/relationships/image" Target="../media/image70.png"/><Relationship Id="rId15" Type="http://schemas.openxmlformats.org/officeDocument/2006/relationships/image" Target="../media/image33.png"/><Relationship Id="rId23" Type="http://schemas.openxmlformats.org/officeDocument/2006/relationships/image" Target="../media/image40.png"/><Relationship Id="rId28" Type="http://schemas.openxmlformats.org/officeDocument/2006/relationships/image" Target="../media/image45.png"/><Relationship Id="rId36" Type="http://schemas.openxmlformats.org/officeDocument/2006/relationships/image" Target="../media/image53.png"/><Relationship Id="rId49" Type="http://schemas.openxmlformats.org/officeDocument/2006/relationships/image" Target="../media/image66.png"/><Relationship Id="rId10" Type="http://schemas.openxmlformats.org/officeDocument/2006/relationships/image" Target="../media/image28.png"/><Relationship Id="rId19" Type="http://schemas.openxmlformats.org/officeDocument/2006/relationships/image" Target="../media/image37.png"/><Relationship Id="rId31" Type="http://schemas.openxmlformats.org/officeDocument/2006/relationships/image" Target="../media/image48.png"/><Relationship Id="rId44" Type="http://schemas.openxmlformats.org/officeDocument/2006/relationships/image" Target="../media/image61.png"/><Relationship Id="rId52" Type="http://schemas.openxmlformats.org/officeDocument/2006/relationships/image" Target="../media/image69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Relationship Id="rId22" Type="http://schemas.openxmlformats.org/officeDocument/2006/relationships/image" Target="../media/image2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52.png"/><Relationship Id="rId43" Type="http://schemas.openxmlformats.org/officeDocument/2006/relationships/image" Target="../media/image60.png"/><Relationship Id="rId48" Type="http://schemas.openxmlformats.org/officeDocument/2006/relationships/image" Target="../media/image65.png"/><Relationship Id="rId8" Type="http://schemas.openxmlformats.org/officeDocument/2006/relationships/image" Target="../media/image26.png"/><Relationship Id="rId51" Type="http://schemas.openxmlformats.org/officeDocument/2006/relationships/image" Target="../media/image68.png"/><Relationship Id="rId3" Type="http://schemas.openxmlformats.org/officeDocument/2006/relationships/image" Target="../media/image3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38" Type="http://schemas.openxmlformats.org/officeDocument/2006/relationships/image" Target="../media/image55.png"/><Relationship Id="rId46" Type="http://schemas.openxmlformats.org/officeDocument/2006/relationships/image" Target="../media/image63.png"/><Relationship Id="rId20" Type="http://schemas.openxmlformats.org/officeDocument/2006/relationships/image" Target="../media/image38.png"/><Relationship Id="rId41" Type="http://schemas.openxmlformats.org/officeDocument/2006/relationships/image" Target="../media/image58.png"/><Relationship Id="rId54" Type="http://schemas.openxmlformats.org/officeDocument/2006/relationships/image" Target="../media/image71.png"/><Relationship Id="rId1" Type="http://schemas.openxmlformats.org/officeDocument/2006/relationships/tags" Target="../tags/tag4.xml"/><Relationship Id="rId6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3.png"/><Relationship Id="rId21" Type="http://schemas.openxmlformats.org/officeDocument/2006/relationships/image" Target="../media/image72.png"/><Relationship Id="rId42" Type="http://schemas.openxmlformats.org/officeDocument/2006/relationships/image" Target="../media/image79.png"/><Relationship Id="rId47" Type="http://schemas.openxmlformats.org/officeDocument/2006/relationships/image" Target="../media/image84.png"/><Relationship Id="rId63" Type="http://schemas.openxmlformats.org/officeDocument/2006/relationships/image" Target="../media/image99.png"/><Relationship Id="rId68" Type="http://schemas.openxmlformats.org/officeDocument/2006/relationships/image" Target="../media/image104.png"/><Relationship Id="rId7" Type="http://schemas.openxmlformats.org/officeDocument/2006/relationships/image" Target="../media/image25.png"/><Relationship Id="rId71" Type="http://schemas.openxmlformats.org/officeDocument/2006/relationships/image" Target="../media/image10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4.png"/><Relationship Id="rId29" Type="http://schemas.openxmlformats.org/officeDocument/2006/relationships/image" Target="../media/image46.png"/><Relationship Id="rId11" Type="http://schemas.openxmlformats.org/officeDocument/2006/relationships/image" Target="../media/image29.png"/><Relationship Id="rId24" Type="http://schemas.openxmlformats.org/officeDocument/2006/relationships/image" Target="../media/image41.png"/><Relationship Id="rId32" Type="http://schemas.openxmlformats.org/officeDocument/2006/relationships/image" Target="../media/image49.png"/><Relationship Id="rId37" Type="http://schemas.openxmlformats.org/officeDocument/2006/relationships/image" Target="../media/image74.png"/><Relationship Id="rId40" Type="http://schemas.openxmlformats.org/officeDocument/2006/relationships/image" Target="../media/image77.png"/><Relationship Id="rId45" Type="http://schemas.openxmlformats.org/officeDocument/2006/relationships/image" Target="../media/image82.png"/><Relationship Id="rId53" Type="http://schemas.openxmlformats.org/officeDocument/2006/relationships/image" Target="../media/image90.png"/><Relationship Id="rId58" Type="http://schemas.openxmlformats.org/officeDocument/2006/relationships/image" Target="../media/image94.png"/><Relationship Id="rId66" Type="http://schemas.openxmlformats.org/officeDocument/2006/relationships/image" Target="../media/image102.png"/><Relationship Id="rId61" Type="http://schemas.openxmlformats.org/officeDocument/2006/relationships/image" Target="../media/image97.png"/><Relationship Id="rId19" Type="http://schemas.openxmlformats.org/officeDocument/2006/relationships/image" Target="../media/image37.png"/><Relationship Id="rId14" Type="http://schemas.openxmlformats.org/officeDocument/2006/relationships/image" Target="../media/image32.png"/><Relationship Id="rId22" Type="http://schemas.openxmlformats.org/officeDocument/2006/relationships/image" Target="../media/image2.png"/><Relationship Id="rId27" Type="http://schemas.openxmlformats.org/officeDocument/2006/relationships/image" Target="../media/image44.png"/><Relationship Id="rId30" Type="http://schemas.openxmlformats.org/officeDocument/2006/relationships/image" Target="../media/image47.png"/><Relationship Id="rId35" Type="http://schemas.openxmlformats.org/officeDocument/2006/relationships/image" Target="../media/image52.png"/><Relationship Id="rId43" Type="http://schemas.openxmlformats.org/officeDocument/2006/relationships/image" Target="../media/image80.png"/><Relationship Id="rId48" Type="http://schemas.openxmlformats.org/officeDocument/2006/relationships/image" Target="../media/image85.png"/><Relationship Id="rId56" Type="http://schemas.openxmlformats.org/officeDocument/2006/relationships/image" Target="../media/image920.png"/><Relationship Id="rId64" Type="http://schemas.openxmlformats.org/officeDocument/2006/relationships/image" Target="../media/image100.png"/><Relationship Id="rId69" Type="http://schemas.openxmlformats.org/officeDocument/2006/relationships/image" Target="../media/image105.png"/><Relationship Id="rId8" Type="http://schemas.openxmlformats.org/officeDocument/2006/relationships/image" Target="../media/image26.png"/><Relationship Id="rId51" Type="http://schemas.openxmlformats.org/officeDocument/2006/relationships/image" Target="../media/image88.png"/><Relationship Id="rId72" Type="http://schemas.openxmlformats.org/officeDocument/2006/relationships/image" Target="../media/image108.png"/><Relationship Id="rId3" Type="http://schemas.openxmlformats.org/officeDocument/2006/relationships/image" Target="../media/image3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5" Type="http://schemas.openxmlformats.org/officeDocument/2006/relationships/image" Target="../media/image42.png"/><Relationship Id="rId33" Type="http://schemas.openxmlformats.org/officeDocument/2006/relationships/image" Target="../media/image50.png"/><Relationship Id="rId38" Type="http://schemas.openxmlformats.org/officeDocument/2006/relationships/image" Target="../media/image75.png"/><Relationship Id="rId46" Type="http://schemas.openxmlformats.org/officeDocument/2006/relationships/image" Target="../media/image83.png"/><Relationship Id="rId59" Type="http://schemas.openxmlformats.org/officeDocument/2006/relationships/image" Target="../media/image95.png"/><Relationship Id="rId67" Type="http://schemas.openxmlformats.org/officeDocument/2006/relationships/image" Target="../media/image103.png"/><Relationship Id="rId20" Type="http://schemas.openxmlformats.org/officeDocument/2006/relationships/image" Target="../media/image38.png"/><Relationship Id="rId41" Type="http://schemas.openxmlformats.org/officeDocument/2006/relationships/image" Target="../media/image78.png"/><Relationship Id="rId54" Type="http://schemas.openxmlformats.org/officeDocument/2006/relationships/image" Target="../media/image91.png"/><Relationship Id="rId62" Type="http://schemas.openxmlformats.org/officeDocument/2006/relationships/image" Target="../media/image98.png"/><Relationship Id="rId70" Type="http://schemas.openxmlformats.org/officeDocument/2006/relationships/image" Target="../media/image106.png"/><Relationship Id="rId1" Type="http://schemas.openxmlformats.org/officeDocument/2006/relationships/tags" Target="../tags/tag5.xml"/><Relationship Id="rId6" Type="http://schemas.openxmlformats.org/officeDocument/2006/relationships/image" Target="../media/image24.png"/><Relationship Id="rId15" Type="http://schemas.openxmlformats.org/officeDocument/2006/relationships/image" Target="../media/image33.png"/><Relationship Id="rId23" Type="http://schemas.openxmlformats.org/officeDocument/2006/relationships/image" Target="../media/image73.png"/><Relationship Id="rId28" Type="http://schemas.openxmlformats.org/officeDocument/2006/relationships/image" Target="../media/image45.png"/><Relationship Id="rId36" Type="http://schemas.openxmlformats.org/officeDocument/2006/relationships/image" Target="../media/image53.png"/><Relationship Id="rId49" Type="http://schemas.openxmlformats.org/officeDocument/2006/relationships/image" Target="../media/image86.png"/><Relationship Id="rId57" Type="http://schemas.openxmlformats.org/officeDocument/2006/relationships/image" Target="../media/image93.png"/><Relationship Id="rId10" Type="http://schemas.openxmlformats.org/officeDocument/2006/relationships/image" Target="../media/image28.png"/><Relationship Id="rId31" Type="http://schemas.openxmlformats.org/officeDocument/2006/relationships/image" Target="../media/image48.png"/><Relationship Id="rId44" Type="http://schemas.openxmlformats.org/officeDocument/2006/relationships/image" Target="../media/image81.png"/><Relationship Id="rId52" Type="http://schemas.openxmlformats.org/officeDocument/2006/relationships/image" Target="../media/image89.png"/><Relationship Id="rId60" Type="http://schemas.openxmlformats.org/officeDocument/2006/relationships/image" Target="../media/image96.png"/><Relationship Id="rId65" Type="http://schemas.openxmlformats.org/officeDocument/2006/relationships/image" Target="../media/image101.png"/><Relationship Id="rId73" Type="http://schemas.openxmlformats.org/officeDocument/2006/relationships/image" Target="../media/image109.png"/><Relationship Id="rId9" Type="http://schemas.openxmlformats.org/officeDocument/2006/relationships/image" Target="../media/image27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9" Type="http://schemas.openxmlformats.org/officeDocument/2006/relationships/image" Target="../media/image76.png"/><Relationship Id="rId34" Type="http://schemas.openxmlformats.org/officeDocument/2006/relationships/image" Target="../media/image51.png"/><Relationship Id="rId50" Type="http://schemas.openxmlformats.org/officeDocument/2006/relationships/image" Target="../media/image87.png"/><Relationship Id="rId55" Type="http://schemas.openxmlformats.org/officeDocument/2006/relationships/image" Target="../media/image9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118.png"/><Relationship Id="rId18" Type="http://schemas.openxmlformats.org/officeDocument/2006/relationships/image" Target="../media/image123.png"/><Relationship Id="rId7" Type="http://schemas.openxmlformats.org/officeDocument/2006/relationships/image" Target="../media/image112.png"/><Relationship Id="rId12" Type="http://schemas.openxmlformats.org/officeDocument/2006/relationships/image" Target="../media/image117.png"/><Relationship Id="rId17" Type="http://schemas.openxmlformats.org/officeDocument/2006/relationships/image" Target="../media/image122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21.png"/><Relationship Id="rId1" Type="http://schemas.openxmlformats.org/officeDocument/2006/relationships/tags" Target="../tags/tag6.xml"/><Relationship Id="rId6" Type="http://schemas.openxmlformats.org/officeDocument/2006/relationships/image" Target="../media/image111.png"/><Relationship Id="rId11" Type="http://schemas.openxmlformats.org/officeDocument/2006/relationships/image" Target="../media/image116.png"/><Relationship Id="rId5" Type="http://schemas.openxmlformats.org/officeDocument/2006/relationships/image" Target="../media/image110.png"/><Relationship Id="rId15" Type="http://schemas.openxmlformats.org/officeDocument/2006/relationships/image" Target="../media/image120.png"/><Relationship Id="rId10" Type="http://schemas.openxmlformats.org/officeDocument/2006/relationships/image" Target="../media/image115.png"/><Relationship Id="rId19" Type="http://schemas.openxmlformats.org/officeDocument/2006/relationships/image" Target="../media/image124.png"/><Relationship Id="rId9" Type="http://schemas.openxmlformats.org/officeDocument/2006/relationships/image" Target="../media/image114.png"/><Relationship Id="rId14" Type="http://schemas.openxmlformats.org/officeDocument/2006/relationships/image" Target="../media/image1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8.png"/><Relationship Id="rId7" Type="http://schemas.openxmlformats.org/officeDocument/2006/relationships/image" Target="../media/image12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6" Type="http://schemas.openxmlformats.org/officeDocument/2006/relationships/image" Target="../media/image126.png"/><Relationship Id="rId5" Type="http://schemas.openxmlformats.org/officeDocument/2006/relationships/image" Target="../media/image125.png"/><Relationship Id="rId9" Type="http://schemas.openxmlformats.org/officeDocument/2006/relationships/image" Target="../media/image129.png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image" Target="../media/image13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34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9" Type="http://schemas.openxmlformats.org/officeDocument/2006/relationships/image" Target="../media/image13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0.png"/><Relationship Id="rId13" Type="http://schemas.openxmlformats.org/officeDocument/2006/relationships/image" Target="../media/image142.png"/><Relationship Id="rId7" Type="http://schemas.openxmlformats.org/officeDocument/2006/relationships/image" Target="../media/image1340.png"/><Relationship Id="rId12" Type="http://schemas.openxmlformats.org/officeDocument/2006/relationships/image" Target="../media/image140.png"/><Relationship Id="rId17" Type="http://schemas.openxmlformats.org/officeDocument/2006/relationships/image" Target="../media/image14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41.png"/><Relationship Id="rId1" Type="http://schemas.openxmlformats.org/officeDocument/2006/relationships/tags" Target="../tags/tag11.xml"/><Relationship Id="rId6" Type="http://schemas.openxmlformats.org/officeDocument/2006/relationships/image" Target="../media/image1330.png"/><Relationship Id="rId11" Type="http://schemas.openxmlformats.org/officeDocument/2006/relationships/image" Target="../media/image1380.png"/><Relationship Id="rId5" Type="http://schemas.openxmlformats.org/officeDocument/2006/relationships/image" Target="../media/image1320.png"/><Relationship Id="rId15" Type="http://schemas.openxmlformats.org/officeDocument/2006/relationships/image" Target="../media/image143.png"/><Relationship Id="rId10" Type="http://schemas.openxmlformats.org/officeDocument/2006/relationships/image" Target="../media/image1370.png"/><Relationship Id="rId9" Type="http://schemas.openxmlformats.org/officeDocument/2006/relationships/image" Target="../media/image136.png"/><Relationship Id="rId14" Type="http://schemas.openxmlformats.org/officeDocument/2006/relationships/image" Target="../media/image13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13" Type="http://schemas.openxmlformats.org/officeDocument/2006/relationships/image" Target="../media/image153.png"/><Relationship Id="rId18" Type="http://schemas.openxmlformats.org/officeDocument/2006/relationships/image" Target="../media/image157.png"/><Relationship Id="rId7" Type="http://schemas.openxmlformats.org/officeDocument/2006/relationships/image" Target="../media/image147.png"/><Relationship Id="rId12" Type="http://schemas.openxmlformats.org/officeDocument/2006/relationships/image" Target="../media/image152.png"/><Relationship Id="rId17" Type="http://schemas.openxmlformats.org/officeDocument/2006/relationships/image" Target="../media/image158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56.png"/><Relationship Id="rId1" Type="http://schemas.openxmlformats.org/officeDocument/2006/relationships/tags" Target="../tags/tag1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5" Type="http://schemas.openxmlformats.org/officeDocument/2006/relationships/image" Target="../media/image155.png"/><Relationship Id="rId10" Type="http://schemas.openxmlformats.org/officeDocument/2006/relationships/image" Target="../media/image150.png"/><Relationship Id="rId19" Type="http://schemas.openxmlformats.org/officeDocument/2006/relationships/image" Target="../media/image159.png"/><Relationship Id="rId9" Type="http://schemas.openxmlformats.org/officeDocument/2006/relationships/image" Target="../media/image149.png"/><Relationship Id="rId14" Type="http://schemas.openxmlformats.org/officeDocument/2006/relationships/image" Target="../media/image15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13" Type="http://schemas.openxmlformats.org/officeDocument/2006/relationships/image" Target="../media/image168.png"/><Relationship Id="rId18" Type="http://schemas.openxmlformats.org/officeDocument/2006/relationships/image" Target="../media/image174.png"/><Relationship Id="rId21" Type="http://schemas.openxmlformats.org/officeDocument/2006/relationships/image" Target="../media/image176.png"/><Relationship Id="rId7" Type="http://schemas.openxmlformats.org/officeDocument/2006/relationships/image" Target="../media/image162.png"/><Relationship Id="rId12" Type="http://schemas.openxmlformats.org/officeDocument/2006/relationships/image" Target="../media/image167.png"/><Relationship Id="rId17" Type="http://schemas.openxmlformats.org/officeDocument/2006/relationships/image" Target="../media/image17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73.png"/><Relationship Id="rId20" Type="http://schemas.openxmlformats.org/officeDocument/2006/relationships/image" Target="../media/image175.png"/><Relationship Id="rId1" Type="http://schemas.openxmlformats.org/officeDocument/2006/relationships/tags" Target="../tags/tag13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24" Type="http://schemas.openxmlformats.org/officeDocument/2006/relationships/image" Target="../media/image135.png"/><Relationship Id="rId5" Type="http://schemas.openxmlformats.org/officeDocument/2006/relationships/image" Target="../media/image160.png"/><Relationship Id="rId15" Type="http://schemas.openxmlformats.org/officeDocument/2006/relationships/image" Target="../media/image170.png"/><Relationship Id="rId23" Type="http://schemas.openxmlformats.org/officeDocument/2006/relationships/image" Target="../media/image178.png"/><Relationship Id="rId10" Type="http://schemas.openxmlformats.org/officeDocument/2006/relationships/image" Target="../media/image165.png"/><Relationship Id="rId19" Type="http://schemas.openxmlformats.org/officeDocument/2006/relationships/image" Target="../media/image172.png"/><Relationship Id="rId9" Type="http://schemas.openxmlformats.org/officeDocument/2006/relationships/image" Target="../media/image164.png"/><Relationship Id="rId14" Type="http://schemas.openxmlformats.org/officeDocument/2006/relationships/image" Target="../media/image169.png"/><Relationship Id="rId22" Type="http://schemas.openxmlformats.org/officeDocument/2006/relationships/image" Target="../media/image17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0.png"/><Relationship Id="rId13" Type="http://schemas.openxmlformats.org/officeDocument/2006/relationships/image" Target="../media/image187.png"/><Relationship Id="rId7" Type="http://schemas.openxmlformats.org/officeDocument/2006/relationships/image" Target="../media/image1810.png"/><Relationship Id="rId12" Type="http://schemas.openxmlformats.org/officeDocument/2006/relationships/image" Target="../media/image185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90.png"/><Relationship Id="rId1" Type="http://schemas.openxmlformats.org/officeDocument/2006/relationships/tags" Target="../tags/tag14.xml"/><Relationship Id="rId6" Type="http://schemas.openxmlformats.org/officeDocument/2006/relationships/image" Target="../media/image1800.png"/><Relationship Id="rId11" Type="http://schemas.openxmlformats.org/officeDocument/2006/relationships/image" Target="../media/image186.png"/><Relationship Id="rId5" Type="http://schemas.openxmlformats.org/officeDocument/2006/relationships/image" Target="../media/image1790.png"/><Relationship Id="rId15" Type="http://schemas.openxmlformats.org/officeDocument/2006/relationships/image" Target="../media/image189.png"/><Relationship Id="rId10" Type="http://schemas.openxmlformats.org/officeDocument/2006/relationships/image" Target="../media/image184.png"/><Relationship Id="rId9" Type="http://schemas.openxmlformats.org/officeDocument/2006/relationships/image" Target="../media/image183.png"/><Relationship Id="rId14" Type="http://schemas.openxmlformats.org/officeDocument/2006/relationships/image" Target="../media/image1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png"/><Relationship Id="rId7" Type="http://schemas.openxmlformats.org/officeDocument/2006/relationships/image" Target="../media/image19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6" Type="http://schemas.openxmlformats.org/officeDocument/2006/relationships/image" Target="../media/image192.png"/><Relationship Id="rId5" Type="http://schemas.openxmlformats.org/officeDocument/2006/relationships/image" Target="../media/image191.png"/><Relationship Id="rId10" Type="http://schemas.openxmlformats.org/officeDocument/2006/relationships/image" Target="../media/image196.png"/><Relationship Id="rId9" Type="http://schemas.openxmlformats.org/officeDocument/2006/relationships/image" Target="../media/image19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7" Type="http://schemas.openxmlformats.org/officeDocument/2006/relationships/image" Target="../media/image199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0.png"/><Relationship Id="rId7" Type="http://schemas.openxmlformats.org/officeDocument/2006/relationships/image" Target="../media/image198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6" Type="http://schemas.openxmlformats.org/officeDocument/2006/relationships/image" Target="../media/image1970.png"/><Relationship Id="rId11" Type="http://schemas.openxmlformats.org/officeDocument/2006/relationships/image" Target="../media/image135.png"/><Relationship Id="rId5" Type="http://schemas.openxmlformats.org/officeDocument/2006/relationships/image" Target="../media/image1960.png"/><Relationship Id="rId10" Type="http://schemas.openxmlformats.org/officeDocument/2006/relationships/image" Target="../media/image201.png"/><Relationship Id="rId9" Type="http://schemas.openxmlformats.org/officeDocument/2006/relationships/image" Target="../media/image200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7.png"/><Relationship Id="rId13" Type="http://schemas.openxmlformats.org/officeDocument/2006/relationships/image" Target="../media/image222.png"/><Relationship Id="rId18" Type="http://schemas.openxmlformats.org/officeDocument/2006/relationships/image" Target="../media/image227.png"/><Relationship Id="rId7" Type="http://schemas.openxmlformats.org/officeDocument/2006/relationships/image" Target="../media/image216.png"/><Relationship Id="rId12" Type="http://schemas.openxmlformats.org/officeDocument/2006/relationships/image" Target="../media/image221.png"/><Relationship Id="rId17" Type="http://schemas.openxmlformats.org/officeDocument/2006/relationships/image" Target="../media/image226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25.png"/><Relationship Id="rId20" Type="http://schemas.openxmlformats.org/officeDocument/2006/relationships/image" Target="../media/image229.png"/><Relationship Id="rId1" Type="http://schemas.openxmlformats.org/officeDocument/2006/relationships/tags" Target="../tags/tag18.xml"/><Relationship Id="rId6" Type="http://schemas.openxmlformats.org/officeDocument/2006/relationships/image" Target="../media/image215.png"/><Relationship Id="rId11" Type="http://schemas.openxmlformats.org/officeDocument/2006/relationships/image" Target="../media/image220.png"/><Relationship Id="rId5" Type="http://schemas.openxmlformats.org/officeDocument/2006/relationships/image" Target="../media/image214.png"/><Relationship Id="rId15" Type="http://schemas.openxmlformats.org/officeDocument/2006/relationships/image" Target="../media/image224.png"/><Relationship Id="rId10" Type="http://schemas.openxmlformats.org/officeDocument/2006/relationships/image" Target="../media/image219.png"/><Relationship Id="rId19" Type="http://schemas.openxmlformats.org/officeDocument/2006/relationships/image" Target="../media/image228.png"/><Relationship Id="rId9" Type="http://schemas.openxmlformats.org/officeDocument/2006/relationships/image" Target="../media/image218.png"/><Relationship Id="rId14" Type="http://schemas.openxmlformats.org/officeDocument/2006/relationships/image" Target="../media/image22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3.png"/><Relationship Id="rId13" Type="http://schemas.openxmlformats.org/officeDocument/2006/relationships/image" Target="../media/image238.png"/><Relationship Id="rId7" Type="http://schemas.openxmlformats.org/officeDocument/2006/relationships/image" Target="../media/image232.png"/><Relationship Id="rId12" Type="http://schemas.openxmlformats.org/officeDocument/2006/relationships/image" Target="../media/image23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6" Type="http://schemas.openxmlformats.org/officeDocument/2006/relationships/image" Target="../media/image231.png"/><Relationship Id="rId11" Type="http://schemas.openxmlformats.org/officeDocument/2006/relationships/image" Target="../media/image180.svg"/><Relationship Id="rId5" Type="http://schemas.openxmlformats.org/officeDocument/2006/relationships/image" Target="../media/image230.png"/><Relationship Id="rId15" Type="http://schemas.openxmlformats.org/officeDocument/2006/relationships/image" Target="../media/image240.png"/><Relationship Id="rId10" Type="http://schemas.openxmlformats.org/officeDocument/2006/relationships/image" Target="../media/image179.png"/><Relationship Id="rId9" Type="http://schemas.openxmlformats.org/officeDocument/2006/relationships/image" Target="../media/image234.png"/><Relationship Id="rId14" Type="http://schemas.openxmlformats.org/officeDocument/2006/relationships/image" Target="../media/image23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png"/><Relationship Id="rId13" Type="http://schemas.openxmlformats.org/officeDocument/2006/relationships/image" Target="../media/image250.png"/><Relationship Id="rId3" Type="http://schemas.openxmlformats.org/officeDocument/2006/relationships/image" Target="../media/image181.png"/><Relationship Id="rId12" Type="http://schemas.openxmlformats.org/officeDocument/2006/relationships/image" Target="../media/image249.png"/><Relationship Id="rId17" Type="http://schemas.openxmlformats.org/officeDocument/2006/relationships/image" Target="../media/image206.sv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05.png"/><Relationship Id="rId1" Type="http://schemas.openxmlformats.org/officeDocument/2006/relationships/tags" Target="../tags/tag20.xml"/><Relationship Id="rId11" Type="http://schemas.openxmlformats.org/officeDocument/2006/relationships/image" Target="../media/image248.png"/><Relationship Id="rId5" Type="http://schemas.openxmlformats.org/officeDocument/2006/relationships/image" Target="../media/image202.png"/><Relationship Id="rId15" Type="http://schemas.openxmlformats.org/officeDocument/2006/relationships/image" Target="../media/image204.svg"/><Relationship Id="rId10" Type="http://schemas.openxmlformats.org/officeDocument/2006/relationships/image" Target="../media/image247.png"/><Relationship Id="rId4" Type="http://schemas.openxmlformats.org/officeDocument/2006/relationships/image" Target="../media/image182.svg"/><Relationship Id="rId9" Type="http://schemas.openxmlformats.org/officeDocument/2006/relationships/image" Target="../media/image246.png"/><Relationship Id="rId14" Type="http://schemas.openxmlformats.org/officeDocument/2006/relationships/image" Target="../media/image20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6.png"/><Relationship Id="rId7" Type="http://schemas.openxmlformats.org/officeDocument/2006/relationships/image" Target="../media/image25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6" Type="http://schemas.openxmlformats.org/officeDocument/2006/relationships/image" Target="../media/image254.png"/><Relationship Id="rId5" Type="http://schemas.openxmlformats.org/officeDocument/2006/relationships/image" Target="../media/image253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8.png"/><Relationship Id="rId13" Type="http://schemas.openxmlformats.org/officeDocument/2006/relationships/image" Target="../media/image263.png"/><Relationship Id="rId18" Type="http://schemas.openxmlformats.org/officeDocument/2006/relationships/image" Target="../media/image268.png"/><Relationship Id="rId7" Type="http://schemas.openxmlformats.org/officeDocument/2006/relationships/image" Target="../media/image257.png"/><Relationship Id="rId12" Type="http://schemas.openxmlformats.org/officeDocument/2006/relationships/image" Target="../media/image262.png"/><Relationship Id="rId17" Type="http://schemas.openxmlformats.org/officeDocument/2006/relationships/image" Target="../media/image267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66.png"/><Relationship Id="rId20" Type="http://schemas.openxmlformats.org/officeDocument/2006/relationships/image" Target="../media/image270.png"/><Relationship Id="rId1" Type="http://schemas.openxmlformats.org/officeDocument/2006/relationships/tags" Target="../tags/tag22.xml"/><Relationship Id="rId6" Type="http://schemas.openxmlformats.org/officeDocument/2006/relationships/image" Target="../media/image2560.png"/><Relationship Id="rId11" Type="http://schemas.openxmlformats.org/officeDocument/2006/relationships/image" Target="../media/image261.png"/><Relationship Id="rId5" Type="http://schemas.openxmlformats.org/officeDocument/2006/relationships/image" Target="../media/image2550.png"/><Relationship Id="rId15" Type="http://schemas.openxmlformats.org/officeDocument/2006/relationships/image" Target="../media/image265.png"/><Relationship Id="rId10" Type="http://schemas.openxmlformats.org/officeDocument/2006/relationships/image" Target="../media/image260.png"/><Relationship Id="rId19" Type="http://schemas.openxmlformats.org/officeDocument/2006/relationships/image" Target="../media/image269.png"/><Relationship Id="rId9" Type="http://schemas.openxmlformats.org/officeDocument/2006/relationships/image" Target="../media/image259.png"/><Relationship Id="rId14" Type="http://schemas.openxmlformats.org/officeDocument/2006/relationships/image" Target="../media/image26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4.png"/><Relationship Id="rId7" Type="http://schemas.openxmlformats.org/officeDocument/2006/relationships/image" Target="../media/image273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6" Type="http://schemas.openxmlformats.org/officeDocument/2006/relationships/image" Target="../media/image272.png"/><Relationship Id="rId5" Type="http://schemas.openxmlformats.org/officeDocument/2006/relationships/image" Target="../media/image207.png"/><Relationship Id="rId9" Type="http://schemas.openxmlformats.org/officeDocument/2006/relationships/image" Target="../media/image275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1.png"/><Relationship Id="rId13" Type="http://schemas.openxmlformats.org/officeDocument/2006/relationships/image" Target="../media/image241.png"/><Relationship Id="rId18" Type="http://schemas.openxmlformats.org/officeDocument/2006/relationships/image" Target="../media/image252.png"/><Relationship Id="rId21" Type="http://schemas.openxmlformats.org/officeDocument/2006/relationships/image" Target="../media/image277.svg"/><Relationship Id="rId7" Type="http://schemas.openxmlformats.org/officeDocument/2006/relationships/image" Target="../media/image210.png"/><Relationship Id="rId12" Type="http://schemas.openxmlformats.org/officeDocument/2006/relationships/image" Target="../media/image236.png"/><Relationship Id="rId17" Type="http://schemas.openxmlformats.org/officeDocument/2006/relationships/image" Target="../media/image251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244.png"/><Relationship Id="rId20" Type="http://schemas.openxmlformats.org/officeDocument/2006/relationships/image" Target="../media/image276.png"/><Relationship Id="rId1" Type="http://schemas.openxmlformats.org/officeDocument/2006/relationships/tags" Target="../tags/tag24.xml"/><Relationship Id="rId6" Type="http://schemas.openxmlformats.org/officeDocument/2006/relationships/image" Target="../media/image209.png"/><Relationship Id="rId11" Type="http://schemas.openxmlformats.org/officeDocument/2006/relationships/image" Target="../media/image235.png"/><Relationship Id="rId5" Type="http://schemas.openxmlformats.org/officeDocument/2006/relationships/image" Target="../media/image208.png"/><Relationship Id="rId15" Type="http://schemas.openxmlformats.org/officeDocument/2006/relationships/image" Target="../media/image243.png"/><Relationship Id="rId10" Type="http://schemas.openxmlformats.org/officeDocument/2006/relationships/image" Target="../media/image213.png"/><Relationship Id="rId19" Type="http://schemas.openxmlformats.org/officeDocument/2006/relationships/image" Target="../media/image271.png"/><Relationship Id="rId9" Type="http://schemas.openxmlformats.org/officeDocument/2006/relationships/image" Target="../media/image212.png"/><Relationship Id="rId14" Type="http://schemas.openxmlformats.org/officeDocument/2006/relationships/image" Target="../media/image24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0.png"/><Relationship Id="rId7" Type="http://schemas.openxmlformats.org/officeDocument/2006/relationships/image" Target="../media/image274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6" Type="http://schemas.openxmlformats.org/officeDocument/2006/relationships/image" Target="../media/image2730.png"/><Relationship Id="rId5" Type="http://schemas.openxmlformats.org/officeDocument/2006/relationships/image" Target="../media/image2720.png"/><Relationship Id="rId9" Type="http://schemas.openxmlformats.org/officeDocument/2006/relationships/image" Target="../media/image276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图片 29">
            <a:extLst>
              <a:ext uri="{FF2B5EF4-FFF2-40B4-BE49-F238E27FC236}">
                <a16:creationId xmlns:a16="http://schemas.microsoft.com/office/drawing/2014/main" id="{94887E1D-C6CF-1FB4-AA55-CDB7659AB1B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451" r="11474"/>
          <a:stretch/>
        </p:blipFill>
        <p:spPr>
          <a:xfrm>
            <a:off x="675497" y="898434"/>
            <a:ext cx="3638282" cy="5277566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9198C80F-89CD-BB62-A046-E187E190F0DA}"/>
              </a:ext>
            </a:extLst>
          </p:cNvPr>
          <p:cNvSpPr txBox="1"/>
          <p:nvPr/>
        </p:nvSpPr>
        <p:spPr>
          <a:xfrm>
            <a:off x="4985485" y="2767776"/>
            <a:ext cx="68193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44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随机变量及其分布（上）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5B70860-7B7F-79E8-BFCC-9CAB1906F829}"/>
              </a:ext>
            </a:extLst>
          </p:cNvPr>
          <p:cNvSpPr txBox="1"/>
          <p:nvPr/>
        </p:nvSpPr>
        <p:spPr>
          <a:xfrm>
            <a:off x="4985485" y="3945538"/>
            <a:ext cx="6721606" cy="1292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一维随机变量及其描述法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分布函数，分布律与密度函数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华文宋体" panose="02010600040101010101" pitchFamily="2" charset="-122"/>
                <a:ea typeface="华文宋体" panose="02010600040101010101" pitchFamily="2" charset="-122"/>
              </a:rPr>
              <a:t>一维随机变量的分布规律 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—— 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离散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/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连续型随机变量及其分布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800" dirty="0">
                <a:latin typeface="华文宋体" panose="02010600040101010101" pitchFamily="2" charset="-122"/>
                <a:ea typeface="华文宋体" panose="02010600040101010101" pitchFamily="2" charset="-122"/>
              </a:rPr>
              <a:t>一维随机变量的函数及其分布的求解</a:t>
            </a:r>
            <a:endParaRPr lang="en-US" altLang="zh-CN" sz="1800" dirty="0">
              <a:latin typeface="华文宋体" panose="02010600040101010101" pitchFamily="2" charset="-122"/>
              <a:ea typeface="华文宋体" panose="02010600040101010101" pitchFamily="2" charset="-122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4B045768-D895-3AB6-17F1-0E730D6A50EA}"/>
              </a:ext>
            </a:extLst>
          </p:cNvPr>
          <p:cNvCxnSpPr>
            <a:cxnSpLocks/>
          </p:cNvCxnSpPr>
          <p:nvPr/>
        </p:nvCxnSpPr>
        <p:spPr>
          <a:xfrm>
            <a:off x="4985485" y="3741377"/>
            <a:ext cx="6531018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FC1EA91-F8F7-91D8-20AB-953E21B71335}"/>
              </a:ext>
            </a:extLst>
          </p:cNvPr>
          <p:cNvSpPr txBox="1"/>
          <p:nvPr/>
        </p:nvSpPr>
        <p:spPr>
          <a:xfrm>
            <a:off x="4985485" y="1972342"/>
            <a:ext cx="4133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《</a:t>
            </a:r>
            <a:r>
              <a:rPr lang="zh-CN" altLang="en-US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概率论与数理统计</a:t>
            </a:r>
            <a:r>
              <a:rPr lang="en-US" altLang="zh-CN" sz="28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》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77998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111081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在随机现象中，许多问题都可以与数值发生联系。我们可以将 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实数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与 </a:t>
            </a:r>
            <a:r>
              <a:rPr lang="zh-CN" altLang="en-US" sz="1600" u="sng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随机事件的结果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 一一对应，来描述随机事件。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327300" y="775742"/>
            <a:ext cx="18288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随机变量的定义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922C3CC2-D45E-9C3D-0E6C-06397EBB5F9D}"/>
              </a:ext>
            </a:extLst>
          </p:cNvPr>
          <p:cNvGrpSpPr/>
          <p:nvPr/>
        </p:nvGrpSpPr>
        <p:grpSpPr>
          <a:xfrm>
            <a:off x="576363" y="2038108"/>
            <a:ext cx="11039271" cy="1835240"/>
            <a:chOff x="576363" y="2038108"/>
            <a:chExt cx="11039271" cy="183524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C2610EF-BC7E-68CE-5CE6-1ED7D2A095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95" t="12409" r="12918" b="15406"/>
            <a:stretch/>
          </p:blipFill>
          <p:spPr>
            <a:xfrm>
              <a:off x="1146253" y="2196364"/>
              <a:ext cx="650383" cy="701898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55C101F-0E0B-A1FD-3E73-7754AF9A433C}"/>
                </a:ext>
              </a:extLst>
            </p:cNvPr>
            <p:cNvSpPr/>
            <p:nvPr/>
          </p:nvSpPr>
          <p:spPr>
            <a:xfrm>
              <a:off x="576363" y="2038108"/>
              <a:ext cx="11039271" cy="1835240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0F29CF9-9AD5-ADFF-A75A-78DD31390AB4}"/>
                </a:ext>
              </a:extLst>
            </p:cNvPr>
            <p:cNvSpPr txBox="1"/>
            <p:nvPr/>
          </p:nvSpPr>
          <p:spPr>
            <a:xfrm>
              <a:off x="939118" y="3016633"/>
              <a:ext cx="1191296" cy="684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样本空间 </a:t>
              </a:r>
              <a:r>
                <a:rPr lang="en-US" altLang="zh-CN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=</a:t>
              </a:r>
            </a:p>
            <a:p>
              <a:pPr>
                <a:spcBef>
                  <a:spcPts val="300"/>
                </a:spcBef>
              </a:pPr>
              <a:r>
                <a:rPr lang="en-US" altLang="zh-CN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{</a:t>
              </a: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掷一颗骰子</a:t>
              </a:r>
              <a:endPara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出现的所有结果</a:t>
              </a:r>
              <a:r>
                <a:rPr lang="en-US" altLang="zh-CN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}</a:t>
              </a:r>
              <a:endPara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5606484-A944-D99A-2B94-7C9E1DA65CBF}"/>
              </a:ext>
            </a:extLst>
          </p:cNvPr>
          <p:cNvGrpSpPr/>
          <p:nvPr/>
        </p:nvGrpSpPr>
        <p:grpSpPr>
          <a:xfrm>
            <a:off x="2334323" y="2235437"/>
            <a:ext cx="8870298" cy="1446481"/>
            <a:chOff x="2334323" y="2290145"/>
            <a:chExt cx="8870298" cy="14464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1BB84C01-156D-826C-49D8-3914A00487E3}"/>
                    </a:ext>
                  </a:extLst>
                </p:cNvPr>
                <p:cNvSpPr txBox="1"/>
                <p:nvPr/>
              </p:nvSpPr>
              <p:spPr>
                <a:xfrm>
                  <a:off x="2418042" y="2427234"/>
                  <a:ext cx="11912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结果</a:t>
                  </a:r>
                  <a14:m>
                    <m:oMath xmlns:m="http://schemas.openxmlformats.org/officeDocument/2006/math">
                      <m:r>
                        <a:rPr lang="zh-CN" altLang="en-US" sz="200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𝜔</m:t>
                      </m:r>
                    </m:oMath>
                  </a14:m>
                  <a:endParaRPr lang="zh-CN" altLang="en-US" sz="20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1BB84C01-156D-826C-49D8-3914A00487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8042" y="2427234"/>
                  <a:ext cx="1191296" cy="400110"/>
                </a:xfrm>
                <a:prstGeom prst="rect">
                  <a:avLst/>
                </a:prstGeom>
                <a:blipFill>
                  <a:blip r:embed="rId6"/>
                  <a:stretch>
                    <a:fillRect t="-9091" b="-242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5D17D79-EC99-88E3-F643-E7BEA005C3DC}"/>
                    </a:ext>
                  </a:extLst>
                </p:cNvPr>
                <p:cNvSpPr txBox="1"/>
                <p:nvPr/>
              </p:nvSpPr>
              <p:spPr>
                <a:xfrm>
                  <a:off x="2418042" y="3213688"/>
                  <a:ext cx="1191296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000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实数</a:t>
                  </a:r>
                  <a14:m>
                    <m:oMath xmlns:m="http://schemas.openxmlformats.org/officeDocument/2006/math">
                      <m:r>
                        <a:rPr lang="en-US" altLang="zh-CN" sz="2000" b="0" i="1" smtClean="0">
                          <a:latin typeface="Cambria Math" panose="02040503050406030204" pitchFamily="18" charset="0"/>
                          <a:ea typeface="汉仪润圆-65简" panose="00020600040101010101" pitchFamily="18" charset="-122"/>
                        </a:rPr>
                        <m:t>𝑋</m:t>
                      </m:r>
                    </m:oMath>
                  </a14:m>
                  <a:endParaRPr lang="zh-CN" altLang="en-US" sz="20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A5D17D79-EC99-88E3-F643-E7BEA005C3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8042" y="3213688"/>
                  <a:ext cx="1191296" cy="400110"/>
                </a:xfrm>
                <a:prstGeom prst="rect">
                  <a:avLst/>
                </a:prstGeom>
                <a:blipFill>
                  <a:blip r:embed="rId7"/>
                  <a:stretch>
                    <a:fillRect t="-9091" b="-242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25A4136A-5C1A-BE06-5D09-08F6FEFE133A}"/>
                </a:ext>
              </a:extLst>
            </p:cNvPr>
            <p:cNvGrpSpPr/>
            <p:nvPr/>
          </p:nvGrpSpPr>
          <p:grpSpPr>
            <a:xfrm>
              <a:off x="3665145" y="2454842"/>
              <a:ext cx="7426811" cy="341724"/>
              <a:chOff x="3613629" y="2454842"/>
              <a:chExt cx="7426811" cy="341724"/>
            </a:xfrm>
          </p:grpSpPr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838FEC9-F77E-61B5-8B31-FE856929052C}"/>
                  </a:ext>
                </a:extLst>
              </p:cNvPr>
              <p:cNvSpPr txBox="1"/>
              <p:nvPr/>
            </p:nvSpPr>
            <p:spPr>
              <a:xfrm>
                <a:off x="3613629" y="2458012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点数为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1</a:t>
                </a:r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664521F4-65B9-8D12-95F5-233FF0F17643}"/>
                  </a:ext>
                </a:extLst>
              </p:cNvPr>
              <p:cNvSpPr txBox="1"/>
              <p:nvPr/>
            </p:nvSpPr>
            <p:spPr>
              <a:xfrm>
                <a:off x="4860732" y="2454842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点数为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2</a:t>
                </a:r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71DA732-DC3C-268C-75AF-73AD6DD19299}"/>
                  </a:ext>
                </a:extLst>
              </p:cNvPr>
              <p:cNvSpPr txBox="1"/>
              <p:nvPr/>
            </p:nvSpPr>
            <p:spPr>
              <a:xfrm>
                <a:off x="6107835" y="2454842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点数为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3</a:t>
                </a:r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08B6DB4-D233-1F83-3062-1E83CBDC878B}"/>
                  </a:ext>
                </a:extLst>
              </p:cNvPr>
              <p:cNvSpPr txBox="1"/>
              <p:nvPr/>
            </p:nvSpPr>
            <p:spPr>
              <a:xfrm>
                <a:off x="7354938" y="2454842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点数为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4</a:t>
                </a:r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1507FD22-BCA5-169A-4E29-633002CADA50}"/>
                  </a:ext>
                </a:extLst>
              </p:cNvPr>
              <p:cNvSpPr txBox="1"/>
              <p:nvPr/>
            </p:nvSpPr>
            <p:spPr>
              <a:xfrm>
                <a:off x="8602041" y="2454842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点数为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5</a:t>
                </a:r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60364C3C-A4D1-A4CF-4150-8EE9EE77251A}"/>
                  </a:ext>
                </a:extLst>
              </p:cNvPr>
              <p:cNvSpPr txBox="1"/>
              <p:nvPr/>
            </p:nvSpPr>
            <p:spPr>
              <a:xfrm>
                <a:off x="9849144" y="2454842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点数为</a:t>
                </a:r>
                <a:r>
                  <a:rPr lang="en-US" altLang="zh-CN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6</a:t>
                </a:r>
                <a:endPara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0DABD1CF-87D1-60AF-953A-C61656753799}"/>
                </a:ext>
              </a:extLst>
            </p:cNvPr>
            <p:cNvGrpSpPr/>
            <p:nvPr/>
          </p:nvGrpSpPr>
          <p:grpSpPr>
            <a:xfrm>
              <a:off x="3665145" y="3210518"/>
              <a:ext cx="7426811" cy="341724"/>
              <a:chOff x="3613629" y="3210518"/>
              <a:chExt cx="7426811" cy="341724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64C5F6F7-49FD-E494-DD7E-EA10884494A2}"/>
                  </a:ext>
                </a:extLst>
              </p:cNvPr>
              <p:cNvSpPr txBox="1"/>
              <p:nvPr/>
            </p:nvSpPr>
            <p:spPr>
              <a:xfrm>
                <a:off x="3613629" y="3213688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zh-CN" altLang="en-US" sz="1600" dirty="0">
                  <a:latin typeface="Cambria Math" panose="020405030504060302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D810E244-2AAC-D4C5-36A9-0386CBB93D34}"/>
                  </a:ext>
                </a:extLst>
              </p:cNvPr>
              <p:cNvSpPr txBox="1"/>
              <p:nvPr/>
            </p:nvSpPr>
            <p:spPr>
              <a:xfrm>
                <a:off x="4860732" y="3210518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endParaRPr lang="zh-CN" altLang="en-US" sz="1600" dirty="0">
                  <a:latin typeface="Cambria Math" panose="020405030504060302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CC4F7078-09A3-53AB-69F8-8BA587C21270}"/>
                  </a:ext>
                </a:extLst>
              </p:cNvPr>
              <p:cNvSpPr txBox="1"/>
              <p:nvPr/>
            </p:nvSpPr>
            <p:spPr>
              <a:xfrm>
                <a:off x="6107835" y="3210518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endParaRPr lang="zh-CN" altLang="en-US" sz="1600" dirty="0">
                  <a:latin typeface="Cambria Math" panose="020405030504060302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869A3954-AC13-8AB4-0117-E610B3617DC7}"/>
                  </a:ext>
                </a:extLst>
              </p:cNvPr>
              <p:cNvSpPr txBox="1"/>
              <p:nvPr/>
            </p:nvSpPr>
            <p:spPr>
              <a:xfrm>
                <a:off x="7354938" y="3210518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endParaRPr lang="zh-CN" altLang="en-US" sz="1600" dirty="0">
                  <a:latin typeface="Cambria Math" panose="020405030504060302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C56801D-D9CA-1A65-C345-2180EB77B6D2}"/>
                  </a:ext>
                </a:extLst>
              </p:cNvPr>
              <p:cNvSpPr txBox="1"/>
              <p:nvPr/>
            </p:nvSpPr>
            <p:spPr>
              <a:xfrm>
                <a:off x="8602041" y="3210518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5</a:t>
                </a:r>
                <a:endParaRPr lang="zh-CN" altLang="en-US" sz="1600" dirty="0">
                  <a:latin typeface="Cambria Math" panose="02040503050406030204" pitchFamily="18" charset="0"/>
                  <a:ea typeface="仿宋" panose="02010609060101010101" pitchFamily="49" charset="-122"/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70E9ADCE-9C28-C1EF-2E5B-680F8D1831DC}"/>
                  </a:ext>
                </a:extLst>
              </p:cNvPr>
              <p:cNvSpPr txBox="1"/>
              <p:nvPr/>
            </p:nvSpPr>
            <p:spPr>
              <a:xfrm>
                <a:off x="9849144" y="3210518"/>
                <a:ext cx="119129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6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6</a:t>
                </a:r>
                <a:endParaRPr lang="zh-CN" altLang="en-US" sz="1600" dirty="0">
                  <a:latin typeface="Cambria Math" panose="02040503050406030204" pitchFamily="18" charset="0"/>
                  <a:ea typeface="仿宋" panose="02010609060101010101" pitchFamily="49" charset="-122"/>
                </a:endParaRPr>
              </a:p>
            </p:txBody>
          </p:sp>
        </p:grpSp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FC1B4675-98CF-F199-0AD0-16C6DD6E49F6}"/>
                </a:ext>
              </a:extLst>
            </p:cNvPr>
            <p:cNvGrpSpPr/>
            <p:nvPr/>
          </p:nvGrpSpPr>
          <p:grpSpPr>
            <a:xfrm>
              <a:off x="2334323" y="2290145"/>
              <a:ext cx="8870298" cy="1446481"/>
              <a:chOff x="2334323" y="2290145"/>
              <a:chExt cx="8870298" cy="1446481"/>
            </a:xfrm>
          </p:grpSpPr>
          <p:cxnSp>
            <p:nvCxnSpPr>
              <p:cNvPr id="41" name="直接连接符 40">
                <a:extLst>
                  <a:ext uri="{FF2B5EF4-FFF2-40B4-BE49-F238E27FC236}">
                    <a16:creationId xmlns:a16="http://schemas.microsoft.com/office/drawing/2014/main" id="{5F37156F-E0AD-046A-D435-8ABE6B268D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34323" y="3013386"/>
                <a:ext cx="8870298" cy="0"/>
              </a:xfrm>
              <a:prstGeom prst="line">
                <a:avLst/>
              </a:prstGeom>
              <a:ln w="9525">
                <a:prstDash val="sysDot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>
                <a:extLst>
                  <a:ext uri="{FF2B5EF4-FFF2-40B4-BE49-F238E27FC236}">
                    <a16:creationId xmlns:a16="http://schemas.microsoft.com/office/drawing/2014/main" id="{94931E1A-8A29-BC2D-A6C2-CCEF71D727C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609338" y="2290145"/>
                <a:ext cx="0" cy="1446481"/>
              </a:xfrm>
              <a:prstGeom prst="line">
                <a:avLst/>
              </a:prstGeom>
              <a:ln w="9525">
                <a:prstDash val="sysDot"/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546520D-2AC3-3BB7-DA4B-AE2183873D12}"/>
                  </a:ext>
                </a:extLst>
              </p:cNvPr>
              <p:cNvSpPr txBox="1"/>
              <p:nvPr/>
            </p:nvSpPr>
            <p:spPr>
              <a:xfrm>
                <a:off x="2243118" y="3155559"/>
                <a:ext cx="1336539" cy="40011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2000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实数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(</m:t>
                    </m:r>
                    <m:r>
                      <a:rPr lang="zh-CN" altLang="en-US" sz="2000" b="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𝜔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汉仪润圆-65简" panose="00020600040101010101" pitchFamily="18" charset="-122"/>
                      </a:rPr>
                      <m:t>)</m:t>
                    </m:r>
                  </m:oMath>
                </a14:m>
                <a:endParaRPr lang="zh-CN" altLang="en-US" sz="2000" dirty="0">
                  <a:latin typeface="汉仪润圆-65简" panose="00020600040101010101" pitchFamily="18" charset="-122"/>
                  <a:ea typeface="汉仪润圆-65简" panose="00020600040101010101" pitchFamily="18" charset="-122"/>
                </a:endParaRPr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546520D-2AC3-3BB7-DA4B-AE2183873D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3118" y="3155559"/>
                <a:ext cx="1336539" cy="400110"/>
              </a:xfrm>
              <a:prstGeom prst="rect">
                <a:avLst/>
              </a:prstGeom>
              <a:blipFill>
                <a:blip r:embed="rId8"/>
                <a:stretch>
                  <a:fillRect l="-1826" t="-10769" b="-261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6" name="矩形 65">
            <a:extLst>
              <a:ext uri="{FF2B5EF4-FFF2-40B4-BE49-F238E27FC236}">
                <a16:creationId xmlns:a16="http://schemas.microsoft.com/office/drawing/2014/main" id="{A25CB466-B0C6-62AE-8D89-5F247A139152}"/>
              </a:ext>
            </a:extLst>
          </p:cNvPr>
          <p:cNvSpPr/>
          <p:nvPr/>
        </p:nvSpPr>
        <p:spPr>
          <a:xfrm>
            <a:off x="3086444" y="4207482"/>
            <a:ext cx="2010383" cy="778213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随机实验的结果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（自变量）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C19A22E6-DF94-BFB2-23C7-57A8B4468D12}"/>
              </a:ext>
            </a:extLst>
          </p:cNvPr>
          <p:cNvSpPr/>
          <p:nvPr/>
        </p:nvSpPr>
        <p:spPr>
          <a:xfrm>
            <a:off x="7095168" y="4207482"/>
            <a:ext cx="2010383" cy="77821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随机变量</a:t>
            </a:r>
            <a:r>
              <a:rPr lang="en-US" altLang="zh-CN" dirty="0">
                <a:latin typeface="楷体" panose="02010609060101010101" pitchFamily="49" charset="-122"/>
                <a:ea typeface="楷体" panose="02010609060101010101" pitchFamily="49" charset="-122"/>
              </a:rPr>
              <a:t>X</a:t>
            </a:r>
          </a:p>
          <a:p>
            <a:pPr algn="ctr"/>
            <a:r>
              <a:rPr lang="zh-CN" altLang="en-US" dirty="0">
                <a:latin typeface="楷体" panose="02010609060101010101" pitchFamily="49" charset="-122"/>
                <a:ea typeface="楷体" panose="02010609060101010101" pitchFamily="49" charset="-122"/>
              </a:rPr>
              <a:t>（因变量）</a:t>
            </a:r>
          </a:p>
        </p:txBody>
      </p:sp>
      <p:grpSp>
        <p:nvGrpSpPr>
          <p:cNvPr id="71" name="组合 70">
            <a:extLst>
              <a:ext uri="{FF2B5EF4-FFF2-40B4-BE49-F238E27FC236}">
                <a16:creationId xmlns:a16="http://schemas.microsoft.com/office/drawing/2014/main" id="{E0F825B0-4BAE-4F5D-41B4-D423B2371CFA}"/>
              </a:ext>
            </a:extLst>
          </p:cNvPr>
          <p:cNvGrpSpPr/>
          <p:nvPr/>
        </p:nvGrpSpPr>
        <p:grpSpPr>
          <a:xfrm>
            <a:off x="5534734" y="4238784"/>
            <a:ext cx="1069181" cy="841725"/>
            <a:chOff x="5534734" y="4121470"/>
            <a:chExt cx="1069181" cy="841725"/>
          </a:xfrm>
        </p:grpSpPr>
        <p:sp>
          <p:nvSpPr>
            <p:cNvPr id="67" name="箭头: 上 66">
              <a:extLst>
                <a:ext uri="{FF2B5EF4-FFF2-40B4-BE49-F238E27FC236}">
                  <a16:creationId xmlns:a16="http://schemas.microsoft.com/office/drawing/2014/main" id="{51983F90-B22A-C27A-325B-2A455B41EAF8}"/>
                </a:ext>
              </a:extLst>
            </p:cNvPr>
            <p:cNvSpPr/>
            <p:nvPr/>
          </p:nvSpPr>
          <p:spPr>
            <a:xfrm rot="5400000">
              <a:off x="5844412" y="3865138"/>
              <a:ext cx="503171" cy="1015835"/>
            </a:xfrm>
            <a:prstGeom prst="upArrow">
              <a:avLst>
                <a:gd name="adj1" fmla="val 30412"/>
                <a:gd name="adj2" fmla="val 49021"/>
              </a:avLst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799AFC4D-DE5E-BA92-F81F-1E63080A13F6}"/>
                </a:ext>
              </a:extLst>
            </p:cNvPr>
            <p:cNvSpPr txBox="1"/>
            <p:nvPr/>
          </p:nvSpPr>
          <p:spPr>
            <a:xfrm>
              <a:off x="5534734" y="4624641"/>
              <a:ext cx="10536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rPr>
                <a:t>一一对应</a:t>
              </a:r>
            </a:p>
          </p:txBody>
        </p:sp>
      </p:grp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A19C083C-03DA-E8F2-1D7B-400BB200D44F}"/>
              </a:ext>
            </a:extLst>
          </p:cNvPr>
          <p:cNvSpPr/>
          <p:nvPr/>
        </p:nvSpPr>
        <p:spPr>
          <a:xfrm>
            <a:off x="1896035" y="5245126"/>
            <a:ext cx="4081574" cy="518255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有限个对应关系：离散型随机变量</a:t>
            </a:r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13C8C3C8-ADDB-D2D6-9CDC-B6E4196467F5}"/>
              </a:ext>
            </a:extLst>
          </p:cNvPr>
          <p:cNvSpPr/>
          <p:nvPr/>
        </p:nvSpPr>
        <p:spPr>
          <a:xfrm>
            <a:off x="6214393" y="5245126"/>
            <a:ext cx="4081574" cy="518255"/>
          </a:xfrm>
          <a:prstGeom prst="roundRect">
            <a:avLst/>
          </a:pr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无限个对应关系：连续型随机变量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31930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65" grpId="0" animBg="1"/>
      <p:bldP spid="66" grpId="0" animBg="1"/>
      <p:bldP spid="68" grpId="0" animBg="1"/>
      <p:bldP spid="72" grpId="0" animBg="1"/>
      <p:bldP spid="7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59" y="1425186"/>
            <a:ext cx="934290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引入 随机变量 后，研究 随机事件的概率问题 就可以转为 研究 随机变量的概率问题。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对于 离散型随机变量，每一个随机变量的取值 都可以对应一个概率，也就是说 概率是随机变量的函数。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对于 连续型随机变量，随机变量取单个值的概率 只能为</a:t>
            </a:r>
            <a:r>
              <a:rPr lang="en-US" altLang="zh-CN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0</a:t>
            </a: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，因此必须在 给定的区间上 研究它的概率。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327300" y="775742"/>
            <a:ext cx="28283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分布列、分布律 与 密度函数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14" name="组合 113">
            <a:extLst>
              <a:ext uri="{FF2B5EF4-FFF2-40B4-BE49-F238E27FC236}">
                <a16:creationId xmlns:a16="http://schemas.microsoft.com/office/drawing/2014/main" id="{1446490A-DF08-511A-A50A-029BA365A19E}"/>
              </a:ext>
            </a:extLst>
          </p:cNvPr>
          <p:cNvGrpSpPr/>
          <p:nvPr/>
        </p:nvGrpSpPr>
        <p:grpSpPr>
          <a:xfrm>
            <a:off x="576364" y="2929333"/>
            <a:ext cx="5425538" cy="2792604"/>
            <a:chOff x="576364" y="2929333"/>
            <a:chExt cx="5425538" cy="2792604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5C2610EF-BC7E-68CE-5CE6-1ED7D2A095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195" t="12409" r="12918" b="15406"/>
            <a:stretch/>
          </p:blipFill>
          <p:spPr>
            <a:xfrm>
              <a:off x="1020918" y="3087589"/>
              <a:ext cx="650383" cy="701898"/>
            </a:xfrm>
            <a:prstGeom prst="rect">
              <a:avLst/>
            </a:prstGeom>
          </p:spPr>
        </p:pic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355C101F-0E0B-A1FD-3E73-7754AF9A433C}"/>
                </a:ext>
              </a:extLst>
            </p:cNvPr>
            <p:cNvSpPr/>
            <p:nvPr/>
          </p:nvSpPr>
          <p:spPr>
            <a:xfrm>
              <a:off x="576364" y="2929333"/>
              <a:ext cx="5425538" cy="2792604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00F29CF9-9AD5-ADFF-A75A-78DD31390AB4}"/>
                </a:ext>
              </a:extLst>
            </p:cNvPr>
            <p:cNvSpPr txBox="1"/>
            <p:nvPr/>
          </p:nvSpPr>
          <p:spPr>
            <a:xfrm>
              <a:off x="699581" y="3888622"/>
              <a:ext cx="1293055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传统骰子</a:t>
              </a:r>
              <a:endPara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等可能地掷出</a:t>
              </a:r>
              <a:endPara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en-US" altLang="zh-CN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1,2,3,4,5,6</a:t>
              </a:r>
              <a:endPara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6275B65-42ED-C09C-2715-8F7B8CF1E410}"/>
              </a:ext>
            </a:extLst>
          </p:cNvPr>
          <p:cNvGrpSpPr/>
          <p:nvPr/>
        </p:nvGrpSpPr>
        <p:grpSpPr>
          <a:xfrm>
            <a:off x="9403159" y="1783080"/>
            <a:ext cx="2212475" cy="817865"/>
            <a:chOff x="9403159" y="1783080"/>
            <a:chExt cx="2212475" cy="817865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F31E2361-B8E7-DD72-FEA8-B4BAB616A7CE}"/>
                </a:ext>
              </a:extLst>
            </p:cNvPr>
            <p:cNvSpPr/>
            <p:nvPr/>
          </p:nvSpPr>
          <p:spPr>
            <a:xfrm>
              <a:off x="9850365" y="1783080"/>
              <a:ext cx="1765269" cy="817865"/>
            </a:xfrm>
            <a:prstGeom prst="roundRect">
              <a:avLst/>
            </a:prstGeom>
            <a:noFill/>
            <a:ln w="9525">
              <a:prstDash val="sys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连续型随机变量</a:t>
              </a:r>
              <a:endParaRPr lang="en-US" altLang="zh-CN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zh-CN" altLang="en-US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对应</a:t>
              </a:r>
              <a:endParaRPr lang="en-US" altLang="zh-CN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zh-CN" altLang="en-US" sz="1400" u="sng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无穷多</a:t>
              </a:r>
              <a:r>
                <a:rPr lang="zh-CN" altLang="en-US" sz="14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试验结果</a:t>
              </a:r>
            </a:p>
          </p:txBody>
        </p: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02D4A4E1-FEFF-518D-EA04-21843F5408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403159" y="2481285"/>
              <a:ext cx="447206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15" name="组合 114">
            <a:extLst>
              <a:ext uri="{FF2B5EF4-FFF2-40B4-BE49-F238E27FC236}">
                <a16:creationId xmlns:a16="http://schemas.microsoft.com/office/drawing/2014/main" id="{A19B1ED1-226E-9F29-13B3-2F88B10CDFD2}"/>
              </a:ext>
            </a:extLst>
          </p:cNvPr>
          <p:cNvGrpSpPr/>
          <p:nvPr/>
        </p:nvGrpSpPr>
        <p:grpSpPr>
          <a:xfrm>
            <a:off x="6190096" y="2929333"/>
            <a:ext cx="5425538" cy="2792604"/>
            <a:chOff x="6190096" y="2929333"/>
            <a:chExt cx="5425538" cy="2792604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7239FA57-4A0A-E9CC-4B4F-BEE8B37E9302}"/>
                </a:ext>
              </a:extLst>
            </p:cNvPr>
            <p:cNvSpPr/>
            <p:nvPr/>
          </p:nvSpPr>
          <p:spPr>
            <a:xfrm>
              <a:off x="6190096" y="2929333"/>
              <a:ext cx="5425538" cy="2792604"/>
            </a:xfrm>
            <a:prstGeom prst="rect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E7DF3807-EFFC-E082-D527-02A1043A6E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48" t="5175" r="2627" b="5529"/>
            <a:stretch/>
          </p:blipFill>
          <p:spPr>
            <a:xfrm>
              <a:off x="6630765" y="3087589"/>
              <a:ext cx="703621" cy="719493"/>
            </a:xfrm>
            <a:prstGeom prst="rect">
              <a:avLst/>
            </a:prstGeom>
          </p:spPr>
        </p:pic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B09C5706-E58F-D760-F392-8AEF96DCBA1E}"/>
                </a:ext>
              </a:extLst>
            </p:cNvPr>
            <p:cNvSpPr txBox="1"/>
            <p:nvPr/>
          </p:nvSpPr>
          <p:spPr>
            <a:xfrm>
              <a:off x="6254246" y="3906957"/>
              <a:ext cx="1456660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latin typeface="仿宋" panose="02010609060101010101" pitchFamily="49" charset="-122"/>
                  <a:ea typeface="仿宋" panose="02010609060101010101" pitchFamily="49" charset="-122"/>
                </a:rPr>
                <a:t>电子骰子</a:t>
              </a:r>
              <a:endParaRPr lang="en-US" altLang="zh-CN" sz="1400" dirty="0">
                <a:latin typeface="仿宋" panose="02010609060101010101" pitchFamily="49" charset="-122"/>
                <a:ea typeface="仿宋" panose="02010609060101010101" pitchFamily="49" charset="-122"/>
              </a:endParaRPr>
            </a:p>
            <a:p>
              <a:pPr algn="ctr">
                <a:spcBef>
                  <a:spcPts val="600"/>
                </a:spcBef>
              </a:pP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等可能地给出</a:t>
              </a:r>
              <a:endPara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en-US" altLang="zh-CN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[0,6]</a:t>
              </a:r>
              <a:r>
                <a:rPr lang="zh-CN" altLang="en-US" sz="1100" dirty="0">
                  <a:latin typeface="楷体" panose="02010609060101010101" pitchFamily="49" charset="-122"/>
                  <a:ea typeface="楷体" panose="02010609060101010101" pitchFamily="49" charset="-122"/>
                </a:rPr>
                <a:t>间的任一实数</a:t>
              </a:r>
            </a:p>
          </p:txBody>
        </p: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8D9CF2E1-5CFF-BA92-B6BA-2EC02A1D86F3}"/>
              </a:ext>
            </a:extLst>
          </p:cNvPr>
          <p:cNvSpPr txBox="1"/>
          <p:nvPr/>
        </p:nvSpPr>
        <p:spPr>
          <a:xfrm>
            <a:off x="706714" y="4843751"/>
            <a:ext cx="127878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离散型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012868B-B857-B62C-226B-91C28C0033B2}"/>
              </a:ext>
            </a:extLst>
          </p:cNvPr>
          <p:cNvSpPr txBox="1"/>
          <p:nvPr/>
        </p:nvSpPr>
        <p:spPr>
          <a:xfrm>
            <a:off x="6318633" y="4843751"/>
            <a:ext cx="127878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连续型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graphicFrame>
        <p:nvGraphicFramePr>
          <p:cNvPr id="29" name="表格 29">
            <a:extLst>
              <a:ext uri="{FF2B5EF4-FFF2-40B4-BE49-F238E27FC236}">
                <a16:creationId xmlns:a16="http://schemas.microsoft.com/office/drawing/2014/main" id="{F00B84CD-5F4D-940A-F5AE-7C84E00F2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5811224"/>
              </p:ext>
            </p:extLst>
          </p:nvPr>
        </p:nvGraphicFramePr>
        <p:xfrm>
          <a:off x="2253282" y="3206117"/>
          <a:ext cx="3487974" cy="741680"/>
        </p:xfrm>
        <a:graphic>
          <a:graphicData uri="http://schemas.openxmlformats.org/drawingml/2006/table">
            <a:tbl>
              <a:tblPr firstCol="1" bandRow="1">
                <a:tableStyleId>{073A0DAA-6AF3-43AB-8588-CEC1D06C72B9}</a:tableStyleId>
              </a:tblPr>
              <a:tblGrid>
                <a:gridCol w="498282">
                  <a:extLst>
                    <a:ext uri="{9D8B030D-6E8A-4147-A177-3AD203B41FA5}">
                      <a16:colId xmlns:a16="http://schemas.microsoft.com/office/drawing/2014/main" val="1372906259"/>
                    </a:ext>
                  </a:extLst>
                </a:gridCol>
                <a:gridCol w="498282">
                  <a:extLst>
                    <a:ext uri="{9D8B030D-6E8A-4147-A177-3AD203B41FA5}">
                      <a16:colId xmlns:a16="http://schemas.microsoft.com/office/drawing/2014/main" val="1252245063"/>
                    </a:ext>
                  </a:extLst>
                </a:gridCol>
                <a:gridCol w="498282">
                  <a:extLst>
                    <a:ext uri="{9D8B030D-6E8A-4147-A177-3AD203B41FA5}">
                      <a16:colId xmlns:a16="http://schemas.microsoft.com/office/drawing/2014/main" val="811095480"/>
                    </a:ext>
                  </a:extLst>
                </a:gridCol>
                <a:gridCol w="498282">
                  <a:extLst>
                    <a:ext uri="{9D8B030D-6E8A-4147-A177-3AD203B41FA5}">
                      <a16:colId xmlns:a16="http://schemas.microsoft.com/office/drawing/2014/main" val="389155612"/>
                    </a:ext>
                  </a:extLst>
                </a:gridCol>
                <a:gridCol w="498282">
                  <a:extLst>
                    <a:ext uri="{9D8B030D-6E8A-4147-A177-3AD203B41FA5}">
                      <a16:colId xmlns:a16="http://schemas.microsoft.com/office/drawing/2014/main" val="3961906454"/>
                    </a:ext>
                  </a:extLst>
                </a:gridCol>
                <a:gridCol w="498282">
                  <a:extLst>
                    <a:ext uri="{9D8B030D-6E8A-4147-A177-3AD203B41FA5}">
                      <a16:colId xmlns:a16="http://schemas.microsoft.com/office/drawing/2014/main" val="2097563920"/>
                    </a:ext>
                  </a:extLst>
                </a:gridCol>
                <a:gridCol w="498282">
                  <a:extLst>
                    <a:ext uri="{9D8B030D-6E8A-4147-A177-3AD203B41FA5}">
                      <a16:colId xmlns:a16="http://schemas.microsoft.com/office/drawing/2014/main" val="4143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X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2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3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4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5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6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381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P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1/6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1/6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1/6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1/6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1/6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1/6</a:t>
                      </a:r>
                      <a:endParaRPr lang="zh-CN" altLang="en-US" sz="1400" dirty="0">
                        <a:latin typeface="Cambria Math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12493336"/>
                  </a:ext>
                </a:extLst>
              </a:tr>
            </a:tbl>
          </a:graphicData>
        </a:graphic>
      </p:graphicFrame>
      <p:sp>
        <p:nvSpPr>
          <p:cNvPr id="33" name="文本框 32">
            <a:extLst>
              <a:ext uri="{FF2B5EF4-FFF2-40B4-BE49-F238E27FC236}">
                <a16:creationId xmlns:a16="http://schemas.microsoft.com/office/drawing/2014/main" id="{DF6E7632-3304-3801-70F9-A0119D92F4C3}"/>
              </a:ext>
            </a:extLst>
          </p:cNvPr>
          <p:cNvSpPr txBox="1"/>
          <p:nvPr/>
        </p:nvSpPr>
        <p:spPr>
          <a:xfrm>
            <a:off x="3098211" y="3982772"/>
            <a:ext cx="1798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u="sng" dirty="0">
                <a:latin typeface="楷体" panose="02010609060101010101" pitchFamily="49" charset="-122"/>
                <a:ea typeface="楷体" panose="02010609060101010101" pitchFamily="49" charset="-122"/>
              </a:rPr>
              <a:t>分布列</a:t>
            </a:r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768DDFFD-D31A-3476-4BDD-D3322B06831E}"/>
              </a:ext>
            </a:extLst>
          </p:cNvPr>
          <p:cNvGrpSpPr/>
          <p:nvPr/>
        </p:nvGrpSpPr>
        <p:grpSpPr>
          <a:xfrm>
            <a:off x="2417379" y="4573253"/>
            <a:ext cx="3312253" cy="924706"/>
            <a:chOff x="2417379" y="4532528"/>
            <a:chExt cx="3312253" cy="92470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046B771-A6EF-2B2F-618D-420C59B0EB4A}"/>
                    </a:ext>
                  </a:extLst>
                </p:cNvPr>
                <p:cNvSpPr txBox="1"/>
                <p:nvPr/>
              </p:nvSpPr>
              <p:spPr>
                <a:xfrm>
                  <a:off x="2417379" y="4532528"/>
                  <a:ext cx="3312253" cy="5203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  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=1,2,3,4,5,6)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0046B771-A6EF-2B2F-618D-420C59B0EB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7379" y="4532528"/>
                  <a:ext cx="3312253" cy="5203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D365FE9-0DD0-F67F-8EC4-AD56958C8736}"/>
                </a:ext>
              </a:extLst>
            </p:cNvPr>
            <p:cNvSpPr txBox="1"/>
            <p:nvPr/>
          </p:nvSpPr>
          <p:spPr>
            <a:xfrm>
              <a:off x="3098211" y="5087902"/>
              <a:ext cx="179811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u="sng" dirty="0">
                  <a:latin typeface="楷体" panose="02010609060101010101" pitchFamily="49" charset="-122"/>
                  <a:ea typeface="楷体" panose="02010609060101010101" pitchFamily="49" charset="-122"/>
                </a:rPr>
                <a:t>分布律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174F66F-67B7-317A-AD8E-DE70A3124D20}"/>
                  </a:ext>
                </a:extLst>
              </p:cNvPr>
              <p:cNvSpPr txBox="1"/>
              <p:nvPr/>
            </p:nvSpPr>
            <p:spPr>
              <a:xfrm>
                <a:off x="8859454" y="5128444"/>
                <a:ext cx="1798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密度函数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7174F66F-67B7-317A-AD8E-DE70A3124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9454" y="5128444"/>
                <a:ext cx="1798116" cy="369332"/>
              </a:xfrm>
              <a:prstGeom prst="rect">
                <a:avLst/>
              </a:prstGeom>
              <a:blipFill>
                <a:blip r:embed="rId8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D0725BC5-5824-EFC6-8582-02307FB3C597}"/>
              </a:ext>
            </a:extLst>
          </p:cNvPr>
          <p:cNvCxnSpPr>
            <a:cxnSpLocks/>
          </p:cNvCxnSpPr>
          <p:nvPr/>
        </p:nvCxnSpPr>
        <p:spPr>
          <a:xfrm>
            <a:off x="10609182" y="3840480"/>
            <a:ext cx="0" cy="1003271"/>
          </a:xfrm>
          <a:prstGeom prst="line">
            <a:avLst/>
          </a:prstGeom>
          <a:ln w="12700">
            <a:solidFill>
              <a:schemeClr val="accent5">
                <a:lumMod val="40000"/>
                <a:lumOff val="6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>
            <a:extLst>
              <a:ext uri="{FF2B5EF4-FFF2-40B4-BE49-F238E27FC236}">
                <a16:creationId xmlns:a16="http://schemas.microsoft.com/office/drawing/2014/main" id="{630B9695-EEDE-13DA-6020-3ADE383B4667}"/>
              </a:ext>
            </a:extLst>
          </p:cNvPr>
          <p:cNvSpPr/>
          <p:nvPr/>
        </p:nvSpPr>
        <p:spPr>
          <a:xfrm>
            <a:off x="8467864" y="3840480"/>
            <a:ext cx="360000" cy="10032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52CB91B7-5E55-C55F-014A-023F60DB5A77}"/>
              </a:ext>
            </a:extLst>
          </p:cNvPr>
          <p:cNvCxnSpPr>
            <a:cxnSpLocks/>
          </p:cNvCxnSpPr>
          <p:nvPr/>
        </p:nvCxnSpPr>
        <p:spPr>
          <a:xfrm>
            <a:off x="8459669" y="3840480"/>
            <a:ext cx="215856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4983BA0B-C4B7-8F3A-65F7-32D71324F7BA}"/>
              </a:ext>
            </a:extLst>
          </p:cNvPr>
          <p:cNvGrpSpPr/>
          <p:nvPr/>
        </p:nvGrpSpPr>
        <p:grpSpPr>
          <a:xfrm>
            <a:off x="7913745" y="3206117"/>
            <a:ext cx="3453704" cy="1960799"/>
            <a:chOff x="7913745" y="3206117"/>
            <a:chExt cx="3453704" cy="1960799"/>
          </a:xfrm>
        </p:grpSpPr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734B2C71-D659-155E-4173-B08D2E7E597B}"/>
                </a:ext>
              </a:extLst>
            </p:cNvPr>
            <p:cNvCxnSpPr>
              <a:cxnSpLocks/>
            </p:cNvCxnSpPr>
            <p:nvPr/>
          </p:nvCxnSpPr>
          <p:spPr>
            <a:xfrm>
              <a:off x="8079697" y="4843751"/>
              <a:ext cx="321289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A4293B64-9BA3-B885-9B93-2C622D54F9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669" y="3206117"/>
              <a:ext cx="0" cy="196079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F16888F-2EA4-EB08-7C4D-4D0903A77508}"/>
                    </a:ext>
                  </a:extLst>
                </p:cNvPr>
                <p:cNvSpPr txBox="1"/>
                <p:nvPr/>
              </p:nvSpPr>
              <p:spPr>
                <a:xfrm>
                  <a:off x="8166636" y="4885637"/>
                  <a:ext cx="22365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7F16888F-2EA4-EB08-7C4D-4D0903A775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636" y="4885637"/>
                  <a:ext cx="223651" cy="276999"/>
                </a:xfrm>
                <a:prstGeom prst="rect">
                  <a:avLst/>
                </a:prstGeom>
                <a:blipFill>
                  <a:blip r:embed="rId9"/>
                  <a:stretch>
                    <a:fillRect l="-25000" r="-22222"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99C5964-0F44-5B86-16B8-DBD89182A6F4}"/>
                    </a:ext>
                  </a:extLst>
                </p:cNvPr>
                <p:cNvSpPr txBox="1"/>
                <p:nvPr/>
              </p:nvSpPr>
              <p:spPr>
                <a:xfrm>
                  <a:off x="11196120" y="4882223"/>
                  <a:ext cx="17132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C99C5964-0F44-5B86-16B8-DBD89182A6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120" y="4882223"/>
                  <a:ext cx="171329" cy="246221"/>
                </a:xfrm>
                <a:prstGeom prst="rect">
                  <a:avLst/>
                </a:prstGeom>
                <a:blipFill>
                  <a:blip r:embed="rId10"/>
                  <a:stretch>
                    <a:fillRect l="-14286" r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BB48199-BF46-B6F3-02C7-A081DAAD48C7}"/>
                    </a:ext>
                  </a:extLst>
                </p:cNvPr>
                <p:cNvSpPr txBox="1"/>
                <p:nvPr/>
              </p:nvSpPr>
              <p:spPr>
                <a:xfrm>
                  <a:off x="7913745" y="3206117"/>
                  <a:ext cx="45756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8BB48199-BF46-B6F3-02C7-A081DAAD4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3745" y="3206117"/>
                  <a:ext cx="457561" cy="246221"/>
                </a:xfrm>
                <a:prstGeom prst="rect">
                  <a:avLst/>
                </a:prstGeom>
                <a:blipFill>
                  <a:blip r:embed="rId11"/>
                  <a:stretch>
                    <a:fillRect l="-9333" r="-14667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F674B80-EEB8-2913-E3F4-F3BDAAB16496}"/>
                  </a:ext>
                </a:extLst>
              </p:cNvPr>
              <p:cNvSpPr txBox="1"/>
              <p:nvPr/>
            </p:nvSpPr>
            <p:spPr>
              <a:xfrm>
                <a:off x="10530191" y="4901025"/>
                <a:ext cx="1713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AF674B80-EEB8-2913-E3F4-F3BDAAB164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0191" y="4901025"/>
                <a:ext cx="171329" cy="246221"/>
              </a:xfrm>
              <a:prstGeom prst="rect">
                <a:avLst/>
              </a:prstGeom>
              <a:blipFill>
                <a:blip r:embed="rId12"/>
                <a:stretch>
                  <a:fillRect l="-21429" r="-2500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1FCD6DA-3EE1-9A2D-0E82-2647D2E7FCF8}"/>
                  </a:ext>
                </a:extLst>
              </p:cNvPr>
              <p:cNvSpPr txBox="1"/>
              <p:nvPr/>
            </p:nvSpPr>
            <p:spPr>
              <a:xfrm>
                <a:off x="8246858" y="3665881"/>
                <a:ext cx="142668" cy="3491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altLang="zh-CN" sz="1600" dirty="0"/>
                  <a:t> </a:t>
                </a: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F1FCD6DA-3EE1-9A2D-0E82-2647D2E7FC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6858" y="3665881"/>
                <a:ext cx="142668" cy="349198"/>
              </a:xfrm>
              <a:prstGeom prst="rect">
                <a:avLst/>
              </a:prstGeom>
              <a:blipFill>
                <a:blip r:embed="rId13"/>
                <a:stretch>
                  <a:fillRect l="-34783" b="-120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956AC71-8501-7A4F-9718-E7C694CAC337}"/>
                  </a:ext>
                </a:extLst>
              </p:cNvPr>
              <p:cNvSpPr txBox="1"/>
              <p:nvPr/>
            </p:nvSpPr>
            <p:spPr>
              <a:xfrm>
                <a:off x="8738352" y="4901025"/>
                <a:ext cx="171329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F956AC71-8501-7A4F-9718-E7C694CAC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8352" y="4901025"/>
                <a:ext cx="171329" cy="246221"/>
              </a:xfrm>
              <a:prstGeom prst="rect">
                <a:avLst/>
              </a:prstGeom>
              <a:blipFill>
                <a:blip r:embed="rId14"/>
                <a:stretch>
                  <a:fillRect l="-20690" r="-20690"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0" name="组合 79">
            <a:extLst>
              <a:ext uri="{FF2B5EF4-FFF2-40B4-BE49-F238E27FC236}">
                <a16:creationId xmlns:a16="http://schemas.microsoft.com/office/drawing/2014/main" id="{2EE2D45E-D7E0-3F58-054E-3AF604BE936A}"/>
              </a:ext>
            </a:extLst>
          </p:cNvPr>
          <p:cNvGrpSpPr/>
          <p:nvPr/>
        </p:nvGrpSpPr>
        <p:grpSpPr>
          <a:xfrm>
            <a:off x="8777749" y="3865713"/>
            <a:ext cx="1761289" cy="918649"/>
            <a:chOff x="8777749" y="3884503"/>
            <a:chExt cx="1761289" cy="918649"/>
          </a:xfrm>
        </p:grpSpPr>
        <p:cxnSp>
          <p:nvCxnSpPr>
            <p:cNvPr id="78" name="直接箭头连接符 77">
              <a:extLst>
                <a:ext uri="{FF2B5EF4-FFF2-40B4-BE49-F238E27FC236}">
                  <a16:creationId xmlns:a16="http://schemas.microsoft.com/office/drawing/2014/main" id="{3B5289A0-AAB9-8F6E-B60C-E3E5EE5860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77749" y="4383161"/>
              <a:ext cx="408038" cy="0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A9A5241-95AE-8403-69C7-07B5CEE315F6}"/>
                    </a:ext>
                  </a:extLst>
                </p:cNvPr>
                <p:cNvSpPr txBox="1"/>
                <p:nvPr/>
              </p:nvSpPr>
              <p:spPr>
                <a:xfrm>
                  <a:off x="9181634" y="3884503"/>
                  <a:ext cx="1357404" cy="9186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≤1</m:t>
                          </m:r>
                        </m:e>
                      </m:d>
                    </m:oMath>
                  </a14:m>
                  <a:r>
                    <a:rPr lang="en-US" altLang="zh-CN" sz="1600" b="0" i="1" dirty="0">
                      <a:solidFill>
                        <a:schemeClr val="accent5"/>
                      </a:solidFill>
                      <a:latin typeface="Cambria Math" panose="02040503050406030204" pitchFamily="18" charset="0"/>
                      <a:ea typeface="Cambria Math" panose="02040503050406030204" pitchFamily="18" charset="0"/>
                    </a:rPr>
                    <a:t> </a:t>
                  </a:r>
                </a:p>
                <a:p>
                  <a:pPr>
                    <a:lnSpc>
                      <a:spcPct val="150000"/>
                    </a:lnSpc>
                  </a:pP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16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𝑑𝑥</m:t>
                      </m:r>
                    </m:oMath>
                  </a14:m>
                  <a:r>
                    <a:rPr lang="zh-CN" altLang="en-US" sz="1600" dirty="0">
                      <a:solidFill>
                        <a:schemeClr val="accent5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9A9A5241-95AE-8403-69C7-07B5CEE315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1634" y="3884503"/>
                  <a:ext cx="1357404" cy="918649"/>
                </a:xfrm>
                <a:prstGeom prst="rect">
                  <a:avLst/>
                </a:prstGeom>
                <a:blipFill>
                  <a:blip r:embed="rId15"/>
                  <a:stretch>
                    <a:fillRect l="-10314" b="-7483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AAA62F3F-1ABE-23ED-61D2-A1A9594B506D}"/>
              </a:ext>
            </a:extLst>
          </p:cNvPr>
          <p:cNvSpPr/>
          <p:nvPr/>
        </p:nvSpPr>
        <p:spPr>
          <a:xfrm>
            <a:off x="686184" y="3044927"/>
            <a:ext cx="5254249" cy="26143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F6A31B34-8FC0-D32B-3ABA-CD67F1187A3A}"/>
              </a:ext>
            </a:extLst>
          </p:cNvPr>
          <p:cNvGrpSpPr/>
          <p:nvPr/>
        </p:nvGrpSpPr>
        <p:grpSpPr>
          <a:xfrm>
            <a:off x="2939133" y="3306111"/>
            <a:ext cx="3078662" cy="2111429"/>
            <a:chOff x="3025352" y="3279642"/>
            <a:chExt cx="3078662" cy="2111429"/>
          </a:xfrm>
        </p:grpSpPr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65ED2A53-F26B-60DF-56F9-F5F6CBD0F94A}"/>
                </a:ext>
              </a:extLst>
            </p:cNvPr>
            <p:cNvSpPr/>
            <p:nvPr/>
          </p:nvSpPr>
          <p:spPr>
            <a:xfrm>
              <a:off x="3850267" y="3311404"/>
              <a:ext cx="1327028" cy="87584"/>
            </a:xfrm>
            <a:prstGeom prst="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57000">
                  <a:schemeClr val="accent1">
                    <a:lumMod val="60000"/>
                    <a:lumOff val="40000"/>
                  </a:schemeClr>
                </a:gs>
                <a:gs pos="21000">
                  <a:schemeClr val="accent1">
                    <a:lumMod val="20000"/>
                    <a:lumOff val="80000"/>
                  </a:schemeClr>
                </a:gs>
                <a:gs pos="39000">
                  <a:schemeClr val="accent1">
                    <a:lumMod val="50000"/>
                  </a:schemeClr>
                </a:gs>
                <a:gs pos="100000">
                  <a:schemeClr val="accent1">
                    <a:lumMod val="20000"/>
                    <a:lumOff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9D12168A-E3F0-4224-F4AA-E3BC6CA3441A}"/>
                </a:ext>
              </a:extLst>
            </p:cNvPr>
            <p:cNvGrpSpPr/>
            <p:nvPr/>
          </p:nvGrpSpPr>
          <p:grpSpPr>
            <a:xfrm>
              <a:off x="3649699" y="3389669"/>
              <a:ext cx="1855783" cy="271186"/>
              <a:chOff x="990536" y="3355082"/>
              <a:chExt cx="1855783" cy="271186"/>
            </a:xfrm>
          </p:grpSpPr>
          <p:cxnSp>
            <p:nvCxnSpPr>
              <p:cNvPr id="99" name="直接箭头连接符 98">
                <a:extLst>
                  <a:ext uri="{FF2B5EF4-FFF2-40B4-BE49-F238E27FC236}">
                    <a16:creationId xmlns:a16="http://schemas.microsoft.com/office/drawing/2014/main" id="{71C0645A-D5D4-634E-A31D-69CEFBE22CF9}"/>
                  </a:ext>
                </a:extLst>
              </p:cNvPr>
              <p:cNvCxnSpPr/>
              <p:nvPr/>
            </p:nvCxnSpPr>
            <p:spPr>
              <a:xfrm>
                <a:off x="1042784" y="3368615"/>
                <a:ext cx="1729237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780435EC-3513-7FA5-F288-B66AE55DDF61}"/>
                      </a:ext>
                    </a:extLst>
                  </p:cNvPr>
                  <p:cNvSpPr txBox="1"/>
                  <p:nvPr/>
                </p:nvSpPr>
                <p:spPr>
                  <a:xfrm>
                    <a:off x="2674990" y="3355082"/>
                    <a:ext cx="17132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00" name="文本框 99">
                    <a:extLst>
                      <a:ext uri="{FF2B5EF4-FFF2-40B4-BE49-F238E27FC236}">
                        <a16:creationId xmlns:a16="http://schemas.microsoft.com/office/drawing/2014/main" id="{780435EC-3513-7FA5-F288-B66AE55DDF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74990" y="3355082"/>
                    <a:ext cx="171329" cy="246221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4286" r="-10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6BAD8084-F872-C9CA-0FC7-00D93C4D0665}"/>
                      </a:ext>
                    </a:extLst>
                  </p:cNvPr>
                  <p:cNvSpPr txBox="1"/>
                  <p:nvPr/>
                </p:nvSpPr>
                <p:spPr>
                  <a:xfrm>
                    <a:off x="990536" y="3380047"/>
                    <a:ext cx="20056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01" name="文本框 100">
                    <a:extLst>
                      <a:ext uri="{FF2B5EF4-FFF2-40B4-BE49-F238E27FC236}">
                        <a16:creationId xmlns:a16="http://schemas.microsoft.com/office/drawing/2014/main" id="{6BAD8084-F872-C9CA-0FC7-00D93C4D066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0536" y="3380047"/>
                    <a:ext cx="200568" cy="246221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1875" r="-18750" b="-48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7E31688F-0876-9E11-0A5C-8661FEABA863}"/>
                </a:ext>
              </a:extLst>
            </p:cNvPr>
            <p:cNvSpPr txBox="1"/>
            <p:nvPr/>
          </p:nvSpPr>
          <p:spPr>
            <a:xfrm>
              <a:off x="3522634" y="3706090"/>
              <a:ext cx="20752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概率</a:t>
              </a:r>
              <a:r>
                <a:rPr lang="zh-CN" altLang="en-US" sz="1400" dirty="0">
                  <a:latin typeface="楷体" panose="02010609060101010101" pitchFamily="49" charset="-122"/>
                  <a:ea typeface="楷体" panose="02010609060101010101" pitchFamily="49" charset="-122"/>
                </a:rPr>
                <a:t>不均匀的区间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D040312D-7E05-B40F-FA3E-F45EBF60F776}"/>
                    </a:ext>
                  </a:extLst>
                </p:cNvPr>
                <p:cNvSpPr txBox="1"/>
                <p:nvPr/>
              </p:nvSpPr>
              <p:spPr>
                <a:xfrm>
                  <a:off x="3376859" y="4099451"/>
                  <a:ext cx="2381716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取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处一小区间</a:t>
                  </a:r>
                  <a14:m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</m:oMath>
                  </a14:m>
                  <a:endParaRPr lang="en-US" altLang="zh-CN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这区间的各部分 概率不同</a:t>
                  </a:r>
                  <a:endPara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D040312D-7E05-B40F-FA3E-F45EBF60F7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6859" y="4099451"/>
                  <a:ext cx="2381716" cy="461665"/>
                </a:xfrm>
                <a:prstGeom prst="rect">
                  <a:avLst/>
                </a:prstGeom>
                <a:blipFill>
                  <a:blip r:embed="rId18"/>
                  <a:stretch>
                    <a:fillRect t="-1316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文本框 103">
              <a:extLst>
                <a:ext uri="{FF2B5EF4-FFF2-40B4-BE49-F238E27FC236}">
                  <a16:creationId xmlns:a16="http://schemas.microsoft.com/office/drawing/2014/main" id="{9E59D5BB-F2D9-03C0-AD90-A1302D6CD263}"/>
                </a:ext>
              </a:extLst>
            </p:cNvPr>
            <p:cNvSpPr txBox="1"/>
            <p:nvPr/>
          </p:nvSpPr>
          <p:spPr>
            <a:xfrm>
              <a:off x="3025352" y="4545926"/>
              <a:ext cx="307866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使小区间无限缩小</a:t>
              </a:r>
              <a:endParaRPr lang="en-US" altLang="zh-CN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zh-CN" altLang="en-US" sz="1200" dirty="0">
                  <a:latin typeface="楷体" panose="02010609060101010101" pitchFamily="49" charset="-122"/>
                  <a:ea typeface="楷体" panose="02010609060101010101" pitchFamily="49" charset="-122"/>
                </a:rPr>
                <a:t>则其 各部分的概率可视为相同</a:t>
              </a:r>
              <a:endParaRPr lang="zh-CN" altLang="en-US" sz="12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DD127ED-6A89-3253-A432-29007CA7059A}"/>
                    </a:ext>
                  </a:extLst>
                </p:cNvPr>
                <p:cNvSpPr txBox="1"/>
                <p:nvPr/>
              </p:nvSpPr>
              <p:spPr>
                <a:xfrm>
                  <a:off x="3260713" y="5032896"/>
                  <a:ext cx="2590021" cy="3581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a14:m>
                  <a:r>
                    <a: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处的</a:t>
                  </a:r>
                  <a:r>
                    <a:rPr lang="zh-CN" altLang="en-US" sz="1200" b="1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概率密度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  <m:r>
                        <a:rPr lang="en-US" altLang="zh-CN" sz="1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unc>
                        <m:funcPr>
                          <m:ctrlPr>
                            <a:rPr lang="en-US" altLang="zh-CN" sz="1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1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→0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US" altLang="zh-CN" sz="1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func>
                    </m:oMath>
                  </a14:m>
                  <a:endPara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8DD127ED-6A89-3253-A432-29007CA705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60713" y="5032896"/>
                  <a:ext cx="2590021" cy="358175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069227C6-FC9E-48D5-4D21-A740A1CCDCEA}"/>
                    </a:ext>
                  </a:extLst>
                </p:cNvPr>
                <p:cNvSpPr txBox="1"/>
                <p:nvPr/>
              </p:nvSpPr>
              <p:spPr>
                <a:xfrm>
                  <a:off x="4216400" y="3412422"/>
                  <a:ext cx="226921" cy="21544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07" name="文本框 106">
                  <a:extLst>
                    <a:ext uri="{FF2B5EF4-FFF2-40B4-BE49-F238E27FC236}">
                      <a16:creationId xmlns:a16="http://schemas.microsoft.com/office/drawing/2014/main" id="{069227C6-FC9E-48D5-4D21-A740A1CCDC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6400" y="3412422"/>
                  <a:ext cx="226921" cy="215444"/>
                </a:xfrm>
                <a:prstGeom prst="rect">
                  <a:avLst/>
                </a:prstGeom>
                <a:blipFill>
                  <a:blip r:embed="rId20"/>
                  <a:stretch>
                    <a:fillRect l="-10811" r="-2703" b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40CF1555-F109-9382-253B-BFCA12C0755E}"/>
                </a:ext>
              </a:extLst>
            </p:cNvPr>
            <p:cNvSpPr/>
            <p:nvPr/>
          </p:nvSpPr>
          <p:spPr>
            <a:xfrm>
              <a:off x="4184611" y="3279642"/>
              <a:ext cx="265966" cy="165194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B1C32AC6-11F6-4D4E-8DCD-DA1D7FF7C31A}"/>
              </a:ext>
            </a:extLst>
          </p:cNvPr>
          <p:cNvGrpSpPr/>
          <p:nvPr/>
        </p:nvGrpSpPr>
        <p:grpSpPr>
          <a:xfrm>
            <a:off x="497192" y="3352222"/>
            <a:ext cx="3078662" cy="2062592"/>
            <a:chOff x="497192" y="1211503"/>
            <a:chExt cx="3078662" cy="2062592"/>
          </a:xfrm>
        </p:grpSpPr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D55390CF-64CC-2DDC-AA25-91A7092656D9}"/>
                </a:ext>
              </a:extLst>
            </p:cNvPr>
            <p:cNvGrpSpPr/>
            <p:nvPr/>
          </p:nvGrpSpPr>
          <p:grpSpPr>
            <a:xfrm>
              <a:off x="497192" y="1212876"/>
              <a:ext cx="3078662" cy="2061219"/>
              <a:chOff x="593441" y="3327126"/>
              <a:chExt cx="3078662" cy="2061219"/>
            </a:xfrm>
          </p:grpSpPr>
          <p:sp>
            <p:nvSpPr>
              <p:cNvPr id="85" name="文本框 84">
                <a:extLst>
                  <a:ext uri="{FF2B5EF4-FFF2-40B4-BE49-F238E27FC236}">
                    <a16:creationId xmlns:a16="http://schemas.microsoft.com/office/drawing/2014/main" id="{C817815D-14AE-EFA2-7BC6-B3B5A5A59B84}"/>
                  </a:ext>
                </a:extLst>
              </p:cNvPr>
              <p:cNvSpPr txBox="1"/>
              <p:nvPr/>
            </p:nvSpPr>
            <p:spPr>
              <a:xfrm>
                <a:off x="1054149" y="3700439"/>
                <a:ext cx="207521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4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质量</a:t>
                </a: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不均匀的物体</a:t>
                </a:r>
              </a:p>
            </p:txBody>
          </p:sp>
          <p:sp>
            <p:nvSpPr>
              <p:cNvPr id="84" name="圆柱体 83">
                <a:extLst>
                  <a:ext uri="{FF2B5EF4-FFF2-40B4-BE49-F238E27FC236}">
                    <a16:creationId xmlns:a16="http://schemas.microsoft.com/office/drawing/2014/main" id="{96A53E6F-4D5F-83FE-25DE-DBB92565713C}"/>
                  </a:ext>
                </a:extLst>
              </p:cNvPr>
              <p:cNvSpPr/>
              <p:nvPr/>
            </p:nvSpPr>
            <p:spPr>
              <a:xfrm rot="5400000">
                <a:off x="2050268" y="2642005"/>
                <a:ext cx="82982" cy="1453223"/>
              </a:xfrm>
              <a:prstGeom prst="can">
                <a:avLst/>
              </a:prstGeom>
              <a:gradFill>
                <a:gsLst>
                  <a:gs pos="0">
                    <a:schemeClr val="accent2">
                      <a:lumMod val="20000"/>
                      <a:lumOff val="80000"/>
                    </a:schemeClr>
                  </a:gs>
                  <a:gs pos="57000">
                    <a:schemeClr val="accent2">
                      <a:lumMod val="75000"/>
                    </a:schemeClr>
                  </a:gs>
                  <a:gs pos="21000">
                    <a:schemeClr val="accent2">
                      <a:lumMod val="75000"/>
                    </a:schemeClr>
                  </a:gs>
                  <a:gs pos="39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accent2">
                      <a:lumMod val="40000"/>
                      <a:lumOff val="60000"/>
                    </a:schemeClr>
                  </a:gs>
                </a:gsLst>
                <a:lin ang="5400000" scaled="1"/>
              </a:gra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C4FFD2BA-8C9B-2FE7-C52C-5967DB3D7E21}"/>
                      </a:ext>
                    </a:extLst>
                  </p:cNvPr>
                  <p:cNvSpPr txBox="1"/>
                  <p:nvPr/>
                </p:nvSpPr>
                <p:spPr>
                  <a:xfrm>
                    <a:off x="939263" y="4098154"/>
                    <a:ext cx="2381716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取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oMath>
                    </a14:m>
                    <a:r>
                      <a:rPr lang="zh-CN" altLang="en-US" sz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点处一体积元</a:t>
                    </a:r>
                    <a14:m>
                      <m:oMath xmlns:m="http://schemas.openxmlformats.org/officeDocument/2006/math">
                        <m:r>
                          <a:rPr lang="en-US" altLang="zh-CN" sz="1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</m:oMath>
                    </a14:m>
                    <a:endParaRPr lang="en-US" altLang="zh-CN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这体积元的各部分 质量不同</a:t>
                    </a:r>
                    <a:endPara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93" name="文本框 92">
                    <a:extLst>
                      <a:ext uri="{FF2B5EF4-FFF2-40B4-BE49-F238E27FC236}">
                        <a16:creationId xmlns:a16="http://schemas.microsoft.com/office/drawing/2014/main" id="{C4FFD2BA-8C9B-2FE7-C52C-5967DB3D7E2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39263" y="4098154"/>
                    <a:ext cx="2381716" cy="461665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t="-1333" b="-12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863B97ED-0F60-52E8-4AA6-BC980487E25F}"/>
                  </a:ext>
                </a:extLst>
              </p:cNvPr>
              <p:cNvSpPr txBox="1"/>
              <p:nvPr/>
            </p:nvSpPr>
            <p:spPr>
              <a:xfrm>
                <a:off x="593441" y="4550135"/>
                <a:ext cx="307866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1200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使体积元无限缩小</a:t>
                </a:r>
                <a:endParaRPr lang="en-US" altLang="zh-CN" sz="12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sz="12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则其 各部分的质量可视为相同</a:t>
                </a:r>
                <a:endParaRPr lang="zh-CN" altLang="en-US" sz="1200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71C6D7FD-1D11-95FD-9EA9-A7E5955C54D1}"/>
                      </a:ext>
                    </a:extLst>
                  </p:cNvPr>
                  <p:cNvSpPr txBox="1"/>
                  <p:nvPr/>
                </p:nvSpPr>
                <p:spPr>
                  <a:xfrm>
                    <a:off x="819028" y="5030170"/>
                    <a:ext cx="2590021" cy="35817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a14:m>
                    <a:r>
                      <a:rPr lang="zh-CN" altLang="en-US" sz="1200" dirty="0">
                        <a:solidFill>
                          <a:schemeClr val="tx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处的</a:t>
                    </a:r>
                    <a:r>
                      <a:rPr lang="zh-CN" altLang="en-US" sz="1200" b="1" dirty="0">
                        <a:solidFill>
                          <a:srgbClr val="C00000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密度</a:t>
                    </a:r>
                    <a14:m>
                      <m:oMath xmlns:m="http://schemas.openxmlformats.org/officeDocument/2006/math">
                        <m:r>
                          <a:rPr lang="zh-CN" altLang="en-US" sz="1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𝜌</m:t>
                        </m:r>
                        <m:r>
                          <a:rPr lang="en-US" altLang="zh-CN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func>
                          <m:funcPr>
                            <m:ctrlPr>
                              <a:rPr lang="en-US" altLang="zh-CN" sz="1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sz="1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→0</m:t>
                                </m:r>
                              </m:lim>
                            </m:limLow>
                          </m:fName>
                          <m:e>
                            <m:f>
                              <m:fPr>
                                <m:ctrlP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𝑚</m:t>
                                </m:r>
                              </m:num>
                              <m:den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∆</m:t>
                                </m:r>
                                <m:r>
                                  <a:rPr lang="en-US" altLang="zh-CN" sz="1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func>
                      </m:oMath>
                    </a14:m>
                    <a:endParaRPr lang="zh-CN" altLang="en-US" sz="1200" dirty="0">
                      <a:solidFill>
                        <a:schemeClr val="tx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97" name="文本框 96">
                    <a:extLst>
                      <a:ext uri="{FF2B5EF4-FFF2-40B4-BE49-F238E27FC236}">
                        <a16:creationId xmlns:a16="http://schemas.microsoft.com/office/drawing/2014/main" id="{71C6D7FD-1D11-95FD-9EA9-A7E5955C54D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9028" y="5030170"/>
                    <a:ext cx="2590021" cy="358175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172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50664B72-A702-8000-BB19-5FEF385B6485}"/>
                </a:ext>
              </a:extLst>
            </p:cNvPr>
            <p:cNvGrpSpPr/>
            <p:nvPr/>
          </p:nvGrpSpPr>
          <p:grpSpPr>
            <a:xfrm>
              <a:off x="1731170" y="1211503"/>
              <a:ext cx="262493" cy="342903"/>
              <a:chOff x="1731170" y="1211503"/>
              <a:chExt cx="262493" cy="342903"/>
            </a:xfrm>
          </p:grpSpPr>
          <p:sp>
            <p:nvSpPr>
              <p:cNvPr id="91" name="圆柱体 90">
                <a:extLst>
                  <a:ext uri="{FF2B5EF4-FFF2-40B4-BE49-F238E27FC236}">
                    <a16:creationId xmlns:a16="http://schemas.microsoft.com/office/drawing/2014/main" id="{69528D6A-FE84-3878-49AA-7DA5052B667B}"/>
                  </a:ext>
                </a:extLst>
              </p:cNvPr>
              <p:cNvSpPr/>
              <p:nvPr/>
            </p:nvSpPr>
            <p:spPr>
              <a:xfrm rot="5400000">
                <a:off x="1879951" y="1180179"/>
                <a:ext cx="82387" cy="145036"/>
              </a:xfrm>
              <a:prstGeom prst="can">
                <a:avLst/>
              </a:prstGeom>
              <a:solidFill>
                <a:schemeClr val="bg1">
                  <a:alpha val="50000"/>
                </a:schemeClr>
              </a:solidFill>
              <a:ln>
                <a:solidFill>
                  <a:srgbClr val="C00000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51AF2C95-314C-522E-B656-A75FFD0B0079}"/>
                      </a:ext>
                    </a:extLst>
                  </p:cNvPr>
                  <p:cNvSpPr txBox="1"/>
                  <p:nvPr/>
                </p:nvSpPr>
                <p:spPr>
                  <a:xfrm>
                    <a:off x="1731170" y="1338962"/>
                    <a:ext cx="16523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92" name="文本框 91">
                    <a:extLst>
                      <a:ext uri="{FF2B5EF4-FFF2-40B4-BE49-F238E27FC236}">
                        <a16:creationId xmlns:a16="http://schemas.microsoft.com/office/drawing/2014/main" id="{51AF2C95-314C-522E-B656-A75FFD0B007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31170" y="1338962"/>
                    <a:ext cx="165238" cy="21544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l="-22222" r="-18519" b="-5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13" name="矩形: 圆角 112">
            <a:extLst>
              <a:ext uri="{FF2B5EF4-FFF2-40B4-BE49-F238E27FC236}">
                <a16:creationId xmlns:a16="http://schemas.microsoft.com/office/drawing/2014/main" id="{5A9DA2CC-2E2F-BADF-C537-7B437331268A}"/>
              </a:ext>
            </a:extLst>
          </p:cNvPr>
          <p:cNvSpPr/>
          <p:nvPr/>
        </p:nvSpPr>
        <p:spPr>
          <a:xfrm>
            <a:off x="6490020" y="3686389"/>
            <a:ext cx="928154" cy="219631"/>
          </a:xfrm>
          <a:prstGeom prst="roundRect">
            <a:avLst/>
          </a:prstGeom>
          <a:solidFill>
            <a:schemeClr val="bg1">
              <a:alpha val="75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900" dirty="0">
                <a:solidFill>
                  <a:schemeClr val="tx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随机数产生器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96258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1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 animBg="1"/>
      <p:bldP spid="28" grpId="0" animBg="1"/>
      <p:bldP spid="33" grpId="0"/>
      <p:bldP spid="57" grpId="0"/>
      <p:bldP spid="75" grpId="0" animBg="1"/>
      <p:bldP spid="72" grpId="0"/>
      <p:bldP spid="73" grpId="0"/>
      <p:bldP spid="76" grpId="0"/>
      <p:bldP spid="82" grpId="0" animBg="1"/>
      <p:bldP spid="82" grpId="1" animBg="1"/>
      <p:bldP spid="1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73E5200-BC96-5512-1601-5E4A10A1A002}"/>
              </a:ext>
            </a:extLst>
          </p:cNvPr>
          <p:cNvSpPr/>
          <p:nvPr/>
        </p:nvSpPr>
        <p:spPr>
          <a:xfrm>
            <a:off x="6190096" y="2514527"/>
            <a:ext cx="5425538" cy="279260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2" name="组合 311">
            <a:extLst>
              <a:ext uri="{FF2B5EF4-FFF2-40B4-BE49-F238E27FC236}">
                <a16:creationId xmlns:a16="http://schemas.microsoft.com/office/drawing/2014/main" id="{775C3915-D832-D3CA-68BB-64B72E63FB67}"/>
              </a:ext>
            </a:extLst>
          </p:cNvPr>
          <p:cNvGrpSpPr/>
          <p:nvPr/>
        </p:nvGrpSpPr>
        <p:grpSpPr>
          <a:xfrm>
            <a:off x="6490020" y="2707126"/>
            <a:ext cx="928154" cy="806739"/>
            <a:chOff x="6490020" y="2707126"/>
            <a:chExt cx="928154" cy="806739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6416B5E6-A4E4-3C64-158C-45545EE9542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48" t="5175" r="2627" b="5529"/>
            <a:stretch/>
          </p:blipFill>
          <p:spPr>
            <a:xfrm>
              <a:off x="6630765" y="2707126"/>
              <a:ext cx="703621" cy="719493"/>
            </a:xfrm>
            <a:prstGeom prst="rect">
              <a:avLst/>
            </a:prstGeom>
          </p:spPr>
        </p:pic>
        <p:sp>
          <p:nvSpPr>
            <p:cNvPr id="311" name="矩形: 圆角 310">
              <a:extLst>
                <a:ext uri="{FF2B5EF4-FFF2-40B4-BE49-F238E27FC236}">
                  <a16:creationId xmlns:a16="http://schemas.microsoft.com/office/drawing/2014/main" id="{205CA449-0DD5-FC0A-5D1F-E4C4FDDB1814}"/>
                </a:ext>
              </a:extLst>
            </p:cNvPr>
            <p:cNvSpPr/>
            <p:nvPr/>
          </p:nvSpPr>
          <p:spPr>
            <a:xfrm>
              <a:off x="6490020" y="3294234"/>
              <a:ext cx="928154" cy="219631"/>
            </a:xfrm>
            <a:prstGeom prst="roundRect">
              <a:avLst/>
            </a:prstGeom>
            <a:solidFill>
              <a:schemeClr val="bg1">
                <a:alpha val="75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随机数产生器</a:t>
              </a:r>
            </a:p>
          </p:txBody>
        </p:sp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7D9FA45C-501E-9BF9-FD81-229031FA05D0}"/>
              </a:ext>
            </a:extLst>
          </p:cNvPr>
          <p:cNvGrpSpPr/>
          <p:nvPr/>
        </p:nvGrpSpPr>
        <p:grpSpPr>
          <a:xfrm>
            <a:off x="2072267" y="2752839"/>
            <a:ext cx="3718348" cy="1960799"/>
            <a:chOff x="2072267" y="2791311"/>
            <a:chExt cx="3718348" cy="1960799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A38631B-BEBD-A764-C261-ADA745C035AC}"/>
                </a:ext>
              </a:extLst>
            </p:cNvPr>
            <p:cNvGrpSpPr/>
            <p:nvPr/>
          </p:nvGrpSpPr>
          <p:grpSpPr>
            <a:xfrm>
              <a:off x="2360241" y="3124924"/>
              <a:ext cx="3251451" cy="246221"/>
              <a:chOff x="2538861" y="3124924"/>
              <a:chExt cx="2848078" cy="246221"/>
            </a:xfrm>
          </p:grpSpPr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CEE849A3-425C-B6FA-238E-AA1030E37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29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15B3FCE7-1F9B-8C6D-195B-09E50F0BC7E1}"/>
                      </a:ext>
                    </a:extLst>
                  </p:cNvPr>
                  <p:cNvSpPr txBox="1"/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zh-CN" sz="1600" dirty="0"/>
                  </a:p>
                </p:txBody>
              </p:sp>
            </mc:Choice>
            <mc:Fallback xmlns=""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15B3FCE7-1F9B-8C6D-195B-09E50F0BC7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500" r="-15625" b="-48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026414A8-6BAD-43CD-CA00-68C53077C6BE}"/>
                </a:ext>
              </a:extLst>
            </p:cNvPr>
            <p:cNvGrpSpPr/>
            <p:nvPr/>
          </p:nvGrpSpPr>
          <p:grpSpPr>
            <a:xfrm>
              <a:off x="2309418" y="3363014"/>
              <a:ext cx="3302274" cy="184666"/>
              <a:chOff x="2488037" y="3164151"/>
              <a:chExt cx="3302274" cy="184666"/>
            </a:xfrm>
          </p:grpSpPr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14DAAD09-3FC6-460F-D82B-68F105F03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文本框 85">
                    <a:extLst>
                      <a:ext uri="{FF2B5EF4-FFF2-40B4-BE49-F238E27FC236}">
                        <a16:creationId xmlns:a16="http://schemas.microsoft.com/office/drawing/2014/main" id="{FAEE5301-D531-1735-771E-51F415D8F4A4}"/>
                      </a:ext>
                    </a:extLst>
                  </p:cNvPr>
                  <p:cNvSpPr txBox="1"/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86" name="文本框 85">
                    <a:extLst>
                      <a:ext uri="{FF2B5EF4-FFF2-40B4-BE49-F238E27FC236}">
                        <a16:creationId xmlns:a16="http://schemas.microsoft.com/office/drawing/2014/main" id="{FAEE5301-D531-1735-771E-51F415D8F4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766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86ECD0E9-0F55-3E1C-AE1F-C090EC6490F9}"/>
                </a:ext>
              </a:extLst>
            </p:cNvPr>
            <p:cNvGrpSpPr/>
            <p:nvPr/>
          </p:nvGrpSpPr>
          <p:grpSpPr>
            <a:xfrm>
              <a:off x="2296675" y="3564571"/>
              <a:ext cx="3315017" cy="184666"/>
              <a:chOff x="2475294" y="3161810"/>
              <a:chExt cx="3315017" cy="184666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005380A9-B1F3-4FEF-0EBD-4E9F9782ED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F7006C46-FFAD-CBDB-839F-B1F96655D9FC}"/>
                      </a:ext>
                    </a:extLst>
                  </p:cNvPr>
                  <p:cNvSpPr txBox="1"/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F7006C46-FFAD-CBDB-839F-B1F96655D9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638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65281129-2976-E7A8-5A67-96BDCF102A32}"/>
                </a:ext>
              </a:extLst>
            </p:cNvPr>
            <p:cNvGrpSpPr/>
            <p:nvPr/>
          </p:nvGrpSpPr>
          <p:grpSpPr>
            <a:xfrm>
              <a:off x="2293515" y="3762482"/>
              <a:ext cx="3318177" cy="184666"/>
              <a:chOff x="2472134" y="3157080"/>
              <a:chExt cx="3318177" cy="184666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42AEA605-943D-D989-B547-B81AABE9F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E0D554E8-F8AE-3A9B-534C-40A024C68A05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E0D554E8-F8AE-3A9B-534C-40A024C68A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0638" t="-3333" r="-12766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5D66362A-2D91-AAAA-48A9-20BB58A15BCC}"/>
                </a:ext>
              </a:extLst>
            </p:cNvPr>
            <p:cNvGrpSpPr/>
            <p:nvPr/>
          </p:nvGrpSpPr>
          <p:grpSpPr>
            <a:xfrm>
              <a:off x="2277841" y="3960080"/>
              <a:ext cx="3333850" cy="184666"/>
              <a:chOff x="2458366" y="3161231"/>
              <a:chExt cx="2928575" cy="184666"/>
            </a:xfrm>
          </p:grpSpPr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7F26369D-1653-D4E4-6BB9-977562A844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3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52BB269F-CA47-1FB6-5C31-9228144C4D99}"/>
                      </a:ext>
                    </a:extLst>
                  </p:cNvPr>
                  <p:cNvSpPr txBox="1"/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52BB269F-CA47-1FB6-5C31-9228144C4D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774" t="-3226" r="-5660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77F13090-A57D-888C-3782-4AF291A874DD}"/>
                </a:ext>
              </a:extLst>
            </p:cNvPr>
            <p:cNvGrpSpPr/>
            <p:nvPr/>
          </p:nvGrpSpPr>
          <p:grpSpPr>
            <a:xfrm>
              <a:off x="2293514" y="4162797"/>
              <a:ext cx="3318178" cy="184666"/>
              <a:chOff x="2472133" y="3164033"/>
              <a:chExt cx="3318178" cy="184666"/>
            </a:xfrm>
          </p:grpSpPr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BCB4E111-C7E3-2EBA-7C0A-81643AB64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1562DC5-ADEA-D2AD-D717-7EA54A3C921A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1562DC5-ADEA-D2AD-D717-7EA54A3C92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0638" t="-6667" r="-12766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9BE3A4EB-A07B-1CA4-0AE2-7AED397F8E1A}"/>
                </a:ext>
              </a:extLst>
            </p:cNvPr>
            <p:cNvGrpSpPr/>
            <p:nvPr/>
          </p:nvGrpSpPr>
          <p:grpSpPr>
            <a:xfrm>
              <a:off x="2072267" y="2791311"/>
              <a:ext cx="3718348" cy="1960799"/>
              <a:chOff x="7913745" y="3206117"/>
              <a:chExt cx="3718348" cy="1960799"/>
            </a:xfrm>
          </p:grpSpPr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DAEB69AF-90C5-920B-54BA-54CA7D06D3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9697" y="4843751"/>
                <a:ext cx="3511441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5A10D064-0B4B-9DA0-3F20-8B58A08AF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9669" y="3206117"/>
                <a:ext cx="0" cy="196079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5CC8B61C-1ECD-BACD-9069-979ADB8B40A7}"/>
                      </a:ext>
                    </a:extLst>
                  </p:cNvPr>
                  <p:cNvSpPr txBox="1"/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5CC8B61C-1ECD-BACD-9069-979ADB8B40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1622" r="-2162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E64A621D-34EA-89B2-8B71-CD5E6BBB2624}"/>
                      </a:ext>
                    </a:extLst>
                  </p:cNvPr>
                  <p:cNvSpPr txBox="1"/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E64A621D-34EA-89B2-8B71-CD5E6BBB26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10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1E2FA60A-3D62-59F5-E5C0-D36C1D68B6B3}"/>
                      </a:ext>
                    </a:extLst>
                  </p:cNvPr>
                  <p:cNvSpPr txBox="1"/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1E2FA60A-3D62-59F5-E5C0-D36C1D68B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8974" r="-12821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B83C36E-69C9-277D-9D96-7881A5239DAD}"/>
                    </a:ext>
                  </a:extLst>
                </p:cNvPr>
                <p:cNvSpPr txBox="1"/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B83C36E-69C9-277D-9D96-7881A5239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blipFill>
                  <a:blip r:embed="rId15"/>
                  <a:stretch>
                    <a:fillRect l="-15625" r="-125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96BD4126-26EC-9229-7DFC-35687497F478}"/>
                    </a:ext>
                  </a:extLst>
                </p:cNvPr>
                <p:cNvSpPr txBox="1"/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96BD4126-26EC-9229-7DFC-35687497F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21429" r="-250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6259C98-A5BE-DC45-B486-493200EB463D}"/>
                    </a:ext>
                  </a:extLst>
                </p:cNvPr>
                <p:cNvSpPr txBox="1"/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6259C98-A5BE-DC45-B486-493200EB46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blipFill>
                  <a:blip r:embed="rId17"/>
                  <a:stretch>
                    <a:fillRect l="-25926" r="-25926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0F1C6CA-5DBB-269A-4B98-CAA9BD9BEEB1}"/>
                    </a:ext>
                  </a:extLst>
                </p:cNvPr>
                <p:cNvSpPr txBox="1"/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0F1C6CA-5DBB-269A-4B98-CAA9BD9BE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25926" r="-25926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3D855DD2-B2A1-441F-29B2-CFCB0F18CBE4}"/>
                    </a:ext>
                  </a:extLst>
                </p:cNvPr>
                <p:cNvSpPr txBox="1"/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3D855DD2-B2A1-441F-29B2-CFCB0F18C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25926" r="-2963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37A83C0-DF8B-C292-6949-A37EA4BFF654}"/>
                    </a:ext>
                  </a:extLst>
                </p:cNvPr>
                <p:cNvSpPr txBox="1"/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37A83C0-DF8B-C292-6949-A37EA4BFF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blipFill>
                  <a:blip r:embed="rId20"/>
                  <a:stretch>
                    <a:fillRect l="-25000" r="-21429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A84422B9-88C1-D634-A7E1-36F621C8F4DF}"/>
                </a:ext>
              </a:extLst>
            </p:cNvPr>
            <p:cNvSpPr txBox="1"/>
            <p:nvPr/>
          </p:nvSpPr>
          <p:spPr>
            <a:xfrm>
              <a:off x="5048171" y="4484797"/>
              <a:ext cx="28854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/>
                <a:t>……</a:t>
              </a:r>
            </a:p>
          </p:txBody>
        </p: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4" cy="795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虽然 连续性随机变量 不能研究在单点处的概率，但 离散型随机变量 可以研究在区间上的概率。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我们将 描述事件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发生的概率函数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（随机变量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的能够取到 小于等于某个定值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 的概率）</a:t>
                </a: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称作 随机变量的分布函数</a:t>
                </a:r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。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4" cy="795026"/>
              </a:xfrm>
              <a:prstGeom prst="rect">
                <a:avLst/>
              </a:prstGeom>
              <a:blipFill>
                <a:blip r:embed="rId21"/>
                <a:stretch>
                  <a:fillRect l="-274" r="-2195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327301" y="775742"/>
            <a:ext cx="11161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分布函数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AFB267-699D-1751-DDEF-8207D7390FFE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5" t="12409" r="12918" b="15406"/>
          <a:stretch/>
        </p:blipFill>
        <p:spPr>
          <a:xfrm>
            <a:off x="1020918" y="2672783"/>
            <a:ext cx="650383" cy="70189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1A6B08-CD6C-3293-A966-90BFDCE89723}"/>
              </a:ext>
            </a:extLst>
          </p:cNvPr>
          <p:cNvSpPr/>
          <p:nvPr/>
        </p:nvSpPr>
        <p:spPr>
          <a:xfrm>
            <a:off x="576364" y="2514527"/>
            <a:ext cx="5425538" cy="279260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600C96-CF53-F967-0FE2-ABA1DF7F4A09}"/>
              </a:ext>
            </a:extLst>
          </p:cNvPr>
          <p:cNvSpPr txBox="1"/>
          <p:nvPr/>
        </p:nvSpPr>
        <p:spPr>
          <a:xfrm>
            <a:off x="699581" y="3473816"/>
            <a:ext cx="129305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传统骰子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等可能地掷出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1,2,3,4,5,6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2ED138-E938-F9CE-8967-2A4ABE33A26F}"/>
              </a:ext>
            </a:extLst>
          </p:cNvPr>
          <p:cNvSpPr txBox="1"/>
          <p:nvPr/>
        </p:nvSpPr>
        <p:spPr>
          <a:xfrm>
            <a:off x="6254246" y="3492151"/>
            <a:ext cx="145666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电子骰子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等可能地给出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[0,6]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间的任一实数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254086-67B6-3DA0-C524-D70EC23B03BF}"/>
              </a:ext>
            </a:extLst>
          </p:cNvPr>
          <p:cNvSpPr txBox="1"/>
          <p:nvPr/>
        </p:nvSpPr>
        <p:spPr>
          <a:xfrm>
            <a:off x="706714" y="4428945"/>
            <a:ext cx="127878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离散型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0BCC48-18A8-6C70-AA39-B50FE1B2CDA5}"/>
              </a:ext>
            </a:extLst>
          </p:cNvPr>
          <p:cNvSpPr txBox="1"/>
          <p:nvPr/>
        </p:nvSpPr>
        <p:spPr>
          <a:xfrm>
            <a:off x="6318633" y="4463288"/>
            <a:ext cx="127878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连续型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/>
              <p:nvPr/>
            </p:nvSpPr>
            <p:spPr>
              <a:xfrm>
                <a:off x="1465998" y="2133854"/>
                <a:ext cx="19016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5998" y="2133854"/>
                <a:ext cx="1901679" cy="276999"/>
              </a:xfrm>
              <a:prstGeom prst="rect">
                <a:avLst/>
              </a:prstGeom>
              <a:blipFill>
                <a:blip r:embed="rId2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2715AB04-6FEE-2013-CA24-7F35AC3BD0F5}"/>
              </a:ext>
            </a:extLst>
          </p:cNvPr>
          <p:cNvGrpSpPr/>
          <p:nvPr/>
        </p:nvGrpSpPr>
        <p:grpSpPr>
          <a:xfrm>
            <a:off x="2293110" y="3191262"/>
            <a:ext cx="3258663" cy="1221857"/>
            <a:chOff x="2293110" y="3229734"/>
            <a:chExt cx="3258663" cy="1221857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9FEBE964-7FFE-62CB-B702-3FF7422D768E}"/>
                </a:ext>
              </a:extLst>
            </p:cNvPr>
            <p:cNvGrpSpPr/>
            <p:nvPr/>
          </p:nvGrpSpPr>
          <p:grpSpPr>
            <a:xfrm>
              <a:off x="2293110" y="4402758"/>
              <a:ext cx="705050" cy="48833"/>
              <a:chOff x="2471729" y="4402758"/>
              <a:chExt cx="705050" cy="48833"/>
            </a:xfrm>
          </p:grpSpPr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3DD8B973-69C9-5F14-364C-146A8D631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1729" y="4428944"/>
                <a:ext cx="685081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CA28E40D-5E9F-F3F3-329D-D5D7F4581A83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20A41423-6520-35CB-FB40-71510EC541AD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9DFDF509-B100-D675-3E1A-888916B9C63B}"/>
                </a:ext>
              </a:extLst>
            </p:cNvPr>
            <p:cNvGrpSpPr/>
            <p:nvPr/>
          </p:nvGrpSpPr>
          <p:grpSpPr>
            <a:xfrm>
              <a:off x="2954237" y="4229029"/>
              <a:ext cx="402830" cy="48833"/>
              <a:chOff x="2773949" y="4402758"/>
              <a:chExt cx="402830" cy="48833"/>
            </a:xfrm>
          </p:grpSpPr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030509C4-7320-7ACB-8234-37FF696F3236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B2343593-1879-A6CB-56D9-5DEB04FFAA5F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B315AA3D-0D46-3114-1D89-011DE74A9B14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8ED95269-7CE1-E9F8-BE62-C0BBB25EBEA2}"/>
                </a:ext>
              </a:extLst>
            </p:cNvPr>
            <p:cNvGrpSpPr/>
            <p:nvPr/>
          </p:nvGrpSpPr>
          <p:grpSpPr>
            <a:xfrm>
              <a:off x="3312744" y="4026021"/>
              <a:ext cx="402830" cy="48833"/>
              <a:chOff x="2773949" y="4402758"/>
              <a:chExt cx="402830" cy="48833"/>
            </a:xfrm>
          </p:grpSpPr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9B59DAC3-477D-7D87-252A-4227FA380D11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58F70195-297E-B6FF-931D-F1007181E1C7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71CF7A2D-F779-803B-DCD0-27D2BA1B7B01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2FD15A8D-0A80-1A77-0E43-60298B134048}"/>
                </a:ext>
              </a:extLst>
            </p:cNvPr>
            <p:cNvGrpSpPr/>
            <p:nvPr/>
          </p:nvGrpSpPr>
          <p:grpSpPr>
            <a:xfrm>
              <a:off x="3671251" y="3826553"/>
              <a:ext cx="402830" cy="48833"/>
              <a:chOff x="2773949" y="4402758"/>
              <a:chExt cx="402830" cy="48833"/>
            </a:xfrm>
          </p:grpSpPr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3DCA5C69-1ED1-34CD-0F8C-644D267C8C21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4A43DB73-E76C-BC2E-9EFA-450B3CAA2D89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F0B1DB4B-90BF-F240-873D-CD2B52143A5B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38D3BAB9-B77B-7D89-65E5-EFFE56C178DD}"/>
                </a:ext>
              </a:extLst>
            </p:cNvPr>
            <p:cNvGrpSpPr/>
            <p:nvPr/>
          </p:nvGrpSpPr>
          <p:grpSpPr>
            <a:xfrm>
              <a:off x="4028744" y="3628539"/>
              <a:ext cx="402830" cy="48833"/>
              <a:chOff x="2773949" y="4402758"/>
              <a:chExt cx="402830" cy="48833"/>
            </a:xfrm>
          </p:grpSpPr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CF92363F-E4B8-F3DF-33E3-27082D3C0360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5643425B-52FE-1B0C-A03C-CAFD28AB62CE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83ABCA24-DCB7-8CAE-5AFC-8FE1AB0E99AC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C11EAFE3-694A-0AF6-3506-2C7086AF2325}"/>
                </a:ext>
              </a:extLst>
            </p:cNvPr>
            <p:cNvGrpSpPr/>
            <p:nvPr/>
          </p:nvGrpSpPr>
          <p:grpSpPr>
            <a:xfrm>
              <a:off x="4385854" y="3426197"/>
              <a:ext cx="402830" cy="48833"/>
              <a:chOff x="2773949" y="4402758"/>
              <a:chExt cx="402830" cy="48833"/>
            </a:xfrm>
          </p:grpSpPr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33B13DA1-457B-7F92-CB77-C70272A51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4AA5E14B-A668-1002-0669-02803E1B304E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E322BF0E-1A83-CFDB-3BD8-194A7C629177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182536ED-B386-14F8-95C3-CE4AB5F642CC}"/>
                </a:ext>
              </a:extLst>
            </p:cNvPr>
            <p:cNvGrpSpPr/>
            <p:nvPr/>
          </p:nvGrpSpPr>
          <p:grpSpPr>
            <a:xfrm>
              <a:off x="4742964" y="3229734"/>
              <a:ext cx="808809" cy="45719"/>
              <a:chOff x="2773949" y="4405872"/>
              <a:chExt cx="808809" cy="45719"/>
            </a:xfrm>
          </p:grpSpPr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6F405B3C-9E3F-06EB-8729-EB8F01B9A2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4428944"/>
                <a:ext cx="785948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8D5F8B51-C6E1-A701-67D5-1257AF5F0791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F0675C41-EA4E-2A67-5EBD-3573434433D7}"/>
                  </a:ext>
                </a:extLst>
              </p:cNvPr>
              <p:cNvSpPr txBox="1"/>
              <p:nvPr/>
            </p:nvSpPr>
            <p:spPr>
              <a:xfrm>
                <a:off x="3175023" y="4735220"/>
                <a:ext cx="1798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F0675C41-EA4E-2A67-5EBD-357343443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23" y="4735220"/>
                <a:ext cx="1798116" cy="369332"/>
              </a:xfrm>
              <a:prstGeom prst="rect">
                <a:avLst/>
              </a:prstGeom>
              <a:blipFill>
                <a:blip r:embed="rId24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5BC12A74-1CAB-41A1-5043-11DF99821FA1}"/>
              </a:ext>
            </a:extLst>
          </p:cNvPr>
          <p:cNvGrpSpPr/>
          <p:nvPr/>
        </p:nvGrpSpPr>
        <p:grpSpPr>
          <a:xfrm>
            <a:off x="7633184" y="2752839"/>
            <a:ext cx="3718348" cy="1960799"/>
            <a:chOff x="2072267" y="2791311"/>
            <a:chExt cx="3718348" cy="1960799"/>
          </a:xfrm>
        </p:grpSpPr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6BAD51AF-1704-12D8-FB9B-E29CAEE6844C}"/>
                </a:ext>
              </a:extLst>
            </p:cNvPr>
            <p:cNvGrpSpPr/>
            <p:nvPr/>
          </p:nvGrpSpPr>
          <p:grpSpPr>
            <a:xfrm>
              <a:off x="2360241" y="3124924"/>
              <a:ext cx="3251451" cy="246221"/>
              <a:chOff x="2538861" y="3124924"/>
              <a:chExt cx="2848078" cy="246221"/>
            </a:xfrm>
          </p:grpSpPr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7BA44631-192F-F322-FDBB-9DD7F5C1C9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29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文本框 224">
                    <a:extLst>
                      <a:ext uri="{FF2B5EF4-FFF2-40B4-BE49-F238E27FC236}">
                        <a16:creationId xmlns:a16="http://schemas.microsoft.com/office/drawing/2014/main" id="{2502D397-E26D-6437-EC08-712A82C6B90B}"/>
                      </a:ext>
                    </a:extLst>
                  </p:cNvPr>
                  <p:cNvSpPr txBox="1"/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zh-CN" sz="1600" dirty="0"/>
                  </a:p>
                </p:txBody>
              </p:sp>
            </mc:Choice>
            <mc:Fallback xmlns="">
              <p:sp>
                <p:nvSpPr>
                  <p:cNvPr id="225" name="文本框 224">
                    <a:extLst>
                      <a:ext uri="{FF2B5EF4-FFF2-40B4-BE49-F238E27FC236}">
                        <a16:creationId xmlns:a16="http://schemas.microsoft.com/office/drawing/2014/main" id="{2502D397-E26D-6437-EC08-712A82C6B9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2500" r="-15625" b="-48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A0636025-C74E-D410-DF38-147CC0D68059}"/>
                </a:ext>
              </a:extLst>
            </p:cNvPr>
            <p:cNvGrpSpPr/>
            <p:nvPr/>
          </p:nvGrpSpPr>
          <p:grpSpPr>
            <a:xfrm>
              <a:off x="2309418" y="3363014"/>
              <a:ext cx="3302274" cy="184666"/>
              <a:chOff x="2488037" y="3164151"/>
              <a:chExt cx="3302274" cy="184666"/>
            </a:xfrm>
          </p:grpSpPr>
          <p:cxnSp>
            <p:nvCxnSpPr>
              <p:cNvPr id="222" name="直接连接符 221">
                <a:extLst>
                  <a:ext uri="{FF2B5EF4-FFF2-40B4-BE49-F238E27FC236}">
                    <a16:creationId xmlns:a16="http://schemas.microsoft.com/office/drawing/2014/main" id="{07E684C5-ACDC-98A8-D633-A014E1A64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文本框 222">
                    <a:extLst>
                      <a:ext uri="{FF2B5EF4-FFF2-40B4-BE49-F238E27FC236}">
                        <a16:creationId xmlns:a16="http://schemas.microsoft.com/office/drawing/2014/main" id="{9C74EC92-A1A1-61E8-929C-FC8E74716E8D}"/>
                      </a:ext>
                    </a:extLst>
                  </p:cNvPr>
                  <p:cNvSpPr txBox="1"/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23" name="文本框 222">
                    <a:extLst>
                      <a:ext uri="{FF2B5EF4-FFF2-40B4-BE49-F238E27FC236}">
                        <a16:creationId xmlns:a16="http://schemas.microsoft.com/office/drawing/2014/main" id="{9C74EC92-A1A1-61E8-929C-FC8E74716E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0638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F11442EC-4851-CDFF-0903-7B2E07A37EF9}"/>
                </a:ext>
              </a:extLst>
            </p:cNvPr>
            <p:cNvGrpSpPr/>
            <p:nvPr/>
          </p:nvGrpSpPr>
          <p:grpSpPr>
            <a:xfrm>
              <a:off x="2296675" y="3564571"/>
              <a:ext cx="3315017" cy="184666"/>
              <a:chOff x="2475294" y="3161810"/>
              <a:chExt cx="3315017" cy="184666"/>
            </a:xfrm>
          </p:grpSpPr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1938C67E-AD52-F92C-1902-C8087AB78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B207A694-480D-138F-A5DD-CCF19CF654E7}"/>
                      </a:ext>
                    </a:extLst>
                  </p:cNvPr>
                  <p:cNvSpPr txBox="1"/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B207A694-480D-138F-A5DD-CCF19CF654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638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F84C9722-2509-3F94-4AEE-339E07EB73E9}"/>
                </a:ext>
              </a:extLst>
            </p:cNvPr>
            <p:cNvGrpSpPr/>
            <p:nvPr/>
          </p:nvGrpSpPr>
          <p:grpSpPr>
            <a:xfrm>
              <a:off x="2293515" y="3762482"/>
              <a:ext cx="3318177" cy="184666"/>
              <a:chOff x="2472134" y="3157080"/>
              <a:chExt cx="3318177" cy="184666"/>
            </a:xfrm>
          </p:grpSpPr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61B33AE4-6B48-046D-10F2-6951F1FEC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CD661BCE-A33A-3DE3-4379-A9E6731323FA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CD661BCE-A33A-3DE3-4379-A9E6731323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0417" t="-3333" r="-10417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876364B3-05AA-97D5-6EF4-AD0093B4729B}"/>
                </a:ext>
              </a:extLst>
            </p:cNvPr>
            <p:cNvGrpSpPr/>
            <p:nvPr/>
          </p:nvGrpSpPr>
          <p:grpSpPr>
            <a:xfrm>
              <a:off x="2277841" y="3960080"/>
              <a:ext cx="3333850" cy="184666"/>
              <a:chOff x="2458366" y="3161231"/>
              <a:chExt cx="2928575" cy="184666"/>
            </a:xfrm>
          </p:grpSpPr>
          <p:cxnSp>
            <p:nvCxnSpPr>
              <p:cNvPr id="216" name="直接连接符 215">
                <a:extLst>
                  <a:ext uri="{FF2B5EF4-FFF2-40B4-BE49-F238E27FC236}">
                    <a16:creationId xmlns:a16="http://schemas.microsoft.com/office/drawing/2014/main" id="{15DFB7D1-19C8-E64D-BF76-37B058F2E7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3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CE2219C2-40C7-03D5-7A09-8A2C4582C8B8}"/>
                      </a:ext>
                    </a:extLst>
                  </p:cNvPr>
                  <p:cNvSpPr txBox="1"/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CE2219C2-40C7-03D5-7A09-8A2C4582C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774" t="-3226" r="-5660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A6E18596-5628-B754-E56A-F6E1D5ACD7A3}"/>
                </a:ext>
              </a:extLst>
            </p:cNvPr>
            <p:cNvGrpSpPr/>
            <p:nvPr/>
          </p:nvGrpSpPr>
          <p:grpSpPr>
            <a:xfrm>
              <a:off x="2293514" y="4162797"/>
              <a:ext cx="3318178" cy="184666"/>
              <a:chOff x="2472133" y="3164033"/>
              <a:chExt cx="3318178" cy="184666"/>
            </a:xfrm>
          </p:grpSpPr>
          <p:cxnSp>
            <p:nvCxnSpPr>
              <p:cNvPr id="214" name="直接连接符 213">
                <a:extLst>
                  <a:ext uri="{FF2B5EF4-FFF2-40B4-BE49-F238E27FC236}">
                    <a16:creationId xmlns:a16="http://schemas.microsoft.com/office/drawing/2014/main" id="{3C6DA077-D393-BA33-C4CD-6233D0DC1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文本框 214">
                    <a:extLst>
                      <a:ext uri="{FF2B5EF4-FFF2-40B4-BE49-F238E27FC236}">
                        <a16:creationId xmlns:a16="http://schemas.microsoft.com/office/drawing/2014/main" id="{14E01D75-C563-1B92-A5D5-F9230D4FB7CF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15" name="文本框 214">
                    <a:extLst>
                      <a:ext uri="{FF2B5EF4-FFF2-40B4-BE49-F238E27FC236}">
                        <a16:creationId xmlns:a16="http://schemas.microsoft.com/office/drawing/2014/main" id="{14E01D75-C563-1B92-A5D5-F9230D4FB7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0417" t="-6667" r="-10417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C4DC6E12-8D0C-3307-D0FD-0236F7C7DB53}"/>
                </a:ext>
              </a:extLst>
            </p:cNvPr>
            <p:cNvGrpSpPr/>
            <p:nvPr/>
          </p:nvGrpSpPr>
          <p:grpSpPr>
            <a:xfrm>
              <a:off x="2072267" y="2791311"/>
              <a:ext cx="3718348" cy="1960799"/>
              <a:chOff x="7913745" y="3206117"/>
              <a:chExt cx="3718348" cy="1960799"/>
            </a:xfrm>
          </p:grpSpPr>
          <p:cxnSp>
            <p:nvCxnSpPr>
              <p:cNvPr id="209" name="直接箭头连接符 208">
                <a:extLst>
                  <a:ext uri="{FF2B5EF4-FFF2-40B4-BE49-F238E27FC236}">
                    <a16:creationId xmlns:a16="http://schemas.microsoft.com/office/drawing/2014/main" id="{13C1ADCD-A7C7-1F8B-A58A-8CB3DBB5E2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9697" y="4843751"/>
                <a:ext cx="3511441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直接箭头连接符 209">
                <a:extLst>
                  <a:ext uri="{FF2B5EF4-FFF2-40B4-BE49-F238E27FC236}">
                    <a16:creationId xmlns:a16="http://schemas.microsoft.com/office/drawing/2014/main" id="{46BE0D3A-7137-755A-552D-399E9C73E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9669" y="3206117"/>
                <a:ext cx="0" cy="196079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1C9B3ABF-5D58-F960-C8DC-EC694DD2F816}"/>
                      </a:ext>
                    </a:extLst>
                  </p:cNvPr>
                  <p:cNvSpPr txBox="1"/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1C9B3ABF-5D58-F960-C8DC-EC694DD2F8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5000" r="-2222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2" name="文本框 211">
                    <a:extLst>
                      <a:ext uri="{FF2B5EF4-FFF2-40B4-BE49-F238E27FC236}">
                        <a16:creationId xmlns:a16="http://schemas.microsoft.com/office/drawing/2014/main" id="{6D14286B-E1BF-8FA5-E1EE-678BB3DADF9F}"/>
                      </a:ext>
                    </a:extLst>
                  </p:cNvPr>
                  <p:cNvSpPr txBox="1"/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12" name="文本框 211">
                    <a:extLst>
                      <a:ext uri="{FF2B5EF4-FFF2-40B4-BE49-F238E27FC236}">
                        <a16:creationId xmlns:a16="http://schemas.microsoft.com/office/drawing/2014/main" id="{6D14286B-E1BF-8FA5-E1EE-678BB3DADF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0714"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3" name="文本框 212">
                    <a:extLst>
                      <a:ext uri="{FF2B5EF4-FFF2-40B4-BE49-F238E27FC236}">
                        <a16:creationId xmlns:a16="http://schemas.microsoft.com/office/drawing/2014/main" id="{5005C9AC-9958-6BBD-3F74-F78901AAC10D}"/>
                      </a:ext>
                    </a:extLst>
                  </p:cNvPr>
                  <p:cNvSpPr txBox="1"/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13" name="文本框 212">
                    <a:extLst>
                      <a:ext uri="{FF2B5EF4-FFF2-40B4-BE49-F238E27FC236}">
                        <a16:creationId xmlns:a16="http://schemas.microsoft.com/office/drawing/2014/main" id="{5005C9AC-9958-6BBD-3F74-F78901AAC1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7692" r="-14103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45450B0-8BA0-C1D1-2846-C8437DADBD73}"/>
                    </a:ext>
                  </a:extLst>
                </p:cNvPr>
                <p:cNvSpPr txBox="1"/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45450B0-8BA0-C1D1-2846-C8437DADB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blipFill>
                  <a:blip r:embed="rId30"/>
                  <a:stretch>
                    <a:fillRect l="-12500" r="-15625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28CEE464-ED8E-5FA2-97B4-A6990EF40D4C}"/>
                    </a:ext>
                  </a:extLst>
                </p:cNvPr>
                <p:cNvSpPr txBox="1"/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28CEE464-ED8E-5FA2-97B4-A6990EF40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blipFill>
                  <a:blip r:embed="rId31"/>
                  <a:stretch>
                    <a:fillRect l="-21429" r="-250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5939948F-EA14-FC47-7B1C-48867EF2AEAA}"/>
                    </a:ext>
                  </a:extLst>
                </p:cNvPr>
                <p:cNvSpPr txBox="1"/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5939948F-EA14-FC47-7B1C-48867EF2A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blipFill>
                  <a:blip r:embed="rId32"/>
                  <a:stretch>
                    <a:fillRect l="-25000" r="-21429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90DB18E6-F260-3EA1-C627-69E922E5870D}"/>
                    </a:ext>
                  </a:extLst>
                </p:cNvPr>
                <p:cNvSpPr txBox="1"/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90DB18E6-F260-3EA1-C627-69E922E58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blipFill>
                  <a:blip r:embed="rId33"/>
                  <a:stretch>
                    <a:fillRect l="-25000" r="-21429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BD4A9F36-9A57-A34D-1F31-BA825C24D945}"/>
                    </a:ext>
                  </a:extLst>
                </p:cNvPr>
                <p:cNvSpPr txBox="1"/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BD4A9F36-9A57-A34D-1F31-BA825C24D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blipFill>
                  <a:blip r:embed="rId34"/>
                  <a:stretch>
                    <a:fillRect l="-25000" r="-250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DCEE7CD1-344E-84A2-05B3-573823848AD2}"/>
                    </a:ext>
                  </a:extLst>
                </p:cNvPr>
                <p:cNvSpPr txBox="1"/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DCEE7CD1-344E-84A2-05B3-573823848A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blipFill>
                  <a:blip r:embed="rId35"/>
                  <a:stretch>
                    <a:fillRect l="-21429" r="-25000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502C5F4C-2F0C-E4BA-C0D1-5D2FE56CDBCD}"/>
                </a:ext>
              </a:extLst>
            </p:cNvPr>
            <p:cNvSpPr txBox="1"/>
            <p:nvPr/>
          </p:nvSpPr>
          <p:spPr>
            <a:xfrm>
              <a:off x="5048171" y="4484797"/>
              <a:ext cx="28854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/>
                <a:t>……</a:t>
              </a:r>
            </a:p>
          </p:txBody>
        </p: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F49B2971-8523-533D-22B9-12AAA9C1486E}"/>
              </a:ext>
            </a:extLst>
          </p:cNvPr>
          <p:cNvGrpSpPr/>
          <p:nvPr/>
        </p:nvGrpSpPr>
        <p:grpSpPr>
          <a:xfrm>
            <a:off x="7854027" y="3214334"/>
            <a:ext cx="3258663" cy="1176138"/>
            <a:chOff x="2293110" y="3252806"/>
            <a:chExt cx="3258663" cy="1176138"/>
          </a:xfrm>
        </p:grpSpPr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A79DE130-A629-DA4B-8F81-D60F1D3AAFDF}"/>
                </a:ext>
              </a:extLst>
            </p:cNvPr>
            <p:cNvCxnSpPr>
              <a:cxnSpLocks/>
            </p:cNvCxnSpPr>
            <p:nvPr/>
          </p:nvCxnSpPr>
          <p:spPr>
            <a:xfrm>
              <a:off x="2293110" y="4428944"/>
              <a:ext cx="334897" cy="0"/>
            </a:xfrm>
            <a:prstGeom prst="line">
              <a:avLst/>
            </a:prstGeom>
            <a:ln w="28575">
              <a:solidFill>
                <a:srgbClr val="00B050"/>
              </a:solidFill>
              <a:rou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8D08D85D-0ECA-61D2-1DFE-755F79A8C6F2}"/>
                </a:ext>
              </a:extLst>
            </p:cNvPr>
            <p:cNvCxnSpPr>
              <a:cxnSpLocks/>
            </p:cNvCxnSpPr>
            <p:nvPr/>
          </p:nvCxnSpPr>
          <p:spPr>
            <a:xfrm>
              <a:off x="4751645" y="3252806"/>
              <a:ext cx="800128" cy="0"/>
            </a:xfrm>
            <a:prstGeom prst="line">
              <a:avLst/>
            </a:prstGeom>
            <a:ln w="28575">
              <a:solidFill>
                <a:srgbClr val="00B050"/>
              </a:solidFill>
              <a:rou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BFD775F5-923C-4A57-4A49-B3C892150CB2}"/>
                  </a:ext>
                </a:extLst>
              </p:cNvPr>
              <p:cNvSpPr txBox="1"/>
              <p:nvPr/>
            </p:nvSpPr>
            <p:spPr>
              <a:xfrm>
                <a:off x="8735940" y="4735220"/>
                <a:ext cx="1798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BFD775F5-923C-4A57-4A49-B3C892150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940" y="4735220"/>
                <a:ext cx="1798116" cy="369332"/>
              </a:xfrm>
              <a:prstGeom prst="rect">
                <a:avLst/>
              </a:prstGeom>
              <a:blipFill>
                <a:blip r:embed="rId36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238CD647-5143-7816-24B2-7C540733BF14}"/>
              </a:ext>
            </a:extLst>
          </p:cNvPr>
          <p:cNvCxnSpPr>
            <a:cxnSpLocks/>
          </p:cNvCxnSpPr>
          <p:nvPr/>
        </p:nvCxnSpPr>
        <p:spPr>
          <a:xfrm flipV="1">
            <a:off x="8175948" y="3212603"/>
            <a:ext cx="2150794" cy="1177868"/>
          </a:xfrm>
          <a:prstGeom prst="line">
            <a:avLst/>
          </a:prstGeom>
          <a:ln w="28575">
            <a:solidFill>
              <a:srgbClr val="00B050"/>
            </a:solidFill>
            <a:round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4" name="组合 283">
            <a:extLst>
              <a:ext uri="{FF2B5EF4-FFF2-40B4-BE49-F238E27FC236}">
                <a16:creationId xmlns:a16="http://schemas.microsoft.com/office/drawing/2014/main" id="{A348DE33-8B6D-F727-C6D7-780CF2F2DE12}"/>
              </a:ext>
            </a:extLst>
          </p:cNvPr>
          <p:cNvGrpSpPr/>
          <p:nvPr/>
        </p:nvGrpSpPr>
        <p:grpSpPr>
          <a:xfrm>
            <a:off x="6274201" y="2614431"/>
            <a:ext cx="5254249" cy="2614354"/>
            <a:chOff x="6274201" y="2601499"/>
            <a:chExt cx="5254249" cy="2614354"/>
          </a:xfrm>
        </p:grpSpPr>
        <p:sp>
          <p:nvSpPr>
            <p:cNvPr id="264" name="矩形 263">
              <a:extLst>
                <a:ext uri="{FF2B5EF4-FFF2-40B4-BE49-F238E27FC236}">
                  <a16:creationId xmlns:a16="http://schemas.microsoft.com/office/drawing/2014/main" id="{D5FF1CB3-B630-CAFE-D9F0-CC274E6A2230}"/>
                </a:ext>
              </a:extLst>
            </p:cNvPr>
            <p:cNvSpPr/>
            <p:nvPr/>
          </p:nvSpPr>
          <p:spPr>
            <a:xfrm>
              <a:off x="6274201" y="2601499"/>
              <a:ext cx="5254249" cy="2614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2" name="直接连接符 281">
              <a:extLst>
                <a:ext uri="{FF2B5EF4-FFF2-40B4-BE49-F238E27FC236}">
                  <a16:creationId xmlns:a16="http://schemas.microsoft.com/office/drawing/2014/main" id="{4FACE6D6-8DFE-908D-6BA9-E81704419EFE}"/>
                </a:ext>
              </a:extLst>
            </p:cNvPr>
            <p:cNvCxnSpPr/>
            <p:nvPr/>
          </p:nvCxnSpPr>
          <p:spPr>
            <a:xfrm>
              <a:off x="6402868" y="3635786"/>
              <a:ext cx="5008989" cy="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83" name="直接连接符 282">
              <a:extLst>
                <a:ext uri="{FF2B5EF4-FFF2-40B4-BE49-F238E27FC236}">
                  <a16:creationId xmlns:a16="http://schemas.microsoft.com/office/drawing/2014/main" id="{2BF90315-AB1E-4403-AF56-6A3DCC9BBBC0}"/>
                </a:ext>
              </a:extLst>
            </p:cNvPr>
            <p:cNvCxnSpPr/>
            <p:nvPr/>
          </p:nvCxnSpPr>
          <p:spPr>
            <a:xfrm>
              <a:off x="6398370" y="4597357"/>
              <a:ext cx="5008989" cy="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810A5284-90CC-F080-B882-59AD61CAD3D6}"/>
              </a:ext>
            </a:extLst>
          </p:cNvPr>
          <p:cNvGrpSpPr/>
          <p:nvPr/>
        </p:nvGrpSpPr>
        <p:grpSpPr>
          <a:xfrm>
            <a:off x="6398370" y="2765771"/>
            <a:ext cx="4754786" cy="797512"/>
            <a:chOff x="6398370" y="2752839"/>
            <a:chExt cx="4754786" cy="797512"/>
          </a:xfrm>
        </p:grpSpPr>
        <p:grpSp>
          <p:nvGrpSpPr>
            <p:cNvPr id="276" name="组合 275">
              <a:extLst>
                <a:ext uri="{FF2B5EF4-FFF2-40B4-BE49-F238E27FC236}">
                  <a16:creationId xmlns:a16="http://schemas.microsoft.com/office/drawing/2014/main" id="{2439E83E-4915-2B4C-1C46-38ACDEC7C87A}"/>
                </a:ext>
              </a:extLst>
            </p:cNvPr>
            <p:cNvGrpSpPr/>
            <p:nvPr/>
          </p:nvGrpSpPr>
          <p:grpSpPr>
            <a:xfrm>
              <a:off x="6402868" y="2752839"/>
              <a:ext cx="4750288" cy="369332"/>
              <a:chOff x="6402868" y="2752839"/>
              <a:chExt cx="4750288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5" name="文本框 264">
                    <a:extLst>
                      <a:ext uri="{FF2B5EF4-FFF2-40B4-BE49-F238E27FC236}">
                        <a16:creationId xmlns:a16="http://schemas.microsoft.com/office/drawing/2014/main" id="{CCD6097D-F512-38D1-7153-AFD89804FFCE}"/>
                      </a:ext>
                    </a:extLst>
                  </p:cNvPr>
                  <p:cNvSpPr txBox="1"/>
                  <p:nvPr/>
                </p:nvSpPr>
                <p:spPr>
                  <a:xfrm>
                    <a:off x="6402868" y="2752839"/>
                    <a:ext cx="2141032" cy="369332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=3/6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65" name="文本框 264">
                    <a:extLst>
                      <a:ext uri="{FF2B5EF4-FFF2-40B4-BE49-F238E27FC236}">
                        <a16:creationId xmlns:a16="http://schemas.microsoft.com/office/drawing/2014/main" id="{CCD6097D-F512-38D1-7153-AFD89804FF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2868" y="2752839"/>
                    <a:ext cx="2141032" cy="369332"/>
                  </a:xfrm>
                  <a:prstGeom prst="rect">
                    <a:avLst/>
                  </a:prstGeom>
                  <a:blipFill>
                    <a:blip r:embed="rId37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0" name="文本框 269">
                    <a:extLst>
                      <a:ext uri="{FF2B5EF4-FFF2-40B4-BE49-F238E27FC236}">
                        <a16:creationId xmlns:a16="http://schemas.microsoft.com/office/drawing/2014/main" id="{F7BEBB5E-D676-ACB4-78C8-796A2A7FC14C}"/>
                      </a:ext>
                    </a:extLst>
                  </p:cNvPr>
                  <p:cNvSpPr txBox="1"/>
                  <p:nvPr/>
                </p:nvSpPr>
                <p:spPr>
                  <a:xfrm>
                    <a:off x="8701136" y="2801352"/>
                    <a:ext cx="245202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=1,2,3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0" name="文本框 269">
                    <a:extLst>
                      <a:ext uri="{FF2B5EF4-FFF2-40B4-BE49-F238E27FC236}">
                        <a16:creationId xmlns:a16="http://schemas.microsoft.com/office/drawing/2014/main" id="{F7BEBB5E-D676-ACB4-78C8-796A2A7FC14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1136" y="2801352"/>
                    <a:ext cx="2452020" cy="276999"/>
                  </a:xfrm>
                  <a:prstGeom prst="rect">
                    <a:avLst/>
                  </a:prstGeom>
                  <a:blipFill>
                    <a:blip r:embed="rId38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42EFCD23-5FBE-1837-52BC-877CFF9F7BD7}"/>
                </a:ext>
              </a:extLst>
            </p:cNvPr>
            <p:cNvGrpSpPr/>
            <p:nvPr/>
          </p:nvGrpSpPr>
          <p:grpSpPr>
            <a:xfrm>
              <a:off x="6398370" y="3181019"/>
              <a:ext cx="4754215" cy="369332"/>
              <a:chOff x="6398370" y="3181019"/>
              <a:chExt cx="4754215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6" name="文本框 265">
                    <a:extLst>
                      <a:ext uri="{FF2B5EF4-FFF2-40B4-BE49-F238E27FC236}">
                        <a16:creationId xmlns:a16="http://schemas.microsoft.com/office/drawing/2014/main" id="{7CA70DE7-D3B8-C497-65D9-46AAF2BC9A75}"/>
                      </a:ext>
                    </a:extLst>
                  </p:cNvPr>
                  <p:cNvSpPr txBox="1"/>
                  <p:nvPr/>
                </p:nvSpPr>
                <p:spPr>
                  <a:xfrm>
                    <a:off x="6398370" y="3181019"/>
                    <a:ext cx="2140221" cy="369332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=3/6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66" name="文本框 265">
                    <a:extLst>
                      <a:ext uri="{FF2B5EF4-FFF2-40B4-BE49-F238E27FC236}">
                        <a16:creationId xmlns:a16="http://schemas.microsoft.com/office/drawing/2014/main" id="{7CA70DE7-D3B8-C497-65D9-46AAF2BC9A7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8370" y="3181019"/>
                    <a:ext cx="2140221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b="-1147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1" name="文本框 270">
                    <a:extLst>
                      <a:ext uri="{FF2B5EF4-FFF2-40B4-BE49-F238E27FC236}">
                        <a16:creationId xmlns:a16="http://schemas.microsoft.com/office/drawing/2014/main" id="{4C57CE24-B755-7C3C-E6AF-60FE2EF0FFB2}"/>
                      </a:ext>
                    </a:extLst>
                  </p:cNvPr>
                  <p:cNvSpPr txBox="1"/>
                  <p:nvPr/>
                </p:nvSpPr>
                <p:spPr>
                  <a:xfrm>
                    <a:off x="8700565" y="3214150"/>
                    <a:ext cx="245202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=1,2,3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1" name="文本框 270">
                    <a:extLst>
                      <a:ext uri="{FF2B5EF4-FFF2-40B4-BE49-F238E27FC236}">
                        <a16:creationId xmlns:a16="http://schemas.microsoft.com/office/drawing/2014/main" id="{4C57CE24-B755-7C3C-E6AF-60FE2EF0FFB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00565" y="3214150"/>
                    <a:ext cx="2452020" cy="276999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b="-152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86" name="组合 285">
            <a:extLst>
              <a:ext uri="{FF2B5EF4-FFF2-40B4-BE49-F238E27FC236}">
                <a16:creationId xmlns:a16="http://schemas.microsoft.com/office/drawing/2014/main" id="{CC6C982F-FB98-4465-2AFC-2D25776DD95C}"/>
              </a:ext>
            </a:extLst>
          </p:cNvPr>
          <p:cNvGrpSpPr/>
          <p:nvPr/>
        </p:nvGrpSpPr>
        <p:grpSpPr>
          <a:xfrm>
            <a:off x="6402868" y="3724485"/>
            <a:ext cx="4986629" cy="797703"/>
            <a:chOff x="6402868" y="3711553"/>
            <a:chExt cx="4986629" cy="797703"/>
          </a:xfrm>
        </p:grpSpPr>
        <p:grpSp>
          <p:nvGrpSpPr>
            <p:cNvPr id="278" name="组合 277">
              <a:extLst>
                <a:ext uri="{FF2B5EF4-FFF2-40B4-BE49-F238E27FC236}">
                  <a16:creationId xmlns:a16="http://schemas.microsoft.com/office/drawing/2014/main" id="{EB965D1E-7B91-8283-1E05-9FD142A47F5B}"/>
                </a:ext>
              </a:extLst>
            </p:cNvPr>
            <p:cNvGrpSpPr/>
            <p:nvPr/>
          </p:nvGrpSpPr>
          <p:grpSpPr>
            <a:xfrm>
              <a:off x="6403804" y="3711553"/>
              <a:ext cx="4985693" cy="369332"/>
              <a:chOff x="6403804" y="3711553"/>
              <a:chExt cx="4985693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7" name="文本框 266">
                    <a:extLst>
                      <a:ext uri="{FF2B5EF4-FFF2-40B4-BE49-F238E27FC236}">
                        <a16:creationId xmlns:a16="http://schemas.microsoft.com/office/drawing/2014/main" id="{3BEF5962-6AEF-0929-645F-8066A5F19723}"/>
                      </a:ext>
                    </a:extLst>
                  </p:cNvPr>
                  <p:cNvSpPr txBox="1"/>
                  <p:nvPr/>
                </p:nvSpPr>
                <p:spPr>
                  <a:xfrm>
                    <a:off x="6403804" y="3711553"/>
                    <a:ext cx="2140096" cy="369332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67" name="文本框 266">
                    <a:extLst>
                      <a:ext uri="{FF2B5EF4-FFF2-40B4-BE49-F238E27FC236}">
                        <a16:creationId xmlns:a16="http://schemas.microsoft.com/office/drawing/2014/main" id="{3BEF5962-6AEF-0929-645F-8066A5F197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3804" y="3711553"/>
                    <a:ext cx="2140096" cy="369332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3" name="文本框 272">
                    <a:extLst>
                      <a:ext uri="{FF2B5EF4-FFF2-40B4-BE49-F238E27FC236}">
                        <a16:creationId xmlns:a16="http://schemas.microsoft.com/office/drawing/2014/main" id="{969AA21C-428A-35B9-9E5D-3017F1DCA052}"/>
                      </a:ext>
                    </a:extLst>
                  </p:cNvPr>
                  <p:cNvSpPr txBox="1"/>
                  <p:nvPr/>
                </p:nvSpPr>
                <p:spPr>
                  <a:xfrm>
                    <a:off x="8694737" y="3765987"/>
                    <a:ext cx="26947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=1,2,3,4,5,6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3" name="文本框 272">
                    <a:extLst>
                      <a:ext uri="{FF2B5EF4-FFF2-40B4-BE49-F238E27FC236}">
                        <a16:creationId xmlns:a16="http://schemas.microsoft.com/office/drawing/2014/main" id="{969AA21C-428A-35B9-9E5D-3017F1DCA0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4737" y="3765987"/>
                    <a:ext cx="2694760" cy="276999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79" name="组合 278">
              <a:extLst>
                <a:ext uri="{FF2B5EF4-FFF2-40B4-BE49-F238E27FC236}">
                  <a16:creationId xmlns:a16="http://schemas.microsoft.com/office/drawing/2014/main" id="{079BF429-D923-A79A-6B37-68A807695F4D}"/>
                </a:ext>
              </a:extLst>
            </p:cNvPr>
            <p:cNvGrpSpPr/>
            <p:nvPr/>
          </p:nvGrpSpPr>
          <p:grpSpPr>
            <a:xfrm>
              <a:off x="6402868" y="4139924"/>
              <a:ext cx="4986629" cy="369332"/>
              <a:chOff x="6402868" y="4139924"/>
              <a:chExt cx="4986629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8" name="文本框 267">
                    <a:extLst>
                      <a:ext uri="{FF2B5EF4-FFF2-40B4-BE49-F238E27FC236}">
                        <a16:creationId xmlns:a16="http://schemas.microsoft.com/office/drawing/2014/main" id="{0E54F830-16D8-3F2F-E731-1517E2CBA485}"/>
                      </a:ext>
                    </a:extLst>
                  </p:cNvPr>
                  <p:cNvSpPr txBox="1"/>
                  <p:nvPr/>
                </p:nvSpPr>
                <p:spPr>
                  <a:xfrm>
                    <a:off x="6402868" y="4139924"/>
                    <a:ext cx="2139413" cy="369332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68" name="文本框 267">
                    <a:extLst>
                      <a:ext uri="{FF2B5EF4-FFF2-40B4-BE49-F238E27FC236}">
                        <a16:creationId xmlns:a16="http://schemas.microsoft.com/office/drawing/2014/main" id="{0E54F830-16D8-3F2F-E731-1517E2CBA4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2868" y="4139924"/>
                    <a:ext cx="2139413" cy="369332"/>
                  </a:xfrm>
                  <a:prstGeom prst="rect">
                    <a:avLst/>
                  </a:prstGeom>
                  <a:blipFill>
                    <a:blip r:embed="rId43"/>
                    <a:stretch>
                      <a:fillRect b="-327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4" name="文本框 273">
                    <a:extLst>
                      <a:ext uri="{FF2B5EF4-FFF2-40B4-BE49-F238E27FC236}">
                        <a16:creationId xmlns:a16="http://schemas.microsoft.com/office/drawing/2014/main" id="{BDE10652-850A-7F39-5CFD-6176AD4C9ED2}"/>
                      </a:ext>
                    </a:extLst>
                  </p:cNvPr>
                  <p:cNvSpPr txBox="1"/>
                  <p:nvPr/>
                </p:nvSpPr>
                <p:spPr>
                  <a:xfrm>
                    <a:off x="8694737" y="4182914"/>
                    <a:ext cx="26947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=1,2,3,4,5,6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74" name="文本框 273">
                    <a:extLst>
                      <a:ext uri="{FF2B5EF4-FFF2-40B4-BE49-F238E27FC236}">
                        <a16:creationId xmlns:a16="http://schemas.microsoft.com/office/drawing/2014/main" id="{BDE10652-850A-7F39-5CFD-6176AD4C9E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94737" y="4182914"/>
                    <a:ext cx="2694760" cy="276999"/>
                  </a:xfrm>
                  <a:prstGeom prst="rect">
                    <a:avLst/>
                  </a:prstGeom>
                  <a:blipFill>
                    <a:blip r:embed="rId44"/>
                    <a:stretch>
                      <a:fillRect b="-152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7C34ACA7-1FD7-8222-6BAC-C42628DDED08}"/>
              </a:ext>
            </a:extLst>
          </p:cNvPr>
          <p:cNvGrpSpPr/>
          <p:nvPr/>
        </p:nvGrpSpPr>
        <p:grpSpPr>
          <a:xfrm>
            <a:off x="6402868" y="4683667"/>
            <a:ext cx="4983159" cy="369332"/>
            <a:chOff x="6402868" y="4670735"/>
            <a:chExt cx="4983159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C11F2034-E867-AC37-ED1F-A100E5F04956}"/>
                    </a:ext>
                  </a:extLst>
                </p:cNvPr>
                <p:cNvSpPr txBox="1"/>
                <p:nvPr/>
              </p:nvSpPr>
              <p:spPr>
                <a:xfrm>
                  <a:off x="6402868" y="4670735"/>
                  <a:ext cx="2136018" cy="36933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C11F2034-E867-AC37-ED1F-A100E5F049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868" y="4670735"/>
                  <a:ext cx="2136018" cy="369332"/>
                </a:xfrm>
                <a:prstGeom prst="rect">
                  <a:avLst/>
                </a:prstGeom>
                <a:blipFill>
                  <a:blip r:embed="rId45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5" name="文本框 274">
              <a:extLst>
                <a:ext uri="{FF2B5EF4-FFF2-40B4-BE49-F238E27FC236}">
                  <a16:creationId xmlns:a16="http://schemas.microsoft.com/office/drawing/2014/main" id="{E560E7DE-9972-D76A-2C6D-B7D2A405D80D}"/>
                </a:ext>
              </a:extLst>
            </p:cNvPr>
            <p:cNvSpPr txBox="1"/>
            <p:nvPr/>
          </p:nvSpPr>
          <p:spPr>
            <a:xfrm>
              <a:off x="8691267" y="4716901"/>
              <a:ext cx="26947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包含的随机变量取值：无</a:t>
              </a:r>
            </a:p>
          </p:txBody>
        </p:sp>
      </p:grpSp>
      <p:grpSp>
        <p:nvGrpSpPr>
          <p:cNvPr id="287" name="组合 286">
            <a:extLst>
              <a:ext uri="{FF2B5EF4-FFF2-40B4-BE49-F238E27FC236}">
                <a16:creationId xmlns:a16="http://schemas.microsoft.com/office/drawing/2014/main" id="{B95295F9-3A98-80E9-54B0-8C574A1481D4}"/>
              </a:ext>
            </a:extLst>
          </p:cNvPr>
          <p:cNvGrpSpPr/>
          <p:nvPr/>
        </p:nvGrpSpPr>
        <p:grpSpPr>
          <a:xfrm>
            <a:off x="657512" y="2613494"/>
            <a:ext cx="5254249" cy="2614354"/>
            <a:chOff x="6274201" y="2601499"/>
            <a:chExt cx="5254249" cy="2614354"/>
          </a:xfrm>
        </p:grpSpPr>
        <p:sp>
          <p:nvSpPr>
            <p:cNvPr id="288" name="矩形 287">
              <a:extLst>
                <a:ext uri="{FF2B5EF4-FFF2-40B4-BE49-F238E27FC236}">
                  <a16:creationId xmlns:a16="http://schemas.microsoft.com/office/drawing/2014/main" id="{89E469E4-5589-0A1E-CE5D-17E9BB79E9EF}"/>
                </a:ext>
              </a:extLst>
            </p:cNvPr>
            <p:cNvSpPr/>
            <p:nvPr/>
          </p:nvSpPr>
          <p:spPr>
            <a:xfrm>
              <a:off x="6274201" y="2601499"/>
              <a:ext cx="5254249" cy="26143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89" name="直接连接符 288">
              <a:extLst>
                <a:ext uri="{FF2B5EF4-FFF2-40B4-BE49-F238E27FC236}">
                  <a16:creationId xmlns:a16="http://schemas.microsoft.com/office/drawing/2014/main" id="{524EB8EF-97D6-C7E3-7954-5BB29162B1B7}"/>
                </a:ext>
              </a:extLst>
            </p:cNvPr>
            <p:cNvCxnSpPr/>
            <p:nvPr/>
          </p:nvCxnSpPr>
          <p:spPr>
            <a:xfrm>
              <a:off x="6402868" y="3635786"/>
              <a:ext cx="5008989" cy="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90" name="直接连接符 289">
              <a:extLst>
                <a:ext uri="{FF2B5EF4-FFF2-40B4-BE49-F238E27FC236}">
                  <a16:creationId xmlns:a16="http://schemas.microsoft.com/office/drawing/2014/main" id="{5B01BCC1-9F57-C034-A0B6-E94BF9164158}"/>
                </a:ext>
              </a:extLst>
            </p:cNvPr>
            <p:cNvCxnSpPr/>
            <p:nvPr/>
          </p:nvCxnSpPr>
          <p:spPr>
            <a:xfrm>
              <a:off x="6398370" y="4597357"/>
              <a:ext cx="5008989" cy="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91" name="组合 290">
            <a:extLst>
              <a:ext uri="{FF2B5EF4-FFF2-40B4-BE49-F238E27FC236}">
                <a16:creationId xmlns:a16="http://schemas.microsoft.com/office/drawing/2014/main" id="{9BC48550-BAC0-4B02-36A8-5302FCC88071}"/>
              </a:ext>
            </a:extLst>
          </p:cNvPr>
          <p:cNvGrpSpPr/>
          <p:nvPr/>
        </p:nvGrpSpPr>
        <p:grpSpPr>
          <a:xfrm>
            <a:off x="775774" y="2771584"/>
            <a:ext cx="4830831" cy="797512"/>
            <a:chOff x="6398499" y="2752839"/>
            <a:chExt cx="4830831" cy="797512"/>
          </a:xfrm>
        </p:grpSpPr>
        <p:grpSp>
          <p:nvGrpSpPr>
            <p:cNvPr id="292" name="组合 291">
              <a:extLst>
                <a:ext uri="{FF2B5EF4-FFF2-40B4-BE49-F238E27FC236}">
                  <a16:creationId xmlns:a16="http://schemas.microsoft.com/office/drawing/2014/main" id="{9548AF73-631A-4531-0119-70318B3E2AE0}"/>
                </a:ext>
              </a:extLst>
            </p:cNvPr>
            <p:cNvGrpSpPr/>
            <p:nvPr/>
          </p:nvGrpSpPr>
          <p:grpSpPr>
            <a:xfrm>
              <a:off x="6402868" y="2752839"/>
              <a:ext cx="4826462" cy="369332"/>
              <a:chOff x="6402868" y="2752839"/>
              <a:chExt cx="4826462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7" name="文本框 296">
                    <a:extLst>
                      <a:ext uri="{FF2B5EF4-FFF2-40B4-BE49-F238E27FC236}">
                        <a16:creationId xmlns:a16="http://schemas.microsoft.com/office/drawing/2014/main" id="{77EDB85D-3CD2-8ED5-5B78-F84B1D015563}"/>
                      </a:ext>
                    </a:extLst>
                  </p:cNvPr>
                  <p:cNvSpPr txBox="1"/>
                  <p:nvPr/>
                </p:nvSpPr>
                <p:spPr>
                  <a:xfrm>
                    <a:off x="6402868" y="2752839"/>
                    <a:ext cx="2217206" cy="369332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=3/6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97" name="文本框 296">
                    <a:extLst>
                      <a:ext uri="{FF2B5EF4-FFF2-40B4-BE49-F238E27FC236}">
                        <a16:creationId xmlns:a16="http://schemas.microsoft.com/office/drawing/2014/main" id="{77EDB85D-3CD2-8ED5-5B78-F84B1D0155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2868" y="2752839"/>
                    <a:ext cx="2217206" cy="369332"/>
                  </a:xfrm>
                  <a:prstGeom prst="rect">
                    <a:avLst/>
                  </a:prstGeom>
                  <a:blipFill>
                    <a:blip r:embed="rId46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50977864-9FCB-E754-58DD-DBB01268BA51}"/>
                      </a:ext>
                    </a:extLst>
                  </p:cNvPr>
                  <p:cNvSpPr txBox="1"/>
                  <p:nvPr/>
                </p:nvSpPr>
                <p:spPr>
                  <a:xfrm>
                    <a:off x="8777310" y="2801352"/>
                    <a:ext cx="245202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∈[0,3]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98" name="文本框 297">
                    <a:extLst>
                      <a:ext uri="{FF2B5EF4-FFF2-40B4-BE49-F238E27FC236}">
                        <a16:creationId xmlns:a16="http://schemas.microsoft.com/office/drawing/2014/main" id="{50977864-9FCB-E754-58DD-DBB01268BA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7310" y="2801352"/>
                    <a:ext cx="2452020" cy="276999"/>
                  </a:xfrm>
                  <a:prstGeom prst="rect">
                    <a:avLst/>
                  </a:prstGeom>
                  <a:blipFill>
                    <a:blip r:embed="rId47"/>
                    <a:stretch>
                      <a:fillRect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93" name="组合 292">
              <a:extLst>
                <a:ext uri="{FF2B5EF4-FFF2-40B4-BE49-F238E27FC236}">
                  <a16:creationId xmlns:a16="http://schemas.microsoft.com/office/drawing/2014/main" id="{8063DDE3-B6D9-1A0A-3684-023C09F214A4}"/>
                </a:ext>
              </a:extLst>
            </p:cNvPr>
            <p:cNvGrpSpPr/>
            <p:nvPr/>
          </p:nvGrpSpPr>
          <p:grpSpPr>
            <a:xfrm>
              <a:off x="6398499" y="3181019"/>
              <a:ext cx="4830831" cy="369332"/>
              <a:chOff x="6398499" y="3181019"/>
              <a:chExt cx="4830831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5" name="文本框 294">
                    <a:extLst>
                      <a:ext uri="{FF2B5EF4-FFF2-40B4-BE49-F238E27FC236}">
                        <a16:creationId xmlns:a16="http://schemas.microsoft.com/office/drawing/2014/main" id="{C61C33E3-4008-0434-DAE0-AE20FAFCA015}"/>
                      </a:ext>
                    </a:extLst>
                  </p:cNvPr>
                  <p:cNvSpPr txBox="1"/>
                  <p:nvPr/>
                </p:nvSpPr>
                <p:spPr>
                  <a:xfrm>
                    <a:off x="6398499" y="3181019"/>
                    <a:ext cx="2217206" cy="369332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𝟓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=3.5/6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95" name="文本框 294">
                    <a:extLst>
                      <a:ext uri="{FF2B5EF4-FFF2-40B4-BE49-F238E27FC236}">
                        <a16:creationId xmlns:a16="http://schemas.microsoft.com/office/drawing/2014/main" id="{C61C33E3-4008-0434-DAE0-AE20FAFCA0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398499" y="3181019"/>
                    <a:ext cx="2217206" cy="369332"/>
                  </a:xfrm>
                  <a:prstGeom prst="rect">
                    <a:avLst/>
                  </a:prstGeom>
                  <a:blipFill>
                    <a:blip r:embed="rId48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6" name="文本框 295">
                    <a:extLst>
                      <a:ext uri="{FF2B5EF4-FFF2-40B4-BE49-F238E27FC236}">
                        <a16:creationId xmlns:a16="http://schemas.microsoft.com/office/drawing/2014/main" id="{19B47953-D79A-F64B-1913-7E2FC19C9CAA}"/>
                      </a:ext>
                    </a:extLst>
                  </p:cNvPr>
                  <p:cNvSpPr txBox="1"/>
                  <p:nvPr/>
                </p:nvSpPr>
                <p:spPr>
                  <a:xfrm>
                    <a:off x="8777310" y="3214150"/>
                    <a:ext cx="245202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∈[0,3.5]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296" name="文本框 295">
                    <a:extLst>
                      <a:ext uri="{FF2B5EF4-FFF2-40B4-BE49-F238E27FC236}">
                        <a16:creationId xmlns:a16="http://schemas.microsoft.com/office/drawing/2014/main" id="{19B47953-D79A-F64B-1913-7E2FC19C9C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77310" y="3214150"/>
                    <a:ext cx="2452020" cy="276999"/>
                  </a:xfrm>
                  <a:prstGeom prst="rect">
                    <a:avLst/>
                  </a:prstGeom>
                  <a:blipFill>
                    <a:blip r:embed="rId49"/>
                    <a:stretch>
                      <a:fillRect b="-152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99" name="组合 298">
            <a:extLst>
              <a:ext uri="{FF2B5EF4-FFF2-40B4-BE49-F238E27FC236}">
                <a16:creationId xmlns:a16="http://schemas.microsoft.com/office/drawing/2014/main" id="{FD52ACEC-8E7A-E182-A81C-3B1B99DB5697}"/>
              </a:ext>
            </a:extLst>
          </p:cNvPr>
          <p:cNvGrpSpPr/>
          <p:nvPr/>
        </p:nvGrpSpPr>
        <p:grpSpPr>
          <a:xfrm>
            <a:off x="780143" y="3730298"/>
            <a:ext cx="5091517" cy="797703"/>
            <a:chOff x="6402868" y="3711553"/>
            <a:chExt cx="5091517" cy="797703"/>
          </a:xfrm>
        </p:grpSpPr>
        <p:grpSp>
          <p:nvGrpSpPr>
            <p:cNvPr id="300" name="组合 299">
              <a:extLst>
                <a:ext uri="{FF2B5EF4-FFF2-40B4-BE49-F238E27FC236}">
                  <a16:creationId xmlns:a16="http://schemas.microsoft.com/office/drawing/2014/main" id="{C98E529D-DC55-A461-3912-D24BBF11A2A3}"/>
                </a:ext>
              </a:extLst>
            </p:cNvPr>
            <p:cNvGrpSpPr/>
            <p:nvPr/>
          </p:nvGrpSpPr>
          <p:grpSpPr>
            <a:xfrm>
              <a:off x="6403804" y="3711553"/>
              <a:ext cx="5088704" cy="369332"/>
              <a:chOff x="6403804" y="3711553"/>
              <a:chExt cx="5088704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4" name="文本框 303">
                    <a:extLst>
                      <a:ext uri="{FF2B5EF4-FFF2-40B4-BE49-F238E27FC236}">
                        <a16:creationId xmlns:a16="http://schemas.microsoft.com/office/drawing/2014/main" id="{BDD03E58-6E0D-33CF-0013-D85BD0E0E910}"/>
                      </a:ext>
                    </a:extLst>
                  </p:cNvPr>
                  <p:cNvSpPr txBox="1"/>
                  <p:nvPr/>
                </p:nvSpPr>
                <p:spPr>
                  <a:xfrm>
                    <a:off x="6403804" y="3711553"/>
                    <a:ext cx="2216270" cy="369332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𝟔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04" name="文本框 303">
                    <a:extLst>
                      <a:ext uri="{FF2B5EF4-FFF2-40B4-BE49-F238E27FC236}">
                        <a16:creationId xmlns:a16="http://schemas.microsoft.com/office/drawing/2014/main" id="{BDD03E58-6E0D-33CF-0013-D85BD0E0E91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3804" y="3711553"/>
                    <a:ext cx="2216270" cy="369332"/>
                  </a:xfrm>
                  <a:prstGeom prst="rect">
                    <a:avLst/>
                  </a:prstGeom>
                  <a:blipFill>
                    <a:blip r:embed="rId50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A9D6517D-289E-FF68-14AC-86A6AB251968}"/>
                      </a:ext>
                    </a:extLst>
                  </p:cNvPr>
                  <p:cNvSpPr txBox="1"/>
                  <p:nvPr/>
                </p:nvSpPr>
                <p:spPr>
                  <a:xfrm>
                    <a:off x="8797748" y="3765987"/>
                    <a:ext cx="26947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∈[0,6]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05" name="文本框 304">
                    <a:extLst>
                      <a:ext uri="{FF2B5EF4-FFF2-40B4-BE49-F238E27FC236}">
                        <a16:creationId xmlns:a16="http://schemas.microsoft.com/office/drawing/2014/main" id="{A9D6517D-289E-FF68-14AC-86A6AB25196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7748" y="3765987"/>
                    <a:ext cx="2694760" cy="276999"/>
                  </a:xfrm>
                  <a:prstGeom prst="rect">
                    <a:avLst/>
                  </a:prstGeom>
                  <a:blipFill>
                    <a:blip r:embed="rId51"/>
                    <a:stretch>
                      <a:fillRect l="-226" t="-2222" b="-177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1" name="组合 300">
              <a:extLst>
                <a:ext uri="{FF2B5EF4-FFF2-40B4-BE49-F238E27FC236}">
                  <a16:creationId xmlns:a16="http://schemas.microsoft.com/office/drawing/2014/main" id="{9D4946C6-30CD-C278-E2FB-5F42D3E4879E}"/>
                </a:ext>
              </a:extLst>
            </p:cNvPr>
            <p:cNvGrpSpPr/>
            <p:nvPr/>
          </p:nvGrpSpPr>
          <p:grpSpPr>
            <a:xfrm>
              <a:off x="6402868" y="4139924"/>
              <a:ext cx="5091517" cy="369332"/>
              <a:chOff x="6402868" y="4139924"/>
              <a:chExt cx="5091517" cy="36933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D3107906-1329-9DA9-B482-29DABC31B135}"/>
                      </a:ext>
                    </a:extLst>
                  </p:cNvPr>
                  <p:cNvSpPr txBox="1"/>
                  <p:nvPr/>
                </p:nvSpPr>
                <p:spPr>
                  <a:xfrm>
                    <a:off x="6402868" y="4139924"/>
                    <a:ext cx="2216270" cy="369332"/>
                  </a:xfrm>
                  <a:prstGeom prst="rect">
                    <a:avLst/>
                  </a:prstGeom>
                  <a:solidFill>
                    <a:schemeClr val="accent6">
                      <a:lumMod val="40000"/>
                      <a:lumOff val="6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effectLst>
                                    <a:outerShdw blurRad="38100" dist="38100" dir="2700000" algn="tl">
                                      <a:srgbClr val="000000">
                                        <a:alpha val="43137"/>
                                      </a:srgbClr>
                                    </a:outerShdw>
                                  </a:effectLst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=1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02" name="文本框 301">
                    <a:extLst>
                      <a:ext uri="{FF2B5EF4-FFF2-40B4-BE49-F238E27FC236}">
                        <a16:creationId xmlns:a16="http://schemas.microsoft.com/office/drawing/2014/main" id="{D3107906-1329-9DA9-B482-29DABC31B1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02868" y="4139924"/>
                    <a:ext cx="2216270" cy="369332"/>
                  </a:xfrm>
                  <a:prstGeom prst="rect">
                    <a:avLst/>
                  </a:prstGeom>
                  <a:blipFill>
                    <a:blip r:embed="rId52"/>
                    <a:stretch>
                      <a:fillRect b="-16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717C72D8-256E-88E7-2797-F554A67DD51E}"/>
                      </a:ext>
                    </a:extLst>
                  </p:cNvPr>
                  <p:cNvSpPr txBox="1"/>
                  <p:nvPr/>
                </p:nvSpPr>
                <p:spPr>
                  <a:xfrm>
                    <a:off x="8799625" y="4182914"/>
                    <a:ext cx="2694760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zh-CN" altLang="en-US" sz="1200" dirty="0"/>
                      <a:t>包含的随机变量取值：</a:t>
                    </a:r>
                    <a14:m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∈[0,6]</m:t>
                        </m:r>
                      </m:oMath>
                    </a14:m>
                    <a:endParaRPr lang="zh-CN" altLang="en-US" sz="1200" dirty="0"/>
                  </a:p>
                </p:txBody>
              </p:sp>
            </mc:Choice>
            <mc:Fallback xmlns="">
              <p:sp>
                <p:nvSpPr>
                  <p:cNvPr id="303" name="文本框 302">
                    <a:extLst>
                      <a:ext uri="{FF2B5EF4-FFF2-40B4-BE49-F238E27FC236}">
                        <a16:creationId xmlns:a16="http://schemas.microsoft.com/office/drawing/2014/main" id="{717C72D8-256E-88E7-2797-F554A67DD5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99625" y="4182914"/>
                    <a:ext cx="2694760" cy="276999"/>
                  </a:xfrm>
                  <a:prstGeom prst="rect">
                    <a:avLst/>
                  </a:prstGeom>
                  <a:blipFill>
                    <a:blip r:embed="rId53"/>
                    <a:stretch>
                      <a:fillRect b="-1521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306" name="组合 305">
            <a:extLst>
              <a:ext uri="{FF2B5EF4-FFF2-40B4-BE49-F238E27FC236}">
                <a16:creationId xmlns:a16="http://schemas.microsoft.com/office/drawing/2014/main" id="{D51305DB-13E0-D252-8C67-D96940A7AD17}"/>
              </a:ext>
            </a:extLst>
          </p:cNvPr>
          <p:cNvGrpSpPr/>
          <p:nvPr/>
        </p:nvGrpSpPr>
        <p:grpSpPr>
          <a:xfrm>
            <a:off x="780143" y="4689480"/>
            <a:ext cx="5089640" cy="369332"/>
            <a:chOff x="6402868" y="4670735"/>
            <a:chExt cx="5089640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7" name="文本框 306">
                  <a:extLst>
                    <a:ext uri="{FF2B5EF4-FFF2-40B4-BE49-F238E27FC236}">
                      <a16:creationId xmlns:a16="http://schemas.microsoft.com/office/drawing/2014/main" id="{399A66D6-C723-C055-A09D-99F4B1C627F4}"/>
                    </a:ext>
                  </a:extLst>
                </p:cNvPr>
                <p:cNvSpPr txBox="1"/>
                <p:nvPr/>
              </p:nvSpPr>
              <p:spPr>
                <a:xfrm>
                  <a:off x="6402868" y="4670735"/>
                  <a:ext cx="2216270" cy="36933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𝟎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307" name="文本框 306">
                  <a:extLst>
                    <a:ext uri="{FF2B5EF4-FFF2-40B4-BE49-F238E27FC236}">
                      <a16:creationId xmlns:a16="http://schemas.microsoft.com/office/drawing/2014/main" id="{399A66D6-C723-C055-A09D-99F4B1C627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02868" y="4670735"/>
                  <a:ext cx="2216270" cy="369332"/>
                </a:xfrm>
                <a:prstGeom prst="rect">
                  <a:avLst/>
                </a:prstGeom>
                <a:blipFill>
                  <a:blip r:embed="rId54"/>
                  <a:stretch>
                    <a:fillRect b="-32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08" name="文本框 307">
              <a:extLst>
                <a:ext uri="{FF2B5EF4-FFF2-40B4-BE49-F238E27FC236}">
                  <a16:creationId xmlns:a16="http://schemas.microsoft.com/office/drawing/2014/main" id="{4E3EACF2-2977-D96C-DADC-D4F70104DD2A}"/>
                </a:ext>
              </a:extLst>
            </p:cNvPr>
            <p:cNvSpPr txBox="1"/>
            <p:nvPr/>
          </p:nvSpPr>
          <p:spPr>
            <a:xfrm>
              <a:off x="8797748" y="4716901"/>
              <a:ext cx="269476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/>
                <a:t>包含的随机变量取值：无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420777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9" grpId="0"/>
      <p:bldP spid="6" grpId="0" animBg="1"/>
      <p:bldP spid="13" grpId="0"/>
      <p:bldP spid="16" grpId="0"/>
      <p:bldP spid="19" grpId="0" animBg="1"/>
      <p:bldP spid="22" grpId="0" animBg="1"/>
      <p:bldP spid="121" grpId="0"/>
      <p:bldP spid="193" grpId="0"/>
      <p:bldP spid="2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组合 22">
            <a:extLst>
              <a:ext uri="{FF2B5EF4-FFF2-40B4-BE49-F238E27FC236}">
                <a16:creationId xmlns:a16="http://schemas.microsoft.com/office/drawing/2014/main" id="{C5F9D6BE-B01E-15EA-66CC-A0D4FB77B07F}"/>
              </a:ext>
            </a:extLst>
          </p:cNvPr>
          <p:cNvGrpSpPr/>
          <p:nvPr/>
        </p:nvGrpSpPr>
        <p:grpSpPr>
          <a:xfrm>
            <a:off x="6490020" y="2672783"/>
            <a:ext cx="928154" cy="806739"/>
            <a:chOff x="6490020" y="2707126"/>
            <a:chExt cx="928154" cy="806739"/>
          </a:xfrm>
        </p:grpSpPr>
        <p:pic>
          <p:nvPicPr>
            <p:cNvPr id="25" name="图片 24">
              <a:extLst>
                <a:ext uri="{FF2B5EF4-FFF2-40B4-BE49-F238E27FC236}">
                  <a16:creationId xmlns:a16="http://schemas.microsoft.com/office/drawing/2014/main" id="{AC17BC21-35EA-2AB2-D3B2-C854C9504B7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48" t="5175" r="2627" b="5529"/>
            <a:stretch/>
          </p:blipFill>
          <p:spPr>
            <a:xfrm>
              <a:off x="6630765" y="2707126"/>
              <a:ext cx="703621" cy="719493"/>
            </a:xfrm>
            <a:prstGeom prst="rect">
              <a:avLst/>
            </a:prstGeom>
          </p:spPr>
        </p:pic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107AA11D-89B3-3858-234D-45E2DF645E9C}"/>
                </a:ext>
              </a:extLst>
            </p:cNvPr>
            <p:cNvSpPr/>
            <p:nvPr/>
          </p:nvSpPr>
          <p:spPr>
            <a:xfrm>
              <a:off x="6490020" y="3294234"/>
              <a:ext cx="928154" cy="219631"/>
            </a:xfrm>
            <a:prstGeom prst="roundRect">
              <a:avLst/>
            </a:prstGeom>
            <a:solidFill>
              <a:schemeClr val="bg1">
                <a:alpha val="75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900" dirty="0">
                  <a:solidFill>
                    <a:schemeClr val="tx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随机数产生器</a:t>
              </a:r>
            </a:p>
          </p:txBody>
        </p:sp>
      </p:grpSp>
      <p:grpSp>
        <p:nvGrpSpPr>
          <p:cNvPr id="191" name="组合 190">
            <a:extLst>
              <a:ext uri="{FF2B5EF4-FFF2-40B4-BE49-F238E27FC236}">
                <a16:creationId xmlns:a16="http://schemas.microsoft.com/office/drawing/2014/main" id="{7D9FA45C-501E-9BF9-FD81-229031FA05D0}"/>
              </a:ext>
            </a:extLst>
          </p:cNvPr>
          <p:cNvGrpSpPr/>
          <p:nvPr/>
        </p:nvGrpSpPr>
        <p:grpSpPr>
          <a:xfrm>
            <a:off x="2072267" y="2752839"/>
            <a:ext cx="3718348" cy="1960799"/>
            <a:chOff x="2072267" y="2791311"/>
            <a:chExt cx="3718348" cy="1960799"/>
          </a:xfrm>
        </p:grpSpPr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6A38631B-BEBD-A764-C261-ADA745C035AC}"/>
                </a:ext>
              </a:extLst>
            </p:cNvPr>
            <p:cNvGrpSpPr/>
            <p:nvPr/>
          </p:nvGrpSpPr>
          <p:grpSpPr>
            <a:xfrm>
              <a:off x="2360241" y="3124924"/>
              <a:ext cx="3251451" cy="246221"/>
              <a:chOff x="2538861" y="3124924"/>
              <a:chExt cx="2848078" cy="246221"/>
            </a:xfrm>
          </p:grpSpPr>
          <p:cxnSp>
            <p:nvCxnSpPr>
              <p:cNvPr id="68" name="直接连接符 67">
                <a:extLst>
                  <a:ext uri="{FF2B5EF4-FFF2-40B4-BE49-F238E27FC236}">
                    <a16:creationId xmlns:a16="http://schemas.microsoft.com/office/drawing/2014/main" id="{CEE849A3-425C-B6FA-238E-AA1030E372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29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15B3FCE7-1F9B-8C6D-195B-09E50F0BC7E1}"/>
                      </a:ext>
                    </a:extLst>
                  </p:cNvPr>
                  <p:cNvSpPr txBox="1"/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zh-CN" sz="1600" dirty="0"/>
                  </a:p>
                </p:txBody>
              </p:sp>
            </mc:Choice>
            <mc:Fallback xmlns="">
              <p:sp>
                <p:nvSpPr>
                  <p:cNvPr id="70" name="文本框 69">
                    <a:extLst>
                      <a:ext uri="{FF2B5EF4-FFF2-40B4-BE49-F238E27FC236}">
                        <a16:creationId xmlns:a16="http://schemas.microsoft.com/office/drawing/2014/main" id="{15B3FCE7-1F9B-8C6D-195B-09E50F0BC7E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2500" r="-15625" b="-48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026414A8-6BAD-43CD-CA00-68C53077C6BE}"/>
                </a:ext>
              </a:extLst>
            </p:cNvPr>
            <p:cNvGrpSpPr/>
            <p:nvPr/>
          </p:nvGrpSpPr>
          <p:grpSpPr>
            <a:xfrm>
              <a:off x="2309418" y="3363014"/>
              <a:ext cx="3302274" cy="184666"/>
              <a:chOff x="2488037" y="3164151"/>
              <a:chExt cx="3302274" cy="184666"/>
            </a:xfrm>
          </p:grpSpPr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14DAAD09-3FC6-460F-D82B-68F105F039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文本框 85">
                    <a:extLst>
                      <a:ext uri="{FF2B5EF4-FFF2-40B4-BE49-F238E27FC236}">
                        <a16:creationId xmlns:a16="http://schemas.microsoft.com/office/drawing/2014/main" id="{FAEE5301-D531-1735-771E-51F415D8F4A4}"/>
                      </a:ext>
                    </a:extLst>
                  </p:cNvPr>
                  <p:cNvSpPr txBox="1"/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86" name="文本框 85">
                    <a:extLst>
                      <a:ext uri="{FF2B5EF4-FFF2-40B4-BE49-F238E27FC236}">
                        <a16:creationId xmlns:a16="http://schemas.microsoft.com/office/drawing/2014/main" id="{FAEE5301-D531-1735-771E-51F415D8F4A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2766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86ECD0E9-0F55-3E1C-AE1F-C090EC6490F9}"/>
                </a:ext>
              </a:extLst>
            </p:cNvPr>
            <p:cNvGrpSpPr/>
            <p:nvPr/>
          </p:nvGrpSpPr>
          <p:grpSpPr>
            <a:xfrm>
              <a:off x="2296675" y="3564571"/>
              <a:ext cx="3315017" cy="184666"/>
              <a:chOff x="2475294" y="3161810"/>
              <a:chExt cx="3315017" cy="184666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005380A9-B1F3-4FEF-0EBD-4E9F9782ED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F7006C46-FFAD-CBDB-839F-B1F96655D9FC}"/>
                      </a:ext>
                    </a:extLst>
                  </p:cNvPr>
                  <p:cNvSpPr txBox="1"/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89" name="文本框 88">
                    <a:extLst>
                      <a:ext uri="{FF2B5EF4-FFF2-40B4-BE49-F238E27FC236}">
                        <a16:creationId xmlns:a16="http://schemas.microsoft.com/office/drawing/2014/main" id="{F7006C46-FFAD-CBDB-839F-B1F96655D9F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638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94" name="组合 93">
              <a:extLst>
                <a:ext uri="{FF2B5EF4-FFF2-40B4-BE49-F238E27FC236}">
                  <a16:creationId xmlns:a16="http://schemas.microsoft.com/office/drawing/2014/main" id="{65281129-2976-E7A8-5A67-96BDCF102A32}"/>
                </a:ext>
              </a:extLst>
            </p:cNvPr>
            <p:cNvGrpSpPr/>
            <p:nvPr/>
          </p:nvGrpSpPr>
          <p:grpSpPr>
            <a:xfrm>
              <a:off x="2293515" y="3762482"/>
              <a:ext cx="3318177" cy="184666"/>
              <a:chOff x="2472134" y="3157080"/>
              <a:chExt cx="3318177" cy="184666"/>
            </a:xfrm>
          </p:grpSpPr>
          <p:cxnSp>
            <p:nvCxnSpPr>
              <p:cNvPr id="95" name="直接连接符 94">
                <a:extLst>
                  <a:ext uri="{FF2B5EF4-FFF2-40B4-BE49-F238E27FC236}">
                    <a16:creationId xmlns:a16="http://schemas.microsoft.com/office/drawing/2014/main" id="{42AEA605-943D-D989-B547-B81AABE9FC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E0D554E8-F8AE-3A9B-534C-40A024C68A05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111" name="文本框 110">
                    <a:extLst>
                      <a:ext uri="{FF2B5EF4-FFF2-40B4-BE49-F238E27FC236}">
                        <a16:creationId xmlns:a16="http://schemas.microsoft.com/office/drawing/2014/main" id="{E0D554E8-F8AE-3A9B-534C-40A024C68A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0638" t="-3333" r="-12766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5D66362A-2D91-AAAA-48A9-20BB58A15BCC}"/>
                </a:ext>
              </a:extLst>
            </p:cNvPr>
            <p:cNvGrpSpPr/>
            <p:nvPr/>
          </p:nvGrpSpPr>
          <p:grpSpPr>
            <a:xfrm>
              <a:off x="2277841" y="3960080"/>
              <a:ext cx="3333850" cy="184666"/>
              <a:chOff x="2458366" y="3161231"/>
              <a:chExt cx="2928575" cy="184666"/>
            </a:xfrm>
          </p:grpSpPr>
          <p:cxnSp>
            <p:nvCxnSpPr>
              <p:cNvPr id="113" name="直接连接符 112">
                <a:extLst>
                  <a:ext uri="{FF2B5EF4-FFF2-40B4-BE49-F238E27FC236}">
                    <a16:creationId xmlns:a16="http://schemas.microsoft.com/office/drawing/2014/main" id="{7F26369D-1653-D4E4-6BB9-977562A844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3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52BB269F-CA47-1FB6-5C31-9228144C4D99}"/>
                      </a:ext>
                    </a:extLst>
                  </p:cNvPr>
                  <p:cNvSpPr txBox="1"/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52BB269F-CA47-1FB6-5C31-9228144C4D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774" t="-3226" r="-5660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77F13090-A57D-888C-3782-4AF291A874DD}"/>
                </a:ext>
              </a:extLst>
            </p:cNvPr>
            <p:cNvGrpSpPr/>
            <p:nvPr/>
          </p:nvGrpSpPr>
          <p:grpSpPr>
            <a:xfrm>
              <a:off x="2293514" y="4162797"/>
              <a:ext cx="3318178" cy="184666"/>
              <a:chOff x="2472133" y="3164033"/>
              <a:chExt cx="3318178" cy="184666"/>
            </a:xfrm>
          </p:grpSpPr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BCB4E111-C7E3-2EBA-7C0A-81643AB64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1562DC5-ADEA-D2AD-D717-7EA54A3C921A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1562DC5-ADEA-D2AD-D717-7EA54A3C92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0638" t="-6667" r="-12766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9BE3A4EB-A07B-1CA4-0AE2-7AED397F8E1A}"/>
                </a:ext>
              </a:extLst>
            </p:cNvPr>
            <p:cNvGrpSpPr/>
            <p:nvPr/>
          </p:nvGrpSpPr>
          <p:grpSpPr>
            <a:xfrm>
              <a:off x="2072267" y="2791311"/>
              <a:ext cx="3718348" cy="1960799"/>
              <a:chOff x="7913745" y="3206117"/>
              <a:chExt cx="3718348" cy="1960799"/>
            </a:xfrm>
          </p:grpSpPr>
          <p:cxnSp>
            <p:nvCxnSpPr>
              <p:cNvPr id="61" name="直接箭头连接符 60">
                <a:extLst>
                  <a:ext uri="{FF2B5EF4-FFF2-40B4-BE49-F238E27FC236}">
                    <a16:creationId xmlns:a16="http://schemas.microsoft.com/office/drawing/2014/main" id="{DAEB69AF-90C5-920B-54BA-54CA7D06D3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9697" y="4843751"/>
                <a:ext cx="3511441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3" name="直接箭头连接符 62">
                <a:extLst>
                  <a:ext uri="{FF2B5EF4-FFF2-40B4-BE49-F238E27FC236}">
                    <a16:creationId xmlns:a16="http://schemas.microsoft.com/office/drawing/2014/main" id="{5A10D064-0B4B-9DA0-3F20-8B58A08AF2F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9669" y="3206117"/>
                <a:ext cx="0" cy="196079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5CC8B61C-1ECD-BACD-9069-979ADB8B40A7}"/>
                      </a:ext>
                    </a:extLst>
                  </p:cNvPr>
                  <p:cNvSpPr txBox="1"/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64" name="文本框 63">
                    <a:extLst>
                      <a:ext uri="{FF2B5EF4-FFF2-40B4-BE49-F238E27FC236}">
                        <a16:creationId xmlns:a16="http://schemas.microsoft.com/office/drawing/2014/main" id="{5CC8B61C-1ECD-BACD-9069-979ADB8B40A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21622" r="-2162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E64A621D-34EA-89B2-8B71-CD5E6BBB2624}"/>
                      </a:ext>
                    </a:extLst>
                  </p:cNvPr>
                  <p:cNvSpPr txBox="1"/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65" name="文本框 64">
                    <a:extLst>
                      <a:ext uri="{FF2B5EF4-FFF2-40B4-BE49-F238E27FC236}">
                        <a16:creationId xmlns:a16="http://schemas.microsoft.com/office/drawing/2014/main" id="{E64A621D-34EA-89B2-8B71-CD5E6BBB26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4286" r="-10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1E2FA60A-3D62-59F5-E5C0-D36C1D68B6B3}"/>
                      </a:ext>
                    </a:extLst>
                  </p:cNvPr>
                  <p:cNvSpPr txBox="1"/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66" name="文本框 65">
                    <a:extLst>
                      <a:ext uri="{FF2B5EF4-FFF2-40B4-BE49-F238E27FC236}">
                        <a16:creationId xmlns:a16="http://schemas.microsoft.com/office/drawing/2014/main" id="{1E2FA60A-3D62-59F5-E5C0-D36C1D68B6B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8974" r="-12821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B83C36E-69C9-277D-9D96-7881A5239DAD}"/>
                    </a:ext>
                  </a:extLst>
                </p:cNvPr>
                <p:cNvSpPr txBox="1"/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3B83C36E-69C9-277D-9D96-7881A5239D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blipFill>
                  <a:blip r:embed="rId15"/>
                  <a:stretch>
                    <a:fillRect l="-15625" r="-125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96BD4126-26EC-9229-7DFC-35687497F478}"/>
                    </a:ext>
                  </a:extLst>
                </p:cNvPr>
                <p:cNvSpPr txBox="1"/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6" name="文本框 165">
                  <a:extLst>
                    <a:ext uri="{FF2B5EF4-FFF2-40B4-BE49-F238E27FC236}">
                      <a16:creationId xmlns:a16="http://schemas.microsoft.com/office/drawing/2014/main" id="{96BD4126-26EC-9229-7DFC-35687497F47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21429" r="-250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6259C98-A5BE-DC45-B486-493200EB463D}"/>
                    </a:ext>
                  </a:extLst>
                </p:cNvPr>
                <p:cNvSpPr txBox="1"/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7" name="文本框 166">
                  <a:extLst>
                    <a:ext uri="{FF2B5EF4-FFF2-40B4-BE49-F238E27FC236}">
                      <a16:creationId xmlns:a16="http://schemas.microsoft.com/office/drawing/2014/main" id="{56259C98-A5BE-DC45-B486-493200EB46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blipFill>
                  <a:blip r:embed="rId17"/>
                  <a:stretch>
                    <a:fillRect l="-25926" r="-25926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0F1C6CA-5DBB-269A-4B98-CAA9BD9BEEB1}"/>
                    </a:ext>
                  </a:extLst>
                </p:cNvPr>
                <p:cNvSpPr txBox="1"/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8" name="文本框 167">
                  <a:extLst>
                    <a:ext uri="{FF2B5EF4-FFF2-40B4-BE49-F238E27FC236}">
                      <a16:creationId xmlns:a16="http://schemas.microsoft.com/office/drawing/2014/main" id="{F0F1C6CA-5DBB-269A-4B98-CAA9BD9BEE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25926" r="-25926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3D855DD2-B2A1-441F-29B2-CFCB0F18CBE4}"/>
                    </a:ext>
                  </a:extLst>
                </p:cNvPr>
                <p:cNvSpPr txBox="1"/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69" name="文本框 168">
                  <a:extLst>
                    <a:ext uri="{FF2B5EF4-FFF2-40B4-BE49-F238E27FC236}">
                      <a16:creationId xmlns:a16="http://schemas.microsoft.com/office/drawing/2014/main" id="{3D855DD2-B2A1-441F-29B2-CFCB0F18CB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25926" r="-2963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37A83C0-DF8B-C292-6949-A37EA4BFF654}"/>
                    </a:ext>
                  </a:extLst>
                </p:cNvPr>
                <p:cNvSpPr txBox="1"/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70" name="文本框 169">
                  <a:extLst>
                    <a:ext uri="{FF2B5EF4-FFF2-40B4-BE49-F238E27FC236}">
                      <a16:creationId xmlns:a16="http://schemas.microsoft.com/office/drawing/2014/main" id="{637A83C0-DF8B-C292-6949-A37EA4BFF6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blipFill>
                  <a:blip r:embed="rId20"/>
                  <a:stretch>
                    <a:fillRect l="-25000" r="-21429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A84422B9-88C1-D634-A7E1-36F621C8F4DF}"/>
                </a:ext>
              </a:extLst>
            </p:cNvPr>
            <p:cNvSpPr txBox="1"/>
            <p:nvPr/>
          </p:nvSpPr>
          <p:spPr>
            <a:xfrm>
              <a:off x="5048171" y="4484797"/>
              <a:ext cx="28854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/>
                <a:t>……</a:t>
              </a:r>
            </a:p>
          </p:txBody>
        </p: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7853758" cy="7950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由分布函数定义中的“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zh-CN" altLang="en-US" sz="160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”可以显然看出，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 分布函数 在 某点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处的值，等于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取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及其之前的所有值 的概率之和。</a:t>
                </a:r>
                <a:r>
                  <a:rPr lang="zh-CN" altLang="en-US" sz="1600" i="1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</a:t>
                </a:r>
                <a:endParaRPr lang="en-US" altLang="zh-CN" sz="16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7853758" cy="795026"/>
              </a:xfrm>
              <a:prstGeom prst="rect">
                <a:avLst/>
              </a:prstGeom>
              <a:blipFill>
                <a:blip r:embed="rId21"/>
                <a:stretch>
                  <a:fillRect l="-388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327300" y="775742"/>
            <a:ext cx="3708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分布函数 与 分布律、密度函数 的关系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AFB267-699D-1751-DDEF-8207D7390FFE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5" t="12409" r="12918" b="15406"/>
          <a:stretch/>
        </p:blipFill>
        <p:spPr>
          <a:xfrm>
            <a:off x="1020918" y="2672783"/>
            <a:ext cx="650383" cy="701898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1A6B08-CD6C-3293-A966-90BFDCE89723}"/>
              </a:ext>
            </a:extLst>
          </p:cNvPr>
          <p:cNvSpPr/>
          <p:nvPr/>
        </p:nvSpPr>
        <p:spPr>
          <a:xfrm>
            <a:off x="576364" y="2514527"/>
            <a:ext cx="5425538" cy="279260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6600C96-CF53-F967-0FE2-ABA1DF7F4A09}"/>
              </a:ext>
            </a:extLst>
          </p:cNvPr>
          <p:cNvSpPr txBox="1"/>
          <p:nvPr/>
        </p:nvSpPr>
        <p:spPr>
          <a:xfrm>
            <a:off x="699581" y="3473816"/>
            <a:ext cx="1293055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传统骰子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等可能地掷出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1,2,3,4,5,6</a:t>
            </a:r>
            <a:endParaRPr lang="zh-CN" altLang="en-US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3E5200-BC96-5512-1601-5E4A10A1A002}"/>
              </a:ext>
            </a:extLst>
          </p:cNvPr>
          <p:cNvSpPr/>
          <p:nvPr/>
        </p:nvSpPr>
        <p:spPr>
          <a:xfrm>
            <a:off x="6190096" y="2514527"/>
            <a:ext cx="5425538" cy="2792604"/>
          </a:xfrm>
          <a:prstGeom prst="rect">
            <a:avLst/>
          </a:prstGeom>
          <a:noFill/>
          <a:ln w="1905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2ED138-E938-F9CE-8967-2A4ABE33A26F}"/>
              </a:ext>
            </a:extLst>
          </p:cNvPr>
          <p:cNvSpPr txBox="1"/>
          <p:nvPr/>
        </p:nvSpPr>
        <p:spPr>
          <a:xfrm>
            <a:off x="6254246" y="3492151"/>
            <a:ext cx="1456660" cy="723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latin typeface="仿宋" panose="02010609060101010101" pitchFamily="49" charset="-122"/>
                <a:ea typeface="仿宋" panose="02010609060101010101" pitchFamily="49" charset="-122"/>
              </a:rPr>
              <a:t>电子骰子</a:t>
            </a:r>
            <a:endParaRPr lang="en-US" altLang="zh-CN" sz="1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ctr">
              <a:spcBef>
                <a:spcPts val="600"/>
              </a:spcBef>
            </a:pP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等可能地给出</a:t>
            </a:r>
            <a:endParaRPr lang="en-US" altLang="zh-CN" sz="1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en-US" altLang="zh-CN" sz="1100" dirty="0">
                <a:latin typeface="楷体" panose="02010609060101010101" pitchFamily="49" charset="-122"/>
                <a:ea typeface="楷体" panose="02010609060101010101" pitchFamily="49" charset="-122"/>
              </a:rPr>
              <a:t>[0,6]</a:t>
            </a:r>
            <a:r>
              <a:rPr lang="zh-CN" altLang="en-US" sz="1100" dirty="0">
                <a:latin typeface="楷体" panose="02010609060101010101" pitchFamily="49" charset="-122"/>
                <a:ea typeface="楷体" panose="02010609060101010101" pitchFamily="49" charset="-122"/>
              </a:rPr>
              <a:t>间的任一实数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B254086-67B6-3DA0-C524-D70EC23B03BF}"/>
              </a:ext>
            </a:extLst>
          </p:cNvPr>
          <p:cNvSpPr txBox="1"/>
          <p:nvPr/>
        </p:nvSpPr>
        <p:spPr>
          <a:xfrm>
            <a:off x="706714" y="4428945"/>
            <a:ext cx="127878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离散型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30BCC48-18A8-6C70-AA39-B50FE1B2CDA5}"/>
              </a:ext>
            </a:extLst>
          </p:cNvPr>
          <p:cNvSpPr txBox="1"/>
          <p:nvPr/>
        </p:nvSpPr>
        <p:spPr>
          <a:xfrm>
            <a:off x="6318633" y="4463288"/>
            <a:ext cx="1278788" cy="64633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连续型</a:t>
            </a:r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18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/>
              <p:nvPr/>
            </p:nvSpPr>
            <p:spPr>
              <a:xfrm>
                <a:off x="4207959" y="2133854"/>
                <a:ext cx="190167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7959" y="2133854"/>
                <a:ext cx="1901679" cy="276999"/>
              </a:xfrm>
              <a:prstGeom prst="rect">
                <a:avLst/>
              </a:prstGeom>
              <a:blipFill>
                <a:blip r:embed="rId23"/>
                <a:stretch>
                  <a:fillRect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2" name="组合 191">
            <a:extLst>
              <a:ext uri="{FF2B5EF4-FFF2-40B4-BE49-F238E27FC236}">
                <a16:creationId xmlns:a16="http://schemas.microsoft.com/office/drawing/2014/main" id="{2715AB04-6FEE-2013-CA24-7F35AC3BD0F5}"/>
              </a:ext>
            </a:extLst>
          </p:cNvPr>
          <p:cNvGrpSpPr/>
          <p:nvPr/>
        </p:nvGrpSpPr>
        <p:grpSpPr>
          <a:xfrm>
            <a:off x="2293110" y="3191262"/>
            <a:ext cx="3258663" cy="1221857"/>
            <a:chOff x="2293110" y="3229734"/>
            <a:chExt cx="3258663" cy="1221857"/>
          </a:xfrm>
        </p:grpSpPr>
        <p:grpSp>
          <p:nvGrpSpPr>
            <p:cNvPr id="126" name="组合 125">
              <a:extLst>
                <a:ext uri="{FF2B5EF4-FFF2-40B4-BE49-F238E27FC236}">
                  <a16:creationId xmlns:a16="http://schemas.microsoft.com/office/drawing/2014/main" id="{9FEBE964-7FFE-62CB-B702-3FF7422D768E}"/>
                </a:ext>
              </a:extLst>
            </p:cNvPr>
            <p:cNvGrpSpPr/>
            <p:nvPr/>
          </p:nvGrpSpPr>
          <p:grpSpPr>
            <a:xfrm>
              <a:off x="2293110" y="4402758"/>
              <a:ext cx="705050" cy="48833"/>
              <a:chOff x="2471729" y="4402758"/>
              <a:chExt cx="705050" cy="48833"/>
            </a:xfrm>
          </p:grpSpPr>
          <p:cxnSp>
            <p:nvCxnSpPr>
              <p:cNvPr id="123" name="直接连接符 122">
                <a:extLst>
                  <a:ext uri="{FF2B5EF4-FFF2-40B4-BE49-F238E27FC236}">
                    <a16:creationId xmlns:a16="http://schemas.microsoft.com/office/drawing/2014/main" id="{3DD8B973-69C9-5F14-364C-146A8D6313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71729" y="4428944"/>
                <a:ext cx="685081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4" name="椭圆 123">
                <a:extLst>
                  <a:ext uri="{FF2B5EF4-FFF2-40B4-BE49-F238E27FC236}">
                    <a16:creationId xmlns:a16="http://schemas.microsoft.com/office/drawing/2014/main" id="{CA28E40D-5E9F-F3F3-329D-D5D7F4581A83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20A41423-6520-35CB-FB40-71510EC541AD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27" name="组合 126">
              <a:extLst>
                <a:ext uri="{FF2B5EF4-FFF2-40B4-BE49-F238E27FC236}">
                  <a16:creationId xmlns:a16="http://schemas.microsoft.com/office/drawing/2014/main" id="{9DFDF509-B100-D675-3E1A-888916B9C63B}"/>
                </a:ext>
              </a:extLst>
            </p:cNvPr>
            <p:cNvGrpSpPr/>
            <p:nvPr/>
          </p:nvGrpSpPr>
          <p:grpSpPr>
            <a:xfrm>
              <a:off x="2954237" y="4229029"/>
              <a:ext cx="402830" cy="48833"/>
              <a:chOff x="2773949" y="4402758"/>
              <a:chExt cx="402830" cy="48833"/>
            </a:xfrm>
          </p:grpSpPr>
          <p:cxnSp>
            <p:nvCxnSpPr>
              <p:cNvPr id="128" name="直接连接符 127">
                <a:extLst>
                  <a:ext uri="{FF2B5EF4-FFF2-40B4-BE49-F238E27FC236}">
                    <a16:creationId xmlns:a16="http://schemas.microsoft.com/office/drawing/2014/main" id="{030509C4-7320-7ACB-8234-37FF696F3236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B2343593-1879-A6CB-56D9-5DEB04FFAA5F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B315AA3D-0D46-3114-1D89-011DE74A9B14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1" name="组合 130">
              <a:extLst>
                <a:ext uri="{FF2B5EF4-FFF2-40B4-BE49-F238E27FC236}">
                  <a16:creationId xmlns:a16="http://schemas.microsoft.com/office/drawing/2014/main" id="{8ED95269-7CE1-E9F8-BE62-C0BBB25EBEA2}"/>
                </a:ext>
              </a:extLst>
            </p:cNvPr>
            <p:cNvGrpSpPr/>
            <p:nvPr/>
          </p:nvGrpSpPr>
          <p:grpSpPr>
            <a:xfrm>
              <a:off x="3312744" y="4026021"/>
              <a:ext cx="402830" cy="48833"/>
              <a:chOff x="2773949" y="4402758"/>
              <a:chExt cx="402830" cy="48833"/>
            </a:xfrm>
          </p:grpSpPr>
          <p:cxnSp>
            <p:nvCxnSpPr>
              <p:cNvPr id="132" name="直接连接符 131">
                <a:extLst>
                  <a:ext uri="{FF2B5EF4-FFF2-40B4-BE49-F238E27FC236}">
                    <a16:creationId xmlns:a16="http://schemas.microsoft.com/office/drawing/2014/main" id="{9B59DAC3-477D-7D87-252A-4227FA380D11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58F70195-297E-B6FF-931D-F1007181E1C7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71CF7A2D-F779-803B-DCD0-27D2BA1B7B01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2FD15A8D-0A80-1A77-0E43-60298B134048}"/>
                </a:ext>
              </a:extLst>
            </p:cNvPr>
            <p:cNvGrpSpPr/>
            <p:nvPr/>
          </p:nvGrpSpPr>
          <p:grpSpPr>
            <a:xfrm>
              <a:off x="3671251" y="3826553"/>
              <a:ext cx="402830" cy="48833"/>
              <a:chOff x="2773949" y="4402758"/>
              <a:chExt cx="402830" cy="48833"/>
            </a:xfrm>
          </p:grpSpPr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3DCA5C69-1ED1-34CD-0F8C-644D267C8C21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37" name="椭圆 136">
                <a:extLst>
                  <a:ext uri="{FF2B5EF4-FFF2-40B4-BE49-F238E27FC236}">
                    <a16:creationId xmlns:a16="http://schemas.microsoft.com/office/drawing/2014/main" id="{4A43DB73-E76C-BC2E-9EFA-450B3CAA2D89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椭圆 137">
                <a:extLst>
                  <a:ext uri="{FF2B5EF4-FFF2-40B4-BE49-F238E27FC236}">
                    <a16:creationId xmlns:a16="http://schemas.microsoft.com/office/drawing/2014/main" id="{F0B1DB4B-90BF-F240-873D-CD2B52143A5B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38D3BAB9-B77B-7D89-65E5-EFFE56C178DD}"/>
                </a:ext>
              </a:extLst>
            </p:cNvPr>
            <p:cNvGrpSpPr/>
            <p:nvPr/>
          </p:nvGrpSpPr>
          <p:grpSpPr>
            <a:xfrm>
              <a:off x="4028744" y="3628539"/>
              <a:ext cx="402830" cy="48833"/>
              <a:chOff x="2773949" y="4402758"/>
              <a:chExt cx="402830" cy="48833"/>
            </a:xfrm>
          </p:grpSpPr>
          <p:cxnSp>
            <p:nvCxnSpPr>
              <p:cNvPr id="140" name="直接连接符 139">
                <a:extLst>
                  <a:ext uri="{FF2B5EF4-FFF2-40B4-BE49-F238E27FC236}">
                    <a16:creationId xmlns:a16="http://schemas.microsoft.com/office/drawing/2014/main" id="{CF92363F-E4B8-F3DF-33E3-27082D3C0360}"/>
                  </a:ext>
                </a:extLst>
              </p:cNvPr>
              <p:cNvCxnSpPr/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41" name="椭圆 140">
                <a:extLst>
                  <a:ext uri="{FF2B5EF4-FFF2-40B4-BE49-F238E27FC236}">
                    <a16:creationId xmlns:a16="http://schemas.microsoft.com/office/drawing/2014/main" id="{5643425B-52FE-1B0C-A03C-CAFD28AB62CE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椭圆 141">
                <a:extLst>
                  <a:ext uri="{FF2B5EF4-FFF2-40B4-BE49-F238E27FC236}">
                    <a16:creationId xmlns:a16="http://schemas.microsoft.com/office/drawing/2014/main" id="{83ABCA24-DCB7-8CAE-5AFC-8FE1AB0E99AC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C11EAFE3-694A-0AF6-3506-2C7086AF2325}"/>
                </a:ext>
              </a:extLst>
            </p:cNvPr>
            <p:cNvGrpSpPr/>
            <p:nvPr/>
          </p:nvGrpSpPr>
          <p:grpSpPr>
            <a:xfrm>
              <a:off x="4385854" y="3426197"/>
              <a:ext cx="402830" cy="48833"/>
              <a:chOff x="2773949" y="4402758"/>
              <a:chExt cx="402830" cy="48833"/>
            </a:xfrm>
          </p:grpSpPr>
          <p:cxnSp>
            <p:nvCxnSpPr>
              <p:cNvPr id="144" name="直接连接符 143">
                <a:extLst>
                  <a:ext uri="{FF2B5EF4-FFF2-40B4-BE49-F238E27FC236}">
                    <a16:creationId xmlns:a16="http://schemas.microsoft.com/office/drawing/2014/main" id="{33B13DA1-457B-7F92-CB77-C70272A514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4428944"/>
                <a:ext cx="360000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4AA5E14B-A668-1002-0669-02803E1B304E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E322BF0E-1A83-CFDB-3BD8-194A7C629177}"/>
                  </a:ext>
                </a:extLst>
              </p:cNvPr>
              <p:cNvSpPr/>
              <p:nvPr/>
            </p:nvSpPr>
            <p:spPr>
              <a:xfrm>
                <a:off x="3131060" y="4402758"/>
                <a:ext cx="45719" cy="45719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50" name="组合 149">
              <a:extLst>
                <a:ext uri="{FF2B5EF4-FFF2-40B4-BE49-F238E27FC236}">
                  <a16:creationId xmlns:a16="http://schemas.microsoft.com/office/drawing/2014/main" id="{182536ED-B386-14F8-95C3-CE4AB5F642CC}"/>
                </a:ext>
              </a:extLst>
            </p:cNvPr>
            <p:cNvGrpSpPr/>
            <p:nvPr/>
          </p:nvGrpSpPr>
          <p:grpSpPr>
            <a:xfrm>
              <a:off x="4742964" y="3229734"/>
              <a:ext cx="808809" cy="45719"/>
              <a:chOff x="2773949" y="4405872"/>
              <a:chExt cx="808809" cy="45719"/>
            </a:xfrm>
          </p:grpSpPr>
          <p:cxnSp>
            <p:nvCxnSpPr>
              <p:cNvPr id="151" name="直接连接符 150">
                <a:extLst>
                  <a:ext uri="{FF2B5EF4-FFF2-40B4-BE49-F238E27FC236}">
                    <a16:creationId xmlns:a16="http://schemas.microsoft.com/office/drawing/2014/main" id="{6F405B3C-9E3F-06EB-8729-EB8F01B9A2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4428944"/>
                <a:ext cx="785948" cy="0"/>
              </a:xfrm>
              <a:prstGeom prst="line">
                <a:avLst/>
              </a:prstGeom>
              <a:ln w="28575">
                <a:solidFill>
                  <a:srgbClr val="00B050"/>
                </a:solidFill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8D5F8B51-C6E1-A701-67D5-1257AF5F0791}"/>
                  </a:ext>
                </a:extLst>
              </p:cNvPr>
              <p:cNvSpPr/>
              <p:nvPr/>
            </p:nvSpPr>
            <p:spPr>
              <a:xfrm>
                <a:off x="2773949" y="4405872"/>
                <a:ext cx="45719" cy="45719"/>
              </a:xfrm>
              <a:prstGeom prst="ellipse">
                <a:avLst/>
              </a:prstGeom>
              <a:solidFill>
                <a:srgbClr val="00B050"/>
              </a:solidFill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F0675C41-EA4E-2A67-5EBD-3573434433D7}"/>
                  </a:ext>
                </a:extLst>
              </p:cNvPr>
              <p:cNvSpPr txBox="1"/>
              <p:nvPr/>
            </p:nvSpPr>
            <p:spPr>
              <a:xfrm>
                <a:off x="3175023" y="4735220"/>
                <a:ext cx="1798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93" name="文本框 192">
                <a:extLst>
                  <a:ext uri="{FF2B5EF4-FFF2-40B4-BE49-F238E27FC236}">
                    <a16:creationId xmlns:a16="http://schemas.microsoft.com/office/drawing/2014/main" id="{F0675C41-EA4E-2A67-5EBD-357343443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5023" y="4735220"/>
                <a:ext cx="1798116" cy="369332"/>
              </a:xfrm>
              <a:prstGeom prst="rect">
                <a:avLst/>
              </a:prstGeom>
              <a:blipFill>
                <a:blip r:embed="rId24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4" name="组合 193">
            <a:extLst>
              <a:ext uri="{FF2B5EF4-FFF2-40B4-BE49-F238E27FC236}">
                <a16:creationId xmlns:a16="http://schemas.microsoft.com/office/drawing/2014/main" id="{5BC12A74-1CAB-41A1-5043-11DF99821FA1}"/>
              </a:ext>
            </a:extLst>
          </p:cNvPr>
          <p:cNvGrpSpPr/>
          <p:nvPr/>
        </p:nvGrpSpPr>
        <p:grpSpPr>
          <a:xfrm>
            <a:off x="7633184" y="2752839"/>
            <a:ext cx="3718348" cy="1960799"/>
            <a:chOff x="2072267" y="2791311"/>
            <a:chExt cx="3718348" cy="1960799"/>
          </a:xfrm>
        </p:grpSpPr>
        <p:grpSp>
          <p:nvGrpSpPr>
            <p:cNvPr id="195" name="组合 194">
              <a:extLst>
                <a:ext uri="{FF2B5EF4-FFF2-40B4-BE49-F238E27FC236}">
                  <a16:creationId xmlns:a16="http://schemas.microsoft.com/office/drawing/2014/main" id="{6BAD51AF-1704-12D8-FB9B-E29CAEE6844C}"/>
                </a:ext>
              </a:extLst>
            </p:cNvPr>
            <p:cNvGrpSpPr/>
            <p:nvPr/>
          </p:nvGrpSpPr>
          <p:grpSpPr>
            <a:xfrm>
              <a:off x="2360241" y="3124924"/>
              <a:ext cx="3251451" cy="246221"/>
              <a:chOff x="2538861" y="3124924"/>
              <a:chExt cx="2848078" cy="246221"/>
            </a:xfrm>
          </p:grpSpPr>
          <p:cxnSp>
            <p:nvCxnSpPr>
              <p:cNvPr id="224" name="直接连接符 223">
                <a:extLst>
                  <a:ext uri="{FF2B5EF4-FFF2-40B4-BE49-F238E27FC236}">
                    <a16:creationId xmlns:a16="http://schemas.microsoft.com/office/drawing/2014/main" id="{7BA44631-192F-F322-FDBB-9DD7F5C1C9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29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5" name="文本框 224">
                    <a:extLst>
                      <a:ext uri="{FF2B5EF4-FFF2-40B4-BE49-F238E27FC236}">
                        <a16:creationId xmlns:a16="http://schemas.microsoft.com/office/drawing/2014/main" id="{2502D397-E26D-6437-EC08-712A82C6B90B}"/>
                      </a:ext>
                    </a:extLst>
                  </p:cNvPr>
                  <p:cNvSpPr txBox="1"/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oMath>
                      </m:oMathPara>
                    </a14:m>
                    <a:endParaRPr lang="en-US" altLang="zh-CN" sz="1600" dirty="0"/>
                  </a:p>
                </p:txBody>
              </p:sp>
            </mc:Choice>
            <mc:Fallback xmlns="">
              <p:sp>
                <p:nvSpPr>
                  <p:cNvPr id="225" name="文本框 224">
                    <a:extLst>
                      <a:ext uri="{FF2B5EF4-FFF2-40B4-BE49-F238E27FC236}">
                        <a16:creationId xmlns:a16="http://schemas.microsoft.com/office/drawing/2014/main" id="{2502D397-E26D-6437-EC08-712A82C6B9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538861" y="3124924"/>
                    <a:ext cx="169918" cy="246221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l="-12500" r="-15625" b="-4878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6" name="组合 195">
              <a:extLst>
                <a:ext uri="{FF2B5EF4-FFF2-40B4-BE49-F238E27FC236}">
                  <a16:creationId xmlns:a16="http://schemas.microsoft.com/office/drawing/2014/main" id="{A0636025-C74E-D410-DF38-147CC0D68059}"/>
                </a:ext>
              </a:extLst>
            </p:cNvPr>
            <p:cNvGrpSpPr/>
            <p:nvPr/>
          </p:nvGrpSpPr>
          <p:grpSpPr>
            <a:xfrm>
              <a:off x="2309418" y="3363014"/>
              <a:ext cx="3302274" cy="184666"/>
              <a:chOff x="2488037" y="3164151"/>
              <a:chExt cx="3302274" cy="184666"/>
            </a:xfrm>
          </p:grpSpPr>
          <p:cxnSp>
            <p:nvCxnSpPr>
              <p:cNvPr id="222" name="直接连接符 221">
                <a:extLst>
                  <a:ext uri="{FF2B5EF4-FFF2-40B4-BE49-F238E27FC236}">
                    <a16:creationId xmlns:a16="http://schemas.microsoft.com/office/drawing/2014/main" id="{07E684C5-ACDC-98A8-D633-A014E1A646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3" name="文本框 222">
                    <a:extLst>
                      <a:ext uri="{FF2B5EF4-FFF2-40B4-BE49-F238E27FC236}">
                        <a16:creationId xmlns:a16="http://schemas.microsoft.com/office/drawing/2014/main" id="{9C74EC92-A1A1-61E8-929C-FC8E74716E8D}"/>
                      </a:ext>
                    </a:extLst>
                  </p:cNvPr>
                  <p:cNvSpPr txBox="1"/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23" name="文本框 222">
                    <a:extLst>
                      <a:ext uri="{FF2B5EF4-FFF2-40B4-BE49-F238E27FC236}">
                        <a16:creationId xmlns:a16="http://schemas.microsoft.com/office/drawing/2014/main" id="{9C74EC92-A1A1-61E8-929C-FC8E74716E8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88037" y="3164151"/>
                    <a:ext cx="286937" cy="184666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l="-10638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7" name="组合 196">
              <a:extLst>
                <a:ext uri="{FF2B5EF4-FFF2-40B4-BE49-F238E27FC236}">
                  <a16:creationId xmlns:a16="http://schemas.microsoft.com/office/drawing/2014/main" id="{F11442EC-4851-CDFF-0903-7B2E07A37EF9}"/>
                </a:ext>
              </a:extLst>
            </p:cNvPr>
            <p:cNvGrpSpPr/>
            <p:nvPr/>
          </p:nvGrpSpPr>
          <p:grpSpPr>
            <a:xfrm>
              <a:off x="2296675" y="3564571"/>
              <a:ext cx="3315017" cy="184666"/>
              <a:chOff x="2475294" y="3161810"/>
              <a:chExt cx="3315017" cy="184666"/>
            </a:xfrm>
          </p:grpSpPr>
          <p:cxnSp>
            <p:nvCxnSpPr>
              <p:cNvPr id="220" name="直接连接符 219">
                <a:extLst>
                  <a:ext uri="{FF2B5EF4-FFF2-40B4-BE49-F238E27FC236}">
                    <a16:creationId xmlns:a16="http://schemas.microsoft.com/office/drawing/2014/main" id="{1938C67E-AD52-F92C-1902-C8087AB782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B207A694-480D-138F-A5DD-CCF19CF654E7}"/>
                      </a:ext>
                    </a:extLst>
                  </p:cNvPr>
                  <p:cNvSpPr txBox="1"/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21" name="文本框 220">
                    <a:extLst>
                      <a:ext uri="{FF2B5EF4-FFF2-40B4-BE49-F238E27FC236}">
                        <a16:creationId xmlns:a16="http://schemas.microsoft.com/office/drawing/2014/main" id="{B207A694-480D-138F-A5DD-CCF19CF654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5294" y="3161810"/>
                    <a:ext cx="286937" cy="1846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638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8" name="组合 197">
              <a:extLst>
                <a:ext uri="{FF2B5EF4-FFF2-40B4-BE49-F238E27FC236}">
                  <a16:creationId xmlns:a16="http://schemas.microsoft.com/office/drawing/2014/main" id="{F84C9722-2509-3F94-4AEE-339E07EB73E9}"/>
                </a:ext>
              </a:extLst>
            </p:cNvPr>
            <p:cNvGrpSpPr/>
            <p:nvPr/>
          </p:nvGrpSpPr>
          <p:grpSpPr>
            <a:xfrm>
              <a:off x="2293515" y="3762482"/>
              <a:ext cx="3318177" cy="184666"/>
              <a:chOff x="2472134" y="3157080"/>
              <a:chExt cx="3318177" cy="184666"/>
            </a:xfrm>
          </p:grpSpPr>
          <p:cxnSp>
            <p:nvCxnSpPr>
              <p:cNvPr id="218" name="直接连接符 217">
                <a:extLst>
                  <a:ext uri="{FF2B5EF4-FFF2-40B4-BE49-F238E27FC236}">
                    <a16:creationId xmlns:a16="http://schemas.microsoft.com/office/drawing/2014/main" id="{61B33AE4-6B48-046D-10F2-6951F1FECD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CD661BCE-A33A-3DE3-4379-A9E6731323FA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19" name="文本框 218">
                    <a:extLst>
                      <a:ext uri="{FF2B5EF4-FFF2-40B4-BE49-F238E27FC236}">
                        <a16:creationId xmlns:a16="http://schemas.microsoft.com/office/drawing/2014/main" id="{CD661BCE-A33A-3DE3-4379-A9E6731323F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4" y="3157080"/>
                    <a:ext cx="286937" cy="1846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0417" t="-3333" r="-10417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99" name="组合 198">
              <a:extLst>
                <a:ext uri="{FF2B5EF4-FFF2-40B4-BE49-F238E27FC236}">
                  <a16:creationId xmlns:a16="http://schemas.microsoft.com/office/drawing/2014/main" id="{876364B3-05AA-97D5-6EF4-AD0093B4729B}"/>
                </a:ext>
              </a:extLst>
            </p:cNvPr>
            <p:cNvGrpSpPr/>
            <p:nvPr/>
          </p:nvGrpSpPr>
          <p:grpSpPr>
            <a:xfrm>
              <a:off x="2277841" y="3960080"/>
              <a:ext cx="3333850" cy="184666"/>
              <a:chOff x="2458366" y="3161231"/>
              <a:chExt cx="2928575" cy="184666"/>
            </a:xfrm>
          </p:grpSpPr>
          <p:cxnSp>
            <p:nvCxnSpPr>
              <p:cNvPr id="216" name="直接连接符 215">
                <a:extLst>
                  <a:ext uri="{FF2B5EF4-FFF2-40B4-BE49-F238E27FC236}">
                    <a16:creationId xmlns:a16="http://schemas.microsoft.com/office/drawing/2014/main" id="{15DFB7D1-19C8-E64D-BF76-37B058F2E7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59013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CE2219C2-40C7-03D5-7A09-8A2C4582C8B8}"/>
                      </a:ext>
                    </a:extLst>
                  </p:cNvPr>
                  <p:cNvSpPr txBox="1"/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17" name="文本框 216">
                    <a:extLst>
                      <a:ext uri="{FF2B5EF4-FFF2-40B4-BE49-F238E27FC236}">
                        <a16:creationId xmlns:a16="http://schemas.microsoft.com/office/drawing/2014/main" id="{CE2219C2-40C7-03D5-7A09-8A2C4582C8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58366" y="3161231"/>
                    <a:ext cx="286937" cy="18466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3774" t="-3226" r="-5660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0" name="组合 199">
              <a:extLst>
                <a:ext uri="{FF2B5EF4-FFF2-40B4-BE49-F238E27FC236}">
                  <a16:creationId xmlns:a16="http://schemas.microsoft.com/office/drawing/2014/main" id="{A6E18596-5628-B754-E56A-F6E1D5ACD7A3}"/>
                </a:ext>
              </a:extLst>
            </p:cNvPr>
            <p:cNvGrpSpPr/>
            <p:nvPr/>
          </p:nvGrpSpPr>
          <p:grpSpPr>
            <a:xfrm>
              <a:off x="2293514" y="4162797"/>
              <a:ext cx="3318178" cy="184666"/>
              <a:chOff x="2472133" y="3164033"/>
              <a:chExt cx="3318178" cy="184666"/>
            </a:xfrm>
          </p:grpSpPr>
          <p:cxnSp>
            <p:nvCxnSpPr>
              <p:cNvPr id="214" name="直接连接符 213">
                <a:extLst>
                  <a:ext uri="{FF2B5EF4-FFF2-40B4-BE49-F238E27FC236}">
                    <a16:creationId xmlns:a16="http://schemas.microsoft.com/office/drawing/2014/main" id="{3C6DA077-D393-BA33-C4CD-6233D0DC11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993501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5" name="文本框 214">
                    <a:extLst>
                      <a:ext uri="{FF2B5EF4-FFF2-40B4-BE49-F238E27FC236}">
                        <a16:creationId xmlns:a16="http://schemas.microsoft.com/office/drawing/2014/main" id="{14E01D75-C563-1B92-A5D5-F9230D4FB7CF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215" name="文本框 214">
                    <a:extLst>
                      <a:ext uri="{FF2B5EF4-FFF2-40B4-BE49-F238E27FC236}">
                        <a16:creationId xmlns:a16="http://schemas.microsoft.com/office/drawing/2014/main" id="{14E01D75-C563-1B92-A5D5-F9230D4FB7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0417" t="-6667" r="-10417" b="-33333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201" name="组合 200">
              <a:extLst>
                <a:ext uri="{FF2B5EF4-FFF2-40B4-BE49-F238E27FC236}">
                  <a16:creationId xmlns:a16="http://schemas.microsoft.com/office/drawing/2014/main" id="{C4DC6E12-8D0C-3307-D0FD-0236F7C7DB53}"/>
                </a:ext>
              </a:extLst>
            </p:cNvPr>
            <p:cNvGrpSpPr/>
            <p:nvPr/>
          </p:nvGrpSpPr>
          <p:grpSpPr>
            <a:xfrm>
              <a:off x="2072267" y="2791311"/>
              <a:ext cx="3718348" cy="1960799"/>
              <a:chOff x="7913745" y="3206117"/>
              <a:chExt cx="3718348" cy="1960799"/>
            </a:xfrm>
          </p:grpSpPr>
          <p:cxnSp>
            <p:nvCxnSpPr>
              <p:cNvPr id="209" name="直接箭头连接符 208">
                <a:extLst>
                  <a:ext uri="{FF2B5EF4-FFF2-40B4-BE49-F238E27FC236}">
                    <a16:creationId xmlns:a16="http://schemas.microsoft.com/office/drawing/2014/main" id="{13C1ADCD-A7C7-1F8B-A58A-8CB3DBB5E2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9697" y="4843751"/>
                <a:ext cx="3511441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0" name="直接箭头连接符 209">
                <a:extLst>
                  <a:ext uri="{FF2B5EF4-FFF2-40B4-BE49-F238E27FC236}">
                    <a16:creationId xmlns:a16="http://schemas.microsoft.com/office/drawing/2014/main" id="{46BE0D3A-7137-755A-552D-399E9C73E8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9669" y="3206117"/>
                <a:ext cx="0" cy="1960799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1C9B3ABF-5D58-F960-C8DC-EC694DD2F816}"/>
                      </a:ext>
                    </a:extLst>
                  </p:cNvPr>
                  <p:cNvSpPr txBox="1"/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211" name="文本框 210">
                    <a:extLst>
                      <a:ext uri="{FF2B5EF4-FFF2-40B4-BE49-F238E27FC236}">
                        <a16:creationId xmlns:a16="http://schemas.microsoft.com/office/drawing/2014/main" id="{1C9B3ABF-5D58-F960-C8DC-EC694DD2F8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l="-25000" r="-2222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2" name="文本框 211">
                    <a:extLst>
                      <a:ext uri="{FF2B5EF4-FFF2-40B4-BE49-F238E27FC236}">
                        <a16:creationId xmlns:a16="http://schemas.microsoft.com/office/drawing/2014/main" id="{6D14286B-E1BF-8FA5-E1EE-678BB3DADF9F}"/>
                      </a:ext>
                    </a:extLst>
                  </p:cNvPr>
                  <p:cNvSpPr txBox="1"/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12" name="文本框 211">
                    <a:extLst>
                      <a:ext uri="{FF2B5EF4-FFF2-40B4-BE49-F238E27FC236}">
                        <a16:creationId xmlns:a16="http://schemas.microsoft.com/office/drawing/2014/main" id="{6D14286B-E1BF-8FA5-E1EE-678BB3DADF9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60764" y="4882223"/>
                    <a:ext cx="171329" cy="246221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l="-10714" r="-1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3" name="文本框 212">
                    <a:extLst>
                      <a:ext uri="{FF2B5EF4-FFF2-40B4-BE49-F238E27FC236}">
                        <a16:creationId xmlns:a16="http://schemas.microsoft.com/office/drawing/2014/main" id="{5005C9AC-9958-6BBD-3F74-F78901AAC10D}"/>
                      </a:ext>
                    </a:extLst>
                  </p:cNvPr>
                  <p:cNvSpPr txBox="1"/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213" name="文本框 212">
                    <a:extLst>
                      <a:ext uri="{FF2B5EF4-FFF2-40B4-BE49-F238E27FC236}">
                        <a16:creationId xmlns:a16="http://schemas.microsoft.com/office/drawing/2014/main" id="{5005C9AC-9958-6BBD-3F74-F78901AAC10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3745" y="3206117"/>
                    <a:ext cx="474296" cy="246221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7692" r="-14103" b="-325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45450B0-8BA0-C1D1-2846-C8437DADBD73}"/>
                    </a:ext>
                  </a:extLst>
                </p:cNvPr>
                <p:cNvSpPr txBox="1"/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2" name="文本框 201">
                  <a:extLst>
                    <a:ext uri="{FF2B5EF4-FFF2-40B4-BE49-F238E27FC236}">
                      <a16:creationId xmlns:a16="http://schemas.microsoft.com/office/drawing/2014/main" id="{E45450B0-8BA0-C1D1-2846-C8437DADBD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blipFill>
                  <a:blip r:embed="rId30"/>
                  <a:stretch>
                    <a:fillRect l="-12500" r="-15625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28CEE464-ED8E-5FA2-97B4-A6990EF40D4C}"/>
                    </a:ext>
                  </a:extLst>
                </p:cNvPr>
                <p:cNvSpPr txBox="1"/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3" name="文本框 202">
                  <a:extLst>
                    <a:ext uri="{FF2B5EF4-FFF2-40B4-BE49-F238E27FC236}">
                      <a16:creationId xmlns:a16="http://schemas.microsoft.com/office/drawing/2014/main" id="{28CEE464-ED8E-5FA2-97B4-A6990EF40D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blipFill>
                  <a:blip r:embed="rId31"/>
                  <a:stretch>
                    <a:fillRect l="-21429" r="-250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5939948F-EA14-FC47-7B1C-48867EF2AEAA}"/>
                    </a:ext>
                  </a:extLst>
                </p:cNvPr>
                <p:cNvSpPr txBox="1"/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4" name="文本框 203">
                  <a:extLst>
                    <a:ext uri="{FF2B5EF4-FFF2-40B4-BE49-F238E27FC236}">
                      <a16:creationId xmlns:a16="http://schemas.microsoft.com/office/drawing/2014/main" id="{5939948F-EA14-FC47-7B1C-48867EF2A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blipFill>
                  <a:blip r:embed="rId32"/>
                  <a:stretch>
                    <a:fillRect l="-25000" r="-21429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90DB18E6-F260-3EA1-C627-69E922E5870D}"/>
                    </a:ext>
                  </a:extLst>
                </p:cNvPr>
                <p:cNvSpPr txBox="1"/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5" name="文本框 204">
                  <a:extLst>
                    <a:ext uri="{FF2B5EF4-FFF2-40B4-BE49-F238E27FC236}">
                      <a16:creationId xmlns:a16="http://schemas.microsoft.com/office/drawing/2014/main" id="{90DB18E6-F260-3EA1-C627-69E922E5870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blipFill>
                  <a:blip r:embed="rId33"/>
                  <a:stretch>
                    <a:fillRect l="-25000" r="-21429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BD4A9F36-9A57-A34D-1F31-BA825C24D945}"/>
                    </a:ext>
                  </a:extLst>
                </p:cNvPr>
                <p:cNvSpPr txBox="1"/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6" name="文本框 205">
                  <a:extLst>
                    <a:ext uri="{FF2B5EF4-FFF2-40B4-BE49-F238E27FC236}">
                      <a16:creationId xmlns:a16="http://schemas.microsoft.com/office/drawing/2014/main" id="{BD4A9F36-9A57-A34D-1F31-BA825C24D9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19114" y="4490791"/>
                  <a:ext cx="169918" cy="246221"/>
                </a:xfrm>
                <a:prstGeom prst="rect">
                  <a:avLst/>
                </a:prstGeom>
                <a:blipFill>
                  <a:blip r:embed="rId34"/>
                  <a:stretch>
                    <a:fillRect l="-25000" r="-250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DCEE7CD1-344E-84A2-05B3-573823848AD2}"/>
                    </a:ext>
                  </a:extLst>
                </p:cNvPr>
                <p:cNvSpPr txBox="1"/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207" name="文本框 206">
                  <a:extLst>
                    <a:ext uri="{FF2B5EF4-FFF2-40B4-BE49-F238E27FC236}">
                      <a16:creationId xmlns:a16="http://schemas.microsoft.com/office/drawing/2014/main" id="{DCEE7CD1-344E-84A2-05B3-573823848A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1199" y="4486963"/>
                  <a:ext cx="169918" cy="246221"/>
                </a:xfrm>
                <a:prstGeom prst="rect">
                  <a:avLst/>
                </a:prstGeom>
                <a:blipFill>
                  <a:blip r:embed="rId35"/>
                  <a:stretch>
                    <a:fillRect l="-21429" r="-25000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502C5F4C-2F0C-E4BA-C0D1-5D2FE56CDBCD}"/>
                </a:ext>
              </a:extLst>
            </p:cNvPr>
            <p:cNvSpPr txBox="1"/>
            <p:nvPr/>
          </p:nvSpPr>
          <p:spPr>
            <a:xfrm>
              <a:off x="5048171" y="4484797"/>
              <a:ext cx="28854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600" dirty="0"/>
                <a:t>……</a:t>
              </a:r>
            </a:p>
          </p:txBody>
        </p:sp>
      </p:grpSp>
      <p:grpSp>
        <p:nvGrpSpPr>
          <p:cNvPr id="226" name="组合 225">
            <a:extLst>
              <a:ext uri="{FF2B5EF4-FFF2-40B4-BE49-F238E27FC236}">
                <a16:creationId xmlns:a16="http://schemas.microsoft.com/office/drawing/2014/main" id="{F49B2971-8523-533D-22B9-12AAA9C1486E}"/>
              </a:ext>
            </a:extLst>
          </p:cNvPr>
          <p:cNvGrpSpPr/>
          <p:nvPr/>
        </p:nvGrpSpPr>
        <p:grpSpPr>
          <a:xfrm>
            <a:off x="7854027" y="3214334"/>
            <a:ext cx="3258663" cy="1176138"/>
            <a:chOff x="2293110" y="3252806"/>
            <a:chExt cx="3258663" cy="1176138"/>
          </a:xfrm>
        </p:grpSpPr>
        <p:cxnSp>
          <p:nvCxnSpPr>
            <p:cNvPr id="251" name="直接连接符 250">
              <a:extLst>
                <a:ext uri="{FF2B5EF4-FFF2-40B4-BE49-F238E27FC236}">
                  <a16:creationId xmlns:a16="http://schemas.microsoft.com/office/drawing/2014/main" id="{A79DE130-A629-DA4B-8F81-D60F1D3AAFDF}"/>
                </a:ext>
              </a:extLst>
            </p:cNvPr>
            <p:cNvCxnSpPr>
              <a:cxnSpLocks/>
            </p:cNvCxnSpPr>
            <p:nvPr/>
          </p:nvCxnSpPr>
          <p:spPr>
            <a:xfrm>
              <a:off x="2293110" y="4428944"/>
              <a:ext cx="334897" cy="0"/>
            </a:xfrm>
            <a:prstGeom prst="line">
              <a:avLst/>
            </a:prstGeom>
            <a:ln w="28575">
              <a:solidFill>
                <a:srgbClr val="00B050"/>
              </a:solidFill>
              <a:rou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4" name="直接连接符 233">
              <a:extLst>
                <a:ext uri="{FF2B5EF4-FFF2-40B4-BE49-F238E27FC236}">
                  <a16:creationId xmlns:a16="http://schemas.microsoft.com/office/drawing/2014/main" id="{8D08D85D-0ECA-61D2-1DFE-755F79A8C6F2}"/>
                </a:ext>
              </a:extLst>
            </p:cNvPr>
            <p:cNvCxnSpPr>
              <a:cxnSpLocks/>
            </p:cNvCxnSpPr>
            <p:nvPr/>
          </p:nvCxnSpPr>
          <p:spPr>
            <a:xfrm>
              <a:off x="4751645" y="3252806"/>
              <a:ext cx="800128" cy="0"/>
            </a:xfrm>
            <a:prstGeom prst="line">
              <a:avLst/>
            </a:prstGeom>
            <a:ln w="28575">
              <a:solidFill>
                <a:srgbClr val="00B050"/>
              </a:solidFill>
              <a:round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BFD775F5-923C-4A57-4A49-B3C892150CB2}"/>
                  </a:ext>
                </a:extLst>
              </p:cNvPr>
              <p:cNvSpPr txBox="1"/>
              <p:nvPr/>
            </p:nvSpPr>
            <p:spPr>
              <a:xfrm>
                <a:off x="8735940" y="4735220"/>
                <a:ext cx="1798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分布函数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zh-CN" altLang="en-US" i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54" name="文本框 253">
                <a:extLst>
                  <a:ext uri="{FF2B5EF4-FFF2-40B4-BE49-F238E27FC236}">
                    <a16:creationId xmlns:a16="http://schemas.microsoft.com/office/drawing/2014/main" id="{BFD775F5-923C-4A57-4A49-B3C892150C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5940" y="4735220"/>
                <a:ext cx="1798116" cy="369332"/>
              </a:xfrm>
              <a:prstGeom prst="rect">
                <a:avLst/>
              </a:prstGeom>
              <a:blipFill>
                <a:blip r:embed="rId36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6" name="直接连接符 255">
            <a:extLst>
              <a:ext uri="{FF2B5EF4-FFF2-40B4-BE49-F238E27FC236}">
                <a16:creationId xmlns:a16="http://schemas.microsoft.com/office/drawing/2014/main" id="{238CD647-5143-7816-24B2-7C540733BF14}"/>
              </a:ext>
            </a:extLst>
          </p:cNvPr>
          <p:cNvCxnSpPr>
            <a:cxnSpLocks/>
          </p:cNvCxnSpPr>
          <p:nvPr/>
        </p:nvCxnSpPr>
        <p:spPr>
          <a:xfrm flipV="1">
            <a:off x="8175948" y="3212603"/>
            <a:ext cx="2150794" cy="1177868"/>
          </a:xfrm>
          <a:prstGeom prst="line">
            <a:avLst/>
          </a:prstGeom>
          <a:ln w="28575">
            <a:solidFill>
              <a:srgbClr val="00B050"/>
            </a:solidFill>
            <a:round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3" name="组合 2">
            <a:extLst>
              <a:ext uri="{FF2B5EF4-FFF2-40B4-BE49-F238E27FC236}">
                <a16:creationId xmlns:a16="http://schemas.microsoft.com/office/drawing/2014/main" id="{90335C01-C56F-AD21-9037-91E5A19D56B6}"/>
              </a:ext>
            </a:extLst>
          </p:cNvPr>
          <p:cNvGrpSpPr/>
          <p:nvPr/>
        </p:nvGrpSpPr>
        <p:grpSpPr>
          <a:xfrm>
            <a:off x="8326699" y="1425186"/>
            <a:ext cx="3288935" cy="789550"/>
            <a:chOff x="8326699" y="1811395"/>
            <a:chExt cx="3288935" cy="78955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877F6EA-C270-169F-F2DE-C52A552E631B}"/>
                </a:ext>
              </a:extLst>
            </p:cNvPr>
            <p:cNvSpPr/>
            <p:nvPr/>
          </p:nvSpPr>
          <p:spPr>
            <a:xfrm>
              <a:off x="8773905" y="1811395"/>
              <a:ext cx="2841729" cy="789550"/>
            </a:xfrm>
            <a:prstGeom prst="roundRect">
              <a:avLst/>
            </a:prstGeom>
            <a:noFill/>
            <a:ln w="9525">
              <a:prstDash val="sysDash"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54E6A8C5-84E6-F540-A971-63D4D0DB36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26699" y="2422179"/>
              <a:ext cx="447206" cy="0"/>
            </a:xfrm>
            <a:prstGeom prst="straightConnector1">
              <a:avLst/>
            </a:prstGeom>
            <a:ln w="9525">
              <a:tailEnd type="triangle"/>
            </a:ln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2791DE5E-0BD7-C319-ADF0-566C1C580FEE}"/>
              </a:ext>
            </a:extLst>
          </p:cNvPr>
          <p:cNvGrpSpPr/>
          <p:nvPr/>
        </p:nvGrpSpPr>
        <p:grpSpPr>
          <a:xfrm>
            <a:off x="8821036" y="1466053"/>
            <a:ext cx="1348247" cy="725310"/>
            <a:chOff x="8821036" y="1466053"/>
            <a:chExt cx="1348247" cy="725310"/>
          </a:xfrm>
        </p:grpSpPr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734631BD-3950-C83F-54DD-CC1BBDC62B6A}"/>
                </a:ext>
              </a:extLst>
            </p:cNvPr>
            <p:cNvSpPr/>
            <p:nvPr/>
          </p:nvSpPr>
          <p:spPr>
            <a:xfrm>
              <a:off x="8821036" y="1466053"/>
              <a:ext cx="1348247" cy="725310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11C7DF3-B40C-EBC5-76B7-6EE0B559BE58}"/>
                    </a:ext>
                  </a:extLst>
                </p:cNvPr>
                <p:cNvSpPr txBox="1"/>
                <p:nvPr/>
              </p:nvSpPr>
              <p:spPr>
                <a:xfrm>
                  <a:off x="8884734" y="1523714"/>
                  <a:ext cx="1220849" cy="5866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100" dirty="0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离散型随机变量</a:t>
                  </a:r>
                  <a:endParaRPr lang="en-US" altLang="zh-CN" sz="1100" dirty="0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2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求和 </a:t>
                  </a:r>
                  <a14:m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a14:m>
                  <a:endParaRPr lang="zh-CN" altLang="en-US" sz="11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2" name="文本框 11">
                  <a:extLst>
                    <a:ext uri="{FF2B5EF4-FFF2-40B4-BE49-F238E27FC236}">
                      <a16:creationId xmlns:a16="http://schemas.microsoft.com/office/drawing/2014/main" id="{611C7DF3-B40C-EBC5-76B7-6EE0B559BE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84734" y="1523714"/>
                  <a:ext cx="1220849" cy="586699"/>
                </a:xfrm>
                <a:prstGeom prst="rect">
                  <a:avLst/>
                </a:prstGeom>
                <a:blipFill>
                  <a:blip r:embed="rId37"/>
                  <a:stretch>
                    <a:fillRect r="-16418" b="-7604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16FA1BCF-4DE9-F70F-4B21-CD910D94B95C}"/>
              </a:ext>
            </a:extLst>
          </p:cNvPr>
          <p:cNvGrpSpPr/>
          <p:nvPr/>
        </p:nvGrpSpPr>
        <p:grpSpPr>
          <a:xfrm>
            <a:off x="10216414" y="1462640"/>
            <a:ext cx="1348247" cy="725310"/>
            <a:chOff x="10216414" y="1462640"/>
            <a:chExt cx="1348247" cy="725310"/>
          </a:xfrm>
        </p:grpSpPr>
        <p:sp>
          <p:nvSpPr>
            <p:cNvPr id="11" name="矩形: 圆角 10">
              <a:extLst>
                <a:ext uri="{FF2B5EF4-FFF2-40B4-BE49-F238E27FC236}">
                  <a16:creationId xmlns:a16="http://schemas.microsoft.com/office/drawing/2014/main" id="{222D2156-C57B-C220-E005-F34480F0A686}"/>
                </a:ext>
              </a:extLst>
            </p:cNvPr>
            <p:cNvSpPr/>
            <p:nvPr/>
          </p:nvSpPr>
          <p:spPr>
            <a:xfrm>
              <a:off x="10216414" y="1462640"/>
              <a:ext cx="1348247" cy="725310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9E8D91C-787E-1943-B3A2-19E09C57DE96}"/>
                    </a:ext>
                  </a:extLst>
                </p:cNvPr>
                <p:cNvSpPr txBox="1"/>
                <p:nvPr/>
              </p:nvSpPr>
              <p:spPr>
                <a:xfrm>
                  <a:off x="10282034" y="1517924"/>
                  <a:ext cx="1220849" cy="6395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100" dirty="0"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连续型随机变量</a:t>
                  </a:r>
                  <a:endParaRPr lang="en-US" altLang="zh-CN" sz="1100" dirty="0"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  <a:p>
                  <a:pPr algn="ctr">
                    <a:lnSpc>
                      <a:spcPct val="150000"/>
                    </a:lnSpc>
                  </a:pPr>
                  <a:r>
                    <a:rPr lang="zh-CN" altLang="en-US" sz="12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积分 </a:t>
                  </a:r>
                  <a14:m>
                    <m:oMath xmlns:m="http://schemas.openxmlformats.org/officeDocument/2006/math"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 </m:t>
                          </m:r>
                        </m:e>
                      </m:nary>
                    </m:oMath>
                  </a14:m>
                  <a:endParaRPr lang="zh-CN" altLang="en-US" sz="11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49E8D91C-787E-1943-B3A2-19E09C57DE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82034" y="1517924"/>
                  <a:ext cx="1220849" cy="639534"/>
                </a:xfrm>
                <a:prstGeom prst="rect">
                  <a:avLst/>
                </a:prstGeom>
                <a:blipFill>
                  <a:blip r:embed="rId38"/>
                  <a:stretch>
                    <a:fillRect t="-952" r="-13500" b="-8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E9E0E629-09B7-C5AB-23DB-5A144F11D954}"/>
              </a:ext>
            </a:extLst>
          </p:cNvPr>
          <p:cNvSpPr/>
          <p:nvPr/>
        </p:nvSpPr>
        <p:spPr>
          <a:xfrm>
            <a:off x="6273528" y="2588969"/>
            <a:ext cx="5254249" cy="26143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65C86731-0DB0-F5FB-5382-9D76B5B0D30E}"/>
              </a:ext>
            </a:extLst>
          </p:cNvPr>
          <p:cNvSpPr txBox="1"/>
          <p:nvPr/>
        </p:nvSpPr>
        <p:spPr>
          <a:xfrm>
            <a:off x="9152288" y="2836683"/>
            <a:ext cx="1798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u="sng" dirty="0">
                <a:latin typeface="楷体" panose="02010609060101010101" pitchFamily="49" charset="-122"/>
                <a:ea typeface="楷体" panose="02010609060101010101" pitchFamily="49" charset="-122"/>
              </a:rPr>
              <a:t>分布律</a:t>
            </a:r>
            <a:endParaRPr lang="zh-CN" altLang="en-US" i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9B7F254-125F-A95D-10F5-0E16CB39CE91}"/>
              </a:ext>
            </a:extLst>
          </p:cNvPr>
          <p:cNvGrpSpPr/>
          <p:nvPr/>
        </p:nvGrpSpPr>
        <p:grpSpPr>
          <a:xfrm>
            <a:off x="8441794" y="2780231"/>
            <a:ext cx="2936500" cy="1096398"/>
            <a:chOff x="2238219" y="3655712"/>
            <a:chExt cx="2936500" cy="1096398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8CDC8589-1AFF-C514-440D-C01126BDFBBC}"/>
                </a:ext>
              </a:extLst>
            </p:cNvPr>
            <p:cNvGrpSpPr/>
            <p:nvPr/>
          </p:nvGrpSpPr>
          <p:grpSpPr>
            <a:xfrm>
              <a:off x="2293514" y="4162797"/>
              <a:ext cx="2600730" cy="184666"/>
              <a:chOff x="2472133" y="3164033"/>
              <a:chExt cx="2600730" cy="184666"/>
            </a:xfrm>
          </p:grpSpPr>
          <p:cxnSp>
            <p:nvCxnSpPr>
              <p:cNvPr id="47" name="直接连接符 46">
                <a:extLst>
                  <a:ext uri="{FF2B5EF4-FFF2-40B4-BE49-F238E27FC236}">
                    <a16:creationId xmlns:a16="http://schemas.microsoft.com/office/drawing/2014/main" id="{DEDAF517-9193-6362-B11F-A21BD6F4F0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276053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C2A40D83-450D-1612-257A-BEB87BB8600E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48" name="文本框 47">
                    <a:extLst>
                      <a:ext uri="{FF2B5EF4-FFF2-40B4-BE49-F238E27FC236}">
                        <a16:creationId xmlns:a16="http://schemas.microsoft.com/office/drawing/2014/main" id="{C2A40D83-450D-1612-257A-BEB87BB860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l="-10638" t="-3226" r="-12766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C1492621-911A-5A5D-5088-EDD31548B074}"/>
                </a:ext>
              </a:extLst>
            </p:cNvPr>
            <p:cNvGrpSpPr/>
            <p:nvPr/>
          </p:nvGrpSpPr>
          <p:grpSpPr>
            <a:xfrm>
              <a:off x="2238219" y="3655712"/>
              <a:ext cx="2936500" cy="1096398"/>
              <a:chOff x="8079697" y="4070518"/>
              <a:chExt cx="2936500" cy="1096398"/>
            </a:xfrm>
          </p:grpSpPr>
          <p:cxnSp>
            <p:nvCxnSpPr>
              <p:cNvPr id="42" name="直接箭头连接符 41">
                <a:extLst>
                  <a:ext uri="{FF2B5EF4-FFF2-40B4-BE49-F238E27FC236}">
                    <a16:creationId xmlns:a16="http://schemas.microsoft.com/office/drawing/2014/main" id="{40BBBB68-977E-51C3-8A56-E7A9B8154C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9697" y="4843751"/>
                <a:ext cx="2825943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>
                <a:extLst>
                  <a:ext uri="{FF2B5EF4-FFF2-40B4-BE49-F238E27FC236}">
                    <a16:creationId xmlns:a16="http://schemas.microsoft.com/office/drawing/2014/main" id="{E36CD7C8-FE8F-6941-8A6F-307EB05E5C5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9669" y="4127298"/>
                <a:ext cx="0" cy="1039618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B202D461-E82E-1273-BFDE-A4D526B3A8A1}"/>
                      </a:ext>
                    </a:extLst>
                  </p:cNvPr>
                  <p:cNvSpPr txBox="1"/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44" name="文本框 43">
                    <a:extLst>
                      <a:ext uri="{FF2B5EF4-FFF2-40B4-BE49-F238E27FC236}">
                        <a16:creationId xmlns:a16="http://schemas.microsoft.com/office/drawing/2014/main" id="{B202D461-E82E-1273-BFDE-A4D526B3A8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 l="-21622" r="-21622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F4E4E68B-EA15-29C5-FC36-F049EC686A6A}"/>
                      </a:ext>
                    </a:extLst>
                  </p:cNvPr>
                  <p:cNvSpPr txBox="1"/>
                  <p:nvPr/>
                </p:nvSpPr>
                <p:spPr>
                  <a:xfrm>
                    <a:off x="10844868" y="4900727"/>
                    <a:ext cx="17132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F4E4E68B-EA15-29C5-FC36-F049EC686A6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44868" y="4900727"/>
                    <a:ext cx="171329" cy="246221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 l="-10345" r="-10345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D2C06E96-4D9F-3E21-A64E-38AA0ED17B5F}"/>
                      </a:ext>
                    </a:extLst>
                  </p:cNvPr>
                  <p:cNvSpPr txBox="1"/>
                  <p:nvPr/>
                </p:nvSpPr>
                <p:spPr>
                  <a:xfrm>
                    <a:off x="8118388" y="4070518"/>
                    <a:ext cx="758348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4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oMath>
                      </m:oMathPara>
                    </a14:m>
                    <a:endParaRPr lang="zh-CN" altLang="en-US" sz="1400" dirty="0"/>
                  </a:p>
                </p:txBody>
              </p:sp>
            </mc:Choice>
            <mc:Fallback xmlns="">
              <p:sp>
                <p:nvSpPr>
                  <p:cNvPr id="46" name="文本框 45">
                    <a:extLst>
                      <a:ext uri="{FF2B5EF4-FFF2-40B4-BE49-F238E27FC236}">
                        <a16:creationId xmlns:a16="http://schemas.microsoft.com/office/drawing/2014/main" id="{D2C06E96-4D9F-3E21-A64E-38AA0ED17B5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18388" y="4070518"/>
                    <a:ext cx="758348" cy="215444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l="-4000" t="-2857" r="-6400" b="-3428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8A90950-1E1B-B49E-0ABE-222FA3E7B79A}"/>
                    </a:ext>
                  </a:extLst>
                </p:cNvPr>
                <p:cNvSpPr txBox="1"/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88A90950-1E1B-B49E-0ABE-222FA3E7B7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blipFill>
                  <a:blip r:embed="rId43"/>
                  <a:stretch>
                    <a:fillRect l="-16129" r="-16129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4DBD0FA-BF91-D18E-4721-4B1AF62E3902}"/>
                    </a:ext>
                  </a:extLst>
                </p:cNvPr>
                <p:cNvSpPr txBox="1"/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4DBD0FA-BF91-D18E-4721-4B1AF62E390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blipFill>
                  <a:blip r:embed="rId44"/>
                  <a:stretch>
                    <a:fillRect l="-25000" r="-21429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CBCE49D-A377-2CE2-CFBB-24739E3EBCCC}"/>
                    </a:ext>
                  </a:extLst>
                </p:cNvPr>
                <p:cNvSpPr txBox="1"/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4CBCE49D-A377-2CE2-CFBB-24739E3EB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blipFill>
                  <a:blip r:embed="rId45"/>
                  <a:stretch>
                    <a:fillRect l="-21429" r="-25000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2ACB4A0-33C3-7B52-D06C-6EC9BE526445}"/>
                    </a:ext>
                  </a:extLst>
                </p:cNvPr>
                <p:cNvSpPr txBox="1"/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E2ACB4A0-33C3-7B52-D06C-6EC9BE5264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blipFill>
                  <a:blip r:embed="rId46"/>
                  <a:stretch>
                    <a:fillRect l="-21429" r="-25000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EC3D804-0A4A-3E62-0C5C-4E5F9B8B61A6}"/>
                    </a:ext>
                  </a:extLst>
                </p:cNvPr>
                <p:cNvSpPr txBox="1"/>
                <p:nvPr/>
              </p:nvSpPr>
              <p:spPr>
                <a:xfrm>
                  <a:off x="4331281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1EC3D804-0A4A-3E62-0C5C-4E5F9B8B61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1281" y="4490791"/>
                  <a:ext cx="169918" cy="246221"/>
                </a:xfrm>
                <a:prstGeom prst="rect">
                  <a:avLst/>
                </a:prstGeom>
                <a:blipFill>
                  <a:blip r:embed="rId47"/>
                  <a:stretch>
                    <a:fillRect l="-25000" r="-25000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1E52ED8-8A74-E7B8-B60E-5F5C51F66A0C}"/>
                    </a:ext>
                  </a:extLst>
                </p:cNvPr>
                <p:cNvSpPr txBox="1"/>
                <p:nvPr/>
              </p:nvSpPr>
              <p:spPr>
                <a:xfrm>
                  <a:off x="4682680" y="4486963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D1E52ED8-8A74-E7B8-B60E-5F5C51F66A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2680" y="4486963"/>
                  <a:ext cx="169918" cy="246221"/>
                </a:xfrm>
                <a:prstGeom prst="rect">
                  <a:avLst/>
                </a:prstGeom>
                <a:blipFill>
                  <a:blip r:embed="rId48"/>
                  <a:stretch>
                    <a:fillRect l="-25000" r="-21429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453DC3E5-D951-7A2B-93A1-E7B336EBBD7B}"/>
              </a:ext>
            </a:extLst>
          </p:cNvPr>
          <p:cNvGrpSpPr/>
          <p:nvPr/>
        </p:nvGrpSpPr>
        <p:grpSpPr>
          <a:xfrm>
            <a:off x="9150021" y="3342841"/>
            <a:ext cx="1841012" cy="211424"/>
            <a:chOff x="8847206" y="5081325"/>
            <a:chExt cx="1841012" cy="211424"/>
          </a:xfrm>
        </p:grpSpPr>
        <p:grpSp>
          <p:nvGrpSpPr>
            <p:cNvPr id="97" name="组合 96">
              <a:extLst>
                <a:ext uri="{FF2B5EF4-FFF2-40B4-BE49-F238E27FC236}">
                  <a16:creationId xmlns:a16="http://schemas.microsoft.com/office/drawing/2014/main" id="{4E3E8377-44E2-6A20-ABA2-1468DE2B9946}"/>
                </a:ext>
              </a:extLst>
            </p:cNvPr>
            <p:cNvGrpSpPr/>
            <p:nvPr/>
          </p:nvGrpSpPr>
          <p:grpSpPr>
            <a:xfrm>
              <a:off x="9221179" y="5086350"/>
              <a:ext cx="45719" cy="204700"/>
              <a:chOff x="9221179" y="5086350"/>
              <a:chExt cx="45719" cy="204700"/>
            </a:xfrm>
          </p:grpSpPr>
          <p:cxnSp>
            <p:nvCxnSpPr>
              <p:cNvPr id="84" name="直接连接符 83">
                <a:extLst>
                  <a:ext uri="{FF2B5EF4-FFF2-40B4-BE49-F238E27FC236}">
                    <a16:creationId xmlns:a16="http://schemas.microsoft.com/office/drawing/2014/main" id="{CC604F9F-DA72-FA10-4E0D-7CE4AF71658E}"/>
                  </a:ext>
                </a:extLst>
              </p:cNvPr>
              <p:cNvCxnSpPr/>
              <p:nvPr/>
            </p:nvCxnSpPr>
            <p:spPr>
              <a:xfrm flipH="1">
                <a:off x="9242979" y="5142107"/>
                <a:ext cx="1" cy="148943"/>
              </a:xfrm>
              <a:prstGeom prst="line">
                <a:avLst/>
              </a:prstGeom>
              <a:ln w="12700"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B2B83A88-13E8-B5F1-12A6-C4C43A6F732B}"/>
                  </a:ext>
                </a:extLst>
              </p:cNvPr>
              <p:cNvSpPr/>
              <p:nvPr/>
            </p:nvSpPr>
            <p:spPr>
              <a:xfrm>
                <a:off x="9221179" y="508635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6DB9DBB0-D7A9-6E1D-D800-E47A6523DEAD}"/>
                </a:ext>
              </a:extLst>
            </p:cNvPr>
            <p:cNvGrpSpPr/>
            <p:nvPr/>
          </p:nvGrpSpPr>
          <p:grpSpPr>
            <a:xfrm>
              <a:off x="9576959" y="5088547"/>
              <a:ext cx="45719" cy="202502"/>
              <a:chOff x="9576959" y="5088547"/>
              <a:chExt cx="45719" cy="202502"/>
            </a:xfrm>
          </p:grpSpPr>
          <p:cxnSp>
            <p:nvCxnSpPr>
              <p:cNvPr id="85" name="直接连接符 84">
                <a:extLst>
                  <a:ext uri="{FF2B5EF4-FFF2-40B4-BE49-F238E27FC236}">
                    <a16:creationId xmlns:a16="http://schemas.microsoft.com/office/drawing/2014/main" id="{CE906625-0472-D008-92C4-CB25F3C21C1A}"/>
                  </a:ext>
                </a:extLst>
              </p:cNvPr>
              <p:cNvCxnSpPr/>
              <p:nvPr/>
            </p:nvCxnSpPr>
            <p:spPr>
              <a:xfrm flipH="1">
                <a:off x="9599803" y="5142106"/>
                <a:ext cx="1" cy="148943"/>
              </a:xfrm>
              <a:prstGeom prst="line">
                <a:avLst/>
              </a:prstGeom>
              <a:ln w="12700"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BE378F02-5973-9789-8AD6-BB884543F30D}"/>
                  </a:ext>
                </a:extLst>
              </p:cNvPr>
              <p:cNvSpPr/>
              <p:nvPr/>
            </p:nvSpPr>
            <p:spPr>
              <a:xfrm>
                <a:off x="9576959" y="508854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9" name="组合 98">
              <a:extLst>
                <a:ext uri="{FF2B5EF4-FFF2-40B4-BE49-F238E27FC236}">
                  <a16:creationId xmlns:a16="http://schemas.microsoft.com/office/drawing/2014/main" id="{4AAAB20F-49D9-6925-855F-5721AFAC6284}"/>
                </a:ext>
              </a:extLst>
            </p:cNvPr>
            <p:cNvGrpSpPr/>
            <p:nvPr/>
          </p:nvGrpSpPr>
          <p:grpSpPr>
            <a:xfrm>
              <a:off x="9934858" y="5088547"/>
              <a:ext cx="45719" cy="203502"/>
              <a:chOff x="9934858" y="5088547"/>
              <a:chExt cx="45719" cy="203502"/>
            </a:xfrm>
          </p:grpSpPr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91B7D9D0-40E7-31D1-AE75-359DC8D973DB}"/>
                  </a:ext>
                </a:extLst>
              </p:cNvPr>
              <p:cNvCxnSpPr/>
              <p:nvPr/>
            </p:nvCxnSpPr>
            <p:spPr>
              <a:xfrm flipH="1">
                <a:off x="9956769" y="5143106"/>
                <a:ext cx="1" cy="148943"/>
              </a:xfrm>
              <a:prstGeom prst="line">
                <a:avLst/>
              </a:prstGeom>
              <a:ln w="12700"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2533D29E-734E-7D03-F28D-EC0B7D4550FB}"/>
                  </a:ext>
                </a:extLst>
              </p:cNvPr>
              <p:cNvSpPr/>
              <p:nvPr/>
            </p:nvSpPr>
            <p:spPr>
              <a:xfrm>
                <a:off x="9934858" y="5088547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0" name="组合 99">
              <a:extLst>
                <a:ext uri="{FF2B5EF4-FFF2-40B4-BE49-F238E27FC236}">
                  <a16:creationId xmlns:a16="http://schemas.microsoft.com/office/drawing/2014/main" id="{2EF8FE0D-EF65-D82C-10CF-73D7CB6521AA}"/>
                </a:ext>
              </a:extLst>
            </p:cNvPr>
            <p:cNvGrpSpPr/>
            <p:nvPr/>
          </p:nvGrpSpPr>
          <p:grpSpPr>
            <a:xfrm>
              <a:off x="10301222" y="5082740"/>
              <a:ext cx="45719" cy="210009"/>
              <a:chOff x="10301222" y="5082740"/>
              <a:chExt cx="45719" cy="210009"/>
            </a:xfrm>
          </p:grpSpPr>
          <p:cxnSp>
            <p:nvCxnSpPr>
              <p:cNvPr id="91" name="直接连接符 90">
                <a:extLst>
                  <a:ext uri="{FF2B5EF4-FFF2-40B4-BE49-F238E27FC236}">
                    <a16:creationId xmlns:a16="http://schemas.microsoft.com/office/drawing/2014/main" id="{E31C4002-1CD2-1E08-B514-860E677CB9CD}"/>
                  </a:ext>
                </a:extLst>
              </p:cNvPr>
              <p:cNvCxnSpPr/>
              <p:nvPr/>
            </p:nvCxnSpPr>
            <p:spPr>
              <a:xfrm flipH="1">
                <a:off x="10323441" y="5143806"/>
                <a:ext cx="1" cy="148943"/>
              </a:xfrm>
              <a:prstGeom prst="line">
                <a:avLst/>
              </a:prstGeom>
              <a:ln w="12700"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AA76E07D-C03D-2C3C-6E9A-84938C70E1D0}"/>
                  </a:ext>
                </a:extLst>
              </p:cNvPr>
              <p:cNvSpPr/>
              <p:nvPr/>
            </p:nvSpPr>
            <p:spPr>
              <a:xfrm>
                <a:off x="10301222" y="508274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01" name="组合 100">
              <a:extLst>
                <a:ext uri="{FF2B5EF4-FFF2-40B4-BE49-F238E27FC236}">
                  <a16:creationId xmlns:a16="http://schemas.microsoft.com/office/drawing/2014/main" id="{55A6E978-3E1C-1CA5-AD7F-A5789483D29F}"/>
                </a:ext>
              </a:extLst>
            </p:cNvPr>
            <p:cNvGrpSpPr/>
            <p:nvPr/>
          </p:nvGrpSpPr>
          <p:grpSpPr>
            <a:xfrm>
              <a:off x="10642499" y="5081325"/>
              <a:ext cx="45719" cy="210723"/>
              <a:chOff x="10642499" y="5081325"/>
              <a:chExt cx="45719" cy="210723"/>
            </a:xfrm>
          </p:grpSpPr>
          <p:cxnSp>
            <p:nvCxnSpPr>
              <p:cNvPr id="92" name="直接连接符 91">
                <a:extLst>
                  <a:ext uri="{FF2B5EF4-FFF2-40B4-BE49-F238E27FC236}">
                    <a16:creationId xmlns:a16="http://schemas.microsoft.com/office/drawing/2014/main" id="{FADC32E7-0F3D-9A2F-994B-8190CFB205F1}"/>
                  </a:ext>
                </a:extLst>
              </p:cNvPr>
              <p:cNvCxnSpPr/>
              <p:nvPr/>
            </p:nvCxnSpPr>
            <p:spPr>
              <a:xfrm flipH="1">
                <a:off x="10663648" y="5143105"/>
                <a:ext cx="1" cy="148943"/>
              </a:xfrm>
              <a:prstGeom prst="line">
                <a:avLst/>
              </a:prstGeom>
              <a:ln w="12700"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1213A77B-25EF-FEE7-4AFF-A6A51DC9F859}"/>
                  </a:ext>
                </a:extLst>
              </p:cNvPr>
              <p:cNvSpPr/>
              <p:nvPr/>
            </p:nvSpPr>
            <p:spPr>
              <a:xfrm>
                <a:off x="10642499" y="5081325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93" name="组合 92">
              <a:extLst>
                <a:ext uri="{FF2B5EF4-FFF2-40B4-BE49-F238E27FC236}">
                  <a16:creationId xmlns:a16="http://schemas.microsoft.com/office/drawing/2014/main" id="{9ABD8FBE-8A41-7C40-12FE-3726DF28A4C0}"/>
                </a:ext>
              </a:extLst>
            </p:cNvPr>
            <p:cNvGrpSpPr/>
            <p:nvPr/>
          </p:nvGrpSpPr>
          <p:grpSpPr>
            <a:xfrm>
              <a:off x="8847206" y="5084180"/>
              <a:ext cx="45719" cy="206869"/>
              <a:chOff x="8847206" y="5084180"/>
              <a:chExt cx="45719" cy="206869"/>
            </a:xfrm>
          </p:grpSpPr>
          <p:cxnSp>
            <p:nvCxnSpPr>
              <p:cNvPr id="82" name="直接连接符 81">
                <a:extLst>
                  <a:ext uri="{FF2B5EF4-FFF2-40B4-BE49-F238E27FC236}">
                    <a16:creationId xmlns:a16="http://schemas.microsoft.com/office/drawing/2014/main" id="{A3A61BD2-4383-4ED2-1FF1-515A4CC962B2}"/>
                  </a:ext>
                </a:extLst>
              </p:cNvPr>
              <p:cNvCxnSpPr>
                <a:cxnSpLocks/>
                <a:stCxn id="74" idx="4"/>
              </p:cNvCxnSpPr>
              <p:nvPr/>
            </p:nvCxnSpPr>
            <p:spPr>
              <a:xfrm>
                <a:off x="8870066" y="5129899"/>
                <a:ext cx="0" cy="161150"/>
              </a:xfrm>
              <a:prstGeom prst="line">
                <a:avLst/>
              </a:prstGeom>
              <a:ln w="12700">
                <a:solidFill>
                  <a:schemeClr val="accent1">
                    <a:lumMod val="40000"/>
                    <a:lumOff val="6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6B543FE4-0C66-5C30-FED2-D8C92AC0DEEE}"/>
                  </a:ext>
                </a:extLst>
              </p:cNvPr>
              <p:cNvSpPr/>
              <p:nvPr/>
            </p:nvSpPr>
            <p:spPr>
              <a:xfrm>
                <a:off x="8847206" y="5084180"/>
                <a:ext cx="45719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C7717C15-B683-D907-E0A1-946242620E63}"/>
              </a:ext>
            </a:extLst>
          </p:cNvPr>
          <p:cNvGrpSpPr/>
          <p:nvPr/>
        </p:nvGrpSpPr>
        <p:grpSpPr>
          <a:xfrm>
            <a:off x="7373087" y="3944122"/>
            <a:ext cx="4146784" cy="613181"/>
            <a:chOff x="7231114" y="3055771"/>
            <a:chExt cx="4146784" cy="6131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78979DBB-BBF3-4419-6550-05DC029B7F30}"/>
                    </a:ext>
                  </a:extLst>
                </p:cNvPr>
                <p:cNvSpPr txBox="1"/>
                <p:nvPr/>
              </p:nvSpPr>
              <p:spPr>
                <a:xfrm>
                  <a:off x="7231114" y="3181019"/>
                  <a:ext cx="1341491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08" name="文本框 107">
                  <a:extLst>
                    <a:ext uri="{FF2B5EF4-FFF2-40B4-BE49-F238E27FC236}">
                      <a16:creationId xmlns:a16="http://schemas.microsoft.com/office/drawing/2014/main" id="{78979DBB-BBF3-4419-6550-05DC029B7F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1114" y="3181019"/>
                  <a:ext cx="1341491" cy="369332"/>
                </a:xfrm>
                <a:prstGeom prst="rect">
                  <a:avLst/>
                </a:prstGeom>
                <a:blipFill>
                  <a:blip r:embed="rId49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BB2507B7-1262-B655-426F-D65E695748FE}"/>
                    </a:ext>
                  </a:extLst>
                </p:cNvPr>
                <p:cNvSpPr txBox="1"/>
                <p:nvPr/>
              </p:nvSpPr>
              <p:spPr>
                <a:xfrm>
                  <a:off x="8464985" y="3055771"/>
                  <a:ext cx="2912913" cy="6131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2.5</m:t>
                            </m:r>
                          </m:sup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2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2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  <m:r>
                          <a:rPr lang="en-US" altLang="zh-CN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sz="12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2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09" name="文本框 108">
                  <a:extLst>
                    <a:ext uri="{FF2B5EF4-FFF2-40B4-BE49-F238E27FC236}">
                      <a16:creationId xmlns:a16="http://schemas.microsoft.com/office/drawing/2014/main" id="{BB2507B7-1262-B655-426F-D65E695748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4985" y="3055771"/>
                  <a:ext cx="2912913" cy="613181"/>
                </a:xfrm>
                <a:prstGeom prst="rect">
                  <a:avLst/>
                </a:prstGeom>
                <a:blipFill>
                  <a:blip r:embed="rId5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9" name="组合 118">
            <a:extLst>
              <a:ext uri="{FF2B5EF4-FFF2-40B4-BE49-F238E27FC236}">
                <a16:creationId xmlns:a16="http://schemas.microsoft.com/office/drawing/2014/main" id="{CF210E9F-35A4-EAE7-420B-540802ED64E8}"/>
              </a:ext>
            </a:extLst>
          </p:cNvPr>
          <p:cNvGrpSpPr/>
          <p:nvPr/>
        </p:nvGrpSpPr>
        <p:grpSpPr>
          <a:xfrm>
            <a:off x="7373086" y="4526401"/>
            <a:ext cx="2884206" cy="610167"/>
            <a:chOff x="7231113" y="3055771"/>
            <a:chExt cx="2884206" cy="61016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0EA0826-1B52-3B43-3DB7-19F7737695BD}"/>
                    </a:ext>
                  </a:extLst>
                </p:cNvPr>
                <p:cNvSpPr txBox="1"/>
                <p:nvPr/>
              </p:nvSpPr>
              <p:spPr>
                <a:xfrm>
                  <a:off x="7231113" y="3181019"/>
                  <a:ext cx="1341491" cy="36933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22" name="文本框 121">
                  <a:extLst>
                    <a:ext uri="{FF2B5EF4-FFF2-40B4-BE49-F238E27FC236}">
                      <a16:creationId xmlns:a16="http://schemas.microsoft.com/office/drawing/2014/main" id="{C0EA0826-1B52-3B43-3DB7-19F7737695B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1113" y="3181019"/>
                  <a:ext cx="1341491" cy="369332"/>
                </a:xfrm>
                <a:prstGeom prst="rect">
                  <a:avLst/>
                </a:prstGeom>
                <a:blipFill>
                  <a:blip r:embed="rId51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634951EA-8D97-12FD-2AB0-EEDC668BDB2C}"/>
                    </a:ext>
                  </a:extLst>
                </p:cNvPr>
                <p:cNvSpPr txBox="1"/>
                <p:nvPr/>
              </p:nvSpPr>
              <p:spPr>
                <a:xfrm>
                  <a:off x="8427247" y="3055771"/>
                  <a:ext cx="1688072" cy="610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  <m:r>
                          <a:rPr lang="en-US" altLang="zh-CN" sz="1200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147" name="文本框 146">
                  <a:extLst>
                    <a:ext uri="{FF2B5EF4-FFF2-40B4-BE49-F238E27FC236}">
                      <a16:creationId xmlns:a16="http://schemas.microsoft.com/office/drawing/2014/main" id="{634951EA-8D97-12FD-2AB0-EEDC668BDB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7247" y="3055771"/>
                  <a:ext cx="1688072" cy="610167"/>
                </a:xfrm>
                <a:prstGeom prst="rect">
                  <a:avLst/>
                </a:prstGeom>
                <a:blipFill>
                  <a:blip r:embed="rId5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BB58D0FA-5AD2-DFB3-2EDD-C6E08692953F}"/>
                  </a:ext>
                </a:extLst>
              </p:cNvPr>
              <p:cNvSpPr txBox="1"/>
              <p:nvPr/>
            </p:nvSpPr>
            <p:spPr>
              <a:xfrm>
                <a:off x="6282188" y="4061738"/>
                <a:ext cx="11573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8" name="文本框 147">
                <a:extLst>
                  <a:ext uri="{FF2B5EF4-FFF2-40B4-BE49-F238E27FC236}">
                    <a16:creationId xmlns:a16="http://schemas.microsoft.com/office/drawing/2014/main" id="{BB58D0FA-5AD2-DFB3-2EDD-C6E0869295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2188" y="4061738"/>
                <a:ext cx="1157309" cy="369332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159DC764-9ACA-41C8-65EA-9C028E4E70C6}"/>
                  </a:ext>
                </a:extLst>
              </p:cNvPr>
              <p:cNvSpPr txBox="1"/>
              <p:nvPr/>
            </p:nvSpPr>
            <p:spPr>
              <a:xfrm>
                <a:off x="6335789" y="4651574"/>
                <a:ext cx="11037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159DC764-9ACA-41C8-65EA-9C028E4E70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35789" y="4651574"/>
                <a:ext cx="1103708" cy="369332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5" name="矩形: 圆角 154">
            <a:extLst>
              <a:ext uri="{FF2B5EF4-FFF2-40B4-BE49-F238E27FC236}">
                <a16:creationId xmlns:a16="http://schemas.microsoft.com/office/drawing/2014/main" id="{C3029A30-B856-F66A-6C0E-4A47F421717D}"/>
              </a:ext>
            </a:extLst>
          </p:cNvPr>
          <p:cNvSpPr/>
          <p:nvPr/>
        </p:nvSpPr>
        <p:spPr>
          <a:xfrm>
            <a:off x="10322627" y="4655898"/>
            <a:ext cx="1073129" cy="369684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非规范记法</a:t>
            </a:r>
            <a:r>
              <a:rPr lang="en-US" altLang="zh-CN" sz="1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!</a:t>
            </a:r>
            <a:endParaRPr lang="zh-CN" altLang="en-US" sz="12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grpSp>
        <p:nvGrpSpPr>
          <p:cNvPr id="164" name="组合 163">
            <a:extLst>
              <a:ext uri="{FF2B5EF4-FFF2-40B4-BE49-F238E27FC236}">
                <a16:creationId xmlns:a16="http://schemas.microsoft.com/office/drawing/2014/main" id="{248F68B6-F523-C814-1C39-F2ACC156ACD3}"/>
              </a:ext>
            </a:extLst>
          </p:cNvPr>
          <p:cNvGrpSpPr/>
          <p:nvPr/>
        </p:nvGrpSpPr>
        <p:grpSpPr>
          <a:xfrm>
            <a:off x="6315161" y="2801582"/>
            <a:ext cx="1977130" cy="549117"/>
            <a:chOff x="6315161" y="5678839"/>
            <a:chExt cx="1977130" cy="549117"/>
          </a:xfrm>
        </p:grpSpPr>
        <p:sp>
          <p:nvSpPr>
            <p:cNvPr id="157" name="箭头: 左 156">
              <a:extLst>
                <a:ext uri="{FF2B5EF4-FFF2-40B4-BE49-F238E27FC236}">
                  <a16:creationId xmlns:a16="http://schemas.microsoft.com/office/drawing/2014/main" id="{E54FDEAA-F543-4210-F776-A731E39084E8}"/>
                </a:ext>
              </a:extLst>
            </p:cNvPr>
            <p:cNvSpPr/>
            <p:nvPr/>
          </p:nvSpPr>
          <p:spPr>
            <a:xfrm>
              <a:off x="6479787" y="6006336"/>
              <a:ext cx="1434662" cy="221620"/>
            </a:xfrm>
            <a:prstGeom prst="leftArrow">
              <a:avLst>
                <a:gd name="adj1" fmla="val 35199"/>
                <a:gd name="adj2" fmla="val 61102"/>
              </a:avLst>
            </a:prstGeom>
            <a:gradFill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7E27D9AF-E0C7-6DBD-DFFD-0BACB4645B70}"/>
                    </a:ext>
                  </a:extLst>
                </p:cNvPr>
                <p:cNvSpPr txBox="1"/>
                <p:nvPr/>
              </p:nvSpPr>
              <p:spPr>
                <a:xfrm>
                  <a:off x="6315161" y="5678839"/>
                  <a:ext cx="1977130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求和：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sup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𝑃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(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)</m:t>
                          </m:r>
                        </m:e>
                      </m:nary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62" name="文本框 161">
                  <a:extLst>
                    <a:ext uri="{FF2B5EF4-FFF2-40B4-BE49-F238E27FC236}">
                      <a16:creationId xmlns:a16="http://schemas.microsoft.com/office/drawing/2014/main" id="{7E27D9AF-E0C7-6DBD-DFFD-0BACB4645B7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5161" y="5678839"/>
                  <a:ext cx="1977130" cy="338554"/>
                </a:xfrm>
                <a:prstGeom prst="rect">
                  <a:avLst/>
                </a:prstGeom>
                <a:blipFill>
                  <a:blip r:embed="rId55"/>
                  <a:stretch>
                    <a:fillRect l="-1852" t="-61818" b="-13272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2" name="组合 171">
            <a:extLst>
              <a:ext uri="{FF2B5EF4-FFF2-40B4-BE49-F238E27FC236}">
                <a16:creationId xmlns:a16="http://schemas.microsoft.com/office/drawing/2014/main" id="{16D3AE13-ED24-F5A3-5359-1B454D3E2D4E}"/>
              </a:ext>
            </a:extLst>
          </p:cNvPr>
          <p:cNvGrpSpPr/>
          <p:nvPr/>
        </p:nvGrpSpPr>
        <p:grpSpPr>
          <a:xfrm>
            <a:off x="6789376" y="3320628"/>
            <a:ext cx="1434662" cy="490790"/>
            <a:chOff x="6789376" y="6197885"/>
            <a:chExt cx="1434662" cy="490790"/>
          </a:xfrm>
        </p:grpSpPr>
        <p:sp>
          <p:nvSpPr>
            <p:cNvPr id="159" name="箭头: 左 158">
              <a:extLst>
                <a:ext uri="{FF2B5EF4-FFF2-40B4-BE49-F238E27FC236}">
                  <a16:creationId xmlns:a16="http://schemas.microsoft.com/office/drawing/2014/main" id="{2BAC7ABF-7907-23DA-17FB-57CDAB73143E}"/>
                </a:ext>
              </a:extLst>
            </p:cNvPr>
            <p:cNvSpPr/>
            <p:nvPr/>
          </p:nvSpPr>
          <p:spPr>
            <a:xfrm rot="10800000">
              <a:off x="6789376" y="6197885"/>
              <a:ext cx="1434662" cy="221620"/>
            </a:xfrm>
            <a:prstGeom prst="leftArrow">
              <a:avLst>
                <a:gd name="adj1" fmla="val 35199"/>
                <a:gd name="adj2" fmla="val 61102"/>
              </a:avLst>
            </a:prstGeom>
            <a:gradFill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3" name="文本框 162">
              <a:extLst>
                <a:ext uri="{FF2B5EF4-FFF2-40B4-BE49-F238E27FC236}">
                  <a16:creationId xmlns:a16="http://schemas.microsoft.com/office/drawing/2014/main" id="{42976C0E-7B73-B316-3394-8A8A9F7EBA88}"/>
                </a:ext>
              </a:extLst>
            </p:cNvPr>
            <p:cNvSpPr txBox="1"/>
            <p:nvPr/>
          </p:nvSpPr>
          <p:spPr>
            <a:xfrm>
              <a:off x="6918551" y="6350121"/>
              <a:ext cx="74855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1600" dirty="0">
                  <a:latin typeface="仿宋" panose="02010609060101010101" pitchFamily="49" charset="-122"/>
                  <a:ea typeface="仿宋" panose="02010609060101010101" pitchFamily="49" charset="-122"/>
                </a:rPr>
                <a:t>求差</a:t>
              </a:r>
            </a:p>
          </p:txBody>
        </p:sp>
      </p:grpSp>
      <p:sp>
        <p:nvSpPr>
          <p:cNvPr id="173" name="矩形 172">
            <a:extLst>
              <a:ext uri="{FF2B5EF4-FFF2-40B4-BE49-F238E27FC236}">
                <a16:creationId xmlns:a16="http://schemas.microsoft.com/office/drawing/2014/main" id="{63ED0CE3-EF41-E848-C6EA-0061DF1C3B25}"/>
              </a:ext>
            </a:extLst>
          </p:cNvPr>
          <p:cNvSpPr/>
          <p:nvPr/>
        </p:nvSpPr>
        <p:spPr>
          <a:xfrm>
            <a:off x="665878" y="2588969"/>
            <a:ext cx="5254249" cy="261435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B2D7DD4B-ED34-9D99-B88B-3FDCDECEF49F}"/>
                  </a:ext>
                </a:extLst>
              </p:cNvPr>
              <p:cNvSpPr txBox="1"/>
              <p:nvPr/>
            </p:nvSpPr>
            <p:spPr>
              <a:xfrm>
                <a:off x="1620992" y="2836683"/>
                <a:ext cx="179811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u="sng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密度函数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1800" b="0" dirty="0">
                  <a:latin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4" name="文本框 173">
                <a:extLst>
                  <a:ext uri="{FF2B5EF4-FFF2-40B4-BE49-F238E27FC236}">
                    <a16:creationId xmlns:a16="http://schemas.microsoft.com/office/drawing/2014/main" id="{B2D7DD4B-ED34-9D99-B88B-3FDCDECEF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0992" y="2836683"/>
                <a:ext cx="1798116" cy="369332"/>
              </a:xfrm>
              <a:prstGeom prst="rect">
                <a:avLst/>
              </a:prstGeom>
              <a:blipFill>
                <a:blip r:embed="rId56"/>
                <a:stretch>
                  <a:fillRect t="-11475" b="-213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5D50E97B-EC88-6A5B-DF81-48D354F9B69E}"/>
              </a:ext>
            </a:extLst>
          </p:cNvPr>
          <p:cNvGrpSpPr/>
          <p:nvPr/>
        </p:nvGrpSpPr>
        <p:grpSpPr>
          <a:xfrm>
            <a:off x="804503" y="2780231"/>
            <a:ext cx="3042495" cy="1096398"/>
            <a:chOff x="2132224" y="3655712"/>
            <a:chExt cx="3042495" cy="1096398"/>
          </a:xfrm>
        </p:grpSpPr>
        <p:grpSp>
          <p:nvGrpSpPr>
            <p:cNvPr id="176" name="组合 175">
              <a:extLst>
                <a:ext uri="{FF2B5EF4-FFF2-40B4-BE49-F238E27FC236}">
                  <a16:creationId xmlns:a16="http://schemas.microsoft.com/office/drawing/2014/main" id="{A6801C09-4B8D-DD61-F27E-788FAECF3A1F}"/>
                </a:ext>
              </a:extLst>
            </p:cNvPr>
            <p:cNvGrpSpPr/>
            <p:nvPr/>
          </p:nvGrpSpPr>
          <p:grpSpPr>
            <a:xfrm>
              <a:off x="2293514" y="4162797"/>
              <a:ext cx="2600730" cy="184666"/>
              <a:chOff x="2472133" y="3164033"/>
              <a:chExt cx="2600730" cy="184666"/>
            </a:xfrm>
          </p:grpSpPr>
          <p:cxnSp>
            <p:nvCxnSpPr>
              <p:cNvPr id="189" name="直接连接符 188">
                <a:extLst>
                  <a:ext uri="{FF2B5EF4-FFF2-40B4-BE49-F238E27FC236}">
                    <a16:creationId xmlns:a16="http://schemas.microsoft.com/office/drawing/2014/main" id="{6C1D8430-76E7-F72A-9D5D-A3419B8EF1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96810" y="3251075"/>
                <a:ext cx="2276053" cy="0"/>
              </a:xfrm>
              <a:prstGeom prst="line">
                <a:avLst/>
              </a:prstGeom>
              <a:ln w="12700">
                <a:solidFill>
                  <a:schemeClr val="bg1">
                    <a:lumMod val="8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33D298CF-CAE8-F11B-817A-42ABB21B2425}"/>
                      </a:ext>
                    </a:extLst>
                  </p:cNvPr>
                  <p:cNvSpPr txBox="1"/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2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/6</m:t>
                          </m:r>
                        </m:oMath>
                      </m:oMathPara>
                    </a14:m>
                    <a:endParaRPr lang="en-US" altLang="zh-CN" sz="1200" dirty="0"/>
                  </a:p>
                </p:txBody>
              </p:sp>
            </mc:Choice>
            <mc:Fallback xmlns="">
              <p:sp>
                <p:nvSpPr>
                  <p:cNvPr id="190" name="文本框 189">
                    <a:extLst>
                      <a:ext uri="{FF2B5EF4-FFF2-40B4-BE49-F238E27FC236}">
                        <a16:creationId xmlns:a16="http://schemas.microsoft.com/office/drawing/2014/main" id="{33D298CF-CAE8-F11B-817A-42ABB21B242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472133" y="3164033"/>
                    <a:ext cx="286938" cy="184666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 l="-10417" t="-3226" r="-10417" b="-2903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8D02F3EB-3ACC-D22F-5EF3-F906198C84C9}"/>
                </a:ext>
              </a:extLst>
            </p:cNvPr>
            <p:cNvGrpSpPr/>
            <p:nvPr/>
          </p:nvGrpSpPr>
          <p:grpSpPr>
            <a:xfrm>
              <a:off x="2132224" y="3655712"/>
              <a:ext cx="3042495" cy="1096398"/>
              <a:chOff x="7973702" y="4070518"/>
              <a:chExt cx="3042495" cy="1096398"/>
            </a:xfrm>
          </p:grpSpPr>
          <p:cxnSp>
            <p:nvCxnSpPr>
              <p:cNvPr id="184" name="直接箭头连接符 183">
                <a:extLst>
                  <a:ext uri="{FF2B5EF4-FFF2-40B4-BE49-F238E27FC236}">
                    <a16:creationId xmlns:a16="http://schemas.microsoft.com/office/drawing/2014/main" id="{CDD157BE-FFB7-6F50-E2AC-096FCB4924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079697" y="4843751"/>
                <a:ext cx="2825943" cy="0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5" name="直接箭头连接符 184">
                <a:extLst>
                  <a:ext uri="{FF2B5EF4-FFF2-40B4-BE49-F238E27FC236}">
                    <a16:creationId xmlns:a16="http://schemas.microsoft.com/office/drawing/2014/main" id="{23D19EAD-856F-0222-475F-5DC36A248D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459669" y="4127298"/>
                <a:ext cx="0" cy="1039618"/>
              </a:xfrm>
              <a:prstGeom prst="straightConnector1">
                <a:avLst/>
              </a:prstGeom>
              <a:ln w="12700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599ED7CB-5240-9091-C9CA-3A86F4E0A346}"/>
                      </a:ext>
                    </a:extLst>
                  </p:cNvPr>
                  <p:cNvSpPr txBox="1"/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186" name="文本框 185">
                    <a:extLst>
                      <a:ext uri="{FF2B5EF4-FFF2-40B4-BE49-F238E27FC236}">
                        <a16:creationId xmlns:a16="http://schemas.microsoft.com/office/drawing/2014/main" id="{599ED7CB-5240-9091-C9CA-3A86F4E0A34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6636" y="4885637"/>
                    <a:ext cx="223651" cy="276999"/>
                  </a:xfrm>
                  <a:prstGeom prst="rect">
                    <a:avLst/>
                  </a:prstGeom>
                  <a:blipFill>
                    <a:blip r:embed="rId57"/>
                    <a:stretch>
                      <a:fillRect l="-25000" r="-22222" b="-6667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F2C41D92-E173-EBFC-96FA-264BD29FFE2F}"/>
                      </a:ext>
                    </a:extLst>
                  </p:cNvPr>
                  <p:cNvSpPr txBox="1"/>
                  <p:nvPr/>
                </p:nvSpPr>
                <p:spPr>
                  <a:xfrm>
                    <a:off x="10844868" y="4900727"/>
                    <a:ext cx="171329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87" name="文本框 186">
                    <a:extLst>
                      <a:ext uri="{FF2B5EF4-FFF2-40B4-BE49-F238E27FC236}">
                        <a16:creationId xmlns:a16="http://schemas.microsoft.com/office/drawing/2014/main" id="{F2C41D92-E173-EBFC-96FA-264BD29FFE2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844868" y="4900727"/>
                    <a:ext cx="171329" cy="246221"/>
                  </a:xfrm>
                  <a:prstGeom prst="rect">
                    <a:avLst/>
                  </a:prstGeom>
                  <a:blipFill>
                    <a:blip r:embed="rId58"/>
                    <a:stretch>
                      <a:fillRect l="-14286" r="-10714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505213E6-A19A-F1A5-C63C-4C4B5049921A}"/>
                      </a:ext>
                    </a:extLst>
                  </p:cNvPr>
                  <p:cNvSpPr txBox="1"/>
                  <p:nvPr/>
                </p:nvSpPr>
                <p:spPr>
                  <a:xfrm>
                    <a:off x="7973702" y="4070518"/>
                    <a:ext cx="457561" cy="246221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oMath>
                      </m:oMathPara>
                    </a14:m>
                    <a:endParaRPr lang="zh-CN" altLang="en-US" sz="1600" dirty="0"/>
                  </a:p>
                </p:txBody>
              </p:sp>
            </mc:Choice>
            <mc:Fallback xmlns="">
              <p:sp>
                <p:nvSpPr>
                  <p:cNvPr id="188" name="文本框 187">
                    <a:extLst>
                      <a:ext uri="{FF2B5EF4-FFF2-40B4-BE49-F238E27FC236}">
                        <a16:creationId xmlns:a16="http://schemas.microsoft.com/office/drawing/2014/main" id="{505213E6-A19A-F1A5-C63C-4C4B5049921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73702" y="4070518"/>
                    <a:ext cx="457561" cy="246221"/>
                  </a:xfrm>
                  <a:prstGeom prst="rect">
                    <a:avLst/>
                  </a:prstGeom>
                  <a:blipFill>
                    <a:blip r:embed="rId59"/>
                    <a:stretch>
                      <a:fillRect l="-9333" r="-13333" b="-35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7A4FD5DB-34B8-3E59-A619-0B22D98C7210}"/>
                    </a:ext>
                  </a:extLst>
                </p:cNvPr>
                <p:cNvSpPr txBox="1"/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78" name="文本框 177">
                  <a:extLst>
                    <a:ext uri="{FF2B5EF4-FFF2-40B4-BE49-F238E27FC236}">
                      <a16:creationId xmlns:a16="http://schemas.microsoft.com/office/drawing/2014/main" id="{7A4FD5DB-34B8-3E59-A619-0B22D98C72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2836" y="4490791"/>
                  <a:ext cx="193983" cy="246221"/>
                </a:xfrm>
                <a:prstGeom prst="rect">
                  <a:avLst/>
                </a:prstGeom>
                <a:blipFill>
                  <a:blip r:embed="rId60"/>
                  <a:stretch>
                    <a:fillRect l="-12500" r="-15625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625A5753-0677-F2F6-4F31-881225D86C24}"/>
                    </a:ext>
                  </a:extLst>
                </p:cNvPr>
                <p:cNvSpPr txBox="1"/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79" name="文本框 178">
                  <a:extLst>
                    <a:ext uri="{FF2B5EF4-FFF2-40B4-BE49-F238E27FC236}">
                      <a16:creationId xmlns:a16="http://schemas.microsoft.com/office/drawing/2014/main" id="{625A5753-0677-F2F6-4F31-881225D86C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49248" y="4489538"/>
                  <a:ext cx="169918" cy="246221"/>
                </a:xfrm>
                <a:prstGeom prst="rect">
                  <a:avLst/>
                </a:prstGeom>
                <a:blipFill>
                  <a:blip r:embed="rId61"/>
                  <a:stretch>
                    <a:fillRect l="-21429" r="-25000" b="-5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EA9CA7D6-22F8-D9D1-9002-C44A729E5822}"/>
                    </a:ext>
                  </a:extLst>
                </p:cNvPr>
                <p:cNvSpPr txBox="1"/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80" name="文本框 179">
                  <a:extLst>
                    <a:ext uri="{FF2B5EF4-FFF2-40B4-BE49-F238E27FC236}">
                      <a16:creationId xmlns:a16="http://schemas.microsoft.com/office/drawing/2014/main" id="{EA9CA7D6-22F8-D9D1-9002-C44A729E58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12185" y="4490791"/>
                  <a:ext cx="169918" cy="246221"/>
                </a:xfrm>
                <a:prstGeom prst="rect">
                  <a:avLst/>
                </a:prstGeom>
                <a:blipFill>
                  <a:blip r:embed="rId62"/>
                  <a:stretch>
                    <a:fillRect l="-25000" r="-21429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5865C22C-1B6C-EC72-8DFE-892567D8DEF7}"/>
                    </a:ext>
                  </a:extLst>
                </p:cNvPr>
                <p:cNvSpPr txBox="1"/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81" name="文本框 180">
                  <a:extLst>
                    <a:ext uri="{FF2B5EF4-FFF2-40B4-BE49-F238E27FC236}">
                      <a16:creationId xmlns:a16="http://schemas.microsoft.com/office/drawing/2014/main" id="{5865C22C-1B6C-EC72-8DFE-892567D8DE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6088" y="4490791"/>
                  <a:ext cx="169918" cy="246221"/>
                </a:xfrm>
                <a:prstGeom prst="rect">
                  <a:avLst/>
                </a:prstGeom>
                <a:blipFill>
                  <a:blip r:embed="rId63"/>
                  <a:stretch>
                    <a:fillRect l="-25000" r="-21429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B8D7739C-109B-5562-52DD-45B2FBB7CCF0}"/>
                    </a:ext>
                  </a:extLst>
                </p:cNvPr>
                <p:cNvSpPr txBox="1"/>
                <p:nvPr/>
              </p:nvSpPr>
              <p:spPr>
                <a:xfrm>
                  <a:off x="4331281" y="4490791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82" name="文本框 181">
                  <a:extLst>
                    <a:ext uri="{FF2B5EF4-FFF2-40B4-BE49-F238E27FC236}">
                      <a16:creationId xmlns:a16="http://schemas.microsoft.com/office/drawing/2014/main" id="{B8D7739C-109B-5562-52DD-45B2FBB7CCF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1281" y="4490791"/>
                  <a:ext cx="169918" cy="246221"/>
                </a:xfrm>
                <a:prstGeom prst="rect">
                  <a:avLst/>
                </a:prstGeom>
                <a:blipFill>
                  <a:blip r:embed="rId64"/>
                  <a:stretch>
                    <a:fillRect l="-25000" r="-25000" b="-7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AFA0D7BB-8A79-2B0E-9604-2E70658CE7D4}"/>
                    </a:ext>
                  </a:extLst>
                </p:cNvPr>
                <p:cNvSpPr txBox="1"/>
                <p:nvPr/>
              </p:nvSpPr>
              <p:spPr>
                <a:xfrm>
                  <a:off x="4682680" y="4486963"/>
                  <a:ext cx="169918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183" name="文本框 182">
                  <a:extLst>
                    <a:ext uri="{FF2B5EF4-FFF2-40B4-BE49-F238E27FC236}">
                      <a16:creationId xmlns:a16="http://schemas.microsoft.com/office/drawing/2014/main" id="{AFA0D7BB-8A79-2B0E-9604-2E70658CE7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82680" y="4486963"/>
                  <a:ext cx="169918" cy="246221"/>
                </a:xfrm>
                <a:prstGeom prst="rect">
                  <a:avLst/>
                </a:prstGeom>
                <a:blipFill>
                  <a:blip r:embed="rId65"/>
                  <a:stretch>
                    <a:fillRect l="-21429" r="-25000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7" name="组合 246">
            <a:extLst>
              <a:ext uri="{FF2B5EF4-FFF2-40B4-BE49-F238E27FC236}">
                <a16:creationId xmlns:a16="http://schemas.microsoft.com/office/drawing/2014/main" id="{E7F07F6D-6DC1-67EB-0B7D-E3EBF5424FA6}"/>
              </a:ext>
            </a:extLst>
          </p:cNvPr>
          <p:cNvGrpSpPr/>
          <p:nvPr/>
        </p:nvGrpSpPr>
        <p:grpSpPr>
          <a:xfrm>
            <a:off x="1765437" y="3995230"/>
            <a:ext cx="2508952" cy="514243"/>
            <a:chOff x="7231114" y="3106879"/>
            <a:chExt cx="2508952" cy="51424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77A6CF77-A8FD-057F-26A7-3BF6FACF7267}"/>
                    </a:ext>
                  </a:extLst>
                </p:cNvPr>
                <p:cNvSpPr txBox="1"/>
                <p:nvPr/>
              </p:nvSpPr>
              <p:spPr>
                <a:xfrm>
                  <a:off x="7231114" y="3181019"/>
                  <a:ext cx="1341491" cy="369332"/>
                </a:xfrm>
                <a:prstGeom prst="rect">
                  <a:avLst/>
                </a:prstGeom>
                <a:solidFill>
                  <a:schemeClr val="accent6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𝟓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48" name="文本框 247">
                  <a:extLst>
                    <a:ext uri="{FF2B5EF4-FFF2-40B4-BE49-F238E27FC236}">
                      <a16:creationId xmlns:a16="http://schemas.microsoft.com/office/drawing/2014/main" id="{77A6CF77-A8FD-057F-26A7-3BF6FACF72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1114" y="3181019"/>
                  <a:ext cx="1341491" cy="369332"/>
                </a:xfrm>
                <a:prstGeom prst="rect">
                  <a:avLst/>
                </a:prstGeom>
                <a:blipFill>
                  <a:blip r:embed="rId66"/>
                  <a:stretch>
                    <a:fillRect b="-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A4A54908-2C8F-6BF3-7050-BF0AF2A82ED1}"/>
                    </a:ext>
                  </a:extLst>
                </p:cNvPr>
                <p:cNvSpPr txBox="1"/>
                <p:nvPr/>
              </p:nvSpPr>
              <p:spPr>
                <a:xfrm>
                  <a:off x="8464986" y="3106879"/>
                  <a:ext cx="1275080" cy="51424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2.5</m:t>
                            </m:r>
                          </m:sup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49" name="文本框 248">
                  <a:extLst>
                    <a:ext uri="{FF2B5EF4-FFF2-40B4-BE49-F238E27FC236}">
                      <a16:creationId xmlns:a16="http://schemas.microsoft.com/office/drawing/2014/main" id="{A4A54908-2C8F-6BF3-7050-BF0AF2A82E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64986" y="3106879"/>
                  <a:ext cx="1275080" cy="514243"/>
                </a:xfrm>
                <a:prstGeom prst="rect">
                  <a:avLst/>
                </a:prstGeom>
                <a:blipFill>
                  <a:blip r:embed="rId67"/>
                  <a:stretch>
                    <a:fillRect l="-24880" t="-138824" r="-11483" b="-20705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D5BA371E-AE7D-CD3B-097E-A145B3DCD9F1}"/>
              </a:ext>
            </a:extLst>
          </p:cNvPr>
          <p:cNvGrpSpPr/>
          <p:nvPr/>
        </p:nvGrpSpPr>
        <p:grpSpPr>
          <a:xfrm>
            <a:off x="1765436" y="4526401"/>
            <a:ext cx="2537624" cy="510653"/>
            <a:chOff x="7231113" y="3055771"/>
            <a:chExt cx="2537624" cy="51065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FCF432BB-2C5A-FE0E-8869-2C1843B93D18}"/>
                    </a:ext>
                  </a:extLst>
                </p:cNvPr>
                <p:cNvSpPr txBox="1"/>
                <p:nvPr/>
              </p:nvSpPr>
              <p:spPr>
                <a:xfrm>
                  <a:off x="7231113" y="3181019"/>
                  <a:ext cx="1341491" cy="369332"/>
                </a:xfrm>
                <a:prstGeom prst="rect">
                  <a:avLst/>
                </a:prstGeom>
                <a:solidFill>
                  <a:schemeClr val="accent6">
                    <a:lumMod val="60000"/>
                    <a:lumOff val="4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effectLst/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b="1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1" i="1" smtClea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52" name="文本框 251">
                  <a:extLst>
                    <a:ext uri="{FF2B5EF4-FFF2-40B4-BE49-F238E27FC236}">
                      <a16:creationId xmlns:a16="http://schemas.microsoft.com/office/drawing/2014/main" id="{FCF432BB-2C5A-FE0E-8869-2C1843B93D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1113" y="3181019"/>
                  <a:ext cx="1341491" cy="369332"/>
                </a:xfrm>
                <a:prstGeom prst="rect">
                  <a:avLst/>
                </a:prstGeom>
                <a:blipFill>
                  <a:blip r:embed="rId68"/>
                  <a:stretch>
                    <a:fillRect b="-163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2D4E206A-C8DB-FDC7-F8D1-821EB6423CE8}"/>
                    </a:ext>
                  </a:extLst>
                </p:cNvPr>
                <p:cNvSpPr txBox="1"/>
                <p:nvPr/>
              </p:nvSpPr>
              <p:spPr>
                <a:xfrm>
                  <a:off x="8427246" y="3055771"/>
                  <a:ext cx="1341491" cy="5106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−1</m:t>
                            </m:r>
                          </m:sup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 xmlns="">
            <p:sp>
              <p:nvSpPr>
                <p:cNvPr id="253" name="文本框 252">
                  <a:extLst>
                    <a:ext uri="{FF2B5EF4-FFF2-40B4-BE49-F238E27FC236}">
                      <a16:creationId xmlns:a16="http://schemas.microsoft.com/office/drawing/2014/main" id="{2D4E206A-C8DB-FDC7-F8D1-821EB6423C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27246" y="3055771"/>
                  <a:ext cx="1341491" cy="510653"/>
                </a:xfrm>
                <a:prstGeom prst="rect">
                  <a:avLst/>
                </a:prstGeom>
                <a:blipFill>
                  <a:blip r:embed="rId69"/>
                  <a:stretch>
                    <a:fillRect l="-21364" t="-142169" r="-8182" b="-21445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B4468CD0-7D00-35DB-1EAF-106E6E6D9236}"/>
                  </a:ext>
                </a:extLst>
              </p:cNvPr>
              <p:cNvSpPr txBox="1"/>
              <p:nvPr/>
            </p:nvSpPr>
            <p:spPr>
              <a:xfrm>
                <a:off x="674538" y="4061738"/>
                <a:ext cx="115730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𝟓</m:t>
                          </m:r>
                        </m:e>
                      </m:d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5" name="文本框 254">
                <a:extLst>
                  <a:ext uri="{FF2B5EF4-FFF2-40B4-BE49-F238E27FC236}">
                    <a16:creationId xmlns:a16="http://schemas.microsoft.com/office/drawing/2014/main" id="{B4468CD0-7D00-35DB-1EAF-106E6E6D9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38" y="4061738"/>
                <a:ext cx="1157309" cy="369332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ADBB1EA2-FE0D-7AD6-2674-89E88A027582}"/>
                  </a:ext>
                </a:extLst>
              </p:cNvPr>
              <p:cNvSpPr txBox="1"/>
              <p:nvPr/>
            </p:nvSpPr>
            <p:spPr>
              <a:xfrm>
                <a:off x="728139" y="4651574"/>
                <a:ext cx="11037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</m:d>
                      <m:r>
                        <a:rPr lang="en-US" altLang="zh-CN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57" name="文本框 256">
                <a:extLst>
                  <a:ext uri="{FF2B5EF4-FFF2-40B4-BE49-F238E27FC236}">
                    <a16:creationId xmlns:a16="http://schemas.microsoft.com/office/drawing/2014/main" id="{ADBB1EA2-FE0D-7AD6-2674-89E88A0275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139" y="4651574"/>
                <a:ext cx="1103708" cy="369332"/>
              </a:xfrm>
              <a:prstGeom prst="rect">
                <a:avLst/>
              </a:prstGeom>
              <a:blipFill>
                <a:blip r:embed="rId7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16" name="组合 315">
            <a:extLst>
              <a:ext uri="{FF2B5EF4-FFF2-40B4-BE49-F238E27FC236}">
                <a16:creationId xmlns:a16="http://schemas.microsoft.com/office/drawing/2014/main" id="{4B806D48-7984-1C7C-B2CD-51DB5EB18C12}"/>
              </a:ext>
            </a:extLst>
          </p:cNvPr>
          <p:cNvGrpSpPr/>
          <p:nvPr/>
        </p:nvGrpSpPr>
        <p:grpSpPr>
          <a:xfrm>
            <a:off x="3816623" y="2814491"/>
            <a:ext cx="2069794" cy="535079"/>
            <a:chOff x="3929770" y="5691748"/>
            <a:chExt cx="2069794" cy="53507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1" name="文本框 260">
                  <a:extLst>
                    <a:ext uri="{FF2B5EF4-FFF2-40B4-BE49-F238E27FC236}">
                      <a16:creationId xmlns:a16="http://schemas.microsoft.com/office/drawing/2014/main" id="{9795DB81-4842-1F4C-4973-7EB4345C9A35}"/>
                    </a:ext>
                  </a:extLst>
                </p:cNvPr>
                <p:cNvSpPr txBox="1"/>
                <p:nvPr/>
              </p:nvSpPr>
              <p:spPr>
                <a:xfrm>
                  <a:off x="3929770" y="5691748"/>
                  <a:ext cx="2069794" cy="33977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积分：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nary>
                        <m:naryPr>
                          <m:ctrlPr>
                            <a:rPr lang="zh-CN" altLang="en-US" sz="120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𝑡</m:t>
                          </m:r>
                        </m:sup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仿宋" panose="02010609060101010101" pitchFamily="49" charset="-122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𝑑𝑥</m:t>
                          </m:r>
                        </m:e>
                      </m:nary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61" name="文本框 260">
                  <a:extLst>
                    <a:ext uri="{FF2B5EF4-FFF2-40B4-BE49-F238E27FC236}">
                      <a16:creationId xmlns:a16="http://schemas.microsoft.com/office/drawing/2014/main" id="{9795DB81-4842-1F4C-4973-7EB4345C9A3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29770" y="5691748"/>
                  <a:ext cx="2069794" cy="339773"/>
                </a:xfrm>
                <a:prstGeom prst="rect">
                  <a:avLst/>
                </a:prstGeom>
                <a:blipFill>
                  <a:blip r:embed="rId72"/>
                  <a:stretch>
                    <a:fillRect l="-1471" t="-89091" b="-15636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3" name="箭头: 左 262">
              <a:extLst>
                <a:ext uri="{FF2B5EF4-FFF2-40B4-BE49-F238E27FC236}">
                  <a16:creationId xmlns:a16="http://schemas.microsoft.com/office/drawing/2014/main" id="{19B180EC-80C9-7743-6CB4-B0D28ECAEB54}"/>
                </a:ext>
              </a:extLst>
            </p:cNvPr>
            <p:cNvSpPr/>
            <p:nvPr/>
          </p:nvSpPr>
          <p:spPr>
            <a:xfrm rot="10800000">
              <a:off x="4364565" y="6005207"/>
              <a:ext cx="1434662" cy="221620"/>
            </a:xfrm>
            <a:prstGeom prst="leftArrow">
              <a:avLst>
                <a:gd name="adj1" fmla="val 35199"/>
                <a:gd name="adj2" fmla="val 61102"/>
              </a:avLst>
            </a:prstGeom>
            <a:gradFill>
              <a:gsLst>
                <a:gs pos="0">
                  <a:srgbClr val="00B050"/>
                </a:gs>
                <a:gs pos="100000">
                  <a:srgbClr val="00B0F0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17" name="组合 316">
            <a:extLst>
              <a:ext uri="{FF2B5EF4-FFF2-40B4-BE49-F238E27FC236}">
                <a16:creationId xmlns:a16="http://schemas.microsoft.com/office/drawing/2014/main" id="{D53CDF12-8E92-60F6-C1F2-551A21E84B39}"/>
              </a:ext>
            </a:extLst>
          </p:cNvPr>
          <p:cNvGrpSpPr/>
          <p:nvPr/>
        </p:nvGrpSpPr>
        <p:grpSpPr>
          <a:xfrm>
            <a:off x="3941829" y="3318391"/>
            <a:ext cx="1751931" cy="511252"/>
            <a:chOff x="4054976" y="6195648"/>
            <a:chExt cx="1751931" cy="511252"/>
          </a:xfrm>
        </p:grpSpPr>
        <p:sp>
          <p:nvSpPr>
            <p:cNvPr id="260" name="箭头: 左 259">
              <a:extLst>
                <a:ext uri="{FF2B5EF4-FFF2-40B4-BE49-F238E27FC236}">
                  <a16:creationId xmlns:a16="http://schemas.microsoft.com/office/drawing/2014/main" id="{51D5DC33-6C62-BCFC-5444-97D399222EB4}"/>
                </a:ext>
              </a:extLst>
            </p:cNvPr>
            <p:cNvSpPr/>
            <p:nvPr/>
          </p:nvSpPr>
          <p:spPr>
            <a:xfrm>
              <a:off x="4054976" y="6195648"/>
              <a:ext cx="1434662" cy="221620"/>
            </a:xfrm>
            <a:prstGeom prst="leftArrow">
              <a:avLst>
                <a:gd name="adj1" fmla="val 35199"/>
                <a:gd name="adj2" fmla="val 61102"/>
              </a:avLst>
            </a:prstGeom>
            <a:gradFill>
              <a:gsLst>
                <a:gs pos="0">
                  <a:srgbClr val="00B050"/>
                </a:gs>
                <a:gs pos="100000">
                  <a:srgbClr val="00B0F0"/>
                </a:gs>
              </a:gsLst>
              <a:lin ang="10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9E22FBA8-9278-9967-DEFD-60CC2E21A73F}"/>
                    </a:ext>
                  </a:extLst>
                </p:cNvPr>
                <p:cNvSpPr txBox="1"/>
                <p:nvPr/>
              </p:nvSpPr>
              <p:spPr>
                <a:xfrm>
                  <a:off x="4132172" y="6368346"/>
                  <a:ext cx="167473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CN" altLang="en-US" sz="16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求导：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𝑝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𝐹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′(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2" name="文本框 271">
                  <a:extLst>
                    <a:ext uri="{FF2B5EF4-FFF2-40B4-BE49-F238E27FC236}">
                      <a16:creationId xmlns:a16="http://schemas.microsoft.com/office/drawing/2014/main" id="{9E22FBA8-9278-9967-DEFD-60CC2E21A7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32172" y="6368346"/>
                  <a:ext cx="1674735" cy="338554"/>
                </a:xfrm>
                <a:prstGeom prst="rect">
                  <a:avLst/>
                </a:prstGeom>
                <a:blipFill>
                  <a:blip r:embed="rId73"/>
                  <a:stretch>
                    <a:fillRect l="-1818" t="-5455" b="-2363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5" name="组合 314">
            <a:extLst>
              <a:ext uri="{FF2B5EF4-FFF2-40B4-BE49-F238E27FC236}">
                <a16:creationId xmlns:a16="http://schemas.microsoft.com/office/drawing/2014/main" id="{100FD8D3-52B4-8293-64EE-B68CC7A9E463}"/>
              </a:ext>
            </a:extLst>
          </p:cNvPr>
          <p:cNvGrpSpPr/>
          <p:nvPr/>
        </p:nvGrpSpPr>
        <p:grpSpPr>
          <a:xfrm>
            <a:off x="1297075" y="3374358"/>
            <a:ext cx="2152969" cy="178207"/>
            <a:chOff x="3220721" y="6251615"/>
            <a:chExt cx="2152969" cy="178207"/>
          </a:xfrm>
        </p:grpSpPr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A83B84A5-5900-F8DB-F468-5FF129C1BAE2}"/>
                </a:ext>
              </a:extLst>
            </p:cNvPr>
            <p:cNvCxnSpPr>
              <a:cxnSpLocks/>
            </p:cNvCxnSpPr>
            <p:nvPr/>
          </p:nvCxnSpPr>
          <p:spPr>
            <a:xfrm>
              <a:off x="5373690" y="6251615"/>
              <a:ext cx="0" cy="178207"/>
            </a:xfrm>
            <a:prstGeom prst="line">
              <a:avLst/>
            </a:prstGeom>
            <a:ln w="12700">
              <a:solidFill>
                <a:schemeClr val="accent5">
                  <a:lumMod val="40000"/>
                  <a:lumOff val="6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直接连接符 308">
              <a:extLst>
                <a:ext uri="{FF2B5EF4-FFF2-40B4-BE49-F238E27FC236}">
                  <a16:creationId xmlns:a16="http://schemas.microsoft.com/office/drawing/2014/main" id="{7EFEE386-E82D-1EE3-0789-848A1CFFE7AD}"/>
                </a:ext>
              </a:extLst>
            </p:cNvPr>
            <p:cNvCxnSpPr>
              <a:cxnSpLocks/>
            </p:cNvCxnSpPr>
            <p:nvPr/>
          </p:nvCxnSpPr>
          <p:spPr>
            <a:xfrm>
              <a:off x="3220721" y="6251758"/>
              <a:ext cx="2152969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326" name="组合 325">
            <a:extLst>
              <a:ext uri="{FF2B5EF4-FFF2-40B4-BE49-F238E27FC236}">
                <a16:creationId xmlns:a16="http://schemas.microsoft.com/office/drawing/2014/main" id="{FD3A41D3-9563-16E5-3397-CE827298DE98}"/>
              </a:ext>
            </a:extLst>
          </p:cNvPr>
          <p:cNvGrpSpPr/>
          <p:nvPr/>
        </p:nvGrpSpPr>
        <p:grpSpPr>
          <a:xfrm>
            <a:off x="4155164" y="4489099"/>
            <a:ext cx="1630847" cy="440690"/>
            <a:chOff x="4155164" y="7366356"/>
            <a:chExt cx="1630847" cy="440690"/>
          </a:xfrm>
        </p:grpSpPr>
        <p:sp>
          <p:nvSpPr>
            <p:cNvPr id="318" name="矩形: 圆角 317">
              <a:extLst>
                <a:ext uri="{FF2B5EF4-FFF2-40B4-BE49-F238E27FC236}">
                  <a16:creationId xmlns:a16="http://schemas.microsoft.com/office/drawing/2014/main" id="{998B24EA-9ACD-30D0-4478-37648C40DAF9}"/>
                </a:ext>
              </a:extLst>
            </p:cNvPr>
            <p:cNvSpPr/>
            <p:nvPr/>
          </p:nvSpPr>
          <p:spPr>
            <a:xfrm>
              <a:off x="4327300" y="7510922"/>
              <a:ext cx="1458711" cy="296124"/>
            </a:xfrm>
            <a:prstGeom prst="roundRect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广义、分段定积分</a:t>
              </a:r>
            </a:p>
          </p:txBody>
        </p:sp>
        <p:cxnSp>
          <p:nvCxnSpPr>
            <p:cNvPr id="321" name="直接箭头连接符 320">
              <a:extLst>
                <a:ext uri="{FF2B5EF4-FFF2-40B4-BE49-F238E27FC236}">
                  <a16:creationId xmlns:a16="http://schemas.microsoft.com/office/drawing/2014/main" id="{3B77FBD7-B24A-30C7-9729-C7E44DE9B5E2}"/>
                </a:ext>
              </a:extLst>
            </p:cNvPr>
            <p:cNvCxnSpPr/>
            <p:nvPr/>
          </p:nvCxnSpPr>
          <p:spPr>
            <a:xfrm flipH="1" flipV="1">
              <a:off x="4234240" y="7366356"/>
              <a:ext cx="144566" cy="144566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325" name="直接箭头连接符 324">
              <a:extLst>
                <a:ext uri="{FF2B5EF4-FFF2-40B4-BE49-F238E27FC236}">
                  <a16:creationId xmlns:a16="http://schemas.microsoft.com/office/drawing/2014/main" id="{F6FC3879-A91F-A634-FF69-3F0DEF73D5A8}"/>
                </a:ext>
              </a:extLst>
            </p:cNvPr>
            <p:cNvCxnSpPr/>
            <p:nvPr/>
          </p:nvCxnSpPr>
          <p:spPr>
            <a:xfrm flipH="1">
              <a:off x="4155164" y="7510922"/>
              <a:ext cx="192505" cy="0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0" name="组合 329">
            <a:extLst>
              <a:ext uri="{FF2B5EF4-FFF2-40B4-BE49-F238E27FC236}">
                <a16:creationId xmlns:a16="http://schemas.microsoft.com/office/drawing/2014/main" id="{579704D0-0E29-46D5-FD6A-A5D6ABC56D62}"/>
              </a:ext>
            </a:extLst>
          </p:cNvPr>
          <p:cNvGrpSpPr/>
          <p:nvPr/>
        </p:nvGrpSpPr>
        <p:grpSpPr>
          <a:xfrm>
            <a:off x="4945023" y="3523543"/>
            <a:ext cx="840987" cy="933672"/>
            <a:chOff x="4945023" y="6400800"/>
            <a:chExt cx="840987" cy="933672"/>
          </a:xfrm>
        </p:grpSpPr>
        <p:sp>
          <p:nvSpPr>
            <p:cNvPr id="319" name="矩形: 圆角 318">
              <a:extLst>
                <a:ext uri="{FF2B5EF4-FFF2-40B4-BE49-F238E27FC236}">
                  <a16:creationId xmlns:a16="http://schemas.microsoft.com/office/drawing/2014/main" id="{E9EEFF6E-378D-EB08-BC72-99BBEF653147}"/>
                </a:ext>
              </a:extLst>
            </p:cNvPr>
            <p:cNvSpPr/>
            <p:nvPr/>
          </p:nvSpPr>
          <p:spPr>
            <a:xfrm>
              <a:off x="4945023" y="6942611"/>
              <a:ext cx="840987" cy="391861"/>
            </a:xfrm>
            <a:prstGeom prst="roundRect">
              <a:avLst/>
            </a:prstGeom>
            <a:noFill/>
            <a:ln>
              <a:solidFill>
                <a:srgbClr val="00B0F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变上限</a:t>
              </a:r>
              <a:endParaRPr lang="en-US" altLang="zh-CN" sz="1200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积分</a:t>
              </a:r>
            </a:p>
          </p:txBody>
        </p:sp>
        <p:cxnSp>
          <p:nvCxnSpPr>
            <p:cNvPr id="327" name="直接箭头连接符 326">
              <a:extLst>
                <a:ext uri="{FF2B5EF4-FFF2-40B4-BE49-F238E27FC236}">
                  <a16:creationId xmlns:a16="http://schemas.microsoft.com/office/drawing/2014/main" id="{926A0D19-1F18-EFF0-8824-15958336E05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9130" y="6400800"/>
              <a:ext cx="0" cy="545827"/>
            </a:xfrm>
            <a:prstGeom prst="straightConnector1">
              <a:avLst/>
            </a:prstGeom>
            <a:ln>
              <a:solidFill>
                <a:srgbClr val="00B0F0"/>
              </a:solidFill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</p:spTree>
    <p:custDataLst>
      <p:tags r:id="rId1"/>
    </p:custDataLst>
    <p:extLst>
      <p:ext uri="{BB962C8B-B14F-4D97-AF65-F5344CB8AC3E}">
        <p14:creationId xmlns:p14="http://schemas.microsoft.com/office/powerpoint/2010/main" val="4121921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000"/>
                            </p:stCondLst>
                            <p:childTnLst>
                              <p:par>
                                <p:cTn id="1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500"/>
                            </p:stCondLst>
                            <p:childTnLst>
                              <p:par>
                                <p:cTn id="1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3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3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3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6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5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8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1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7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0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1" grpId="0"/>
      <p:bldP spid="21" grpId="0" animBg="1"/>
      <p:bldP spid="21" grpId="1" animBg="1"/>
      <p:bldP spid="72" grpId="0"/>
      <p:bldP spid="72" grpId="1"/>
      <p:bldP spid="148" grpId="0"/>
      <p:bldP spid="148" grpId="1"/>
      <p:bldP spid="149" grpId="0"/>
      <p:bldP spid="149" grpId="1"/>
      <p:bldP spid="155" grpId="0" animBg="1"/>
      <p:bldP spid="155" grpId="1" animBg="1"/>
      <p:bldP spid="173" grpId="0" animBg="1"/>
      <p:bldP spid="173" grpId="1" animBg="1"/>
      <p:bldP spid="174" grpId="0"/>
      <p:bldP spid="174" grpId="1"/>
      <p:bldP spid="255" grpId="0"/>
      <p:bldP spid="255" grpId="1"/>
      <p:bldP spid="257" grpId="0"/>
      <p:bldP spid="25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0" name="连接符: 肘形 119">
            <a:extLst>
              <a:ext uri="{FF2B5EF4-FFF2-40B4-BE49-F238E27FC236}">
                <a16:creationId xmlns:a16="http://schemas.microsoft.com/office/drawing/2014/main" id="{433A6525-4DF4-2DB8-8AED-5D288CCCE7BC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534975" y="2588205"/>
            <a:ext cx="1976721" cy="1034689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head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0860EDEC-9A02-9FF4-6BDA-E6D6697C28EA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7587294" y="2696578"/>
            <a:ext cx="1841862" cy="940833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连接符: 肘形 53">
            <a:extLst>
              <a:ext uri="{FF2B5EF4-FFF2-40B4-BE49-F238E27FC236}">
                <a16:creationId xmlns:a16="http://schemas.microsoft.com/office/drawing/2014/main" id="{8F9F2D2E-81B8-8A9A-8DA3-939B8F63DD5D}"/>
              </a:ext>
            </a:extLst>
          </p:cNvPr>
          <p:cNvCxnSpPr>
            <a:cxnSpLocks/>
          </p:cNvCxnSpPr>
          <p:nvPr/>
        </p:nvCxnSpPr>
        <p:spPr>
          <a:xfrm rot="10800000" flipV="1">
            <a:off x="2675966" y="2588205"/>
            <a:ext cx="1976721" cy="1034689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head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9" name="连接符: 肘形 68">
            <a:extLst>
              <a:ext uri="{FF2B5EF4-FFF2-40B4-BE49-F238E27FC236}">
                <a16:creationId xmlns:a16="http://schemas.microsoft.com/office/drawing/2014/main" id="{BA067165-38C9-F572-E41F-807F03794C70}"/>
              </a:ext>
            </a:extLst>
          </p:cNvPr>
          <p:cNvCxnSpPr>
            <a:cxnSpLocks/>
          </p:cNvCxnSpPr>
          <p:nvPr/>
        </p:nvCxnSpPr>
        <p:spPr>
          <a:xfrm rot="10800000" flipV="1">
            <a:off x="2762842" y="2685152"/>
            <a:ext cx="1841862" cy="940833"/>
          </a:xfrm>
          <a:prstGeom prst="bentConnector3">
            <a:avLst>
              <a:gd name="adj1" fmla="val 100000"/>
            </a:avLst>
          </a:prstGeom>
          <a:ln w="28575">
            <a:gradFill flip="none" rotWithShape="1">
              <a:gsLst>
                <a:gs pos="0">
                  <a:srgbClr val="00B050"/>
                </a:gs>
                <a:gs pos="100000">
                  <a:schemeClr val="accent1"/>
                </a:gs>
              </a:gsLst>
              <a:lin ang="2700000" scaled="1"/>
              <a:tileRect/>
            </a:gra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99433-94B9-422C-C0AC-B8CF736B0CE1}"/>
              </a:ext>
            </a:extLst>
          </p:cNvPr>
          <p:cNvCxnSpPr>
            <a:cxnSpLocks/>
          </p:cNvCxnSpPr>
          <p:nvPr/>
        </p:nvCxnSpPr>
        <p:spPr>
          <a:xfrm>
            <a:off x="0" y="4856086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3" name="组合 242">
            <a:extLst>
              <a:ext uri="{FF2B5EF4-FFF2-40B4-BE49-F238E27FC236}">
                <a16:creationId xmlns:a16="http://schemas.microsoft.com/office/drawing/2014/main" id="{8D20D572-17B1-9F03-3296-FDF886A5D141}"/>
              </a:ext>
            </a:extLst>
          </p:cNvPr>
          <p:cNvGrpSpPr/>
          <p:nvPr/>
        </p:nvGrpSpPr>
        <p:grpSpPr>
          <a:xfrm>
            <a:off x="6208057" y="3989559"/>
            <a:ext cx="1420906" cy="1611442"/>
            <a:chOff x="6208057" y="3989559"/>
            <a:chExt cx="1420906" cy="1611442"/>
          </a:xfrm>
        </p:grpSpPr>
        <p:sp>
          <p:nvSpPr>
            <p:cNvPr id="229" name="矩形: 圆角 226">
              <a:extLst>
                <a:ext uri="{FF2B5EF4-FFF2-40B4-BE49-F238E27FC236}">
                  <a16:creationId xmlns:a16="http://schemas.microsoft.com/office/drawing/2014/main" id="{C52747BD-7AC2-6CB1-6E3F-7EDF0D7488EE}"/>
                </a:ext>
              </a:extLst>
            </p:cNvPr>
            <p:cNvSpPr/>
            <p:nvPr/>
          </p:nvSpPr>
          <p:spPr>
            <a:xfrm flipH="1">
              <a:off x="6208057" y="3989559"/>
              <a:ext cx="1420906" cy="1611442"/>
            </a:xfrm>
            <a:custGeom>
              <a:avLst/>
              <a:gdLst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0 w 1420906"/>
                <a:gd name="connsiteY8" fmla="*/ 23682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91440 w 1420906"/>
                <a:gd name="connsiteY8" fmla="*/ 3282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0757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232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5933 w 1420906"/>
                <a:gd name="connsiteY8" fmla="*/ 1526534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906" h="1926767">
                  <a:moveTo>
                    <a:pt x="0" y="236822"/>
                  </a:moveTo>
                  <a:cubicBezTo>
                    <a:pt x="0" y="106029"/>
                    <a:pt x="106029" y="0"/>
                    <a:pt x="236822" y="0"/>
                  </a:cubicBezTo>
                  <a:lnTo>
                    <a:pt x="1184084" y="0"/>
                  </a:lnTo>
                  <a:cubicBezTo>
                    <a:pt x="1314877" y="0"/>
                    <a:pt x="1420906" y="106029"/>
                    <a:pt x="1420906" y="236822"/>
                  </a:cubicBezTo>
                  <a:lnTo>
                    <a:pt x="1420906" y="1689945"/>
                  </a:lnTo>
                  <a:cubicBezTo>
                    <a:pt x="1420906" y="1820738"/>
                    <a:pt x="1314877" y="1926767"/>
                    <a:pt x="1184084" y="1926767"/>
                  </a:cubicBezTo>
                  <a:lnTo>
                    <a:pt x="236822" y="1926767"/>
                  </a:lnTo>
                  <a:cubicBezTo>
                    <a:pt x="106029" y="1926767"/>
                    <a:pt x="0" y="1820738"/>
                    <a:pt x="0" y="1689945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7F957921-1EA0-F4B5-B745-BFE585FAF895}"/>
                    </a:ext>
                  </a:extLst>
                </p:cNvPr>
                <p:cNvSpPr txBox="1"/>
                <p:nvPr/>
              </p:nvSpPr>
              <p:spPr>
                <a:xfrm>
                  <a:off x="6314589" y="4490234"/>
                  <a:ext cx="9002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)≥0</m:t>
                        </m:r>
                      </m:oMath>
                    </m:oMathPara>
                  </a14:m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232" name="文本框 231">
                  <a:extLst>
                    <a:ext uri="{FF2B5EF4-FFF2-40B4-BE49-F238E27FC236}">
                      <a16:creationId xmlns:a16="http://schemas.microsoft.com/office/drawing/2014/main" id="{7F957921-1EA0-F4B5-B745-BFE585FAF8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14589" y="4490234"/>
                  <a:ext cx="900227" cy="276999"/>
                </a:xfrm>
                <a:prstGeom prst="rect">
                  <a:avLst/>
                </a:prstGeom>
                <a:blipFill>
                  <a:blip r:embed="rId5"/>
                  <a:stretch>
                    <a:fillRect b="-888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ACEF158C-23D2-3BE1-3167-98038AC91BE8}"/>
                    </a:ext>
                  </a:extLst>
                </p:cNvPr>
                <p:cNvSpPr txBox="1"/>
                <p:nvPr/>
              </p:nvSpPr>
              <p:spPr>
                <a:xfrm>
                  <a:off x="6297084" y="4868185"/>
                  <a:ext cx="998358" cy="68518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zh-CN" altLang="en-US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b>
                          <m:sup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+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𝒑</m:t>
                            </m:r>
                            <m:d>
                              <m:dPr>
                                <m:ctrlPr>
                                  <a:rPr lang="en-US" altLang="zh-CN" sz="1200" b="1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𝒙</m:t>
                                </m:r>
                              </m:e>
                            </m:d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𝒅𝒙</m:t>
                            </m:r>
                          </m:e>
                        </m:nary>
                      </m:oMath>
                    </m:oMathPara>
                  </a14:m>
                  <a:endParaRPr lang="en-US" altLang="zh-CN" sz="1200" b="1" dirty="0"/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zh-CN" altLang="en-US" sz="1200" b="1" dirty="0"/>
                </a:p>
              </p:txBody>
            </p:sp>
          </mc:Choice>
          <mc:Fallback xmlns="">
            <p:sp>
              <p:nvSpPr>
                <p:cNvPr id="236" name="文本框 235">
                  <a:extLst>
                    <a:ext uri="{FF2B5EF4-FFF2-40B4-BE49-F238E27FC236}">
                      <a16:creationId xmlns:a16="http://schemas.microsoft.com/office/drawing/2014/main" id="{ACEF158C-23D2-3BE1-3167-98038AC91BE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7084" y="4868185"/>
                  <a:ext cx="998358" cy="685188"/>
                </a:xfrm>
                <a:prstGeom prst="rect">
                  <a:avLst/>
                </a:prstGeom>
                <a:blipFill>
                  <a:blip r:embed="rId6"/>
                  <a:stretch>
                    <a:fillRect l="-56707" t="-106250" r="-17073" b="-13214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3E90A396-06F6-5B39-32B7-80CA4C1C27BE}"/>
                    </a:ext>
                  </a:extLst>
                </p:cNvPr>
                <p:cNvSpPr txBox="1"/>
                <p:nvPr/>
              </p:nvSpPr>
              <p:spPr>
                <a:xfrm>
                  <a:off x="6297084" y="4117424"/>
                  <a:ext cx="119010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237" name="文本框 236">
                  <a:extLst>
                    <a:ext uri="{FF2B5EF4-FFF2-40B4-BE49-F238E27FC236}">
                      <a16:creationId xmlns:a16="http://schemas.microsoft.com/office/drawing/2014/main" id="{3E90A396-06F6-5B39-32B7-80CA4C1C27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97084" y="4117424"/>
                  <a:ext cx="1190109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0" name="直接连接符 239">
              <a:extLst>
                <a:ext uri="{FF2B5EF4-FFF2-40B4-BE49-F238E27FC236}">
                  <a16:creationId xmlns:a16="http://schemas.microsoft.com/office/drawing/2014/main" id="{CF8510BC-C87A-20F9-B978-24428793674F}"/>
                </a:ext>
              </a:extLst>
            </p:cNvPr>
            <p:cNvCxnSpPr/>
            <p:nvPr/>
          </p:nvCxnSpPr>
          <p:spPr>
            <a:xfrm>
              <a:off x="6314589" y="4808749"/>
              <a:ext cx="958847" cy="0"/>
            </a:xfrm>
            <a:prstGeom prst="line">
              <a:avLst/>
            </a:prstGeom>
            <a:ln w="12700">
              <a:solidFill>
                <a:srgbClr val="00B0F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直接连接符 240">
              <a:extLst>
                <a:ext uri="{FF2B5EF4-FFF2-40B4-BE49-F238E27FC236}">
                  <a16:creationId xmlns:a16="http://schemas.microsoft.com/office/drawing/2014/main" id="{D0BECABD-B97B-AF31-C868-8FEAF8CC03F8}"/>
                </a:ext>
              </a:extLst>
            </p:cNvPr>
            <p:cNvCxnSpPr/>
            <p:nvPr/>
          </p:nvCxnSpPr>
          <p:spPr>
            <a:xfrm>
              <a:off x="6314588" y="4449334"/>
              <a:ext cx="958847" cy="0"/>
            </a:xfrm>
            <a:prstGeom prst="line">
              <a:avLst/>
            </a:prstGeom>
            <a:ln w="12700">
              <a:solidFill>
                <a:srgbClr val="00B0F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20D58D54-5E02-5A26-14F6-9A1EE029BBC5}"/>
              </a:ext>
            </a:extLst>
          </p:cNvPr>
          <p:cNvGrpSpPr/>
          <p:nvPr/>
        </p:nvGrpSpPr>
        <p:grpSpPr>
          <a:xfrm>
            <a:off x="4563035" y="3989559"/>
            <a:ext cx="1420906" cy="1611442"/>
            <a:chOff x="4563035" y="3989559"/>
            <a:chExt cx="1420906" cy="1611442"/>
          </a:xfrm>
        </p:grpSpPr>
        <p:sp>
          <p:nvSpPr>
            <p:cNvPr id="227" name="矩形: 圆角 226">
              <a:extLst>
                <a:ext uri="{FF2B5EF4-FFF2-40B4-BE49-F238E27FC236}">
                  <a16:creationId xmlns:a16="http://schemas.microsoft.com/office/drawing/2014/main" id="{88C227D4-7D06-03D5-C6AB-5C4FBA4537CC}"/>
                </a:ext>
              </a:extLst>
            </p:cNvPr>
            <p:cNvSpPr/>
            <p:nvPr/>
          </p:nvSpPr>
          <p:spPr>
            <a:xfrm>
              <a:off x="4563035" y="3989559"/>
              <a:ext cx="1420906" cy="1611442"/>
            </a:xfrm>
            <a:custGeom>
              <a:avLst/>
              <a:gdLst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0 w 1420906"/>
                <a:gd name="connsiteY8" fmla="*/ 23682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91440 w 1420906"/>
                <a:gd name="connsiteY8" fmla="*/ 3282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0757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1232 w 1420906"/>
                <a:gd name="connsiteY8" fmla="*/ 1242662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  <a:gd name="connsiteX8" fmla="*/ 5933 w 1420906"/>
                <a:gd name="connsiteY8" fmla="*/ 1526534 h 1926767"/>
                <a:gd name="connsiteX0" fmla="*/ 0 w 1420906"/>
                <a:gd name="connsiteY0" fmla="*/ 236822 h 1926767"/>
                <a:gd name="connsiteX1" fmla="*/ 236822 w 1420906"/>
                <a:gd name="connsiteY1" fmla="*/ 0 h 1926767"/>
                <a:gd name="connsiteX2" fmla="*/ 1184084 w 1420906"/>
                <a:gd name="connsiteY2" fmla="*/ 0 h 1926767"/>
                <a:gd name="connsiteX3" fmla="*/ 1420906 w 1420906"/>
                <a:gd name="connsiteY3" fmla="*/ 236822 h 1926767"/>
                <a:gd name="connsiteX4" fmla="*/ 1420906 w 1420906"/>
                <a:gd name="connsiteY4" fmla="*/ 1689945 h 1926767"/>
                <a:gd name="connsiteX5" fmla="*/ 1184084 w 1420906"/>
                <a:gd name="connsiteY5" fmla="*/ 1926767 h 1926767"/>
                <a:gd name="connsiteX6" fmla="*/ 236822 w 1420906"/>
                <a:gd name="connsiteY6" fmla="*/ 1926767 h 1926767"/>
                <a:gd name="connsiteX7" fmla="*/ 0 w 1420906"/>
                <a:gd name="connsiteY7" fmla="*/ 1689945 h 1926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0906" h="1926767">
                  <a:moveTo>
                    <a:pt x="0" y="236822"/>
                  </a:moveTo>
                  <a:cubicBezTo>
                    <a:pt x="0" y="106029"/>
                    <a:pt x="106029" y="0"/>
                    <a:pt x="236822" y="0"/>
                  </a:cubicBezTo>
                  <a:lnTo>
                    <a:pt x="1184084" y="0"/>
                  </a:lnTo>
                  <a:cubicBezTo>
                    <a:pt x="1314877" y="0"/>
                    <a:pt x="1420906" y="106029"/>
                    <a:pt x="1420906" y="236822"/>
                  </a:cubicBezTo>
                  <a:lnTo>
                    <a:pt x="1420906" y="1689945"/>
                  </a:lnTo>
                  <a:cubicBezTo>
                    <a:pt x="1420906" y="1820738"/>
                    <a:pt x="1314877" y="1926767"/>
                    <a:pt x="1184084" y="1926767"/>
                  </a:cubicBezTo>
                  <a:lnTo>
                    <a:pt x="236822" y="1926767"/>
                  </a:lnTo>
                  <a:cubicBezTo>
                    <a:pt x="106029" y="1926767"/>
                    <a:pt x="0" y="1820738"/>
                    <a:pt x="0" y="1689945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092F397E-8370-973A-D4DE-240D0F147CEE}"/>
                    </a:ext>
                  </a:extLst>
                </p:cNvPr>
                <p:cNvSpPr txBox="1"/>
                <p:nvPr/>
              </p:nvSpPr>
              <p:spPr>
                <a:xfrm>
                  <a:off x="4936067" y="4089225"/>
                  <a:ext cx="958847" cy="5539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sz="1200" i="1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sz="12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200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1200" b="0" dirty="0">
                    <a:ea typeface="仿宋" panose="02010609060101010101" pitchFamily="49" charset="-122"/>
                  </a:endParaRPr>
                </a:p>
                <a:p>
                  <a:pPr>
                    <a:lnSpc>
                      <a:spcPct val="125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[0,1]</m:t>
                        </m:r>
                      </m:oMath>
                    </m:oMathPara>
                  </a14:m>
                  <a:endParaRPr lang="en-US" altLang="zh-CN" sz="1200" dirty="0"/>
                </a:p>
              </p:txBody>
            </p:sp>
          </mc:Choice>
          <mc:Fallback xmlns="">
            <p:sp>
              <p:nvSpPr>
                <p:cNvPr id="230" name="文本框 229">
                  <a:extLst>
                    <a:ext uri="{FF2B5EF4-FFF2-40B4-BE49-F238E27FC236}">
                      <a16:creationId xmlns:a16="http://schemas.microsoft.com/office/drawing/2014/main" id="{092F397E-8370-973A-D4DE-240D0F147C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6067" y="4089225"/>
                  <a:ext cx="958847" cy="553998"/>
                </a:xfrm>
                <a:prstGeom prst="rect">
                  <a:avLst/>
                </a:prstGeom>
                <a:blipFill>
                  <a:blip r:embed="rId8"/>
                  <a:stretch>
                    <a:fillRect b="-109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1265332-98EF-69C4-0B91-CFC8069D49F3}"/>
                    </a:ext>
                  </a:extLst>
                </p:cNvPr>
                <p:cNvSpPr txBox="1"/>
                <p:nvPr/>
              </p:nvSpPr>
              <p:spPr>
                <a:xfrm>
                  <a:off x="4832231" y="4755410"/>
                  <a:ext cx="1135693" cy="80002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US" altLang="zh-CN" sz="1200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sup>
                          <m:e>
                            <m:r>
                              <a:rPr lang="en-US" altLang="zh-CN" sz="1200" b="1" i="1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n-US" altLang="zh-CN" sz="1200" b="1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𝑿</m:t>
                                </m:r>
                                <m:r>
                                  <a:rPr lang="en-US" altLang="zh-CN" sz="1200" b="1" i="1">
                                    <a:latin typeface="Cambria Math" panose="02040503050406030204" pitchFamily="18" charset="0"/>
                                    <a:ea typeface="仿宋" panose="02010609060101010101" pitchFamily="49" charset="-122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altLang="zh-CN" sz="1200" b="1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1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US" altLang="zh-CN" sz="1200" b="1" i="1">
                                        <a:latin typeface="Cambria Math" panose="02040503050406030204" pitchFamily="18" charset="0"/>
                                        <a:ea typeface="仿宋" panose="02010609060101010101" pitchFamily="49" charset="-122"/>
                                      </a:rPr>
                                      <m:t>𝒊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en-US" altLang="zh-CN" sz="1200" b="1" dirty="0">
                    <a:ea typeface="仿宋" panose="02010609060101010101" pitchFamily="49" charset="-122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oMath>
                    </m:oMathPara>
                  </a14:m>
                  <a:endParaRPr lang="en-US" altLang="zh-CN" sz="1200" b="1" dirty="0"/>
                </a:p>
              </p:txBody>
            </p:sp>
          </mc:Choice>
          <mc:Fallback xmlns="">
            <p:sp>
              <p:nvSpPr>
                <p:cNvPr id="231" name="文本框 230">
                  <a:extLst>
                    <a:ext uri="{FF2B5EF4-FFF2-40B4-BE49-F238E27FC236}">
                      <a16:creationId xmlns:a16="http://schemas.microsoft.com/office/drawing/2014/main" id="{11265332-98EF-69C4-0B91-CFC8069D49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32231" y="4755410"/>
                  <a:ext cx="1135693" cy="80002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39" name="直接连接符 238">
              <a:extLst>
                <a:ext uri="{FF2B5EF4-FFF2-40B4-BE49-F238E27FC236}">
                  <a16:creationId xmlns:a16="http://schemas.microsoft.com/office/drawing/2014/main" id="{91ABB8A5-CAE9-E5BF-6C21-1416581A8D87}"/>
                </a:ext>
              </a:extLst>
            </p:cNvPr>
            <p:cNvCxnSpPr/>
            <p:nvPr/>
          </p:nvCxnSpPr>
          <p:spPr>
            <a:xfrm>
              <a:off x="4936067" y="4727091"/>
              <a:ext cx="958847" cy="0"/>
            </a:xfrm>
            <a:prstGeom prst="line">
              <a:avLst/>
            </a:prstGeom>
            <a:ln w="127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2471474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3" name="组合 272">
            <a:extLst>
              <a:ext uri="{FF2B5EF4-FFF2-40B4-BE49-F238E27FC236}">
                <a16:creationId xmlns:a16="http://schemas.microsoft.com/office/drawing/2014/main" id="{B4278F36-9D28-05E4-08DA-1714905801A2}"/>
              </a:ext>
            </a:extLst>
          </p:cNvPr>
          <p:cNvGrpSpPr/>
          <p:nvPr/>
        </p:nvGrpSpPr>
        <p:grpSpPr>
          <a:xfrm>
            <a:off x="7242535" y="1985802"/>
            <a:ext cx="1293399" cy="975299"/>
            <a:chOff x="7242535" y="1985802"/>
            <a:chExt cx="1293399" cy="975299"/>
          </a:xfrm>
        </p:grpSpPr>
        <p:sp>
          <p:nvSpPr>
            <p:cNvPr id="264" name="矩形: 圆角 261">
              <a:extLst>
                <a:ext uri="{FF2B5EF4-FFF2-40B4-BE49-F238E27FC236}">
                  <a16:creationId xmlns:a16="http://schemas.microsoft.com/office/drawing/2014/main" id="{9086F020-1256-35D5-E3C3-80FCE31D4147}"/>
                </a:ext>
              </a:extLst>
            </p:cNvPr>
            <p:cNvSpPr/>
            <p:nvPr/>
          </p:nvSpPr>
          <p:spPr>
            <a:xfrm flipH="1">
              <a:off x="7242535" y="1985802"/>
              <a:ext cx="1293399" cy="975299"/>
            </a:xfrm>
            <a:custGeom>
              <a:avLst/>
              <a:gdLst>
                <a:gd name="connsiteX0" fmla="*/ 0 w 1293399"/>
                <a:gd name="connsiteY0" fmla="*/ 47809 h 975299"/>
                <a:gd name="connsiteX1" fmla="*/ 47809 w 1293399"/>
                <a:gd name="connsiteY1" fmla="*/ 0 h 975299"/>
                <a:gd name="connsiteX2" fmla="*/ 1245590 w 1293399"/>
                <a:gd name="connsiteY2" fmla="*/ 0 h 975299"/>
                <a:gd name="connsiteX3" fmla="*/ 1293399 w 1293399"/>
                <a:gd name="connsiteY3" fmla="*/ 47809 h 975299"/>
                <a:gd name="connsiteX4" fmla="*/ 1293399 w 1293399"/>
                <a:gd name="connsiteY4" fmla="*/ 927490 h 975299"/>
                <a:gd name="connsiteX5" fmla="*/ 1245590 w 1293399"/>
                <a:gd name="connsiteY5" fmla="*/ 975299 h 975299"/>
                <a:gd name="connsiteX6" fmla="*/ 47809 w 1293399"/>
                <a:gd name="connsiteY6" fmla="*/ 975299 h 975299"/>
                <a:gd name="connsiteX7" fmla="*/ 0 w 1293399"/>
                <a:gd name="connsiteY7" fmla="*/ 927490 h 975299"/>
                <a:gd name="connsiteX8" fmla="*/ 0 w 1293399"/>
                <a:gd name="connsiteY8" fmla="*/ 47809 h 975299"/>
                <a:gd name="connsiteX0" fmla="*/ 1293399 w 1384839"/>
                <a:gd name="connsiteY0" fmla="*/ 927490 h 1018930"/>
                <a:gd name="connsiteX1" fmla="*/ 1245590 w 1384839"/>
                <a:gd name="connsiteY1" fmla="*/ 975299 h 1018930"/>
                <a:gd name="connsiteX2" fmla="*/ 47809 w 1384839"/>
                <a:gd name="connsiteY2" fmla="*/ 975299 h 1018930"/>
                <a:gd name="connsiteX3" fmla="*/ 0 w 1384839"/>
                <a:gd name="connsiteY3" fmla="*/ 927490 h 1018930"/>
                <a:gd name="connsiteX4" fmla="*/ 0 w 1384839"/>
                <a:gd name="connsiteY4" fmla="*/ 47809 h 1018930"/>
                <a:gd name="connsiteX5" fmla="*/ 47809 w 1384839"/>
                <a:gd name="connsiteY5" fmla="*/ 0 h 1018930"/>
                <a:gd name="connsiteX6" fmla="*/ 1245590 w 1384839"/>
                <a:gd name="connsiteY6" fmla="*/ 0 h 1018930"/>
                <a:gd name="connsiteX7" fmla="*/ 1293399 w 1384839"/>
                <a:gd name="connsiteY7" fmla="*/ 47809 h 1018930"/>
                <a:gd name="connsiteX8" fmla="*/ 1384839 w 1384839"/>
                <a:gd name="connsiteY8" fmla="*/ 1018930 h 1018930"/>
                <a:gd name="connsiteX0" fmla="*/ 1293399 w 1293399"/>
                <a:gd name="connsiteY0" fmla="*/ 927490 h 975299"/>
                <a:gd name="connsiteX1" fmla="*/ 1245590 w 1293399"/>
                <a:gd name="connsiteY1" fmla="*/ 975299 h 975299"/>
                <a:gd name="connsiteX2" fmla="*/ 47809 w 1293399"/>
                <a:gd name="connsiteY2" fmla="*/ 975299 h 975299"/>
                <a:gd name="connsiteX3" fmla="*/ 0 w 1293399"/>
                <a:gd name="connsiteY3" fmla="*/ 927490 h 975299"/>
                <a:gd name="connsiteX4" fmla="*/ 0 w 1293399"/>
                <a:gd name="connsiteY4" fmla="*/ 47809 h 975299"/>
                <a:gd name="connsiteX5" fmla="*/ 47809 w 1293399"/>
                <a:gd name="connsiteY5" fmla="*/ 0 h 975299"/>
                <a:gd name="connsiteX6" fmla="*/ 1245590 w 1293399"/>
                <a:gd name="connsiteY6" fmla="*/ 0 h 975299"/>
                <a:gd name="connsiteX7" fmla="*/ 1293399 w 1293399"/>
                <a:gd name="connsiteY7" fmla="*/ 47809 h 975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3399" h="975299">
                  <a:moveTo>
                    <a:pt x="1293399" y="927490"/>
                  </a:moveTo>
                  <a:cubicBezTo>
                    <a:pt x="1293399" y="953894"/>
                    <a:pt x="1271994" y="975299"/>
                    <a:pt x="1245590" y="975299"/>
                  </a:cubicBezTo>
                  <a:lnTo>
                    <a:pt x="47809" y="975299"/>
                  </a:lnTo>
                  <a:cubicBezTo>
                    <a:pt x="21405" y="975299"/>
                    <a:pt x="0" y="953894"/>
                    <a:pt x="0" y="927490"/>
                  </a:cubicBezTo>
                  <a:lnTo>
                    <a:pt x="0" y="47809"/>
                  </a:lnTo>
                  <a:cubicBezTo>
                    <a:pt x="0" y="21405"/>
                    <a:pt x="21405" y="0"/>
                    <a:pt x="47809" y="0"/>
                  </a:cubicBezTo>
                  <a:lnTo>
                    <a:pt x="1245590" y="0"/>
                  </a:lnTo>
                  <a:cubicBezTo>
                    <a:pt x="1271994" y="0"/>
                    <a:pt x="1293399" y="21405"/>
                    <a:pt x="1293399" y="47809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F8B7DAE7-CCDB-6571-AF08-0A00BDDFC344}"/>
                    </a:ext>
                  </a:extLst>
                </p:cNvPr>
                <p:cNvSpPr txBox="1"/>
                <p:nvPr/>
              </p:nvSpPr>
              <p:spPr>
                <a:xfrm>
                  <a:off x="7465385" y="2060954"/>
                  <a:ext cx="103202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altLang="zh-CN" sz="12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−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𝟎</m:t>
                      </m:r>
                    </m:oMath>
                  </a14:m>
                  <a:endParaRPr lang="en-US" altLang="zh-CN" sz="1200" b="1" dirty="0"/>
                </a:p>
                <a:p>
                  <a:pPr algn="r"/>
                  <a:r>
                    <a:rPr lang="en-US" altLang="zh-CN" sz="1200" b="1" dirty="0"/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b="1" i="1" smtClean="0">
                          <a:latin typeface="Cambria Math" panose="02040503050406030204" pitchFamily="18" charset="0"/>
                        </a:rPr>
                        <m:t>𝑭</m:t>
                      </m:r>
                      <m:d>
                        <m:dPr>
                          <m:ctrlP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=</m:t>
                      </m:r>
                      <m:r>
                        <a:rPr lang="en-US" altLang="zh-CN" sz="1200" b="1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𝟏</m:t>
                      </m:r>
                    </m:oMath>
                  </a14:m>
                  <a:endParaRPr lang="en-US" altLang="zh-CN" sz="1200" b="1" dirty="0"/>
                </a:p>
              </p:txBody>
            </p:sp>
          </mc:Choice>
          <mc:Fallback xmlns="">
            <p:sp>
              <p:nvSpPr>
                <p:cNvPr id="269" name="文本框 268">
                  <a:extLst>
                    <a:ext uri="{FF2B5EF4-FFF2-40B4-BE49-F238E27FC236}">
                      <a16:creationId xmlns:a16="http://schemas.microsoft.com/office/drawing/2014/main" id="{F8B7DAE7-CCDB-6571-AF08-0A00BDDFC3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5385" y="2060954"/>
                  <a:ext cx="1032028" cy="46166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63D9647-CAA7-539E-6A38-E6EEB535D6EC}"/>
                    </a:ext>
                  </a:extLst>
                </p:cNvPr>
                <p:cNvSpPr txBox="1"/>
                <p:nvPr/>
              </p:nvSpPr>
              <p:spPr>
                <a:xfrm>
                  <a:off x="7470909" y="2594900"/>
                  <a:ext cx="10320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右连续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0" name="文本框 269">
                  <a:extLst>
                    <a:ext uri="{FF2B5EF4-FFF2-40B4-BE49-F238E27FC236}">
                      <a16:creationId xmlns:a16="http://schemas.microsoft.com/office/drawing/2014/main" id="{163D9647-CAA7-539E-6A38-E6EEB535D6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70909" y="2594900"/>
                  <a:ext cx="1032028" cy="276999"/>
                </a:xfrm>
                <a:prstGeom prst="rect">
                  <a:avLst/>
                </a:prstGeom>
                <a:blipFill>
                  <a:blip r:embed="rId11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1" name="直接连接符 270">
              <a:extLst>
                <a:ext uri="{FF2B5EF4-FFF2-40B4-BE49-F238E27FC236}">
                  <a16:creationId xmlns:a16="http://schemas.microsoft.com/office/drawing/2014/main" id="{B1576175-FF76-AF2F-BF78-4BDBFA4B826F}"/>
                </a:ext>
              </a:extLst>
            </p:cNvPr>
            <p:cNvCxnSpPr/>
            <p:nvPr/>
          </p:nvCxnSpPr>
          <p:spPr>
            <a:xfrm>
              <a:off x="7487193" y="2560737"/>
              <a:ext cx="958847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8" name="组合 267">
            <a:extLst>
              <a:ext uri="{FF2B5EF4-FFF2-40B4-BE49-F238E27FC236}">
                <a16:creationId xmlns:a16="http://schemas.microsoft.com/office/drawing/2014/main" id="{FBB5D269-AFA5-005B-1A20-FED770F99633}"/>
              </a:ext>
            </a:extLst>
          </p:cNvPr>
          <p:cNvGrpSpPr/>
          <p:nvPr/>
        </p:nvGrpSpPr>
        <p:grpSpPr>
          <a:xfrm>
            <a:off x="3656064" y="1983873"/>
            <a:ext cx="1293399" cy="975299"/>
            <a:chOff x="3656064" y="1983873"/>
            <a:chExt cx="1293399" cy="975299"/>
          </a:xfrm>
        </p:grpSpPr>
        <p:sp>
          <p:nvSpPr>
            <p:cNvPr id="262" name="矩形: 圆角 261">
              <a:extLst>
                <a:ext uri="{FF2B5EF4-FFF2-40B4-BE49-F238E27FC236}">
                  <a16:creationId xmlns:a16="http://schemas.microsoft.com/office/drawing/2014/main" id="{F68B329E-7AFB-C2A2-0F58-520EAAA9BB31}"/>
                </a:ext>
              </a:extLst>
            </p:cNvPr>
            <p:cNvSpPr/>
            <p:nvPr/>
          </p:nvSpPr>
          <p:spPr>
            <a:xfrm>
              <a:off x="3656064" y="1983873"/>
              <a:ext cx="1293399" cy="975299"/>
            </a:xfrm>
            <a:custGeom>
              <a:avLst/>
              <a:gdLst>
                <a:gd name="connsiteX0" fmla="*/ 0 w 1293399"/>
                <a:gd name="connsiteY0" fmla="*/ 47809 h 975299"/>
                <a:gd name="connsiteX1" fmla="*/ 47809 w 1293399"/>
                <a:gd name="connsiteY1" fmla="*/ 0 h 975299"/>
                <a:gd name="connsiteX2" fmla="*/ 1245590 w 1293399"/>
                <a:gd name="connsiteY2" fmla="*/ 0 h 975299"/>
                <a:gd name="connsiteX3" fmla="*/ 1293399 w 1293399"/>
                <a:gd name="connsiteY3" fmla="*/ 47809 h 975299"/>
                <a:gd name="connsiteX4" fmla="*/ 1293399 w 1293399"/>
                <a:gd name="connsiteY4" fmla="*/ 927490 h 975299"/>
                <a:gd name="connsiteX5" fmla="*/ 1245590 w 1293399"/>
                <a:gd name="connsiteY5" fmla="*/ 975299 h 975299"/>
                <a:gd name="connsiteX6" fmla="*/ 47809 w 1293399"/>
                <a:gd name="connsiteY6" fmla="*/ 975299 h 975299"/>
                <a:gd name="connsiteX7" fmla="*/ 0 w 1293399"/>
                <a:gd name="connsiteY7" fmla="*/ 927490 h 975299"/>
                <a:gd name="connsiteX8" fmla="*/ 0 w 1293399"/>
                <a:gd name="connsiteY8" fmla="*/ 47809 h 975299"/>
                <a:gd name="connsiteX0" fmla="*/ 1293399 w 1384839"/>
                <a:gd name="connsiteY0" fmla="*/ 927490 h 1018930"/>
                <a:gd name="connsiteX1" fmla="*/ 1245590 w 1384839"/>
                <a:gd name="connsiteY1" fmla="*/ 975299 h 1018930"/>
                <a:gd name="connsiteX2" fmla="*/ 47809 w 1384839"/>
                <a:gd name="connsiteY2" fmla="*/ 975299 h 1018930"/>
                <a:gd name="connsiteX3" fmla="*/ 0 w 1384839"/>
                <a:gd name="connsiteY3" fmla="*/ 927490 h 1018930"/>
                <a:gd name="connsiteX4" fmla="*/ 0 w 1384839"/>
                <a:gd name="connsiteY4" fmla="*/ 47809 h 1018930"/>
                <a:gd name="connsiteX5" fmla="*/ 47809 w 1384839"/>
                <a:gd name="connsiteY5" fmla="*/ 0 h 1018930"/>
                <a:gd name="connsiteX6" fmla="*/ 1245590 w 1384839"/>
                <a:gd name="connsiteY6" fmla="*/ 0 h 1018930"/>
                <a:gd name="connsiteX7" fmla="*/ 1293399 w 1384839"/>
                <a:gd name="connsiteY7" fmla="*/ 47809 h 1018930"/>
                <a:gd name="connsiteX8" fmla="*/ 1384839 w 1384839"/>
                <a:gd name="connsiteY8" fmla="*/ 1018930 h 1018930"/>
                <a:gd name="connsiteX0" fmla="*/ 1293399 w 1293399"/>
                <a:gd name="connsiteY0" fmla="*/ 927490 h 975299"/>
                <a:gd name="connsiteX1" fmla="*/ 1245590 w 1293399"/>
                <a:gd name="connsiteY1" fmla="*/ 975299 h 975299"/>
                <a:gd name="connsiteX2" fmla="*/ 47809 w 1293399"/>
                <a:gd name="connsiteY2" fmla="*/ 975299 h 975299"/>
                <a:gd name="connsiteX3" fmla="*/ 0 w 1293399"/>
                <a:gd name="connsiteY3" fmla="*/ 927490 h 975299"/>
                <a:gd name="connsiteX4" fmla="*/ 0 w 1293399"/>
                <a:gd name="connsiteY4" fmla="*/ 47809 h 975299"/>
                <a:gd name="connsiteX5" fmla="*/ 47809 w 1293399"/>
                <a:gd name="connsiteY5" fmla="*/ 0 h 975299"/>
                <a:gd name="connsiteX6" fmla="*/ 1245590 w 1293399"/>
                <a:gd name="connsiteY6" fmla="*/ 0 h 975299"/>
                <a:gd name="connsiteX7" fmla="*/ 1293399 w 1293399"/>
                <a:gd name="connsiteY7" fmla="*/ 47809 h 975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93399" h="975299">
                  <a:moveTo>
                    <a:pt x="1293399" y="927490"/>
                  </a:moveTo>
                  <a:cubicBezTo>
                    <a:pt x="1293399" y="953894"/>
                    <a:pt x="1271994" y="975299"/>
                    <a:pt x="1245590" y="975299"/>
                  </a:cubicBezTo>
                  <a:lnTo>
                    <a:pt x="47809" y="975299"/>
                  </a:lnTo>
                  <a:cubicBezTo>
                    <a:pt x="21405" y="975299"/>
                    <a:pt x="0" y="953894"/>
                    <a:pt x="0" y="927490"/>
                  </a:cubicBezTo>
                  <a:lnTo>
                    <a:pt x="0" y="47809"/>
                  </a:lnTo>
                  <a:cubicBezTo>
                    <a:pt x="0" y="21405"/>
                    <a:pt x="21405" y="0"/>
                    <a:pt x="47809" y="0"/>
                  </a:cubicBezTo>
                  <a:lnTo>
                    <a:pt x="1245590" y="0"/>
                  </a:lnTo>
                  <a:cubicBezTo>
                    <a:pt x="1271994" y="0"/>
                    <a:pt x="1293399" y="21405"/>
                    <a:pt x="1293399" y="47809"/>
                  </a:cubicBezTo>
                </a:path>
              </a:pathLst>
            </a:custGeom>
            <a:solidFill>
              <a:schemeClr val="bg1"/>
            </a:solidFill>
            <a:ln w="28575">
              <a:solidFill>
                <a:srgbClr val="00B05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EBEE4D60-647A-13EF-0059-3143FCC466BA}"/>
                    </a:ext>
                  </a:extLst>
                </p:cNvPr>
                <p:cNvSpPr txBox="1"/>
                <p:nvPr/>
              </p:nvSpPr>
              <p:spPr>
                <a:xfrm>
                  <a:off x="3694585" y="2093842"/>
                  <a:ext cx="1074423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)∈[0,1]</m:t>
                      </m:r>
                    </m:oMath>
                  </a14:m>
                  <a:r>
                    <a:rPr lang="en-US" altLang="zh-CN" sz="1200" dirty="0"/>
                    <a:t> </a:t>
                  </a:r>
                </a:p>
              </p:txBody>
            </p:sp>
          </mc:Choice>
          <mc:Fallback xmlns="">
            <p:sp>
              <p:nvSpPr>
                <p:cNvPr id="265" name="文本框 264">
                  <a:extLst>
                    <a:ext uri="{FF2B5EF4-FFF2-40B4-BE49-F238E27FC236}">
                      <a16:creationId xmlns:a16="http://schemas.microsoft.com/office/drawing/2014/main" id="{EBEE4D60-647A-13EF-0059-3143FCC466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4585" y="2093842"/>
                  <a:ext cx="1074423" cy="276999"/>
                </a:xfrm>
                <a:prstGeom prst="rect">
                  <a:avLst/>
                </a:prstGeom>
                <a:blipFill>
                  <a:blip r:embed="rId12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9C46C49D-5911-7A7E-82A0-3CC07CE5494E}"/>
                    </a:ext>
                  </a:extLst>
                </p:cNvPr>
                <p:cNvSpPr txBox="1"/>
                <p:nvPr/>
              </p:nvSpPr>
              <p:spPr>
                <a:xfrm>
                  <a:off x="3694585" y="2545342"/>
                  <a:ext cx="116403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仿宋" panose="02010609060101010101" pitchFamily="49" charset="-122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单调不减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66" name="文本框 265">
                  <a:extLst>
                    <a:ext uri="{FF2B5EF4-FFF2-40B4-BE49-F238E27FC236}">
                      <a16:creationId xmlns:a16="http://schemas.microsoft.com/office/drawing/2014/main" id="{9C46C49D-5911-7A7E-82A0-3CC07CE549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4585" y="2545342"/>
                  <a:ext cx="1164039" cy="276999"/>
                </a:xfrm>
                <a:prstGeom prst="rect">
                  <a:avLst/>
                </a:prstGeom>
                <a:blipFill>
                  <a:blip r:embed="rId13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7" name="直接连接符 266">
              <a:extLst>
                <a:ext uri="{FF2B5EF4-FFF2-40B4-BE49-F238E27FC236}">
                  <a16:creationId xmlns:a16="http://schemas.microsoft.com/office/drawing/2014/main" id="{B1631171-24A0-AB5C-BB68-07608908F788}"/>
                </a:ext>
              </a:extLst>
            </p:cNvPr>
            <p:cNvCxnSpPr/>
            <p:nvPr/>
          </p:nvCxnSpPr>
          <p:spPr>
            <a:xfrm>
              <a:off x="3752372" y="2471474"/>
              <a:ext cx="958847" cy="0"/>
            </a:xfrm>
            <a:prstGeom prst="line">
              <a:avLst/>
            </a:prstGeom>
            <a:ln w="12700">
              <a:solidFill>
                <a:srgbClr val="00B05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4159328" y="1463808"/>
            <a:ext cx="3876307" cy="4001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随机变量的描述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327300" y="775742"/>
            <a:ext cx="3708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分布函数 与 分布律、密度函数 的关系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/>
              <p:nvPr/>
            </p:nvSpPr>
            <p:spPr>
              <a:xfrm>
                <a:off x="4807529" y="2055976"/>
                <a:ext cx="2576940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分布函数：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altLang="zh-CN" sz="14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529" y="2055976"/>
                <a:ext cx="2576940" cy="830997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BAEC8E7-E7BF-3BF1-70C6-1E24302C88F1}"/>
                  </a:ext>
                </a:extLst>
              </p:cNvPr>
              <p:cNvSpPr txBox="1"/>
              <p:nvPr/>
            </p:nvSpPr>
            <p:spPr>
              <a:xfrm>
                <a:off x="979806" y="4379782"/>
                <a:ext cx="3827723" cy="830997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分布律：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仿宋" panose="02010609060101010101" pitchFamily="49" charset="-122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=1,2,3,…)</m:t>
                      </m:r>
                    </m:oMath>
                  </m:oMathPara>
                </a14:m>
                <a:endParaRPr lang="en-US" altLang="zh-CN" sz="14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BAEC8E7-E7BF-3BF1-70C6-1E24302C8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06" y="4379782"/>
                <a:ext cx="3827723" cy="83099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5ECF39F-49C7-E135-1CFD-2A356FF935B5}"/>
                  </a:ext>
                </a:extLst>
              </p:cNvPr>
              <p:cNvSpPr txBox="1"/>
              <p:nvPr/>
            </p:nvSpPr>
            <p:spPr>
              <a:xfrm>
                <a:off x="7384469" y="4379783"/>
                <a:ext cx="3827723" cy="830997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密度函数：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=1,2,3,…)</m:t>
                      </m:r>
                    </m:oMath>
                  </m:oMathPara>
                </a14:m>
                <a:endParaRPr lang="en-US" altLang="zh-CN" sz="14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5ECF39F-49C7-E135-1CFD-2A356FF93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469" y="4379783"/>
                <a:ext cx="3827723" cy="8309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6F6DDFC-D387-341F-7E07-A69C8164C540}"/>
              </a:ext>
            </a:extLst>
          </p:cNvPr>
          <p:cNvSpPr/>
          <p:nvPr/>
        </p:nvSpPr>
        <p:spPr>
          <a:xfrm>
            <a:off x="1523217" y="3742211"/>
            <a:ext cx="2595208" cy="518255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离散型随机变量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B41E77C-AE95-7F1C-0A85-F101081A11D4}"/>
              </a:ext>
            </a:extLst>
          </p:cNvPr>
          <p:cNvSpPr/>
          <p:nvPr/>
        </p:nvSpPr>
        <p:spPr>
          <a:xfrm>
            <a:off x="8000726" y="3742211"/>
            <a:ext cx="2595208" cy="518255"/>
          </a:xfrm>
          <a:prstGeom prst="roundRect">
            <a:avLst/>
          </a:pr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连续型随机变量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9314424-FA49-AEE7-EFD0-C05B1E9753D3}"/>
                  </a:ext>
                </a:extLst>
              </p:cNvPr>
              <p:cNvSpPr txBox="1"/>
              <p:nvPr/>
            </p:nvSpPr>
            <p:spPr>
              <a:xfrm>
                <a:off x="979806" y="5301063"/>
                <a:ext cx="3827723" cy="674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离散型随机变量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取到值为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时的概率为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49314424-FA49-AEE7-EFD0-C05B1E975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806" y="5301063"/>
                <a:ext cx="3827723" cy="674672"/>
              </a:xfrm>
              <a:prstGeom prst="rect">
                <a:avLst/>
              </a:prstGeom>
              <a:blipFill>
                <a:blip r:embed="rId17"/>
                <a:stretch>
                  <a:fillRect t="-7273" b="-127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9A4A4A8-EE1C-0A04-9F96-7EBE65F90123}"/>
                  </a:ext>
                </a:extLst>
              </p:cNvPr>
              <p:cNvSpPr txBox="1"/>
              <p:nvPr/>
            </p:nvSpPr>
            <p:spPr>
              <a:xfrm>
                <a:off x="7087600" y="5301063"/>
                <a:ext cx="4421459" cy="7510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连续型随机变量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取到值在区间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[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𝑎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𝑏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]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上的概率为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𝑑𝑥</m:t>
                        </m:r>
                      </m:e>
                    </m:nary>
                  </m:oMath>
                </a14:m>
                <a:endParaRPr lang="zh-CN" altLang="en-US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19A4A4A8-EE1C-0A04-9F96-7EBE65F901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7600" y="5301063"/>
                <a:ext cx="4421459" cy="751039"/>
              </a:xfrm>
              <a:prstGeom prst="rect">
                <a:avLst/>
              </a:prstGeom>
              <a:blipFill>
                <a:blip r:embed="rId18"/>
                <a:stretch>
                  <a:fillRect t="-28455" b="-1056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BF2498B-8284-0348-8DE2-8CE70A6964F3}"/>
                  </a:ext>
                </a:extLst>
              </p:cNvPr>
              <p:cNvSpPr txBox="1"/>
              <p:nvPr/>
            </p:nvSpPr>
            <p:spPr>
              <a:xfrm>
                <a:off x="4085715" y="2977256"/>
                <a:ext cx="4020568" cy="674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10000"/>
                  </a:lnSpc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随机变量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lnSpc>
                    <a:spcPct val="110000"/>
                  </a:lnSpc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取到值在区间</a:t>
                </a:r>
                <a14:m>
                  <m:oMath xmlns:m="http://schemas.openxmlformats.org/officeDocument/2006/math">
                    <m:d>
                      <m:dPr>
                        <m:endChr m:val="]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上的概率为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𝐹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BF2498B-8284-0348-8DE2-8CE70A696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5715" y="2977256"/>
                <a:ext cx="4020568" cy="674672"/>
              </a:xfrm>
              <a:prstGeom prst="rect">
                <a:avLst/>
              </a:prstGeom>
              <a:blipFill>
                <a:blip r:embed="rId19"/>
                <a:stretch>
                  <a:fillRect t="-6306" b="-117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6" name="文本框 155">
            <a:extLst>
              <a:ext uri="{FF2B5EF4-FFF2-40B4-BE49-F238E27FC236}">
                <a16:creationId xmlns:a16="http://schemas.microsoft.com/office/drawing/2014/main" id="{0C322A20-A353-ED09-B510-E8F995C480E3}"/>
              </a:ext>
            </a:extLst>
          </p:cNvPr>
          <p:cNvSpPr txBox="1"/>
          <p:nvPr/>
        </p:nvSpPr>
        <p:spPr>
          <a:xfrm>
            <a:off x="9564015" y="2894365"/>
            <a:ext cx="67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积分</a:t>
            </a:r>
            <a:endParaRPr lang="zh-CN" altLang="en-US" dirty="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9823ACE6-53C6-473E-22EB-396F02E87349}"/>
              </a:ext>
            </a:extLst>
          </p:cNvPr>
          <p:cNvSpPr txBox="1"/>
          <p:nvPr/>
        </p:nvSpPr>
        <p:spPr>
          <a:xfrm>
            <a:off x="8698254" y="2894182"/>
            <a:ext cx="67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求导</a:t>
            </a:r>
            <a:endParaRPr lang="zh-CN" altLang="en-US" dirty="0"/>
          </a:p>
        </p:txBody>
      </p: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506B83E-5DE0-708B-B46B-4A8D2F7DD8E7}"/>
              </a:ext>
            </a:extLst>
          </p:cNvPr>
          <p:cNvSpPr txBox="1"/>
          <p:nvPr/>
        </p:nvSpPr>
        <p:spPr>
          <a:xfrm>
            <a:off x="1940718" y="2894182"/>
            <a:ext cx="67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求和</a:t>
            </a:r>
            <a:endParaRPr lang="zh-CN" altLang="en-US" dirty="0"/>
          </a:p>
        </p:txBody>
      </p:sp>
      <p:sp>
        <p:nvSpPr>
          <p:cNvPr id="161" name="文本框 160">
            <a:extLst>
              <a:ext uri="{FF2B5EF4-FFF2-40B4-BE49-F238E27FC236}">
                <a16:creationId xmlns:a16="http://schemas.microsoft.com/office/drawing/2014/main" id="{34CFE8A5-9559-9A17-EF3F-F02BA19164F6}"/>
              </a:ext>
            </a:extLst>
          </p:cNvPr>
          <p:cNvSpPr txBox="1"/>
          <p:nvPr/>
        </p:nvSpPr>
        <p:spPr>
          <a:xfrm>
            <a:off x="2814469" y="2894182"/>
            <a:ext cx="6776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800" dirty="0">
                <a:latin typeface="仿宋" panose="02010609060101010101" pitchFamily="49" charset="-122"/>
                <a:ea typeface="仿宋" panose="02010609060101010101" pitchFamily="49" charset="-122"/>
              </a:rPr>
              <a:t>求差</a:t>
            </a:r>
            <a:endParaRPr lang="zh-CN" altLang="en-US" dirty="0"/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D2D761A5-784C-98C5-1F53-31B0CF8B54CA}"/>
              </a:ext>
            </a:extLst>
          </p:cNvPr>
          <p:cNvSpPr/>
          <p:nvPr/>
        </p:nvSpPr>
        <p:spPr>
          <a:xfrm>
            <a:off x="5668352" y="5354895"/>
            <a:ext cx="108009" cy="108009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星形: 五角 5">
            <a:extLst>
              <a:ext uri="{FF2B5EF4-FFF2-40B4-BE49-F238E27FC236}">
                <a16:creationId xmlns:a16="http://schemas.microsoft.com/office/drawing/2014/main" id="{DB341450-4F53-F78D-1371-F49D49D706DE}"/>
              </a:ext>
            </a:extLst>
          </p:cNvPr>
          <p:cNvSpPr/>
          <p:nvPr/>
        </p:nvSpPr>
        <p:spPr>
          <a:xfrm>
            <a:off x="6427761" y="5353445"/>
            <a:ext cx="108009" cy="108009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星形: 五角 6">
            <a:extLst>
              <a:ext uri="{FF2B5EF4-FFF2-40B4-BE49-F238E27FC236}">
                <a16:creationId xmlns:a16="http://schemas.microsoft.com/office/drawing/2014/main" id="{497D089C-4184-3382-9625-9DA19D4B7245}"/>
              </a:ext>
            </a:extLst>
          </p:cNvPr>
          <p:cNvSpPr/>
          <p:nvPr/>
        </p:nvSpPr>
        <p:spPr>
          <a:xfrm>
            <a:off x="7479285" y="2232341"/>
            <a:ext cx="108009" cy="108009"/>
          </a:xfrm>
          <a:prstGeom prst="star5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31748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6" presetClass="entr" presetSubtype="2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1" grpId="0" animBg="1"/>
      <p:bldP spid="15" grpId="0" animBg="1"/>
      <p:bldP spid="28" grpId="0" animBg="1"/>
      <p:bldP spid="29" grpId="0" animBg="1"/>
      <p:bldP spid="30" grpId="0" animBg="1"/>
      <p:bldP spid="31" grpId="0"/>
      <p:bldP spid="32" grpId="0"/>
      <p:bldP spid="41" grpId="0"/>
      <p:bldP spid="156" grpId="0"/>
      <p:bldP spid="158" grpId="0"/>
      <p:bldP spid="160" grpId="0"/>
      <p:bldP spid="161" grpId="0"/>
      <p:bldP spid="5" grpId="0" animBg="1"/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347912"/>
                <a:ext cx="11108176" cy="8212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的分布律为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𝑘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𝑎</m:t>
                    </m:r>
                    <m:f>
                      <m:f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zh-CN" altLang="en-US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  <a:sym typeface="Wingdings" panose="05000000000000000000" pitchFamily="2" charset="2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  <a:sym typeface="Wingdings" panose="05000000000000000000" pitchFamily="2" charset="2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𝑘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!</m:t>
                        </m:r>
                      </m:den>
                    </m:f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, 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𝑘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=1,2,…(</m:t>
                    </m:r>
                    <m:r>
                      <a:rPr lang="zh-CN" altLang="en-US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𝜆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为</m:t>
                    </m:r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大于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0</m:t>
                    </m:r>
                    <m:r>
                      <a:rPr lang="zh-CN" altLang="en-US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的</m:t>
                    </m:r>
                    <m:r>
                      <a:rPr lang="zh-CN" altLang="en-US" sz="160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常数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；（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=</m:t>
                        </m:r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𝑘</m:t>
                        </m:r>
                      </m:e>
                    </m:d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</m:t>
                    </m:r>
                    <m:sSup>
                      <m:sSup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𝐶</m:t>
                        </m:r>
                      </m:e>
                      <m:sup>
                        <m: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𝑘</m:t>
                        </m:r>
                      </m:sup>
                    </m:sSup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,  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𝑘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=1,2,…</m:t>
                    </m:r>
                  </m:oMath>
                </a14:m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试确定常数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𝑎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、</a:t>
                </a:r>
                <a:r>
                  <a:rPr lang="en-US" altLang="zh-CN" sz="1600" dirty="0">
                    <a:ea typeface="华文宋体" panose="02010600040101010101" pitchFamily="2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𝐶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47912"/>
                <a:ext cx="11108176" cy="821250"/>
              </a:xfrm>
              <a:prstGeom prst="rect">
                <a:avLst/>
              </a:prstGeom>
              <a:blipFill>
                <a:blip r:embed="rId5"/>
                <a:stretch>
                  <a:fillRect l="-274" b="-8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0B786919-B38E-4B8A-ABEB-7461FFB8ABF9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DD1CA0-1033-C1FA-5176-C313698440BD}"/>
              </a:ext>
            </a:extLst>
          </p:cNvPr>
          <p:cNvSpPr txBox="1"/>
          <p:nvPr/>
        </p:nvSpPr>
        <p:spPr>
          <a:xfrm>
            <a:off x="4327300" y="775742"/>
            <a:ext cx="3708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分布函数 与 分布律、密度函数 的关系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4E17018-CDAD-DDCF-0310-F3CD0EAA430C}"/>
                  </a:ext>
                </a:extLst>
              </p:cNvPr>
              <p:cNvSpPr txBox="1"/>
              <p:nvPr/>
            </p:nvSpPr>
            <p:spPr>
              <a:xfrm>
                <a:off x="507459" y="2497744"/>
                <a:ext cx="11039272" cy="582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1!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2!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3!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𝑎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4E17018-CDAD-DDCF-0310-F3CD0EAA4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497744"/>
                <a:ext cx="11039272" cy="582147"/>
              </a:xfrm>
              <a:prstGeom prst="rect">
                <a:avLst/>
              </a:prstGeom>
              <a:blipFill>
                <a:blip r:embed="rId6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E2B092B-71C2-A98C-D948-384630E0901C}"/>
                  </a:ext>
                </a:extLst>
              </p:cNvPr>
              <p:cNvSpPr txBox="1"/>
              <p:nvPr/>
            </p:nvSpPr>
            <p:spPr>
              <a:xfrm>
                <a:off x="3289622" y="3168605"/>
                <a:ext cx="4277646" cy="6032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=1+</m:t>
                          </m:r>
                          <m:f>
                            <m:f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1!</m:t>
                              </m:r>
                            </m:den>
                          </m:f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2!</m:t>
                              </m:r>
                            </m:den>
                          </m:f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60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1600" i="1" smtClean="0">
                                  <a:latin typeface="Cambria Math" panose="02040503050406030204" pitchFamily="18" charset="0"/>
                                </a:rPr>
                                <m:t>3!</m:t>
                              </m:r>
                            </m:den>
                          </m:f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+…,  −∞&lt;</m:t>
                          </m:r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  <m:t>&lt;∞ </m:t>
                          </m:r>
                        </m:e>
                      </m:borderBox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2E2B092B-71C2-A98C-D948-384630E09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622" y="3168605"/>
                <a:ext cx="4277646" cy="6032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98BDBFF9-12A0-04E7-1EE3-65C52960844F}"/>
              </a:ext>
            </a:extLst>
          </p:cNvPr>
          <p:cNvSpPr/>
          <p:nvPr/>
        </p:nvSpPr>
        <p:spPr>
          <a:xfrm>
            <a:off x="4252686" y="2422358"/>
            <a:ext cx="1560286" cy="1421330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E496336-F995-02FA-4E05-6CA5CFD85D9D}"/>
                  </a:ext>
                </a:extLst>
              </p:cNvPr>
              <p:cNvSpPr txBox="1"/>
              <p:nvPr/>
            </p:nvSpPr>
            <p:spPr>
              <a:xfrm>
                <a:off x="507459" y="4172270"/>
                <a:ext cx="11039272" cy="4857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e>
                    </m:nary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3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+…=1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，显然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&lt;1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𝐶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E496336-F995-02FA-4E05-6CA5CFD85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4172270"/>
                <a:ext cx="11039272" cy="485774"/>
              </a:xfrm>
              <a:prstGeom prst="rect">
                <a:avLst/>
              </a:prstGeom>
              <a:blipFill>
                <a:blip r:embed="rId8"/>
                <a:stretch>
                  <a:fillRect t="-78750" b="-1287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B4AF856-252E-FAC9-29A8-23C50C076D2C}"/>
                  </a:ext>
                </a:extLst>
              </p:cNvPr>
              <p:cNvSpPr txBox="1"/>
              <p:nvPr/>
            </p:nvSpPr>
            <p:spPr>
              <a:xfrm>
                <a:off x="3724618" y="4749766"/>
                <a:ext cx="2616422" cy="5723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unc>
                            <m:funcPr>
                              <m:ctrlPr>
                                <a:rPr lang="pt-BR" altLang="zh-CN" sz="160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pt-BR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m:rPr>
                                      <m:sty m:val="p"/>
                                    </m:rPr>
                                    <a:rPr lang="pt-BR" altLang="zh-CN" sz="1600" i="0" smtClean="0">
                                      <a:latin typeface="Cambria Math" panose="02040503050406030204" pitchFamily="18" charset="0"/>
                                    </a:rPr>
                                    <m:t>lim</m:t>
                                  </m:r>
                                </m:e>
                                <m:lim>
                                  <m:r>
                                    <a:rPr lang="pt-BR" altLang="zh-CN" sz="160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pt-BR" altLang="zh-CN" sz="1600" i="1" smtClean="0">
                                      <a:latin typeface="Cambria Math" panose="02040503050406030204" pitchFamily="18" charset="0"/>
                                    </a:rPr>
                                    <m:t>→∞</m:t>
                                  </m:r>
                                </m:lim>
                              </m:limLow>
                            </m:fName>
                            <m:e>
                              <m:sSub>
                                <m:sSubPr>
                                  <m:ctrlPr>
                                    <a:rPr lang="pt-BR" altLang="zh-CN" sz="16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en-US" altLang="zh-CN" sz="16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r>
                                    <a:rPr lang="en-US" altLang="zh-CN" sz="16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den>
                              </m:f>
                            </m:e>
                          </m:func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</a:rPr>
                            <m:t>&lt;1</m:t>
                          </m:r>
                        </m:e>
                      </m:borderBox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B4AF856-252E-FAC9-29A8-23C50C076D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4618" y="4749766"/>
                <a:ext cx="2616422" cy="57233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73774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 animBg="1"/>
      <p:bldP spid="13" grpId="1" animBg="1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347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的分布密度为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𝑐</m:t>
                    </m:r>
                    <m:sSup>
                      <m:sSup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−|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</m:sup>
                    </m:sSup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  −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∞&lt;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&lt;+∞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	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求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）常数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𝑐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；（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{0&lt;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&lt;1}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347788"/>
              </a:xfrm>
              <a:prstGeom prst="rect">
                <a:avLst/>
              </a:prstGeom>
              <a:blipFill>
                <a:blip r:embed="rId5"/>
                <a:stretch>
                  <a:fillRect l="-274" b="-245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0B786919-B38E-4B8A-ABEB-7461FFB8ABF9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DD1CA0-1033-C1FA-5176-C313698440BD}"/>
              </a:ext>
            </a:extLst>
          </p:cNvPr>
          <p:cNvSpPr txBox="1"/>
          <p:nvPr/>
        </p:nvSpPr>
        <p:spPr>
          <a:xfrm>
            <a:off x="4327300" y="775742"/>
            <a:ext cx="3708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分布函数 与 分布律、密度函数 的关系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5D8383-B96D-AAB8-207F-0E0CF4356F7E}"/>
                  </a:ext>
                </a:extLst>
              </p:cNvPr>
              <p:cNvSpPr txBox="1"/>
              <p:nvPr/>
            </p:nvSpPr>
            <p:spPr>
              <a:xfrm>
                <a:off x="507459" y="2062096"/>
                <a:ext cx="11039272" cy="1042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zh-CN" altLang="en-US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𝑐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𝑐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d>
                      <m:dPr>
                        <m:begChr m:val="|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−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𝑐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d>
                      <m:dPr>
                        <m:begChr m:val="|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∞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zh-CN" altLang="en-US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𝑐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55D8383-B96D-AAB8-207F-0E0CF4356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062096"/>
                <a:ext cx="11039272" cy="1042658"/>
              </a:xfrm>
              <a:prstGeom prst="rect">
                <a:avLst/>
              </a:prstGeom>
              <a:blipFill>
                <a:blip r:embed="rId6"/>
                <a:stretch>
                  <a:fillRect l="-442" t="-83626" b="-707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8AD4F5F-E745-447E-97E7-6CD60E64EEB0}"/>
                  </a:ext>
                </a:extLst>
              </p:cNvPr>
              <p:cNvSpPr txBox="1"/>
              <p:nvPr/>
            </p:nvSpPr>
            <p:spPr>
              <a:xfrm>
                <a:off x="507458" y="3429000"/>
                <a:ext cx="11108175" cy="14660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）由（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）知，</a:t>
                </a:r>
                <a:r>
                  <a:rPr lang="en-US" altLang="zh-CN" sz="1800" b="0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−|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|</m:t>
                        </m:r>
                      </m:sup>
                    </m:sSup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zh-CN" altLang="en-US" dirty="0">
                    <a:ea typeface="楷体" panose="02010609060101010101" pitchFamily="49" charset="-122"/>
                  </a:rPr>
                  <a:t> </a:t>
                </a:r>
                <a:endParaRPr lang="en-US" altLang="zh-CN" dirty="0"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ea typeface="楷体" panose="02010609060101010101" pitchFamily="49" charset="-122"/>
                  </a:rPr>
                  <a:t>                 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∴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0&lt;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&lt;1</m:t>
                        </m:r>
                      </m:e>
                    </m:d>
                    <m:r>
                      <m:rPr>
                        <m:nor/>
                      </m:rPr>
                      <a:rPr lang="en-US" altLang="zh-CN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 = 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nary>
                      <m:naryPr>
                        <m:ctrlP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p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f>
                              <m:f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sup>
                        </m:s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=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f>
                      <m:f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d>
                      <m:dPr>
                        <m:begChr m:val="|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= 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1−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  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0&lt;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&lt;1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=0.316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78AD4F5F-E745-447E-97E7-6CD60E64E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429000"/>
                <a:ext cx="11108175" cy="1466042"/>
              </a:xfrm>
              <a:prstGeom prst="rect">
                <a:avLst/>
              </a:prstGeom>
              <a:blipFill>
                <a:blip r:embed="rId7"/>
                <a:stretch>
                  <a:fillRect t="-22500" b="-58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273647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6713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的分布函数为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𝐵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arctan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,  −∞&lt;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&lt;+∞</m:t>
                    </m:r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	</a:t>
                </a: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          求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：（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）常数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𝐴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,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𝐵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；（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  <a:sym typeface="Wingdings" panose="05000000000000000000" pitchFamily="2" charset="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{−1&lt;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&lt;1}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；（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的概率密度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671338"/>
              </a:xfrm>
              <a:prstGeom prst="rect">
                <a:avLst/>
              </a:prstGeom>
              <a:blipFill>
                <a:blip r:embed="rId5"/>
                <a:stretch>
                  <a:fillRect l="-274" t="-1818" b="-118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0B786919-B38E-4B8A-ABEB-7461FFB8ABF9}"/>
              </a:ext>
            </a:extLst>
          </p:cNvPr>
          <p:cNvSpPr txBox="1"/>
          <p:nvPr/>
        </p:nvSpPr>
        <p:spPr>
          <a:xfrm>
            <a:off x="507459" y="496110"/>
            <a:ext cx="38198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随机变量及其描述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FDD1CA0-1033-C1FA-5176-C313698440BD}"/>
              </a:ext>
            </a:extLst>
          </p:cNvPr>
          <p:cNvSpPr txBox="1"/>
          <p:nvPr/>
        </p:nvSpPr>
        <p:spPr>
          <a:xfrm>
            <a:off x="4327300" y="775742"/>
            <a:ext cx="37083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分布函数 与 分布律、密度函数 的关系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/>
              <p:nvPr/>
            </p:nvSpPr>
            <p:spPr>
              <a:xfrm>
                <a:off x="507459" y="2385646"/>
                <a:ext cx="6800653" cy="9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+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+</m:t>
                            </m:r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∞</m:t>
                                </m:r>
                              </m:e>
                            </m:d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𝐴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𝐵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	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解得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𝐴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2</m:t>
                                </m:r>
                              </m:den>
                            </m:f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𝐵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𝜋</m:t>
                                </m:r>
                              </m:den>
                            </m:f>
                          </m:e>
                        </m:eqAr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.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AB6B1461-5DB0-8598-0DD1-659D25AF0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2385646"/>
                <a:ext cx="6800653" cy="976614"/>
              </a:xfrm>
              <a:prstGeom prst="rect">
                <a:avLst/>
              </a:prstGeom>
              <a:blipFill>
                <a:blip r:embed="rId6"/>
                <a:stretch>
                  <a:fillRect l="-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形 5">
            <a:extLst>
              <a:ext uri="{FF2B5EF4-FFF2-40B4-BE49-F238E27FC236}">
                <a16:creationId xmlns:a16="http://schemas.microsoft.com/office/drawing/2014/main" id="{4EFC6C51-540A-951B-3041-ACB7516450BC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 l="12616" t="12319" r="9128" b="14871"/>
          <a:stretch/>
        </p:blipFill>
        <p:spPr>
          <a:xfrm>
            <a:off x="7485320" y="1425186"/>
            <a:ext cx="4130315" cy="214493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99AD3DA-B4CF-A5C9-286D-63001C15B287}"/>
                  </a:ext>
                </a:extLst>
              </p:cNvPr>
              <p:cNvSpPr txBox="1"/>
              <p:nvPr/>
            </p:nvSpPr>
            <p:spPr>
              <a:xfrm>
                <a:off x="507459" y="3570122"/>
                <a:ext cx="11108176" cy="11993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 </a:t>
                </a:r>
                <a14:m>
                  <m:oMath xmlns:m="http://schemas.openxmlformats.org/officeDocument/2006/math"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−1&lt;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&lt;1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&lt;1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  <a:sym typeface="Wingdings" panose="05000000000000000000" pitchFamily="2" charset="2"/>
                          </a:rPr>
                          <m:t>&lt;−1</m:t>
                        </m:r>
                      </m:e>
                    </m:d>
                  </m:oMath>
                </a14:m>
                <a:endParaRPr lang="en-US" altLang="zh-CN" dirty="0">
                  <a:latin typeface="楷体" panose="02010609060101010101" pitchFamily="49" charset="-122"/>
                  <a:ea typeface="华文宋体" panose="02010600040101010101" pitchFamily="2" charset="-122"/>
                  <a:sym typeface="Wingdings" panose="05000000000000000000" pitchFamily="2" charset="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0" dirty="0">
                    <a:ea typeface="华文宋体" panose="02010600040101010101" pitchFamily="2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                                                   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−1</m:t>
                        </m:r>
                      </m:e>
                    </m:d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b="0" dirty="0">
                    <a:ea typeface="华文宋体" panose="02010600040101010101" pitchFamily="2" charset="-122"/>
                    <a:sym typeface="Wingdings" panose="05000000000000000000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                                                    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华文宋体" panose="02010600040101010101" pitchFamily="2" charset="-122"/>
                        <a:sym typeface="Wingdings" panose="05000000000000000000" pitchFamily="2" charset="2"/>
                      </a:rPr>
                      <m:t>=</m:t>
                    </m:r>
                    <m:d>
                      <m:d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zh-CN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arctan</m:t>
                        </m:r>
                        <m:r>
                          <a:rPr lang="en-US" altLang="zh-CN" b="0" i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+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𝜋</m:t>
                            </m:r>
                          </m:den>
                        </m:f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arctan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0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1</m:t>
                                </m:r>
                              </m:e>
                            </m:d>
                          </m:e>
                        </m:fun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D99AD3DA-B4CF-A5C9-286D-63001C15B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3570122"/>
                <a:ext cx="11108176" cy="1199367"/>
              </a:xfrm>
              <a:prstGeom prst="rect">
                <a:avLst/>
              </a:prstGeom>
              <a:blipFill>
                <a:blip r:embed="rId9"/>
                <a:stretch>
                  <a:fillRect t="-40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895AC81-EA04-8B30-794A-04FD6E9AD3D1}"/>
                  </a:ext>
                </a:extLst>
              </p:cNvPr>
              <p:cNvSpPr txBox="1"/>
              <p:nvPr/>
            </p:nvSpPr>
            <p:spPr>
              <a:xfrm>
                <a:off x="507459" y="4977351"/>
                <a:ext cx="11108176" cy="4849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3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）由（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）知</a:t>
                </a:r>
                <a14:m>
                  <m:oMath xmlns:m="http://schemas.openxmlformats.org/officeDocument/2006/math">
                    <m:r>
                      <a:rPr lang="en-US" altLang="zh-CN" sz="18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𝐹</m:t>
                    </m:r>
                    <m:d>
                      <m:dPr>
                        <m:ctrlP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+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𝜋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18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arctan</m:t>
                    </m:r>
                    <m:r>
                      <a:rPr lang="en-US" altLang="zh-CN" sz="18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𝐹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𝜋</m:t>
                        </m:r>
                      </m:den>
                    </m:f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1+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 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−∞&lt;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&lt;+∞.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895AC81-EA04-8B30-794A-04FD6E9AD3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4977351"/>
                <a:ext cx="11108176" cy="484941"/>
              </a:xfrm>
              <a:prstGeom prst="rect">
                <a:avLst/>
              </a:prstGeom>
              <a:blipFill>
                <a:blip r:embed="rId10"/>
                <a:stretch>
                  <a:fillRect b="-2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826033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507460" y="1425186"/>
            <a:ext cx="725642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对于一些随机事件，即使它还没有发生，它的概率我们仍能预先推知。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随机变量亦然如此，它可以服从一个确定的分布规律。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研究随机变量服从什么样的分布规律，有助于我们研究某一类型的随机变量。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2313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5" name="矩形: 折角 4">
            <a:extLst>
              <a:ext uri="{FF2B5EF4-FFF2-40B4-BE49-F238E27FC236}">
                <a16:creationId xmlns:a16="http://schemas.microsoft.com/office/drawing/2014/main" id="{8A407A84-A0B0-BEA9-0A0C-3111EC6E38A4}"/>
              </a:ext>
            </a:extLst>
          </p:cNvPr>
          <p:cNvSpPr/>
          <p:nvPr/>
        </p:nvSpPr>
        <p:spPr>
          <a:xfrm>
            <a:off x="7618666" y="1425185"/>
            <a:ext cx="1952091" cy="1246493"/>
          </a:xfrm>
          <a:prstGeom prst="foldedCorner">
            <a:avLst>
              <a:gd name="adj" fmla="val 983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已知：</a:t>
            </a:r>
            <a:endParaRPr lang="en-US" altLang="zh-CN" sz="11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1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抽一次卡出金概率为</a:t>
            </a:r>
            <a:r>
              <a:rPr lang="en-US" altLang="zh-CN" sz="11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0.01</a:t>
            </a:r>
          </a:p>
          <a:p>
            <a:pPr>
              <a:spcBef>
                <a:spcPts val="600"/>
              </a:spcBef>
            </a:pPr>
            <a:r>
              <a:rPr lang="zh-CN" altLang="en-US" sz="1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求：</a:t>
            </a:r>
            <a:endParaRPr lang="en-US" altLang="zh-CN" sz="11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1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抽</a:t>
            </a:r>
            <a:r>
              <a:rPr lang="en-US" altLang="zh-CN" sz="11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X</a:t>
            </a:r>
            <a:r>
              <a:rPr lang="zh-CN" altLang="en-US" sz="11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次卡就出金的概率</a:t>
            </a:r>
            <a:endParaRPr lang="en-US" altLang="zh-CN" sz="11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矩形: 折角 5">
            <a:extLst>
              <a:ext uri="{FF2B5EF4-FFF2-40B4-BE49-F238E27FC236}">
                <a16:creationId xmlns:a16="http://schemas.microsoft.com/office/drawing/2014/main" id="{6284A5BA-B917-CF75-FA1C-05B7BBEE804A}"/>
              </a:ext>
            </a:extLst>
          </p:cNvPr>
          <p:cNvSpPr/>
          <p:nvPr/>
        </p:nvSpPr>
        <p:spPr>
          <a:xfrm>
            <a:off x="9663545" y="1425185"/>
            <a:ext cx="1952091" cy="1246493"/>
          </a:xfrm>
          <a:prstGeom prst="foldedCorner">
            <a:avLst>
              <a:gd name="adj" fmla="val 983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已知：</a:t>
            </a:r>
            <a:endParaRPr lang="en-US" altLang="zh-CN" sz="11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1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元件一年平均的损坏个数</a:t>
            </a:r>
            <a:endParaRPr lang="en-US" altLang="zh-CN" sz="1100" dirty="0">
              <a:solidFill>
                <a:schemeClr val="tx1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spcBef>
                <a:spcPts val="600"/>
              </a:spcBef>
            </a:pPr>
            <a:r>
              <a:rPr lang="zh-CN" altLang="en-US" sz="1100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求：</a:t>
            </a:r>
            <a:endParaRPr lang="en-US" altLang="zh-CN" sz="1100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11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某元件在某时间损坏的概率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FA92B1C-DD03-D7CC-E078-50EBB62065EE}"/>
              </a:ext>
            </a:extLst>
          </p:cNvPr>
          <p:cNvSpPr/>
          <p:nvPr/>
        </p:nvSpPr>
        <p:spPr>
          <a:xfrm>
            <a:off x="7979040" y="2536766"/>
            <a:ext cx="1231342" cy="25983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华文中宋" panose="02010600040101010101" pitchFamily="2" charset="-122"/>
                <a:ea typeface="华文中宋" panose="02010600040101010101" pitchFamily="2" charset="-122"/>
              </a:rPr>
              <a:t>离散型随机变量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9517ECD4-780F-1664-2350-3C903D62B602}"/>
              </a:ext>
            </a:extLst>
          </p:cNvPr>
          <p:cNvSpPr/>
          <p:nvPr/>
        </p:nvSpPr>
        <p:spPr>
          <a:xfrm>
            <a:off x="10023919" y="2536766"/>
            <a:ext cx="1231342" cy="259830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100" dirty="0">
                <a:latin typeface="华文中宋" panose="02010600040101010101" pitchFamily="2" charset="-122"/>
                <a:ea typeface="华文中宋" panose="02010600040101010101" pitchFamily="2" charset="-122"/>
              </a:rPr>
              <a:t>连续型随机变量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6C05502-6790-680C-B6E4-E8CEDF5299B3}"/>
              </a:ext>
            </a:extLst>
          </p:cNvPr>
          <p:cNvGrpSpPr/>
          <p:nvPr/>
        </p:nvGrpSpPr>
        <p:grpSpPr>
          <a:xfrm>
            <a:off x="576364" y="3240833"/>
            <a:ext cx="5196175" cy="2662335"/>
            <a:chOff x="576364" y="3240833"/>
            <a:chExt cx="5196175" cy="2662335"/>
          </a:xfrm>
        </p:grpSpPr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67EF631B-D69E-4980-539D-F32C51A84BA1}"/>
                </a:ext>
              </a:extLst>
            </p:cNvPr>
            <p:cNvSpPr/>
            <p:nvPr/>
          </p:nvSpPr>
          <p:spPr>
            <a:xfrm>
              <a:off x="576364" y="3240833"/>
              <a:ext cx="5196175" cy="2412680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BE7F1B14-46C2-A578-C887-6BA9A90CC9DA}"/>
                </a:ext>
              </a:extLst>
            </p:cNvPr>
            <p:cNvSpPr/>
            <p:nvPr/>
          </p:nvSpPr>
          <p:spPr>
            <a:xfrm>
              <a:off x="2038368" y="5462810"/>
              <a:ext cx="2272165" cy="440358"/>
            </a:xfrm>
            <a:prstGeom prst="roundRect">
              <a:avLst/>
            </a:prstGeom>
            <a:solidFill>
              <a:schemeClr val="accent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离散型随机变量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EA2679A8-7ABC-07F4-69E1-69842A9DD944}"/>
              </a:ext>
            </a:extLst>
          </p:cNvPr>
          <p:cNvGrpSpPr/>
          <p:nvPr/>
        </p:nvGrpSpPr>
        <p:grpSpPr>
          <a:xfrm>
            <a:off x="6419463" y="3240833"/>
            <a:ext cx="5196175" cy="2662335"/>
            <a:chOff x="6419463" y="3240833"/>
            <a:chExt cx="5196175" cy="2662335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DB990CA1-351C-099A-AE48-B696149375F2}"/>
                </a:ext>
              </a:extLst>
            </p:cNvPr>
            <p:cNvSpPr/>
            <p:nvPr/>
          </p:nvSpPr>
          <p:spPr>
            <a:xfrm>
              <a:off x="6419463" y="3240833"/>
              <a:ext cx="5196175" cy="2412680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F14701F7-0CDE-EE31-EAFC-DDF8554E1227}"/>
                </a:ext>
              </a:extLst>
            </p:cNvPr>
            <p:cNvSpPr/>
            <p:nvPr/>
          </p:nvSpPr>
          <p:spPr>
            <a:xfrm>
              <a:off x="7881467" y="5462810"/>
              <a:ext cx="2272165" cy="440358"/>
            </a:xfrm>
            <a:prstGeom prst="roundRect">
              <a:avLst/>
            </a:prstGeom>
            <a:solidFill>
              <a:srgbClr val="00B0F0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连续型随机变量</a:t>
              </a:r>
            </a:p>
          </p:txBody>
        </p: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CCC3B7B9-92F2-37B6-20A8-376A5BF463B8}"/>
              </a:ext>
            </a:extLst>
          </p:cNvPr>
          <p:cNvSpPr txBox="1"/>
          <p:nvPr/>
        </p:nvSpPr>
        <p:spPr>
          <a:xfrm>
            <a:off x="2381929" y="4139605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两点分布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BAE5026-E0EF-D815-E66C-1245CAF58791}"/>
              </a:ext>
            </a:extLst>
          </p:cNvPr>
          <p:cNvSpPr txBox="1"/>
          <p:nvPr/>
        </p:nvSpPr>
        <p:spPr>
          <a:xfrm>
            <a:off x="3842993" y="4139605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二项分布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AEAD539-9458-6876-9663-E1B831A20F32}"/>
              </a:ext>
            </a:extLst>
          </p:cNvPr>
          <p:cNvSpPr txBox="1"/>
          <p:nvPr/>
        </p:nvSpPr>
        <p:spPr>
          <a:xfrm>
            <a:off x="3842992" y="4759886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泊松分布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AE780BC3-B087-0689-E96E-77700C550AA9}"/>
              </a:ext>
            </a:extLst>
          </p:cNvPr>
          <p:cNvSpPr txBox="1"/>
          <p:nvPr/>
        </p:nvSpPr>
        <p:spPr>
          <a:xfrm>
            <a:off x="3767358" y="3519324"/>
            <a:ext cx="15945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超几何分布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E14FCFE3-23EC-EB65-064B-8DF0E0845E8D}"/>
              </a:ext>
            </a:extLst>
          </p:cNvPr>
          <p:cNvSpPr txBox="1"/>
          <p:nvPr/>
        </p:nvSpPr>
        <p:spPr>
          <a:xfrm>
            <a:off x="920866" y="4139605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单点分布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29ABA4F-72D5-8A75-A889-A4CEEF750310}"/>
              </a:ext>
            </a:extLst>
          </p:cNvPr>
          <p:cNvSpPr txBox="1"/>
          <p:nvPr/>
        </p:nvSpPr>
        <p:spPr>
          <a:xfrm>
            <a:off x="1628663" y="4759886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几何分布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DB69436-CFBD-771B-1301-A69E5729E878}"/>
              </a:ext>
            </a:extLst>
          </p:cNvPr>
          <p:cNvSpPr txBox="1"/>
          <p:nvPr/>
        </p:nvSpPr>
        <p:spPr>
          <a:xfrm>
            <a:off x="6824838" y="4759886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正态分布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C7EED88-B3B4-D689-14B4-59D9A0EE73C3}"/>
              </a:ext>
            </a:extLst>
          </p:cNvPr>
          <p:cNvSpPr txBox="1"/>
          <p:nvPr/>
        </p:nvSpPr>
        <p:spPr>
          <a:xfrm>
            <a:off x="8295923" y="3708122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均匀分布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F0290A64-E8D6-3482-4E26-AAF0D3B4ABAD}"/>
              </a:ext>
            </a:extLst>
          </p:cNvPr>
          <p:cNvSpPr txBox="1"/>
          <p:nvPr/>
        </p:nvSpPr>
        <p:spPr>
          <a:xfrm>
            <a:off x="1279020" y="3519324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均匀分布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8510ABB8-047F-CB31-D5E0-ED8E92AF41FB}"/>
              </a:ext>
            </a:extLst>
          </p:cNvPr>
          <p:cNvSpPr txBox="1"/>
          <p:nvPr/>
        </p:nvSpPr>
        <p:spPr>
          <a:xfrm>
            <a:off x="9744411" y="4447173"/>
            <a:ext cx="1443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指数分布</a:t>
            </a: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4C647BCA-C9F1-4792-29D4-27F26D06BA06}"/>
              </a:ext>
            </a:extLst>
          </p:cNvPr>
          <p:cNvGrpSpPr/>
          <p:nvPr/>
        </p:nvGrpSpPr>
        <p:grpSpPr>
          <a:xfrm>
            <a:off x="2190345" y="4044423"/>
            <a:ext cx="347543" cy="307777"/>
            <a:chOff x="2190345" y="4044423"/>
            <a:chExt cx="347543" cy="307777"/>
          </a:xfrm>
        </p:grpSpPr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BEA57645-2234-33A3-4C07-25F2BC780977}"/>
                </a:ext>
              </a:extLst>
            </p:cNvPr>
            <p:cNvCxnSpPr/>
            <p:nvPr/>
          </p:nvCxnSpPr>
          <p:spPr>
            <a:xfrm flipH="1">
              <a:off x="2190345" y="4339660"/>
              <a:ext cx="3475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6F355849-4B90-2867-5F5D-FE442F022499}"/>
                </a:ext>
              </a:extLst>
            </p:cNvPr>
            <p:cNvSpPr txBox="1"/>
            <p:nvPr/>
          </p:nvSpPr>
          <p:spPr>
            <a:xfrm>
              <a:off x="2249316" y="4044423"/>
              <a:ext cx="2885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Cambria Math" panose="02040503050406030204" pitchFamily="18" charset="0"/>
                </a:rPr>
                <a:t>？</a:t>
              </a:r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A4064E5-FE6C-455F-C211-43C8CB5044ED}"/>
              </a:ext>
            </a:extLst>
          </p:cNvPr>
          <p:cNvGrpSpPr/>
          <p:nvPr/>
        </p:nvGrpSpPr>
        <p:grpSpPr>
          <a:xfrm>
            <a:off x="3669220" y="4044525"/>
            <a:ext cx="347543" cy="307777"/>
            <a:chOff x="3669220" y="4044525"/>
            <a:chExt cx="347543" cy="307777"/>
          </a:xfrm>
        </p:grpSpPr>
        <p:cxnSp>
          <p:nvCxnSpPr>
            <p:cNvPr id="51" name="直接箭头连接符 50">
              <a:extLst>
                <a:ext uri="{FF2B5EF4-FFF2-40B4-BE49-F238E27FC236}">
                  <a16:creationId xmlns:a16="http://schemas.microsoft.com/office/drawing/2014/main" id="{CBCDB3D7-5D27-A304-5F8F-8709058E57B2}"/>
                </a:ext>
              </a:extLst>
            </p:cNvPr>
            <p:cNvCxnSpPr>
              <a:cxnSpLocks/>
            </p:cNvCxnSpPr>
            <p:nvPr/>
          </p:nvCxnSpPr>
          <p:spPr>
            <a:xfrm>
              <a:off x="3669220" y="4339660"/>
              <a:ext cx="347543" cy="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4170ECF7-C4DF-6EA3-1C87-019F4BDAF60C}"/>
                </a:ext>
              </a:extLst>
            </p:cNvPr>
            <p:cNvSpPr txBox="1"/>
            <p:nvPr/>
          </p:nvSpPr>
          <p:spPr>
            <a:xfrm>
              <a:off x="3678663" y="4044525"/>
              <a:ext cx="2885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Cambria Math" panose="02040503050406030204" pitchFamily="18" charset="0"/>
                </a:rPr>
                <a:t>？</a:t>
              </a:r>
            </a:p>
          </p:txBody>
        </p: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2CF3E854-6FCB-FE0D-29D1-210C460A2FC7}"/>
              </a:ext>
            </a:extLst>
          </p:cNvPr>
          <p:cNvGrpSpPr/>
          <p:nvPr/>
        </p:nvGrpSpPr>
        <p:grpSpPr>
          <a:xfrm>
            <a:off x="4564616" y="3867146"/>
            <a:ext cx="294733" cy="307777"/>
            <a:chOff x="4564616" y="3867146"/>
            <a:chExt cx="294733" cy="307777"/>
          </a:xfrm>
        </p:grpSpPr>
        <p:cxnSp>
          <p:nvCxnSpPr>
            <p:cNvPr id="52" name="直接箭头连接符 51">
              <a:extLst>
                <a:ext uri="{FF2B5EF4-FFF2-40B4-BE49-F238E27FC236}">
                  <a16:creationId xmlns:a16="http://schemas.microsoft.com/office/drawing/2014/main" id="{6428717D-889A-CE6E-1D26-8E49841E4BF6}"/>
                </a:ext>
              </a:extLst>
            </p:cNvPr>
            <p:cNvCxnSpPr>
              <a:cxnSpLocks/>
            </p:cNvCxnSpPr>
            <p:nvPr/>
          </p:nvCxnSpPr>
          <p:spPr>
            <a:xfrm>
              <a:off x="4564616" y="3908177"/>
              <a:ext cx="0" cy="2375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D972E31C-27D6-B8E6-4D35-69D4F4AEE896}"/>
                </a:ext>
              </a:extLst>
            </p:cNvPr>
            <p:cNvSpPr txBox="1"/>
            <p:nvPr/>
          </p:nvSpPr>
          <p:spPr>
            <a:xfrm>
              <a:off x="4570777" y="3867146"/>
              <a:ext cx="2885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Cambria Math" panose="02040503050406030204" pitchFamily="18" charset="0"/>
                </a:rPr>
                <a:t>？</a:t>
              </a:r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0FB3FEB6-9DC6-165D-92F8-1D10954F0589}"/>
              </a:ext>
            </a:extLst>
          </p:cNvPr>
          <p:cNvGrpSpPr/>
          <p:nvPr/>
        </p:nvGrpSpPr>
        <p:grpSpPr>
          <a:xfrm>
            <a:off x="4564616" y="4496354"/>
            <a:ext cx="288572" cy="307777"/>
            <a:chOff x="4564616" y="4496354"/>
            <a:chExt cx="288572" cy="307777"/>
          </a:xfrm>
        </p:grpSpPr>
        <p:cxnSp>
          <p:nvCxnSpPr>
            <p:cNvPr id="58" name="直接箭头连接符 57">
              <a:extLst>
                <a:ext uri="{FF2B5EF4-FFF2-40B4-BE49-F238E27FC236}">
                  <a16:creationId xmlns:a16="http://schemas.microsoft.com/office/drawing/2014/main" id="{B686DD54-E60C-7D3F-4F86-3B501173EB0D}"/>
                </a:ext>
              </a:extLst>
            </p:cNvPr>
            <p:cNvCxnSpPr>
              <a:cxnSpLocks/>
            </p:cNvCxnSpPr>
            <p:nvPr/>
          </p:nvCxnSpPr>
          <p:spPr>
            <a:xfrm>
              <a:off x="4564616" y="4539715"/>
              <a:ext cx="0" cy="23756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本框 61">
              <a:extLst>
                <a:ext uri="{FF2B5EF4-FFF2-40B4-BE49-F238E27FC236}">
                  <a16:creationId xmlns:a16="http://schemas.microsoft.com/office/drawing/2014/main" id="{9EF39CA7-CCCB-FFE2-A7ED-2D3A2C8F7252}"/>
                </a:ext>
              </a:extLst>
            </p:cNvPr>
            <p:cNvSpPr txBox="1"/>
            <p:nvPr/>
          </p:nvSpPr>
          <p:spPr>
            <a:xfrm>
              <a:off x="4564616" y="4496354"/>
              <a:ext cx="28857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accent1"/>
                  </a:solidFill>
                  <a:latin typeface="Cambria Math" panose="02040503050406030204" pitchFamily="18" charset="0"/>
                </a:rPr>
                <a:t>？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0329243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300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40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5" grpId="0" animBg="1"/>
      <p:bldP spid="6" grpId="0" animBg="1"/>
      <p:bldP spid="7" grpId="0" animBg="1"/>
      <p:bldP spid="11" grpId="0" animBg="1"/>
      <p:bldP spid="30" grpId="0"/>
      <p:bldP spid="33" grpId="0"/>
      <p:bldP spid="40" grpId="0"/>
      <p:bldP spid="42" grpId="0"/>
      <p:bldP spid="43" grpId="0"/>
      <p:bldP spid="44" grpId="0"/>
      <p:bldP spid="45" grpId="0"/>
      <p:bldP spid="46" grpId="0"/>
      <p:bldP spid="47" grpId="0"/>
      <p:bldP spid="4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离散型随机变量的概率分布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86" name="组合 85">
            <a:extLst>
              <a:ext uri="{FF2B5EF4-FFF2-40B4-BE49-F238E27FC236}">
                <a16:creationId xmlns:a16="http://schemas.microsoft.com/office/drawing/2014/main" id="{5FEDBCF8-EF99-F031-CA21-D4CA99136BE5}"/>
              </a:ext>
            </a:extLst>
          </p:cNvPr>
          <p:cNvGrpSpPr/>
          <p:nvPr/>
        </p:nvGrpSpPr>
        <p:grpSpPr>
          <a:xfrm>
            <a:off x="5744456" y="1386707"/>
            <a:ext cx="4940003" cy="2267941"/>
            <a:chOff x="3691041" y="1427832"/>
            <a:chExt cx="4940003" cy="2267941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2CC73FB4-F0EA-D12C-F777-0D9049532E58}"/>
                </a:ext>
              </a:extLst>
            </p:cNvPr>
            <p:cNvGrpSpPr/>
            <p:nvPr/>
          </p:nvGrpSpPr>
          <p:grpSpPr>
            <a:xfrm>
              <a:off x="3691043" y="1427832"/>
              <a:ext cx="4940001" cy="391100"/>
              <a:chOff x="2030774" y="1772551"/>
              <a:chExt cx="4940001" cy="391100"/>
            </a:xfrm>
          </p:grpSpPr>
          <p:cxnSp>
            <p:nvCxnSpPr>
              <p:cNvPr id="31" name="直接连接符 30">
                <a:extLst>
                  <a:ext uri="{FF2B5EF4-FFF2-40B4-BE49-F238E27FC236}">
                    <a16:creationId xmlns:a16="http://schemas.microsoft.com/office/drawing/2014/main" id="{7B210C61-E135-C5E9-B837-E2832E9B2F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4940001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7EC51A18-AE42-7EBA-EBD6-1CEB293659FD}"/>
                  </a:ext>
                </a:extLst>
              </p:cNvPr>
              <p:cNvSpPr txBox="1"/>
              <p:nvPr/>
            </p:nvSpPr>
            <p:spPr>
              <a:xfrm>
                <a:off x="3766933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两点分布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1CB7095-01B5-A9D4-34D1-BFF32776BD55}"/>
                    </a:ext>
                  </a:extLst>
                </p:cNvPr>
                <p:cNvSpPr txBox="1"/>
                <p:nvPr/>
              </p:nvSpPr>
              <p:spPr>
                <a:xfrm>
                  <a:off x="3691042" y="1904481"/>
                  <a:ext cx="4940002" cy="307777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描述伯努利试验的结果</a:t>
                  </a:r>
                  <a14:m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e>
                      </m:d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,{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=1}</m:t>
                      </m:r>
                    </m:oMath>
                  </a14:m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的概率</a:t>
                  </a:r>
                </a:p>
              </p:txBody>
            </p:sp>
          </mc:Choice>
          <mc:Fallback xmlns="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F1CB7095-01B5-A9D4-34D1-BFF32776BD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1042" y="1904481"/>
                  <a:ext cx="4940002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1D95F4A-2CB5-24D1-2CBC-36497FC3A64A}"/>
                    </a:ext>
                  </a:extLst>
                </p:cNvPr>
                <p:cNvSpPr txBox="1"/>
                <p:nvPr/>
              </p:nvSpPr>
              <p:spPr>
                <a:xfrm>
                  <a:off x="4621422" y="2348276"/>
                  <a:ext cx="4009622" cy="37427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𝑟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𝑟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(1−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𝑟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=0,1)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D1D95F4A-2CB5-24D1-2CBC-36497FC3A6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422" y="2348276"/>
                  <a:ext cx="4009622" cy="374270"/>
                </a:xfrm>
                <a:prstGeom prst="rect">
                  <a:avLst/>
                </a:prstGeom>
                <a:blipFill>
                  <a:blip r:embed="rId6"/>
                  <a:stretch>
                    <a:fillRect b="-145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4F43517-F8C9-6ADE-539F-E0803914F36A}"/>
                </a:ext>
              </a:extLst>
            </p:cNvPr>
            <p:cNvSpPr txBox="1"/>
            <p:nvPr/>
          </p:nvSpPr>
          <p:spPr>
            <a:xfrm>
              <a:off x="3691042" y="2353214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分布律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971529B8-9E39-349F-C2CC-6BBF7C7D8492}"/>
                </a:ext>
              </a:extLst>
            </p:cNvPr>
            <p:cNvSpPr txBox="1"/>
            <p:nvPr/>
          </p:nvSpPr>
          <p:spPr>
            <a:xfrm>
              <a:off x="3691041" y="2796009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模型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F253FDF7-491C-53D7-9F1B-48848B50AF2F}"/>
                </a:ext>
              </a:extLst>
            </p:cNvPr>
            <p:cNvSpPr txBox="1"/>
            <p:nvPr/>
          </p:nvSpPr>
          <p:spPr>
            <a:xfrm>
              <a:off x="4621422" y="2796009"/>
              <a:ext cx="4009622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伯努利试验</a:t>
              </a:r>
              <a:r>
                <a:rPr lang="zh-CN" altLang="en-US" sz="1200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（结果只有“成功”和“失败”）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1B6D5713-A361-10D8-00D0-CDC0165A49D8}"/>
                    </a:ext>
                  </a:extLst>
                </p:cNvPr>
                <p:cNvSpPr txBox="1"/>
                <p:nvPr/>
              </p:nvSpPr>
              <p:spPr>
                <a:xfrm>
                  <a:off x="4621421" y="3234108"/>
                  <a:ext cx="4009622" cy="46166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indent="288000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b="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：试验结果</a:t>
                  </a:r>
                  <a:r>
                    <a: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：一次试验中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成功的概率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indent="288000"/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：试验成功为</a:t>
                  </a:r>
                  <a:r>
                    <a: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</a:t>
                  </a:r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，失败为</a:t>
                  </a:r>
                  <a:r>
                    <a: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</a:t>
                  </a:r>
                </a:p>
              </p:txBody>
            </p:sp>
          </mc:Choice>
          <mc:Fallback xmlns="">
            <p:sp>
              <p:nvSpPr>
                <p:cNvPr id="82" name="文本框 81">
                  <a:extLst>
                    <a:ext uri="{FF2B5EF4-FFF2-40B4-BE49-F238E27FC236}">
                      <a16:creationId xmlns:a16="http://schemas.microsoft.com/office/drawing/2014/main" id="{1B6D5713-A361-10D8-00D0-CDC0165A49D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1421" y="3234108"/>
                  <a:ext cx="4009622" cy="461665"/>
                </a:xfrm>
                <a:prstGeom prst="rect">
                  <a:avLst/>
                </a:prstGeom>
                <a:blipFill>
                  <a:blip r:embed="rId7"/>
                  <a:stretch>
                    <a:fillRect t="-1316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C70D5257-C869-0B5C-1F51-3F1A7CD968D2}"/>
                    </a:ext>
                  </a:extLst>
                </p:cNvPr>
                <p:cNvSpPr txBox="1"/>
                <p:nvPr/>
              </p:nvSpPr>
              <p:spPr>
                <a:xfrm>
                  <a:off x="3691041" y="3238724"/>
                  <a:ext cx="887925" cy="4524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3" name="文本框 82">
                  <a:extLst>
                    <a:ext uri="{FF2B5EF4-FFF2-40B4-BE49-F238E27FC236}">
                      <a16:creationId xmlns:a16="http://schemas.microsoft.com/office/drawing/2014/main" id="{C70D5257-C869-0B5C-1F51-3F1A7CD968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1041" y="3238724"/>
                  <a:ext cx="887925" cy="452432"/>
                </a:xfrm>
                <a:prstGeom prst="rect">
                  <a:avLst/>
                </a:prstGeom>
                <a:blipFill>
                  <a:blip r:embed="rId8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2" name="组合 91">
            <a:extLst>
              <a:ext uri="{FF2B5EF4-FFF2-40B4-BE49-F238E27FC236}">
                <a16:creationId xmlns:a16="http://schemas.microsoft.com/office/drawing/2014/main" id="{DC54CFBE-B9C6-AA27-4B14-4DBEA6E095DA}"/>
              </a:ext>
            </a:extLst>
          </p:cNvPr>
          <p:cNvGrpSpPr/>
          <p:nvPr/>
        </p:nvGrpSpPr>
        <p:grpSpPr>
          <a:xfrm>
            <a:off x="1716192" y="1386707"/>
            <a:ext cx="2760136" cy="2187998"/>
            <a:chOff x="2400140" y="1392101"/>
            <a:chExt cx="2760136" cy="2187998"/>
          </a:xfrm>
        </p:grpSpPr>
        <p:grpSp>
          <p:nvGrpSpPr>
            <p:cNvPr id="89" name="组合 88">
              <a:extLst>
                <a:ext uri="{FF2B5EF4-FFF2-40B4-BE49-F238E27FC236}">
                  <a16:creationId xmlns:a16="http://schemas.microsoft.com/office/drawing/2014/main" id="{823FCDEB-8C3F-1383-108B-27E56698A4C4}"/>
                </a:ext>
              </a:extLst>
            </p:cNvPr>
            <p:cNvGrpSpPr/>
            <p:nvPr/>
          </p:nvGrpSpPr>
          <p:grpSpPr>
            <a:xfrm>
              <a:off x="2400141" y="1392101"/>
              <a:ext cx="2760135" cy="1737509"/>
              <a:chOff x="709008" y="1427832"/>
              <a:chExt cx="2760135" cy="1737509"/>
            </a:xfrm>
          </p:grpSpPr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36DBFED0-7722-6475-063A-4269B48A7CA6}"/>
                  </a:ext>
                </a:extLst>
              </p:cNvPr>
              <p:cNvGrpSpPr/>
              <p:nvPr/>
            </p:nvGrpSpPr>
            <p:grpSpPr>
              <a:xfrm>
                <a:off x="709010" y="1427832"/>
                <a:ext cx="2760133" cy="391100"/>
                <a:chOff x="2030774" y="1772551"/>
                <a:chExt cx="2760133" cy="391100"/>
              </a:xfrm>
            </p:grpSpPr>
            <p:cxnSp>
              <p:nvCxnSpPr>
                <p:cNvPr id="4" name="直接连接符 3">
                  <a:extLst>
                    <a:ext uri="{FF2B5EF4-FFF2-40B4-BE49-F238E27FC236}">
                      <a16:creationId xmlns:a16="http://schemas.microsoft.com/office/drawing/2014/main" id="{F974CF11-8D6F-089C-C83C-965127F49F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30774" y="2163651"/>
                  <a:ext cx="2760133" cy="0"/>
                </a:xfrm>
                <a:prstGeom prst="line">
                  <a:avLst/>
                </a:prstGeom>
                <a:ln w="3810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0" name="文本框 9">
                  <a:extLst>
                    <a:ext uri="{FF2B5EF4-FFF2-40B4-BE49-F238E27FC236}">
                      <a16:creationId xmlns:a16="http://schemas.microsoft.com/office/drawing/2014/main" id="{677D0CE6-2893-3F38-720C-B6BF2E8FACEF}"/>
                    </a:ext>
                  </a:extLst>
                </p:cNvPr>
                <p:cNvSpPr txBox="1"/>
                <p:nvPr/>
              </p:nvSpPr>
              <p:spPr>
                <a:xfrm>
                  <a:off x="2676999" y="1772551"/>
                  <a:ext cx="146768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汉仪润圆-65简" panose="00020600040101010101" pitchFamily="18" charset="-122"/>
                      <a:ea typeface="汉仪润圆-65简" panose="00020600040101010101" pitchFamily="18" charset="-122"/>
                    </a:rPr>
                    <a:t>单点分布</a:t>
                  </a: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A851530E-2B80-BCA5-2A01-FA6630E4A999}"/>
                      </a:ext>
                    </a:extLst>
                  </p:cNvPr>
                  <p:cNvSpPr txBox="1"/>
                  <p:nvPr/>
                </p:nvSpPr>
                <p:spPr>
                  <a:xfrm>
                    <a:off x="709009" y="1904481"/>
                    <a:ext cx="2760134" cy="307777"/>
                  </a:xfrm>
                  <a:prstGeom prst="rect">
                    <a:avLst/>
                  </a:prstGeom>
                  <a:solidFill>
                    <a:schemeClr val="accent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400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描述必然事件</a:t>
                    </a:r>
                    <a14:m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oMath>
                    </a14:m>
                    <a:r>
                      <a:rPr lang="zh-CN" altLang="en-US" sz="1400" dirty="0">
                        <a:solidFill>
                          <a:schemeClr val="bg1"/>
                        </a:solidFill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的概率</a:t>
                    </a:r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A851530E-2B80-BCA5-2A01-FA6630E4A99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9009" y="1904481"/>
                    <a:ext cx="2760134" cy="30777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t="-6000" b="-18000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AF7AA20F-7CE1-018A-BA0B-764A8BD712A1}"/>
                      </a:ext>
                    </a:extLst>
                  </p:cNvPr>
                  <p:cNvSpPr txBox="1"/>
                  <p:nvPr/>
                </p:nvSpPr>
                <p:spPr>
                  <a:xfrm>
                    <a:off x="1639389" y="2353214"/>
                    <a:ext cx="1829754" cy="369332"/>
                  </a:xfrm>
                  <a:prstGeom prst="rect">
                    <a:avLst/>
                  </a:prstGeom>
                  <a:solidFill>
                    <a:schemeClr val="accent1">
                      <a:lumMod val="20000"/>
                      <a:lumOff val="80000"/>
                    </a:schemeClr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𝑃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𝑋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𝐶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=1</m:t>
                          </m:r>
                        </m:oMath>
                      </m:oMathPara>
                    </a14:m>
                    <a:endParaRPr lang="en-US" altLang="zh-CN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22" name="文本框 21">
                    <a:extLst>
                      <a:ext uri="{FF2B5EF4-FFF2-40B4-BE49-F238E27FC236}">
                        <a16:creationId xmlns:a16="http://schemas.microsoft.com/office/drawing/2014/main" id="{AF7AA20F-7CE1-018A-BA0B-764A8BD712A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639389" y="2353214"/>
                    <a:ext cx="1829754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640DAABE-2CCE-30EC-51F6-3EB77F7BC765}"/>
                  </a:ext>
                </a:extLst>
              </p:cNvPr>
              <p:cNvSpPr txBox="1"/>
              <p:nvPr/>
            </p:nvSpPr>
            <p:spPr>
              <a:xfrm>
                <a:off x="709009" y="2353214"/>
                <a:ext cx="88792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分布律</a:t>
                </a:r>
                <a:endParaRPr lang="en-US" altLang="zh-CN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3D6766E1-7302-20C7-99AF-F74E593837B6}"/>
                  </a:ext>
                </a:extLst>
              </p:cNvPr>
              <p:cNvSpPr txBox="1"/>
              <p:nvPr/>
            </p:nvSpPr>
            <p:spPr>
              <a:xfrm>
                <a:off x="709008" y="2796009"/>
                <a:ext cx="887925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模型</a:t>
                </a:r>
                <a:endParaRPr lang="en-US" altLang="zh-CN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48934C4-9996-5D24-BF4B-7FEB933563F2}"/>
                  </a:ext>
                </a:extLst>
              </p:cNvPr>
              <p:cNvSpPr txBox="1"/>
              <p:nvPr/>
            </p:nvSpPr>
            <p:spPr>
              <a:xfrm>
                <a:off x="1639389" y="2796009"/>
                <a:ext cx="1829754" cy="369332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必然事件</a:t>
                </a:r>
                <a:endParaRPr lang="en-US" altLang="zh-CN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p:grp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58820E6E-3BD8-1A68-3C22-DA2D348660F6}"/>
                </a:ext>
              </a:extLst>
            </p:cNvPr>
            <p:cNvSpPr txBox="1"/>
            <p:nvPr/>
          </p:nvSpPr>
          <p:spPr>
            <a:xfrm>
              <a:off x="2400140" y="3209202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符号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4E5B7A46-0A43-1EE6-6D46-23107228CD82}"/>
                    </a:ext>
                  </a:extLst>
                </p:cNvPr>
                <p:cNvSpPr txBox="1"/>
                <p:nvPr/>
              </p:nvSpPr>
              <p:spPr>
                <a:xfrm>
                  <a:off x="3330520" y="3210767"/>
                  <a:ext cx="1829754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80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、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𝐶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91" name="文本框 90">
                  <a:extLst>
                    <a:ext uri="{FF2B5EF4-FFF2-40B4-BE49-F238E27FC236}">
                      <a16:creationId xmlns:a16="http://schemas.microsoft.com/office/drawing/2014/main" id="{4E5B7A46-0A43-1EE6-6D46-23107228CD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30520" y="3210767"/>
                  <a:ext cx="1829754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73A2153-7907-40E0-8F86-084F0E57605F}"/>
                  </a:ext>
                </a:extLst>
              </p:cNvPr>
              <p:cNvSpPr txBox="1"/>
              <p:nvPr/>
            </p:nvSpPr>
            <p:spPr>
              <a:xfrm>
                <a:off x="1665327" y="5029473"/>
                <a:ext cx="2861862" cy="50783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=1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=1</m:t>
                      </m:r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E73A2153-7907-40E0-8F86-084F0E5760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5327" y="5029473"/>
                <a:ext cx="2861862" cy="50783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A8CABD33-5832-5879-4244-5FBA102FC11B}"/>
                  </a:ext>
                </a:extLst>
              </p:cNvPr>
              <p:cNvSpPr txBox="1"/>
              <p:nvPr/>
            </p:nvSpPr>
            <p:spPr>
              <a:xfrm>
                <a:off x="6819255" y="5018116"/>
                <a:ext cx="2861862" cy="8309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0.1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𝑟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𝑟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=0,1)</m:t>
                      </m:r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98" name="文本框 97">
                <a:extLst>
                  <a:ext uri="{FF2B5EF4-FFF2-40B4-BE49-F238E27FC236}">
                    <a16:creationId xmlns:a16="http://schemas.microsoft.com/office/drawing/2014/main" id="{A8CABD33-5832-5879-4244-5FBA102FC1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9255" y="5018116"/>
                <a:ext cx="2861862" cy="83099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0C386DBD-214E-3254-EA25-B40FE73F498D}"/>
              </a:ext>
            </a:extLst>
          </p:cNvPr>
          <p:cNvGrpSpPr/>
          <p:nvPr/>
        </p:nvGrpSpPr>
        <p:grpSpPr>
          <a:xfrm>
            <a:off x="1039488" y="3715661"/>
            <a:ext cx="4139271" cy="1302455"/>
            <a:chOff x="1039488" y="3715661"/>
            <a:chExt cx="4139271" cy="13024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73B6798A-1377-FF73-8A65-BE78E58F7852}"/>
                    </a:ext>
                  </a:extLst>
                </p:cNvPr>
                <p:cNvSpPr txBox="1"/>
                <p:nvPr/>
              </p:nvSpPr>
              <p:spPr>
                <a:xfrm>
                  <a:off x="1039488" y="4095527"/>
                  <a:ext cx="4139271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某游戏宣称“抽卡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必出货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”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表示玩家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抽一次卡出货与否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=1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表示出货，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=0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表示没有出货）</a:t>
                  </a:r>
                </a:p>
              </p:txBody>
            </p:sp>
          </mc:Choice>
          <mc:Fallback xmlns="">
            <p:sp>
              <p:nvSpPr>
                <p:cNvPr id="95" name="文本框 94">
                  <a:extLst>
                    <a:ext uri="{FF2B5EF4-FFF2-40B4-BE49-F238E27FC236}">
                      <a16:creationId xmlns:a16="http://schemas.microsoft.com/office/drawing/2014/main" id="{73B6798A-1377-FF73-8A65-BE78E58F78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9488" y="4095527"/>
                  <a:ext cx="4139271" cy="907941"/>
                </a:xfrm>
                <a:prstGeom prst="rect">
                  <a:avLst/>
                </a:prstGeom>
                <a:blipFill>
                  <a:blip r:embed="rId14"/>
                  <a:stretch>
                    <a:fillRect t="-2013" b="-67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A4ECE9B3-1BFB-F7EB-BB75-87DBA40D5B4F}"/>
                </a:ext>
              </a:extLst>
            </p:cNvPr>
            <p:cNvGrpSpPr/>
            <p:nvPr/>
          </p:nvGrpSpPr>
          <p:grpSpPr>
            <a:xfrm>
              <a:off x="1185680" y="3715661"/>
              <a:ext cx="3828016" cy="1302455"/>
              <a:chOff x="1081353" y="3715661"/>
              <a:chExt cx="3828016" cy="1302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B7CCBB2E-41DA-768D-099A-D4D900613E87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99" name="文本框 98">
                    <a:extLst>
                      <a:ext uri="{FF2B5EF4-FFF2-40B4-BE49-F238E27FC236}">
                        <a16:creationId xmlns:a16="http://schemas.microsoft.com/office/drawing/2014/main" id="{B7CCBB2E-41DA-768D-099A-D4D900613E8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01" name="矩形: 圆角 100">
                <a:extLst>
                  <a:ext uri="{FF2B5EF4-FFF2-40B4-BE49-F238E27FC236}">
                    <a16:creationId xmlns:a16="http://schemas.microsoft.com/office/drawing/2014/main" id="{AA779ECE-B44E-BCB2-C40E-813A976F7DFB}"/>
                  </a:ext>
                </a:extLst>
              </p:cNvPr>
              <p:cNvSpPr/>
              <p:nvPr/>
            </p:nvSpPr>
            <p:spPr>
              <a:xfrm>
                <a:off x="1081353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: 圆角 100">
                <a:extLst>
                  <a:ext uri="{FF2B5EF4-FFF2-40B4-BE49-F238E27FC236}">
                    <a16:creationId xmlns:a16="http://schemas.microsoft.com/office/drawing/2014/main" id="{26E38DC6-1597-3D03-B631-0098E625C10B}"/>
                  </a:ext>
                </a:extLst>
              </p:cNvPr>
              <p:cNvSpPr/>
              <p:nvPr/>
            </p:nvSpPr>
            <p:spPr>
              <a:xfrm rot="10800000">
                <a:off x="4737345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4" name="直接连接符 103">
                <a:extLst>
                  <a:ext uri="{FF2B5EF4-FFF2-40B4-BE49-F238E27FC236}">
                    <a16:creationId xmlns:a16="http://schemas.microsoft.com/office/drawing/2014/main" id="{2FA02AD8-1074-BDD6-0699-1A5F1B8A66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>
                <a:extLst>
                  <a:ext uri="{FF2B5EF4-FFF2-40B4-BE49-F238E27FC236}">
                    <a16:creationId xmlns:a16="http://schemas.microsoft.com/office/drawing/2014/main" id="{1F72A24B-D248-20D6-5FA9-6689A3B3ABD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1096AE6-018C-5AAC-CD81-957545FE7B7C}"/>
              </a:ext>
            </a:extLst>
          </p:cNvPr>
          <p:cNvGrpSpPr/>
          <p:nvPr/>
        </p:nvGrpSpPr>
        <p:grpSpPr>
          <a:xfrm>
            <a:off x="6063674" y="3715661"/>
            <a:ext cx="4373025" cy="1302455"/>
            <a:chOff x="6063674" y="3715661"/>
            <a:chExt cx="4373025" cy="13024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4AEC4CE0-FD20-2CE7-2C5F-69C84319A214}"/>
                    </a:ext>
                  </a:extLst>
                </p:cNvPr>
                <p:cNvSpPr txBox="1"/>
                <p:nvPr/>
              </p:nvSpPr>
              <p:spPr>
                <a:xfrm>
                  <a:off x="6063674" y="4095527"/>
                  <a:ext cx="4373025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某游戏宣称“抽一次卡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出货概率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0.1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”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表示玩家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抽一次卡出货与否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=1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表示出货，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=0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表示没有出货）</a:t>
                  </a:r>
                </a:p>
              </p:txBody>
            </p:sp>
          </mc:Choice>
          <mc:Fallback xmlns="">
            <p:sp>
              <p:nvSpPr>
                <p:cNvPr id="97" name="文本框 96">
                  <a:extLst>
                    <a:ext uri="{FF2B5EF4-FFF2-40B4-BE49-F238E27FC236}">
                      <a16:creationId xmlns:a16="http://schemas.microsoft.com/office/drawing/2014/main" id="{4AEC4CE0-FD20-2CE7-2C5F-69C84319A2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3674" y="4095527"/>
                  <a:ext cx="4373025" cy="907941"/>
                </a:xfrm>
                <a:prstGeom prst="rect">
                  <a:avLst/>
                </a:prstGeom>
                <a:blipFill>
                  <a:blip r:embed="rId16"/>
                  <a:stretch>
                    <a:fillRect t="-2013" b="-67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6D6A621E-50EE-EDC4-137C-59F43665FA47}"/>
                </a:ext>
              </a:extLst>
            </p:cNvPr>
            <p:cNvGrpSpPr/>
            <p:nvPr/>
          </p:nvGrpSpPr>
          <p:grpSpPr>
            <a:xfrm>
              <a:off x="6336180" y="3715661"/>
              <a:ext cx="3828016" cy="1302455"/>
              <a:chOff x="1081353" y="3715661"/>
              <a:chExt cx="3828016" cy="1302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2E1BA3A9-BE28-20B8-7613-2598ED3E6250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3" name="文本框 112">
                    <a:extLst>
                      <a:ext uri="{FF2B5EF4-FFF2-40B4-BE49-F238E27FC236}">
                        <a16:creationId xmlns:a16="http://schemas.microsoft.com/office/drawing/2014/main" id="{2E1BA3A9-BE28-20B8-7613-2598ED3E625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14" name="矩形: 圆角 100">
                <a:extLst>
                  <a:ext uri="{FF2B5EF4-FFF2-40B4-BE49-F238E27FC236}">
                    <a16:creationId xmlns:a16="http://schemas.microsoft.com/office/drawing/2014/main" id="{F126E67C-903E-E221-407C-C5F161A6EE25}"/>
                  </a:ext>
                </a:extLst>
              </p:cNvPr>
              <p:cNvSpPr/>
              <p:nvPr/>
            </p:nvSpPr>
            <p:spPr>
              <a:xfrm>
                <a:off x="1081353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矩形: 圆角 100">
                <a:extLst>
                  <a:ext uri="{FF2B5EF4-FFF2-40B4-BE49-F238E27FC236}">
                    <a16:creationId xmlns:a16="http://schemas.microsoft.com/office/drawing/2014/main" id="{7B5AEA03-4F3A-D523-F524-447CF595DF27}"/>
                  </a:ext>
                </a:extLst>
              </p:cNvPr>
              <p:cNvSpPr/>
              <p:nvPr/>
            </p:nvSpPr>
            <p:spPr>
              <a:xfrm rot="10800000">
                <a:off x="4737345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16" name="直接连接符 115">
                <a:extLst>
                  <a:ext uri="{FF2B5EF4-FFF2-40B4-BE49-F238E27FC236}">
                    <a16:creationId xmlns:a16="http://schemas.microsoft.com/office/drawing/2014/main" id="{7B29CA9C-3692-544E-BC27-57A0788DB5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直接连接符 116">
                <a:extLst>
                  <a:ext uri="{FF2B5EF4-FFF2-40B4-BE49-F238E27FC236}">
                    <a16:creationId xmlns:a16="http://schemas.microsoft.com/office/drawing/2014/main" id="{901986F0-7831-DB92-0CA0-D20A8B3592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35296702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离散型随机变量的概率分布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D392A30-0FD9-8EC8-A0B7-A51806F9A808}"/>
              </a:ext>
            </a:extLst>
          </p:cNvPr>
          <p:cNvGrpSpPr/>
          <p:nvPr/>
        </p:nvGrpSpPr>
        <p:grpSpPr>
          <a:xfrm>
            <a:off x="6096000" y="1393188"/>
            <a:ext cx="5246639" cy="2267699"/>
            <a:chOff x="708684" y="3793473"/>
            <a:chExt cx="5246639" cy="2267699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81D07B3-1A74-42B0-256B-29AAC9E1C737}"/>
                </a:ext>
              </a:extLst>
            </p:cNvPr>
            <p:cNvGrpSpPr/>
            <p:nvPr/>
          </p:nvGrpSpPr>
          <p:grpSpPr>
            <a:xfrm>
              <a:off x="709010" y="3793473"/>
              <a:ext cx="5246313" cy="391100"/>
              <a:chOff x="2030774" y="1772551"/>
              <a:chExt cx="5246313" cy="391100"/>
            </a:xfrm>
          </p:grpSpPr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85957F3-29D2-B3A9-85CF-7B30589B3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5246313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D1366D7-B53E-9623-E1D9-2E930245A628}"/>
                  </a:ext>
                </a:extLst>
              </p:cNvPr>
              <p:cNvSpPr txBox="1"/>
              <p:nvPr/>
            </p:nvSpPr>
            <p:spPr>
              <a:xfrm>
                <a:off x="3920088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几何分布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/>
                <p:nvPr/>
              </p:nvSpPr>
              <p:spPr>
                <a:xfrm>
                  <a:off x="709008" y="4270122"/>
                  <a:ext cx="5246315" cy="307777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描述事件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在第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</m:oMath>
                  </a14:m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次试验中首次发生的概率</a:t>
                  </a: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4270122"/>
                  <a:ext cx="5246315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/>
                <p:nvPr/>
              </p:nvSpPr>
              <p:spPr>
                <a:xfrm>
                  <a:off x="1639388" y="4718855"/>
                  <a:ext cx="4315935" cy="37427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(1−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=1,2,…,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9388" y="4718855"/>
                  <a:ext cx="4315935" cy="374270"/>
                </a:xfrm>
                <a:prstGeom prst="rect">
                  <a:avLst/>
                </a:prstGeom>
                <a:blipFill>
                  <a:blip r:embed="rId6"/>
                  <a:stretch>
                    <a:fillRect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036439B9-B880-F531-23E3-CBB0B3FE1ED2}"/>
                </a:ext>
              </a:extLst>
            </p:cNvPr>
            <p:cNvSpPr txBox="1"/>
            <p:nvPr/>
          </p:nvSpPr>
          <p:spPr>
            <a:xfrm>
              <a:off x="709009" y="4718855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分布律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B399A348-FA92-5BBE-5D18-7ABD66D49198}"/>
                </a:ext>
              </a:extLst>
            </p:cNvPr>
            <p:cNvSpPr txBox="1"/>
            <p:nvPr/>
          </p:nvSpPr>
          <p:spPr>
            <a:xfrm>
              <a:off x="709008" y="5161650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模型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0BFEB97-CDD5-53AE-66BD-432E2D161522}"/>
                    </a:ext>
                  </a:extLst>
                </p:cNvPr>
                <p:cNvSpPr txBox="1"/>
                <p:nvPr/>
              </p:nvSpPr>
              <p:spPr>
                <a:xfrm>
                  <a:off x="1639389" y="5161650"/>
                  <a:ext cx="4315934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事件𝐴在第</a:t>
                  </a:r>
                  <a14:m>
                    <m:oMath xmlns:m="http://schemas.openxmlformats.org/officeDocument/2006/math">
                      <m:r>
                        <a:rPr lang="en-US" altLang="zh-CN" sz="18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次试验中首次发生</a:t>
                  </a:r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0BFEB97-CDD5-53AE-66BD-432E2D161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9389" y="5161650"/>
                  <a:ext cx="4315934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13115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/>
                <p:nvPr/>
              </p:nvSpPr>
              <p:spPr>
                <a:xfrm>
                  <a:off x="1639064" y="5599507"/>
                  <a:ext cx="4315934" cy="46166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indent="360000"/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：首次成功时的试验次数    𝑘：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的可能取值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indent="360000"/>
                  <a14:m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：一次试验中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成功的概率</a:t>
                  </a:r>
                  <a:r>
                    <a: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</a:t>
                  </a:r>
                  <a14:m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：最大试验次数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9064" y="5599507"/>
                  <a:ext cx="4315934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316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/>
                <p:nvPr/>
              </p:nvSpPr>
              <p:spPr>
                <a:xfrm>
                  <a:off x="708684" y="5604123"/>
                  <a:ext cx="887925" cy="4524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84" y="5604123"/>
                  <a:ext cx="887925" cy="452432"/>
                </a:xfrm>
                <a:prstGeom prst="rect">
                  <a:avLst/>
                </a:prstGeom>
                <a:blipFill>
                  <a:blip r:embed="rId9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D4B298E1-8BEE-2197-C75F-2C86FEC3711D}"/>
              </a:ext>
            </a:extLst>
          </p:cNvPr>
          <p:cNvGrpSpPr/>
          <p:nvPr/>
        </p:nvGrpSpPr>
        <p:grpSpPr>
          <a:xfrm>
            <a:off x="849361" y="1393188"/>
            <a:ext cx="4381394" cy="2525518"/>
            <a:chOff x="6634607" y="3717624"/>
            <a:chExt cx="4381394" cy="252551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330A2B0-96BF-B4D8-4415-8E99FE280B43}"/>
                </a:ext>
              </a:extLst>
            </p:cNvPr>
            <p:cNvGrpSpPr/>
            <p:nvPr/>
          </p:nvGrpSpPr>
          <p:grpSpPr>
            <a:xfrm>
              <a:off x="6634610" y="3717624"/>
              <a:ext cx="4381389" cy="391100"/>
              <a:chOff x="2030774" y="1772551"/>
              <a:chExt cx="4381389" cy="39110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29F426B-36B5-3065-978C-D5CDDF74E2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438138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0841B3A-4631-575A-916C-C4247B39775B}"/>
                  </a:ext>
                </a:extLst>
              </p:cNvPr>
              <p:cNvSpPr txBox="1"/>
              <p:nvPr/>
            </p:nvSpPr>
            <p:spPr>
              <a:xfrm>
                <a:off x="3487627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均匀分布</a:t>
                </a:r>
              </a:p>
            </p:txBody>
          </p:sp>
        </p:grp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928A79F2-C047-6DCD-A1C5-90C85CE1BF61}"/>
                </a:ext>
              </a:extLst>
            </p:cNvPr>
            <p:cNvSpPr txBox="1"/>
            <p:nvPr/>
          </p:nvSpPr>
          <p:spPr>
            <a:xfrm>
              <a:off x="6634609" y="4194274"/>
              <a:ext cx="4381390" cy="307776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描述古典概型的结果的概率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/>
                <p:nvPr/>
              </p:nvSpPr>
              <p:spPr>
                <a:xfrm>
                  <a:off x="7564989" y="4643006"/>
                  <a:ext cx="3451012" cy="63478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=1,2,…,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9" y="4643006"/>
                  <a:ext cx="3451012" cy="63478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/>
                <p:nvPr/>
              </p:nvSpPr>
              <p:spPr>
                <a:xfrm>
                  <a:off x="6634607" y="4640312"/>
                  <a:ext cx="887925" cy="64017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7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分布律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4640312"/>
                  <a:ext cx="887925" cy="6401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3DD1858-D7F1-07CB-756D-D46334CEA4FE}"/>
                </a:ext>
              </a:extLst>
            </p:cNvPr>
            <p:cNvSpPr txBox="1"/>
            <p:nvPr/>
          </p:nvSpPr>
          <p:spPr>
            <a:xfrm>
              <a:off x="6634608" y="5346316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模型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A80DCDE-8A55-895A-B497-A96BE2C560FA}"/>
                </a:ext>
              </a:extLst>
            </p:cNvPr>
            <p:cNvSpPr txBox="1"/>
            <p:nvPr/>
          </p:nvSpPr>
          <p:spPr>
            <a:xfrm>
              <a:off x="7564988" y="5346316"/>
              <a:ext cx="3451011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古典概型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/>
                <p:nvPr/>
              </p:nvSpPr>
              <p:spPr>
                <a:xfrm>
                  <a:off x="7564987" y="5781477"/>
                  <a:ext cx="3451011" cy="46166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indent="108000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b="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：试验结果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：试验中的第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个可能结果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indent="108000"/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：试验结果的总数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7" y="5781477"/>
                  <a:ext cx="3451011" cy="461665"/>
                </a:xfrm>
                <a:prstGeom prst="rect">
                  <a:avLst/>
                </a:prstGeom>
                <a:blipFill>
                  <a:blip r:embed="rId12"/>
                  <a:stretch>
                    <a:fillRect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/>
                <p:nvPr/>
              </p:nvSpPr>
              <p:spPr>
                <a:xfrm>
                  <a:off x="6634607" y="5786093"/>
                  <a:ext cx="887925" cy="4524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5786093"/>
                  <a:ext cx="887925" cy="452432"/>
                </a:xfrm>
                <a:prstGeom prst="rect">
                  <a:avLst/>
                </a:prstGeom>
                <a:blipFill>
                  <a:blip r:embed="rId13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CF5C113F-9B9E-85BB-2B39-6D8B02184591}"/>
              </a:ext>
            </a:extLst>
          </p:cNvPr>
          <p:cNvGrpSpPr/>
          <p:nvPr/>
        </p:nvGrpSpPr>
        <p:grpSpPr>
          <a:xfrm>
            <a:off x="532007" y="4019411"/>
            <a:ext cx="5115908" cy="1302455"/>
            <a:chOff x="532007" y="4019411"/>
            <a:chExt cx="5115908" cy="13024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2F02B63-A9FA-63A2-17F4-F10654E3BC8A}"/>
                </a:ext>
              </a:extLst>
            </p:cNvPr>
            <p:cNvGrpSpPr/>
            <p:nvPr/>
          </p:nvGrpSpPr>
          <p:grpSpPr>
            <a:xfrm>
              <a:off x="606749" y="4019411"/>
              <a:ext cx="4875806" cy="1302455"/>
              <a:chOff x="562053" y="3715661"/>
              <a:chExt cx="4875806" cy="1302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66889BD1-084C-B288-1950-39E6D91B87F0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66889BD1-084C-B288-1950-39E6D91B87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矩形: 圆角 100">
                <a:extLst>
                  <a:ext uri="{FF2B5EF4-FFF2-40B4-BE49-F238E27FC236}">
                    <a16:creationId xmlns:a16="http://schemas.microsoft.com/office/drawing/2014/main" id="{1F83F10A-1597-AE30-6E59-6B1E2361EE2D}"/>
                  </a:ext>
                </a:extLst>
              </p:cNvPr>
              <p:cNvSpPr/>
              <p:nvPr/>
            </p:nvSpPr>
            <p:spPr>
              <a:xfrm>
                <a:off x="562053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: 圆角 100">
                <a:extLst>
                  <a:ext uri="{FF2B5EF4-FFF2-40B4-BE49-F238E27FC236}">
                    <a16:creationId xmlns:a16="http://schemas.microsoft.com/office/drawing/2014/main" id="{CB92474A-C5F8-69D7-7AED-1BAFF966F964}"/>
                  </a:ext>
                </a:extLst>
              </p:cNvPr>
              <p:cNvSpPr/>
              <p:nvPr/>
            </p:nvSpPr>
            <p:spPr>
              <a:xfrm rot="10800000">
                <a:off x="5265835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868C222F-68A2-0005-8B18-90F15AC27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CD57BCF-21A8-DE2A-BF74-67EACB90F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E37B625-677F-BFF1-5AFA-FAA97A50D6CE}"/>
                    </a:ext>
                  </a:extLst>
                </p:cNvPr>
                <p:cNvSpPr txBox="1"/>
                <p:nvPr/>
              </p:nvSpPr>
              <p:spPr>
                <a:xfrm>
                  <a:off x="532007" y="4409855"/>
                  <a:ext cx="5115908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某游戏宣称“抽卡出货时，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6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个五星角色等可能抽中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”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表示玩家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出货时抽中了哪个五星角色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表示抽中了第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个五星角色，</a:t>
                  </a:r>
                  <a14:m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=0,1,2,…,6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）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E37B625-677F-BFF1-5AFA-FAA97A50D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007" y="4409855"/>
                  <a:ext cx="5115908" cy="907941"/>
                </a:xfrm>
                <a:prstGeom prst="rect">
                  <a:avLst/>
                </a:prstGeom>
                <a:blipFill>
                  <a:blip r:embed="rId15"/>
                  <a:stretch>
                    <a:fillRect t="-2013" b="-67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4B6906B-B21C-8E44-862B-5C36FBBC57C2}"/>
                  </a:ext>
                </a:extLst>
              </p:cNvPr>
              <p:cNvSpPr txBox="1"/>
              <p:nvPr/>
            </p:nvSpPr>
            <p:spPr>
              <a:xfrm>
                <a:off x="1260036" y="5338166"/>
                <a:ext cx="3565033" cy="612732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CN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6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𝑖</m:t>
                      </m:r>
                      <m:r>
                        <a:rPr lang="en-US" altLang="zh-CN" sz="14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=0,1,2,…,6)</m:t>
                      </m:r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4B6906B-B21C-8E44-862B-5C36FBBC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0036" y="5338166"/>
                <a:ext cx="3565033" cy="6127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/>
              <p:nvPr/>
            </p:nvSpPr>
            <p:spPr>
              <a:xfrm>
                <a:off x="7268157" y="5026397"/>
                <a:ext cx="2861862" cy="8384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0.9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=1,2,…,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8157" y="5026397"/>
                <a:ext cx="2861862" cy="83843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1AB2F160-0C86-8CEE-914B-7EBB01DA4442}"/>
              </a:ext>
            </a:extLst>
          </p:cNvPr>
          <p:cNvGrpSpPr/>
          <p:nvPr/>
        </p:nvGrpSpPr>
        <p:grpSpPr>
          <a:xfrm>
            <a:off x="6548306" y="3715661"/>
            <a:ext cx="4373025" cy="1302455"/>
            <a:chOff x="6548306" y="3715661"/>
            <a:chExt cx="4373025" cy="13024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/>
                <p:nvPr/>
              </p:nvSpPr>
              <p:spPr>
                <a:xfrm>
                  <a:off x="6548306" y="4095527"/>
                  <a:ext cx="4373025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某游戏宣称“抽一次卡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出货概率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0.1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”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表示玩家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首次出货时抽卡次数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表示出货时抽卡</a:t>
                  </a:r>
                  <a14:m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次）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48306" y="4095527"/>
                  <a:ext cx="4373025" cy="907941"/>
                </a:xfrm>
                <a:prstGeom prst="rect">
                  <a:avLst/>
                </a:prstGeom>
                <a:blipFill>
                  <a:blip r:embed="rId18"/>
                  <a:stretch>
                    <a:fillRect t="-2013" b="-67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CA0AD93-043D-5732-2DCC-3D5DD1A4A879}"/>
                </a:ext>
              </a:extLst>
            </p:cNvPr>
            <p:cNvGrpSpPr/>
            <p:nvPr/>
          </p:nvGrpSpPr>
          <p:grpSpPr>
            <a:xfrm>
              <a:off x="6820812" y="3715661"/>
              <a:ext cx="3828016" cy="1302455"/>
              <a:chOff x="1081353" y="3715661"/>
              <a:chExt cx="3828016" cy="1302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矩形: 圆角 100">
                <a:extLst>
                  <a:ext uri="{FF2B5EF4-FFF2-40B4-BE49-F238E27FC236}">
                    <a16:creationId xmlns:a16="http://schemas.microsoft.com/office/drawing/2014/main" id="{9EDA2B15-38B3-5108-2A8D-25248B8796F4}"/>
                  </a:ext>
                </a:extLst>
              </p:cNvPr>
              <p:cNvSpPr/>
              <p:nvPr/>
            </p:nvSpPr>
            <p:spPr>
              <a:xfrm>
                <a:off x="1081353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: 圆角 100">
                <a:extLst>
                  <a:ext uri="{FF2B5EF4-FFF2-40B4-BE49-F238E27FC236}">
                    <a16:creationId xmlns:a16="http://schemas.microsoft.com/office/drawing/2014/main" id="{55E965F8-638A-56E6-0C3D-65C860925E9C}"/>
                  </a:ext>
                </a:extLst>
              </p:cNvPr>
              <p:cNvSpPr/>
              <p:nvPr/>
            </p:nvSpPr>
            <p:spPr>
              <a:xfrm rot="10800000">
                <a:off x="4737345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6844DE8-EE6D-D022-A787-0F7C8E2E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1792E1D-F30C-DFB6-F717-5A1A8476F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30432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离散型随机变量的概率分布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D392A30-0FD9-8EC8-A0B7-A51806F9A808}"/>
              </a:ext>
            </a:extLst>
          </p:cNvPr>
          <p:cNvGrpSpPr/>
          <p:nvPr/>
        </p:nvGrpSpPr>
        <p:grpSpPr>
          <a:xfrm>
            <a:off x="600988" y="1393188"/>
            <a:ext cx="5898283" cy="2267699"/>
            <a:chOff x="708684" y="3793473"/>
            <a:chExt cx="5898283" cy="2267699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81D07B3-1A74-42B0-256B-29AAC9E1C737}"/>
                </a:ext>
              </a:extLst>
            </p:cNvPr>
            <p:cNvGrpSpPr/>
            <p:nvPr/>
          </p:nvGrpSpPr>
          <p:grpSpPr>
            <a:xfrm>
              <a:off x="709010" y="3793473"/>
              <a:ext cx="5897957" cy="391100"/>
              <a:chOff x="2030774" y="1772551"/>
              <a:chExt cx="5897957" cy="391100"/>
            </a:xfrm>
          </p:grpSpPr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85957F3-29D2-B3A9-85CF-7B30589B3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5897957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D1366D7-B53E-9623-E1D9-2E930245A628}"/>
                  </a:ext>
                </a:extLst>
              </p:cNvPr>
              <p:cNvSpPr txBox="1"/>
              <p:nvPr/>
            </p:nvSpPr>
            <p:spPr>
              <a:xfrm>
                <a:off x="4245910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二项分布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/>
                <p:nvPr/>
              </p:nvSpPr>
              <p:spPr>
                <a:xfrm>
                  <a:off x="709008" y="4270122"/>
                  <a:ext cx="5897959" cy="307777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描述事件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a14:m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次试验中成功发生𝑋次的概率，记作</a:t>
                  </a:r>
                  <a14:m>
                    <m:oMath xmlns:m="http://schemas.openxmlformats.org/officeDocument/2006/math">
                      <m:r>
                        <a:rPr lang="en-US" altLang="zh-CN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𝐵</m:t>
                      </m:r>
                      <m:r>
                        <a:rPr lang="en-US" altLang="zh-CN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  <m:r>
                        <a:rPr lang="en-US" altLang="zh-CN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4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4270122"/>
                  <a:ext cx="5897959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6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/>
                <p:nvPr/>
              </p:nvSpPr>
              <p:spPr>
                <a:xfrm>
                  <a:off x="1639388" y="4718855"/>
                  <a:ext cx="4967579" cy="374270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sSubSup>
                          <m:sSub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b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(1−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=0,1,2,…,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9388" y="4718855"/>
                  <a:ext cx="4967579" cy="374270"/>
                </a:xfrm>
                <a:prstGeom prst="rect">
                  <a:avLst/>
                </a:prstGeom>
                <a:blipFill>
                  <a:blip r:embed="rId6"/>
                  <a:stretch>
                    <a:fillRect b="-1612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036439B9-B880-F531-23E3-CBB0B3FE1ED2}"/>
                </a:ext>
              </a:extLst>
            </p:cNvPr>
            <p:cNvSpPr txBox="1"/>
            <p:nvPr/>
          </p:nvSpPr>
          <p:spPr>
            <a:xfrm>
              <a:off x="709009" y="4718855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分布律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B399A348-FA92-5BBE-5D18-7ABD66D49198}"/>
                </a:ext>
              </a:extLst>
            </p:cNvPr>
            <p:cNvSpPr txBox="1"/>
            <p:nvPr/>
          </p:nvSpPr>
          <p:spPr>
            <a:xfrm>
              <a:off x="709008" y="5161650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模型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0BFEB97-CDD5-53AE-66BD-432E2D161522}"/>
                    </a:ext>
                  </a:extLst>
                </p:cNvPr>
                <p:cNvSpPr txBox="1"/>
                <p:nvPr/>
              </p:nvSpPr>
              <p:spPr>
                <a:xfrm>
                  <a:off x="1639389" y="5161650"/>
                  <a:ext cx="4967578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𝑛</m:t>
                      </m:r>
                    </m:oMath>
                  </a14:m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重伯努利试验中成功的次数𝑋</a:t>
                  </a:r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73" name="文本框 72">
                  <a:extLst>
                    <a:ext uri="{FF2B5EF4-FFF2-40B4-BE49-F238E27FC236}">
                      <a16:creationId xmlns:a16="http://schemas.microsoft.com/office/drawing/2014/main" id="{50BFEB97-CDD5-53AE-66BD-432E2D16152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9389" y="5161650"/>
                  <a:ext cx="4967578" cy="369332"/>
                </a:xfrm>
                <a:prstGeom prst="rect">
                  <a:avLst/>
                </a:prstGeom>
                <a:blipFill>
                  <a:blip r:embed="rId7"/>
                  <a:stretch>
                    <a:fillRect t="-13115" b="-2623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/>
                <p:nvPr/>
              </p:nvSpPr>
              <p:spPr>
                <a:xfrm>
                  <a:off x="1639064" y="5599507"/>
                  <a:ext cx="4967578" cy="46166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indent="360000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b="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进行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次试验时成功的</a:t>
                  </a:r>
                  <a:r>
                    <a:rPr lang="zh-CN" altLang="en-US" sz="1200" b="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试验次数    </a:t>
                  </a:r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𝑘：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的可能取值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indent="360000"/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：一次试验中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成功的概率</a:t>
                  </a:r>
                  <a:r>
                    <a: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         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：试验的总次数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9064" y="5599507"/>
                  <a:ext cx="4967578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316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/>
                <p:nvPr/>
              </p:nvSpPr>
              <p:spPr>
                <a:xfrm>
                  <a:off x="708684" y="5604123"/>
                  <a:ext cx="887925" cy="4524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8684" y="5604123"/>
                  <a:ext cx="887925" cy="452432"/>
                </a:xfrm>
                <a:prstGeom prst="rect">
                  <a:avLst/>
                </a:prstGeom>
                <a:blipFill>
                  <a:blip r:embed="rId9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D4B298E1-8BEE-2197-C75F-2C86FEC3711D}"/>
              </a:ext>
            </a:extLst>
          </p:cNvPr>
          <p:cNvGrpSpPr/>
          <p:nvPr/>
        </p:nvGrpSpPr>
        <p:grpSpPr>
          <a:xfrm>
            <a:off x="7102013" y="1393188"/>
            <a:ext cx="4513623" cy="2525518"/>
            <a:chOff x="6634607" y="3717624"/>
            <a:chExt cx="4513623" cy="2525518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330A2B0-96BF-B4D8-4415-8E99FE280B43}"/>
                </a:ext>
              </a:extLst>
            </p:cNvPr>
            <p:cNvGrpSpPr/>
            <p:nvPr/>
          </p:nvGrpSpPr>
          <p:grpSpPr>
            <a:xfrm>
              <a:off x="6634610" y="3717624"/>
              <a:ext cx="4513617" cy="391100"/>
              <a:chOff x="2030774" y="1772551"/>
              <a:chExt cx="4513617" cy="39110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29F426B-36B5-3065-978C-D5CDDF74E2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4513617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0841B3A-4631-575A-916C-C4247B39775B}"/>
                  </a:ext>
                </a:extLst>
              </p:cNvPr>
              <p:cNvSpPr txBox="1"/>
              <p:nvPr/>
            </p:nvSpPr>
            <p:spPr>
              <a:xfrm>
                <a:off x="3487627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泊松分布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28A79F2-C047-6DCD-A1C5-90C85CE1BF61}"/>
                    </a:ext>
                  </a:extLst>
                </p:cNvPr>
                <p:cNvSpPr txBox="1"/>
                <p:nvPr/>
              </p:nvSpPr>
              <p:spPr>
                <a:xfrm>
                  <a:off x="6634608" y="4194274"/>
                  <a:ext cx="4513619" cy="307777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描述在某段时间内事件𝐴发生的次数𝑋，记作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zh-CN" alt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𝜆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4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28A79F2-C047-6DCD-A1C5-90C85CE1B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8" y="4194274"/>
                  <a:ext cx="4513619" cy="307777"/>
                </a:xfrm>
                <a:prstGeom prst="rect">
                  <a:avLst/>
                </a:prstGeom>
                <a:blipFill>
                  <a:blip r:embed="rId10"/>
                  <a:stretch>
                    <a:fillRect t="-6000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/>
                <p:nvPr/>
              </p:nvSpPr>
              <p:spPr>
                <a:xfrm>
                  <a:off x="7564988" y="4638785"/>
                  <a:ext cx="3583241" cy="653897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𝜆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=0,1,2,…)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8" y="4638785"/>
                  <a:ext cx="3583241" cy="653897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/>
                <p:nvPr/>
              </p:nvSpPr>
              <p:spPr>
                <a:xfrm>
                  <a:off x="6634607" y="4640312"/>
                  <a:ext cx="887925" cy="64017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7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分布律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4640312"/>
                  <a:ext cx="887925" cy="640175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3DD1858-D7F1-07CB-756D-D46334CEA4FE}"/>
                </a:ext>
              </a:extLst>
            </p:cNvPr>
            <p:cNvSpPr txBox="1"/>
            <p:nvPr/>
          </p:nvSpPr>
          <p:spPr>
            <a:xfrm>
              <a:off x="6634608" y="5346316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模型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A80DCDE-8A55-895A-B497-A96BE2C560FA}"/>
                    </a:ext>
                  </a:extLst>
                </p:cNvPr>
                <p:cNvSpPr txBox="1"/>
                <p:nvPr/>
              </p:nvSpPr>
              <p:spPr>
                <a:xfrm>
                  <a:off x="7564988" y="5346316"/>
                  <a:ext cx="3583242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在某段时间内事件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𝐴</m:t>
                      </m:r>
                    </m:oMath>
                  </a14:m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发生的次数</a:t>
                  </a:r>
                  <a14:m>
                    <m:oMath xmlns:m="http://schemas.openxmlformats.org/officeDocument/2006/math"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A80DCDE-8A55-895A-B497-A96BE2C56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8" y="5346316"/>
                  <a:ext cx="3583242" cy="369332"/>
                </a:xfrm>
                <a:prstGeom prst="rect">
                  <a:avLst/>
                </a:prstGeom>
                <a:blipFill>
                  <a:blip r:embed="rId13"/>
                  <a:stretch>
                    <a:fillRect t="-8333" b="-2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/>
                <p:nvPr/>
              </p:nvSpPr>
              <p:spPr>
                <a:xfrm>
                  <a:off x="7564987" y="5781477"/>
                  <a:ext cx="3583241" cy="46166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indent="108000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：事件𝐴发生的次数   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:r>
                    <a:rPr lang="en-US" altLang="zh-CN" sz="1200" dirty="0">
                      <a:ea typeface="华文宋体" panose="020106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的可能取值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indent="108000"/>
                  <a14:m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𝜆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：事件𝐴在这段时间内发生次数的期望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7" y="5781477"/>
                  <a:ext cx="3583241" cy="461665"/>
                </a:xfrm>
                <a:prstGeom prst="rect">
                  <a:avLst/>
                </a:prstGeom>
                <a:blipFill>
                  <a:blip r:embed="rId14"/>
                  <a:stretch>
                    <a:fillRect t="-1316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/>
                <p:nvPr/>
              </p:nvSpPr>
              <p:spPr>
                <a:xfrm>
                  <a:off x="6634607" y="5786093"/>
                  <a:ext cx="887925" cy="4524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5786093"/>
                  <a:ext cx="887925" cy="452432"/>
                </a:xfrm>
                <a:prstGeom prst="rect">
                  <a:avLst/>
                </a:prstGeom>
                <a:blipFill>
                  <a:blip r:embed="rId15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/>
              <p:nvPr/>
            </p:nvSpPr>
            <p:spPr>
              <a:xfrm>
                <a:off x="7450180" y="5484543"/>
                <a:ext cx="3794740" cy="65389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!</m:t>
                          </m:r>
                        </m:den>
                      </m:f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𝑒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−10</m:t>
                          </m:r>
                        </m:sup>
                      </m:sSup>
                      <m:r>
                        <a:rPr lang="en-US" altLang="zh-CN" b="0" i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    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=0,1,2,…)</m:t>
                      </m:r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180" y="5484543"/>
                <a:ext cx="3794740" cy="65389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组合 3">
            <a:extLst>
              <a:ext uri="{FF2B5EF4-FFF2-40B4-BE49-F238E27FC236}">
                <a16:creationId xmlns:a16="http://schemas.microsoft.com/office/drawing/2014/main" id="{623F7442-ADED-0986-4F55-568592B6B89A}"/>
              </a:ext>
            </a:extLst>
          </p:cNvPr>
          <p:cNvGrpSpPr/>
          <p:nvPr/>
        </p:nvGrpSpPr>
        <p:grpSpPr>
          <a:xfrm>
            <a:off x="7079464" y="3930784"/>
            <a:ext cx="4536172" cy="1534028"/>
            <a:chOff x="7079464" y="3930784"/>
            <a:chExt cx="4536172" cy="15340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/>
                <p:nvPr/>
              </p:nvSpPr>
              <p:spPr>
                <a:xfrm>
                  <a:off x="7079464" y="4310650"/>
                  <a:ext cx="4536172" cy="11541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某单机游戏宣称，游戏内某“摇钱树”每小时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平均会产生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10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个元宝</a:t>
                  </a:r>
                  <a:endParaRPr lang="en-US" altLang="zh-CN" sz="16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表示它在某一小时内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产出的元宝个数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表示这段时间内产出</a:t>
                  </a:r>
                  <a14:m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个）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79464" y="4310650"/>
                  <a:ext cx="4536172" cy="1154162"/>
                </a:xfrm>
                <a:prstGeom prst="rect">
                  <a:avLst/>
                </a:prstGeom>
                <a:blipFill>
                  <a:blip r:embed="rId17"/>
                  <a:stretch>
                    <a:fillRect t="-1587" b="-52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CA0AD93-043D-5732-2DCC-3D5DD1A4A879}"/>
                </a:ext>
              </a:extLst>
            </p:cNvPr>
            <p:cNvGrpSpPr/>
            <p:nvPr/>
          </p:nvGrpSpPr>
          <p:grpSpPr>
            <a:xfrm>
              <a:off x="7079464" y="3930784"/>
              <a:ext cx="4536172" cy="1424487"/>
              <a:chOff x="782113" y="3715661"/>
              <a:chExt cx="4536172" cy="14244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7692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矩形: 圆角 100">
                <a:extLst>
                  <a:ext uri="{FF2B5EF4-FFF2-40B4-BE49-F238E27FC236}">
                    <a16:creationId xmlns:a16="http://schemas.microsoft.com/office/drawing/2014/main" id="{9EDA2B15-38B3-5108-2A8D-25248B8796F4}"/>
                  </a:ext>
                </a:extLst>
              </p:cNvPr>
              <p:cNvSpPr/>
              <p:nvPr/>
            </p:nvSpPr>
            <p:spPr>
              <a:xfrm>
                <a:off x="782113" y="3985989"/>
                <a:ext cx="172025" cy="1154159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: 圆角 100">
                <a:extLst>
                  <a:ext uri="{FF2B5EF4-FFF2-40B4-BE49-F238E27FC236}">
                    <a16:creationId xmlns:a16="http://schemas.microsoft.com/office/drawing/2014/main" id="{55E965F8-638A-56E6-0C3D-65C860925E9C}"/>
                  </a:ext>
                </a:extLst>
              </p:cNvPr>
              <p:cNvSpPr/>
              <p:nvPr/>
            </p:nvSpPr>
            <p:spPr>
              <a:xfrm rot="10800000">
                <a:off x="5120715" y="3985990"/>
                <a:ext cx="197570" cy="115415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6844DE8-EE6D-D022-A787-0F7C8E2E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1792E1D-F30C-DFB6-F717-5A1A8476F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D0FC895C-DB6A-1FCF-E980-492A97AFF04D}"/>
              </a:ext>
            </a:extLst>
          </p:cNvPr>
          <p:cNvGrpSpPr/>
          <p:nvPr/>
        </p:nvGrpSpPr>
        <p:grpSpPr>
          <a:xfrm>
            <a:off x="1358708" y="3664851"/>
            <a:ext cx="4140782" cy="1533620"/>
            <a:chOff x="1358708" y="3664851"/>
            <a:chExt cx="4140782" cy="15336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E37B625-677F-BFF1-5AFA-FAA97A50D6CE}"/>
                    </a:ext>
                  </a:extLst>
                </p:cNvPr>
                <p:cNvSpPr txBox="1"/>
                <p:nvPr/>
              </p:nvSpPr>
              <p:spPr>
                <a:xfrm>
                  <a:off x="1431161" y="4044309"/>
                  <a:ext cx="4019529" cy="11541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某游戏宣称“抽一次卡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出货概率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0.1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”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某玩家攒了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80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抽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，打算全部抽完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抽</a:t>
                  </a:r>
                  <a:r>
                    <a:rPr lang="en-US" altLang="zh-CN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80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次卡出货的次数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:r>
                    <a:rPr lang="en-US" altLang="zh-CN" sz="1600" dirty="0">
                      <a:ea typeface="喵大叔楷书" panose="02000503000000000000" pitchFamily="2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</m:t>
                      </m:r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表示抽</a:t>
                  </a: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80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次卡后总共出货</a:t>
                  </a:r>
                  <a14:m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次）</a:t>
                  </a: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E37B625-677F-BFF1-5AFA-FAA97A50D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31161" y="4044309"/>
                  <a:ext cx="4019529" cy="1154162"/>
                </a:xfrm>
                <a:prstGeom prst="rect">
                  <a:avLst/>
                </a:prstGeom>
                <a:blipFill>
                  <a:blip r:embed="rId19"/>
                  <a:stretch>
                    <a:fillRect t="-1579" b="-4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7E66DE45-4984-4D0A-AEC2-40EBB3C516CD}"/>
                </a:ext>
              </a:extLst>
            </p:cNvPr>
            <p:cNvGrpSpPr/>
            <p:nvPr/>
          </p:nvGrpSpPr>
          <p:grpSpPr>
            <a:xfrm>
              <a:off x="1358708" y="3664851"/>
              <a:ext cx="4140782" cy="1424487"/>
              <a:chOff x="961595" y="3715661"/>
              <a:chExt cx="4140782" cy="14244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3E174B60-7F1F-2F94-FE8E-5C7E5C7A5766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3E174B60-7F1F-2F94-FE8E-5C7E5C7A576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2" name="矩形: 圆角 100">
                <a:extLst>
                  <a:ext uri="{FF2B5EF4-FFF2-40B4-BE49-F238E27FC236}">
                    <a16:creationId xmlns:a16="http://schemas.microsoft.com/office/drawing/2014/main" id="{BC72783D-EB37-37E9-F834-9B2B55EC7FF0}"/>
                  </a:ext>
                </a:extLst>
              </p:cNvPr>
              <p:cNvSpPr/>
              <p:nvPr/>
            </p:nvSpPr>
            <p:spPr>
              <a:xfrm>
                <a:off x="961595" y="3985989"/>
                <a:ext cx="172025" cy="1154159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" name="矩形: 圆角 100">
                <a:extLst>
                  <a:ext uri="{FF2B5EF4-FFF2-40B4-BE49-F238E27FC236}">
                    <a16:creationId xmlns:a16="http://schemas.microsoft.com/office/drawing/2014/main" id="{AFDA6880-1BEB-16F9-B605-B46BE867D275}"/>
                  </a:ext>
                </a:extLst>
              </p:cNvPr>
              <p:cNvSpPr/>
              <p:nvPr/>
            </p:nvSpPr>
            <p:spPr>
              <a:xfrm rot="10800000">
                <a:off x="4904807" y="3985990"/>
                <a:ext cx="197570" cy="115415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E9CF927F-9674-A8B0-611D-1ED16934C7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连接符 25">
                <a:extLst>
                  <a:ext uri="{FF2B5EF4-FFF2-40B4-BE49-F238E27FC236}">
                    <a16:creationId xmlns:a16="http://schemas.microsoft.com/office/drawing/2014/main" id="{5E1B3855-D525-07BC-AFAC-2D5A661D1C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CF24386-B732-14C5-99C6-AE638D4340AE}"/>
                  </a:ext>
                </a:extLst>
              </p:cNvPr>
              <p:cNvSpPr txBox="1"/>
              <p:nvPr/>
            </p:nvSpPr>
            <p:spPr>
              <a:xfrm>
                <a:off x="1768661" y="5253425"/>
                <a:ext cx="3247624" cy="85023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bSup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80</m:t>
                          </m:r>
                        </m:sub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sup>
                      </m:sSub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0.1</m:t>
                          </m:r>
                        </m:e>
                        <m: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sup>
                      </m:sSup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0.9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80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=0,1,2,…80)</m:t>
                      </m:r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CF24386-B732-14C5-99C6-AE638D4340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661" y="5253425"/>
                <a:ext cx="3247624" cy="85023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9" name="组合 38">
            <a:extLst>
              <a:ext uri="{FF2B5EF4-FFF2-40B4-BE49-F238E27FC236}">
                <a16:creationId xmlns:a16="http://schemas.microsoft.com/office/drawing/2014/main" id="{16699177-1D9B-4FE1-060A-FF3B479BFC89}"/>
              </a:ext>
            </a:extLst>
          </p:cNvPr>
          <p:cNvGrpSpPr/>
          <p:nvPr/>
        </p:nvGrpSpPr>
        <p:grpSpPr>
          <a:xfrm>
            <a:off x="5730739" y="3130697"/>
            <a:ext cx="1234693" cy="1659742"/>
            <a:chOff x="5804029" y="3179317"/>
            <a:chExt cx="1234693" cy="1659742"/>
          </a:xfrm>
        </p:grpSpPr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6D23162B-B950-0D7D-7364-DC9DCD950623}"/>
                </a:ext>
              </a:extLst>
            </p:cNvPr>
            <p:cNvGrpSpPr/>
            <p:nvPr/>
          </p:nvGrpSpPr>
          <p:grpSpPr>
            <a:xfrm>
              <a:off x="5823876" y="3904252"/>
              <a:ext cx="1129195" cy="934807"/>
              <a:chOff x="5685075" y="4102825"/>
              <a:chExt cx="1129195" cy="9348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4114CE4E-631E-C6C5-792E-98F8D7C98B5C}"/>
                      </a:ext>
                    </a:extLst>
                  </p:cNvPr>
                  <p:cNvSpPr txBox="1"/>
                  <p:nvPr/>
                </p:nvSpPr>
                <p:spPr>
                  <a:xfrm>
                    <a:off x="5833270" y="4102825"/>
                    <a:ext cx="832807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→∞</m:t>
                          </m:r>
                        </m:oMath>
                      </m:oMathPara>
                    </a14:m>
                    <a:endParaRPr lang="zh-CN" altLang="en-US" dirty="0"/>
                  </a:p>
                </p:txBody>
              </p:sp>
            </mc:Choice>
            <mc:Fallback xmlns="">
              <p:sp>
                <p:nvSpPr>
                  <p:cNvPr id="34" name="文本框 33">
                    <a:extLst>
                      <a:ext uri="{FF2B5EF4-FFF2-40B4-BE49-F238E27FC236}">
                        <a16:creationId xmlns:a16="http://schemas.microsoft.com/office/drawing/2014/main" id="{4114CE4E-631E-C6C5-792E-98F8D7C98B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33270" y="4102825"/>
                    <a:ext cx="832807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D9606FE-51D0-98AC-0838-C071B45E5E61}"/>
                      </a:ext>
                    </a:extLst>
                  </p:cNvPr>
                  <p:cNvSpPr txBox="1"/>
                  <p:nvPr/>
                </p:nvSpPr>
                <p:spPr>
                  <a:xfrm>
                    <a:off x="5685075" y="4575967"/>
                    <a:ext cx="112919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zh-CN" altLang="en-US" sz="1200" b="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取</a:t>
                    </a:r>
                    <a14:m>
                      <m:oMath xmlns:m="http://schemas.openxmlformats.org/officeDocument/2006/math">
                        <m:r>
                          <a:rPr lang="zh-CN" altLang="en-US" sz="12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𝑛𝑝</m:t>
                        </m:r>
                      </m:oMath>
                    </a14:m>
                    <a:endParaRPr lang="en-US" altLang="zh-CN" sz="1200" dirty="0">
                      <a:latin typeface="楷体" panose="02010609060101010101" pitchFamily="49" charset="-122"/>
                      <a:ea typeface="楷体" panose="02010609060101010101" pitchFamily="49" charset="-122"/>
                    </a:endParaRPr>
                  </a:p>
                  <a:p>
                    <a:pPr algn="ctr"/>
                    <a:r>
                      <a:rPr lang="zh-CN" altLang="en-US" sz="1200" dirty="0">
                        <a:latin typeface="楷体" panose="02010609060101010101" pitchFamily="49" charset="-122"/>
                        <a:ea typeface="楷体" panose="02010609060101010101" pitchFamily="49" charset="-122"/>
                      </a:rPr>
                      <a:t>用于近似计算</a:t>
                    </a:r>
                  </a:p>
                </p:txBody>
              </p:sp>
            </mc:Choice>
            <mc:Fallback xmlns="">
              <p:sp>
                <p:nvSpPr>
                  <p:cNvPr id="35" name="文本框 34">
                    <a:extLst>
                      <a:ext uri="{FF2B5EF4-FFF2-40B4-BE49-F238E27FC236}">
                        <a16:creationId xmlns:a16="http://schemas.microsoft.com/office/drawing/2014/main" id="{BD9606FE-51D0-98AC-0838-C071B45E5E6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85075" y="4575967"/>
                    <a:ext cx="1129195" cy="461665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b="-105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EEF39015-AC1F-128B-B5D5-39DD0122AF03}"/>
                </a:ext>
              </a:extLst>
            </p:cNvPr>
            <p:cNvSpPr/>
            <p:nvPr/>
          </p:nvSpPr>
          <p:spPr>
            <a:xfrm rot="8100000">
              <a:off x="5804029" y="3179317"/>
              <a:ext cx="1234693" cy="1173265"/>
            </a:xfrm>
            <a:prstGeom prst="arc">
              <a:avLst>
                <a:gd name="adj1" fmla="val 15393192"/>
                <a:gd name="adj2" fmla="val 2035194"/>
              </a:avLst>
            </a:prstGeom>
            <a:ln w="28575">
              <a:headEnd type="arrow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8EDDDC6B-72D4-89CF-AB20-F62A50D6B56D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364" y="1442555"/>
            <a:ext cx="6260338" cy="391271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33416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离散型随机变量的概率分布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D4B298E1-8BEE-2197-C75F-2C86FEC3711D}"/>
              </a:ext>
            </a:extLst>
          </p:cNvPr>
          <p:cNvGrpSpPr/>
          <p:nvPr/>
        </p:nvGrpSpPr>
        <p:grpSpPr>
          <a:xfrm>
            <a:off x="598913" y="1393188"/>
            <a:ext cx="8072672" cy="2599080"/>
            <a:chOff x="6634607" y="3717624"/>
            <a:chExt cx="8072672" cy="2599080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330A2B0-96BF-B4D8-4415-8E99FE280B43}"/>
                </a:ext>
              </a:extLst>
            </p:cNvPr>
            <p:cNvGrpSpPr/>
            <p:nvPr/>
          </p:nvGrpSpPr>
          <p:grpSpPr>
            <a:xfrm>
              <a:off x="6634610" y="3717624"/>
              <a:ext cx="8072669" cy="391100"/>
              <a:chOff x="2030774" y="1772551"/>
              <a:chExt cx="8072669" cy="39110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29F426B-36B5-3065-978C-D5CDDF74E2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8072669" cy="0"/>
              </a:xfrm>
              <a:prstGeom prst="line">
                <a:avLst/>
              </a:prstGeom>
              <a:ln w="38100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0841B3A-4631-575A-916C-C4247B39775B}"/>
                  </a:ext>
                </a:extLst>
              </p:cNvPr>
              <p:cNvSpPr txBox="1"/>
              <p:nvPr/>
            </p:nvSpPr>
            <p:spPr>
              <a:xfrm>
                <a:off x="5333266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超几何分布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28A79F2-C047-6DCD-A1C5-90C85CE1BF61}"/>
                    </a:ext>
                  </a:extLst>
                </p:cNvPr>
                <p:cNvSpPr txBox="1"/>
                <p:nvPr/>
              </p:nvSpPr>
              <p:spPr>
                <a:xfrm>
                  <a:off x="6634607" y="4194275"/>
                  <a:ext cx="8072672" cy="307777"/>
                </a:xfrm>
                <a:prstGeom prst="rect">
                  <a:avLst/>
                </a:prstGeom>
                <a:solidFill>
                  <a:schemeClr val="accent1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描述在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N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个产品（含次品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M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个）中</a:t>
                  </a:r>
                  <a:r>
                    <a:rPr lang="zh-CN" altLang="en-US" sz="1400" u="sng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不放回地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抽取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n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个，抽出次品的个数</a:t>
                  </a:r>
                  <a:r>
                    <a:rPr lang="en-US" altLang="zh-CN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X</a:t>
                  </a:r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，记作</a:t>
                  </a:r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𝐻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𝑁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𝑀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4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28A79F2-C047-6DCD-A1C5-90C85CE1B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4194275"/>
                  <a:ext cx="8072672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/>
                <p:nvPr/>
              </p:nvSpPr>
              <p:spPr>
                <a:xfrm>
                  <a:off x="7564987" y="4638785"/>
                  <a:ext cx="7142292" cy="717119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𝑋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𝑀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𝑁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𝑀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𝑘</m:t>
                                </m:r>
                              </m:sup>
                            </m:sSubSup>
                          </m:num>
                          <m:den>
                            <m:sSubSup>
                              <m:sSub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𝑁</m:t>
                                </m:r>
                              </m:sub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𝑛</m:t>
                                </m:r>
                              </m:sup>
                            </m:sSubSup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    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=0,1,2,…,</m:t>
                        </m:r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min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⁡{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𝑀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})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7" y="4638785"/>
                  <a:ext cx="7142292" cy="71711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/>
                <p:nvPr/>
              </p:nvSpPr>
              <p:spPr>
                <a:xfrm>
                  <a:off x="6634607" y="4640312"/>
                  <a:ext cx="887925" cy="72327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90000"/>
                    </a:lnSpc>
                    <a:spcBef>
                      <a:spcPts val="600"/>
                    </a:spcBef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分布律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4640312"/>
                  <a:ext cx="887925" cy="723275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53DD1858-D7F1-07CB-756D-D46334CEA4FE}"/>
                </a:ext>
              </a:extLst>
            </p:cNvPr>
            <p:cNvSpPr txBox="1"/>
            <p:nvPr/>
          </p:nvSpPr>
          <p:spPr>
            <a:xfrm>
              <a:off x="6634608" y="5419878"/>
              <a:ext cx="887925" cy="369332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latin typeface="华文宋体" panose="02010600040101010101" pitchFamily="2" charset="-122"/>
                  <a:ea typeface="华文宋体" panose="02010600040101010101" pitchFamily="2" charset="-122"/>
                </a:rPr>
                <a:t>模型</a:t>
              </a:r>
              <a:endParaRPr lang="en-US" altLang="zh-CN" dirty="0">
                <a:latin typeface="华文宋体" panose="02010600040101010101" pitchFamily="2" charset="-122"/>
                <a:ea typeface="华文宋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A80DCDE-8A55-895A-B497-A96BE2C560FA}"/>
                    </a:ext>
                  </a:extLst>
                </p:cNvPr>
                <p:cNvSpPr txBox="1"/>
                <p:nvPr/>
              </p:nvSpPr>
              <p:spPr>
                <a:xfrm>
                  <a:off x="7564986" y="5419878"/>
                  <a:ext cx="7142293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在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𝑁</m:t>
                      </m:r>
                    </m:oMath>
                  </a14:m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个产品</a:t>
                  </a:r>
                  <a:r>
                    <a:rPr lang="en-US" altLang="zh-CN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(</a:t>
                  </a:r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含次品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𝑀</m:t>
                      </m:r>
                    </m:oMath>
                  </a14:m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个</a:t>
                  </a:r>
                  <a:r>
                    <a:rPr lang="en-US" altLang="zh-CN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)</a:t>
                  </a:r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中</a:t>
                  </a:r>
                  <a:r>
                    <a:rPr lang="zh-CN" altLang="en-US" u="sng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一次性地</a:t>
                  </a:r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抽取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𝑛</m:t>
                      </m:r>
                    </m:oMath>
                  </a14:m>
                  <a:r>
                    <a:rPr lang="zh-CN" altLang="en-US" dirty="0">
                      <a:latin typeface="华文宋体" panose="02010600040101010101" pitchFamily="2" charset="-122"/>
                      <a:ea typeface="华文宋体" panose="02010600040101010101" pitchFamily="2" charset="-122"/>
                    </a:rPr>
                    <a:t>个，抽出次品的个数</a:t>
                  </a:r>
                  <a14:m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8A80DCDE-8A55-895A-B497-A96BE2C560F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6" y="5419878"/>
                  <a:ext cx="7142293" cy="369332"/>
                </a:xfrm>
                <a:prstGeom prst="rect">
                  <a:avLst/>
                </a:prstGeom>
                <a:blipFill>
                  <a:blip r:embed="rId8"/>
                  <a:stretch>
                    <a:fillRect t="-8333" b="-2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/>
                <p:nvPr/>
              </p:nvSpPr>
              <p:spPr>
                <a:xfrm>
                  <a:off x="7564987" y="5855039"/>
                  <a:ext cx="7142292" cy="461665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indent="576000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：抽取的次品个数   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𝑁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：产品的总数   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𝑀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：次品的总个数    </a:t>
                  </a:r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𝑛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：抽取的总个数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indent="576000"/>
                  <a14:m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:r>
                    <a:rPr lang="en-US" altLang="zh-CN" sz="1200" dirty="0">
                      <a:ea typeface="华文宋体" panose="020106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的可能取值，能抽出的次品个数 要么不大于次品总数，要么不大于抽取总数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987" y="5855039"/>
                  <a:ext cx="7142292" cy="461665"/>
                </a:xfrm>
                <a:prstGeom prst="rect">
                  <a:avLst/>
                </a:prstGeom>
                <a:blipFill>
                  <a:blip r:embed="rId9"/>
                  <a:stretch>
                    <a:fillRect b="-789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/>
                <p:nvPr/>
              </p:nvSpPr>
              <p:spPr>
                <a:xfrm>
                  <a:off x="6634607" y="5859655"/>
                  <a:ext cx="887925" cy="4524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5859655"/>
                  <a:ext cx="887925" cy="452432"/>
                </a:xfrm>
                <a:prstGeom prst="rect">
                  <a:avLst/>
                </a:prstGeom>
                <a:blipFill>
                  <a:blip r:embed="rId10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/>
              <p:nvPr/>
            </p:nvSpPr>
            <p:spPr>
              <a:xfrm>
                <a:off x="9111574" y="4422718"/>
                <a:ext cx="2504062" cy="105708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𝑋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fPr>
                        <m:num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100−10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5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𝑘</m:t>
                              </m:r>
                            </m:sup>
                          </m:sSubSup>
                        </m:num>
                        <m:den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100</m:t>
                              </m:r>
                            </m:sub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5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𝑘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=0,1,2,…,5)</m:t>
                      </m:r>
                    </m:oMath>
                  </m:oMathPara>
                </a14:m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8E961BC2-B30C-5F6C-3660-96A5C0405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11574" y="4422718"/>
                <a:ext cx="2504062" cy="105708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组合 2">
            <a:extLst>
              <a:ext uri="{FF2B5EF4-FFF2-40B4-BE49-F238E27FC236}">
                <a16:creationId xmlns:a16="http://schemas.microsoft.com/office/drawing/2014/main" id="{AD887C80-74DF-3C70-C318-8A98A91DA623}"/>
              </a:ext>
            </a:extLst>
          </p:cNvPr>
          <p:cNvGrpSpPr/>
          <p:nvPr/>
        </p:nvGrpSpPr>
        <p:grpSpPr>
          <a:xfrm>
            <a:off x="426888" y="4103853"/>
            <a:ext cx="8442267" cy="1517529"/>
            <a:chOff x="426888" y="4103853"/>
            <a:chExt cx="8442267" cy="15175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/>
                <p:nvPr/>
              </p:nvSpPr>
              <p:spPr>
                <a:xfrm>
                  <a:off x="496049" y="4467220"/>
                  <a:ext cx="8194891" cy="115416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某网游“新手福利卡池”内含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10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件五星武器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和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90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件培养素材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，每个物品被抽出的概率均等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首次注册游戏送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5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连抽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，某玩家将它们全部用来抽取“新手福利卡池”</a:t>
                  </a:r>
                  <a:endParaRPr lang="en-US" altLang="zh-CN" sz="1600" dirty="0">
                    <a:solidFill>
                      <a:srgbClr val="FF000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</a:t>
                  </a:r>
                  <a:r>
                    <a:rPr lang="zh-CN" altLang="en-US" sz="16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用这五连抽能够抽出五星武器的件数</a:t>
                  </a:r>
                  <a:endParaRPr lang="en-US" altLang="zh-CN" sz="1600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（</a:t>
                  </a:r>
                  <a14:m>
                    <m:oMath xmlns:m="http://schemas.openxmlformats.org/officeDocument/2006/math"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𝑋</m:t>
                      </m:r>
                      <m:r>
                        <a:rPr lang="en-US" altLang="zh-CN" sz="160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=</m:t>
                      </m:r>
                      <m:r>
                        <a:rPr lang="en-US" altLang="zh-CN" sz="1600" b="0" i="1" dirty="0" smtClean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表示这五连抽抽出了</a:t>
                  </a:r>
                  <a14:m>
                    <m:oMath xmlns:m="http://schemas.openxmlformats.org/officeDocument/2006/math">
                      <m:r>
                        <a:rPr lang="en-US" altLang="zh-CN" sz="1600" i="1" dirty="0"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𝑘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件五星武器）</a:t>
                  </a:r>
                </a:p>
              </p:txBody>
            </p:sp>
          </mc:Choice>
          <mc:Fallback xmlns=""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E23FB75-C68B-A9A1-5D98-10CBF80732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049" y="4467220"/>
                  <a:ext cx="8194891" cy="1154162"/>
                </a:xfrm>
                <a:prstGeom prst="rect">
                  <a:avLst/>
                </a:prstGeom>
                <a:blipFill>
                  <a:blip r:embed="rId12"/>
                  <a:stretch>
                    <a:fillRect t="-1587" b="-529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5CA0AD93-043D-5732-2DCC-3D5DD1A4A879}"/>
                </a:ext>
              </a:extLst>
            </p:cNvPr>
            <p:cNvGrpSpPr/>
            <p:nvPr/>
          </p:nvGrpSpPr>
          <p:grpSpPr>
            <a:xfrm>
              <a:off x="426888" y="4103853"/>
              <a:ext cx="8442267" cy="1424487"/>
              <a:chOff x="-1158161" y="3715661"/>
              <a:chExt cx="8442267" cy="142448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952A577A-6971-75DA-F5CB-EBB6ADBB81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0" name="矩形: 圆角 100">
                <a:extLst>
                  <a:ext uri="{FF2B5EF4-FFF2-40B4-BE49-F238E27FC236}">
                    <a16:creationId xmlns:a16="http://schemas.microsoft.com/office/drawing/2014/main" id="{9EDA2B15-38B3-5108-2A8D-25248B8796F4}"/>
                  </a:ext>
                </a:extLst>
              </p:cNvPr>
              <p:cNvSpPr/>
              <p:nvPr/>
            </p:nvSpPr>
            <p:spPr>
              <a:xfrm>
                <a:off x="-1158161" y="3985989"/>
                <a:ext cx="172025" cy="1154159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: 圆角 100">
                <a:extLst>
                  <a:ext uri="{FF2B5EF4-FFF2-40B4-BE49-F238E27FC236}">
                    <a16:creationId xmlns:a16="http://schemas.microsoft.com/office/drawing/2014/main" id="{55E965F8-638A-56E6-0C3D-65C860925E9C}"/>
                  </a:ext>
                </a:extLst>
              </p:cNvPr>
              <p:cNvSpPr/>
              <p:nvPr/>
            </p:nvSpPr>
            <p:spPr>
              <a:xfrm rot="10800000">
                <a:off x="7086536" y="3985990"/>
                <a:ext cx="197570" cy="115415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8" name="直接连接符 27">
                <a:extLst>
                  <a:ext uri="{FF2B5EF4-FFF2-40B4-BE49-F238E27FC236}">
                    <a16:creationId xmlns:a16="http://schemas.microsoft.com/office/drawing/2014/main" id="{A6844DE8-EE6D-D022-A787-0F7C8E2ECD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>
                <a:extLst>
                  <a:ext uri="{FF2B5EF4-FFF2-40B4-BE49-F238E27FC236}">
                    <a16:creationId xmlns:a16="http://schemas.microsoft.com/office/drawing/2014/main" id="{51792E1D-F30C-DFB6-F717-5A1A8476FC2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862A8243-9BB4-8EC6-095B-B7E19F9E8A64}"/>
              </a:ext>
            </a:extLst>
          </p:cNvPr>
          <p:cNvGrpSpPr/>
          <p:nvPr/>
        </p:nvGrpSpPr>
        <p:grpSpPr>
          <a:xfrm>
            <a:off x="9218984" y="1393189"/>
            <a:ext cx="2289242" cy="2594460"/>
            <a:chOff x="9218984" y="1393189"/>
            <a:chExt cx="2289242" cy="2594460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74ECF3F4-0A8D-6FE9-5292-A8FA69C7E623}"/>
                </a:ext>
              </a:extLst>
            </p:cNvPr>
            <p:cNvSpPr/>
            <p:nvPr/>
          </p:nvSpPr>
          <p:spPr>
            <a:xfrm>
              <a:off x="9218984" y="1393189"/>
              <a:ext cx="2289242" cy="2594460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0000644-819A-C38D-A180-61312662BCC8}"/>
                </a:ext>
              </a:extLst>
            </p:cNvPr>
            <p:cNvSpPr txBox="1"/>
            <p:nvPr/>
          </p:nvSpPr>
          <p:spPr>
            <a:xfrm>
              <a:off x="9477632" y="2475915"/>
              <a:ext cx="17719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二项分布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F0E5A892-1B5D-B555-6FF7-712A75F6C99D}"/>
                </a:ext>
              </a:extLst>
            </p:cNvPr>
            <p:cNvSpPr txBox="1"/>
            <p:nvPr/>
          </p:nvSpPr>
          <p:spPr>
            <a:xfrm>
              <a:off x="9477632" y="3311094"/>
              <a:ext cx="17719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超几何分布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F96590A-7663-794A-6187-A28BC8CB3368}"/>
                </a:ext>
              </a:extLst>
            </p:cNvPr>
            <p:cNvSpPr txBox="1"/>
            <p:nvPr/>
          </p:nvSpPr>
          <p:spPr>
            <a:xfrm>
              <a:off x="9477632" y="1640736"/>
              <a:ext cx="177194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bg1"/>
                  </a:solidFill>
                  <a:latin typeface="汉仪润圆-65简" panose="00020600040101010101" pitchFamily="18" charset="-122"/>
                  <a:ea typeface="汉仪润圆-65简" panose="00020600040101010101" pitchFamily="18" charset="-122"/>
                </a:rPr>
                <a:t>泊松分布</a:t>
              </a:r>
            </a:p>
          </p:txBody>
        </p:sp>
        <p:sp>
          <p:nvSpPr>
            <p:cNvPr id="11" name="箭头: 上 10">
              <a:extLst>
                <a:ext uri="{FF2B5EF4-FFF2-40B4-BE49-F238E27FC236}">
                  <a16:creationId xmlns:a16="http://schemas.microsoft.com/office/drawing/2014/main" id="{9A7B6A52-49DB-825A-8E7E-51AB11790CC7}"/>
                </a:ext>
              </a:extLst>
            </p:cNvPr>
            <p:cNvSpPr/>
            <p:nvPr/>
          </p:nvSpPr>
          <p:spPr>
            <a:xfrm>
              <a:off x="10282151" y="2923967"/>
              <a:ext cx="169872" cy="342950"/>
            </a:xfrm>
            <a:prstGeom prst="up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箭头: 上 14">
              <a:extLst>
                <a:ext uri="{FF2B5EF4-FFF2-40B4-BE49-F238E27FC236}">
                  <a16:creationId xmlns:a16="http://schemas.microsoft.com/office/drawing/2014/main" id="{605B35EF-88A4-09A7-52F9-3E376F5D7D8D}"/>
                </a:ext>
              </a:extLst>
            </p:cNvPr>
            <p:cNvSpPr/>
            <p:nvPr/>
          </p:nvSpPr>
          <p:spPr>
            <a:xfrm>
              <a:off x="10282151" y="2085023"/>
              <a:ext cx="169872" cy="342950"/>
            </a:xfrm>
            <a:prstGeom prst="up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8939CDC-CE41-CE3D-4866-8AFE11553EC6}"/>
                    </a:ext>
                  </a:extLst>
                </p:cNvPr>
                <p:cNvSpPr txBox="1"/>
                <p:nvPr/>
              </p:nvSpPr>
              <p:spPr>
                <a:xfrm>
                  <a:off x="10439575" y="2934803"/>
                  <a:ext cx="10117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→+∞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C8939CDC-CE41-CE3D-4866-8AFE11553EC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9575" y="2934803"/>
                  <a:ext cx="1011755" cy="33855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1E58286-5063-2D04-DB3E-A14E7C430E75}"/>
                    </a:ext>
                  </a:extLst>
                </p:cNvPr>
                <p:cNvSpPr txBox="1"/>
                <p:nvPr/>
              </p:nvSpPr>
              <p:spPr>
                <a:xfrm>
                  <a:off x="10439574" y="2089419"/>
                  <a:ext cx="1011755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16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→+∞</m:t>
                        </m:r>
                      </m:oMath>
                    </m:oMathPara>
                  </a14:m>
                  <a:endParaRPr lang="zh-CN" altLang="en-US" sz="16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51E58286-5063-2D04-DB3E-A14E7C430E7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39574" y="2089419"/>
                  <a:ext cx="1011755" cy="33855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AA187C7-4622-9777-D71F-EA5541F3D6E7}"/>
                    </a:ext>
                  </a:extLst>
                </p:cNvPr>
                <p:cNvSpPr txBox="1"/>
                <p:nvPr/>
              </p:nvSpPr>
              <p:spPr>
                <a:xfrm>
                  <a:off x="9269680" y="1456070"/>
                  <a:ext cx="415904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200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∗</m:t>
                        </m:r>
                      </m:oMath>
                    </m:oMathPara>
                  </a14:m>
                  <a:endParaRPr lang="zh-CN" altLang="en-US" sz="2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CAA187C7-4622-9777-D71F-EA5541F3D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69680" y="1456070"/>
                  <a:ext cx="415904" cy="40011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1228205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347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：对某一目标进行射击，直到击中为止。若每次射击命中率均为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，求射击次数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的分布律和分布函数。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347788"/>
              </a:xfrm>
              <a:prstGeom prst="rect">
                <a:avLst/>
              </a:prstGeom>
              <a:blipFill>
                <a:blip r:embed="rId5"/>
                <a:stretch>
                  <a:fillRect l="-274" t="-3509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6EA367-6949-E245-B501-2A92EDD19B8C}"/>
                  </a:ext>
                </a:extLst>
              </p:cNvPr>
              <p:cNvSpPr txBox="1"/>
              <p:nvPr/>
            </p:nvSpPr>
            <p:spPr>
              <a:xfrm>
                <a:off x="507458" y="3420804"/>
                <a:ext cx="111929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：一批产品共有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100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件，其中有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95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件正品和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件次品。不放回地逐一抽取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件产品检验，求抽出的次品数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6EA367-6949-E245-B501-2A92EDD19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420804"/>
                <a:ext cx="11192997" cy="338554"/>
              </a:xfrm>
              <a:prstGeom prst="rect">
                <a:avLst/>
              </a:prstGeom>
              <a:blipFill>
                <a:blip r:embed="rId6"/>
                <a:stretch>
                  <a:fillRect l="-272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6F57234-EAE3-A625-D5D3-70E127FCF2D1}"/>
                  </a:ext>
                </a:extLst>
              </p:cNvPr>
              <p:cNvSpPr txBox="1"/>
              <p:nvPr/>
            </p:nvSpPr>
            <p:spPr>
              <a:xfrm>
                <a:off x="507458" y="4613346"/>
                <a:ext cx="111929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：某人掷硬币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10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次，求其正面向上次数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的分布律，并求正面向上次数不小于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3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的概率。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6F57234-EAE3-A625-D5D3-70E127FCF2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4613346"/>
                <a:ext cx="11192997" cy="338554"/>
              </a:xfrm>
              <a:prstGeom prst="rect">
                <a:avLst/>
              </a:prstGeom>
              <a:blipFill>
                <a:blip r:embed="rId7"/>
                <a:stretch>
                  <a:fillRect l="-272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CEBFEE7-F259-1D77-679D-615DEE11FC80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D038B34-9022-0927-8436-38929EE6FC3D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离散型随机变量的概率分布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E240F2-763C-05F2-821A-55C17D9C6E15}"/>
                  </a:ext>
                </a:extLst>
              </p:cNvPr>
              <p:cNvSpPr txBox="1"/>
              <p:nvPr/>
            </p:nvSpPr>
            <p:spPr>
              <a:xfrm>
                <a:off x="507459" y="1781922"/>
                <a:ext cx="11039272" cy="1414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服从几何分布，故分布律：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=1,2,…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分布函数：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𝐹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sup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𝑃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{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}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=(1−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+(1−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+…+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</m:oMath>
                </a14:m>
                <a:endParaRPr lang="en-US" altLang="zh-CN" i="1" dirty="0">
                  <a:latin typeface="Cambria Math" panose="02040503050406030204" pitchFamily="18" charset="0"/>
                  <a:ea typeface="楷体" panose="02010609060101010101" pitchFamily="49" charset="-122"/>
                </a:endParaRPr>
              </a:p>
              <a:p>
                <a:r>
                  <a:rPr lang="en-US" altLang="zh-CN" b="0" dirty="0">
                    <a:ea typeface="楷体" panose="02010609060101010101" pitchFamily="49" charset="-122"/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1−(1−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1−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</m:e>
                        </m:d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0,                        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&lt;1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1−(1−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𝑝</m:t>
                            </m:r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,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≥1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F4E240F2-763C-05F2-821A-55C17D9C6E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1781922"/>
                <a:ext cx="11039272" cy="1414362"/>
              </a:xfrm>
              <a:prstGeom prst="rect">
                <a:avLst/>
              </a:prstGeom>
              <a:blipFill>
                <a:blip r:embed="rId8"/>
                <a:stretch>
                  <a:fillRect l="-442" t="-4741" b="-12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87B490-1151-831E-80C8-FAAE64035AF7}"/>
                  </a:ext>
                </a:extLst>
              </p:cNvPr>
              <p:cNvSpPr txBox="1"/>
              <p:nvPr/>
            </p:nvSpPr>
            <p:spPr>
              <a:xfrm>
                <a:off x="507458" y="3768306"/>
                <a:ext cx="11039272" cy="612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服从超几何分布，即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𝐻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(100,10,5)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，故分布律：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5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bSup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95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10−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bSup>
                      </m:num>
                      <m:den>
                        <m:sSubSup>
                          <m:sSub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b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100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10</m:t>
                            </m:r>
                          </m:sup>
                        </m:sSubSup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=0,1,2,3,4,5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D487B490-1151-831E-80C8-FAAE64035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768306"/>
                <a:ext cx="11039272" cy="612155"/>
              </a:xfrm>
              <a:prstGeom prst="rect">
                <a:avLst/>
              </a:prstGeom>
              <a:blipFill>
                <a:blip r:embed="rId9"/>
                <a:stretch>
                  <a:fillRect l="-4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80C45A-B4DA-4122-8EB1-806C109C42B2}"/>
                  </a:ext>
                </a:extLst>
              </p:cNvPr>
              <p:cNvSpPr txBox="1"/>
              <p:nvPr/>
            </p:nvSpPr>
            <p:spPr>
              <a:xfrm>
                <a:off x="507458" y="4979170"/>
                <a:ext cx="11039272" cy="742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服从二项分布，即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𝐵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(10,0.5)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，故分布律：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b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0.5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p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0.5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 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=0,1,2,…,10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=0.945</m:t>
                    </m:r>
                  </m:oMath>
                </a14:m>
                <a:r>
                  <a:rPr lang="en-US" altLang="zh-CN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380C45A-B4DA-4122-8EB1-806C109C4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4979170"/>
                <a:ext cx="11039272" cy="742767"/>
              </a:xfrm>
              <a:prstGeom prst="rect">
                <a:avLst/>
              </a:prstGeom>
              <a:blipFill>
                <a:blip r:embed="rId10"/>
                <a:stretch>
                  <a:fillRect l="-442" t="-5738" b="-1065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29DA853-7215-D36F-9D5A-06B5C2EFD16B}"/>
              </a:ext>
            </a:extLst>
          </p:cNvPr>
          <p:cNvCxnSpPr>
            <a:cxnSpLocks/>
          </p:cNvCxnSpPr>
          <p:nvPr/>
        </p:nvCxnSpPr>
        <p:spPr>
          <a:xfrm>
            <a:off x="511212" y="3316024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CA0C2CD-FE43-AFD7-C2AF-E07AD556255F}"/>
              </a:ext>
            </a:extLst>
          </p:cNvPr>
          <p:cNvCxnSpPr>
            <a:cxnSpLocks/>
          </p:cNvCxnSpPr>
          <p:nvPr/>
        </p:nvCxnSpPr>
        <p:spPr>
          <a:xfrm>
            <a:off x="511212" y="4472765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6348478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5" grpId="0"/>
      <p:bldP spid="3" grpId="0"/>
      <p:bldP spid="4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3477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4.4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服从泊松分布，且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=2}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。求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347788"/>
              </a:xfrm>
              <a:prstGeom prst="rect">
                <a:avLst/>
              </a:prstGeom>
              <a:blipFill>
                <a:blip r:embed="rId5"/>
                <a:stretch>
                  <a:fillRect l="-274" t="-3509" b="-21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6EA367-6949-E245-B501-2A92EDD19B8C}"/>
                  </a:ext>
                </a:extLst>
              </p:cNvPr>
              <p:cNvSpPr txBox="1"/>
              <p:nvPr/>
            </p:nvSpPr>
            <p:spPr>
              <a:xfrm>
                <a:off x="507458" y="3089104"/>
                <a:ext cx="1119299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5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：在事件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发生的概率为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𝑝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的伯努利试验中，若以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表示：第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𝑟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次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发生时 试验的总次数，求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的分布律。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A6EA367-6949-E245-B501-2A92EDD19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089104"/>
                <a:ext cx="11192997" cy="338554"/>
              </a:xfrm>
              <a:prstGeom prst="rect">
                <a:avLst/>
              </a:prstGeom>
              <a:blipFill>
                <a:blip r:embed="rId6"/>
                <a:stretch>
                  <a:fillRect l="-272" t="-3636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3F5650CE-289F-9B87-F631-EACCA1F63E00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7208B7-F3ED-6267-FCC7-1C4E896BE901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离散型随机变量的概率分布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09FB06-FF17-B770-BAB3-AD958ADE3818}"/>
                  </a:ext>
                </a:extLst>
              </p:cNvPr>
              <p:cNvSpPr txBox="1"/>
              <p:nvPr/>
            </p:nvSpPr>
            <p:spPr>
              <a:xfrm>
                <a:off x="507458" y="1772974"/>
                <a:ext cx="11039272" cy="9683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𝜆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𝜆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=2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；由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=1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=2}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得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𝜆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𝜆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，解得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=2.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则分布律为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=0,1,2,…)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9009FB06-FF17-B770-BAB3-AD958ADE3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1772974"/>
                <a:ext cx="11039272" cy="968342"/>
              </a:xfrm>
              <a:prstGeom prst="rect">
                <a:avLst/>
              </a:prstGeom>
              <a:blipFill>
                <a:blip r:embed="rId7"/>
                <a:stretch>
                  <a:fillRect l="-442" b="-6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C170F3DD-6147-FCF9-028E-D42D16598ACD}"/>
              </a:ext>
            </a:extLst>
          </p:cNvPr>
          <p:cNvCxnSpPr>
            <a:cxnSpLocks/>
          </p:cNvCxnSpPr>
          <p:nvPr/>
        </p:nvCxnSpPr>
        <p:spPr>
          <a:xfrm>
            <a:off x="511212" y="2933968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F7B7FCA-A464-7A36-989E-2EE71E2A69AC}"/>
                  </a:ext>
                </a:extLst>
              </p:cNvPr>
              <p:cNvSpPr txBox="1"/>
              <p:nvPr/>
            </p:nvSpPr>
            <p:spPr>
              <a:xfrm>
                <a:off x="507458" y="3542365"/>
                <a:ext cx="11039272" cy="1167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解：由题意，若进行了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次伯努利试验，则第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次一定成功；</a:t>
                </a:r>
                <a:r>
                  <a:rPr lang="zh-CN" altLang="en-US" dirty="0">
                    <a:solidFill>
                      <a:schemeClr val="bg1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（认为“</a:t>
                </a:r>
                <a:r>
                  <a:rPr lang="en-US" altLang="zh-CN" dirty="0">
                    <a:solidFill>
                      <a:schemeClr val="bg1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A</a:t>
                </a:r>
                <a:r>
                  <a:rPr lang="zh-CN" altLang="en-US" dirty="0">
                    <a:solidFill>
                      <a:schemeClr val="bg1">
                        <a:lumMod val="50000"/>
                      </a:schemeClr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发生”即为“成功”）</a:t>
                </a:r>
                <a:endParaRPr lang="en-US" altLang="zh-CN" dirty="0">
                  <a:solidFill>
                    <a:schemeClr val="bg1">
                      <a:lumMod val="50000"/>
                    </a:schemeClr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前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次中，有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−1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次成功，则有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次失败；</a:t>
                </a:r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bSup>
                      <m:sSub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(1−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</m:oMath>
                </a14:m>
                <a:r>
                  <a:rPr lang="en-US" altLang="zh-CN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𝐶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(1−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𝑝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𝑘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𝑟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   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𝑘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+1,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𝑟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+2,…)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0F7B7FCA-A464-7A36-989E-2EE71E2A69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542365"/>
                <a:ext cx="11039272" cy="1167307"/>
              </a:xfrm>
              <a:prstGeom prst="rect">
                <a:avLst/>
              </a:prstGeom>
              <a:blipFill>
                <a:blip r:embed="rId8"/>
                <a:stretch>
                  <a:fillRect l="-442" t="-3646" b="-52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文本框 7">
            <a:extLst>
              <a:ext uri="{FF2B5EF4-FFF2-40B4-BE49-F238E27FC236}">
                <a16:creationId xmlns:a16="http://schemas.microsoft.com/office/drawing/2014/main" id="{D5EFA8C7-E5AA-895A-60A3-99AE60EBDF12}"/>
              </a:ext>
            </a:extLst>
          </p:cNvPr>
          <p:cNvSpPr txBox="1"/>
          <p:nvPr/>
        </p:nvSpPr>
        <p:spPr>
          <a:xfrm>
            <a:off x="9950278" y="4325024"/>
            <a:ext cx="15964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帕斯卡分布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2030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" grpId="0"/>
      <p:bldP spid="3" grpId="0"/>
      <p:bldP spid="5" grpId="0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连续型随机变量的概率分布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D392A30-0FD9-8EC8-A0B7-A51806F9A808}"/>
              </a:ext>
            </a:extLst>
          </p:cNvPr>
          <p:cNvGrpSpPr/>
          <p:nvPr/>
        </p:nvGrpSpPr>
        <p:grpSpPr>
          <a:xfrm>
            <a:off x="576364" y="1393188"/>
            <a:ext cx="4653084" cy="2340986"/>
            <a:chOff x="709008" y="3793473"/>
            <a:chExt cx="4653084" cy="2340986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81D07B3-1A74-42B0-256B-29AAC9E1C737}"/>
                </a:ext>
              </a:extLst>
            </p:cNvPr>
            <p:cNvGrpSpPr/>
            <p:nvPr/>
          </p:nvGrpSpPr>
          <p:grpSpPr>
            <a:xfrm>
              <a:off x="709010" y="3793473"/>
              <a:ext cx="4653082" cy="391100"/>
              <a:chOff x="2030774" y="1772551"/>
              <a:chExt cx="4653082" cy="391100"/>
            </a:xfrm>
          </p:grpSpPr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85957F3-29D2-B3A9-85CF-7B30589B3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4653082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D1366D7-B53E-9623-E1D9-2E930245A628}"/>
                  </a:ext>
                </a:extLst>
              </p:cNvPr>
              <p:cNvSpPr txBox="1"/>
              <p:nvPr/>
            </p:nvSpPr>
            <p:spPr>
              <a:xfrm>
                <a:off x="3623473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指数分布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/>
                <p:nvPr/>
              </p:nvSpPr>
              <p:spPr>
                <a:xfrm>
                  <a:off x="709008" y="4270123"/>
                  <a:ext cx="4653084" cy="523220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事件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在单位时间内发生次数的期望为</a:t>
                  </a:r>
                  <a14:m>
                    <m:oMath xmlns:m="http://schemas.openxmlformats.org/officeDocument/2006/math">
                      <m:r>
                        <a:rPr lang="zh-CN" altLang="en-US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𝜆</m:t>
                      </m:r>
                    </m:oMath>
                  </a14:m>
                  <a:endParaRPr lang="en-US" altLang="zh-CN" sz="14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则其发生所用的时间</a:t>
                  </a:r>
                  <a14:m>
                    <m:oMath xmlns:m="http://schemas.openxmlformats.org/officeDocument/2006/math">
                      <m:r>
                        <a:rPr lang="en-US" altLang="zh-CN" sz="14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服从指数分布</a:t>
                  </a:r>
                  <a14:m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𝐸𝑥𝑝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zh-CN" altLang="en-US" sz="1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𝜆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4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4270123"/>
                  <a:ext cx="4653084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3488" b="-930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/>
                <p:nvPr/>
              </p:nvSpPr>
              <p:spPr>
                <a:xfrm>
                  <a:off x="1860270" y="4918348"/>
                  <a:ext cx="3501822" cy="71019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eqArrPr>
                              <m:e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𝜆</m:t>
                                </m:r>
                                <m:sSup>
                                  <m:sSup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𝑒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zh-CN" altLang="en-US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𝜆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𝑥</m:t>
                                    </m:r>
                                  </m:sup>
                                </m:s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 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0,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          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270" y="4918348"/>
                  <a:ext cx="3501822" cy="71019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036439B9-B880-F531-23E3-CBB0B3FE1ED2}"/>
                    </a:ext>
                  </a:extLst>
                </p:cNvPr>
                <p:cNvSpPr txBox="1"/>
                <p:nvPr/>
              </p:nvSpPr>
              <p:spPr>
                <a:xfrm>
                  <a:off x="709008" y="4918348"/>
                  <a:ext cx="1105200" cy="70839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90000"/>
                    </a:lnSpc>
                    <a:spcBef>
                      <a:spcPts val="1200"/>
                    </a:spcBef>
                    <a:spcAft>
                      <a:spcPts val="7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密度函数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036439B9-B880-F531-23E3-CBB0B3FE1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4918348"/>
                  <a:ext cx="1105200" cy="7083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/>
                <p:nvPr/>
              </p:nvSpPr>
              <p:spPr>
                <a:xfrm>
                  <a:off x="1860594" y="5672794"/>
                  <a:ext cx="3501498" cy="46166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：事件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发生所用时间       </a:t>
                  </a:r>
                  <a14:m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𝑥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:r>
                    <a:rPr lang="en-US" altLang="zh-CN" sz="1200" dirty="0">
                      <a:ea typeface="华文宋体" panose="020106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的可能取值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𝜆：事件</a:t>
                  </a:r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𝐴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在单位时间内发生次数的期望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594" y="5672794"/>
                  <a:ext cx="3501498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2632" b="-1052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/>
                <p:nvPr/>
              </p:nvSpPr>
              <p:spPr>
                <a:xfrm>
                  <a:off x="709008" y="5677410"/>
                  <a:ext cx="1105200" cy="45243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5677410"/>
                  <a:ext cx="1105200" cy="452432"/>
                </a:xfrm>
                <a:prstGeom prst="rect">
                  <a:avLst/>
                </a:prstGeom>
                <a:blipFill>
                  <a:blip r:embed="rId9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846506E-513E-1F82-D47D-180272DD160D}"/>
                  </a:ext>
                </a:extLst>
              </p:cNvPr>
              <p:cNvSpPr txBox="1"/>
              <p:nvPr/>
            </p:nvSpPr>
            <p:spPr>
              <a:xfrm>
                <a:off x="576203" y="3864214"/>
                <a:ext cx="4653082" cy="18250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25000"/>
                  </a:lnSpc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指数分布是从泊松分布中推导出的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常用于描述一些“寿命问题”，实际上是将诸如“电子器件发生故障”的时间看做随机变量</a:t>
                </a:r>
                <a14:m>
                  <m:oMath xmlns:m="http://schemas.openxmlformats.org/officeDocument/2006/math">
                    <m:r>
                      <a:rPr lang="zh-CN" altLang="en-US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zh-CN" altLang="en-US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𝐸𝑥𝑝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zh-CN" altLang="en-US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𝜆</m:t>
                    </m:r>
                    <m:r>
                      <a:rPr lang="en-US" altLang="zh-CN" sz="140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endParaRPr lang="en-US" altLang="zh-CN" sz="1400" b="1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285750" indent="-285750">
                  <a:lnSpc>
                    <a:spcPct val="125000"/>
                  </a:lnSpc>
                  <a:spcBef>
                    <a:spcPts val="600"/>
                  </a:spcBef>
                  <a:buFont typeface="Wingdings" panose="05000000000000000000" pitchFamily="2" charset="2"/>
                  <a:buChar char="Ø"/>
                </a:pPr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具有“无记忆性”的特点，即：</a:t>
                </a:r>
                <a14:m>
                  <m:oMath xmlns:m="http://schemas.openxmlformats.org/officeDocument/2006/math"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  <m:e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&gt;</m:t>
                        </m:r>
                        <m:r>
                          <a:rPr lang="en-US" altLang="zh-CN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altLang="zh-CN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。意义是：无论如何选取时间起点，经过相等的时间间隔，其发生的概率仍然不变。</a:t>
                </a:r>
                <a:endParaRPr lang="en-US" altLang="zh-CN" sz="1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F846506E-513E-1F82-D47D-180272DD1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203" y="3864214"/>
                <a:ext cx="4653082" cy="1825051"/>
              </a:xfrm>
              <a:prstGeom prst="rect">
                <a:avLst/>
              </a:prstGeom>
              <a:blipFill>
                <a:blip r:embed="rId10"/>
                <a:stretch>
                  <a:fillRect l="-262" b="-26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96E00C4D-FF0C-A86C-1FA2-FB9BEC3A85B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6731" y="1393188"/>
            <a:ext cx="6198903" cy="387431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10353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9F6F0FE9-6E94-8DDF-933F-492EC2ECEF75}"/>
              </a:ext>
            </a:extLst>
          </p:cNvPr>
          <p:cNvSpPr/>
          <p:nvPr/>
        </p:nvSpPr>
        <p:spPr>
          <a:xfrm>
            <a:off x="9395616" y="2438748"/>
            <a:ext cx="720000" cy="10100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连续型随机变量的概率分布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87" name="组合 86">
            <a:extLst>
              <a:ext uri="{FF2B5EF4-FFF2-40B4-BE49-F238E27FC236}">
                <a16:creationId xmlns:a16="http://schemas.microsoft.com/office/drawing/2014/main" id="{D4B298E1-8BEE-2197-C75F-2C86FEC3711D}"/>
              </a:ext>
            </a:extLst>
          </p:cNvPr>
          <p:cNvGrpSpPr/>
          <p:nvPr/>
        </p:nvGrpSpPr>
        <p:grpSpPr>
          <a:xfrm>
            <a:off x="583015" y="1393188"/>
            <a:ext cx="6796818" cy="2415013"/>
            <a:chOff x="6634607" y="3717624"/>
            <a:chExt cx="6796818" cy="2415013"/>
          </a:xfrm>
        </p:grpSpPr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9330A2B0-96BF-B4D8-4415-8E99FE280B43}"/>
                </a:ext>
              </a:extLst>
            </p:cNvPr>
            <p:cNvGrpSpPr/>
            <p:nvPr/>
          </p:nvGrpSpPr>
          <p:grpSpPr>
            <a:xfrm>
              <a:off x="6634610" y="3717624"/>
              <a:ext cx="6767628" cy="391100"/>
              <a:chOff x="2030774" y="1772551"/>
              <a:chExt cx="6767628" cy="391100"/>
            </a:xfrm>
          </p:grpSpPr>
          <p:cxnSp>
            <p:nvCxnSpPr>
              <p:cNvPr id="49" name="直接连接符 48">
                <a:extLst>
                  <a:ext uri="{FF2B5EF4-FFF2-40B4-BE49-F238E27FC236}">
                    <a16:creationId xmlns:a16="http://schemas.microsoft.com/office/drawing/2014/main" id="{C29F426B-36B5-3065-978C-D5CDDF74E2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6767628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B0841B3A-4631-575A-916C-C4247B39775B}"/>
                  </a:ext>
                </a:extLst>
              </p:cNvPr>
              <p:cNvSpPr txBox="1"/>
              <p:nvPr/>
            </p:nvSpPr>
            <p:spPr>
              <a:xfrm>
                <a:off x="4705945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均匀分布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28A79F2-C047-6DCD-A1C5-90C85CE1BF61}"/>
                    </a:ext>
                  </a:extLst>
                </p:cNvPr>
                <p:cNvSpPr txBox="1"/>
                <p:nvPr/>
              </p:nvSpPr>
              <p:spPr>
                <a:xfrm>
                  <a:off x="6634608" y="4194274"/>
                  <a:ext cx="6767630" cy="307777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描述在区间上等可能取值的随机变量，记作</a:t>
                  </a:r>
                  <a14:m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𝑈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[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𝑎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𝑏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]</m:t>
                      </m:r>
                    </m:oMath>
                  </a14:m>
                  <a:endParaRPr lang="zh-CN" altLang="en-US" sz="14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4" name="文本框 53">
                  <a:extLst>
                    <a:ext uri="{FF2B5EF4-FFF2-40B4-BE49-F238E27FC236}">
                      <a16:creationId xmlns:a16="http://schemas.microsoft.com/office/drawing/2014/main" id="{928A79F2-C047-6DCD-A1C5-90C85CE1BF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8" y="4194274"/>
                  <a:ext cx="6767630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/>
                <p:nvPr/>
              </p:nvSpPr>
              <p:spPr>
                <a:xfrm>
                  <a:off x="7783711" y="4643006"/>
                  <a:ext cx="5647714" cy="97661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(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)=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eqArrPr>
                              <m:e>
                                <m:f>
                                  <m:f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𝑏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−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  <a:ea typeface="楷体" panose="02010609060101010101" pitchFamily="49" charset="-122"/>
                                      </a:rPr>
                                      <m:t>𝑎</m:t>
                                    </m:r>
                                  </m:den>
                                </m:f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,  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𝑎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0,          </m:t>
                                </m:r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其他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           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55" name="文本框 54">
                  <a:extLst>
                    <a:ext uri="{FF2B5EF4-FFF2-40B4-BE49-F238E27FC236}">
                      <a16:creationId xmlns:a16="http://schemas.microsoft.com/office/drawing/2014/main" id="{C865E911-FB02-2E08-7346-BEE2FA8C19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3711" y="4643006"/>
                  <a:ext cx="5647714" cy="9766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/>
                <p:nvPr/>
              </p:nvSpPr>
              <p:spPr>
                <a:xfrm>
                  <a:off x="6634607" y="4644045"/>
                  <a:ext cx="1106649" cy="97719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250000"/>
                    </a:lnSpc>
                    <a:spcBef>
                      <a:spcPts val="1200"/>
                    </a:spcBef>
                    <a:spcAft>
                      <a:spcPts val="15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密度</m:t>
                        </m:r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函数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56" name="文本框 55">
                  <a:extLst>
                    <a:ext uri="{FF2B5EF4-FFF2-40B4-BE49-F238E27FC236}">
                      <a16:creationId xmlns:a16="http://schemas.microsoft.com/office/drawing/2014/main" id="{6B8DC2D2-D529-3E41-8052-7666CA483B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4644045"/>
                  <a:ext cx="1106649" cy="97719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/>
                <p:nvPr/>
              </p:nvSpPr>
              <p:spPr>
                <a:xfrm>
                  <a:off x="7783709" y="5670972"/>
                  <a:ext cx="5647716" cy="46166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20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zh-CN" altLang="en-US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：随机变量</m:t>
                        </m:r>
                        <m:r>
                          <a:rPr lang="zh-CN" altLang="en-US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 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𝑥</m:t>
                        </m:r>
                        <m:r>
                          <a:rPr lang="zh-CN" altLang="en-US" sz="12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：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zh-CN" altLang="en-US" sz="12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的可能取值</m:t>
                        </m:r>
                        <m:r>
                          <a:rPr lang="en-US" altLang="zh-CN" sz="1200" i="1" dirty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</m:t>
                        </m:r>
                        <m:r>
                          <a:rPr lang="en-US" altLang="zh-CN" sz="12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</m:t>
                        </m:r>
                        <m:r>
                          <a:rPr lang="en-US" altLang="zh-CN" sz="1200" b="0" i="1" dirty="0" err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  <m:r>
                          <a:rPr lang="en-US" altLang="zh-CN" sz="1200" b="0" i="1" dirty="0" err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,</m:t>
                        </m:r>
                        <m:r>
                          <a:rPr lang="en-US" altLang="zh-CN" sz="1200" b="0" i="1" dirty="0" err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𝑏</m:t>
                        </m:r>
                        <m:r>
                          <a:rPr lang="zh-CN" altLang="en-US" sz="1200" i="1" dirty="0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：区间左右端点</m:t>
                        </m:r>
                      </m:oMath>
                    </m:oMathPara>
                  </a14:m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84" name="文本框 83">
                  <a:extLst>
                    <a:ext uri="{FF2B5EF4-FFF2-40B4-BE49-F238E27FC236}">
                      <a16:creationId xmlns:a16="http://schemas.microsoft.com/office/drawing/2014/main" id="{9139C549-CB68-919F-2000-E0B06C4DD0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83709" y="5670972"/>
                  <a:ext cx="5647716" cy="46166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/>
                <p:nvPr/>
              </p:nvSpPr>
              <p:spPr>
                <a:xfrm>
                  <a:off x="6634607" y="5675588"/>
                  <a:ext cx="1106647" cy="45243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5" name="文本框 84">
                  <a:extLst>
                    <a:ext uri="{FF2B5EF4-FFF2-40B4-BE49-F238E27FC236}">
                      <a16:creationId xmlns:a16="http://schemas.microsoft.com/office/drawing/2014/main" id="{900F88E6-958A-0368-09B9-BFFA61F6F7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4607" y="5675588"/>
                  <a:ext cx="1106647" cy="452432"/>
                </a:xfrm>
                <a:prstGeom prst="rect">
                  <a:avLst/>
                </a:prstGeom>
                <a:blipFill>
                  <a:blip r:embed="rId9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FD55A7B-FC73-0E11-24E1-28FB912DD3A2}"/>
              </a:ext>
            </a:extLst>
          </p:cNvPr>
          <p:cNvGrpSpPr/>
          <p:nvPr/>
        </p:nvGrpSpPr>
        <p:grpSpPr>
          <a:xfrm>
            <a:off x="532006" y="4019411"/>
            <a:ext cx="6929243" cy="1302455"/>
            <a:chOff x="532006" y="4019411"/>
            <a:chExt cx="6929243" cy="1302455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42F02B63-A9FA-63A2-17F4-F10654E3BC8A}"/>
                </a:ext>
              </a:extLst>
            </p:cNvPr>
            <p:cNvGrpSpPr/>
            <p:nvPr/>
          </p:nvGrpSpPr>
          <p:grpSpPr>
            <a:xfrm>
              <a:off x="613421" y="4019411"/>
              <a:ext cx="6766412" cy="1302455"/>
              <a:chOff x="-383250" y="3715661"/>
              <a:chExt cx="6766412" cy="1302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66889BD1-084C-B288-1950-39E6D91B87F0}"/>
                      </a:ext>
                    </a:extLst>
                  </p:cNvPr>
                  <p:cNvSpPr txBox="1"/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altLang="zh-CN" sz="20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</m:oMath>
                      </m:oMathPara>
                    </a14:m>
                    <a:endParaRPr lang="zh-CN" altLang="en-US" sz="2000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" name="文本框 4">
                    <a:extLst>
                      <a:ext uri="{FF2B5EF4-FFF2-40B4-BE49-F238E27FC236}">
                        <a16:creationId xmlns:a16="http://schemas.microsoft.com/office/drawing/2014/main" id="{66889BD1-084C-B288-1950-39E6D91B87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653417" y="3715661"/>
                    <a:ext cx="683886" cy="40011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757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6" name="矩形: 圆角 100">
                <a:extLst>
                  <a:ext uri="{FF2B5EF4-FFF2-40B4-BE49-F238E27FC236}">
                    <a16:creationId xmlns:a16="http://schemas.microsoft.com/office/drawing/2014/main" id="{1F83F10A-1597-AE30-6E59-6B1E2361EE2D}"/>
                  </a:ext>
                </a:extLst>
              </p:cNvPr>
              <p:cNvSpPr/>
              <p:nvPr/>
            </p:nvSpPr>
            <p:spPr>
              <a:xfrm>
                <a:off x="-383250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矩形: 圆角 100">
                <a:extLst>
                  <a:ext uri="{FF2B5EF4-FFF2-40B4-BE49-F238E27FC236}">
                    <a16:creationId xmlns:a16="http://schemas.microsoft.com/office/drawing/2014/main" id="{CB92474A-C5F8-69D7-7AED-1BAFF966F964}"/>
                  </a:ext>
                </a:extLst>
              </p:cNvPr>
              <p:cNvSpPr/>
              <p:nvPr/>
            </p:nvSpPr>
            <p:spPr>
              <a:xfrm rot="10800000">
                <a:off x="6211138" y="3985990"/>
                <a:ext cx="172024" cy="1032126"/>
              </a:xfrm>
              <a:custGeom>
                <a:avLst/>
                <a:gdLst>
                  <a:gd name="connsiteX0" fmla="*/ 0 w 3727491"/>
                  <a:gd name="connsiteY0" fmla="*/ 172024 h 1032126"/>
                  <a:gd name="connsiteX1" fmla="*/ 172024 w 3727491"/>
                  <a:gd name="connsiteY1" fmla="*/ 0 h 1032126"/>
                  <a:gd name="connsiteX2" fmla="*/ 3555467 w 3727491"/>
                  <a:gd name="connsiteY2" fmla="*/ 0 h 1032126"/>
                  <a:gd name="connsiteX3" fmla="*/ 3727491 w 3727491"/>
                  <a:gd name="connsiteY3" fmla="*/ 172024 h 1032126"/>
                  <a:gd name="connsiteX4" fmla="*/ 3727491 w 3727491"/>
                  <a:gd name="connsiteY4" fmla="*/ 860102 h 1032126"/>
                  <a:gd name="connsiteX5" fmla="*/ 3555467 w 3727491"/>
                  <a:gd name="connsiteY5" fmla="*/ 1032126 h 1032126"/>
                  <a:gd name="connsiteX6" fmla="*/ 172024 w 3727491"/>
                  <a:gd name="connsiteY6" fmla="*/ 1032126 h 1032126"/>
                  <a:gd name="connsiteX7" fmla="*/ 0 w 3727491"/>
                  <a:gd name="connsiteY7" fmla="*/ 860102 h 1032126"/>
                  <a:gd name="connsiteX8" fmla="*/ 0 w 3727491"/>
                  <a:gd name="connsiteY8" fmla="*/ 172024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8" fmla="*/ 3646907 w 3727491"/>
                  <a:gd name="connsiteY8" fmla="*/ 9144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3555467 w 3727491"/>
                  <a:gd name="connsiteY3" fmla="*/ 1032126 h 1032126"/>
                  <a:gd name="connsiteX4" fmla="*/ 172024 w 3727491"/>
                  <a:gd name="connsiteY4" fmla="*/ 1032126 h 1032126"/>
                  <a:gd name="connsiteX5" fmla="*/ 0 w 3727491"/>
                  <a:gd name="connsiteY5" fmla="*/ 860102 h 1032126"/>
                  <a:gd name="connsiteX6" fmla="*/ 0 w 3727491"/>
                  <a:gd name="connsiteY6" fmla="*/ 172024 h 1032126"/>
                  <a:gd name="connsiteX7" fmla="*/ 172024 w 3727491"/>
                  <a:gd name="connsiteY7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3727491 w 3727491"/>
                  <a:gd name="connsiteY2" fmla="*/ 860102 h 1032126"/>
                  <a:gd name="connsiteX3" fmla="*/ 172024 w 3727491"/>
                  <a:gd name="connsiteY3" fmla="*/ 1032126 h 1032126"/>
                  <a:gd name="connsiteX4" fmla="*/ 0 w 3727491"/>
                  <a:gd name="connsiteY4" fmla="*/ 860102 h 1032126"/>
                  <a:gd name="connsiteX5" fmla="*/ 0 w 3727491"/>
                  <a:gd name="connsiteY5" fmla="*/ 172024 h 1032126"/>
                  <a:gd name="connsiteX6" fmla="*/ 172024 w 3727491"/>
                  <a:gd name="connsiteY6" fmla="*/ 0 h 1032126"/>
                  <a:gd name="connsiteX0" fmla="*/ 3555467 w 3727491"/>
                  <a:gd name="connsiteY0" fmla="*/ 0 h 1032126"/>
                  <a:gd name="connsiteX1" fmla="*/ 3727491 w 3727491"/>
                  <a:gd name="connsiteY1" fmla="*/ 172024 h 1032126"/>
                  <a:gd name="connsiteX2" fmla="*/ 172024 w 3727491"/>
                  <a:gd name="connsiteY2" fmla="*/ 1032126 h 1032126"/>
                  <a:gd name="connsiteX3" fmla="*/ 0 w 3727491"/>
                  <a:gd name="connsiteY3" fmla="*/ 860102 h 1032126"/>
                  <a:gd name="connsiteX4" fmla="*/ 0 w 3727491"/>
                  <a:gd name="connsiteY4" fmla="*/ 172024 h 1032126"/>
                  <a:gd name="connsiteX5" fmla="*/ 172024 w 3727491"/>
                  <a:gd name="connsiteY5" fmla="*/ 0 h 1032126"/>
                  <a:gd name="connsiteX0" fmla="*/ 3555467 w 3555467"/>
                  <a:gd name="connsiteY0" fmla="*/ 0 h 1032126"/>
                  <a:gd name="connsiteX1" fmla="*/ 172024 w 3555467"/>
                  <a:gd name="connsiteY1" fmla="*/ 1032126 h 1032126"/>
                  <a:gd name="connsiteX2" fmla="*/ 0 w 3555467"/>
                  <a:gd name="connsiteY2" fmla="*/ 860102 h 1032126"/>
                  <a:gd name="connsiteX3" fmla="*/ 0 w 3555467"/>
                  <a:gd name="connsiteY3" fmla="*/ 172024 h 1032126"/>
                  <a:gd name="connsiteX4" fmla="*/ 172024 w 3555467"/>
                  <a:gd name="connsiteY4" fmla="*/ 0 h 1032126"/>
                  <a:gd name="connsiteX0" fmla="*/ 172024 w 172024"/>
                  <a:gd name="connsiteY0" fmla="*/ 1032126 h 1032126"/>
                  <a:gd name="connsiteX1" fmla="*/ 0 w 172024"/>
                  <a:gd name="connsiteY1" fmla="*/ 860102 h 1032126"/>
                  <a:gd name="connsiteX2" fmla="*/ 0 w 172024"/>
                  <a:gd name="connsiteY2" fmla="*/ 172024 h 1032126"/>
                  <a:gd name="connsiteX3" fmla="*/ 172024 w 172024"/>
                  <a:gd name="connsiteY3" fmla="*/ 0 h 1032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2024" h="1032126">
                    <a:moveTo>
                      <a:pt x="172024" y="1032126"/>
                    </a:moveTo>
                    <a:cubicBezTo>
                      <a:pt x="77018" y="1032126"/>
                      <a:pt x="0" y="955108"/>
                      <a:pt x="0" y="860102"/>
                    </a:cubicBezTo>
                    <a:lnTo>
                      <a:pt x="0" y="172024"/>
                    </a:lnTo>
                    <a:cubicBezTo>
                      <a:pt x="0" y="77018"/>
                      <a:pt x="77018" y="0"/>
                      <a:pt x="172024" y="0"/>
                    </a:cubicBezTo>
                  </a:path>
                </a:pathLst>
              </a:cu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" name="直接连接符 8">
                <a:extLst>
                  <a:ext uri="{FF2B5EF4-FFF2-40B4-BE49-F238E27FC236}">
                    <a16:creationId xmlns:a16="http://schemas.microsoft.com/office/drawing/2014/main" id="{868C222F-68A2-0005-8B18-90F15AC27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953770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连接符 10">
                <a:extLst>
                  <a:ext uri="{FF2B5EF4-FFF2-40B4-BE49-F238E27FC236}">
                    <a16:creationId xmlns:a16="http://schemas.microsoft.com/office/drawing/2014/main" id="{ACD57BCF-21A8-DE2A-BF74-67EACB90F6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46494" y="3981132"/>
                <a:ext cx="699647" cy="0"/>
              </a:xfrm>
              <a:prstGeom prst="line">
                <a:avLst/>
              </a:prstGeom>
              <a:ln w="19050" cmpd="dbl"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E37B625-677F-BFF1-5AFA-FAA97A50D6CE}"/>
                    </a:ext>
                  </a:extLst>
                </p:cNvPr>
                <p:cNvSpPr txBox="1"/>
                <p:nvPr/>
              </p:nvSpPr>
              <p:spPr>
                <a:xfrm>
                  <a:off x="532006" y="4409855"/>
                  <a:ext cx="6929243" cy="9079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游戏</a:t>
                  </a: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《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精灵宝可梦</a:t>
                  </a: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》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中，某等级为</a:t>
                  </a: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Lv.100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的宝可梦使用技能「精神波动」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/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“对目标造成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使用者等级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×(0.5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～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1.5</a:t>
                  </a:r>
                  <a:r>
                    <a:rPr lang="zh-CN" altLang="en-US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之间等可能的随机值</a:t>
                  </a:r>
                  <a:r>
                    <a:rPr lang="en-US" altLang="zh-CN" sz="1600" dirty="0">
                      <a:solidFill>
                        <a:srgbClr val="FF000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)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的固定伤害”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spcBef>
                      <a:spcPts val="600"/>
                    </a:spcBef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随机变量</a:t>
                  </a:r>
                  <a14:m>
                    <m:oMath xmlns:m="http://schemas.openxmlformats.org/officeDocument/2006/math">
                      <m:r>
                        <a:rPr lang="en-US" altLang="zh-CN" sz="1600" b="1" i="1" dirty="0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喵大叔楷书" panose="02000503000000000000" pitchFamily="2" charset="-122"/>
                        </a:rPr>
                        <m:t>𝑿</m:t>
                      </m:r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表示该宝可梦</a:t>
                  </a:r>
                  <a:r>
                    <a:rPr lang="zh-CN" altLang="en-US" sz="1600" dirty="0">
                      <a:solidFill>
                        <a:srgbClr val="00B0F0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造成的伤害数值</a:t>
                  </a:r>
                  <a:endParaRPr lang="en-US" altLang="zh-CN" sz="1600" dirty="0">
                    <a:solidFill>
                      <a:srgbClr val="00B0F0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CE37B625-677F-BFF1-5AFA-FAA97A50D6C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2006" y="4409855"/>
                  <a:ext cx="6929243" cy="907941"/>
                </a:xfrm>
                <a:prstGeom prst="rect">
                  <a:avLst/>
                </a:prstGeom>
                <a:blipFill>
                  <a:blip r:embed="rId11"/>
                  <a:stretch>
                    <a:fillRect t="-2013" b="-67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4B6906B-B21C-8E44-862B-5C36FBBC57C2}"/>
                  </a:ext>
                </a:extLst>
              </p:cNvPr>
              <p:cNvSpPr txBox="1"/>
              <p:nvPr/>
            </p:nvSpPr>
            <p:spPr>
              <a:xfrm>
                <a:off x="2209514" y="5423092"/>
                <a:ext cx="3565033" cy="710194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𝑝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𝑥</m:t>
                      </m:r>
                      <m:r>
                        <a:rPr lang="en-US" altLang="zh-CN" i="1" smtClean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eqArrPr>
                            <m:e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.01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,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50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≤150</m:t>
                              </m:r>
                            </m:e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0,     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  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其他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  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       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    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84B6906B-B21C-8E44-862B-5C36FBBC5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514" y="5423092"/>
                <a:ext cx="3565033" cy="71019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>
            <a:extLst>
              <a:ext uri="{FF2B5EF4-FFF2-40B4-BE49-F238E27FC236}">
                <a16:creationId xmlns:a16="http://schemas.microsoft.com/office/drawing/2014/main" id="{1C03D7B4-6ACA-D5F1-5568-52F572CE39B6}"/>
              </a:ext>
            </a:extLst>
          </p:cNvPr>
          <p:cNvGrpSpPr/>
          <p:nvPr/>
        </p:nvGrpSpPr>
        <p:grpSpPr>
          <a:xfrm>
            <a:off x="8126344" y="1811700"/>
            <a:ext cx="3453704" cy="1960799"/>
            <a:chOff x="7913745" y="3206117"/>
            <a:chExt cx="3453704" cy="1960799"/>
          </a:xfrm>
        </p:grpSpPr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96AE2C08-1DAB-B4D0-1B65-E37902A30BF0}"/>
                </a:ext>
              </a:extLst>
            </p:cNvPr>
            <p:cNvCxnSpPr>
              <a:cxnSpLocks/>
            </p:cNvCxnSpPr>
            <p:nvPr/>
          </p:nvCxnSpPr>
          <p:spPr>
            <a:xfrm>
              <a:off x="8079697" y="4843751"/>
              <a:ext cx="321289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4CE77D43-6D8D-DE8C-A748-7EAD143660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9669" y="3206117"/>
              <a:ext cx="0" cy="196079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7CD35A-C703-FBA6-BCD7-0DE3D151D9C3}"/>
                    </a:ext>
                  </a:extLst>
                </p:cNvPr>
                <p:cNvSpPr txBox="1"/>
                <p:nvPr/>
              </p:nvSpPr>
              <p:spPr>
                <a:xfrm>
                  <a:off x="8166636" y="4885637"/>
                  <a:ext cx="22365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647CD35A-C703-FBA6-BCD7-0DE3D151D9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6636" y="4885637"/>
                  <a:ext cx="223651" cy="276999"/>
                </a:xfrm>
                <a:prstGeom prst="rect">
                  <a:avLst/>
                </a:prstGeom>
                <a:blipFill>
                  <a:blip r:embed="rId13"/>
                  <a:stretch>
                    <a:fillRect l="-25000" r="-22222" b="-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6CC6DC2-F15A-F80A-20C7-D756089EE664}"/>
                    </a:ext>
                  </a:extLst>
                </p:cNvPr>
                <p:cNvSpPr txBox="1"/>
                <p:nvPr/>
              </p:nvSpPr>
              <p:spPr>
                <a:xfrm>
                  <a:off x="11196120" y="4882223"/>
                  <a:ext cx="171329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66CC6DC2-F15A-F80A-20C7-D756089EE6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96120" y="4882223"/>
                  <a:ext cx="171329" cy="246221"/>
                </a:xfrm>
                <a:prstGeom prst="rect">
                  <a:avLst/>
                </a:prstGeom>
                <a:blipFill>
                  <a:blip r:embed="rId14"/>
                  <a:stretch>
                    <a:fillRect l="-14286" r="-1071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9F53E5A-5277-E1E0-1A25-C90CC5B7A6F7}"/>
                    </a:ext>
                  </a:extLst>
                </p:cNvPr>
                <p:cNvSpPr txBox="1"/>
                <p:nvPr/>
              </p:nvSpPr>
              <p:spPr>
                <a:xfrm>
                  <a:off x="7913745" y="3206117"/>
                  <a:ext cx="457561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zh-CN" altLang="en-US" sz="1600" dirty="0"/>
                </a:p>
              </p:txBody>
            </p:sp>
          </mc:Choice>
          <mc:Fallback xmlns="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59F53E5A-5277-E1E0-1A25-C90CC5B7A6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13745" y="3206117"/>
                  <a:ext cx="457561" cy="246221"/>
                </a:xfrm>
                <a:prstGeom prst="rect">
                  <a:avLst/>
                </a:prstGeom>
                <a:blipFill>
                  <a:blip r:embed="rId15"/>
                  <a:stretch>
                    <a:fillRect l="-9333" r="-14667" b="-3170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4012E6C6-ADB8-6DE7-19AA-912F7CA39521}"/>
              </a:ext>
            </a:extLst>
          </p:cNvPr>
          <p:cNvGrpSpPr/>
          <p:nvPr/>
        </p:nvGrpSpPr>
        <p:grpSpPr>
          <a:xfrm>
            <a:off x="8408474" y="2432141"/>
            <a:ext cx="2954042" cy="1018925"/>
            <a:chOff x="7661963" y="2432141"/>
            <a:chExt cx="2954042" cy="1018925"/>
          </a:xfrm>
        </p:grpSpPr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0FA1B541-96AD-702C-9875-3B03DA7F2E85}"/>
                </a:ext>
              </a:extLst>
            </p:cNvPr>
            <p:cNvGrpSpPr/>
            <p:nvPr/>
          </p:nvGrpSpPr>
          <p:grpSpPr>
            <a:xfrm>
              <a:off x="8645757" y="2432141"/>
              <a:ext cx="1440000" cy="1003271"/>
              <a:chOff x="8645757" y="2463226"/>
              <a:chExt cx="1440000" cy="1003271"/>
            </a:xfrm>
          </p:grpSpPr>
          <p:cxnSp>
            <p:nvCxnSpPr>
              <p:cNvPr id="27" name="直接连接符 26">
                <a:extLst>
                  <a:ext uri="{FF2B5EF4-FFF2-40B4-BE49-F238E27FC236}">
                    <a16:creationId xmlns:a16="http://schemas.microsoft.com/office/drawing/2014/main" id="{5982B24D-DEC7-5DF8-8213-D7ED863CBF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075270" y="2463226"/>
                <a:ext cx="0" cy="1003271"/>
              </a:xfrm>
              <a:prstGeom prst="line">
                <a:avLst/>
              </a:prstGeom>
              <a:ln w="12700">
                <a:solidFill>
                  <a:schemeClr val="accent5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E67468BC-4413-3C0A-2BE6-B4A1FE81095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52455" y="2463226"/>
                <a:ext cx="0" cy="1003271"/>
              </a:xfrm>
              <a:prstGeom prst="line">
                <a:avLst/>
              </a:prstGeom>
              <a:ln w="12700">
                <a:solidFill>
                  <a:schemeClr val="accent5">
                    <a:lumMod val="40000"/>
                    <a:lumOff val="6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连接符 34">
                <a:extLst>
                  <a:ext uri="{FF2B5EF4-FFF2-40B4-BE49-F238E27FC236}">
                    <a16:creationId xmlns:a16="http://schemas.microsoft.com/office/drawing/2014/main" id="{9BF7B8BE-79F4-A462-A6DD-F1490D8181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45757" y="2463226"/>
                <a:ext cx="1440000" cy="0"/>
              </a:xfrm>
              <a:prstGeom prst="line">
                <a:avLst/>
              </a:prstGeom>
              <a:ln w="28575">
                <a:solidFill>
                  <a:srgbClr val="00B0F0"/>
                </a:solidFill>
              </a:ln>
            </p:spPr>
            <p:style>
              <a:lnRef idx="1">
                <a:schemeClr val="accent5"/>
              </a:lnRef>
              <a:fillRef idx="0">
                <a:schemeClr val="accent5"/>
              </a:fillRef>
              <a:effectRef idx="0">
                <a:schemeClr val="accent5"/>
              </a:effectRef>
              <a:fontRef idx="minor">
                <a:schemeClr val="tx1"/>
              </a:fontRef>
            </p:style>
          </p:cxnSp>
        </p:grp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934F3948-6843-6547-B50C-9FD7F7A62AD8}"/>
                </a:ext>
              </a:extLst>
            </p:cNvPr>
            <p:cNvCxnSpPr>
              <a:cxnSpLocks/>
            </p:cNvCxnSpPr>
            <p:nvPr/>
          </p:nvCxnSpPr>
          <p:spPr>
            <a:xfrm>
              <a:off x="7661963" y="3451066"/>
              <a:ext cx="983794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21BC144C-2E1B-AA87-3AC3-920571CB5D0B}"/>
                </a:ext>
              </a:extLst>
            </p:cNvPr>
            <p:cNvCxnSpPr>
              <a:cxnSpLocks/>
            </p:cNvCxnSpPr>
            <p:nvPr/>
          </p:nvCxnSpPr>
          <p:spPr>
            <a:xfrm>
              <a:off x="10075269" y="3449913"/>
              <a:ext cx="540736" cy="0"/>
            </a:xfrm>
            <a:prstGeom prst="line">
              <a:avLst/>
            </a:prstGeom>
            <a:ln w="28575">
              <a:solidFill>
                <a:srgbClr val="00B0F0"/>
              </a:solidFill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</p:grpSp>
      <p:grpSp>
        <p:nvGrpSpPr>
          <p:cNvPr id="60" name="组合 59">
            <a:extLst>
              <a:ext uri="{FF2B5EF4-FFF2-40B4-BE49-F238E27FC236}">
                <a16:creationId xmlns:a16="http://schemas.microsoft.com/office/drawing/2014/main" id="{31845D9E-DDF9-DC31-320F-E6A271FF4000}"/>
              </a:ext>
            </a:extLst>
          </p:cNvPr>
          <p:cNvGrpSpPr/>
          <p:nvPr/>
        </p:nvGrpSpPr>
        <p:grpSpPr>
          <a:xfrm>
            <a:off x="8188863" y="2312485"/>
            <a:ext cx="2831690" cy="1440344"/>
            <a:chOff x="7442352" y="2312485"/>
            <a:chExt cx="2831690" cy="14403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58A5856-962A-9FD0-26A2-E9D2F010602A}"/>
                    </a:ext>
                  </a:extLst>
                </p:cNvPr>
                <p:cNvSpPr txBox="1"/>
                <p:nvPr/>
              </p:nvSpPr>
              <p:spPr>
                <a:xfrm>
                  <a:off x="7442352" y="2312485"/>
                  <a:ext cx="439223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.01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38" name="文本框 37">
                  <a:extLst>
                    <a:ext uri="{FF2B5EF4-FFF2-40B4-BE49-F238E27FC236}">
                      <a16:creationId xmlns:a16="http://schemas.microsoft.com/office/drawing/2014/main" id="{258A5856-962A-9FD0-26A2-E9D2F01060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2352" y="2312485"/>
                  <a:ext cx="439223" cy="246221"/>
                </a:xfrm>
                <a:prstGeom prst="rect">
                  <a:avLst/>
                </a:prstGeom>
                <a:blipFill>
                  <a:blip r:embed="rId16"/>
                  <a:stretch>
                    <a:fillRect l="-8333" r="-8333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1015580-E9E1-7353-6F5E-9216259BEEAC}"/>
                    </a:ext>
                  </a:extLst>
                </p:cNvPr>
                <p:cNvSpPr txBox="1"/>
                <p:nvPr/>
              </p:nvSpPr>
              <p:spPr>
                <a:xfrm>
                  <a:off x="8503891" y="3506608"/>
                  <a:ext cx="283732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39" name="文本框 38">
                  <a:extLst>
                    <a:ext uri="{FF2B5EF4-FFF2-40B4-BE49-F238E27FC236}">
                      <a16:creationId xmlns:a16="http://schemas.microsoft.com/office/drawing/2014/main" id="{81015580-E9E1-7353-6F5E-9216259BEE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3891" y="3506608"/>
                  <a:ext cx="283732" cy="246221"/>
                </a:xfrm>
                <a:prstGeom prst="rect">
                  <a:avLst/>
                </a:prstGeom>
                <a:blipFill>
                  <a:blip r:embed="rId17"/>
                  <a:stretch>
                    <a:fillRect l="-14894" r="-12766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E3618B5-4B68-9B41-3A11-551D20B01439}"/>
                    </a:ext>
                  </a:extLst>
                </p:cNvPr>
                <p:cNvSpPr txBox="1"/>
                <p:nvPr/>
              </p:nvSpPr>
              <p:spPr>
                <a:xfrm>
                  <a:off x="9876497" y="3506607"/>
                  <a:ext cx="39754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40" name="文本框 39">
                  <a:extLst>
                    <a:ext uri="{FF2B5EF4-FFF2-40B4-BE49-F238E27FC236}">
                      <a16:creationId xmlns:a16="http://schemas.microsoft.com/office/drawing/2014/main" id="{8E3618B5-4B68-9B41-3A11-551D20B014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6497" y="3506607"/>
                  <a:ext cx="397545" cy="246221"/>
                </a:xfrm>
                <a:prstGeom prst="rect">
                  <a:avLst/>
                </a:prstGeom>
                <a:blipFill>
                  <a:blip r:embed="rId18"/>
                  <a:stretch>
                    <a:fillRect l="-10769" r="-7692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0D17279B-B15F-D7AE-F672-82BFFCC86712}"/>
                    </a:ext>
                  </a:extLst>
                </p:cNvPr>
                <p:cNvSpPr txBox="1"/>
                <p:nvPr/>
              </p:nvSpPr>
              <p:spPr>
                <a:xfrm>
                  <a:off x="9166983" y="3506606"/>
                  <a:ext cx="397545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</a:rPr>
                          <m:t>00</m:t>
                        </m:r>
                      </m:oMath>
                    </m:oMathPara>
                  </a14:m>
                  <a:endParaRPr lang="en-US" altLang="zh-CN" sz="1600" dirty="0"/>
                </a:p>
              </p:txBody>
            </p:sp>
          </mc:Choice>
          <mc:Fallback xmlns="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0D17279B-B15F-D7AE-F672-82BFFCC867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66983" y="3506606"/>
                  <a:ext cx="397545" cy="246221"/>
                </a:xfrm>
                <a:prstGeom prst="rect">
                  <a:avLst/>
                </a:prstGeom>
                <a:blipFill>
                  <a:blip r:embed="rId19"/>
                  <a:stretch>
                    <a:fillRect l="-9231" r="-9231" b="-48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1" name="文本框 50">
            <a:extLst>
              <a:ext uri="{FF2B5EF4-FFF2-40B4-BE49-F238E27FC236}">
                <a16:creationId xmlns:a16="http://schemas.microsoft.com/office/drawing/2014/main" id="{BF789817-96F6-547F-30F7-2F3DE98122DD}"/>
              </a:ext>
            </a:extLst>
          </p:cNvPr>
          <p:cNvSpPr txBox="1"/>
          <p:nvPr/>
        </p:nvSpPr>
        <p:spPr>
          <a:xfrm>
            <a:off x="9087047" y="3834437"/>
            <a:ext cx="205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B0F0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均匀分布的概率密度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D7D51376-E8F4-0C35-756D-411593A81C99}"/>
                  </a:ext>
                </a:extLst>
              </p:cNvPr>
              <p:cNvSpPr txBox="1"/>
              <p:nvPr/>
            </p:nvSpPr>
            <p:spPr>
              <a:xfrm>
                <a:off x="8302318" y="4370469"/>
                <a:ext cx="3277730" cy="1013739"/>
              </a:xfrm>
              <a:prstGeom prst="rect">
                <a:avLst/>
              </a:prstGeom>
              <a:noFill/>
              <a:ln w="127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600" dirty="0">
                    <a:solidFill>
                      <a:schemeClr val="bg1"/>
                    </a:solidFill>
                    <a:highlight>
                      <a:srgbClr val="808080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计算造成的伤害值小于</a:t>
                </a:r>
                <a:r>
                  <a:rPr lang="en-US" altLang="zh-CN" sz="1600" dirty="0">
                    <a:solidFill>
                      <a:schemeClr val="bg1"/>
                    </a:solidFill>
                    <a:highlight>
                      <a:srgbClr val="808080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100</a:t>
                </a:r>
                <a:r>
                  <a:rPr lang="zh-CN" altLang="en-US" sz="1600" dirty="0">
                    <a:solidFill>
                      <a:schemeClr val="bg1"/>
                    </a:solidFill>
                    <a:highlight>
                      <a:srgbClr val="808080"/>
                    </a:highlight>
                    <a:latin typeface="楷体" panose="02010609060101010101" pitchFamily="49" charset="-122"/>
                    <a:ea typeface="楷体" panose="02010609060101010101" pitchFamily="49" charset="-122"/>
                  </a:rPr>
                  <a:t>的概率</a:t>
                </a:r>
                <a:endParaRPr lang="en-US" altLang="zh-CN" sz="1600" dirty="0">
                  <a:solidFill>
                    <a:schemeClr val="bg1"/>
                  </a:solidFill>
                  <a:highlight>
                    <a:srgbClr val="808080"/>
                  </a:highlight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&lt;100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}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100</m:t>
                          </m:r>
                        </m:sup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𝑑𝑥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=0.5</m:t>
                          </m:r>
                        </m:e>
                      </m:nary>
                    </m:oMath>
                  </m:oMathPara>
                </a14:m>
                <a:endParaRPr lang="zh-CN" altLang="en-US" sz="16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D7D51376-E8F4-0C35-756D-411593A81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2318" y="4370469"/>
                <a:ext cx="3277730" cy="101373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1270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38869861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15" grpId="0" animBg="1"/>
      <p:bldP spid="51" grpId="0"/>
      <p:bldP spid="5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连续型随机变量的概率分布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8D392A30-0FD9-8EC8-A0B7-A51806F9A808}"/>
              </a:ext>
            </a:extLst>
          </p:cNvPr>
          <p:cNvGrpSpPr/>
          <p:nvPr/>
        </p:nvGrpSpPr>
        <p:grpSpPr>
          <a:xfrm>
            <a:off x="628806" y="1393188"/>
            <a:ext cx="5804670" cy="2141493"/>
            <a:chOff x="709008" y="3793473"/>
            <a:chExt cx="5804670" cy="2141493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C81D07B3-1A74-42B0-256B-29AAC9E1C737}"/>
                </a:ext>
              </a:extLst>
            </p:cNvPr>
            <p:cNvGrpSpPr/>
            <p:nvPr/>
          </p:nvGrpSpPr>
          <p:grpSpPr>
            <a:xfrm>
              <a:off x="709010" y="3793473"/>
              <a:ext cx="5804668" cy="391100"/>
              <a:chOff x="2030774" y="1772551"/>
              <a:chExt cx="5804668" cy="391100"/>
            </a:xfrm>
          </p:grpSpPr>
          <p:cxnSp>
            <p:nvCxnSpPr>
              <p:cNvPr id="66" name="直接连接符 65">
                <a:extLst>
                  <a:ext uri="{FF2B5EF4-FFF2-40B4-BE49-F238E27FC236}">
                    <a16:creationId xmlns:a16="http://schemas.microsoft.com/office/drawing/2014/main" id="{985957F3-29D2-B3A9-85CF-7B30589B3B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030774" y="2163651"/>
                <a:ext cx="5804668" cy="0"/>
              </a:xfrm>
              <a:prstGeom prst="line">
                <a:avLst/>
              </a:prstGeom>
              <a:ln w="38100">
                <a:solidFill>
                  <a:srgbClr val="00B0F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3D1366D7-B53E-9623-E1D9-2E930245A628}"/>
                  </a:ext>
                </a:extLst>
              </p:cNvPr>
              <p:cNvSpPr txBox="1"/>
              <p:nvPr/>
            </p:nvSpPr>
            <p:spPr>
              <a:xfrm>
                <a:off x="4199266" y="1772551"/>
                <a:ext cx="146768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dirty="0">
                    <a:latin typeface="汉仪润圆-65简" panose="00020600040101010101" pitchFamily="18" charset="-122"/>
                    <a:ea typeface="汉仪润圆-65简" panose="00020600040101010101" pitchFamily="18" charset="-122"/>
                  </a:rPr>
                  <a:t>正态分布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/>
                <p:nvPr/>
              </p:nvSpPr>
              <p:spPr>
                <a:xfrm>
                  <a:off x="709008" y="4270123"/>
                  <a:ext cx="5804670" cy="305780"/>
                </a:xfrm>
                <a:prstGeom prst="rect">
                  <a:avLst/>
                </a:prstGeom>
                <a:solidFill>
                  <a:srgbClr val="00B0F0"/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自然界中各种随机变量符合的分布规律，记作</a:t>
                  </a:r>
                  <a14:m>
                    <m:oMath xmlns:m="http://schemas.openxmlformats.org/officeDocument/2006/math">
                      <m:r>
                        <a:rPr lang="en-US" altLang="zh-CN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  <m:r>
                        <a:rPr lang="en-US" altLang="zh-CN" sz="14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~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𝑁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(</m:t>
                      </m:r>
                      <m:r>
                        <a:rPr lang="zh-CN" altLang="en-US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𝜇</m:t>
                      </m:r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,</m:t>
                      </m:r>
                      <m:sSup>
                        <m:sSupPr>
                          <m:ctrlP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</m:ctrlPr>
                        </m:sSupPr>
                        <m:e>
                          <m:r>
                            <a:rPr lang="zh-CN" altLang="en-US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𝜎</m:t>
                          </m:r>
                        </m:e>
                        <m:sup>
                          <m:r>
                            <a:rPr lang="en-US" altLang="zh-CN" sz="1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2</m:t>
                          </m:r>
                        </m:sup>
                      </m:sSup>
                      <m:r>
                        <a:rPr lang="en-US" altLang="zh-CN" sz="1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400" dirty="0">
                    <a:solidFill>
                      <a:schemeClr val="bg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68" name="文本框 67">
                  <a:extLst>
                    <a:ext uri="{FF2B5EF4-FFF2-40B4-BE49-F238E27FC236}">
                      <a16:creationId xmlns:a16="http://schemas.microsoft.com/office/drawing/2014/main" id="{854BC839-F031-E680-4750-697C65232C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4270123"/>
                  <a:ext cx="5804670" cy="305780"/>
                </a:xfrm>
                <a:prstGeom prst="rect">
                  <a:avLst/>
                </a:prstGeom>
                <a:blipFill>
                  <a:blip r:embed="rId5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/>
                <p:nvPr/>
              </p:nvSpPr>
              <p:spPr>
                <a:xfrm>
                  <a:off x="1860269" y="4718855"/>
                  <a:ext cx="4653409" cy="708464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𝜑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=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𝜎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𝜋</m:t>
                                </m:r>
                              </m:e>
                            </m:rad>
                          </m:den>
                        </m:f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(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𝑥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−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𝜇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)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²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2</m:t>
                                </m:r>
                                <m:r>
                                  <a:rPr lang="zh-CN" altLang="en-US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𝜎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²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    (−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∞&lt;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&lt;+∞)</m:t>
                        </m:r>
                      </m:oMath>
                    </m:oMathPara>
                  </a14:m>
                  <a:endPara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0" name="文本框 69">
                  <a:extLst>
                    <a:ext uri="{FF2B5EF4-FFF2-40B4-BE49-F238E27FC236}">
                      <a16:creationId xmlns:a16="http://schemas.microsoft.com/office/drawing/2014/main" id="{191A65BB-8540-960C-75BF-622290FFD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269" y="4718855"/>
                  <a:ext cx="4653409" cy="7084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036439B9-B880-F531-23E3-CBB0B3FE1ED2}"/>
                    </a:ext>
                  </a:extLst>
                </p:cNvPr>
                <p:cNvSpPr txBox="1"/>
                <p:nvPr/>
              </p:nvSpPr>
              <p:spPr>
                <a:xfrm>
                  <a:off x="709008" y="4718855"/>
                  <a:ext cx="1105200" cy="708399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90000"/>
                    </a:lnSpc>
                    <a:spcBef>
                      <a:spcPts val="1200"/>
                    </a:spcBef>
                    <a:spcAft>
                      <a:spcPts val="700"/>
                    </a:spcAft>
                  </a:pPr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密度函数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71" name="文本框 70">
                  <a:extLst>
                    <a:ext uri="{FF2B5EF4-FFF2-40B4-BE49-F238E27FC236}">
                      <a16:creationId xmlns:a16="http://schemas.microsoft.com/office/drawing/2014/main" id="{036439B9-B880-F531-23E3-CBB0B3FE1E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4718855"/>
                  <a:ext cx="1105200" cy="7083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/>
                <p:nvPr/>
              </p:nvSpPr>
              <p:spPr>
                <a:xfrm>
                  <a:off x="1860594" y="5473301"/>
                  <a:ext cx="4653084" cy="461665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indent="360000"/>
                  <a14:m>
                    <m:oMath xmlns:m="http://schemas.openxmlformats.org/officeDocument/2006/math">
                      <m:r>
                        <a:rPr lang="en-US" altLang="zh-CN" sz="1200" i="1" dirty="0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：随机变量       </a:t>
                  </a:r>
                  <a14:m>
                    <m:oMath xmlns:m="http://schemas.openxmlformats.org/officeDocument/2006/math">
                      <m:r>
                        <a:rPr lang="en-US" altLang="zh-CN" sz="1200" i="1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𝑥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：</a:t>
                  </a:r>
                  <a:r>
                    <a:rPr lang="en-US" altLang="zh-CN" sz="1200" dirty="0">
                      <a:ea typeface="华文宋体" panose="02010600040101010101" pitchFamily="2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的可能取值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indent="360000"/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𝜇：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的数学期望    𝜎：</a:t>
                  </a:r>
                  <a:r>
                    <a:rPr lang="en-US" altLang="zh-CN" sz="1200" dirty="0">
                      <a:ea typeface="楷体" panose="02010609060101010101" pitchFamily="49" charset="-122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latin typeface="Cambria Math" panose="02040503050406030204" pitchFamily="18" charset="0"/>
                          <a:ea typeface="楷体" panose="02010609060101010101" pitchFamily="49" charset="-122"/>
                        </a:rPr>
                        <m:t>𝑋</m:t>
                      </m:r>
                    </m:oMath>
                  </a14:m>
                  <a:r>
                    <a:rPr lang="zh-CN" altLang="en-US" sz="12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的方差</a:t>
                  </a:r>
                  <a:endParaRPr lang="en-US" altLang="zh-CN" sz="12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89DEDD72-1E1B-391D-FA46-A4CC0FD743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0594" y="5473301"/>
                  <a:ext cx="4653084" cy="461665"/>
                </a:xfrm>
                <a:prstGeom prst="rect">
                  <a:avLst/>
                </a:prstGeom>
                <a:blipFill>
                  <a:blip r:embed="rId8"/>
                  <a:stretch>
                    <a:fillRect t="-1316" b="-92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/>
                <p:nvPr/>
              </p:nvSpPr>
              <p:spPr>
                <a:xfrm>
                  <a:off x="709008" y="5477917"/>
                  <a:ext cx="1105200" cy="452432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30000"/>
                    </a:lnSpc>
                  </a:pPr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 </m:t>
                        </m:r>
                        <m:r>
                          <a:rPr lang="zh-CN" altLang="en-US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符号</m:t>
                        </m:r>
                      </m:oMath>
                    </m:oMathPara>
                  </a14:m>
                  <a:endParaRPr lang="en-US" altLang="zh-CN" dirty="0">
                    <a:latin typeface="华文宋体" panose="02010600040101010101" pitchFamily="2" charset="-122"/>
                    <a:ea typeface="华文宋体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81" name="文本框 80">
                  <a:extLst>
                    <a:ext uri="{FF2B5EF4-FFF2-40B4-BE49-F238E27FC236}">
                      <a16:creationId xmlns:a16="http://schemas.microsoft.com/office/drawing/2014/main" id="{11712E95-2C36-31C7-650B-4EB9B0B8A3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9008" y="5477917"/>
                  <a:ext cx="1105200" cy="452432"/>
                </a:xfrm>
                <a:prstGeom prst="rect">
                  <a:avLst/>
                </a:prstGeom>
                <a:blipFill>
                  <a:blip r:embed="rId9"/>
                  <a:stretch>
                    <a:fillRect b="-4054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459E8C82-CAF0-475C-6468-1B946D757C78}"/>
              </a:ext>
            </a:extLst>
          </p:cNvPr>
          <p:cNvSpPr txBox="1"/>
          <p:nvPr/>
        </p:nvSpPr>
        <p:spPr>
          <a:xfrm>
            <a:off x="628805" y="3642974"/>
            <a:ext cx="5804668" cy="1209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5000"/>
              </a:lnSpc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以我们目前的学习进度，暂时无法根据试验本身的性质推知随机变量是否服从正态分布（见教材第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4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章“中心极限定理”）</a:t>
            </a:r>
            <a:endParaRPr lang="en-US" altLang="zh-CN" sz="14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85750" indent="-285750">
              <a:lnSpc>
                <a:spcPct val="125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本部分的主要任务是</a:t>
            </a:r>
            <a:r>
              <a:rPr lang="en-US" altLang="zh-CN" sz="1400" dirty="0"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已知随机变量服从正态分布</a:t>
            </a:r>
            <a:r>
              <a:rPr lang="zh-CN" altLang="en-US" sz="1400" dirty="0">
                <a:latin typeface="楷体" panose="02010609060101010101" pitchFamily="49" charset="-122"/>
                <a:ea typeface="楷体" panose="02010609060101010101" pitchFamily="49" charset="-122"/>
              </a:rPr>
              <a:t>的情况下，</a:t>
            </a:r>
            <a:r>
              <a:rPr lang="zh-CN" altLang="en-US" sz="1400" b="1" dirty="0">
                <a:latin typeface="楷体" panose="02010609060101010101" pitchFamily="49" charset="-122"/>
                <a:ea typeface="楷体" panose="02010609060101010101" pitchFamily="49" charset="-122"/>
              </a:rPr>
              <a:t>计算随机变量取某一区间值的概率</a:t>
            </a:r>
            <a:endParaRPr lang="en-US" altLang="zh-CN" sz="1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6B20C368-5B30-FF08-8BEC-58FD1ACD77D4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10607" t="7512" r="6454" b="5478"/>
          <a:stretch/>
        </p:blipFill>
        <p:spPr>
          <a:xfrm>
            <a:off x="7108520" y="1393188"/>
            <a:ext cx="4162773" cy="327529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299777B-FE3E-7635-7A11-9B124A0AC471}"/>
              </a:ext>
            </a:extLst>
          </p:cNvPr>
          <p:cNvSpPr txBox="1"/>
          <p:nvPr/>
        </p:nvSpPr>
        <p:spPr>
          <a:xfrm>
            <a:off x="8166754" y="4656144"/>
            <a:ext cx="20504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00B0F0"/>
                </a:solidFill>
                <a:latin typeface="汉仪润圆-65简" panose="00020600040101010101" pitchFamily="18" charset="-122"/>
                <a:ea typeface="汉仪润圆-65简" panose="00020600040101010101" pitchFamily="18" charset="-122"/>
              </a:rPr>
              <a:t>正态分布的概率密度</a:t>
            </a:r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B531AED-B138-AFEC-2AC4-89224B2E316D}"/>
              </a:ext>
            </a:extLst>
          </p:cNvPr>
          <p:cNvGrpSpPr/>
          <p:nvPr/>
        </p:nvGrpSpPr>
        <p:grpSpPr>
          <a:xfrm>
            <a:off x="7108521" y="5022700"/>
            <a:ext cx="4162772" cy="528705"/>
            <a:chOff x="7108521" y="5022700"/>
            <a:chExt cx="4162772" cy="528705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1E01E07D-22A0-506B-600B-CF91632242B2}"/>
                </a:ext>
              </a:extLst>
            </p:cNvPr>
            <p:cNvSpPr/>
            <p:nvPr/>
          </p:nvSpPr>
          <p:spPr>
            <a:xfrm>
              <a:off x="7108521" y="5022700"/>
              <a:ext cx="4162772" cy="528705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48F4D74-EAED-2F57-FB45-CAF99B437644}"/>
                    </a:ext>
                  </a:extLst>
                </p:cNvPr>
                <p:cNvSpPr txBox="1"/>
                <p:nvPr/>
              </p:nvSpPr>
              <p:spPr>
                <a:xfrm>
                  <a:off x="7237195" y="5131041"/>
                  <a:ext cx="19501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1400" b="0" i="1" smtClean="0">
                          <a:latin typeface="Cambria Math" panose="02040503050406030204" pitchFamily="18" charset="0"/>
                        </a:rPr>
                        <m:t>𝜇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是曲线对称轴</a:t>
                  </a:r>
                </a:p>
              </p:txBody>
            </p:sp>
          </mc:Choice>
          <mc:Fallback xmlns="">
            <p:sp>
              <p:nvSpPr>
                <p:cNvPr id="17" name="文本框 16">
                  <a:extLst>
                    <a:ext uri="{FF2B5EF4-FFF2-40B4-BE49-F238E27FC236}">
                      <a16:creationId xmlns:a16="http://schemas.microsoft.com/office/drawing/2014/main" id="{E48F4D74-EAED-2F57-FB45-CAF99B4376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7195" y="5131041"/>
                  <a:ext cx="1950141" cy="307777"/>
                </a:xfrm>
                <a:prstGeom prst="rect">
                  <a:avLst/>
                </a:prstGeom>
                <a:blipFill>
                  <a:blip r:embed="rId12"/>
                  <a:stretch>
                    <a:fillRect t="-6000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31BFA71-8160-E3CE-0FA1-4F8C967E6DB8}"/>
                    </a:ext>
                  </a:extLst>
                </p:cNvPr>
                <p:cNvSpPr txBox="1"/>
                <p:nvPr/>
              </p:nvSpPr>
              <p:spPr>
                <a:xfrm>
                  <a:off x="9187336" y="5131040"/>
                  <a:ext cx="195014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a:rPr lang="zh-CN" altLang="en-US" sz="1400" b="0" i="1" smtClean="0">
                          <a:latin typeface="Cambria Math" panose="02040503050406030204" pitchFamily="18" charset="0"/>
                        </a:rPr>
                        <m:t>𝜎</m:t>
                      </m:r>
                    </m:oMath>
                  </a14:m>
                  <a:r>
                    <a:rPr lang="zh-CN" altLang="en-US" sz="1400" dirty="0"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越小，分布越集中</a:t>
                  </a:r>
                </a:p>
              </p:txBody>
            </p:sp>
          </mc:Choice>
          <mc:Fallback xmlns=""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531BFA71-8160-E3CE-0FA1-4F8C967E6D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87336" y="5131040"/>
                  <a:ext cx="1950141" cy="307777"/>
                </a:xfrm>
                <a:prstGeom prst="rect">
                  <a:avLst/>
                </a:prstGeom>
                <a:blipFill>
                  <a:blip r:embed="rId13"/>
                  <a:stretch>
                    <a:fillRect t="-6000" r="-938" b="-1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5105BBA3-7D17-6C01-0BB3-A452A2BD759E}"/>
                </a:ext>
              </a:extLst>
            </p:cNvPr>
            <p:cNvCxnSpPr/>
            <p:nvPr/>
          </p:nvCxnSpPr>
          <p:spPr>
            <a:xfrm>
              <a:off x="9165358" y="5105918"/>
              <a:ext cx="0" cy="358019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8441C34-98F8-8D2C-B77E-05AC4A72AC85}"/>
                  </a:ext>
                </a:extLst>
              </p:cNvPr>
              <p:cNvSpPr txBox="1"/>
              <p:nvPr/>
            </p:nvSpPr>
            <p:spPr>
              <a:xfrm>
                <a:off x="628805" y="4995424"/>
                <a:ext cx="5804672" cy="7188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{−1≤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1}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p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𝜑</m:t>
                          </m:r>
                          <m:d>
                            <m:d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d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𝑥</m:t>
                              </m:r>
                            </m:e>
                          </m:d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𝑑𝑥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=</m:t>
                          </m:r>
                          <m:nary>
                            <m:nary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𝜎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𝜋</m:t>
                                      </m:r>
                                    </m:e>
                                  </m:rad>
                                </m:den>
                              </m:f>
                              <m:sSup>
                                <m:sSup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𝑥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−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𝜇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)²</m:t>
                                      </m:r>
                                    </m:num>
                                    <m:den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2</m:t>
                                      </m:r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𝜎</m:t>
                                      </m:r>
                                      <m:r>
                                        <a:rPr lang="en-US" altLang="zh-CN" i="1">
                                          <a:latin typeface="Cambria Math" panose="02040503050406030204" pitchFamily="18" charset="0"/>
                                          <a:ea typeface="楷体" panose="02010609060101010101" pitchFamily="49" charset="-122"/>
                                        </a:rPr>
                                        <m:t>²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𝑑𝑥</m:t>
                              </m:r>
                              <m:r>
                                <a:rPr lang="en-US" altLang="zh-CN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=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 </m:t>
                              </m:r>
                              <m:r>
                                <a:rPr lang="en-US" altLang="zh-CN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?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A8441C34-98F8-8D2C-B77E-05AC4A72A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805" y="4995424"/>
                <a:ext cx="5804672" cy="718851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8A6A6CB7-5E88-0B64-80EE-84449AD082F7}"/>
              </a:ext>
            </a:extLst>
          </p:cNvPr>
          <p:cNvSpPr/>
          <p:nvPr/>
        </p:nvSpPr>
        <p:spPr>
          <a:xfrm>
            <a:off x="3882382" y="4852472"/>
            <a:ext cx="2098577" cy="1003958"/>
          </a:xfrm>
          <a:prstGeom prst="rect">
            <a:avLst/>
          </a:prstGeom>
          <a:noFill/>
          <a:ln w="190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A331570C-2B6B-4316-ABD0-3B94489C2AB4}"/>
              </a:ext>
            </a:extLst>
          </p:cNvPr>
          <p:cNvGrpSpPr/>
          <p:nvPr/>
        </p:nvGrpSpPr>
        <p:grpSpPr>
          <a:xfrm>
            <a:off x="9721715" y="2582974"/>
            <a:ext cx="1298796" cy="1060000"/>
            <a:chOff x="9721715" y="2582974"/>
            <a:chExt cx="1298796" cy="1060000"/>
          </a:xfrm>
        </p:grpSpPr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61CA1C0F-96DD-528B-CDC2-E03A3F77CB6B}"/>
                </a:ext>
              </a:extLst>
            </p:cNvPr>
            <p:cNvCxnSpPr>
              <a:cxnSpLocks/>
              <a:stCxn id="29" idx="2"/>
            </p:cNvCxnSpPr>
            <p:nvPr/>
          </p:nvCxnSpPr>
          <p:spPr>
            <a:xfrm flipH="1">
              <a:off x="9895114" y="3106194"/>
              <a:ext cx="475999" cy="53678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2563DD9-094D-BA8D-46A6-A9BF812CBCF1}"/>
                    </a:ext>
                  </a:extLst>
                </p:cNvPr>
                <p:cNvSpPr txBox="1"/>
                <p:nvPr/>
              </p:nvSpPr>
              <p:spPr>
                <a:xfrm>
                  <a:off x="9721715" y="2582974"/>
                  <a:ext cx="1298796" cy="523220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solidFill>
                    <a:schemeClr val="accent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1400" dirty="0">
                      <a:solidFill>
                        <a:schemeClr val="bg1"/>
                      </a:solidFill>
                      <a:latin typeface="华文中宋" panose="02010600040101010101" pitchFamily="2" charset="-122"/>
                      <a:ea typeface="华文中宋" panose="02010600040101010101" pitchFamily="2" charset="-122"/>
                    </a:rPr>
                    <a:t>标准正态分布</a:t>
                  </a:r>
                  <a:endParaRPr lang="en-US" altLang="zh-CN" sz="1400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𝑋</m:t>
                        </m:r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~</m:t>
                        </m:r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𝑁</m:t>
                        </m:r>
                        <m:r>
                          <a:rPr lang="en-US" altLang="zh-CN" sz="1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(0,1)</m:t>
                        </m:r>
                      </m:oMath>
                    </m:oMathPara>
                  </a14:m>
                  <a:endParaRPr lang="zh-CN" altLang="en-US" sz="1400" dirty="0">
                    <a:solidFill>
                      <a:schemeClr val="bg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endParaRPr>
                </a:p>
              </p:txBody>
            </p:sp>
          </mc:Choice>
          <mc:Fallback xmlns=""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22563DD9-094D-BA8D-46A6-A9BF812CBC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721715" y="2582974"/>
                  <a:ext cx="1298796" cy="523220"/>
                </a:xfrm>
                <a:prstGeom prst="rect">
                  <a:avLst/>
                </a:prstGeom>
                <a:blipFill>
                  <a:blip r:embed="rId15"/>
                  <a:stretch>
                    <a:fillRect t="-1136" b="-3409"/>
                  </a:stretch>
                </a:blipFill>
                <a:ln>
                  <a:solidFill>
                    <a:schemeClr val="accent1"/>
                  </a:solidFill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custDataLst>
      <p:tags r:id="rId1"/>
    </p:custDataLst>
    <p:extLst>
      <p:ext uri="{BB962C8B-B14F-4D97-AF65-F5344CB8AC3E}">
        <p14:creationId xmlns:p14="http://schemas.microsoft.com/office/powerpoint/2010/main" val="3722654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3" grpId="0"/>
      <p:bldP spid="22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连续型随机变量的概率分布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1D409E46-11CA-A883-A601-E3E6A8EED1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1509" t="6910" r="8418" b="5305"/>
          <a:stretch/>
        </p:blipFill>
        <p:spPr>
          <a:xfrm>
            <a:off x="507459" y="2090349"/>
            <a:ext cx="4950082" cy="407016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779EE56-23C2-5A2A-CADB-C701053D087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187" t="6323" r="5867" b="45381"/>
          <a:stretch/>
        </p:blipFill>
        <p:spPr>
          <a:xfrm>
            <a:off x="5766726" y="1393928"/>
            <a:ext cx="5848909" cy="454224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59EC2F-A105-8FFB-2616-221093565214}"/>
                  </a:ext>
                </a:extLst>
              </p:cNvPr>
              <p:cNvSpPr txBox="1"/>
              <p:nvPr/>
            </p:nvSpPr>
            <p:spPr>
              <a:xfrm>
                <a:off x="507461" y="1425186"/>
                <a:ext cx="6138268" cy="4292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人们通过数值计算的方法，得到了 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𝑥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取不同值时 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的大小。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7B59EC2F-A105-8FFB-2616-2210935652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1" y="1425186"/>
                <a:ext cx="6138268" cy="429285"/>
              </a:xfrm>
              <a:prstGeom prst="rect">
                <a:avLst/>
              </a:prstGeom>
              <a:blipFill>
                <a:blip r:embed="rId8"/>
                <a:stretch>
                  <a:fillRect l="-497" b="-1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>
            <a:extLst>
              <a:ext uri="{FF2B5EF4-FFF2-40B4-BE49-F238E27FC236}">
                <a16:creationId xmlns:a16="http://schemas.microsoft.com/office/drawing/2014/main" id="{A86D408F-4AE3-0E87-3092-0AAC00B57701}"/>
              </a:ext>
            </a:extLst>
          </p:cNvPr>
          <p:cNvSpPr txBox="1"/>
          <p:nvPr/>
        </p:nvSpPr>
        <p:spPr>
          <a:xfrm>
            <a:off x="6479297" y="1426877"/>
            <a:ext cx="5136339" cy="429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通过标准正态分布表可以方便的计算如下的概率。</a:t>
            </a:r>
            <a:endParaRPr lang="en-US" altLang="zh-CN" sz="1600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8272AED-EA04-5C63-A81F-4DFC4AD2AB80}"/>
                  </a:ext>
                </a:extLst>
              </p:cNvPr>
              <p:cNvSpPr txBox="1"/>
              <p:nvPr/>
            </p:nvSpPr>
            <p:spPr>
              <a:xfrm>
                <a:off x="5766728" y="2841364"/>
                <a:ext cx="4009944" cy="12840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1−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𝑎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l-GR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8272AED-EA04-5C63-A81F-4DFC4AD2AB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728" y="2841364"/>
                <a:ext cx="4009944" cy="1284069"/>
              </a:xfrm>
              <a:prstGeom prst="rect">
                <a:avLst/>
              </a:prstGeom>
              <a:blipFill>
                <a:blip r:embed="rId9"/>
                <a:stretch>
                  <a:fillRect l="-1064" b="-568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764A1C1-E092-739E-79D0-96D0426007AD}"/>
                  </a:ext>
                </a:extLst>
              </p:cNvPr>
              <p:cNvSpPr txBox="1"/>
              <p:nvPr/>
            </p:nvSpPr>
            <p:spPr>
              <a:xfrm>
                <a:off x="5766727" y="2090349"/>
                <a:ext cx="5848909" cy="718851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表中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l-GR" altLang="zh-C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fPr>
                            <m:num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𝜎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𝜋</m:t>
                                  </m:r>
                                </m:e>
                              </m:rad>
                            </m:den>
                          </m:f>
                          <m:sSup>
                            <m:s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楷体" panose="02010609060101010101" pitchFamily="49" charset="-122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(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𝑥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−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𝜇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)²</m:t>
                                  </m:r>
                                </m:num>
                                <m:den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2</m:t>
                                  </m:r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𝜎</m:t>
                                  </m:r>
                                  <m:r>
                                    <a:rPr lang="en-US" altLang="zh-CN" i="1">
                                      <a:latin typeface="Cambria Math" panose="02040503050406030204" pitchFamily="18" charset="0"/>
                                      <a:ea typeface="楷体" panose="02010609060101010101" pitchFamily="49" charset="-122"/>
                                    </a:rPr>
                                    <m:t>²</m:t>
                                  </m:r>
                                </m:den>
                              </m:f>
                            </m:sup>
                          </m:sSup>
                          <m:r>
                            <a:rPr lang="en-US" altLang="zh-CN" i="1"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9764A1C1-E092-739E-79D0-96D042600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727" y="2090349"/>
                <a:ext cx="5848909" cy="718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CF40E017-CE34-A6B3-C508-F4E50B2ADB61}"/>
                  </a:ext>
                </a:extLst>
              </p:cNvPr>
              <p:cNvSpPr/>
              <p:nvPr/>
            </p:nvSpPr>
            <p:spPr>
              <a:xfrm>
                <a:off x="9776671" y="3277032"/>
                <a:ext cx="1843839" cy="848401"/>
              </a:xfrm>
              <a:prstGeom prst="roundRect">
                <a:avLst/>
              </a:prstGeom>
              <a:noFill/>
              <a:ln w="19050"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的具体值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zh-CN" altLang="en-US" dirty="0">
                    <a:solidFill>
                      <a:schemeClr val="tx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查表获得</a:t>
                </a:r>
                <a:endParaRPr lang="en-US" altLang="zh-CN" dirty="0">
                  <a:solidFill>
                    <a:schemeClr val="tx1"/>
                  </a:solidFill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3" name="矩形: 圆角 22">
                <a:extLst>
                  <a:ext uri="{FF2B5EF4-FFF2-40B4-BE49-F238E27FC236}">
                    <a16:creationId xmlns:a16="http://schemas.microsoft.com/office/drawing/2014/main" id="{CF40E017-CE34-A6B3-C508-F4E50B2ADB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76671" y="3277032"/>
                <a:ext cx="1843839" cy="848401"/>
              </a:xfrm>
              <a:prstGeom prst="roundRect">
                <a:avLst/>
              </a:prstGeom>
              <a:blipFill>
                <a:blip r:embed="rId11"/>
                <a:stretch>
                  <a:fillRect b="-2113"/>
                </a:stretch>
              </a:blipFill>
              <a:ln w="19050">
                <a:prstDash val="sys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905BBC6-3106-B8C3-51CB-D24FC04A51DC}"/>
                  </a:ext>
                </a:extLst>
              </p:cNvPr>
              <p:cNvSpPr txBox="1"/>
              <p:nvPr/>
            </p:nvSpPr>
            <p:spPr>
              <a:xfrm>
                <a:off x="5766726" y="4421173"/>
                <a:ext cx="5848909" cy="7848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对于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一般的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正态分布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𝜇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zh-CN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lnSpc>
                    <a:spcPct val="125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作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以下变换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，可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使得</m:t>
                      </m:r>
                      <m:r>
                        <a:rPr lang="zh-CN" alt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变换后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的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𝑌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905BBC6-3106-B8C3-51CB-D24FC04A51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6726" y="4421173"/>
                <a:ext cx="5848909" cy="78483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D6C687C-0709-051A-CD6C-C9337134F7FD}"/>
                  </a:ext>
                </a:extLst>
              </p:cNvPr>
              <p:cNvSpPr txBox="1"/>
              <p:nvPr/>
            </p:nvSpPr>
            <p:spPr>
              <a:xfrm>
                <a:off x="6479297" y="5375902"/>
                <a:ext cx="400994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CN" altLang="en-US" sz="2400" b="0" i="1" smtClean="0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en-US" altLang="zh-CN" sz="240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CD6C687C-0709-051A-CD6C-C9337134F7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9297" y="5375902"/>
                <a:ext cx="4009944" cy="78380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图形 28">
            <a:extLst>
              <a:ext uri="{FF2B5EF4-FFF2-40B4-BE49-F238E27FC236}">
                <a16:creationId xmlns:a16="http://schemas.microsoft.com/office/drawing/2014/main" id="{DF67ED57-CBA5-1575-C039-DEBD46597D0A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11860" t="7008" r="8629" b="5489"/>
          <a:stretch/>
        </p:blipFill>
        <p:spPr>
          <a:xfrm>
            <a:off x="521418" y="2090349"/>
            <a:ext cx="4929143" cy="4068347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784FDCB2-2115-4D6E-B26D-DF2EDA7A3A10}"/>
              </a:ext>
            </a:extLst>
          </p:cNvPr>
          <p:cNvPicPr>
            <a:picLocks noChangeAspect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11905" t="7235" r="8691" b="6031"/>
          <a:stretch/>
        </p:blipFill>
        <p:spPr>
          <a:xfrm>
            <a:off x="531013" y="2088527"/>
            <a:ext cx="4919548" cy="403023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24143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/>
      <p:bldP spid="14" grpId="0" animBg="1"/>
      <p:bldP spid="23" grpId="0" animBg="1"/>
      <p:bldP spid="26" grpId="0" animBg="1"/>
      <p:bldP spid="2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507631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：若随机变量</a:t>
                </a:r>
                <a14:m>
                  <m:oMath xmlns:m="http://schemas.openxmlformats.org/officeDocument/2006/math"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2,</m:t>
                        </m:r>
                        <m:r>
                          <a:rPr lang="zh-CN" altLang="en-US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𝜎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²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，且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2&lt;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&lt;4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=0.3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&lt;0}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507631"/>
                <a:ext cx="11108176" cy="338554"/>
              </a:xfrm>
              <a:prstGeom prst="rect">
                <a:avLst/>
              </a:prstGeom>
              <a:blipFill>
                <a:blip r:embed="rId5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5B77FA5B-6144-FF58-BE64-4125CCA7493C}"/>
              </a:ext>
            </a:extLst>
          </p:cNvPr>
          <p:cNvSpPr txBox="1"/>
          <p:nvPr/>
        </p:nvSpPr>
        <p:spPr>
          <a:xfrm>
            <a:off x="507459" y="496110"/>
            <a:ext cx="4099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随机变量的分布规律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A995AF-0282-DEF1-22BD-0E7963B78332}"/>
              </a:ext>
            </a:extLst>
          </p:cNvPr>
          <p:cNvSpPr txBox="1"/>
          <p:nvPr/>
        </p:nvSpPr>
        <p:spPr>
          <a:xfrm>
            <a:off x="4593495" y="775742"/>
            <a:ext cx="27571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连续型随机变量的概率分布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6DC024-A680-8347-5A66-201BC6F1ABA2}"/>
                  </a:ext>
                </a:extLst>
              </p:cNvPr>
              <p:cNvSpPr txBox="1"/>
              <p:nvPr/>
            </p:nvSpPr>
            <p:spPr>
              <a:xfrm>
                <a:off x="507458" y="3931882"/>
                <a:ext cx="11039272" cy="865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解：令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𝜇</m:t>
                        </m:r>
                      </m:num>
                      <m:den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𝜎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−50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10</m:t>
                        </m:r>
                      </m:den>
                    </m:f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~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(0,1)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≤70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≤</m:t>
                        </m:r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70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5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10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≤2</m:t>
                        </m:r>
                      </m:e>
                    </m:d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而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≤2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0.9773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≤70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0.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977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3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196DC024-A680-8347-5A66-201BC6F1AB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931882"/>
                <a:ext cx="11039272" cy="865109"/>
              </a:xfrm>
              <a:prstGeom prst="rect">
                <a:avLst/>
              </a:prstGeom>
              <a:blipFill>
                <a:blip r:embed="rId6"/>
                <a:stretch>
                  <a:fillRect l="-442" b="-91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B2598AF-9B50-6D88-174F-F52D514A0D3B}"/>
                  </a:ext>
                </a:extLst>
              </p:cNvPr>
              <p:cNvSpPr txBox="1"/>
              <p:nvPr/>
            </p:nvSpPr>
            <p:spPr>
              <a:xfrm>
                <a:off x="507460" y="3475960"/>
                <a:ext cx="1110817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6.2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：若随机变量</a:t>
                </a:r>
                <a14:m>
                  <m:oMath xmlns:m="http://schemas.openxmlformats.org/officeDocument/2006/math">
                    <m:r>
                      <a:rPr lang="en-US" altLang="zh-CN" sz="1600" b="0" i="0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~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𝑁</m:t>
                    </m:r>
                    <m:d>
                      <m:d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50,10</m:t>
                        </m:r>
                        <m:r>
                          <a:rPr lang="en-US" altLang="zh-CN" sz="1600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²</m:t>
                        </m: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</a:t>
                </a:r>
                <a14:m>
                  <m:oMath xmlns:m="http://schemas.openxmlformats.org/officeDocument/2006/math"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70}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。</a:t>
                </a:r>
                <a:endParaRPr lang="en-US" altLang="zh-CN" sz="1600" dirty="0">
                  <a:latin typeface="华文宋体" panose="02010600040101010101" pitchFamily="2" charset="-122"/>
                  <a:ea typeface="华文宋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3B2598AF-9B50-6D88-174F-F52D514A0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3475960"/>
                <a:ext cx="11108176" cy="338554"/>
              </a:xfrm>
              <a:prstGeom prst="rect">
                <a:avLst/>
              </a:prstGeom>
              <a:blipFill>
                <a:blip r:embed="rId7"/>
                <a:stretch>
                  <a:fillRect l="-274" t="-3571" b="-23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1CD8DB3-44E6-6715-7325-43A49AB5022A}"/>
                  </a:ext>
                </a:extLst>
              </p:cNvPr>
              <p:cNvSpPr txBox="1"/>
              <p:nvPr/>
            </p:nvSpPr>
            <p:spPr>
              <a:xfrm>
                <a:off x="507458" y="1963553"/>
                <a:ext cx="11039272" cy="9071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解：由题意，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𝜇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=2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 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&lt;4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&lt;2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=0.3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0&lt;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&lt;4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=0.6</m:t>
                    </m:r>
                  </m:oMath>
                </a14:m>
                <a:r>
                  <a:rPr lang="en-US" altLang="zh-CN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&gt;4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&lt;0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𝑃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&lt;4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=0.2.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81CD8DB3-44E6-6715-7325-43A49AB50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1963553"/>
                <a:ext cx="11039272" cy="907171"/>
              </a:xfrm>
              <a:prstGeom prst="rect">
                <a:avLst/>
              </a:prstGeom>
              <a:blipFill>
                <a:blip r:embed="rId8"/>
                <a:stretch>
                  <a:fillRect l="-442" t="-4698" b="-1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6877ACB3-97C2-651E-C798-E65D4BB70BC1}"/>
              </a:ext>
            </a:extLst>
          </p:cNvPr>
          <p:cNvCxnSpPr>
            <a:cxnSpLocks/>
          </p:cNvCxnSpPr>
          <p:nvPr/>
        </p:nvCxnSpPr>
        <p:spPr>
          <a:xfrm>
            <a:off x="511212" y="3188801"/>
            <a:ext cx="11035518" cy="0"/>
          </a:xfrm>
          <a:prstGeom prst="line">
            <a:avLst/>
          </a:prstGeom>
          <a:ln w="19050">
            <a:prstDash val="dashDot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46897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4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366AA635-A21B-A433-4648-23FD4F0AB104}"/>
              </a:ext>
            </a:extLst>
          </p:cNvPr>
          <p:cNvSpPr txBox="1"/>
          <p:nvPr/>
        </p:nvSpPr>
        <p:spPr>
          <a:xfrm>
            <a:off x="507459" y="496110"/>
            <a:ext cx="486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随机变量的函数及其分布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425186"/>
                <a:ext cx="11108176" cy="12448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在许多问题中，我们常常要寻求 与已知的随机变量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有关联的另一个随机变量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的概率分布。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对于离散型随机变量，通过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的分布列逐一求出对应的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的分布列即可。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对于连续型随机变量，则要利用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的分布函数的定义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𝐹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，转化为</a:t>
                </a:r>
                <a14:m>
                  <m:oMath xmlns:m="http://schemas.openxmlformats.org/officeDocument/2006/math"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𝑃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)≤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，再利用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的分布求解。</a:t>
                </a:r>
                <a:endParaRPr lang="en-US" altLang="zh-CN" sz="1600" dirty="0">
                  <a:latin typeface="方正小标宋简体" panose="02000000000000000000" pitchFamily="2" charset="-122"/>
                  <a:ea typeface="方正小标宋简体" panose="02000000000000000000" pitchFamily="2" charset="-122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425186"/>
                <a:ext cx="11108176" cy="1244893"/>
              </a:xfrm>
              <a:prstGeom prst="rect">
                <a:avLst/>
              </a:prstGeom>
              <a:blipFill>
                <a:blip r:embed="rId5"/>
                <a:stretch>
                  <a:fillRect l="-274" b="-5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CFCFE9ED-E2C0-E136-C16A-73B705043080}"/>
              </a:ext>
            </a:extLst>
          </p:cNvPr>
          <p:cNvSpPr txBox="1"/>
          <p:nvPr/>
        </p:nvSpPr>
        <p:spPr>
          <a:xfrm>
            <a:off x="5368636" y="775742"/>
            <a:ext cx="2937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一维随机变量的函数的分布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869D0D3C-179C-060A-198D-18EE5F83492F}"/>
              </a:ext>
            </a:extLst>
          </p:cNvPr>
          <p:cNvGrpSpPr/>
          <p:nvPr/>
        </p:nvGrpSpPr>
        <p:grpSpPr>
          <a:xfrm>
            <a:off x="576364" y="2959201"/>
            <a:ext cx="5196175" cy="2943967"/>
            <a:chOff x="576364" y="2959201"/>
            <a:chExt cx="5196175" cy="2943967"/>
          </a:xfrm>
        </p:grpSpPr>
        <p:sp>
          <p:nvSpPr>
            <p:cNvPr id="4" name="矩形: 圆角 3">
              <a:extLst>
                <a:ext uri="{FF2B5EF4-FFF2-40B4-BE49-F238E27FC236}">
                  <a16:creationId xmlns:a16="http://schemas.microsoft.com/office/drawing/2014/main" id="{606FF1E4-9B08-DA7E-22CD-05A8D6F13CDC}"/>
                </a:ext>
              </a:extLst>
            </p:cNvPr>
            <p:cNvSpPr/>
            <p:nvPr/>
          </p:nvSpPr>
          <p:spPr>
            <a:xfrm>
              <a:off x="576364" y="2959201"/>
              <a:ext cx="5196175" cy="2694312"/>
            </a:xfrm>
            <a:prstGeom prst="roundRect">
              <a:avLst/>
            </a:prstGeom>
            <a:noFill/>
            <a:ln w="28575">
              <a:solidFill>
                <a:schemeClr val="accent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: 圆角 9">
              <a:extLst>
                <a:ext uri="{FF2B5EF4-FFF2-40B4-BE49-F238E27FC236}">
                  <a16:creationId xmlns:a16="http://schemas.microsoft.com/office/drawing/2014/main" id="{CA5BB93E-BCBA-F005-7C26-B7B30DE2663B}"/>
                </a:ext>
              </a:extLst>
            </p:cNvPr>
            <p:cNvSpPr/>
            <p:nvPr/>
          </p:nvSpPr>
          <p:spPr>
            <a:xfrm>
              <a:off x="2038368" y="5462810"/>
              <a:ext cx="2272165" cy="440358"/>
            </a:xfrm>
            <a:prstGeom prst="roundRect">
              <a:avLst/>
            </a:prstGeom>
            <a:solidFill>
              <a:schemeClr val="accent1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离散型随机变量</a:t>
              </a:r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4992A445-71F4-2E82-8B2E-C67A342A8980}"/>
              </a:ext>
            </a:extLst>
          </p:cNvPr>
          <p:cNvGrpSpPr/>
          <p:nvPr/>
        </p:nvGrpSpPr>
        <p:grpSpPr>
          <a:xfrm>
            <a:off x="6419463" y="2959201"/>
            <a:ext cx="5196175" cy="2943967"/>
            <a:chOff x="6419463" y="2959201"/>
            <a:chExt cx="5196175" cy="2943967"/>
          </a:xfrm>
        </p:grpSpPr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3596566D-E41B-B417-B349-C9A377E64533}"/>
                </a:ext>
              </a:extLst>
            </p:cNvPr>
            <p:cNvSpPr/>
            <p:nvPr/>
          </p:nvSpPr>
          <p:spPr>
            <a:xfrm>
              <a:off x="6419463" y="2959201"/>
              <a:ext cx="5196175" cy="2694312"/>
            </a:xfrm>
            <a:prstGeom prst="roundRect">
              <a:avLst/>
            </a:prstGeom>
            <a:noFill/>
            <a:ln w="28575">
              <a:solidFill>
                <a:srgbClr val="00B0F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83923027-9508-12D3-D17D-B807D860BE96}"/>
                </a:ext>
              </a:extLst>
            </p:cNvPr>
            <p:cNvSpPr/>
            <p:nvPr/>
          </p:nvSpPr>
          <p:spPr>
            <a:xfrm>
              <a:off x="7881467" y="5462810"/>
              <a:ext cx="2272165" cy="440358"/>
            </a:xfrm>
            <a:prstGeom prst="roundRect">
              <a:avLst/>
            </a:prstGeom>
            <a:solidFill>
              <a:srgbClr val="00B0F0"/>
            </a:solidFill>
            <a:ln>
              <a:noFill/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  <a:latin typeface="华文宋体" panose="02010600040101010101" pitchFamily="2" charset="-122"/>
                  <a:ea typeface="华文宋体" panose="02010600040101010101" pitchFamily="2" charset="-122"/>
                </a:rPr>
                <a:t>连续型随机变量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5" name="表格 29">
                <a:extLst>
                  <a:ext uri="{FF2B5EF4-FFF2-40B4-BE49-F238E27FC236}">
                    <a16:creationId xmlns:a16="http://schemas.microsoft.com/office/drawing/2014/main" id="{B0F4B487-0F18-9E25-FBD8-F6648197DB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612515"/>
                  </p:ext>
                </p:extLst>
              </p:nvPr>
            </p:nvGraphicFramePr>
            <p:xfrm>
              <a:off x="830505" y="3213154"/>
              <a:ext cx="2272390" cy="663426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454478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3961906454"/>
                        </a:ext>
                      </a:extLst>
                    </a:gridCol>
                  </a:tblGrid>
                  <a:tr h="33171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3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5" name="表格 29">
                <a:extLst>
                  <a:ext uri="{FF2B5EF4-FFF2-40B4-BE49-F238E27FC236}">
                    <a16:creationId xmlns:a16="http://schemas.microsoft.com/office/drawing/2014/main" id="{B0F4B487-0F18-9E25-FBD8-F6648197DB6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612515"/>
                  </p:ext>
                </p:extLst>
              </p:nvPr>
            </p:nvGraphicFramePr>
            <p:xfrm>
              <a:off x="830505" y="3213154"/>
              <a:ext cx="2272390" cy="663426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454478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  <a:gridCol w="454478">
                      <a:extLst>
                        <a:ext uri="{9D8B030D-6E8A-4147-A177-3AD203B41FA5}">
                          <a16:colId xmlns:a16="http://schemas.microsoft.com/office/drawing/2014/main" val="3961906454"/>
                        </a:ext>
                      </a:extLst>
                    </a:gridCol>
                  </a:tblGrid>
                  <a:tr h="3317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333" t="-1818" r="-4040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1333" t="-1818" r="-304000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4054" t="-1818" r="-208108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00000" t="-1818" r="-105333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00000" t="-1818" r="-5333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333" t="-103704" r="-4040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1333" t="-103704" r="-304000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04054" t="-103704" r="-208108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300000" t="-103704" r="-105333" b="-55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400000" t="-103704" r="-5333" b="-55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6" name="表格 29">
                <a:extLst>
                  <a:ext uri="{FF2B5EF4-FFF2-40B4-BE49-F238E27FC236}">
                    <a16:creationId xmlns:a16="http://schemas.microsoft.com/office/drawing/2014/main" id="{A8BB8F27-DBB6-610D-07B0-22B67137E1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5707407"/>
                  </p:ext>
                </p:extLst>
              </p:nvPr>
            </p:nvGraphicFramePr>
            <p:xfrm>
              <a:off x="830505" y="4306357"/>
              <a:ext cx="2272165" cy="100437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454433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3961906454"/>
                        </a:ext>
                      </a:extLst>
                    </a:gridCol>
                  </a:tblGrid>
                  <a:tr h="334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4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  <a:tr h="33479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129309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6" name="表格 29">
                <a:extLst>
                  <a:ext uri="{FF2B5EF4-FFF2-40B4-BE49-F238E27FC236}">
                    <a16:creationId xmlns:a16="http://schemas.microsoft.com/office/drawing/2014/main" id="{A8BB8F27-DBB6-610D-07B0-22B67137E18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65707407"/>
                  </p:ext>
                </p:extLst>
              </p:nvPr>
            </p:nvGraphicFramePr>
            <p:xfrm>
              <a:off x="830505" y="4306357"/>
              <a:ext cx="2272165" cy="1004370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454433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389155612"/>
                        </a:ext>
                      </a:extLst>
                    </a:gridCol>
                    <a:gridCol w="454433">
                      <a:extLst>
                        <a:ext uri="{9D8B030D-6E8A-4147-A177-3AD203B41FA5}">
                          <a16:colId xmlns:a16="http://schemas.microsoft.com/office/drawing/2014/main" val="3961906454"/>
                        </a:ext>
                      </a:extLst>
                    </a:gridCol>
                  </a:tblGrid>
                  <a:tr h="3347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33" t="-1818" r="-404000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703" t="-1818" r="-309459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1818" r="-205333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054" t="-1818" r="-108108" b="-205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667" t="-1818" r="-6667" b="-205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47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33" t="-100000" r="-404000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703" t="-100000" r="-309459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100000" r="-205333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054" t="-100000" r="-108108" b="-1017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667" t="-100000" r="-6667" b="-10178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  <a:tr h="33479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333" t="-203636" r="-404000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102703" t="-203636" r="-30945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200000" t="-203636" r="-205333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04054" t="-203636" r="-108108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7"/>
                          <a:stretch>
                            <a:fillRect l="-398667" t="-203636" r="-6667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1293091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0" name="表格 29">
                <a:extLst>
                  <a:ext uri="{FF2B5EF4-FFF2-40B4-BE49-F238E27FC236}">
                    <a16:creationId xmlns:a16="http://schemas.microsoft.com/office/drawing/2014/main" id="{886469B6-CBC8-F5B2-AA3F-F8AE54A616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0008111"/>
                  </p:ext>
                </p:extLst>
              </p:nvPr>
            </p:nvGraphicFramePr>
            <p:xfrm>
              <a:off x="3396394" y="4647299"/>
              <a:ext cx="2082420" cy="663428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694140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694140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694140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</a:tblGrid>
                  <a:tr h="331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4"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200" dirty="0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sz="12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sz="1200" b="0" i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zh-CN" sz="12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200" b="0" i="0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200" dirty="0">
                            <a:latin typeface="Cambria Math" panose="020405030504060302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0" name="表格 29">
                <a:extLst>
                  <a:ext uri="{FF2B5EF4-FFF2-40B4-BE49-F238E27FC236}">
                    <a16:creationId xmlns:a16="http://schemas.microsoft.com/office/drawing/2014/main" id="{886469B6-CBC8-F5B2-AA3F-F8AE54A6169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40008111"/>
                  </p:ext>
                </p:extLst>
              </p:nvPr>
            </p:nvGraphicFramePr>
            <p:xfrm>
              <a:off x="3396394" y="4647299"/>
              <a:ext cx="2082420" cy="663428"/>
            </p:xfrm>
            <a:graphic>
              <a:graphicData uri="http://schemas.openxmlformats.org/drawingml/2006/table">
                <a:tbl>
                  <a:tblPr firstRow="1" firstCol="1">
                    <a:tableStyleId>{5C22544A-7EE6-4342-B048-85BDC9FD1C3A}</a:tableStyleId>
                  </a:tblPr>
                  <a:tblGrid>
                    <a:gridCol w="694140">
                      <a:extLst>
                        <a:ext uri="{9D8B030D-6E8A-4147-A177-3AD203B41FA5}">
                          <a16:colId xmlns:a16="http://schemas.microsoft.com/office/drawing/2014/main" val="1372906259"/>
                        </a:ext>
                      </a:extLst>
                    </a:gridCol>
                    <a:gridCol w="694140">
                      <a:extLst>
                        <a:ext uri="{9D8B030D-6E8A-4147-A177-3AD203B41FA5}">
                          <a16:colId xmlns:a16="http://schemas.microsoft.com/office/drawing/2014/main" val="1252245063"/>
                        </a:ext>
                      </a:extLst>
                    </a:gridCol>
                    <a:gridCol w="694140">
                      <a:extLst>
                        <a:ext uri="{9D8B030D-6E8A-4147-A177-3AD203B41FA5}">
                          <a16:colId xmlns:a16="http://schemas.microsoft.com/office/drawing/2014/main" val="811095480"/>
                        </a:ext>
                      </a:extLst>
                    </a:gridCol>
                  </a:tblGrid>
                  <a:tr h="331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77" t="-1818" r="-20350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0877" t="-1818" r="-103509" b="-10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877" t="-1818" r="-3509" b="-10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4381151"/>
                      </a:ext>
                    </a:extLst>
                  </a:tr>
                  <a:tr h="331714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877" t="-101818" r="-20350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100877" t="-101818" r="-103509" b="-36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8"/>
                          <a:stretch>
                            <a:fillRect l="-200877" t="-101818" r="-3509" b="-36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249333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FB89ABB-D626-9904-BF81-567EA4C877C1}"/>
                  </a:ext>
                </a:extLst>
              </p:cNvPr>
              <p:cNvSpPr txBox="1"/>
              <p:nvPr/>
            </p:nvSpPr>
            <p:spPr>
              <a:xfrm>
                <a:off x="3174450" y="3206313"/>
                <a:ext cx="134776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的分布列</a:t>
                </a: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FB89ABB-D626-9904-BF81-567EA4C877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4450" y="3206313"/>
                <a:ext cx="1347765" cy="338554"/>
              </a:xfrm>
              <a:prstGeom prst="rect">
                <a:avLst/>
              </a:prstGeom>
              <a:blipFill>
                <a:blip r:embed="rId9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D8AE4E8-C192-8ED2-92DD-521F8F8D41F2}"/>
                  </a:ext>
                </a:extLst>
              </p:cNvPr>
              <p:cNvSpPr txBox="1"/>
              <p:nvPr/>
            </p:nvSpPr>
            <p:spPr>
              <a:xfrm>
                <a:off x="3945105" y="4268330"/>
                <a:ext cx="153705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𝑓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的分布列</a:t>
                </a:r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D8AE4E8-C192-8ED2-92DD-521F8F8D41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105" y="4268330"/>
                <a:ext cx="1537057" cy="338554"/>
              </a:xfrm>
              <a:prstGeom prst="rect">
                <a:avLst/>
              </a:prstGeom>
              <a:blipFill>
                <a:blip r:embed="rId10"/>
                <a:stretch>
                  <a:fillRect t="-7143" r="-2381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组合 34">
            <a:extLst>
              <a:ext uri="{FF2B5EF4-FFF2-40B4-BE49-F238E27FC236}">
                <a16:creationId xmlns:a16="http://schemas.microsoft.com/office/drawing/2014/main" id="{5466B289-4AD4-9DAE-878E-26835643833D}"/>
              </a:ext>
            </a:extLst>
          </p:cNvPr>
          <p:cNvGrpSpPr/>
          <p:nvPr/>
        </p:nvGrpSpPr>
        <p:grpSpPr>
          <a:xfrm>
            <a:off x="2236807" y="3029357"/>
            <a:ext cx="1170424" cy="1310441"/>
            <a:chOff x="2236807" y="3029357"/>
            <a:chExt cx="1170424" cy="1310441"/>
          </a:xfrm>
        </p:grpSpPr>
        <p:sp>
          <p:nvSpPr>
            <p:cNvPr id="25" name="弧形 24">
              <a:extLst>
                <a:ext uri="{FF2B5EF4-FFF2-40B4-BE49-F238E27FC236}">
                  <a16:creationId xmlns:a16="http://schemas.microsoft.com/office/drawing/2014/main" id="{2B45BC95-3DED-64B4-1E7E-F87E8B32C2E2}"/>
                </a:ext>
              </a:extLst>
            </p:cNvPr>
            <p:cNvSpPr/>
            <p:nvPr/>
          </p:nvSpPr>
          <p:spPr>
            <a:xfrm rot="4620668">
              <a:off x="2166798" y="3099366"/>
              <a:ext cx="1310441" cy="1170424"/>
            </a:xfrm>
            <a:prstGeom prst="arc">
              <a:avLst>
                <a:gd name="adj1" fmla="val 16830922"/>
                <a:gd name="adj2" fmla="val 20606792"/>
              </a:avLst>
            </a:prstGeom>
            <a:ln w="19050"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A9036B2-F9D4-9675-696F-DBB45A4B9A3D}"/>
                    </a:ext>
                  </a:extLst>
                </p:cNvPr>
                <p:cNvSpPr txBox="1"/>
                <p:nvPr/>
              </p:nvSpPr>
              <p:spPr>
                <a:xfrm>
                  <a:off x="2263383" y="3937580"/>
                  <a:ext cx="91153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zh-CN" altLang="en-US" sz="1200" dirty="0">
                      <a:solidFill>
                        <a:schemeClr val="accent1"/>
                      </a:solidFill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计算</a:t>
                  </a:r>
                  <a14:m>
                    <m:oMath xmlns:m="http://schemas.openxmlformats.org/officeDocument/2006/math">
                      <m:r>
                        <a:rPr lang="en-US" altLang="zh-CN" sz="1200" i="1" dirty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𝑓</m:t>
                      </m:r>
                      <m:r>
                        <a:rPr lang="en-US" altLang="zh-CN" sz="12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(</m:t>
                      </m:r>
                      <m:r>
                        <a:rPr lang="en-US" altLang="zh-CN" sz="120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𝑋</m:t>
                      </m:r>
                      <m:r>
                        <a:rPr lang="en-US" altLang="zh-CN" sz="1200" b="0" i="1" dirty="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)</m:t>
                      </m:r>
                    </m:oMath>
                  </a14:m>
                  <a:endParaRPr lang="zh-CN" altLang="en-US" sz="1200" i="1" dirty="0">
                    <a:solidFill>
                      <a:schemeClr val="accent1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0A9036B2-F9D4-9675-696F-DBB45A4B9A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63383" y="3937580"/>
                  <a:ext cx="911531" cy="276999"/>
                </a:xfrm>
                <a:prstGeom prst="rect">
                  <a:avLst/>
                </a:prstGeom>
                <a:blipFill>
                  <a:blip r:embed="rId11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166CB8FB-22D6-28A3-77C9-F6133525E9E2}"/>
              </a:ext>
            </a:extLst>
          </p:cNvPr>
          <p:cNvGrpSpPr/>
          <p:nvPr/>
        </p:nvGrpSpPr>
        <p:grpSpPr>
          <a:xfrm>
            <a:off x="2681015" y="4076079"/>
            <a:ext cx="1351591" cy="1462399"/>
            <a:chOff x="2681015" y="4076079"/>
            <a:chExt cx="1351591" cy="1462399"/>
          </a:xfrm>
        </p:grpSpPr>
        <p:sp>
          <p:nvSpPr>
            <p:cNvPr id="26" name="弧形 25">
              <a:extLst>
                <a:ext uri="{FF2B5EF4-FFF2-40B4-BE49-F238E27FC236}">
                  <a16:creationId xmlns:a16="http://schemas.microsoft.com/office/drawing/2014/main" id="{4A616F16-F30D-1F7F-AF85-74DD3E821728}"/>
                </a:ext>
              </a:extLst>
            </p:cNvPr>
            <p:cNvSpPr/>
            <p:nvPr/>
          </p:nvSpPr>
          <p:spPr>
            <a:xfrm rot="20318414">
              <a:off x="2681015" y="4345012"/>
              <a:ext cx="1351591" cy="1193466"/>
            </a:xfrm>
            <a:prstGeom prst="arc">
              <a:avLst>
                <a:gd name="adj1" fmla="val 16830922"/>
                <a:gd name="adj2" fmla="val 20606792"/>
              </a:avLst>
            </a:prstGeom>
            <a:ln w="19050"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51F388C-CC45-C0DA-4C85-0E802C15060C}"/>
                </a:ext>
              </a:extLst>
            </p:cNvPr>
            <p:cNvSpPr txBox="1"/>
            <p:nvPr/>
          </p:nvSpPr>
          <p:spPr>
            <a:xfrm>
              <a:off x="3489460" y="4076079"/>
              <a:ext cx="5414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chemeClr val="accent1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合并</a:t>
              </a:r>
              <a:endParaRPr lang="zh-CN" altLang="en-US" sz="1200" i="1" dirty="0">
                <a:solidFill>
                  <a:schemeClr val="accent1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311527B-545C-5231-64CA-F23EA33961AC}"/>
                  </a:ext>
                </a:extLst>
              </p:cNvPr>
              <p:cNvSpPr txBox="1"/>
              <p:nvPr/>
            </p:nvSpPr>
            <p:spPr>
              <a:xfrm>
                <a:off x="5479888" y="3521055"/>
                <a:ext cx="1232224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ctr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𝑌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𝑓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𝑋</m:t>
                    </m:r>
                    <m:r>
                      <a:rPr lang="en-US" altLang="zh-CN" sz="2000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2000" dirty="0">
                    <a:latin typeface="方正小标宋简体" panose="02000000000000000000" pitchFamily="2" charset="-122"/>
                    <a:ea typeface="方正小标宋简体" panose="02000000000000000000" pitchFamily="2" charset="-122"/>
                  </a:rPr>
                  <a:t> </a:t>
                </a:r>
                <a:endParaRPr lang="zh-CN" altLang="en-US" sz="2000" dirty="0"/>
              </a:p>
            </p:txBody>
          </p:sp>
        </mc:Choice>
        <mc:Fallback xmlns=""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C311527B-545C-5231-64CA-F23EA33961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888" y="3521055"/>
                <a:ext cx="1232224" cy="400110"/>
              </a:xfrm>
              <a:prstGeom prst="rect">
                <a:avLst/>
              </a:prstGeom>
              <a:blipFill>
                <a:blip r:embed="rId12"/>
                <a:stretch>
                  <a:fillRect r="-990" b="-1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32F4BE-191A-7235-0041-BDA07611171E}"/>
                  </a:ext>
                </a:extLst>
              </p:cNvPr>
              <p:cNvSpPr txBox="1"/>
              <p:nvPr/>
            </p:nvSpPr>
            <p:spPr>
              <a:xfrm>
                <a:off x="7017362" y="3152276"/>
                <a:ext cx="167128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的分布函数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E32F4BE-191A-7235-0041-BDA076111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7362" y="3152276"/>
                <a:ext cx="1671287" cy="338554"/>
              </a:xfrm>
              <a:prstGeom prst="rect">
                <a:avLst/>
              </a:prstGeom>
              <a:blipFill>
                <a:blip r:embed="rId13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DEAAB35-49A1-C133-12D9-DBCFDDB2E06F}"/>
                  </a:ext>
                </a:extLst>
              </p:cNvPr>
              <p:cNvSpPr txBox="1"/>
              <p:nvPr/>
            </p:nvSpPr>
            <p:spPr>
              <a:xfrm>
                <a:off x="9537301" y="3152276"/>
                <a:ext cx="148107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的密度函数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7DEAAB35-49A1-C133-12D9-DBCFDDB2E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37301" y="3152276"/>
                <a:ext cx="1481078" cy="338554"/>
              </a:xfrm>
              <a:prstGeom prst="rect">
                <a:avLst/>
              </a:prstGeom>
              <a:blipFill>
                <a:blip r:embed="rId14"/>
                <a:stretch>
                  <a:fillRect t="-7143" b="-196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组合 56">
            <a:extLst>
              <a:ext uri="{FF2B5EF4-FFF2-40B4-BE49-F238E27FC236}">
                <a16:creationId xmlns:a16="http://schemas.microsoft.com/office/drawing/2014/main" id="{B2AFF7B1-6334-5399-7AC1-867CE0482FD5}"/>
              </a:ext>
            </a:extLst>
          </p:cNvPr>
          <p:cNvGrpSpPr/>
          <p:nvPr/>
        </p:nvGrpSpPr>
        <p:grpSpPr>
          <a:xfrm>
            <a:off x="8688649" y="3036879"/>
            <a:ext cx="783266" cy="276999"/>
            <a:chOff x="8688649" y="3250431"/>
            <a:chExt cx="783266" cy="276999"/>
          </a:xfrm>
        </p:grpSpPr>
        <p:cxnSp>
          <p:nvCxnSpPr>
            <p:cNvPr id="49" name="直接箭头连接符 48">
              <a:extLst>
                <a:ext uri="{FF2B5EF4-FFF2-40B4-BE49-F238E27FC236}">
                  <a16:creationId xmlns:a16="http://schemas.microsoft.com/office/drawing/2014/main" id="{8E8862A3-7728-1E45-1D66-3FD36463F1A9}"/>
                </a:ext>
              </a:extLst>
            </p:cNvPr>
            <p:cNvCxnSpPr>
              <a:cxnSpLocks/>
            </p:cNvCxnSpPr>
            <p:nvPr/>
          </p:nvCxnSpPr>
          <p:spPr>
            <a:xfrm>
              <a:off x="8688649" y="3527430"/>
              <a:ext cx="783266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59C636FC-BA10-821C-FB08-1C85C6498A62}"/>
                </a:ext>
              </a:extLst>
            </p:cNvPr>
            <p:cNvSpPr txBox="1"/>
            <p:nvPr/>
          </p:nvSpPr>
          <p:spPr>
            <a:xfrm>
              <a:off x="8784445" y="3250431"/>
              <a:ext cx="5414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求导</a:t>
              </a:r>
              <a:endParaRPr lang="zh-CN" altLang="en-US" sz="1200" i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96BD4AA-CA87-A77D-5910-AC32B9865F3F}"/>
                  </a:ext>
                </a:extLst>
              </p:cNvPr>
              <p:cNvSpPr txBox="1"/>
              <p:nvPr/>
            </p:nvSpPr>
            <p:spPr>
              <a:xfrm>
                <a:off x="6458184" y="3774789"/>
                <a:ext cx="286767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𝐹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𝑌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en-US" altLang="zh-CN" sz="1600" b="0" dirty="0"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                   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{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𝑓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(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𝑋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)≤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b="0" i="1" smtClean="0">
                          <a:latin typeface="Cambria Math" panose="02040503050406030204" pitchFamily="18" charset="0"/>
                        </a:rPr>
                        <m:t>                        =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𝑃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{</m:t>
                      </m:r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𝑋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−1</m:t>
                          </m:r>
                        </m:sup>
                      </m:sSup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(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𝑦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)}</m:t>
                      </m:r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F96BD4AA-CA87-A77D-5910-AC32B9865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8184" y="3774789"/>
                <a:ext cx="2867671" cy="830997"/>
              </a:xfrm>
              <a:prstGeom prst="rect">
                <a:avLst/>
              </a:prstGeom>
              <a:blipFill>
                <a:blip r:embed="rId15"/>
                <a:stretch>
                  <a:fillRect b="-2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1F10FCA-7B79-1C83-AE5E-D1E82E83FABD}"/>
                  </a:ext>
                </a:extLst>
              </p:cNvPr>
              <p:cNvSpPr txBox="1"/>
              <p:nvPr/>
            </p:nvSpPr>
            <p:spPr>
              <a:xfrm rot="5400000">
                <a:off x="7702322" y="3500232"/>
                <a:ext cx="301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81F10FCA-7B79-1C83-AE5E-D1E82E83FA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702322" y="3500232"/>
                <a:ext cx="301365" cy="276999"/>
              </a:xfrm>
              <a:prstGeom prst="rect">
                <a:avLst/>
              </a:prstGeom>
              <a:blipFill>
                <a:blip r:embed="rId16"/>
                <a:stretch>
                  <a:fillRect l="-2222" t="-12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9F9F5BBE-3E3F-94DB-2875-56ADD03F0D9C}"/>
                  </a:ext>
                </a:extLst>
              </p:cNvPr>
              <p:cNvSpPr txBox="1"/>
              <p:nvPr/>
            </p:nvSpPr>
            <p:spPr>
              <a:xfrm>
                <a:off x="6698756" y="4822517"/>
                <a:ext cx="230849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的分布函数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（注意其自变量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9F9F5BBE-3E3F-94DB-2875-56ADD03F0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8756" y="4822517"/>
                <a:ext cx="2308495" cy="553998"/>
              </a:xfrm>
              <a:prstGeom prst="rect">
                <a:avLst/>
              </a:prstGeom>
              <a:blipFill>
                <a:blip r:embed="rId17"/>
                <a:stretch>
                  <a:fillRect t="-4396" b="-98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5792783-11CC-6B19-43C7-F4792917BD73}"/>
                  </a:ext>
                </a:extLst>
              </p:cNvPr>
              <p:cNvSpPr txBox="1"/>
              <p:nvPr/>
            </p:nvSpPr>
            <p:spPr>
              <a:xfrm rot="5400000">
                <a:off x="7702320" y="4583597"/>
                <a:ext cx="30136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⇔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05792783-11CC-6B19-43C7-F4792917B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5400000">
                <a:off x="7702320" y="4583597"/>
                <a:ext cx="301365" cy="276999"/>
              </a:xfrm>
              <a:prstGeom prst="rect">
                <a:avLst/>
              </a:prstGeom>
              <a:blipFill>
                <a:blip r:embed="rId18"/>
                <a:stretch>
                  <a:fillRect l="-2222" t="-12245" b="-122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2E0BACB-B032-91F5-7F24-A79FDEDB61EB}"/>
                  </a:ext>
                </a:extLst>
              </p:cNvPr>
              <p:cNvSpPr txBox="1"/>
              <p:nvPr/>
            </p:nvSpPr>
            <p:spPr>
              <a:xfrm>
                <a:off x="9123592" y="4808542"/>
                <a:ext cx="2308495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的概率密度</a:t>
                </a:r>
                <a:endParaRPr lang="en-US" altLang="zh-CN" sz="160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/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（注意积分上限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40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p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𝑓</m:t>
                        </m:r>
                      </m:e>
                      <m:sup>
                        <m:r>
                          <a:rPr lang="en-US" altLang="zh-CN" sz="1400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−1</m:t>
                        </m:r>
                      </m:sup>
                    </m:sSup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(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𝑦</m:t>
                    </m:r>
                    <m:r>
                      <a:rPr lang="en-US" altLang="zh-CN" sz="1400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)</m:t>
                    </m:r>
                  </m:oMath>
                </a14:m>
                <a:r>
                  <a:rPr lang="zh-CN" altLang="en-US" sz="140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）</a:t>
                </a:r>
              </a:p>
            </p:txBody>
          </p:sp>
        </mc:Choice>
        <mc:Fallback xmlns=""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2E0BACB-B032-91F5-7F24-A79FDEDB61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592" y="4808542"/>
                <a:ext cx="2308495" cy="553998"/>
              </a:xfrm>
              <a:prstGeom prst="rect">
                <a:avLst/>
              </a:prstGeom>
              <a:blipFill>
                <a:blip r:embed="rId19"/>
                <a:stretch>
                  <a:fillRect t="-4396" b="-879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0" name="组合 69">
            <a:extLst>
              <a:ext uri="{FF2B5EF4-FFF2-40B4-BE49-F238E27FC236}">
                <a16:creationId xmlns:a16="http://schemas.microsoft.com/office/drawing/2014/main" id="{88E7528C-FE38-1AF0-C0F2-412D791401C1}"/>
              </a:ext>
            </a:extLst>
          </p:cNvPr>
          <p:cNvGrpSpPr/>
          <p:nvPr/>
        </p:nvGrpSpPr>
        <p:grpSpPr>
          <a:xfrm>
            <a:off x="8688647" y="4729789"/>
            <a:ext cx="783266" cy="276999"/>
            <a:chOff x="8688649" y="3250431"/>
            <a:chExt cx="783266" cy="276999"/>
          </a:xfrm>
        </p:grpSpPr>
        <p:cxnSp>
          <p:nvCxnSpPr>
            <p:cNvPr id="71" name="直接箭头连接符 70">
              <a:extLst>
                <a:ext uri="{FF2B5EF4-FFF2-40B4-BE49-F238E27FC236}">
                  <a16:creationId xmlns:a16="http://schemas.microsoft.com/office/drawing/2014/main" id="{E82FF379-1764-F093-C1D3-BEEEAA3BF5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8649" y="3527430"/>
              <a:ext cx="783266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id="{2E69DCFF-7774-B18B-1E34-E0F338CDED91}"/>
                </a:ext>
              </a:extLst>
            </p:cNvPr>
            <p:cNvSpPr txBox="1"/>
            <p:nvPr/>
          </p:nvSpPr>
          <p:spPr>
            <a:xfrm>
              <a:off x="8809577" y="3250431"/>
              <a:ext cx="5414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积分</a:t>
              </a:r>
              <a:endParaRPr lang="zh-CN" altLang="en-US" sz="1200" i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B8707F7C-072E-DB5C-E013-60D084A96672}"/>
              </a:ext>
            </a:extLst>
          </p:cNvPr>
          <p:cNvCxnSpPr>
            <a:cxnSpLocks/>
          </p:cNvCxnSpPr>
          <p:nvPr/>
        </p:nvCxnSpPr>
        <p:spPr>
          <a:xfrm flipV="1">
            <a:off x="10277839" y="3512166"/>
            <a:ext cx="0" cy="1323595"/>
          </a:xfrm>
          <a:prstGeom prst="straightConnector1">
            <a:avLst/>
          </a:prstGeom>
          <a:ln w="19050">
            <a:solidFill>
              <a:schemeClr val="tx1"/>
            </a:solidFill>
            <a:prstDash val="sysDash"/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B96A9D58-3B77-E5D0-14E3-8E3FE0F60B18}"/>
              </a:ext>
            </a:extLst>
          </p:cNvPr>
          <p:cNvGrpSpPr/>
          <p:nvPr/>
        </p:nvGrpSpPr>
        <p:grpSpPr>
          <a:xfrm>
            <a:off x="8083724" y="3825984"/>
            <a:ext cx="3503143" cy="765306"/>
            <a:chOff x="8083724" y="3825984"/>
            <a:chExt cx="3503143" cy="765306"/>
          </a:xfrm>
        </p:grpSpPr>
        <p:sp>
          <p:nvSpPr>
            <p:cNvPr id="78" name="矩形: 圆角 77">
              <a:extLst>
                <a:ext uri="{FF2B5EF4-FFF2-40B4-BE49-F238E27FC236}">
                  <a16:creationId xmlns:a16="http://schemas.microsoft.com/office/drawing/2014/main" id="{8C878FFE-8E05-8127-3183-7BCA1B8704BB}"/>
                </a:ext>
              </a:extLst>
            </p:cNvPr>
            <p:cNvSpPr/>
            <p:nvPr/>
          </p:nvSpPr>
          <p:spPr>
            <a:xfrm>
              <a:off x="8174516" y="3825984"/>
              <a:ext cx="3412351" cy="765306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  <a:alpha val="9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BA1ADE5E-97C2-CBE0-C9CB-78C0BA7A2808}"/>
                    </a:ext>
                  </a:extLst>
                </p:cNvPr>
                <p:cNvSpPr txBox="1"/>
                <p:nvPr/>
              </p:nvSpPr>
              <p:spPr>
                <a:xfrm>
                  <a:off x="8083724" y="3855595"/>
                  <a:ext cx="3503143" cy="6748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>
                    <a:lnSpc>
                      <a:spcPct val="125000"/>
                    </a:lnSpc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若</a:t>
                  </a:r>
                  <a:r>
                    <a:rPr lang="en-US" altLang="zh-CN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X</a:t>
                  </a: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的密度函数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严格单调</a:t>
                  </a:r>
                  <a:endParaRPr lang="en-US" altLang="zh-CN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  <a:p>
                  <a:pPr algn="ctr">
                    <a:lnSpc>
                      <a:spcPct val="125000"/>
                    </a:lnSpc>
                  </a:pPr>
                  <a:r>
                    <a:rPr lang="zh-CN" altLang="en-US" sz="1600" dirty="0">
                      <a:latin typeface="楷体" panose="02010609060101010101" pitchFamily="49" charset="-122"/>
                      <a:ea typeface="楷体" panose="02010609060101010101" pitchFamily="49" charset="-122"/>
                    </a:rPr>
                    <a:t>则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𝑋</m:t>
                          </m:r>
                        </m:sub>
                      </m:sSub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[</m:t>
                      </m:r>
                      <m:sSup>
                        <m:sSup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sSup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𝑓</m:t>
                          </m:r>
                        </m:e>
                        <m:sup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]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  <a:ea typeface="方正小标宋简体" panose="02000000000000000000" pitchFamily="2" charset="-122"/>
                        </a:rPr>
                        <m:t>·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方正小标宋简体" panose="02000000000000000000" pitchFamily="2" charset="-122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方正小标宋简体" panose="02000000000000000000" pitchFamily="2" charset="-122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方正小标宋简体" panose="02000000000000000000" pitchFamily="2" charset="-122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方正小标宋简体" panose="02000000000000000000" pitchFamily="2" charset="-122"/>
                                        </a:rPr>
                                        <m:t>𝑓</m:t>
                                      </m:r>
                                    </m:e>
                                    <m:sup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方正小标宋简体" panose="02000000000000000000" pitchFamily="2" charset="-122"/>
                                        </a:rPr>
                                        <m:t>−1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方正小标宋简体" panose="02000000000000000000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1600" i="1">
                                          <a:latin typeface="Cambria Math" panose="02040503050406030204" pitchFamily="18" charset="0"/>
                                          <a:ea typeface="方正小标宋简体" panose="02000000000000000000" pitchFamily="2" charset="-122"/>
                                        </a:rPr>
                                        <m:t>𝑦</m:t>
                                      </m:r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  <a:ea typeface="方正小标宋简体" panose="02000000000000000000" pitchFamily="2" charset="-122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a14:m>
                  <a:endParaRPr lang="zh-CN" altLang="en-US" sz="1600" dirty="0">
                    <a:latin typeface="楷体" panose="02010609060101010101" pitchFamily="49" charset="-122"/>
                    <a:ea typeface="楷体" panose="02010609060101010101" pitchFamily="49" charset="-122"/>
                  </a:endParaRPr>
                </a:p>
              </p:txBody>
            </p:sp>
          </mc:Choice>
          <mc:Fallback xmlns="">
            <p:sp>
              <p:nvSpPr>
                <p:cNvPr id="79" name="文本框 78">
                  <a:extLst>
                    <a:ext uri="{FF2B5EF4-FFF2-40B4-BE49-F238E27FC236}">
                      <a16:creationId xmlns:a16="http://schemas.microsoft.com/office/drawing/2014/main" id="{BA1ADE5E-97C2-CBE0-C9CB-78C0BA7A280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3724" y="3855595"/>
                  <a:ext cx="3503143" cy="674865"/>
                </a:xfrm>
                <a:prstGeom prst="rect">
                  <a:avLst/>
                </a:prstGeom>
                <a:blipFill>
                  <a:blip r:embed="rId20"/>
                  <a:stretch>
                    <a:fillRect b="-991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A41CDBCE-DEFE-C6FA-19CB-1C397CD6DAD6}"/>
              </a:ext>
            </a:extLst>
          </p:cNvPr>
          <p:cNvGrpSpPr/>
          <p:nvPr/>
        </p:nvGrpSpPr>
        <p:grpSpPr>
          <a:xfrm>
            <a:off x="8663517" y="3387293"/>
            <a:ext cx="783266" cy="276999"/>
            <a:chOff x="8688649" y="3522092"/>
            <a:chExt cx="783266" cy="276999"/>
          </a:xfrm>
        </p:grpSpPr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71EF7971-E53D-8E05-0059-383CAC943D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88649" y="3527430"/>
              <a:ext cx="783266" cy="0"/>
            </a:xfrm>
            <a:prstGeom prst="straightConnector1">
              <a:avLst/>
            </a:prstGeom>
            <a:ln w="19050">
              <a:solidFill>
                <a:srgbClr val="00B0F0"/>
              </a:solidFill>
              <a:prstDash val="sysDash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2D513D8B-1C8C-ACDE-CFAA-C04A4F62F65D}"/>
                </a:ext>
              </a:extLst>
            </p:cNvPr>
            <p:cNvSpPr txBox="1"/>
            <p:nvPr/>
          </p:nvSpPr>
          <p:spPr>
            <a:xfrm>
              <a:off x="8809577" y="3522092"/>
              <a:ext cx="5414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00B0F0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积分</a:t>
              </a:r>
              <a:endParaRPr lang="zh-CN" altLang="en-US" sz="1200" i="1" dirty="0">
                <a:solidFill>
                  <a:srgbClr val="00B0F0"/>
                </a:solidFill>
                <a:latin typeface="楷体" panose="02010609060101010101" pitchFamily="49" charset="-122"/>
                <a:ea typeface="楷体" panose="02010609060101010101" pitchFamily="49" charset="-122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009679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22" grpId="0"/>
      <p:bldP spid="23" grpId="0"/>
      <p:bldP spid="37" grpId="0" animBg="1"/>
      <p:bldP spid="38" grpId="0"/>
      <p:bldP spid="39" grpId="0"/>
      <p:bldP spid="64" grpId="0" uiExpand="1" build="p"/>
      <p:bldP spid="65" grpId="0"/>
      <p:bldP spid="66" grpId="0"/>
      <p:bldP spid="67" grpId="0"/>
      <p:bldP spid="6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60" y="1347912"/>
                <a:ext cx="8645484" cy="641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7.1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：若随机变量</a:t>
                </a:r>
                <a14:m>
                  <m:oMath xmlns:m="http://schemas.openxmlformats.org/officeDocument/2006/math">
                    <m:r>
                      <a:rPr lang="en-US" altLang="zh-CN" sz="160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𝑋</m:t>
                    </m:r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的概率密度为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sSup>
                              <m:sSupPr>
                                <m:ctrlPr>
                                  <a:rPr lang="en-US" altLang="zh-CN" sz="160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−</m:t>
                                </m:r>
                                <m:r>
                                  <a:rPr lang="en-US" altLang="zh-CN" sz="1600" b="0" i="1" smtClean="0">
                                    <a:latin typeface="Cambria Math" panose="02040503050406030204" pitchFamily="18" charset="0"/>
                                    <a:ea typeface="华文宋体" panose="02010600040101010101" pitchFamily="2" charset="-122"/>
                                  </a:rPr>
                                  <m:t>𝑥</m:t>
                                </m:r>
                              </m:sup>
                            </m:sSup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0,       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，求随机变量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的概率密度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60" y="1347912"/>
                <a:ext cx="8645484" cy="641586"/>
              </a:xfrm>
              <a:prstGeom prst="rect">
                <a:avLst/>
              </a:prstGeom>
              <a:blipFill>
                <a:blip r:embed="rId5"/>
                <a:stretch>
                  <a:fillRect l="-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DA1BA76D-A04A-24A8-3D6D-6701E938BBF7}"/>
              </a:ext>
            </a:extLst>
          </p:cNvPr>
          <p:cNvSpPr txBox="1"/>
          <p:nvPr/>
        </p:nvSpPr>
        <p:spPr>
          <a:xfrm>
            <a:off x="507459" y="496110"/>
            <a:ext cx="486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随机变量的函数及其分布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BC2845-23CE-0FC1-A45B-CFCD4BD8C473}"/>
              </a:ext>
            </a:extLst>
          </p:cNvPr>
          <p:cNvSpPr txBox="1"/>
          <p:nvPr/>
        </p:nvSpPr>
        <p:spPr>
          <a:xfrm>
            <a:off x="5368636" y="775742"/>
            <a:ext cx="2937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一维随机变量的函数的分布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4F368F-BC71-7A3B-4D41-89D43CB28E87}"/>
                  </a:ext>
                </a:extLst>
              </p:cNvPr>
              <p:cNvSpPr txBox="1"/>
              <p:nvPr/>
            </p:nvSpPr>
            <p:spPr>
              <a:xfrm>
                <a:off x="507458" y="1989498"/>
                <a:ext cx="8645487" cy="15770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1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：①当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：显然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严格单调。</a:t>
                </a:r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且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𝑓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p>
                    </m:sSup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有反函数，其反函数为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𝑓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𝑙𝑛𝑌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𝑓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−1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𝑦</m:t>
                            </m:r>
                          </m:e>
                        </m:d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·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𝑓</m:t>
                                    </m:r>
                                  </m:e>
                                  <m:sup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−1</m:t>
                                    </m:r>
                                  </m:sup>
                                </m:sSup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方正小标宋简体" panose="02000000000000000000" pitchFamily="2" charset="-122"/>
                                      </a:rPr>
                                      <m:t>𝑦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方正小标宋简体" panose="02000000000000000000" pitchFamily="2" charset="-12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𝑙𝑛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·</m:t>
                    </m:r>
                    <m:d>
                      <m:dPr>
                        <m:begChr m:val="|"/>
                        <m:endChr m:val="|"/>
                        <m:ctrlPr>
                          <a:rPr lang="en-US" altLang="zh-CN" i="1">
                            <a:latin typeface="Cambria Math" panose="02040503050406030204" pitchFamily="18" charset="0"/>
                            <a:ea typeface="方正小标宋简体" panose="02000000000000000000" pitchFamily="2" charset="-122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方正小标宋简体" panose="02000000000000000000" pitchFamily="2" charset="-122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𝑙𝑛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楷体" panose="02010609060101010101" pitchFamily="49" charset="-122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方正小标宋简体" panose="02000000000000000000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𝑙𝑛𝑦</m:t>
                        </m:r>
                      </m:sup>
                    </m:sSup>
                    <m:r>
                      <a:rPr lang="en-US" altLang="zh-CN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·</m:t>
                    </m:r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  <m:r>
                          <a:rPr lang="en-US" altLang="zh-CN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²</m:t>
                        </m:r>
                      </m:den>
                    </m:f>
                  </m:oMath>
                </a14:m>
                <a:r>
                  <a:rPr lang="en-US" altLang="zh-CN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②当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显然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4F368F-BC71-7A3B-4D41-89D43CB2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1989498"/>
                <a:ext cx="8645487" cy="1577035"/>
              </a:xfrm>
              <a:prstGeom prst="rect">
                <a:avLst/>
              </a:prstGeom>
              <a:blipFill>
                <a:blip r:embed="rId6"/>
                <a:stretch>
                  <a:fillRect l="-564" t="-3089" b="-38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F170779-C0E0-5F5D-65BD-50CA77E1CF86}"/>
                  </a:ext>
                </a:extLst>
              </p:cNvPr>
              <p:cNvSpPr txBox="1"/>
              <p:nvPr/>
            </p:nvSpPr>
            <p:spPr>
              <a:xfrm>
                <a:off x="507458" y="3783321"/>
                <a:ext cx="8645487" cy="1833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</a:t>
                </a: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2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en-US" altLang="zh-CN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的分布函数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p>
                        </m:s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𝑙𝑛𝑦</m:t>
                        </m:r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；</a:t>
                </a:r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①当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𝑙𝑛𝑦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=0−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𝑒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−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sup>
                    </m:sSup>
                    <m:d>
                      <m:dPr>
                        <m:begChr m:val="|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𝑙𝑛𝑦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=1−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′</m:t>
                        </m:r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</m:e>
                        </m:d>
                      </m:sup>
                    </m:sSubSup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</m:e>
                          <m:sup>
                            <m:r>
                              <a:rPr lang="en-US" altLang="zh-CN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.</m:t>
                    </m:r>
                  </m:oMath>
                </a14:m>
                <a:endParaRPr lang="en-US" altLang="zh-CN" b="0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②当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:r>
                  <a:rPr lang="en-US" altLang="zh-CN" dirty="0">
                    <a:ea typeface="华文宋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CN" altLang="en-US" b="0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：</a:t>
                </a:r>
                <a:r>
                  <a:rPr lang="en-US" altLang="zh-CN" dirty="0">
                    <a:ea typeface="楷体" panose="02010609060101010101" pitchFamily="49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𝑙𝑛𝑦</m:t>
                        </m:r>
                      </m:sup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𝑑𝑥</m:t>
                        </m:r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0.</m:t>
                    </m:r>
                  </m:oMath>
                </a14:m>
                <a:endParaRPr lang="en-US" altLang="zh-CN" dirty="0"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5F170779-C0E0-5F5D-65BD-50CA77E1C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3783321"/>
                <a:ext cx="8645487" cy="1833772"/>
              </a:xfrm>
              <a:prstGeom prst="rect">
                <a:avLst/>
              </a:prstGeom>
              <a:blipFill>
                <a:blip r:embed="rId7"/>
                <a:stretch>
                  <a:fillRect l="-564" t="-28667" b="-43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B3D516-88A8-7223-7712-B751BFB4BC40}"/>
                  </a:ext>
                </a:extLst>
              </p:cNvPr>
              <p:cNvSpPr txBox="1"/>
              <p:nvPr/>
            </p:nvSpPr>
            <p:spPr>
              <a:xfrm>
                <a:off x="9152945" y="2572650"/>
                <a:ext cx="2531597" cy="1004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  <m:t>𝑦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  <m:t>²</m:t>
                                  </m:r>
                                </m:den>
                              </m:f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, 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𝑦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0,     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𝑦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1B3D516-88A8-7223-7712-B751BFB4B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945" y="2572650"/>
                <a:ext cx="2531597" cy="100405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542FD77-E32E-D03F-EC5D-E7BB7FC6002D}"/>
                  </a:ext>
                </a:extLst>
              </p:cNvPr>
              <p:cNvSpPr txBox="1"/>
              <p:nvPr/>
            </p:nvSpPr>
            <p:spPr>
              <a:xfrm>
                <a:off x="9152944" y="4613036"/>
                <a:ext cx="2531597" cy="10040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600" i="1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𝑌</m:t>
                          </m:r>
                        </m:sub>
                      </m:sSub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  <m:t>𝑦</m:t>
                          </m:r>
                        </m:e>
                      </m:d>
                      <m:r>
                        <a:rPr lang="en-US" altLang="zh-CN" sz="1600" b="0" i="1" smtClean="0">
                          <a:latin typeface="Cambria Math" panose="02040503050406030204" pitchFamily="18" charset="0"/>
                          <a:ea typeface="华文宋体" panose="02010600040101010101" pitchFamily="2" charset="-122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b="0" i="1" smtClean="0">
                              <a:latin typeface="Cambria Math" panose="02040503050406030204" pitchFamily="18" charset="0"/>
                              <a:ea typeface="华文宋体" panose="02010600040101010101" pitchFamily="2" charset="-122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  <m:t>𝑦</m:t>
                                  </m:r>
                                  <m:r>
                                    <a:rPr lang="en-US" altLang="zh-CN" sz="1600" i="1">
                                      <a:latin typeface="Cambria Math" panose="02040503050406030204" pitchFamily="18" charset="0"/>
                                      <a:ea typeface="华文宋体" panose="02010600040101010101" pitchFamily="2" charset="-122"/>
                                    </a:rPr>
                                    <m:t>²</m:t>
                                  </m:r>
                                </m:den>
                              </m:f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, 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𝑦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≥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0,     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华文宋体" panose="02010600040101010101" pitchFamily="2" charset="-122"/>
                                </a:rPr>
                                <m:t>𝑦</m:t>
                              </m:r>
                              <m:r>
                                <a:rPr lang="en-US" altLang="zh-CN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5542FD77-E32E-D03F-EC5D-E7BB7FC600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944" y="4613036"/>
                <a:ext cx="2531597" cy="100405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05717539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/>
      <p:bldP spid="4" grpId="0"/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4F368F-BC71-7A3B-4D41-89D43CB28E87}"/>
                  </a:ext>
                </a:extLst>
              </p:cNvPr>
              <p:cNvSpPr txBox="1"/>
              <p:nvPr/>
            </p:nvSpPr>
            <p:spPr>
              <a:xfrm>
                <a:off x="507458" y="2226358"/>
                <a:ext cx="11108178" cy="38327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解：可先求其分布函数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)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由</a:t>
                </a:r>
                <a14:m>
                  <m:oMath xmlns:m="http://schemas.openxmlformats.org/officeDocument/2006/math"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i="1" dirty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𝑌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取值为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𝑋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取值为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rad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rad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25000"/>
                  </a:lnSpc>
                  <a:spcBef>
                    <a:spcPts val="600"/>
                  </a:spcBef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①当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𝑦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时，显然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②当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时，此时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num>
                      <m:den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③当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&lt;4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时，此时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2+</m:t>
                        </m:r>
                        <m:rad>
                          <m:radPr>
                            <m:degHide m:val="on"/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</m:e>
                        </m:rad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pPr>
                  <a:lnSpc>
                    <a:spcPct val="125000"/>
                  </a:lnSpc>
                </a:pPr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④当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时，此时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0+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−1</m:t>
                        </m:r>
                      </m:sub>
                      <m:sup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nary>
                      <m:naryPr>
                        <m:ctrlP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  <m:e>
                        <m:f>
                          <m:f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altLang="zh-C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+0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  <a:p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    </a:t>
                </a:r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0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          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0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&lt;1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1+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楷体" panose="02010609060101010101" pitchFamily="49" charset="-122"/>
                              </a:rPr>
                              <m:t>1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&lt;4</m:t>
                            </m:r>
                          </m: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1,                    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≥4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，则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𝐹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  <a:ea typeface="楷体" panose="02010609060101010101" pitchFamily="49" charset="-122"/>
                      </a:rPr>
                      <m:t>′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𝑦</m:t>
                        </m:r>
                      </m:e>
                    </m:d>
                    <m:r>
                      <a:rPr lang="en-US" altLang="zh-CN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 0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&lt;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𝑦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8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</m:rad>
                              </m:den>
                            </m:f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    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e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0,        </m:t>
                            </m:r>
                            <m:r>
                              <a:rPr lang="zh-CN" alt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其他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en-US" altLang="zh-CN" dirty="0">
                    <a:latin typeface="楷体" panose="02010609060101010101" pitchFamily="49" charset="-122"/>
                    <a:ea typeface="楷体" panose="02010609060101010101" pitchFamily="49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854F368F-BC71-7A3B-4D41-89D43CB28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8" y="2226358"/>
                <a:ext cx="11108178" cy="3832781"/>
              </a:xfrm>
              <a:prstGeom prst="rect">
                <a:avLst/>
              </a:prstGeom>
              <a:blipFill>
                <a:blip r:embed="rId5"/>
                <a:stretch>
                  <a:fillRect l="-439" t="-1272" r="-1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/>
              <p:nvPr/>
            </p:nvSpPr>
            <p:spPr>
              <a:xfrm>
                <a:off x="507459" y="1347912"/>
                <a:ext cx="9851649" cy="8784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例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7.2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：设随机变量</a:t>
                </a:r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X</a:t>
                </a:r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的概率密度为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𝑥</m:t>
                        </m:r>
                      </m:e>
                    </m:d>
                    <m:r>
                      <a:rPr lang="en-US" altLang="zh-CN" sz="1600" b="0" i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</m:ctrlPr>
                          </m:eqArrPr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1/2,   −1&lt;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&lt;0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1/4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,      0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华文宋体" panose="02010600040101010101" pitchFamily="2" charset="-122"/>
                              </a:rPr>
                              <m:t>𝑥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&lt;2</m:t>
                            </m:r>
                          </m:e>
                          <m:e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0,          </m:t>
                            </m:r>
                            <m:r>
                              <a:rPr lang="zh-CN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其他</m:t>
                            </m:r>
                            <m:r>
                              <a:rPr lang="en-US" altLang="zh-CN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          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，求随机变量</a:t>
                </a:r>
                <a14:m>
                  <m:oMath xmlns:m="http://schemas.openxmlformats.org/officeDocument/2006/math"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𝑌</m:t>
                    </m:r>
                    <m:r>
                      <a:rPr lang="en-US" altLang="zh-CN" sz="1600" b="0" i="1" dirty="0" smtClean="0">
                        <a:latin typeface="Cambria Math" panose="02040503050406030204" pitchFamily="18" charset="0"/>
                        <a:ea typeface="华文宋体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𝑋</m:t>
                        </m:r>
                      </m:e>
                      <m:sup>
                        <m:r>
                          <a:rPr lang="en-US" altLang="zh-CN" sz="1600" b="0" i="1" dirty="0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的概率密度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𝑝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𝑌</m:t>
                        </m:r>
                      </m:sub>
                    </m:sSub>
                    <m:d>
                      <m:d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华文宋体" panose="02010600040101010101" pitchFamily="2" charset="-122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CN" sz="1600" dirty="0">
                    <a:latin typeface="华文宋体" panose="02010600040101010101" pitchFamily="2" charset="-122"/>
                    <a:ea typeface="华文宋体" panose="02010600040101010101" pitchFamily="2" charset="-122"/>
                  </a:rPr>
                  <a:t>.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F8EA2AA-3607-76BF-CED9-450E9DC65B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459" y="1347912"/>
                <a:ext cx="9851649" cy="878446"/>
              </a:xfrm>
              <a:prstGeom prst="rect">
                <a:avLst/>
              </a:prstGeom>
              <a:blipFill>
                <a:blip r:embed="rId6"/>
                <a:stretch>
                  <a:fillRect l="-3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文本框 1">
            <a:extLst>
              <a:ext uri="{FF2B5EF4-FFF2-40B4-BE49-F238E27FC236}">
                <a16:creationId xmlns:a16="http://schemas.microsoft.com/office/drawing/2014/main" id="{DA1BA76D-A04A-24A8-3D6D-6701E938BBF7}"/>
              </a:ext>
            </a:extLst>
          </p:cNvPr>
          <p:cNvSpPr txBox="1"/>
          <p:nvPr/>
        </p:nvSpPr>
        <p:spPr>
          <a:xfrm>
            <a:off x="507459" y="496110"/>
            <a:ext cx="4861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随机变量的函数及其分布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BC2845-23CE-0FC1-A45B-CFCD4BD8C473}"/>
              </a:ext>
            </a:extLst>
          </p:cNvPr>
          <p:cNvSpPr txBox="1"/>
          <p:nvPr/>
        </p:nvSpPr>
        <p:spPr>
          <a:xfrm>
            <a:off x="5368636" y="775742"/>
            <a:ext cx="29371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 dirty="0"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一维随机变量的函数的分布</a:t>
            </a:r>
            <a:endParaRPr lang="en-US" altLang="zh-CN" sz="1600" dirty="0"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31EEB6C8-B8B8-9708-100D-B95943E1B085}"/>
              </a:ext>
            </a:extLst>
          </p:cNvPr>
          <p:cNvGrpSpPr/>
          <p:nvPr/>
        </p:nvGrpSpPr>
        <p:grpSpPr>
          <a:xfrm>
            <a:off x="9442487" y="4729112"/>
            <a:ext cx="383415" cy="655413"/>
            <a:chOff x="9195526" y="4729112"/>
            <a:chExt cx="383415" cy="655413"/>
          </a:xfrm>
        </p:grpSpPr>
        <p:sp>
          <p:nvSpPr>
            <p:cNvPr id="97" name="右大括号 96">
              <a:extLst>
                <a:ext uri="{FF2B5EF4-FFF2-40B4-BE49-F238E27FC236}">
                  <a16:creationId xmlns:a16="http://schemas.microsoft.com/office/drawing/2014/main" id="{9B2E2546-63BA-D45D-86C8-41746A027100}"/>
                </a:ext>
              </a:extLst>
            </p:cNvPr>
            <p:cNvSpPr/>
            <p:nvPr/>
          </p:nvSpPr>
          <p:spPr>
            <a:xfrm rot="5400000">
              <a:off x="9374178" y="4610140"/>
              <a:ext cx="45719" cy="283664"/>
            </a:xfrm>
            <a:prstGeom prst="rightBrace">
              <a:avLst>
                <a:gd name="adj1" fmla="val 85938"/>
                <a:gd name="adj2" fmla="val 50000"/>
              </a:avLst>
            </a:prstGeom>
            <a:ln w="12700"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EFCF4CA8-3286-95F4-2F76-4A9B2C075C37}"/>
                    </a:ext>
                  </a:extLst>
                </p:cNvPr>
                <p:cNvSpPr txBox="1"/>
                <p:nvPr/>
              </p:nvSpPr>
              <p:spPr>
                <a:xfrm>
                  <a:off x="9195526" y="4766086"/>
                  <a:ext cx="383415" cy="618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800" b="0" i="1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800" b="0" i="1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zh-CN" altLang="en-US" sz="800" dirty="0">
                    <a:solidFill>
                      <a:srgbClr val="00B0F0"/>
                    </a:solidFill>
                  </a:endParaRPr>
                </a:p>
              </p:txBody>
            </p:sp>
          </mc:Choice>
          <mc:Fallback xmlns="">
            <p:sp>
              <p:nvSpPr>
                <p:cNvPr id="101" name="文本框 100">
                  <a:extLst>
                    <a:ext uri="{FF2B5EF4-FFF2-40B4-BE49-F238E27FC236}">
                      <a16:creationId xmlns:a16="http://schemas.microsoft.com/office/drawing/2014/main" id="{EFCF4CA8-3286-95F4-2F76-4A9B2C075C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195526" y="4766086"/>
                  <a:ext cx="383415" cy="61843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4" name="组合 103">
            <a:extLst>
              <a:ext uri="{FF2B5EF4-FFF2-40B4-BE49-F238E27FC236}">
                <a16:creationId xmlns:a16="http://schemas.microsoft.com/office/drawing/2014/main" id="{6AFC5838-5163-E0E8-2ECA-519F1727B534}"/>
              </a:ext>
            </a:extLst>
          </p:cNvPr>
          <p:cNvGrpSpPr/>
          <p:nvPr/>
        </p:nvGrpSpPr>
        <p:grpSpPr>
          <a:xfrm>
            <a:off x="9790415" y="4728955"/>
            <a:ext cx="573088" cy="655569"/>
            <a:chOff x="9543454" y="4728955"/>
            <a:chExt cx="573088" cy="655569"/>
          </a:xfrm>
        </p:grpSpPr>
        <p:sp>
          <p:nvSpPr>
            <p:cNvPr id="98" name="右大括号 97">
              <a:extLst>
                <a:ext uri="{FF2B5EF4-FFF2-40B4-BE49-F238E27FC236}">
                  <a16:creationId xmlns:a16="http://schemas.microsoft.com/office/drawing/2014/main" id="{A306089D-A794-A2BF-CDDC-B5D1189F7466}"/>
                </a:ext>
              </a:extLst>
            </p:cNvPr>
            <p:cNvSpPr/>
            <p:nvPr/>
          </p:nvSpPr>
          <p:spPr>
            <a:xfrm rot="5400000">
              <a:off x="9805900" y="4466509"/>
              <a:ext cx="48196" cy="573088"/>
            </a:xfrm>
            <a:prstGeom prst="rightBrace">
              <a:avLst>
                <a:gd name="adj1" fmla="val 85938"/>
                <a:gd name="adj2" fmla="val 50000"/>
              </a:avLst>
            </a:prstGeom>
            <a:ln w="12700">
              <a:solidFill>
                <a:schemeClr val="accent5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584701D2-911E-25E3-7955-5C94A092571B}"/>
                    </a:ext>
                  </a:extLst>
                </p:cNvPr>
                <p:cNvSpPr txBox="1"/>
                <p:nvPr/>
              </p:nvSpPr>
              <p:spPr>
                <a:xfrm>
                  <a:off x="9635453" y="4766085"/>
                  <a:ext cx="383415" cy="61843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800" b="0" i="1" smtClean="0">
                            <a:solidFill>
                              <a:schemeClr val="accent5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7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oMath>
                    </m:oMathPara>
                  </a14:m>
                  <a:endParaRPr lang="zh-CN" altLang="en-US" sz="800" dirty="0">
                    <a:solidFill>
                      <a:schemeClr val="accent5">
                        <a:lumMod val="7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3" name="文本框 102">
                  <a:extLst>
                    <a:ext uri="{FF2B5EF4-FFF2-40B4-BE49-F238E27FC236}">
                      <a16:creationId xmlns:a16="http://schemas.microsoft.com/office/drawing/2014/main" id="{584701D2-911E-25E3-7955-5C94A09257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35453" y="4766085"/>
                  <a:ext cx="383415" cy="61843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7" name="组合 106">
            <a:extLst>
              <a:ext uri="{FF2B5EF4-FFF2-40B4-BE49-F238E27FC236}">
                <a16:creationId xmlns:a16="http://schemas.microsoft.com/office/drawing/2014/main" id="{98FC2F46-10C2-0AD6-74A9-420FBD66CF03}"/>
              </a:ext>
            </a:extLst>
          </p:cNvPr>
          <p:cNvGrpSpPr/>
          <p:nvPr/>
        </p:nvGrpSpPr>
        <p:grpSpPr>
          <a:xfrm>
            <a:off x="8635490" y="4726634"/>
            <a:ext cx="2304757" cy="496883"/>
            <a:chOff x="8388529" y="4726634"/>
            <a:chExt cx="2304757" cy="496883"/>
          </a:xfrm>
        </p:grpSpPr>
        <p:sp>
          <p:nvSpPr>
            <p:cNvPr id="99" name="右大括号 98">
              <a:extLst>
                <a:ext uri="{FF2B5EF4-FFF2-40B4-BE49-F238E27FC236}">
                  <a16:creationId xmlns:a16="http://schemas.microsoft.com/office/drawing/2014/main" id="{885CF841-A43B-1B9B-0463-197EB06F8302}"/>
                </a:ext>
              </a:extLst>
            </p:cNvPr>
            <p:cNvSpPr/>
            <p:nvPr/>
          </p:nvSpPr>
          <p:spPr>
            <a:xfrm rot="5400000">
              <a:off x="10382644" y="4464190"/>
              <a:ext cx="48196" cy="573088"/>
            </a:xfrm>
            <a:prstGeom prst="rightBrace">
              <a:avLst>
                <a:gd name="adj1" fmla="val 85938"/>
                <a:gd name="adj2" fmla="val 50000"/>
              </a:avLst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右大括号 99">
              <a:extLst>
                <a:ext uri="{FF2B5EF4-FFF2-40B4-BE49-F238E27FC236}">
                  <a16:creationId xmlns:a16="http://schemas.microsoft.com/office/drawing/2014/main" id="{35C52128-A7CF-414F-87F8-9C0E6A1BA0DF}"/>
                </a:ext>
              </a:extLst>
            </p:cNvPr>
            <p:cNvSpPr/>
            <p:nvPr/>
          </p:nvSpPr>
          <p:spPr>
            <a:xfrm rot="5400000">
              <a:off x="8792225" y="4322938"/>
              <a:ext cx="54699" cy="862092"/>
            </a:xfrm>
            <a:prstGeom prst="rightBrace">
              <a:avLst>
                <a:gd name="adj1" fmla="val 85938"/>
                <a:gd name="adj2" fmla="val 50000"/>
              </a:avLst>
            </a:prstGeom>
            <a:ln w="1270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3DD92A5-57DA-497C-8D8B-0BFDB8F6B406}"/>
                    </a:ext>
                  </a:extLst>
                </p:cNvPr>
                <p:cNvSpPr txBox="1"/>
                <p:nvPr/>
              </p:nvSpPr>
              <p:spPr>
                <a:xfrm>
                  <a:off x="10207022" y="4766084"/>
                  <a:ext cx="383415" cy="4574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8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5" name="文本框 104">
                  <a:extLst>
                    <a:ext uri="{FF2B5EF4-FFF2-40B4-BE49-F238E27FC236}">
                      <a16:creationId xmlns:a16="http://schemas.microsoft.com/office/drawing/2014/main" id="{E3DD92A5-57DA-497C-8D8B-0BFDB8F6B4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07022" y="4766084"/>
                  <a:ext cx="383415" cy="457433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5142F9A-1A25-EEA2-CEDC-DFB8E262DED5}"/>
                    </a:ext>
                  </a:extLst>
                </p:cNvPr>
                <p:cNvSpPr txBox="1"/>
                <p:nvPr/>
              </p:nvSpPr>
              <p:spPr>
                <a:xfrm>
                  <a:off x="8621424" y="4766084"/>
                  <a:ext cx="383415" cy="45743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80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800" b="0" i="1" smtClean="0">
                                <a:solidFill>
                                  <a:schemeClr val="accent5">
                                    <a:lumMod val="60000"/>
                                    <a:lumOff val="4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zh-CN" sz="800" b="0" i="1" smtClean="0">
                            <a:solidFill>
                              <a:schemeClr val="accent5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zh-CN" altLang="en-US" sz="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文本框 105">
                  <a:extLst>
                    <a:ext uri="{FF2B5EF4-FFF2-40B4-BE49-F238E27FC236}">
                      <a16:creationId xmlns:a16="http://schemas.microsoft.com/office/drawing/2014/main" id="{D5142F9A-1A25-EEA2-CEDC-DFB8E262DED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21424" y="4766084"/>
                  <a:ext cx="383415" cy="457433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7527DA8F-69CA-A27F-B8D3-ECE3359F37C4}"/>
              </a:ext>
            </a:extLst>
          </p:cNvPr>
          <p:cNvGrpSpPr/>
          <p:nvPr/>
        </p:nvGrpSpPr>
        <p:grpSpPr>
          <a:xfrm>
            <a:off x="8513137" y="2973940"/>
            <a:ext cx="1686980" cy="582163"/>
            <a:chOff x="8513137" y="2973940"/>
            <a:chExt cx="1686980" cy="582163"/>
          </a:xfrm>
        </p:grpSpPr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B9DB6FC2-3CCE-E0F8-1674-8E85CAE2A193}"/>
                </a:ext>
              </a:extLst>
            </p:cNvPr>
            <p:cNvSpPr/>
            <p:nvPr/>
          </p:nvSpPr>
          <p:spPr>
            <a:xfrm>
              <a:off x="8513137" y="3348798"/>
              <a:ext cx="1278420" cy="20730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5" name="组合 114">
              <a:extLst>
                <a:ext uri="{FF2B5EF4-FFF2-40B4-BE49-F238E27FC236}">
                  <a16:creationId xmlns:a16="http://schemas.microsoft.com/office/drawing/2014/main" id="{C9B23980-191B-B271-BB34-8D9347E8B96A}"/>
                </a:ext>
              </a:extLst>
            </p:cNvPr>
            <p:cNvGrpSpPr/>
            <p:nvPr/>
          </p:nvGrpSpPr>
          <p:grpSpPr>
            <a:xfrm>
              <a:off x="9785831" y="2973940"/>
              <a:ext cx="414286" cy="378264"/>
              <a:chOff x="9785831" y="2973940"/>
              <a:chExt cx="414286" cy="378264"/>
            </a:xfrm>
          </p:grpSpPr>
          <p:cxnSp>
            <p:nvCxnSpPr>
              <p:cNvPr id="111" name="直接箭头连接符 110">
                <a:extLst>
                  <a:ext uri="{FF2B5EF4-FFF2-40B4-BE49-F238E27FC236}">
                    <a16:creationId xmlns:a16="http://schemas.microsoft.com/office/drawing/2014/main" id="{B9DD1FD6-DFDD-0BB5-28E8-F953FECE5D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6619" y="3101260"/>
                <a:ext cx="0" cy="21866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1FC732C4-B2BA-6CF8-6428-8EC3E4D917B9}"/>
                      </a:ext>
                    </a:extLst>
                  </p:cNvPr>
                  <p:cNvSpPr txBox="1"/>
                  <p:nvPr/>
                </p:nvSpPr>
                <p:spPr>
                  <a:xfrm>
                    <a:off x="9785831" y="2973940"/>
                    <a:ext cx="414286" cy="3782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4" name="文本框 113">
                    <a:extLst>
                      <a:ext uri="{FF2B5EF4-FFF2-40B4-BE49-F238E27FC236}">
                        <a16:creationId xmlns:a16="http://schemas.microsoft.com/office/drawing/2014/main" id="{1FC732C4-B2BA-6CF8-6428-8EC3E4D917B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85831" y="2973940"/>
                    <a:ext cx="414286" cy="378264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C5F77D8B-6C63-59D7-C736-B8CE343C2F32}"/>
              </a:ext>
            </a:extLst>
          </p:cNvPr>
          <p:cNvGrpSpPr/>
          <p:nvPr/>
        </p:nvGrpSpPr>
        <p:grpSpPr>
          <a:xfrm>
            <a:off x="8851710" y="3853800"/>
            <a:ext cx="1718021" cy="610157"/>
            <a:chOff x="8851710" y="3853800"/>
            <a:chExt cx="1718021" cy="610157"/>
          </a:xfrm>
        </p:grpSpPr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0808CBB1-E951-ED34-21A6-4D003D23466A}"/>
                </a:ext>
              </a:extLst>
            </p:cNvPr>
            <p:cNvSpPr/>
            <p:nvPr/>
          </p:nvSpPr>
          <p:spPr>
            <a:xfrm>
              <a:off x="9499490" y="4256652"/>
              <a:ext cx="576758" cy="20730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16" name="组合 115">
              <a:extLst>
                <a:ext uri="{FF2B5EF4-FFF2-40B4-BE49-F238E27FC236}">
                  <a16:creationId xmlns:a16="http://schemas.microsoft.com/office/drawing/2014/main" id="{8D48C23C-2FB5-6D64-18DE-15660D944A58}"/>
                </a:ext>
              </a:extLst>
            </p:cNvPr>
            <p:cNvGrpSpPr/>
            <p:nvPr/>
          </p:nvGrpSpPr>
          <p:grpSpPr>
            <a:xfrm>
              <a:off x="8851710" y="3856163"/>
              <a:ext cx="647741" cy="378264"/>
              <a:chOff x="9138878" y="2981855"/>
              <a:chExt cx="647741" cy="378264"/>
            </a:xfrm>
          </p:grpSpPr>
          <p:cxnSp>
            <p:nvCxnSpPr>
              <p:cNvPr id="117" name="直接箭头连接符 116">
                <a:extLst>
                  <a:ext uri="{FF2B5EF4-FFF2-40B4-BE49-F238E27FC236}">
                    <a16:creationId xmlns:a16="http://schemas.microsoft.com/office/drawing/2014/main" id="{F426B9BB-BAD7-064B-C65B-0873F95D18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6619" y="3101260"/>
                <a:ext cx="0" cy="218662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E922DD2-80E8-CAF0-615B-A1E061E18B56}"/>
                      </a:ext>
                    </a:extLst>
                  </p:cNvPr>
                  <p:cNvSpPr txBox="1"/>
                  <p:nvPr/>
                </p:nvSpPr>
                <p:spPr>
                  <a:xfrm>
                    <a:off x="9138878" y="2981855"/>
                    <a:ext cx="576757" cy="3782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oMath>
                      </m:oMathPara>
                    </a14:m>
                    <a:endParaRPr lang="zh-CN" alt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18" name="文本框 117">
                    <a:extLst>
                      <a:ext uri="{FF2B5EF4-FFF2-40B4-BE49-F238E27FC236}">
                        <a16:creationId xmlns:a16="http://schemas.microsoft.com/office/drawing/2014/main" id="{5E922DD2-80E8-CAF0-615B-A1E061E18B5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38878" y="2981855"/>
                    <a:ext cx="576757" cy="37826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8421"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9" name="组合 118">
              <a:extLst>
                <a:ext uri="{FF2B5EF4-FFF2-40B4-BE49-F238E27FC236}">
                  <a16:creationId xmlns:a16="http://schemas.microsoft.com/office/drawing/2014/main" id="{247FC508-4986-016B-7330-FB208DA1E5CA}"/>
                </a:ext>
              </a:extLst>
            </p:cNvPr>
            <p:cNvGrpSpPr/>
            <p:nvPr/>
          </p:nvGrpSpPr>
          <p:grpSpPr>
            <a:xfrm>
              <a:off x="9992974" y="3853800"/>
              <a:ext cx="576757" cy="378264"/>
              <a:chOff x="9708452" y="2981855"/>
              <a:chExt cx="576757" cy="378264"/>
            </a:xfrm>
          </p:grpSpPr>
          <p:cxnSp>
            <p:nvCxnSpPr>
              <p:cNvPr id="120" name="直接箭头连接符 119">
                <a:extLst>
                  <a:ext uri="{FF2B5EF4-FFF2-40B4-BE49-F238E27FC236}">
                    <a16:creationId xmlns:a16="http://schemas.microsoft.com/office/drawing/2014/main" id="{E7FDE552-43BB-5079-FD6C-A629FD261B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6619" y="3101260"/>
                <a:ext cx="0" cy="218662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5AB9E0DA-A373-2BC8-5297-DD4D8E88CCE7}"/>
                      </a:ext>
                    </a:extLst>
                  </p:cNvPr>
                  <p:cNvSpPr txBox="1"/>
                  <p:nvPr/>
                </p:nvSpPr>
                <p:spPr>
                  <a:xfrm>
                    <a:off x="9708452" y="2981855"/>
                    <a:ext cx="576757" cy="3782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oMath>
                      </m:oMathPara>
                    </a14:m>
                    <a:endParaRPr lang="zh-CN" alt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1" name="文本框 120">
                    <a:extLst>
                      <a:ext uri="{FF2B5EF4-FFF2-40B4-BE49-F238E27FC236}">
                        <a16:creationId xmlns:a16="http://schemas.microsoft.com/office/drawing/2014/main" id="{5AB9E0DA-A373-2BC8-5297-DD4D8E88CCE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8452" y="2981855"/>
                    <a:ext cx="576757" cy="37826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4839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28" name="组合 127">
            <a:extLst>
              <a:ext uri="{FF2B5EF4-FFF2-40B4-BE49-F238E27FC236}">
                <a16:creationId xmlns:a16="http://schemas.microsoft.com/office/drawing/2014/main" id="{8B987AE3-F9F6-65B1-D6B6-34617991ACCE}"/>
              </a:ext>
            </a:extLst>
          </p:cNvPr>
          <p:cNvGrpSpPr/>
          <p:nvPr/>
        </p:nvGrpSpPr>
        <p:grpSpPr>
          <a:xfrm>
            <a:off x="8566262" y="3874843"/>
            <a:ext cx="2291847" cy="588149"/>
            <a:chOff x="8566262" y="5408483"/>
            <a:chExt cx="2291847" cy="588149"/>
          </a:xfrm>
        </p:grpSpPr>
        <p:sp>
          <p:nvSpPr>
            <p:cNvPr id="95" name="矩形 94">
              <a:extLst>
                <a:ext uri="{FF2B5EF4-FFF2-40B4-BE49-F238E27FC236}">
                  <a16:creationId xmlns:a16="http://schemas.microsoft.com/office/drawing/2014/main" id="{C7FC753C-7FB3-E621-719F-0C266F6249EC}"/>
                </a:ext>
              </a:extLst>
            </p:cNvPr>
            <p:cNvSpPr/>
            <p:nvPr/>
          </p:nvSpPr>
          <p:spPr>
            <a:xfrm>
              <a:off x="9211490" y="5789327"/>
              <a:ext cx="1147618" cy="207305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2" name="组合 121">
              <a:extLst>
                <a:ext uri="{FF2B5EF4-FFF2-40B4-BE49-F238E27FC236}">
                  <a16:creationId xmlns:a16="http://schemas.microsoft.com/office/drawing/2014/main" id="{E6A19EDE-A687-0B1C-C8AE-A0B8BEFCD8A5}"/>
                </a:ext>
              </a:extLst>
            </p:cNvPr>
            <p:cNvGrpSpPr/>
            <p:nvPr/>
          </p:nvGrpSpPr>
          <p:grpSpPr>
            <a:xfrm>
              <a:off x="8566262" y="5410343"/>
              <a:ext cx="647741" cy="378264"/>
              <a:chOff x="9138878" y="2981855"/>
              <a:chExt cx="647741" cy="378264"/>
            </a:xfrm>
          </p:grpSpPr>
          <p:cxnSp>
            <p:nvCxnSpPr>
              <p:cNvPr id="123" name="直接箭头连接符 122">
                <a:extLst>
                  <a:ext uri="{FF2B5EF4-FFF2-40B4-BE49-F238E27FC236}">
                    <a16:creationId xmlns:a16="http://schemas.microsoft.com/office/drawing/2014/main" id="{AFE86A7A-04C9-132C-F1C7-7A1B9455FA2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6619" y="3101260"/>
                <a:ext cx="0" cy="218662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3740FD60-1228-5149-F0D5-4C21ED1D6E8F}"/>
                      </a:ext>
                    </a:extLst>
                  </p:cNvPr>
                  <p:cNvSpPr txBox="1"/>
                  <p:nvPr/>
                </p:nvSpPr>
                <p:spPr>
                  <a:xfrm>
                    <a:off x="9138878" y="2981855"/>
                    <a:ext cx="576757" cy="3782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−</m:t>
                          </m:r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oMath>
                      </m:oMathPara>
                    </a14:m>
                    <a:endParaRPr lang="zh-CN" alt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4" name="文本框 123">
                    <a:extLst>
                      <a:ext uri="{FF2B5EF4-FFF2-40B4-BE49-F238E27FC236}">
                        <a16:creationId xmlns:a16="http://schemas.microsoft.com/office/drawing/2014/main" id="{3740FD60-1228-5149-F0D5-4C21ED1D6E8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38878" y="2981855"/>
                    <a:ext cx="576757" cy="37826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r="-8421"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25" name="组合 124">
              <a:extLst>
                <a:ext uri="{FF2B5EF4-FFF2-40B4-BE49-F238E27FC236}">
                  <a16:creationId xmlns:a16="http://schemas.microsoft.com/office/drawing/2014/main" id="{6EE538F6-474C-80EC-BA32-AAC6AA29D5E7}"/>
                </a:ext>
              </a:extLst>
            </p:cNvPr>
            <p:cNvGrpSpPr/>
            <p:nvPr/>
          </p:nvGrpSpPr>
          <p:grpSpPr>
            <a:xfrm>
              <a:off x="10281352" y="5408483"/>
              <a:ext cx="576757" cy="378264"/>
              <a:chOff x="9708452" y="2981855"/>
              <a:chExt cx="576757" cy="378264"/>
            </a:xfrm>
          </p:grpSpPr>
          <p:cxnSp>
            <p:nvCxnSpPr>
              <p:cNvPr id="126" name="直接箭头连接符 125">
                <a:extLst>
                  <a:ext uri="{FF2B5EF4-FFF2-40B4-BE49-F238E27FC236}">
                    <a16:creationId xmlns:a16="http://schemas.microsoft.com/office/drawing/2014/main" id="{47BDBA3A-C825-5306-8F60-6BA3CB5EE7A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6619" y="3101260"/>
                <a:ext cx="0" cy="218662"/>
              </a:xfrm>
              <a:prstGeom prst="straightConnector1">
                <a:avLst/>
              </a:prstGeom>
              <a:ln w="19050">
                <a:solidFill>
                  <a:schemeClr val="accent1"/>
                </a:solidFill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340D1B47-5288-8254-D9AC-6DF0A4E5320E}"/>
                      </a:ext>
                    </a:extLst>
                  </p:cNvPr>
                  <p:cNvSpPr txBox="1"/>
                  <p:nvPr/>
                </p:nvSpPr>
                <p:spPr>
                  <a:xfrm>
                    <a:off x="9708452" y="2981855"/>
                    <a:ext cx="576757" cy="3782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𝑦</m:t>
                              </m:r>
                            </m:e>
                          </m:rad>
                        </m:oMath>
                      </m:oMathPara>
                    </a14:m>
                    <a:endParaRPr lang="zh-CN" altLang="en-US" dirty="0">
                      <a:solidFill>
                        <a:schemeClr val="accent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27" name="文本框 126">
                    <a:extLst>
                      <a:ext uri="{FF2B5EF4-FFF2-40B4-BE49-F238E27FC236}">
                        <a16:creationId xmlns:a16="http://schemas.microsoft.com/office/drawing/2014/main" id="{340D1B47-5288-8254-D9AC-6DF0A4E5320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08452" y="2981855"/>
                    <a:ext cx="576757" cy="378264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742D1CDA-F482-04B8-06D5-AD62EB470B8D}"/>
              </a:ext>
            </a:extLst>
          </p:cNvPr>
          <p:cNvGrpSpPr/>
          <p:nvPr/>
        </p:nvGrpSpPr>
        <p:grpSpPr>
          <a:xfrm>
            <a:off x="8517183" y="2919113"/>
            <a:ext cx="1971312" cy="635090"/>
            <a:chOff x="8517183" y="1623484"/>
            <a:chExt cx="1971312" cy="635090"/>
          </a:xfrm>
        </p:grpSpPr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9FA13AAB-B57B-D7CA-A85A-AC748D11CC9D}"/>
                </a:ext>
              </a:extLst>
            </p:cNvPr>
            <p:cNvSpPr/>
            <p:nvPr/>
          </p:nvSpPr>
          <p:spPr>
            <a:xfrm>
              <a:off x="8517183" y="2051269"/>
              <a:ext cx="1555388" cy="207305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8ECC84A9-F6AF-D2C7-D9C8-781D517006E9}"/>
                </a:ext>
              </a:extLst>
            </p:cNvPr>
            <p:cNvGrpSpPr/>
            <p:nvPr/>
          </p:nvGrpSpPr>
          <p:grpSpPr>
            <a:xfrm>
              <a:off x="10074209" y="1623484"/>
              <a:ext cx="414286" cy="378264"/>
              <a:chOff x="9785831" y="2973940"/>
              <a:chExt cx="414286" cy="378264"/>
            </a:xfrm>
          </p:grpSpPr>
          <p:cxnSp>
            <p:nvCxnSpPr>
              <p:cNvPr id="130" name="直接箭头连接符 129">
                <a:extLst>
                  <a:ext uri="{FF2B5EF4-FFF2-40B4-BE49-F238E27FC236}">
                    <a16:creationId xmlns:a16="http://schemas.microsoft.com/office/drawing/2014/main" id="{39FB5B17-6F67-F3A1-1987-3B2A75813B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6619" y="3101260"/>
                <a:ext cx="0" cy="21866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800AD645-5E44-DBA2-0B92-BD197EA7575C}"/>
                      </a:ext>
                    </a:extLst>
                  </p:cNvPr>
                  <p:cNvSpPr txBox="1"/>
                  <p:nvPr/>
                </p:nvSpPr>
                <p:spPr>
                  <a:xfrm>
                    <a:off x="9785831" y="2973940"/>
                    <a:ext cx="414286" cy="3782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1" name="文本框 130">
                    <a:extLst>
                      <a:ext uri="{FF2B5EF4-FFF2-40B4-BE49-F238E27FC236}">
                        <a16:creationId xmlns:a16="http://schemas.microsoft.com/office/drawing/2014/main" id="{800AD645-5E44-DBA2-0B92-BD197EA7575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85831" y="2973940"/>
                    <a:ext cx="414286" cy="37826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37" name="组合 136">
            <a:extLst>
              <a:ext uri="{FF2B5EF4-FFF2-40B4-BE49-F238E27FC236}">
                <a16:creationId xmlns:a16="http://schemas.microsoft.com/office/drawing/2014/main" id="{A6F28FDD-4075-7946-0E6A-87064481DE74}"/>
              </a:ext>
            </a:extLst>
          </p:cNvPr>
          <p:cNvGrpSpPr/>
          <p:nvPr/>
        </p:nvGrpSpPr>
        <p:grpSpPr>
          <a:xfrm>
            <a:off x="8513137" y="2901195"/>
            <a:ext cx="2835882" cy="636249"/>
            <a:chOff x="8513137" y="874744"/>
            <a:chExt cx="2835882" cy="636249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0531DE48-E5C0-949C-3B6B-EA896B82AB3F}"/>
                </a:ext>
              </a:extLst>
            </p:cNvPr>
            <p:cNvSpPr/>
            <p:nvPr/>
          </p:nvSpPr>
          <p:spPr>
            <a:xfrm>
              <a:off x="8513137" y="1303687"/>
              <a:ext cx="2427109" cy="20730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34" name="组合 133">
              <a:extLst>
                <a:ext uri="{FF2B5EF4-FFF2-40B4-BE49-F238E27FC236}">
                  <a16:creationId xmlns:a16="http://schemas.microsoft.com/office/drawing/2014/main" id="{F651CEC3-31CB-EF7F-2FD8-3C0564926610}"/>
                </a:ext>
              </a:extLst>
            </p:cNvPr>
            <p:cNvGrpSpPr/>
            <p:nvPr/>
          </p:nvGrpSpPr>
          <p:grpSpPr>
            <a:xfrm>
              <a:off x="10934733" y="874744"/>
              <a:ext cx="414286" cy="378264"/>
              <a:chOff x="9785831" y="2973940"/>
              <a:chExt cx="414286" cy="378264"/>
            </a:xfrm>
          </p:grpSpPr>
          <p:cxnSp>
            <p:nvCxnSpPr>
              <p:cNvPr id="135" name="直接箭头连接符 134">
                <a:extLst>
                  <a:ext uri="{FF2B5EF4-FFF2-40B4-BE49-F238E27FC236}">
                    <a16:creationId xmlns:a16="http://schemas.microsoft.com/office/drawing/2014/main" id="{BFF36D4E-B70B-C99C-6E60-5077B69729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786619" y="3101260"/>
                <a:ext cx="0" cy="218662"/>
              </a:xfrm>
              <a:prstGeom prst="straightConnector1">
                <a:avLst/>
              </a:prstGeom>
              <a:ln w="19050">
                <a:tailEnd type="triangle"/>
              </a:ln>
            </p:spPr>
            <p:style>
              <a:lnRef idx="1">
                <a:schemeClr val="accent4"/>
              </a:lnRef>
              <a:fillRef idx="0">
                <a:schemeClr val="accent4"/>
              </a:fillRef>
              <a:effectRef idx="0">
                <a:schemeClr val="accent4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80B34A9D-FCF4-1571-5A45-C18BF358135A}"/>
                      </a:ext>
                    </a:extLst>
                  </p:cNvPr>
                  <p:cNvSpPr txBox="1"/>
                  <p:nvPr/>
                </p:nvSpPr>
                <p:spPr>
                  <a:xfrm>
                    <a:off x="9785831" y="2973940"/>
                    <a:ext cx="414286" cy="37826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  <a:ea typeface="楷体" panose="02010609060101010101" pitchFamily="49" charset="-122"/>
                            </a:rPr>
                            <m:t>𝑦</m:t>
                          </m:r>
                        </m:oMath>
                      </m:oMathPara>
                    </a14:m>
                    <a:endParaRPr lang="zh-CN" altLang="en-US" dirty="0">
                      <a:solidFill>
                        <a:schemeClr val="accent4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36" name="文本框 135">
                    <a:extLst>
                      <a:ext uri="{FF2B5EF4-FFF2-40B4-BE49-F238E27FC236}">
                        <a16:creationId xmlns:a16="http://schemas.microsoft.com/office/drawing/2014/main" id="{80B34A9D-FCF4-1571-5A45-C18BF35813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785831" y="2973940"/>
                    <a:ext cx="414286" cy="37826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3226"/>
                    </a:stretch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3A2A692E-E6EB-27B5-CFCA-228A1F1AF45E}"/>
              </a:ext>
            </a:extLst>
          </p:cNvPr>
          <p:cNvGrpSpPr/>
          <p:nvPr/>
        </p:nvGrpSpPr>
        <p:grpSpPr>
          <a:xfrm>
            <a:off x="8305800" y="3359587"/>
            <a:ext cx="3534851" cy="482164"/>
            <a:chOff x="8058839" y="3429000"/>
            <a:chExt cx="3534851" cy="482164"/>
          </a:xfrm>
        </p:grpSpPr>
        <p:grpSp>
          <p:nvGrpSpPr>
            <p:cNvPr id="60" name="组合 59">
              <a:extLst>
                <a:ext uri="{FF2B5EF4-FFF2-40B4-BE49-F238E27FC236}">
                  <a16:creationId xmlns:a16="http://schemas.microsoft.com/office/drawing/2014/main" id="{F5513FB6-3EBA-7CCF-CC59-C81AFF2F0CA4}"/>
                </a:ext>
              </a:extLst>
            </p:cNvPr>
            <p:cNvGrpSpPr/>
            <p:nvPr/>
          </p:nvGrpSpPr>
          <p:grpSpPr>
            <a:xfrm>
              <a:off x="8058839" y="3489569"/>
              <a:ext cx="3074875" cy="421595"/>
              <a:chOff x="8226846" y="3489569"/>
              <a:chExt cx="3074875" cy="421595"/>
            </a:xfrm>
          </p:grpSpPr>
          <p:grpSp>
            <p:nvGrpSpPr>
              <p:cNvPr id="36" name="组合 35">
                <a:extLst>
                  <a:ext uri="{FF2B5EF4-FFF2-40B4-BE49-F238E27FC236}">
                    <a16:creationId xmlns:a16="http://schemas.microsoft.com/office/drawing/2014/main" id="{5A0F6C3E-48E7-B989-3E36-22052F9675E7}"/>
                  </a:ext>
                </a:extLst>
              </p:cNvPr>
              <p:cNvGrpSpPr/>
              <p:nvPr/>
            </p:nvGrpSpPr>
            <p:grpSpPr>
              <a:xfrm>
                <a:off x="8226846" y="3489569"/>
                <a:ext cx="3074875" cy="135948"/>
                <a:chOff x="8226846" y="3489569"/>
                <a:chExt cx="3074875" cy="135948"/>
              </a:xfrm>
            </p:grpSpPr>
            <p:grpSp>
              <p:nvGrpSpPr>
                <p:cNvPr id="18" name="组合 17">
                  <a:extLst>
                    <a:ext uri="{FF2B5EF4-FFF2-40B4-BE49-F238E27FC236}">
                      <a16:creationId xmlns:a16="http://schemas.microsoft.com/office/drawing/2014/main" id="{9ADDA902-CB37-D5CD-8551-61E823DDEE5D}"/>
                    </a:ext>
                  </a:extLst>
                </p:cNvPr>
                <p:cNvGrpSpPr/>
                <p:nvPr/>
              </p:nvGrpSpPr>
              <p:grpSpPr>
                <a:xfrm>
                  <a:off x="8226846" y="3489569"/>
                  <a:ext cx="3074875" cy="135948"/>
                  <a:chOff x="8226846" y="3513015"/>
                  <a:chExt cx="3074875" cy="112502"/>
                </a:xfrm>
              </p:grpSpPr>
              <p:cxnSp>
                <p:nvCxnSpPr>
                  <p:cNvPr id="10" name="直接箭头连接符 9">
                    <a:extLst>
                      <a:ext uri="{FF2B5EF4-FFF2-40B4-BE49-F238E27FC236}">
                        <a16:creationId xmlns:a16="http://schemas.microsoft.com/office/drawing/2014/main" id="{067A4ECC-DFFC-974F-14C9-C8D85BE2D5F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26846" y="3625517"/>
                    <a:ext cx="3074875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接连接符 13">
                    <a:extLst>
                      <a:ext uri="{FF2B5EF4-FFF2-40B4-BE49-F238E27FC236}">
                        <a16:creationId xmlns:a16="http://schemas.microsoft.com/office/drawing/2014/main" id="{D00D4A8C-96FA-A149-294E-21D9C941A0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709355" y="3513015"/>
                    <a:ext cx="0" cy="112502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19" name="直接连接符 18">
                  <a:extLst>
                    <a:ext uri="{FF2B5EF4-FFF2-40B4-BE49-F238E27FC236}">
                      <a16:creationId xmlns:a16="http://schemas.microsoft.com/office/drawing/2014/main" id="{582DEC17-E0D7-4F54-94EB-9DE033169E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98111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接连接符 19">
                  <a:extLst>
                    <a:ext uri="{FF2B5EF4-FFF2-40B4-BE49-F238E27FC236}">
                      <a16:creationId xmlns:a16="http://schemas.microsoft.com/office/drawing/2014/main" id="{141DAE29-73D6-1E8E-5C68-0DC485FC66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86111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直接连接符 20">
                  <a:extLst>
                    <a:ext uri="{FF2B5EF4-FFF2-40B4-BE49-F238E27FC236}">
                      <a16:creationId xmlns:a16="http://schemas.microsoft.com/office/drawing/2014/main" id="{DAF9C029-DB5C-8B88-1C95-3BB3798DFE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4111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>
                  <a:extLst>
                    <a:ext uri="{FF2B5EF4-FFF2-40B4-BE49-F238E27FC236}">
                      <a16:creationId xmlns:a16="http://schemas.microsoft.com/office/drawing/2014/main" id="{CDDA22E0-7496-7FC8-C802-8D7DBF080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930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>
                  <a:extLst>
                    <a:ext uri="{FF2B5EF4-FFF2-40B4-BE49-F238E27FC236}">
                      <a16:creationId xmlns:a16="http://schemas.microsoft.com/office/drawing/2014/main" id="{A1B357FE-B3E5-DFA4-7D37-A70DF08A61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6536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直接连接符 27">
                  <a:extLst>
                    <a:ext uri="{FF2B5EF4-FFF2-40B4-BE49-F238E27FC236}">
                      <a16:creationId xmlns:a16="http://schemas.microsoft.com/office/drawing/2014/main" id="{E853A0BE-2D44-7A12-1A0C-FE568C836D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44536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接连接符 28">
                  <a:extLst>
                    <a:ext uri="{FF2B5EF4-FFF2-40B4-BE49-F238E27FC236}">
                      <a16:creationId xmlns:a16="http://schemas.microsoft.com/office/drawing/2014/main" id="{17D89462-85A6-B967-993D-D0F8D6A65E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536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198EBA3F-5D39-EAB4-47CB-9168785252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21355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2A79A4DD-5995-8CC8-931C-A6BEEBE56024}"/>
                  </a:ext>
                </a:extLst>
              </p:cNvPr>
              <p:cNvSpPr txBox="1"/>
              <p:nvPr/>
            </p:nvSpPr>
            <p:spPr>
              <a:xfrm>
                <a:off x="9610875" y="3603387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B7FDBC66-193E-F6CE-0E0B-F493F78E76BE}"/>
                  </a:ext>
                </a:extLst>
              </p:cNvPr>
              <p:cNvSpPr txBox="1"/>
              <p:nvPr/>
            </p:nvSpPr>
            <p:spPr>
              <a:xfrm>
                <a:off x="9898875" y="3598297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EE41845-C5BE-D0F1-B976-A8878E634EF8}"/>
                  </a:ext>
                </a:extLst>
              </p:cNvPr>
              <p:cNvSpPr txBox="1"/>
              <p:nvPr/>
            </p:nvSpPr>
            <p:spPr>
              <a:xfrm>
                <a:off x="10186875" y="3602501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B3325AEB-0CD2-9332-DB62-3B50BFDC6D89}"/>
                  </a:ext>
                </a:extLst>
              </p:cNvPr>
              <p:cNvSpPr txBox="1"/>
              <p:nvPr/>
            </p:nvSpPr>
            <p:spPr>
              <a:xfrm>
                <a:off x="10482947" y="3602501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A3F89302-2CCE-CFE3-373B-D784C72CDDFB}"/>
                  </a:ext>
                </a:extLst>
              </p:cNvPr>
              <p:cNvSpPr txBox="1"/>
              <p:nvPr/>
            </p:nvSpPr>
            <p:spPr>
              <a:xfrm>
                <a:off x="10762875" y="3602500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0A862649-0BDA-5C81-9C13-3E30B88D3377}"/>
                  </a:ext>
                </a:extLst>
              </p:cNvPr>
              <p:cNvSpPr txBox="1"/>
              <p:nvPr/>
            </p:nvSpPr>
            <p:spPr>
              <a:xfrm>
                <a:off x="9226410" y="3602499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483930A5-AD1E-16E1-EE50-383E2ACDE00F}"/>
                  </a:ext>
                </a:extLst>
              </p:cNvPr>
              <p:cNvSpPr txBox="1"/>
              <p:nvPr/>
            </p:nvSpPr>
            <p:spPr>
              <a:xfrm>
                <a:off x="8934159" y="3600508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-2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AF5E62FA-68AE-2AFD-F6B1-B016E51A2D4C}"/>
                  </a:ext>
                </a:extLst>
              </p:cNvPr>
              <p:cNvSpPr txBox="1"/>
              <p:nvPr/>
            </p:nvSpPr>
            <p:spPr>
              <a:xfrm>
                <a:off x="8656326" y="3602499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-3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91B78731-D79A-8DBB-1528-DF4C3171D9AA}"/>
                  </a:ext>
                </a:extLst>
              </p:cNvPr>
              <p:cNvSpPr txBox="1"/>
              <p:nvPr/>
            </p:nvSpPr>
            <p:spPr>
              <a:xfrm>
                <a:off x="8368327" y="3595980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-4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35F6F80F-6D96-9B76-6876-ED3E8BC7DAEC}"/>
                    </a:ext>
                  </a:extLst>
                </p:cNvPr>
                <p:cNvSpPr txBox="1"/>
                <p:nvPr/>
              </p:nvSpPr>
              <p:spPr>
                <a:xfrm>
                  <a:off x="11070491" y="3429000"/>
                  <a:ext cx="5231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𝑌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35F6F80F-6D96-9B76-6876-ED3E8BC7DA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0491" y="3429000"/>
                  <a:ext cx="52319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id="{1EDC8D3F-B39C-FAF3-CD35-51D3C92CE792}"/>
              </a:ext>
            </a:extLst>
          </p:cNvPr>
          <p:cNvGrpSpPr/>
          <p:nvPr/>
        </p:nvGrpSpPr>
        <p:grpSpPr>
          <a:xfrm>
            <a:off x="8305800" y="4270538"/>
            <a:ext cx="3534851" cy="482164"/>
            <a:chOff x="8058839" y="3429000"/>
            <a:chExt cx="3534851" cy="482164"/>
          </a:xfrm>
        </p:grpSpPr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C72B262C-92F3-40E6-677D-09A994EFBE50}"/>
                </a:ext>
              </a:extLst>
            </p:cNvPr>
            <p:cNvGrpSpPr/>
            <p:nvPr/>
          </p:nvGrpSpPr>
          <p:grpSpPr>
            <a:xfrm>
              <a:off x="8058839" y="3489569"/>
              <a:ext cx="3074875" cy="421595"/>
              <a:chOff x="8226846" y="3489569"/>
              <a:chExt cx="3074875" cy="421595"/>
            </a:xfrm>
          </p:grpSpPr>
          <p:grpSp>
            <p:nvGrpSpPr>
              <p:cNvPr id="68" name="组合 67">
                <a:extLst>
                  <a:ext uri="{FF2B5EF4-FFF2-40B4-BE49-F238E27FC236}">
                    <a16:creationId xmlns:a16="http://schemas.microsoft.com/office/drawing/2014/main" id="{F1BC792D-EBF1-FB28-46AC-1B3708EF24D9}"/>
                  </a:ext>
                </a:extLst>
              </p:cNvPr>
              <p:cNvGrpSpPr/>
              <p:nvPr/>
            </p:nvGrpSpPr>
            <p:grpSpPr>
              <a:xfrm>
                <a:off x="8226846" y="3489569"/>
                <a:ext cx="3074875" cy="135948"/>
                <a:chOff x="8226846" y="3489569"/>
                <a:chExt cx="3074875" cy="135948"/>
              </a:xfrm>
            </p:grpSpPr>
            <p:grpSp>
              <p:nvGrpSpPr>
                <p:cNvPr id="78" name="组合 77">
                  <a:extLst>
                    <a:ext uri="{FF2B5EF4-FFF2-40B4-BE49-F238E27FC236}">
                      <a16:creationId xmlns:a16="http://schemas.microsoft.com/office/drawing/2014/main" id="{2D3A0E13-F49D-53CC-A4CE-1A566C0B1A3F}"/>
                    </a:ext>
                  </a:extLst>
                </p:cNvPr>
                <p:cNvGrpSpPr/>
                <p:nvPr/>
              </p:nvGrpSpPr>
              <p:grpSpPr>
                <a:xfrm>
                  <a:off x="8226846" y="3489569"/>
                  <a:ext cx="3074875" cy="135948"/>
                  <a:chOff x="8226846" y="3513015"/>
                  <a:chExt cx="3074875" cy="112502"/>
                </a:xfrm>
              </p:grpSpPr>
              <p:cxnSp>
                <p:nvCxnSpPr>
                  <p:cNvPr id="87" name="直接箭头连接符 86">
                    <a:extLst>
                      <a:ext uri="{FF2B5EF4-FFF2-40B4-BE49-F238E27FC236}">
                        <a16:creationId xmlns:a16="http://schemas.microsoft.com/office/drawing/2014/main" id="{70F9E188-4320-AF0B-3F6B-F862DA42A5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226846" y="3625517"/>
                    <a:ext cx="3074875" cy="0"/>
                  </a:xfrm>
                  <a:prstGeom prst="straightConnector1">
                    <a:avLst/>
                  </a:prstGeom>
                  <a:ln w="19050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8" name="直接连接符 87">
                    <a:extLst>
                      <a:ext uri="{FF2B5EF4-FFF2-40B4-BE49-F238E27FC236}">
                        <a16:creationId xmlns:a16="http://schemas.microsoft.com/office/drawing/2014/main" id="{9661F3C4-5666-61D6-1F37-D125ABAC8BE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709355" y="3513015"/>
                    <a:ext cx="0" cy="112502"/>
                  </a:xfrm>
                  <a:prstGeom prst="line">
                    <a:avLst/>
                  </a:prstGeom>
                  <a:ln w="1905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79" name="直接连接符 78">
                  <a:extLst>
                    <a:ext uri="{FF2B5EF4-FFF2-40B4-BE49-F238E27FC236}">
                      <a16:creationId xmlns:a16="http://schemas.microsoft.com/office/drawing/2014/main" id="{2F84CEF0-25BF-5FB4-CCBD-5EF8EAF1EB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998111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直接连接符 79">
                  <a:extLst>
                    <a:ext uri="{FF2B5EF4-FFF2-40B4-BE49-F238E27FC236}">
                      <a16:creationId xmlns:a16="http://schemas.microsoft.com/office/drawing/2014/main" id="{859E5C19-2875-BC2E-AD47-794FB9834D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286111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1" name="直接连接符 80">
                  <a:extLst>
                    <a:ext uri="{FF2B5EF4-FFF2-40B4-BE49-F238E27FC236}">
                      <a16:creationId xmlns:a16="http://schemas.microsoft.com/office/drawing/2014/main" id="{3C3548BE-518C-0469-7ABC-0A0CBA4FCE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574111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2" name="直接连接符 81">
                  <a:extLst>
                    <a:ext uri="{FF2B5EF4-FFF2-40B4-BE49-F238E27FC236}">
                      <a16:creationId xmlns:a16="http://schemas.microsoft.com/office/drawing/2014/main" id="{EAA11781-AE5A-535C-9B7D-A9C82B7B3E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862930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直接连接符 82">
                  <a:extLst>
                    <a:ext uri="{FF2B5EF4-FFF2-40B4-BE49-F238E27FC236}">
                      <a16:creationId xmlns:a16="http://schemas.microsoft.com/office/drawing/2014/main" id="{C6A1E68B-E434-36E0-376F-95E5703E59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556536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直接连接符 83">
                  <a:extLst>
                    <a:ext uri="{FF2B5EF4-FFF2-40B4-BE49-F238E27FC236}">
                      <a16:creationId xmlns:a16="http://schemas.microsoft.com/office/drawing/2014/main" id="{E8C3EED2-59B8-10CA-28F4-CD251AC99C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44536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5" name="直接连接符 84">
                  <a:extLst>
                    <a:ext uri="{FF2B5EF4-FFF2-40B4-BE49-F238E27FC236}">
                      <a16:creationId xmlns:a16="http://schemas.microsoft.com/office/drawing/2014/main" id="{374C9E95-8D7F-E104-3C72-9FE117C165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132536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6" name="直接连接符 85">
                  <a:extLst>
                    <a:ext uri="{FF2B5EF4-FFF2-40B4-BE49-F238E27FC236}">
                      <a16:creationId xmlns:a16="http://schemas.microsoft.com/office/drawing/2014/main" id="{494A50A7-3E04-2311-4FB4-748073D162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421355" y="3549445"/>
                  <a:ext cx="0" cy="76072"/>
                </a:xfrm>
                <a:prstGeom prst="line">
                  <a:avLst/>
                </a:prstGeom>
                <a:ln w="1905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id="{7FF82C50-6A61-5C85-7E25-FB067289A4F8}"/>
                  </a:ext>
                </a:extLst>
              </p:cNvPr>
              <p:cNvSpPr txBox="1"/>
              <p:nvPr/>
            </p:nvSpPr>
            <p:spPr>
              <a:xfrm>
                <a:off x="9610875" y="3603387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496EBDD2-84F0-D600-8534-1B3282F2D767}"/>
                  </a:ext>
                </a:extLst>
              </p:cNvPr>
              <p:cNvSpPr txBox="1"/>
              <p:nvPr/>
            </p:nvSpPr>
            <p:spPr>
              <a:xfrm>
                <a:off x="9898875" y="3598297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1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0F06D599-BBD0-2D9F-903D-B4214F37E1B4}"/>
                  </a:ext>
                </a:extLst>
              </p:cNvPr>
              <p:cNvSpPr txBox="1"/>
              <p:nvPr/>
            </p:nvSpPr>
            <p:spPr>
              <a:xfrm>
                <a:off x="10186875" y="3602501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2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84C2C12B-325C-A4F6-4E44-D358220C42C0}"/>
                  </a:ext>
                </a:extLst>
              </p:cNvPr>
              <p:cNvSpPr txBox="1"/>
              <p:nvPr/>
            </p:nvSpPr>
            <p:spPr>
              <a:xfrm>
                <a:off x="10482947" y="3602501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3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6800868-DF7E-8DBE-D8EC-6A679F29BFF5}"/>
                  </a:ext>
                </a:extLst>
              </p:cNvPr>
              <p:cNvSpPr txBox="1"/>
              <p:nvPr/>
            </p:nvSpPr>
            <p:spPr>
              <a:xfrm>
                <a:off x="10762875" y="3602500"/>
                <a:ext cx="196836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4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29BCD845-E52A-6A18-75CA-45CFA4B714B2}"/>
                  </a:ext>
                </a:extLst>
              </p:cNvPr>
              <p:cNvSpPr txBox="1"/>
              <p:nvPr/>
            </p:nvSpPr>
            <p:spPr>
              <a:xfrm>
                <a:off x="9226410" y="3602499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-1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id="{82FCC015-FEA3-A19C-F3FB-E7EC3CA70ABE}"/>
                  </a:ext>
                </a:extLst>
              </p:cNvPr>
              <p:cNvSpPr txBox="1"/>
              <p:nvPr/>
            </p:nvSpPr>
            <p:spPr>
              <a:xfrm>
                <a:off x="8934159" y="3600508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-2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0BC3C97F-DFCC-3E39-CB1E-1A9DDF688545}"/>
                  </a:ext>
                </a:extLst>
              </p:cNvPr>
              <p:cNvSpPr txBox="1"/>
              <p:nvPr/>
            </p:nvSpPr>
            <p:spPr>
              <a:xfrm>
                <a:off x="8656326" y="3602499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-3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FF6B7D74-7B67-F8AF-B514-317A04C552FE}"/>
                  </a:ext>
                </a:extLst>
              </p:cNvPr>
              <p:cNvSpPr txBox="1"/>
              <p:nvPr/>
            </p:nvSpPr>
            <p:spPr>
              <a:xfrm>
                <a:off x="8368327" y="3595980"/>
                <a:ext cx="3705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-4</a:t>
                </a:r>
                <a:endParaRPr lang="zh-CN" altLang="en-US" sz="1400" dirty="0">
                  <a:latin typeface="Cambria Math" panose="020405030504060302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9048078A-A38F-2795-B232-C6BD9BE2721F}"/>
                    </a:ext>
                  </a:extLst>
                </p:cNvPr>
                <p:cNvSpPr txBox="1"/>
                <p:nvPr/>
              </p:nvSpPr>
              <p:spPr>
                <a:xfrm>
                  <a:off x="11070491" y="3429000"/>
                  <a:ext cx="523199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楷体" panose="02010609060101010101" pitchFamily="49" charset="-122"/>
                          </a:rPr>
                          <m:t>𝑋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67" name="文本框 66">
                  <a:extLst>
                    <a:ext uri="{FF2B5EF4-FFF2-40B4-BE49-F238E27FC236}">
                      <a16:creationId xmlns:a16="http://schemas.microsoft.com/office/drawing/2014/main" id="{9048078A-A38F-2795-B232-C6BD9BE272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70491" y="3429000"/>
                  <a:ext cx="52319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91" name="图形 90" descr="禁止标志">
            <a:extLst>
              <a:ext uri="{FF2B5EF4-FFF2-40B4-BE49-F238E27FC236}">
                <a16:creationId xmlns:a16="http://schemas.microsoft.com/office/drawing/2014/main" id="{8384A61B-D27E-6906-306C-067432B7BCB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37801" y="4108995"/>
            <a:ext cx="494996" cy="494996"/>
          </a:xfrm>
          <a:prstGeom prst="rect">
            <a:avLst/>
          </a:prstGeom>
        </p:spPr>
      </p:pic>
      <p:pic>
        <p:nvPicPr>
          <p:cNvPr id="141" name="图形 140" descr="禁止标志">
            <a:extLst>
              <a:ext uri="{FF2B5EF4-FFF2-40B4-BE49-F238E27FC236}">
                <a16:creationId xmlns:a16="http://schemas.microsoft.com/office/drawing/2014/main" id="{A3B0CA2B-21E5-82EC-7FEA-DE0FD2C2E1D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861224" y="3207310"/>
            <a:ext cx="494996" cy="4949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053341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500"/>
                            </p:stCondLst>
                            <p:childTnLst>
                              <p:par>
                                <p:cTn id="102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500"/>
                            </p:stCondLst>
                            <p:childTnLst>
                              <p:par>
                                <p:cTn id="10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DA699433-94B9-422C-C0AC-B8CF736B0CE1}"/>
              </a:ext>
            </a:extLst>
          </p:cNvPr>
          <p:cNvCxnSpPr>
            <a:cxnSpLocks/>
          </p:cNvCxnSpPr>
          <p:nvPr/>
        </p:nvCxnSpPr>
        <p:spPr>
          <a:xfrm>
            <a:off x="0" y="3927997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>
            <a:extLst>
              <a:ext uri="{FF2B5EF4-FFF2-40B4-BE49-F238E27FC236}">
                <a16:creationId xmlns:a16="http://schemas.microsoft.com/office/drawing/2014/main" id="{29FD73E4-56FA-6572-DE2B-71618A131228}"/>
              </a:ext>
            </a:extLst>
          </p:cNvPr>
          <p:cNvCxnSpPr>
            <a:cxnSpLocks/>
          </p:cNvCxnSpPr>
          <p:nvPr/>
        </p:nvCxnSpPr>
        <p:spPr>
          <a:xfrm>
            <a:off x="0" y="2233215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143FF26B-CC77-0DBB-021F-F6F65A8FA87C}"/>
              </a:ext>
            </a:extLst>
          </p:cNvPr>
          <p:cNvCxnSpPr/>
          <p:nvPr/>
        </p:nvCxnSpPr>
        <p:spPr>
          <a:xfrm>
            <a:off x="576364" y="1136063"/>
            <a:ext cx="11039272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DF8EA2AA-3607-76BF-CED9-450E9DC65B0B}"/>
              </a:ext>
            </a:extLst>
          </p:cNvPr>
          <p:cNvSpPr txBox="1"/>
          <p:nvPr/>
        </p:nvSpPr>
        <p:spPr>
          <a:xfrm>
            <a:off x="4720880" y="1993421"/>
            <a:ext cx="275024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随机变量的描述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/>
              <p:nvPr/>
            </p:nvSpPr>
            <p:spPr>
              <a:xfrm>
                <a:off x="576363" y="1777978"/>
                <a:ext cx="3707503" cy="830997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分布函数：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𝐹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(−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∞&lt;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&lt;+∞)</m:t>
                      </m:r>
                    </m:oMath>
                  </m:oMathPara>
                </a14:m>
                <a:endParaRPr lang="en-US" altLang="zh-CN" sz="14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F996CD23-6495-5B9D-E542-063D0B6601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3" y="1777978"/>
                <a:ext cx="3707503" cy="8309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BAEC8E7-E7BF-3BF1-70C6-1E24302C88F1}"/>
                  </a:ext>
                </a:extLst>
              </p:cNvPr>
              <p:cNvSpPr txBox="1"/>
              <p:nvPr/>
            </p:nvSpPr>
            <p:spPr>
              <a:xfrm>
                <a:off x="7908135" y="1777979"/>
                <a:ext cx="2097798" cy="738664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分布律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𝑃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{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𝑋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𝑥</m:t>
                        </m:r>
                      </m:e>
                      <m:sub>
                        <m:r>
                          <a:rPr lang="en-US" altLang="zh-CN" sz="1600" i="1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</m:sub>
                    </m:sSub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}=</m:t>
                    </m:r>
                    <m:sSub>
                      <m:sSubPr>
                        <m:ctrlP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𝑃</m:t>
                        </m:r>
                      </m:e>
                      <m:sub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仿宋" panose="02010609060101010101" pitchFamily="49" charset="-122"/>
                          </a:rPr>
                          <m:t>𝑖</m:t>
                        </m:r>
                      </m:sub>
                    </m:sSub>
                  </m:oMath>
                </a14:m>
                <a:endParaRPr lang="en-US" altLang="zh-CN" sz="1600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=1,2,3,…)</m:t>
                      </m:r>
                    </m:oMath>
                  </m:oMathPara>
                </a14:m>
                <a:endParaRPr lang="en-US" altLang="zh-CN" sz="12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7BAEC8E7-E7BF-3BF1-70C6-1E24302C88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135" y="1777979"/>
                <a:ext cx="2097798" cy="738664"/>
              </a:xfrm>
              <a:prstGeom prst="rect">
                <a:avLst/>
              </a:prstGeom>
              <a:blipFill>
                <a:blip r:embed="rId6"/>
                <a:stretch>
                  <a:fillRect l="-14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5ECF39F-49C7-E135-1CFD-2A356FF935B5}"/>
                  </a:ext>
                </a:extLst>
              </p:cNvPr>
              <p:cNvSpPr txBox="1"/>
              <p:nvPr/>
            </p:nvSpPr>
            <p:spPr>
              <a:xfrm>
                <a:off x="10005934" y="1777979"/>
                <a:ext cx="1609702" cy="738664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1600" b="0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密度函数</a:t>
                </a:r>
                <a14:m>
                  <m:oMath xmlns:m="http://schemas.openxmlformats.org/officeDocument/2006/math"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𝑝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(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𝑥</m:t>
                    </m:r>
                    <m:r>
                      <a:rPr lang="en-US" altLang="zh-CN" sz="1600" b="0" i="1" smtClean="0">
                        <a:latin typeface="Cambria Math" panose="02040503050406030204" pitchFamily="18" charset="0"/>
                        <a:ea typeface="仿宋" panose="02010609060101010101" pitchFamily="49" charset="-122"/>
                      </a:rPr>
                      <m:t>)</m:t>
                    </m:r>
                  </m:oMath>
                </a14:m>
                <a:endParaRPr lang="en-US" altLang="zh-CN" sz="1600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=1,2,3,…)</m:t>
                      </m:r>
                    </m:oMath>
                  </m:oMathPara>
                </a14:m>
                <a:endParaRPr lang="en-US" altLang="zh-CN" sz="1200" i="1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5ECF39F-49C7-E135-1CFD-2A356FF935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5934" y="1777979"/>
                <a:ext cx="1609702" cy="7386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46F6DDFC-D387-341F-7E07-A69C8164C540}"/>
              </a:ext>
            </a:extLst>
          </p:cNvPr>
          <p:cNvSpPr/>
          <p:nvPr/>
        </p:nvSpPr>
        <p:spPr>
          <a:xfrm>
            <a:off x="7908135" y="2629471"/>
            <a:ext cx="1873429" cy="518255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离散型随机变量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2B41E77C-AE95-7F1C-0A85-F101081A11D4}"/>
              </a:ext>
            </a:extLst>
          </p:cNvPr>
          <p:cNvSpPr/>
          <p:nvPr/>
        </p:nvSpPr>
        <p:spPr>
          <a:xfrm>
            <a:off x="9781564" y="2629470"/>
            <a:ext cx="1865886" cy="518255"/>
          </a:xfrm>
          <a:prstGeom prst="roundRect">
            <a:avLst/>
          </a:pr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连续型随机变量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7170BE7-0F76-5811-175E-EA30464C19C2}"/>
              </a:ext>
            </a:extLst>
          </p:cNvPr>
          <p:cNvSpPr txBox="1"/>
          <p:nvPr/>
        </p:nvSpPr>
        <p:spPr>
          <a:xfrm>
            <a:off x="4720881" y="3727942"/>
            <a:ext cx="2750242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随机变量的分布规律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FCC150-EE9F-448F-015A-A7763D959BEC}"/>
                  </a:ext>
                </a:extLst>
              </p:cNvPr>
              <p:cNvSpPr txBox="1"/>
              <p:nvPr/>
            </p:nvSpPr>
            <p:spPr>
              <a:xfrm>
                <a:off x="576364" y="3466332"/>
                <a:ext cx="3707503" cy="92333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两点分布</m:t>
                      </m:r>
                      <m:r>
                        <a:rPr lang="zh-CN" altLang="en-US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 </m:t>
                      </m:r>
                      <m:r>
                        <a:rPr lang="zh-CN" altLang="en-US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均匀分布</m:t>
                      </m:r>
                      <m:r>
                        <a:rPr lang="en-US" altLang="zh-CN" i="1" dirty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几何分布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</m:t>
                      </m:r>
                    </m:oMath>
                  </m:oMathPara>
                </a14:m>
                <a:endParaRPr lang="en-US" altLang="zh-CN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二项分布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泊松分布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超几何分布</m:t>
                      </m:r>
                    </m:oMath>
                  </m:oMathPara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5FCC150-EE9F-448F-015A-A7763D959B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64" y="3466332"/>
                <a:ext cx="3707503" cy="92333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975380-1403-30D3-DC8B-56E3F1958197}"/>
                  </a:ext>
                </a:extLst>
              </p:cNvPr>
              <p:cNvSpPr txBox="1"/>
              <p:nvPr/>
            </p:nvSpPr>
            <p:spPr>
              <a:xfrm>
                <a:off x="7908137" y="3466332"/>
                <a:ext cx="3707503" cy="92333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指数分布</m:t>
                      </m:r>
                      <m:r>
                        <a:rPr lang="en-US" altLang="zh-CN" b="0" i="1" dirty="0" smtClean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  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均匀分布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  <a:ea typeface="仿宋" panose="02010609060101010101" pitchFamily="49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>
                          <a:latin typeface="Cambria Math" panose="02040503050406030204" pitchFamily="18" charset="0"/>
                          <a:ea typeface="仿宋" panose="02010609060101010101" pitchFamily="49" charset="-122"/>
                        </a:rPr>
                        <m:t>正态分布</m:t>
                      </m:r>
                    </m:oMath>
                  </m:oMathPara>
                </a14:m>
                <a:endParaRPr lang="en-US" altLang="zh-CN" b="0" dirty="0">
                  <a:latin typeface="仿宋" panose="02010609060101010101" pitchFamily="49" charset="-122"/>
                  <a:ea typeface="仿宋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3A975380-1403-30D3-DC8B-56E3F1958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08137" y="3466332"/>
                <a:ext cx="3707503" cy="92333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矩形: 圆角 5">
            <a:extLst>
              <a:ext uri="{FF2B5EF4-FFF2-40B4-BE49-F238E27FC236}">
                <a16:creationId xmlns:a16="http://schemas.microsoft.com/office/drawing/2014/main" id="{4A80F02F-DF27-B263-E15B-E44F2255D6C5}"/>
              </a:ext>
            </a:extLst>
          </p:cNvPr>
          <p:cNvSpPr/>
          <p:nvPr/>
        </p:nvSpPr>
        <p:spPr>
          <a:xfrm>
            <a:off x="1493400" y="4402540"/>
            <a:ext cx="1873429" cy="518255"/>
          </a:xfrm>
          <a:prstGeom prst="roundRect">
            <a:avLst/>
          </a:prstGeom>
          <a:noFill/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1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离散型随机变量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5CDC52A-449A-B7BD-F505-5025C78EB9F6}"/>
              </a:ext>
            </a:extLst>
          </p:cNvPr>
          <p:cNvSpPr/>
          <p:nvPr/>
        </p:nvSpPr>
        <p:spPr>
          <a:xfrm>
            <a:off x="8825173" y="4402540"/>
            <a:ext cx="1873429" cy="518255"/>
          </a:xfrm>
          <a:prstGeom prst="roundRect">
            <a:avLst/>
          </a:prstGeom>
          <a:noFill/>
          <a:ln>
            <a:solidFill>
              <a:srgbClr val="00B0F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B0F0"/>
                </a:solidFill>
                <a:latin typeface="华文宋体" panose="02010600040101010101" pitchFamily="2" charset="-122"/>
                <a:ea typeface="华文宋体" panose="02010600040101010101" pitchFamily="2" charset="-122"/>
              </a:rPr>
              <a:t>连续型随机变量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224B2CB-7DEC-89D6-385B-3B3A5D8DBA8B}"/>
              </a:ext>
            </a:extLst>
          </p:cNvPr>
          <p:cNvCxnSpPr>
            <a:cxnSpLocks/>
          </p:cNvCxnSpPr>
          <p:nvPr/>
        </p:nvCxnSpPr>
        <p:spPr>
          <a:xfrm>
            <a:off x="0" y="5658692"/>
            <a:ext cx="12192000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7AB62AB-D9C7-9698-0FC6-8674D5DF6915}"/>
              </a:ext>
            </a:extLst>
          </p:cNvPr>
          <p:cNvSpPr txBox="1"/>
          <p:nvPr/>
        </p:nvSpPr>
        <p:spPr>
          <a:xfrm>
            <a:off x="4283865" y="5458637"/>
            <a:ext cx="3624270" cy="40011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随机变量的函数及分布</a:t>
            </a:r>
            <a:endParaRPr lang="en-US" altLang="zh-CN" sz="2000" i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43D7142-4BB3-9AA1-B5B8-3F27DC579DCE}"/>
              </a:ext>
            </a:extLst>
          </p:cNvPr>
          <p:cNvSpPr txBox="1"/>
          <p:nvPr/>
        </p:nvSpPr>
        <p:spPr>
          <a:xfrm>
            <a:off x="3795420" y="528331"/>
            <a:ext cx="49459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800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随机变量及其分布（上）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95501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reveal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7|14.8|8|46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1|42.2|5.4|5.6|14.3|37.1|9.7|31.9|56.7|30.2|26.1|23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0.4|11.1|20.1|14.5|3.3|20.2|10.2|99.6|8.8|27.2|23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9|12.1|5.5|16.3|14.9|15.9|20.5|41.3|7.6|3.4|10.3|8.2|1.1|49.2|34.4|1.8|15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|13.8|13.5|32|37.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7.1|22.8|14.1|15.1|6.4|23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6|3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0.8|11.6|28.9|34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2|12.3|16.2|9.8|11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6|9|3.4|35|11.8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7|9.3|5.8|17.3|23.9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9.1|16.2|4.7|12.6|30.6|7.7|2.3|5.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9|54.5|15.3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5|65.5|15|89.6|14.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3|1.1|85.7|121.3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2.4|18.1|6.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1|20.4|5.8|2.8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|49.5|6.6|17.4|1.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4|1.3|5.4|3.1|5.2|10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5.5|45.4|9.7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8.5|3.9|2.8|9.2|10.5|5.4|3.2|19.3|1.8|6.5|5.6|5.3|12|8.5|9.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9|96.9|10.6|120.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6.8|45|5.3|27.4|18.4|94.5|1.6|78.1|59.3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1.6|31.1|4.7|8.2|2.5|26.6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12630</TotalTime>
  <Words>4471</Words>
  <Application>Microsoft Office PowerPoint</Application>
  <PresentationFormat>宽屏</PresentationFormat>
  <Paragraphs>696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8" baseType="lpstr">
      <vt:lpstr>汉仪润圆-65简</vt:lpstr>
      <vt:lpstr>Cambria Math</vt:lpstr>
      <vt:lpstr>华文中宋</vt:lpstr>
      <vt:lpstr>Arial</vt:lpstr>
      <vt:lpstr>华文宋体</vt:lpstr>
      <vt:lpstr>方正清刻本悦宋简体</vt:lpstr>
      <vt:lpstr>楷体</vt:lpstr>
      <vt:lpstr>Wingdings</vt:lpstr>
      <vt:lpstr>方正小标宋简体</vt:lpstr>
      <vt:lpstr>等线</vt:lpstr>
      <vt:lpstr>仿宋</vt:lpstr>
      <vt:lpstr>等线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展 未央</dc:creator>
  <cp:lastModifiedBy>展 未央</cp:lastModifiedBy>
  <cp:revision>125</cp:revision>
  <dcterms:created xsi:type="dcterms:W3CDTF">2022-05-05T07:14:53Z</dcterms:created>
  <dcterms:modified xsi:type="dcterms:W3CDTF">2023-02-19T16:54:27Z</dcterms:modified>
</cp:coreProperties>
</file>