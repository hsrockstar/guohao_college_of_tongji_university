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69" r:id="rId2"/>
    <p:sldId id="276" r:id="rId3"/>
    <p:sldId id="301" r:id="rId4"/>
    <p:sldId id="312" r:id="rId5"/>
    <p:sldId id="302" r:id="rId6"/>
    <p:sldId id="303" r:id="rId7"/>
    <p:sldId id="305" r:id="rId8"/>
    <p:sldId id="319" r:id="rId9"/>
    <p:sldId id="320" r:id="rId10"/>
    <p:sldId id="313" r:id="rId11"/>
    <p:sldId id="318" r:id="rId12"/>
    <p:sldId id="314" r:id="rId13"/>
    <p:sldId id="321" r:id="rId14"/>
    <p:sldId id="315" r:id="rId15"/>
    <p:sldId id="322" r:id="rId16"/>
    <p:sldId id="316" r:id="rId17"/>
    <p:sldId id="324" r:id="rId18"/>
    <p:sldId id="317" r:id="rId19"/>
    <p:sldId id="323" r:id="rId20"/>
    <p:sldId id="298" r:id="rId21"/>
  </p:sldIdLst>
  <p:sldSz cx="12192000" cy="6858000"/>
  <p:notesSz cx="6858000" cy="9144000"/>
  <p:embeddedFontLst>
    <p:embeddedFont>
      <p:font typeface="等线" panose="02010600030101010101" pitchFamily="2" charset="-122"/>
      <p:regular r:id="rId23"/>
      <p:bold r:id="rId24"/>
    </p:embeddedFont>
    <p:embeddedFont>
      <p:font typeface="等线 Light" panose="02010600030101010101" pitchFamily="2" charset="-122"/>
      <p:regular r:id="rId25"/>
    </p:embeddedFont>
    <p:embeddedFont>
      <p:font typeface="方正清刻本悦宋简体" panose="02000000000000000000" pitchFamily="2" charset="-122"/>
      <p:regular r:id="rId26"/>
    </p:embeddedFont>
    <p:embeddedFont>
      <p:font typeface="方正小标宋简体" panose="02000000000000000000" pitchFamily="2" charset="-122"/>
      <p:regular r:id="rId27"/>
    </p:embeddedFont>
    <p:embeddedFont>
      <p:font typeface="仿宋" panose="02010609060101010101" pitchFamily="49" charset="-122"/>
      <p:regular r:id="rId28"/>
    </p:embeddedFont>
    <p:embeddedFont>
      <p:font typeface="汉仪润圆-65简" panose="00020600040101010101" pitchFamily="18" charset="-122"/>
      <p:regular r:id="rId29"/>
    </p:embeddedFont>
    <p:embeddedFont>
      <p:font typeface="汉仪文黑-85W" panose="00020600040101010101" pitchFamily="18" charset="-122"/>
      <p:regular r:id="rId30"/>
    </p:embeddedFont>
    <p:embeddedFont>
      <p:font typeface="华文宋体" panose="02010600040101010101" pitchFamily="2" charset="-122"/>
      <p:regular r:id="rId31"/>
    </p:embeddedFont>
    <p:embeddedFont>
      <p:font typeface="华文中宋" panose="02010600040101010101" pitchFamily="2" charset="-122"/>
      <p:regular r:id="rId32"/>
    </p:embeddedFont>
    <p:embeddedFont>
      <p:font typeface="楷体" panose="02010609060101010101" pitchFamily="49" charset="-122"/>
      <p:regular r:id="rId33"/>
    </p:embeddedFont>
    <p:embeddedFont>
      <p:font typeface="Cambria Math" panose="02040503050406030204" pitchFamily="18" charset="0"/>
      <p:regular r:id="rId3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展 未央" initials="展" lastIdx="1" clrIdx="0">
    <p:extLst>
      <p:ext uri="{19B8F6BF-5375-455C-9EA6-DF929625EA0E}">
        <p15:presenceInfo xmlns:p15="http://schemas.microsoft.com/office/powerpoint/2012/main" userId="e6b0a92515a3b0c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FBFBF"/>
    <a:srgbClr val="FF3300"/>
    <a:srgbClr val="FF6600"/>
    <a:srgbClr val="C00000"/>
    <a:srgbClr val="DF7F7F"/>
    <a:srgbClr val="FFFFFF"/>
    <a:srgbClr val="FFC000"/>
    <a:srgbClr val="89F3FE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25" autoAdjust="0"/>
    <p:restoredTop sz="94660"/>
  </p:normalViewPr>
  <p:slideViewPr>
    <p:cSldViewPr snapToGrid="0">
      <p:cViewPr varScale="1">
        <p:scale>
          <a:sx n="89" d="100"/>
          <a:sy n="89" d="100"/>
        </p:scale>
        <p:origin x="79" y="1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A4BD5C-A529-48D4-AE8F-BF3361AE1A2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71CA1E-5CB9-473F-9F69-C52F533E7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999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CFB3BA-B18E-DEC1-3E6C-4920AFE4E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6C1B8B-823F-2425-71B0-85CE082B4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F92AB0-C7C0-8587-6FD3-30D04F0E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61379A-C11E-0B4A-0FD1-486A98C02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85E933-0268-110F-AFA0-D62C4541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48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97B214-8B47-223A-1CF5-72D03FE8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BEE03A-37AD-9C95-639F-068C82BF2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C7AA2-FA3D-9C92-5A13-30D5AC600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AF208E-5CAA-29FC-D025-A7E107CC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6FD161-7AEB-89B5-A6EF-6D69822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92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AB7A64-974B-7FF5-1FBA-71C0CB8D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8DE448-7135-CF17-2AAA-15114DF68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815D61-9D72-7FE4-F1B2-8183BF9F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32A689-74BB-D820-494E-8FCE39D98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E4DC3E-2FE6-BFC6-DBFF-0D17F5F0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74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6FB7F-2D1B-E43D-ECB5-5AD8585F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4AA1C3-9833-A836-7282-D8BD6C8C8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2B3DB0-6400-DEC7-2B30-FB7986C75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01E174-6AD7-6427-5CE9-A9BAF460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5AA43E-AD34-75D5-8FF8-4F7B9DD0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8E0980-F99C-DDD3-A77F-E7C5414E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76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8CBFC-3DA5-69CF-5529-7A41DF27A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7A754-AD40-3C36-0B05-022B19F7E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A85000-B40C-E9B8-9031-BB1EAB5B7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DF7258-004C-372D-2F1C-7A3F5C84D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973573-1120-A2A0-F0DB-1AD265A7D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393FD2-AC0E-DF4D-699D-4499A4FE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A3F570D-1DE8-EC07-1540-CAACD23A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9C2CD7-C46B-4BFF-EE78-C6AAEA86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69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E18C9-230E-153A-E88A-6E56F2E0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C6ABD0-A360-2FD9-9E5B-F2C33928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774B37-0D4E-65D2-D16F-6FD6B327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0F1C27-1813-0031-0F9F-DFA7FC5D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17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861B1D-2614-718F-CF47-7A8B5EA33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25DC33-02B2-B215-0AA3-BE312780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168D3F-DB98-98CA-52C1-149A8C84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93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A3FFA-AFDF-C8A5-BA7E-CD7ABADEF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50BBE7-CA90-E151-2431-F10274224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A07E09-77AB-1537-6B25-F534ED423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A81297-8DC3-E11E-0231-CDE195F2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A35E25-E4B2-75BE-3B7B-72E55291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119468-1629-7EF2-8699-25A1DE29C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01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4DFE7-99DE-FD3E-5453-36D6FAB4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99B887-3B1B-DE6A-FC03-3D8C63CEF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A1ACB3-8653-6CEA-1A12-7B0C7DA4D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7C50B8-A69D-A009-5ED2-9D40FEEB2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E8222B-B5FA-855C-2588-3B06FA59B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DD61D6-F19B-BE5D-B08F-2EF5BC6B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339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3DEE9-4017-21BA-AF15-E1AEED1E7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C19C68-5C6F-5E0E-439E-A548984F0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4FDBA-A8BF-4615-40D4-071E5FEE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76B259-A67F-AB9C-CD3F-33AF2A63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703F1D-84A7-1844-CEE0-F6CC6F06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774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3D60B5-3F32-AD71-9045-D0FA02F9D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E80A2B-ADBF-6FEE-635B-FDD1641C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566CB7-98BA-C868-FF9A-D23A5AAD4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91180C-F54D-80AC-DD6D-692325DB3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7601E0-44E1-C0D8-BA09-EF88AD66B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28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3EE246-BB85-D84E-CBC7-F7FB34018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74AD51-E7A9-2FA7-385A-0AC41A752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F5AC51-1528-2E37-6F36-4072883B0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487E83-F91B-12DB-FCC0-2130541D0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40DCE4-16B2-A875-3AE9-DFD71CC3C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84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7.png"/><Relationship Id="rId1" Type="http://schemas.openxmlformats.org/officeDocument/2006/relationships/tags" Target="../tags/tag4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0.png"/><Relationship Id="rId7" Type="http://schemas.openxmlformats.org/officeDocument/2006/relationships/image" Target="../media/image5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0.png"/><Relationship Id="rId7" Type="http://schemas.openxmlformats.org/officeDocument/2006/relationships/image" Target="../media/image5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54.png"/><Relationship Id="rId5" Type="http://schemas.openxmlformats.org/officeDocument/2006/relationships/image" Target="../media/image530.png"/><Relationship Id="rId4" Type="http://schemas.openxmlformats.org/officeDocument/2006/relationships/image" Target="../media/image520.png"/><Relationship Id="rId9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0.png"/><Relationship Id="rId3" Type="http://schemas.openxmlformats.org/officeDocument/2006/relationships/image" Target="../media/image510.png"/><Relationship Id="rId7" Type="http://schemas.openxmlformats.org/officeDocument/2006/relationships/image" Target="../media/image6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600.png"/><Relationship Id="rId5" Type="http://schemas.openxmlformats.org/officeDocument/2006/relationships/image" Target="../media/image590.png"/><Relationship Id="rId4" Type="http://schemas.openxmlformats.org/officeDocument/2006/relationships/image" Target="../media/image580.png"/><Relationship Id="rId9" Type="http://schemas.openxmlformats.org/officeDocument/2006/relationships/image" Target="../media/image6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0.png"/><Relationship Id="rId3" Type="http://schemas.openxmlformats.org/officeDocument/2006/relationships/image" Target="../media/image510.png"/><Relationship Id="rId7" Type="http://schemas.openxmlformats.org/officeDocument/2006/relationships/image" Target="../media/image7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6" Type="http://schemas.openxmlformats.org/officeDocument/2006/relationships/image" Target="../media/image650.png"/><Relationship Id="rId5" Type="http://schemas.openxmlformats.org/officeDocument/2006/relationships/image" Target="../media/image640.png"/><Relationship Id="rId4" Type="http://schemas.openxmlformats.org/officeDocument/2006/relationships/image" Target="../media/image6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80.png"/><Relationship Id="rId7" Type="http://schemas.openxmlformats.org/officeDocument/2006/relationships/image" Target="../media/image72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6" Type="http://schemas.openxmlformats.org/officeDocument/2006/relationships/image" Target="../media/image710.png"/><Relationship Id="rId11" Type="http://schemas.openxmlformats.org/officeDocument/2006/relationships/image" Target="../media/image79.png"/><Relationship Id="rId5" Type="http://schemas.openxmlformats.org/officeDocument/2006/relationships/image" Target="../media/image700.png"/><Relationship Id="rId10" Type="http://schemas.openxmlformats.org/officeDocument/2006/relationships/image" Target="../media/image78.png"/><Relationship Id="rId4" Type="http://schemas.openxmlformats.org/officeDocument/2006/relationships/image" Target="../media/image690.png"/><Relationship Id="rId9" Type="http://schemas.openxmlformats.org/officeDocument/2006/relationships/image" Target="../media/image7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6" Type="http://schemas.openxmlformats.org/officeDocument/2006/relationships/image" Target="../media/image790.png"/><Relationship Id="rId5" Type="http://schemas.openxmlformats.org/officeDocument/2006/relationships/image" Target="../media/image780.png"/><Relationship Id="rId4" Type="http://schemas.openxmlformats.org/officeDocument/2006/relationships/image" Target="../media/image77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90.png"/><Relationship Id="rId18" Type="http://schemas.openxmlformats.org/officeDocument/2006/relationships/image" Target="../media/image94.png"/><Relationship Id="rId26" Type="http://schemas.openxmlformats.org/officeDocument/2006/relationships/image" Target="../media/image102.png"/><Relationship Id="rId39" Type="http://schemas.openxmlformats.org/officeDocument/2006/relationships/image" Target="../media/image115.png"/><Relationship Id="rId21" Type="http://schemas.openxmlformats.org/officeDocument/2006/relationships/image" Target="../media/image97.png"/><Relationship Id="rId34" Type="http://schemas.openxmlformats.org/officeDocument/2006/relationships/image" Target="../media/image110.png"/><Relationship Id="rId42" Type="http://schemas.openxmlformats.org/officeDocument/2006/relationships/image" Target="../media/image118.png"/><Relationship Id="rId7" Type="http://schemas.openxmlformats.org/officeDocument/2006/relationships/image" Target="../media/image830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920.png"/><Relationship Id="rId20" Type="http://schemas.openxmlformats.org/officeDocument/2006/relationships/image" Target="../media/image96.png"/><Relationship Id="rId29" Type="http://schemas.openxmlformats.org/officeDocument/2006/relationships/image" Target="../media/image105.png"/><Relationship Id="rId41" Type="http://schemas.openxmlformats.org/officeDocument/2006/relationships/image" Target="../media/image117.png"/><Relationship Id="rId1" Type="http://schemas.openxmlformats.org/officeDocument/2006/relationships/tags" Target="../tags/tag20.xml"/><Relationship Id="rId6" Type="http://schemas.openxmlformats.org/officeDocument/2006/relationships/image" Target="../media/image18.png"/><Relationship Id="rId11" Type="http://schemas.openxmlformats.org/officeDocument/2006/relationships/image" Target="../media/image870.png"/><Relationship Id="rId24" Type="http://schemas.openxmlformats.org/officeDocument/2006/relationships/image" Target="../media/image100.png"/><Relationship Id="rId32" Type="http://schemas.openxmlformats.org/officeDocument/2006/relationships/image" Target="../media/image108.png"/><Relationship Id="rId37" Type="http://schemas.openxmlformats.org/officeDocument/2006/relationships/image" Target="../media/image113.png"/><Relationship Id="rId40" Type="http://schemas.openxmlformats.org/officeDocument/2006/relationships/image" Target="../media/image116.png"/><Relationship Id="rId5" Type="http://schemas.openxmlformats.org/officeDocument/2006/relationships/image" Target="../media/image17.png"/><Relationship Id="rId15" Type="http://schemas.openxmlformats.org/officeDocument/2006/relationships/image" Target="../media/image910.png"/><Relationship Id="rId23" Type="http://schemas.openxmlformats.org/officeDocument/2006/relationships/image" Target="../media/image99.png"/><Relationship Id="rId28" Type="http://schemas.openxmlformats.org/officeDocument/2006/relationships/image" Target="../media/image104.png"/><Relationship Id="rId36" Type="http://schemas.openxmlformats.org/officeDocument/2006/relationships/image" Target="../media/image112.png"/><Relationship Id="rId10" Type="http://schemas.openxmlformats.org/officeDocument/2006/relationships/image" Target="../media/image860.png"/><Relationship Id="rId19" Type="http://schemas.openxmlformats.org/officeDocument/2006/relationships/image" Target="../media/image95.png"/><Relationship Id="rId31" Type="http://schemas.openxmlformats.org/officeDocument/2006/relationships/image" Target="../media/image107.png"/><Relationship Id="rId4" Type="http://schemas.openxmlformats.org/officeDocument/2006/relationships/image" Target="../media/image16.png"/><Relationship Id="rId9" Type="http://schemas.openxmlformats.org/officeDocument/2006/relationships/image" Target="../media/image850.png"/><Relationship Id="rId14" Type="http://schemas.openxmlformats.org/officeDocument/2006/relationships/image" Target="../media/image900.png"/><Relationship Id="rId22" Type="http://schemas.openxmlformats.org/officeDocument/2006/relationships/image" Target="../media/image98.png"/><Relationship Id="rId27" Type="http://schemas.openxmlformats.org/officeDocument/2006/relationships/image" Target="../media/image103.png"/><Relationship Id="rId30" Type="http://schemas.openxmlformats.org/officeDocument/2006/relationships/image" Target="../media/image106.png"/><Relationship Id="rId35" Type="http://schemas.openxmlformats.org/officeDocument/2006/relationships/image" Target="../media/image111.png"/><Relationship Id="rId8" Type="http://schemas.openxmlformats.org/officeDocument/2006/relationships/image" Target="../media/image840.png"/><Relationship Id="rId3" Type="http://schemas.openxmlformats.org/officeDocument/2006/relationships/image" Target="../media/image15.png"/><Relationship Id="rId12" Type="http://schemas.openxmlformats.org/officeDocument/2006/relationships/image" Target="../media/image880.png"/><Relationship Id="rId17" Type="http://schemas.openxmlformats.org/officeDocument/2006/relationships/image" Target="../media/image930.png"/><Relationship Id="rId25" Type="http://schemas.openxmlformats.org/officeDocument/2006/relationships/image" Target="../media/image101.png"/><Relationship Id="rId33" Type="http://schemas.openxmlformats.org/officeDocument/2006/relationships/image" Target="../media/image109.png"/><Relationship Id="rId38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94887E1D-C6CF-1FB4-AA55-CDB7659AB1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1" r="11474"/>
          <a:stretch/>
        </p:blipFill>
        <p:spPr>
          <a:xfrm>
            <a:off x="675497" y="898434"/>
            <a:ext cx="3638282" cy="5277566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9198C80F-89CD-BB62-A046-E187E190F0DA}"/>
              </a:ext>
            </a:extLst>
          </p:cNvPr>
          <p:cNvSpPr txBox="1"/>
          <p:nvPr/>
        </p:nvSpPr>
        <p:spPr>
          <a:xfrm>
            <a:off x="4985487" y="2767776"/>
            <a:ext cx="6202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数理统计 抽样分布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5B70860-7B7F-79E8-BFCC-9CAB1906F829}"/>
                  </a:ext>
                </a:extLst>
              </p:cNvPr>
              <p:cNvSpPr txBox="1"/>
              <p:nvPr/>
            </p:nvSpPr>
            <p:spPr>
              <a:xfrm>
                <a:off x="4985485" y="3945538"/>
                <a:ext cx="6721606" cy="1293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数理统计的基本概念 </a:t>
                </a:r>
                <a:r>
                  <a: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—— </a:t>
                </a: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总体与样本、统计量</a:t>
                </a: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常用统计分布 </a:t>
                </a:r>
                <a:r>
                  <a: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——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分布，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𝑡</m:t>
                    </m:r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分布，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𝐹</m:t>
                    </m:r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分布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8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抽样分布  </a:t>
                </a:r>
                <a:r>
                  <a:rPr lang="en-US" altLang="zh-CN" sz="18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—— </a:t>
                </a:r>
                <a:r>
                  <a:rPr lang="zh-CN" altLang="en-US" sz="1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正态总体的抽样分布</a:t>
                </a:r>
                <a:endParaRPr lang="en-US" altLang="zh-CN" sz="18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5B70860-7B7F-79E8-BFCC-9CAB1906F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485" y="3945538"/>
                <a:ext cx="6721606" cy="1293880"/>
              </a:xfrm>
              <a:prstGeom prst="rect">
                <a:avLst/>
              </a:prstGeom>
              <a:blipFill>
                <a:blip r:embed="rId4"/>
                <a:stretch>
                  <a:fillRect l="-817" b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B045768-D895-3AB6-17F1-0E730D6A50EA}"/>
              </a:ext>
            </a:extLst>
          </p:cNvPr>
          <p:cNvCxnSpPr>
            <a:cxnSpLocks/>
          </p:cNvCxnSpPr>
          <p:nvPr/>
        </p:nvCxnSpPr>
        <p:spPr>
          <a:xfrm>
            <a:off x="4985485" y="3741377"/>
            <a:ext cx="653101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FC1EA91-F8F7-91D8-20AB-953E21B71335}"/>
              </a:ext>
            </a:extLst>
          </p:cNvPr>
          <p:cNvSpPr txBox="1"/>
          <p:nvPr/>
        </p:nvSpPr>
        <p:spPr>
          <a:xfrm>
            <a:off x="4985485" y="1972342"/>
            <a:ext cx="4133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《</a:t>
            </a:r>
            <a:r>
              <a:rPr lang="zh-CN" altLang="en-US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概率论与数理统计</a:t>
            </a:r>
            <a:r>
              <a:rPr lang="en-US" altLang="zh-CN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779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411817B5-3A85-F4C6-01B7-DD9020E9DD06}"/>
              </a:ext>
            </a:extLst>
          </p:cNvPr>
          <p:cNvCxnSpPr>
            <a:cxnSpLocks/>
            <a:stCxn id="3" idx="2"/>
          </p:cNvCxnSpPr>
          <p:nvPr/>
        </p:nvCxnSpPr>
        <p:spPr>
          <a:xfrm rot="16200000" flipH="1">
            <a:off x="2561287" y="3540081"/>
            <a:ext cx="143293" cy="3028127"/>
          </a:xfrm>
          <a:prstGeom prst="bentConnector2">
            <a:avLst/>
          </a:prstGeom>
          <a:ln w="25400">
            <a:gradFill>
              <a:gsLst>
                <a:gs pos="0">
                  <a:srgbClr val="00B050"/>
                </a:gs>
                <a:gs pos="100000">
                  <a:schemeClr val="accent6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0" y="496110"/>
            <a:ext cx="4002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数理统计的基本概念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在概率论部分的学习中，我们总是假定 一个随机变量的分布是已知的。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但在实际的研究中，我们往往是不知一个随机变量的分布情况的，或者即使能知道其分布情况也不知其具体参数。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某仪器测量的误差为随机变量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，不知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具体服从怎样的分布。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某种类的元器件的寿命为随机变量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应当服从指数分布，但其参数我们难以推测或直接测量。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为了方便、高效的推断出随机变量服从的分布或分布中的参数，我们采取 抽样 的办法，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从 总体中抽取出部分样本，依据样本的特征，“由特殊到一般”地推出总体的分布情况。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为了学习和讨论上的方便，我们在数理统计中的所有概念，都直接根据随机变量（序列）的相关概念定义。</a:t>
                </a:r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2800767"/>
              </a:xfrm>
              <a:prstGeom prst="rect">
                <a:avLst/>
              </a:prstGeom>
              <a:blipFill>
                <a:blip r:embed="rId3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509913" y="775742"/>
            <a:ext cx="130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总体与样本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5FA0660-CE5F-3DA9-E486-EF1F6BC5A5A7}"/>
              </a:ext>
            </a:extLst>
          </p:cNvPr>
          <p:cNvGrpSpPr/>
          <p:nvPr/>
        </p:nvGrpSpPr>
        <p:grpSpPr>
          <a:xfrm>
            <a:off x="576364" y="4515075"/>
            <a:ext cx="2572521" cy="467424"/>
            <a:chOff x="576364" y="4515075"/>
            <a:chExt cx="2572521" cy="467424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B3E9BCC5-445F-7C38-2C4F-AC9BCB2F699B}"/>
                </a:ext>
              </a:extLst>
            </p:cNvPr>
            <p:cNvSpPr/>
            <p:nvPr/>
          </p:nvSpPr>
          <p:spPr>
            <a:xfrm>
              <a:off x="576364" y="4515075"/>
              <a:ext cx="1085011" cy="467424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总体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3A8EA523-5A16-A964-88DC-EFDD23A54E0B}"/>
                    </a:ext>
                  </a:extLst>
                </p:cNvPr>
                <p:cNvSpPr txBox="1"/>
                <p:nvPr/>
              </p:nvSpPr>
              <p:spPr>
                <a:xfrm>
                  <a:off x="1779964" y="4579510"/>
                  <a:ext cx="136892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随机变量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𝑋</m:t>
                      </m:r>
                    </m:oMath>
                  </a14:m>
                  <a:endPara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3A8EA523-5A16-A964-88DC-EFDD23A54E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9964" y="4579510"/>
                  <a:ext cx="1368921" cy="338554"/>
                </a:xfrm>
                <a:prstGeom prst="rect">
                  <a:avLst/>
                </a:prstGeom>
                <a:blipFill>
                  <a:blip r:embed="rId4"/>
                  <a:stretch>
                    <a:fillRect l="-2667" t="-7143" b="-196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48D7AF7-6AE4-90E3-861D-6FADCE1544FD}"/>
              </a:ext>
            </a:extLst>
          </p:cNvPr>
          <p:cNvGrpSpPr/>
          <p:nvPr/>
        </p:nvGrpSpPr>
        <p:grpSpPr>
          <a:xfrm>
            <a:off x="4075657" y="4515075"/>
            <a:ext cx="7372553" cy="756546"/>
            <a:chOff x="4075657" y="4515075"/>
            <a:chExt cx="7372553" cy="75654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7AF266C5-2AF5-60FA-CE04-F2769027937D}"/>
                </a:ext>
              </a:extLst>
            </p:cNvPr>
            <p:cNvSpPr/>
            <p:nvPr/>
          </p:nvSpPr>
          <p:spPr>
            <a:xfrm>
              <a:off x="4075657" y="4515075"/>
              <a:ext cx="1085011" cy="756546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样本</a:t>
              </a:r>
              <a:endParaRPr lang="en-US" altLang="zh-CN" sz="1600" dirty="0">
                <a:latin typeface="汉仪润圆-65简" panose="00020600040101010101" pitchFamily="18" charset="-122"/>
                <a:ea typeface="汉仪润圆-65简" panose="00020600040101010101" pitchFamily="18" charset="-122"/>
              </a:endParaRPr>
            </a:p>
            <a:p>
              <a:pPr algn="ctr"/>
              <a:r>
                <a:rPr lang="zh-CN" altLang="en-US" sz="1200" dirty="0"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（容量为</a:t>
              </a:r>
              <a:r>
                <a:rPr lang="en-US" altLang="zh-CN" sz="1200" dirty="0"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n</a:t>
              </a:r>
              <a:r>
                <a:rPr lang="zh-CN" altLang="en-US" sz="1200" dirty="0"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）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F86F24EF-E573-B637-B803-98BCCF23A857}"/>
                    </a:ext>
                  </a:extLst>
                </p:cNvPr>
                <p:cNvSpPr txBox="1"/>
                <p:nvPr/>
              </p:nvSpPr>
              <p:spPr>
                <a:xfrm>
                  <a:off x="5280269" y="4579510"/>
                  <a:ext cx="616794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与总体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𝑋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独立同分布的随机变量序列组成的向量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,…,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)</m:t>
                      </m:r>
                    </m:oMath>
                  </a14:m>
                  <a:endPara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F86F24EF-E573-B637-B803-98BCCF23A8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0269" y="4579510"/>
                  <a:ext cx="6167941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494" t="-7143" b="-196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18F99D9-B216-EC57-9594-37571DD57AA8}"/>
                    </a:ext>
                  </a:extLst>
                </p:cNvPr>
                <p:cNvSpPr txBox="1"/>
                <p:nvPr/>
              </p:nvSpPr>
              <p:spPr>
                <a:xfrm>
                  <a:off x="5280268" y="4933067"/>
                  <a:ext cx="616794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当各随机变量取值确定时，称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,…,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为样本的一组</a:t>
                  </a:r>
                  <a:r>
                    <a:rPr lang="zh-CN" altLang="en-US" sz="1600" u="sng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样本值</a:t>
                  </a:r>
                  <a:endParaRPr lang="en-US" altLang="zh-CN" sz="1600" u="sng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18F99D9-B216-EC57-9594-37571DD57A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0268" y="4933067"/>
                  <a:ext cx="6167941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494" t="-7143" b="-196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189319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事实上，所谓“样本”也无非就是一个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𝑛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维随机变量，它自然具有其联合分布。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又因为 组成样本的各个随机变量是 相互独立的，故 样本的联合分布 即为 组成它的各随机变量的分布之乘积。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不过，因为 样本与总体独立同分布，故 样本中的各随机变量 都有相同的分布。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1169551"/>
              </a:xfrm>
              <a:prstGeom prst="rect">
                <a:avLst/>
              </a:prstGeom>
              <a:blipFill>
                <a:blip r:embed="rId3"/>
                <a:stretch>
                  <a:fillRect l="-274" b="-57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1CE02FD4-0C57-7C62-DF93-0B017A82FD37}"/>
              </a:ext>
            </a:extLst>
          </p:cNvPr>
          <p:cNvSpPr txBox="1"/>
          <p:nvPr/>
        </p:nvSpPr>
        <p:spPr>
          <a:xfrm>
            <a:off x="507460" y="496110"/>
            <a:ext cx="4002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数理统计的基本概念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B0E083-A498-1264-2BBA-795FB3980071}"/>
              </a:ext>
            </a:extLst>
          </p:cNvPr>
          <p:cNvSpPr txBox="1"/>
          <p:nvPr/>
        </p:nvSpPr>
        <p:spPr>
          <a:xfrm>
            <a:off x="4509913" y="775742"/>
            <a:ext cx="130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样本的分布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C19CE3B-0D47-3626-87D7-E9C1719C1CCF}"/>
                  </a:ext>
                </a:extLst>
              </p:cNvPr>
              <p:cNvSpPr txBox="1"/>
              <p:nvPr/>
            </p:nvSpPr>
            <p:spPr>
              <a:xfrm>
                <a:off x="576363" y="2884547"/>
                <a:ext cx="4425128" cy="33855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来自总体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600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 容量为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1600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的样本的 联合分布函数</a:t>
                </a:r>
                <a:endParaRPr lang="en-US" altLang="zh-CN" sz="1600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C19CE3B-0D47-3626-87D7-E9C1719C1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3" y="2884547"/>
                <a:ext cx="4425128" cy="338554"/>
              </a:xfrm>
              <a:prstGeom prst="rect">
                <a:avLst/>
              </a:prstGeom>
              <a:blipFill>
                <a:blip r:embed="rId4"/>
                <a:stretch>
                  <a:fillRect t="-7143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228D78C-E86E-149D-ACF1-5515C9563272}"/>
                  </a:ext>
                </a:extLst>
              </p:cNvPr>
              <p:cNvSpPr txBox="1"/>
              <p:nvPr/>
            </p:nvSpPr>
            <p:spPr>
              <a:xfrm>
                <a:off x="576365" y="3575515"/>
                <a:ext cx="4425126" cy="33855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来自总体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600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 容量为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1600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的样本的 联合分布律</a:t>
                </a:r>
                <a:endParaRPr lang="en-US" altLang="zh-CN" sz="1600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228D78C-E86E-149D-ACF1-5515C9563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5" y="3575515"/>
                <a:ext cx="4425126" cy="338554"/>
              </a:xfrm>
              <a:prstGeom prst="rect">
                <a:avLst/>
              </a:prstGeom>
              <a:blipFill>
                <a:blip r:embed="rId5"/>
                <a:stretch>
                  <a:fillRect t="-7273" b="-2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376C67F-9CB5-6455-6E8B-CE73B170F020}"/>
                  </a:ext>
                </a:extLst>
              </p:cNvPr>
              <p:cNvSpPr txBox="1"/>
              <p:nvPr/>
            </p:nvSpPr>
            <p:spPr>
              <a:xfrm>
                <a:off x="576364" y="4247687"/>
                <a:ext cx="4425126" cy="33855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来自总体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600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 容量为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1600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的样本的 联合密度函数</a:t>
                </a:r>
                <a:endParaRPr lang="en-US" altLang="zh-CN" sz="1600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376C67F-9CB5-6455-6E8B-CE73B170F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4247687"/>
                <a:ext cx="4425126" cy="338554"/>
              </a:xfrm>
              <a:prstGeom prst="rect">
                <a:avLst/>
              </a:prstGeom>
              <a:blipFill>
                <a:blip r:embed="rId6"/>
                <a:stretch>
                  <a:fillRect t="-5263" b="-19298"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9603AA1-C593-8147-5737-D815A9B13B8D}"/>
                  </a:ext>
                </a:extLst>
              </p:cNvPr>
              <p:cNvSpPr txBox="1"/>
              <p:nvPr/>
            </p:nvSpPr>
            <p:spPr>
              <a:xfrm>
                <a:off x="5160668" y="2717738"/>
                <a:ext cx="5238614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其中</m:t>
                      </m:r>
                      <m:r>
                        <a:rPr lang="zh-CN" altLang="en-US" sz="16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总体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的</m:t>
                      </m:r>
                      <m:r>
                        <a:rPr lang="zh-CN" altLang="en-US" sz="16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分布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函数为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𝐹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9603AA1-C593-8147-5737-D815A9B13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668" y="2717738"/>
                <a:ext cx="5238614" cy="672172"/>
              </a:xfrm>
              <a:prstGeom prst="rect">
                <a:avLst/>
              </a:prstGeom>
              <a:blipFill>
                <a:blip r:embed="rId7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6015C30-8E7B-DFD8-E600-73E7B41C042A}"/>
                  </a:ext>
                </a:extLst>
              </p:cNvPr>
              <p:cNvSpPr txBox="1"/>
              <p:nvPr/>
            </p:nvSpPr>
            <p:spPr>
              <a:xfrm>
                <a:off x="5160668" y="3408706"/>
                <a:ext cx="6648272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;…;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其中</m:t>
                      </m:r>
                      <m:r>
                        <a:rPr lang="zh-CN" altLang="en-US" sz="16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总体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的</m:t>
                      </m:r>
                      <m:r>
                        <a:rPr lang="zh-CN" altLang="en-US" sz="16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分布律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为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𝑋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𝑝</m:t>
                      </m:r>
                    </m:oMath>
                  </m:oMathPara>
                </a14:m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6015C30-8E7B-DFD8-E600-73E7B41C0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668" y="3408706"/>
                <a:ext cx="6648272" cy="672172"/>
              </a:xfrm>
              <a:prstGeom prst="rect">
                <a:avLst/>
              </a:prstGeom>
              <a:blipFill>
                <a:blip r:embed="rId8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81FD71E-9D6A-3CCB-B1D4-A7011567C730}"/>
                  </a:ext>
                </a:extLst>
              </p:cNvPr>
              <p:cNvSpPr txBox="1"/>
              <p:nvPr/>
            </p:nvSpPr>
            <p:spPr>
              <a:xfrm>
                <a:off x="5160668" y="4080878"/>
                <a:ext cx="5238614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其中</m:t>
                      </m:r>
                      <m:r>
                        <a:rPr lang="zh-CN" altLang="en-US" sz="16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总体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的</m:t>
                      </m:r>
                      <m:r>
                        <a:rPr lang="zh-CN" altLang="en-US" sz="16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密度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函数为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𝑝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81FD71E-9D6A-3CCB-B1D4-A7011567C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668" y="4080878"/>
                <a:ext cx="5238614" cy="672172"/>
              </a:xfrm>
              <a:prstGeom prst="rect">
                <a:avLst/>
              </a:prstGeom>
              <a:blipFill>
                <a:blip r:embed="rId9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28967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14" grpId="0" animBg="1"/>
      <p:bldP spid="15" grpId="0" animBg="1"/>
      <p:bldP spid="27" grpId="0"/>
      <p:bldP spid="28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CE02FD4-0C57-7C62-DF93-0B017A82FD37}"/>
              </a:ext>
            </a:extLst>
          </p:cNvPr>
          <p:cNvSpPr txBox="1"/>
          <p:nvPr/>
        </p:nvSpPr>
        <p:spPr>
          <a:xfrm>
            <a:off x="507460" y="496110"/>
            <a:ext cx="4002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数理统计的基本概念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B0E083-A498-1264-2BBA-795FB3980071}"/>
              </a:ext>
            </a:extLst>
          </p:cNvPr>
          <p:cNvSpPr txBox="1"/>
          <p:nvPr/>
        </p:nvSpPr>
        <p:spPr>
          <a:xfrm>
            <a:off x="4509913" y="775742"/>
            <a:ext cx="130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统计量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5501AC9-E5AE-7CAC-8725-087CAEFA9E4C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2073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就像 数字特征 可以在某些角度上反映随机变量的分布，我们也可以使用 统计量 来描述样本的分布。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样本的 统计量 定义为 关于样本中 </a:t>
                </a:r>
                <a:r>
                  <a:rPr lang="zh-CN" altLang="en-US" sz="1600" u="sng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不含任意未知参数的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 各随机变量的一个函数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𝑓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请注意，随机变量的数字特征 是一个 常数，但 样本的统计量 是一个 随机变量。</a:t>
                </a:r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这是因为，数字特征 是 关于 一维随机变量的 各取值的表达式（例如 数学期望是 一个随机变量的所有取值与其概率的乘积之和），</a:t>
                </a:r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而 统计量 是 关于 </a:t>
                </a:r>
                <a14:m>
                  <m:oMath xmlns:m="http://schemas.openxmlformats.org/officeDocument/2006/math">
                    <m:r>
                      <a:rPr lang="en-US" altLang="zh-CN" sz="1400" i="1" u="sng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1400" u="sng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维随机变量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 各个随机变量的函数，因为没有涉及到取具体的值，因此它仍然是一个随机变量。</a:t>
                </a:r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样本 是个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维随机变量，而 样本的观测值 是个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维向量；统计量 是个 一维随机变量，而 统计量的观测值 是个常数。</a:t>
                </a:r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5501AC9-E5AE-7CAC-8725-087CAEFA9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2073196"/>
              </a:xfrm>
              <a:prstGeom prst="rect">
                <a:avLst/>
              </a:prstGeom>
              <a:blipFill>
                <a:blip r:embed="rId3"/>
                <a:stretch>
                  <a:fillRect l="-274" b="-20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组合 36">
            <a:extLst>
              <a:ext uri="{FF2B5EF4-FFF2-40B4-BE49-F238E27FC236}">
                <a16:creationId xmlns:a16="http://schemas.microsoft.com/office/drawing/2014/main" id="{6D3EA2BB-9997-5EF8-C52B-4711E6373825}"/>
              </a:ext>
            </a:extLst>
          </p:cNvPr>
          <p:cNvGrpSpPr/>
          <p:nvPr/>
        </p:nvGrpSpPr>
        <p:grpSpPr>
          <a:xfrm>
            <a:off x="576364" y="2337516"/>
            <a:ext cx="11039272" cy="714778"/>
            <a:chOff x="576364" y="2337516"/>
            <a:chExt cx="11039272" cy="71477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2511321-A46F-0FA2-D276-6840ACBED4D7}"/>
                </a:ext>
              </a:extLst>
            </p:cNvPr>
            <p:cNvSpPr/>
            <p:nvPr/>
          </p:nvSpPr>
          <p:spPr>
            <a:xfrm>
              <a:off x="576364" y="2337516"/>
              <a:ext cx="11039272" cy="714778"/>
            </a:xfrm>
            <a:prstGeom prst="rect">
              <a:avLst/>
            </a:prstGeom>
            <a:solidFill>
              <a:schemeClr val="bg1">
                <a:alpha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7936843-73B9-02A4-44DA-B42AD5032172}"/>
                </a:ext>
              </a:extLst>
            </p:cNvPr>
            <p:cNvSpPr txBox="1"/>
            <p:nvPr/>
          </p:nvSpPr>
          <p:spPr>
            <a:xfrm>
              <a:off x="981383" y="2416389"/>
              <a:ext cx="7703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00B050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总体</a:t>
              </a:r>
              <a:endParaRPr lang="en-US" altLang="zh-CN" sz="1600" dirty="0">
                <a:solidFill>
                  <a:srgbClr val="00B050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9AC8DFE-6E08-9E6C-6FFB-71456745770B}"/>
                </a:ext>
              </a:extLst>
            </p:cNvPr>
            <p:cNvSpPr txBox="1"/>
            <p:nvPr/>
          </p:nvSpPr>
          <p:spPr>
            <a:xfrm>
              <a:off x="2814697" y="2416389"/>
              <a:ext cx="7703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accent6">
                      <a:lumMod val="75000"/>
                    </a:schemeClr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样本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F62ED68-CBC5-6D35-6C44-A95F2FDBBD4E}"/>
                </a:ext>
              </a:extLst>
            </p:cNvPr>
            <p:cNvSpPr txBox="1"/>
            <p:nvPr/>
          </p:nvSpPr>
          <p:spPr>
            <a:xfrm>
              <a:off x="7918344" y="2416389"/>
              <a:ext cx="10774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00B0F0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统计量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778904E-652B-97C1-B855-F997F8FEDC37}"/>
                </a:ext>
              </a:extLst>
            </p:cNvPr>
            <p:cNvSpPr txBox="1"/>
            <p:nvPr/>
          </p:nvSpPr>
          <p:spPr>
            <a:xfrm>
              <a:off x="9317516" y="2636064"/>
              <a:ext cx="16279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accent5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统计量的观测值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B2A4751-35A3-27BE-BEAE-93C64C560FE4}"/>
                </a:ext>
              </a:extLst>
            </p:cNvPr>
            <p:cNvSpPr txBox="1"/>
            <p:nvPr/>
          </p:nvSpPr>
          <p:spPr>
            <a:xfrm>
              <a:off x="4500385" y="2631061"/>
              <a:ext cx="14837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accent6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样本的观测值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BBE0266-CF51-554B-4403-A1B60561AEB1}"/>
                    </a:ext>
                  </a:extLst>
                </p:cNvPr>
                <p:cNvSpPr txBox="1"/>
                <p:nvPr/>
              </p:nvSpPr>
              <p:spPr>
                <a:xfrm>
                  <a:off x="755064" y="2665882"/>
                  <a:ext cx="1212230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solidFill>
                        <a:srgbClr val="00B050"/>
                      </a:solidFill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一维随机变量</a:t>
                  </a:r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𝑋</m:t>
                      </m:r>
                    </m:oMath>
                  </a14:m>
                  <a:endParaRPr lang="zh-CN" altLang="en-US" sz="1200" dirty="0">
                    <a:solidFill>
                      <a:srgbClr val="00B05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BBE0266-CF51-554B-4403-A1B60561A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064" y="2665882"/>
                  <a:ext cx="1212230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422E774C-1CA4-3634-9FAF-8D7FB4C24245}"/>
                    </a:ext>
                  </a:extLst>
                </p:cNvPr>
                <p:cNvSpPr txBox="1"/>
                <p:nvPr/>
              </p:nvSpPr>
              <p:spPr>
                <a:xfrm>
                  <a:off x="2182558" y="2665881"/>
                  <a:ext cx="2091099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𝑛</m:t>
                      </m:r>
                    </m:oMath>
                  </a14:m>
                  <a:r>
                    <a:rPr lang="zh-CN" altLang="en-US" sz="1200" dirty="0">
                      <a:solidFill>
                        <a:schemeClr val="accent6">
                          <a:lumMod val="75000"/>
                        </a:schemeClr>
                      </a:solidFill>
                      <a:latin typeface="仿宋" panose="02010609060101010101" pitchFamily="49" charset="-122"/>
                      <a:ea typeface="仿宋" panose="02010609060101010101" pitchFamily="49" charset="-122"/>
                    </a:rPr>
                    <a:t>维随机变量</a:t>
                  </a:r>
                  <a14:m>
                    <m:oMath xmlns:m="http://schemas.openxmlformats.org/officeDocument/2006/math">
                      <m:r>
                        <a:rPr lang="en-US" altLang="zh-CN" sz="1200" b="0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12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200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1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1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200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,…,</m:t>
                      </m:r>
                      <m:sSub>
                        <m:sSubPr>
                          <m:ctrlPr>
                            <a:rPr lang="en-US" altLang="zh-CN" sz="1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1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200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)</m:t>
                      </m:r>
                    </m:oMath>
                  </a14:m>
                  <a:endParaRPr lang="zh-CN" altLang="en-US" sz="1200" dirty="0">
                    <a:solidFill>
                      <a:schemeClr val="accent6">
                        <a:lumMod val="75000"/>
                      </a:schemeClr>
                    </a:solidFill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422E774C-1CA4-3634-9FAF-8D7FB4C242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558" y="2665881"/>
                  <a:ext cx="2091099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42903B6-9E58-AC76-80E8-58F31E58F4C4}"/>
                    </a:ext>
                  </a:extLst>
                </p:cNvPr>
                <p:cNvSpPr txBox="1"/>
                <p:nvPr/>
              </p:nvSpPr>
              <p:spPr>
                <a:xfrm>
                  <a:off x="5820594" y="2691026"/>
                  <a:ext cx="170957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𝑛</m:t>
                      </m:r>
                    </m:oMath>
                  </a14:m>
                  <a:r>
                    <a:rPr lang="zh-CN" altLang="en-US" sz="1200" dirty="0">
                      <a:solidFill>
                        <a:schemeClr val="accent6"/>
                      </a:solidFill>
                      <a:latin typeface="仿宋" panose="02010609060101010101" pitchFamily="49" charset="-122"/>
                      <a:ea typeface="仿宋" panose="02010609060101010101" pitchFamily="49" charset="-122"/>
                    </a:rPr>
                    <a:t>维向量</a:t>
                  </a:r>
                  <a14:m>
                    <m:oMath xmlns:m="http://schemas.openxmlformats.org/officeDocument/2006/math">
                      <m:r>
                        <a:rPr lang="en-US" altLang="zh-CN" sz="1200" b="0" i="0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2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12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2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12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12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2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,…,</m:t>
                      </m:r>
                      <m:sSub>
                        <m:sSubPr>
                          <m:ctrlPr>
                            <a:rPr lang="en-US" altLang="zh-CN" sz="12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12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2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)</m:t>
                      </m:r>
                    </m:oMath>
                  </a14:m>
                  <a:endParaRPr lang="zh-CN" altLang="en-US" sz="1200" dirty="0">
                    <a:solidFill>
                      <a:schemeClr val="accent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42903B6-9E58-AC76-80E8-58F31E58F4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0594" y="2691026"/>
                  <a:ext cx="1709578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1FC224E-DA11-905C-9F6D-671F2AAE6001}"/>
                    </a:ext>
                  </a:extLst>
                </p:cNvPr>
                <p:cNvSpPr txBox="1"/>
                <p:nvPr/>
              </p:nvSpPr>
              <p:spPr>
                <a:xfrm>
                  <a:off x="7800426" y="2665086"/>
                  <a:ext cx="123014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solidFill>
                        <a:srgbClr val="00B0F0"/>
                      </a:solidFill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一维随机变量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12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𝑋</m:t>
                          </m:r>
                        </m:e>
                      </m:acc>
                    </m:oMath>
                  </a14:m>
                  <a:endParaRPr lang="zh-CN" altLang="en-US" sz="1200" dirty="0">
                    <a:solidFill>
                      <a:srgbClr val="00B0F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1FC224E-DA11-905C-9F6D-671F2AAE60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0426" y="2665086"/>
                  <a:ext cx="1230141" cy="276999"/>
                </a:xfrm>
                <a:prstGeom prst="rect">
                  <a:avLst/>
                </a:prstGeom>
                <a:blipFill>
                  <a:blip r:embed="rId7"/>
                  <a:stretch>
                    <a:fillRect r="-8458" b="-152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9D43969-EEE2-3801-ED6C-912B09A0CF22}"/>
                </a:ext>
              </a:extLst>
            </p:cNvPr>
            <p:cNvSpPr txBox="1"/>
            <p:nvPr/>
          </p:nvSpPr>
          <p:spPr>
            <a:xfrm>
              <a:off x="10799098" y="2696028"/>
              <a:ext cx="51385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常量</a:t>
              </a:r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1CFA073B-F0A4-F2F7-1958-AFCD47FAB012}"/>
                </a:ext>
              </a:extLst>
            </p:cNvPr>
            <p:cNvCxnSpPr>
              <a:cxnSpLocks/>
            </p:cNvCxnSpPr>
            <p:nvPr/>
          </p:nvCxnSpPr>
          <p:spPr>
            <a:xfrm>
              <a:off x="1755292" y="2576170"/>
              <a:ext cx="1062963" cy="0"/>
            </a:xfrm>
            <a:prstGeom prst="straightConnector1">
              <a:avLst/>
            </a:prstGeom>
            <a:ln w="28575">
              <a:gradFill>
                <a:gsLst>
                  <a:gs pos="0">
                    <a:srgbClr val="00B050"/>
                  </a:gs>
                  <a:gs pos="100000">
                    <a:schemeClr val="accent6">
                      <a:lumMod val="50000"/>
                    </a:schemeClr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C3A2FCD6-2ABB-766B-1238-9EAC31381C15}"/>
                </a:ext>
              </a:extLst>
            </p:cNvPr>
            <p:cNvCxnSpPr>
              <a:cxnSpLocks/>
            </p:cNvCxnSpPr>
            <p:nvPr/>
          </p:nvCxnSpPr>
          <p:spPr>
            <a:xfrm>
              <a:off x="3585048" y="2576170"/>
              <a:ext cx="4464248" cy="0"/>
            </a:xfrm>
            <a:prstGeom prst="straightConnector1">
              <a:avLst/>
            </a:prstGeom>
            <a:ln w="28575">
              <a:gradFill>
                <a:gsLst>
                  <a:gs pos="100000">
                    <a:srgbClr val="00B0F0"/>
                  </a:gs>
                  <a:gs pos="3000">
                    <a:schemeClr val="accent6">
                      <a:lumMod val="50000"/>
                    </a:schemeClr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连接符: 肘形 31">
              <a:extLst>
                <a:ext uri="{FF2B5EF4-FFF2-40B4-BE49-F238E27FC236}">
                  <a16:creationId xmlns:a16="http://schemas.microsoft.com/office/drawing/2014/main" id="{623B604B-2503-EA8B-63F2-4C152D90CF6A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>
              <a:off x="4240124" y="2576170"/>
              <a:ext cx="260261" cy="224168"/>
            </a:xfrm>
            <a:prstGeom prst="bentConnector3">
              <a:avLst/>
            </a:prstGeom>
            <a:ln w="19050">
              <a:gradFill>
                <a:gsLst>
                  <a:gs pos="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0"/>
              </a:gradFill>
              <a:headEnd type="none" w="med" len="med"/>
              <a:tailEnd type="arrow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连接符: 肘形 33">
              <a:extLst>
                <a:ext uri="{FF2B5EF4-FFF2-40B4-BE49-F238E27FC236}">
                  <a16:creationId xmlns:a16="http://schemas.microsoft.com/office/drawing/2014/main" id="{38F81278-EF88-FCB6-9832-6EBC371FDB95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8850381" y="2576170"/>
              <a:ext cx="467135" cy="229171"/>
            </a:xfrm>
            <a:prstGeom prst="bentConnector3">
              <a:avLst/>
            </a:prstGeom>
            <a:ln w="19050">
              <a:gradFill>
                <a:gsLst>
                  <a:gs pos="100000">
                    <a:schemeClr val="accent1"/>
                  </a:gs>
                  <a:gs pos="0">
                    <a:srgbClr val="00B0F0"/>
                  </a:gs>
                </a:gsLst>
                <a:lin ang="0" scaled="0"/>
              </a:gradFill>
              <a:headEnd type="none" w="med" len="med"/>
              <a:tailEnd type="arrow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F6D9B3B6-EFC5-8ED0-3BF9-C143E5FED61B}"/>
              </a:ext>
            </a:extLst>
          </p:cNvPr>
          <p:cNvGrpSpPr/>
          <p:nvPr/>
        </p:nvGrpSpPr>
        <p:grpSpPr>
          <a:xfrm>
            <a:off x="576364" y="3692938"/>
            <a:ext cx="2788467" cy="672172"/>
            <a:chOff x="576364" y="3692938"/>
            <a:chExt cx="2788467" cy="6721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矩形: 圆角 38">
                  <a:extLst>
                    <a:ext uri="{FF2B5EF4-FFF2-40B4-BE49-F238E27FC236}">
                      <a16:creationId xmlns:a16="http://schemas.microsoft.com/office/drawing/2014/main" id="{563605C6-6DCA-9037-1CA6-41DDBBC81A4B}"/>
                    </a:ext>
                  </a:extLst>
                </p:cNvPr>
                <p:cNvSpPr/>
                <p:nvPr/>
              </p:nvSpPr>
              <p:spPr>
                <a:xfrm>
                  <a:off x="576364" y="3826748"/>
                  <a:ext cx="1524810" cy="447268"/>
                </a:xfrm>
                <a:prstGeom prst="round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样本均值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a14:m>
                  <a:endParaRPr lang="zh-CN" altLang="en-US" sz="14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39" name="矩形: 圆角 38">
                  <a:extLst>
                    <a:ext uri="{FF2B5EF4-FFF2-40B4-BE49-F238E27FC236}">
                      <a16:creationId xmlns:a16="http://schemas.microsoft.com/office/drawing/2014/main" id="{563605C6-6DCA-9037-1CA6-41DDBBC81A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364" y="3826748"/>
                  <a:ext cx="1524810" cy="447268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C45FB0D2-A798-A276-DB7F-3C93DE6E66D0}"/>
                    </a:ext>
                  </a:extLst>
                </p:cNvPr>
                <p:cNvSpPr txBox="1"/>
                <p:nvPr/>
              </p:nvSpPr>
              <p:spPr>
                <a:xfrm>
                  <a:off x="2251321" y="3692938"/>
                  <a:ext cx="1113510" cy="6721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16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C45FB0D2-A798-A276-DB7F-3C93DE6E66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1321" y="3692938"/>
                  <a:ext cx="1113510" cy="672172"/>
                </a:xfrm>
                <a:prstGeom prst="rect">
                  <a:avLst/>
                </a:prstGeom>
                <a:blipFill>
                  <a:blip r:embed="rId9"/>
                  <a:stretch>
                    <a:fillRect b="-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F35F003C-187A-90E7-FD95-7E1500709973}"/>
              </a:ext>
            </a:extLst>
          </p:cNvPr>
          <p:cNvGrpSpPr/>
          <p:nvPr/>
        </p:nvGrpSpPr>
        <p:grpSpPr>
          <a:xfrm>
            <a:off x="4236353" y="3734969"/>
            <a:ext cx="3395492" cy="672172"/>
            <a:chOff x="4018915" y="3734969"/>
            <a:chExt cx="3395492" cy="6721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矩形: 圆角 39">
                  <a:extLst>
                    <a:ext uri="{FF2B5EF4-FFF2-40B4-BE49-F238E27FC236}">
                      <a16:creationId xmlns:a16="http://schemas.microsoft.com/office/drawing/2014/main" id="{5FCD02E0-1513-6DB7-D7DE-6C91EE3AE65D}"/>
                    </a:ext>
                  </a:extLst>
                </p:cNvPr>
                <p:cNvSpPr/>
                <p:nvPr/>
              </p:nvSpPr>
              <p:spPr>
                <a:xfrm>
                  <a:off x="4018915" y="3826748"/>
                  <a:ext cx="1524810" cy="447268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样本方差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a14:m>
                  <a:endParaRPr lang="zh-CN" altLang="en-US" sz="14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40" name="矩形: 圆角 39">
                  <a:extLst>
                    <a:ext uri="{FF2B5EF4-FFF2-40B4-BE49-F238E27FC236}">
                      <a16:creationId xmlns:a16="http://schemas.microsoft.com/office/drawing/2014/main" id="{5FCD02E0-1513-6DB7-D7DE-6C91EE3AE6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8915" y="3826748"/>
                  <a:ext cx="1524810" cy="447268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59D80912-CD55-9DEE-4C46-D36614BC43FC}"/>
                    </a:ext>
                  </a:extLst>
                </p:cNvPr>
                <p:cNvSpPr txBox="1"/>
                <p:nvPr/>
              </p:nvSpPr>
              <p:spPr>
                <a:xfrm>
                  <a:off x="5693872" y="3734969"/>
                  <a:ext cx="1720535" cy="6721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zh-CN" alt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CN" sz="1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59D80912-CD55-9DEE-4C46-D36614BC43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3872" y="3734969"/>
                  <a:ext cx="1720535" cy="67217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C1D64BBA-7ECE-3BE9-0E9D-DB7DB9A4039F}"/>
              </a:ext>
            </a:extLst>
          </p:cNvPr>
          <p:cNvGrpSpPr/>
          <p:nvPr/>
        </p:nvGrpSpPr>
        <p:grpSpPr>
          <a:xfrm>
            <a:off x="8419844" y="3826748"/>
            <a:ext cx="3118668" cy="449301"/>
            <a:chOff x="7961789" y="3826748"/>
            <a:chExt cx="3118668" cy="4493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矩形: 圆角 40">
                  <a:extLst>
                    <a:ext uri="{FF2B5EF4-FFF2-40B4-BE49-F238E27FC236}">
                      <a16:creationId xmlns:a16="http://schemas.microsoft.com/office/drawing/2014/main" id="{A9901E86-6374-FDFB-410B-7AFEE7083D3F}"/>
                    </a:ext>
                  </a:extLst>
                </p:cNvPr>
                <p:cNvSpPr/>
                <p:nvPr/>
              </p:nvSpPr>
              <p:spPr>
                <a:xfrm>
                  <a:off x="7961789" y="3826748"/>
                  <a:ext cx="1612317" cy="447268"/>
                </a:xfrm>
                <a:prstGeom prst="round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dirty="0">
                      <a:solidFill>
                        <a:schemeClr val="bg1"/>
                      </a:solidFill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修正样本方差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altLang="zh-CN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  <m:sup>
                          <m:r>
                            <a:rPr lang="en-US" altLang="zh-CN" sz="1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endParaRPr lang="zh-CN" altLang="en-US" sz="1400" dirty="0">
                    <a:solidFill>
                      <a:schemeClr val="bg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41" name="矩形: 圆角 40">
                  <a:extLst>
                    <a:ext uri="{FF2B5EF4-FFF2-40B4-BE49-F238E27FC236}">
                      <a16:creationId xmlns:a16="http://schemas.microsoft.com/office/drawing/2014/main" id="{A9901E86-6374-FDFB-410B-7AFEE7083D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1789" y="3826748"/>
                  <a:ext cx="1612317" cy="447268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F1FD41A1-1F18-A78A-8F65-3E6F4C8A5011}"/>
                    </a:ext>
                  </a:extLst>
                </p:cNvPr>
                <p:cNvSpPr txBox="1"/>
                <p:nvPr/>
              </p:nvSpPr>
              <p:spPr>
                <a:xfrm>
                  <a:off x="9724253" y="3854330"/>
                  <a:ext cx="1356204" cy="4217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16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sSubSup>
                          <m:sSubSupPr>
                            <m:ctrlPr>
                              <a:rPr lang="en-US" altLang="zh-CN" sz="16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6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F1FD41A1-1F18-A78A-8F65-3E6F4C8A50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4253" y="3854330"/>
                  <a:ext cx="1356204" cy="421719"/>
                </a:xfrm>
                <a:prstGeom prst="rect">
                  <a:avLst/>
                </a:prstGeom>
                <a:blipFill>
                  <a:blip r:embed="rId13"/>
                  <a:stretch>
                    <a:fillRect l="-2242" b="-159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8807541E-320D-49EA-ED9B-251020F18EAD}"/>
              </a:ext>
            </a:extLst>
          </p:cNvPr>
          <p:cNvGrpSpPr/>
          <p:nvPr/>
        </p:nvGrpSpPr>
        <p:grpSpPr>
          <a:xfrm>
            <a:off x="576364" y="4559666"/>
            <a:ext cx="3198438" cy="672172"/>
            <a:chOff x="576364" y="4623055"/>
            <a:chExt cx="3198438" cy="6721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矩形: 圆角 41">
                  <a:extLst>
                    <a:ext uri="{FF2B5EF4-FFF2-40B4-BE49-F238E27FC236}">
                      <a16:creationId xmlns:a16="http://schemas.microsoft.com/office/drawing/2014/main" id="{B1C03978-2BB5-5AEF-05DC-96072718F69F}"/>
                    </a:ext>
                  </a:extLst>
                </p:cNvPr>
                <p:cNvSpPr/>
                <p:nvPr/>
              </p:nvSpPr>
              <p:spPr>
                <a:xfrm>
                  <a:off x="576364" y="4735507"/>
                  <a:ext cx="1693702" cy="447268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样本</a:t>
                  </a:r>
                  <a14:m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𝑘</m:t>
                      </m:r>
                    </m:oMath>
                  </a14:m>
                  <a:r>
                    <a:rPr lang="zh-CN" altLang="en-US" sz="14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阶原点矩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𝑘</m:t>
                          </m:r>
                        </m:sub>
                      </m:sSub>
                    </m:oMath>
                  </a14:m>
                  <a:endParaRPr lang="zh-CN" altLang="en-US" sz="14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42" name="矩形: 圆角 41">
                  <a:extLst>
                    <a:ext uri="{FF2B5EF4-FFF2-40B4-BE49-F238E27FC236}">
                      <a16:creationId xmlns:a16="http://schemas.microsoft.com/office/drawing/2014/main" id="{B1C03978-2BB5-5AEF-05DC-96072718F6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364" y="4735507"/>
                  <a:ext cx="1693702" cy="447268"/>
                </a:xfrm>
                <a:prstGeom prst="round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4472E615-8E8A-8965-7133-4421DDC72585}"/>
                    </a:ext>
                  </a:extLst>
                </p:cNvPr>
                <p:cNvSpPr txBox="1"/>
                <p:nvPr/>
              </p:nvSpPr>
              <p:spPr>
                <a:xfrm>
                  <a:off x="2508686" y="4623055"/>
                  <a:ext cx="1266116" cy="6721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4472E615-8E8A-8965-7133-4421DDC725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8686" y="4623055"/>
                  <a:ext cx="1266116" cy="672172"/>
                </a:xfrm>
                <a:prstGeom prst="rect">
                  <a:avLst/>
                </a:prstGeom>
                <a:blipFill>
                  <a:blip r:embed="rId15"/>
                  <a:stretch>
                    <a:fillRect b="-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61462C2F-2276-28AD-9AAB-7612ADF87C06}"/>
              </a:ext>
            </a:extLst>
          </p:cNvPr>
          <p:cNvGrpSpPr/>
          <p:nvPr/>
        </p:nvGrpSpPr>
        <p:grpSpPr>
          <a:xfrm>
            <a:off x="4236353" y="4555346"/>
            <a:ext cx="3764942" cy="672172"/>
            <a:chOff x="4847021" y="4618735"/>
            <a:chExt cx="3764942" cy="6721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: 圆角 42">
                  <a:extLst>
                    <a:ext uri="{FF2B5EF4-FFF2-40B4-BE49-F238E27FC236}">
                      <a16:creationId xmlns:a16="http://schemas.microsoft.com/office/drawing/2014/main" id="{ABA1CA3E-E95E-27E8-1FD7-9866CEADDA36}"/>
                    </a:ext>
                  </a:extLst>
                </p:cNvPr>
                <p:cNvSpPr/>
                <p:nvPr/>
              </p:nvSpPr>
              <p:spPr>
                <a:xfrm>
                  <a:off x="4847021" y="4735507"/>
                  <a:ext cx="1693701" cy="447268"/>
                </a:xfrm>
                <a:prstGeom prst="round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样本</a:t>
                  </a:r>
                  <a14:m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𝑘</m:t>
                      </m:r>
                    </m:oMath>
                  </a14:m>
                  <a:r>
                    <a:rPr lang="zh-CN" altLang="en-US" sz="14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阶中心矩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𝑘</m:t>
                          </m:r>
                        </m:sub>
                      </m:sSub>
                    </m:oMath>
                  </a14:m>
                  <a:endParaRPr lang="zh-CN" altLang="en-US" sz="14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43" name="矩形: 圆角 42">
                  <a:extLst>
                    <a:ext uri="{FF2B5EF4-FFF2-40B4-BE49-F238E27FC236}">
                      <a16:creationId xmlns:a16="http://schemas.microsoft.com/office/drawing/2014/main" id="{ABA1CA3E-E95E-27E8-1FD7-9866CEADDA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7021" y="4735507"/>
                  <a:ext cx="1693701" cy="447268"/>
                </a:xfrm>
                <a:prstGeom prst="round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7303F3E3-A583-FB67-AD95-6201934CE017}"/>
                    </a:ext>
                  </a:extLst>
                </p:cNvPr>
                <p:cNvSpPr txBox="1"/>
                <p:nvPr/>
              </p:nvSpPr>
              <p:spPr>
                <a:xfrm>
                  <a:off x="6783129" y="4618735"/>
                  <a:ext cx="1828834" cy="6721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16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zh-CN" sz="16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7303F3E3-A583-FB67-AD95-6201934CE0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3129" y="4618735"/>
                  <a:ext cx="1828834" cy="67217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2475371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11108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样本的统计量 与 总体 都是一维随机变量，样本的统计量 在某些方面还可以反映总体的一些性质，即：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C80BB8-1624-DEEA-5926-7CD2A1E26F9A}"/>
              </a:ext>
            </a:extLst>
          </p:cNvPr>
          <p:cNvSpPr txBox="1"/>
          <p:nvPr/>
        </p:nvSpPr>
        <p:spPr>
          <a:xfrm>
            <a:off x="4509913" y="775742"/>
            <a:ext cx="1508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统计量的性质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B42F7C-2F60-0385-7BFD-2C36AFDFB38B}"/>
              </a:ext>
            </a:extLst>
          </p:cNvPr>
          <p:cNvSpPr txBox="1"/>
          <p:nvPr/>
        </p:nvSpPr>
        <p:spPr>
          <a:xfrm>
            <a:off x="507460" y="496110"/>
            <a:ext cx="4002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数理统计的基本概念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4517D80-3B72-528B-94B6-84DC1E867911}"/>
              </a:ext>
            </a:extLst>
          </p:cNvPr>
          <p:cNvCxnSpPr>
            <a:cxnSpLocks/>
          </p:cNvCxnSpPr>
          <p:nvPr/>
        </p:nvCxnSpPr>
        <p:spPr>
          <a:xfrm>
            <a:off x="828483" y="2261929"/>
            <a:ext cx="0" cy="2439220"/>
          </a:xfrm>
          <a:prstGeom prst="line">
            <a:avLst/>
          </a:prstGeom>
          <a:ln w="38100">
            <a:gradFill>
              <a:gsLst>
                <a:gs pos="40000">
                  <a:schemeClr val="accent2">
                    <a:lumMod val="60000"/>
                    <a:lumOff val="40000"/>
                  </a:schemeClr>
                </a:gs>
                <a:gs pos="20000">
                  <a:schemeClr val="accent5">
                    <a:lumMod val="40000"/>
                    <a:lumOff val="60000"/>
                  </a:schemeClr>
                </a:gs>
                <a:gs pos="0">
                  <a:schemeClr val="accent5">
                    <a:lumMod val="40000"/>
                    <a:lumOff val="60000"/>
                  </a:schemeClr>
                </a:gs>
                <a:gs pos="97573">
                  <a:schemeClr val="accent6">
                    <a:lumMod val="40000"/>
                    <a:lumOff val="60000"/>
                  </a:schemeClr>
                </a:gs>
                <a:gs pos="60000">
                  <a:srgbClr val="F4B183"/>
                </a:gs>
                <a:gs pos="80000">
                  <a:schemeClr val="accent6">
                    <a:lumMod val="40000"/>
                    <a:lumOff val="60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E691393-EA5F-F8C2-A68C-227AD223DC97}"/>
              </a:ext>
            </a:extLst>
          </p:cNvPr>
          <p:cNvGrpSpPr/>
          <p:nvPr/>
        </p:nvGrpSpPr>
        <p:grpSpPr>
          <a:xfrm>
            <a:off x="783038" y="1991501"/>
            <a:ext cx="1391362" cy="369332"/>
            <a:chOff x="783038" y="2375304"/>
            <a:chExt cx="1391362" cy="369332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40F22D2F-F04B-6656-E9EA-33391DACF74C}"/>
                </a:ext>
              </a:extLst>
            </p:cNvPr>
            <p:cNvGrpSpPr/>
            <p:nvPr/>
          </p:nvGrpSpPr>
          <p:grpSpPr>
            <a:xfrm>
              <a:off x="783038" y="2514527"/>
              <a:ext cx="590428" cy="90889"/>
              <a:chOff x="783038" y="4168883"/>
              <a:chExt cx="590428" cy="90889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D7366EB8-683A-8782-CE75-DEDCFFD2C9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5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516BBD2D-FD99-252A-DA61-986F25656C5A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E7F4813-69ED-8791-5351-093D672891E4}"/>
                </a:ext>
              </a:extLst>
            </p:cNvPr>
            <p:cNvSpPr txBox="1"/>
            <p:nvPr/>
          </p:nvSpPr>
          <p:spPr>
            <a:xfrm>
              <a:off x="1396187" y="2375304"/>
              <a:ext cx="7782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B0F0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性质</a:t>
              </a:r>
              <a:r>
                <a:rPr lang="en-US" altLang="zh-CN" dirty="0">
                  <a:solidFill>
                    <a:srgbClr val="00B0F0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1</a:t>
              </a:r>
              <a:endParaRPr lang="zh-CN" altLang="en-US" dirty="0">
                <a:solidFill>
                  <a:srgbClr val="00B0F0"/>
                </a:solidFill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82D32D3-A958-B5F6-E36D-93B7711EAE5C}"/>
              </a:ext>
            </a:extLst>
          </p:cNvPr>
          <p:cNvGrpSpPr/>
          <p:nvPr/>
        </p:nvGrpSpPr>
        <p:grpSpPr>
          <a:xfrm>
            <a:off x="783038" y="2499389"/>
            <a:ext cx="1431352" cy="369332"/>
            <a:chOff x="783038" y="2375304"/>
            <a:chExt cx="1431352" cy="369332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DA86221-DF77-D0DB-8857-D5E10834F924}"/>
                </a:ext>
              </a:extLst>
            </p:cNvPr>
            <p:cNvGrpSpPr/>
            <p:nvPr/>
          </p:nvGrpSpPr>
          <p:grpSpPr>
            <a:xfrm>
              <a:off x="783038" y="2514527"/>
              <a:ext cx="590428" cy="90889"/>
              <a:chOff x="783038" y="4168883"/>
              <a:chExt cx="590428" cy="90889"/>
            </a:xfrm>
          </p:grpSpPr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C9F7C18A-E73F-5485-3762-D29332E46A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5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77466B59-A5CC-13CA-0241-35717B92EF91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280B60F-C293-F6C5-9F3E-6A01211492CD}"/>
                </a:ext>
              </a:extLst>
            </p:cNvPr>
            <p:cNvSpPr txBox="1"/>
            <p:nvPr/>
          </p:nvSpPr>
          <p:spPr>
            <a:xfrm>
              <a:off x="1396187" y="2375304"/>
              <a:ext cx="8182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B0F0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性质</a:t>
              </a:r>
              <a:r>
                <a:rPr lang="en-US" altLang="zh-CN" dirty="0">
                  <a:solidFill>
                    <a:srgbClr val="00B0F0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2</a:t>
              </a:r>
              <a:endParaRPr lang="zh-CN" altLang="en-US" dirty="0">
                <a:solidFill>
                  <a:srgbClr val="00B0F0"/>
                </a:solidFill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133FC17-D9D7-F7E8-BD48-FF2BD279E31B}"/>
              </a:ext>
            </a:extLst>
          </p:cNvPr>
          <p:cNvGrpSpPr/>
          <p:nvPr/>
        </p:nvGrpSpPr>
        <p:grpSpPr>
          <a:xfrm>
            <a:off x="783038" y="3001611"/>
            <a:ext cx="1431352" cy="369332"/>
            <a:chOff x="783038" y="2375304"/>
            <a:chExt cx="1431352" cy="369332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7B1CFA0B-96DA-35B4-40B5-78A6FB3F3088}"/>
                </a:ext>
              </a:extLst>
            </p:cNvPr>
            <p:cNvGrpSpPr/>
            <p:nvPr/>
          </p:nvGrpSpPr>
          <p:grpSpPr>
            <a:xfrm>
              <a:off x="783038" y="2514527"/>
              <a:ext cx="590428" cy="90889"/>
              <a:chOff x="783038" y="4168883"/>
              <a:chExt cx="590428" cy="90889"/>
            </a:xfrm>
          </p:grpSpPr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C9E5BF7A-3AF3-369E-7B33-1776B4BD8D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EB28BA82-2B12-0698-C976-51BF1F80EFD1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14AC4340-5844-F999-DF06-3EAD76B7B161}"/>
                </a:ext>
              </a:extLst>
            </p:cNvPr>
            <p:cNvSpPr txBox="1"/>
            <p:nvPr/>
          </p:nvSpPr>
          <p:spPr>
            <a:xfrm>
              <a:off x="1396187" y="2375304"/>
              <a:ext cx="8182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2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性质</a:t>
              </a:r>
              <a:r>
                <a:rPr lang="en-US" altLang="zh-CN" dirty="0">
                  <a:solidFill>
                    <a:schemeClr val="accent2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3</a:t>
              </a:r>
              <a:endParaRPr lang="zh-CN" altLang="en-US" dirty="0">
                <a:solidFill>
                  <a:schemeClr val="accent2"/>
                </a:solidFill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5A073811-0C8B-AF11-DC81-6B5AC301934D}"/>
              </a:ext>
            </a:extLst>
          </p:cNvPr>
          <p:cNvGrpSpPr/>
          <p:nvPr/>
        </p:nvGrpSpPr>
        <p:grpSpPr>
          <a:xfrm>
            <a:off x="786226" y="3503835"/>
            <a:ext cx="1431352" cy="369332"/>
            <a:chOff x="783038" y="2375304"/>
            <a:chExt cx="1431352" cy="369332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F3841374-7CFE-1FA5-D78A-8ADAE28C57FA}"/>
                </a:ext>
              </a:extLst>
            </p:cNvPr>
            <p:cNvGrpSpPr/>
            <p:nvPr/>
          </p:nvGrpSpPr>
          <p:grpSpPr>
            <a:xfrm>
              <a:off x="783038" y="2514527"/>
              <a:ext cx="590428" cy="90889"/>
              <a:chOff x="783038" y="4168883"/>
              <a:chExt cx="590428" cy="90889"/>
            </a:xfrm>
          </p:grpSpPr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AEEF20EE-CA17-7060-4470-95987EBFDB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1A68AB23-791B-7EC5-CE4D-547B2783EA76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0623482-788D-F609-D197-B9D147829C70}"/>
                </a:ext>
              </a:extLst>
            </p:cNvPr>
            <p:cNvSpPr txBox="1"/>
            <p:nvPr/>
          </p:nvSpPr>
          <p:spPr>
            <a:xfrm>
              <a:off x="1396187" y="2375304"/>
              <a:ext cx="8182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2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性质</a:t>
              </a:r>
              <a:r>
                <a:rPr lang="en-US" altLang="zh-CN" dirty="0">
                  <a:solidFill>
                    <a:schemeClr val="accent2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4</a:t>
              </a:r>
              <a:endParaRPr lang="zh-CN" altLang="en-US" dirty="0">
                <a:solidFill>
                  <a:schemeClr val="accent2"/>
                </a:solidFill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1D0FF461-80F5-B067-A637-5901386417EC}"/>
                  </a:ext>
                </a:extLst>
              </p:cNvPr>
              <p:cNvSpPr txBox="1"/>
              <p:nvPr/>
            </p:nvSpPr>
            <p:spPr>
              <a:xfrm>
                <a:off x="2649820" y="2018047"/>
                <a:ext cx="49947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</a:t>
                </a:r>
                <a:r>
                  <a:rPr lang="zh-CN" altLang="en-US" b="0" u="sng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样本均值</a:t>
                </a:r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的期望 等于 总体的期望</a:t>
                </a:r>
                <a:endParaRPr lang="en-US" altLang="zh-CN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1D0FF461-80F5-B067-A637-590138641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820" y="2018047"/>
                <a:ext cx="4994701" cy="276999"/>
              </a:xfrm>
              <a:prstGeom prst="rect">
                <a:avLst/>
              </a:prstGeom>
              <a:blipFill>
                <a:blip r:embed="rId3"/>
                <a:stretch>
                  <a:fillRect l="-1709" t="-33333" r="-1832" b="-4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0A89AB14-13F5-2484-30EB-72A29F3AACA0}"/>
                  </a:ext>
                </a:extLst>
              </p:cNvPr>
              <p:cNvSpPr txBox="1"/>
              <p:nvPr/>
            </p:nvSpPr>
            <p:spPr>
              <a:xfrm>
                <a:off x="2649819" y="2487751"/>
                <a:ext cx="5782417" cy="392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</a:t>
                </a:r>
                <a:r>
                  <a:rPr lang="zh-CN" altLang="en-US" b="0" u="sng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样本均值</a:t>
                </a:r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的方差 等于 总体的方差的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1/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𝑛</m:t>
                    </m:r>
                  </m:oMath>
                </a14:m>
                <a:endParaRPr lang="en-US" altLang="zh-CN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0A89AB14-13F5-2484-30EB-72A29F3AA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819" y="2487751"/>
                <a:ext cx="5782417" cy="392608"/>
              </a:xfrm>
              <a:prstGeom prst="rect">
                <a:avLst/>
              </a:prstGeom>
              <a:blipFill>
                <a:blip r:embed="rId4"/>
                <a:stretch>
                  <a:fillRect l="-1477" t="-10938" r="-105" b="-171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EFF31190-E4E6-B614-2FA4-07279E62BBD0}"/>
                  </a:ext>
                </a:extLst>
              </p:cNvPr>
              <p:cNvSpPr txBox="1"/>
              <p:nvPr/>
            </p:nvSpPr>
            <p:spPr>
              <a:xfrm>
                <a:off x="2649818" y="2975215"/>
                <a:ext cx="6679649" cy="392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</a:t>
                </a:r>
                <a:r>
                  <a:rPr lang="zh-CN" altLang="en-US" b="0" u="sng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样本方差</a:t>
                </a:r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的期望 等于 总体的方差的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−1)/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𝑛</m:t>
                    </m:r>
                  </m:oMath>
                </a14:m>
                <a:endParaRPr lang="en-US" altLang="zh-CN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EFF31190-E4E6-B614-2FA4-07279E62B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818" y="2975215"/>
                <a:ext cx="6679649" cy="392608"/>
              </a:xfrm>
              <a:prstGeom prst="rect">
                <a:avLst/>
              </a:prstGeom>
              <a:blipFill>
                <a:blip r:embed="rId5"/>
                <a:stretch>
                  <a:fillRect l="-1279" t="-10938" r="-91" b="-171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5978388B-85DD-0B8A-CDB4-9CFDC1AE9B64}"/>
                  </a:ext>
                </a:extLst>
              </p:cNvPr>
              <p:cNvSpPr txBox="1"/>
              <p:nvPr/>
            </p:nvSpPr>
            <p:spPr>
              <a:xfrm>
                <a:off x="2649817" y="3503835"/>
                <a:ext cx="5671617" cy="325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</a:t>
                </a:r>
                <a:r>
                  <a:rPr lang="zh-CN" altLang="en-US" b="0" u="sng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修正样本方差</a:t>
                </a:r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的期望 等于 总体的方差</a:t>
                </a:r>
                <a:endParaRPr lang="en-US" altLang="zh-CN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5978388B-85DD-0B8A-CDB4-9CFDC1AE9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817" y="3503835"/>
                <a:ext cx="5671617" cy="325795"/>
              </a:xfrm>
              <a:prstGeom prst="rect">
                <a:avLst/>
              </a:prstGeom>
              <a:blipFill>
                <a:blip r:embed="rId6"/>
                <a:stretch>
                  <a:fillRect l="-1505" t="-20755" r="-1505" b="-320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组合 52">
            <a:extLst>
              <a:ext uri="{FF2B5EF4-FFF2-40B4-BE49-F238E27FC236}">
                <a16:creationId xmlns:a16="http://schemas.microsoft.com/office/drawing/2014/main" id="{EABB6E6A-9F06-84E9-9A64-A0E6525D9A95}"/>
              </a:ext>
            </a:extLst>
          </p:cNvPr>
          <p:cNvGrpSpPr/>
          <p:nvPr/>
        </p:nvGrpSpPr>
        <p:grpSpPr>
          <a:xfrm>
            <a:off x="783038" y="4006059"/>
            <a:ext cx="1431352" cy="369332"/>
            <a:chOff x="783038" y="2375304"/>
            <a:chExt cx="1431352" cy="369332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AF252EE5-4490-B351-BCE2-92809FE3F12E}"/>
                </a:ext>
              </a:extLst>
            </p:cNvPr>
            <p:cNvGrpSpPr/>
            <p:nvPr/>
          </p:nvGrpSpPr>
          <p:grpSpPr>
            <a:xfrm>
              <a:off x="783038" y="2514527"/>
              <a:ext cx="590428" cy="90889"/>
              <a:chOff x="783038" y="4168883"/>
              <a:chExt cx="590428" cy="90889"/>
            </a:xfrm>
          </p:grpSpPr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EB60A1D9-4243-B28D-725D-496F349EEC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6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745D0F21-BD60-7A3D-990A-205A734D6693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146DA0E-163B-C87E-9B8A-43934F2C3C80}"/>
                </a:ext>
              </a:extLst>
            </p:cNvPr>
            <p:cNvSpPr txBox="1"/>
            <p:nvPr/>
          </p:nvSpPr>
          <p:spPr>
            <a:xfrm>
              <a:off x="1396187" y="2375304"/>
              <a:ext cx="8182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B050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性质</a:t>
              </a:r>
              <a:r>
                <a:rPr lang="en-US" altLang="zh-CN" dirty="0">
                  <a:solidFill>
                    <a:srgbClr val="00B050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5</a:t>
              </a:r>
              <a:endParaRPr lang="zh-CN" altLang="en-US" dirty="0">
                <a:solidFill>
                  <a:srgbClr val="00B050"/>
                </a:solidFill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C34B665B-F82D-6143-08C6-F20A4DAF0715}"/>
                  </a:ext>
                </a:extLst>
              </p:cNvPr>
              <p:cNvSpPr txBox="1"/>
              <p:nvPr/>
            </p:nvSpPr>
            <p:spPr>
              <a:xfrm>
                <a:off x="2649817" y="4027111"/>
                <a:ext cx="61503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</a:t>
                </a:r>
                <a:r>
                  <a:rPr lang="zh-CN" altLang="en-US" b="0" u="sng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样本</a:t>
                </a:r>
                <a14:m>
                  <m:oMath xmlns:m="http://schemas.openxmlformats.org/officeDocument/2006/math">
                    <m:r>
                      <a:rPr lang="en-US" altLang="zh-CN" b="0" i="1" u="sng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𝑘</m:t>
                    </m:r>
                  </m:oMath>
                </a14:m>
                <a:r>
                  <a:rPr lang="zh-CN" altLang="en-US" b="0" u="sng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阶原点矩的</a:t>
                </a:r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期望 等于 总体的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𝑘</m:t>
                    </m:r>
                  </m:oMath>
                </a14:m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阶原点矩</a:t>
                </a:r>
                <a:endParaRPr lang="en-US" altLang="zh-CN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C34B665B-F82D-6143-08C6-F20A4DAF0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817" y="4027111"/>
                <a:ext cx="6150338" cy="276999"/>
              </a:xfrm>
              <a:prstGeom prst="rect">
                <a:avLst/>
              </a:prstGeom>
              <a:blipFill>
                <a:blip r:embed="rId7"/>
                <a:stretch>
                  <a:fillRect l="-1388" t="-33333" b="-4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组合 59">
            <a:extLst>
              <a:ext uri="{FF2B5EF4-FFF2-40B4-BE49-F238E27FC236}">
                <a16:creationId xmlns:a16="http://schemas.microsoft.com/office/drawing/2014/main" id="{586FE07A-BDBE-0BCD-21C0-5292B533589C}"/>
              </a:ext>
            </a:extLst>
          </p:cNvPr>
          <p:cNvGrpSpPr/>
          <p:nvPr/>
        </p:nvGrpSpPr>
        <p:grpSpPr>
          <a:xfrm>
            <a:off x="783038" y="4516483"/>
            <a:ext cx="1431352" cy="369332"/>
            <a:chOff x="783038" y="2375304"/>
            <a:chExt cx="1431352" cy="369332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B51B937F-A5F5-5E1E-8C74-07FFD45D3561}"/>
                </a:ext>
              </a:extLst>
            </p:cNvPr>
            <p:cNvGrpSpPr/>
            <p:nvPr/>
          </p:nvGrpSpPr>
          <p:grpSpPr>
            <a:xfrm>
              <a:off x="783038" y="2514527"/>
              <a:ext cx="590428" cy="90889"/>
              <a:chOff x="783038" y="4168883"/>
              <a:chExt cx="590428" cy="90889"/>
            </a:xfrm>
          </p:grpSpPr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C03CBE36-D168-748F-362B-81BA2EB77F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6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178ABCB1-1536-F2CC-F136-BE3633AF3B99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49192BD5-FFF7-B3CA-E28A-D1623B138EDA}"/>
                </a:ext>
              </a:extLst>
            </p:cNvPr>
            <p:cNvSpPr txBox="1"/>
            <p:nvPr/>
          </p:nvSpPr>
          <p:spPr>
            <a:xfrm>
              <a:off x="1396187" y="2375304"/>
              <a:ext cx="8182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B050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性质</a:t>
              </a:r>
              <a:r>
                <a:rPr lang="en-US" altLang="zh-CN" dirty="0">
                  <a:solidFill>
                    <a:srgbClr val="00B050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6</a:t>
              </a:r>
              <a:endParaRPr lang="zh-CN" altLang="en-US" dirty="0">
                <a:solidFill>
                  <a:srgbClr val="00B050"/>
                </a:solidFill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7D863E99-7B56-55BC-3508-9F96FC974AFF}"/>
                  </a:ext>
                </a:extLst>
              </p:cNvPr>
              <p:cNvSpPr txBox="1"/>
              <p:nvPr/>
            </p:nvSpPr>
            <p:spPr>
              <a:xfrm>
                <a:off x="2649817" y="4422449"/>
                <a:ext cx="6731651" cy="3721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groupCh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→∞)</m:t>
                    </m:r>
                  </m:oMath>
                </a14:m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</a:t>
                </a:r>
                <a:r>
                  <a:rPr lang="zh-CN" altLang="en-US" b="0" u="sng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样本</a:t>
                </a:r>
                <a14:m>
                  <m:oMath xmlns:m="http://schemas.openxmlformats.org/officeDocument/2006/math">
                    <m:r>
                      <a:rPr lang="en-US" altLang="zh-CN" b="0" i="1" u="sng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𝑘</m:t>
                    </m:r>
                  </m:oMath>
                </a14:m>
                <a:r>
                  <a:rPr lang="zh-CN" altLang="en-US" b="0" u="sng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阶原点矩</a:t>
                </a:r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依概率收敛于 总体的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𝑘</m:t>
                    </m:r>
                  </m:oMath>
                </a14:m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阶原点矩</a:t>
                </a:r>
                <a:endParaRPr lang="en-US" altLang="zh-CN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7D863E99-7B56-55BC-3508-9F96FC974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817" y="4422449"/>
                <a:ext cx="6731651" cy="372153"/>
              </a:xfrm>
              <a:prstGeom prst="rect">
                <a:avLst/>
              </a:prstGeom>
              <a:blipFill>
                <a:blip r:embed="rId8"/>
                <a:stretch>
                  <a:fillRect l="-91" r="-1449" b="-32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94F1ED07-B73F-AD3B-7605-8AF2C0D07BDB}"/>
                  </a:ext>
                </a:extLst>
              </p:cNvPr>
              <p:cNvSpPr txBox="1"/>
              <p:nvPr/>
            </p:nvSpPr>
            <p:spPr>
              <a:xfrm>
                <a:off x="576364" y="4983273"/>
                <a:ext cx="1137926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请注意区别 性质</a:t>
                </a:r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5 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 性质</a:t>
                </a:r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6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即使样本中的每个分量都未知，但只要它来自一个始终</a:t>
                </a:r>
                <a:r>
                  <a:rPr lang="zh-CN" altLang="en-US" sz="1400" b="1" u="sng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确定的总体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（确定并非已知），那么样本统计量的数字特征必然确定。</a:t>
                </a:r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然而，当样本容量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增大时，由于统计量本身受样本随机性的制约（统计量是一个随机变量），因此统计量本身并非一个确定值。</a:t>
                </a:r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94F1ED07-B73F-AD3B-7605-8AF2C0D07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4983273"/>
                <a:ext cx="11379260" cy="738664"/>
              </a:xfrm>
              <a:prstGeom prst="rect">
                <a:avLst/>
              </a:prstGeom>
              <a:blipFill>
                <a:blip r:embed="rId9"/>
                <a:stretch>
                  <a:fillRect l="-161" t="-820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3764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7" grpId="0"/>
      <p:bldP spid="48" grpId="0"/>
      <p:bldP spid="49" grpId="0"/>
      <p:bldP spid="50" grpId="0"/>
      <p:bldP spid="59" grpId="0"/>
      <p:bldP spid="66" grpId="0"/>
      <p:bldP spid="6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870D909-11F1-DE39-F520-976421E2E9A0}"/>
              </a:ext>
            </a:extLst>
          </p:cNvPr>
          <p:cNvCxnSpPr>
            <a:cxnSpLocks/>
          </p:cNvCxnSpPr>
          <p:nvPr/>
        </p:nvCxnSpPr>
        <p:spPr>
          <a:xfrm>
            <a:off x="828483" y="3506010"/>
            <a:ext cx="0" cy="1031686"/>
          </a:xfrm>
          <a:prstGeom prst="line">
            <a:avLst/>
          </a:prstGeom>
          <a:ln w="38100"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倘若我们观测到了样本的一个观测值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，它与样本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一一对应；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将 此观测值 按照从小到大的顺序重新排列，得到一个新的样本观测值，例如说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；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此时，新的样本观测值 对应的 样本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称为样本的 </a:t>
                </a:r>
                <a:r>
                  <a:rPr lang="zh-CN" altLang="en-US" sz="1600" dirty="0">
                    <a:solidFill>
                      <a:schemeClr val="accent5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次序统计量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1169551"/>
              </a:xfrm>
              <a:prstGeom prst="rect">
                <a:avLst/>
              </a:prstGeom>
              <a:blipFill>
                <a:blip r:embed="rId3"/>
                <a:stretch>
                  <a:fillRect l="-274" b="-57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B4AF991D-6431-626F-40D8-A1786C0890DC}"/>
              </a:ext>
            </a:extLst>
          </p:cNvPr>
          <p:cNvSpPr txBox="1"/>
          <p:nvPr/>
        </p:nvSpPr>
        <p:spPr>
          <a:xfrm>
            <a:off x="4509913" y="775742"/>
            <a:ext cx="1508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次序统计量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618B598-877C-2F08-7A7F-1496C6F9A009}"/>
              </a:ext>
            </a:extLst>
          </p:cNvPr>
          <p:cNvSpPr txBox="1"/>
          <p:nvPr/>
        </p:nvSpPr>
        <p:spPr>
          <a:xfrm>
            <a:off x="507460" y="496110"/>
            <a:ext cx="4002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数理统计的基本概念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7CBDA4C-CCBB-2174-7DD1-D4B55BB7A162}"/>
              </a:ext>
            </a:extLst>
          </p:cNvPr>
          <p:cNvSpPr/>
          <p:nvPr/>
        </p:nvSpPr>
        <p:spPr>
          <a:xfrm>
            <a:off x="576364" y="2883859"/>
            <a:ext cx="1524810" cy="732934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次序统计量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011FE67-403C-D423-BFC1-F9E9656C91BF}"/>
                  </a:ext>
                </a:extLst>
              </p:cNvPr>
              <p:cNvSpPr txBox="1"/>
              <p:nvPr/>
            </p:nvSpPr>
            <p:spPr>
              <a:xfrm>
                <a:off x="2508686" y="2883859"/>
                <a:ext cx="7756849" cy="733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将样本的一个观测值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由小到大排序后，重新记为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1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)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)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)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此时其对应的 样本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1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)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)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)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称为原来样本的一个 次序统计量。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011FE67-403C-D423-BFC1-F9E9656C9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686" y="2883859"/>
                <a:ext cx="7756849" cy="733471"/>
              </a:xfrm>
              <a:prstGeom prst="rect">
                <a:avLst/>
              </a:prstGeom>
              <a:blipFill>
                <a:blip r:embed="rId4"/>
                <a:stretch>
                  <a:fillRect l="-472" t="-4167" b="-5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组合 21">
            <a:extLst>
              <a:ext uri="{FF2B5EF4-FFF2-40B4-BE49-F238E27FC236}">
                <a16:creationId xmlns:a16="http://schemas.microsoft.com/office/drawing/2014/main" id="{97F9E5A8-A6D3-CA7B-28A2-AFB57B95F919}"/>
              </a:ext>
            </a:extLst>
          </p:cNvPr>
          <p:cNvGrpSpPr/>
          <p:nvPr/>
        </p:nvGrpSpPr>
        <p:grpSpPr>
          <a:xfrm>
            <a:off x="783038" y="3905915"/>
            <a:ext cx="2588421" cy="328488"/>
            <a:chOff x="783038" y="2411607"/>
            <a:chExt cx="2588421" cy="328488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87D24DD6-FFC9-29F9-8BC2-AD8F26465939}"/>
                </a:ext>
              </a:extLst>
            </p:cNvPr>
            <p:cNvGrpSpPr/>
            <p:nvPr/>
          </p:nvGrpSpPr>
          <p:grpSpPr>
            <a:xfrm>
              <a:off x="783038" y="2514527"/>
              <a:ext cx="590428" cy="90889"/>
              <a:chOff x="783038" y="4168883"/>
              <a:chExt cx="590428" cy="90889"/>
            </a:xfrm>
          </p:grpSpPr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9AA0B0FA-7E4A-39D7-23A2-70BB7E94B5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77C870D9-D31E-72A1-E5F1-3CCB6ABC841C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D5E91E63-AA7C-BDD7-2F7B-9867B0634908}"/>
                    </a:ext>
                  </a:extLst>
                </p:cNvPr>
                <p:cNvSpPr txBox="1"/>
                <p:nvPr/>
              </p:nvSpPr>
              <p:spPr>
                <a:xfrm>
                  <a:off x="1396186" y="2411607"/>
                  <a:ext cx="1975273" cy="3284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 dirty="0">
                      <a:solidFill>
                        <a:schemeClr val="accent5"/>
                      </a:solidFill>
                      <a:latin typeface="汉仪润圆-65简" panose="00020600040101010101" pitchFamily="18" charset="-122"/>
                      <a:ea typeface="汉仪润圆-65简" panose="00020600040101010101" pitchFamily="18" charset="-122"/>
                      <a:cs typeface="汉仪文黑-85W" panose="00020600040101010101" pitchFamily="18" charset="-128"/>
                    </a:rPr>
                    <a:t>最小次序统计量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  <a:cs typeface="汉仪文黑-85W" panose="00020600040101010101" pitchFamily="18" charset="-128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  <a:cs typeface="汉仪文黑-85W" panose="00020600040101010101" pitchFamily="18" charset="-128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  <a:cs typeface="汉仪文黑-85W" panose="00020600040101010101" pitchFamily="18" charset="-128"/>
                            </a:rPr>
                            <m:t>(1)</m:t>
                          </m:r>
                        </m:sub>
                      </m:sSub>
                    </m:oMath>
                  </a14:m>
                  <a:endParaRPr lang="zh-CN" altLang="en-US" sz="1400" dirty="0">
                    <a:solidFill>
                      <a:schemeClr val="accent5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D5E91E63-AA7C-BDD7-2F7B-9867B06349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6186" y="2411607"/>
                  <a:ext cx="1975273" cy="328488"/>
                </a:xfrm>
                <a:prstGeom prst="rect">
                  <a:avLst/>
                </a:prstGeom>
                <a:blipFill>
                  <a:blip r:embed="rId5"/>
                  <a:stretch>
                    <a:fillRect l="-926" t="-3704"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62C87C6-9456-150C-74D4-BAD7D71DEE71}"/>
              </a:ext>
            </a:extLst>
          </p:cNvPr>
          <p:cNvGrpSpPr/>
          <p:nvPr/>
        </p:nvGrpSpPr>
        <p:grpSpPr>
          <a:xfrm>
            <a:off x="783038" y="4389332"/>
            <a:ext cx="2588421" cy="328488"/>
            <a:chOff x="783038" y="2411607"/>
            <a:chExt cx="2588421" cy="328488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FD87DA7D-7244-C788-469C-494658F248BB}"/>
                </a:ext>
              </a:extLst>
            </p:cNvPr>
            <p:cNvGrpSpPr/>
            <p:nvPr/>
          </p:nvGrpSpPr>
          <p:grpSpPr>
            <a:xfrm>
              <a:off x="783038" y="2514527"/>
              <a:ext cx="590428" cy="90889"/>
              <a:chOff x="783038" y="4168883"/>
              <a:chExt cx="590428" cy="90889"/>
            </a:xfrm>
          </p:grpSpPr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EE16A71B-4064-BFD2-F0B9-6550B418D1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A3D8BA0D-6B00-0D42-7541-2C2FCFEFD84D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74174BA0-F71B-5AB7-ADF8-117521D7D177}"/>
                    </a:ext>
                  </a:extLst>
                </p:cNvPr>
                <p:cNvSpPr txBox="1"/>
                <p:nvPr/>
              </p:nvSpPr>
              <p:spPr>
                <a:xfrm>
                  <a:off x="1396186" y="2411607"/>
                  <a:ext cx="1975273" cy="3284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 dirty="0">
                      <a:solidFill>
                        <a:schemeClr val="accent1"/>
                      </a:solidFill>
                      <a:latin typeface="汉仪润圆-65简" panose="00020600040101010101" pitchFamily="18" charset="-122"/>
                      <a:ea typeface="汉仪润圆-65简" panose="00020600040101010101" pitchFamily="18" charset="-122"/>
                      <a:cs typeface="汉仪文黑-85W" panose="00020600040101010101" pitchFamily="18" charset="-128"/>
                    </a:rPr>
                    <a:t>最大次序统计量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  <a:cs typeface="汉仪文黑-85W" panose="00020600040101010101" pitchFamily="18" charset="-128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  <a:cs typeface="汉仪文黑-85W" panose="00020600040101010101" pitchFamily="18" charset="-128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  <a:cs typeface="汉仪文黑-85W" panose="00020600040101010101" pitchFamily="18" charset="-128"/>
                            </a:rPr>
                            <m:t>(</m:t>
                          </m:r>
                          <m:r>
                            <a:rPr lang="en-US" altLang="zh-CN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  <a:cs typeface="汉仪文黑-85W" panose="00020600040101010101" pitchFamily="18" charset="-128"/>
                            </a:rPr>
                            <m:t>𝑛</m:t>
                          </m:r>
                          <m:r>
                            <a:rPr lang="en-US" altLang="zh-CN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  <a:cs typeface="汉仪文黑-85W" panose="00020600040101010101" pitchFamily="18" charset="-128"/>
                            </a:rPr>
                            <m:t>)</m:t>
                          </m:r>
                        </m:sub>
                      </m:sSub>
                    </m:oMath>
                  </a14:m>
                  <a:endParaRPr lang="zh-CN" altLang="en-US" sz="1400" dirty="0">
                    <a:solidFill>
                      <a:schemeClr val="accent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74174BA0-F71B-5AB7-ADF8-117521D7D1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6186" y="2411607"/>
                  <a:ext cx="1975273" cy="328488"/>
                </a:xfrm>
                <a:prstGeom prst="rect">
                  <a:avLst/>
                </a:prstGeom>
                <a:blipFill>
                  <a:blip r:embed="rId6"/>
                  <a:stretch>
                    <a:fillRect l="-926" t="-3704" b="-129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7F54F19-7E21-D604-EE23-2EFC017096CB}"/>
                  </a:ext>
                </a:extLst>
              </p:cNvPr>
              <p:cNvSpPr txBox="1"/>
              <p:nvPr/>
            </p:nvSpPr>
            <p:spPr>
              <a:xfrm>
                <a:off x="3394179" y="3871940"/>
                <a:ext cx="2756139" cy="299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CN" sz="16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7F54F19-7E21-D604-EE23-2EFC01709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179" y="3871940"/>
                <a:ext cx="2756139" cy="299826"/>
              </a:xfrm>
              <a:prstGeom prst="rect">
                <a:avLst/>
              </a:prstGeom>
              <a:blipFill>
                <a:blip r:embed="rId7"/>
                <a:stretch>
                  <a:fillRect l="-1106" r="-1991" b="-122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D9A6CFAD-A90F-3B64-06EC-7FC31C6952E3}"/>
                  </a:ext>
                </a:extLst>
              </p:cNvPr>
              <p:cNvSpPr txBox="1"/>
              <p:nvPr/>
            </p:nvSpPr>
            <p:spPr>
              <a:xfrm>
                <a:off x="3394179" y="4387783"/>
                <a:ext cx="2410083" cy="299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CN" sz="1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D9A6CFAD-A90F-3B64-06EC-7FC31C695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179" y="4387783"/>
                <a:ext cx="2410083" cy="299826"/>
              </a:xfrm>
              <a:prstGeom prst="rect">
                <a:avLst/>
              </a:prstGeom>
              <a:blipFill>
                <a:blip r:embed="rId8"/>
                <a:stretch>
                  <a:fillRect l="-1519" r="-2278" b="-102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7490EBD-E007-293F-9338-D151BB9FE06E}"/>
                  </a:ext>
                </a:extLst>
              </p:cNvPr>
              <p:cNvSpPr txBox="1"/>
              <p:nvPr/>
            </p:nvSpPr>
            <p:spPr>
              <a:xfrm>
                <a:off x="7497727" y="3994775"/>
                <a:ext cx="2034072" cy="588366"/>
              </a:xfrm>
              <a:prstGeom prst="rect">
                <a:avLst/>
              </a:prstGeom>
              <a:noFill/>
              <a:ln w="12700">
                <a:solidFill>
                  <a:schemeClr val="bg1">
                    <a:lumMod val="50000"/>
                  </a:schemeClr>
                </a:solidFill>
                <a:prstDash val="sys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总体的分布函数为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总体的密度函数为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7490EBD-E007-293F-9338-D151BB9FE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7727" y="3994775"/>
                <a:ext cx="2034072" cy="588366"/>
              </a:xfrm>
              <a:prstGeom prst="rect">
                <a:avLst/>
              </a:prstGeom>
              <a:blipFill>
                <a:blip r:embed="rId9"/>
                <a:stretch>
                  <a:fillRect t="-1010" b="-7071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D568A2B-C4DC-497C-F920-B2D9FC512658}"/>
                  </a:ext>
                </a:extLst>
              </p:cNvPr>
              <p:cNvSpPr txBox="1"/>
              <p:nvPr/>
            </p:nvSpPr>
            <p:spPr>
              <a:xfrm>
                <a:off x="576364" y="4872749"/>
                <a:ext cx="11379260" cy="623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请注意，样本中的各个分量彼此是独立的，但次序统计量中的各个分量却受到“样本观测值大小关系”这一制约，因而不再独立。</a:t>
                </a:r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最小次序统计量 的 概率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d>
                          <m:d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e>
                        </m:d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，意为 当此分量成为第一分量时，它在样本观测值中 所对应的观测值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的概率。（最大同理）</a:t>
                </a: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D568A2B-C4DC-497C-F920-B2D9FC512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4872749"/>
                <a:ext cx="11379260" cy="623632"/>
              </a:xfrm>
              <a:prstGeom prst="rect">
                <a:avLst/>
              </a:prstGeom>
              <a:blipFill>
                <a:blip r:embed="rId10"/>
                <a:stretch>
                  <a:fillRect l="-161" t="-971" b="-48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3532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14" grpId="0"/>
      <p:bldP spid="37" grpId="0"/>
      <p:bldP spid="38" grpId="0"/>
      <p:bldP spid="39" grpId="0" animBg="1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7533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实际问题中，总体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的分布常常是未知的。倘若我们能得到 样本的 一组观测值，便可以估算此时总体的分布函数。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基本思想是，倘若样本容量为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且其中有</a:t>
                </a:r>
                <a14:m>
                  <m:oMath xmlns:m="http://schemas.openxmlformats.org/officeDocument/2006/math">
                    <m:r>
                      <a:rPr lang="en-US" altLang="zh-CN" sz="14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个值不超过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，我们可以大致认为，总体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取值不超过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的概率为</a:t>
                </a:r>
                <a14:m>
                  <m:oMath xmlns:m="http://schemas.openxmlformats.org/officeDocument/2006/math">
                    <m:r>
                      <a:rPr lang="en-US" altLang="zh-CN" sz="14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/</m:t>
                    </m:r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753348"/>
              </a:xfrm>
              <a:prstGeom prst="rect">
                <a:avLst/>
              </a:prstGeom>
              <a:blipFill>
                <a:blip r:embed="rId3"/>
                <a:stretch>
                  <a:fillRect l="-274"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: 圆角 2">
            <a:extLst>
              <a:ext uri="{FF2B5EF4-FFF2-40B4-BE49-F238E27FC236}">
                <a16:creationId xmlns:a16="http://schemas.microsoft.com/office/drawing/2014/main" id="{F4A51787-FBAE-AD98-6351-0A4B19E50036}"/>
              </a:ext>
            </a:extLst>
          </p:cNvPr>
          <p:cNvSpPr/>
          <p:nvPr/>
        </p:nvSpPr>
        <p:spPr>
          <a:xfrm>
            <a:off x="576364" y="2467656"/>
            <a:ext cx="1799832" cy="96134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经验分布函数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BC1CDDF-0054-E010-3A3F-7828598124A9}"/>
              </a:ext>
            </a:extLst>
          </p:cNvPr>
          <p:cNvSpPr txBox="1"/>
          <p:nvPr/>
        </p:nvSpPr>
        <p:spPr>
          <a:xfrm>
            <a:off x="4509913" y="775742"/>
            <a:ext cx="1508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经验分布函数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FB85BA4-B41E-0128-9F7A-7C5BD9BD270E}"/>
              </a:ext>
            </a:extLst>
          </p:cNvPr>
          <p:cNvSpPr txBox="1"/>
          <p:nvPr/>
        </p:nvSpPr>
        <p:spPr>
          <a:xfrm>
            <a:off x="507460" y="496110"/>
            <a:ext cx="4002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数理统计的基本概念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D23AD31-AC77-8C52-441C-7FF2CD5F41C4}"/>
                  </a:ext>
                </a:extLst>
              </p:cNvPr>
              <p:cNvSpPr txBox="1"/>
              <p:nvPr/>
            </p:nvSpPr>
            <p:spPr>
              <a:xfrm>
                <a:off x="2508686" y="2467656"/>
                <a:ext cx="9106950" cy="1297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1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)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)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)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为原来样本的一个 次序统计量，对应观测值为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(1)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(2)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)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则总体的经验分布函数为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0     ,  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                  </m:t>
                            </m:r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/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𝑘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≤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𝑘</m:t>
                                    </m:r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+1</m:t>
                                    </m:r>
                                  </m:e>
                                </m:d>
                              </m:sub>
                            </m:sSub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1     ,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                   </m:t>
                            </m:r>
                          </m:e>
                        </m:eqAr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=1,2,…,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−1)</m:t>
                    </m:r>
                  </m:oMath>
                </a14:m>
                <a:endParaRPr lang="zh-CN" altLang="en-US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D23AD31-AC77-8C52-441C-7FF2CD5F4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686" y="2467656"/>
                <a:ext cx="9106950" cy="1297728"/>
              </a:xfrm>
              <a:prstGeom prst="rect">
                <a:avLst/>
              </a:prstGeom>
              <a:blipFill>
                <a:blip r:embed="rId4"/>
                <a:stretch>
                  <a:fillRect l="-402" t="-23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E68726B-0E86-BFAE-8AEB-E060F8F926D2}"/>
                  </a:ext>
                </a:extLst>
              </p:cNvPr>
              <p:cNvSpPr txBox="1"/>
              <p:nvPr/>
            </p:nvSpPr>
            <p:spPr>
              <a:xfrm>
                <a:off x="576364" y="3896145"/>
                <a:ext cx="11379260" cy="5883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经验分布函数 形式上是一个 离散型随机变量的分布函数，是分段阶跃式的。它下标上的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表示它来自容量为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的样本的观测值。</a:t>
                </a:r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格里文科定理：当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趋于无穷时，经验分布函数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几乎处处收敛于 总体的分布函数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E68726B-0E86-BFAE-8AEB-E060F8F92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3896145"/>
                <a:ext cx="11379260" cy="588366"/>
              </a:xfrm>
              <a:prstGeom prst="rect">
                <a:avLst/>
              </a:prstGeom>
              <a:blipFill>
                <a:blip r:embed="rId5"/>
                <a:stretch>
                  <a:fillRect l="-161" t="-3093" b="-82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889709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77316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的一个样本。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(1)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𝐵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(1,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  (2)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Exp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𝜆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           (3)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设观测到总体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的一个样本值为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(4.3,  1.1,  1.4,  3.1,  7.7,  1.4,  3.1)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的经验分布函数。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77316" cy="714683"/>
              </a:xfrm>
              <a:prstGeom prst="rect">
                <a:avLst/>
              </a:prstGeom>
              <a:blipFill>
                <a:blip r:embed="rId3"/>
                <a:stretch>
                  <a:fillRect l="-273" r="-109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2259714"/>
                <a:ext cx="11108176" cy="2809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(1)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由统计量的性质，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(1−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(2)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由统计量的性质，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𝜆</m:t>
                        </m:r>
                      </m:den>
                    </m:f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den>
                    </m:f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(3)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其次序统计量的观测值为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(1.1,  1.4,  1.4,  3.1,  3.1,  4.3,  7.7)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故经验分布函数为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7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0,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&lt;1.1      </m:t>
                            </m:r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1/7,1.1≤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&lt;1.4</m:t>
                            </m:r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3/7,1.4≤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&lt;3.1</m:t>
                            </m:r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5/7,3.1≤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&lt;4.3</m:t>
                            </m:r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6/7,4.3≤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&lt;7.7</m:t>
                            </m:r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1,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≥7.7      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259714"/>
                <a:ext cx="11108176" cy="2809487"/>
              </a:xfrm>
              <a:prstGeom prst="rect">
                <a:avLst/>
              </a:prstGeom>
              <a:blipFill>
                <a:blip r:embed="rId4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41AEF7D1-F4A2-8879-AB92-79AF2B2F7910}"/>
              </a:ext>
            </a:extLst>
          </p:cNvPr>
          <p:cNvSpPr txBox="1"/>
          <p:nvPr/>
        </p:nvSpPr>
        <p:spPr>
          <a:xfrm>
            <a:off x="4509913" y="775742"/>
            <a:ext cx="1508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统计量的求解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552F4F-A722-59B2-67AB-9DE9B8E78863}"/>
              </a:ext>
            </a:extLst>
          </p:cNvPr>
          <p:cNvSpPr txBox="1"/>
          <p:nvPr/>
        </p:nvSpPr>
        <p:spPr>
          <a:xfrm>
            <a:off x="507460" y="496110"/>
            <a:ext cx="4002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数理统计的基本概念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4209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77316" cy="441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的一个样本，总体服从参数为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4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的指数分布，则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依概率收敛于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____.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77316" cy="441275"/>
              </a:xfrm>
              <a:prstGeom prst="rect">
                <a:avLst/>
              </a:prstGeom>
              <a:blipFill>
                <a:blip r:embed="rId3"/>
                <a:stretch>
                  <a:fillRect l="-273" t="-72222" b="-120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1925196"/>
                <a:ext cx="11108176" cy="686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为样本的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阶原点矩，故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依概率收敛于总体的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阶原点矩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又总体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Exp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(4)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4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𝐸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925196"/>
                <a:ext cx="11108176" cy="686213"/>
              </a:xfrm>
              <a:prstGeom prst="rect">
                <a:avLst/>
              </a:prstGeom>
              <a:blipFill>
                <a:blip r:embed="rId4"/>
                <a:stretch>
                  <a:fillRect l="-274" t="-4464" b="-1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41AEF7D1-F4A2-8879-AB92-79AF2B2F7910}"/>
              </a:ext>
            </a:extLst>
          </p:cNvPr>
          <p:cNvSpPr txBox="1"/>
          <p:nvPr/>
        </p:nvSpPr>
        <p:spPr>
          <a:xfrm>
            <a:off x="4509913" y="775742"/>
            <a:ext cx="1508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统计量的求解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552F4F-A722-59B2-67AB-9DE9B8E78863}"/>
              </a:ext>
            </a:extLst>
          </p:cNvPr>
          <p:cNvSpPr txBox="1"/>
          <p:nvPr/>
        </p:nvSpPr>
        <p:spPr>
          <a:xfrm>
            <a:off x="507460" y="496110"/>
            <a:ext cx="4002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数理统计的基本概念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CB0309C-520E-3844-F82D-8D9ACB950C46}"/>
              </a:ext>
            </a:extLst>
          </p:cNvPr>
          <p:cNvCxnSpPr>
            <a:cxnSpLocks/>
          </p:cNvCxnSpPr>
          <p:nvPr/>
        </p:nvCxnSpPr>
        <p:spPr>
          <a:xfrm>
            <a:off x="511212" y="2748680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F9E8275-0D8D-B1EC-6CAA-79D07057F425}"/>
                  </a:ext>
                </a:extLst>
              </p:cNvPr>
              <p:cNvSpPr txBox="1"/>
              <p:nvPr/>
            </p:nvSpPr>
            <p:spPr>
              <a:xfrm>
                <a:off x="507460" y="2931998"/>
                <a:ext cx="11108176" cy="3622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1.3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服从参数为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𝜆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的指数分布，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的一个样本，试求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e>
                        </m:d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的分布。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F9E8275-0D8D-B1EC-6CAA-79D07057F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931998"/>
                <a:ext cx="11108176" cy="362279"/>
              </a:xfrm>
              <a:prstGeom prst="rect">
                <a:avLst/>
              </a:prstGeom>
              <a:blipFill>
                <a:blip r:embed="rId5"/>
                <a:stretch>
                  <a:fillRect l="-274" t="-1695" b="-186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44D9122-EC9F-7E43-2F3D-6273F13AF972}"/>
                  </a:ext>
                </a:extLst>
              </p:cNvPr>
              <p:cNvSpPr txBox="1"/>
              <p:nvPr/>
            </p:nvSpPr>
            <p:spPr>
              <a:xfrm>
                <a:off x="507460" y="3382954"/>
                <a:ext cx="11108176" cy="1187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解：因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𝐸𝑥𝑝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𝜆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𝜆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𝜆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&gt;0)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=1−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𝜆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&gt;0)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e>
                            </m:d>
                          </m:sub>
                        </m:sSub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)=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d>
                              <m:d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−1</m:t>
                            </m:r>
                          </m:e>
                        </m:d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𝜆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sup>
                    </m:sSup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𝜆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𝜆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𝑛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𝜆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𝜆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.</m:t>
                    </m:r>
                  </m:oMath>
                </a14:m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(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)</m:t>
                            </m:r>
                          </m:sub>
                        </m:sSub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d>
                              <m:d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𝜆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−1</m:t>
                        </m:r>
                      </m:sup>
                    </m:sSup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𝜆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𝜆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44D9122-EC9F-7E43-2F3D-6273F13AF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382954"/>
                <a:ext cx="11108176" cy="1187889"/>
              </a:xfrm>
              <a:prstGeom prst="rect">
                <a:avLst/>
              </a:prstGeom>
              <a:blipFill>
                <a:blip r:embed="rId6"/>
                <a:stretch>
                  <a:fillRect l="-274" t="-1538" b="-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D2F8C96-65FB-5041-A32A-7EFB3CFD3B18}"/>
              </a:ext>
            </a:extLst>
          </p:cNvPr>
          <p:cNvCxnSpPr>
            <a:cxnSpLocks/>
          </p:cNvCxnSpPr>
          <p:nvPr/>
        </p:nvCxnSpPr>
        <p:spPr>
          <a:xfrm>
            <a:off x="511212" y="4727708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0559B21-9E1A-FFB4-61BC-A249B87D13B8}"/>
                  </a:ext>
                </a:extLst>
              </p:cNvPr>
              <p:cNvSpPr txBox="1"/>
              <p:nvPr/>
            </p:nvSpPr>
            <p:spPr>
              <a:xfrm>
                <a:off x="507460" y="4900550"/>
                <a:ext cx="11108176" cy="3622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1.4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服从区间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[0,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]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上的均匀分布，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的一个样本，求其最大次序统计量的期望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)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0559B21-9E1A-FFB4-61BC-A249B87D1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4900550"/>
                <a:ext cx="11108176" cy="362279"/>
              </a:xfrm>
              <a:prstGeom prst="rect">
                <a:avLst/>
              </a:prstGeom>
              <a:blipFill>
                <a:blip r:embed="rId7"/>
                <a:stretch>
                  <a:fillRect l="-274" t="-1695" b="-186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1D574B-4BBB-F3B2-F525-7235E97AE710}"/>
                  </a:ext>
                </a:extLst>
              </p:cNvPr>
              <p:cNvSpPr txBox="1"/>
              <p:nvPr/>
            </p:nvSpPr>
            <p:spPr>
              <a:xfrm>
                <a:off x="507460" y="5320610"/>
                <a:ext cx="11108176" cy="859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𝜃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(0≤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num>
                      <m:den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𝜃</m:t>
                        </m:r>
                      </m:den>
                    </m:f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(0≤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𝜃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(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)</m:t>
                            </m:r>
                          </m:sub>
                        </m:sSub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d>
                              <m:d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𝑛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.</m:t>
                    </m:r>
                  </m:oMath>
                </a14:m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)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</m:t>
                        </m:r>
                      </m:sub>
                      <m:sup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𝜃</m:t>
                        </m:r>
                      </m:sup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−1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+1</m:t>
                        </m:r>
                      </m:den>
                    </m:f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𝜃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1D574B-4BBB-F3B2-F525-7235E97AE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5320610"/>
                <a:ext cx="11108176" cy="859081"/>
              </a:xfrm>
              <a:prstGeom prst="rect">
                <a:avLst/>
              </a:prstGeom>
              <a:blipFill>
                <a:blip r:embed="rId8"/>
                <a:stretch>
                  <a:fillRect l="-274" t="-1418" b="-780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89006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 build="p"/>
      <p:bldP spid="6" grpId="0"/>
      <p:bldP spid="3" grpId="0" uiExpand="1" build="p"/>
      <p:bldP spid="9" grpId="0"/>
      <p:bldP spid="10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1" y="496110"/>
            <a:ext cx="3175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常用统计分布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由于实际应用的需要，除了刚才我们提到的统计量以外，人们又 构造了 以下三种 常用的统计量，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分别称为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变量，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𝑡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变量 与 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𝐹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变量。 </a:t>
                </a:r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至于它们的具体用途，我们将在后面两章介绍。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800219"/>
              </a:xfrm>
              <a:prstGeom prst="rect">
                <a:avLst/>
              </a:prstGeom>
              <a:blipFill>
                <a:blip r:embed="rId3"/>
                <a:stretch>
                  <a:fillRect l="-274" b="-9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FCFE9ED-E2C0-E136-C16A-73B705043080}"/>
                  </a:ext>
                </a:extLst>
              </p:cNvPr>
              <p:cNvSpPr txBox="1"/>
              <p:nvPr/>
            </p:nvSpPr>
            <p:spPr>
              <a:xfrm>
                <a:off x="3794449" y="775742"/>
                <a:ext cx="85829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p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分布</a:t>
                </a:r>
                <a:endParaRPr lang="en-US" altLang="zh-CN" sz="1600" dirty="0"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FCFE9ED-E2C0-E136-C16A-73B705043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449" y="775742"/>
                <a:ext cx="858299" cy="338554"/>
              </a:xfrm>
              <a:prstGeom prst="rect">
                <a:avLst/>
              </a:prstGeom>
              <a:blipFill>
                <a:blip r:embed="rId4"/>
                <a:stretch>
                  <a:fillRect t="-5357" r="-4255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A2F7E27B-ABA7-3BE5-F9FA-5AD7F292858F}"/>
                  </a:ext>
                </a:extLst>
              </p:cNvPr>
              <p:cNvSpPr/>
              <p:nvPr/>
            </p:nvSpPr>
            <p:spPr>
              <a:xfrm>
                <a:off x="576364" y="2514527"/>
                <a:ext cx="1364403" cy="682687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分布</a:t>
                </a:r>
                <a:endParaRPr lang="zh-CN" altLang="en-US" dirty="0">
                  <a:solidFill>
                    <a:schemeClr val="tx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A2F7E27B-ABA7-3BE5-F9FA-5AD7F29285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2514527"/>
                <a:ext cx="1364403" cy="68268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099AE84-992A-43E3-75B7-51F70FCA872B}"/>
                  </a:ext>
                </a:extLst>
              </p:cNvPr>
              <p:cNvSpPr txBox="1"/>
              <p:nvPr/>
            </p:nvSpPr>
            <p:spPr>
              <a:xfrm>
                <a:off x="2094972" y="2514527"/>
                <a:ext cx="9127473" cy="682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若样本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来自 </a:t>
                </a:r>
                <a:r>
                  <a:rPr lang="zh-CN" altLang="en-US" sz="1600" b="1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标准正态总体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称 随机变量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SupPr>
                      <m:e>
                        <m:r>
                          <a:rPr lang="zh-CN" altLang="en-US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𝝌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𝒏</m:t>
                        </m:r>
                      </m:sub>
                      <m:sup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𝟐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+…+</m:t>
                    </m:r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服从 自由度为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pPr>
                      <m:e>
                        <m:r>
                          <a:rPr lang="zh-CN" altLang="en-US" sz="16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𝝌</m:t>
                        </m:r>
                      </m:e>
                      <m:sup>
                        <m:r>
                          <a:rPr lang="en-US" altLang="zh-CN" sz="16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1600" b="1" dirty="0">
                    <a:solidFill>
                      <a:srgbClr val="FFC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分布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记作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SupPr>
                      <m:e>
                        <m:r>
                          <a:rPr lang="zh-CN" altLang="en-US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𝜒</m:t>
                        </m:r>
                      </m:e>
                      <m:sub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p>
                    </m:sSubSup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~</m:t>
                    </m:r>
                    <m:sSup>
                      <m:sSup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pPr>
                      <m:e>
                        <m:r>
                          <a:rPr lang="zh-CN" altLang="en-US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(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𝑛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099AE84-992A-43E3-75B7-51F70FCA8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972" y="2514527"/>
                <a:ext cx="9127473" cy="682687"/>
              </a:xfrm>
              <a:prstGeom prst="rect">
                <a:avLst/>
              </a:prstGeom>
              <a:blipFill>
                <a:blip r:embed="rId6"/>
                <a:stretch>
                  <a:fillRect l="-401" t="-3571" b="-84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AB1E187-55C3-A5AE-E323-4F52960DA726}"/>
              </a:ext>
            </a:extLst>
          </p:cNvPr>
          <p:cNvCxnSpPr>
            <a:cxnSpLocks/>
          </p:cNvCxnSpPr>
          <p:nvPr/>
        </p:nvCxnSpPr>
        <p:spPr>
          <a:xfrm>
            <a:off x="828483" y="3133953"/>
            <a:ext cx="0" cy="1482202"/>
          </a:xfrm>
          <a:prstGeom prst="line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991B038-7E06-D9F5-D023-95193F6FE80C}"/>
              </a:ext>
            </a:extLst>
          </p:cNvPr>
          <p:cNvGrpSpPr/>
          <p:nvPr/>
        </p:nvGrpSpPr>
        <p:grpSpPr>
          <a:xfrm>
            <a:off x="783038" y="3381228"/>
            <a:ext cx="10832598" cy="454996"/>
            <a:chOff x="783038" y="3954807"/>
            <a:chExt cx="10832598" cy="454996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37C47FB5-59FC-D9C1-4D8F-721A73982368}"/>
                </a:ext>
              </a:extLst>
            </p:cNvPr>
            <p:cNvGrpSpPr/>
            <p:nvPr/>
          </p:nvGrpSpPr>
          <p:grpSpPr>
            <a:xfrm>
              <a:off x="783038" y="4136861"/>
              <a:ext cx="590428" cy="90889"/>
              <a:chOff x="783038" y="4168883"/>
              <a:chExt cx="590428" cy="90889"/>
            </a:xfrm>
          </p:grpSpPr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32969E14-051B-6B83-C844-2FA4A818D4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4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B982DB39-CC0B-A69B-D303-91E8B29E14BB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15D8EE7-F5F8-0678-ED4D-2CCFA4501278}"/>
                    </a:ext>
                  </a:extLst>
                </p:cNvPr>
                <p:cNvSpPr txBox="1"/>
                <p:nvPr/>
              </p:nvSpPr>
              <p:spPr>
                <a:xfrm>
                  <a:off x="1418911" y="3954807"/>
                  <a:ext cx="10196725" cy="4549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样本来自非标准正态总体时</a:t>
                  </a:r>
                  <a14:m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400" b="0" i="1" dirty="0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4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时，化为标准正态总体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4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d>
                        <m:d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400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后平方和满足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pPr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分布，即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𝑖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方正清刻本悦宋简体" panose="02000000000000000000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  <a:ea typeface="方正清刻本悦宋简体" panose="02000000000000000000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  <a:ea typeface="方正清刻本悦宋简体" panose="02000000000000000000" pitchFamily="2" charset="-122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  <a:ea typeface="方正清刻本悦宋简体" panose="02000000000000000000" pitchFamily="2" charset="-122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方正清刻本悦宋简体" panose="02000000000000000000" pitchFamily="2" charset="-122"/>
                                    </a:rPr>
                                    <m:t>−</m:t>
                                  </m:r>
                                  <m:r>
                                    <a:rPr lang="zh-CN" altLang="en-US" sz="1400" b="0" i="1" smtClean="0">
                                      <a:latin typeface="Cambria Math" panose="02040503050406030204" pitchFamily="18" charset="0"/>
                                      <a:ea typeface="方正清刻本悦宋简体" panose="02000000000000000000" pitchFamily="2" charset="-122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~</m:t>
                      </m:r>
                      <m:sSup>
                        <m:sSupPr>
                          <m:ctrlPr>
                            <a:rPr lang="en-US" altLang="zh-CN" sz="14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pPr>
                        <m:e>
                          <m:r>
                            <a:rPr lang="zh-CN" altLang="en-US" sz="14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𝝌</m:t>
                          </m:r>
                        </m:e>
                        <m:sup>
                          <m:r>
                            <a:rPr lang="en-US" altLang="zh-CN" sz="14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sz="1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(</m:t>
                      </m:r>
                      <m:r>
                        <a:rPr lang="en-US" altLang="zh-CN" sz="1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𝒏</m:t>
                      </m:r>
                      <m:r>
                        <a:rPr lang="en-US" altLang="zh-CN" sz="1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)</m:t>
                      </m:r>
                    </m:oMath>
                  </a14:m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15D8EE7-F5F8-0678-ED4D-2CCFA45012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911" y="3954807"/>
                  <a:ext cx="10196725" cy="454996"/>
                </a:xfrm>
                <a:prstGeom prst="rect">
                  <a:avLst/>
                </a:prstGeom>
                <a:blipFill>
                  <a:blip r:embed="rId7"/>
                  <a:stretch>
                    <a:fillRect l="-179" t="-47297" r="-1017" b="-10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4A1FD7F-C3B5-9789-A6EC-D405BA089A42}"/>
              </a:ext>
            </a:extLst>
          </p:cNvPr>
          <p:cNvGrpSpPr/>
          <p:nvPr/>
        </p:nvGrpSpPr>
        <p:grpSpPr>
          <a:xfrm>
            <a:off x="783038" y="3881669"/>
            <a:ext cx="10832598" cy="332527"/>
            <a:chOff x="783038" y="3954807"/>
            <a:chExt cx="10832598" cy="332527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C93CFCA3-6954-AB0D-9D1A-AE17293C4F3D}"/>
                </a:ext>
              </a:extLst>
            </p:cNvPr>
            <p:cNvGrpSpPr/>
            <p:nvPr/>
          </p:nvGrpSpPr>
          <p:grpSpPr>
            <a:xfrm>
              <a:off x="783038" y="4136861"/>
              <a:ext cx="590428" cy="90889"/>
              <a:chOff x="783038" y="4168883"/>
              <a:chExt cx="590428" cy="90889"/>
            </a:xfrm>
          </p:grpSpPr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D2168B74-B939-EE8D-924E-29B6373638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4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1488A9A6-1F14-EDC8-0D45-1E1AD2116FE7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ED116161-2CCF-A3DE-79FB-C22A40BBD219}"/>
                    </a:ext>
                  </a:extLst>
                </p:cNvPr>
                <p:cNvSpPr txBox="1"/>
                <p:nvPr/>
              </p:nvSpPr>
              <p:spPr>
                <a:xfrm>
                  <a:off x="1418911" y="3954807"/>
                  <a:ext cx="10196725" cy="3325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注意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pPr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分布的形式是“</a:t>
                  </a:r>
                  <a:r>
                    <a:rPr lang="zh-CN" altLang="en-US" sz="14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平方和</a:t>
                  </a: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”，而非“和的平方”。例如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，它服从</a:t>
                  </a:r>
                  <a:r>
                    <a:rPr lang="zh-CN" altLang="en-US" sz="14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自由度为</a:t>
                  </a:r>
                  <a:r>
                    <a:rPr lang="en-US" altLang="zh-CN" sz="14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2</a:t>
                  </a: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的卡方分布，总体视作</a:t>
                  </a:r>
                  <a14:m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</m:oMath>
                  </a14:m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ED116161-2CCF-A3DE-79FB-C22A40BBD2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911" y="3954807"/>
                  <a:ext cx="10196725" cy="332527"/>
                </a:xfrm>
                <a:prstGeom prst="rect">
                  <a:avLst/>
                </a:prstGeom>
                <a:blipFill>
                  <a:blip r:embed="rId8"/>
                  <a:stretch>
                    <a:fillRect l="-179" r="-1077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A82A77C6-71B9-A16F-83E9-60BFB8760AF9}"/>
              </a:ext>
            </a:extLst>
          </p:cNvPr>
          <p:cNvGrpSpPr/>
          <p:nvPr/>
        </p:nvGrpSpPr>
        <p:grpSpPr>
          <a:xfrm>
            <a:off x="783038" y="4385363"/>
            <a:ext cx="10832598" cy="877228"/>
            <a:chOff x="783038" y="4002579"/>
            <a:chExt cx="10832598" cy="877228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1647C6B8-1036-61FF-295B-18263DF692B2}"/>
                </a:ext>
              </a:extLst>
            </p:cNvPr>
            <p:cNvGrpSpPr/>
            <p:nvPr/>
          </p:nvGrpSpPr>
          <p:grpSpPr>
            <a:xfrm>
              <a:off x="783038" y="4136861"/>
              <a:ext cx="590428" cy="90889"/>
              <a:chOff x="783038" y="4168883"/>
              <a:chExt cx="590428" cy="90889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13A7D1EC-9F06-B3F4-7FEA-3DE564DFFA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4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1A18563C-BD2B-697A-55D7-03E2B24F4849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3BAB7AA4-5A81-8C2C-F01F-1AE424A70F73}"/>
                    </a:ext>
                  </a:extLst>
                </p:cNvPr>
                <p:cNvSpPr txBox="1"/>
                <p:nvPr/>
              </p:nvSpPr>
              <p:spPr>
                <a:xfrm>
                  <a:off x="1418911" y="4002579"/>
                  <a:ext cx="10196725" cy="8772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pPr>
                        <m:e>
                          <m:r>
                            <a:rPr lang="zh-CN" altLang="en-US" sz="1400" b="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1400" b="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zh-CN" altLang="en-US" sz="14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分布</a:t>
                  </a:r>
                  <a:r>
                    <a:rPr lang="zh-CN" altLang="en-US" sz="14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  <a:cs typeface="汉仪文黑-85W" panose="00020600040101010101" pitchFamily="18" charset="-128"/>
                    </a:rPr>
                    <a:t>的性质</a:t>
                  </a:r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：</a:t>
                  </a:r>
                  <a:endParaRPr lang="en-US" altLang="zh-CN" sz="14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pPr>
                    <a:lnSpc>
                      <a:spcPct val="125000"/>
                    </a:lnSpc>
                  </a:pP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1</a:t>
                  </a: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）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</m:ctrlPr>
                            </m:sSubSupPr>
                            <m:e>
                              <m:r>
                                <a:rPr lang="zh-CN" altLang="en-US" sz="1400" b="0" i="1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sz="1400" b="0" i="1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1400" b="0" i="1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=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𝑛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,  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</m:ctrlPr>
                            </m:sSubSupPr>
                            <m:e>
                              <m:r>
                                <a:rPr lang="zh-CN" altLang="en-US" sz="1400" b="0" i="1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sz="1400" b="0" i="1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1400" b="0" i="1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zh-CN" sz="1400" b="0" i="1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=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2</m:t>
                      </m:r>
                      <m:r>
                        <a:rPr lang="en-US" altLang="zh-CN" sz="1400" b="0" i="1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𝑛</m:t>
                      </m:r>
                    </m:oMath>
                  </a14:m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.	</a:t>
                  </a: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2</a:t>
                  </a: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）两相互独立的服从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pPr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分布的随机变量，其和仍服从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pPr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分布，自由度为它们的和。</a:t>
                  </a:r>
                  <a:endPara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>
                    <a:lnSpc>
                      <a:spcPct val="125000"/>
                    </a:lnSpc>
                  </a:pP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</a:t>
                  </a: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）</a:t>
                  </a:r>
                  <a:r>
                    <a:rPr lang="en-US" altLang="zh-CN" sz="1400" dirty="0">
                      <a:ea typeface="方正清刻本悦宋简体" panose="02000000000000000000" pitchFamily="2" charset="-122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pPr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~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𝐴𝑁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𝑛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,2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𝑛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)</m:t>
                      </m:r>
                    </m:oMath>
                  </a14:m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3BAB7AA4-5A81-8C2C-F01F-1AE424A70F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911" y="4002579"/>
                  <a:ext cx="10196725" cy="877228"/>
                </a:xfrm>
                <a:prstGeom prst="rect">
                  <a:avLst/>
                </a:prstGeom>
                <a:blipFill>
                  <a:blip r:embed="rId9"/>
                  <a:stretch>
                    <a:fillRect l="-179" b="-48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284100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441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2.1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0,1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的一个样本，则统计量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𝑚</m:t>
                        </m:r>
                      </m:den>
                    </m:f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𝑖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𝑚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𝑚</m:t>
                        </m:r>
                      </m:den>
                    </m:f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𝑖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=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𝑚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服从的分布为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______.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441275"/>
              </a:xfrm>
              <a:prstGeom prst="rect">
                <a:avLst/>
              </a:prstGeom>
              <a:blipFill>
                <a:blip r:embed="rId3"/>
                <a:stretch>
                  <a:fillRect l="-274" t="-72222" b="-120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1986306"/>
                <a:ext cx="11108176" cy="8234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解：随机变量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(0,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𝑚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(0,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𝑚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𝑚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~(0,1)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𝑚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~(0,1)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𝑚</m:t>
                                    </m:r>
                                  </m:e>
                                </m:rad>
                              </m:den>
                            </m:f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−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𝑚</m:t>
                                    </m:r>
                                  </m:e>
                                </m:rad>
                              </m:den>
                            </m:f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符合“标准正态分布的平方和”的形式，故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(2)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986306"/>
                <a:ext cx="11108176" cy="823431"/>
              </a:xfrm>
              <a:prstGeom prst="rect">
                <a:avLst/>
              </a:prstGeom>
              <a:blipFill>
                <a:blip r:embed="rId4"/>
                <a:stretch>
                  <a:fillRect l="-274" t="-44444" b="-1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F354AE80-E809-A886-408A-B71954E68FE5}"/>
              </a:ext>
            </a:extLst>
          </p:cNvPr>
          <p:cNvSpPr txBox="1"/>
          <p:nvPr/>
        </p:nvSpPr>
        <p:spPr>
          <a:xfrm>
            <a:off x="507461" y="496110"/>
            <a:ext cx="3175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常用统计分布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619248E-A024-2F04-A086-836F0A0540E9}"/>
                  </a:ext>
                </a:extLst>
              </p:cNvPr>
              <p:cNvSpPr txBox="1"/>
              <p:nvPr/>
            </p:nvSpPr>
            <p:spPr>
              <a:xfrm>
                <a:off x="3794449" y="775742"/>
                <a:ext cx="178967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p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分布的求解</a:t>
                </a:r>
                <a:endParaRPr lang="en-US" altLang="zh-CN" sz="1600" dirty="0"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619248E-A024-2F04-A086-836F0A054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449" y="775742"/>
                <a:ext cx="1789673" cy="338554"/>
              </a:xfrm>
              <a:prstGeom prst="rect">
                <a:avLst/>
              </a:prstGeom>
              <a:blipFill>
                <a:blip r:embed="rId5"/>
                <a:stretch>
                  <a:fillRect t="-5357" r="-2041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110DD7-47AC-B1E9-0C6D-518091566192}"/>
              </a:ext>
            </a:extLst>
          </p:cNvPr>
          <p:cNvCxnSpPr>
            <a:cxnSpLocks/>
          </p:cNvCxnSpPr>
          <p:nvPr/>
        </p:nvCxnSpPr>
        <p:spPr>
          <a:xfrm>
            <a:off x="580118" y="3103915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E22989E-3591-22A9-D6AB-A2C3D13C887C}"/>
                  </a:ext>
                </a:extLst>
              </p:cNvPr>
              <p:cNvSpPr txBox="1"/>
              <p:nvPr/>
            </p:nvSpPr>
            <p:spPr>
              <a:xfrm>
                <a:off x="507460" y="3398094"/>
                <a:ext cx="11108176" cy="418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2.2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7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0,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的一个样本，求常数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𝑎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𝑏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使统计量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𝑎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𝑖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4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𝑏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𝑖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=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5</m:t>
                                </m:r>
                              </m:sub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7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服从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分布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E22989E-3591-22A9-D6AB-A2C3D13C8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398094"/>
                <a:ext cx="11108176" cy="418897"/>
              </a:xfrm>
              <a:prstGeom prst="rect">
                <a:avLst/>
              </a:prstGeom>
              <a:blipFill>
                <a:blip r:embed="rId6"/>
                <a:stretch>
                  <a:fillRect l="-274" t="-72464" b="-1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36EE08C-9F60-C7BB-1C31-F50963D7C43C}"/>
                  </a:ext>
                </a:extLst>
              </p:cNvPr>
              <p:cNvSpPr txBox="1"/>
              <p:nvPr/>
            </p:nvSpPr>
            <p:spPr>
              <a:xfrm>
                <a:off x="507460" y="4053200"/>
                <a:ext cx="11108176" cy="1125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解：随机变量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4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(0,4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5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7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(0,3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4</m:t>
                            </m:r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~(0,1)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~(0,1)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𝜎</m:t>
                                    </m:r>
                                  </m:e>
                                </m:rad>
                              </m:den>
                            </m:f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𝜎</m:t>
                                    </m:r>
                                  </m:e>
                                </m:rad>
                              </m:den>
                            </m:f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(2)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4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𝑖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4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3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𝑖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=5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7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(2)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𝑎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4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𝑏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3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36EE08C-9F60-C7BB-1C31-F50963D7C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4053200"/>
                <a:ext cx="11108176" cy="1125436"/>
              </a:xfrm>
              <a:prstGeom prst="rect">
                <a:avLst/>
              </a:prstGeom>
              <a:blipFill>
                <a:blip r:embed="rId7"/>
                <a:stretch>
                  <a:fillRect l="-274" t="-318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72509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 build="p"/>
      <p:bldP spid="5" grpId="0"/>
      <p:bldP spid="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1" y="496110"/>
            <a:ext cx="3175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常用统计分布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由于实际应用的需要，除了刚才我们提到的统计量以外，人们又 构造了 以下三种 常用的统计量，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分别称为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变量，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𝑡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变量 与 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𝐹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变量。 </a:t>
                </a:r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至于它们的具体用途，我们将在后面两章介绍。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800219"/>
              </a:xfrm>
              <a:prstGeom prst="rect">
                <a:avLst/>
              </a:prstGeom>
              <a:blipFill>
                <a:blip r:embed="rId3"/>
                <a:stretch>
                  <a:fillRect l="-274" b="-9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FCFE9ED-E2C0-E136-C16A-73B705043080}"/>
                  </a:ext>
                </a:extLst>
              </p:cNvPr>
              <p:cNvSpPr txBox="1"/>
              <p:nvPr/>
            </p:nvSpPr>
            <p:spPr>
              <a:xfrm>
                <a:off x="3794449" y="775742"/>
                <a:ext cx="85829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𝑡</m:t>
                    </m:r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分布</a:t>
                </a:r>
                <a:endParaRPr lang="en-US" altLang="zh-CN" sz="1600" dirty="0"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FCFE9ED-E2C0-E136-C16A-73B705043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449" y="775742"/>
                <a:ext cx="858299" cy="338554"/>
              </a:xfrm>
              <a:prstGeom prst="rect">
                <a:avLst/>
              </a:prstGeom>
              <a:blipFill>
                <a:blip r:embed="rId4"/>
                <a:stretch>
                  <a:fillRect t="-5357" r="-4255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A2F7E27B-ABA7-3BE5-F9FA-5AD7F292858F}"/>
                  </a:ext>
                </a:extLst>
              </p:cNvPr>
              <p:cNvSpPr/>
              <p:nvPr/>
            </p:nvSpPr>
            <p:spPr>
              <a:xfrm>
                <a:off x="576364" y="2514527"/>
                <a:ext cx="1364403" cy="682687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𝑡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分布</a:t>
                </a:r>
                <a:endParaRPr lang="zh-CN" altLang="en-US" dirty="0">
                  <a:solidFill>
                    <a:schemeClr val="tx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A2F7E27B-ABA7-3BE5-F9FA-5AD7F29285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2514527"/>
                <a:ext cx="1364403" cy="68268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099AE84-992A-43E3-75B7-51F70FCA872B}"/>
                  </a:ext>
                </a:extLst>
              </p:cNvPr>
              <p:cNvSpPr txBox="1"/>
              <p:nvPr/>
            </p:nvSpPr>
            <p:spPr>
              <a:xfrm>
                <a:off x="2094972" y="2514527"/>
                <a:ext cx="9127473" cy="841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若有</a:t>
                </a:r>
                <a:r>
                  <a:rPr lang="zh-CN" altLang="en-US" sz="1600" b="1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标准正态总体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，又有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pPr>
                      <m:e>
                        <m:r>
                          <a:rPr lang="zh-CN" altLang="en-US" sz="1600" b="1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𝝌</m:t>
                        </m:r>
                      </m:e>
                      <m:sup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1600" b="1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变量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，且它们相互独立，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称 随机变量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𝑻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𝑋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  <m:t>𝑌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  <m:t>/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服从 自由度为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𝒕</m:t>
                    </m:r>
                  </m:oMath>
                </a14:m>
                <a:r>
                  <a:rPr lang="zh-CN" altLang="en-US" sz="1600" b="1" dirty="0">
                    <a:solidFill>
                      <a:schemeClr val="accent2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分布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，记作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𝑇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𝑡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𝑛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。 。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099AE84-992A-43E3-75B7-51F70FCA8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972" y="2514527"/>
                <a:ext cx="9127473" cy="841321"/>
              </a:xfrm>
              <a:prstGeom prst="rect">
                <a:avLst/>
              </a:prstGeom>
              <a:blipFill>
                <a:blip r:embed="rId6"/>
                <a:stretch>
                  <a:fillRect l="-401" t="-2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AB1E187-55C3-A5AE-E323-4F52960DA726}"/>
              </a:ext>
            </a:extLst>
          </p:cNvPr>
          <p:cNvCxnSpPr>
            <a:cxnSpLocks/>
          </p:cNvCxnSpPr>
          <p:nvPr/>
        </p:nvCxnSpPr>
        <p:spPr>
          <a:xfrm>
            <a:off x="828483" y="3133953"/>
            <a:ext cx="0" cy="1641877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991B038-7E06-D9F5-D023-95193F6FE80C}"/>
              </a:ext>
            </a:extLst>
          </p:cNvPr>
          <p:cNvGrpSpPr/>
          <p:nvPr/>
        </p:nvGrpSpPr>
        <p:grpSpPr>
          <a:xfrm>
            <a:off x="783037" y="3337085"/>
            <a:ext cx="11123470" cy="716863"/>
            <a:chOff x="783038" y="3910664"/>
            <a:chExt cx="10915223" cy="716863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37C47FB5-59FC-D9C1-4D8F-721A73982368}"/>
                </a:ext>
              </a:extLst>
            </p:cNvPr>
            <p:cNvGrpSpPr/>
            <p:nvPr/>
          </p:nvGrpSpPr>
          <p:grpSpPr>
            <a:xfrm>
              <a:off x="783038" y="4136861"/>
              <a:ext cx="590428" cy="90889"/>
              <a:chOff x="783038" y="4168883"/>
              <a:chExt cx="590428" cy="90889"/>
            </a:xfrm>
          </p:grpSpPr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32969E14-051B-6B83-C844-2FA4A818D4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2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B982DB39-CC0B-A69B-D303-91E8B29E14BB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15D8EE7-F5F8-0678-ED4D-2CCFA4501278}"/>
                    </a:ext>
                  </a:extLst>
                </p:cNvPr>
                <p:cNvSpPr txBox="1"/>
                <p:nvPr/>
              </p:nvSpPr>
              <p:spPr>
                <a:xfrm>
                  <a:off x="1418910" y="3910664"/>
                  <a:ext cx="10279351" cy="7168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若</a:t>
                  </a:r>
                  <a14:m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400" b="0" i="1" dirty="0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4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</a:t>
                  </a:r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1400" b="0" i="1" dirty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400" b="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1400" b="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1" dirty="0"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pPr>
                        <m:e>
                          <m:r>
                            <a:rPr lang="zh-CN" altLang="en-US" sz="1400" b="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1400" b="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400" b="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，则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b="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400" b="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d>
                        <m:d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400" b="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400" b="0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altLang="zh-CN" sz="1400" b="0" i="1" dirty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1400" b="0" i="1" dirty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1400" b="0" i="1" dirty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a14:m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，故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fPr>
                        <m:num>
                          <m:r>
                            <a:rPr lang="en-US" altLang="zh-CN" sz="1400" b="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𝑋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−</m:t>
                          </m:r>
                          <m:r>
                            <a:rPr lang="zh-CN" altLang="en-US" sz="1400" b="0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400" b="0" i="1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𝑌</m:t>
                              </m:r>
                              <m:r>
                                <a:rPr lang="en-US" altLang="zh-CN" sz="1400" b="0" i="1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/</m:t>
                              </m:r>
                              <m:r>
                                <a:rPr lang="en-US" altLang="zh-CN" sz="1400" b="0" i="1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~</m:t>
                      </m:r>
                      <m:r>
                        <a:rPr lang="en-US" altLang="zh-CN" sz="1400" b="0" i="1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𝑡</m:t>
                      </m:r>
                      <m:r>
                        <a:rPr lang="en-US" altLang="zh-CN" sz="1400" b="0" i="1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(</m:t>
                      </m:r>
                      <m:r>
                        <a:rPr lang="en-US" altLang="zh-CN" sz="1400" b="0" i="1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𝑛</m:t>
                      </m:r>
                      <m:r>
                        <a:rPr lang="en-US" altLang="zh-CN" sz="1400" b="0" i="1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)</m:t>
                      </m:r>
                    </m:oMath>
                  </a14:m>
                  <a:r>
                    <a:rPr lang="en-US" altLang="zh-CN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.</a:t>
                  </a:r>
                </a:p>
                <a:p>
                  <a:r>
                    <a:rPr lang="en-US" altLang="zh-CN" sz="1200" dirty="0">
                      <a:solidFill>
                        <a:schemeClr val="bg1">
                          <a:lumMod val="65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* </a:t>
                  </a:r>
                  <a:r>
                    <a:rPr lang="zh-CN" altLang="en-US" sz="1200" dirty="0">
                      <a:solidFill>
                        <a:schemeClr val="bg1">
                          <a:lumMod val="65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此时随机变量</a:t>
                  </a:r>
                  <a14:m>
                    <m:oMath xmlns:m="http://schemas.openxmlformats.org/officeDocument/2006/math">
                      <m:r>
                        <a:rPr lang="en-US" altLang="zh-CN" sz="1200" b="0" i="1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a14:m>
                  <a:r>
                    <a:rPr lang="zh-CN" altLang="en-US" sz="1200" dirty="0">
                      <a:solidFill>
                        <a:schemeClr val="bg1">
                          <a:lumMod val="65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对应的样本并非来自</a:t>
                  </a:r>
                  <a14:m>
                    <m:oMath xmlns:m="http://schemas.openxmlformats.org/officeDocument/2006/math">
                      <m:r>
                        <a:rPr lang="en-US" altLang="zh-CN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1200" i="1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1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1200" i="1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1200" dirty="0">
                      <a:solidFill>
                        <a:schemeClr val="bg1">
                          <a:lumMod val="65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，而是</a:t>
                  </a:r>
                  <a14:m>
                    <m:oMath xmlns:m="http://schemas.openxmlformats.org/officeDocument/2006/math">
                      <m:r>
                        <a:rPr lang="en-US" altLang="zh-CN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(0,</m:t>
                      </m:r>
                      <m:sSup>
                        <m:sSupPr>
                          <m:ctrlPr>
                            <a:rPr lang="en-US" altLang="zh-CN" sz="1200" i="1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1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1200" i="1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1200" dirty="0">
                      <a:solidFill>
                        <a:schemeClr val="bg1">
                          <a:lumMod val="65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. </a:t>
                  </a:r>
                  <a:r>
                    <a:rPr lang="zh-CN" altLang="en-US" sz="1200" dirty="0">
                      <a:solidFill>
                        <a:schemeClr val="bg1">
                          <a:lumMod val="65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不过，只要题目已经说明它服从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pPr>
                        <m:e>
                          <m:r>
                            <a:rPr lang="zh-CN" altLang="en-US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zh-CN" altLang="en-US" sz="1200" dirty="0">
                      <a:solidFill>
                        <a:schemeClr val="bg1">
                          <a:lumMod val="65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分布，就没有必要考虑它的来源。</a:t>
                  </a:r>
                  <a:endParaRPr lang="en-US" altLang="zh-CN" sz="12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15D8EE7-F5F8-0678-ED4D-2CCFA45012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910" y="3910664"/>
                  <a:ext cx="10279351" cy="716863"/>
                </a:xfrm>
                <a:prstGeom prst="rect">
                  <a:avLst/>
                </a:prstGeom>
                <a:blipFill>
                  <a:blip r:embed="rId7"/>
                  <a:stretch>
                    <a:fillRect l="-175" b="-50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4A1FD7F-C3B5-9789-A6EC-D405BA089A42}"/>
              </a:ext>
            </a:extLst>
          </p:cNvPr>
          <p:cNvGrpSpPr/>
          <p:nvPr/>
        </p:nvGrpSpPr>
        <p:grpSpPr>
          <a:xfrm>
            <a:off x="783038" y="4178406"/>
            <a:ext cx="10832598" cy="332527"/>
            <a:chOff x="783038" y="3954807"/>
            <a:chExt cx="10832598" cy="332527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C93CFCA3-6954-AB0D-9D1A-AE17293C4F3D}"/>
                </a:ext>
              </a:extLst>
            </p:cNvPr>
            <p:cNvGrpSpPr/>
            <p:nvPr/>
          </p:nvGrpSpPr>
          <p:grpSpPr>
            <a:xfrm>
              <a:off x="783038" y="4095274"/>
              <a:ext cx="590428" cy="90889"/>
              <a:chOff x="783038" y="4127296"/>
              <a:chExt cx="590428" cy="90889"/>
            </a:xfrm>
          </p:grpSpPr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D2168B74-B939-EE8D-924E-29B6373638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172741"/>
                <a:ext cx="559215" cy="0"/>
              </a:xfrm>
              <a:prstGeom prst="line">
                <a:avLst/>
              </a:prstGeom>
              <a:ln w="38100">
                <a:solidFill>
                  <a:schemeClr val="accent2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1488A9A6-1F14-EDC8-0D45-1E1AD2116FE7}"/>
                  </a:ext>
                </a:extLst>
              </p:cNvPr>
              <p:cNvSpPr/>
              <p:nvPr/>
            </p:nvSpPr>
            <p:spPr>
              <a:xfrm>
                <a:off x="783038" y="4127296"/>
                <a:ext cx="90889" cy="9088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ED116161-2CCF-A3DE-79FB-C22A40BBD219}"/>
                    </a:ext>
                  </a:extLst>
                </p:cNvPr>
                <p:cNvSpPr txBox="1"/>
                <p:nvPr/>
              </p:nvSpPr>
              <p:spPr>
                <a:xfrm>
                  <a:off x="1418911" y="3954807"/>
                  <a:ext cx="10196725" cy="3325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注意若要构造符合</a:t>
                  </a:r>
                  <a14:m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𝑡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分布的形式，务必确保</a:t>
                  </a:r>
                  <a14:m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位置上的部分服从标准正态分布，而</a:t>
                  </a:r>
                  <a14:m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𝑌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位置上的部分服从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pPr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分布。</a:t>
                  </a:r>
                  <a:endPara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ED116161-2CCF-A3DE-79FB-C22A40BBD2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911" y="3954807"/>
                  <a:ext cx="10196725" cy="332527"/>
                </a:xfrm>
                <a:prstGeom prst="rect">
                  <a:avLst/>
                </a:prstGeom>
                <a:blipFill>
                  <a:blip r:embed="rId8"/>
                  <a:stretch>
                    <a:fillRect l="-179" b="-16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A82A77C6-71B9-A16F-83E9-60BFB8760AF9}"/>
              </a:ext>
            </a:extLst>
          </p:cNvPr>
          <p:cNvGrpSpPr/>
          <p:nvPr/>
        </p:nvGrpSpPr>
        <p:grpSpPr>
          <a:xfrm>
            <a:off x="783038" y="4641548"/>
            <a:ext cx="10832598" cy="721993"/>
            <a:chOff x="783038" y="4002579"/>
            <a:chExt cx="10832598" cy="721993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1647C6B8-1036-61FF-295B-18263DF692B2}"/>
                </a:ext>
              </a:extLst>
            </p:cNvPr>
            <p:cNvGrpSpPr/>
            <p:nvPr/>
          </p:nvGrpSpPr>
          <p:grpSpPr>
            <a:xfrm>
              <a:off x="783038" y="4136861"/>
              <a:ext cx="590428" cy="90889"/>
              <a:chOff x="783038" y="4168883"/>
              <a:chExt cx="590428" cy="90889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13A7D1EC-9F06-B3F4-7FEA-3DE564DFFA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2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1A18563C-BD2B-697A-55D7-03E2B24F4849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3BAB7AA4-5A81-8C2C-F01F-1AE424A70F73}"/>
                    </a:ext>
                  </a:extLst>
                </p:cNvPr>
                <p:cNvSpPr txBox="1"/>
                <p:nvPr/>
              </p:nvSpPr>
              <p:spPr>
                <a:xfrm>
                  <a:off x="1418911" y="4002579"/>
                  <a:ext cx="10196725" cy="7219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𝑡</m:t>
                      </m:r>
                    </m:oMath>
                  </a14:m>
                  <a:r>
                    <a:rPr lang="zh-CN" altLang="en-US" sz="14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分布</a:t>
                  </a:r>
                  <a:r>
                    <a:rPr lang="zh-CN" altLang="en-US" sz="14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  <a:cs typeface="汉仪文黑-85W" panose="00020600040101010101" pitchFamily="18" charset="-128"/>
                    </a:rPr>
                    <a:t>的性质</a:t>
                  </a:r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：</a:t>
                  </a:r>
                  <a:endParaRPr lang="en-US" altLang="zh-CN" sz="14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pPr>
                    <a:lnSpc>
                      <a:spcPct val="125000"/>
                    </a:lnSpc>
                  </a:pP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1</a:t>
                  </a: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）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𝑇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=0,  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𝑇</m:t>
                          </m:r>
                        </m:e>
                      </m:d>
                      <m:r>
                        <a:rPr lang="en-US" altLang="zh-CN" sz="1400" b="0" i="1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fPr>
                        <m:num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𝑛</m:t>
                          </m:r>
                        </m:num>
                        <m:den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𝑛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−2</m:t>
                          </m:r>
                        </m:den>
                      </m:f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 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𝑛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&gt;2)</m:t>
                      </m:r>
                    </m:oMath>
                  </a14:m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.	</a:t>
                  </a: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2</a:t>
                  </a: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）分布密度函数是对称的（偶函数）。</a:t>
                  </a:r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	</a:t>
                  </a: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</a:t>
                  </a: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）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𝑇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~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𝐴𝑁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(0,1)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14:m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较大时）</a:t>
                  </a:r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3BAB7AA4-5A81-8C2C-F01F-1AE424A70F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911" y="4002579"/>
                  <a:ext cx="10196725" cy="721993"/>
                </a:xfrm>
                <a:prstGeom prst="rect">
                  <a:avLst/>
                </a:prstGeom>
                <a:blipFill>
                  <a:blip r:embed="rId9"/>
                  <a:stretch>
                    <a:fillRect l="-1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201672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472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3.1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0,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的一个样本，则统计量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𝑆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e>
                        </m:rad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|</m:t>
                        </m:r>
                      </m:den>
                    </m:f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服从的分布为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______.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472117"/>
              </a:xfrm>
              <a:prstGeom prst="rect">
                <a:avLst/>
              </a:prstGeom>
              <a:blipFill>
                <a:blip r:embed="rId3"/>
                <a:stretch>
                  <a:fillRect l="-274" b="-5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1897303"/>
                <a:ext cx="11108176" cy="12985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~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(0,2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(0,1)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；又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0,1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1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  <m:r>
                      <m:rPr>
                        <m:nor/>
                      </m:rPr>
                      <a:rPr lang="en-US" altLang="zh-CN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.</m:t>
                    </m:r>
                  </m:oMath>
                </a14:m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𝑆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e>
                        </m:rad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|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e>
                            </m:rad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𝑌</m:t>
                            </m:r>
                          </m:e>
                        </m:ra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~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𝑡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(1)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897303"/>
                <a:ext cx="11108176" cy="1298561"/>
              </a:xfrm>
              <a:prstGeom prst="rect">
                <a:avLst/>
              </a:prstGeom>
              <a:blipFill>
                <a:blip r:embed="rId4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F354AE80-E809-A886-408A-B71954E68FE5}"/>
              </a:ext>
            </a:extLst>
          </p:cNvPr>
          <p:cNvSpPr txBox="1"/>
          <p:nvPr/>
        </p:nvSpPr>
        <p:spPr>
          <a:xfrm>
            <a:off x="507461" y="496110"/>
            <a:ext cx="3175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常用统计分布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619248E-A024-2F04-A086-836F0A0540E9}"/>
                  </a:ext>
                </a:extLst>
              </p:cNvPr>
              <p:cNvSpPr txBox="1"/>
              <p:nvPr/>
            </p:nvSpPr>
            <p:spPr>
              <a:xfrm>
                <a:off x="3794449" y="775742"/>
                <a:ext cx="178967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𝑡</m:t>
                    </m:r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分布的求解</a:t>
                </a:r>
                <a:endParaRPr lang="en-US" altLang="zh-CN" sz="1600" dirty="0"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619248E-A024-2F04-A086-836F0A054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449" y="775742"/>
                <a:ext cx="1789673" cy="338554"/>
              </a:xfrm>
              <a:prstGeom prst="rect">
                <a:avLst/>
              </a:prstGeom>
              <a:blipFill>
                <a:blip r:embed="rId5"/>
                <a:stretch>
                  <a:fillRect t="-5357" r="-2041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110DD7-47AC-B1E9-0C6D-518091566192}"/>
              </a:ext>
            </a:extLst>
          </p:cNvPr>
          <p:cNvCxnSpPr>
            <a:cxnSpLocks/>
          </p:cNvCxnSpPr>
          <p:nvPr/>
        </p:nvCxnSpPr>
        <p:spPr>
          <a:xfrm>
            <a:off x="580118" y="3429000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E22989E-3591-22A9-D6AB-A2C3D13C887C}"/>
                  </a:ext>
                </a:extLst>
              </p:cNvPr>
              <p:cNvSpPr txBox="1"/>
              <p:nvPr/>
            </p:nvSpPr>
            <p:spPr>
              <a:xfrm>
                <a:off x="507460" y="3662137"/>
                <a:ext cx="11108176" cy="472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3.2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3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4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的一个样本，则统计量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𝑆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−2|</m:t>
                        </m:r>
                      </m:den>
                    </m:f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服从的分布为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______.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E22989E-3591-22A9-D6AB-A2C3D13C8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662137"/>
                <a:ext cx="11108176" cy="472117"/>
              </a:xfrm>
              <a:prstGeom prst="rect">
                <a:avLst/>
              </a:prstGeom>
              <a:blipFill>
                <a:blip r:embed="rId6"/>
                <a:stretch>
                  <a:fillRect l="-274" b="-5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36EE08C-9F60-C7BB-1C31-F50963D7C43C}"/>
                  </a:ext>
                </a:extLst>
              </p:cNvPr>
              <p:cNvSpPr txBox="1"/>
              <p:nvPr/>
            </p:nvSpPr>
            <p:spPr>
              <a:xfrm>
                <a:off x="507460" y="4310664"/>
                <a:ext cx="11108176" cy="1556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~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(0,2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，则随机变量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(0,1)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又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−2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−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</m:t>
                        </m:r>
                      </m:num>
                      <m:den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den>
                    </m:f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0,1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16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</m:t>
                        </m:r>
                      </m:num>
                      <m:den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den>
                    </m:f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0,1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e>
                        </m:rad>
                        <m:r>
                          <a:rPr lang="zh-CN" altLang="en-US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𝜎</m:t>
                        </m:r>
                      </m:den>
                    </m:f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−2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2</m:t>
                                    </m:r>
                                  </m:e>
                                </m:rad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(1)</m:t>
                    </m:r>
                    <m:r>
                      <m:rPr>
                        <m:nor/>
                      </m:rPr>
                      <a:rPr lang="en-US" altLang="zh-CN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.</m:t>
                    </m:r>
                  </m:oMath>
                </a14:m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𝑆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−2|</m:t>
                        </m:r>
                      </m:den>
                    </m:f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−2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|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den>
                    </m:f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𝑌</m:t>
                            </m:r>
                          </m:e>
                        </m:rad>
                      </m:den>
                    </m:f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~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𝑡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(1)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36EE08C-9F60-C7BB-1C31-F50963D7C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4310664"/>
                <a:ext cx="11108176" cy="1556132"/>
              </a:xfrm>
              <a:prstGeom prst="rect">
                <a:avLst/>
              </a:prstGeom>
              <a:blipFill>
                <a:blip r:embed="rId7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51981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 build="p"/>
      <p:bldP spid="5" grpId="0"/>
      <p:bldP spid="6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1" y="496110"/>
            <a:ext cx="3175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常用统计分布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由于实际应用的需要，除了刚才我们提到的统计量以外，人们又 构造了 以下三种 常用的统计量，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分别称为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变量，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𝑡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变量 与 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𝐹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变量。 </a:t>
                </a:r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至于它们的具体用途，我们将在后面两章介绍。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800219"/>
              </a:xfrm>
              <a:prstGeom prst="rect">
                <a:avLst/>
              </a:prstGeom>
              <a:blipFill>
                <a:blip r:embed="rId3"/>
                <a:stretch>
                  <a:fillRect l="-274" b="-9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FCFE9ED-E2C0-E136-C16A-73B705043080}"/>
                  </a:ext>
                </a:extLst>
              </p:cNvPr>
              <p:cNvSpPr txBox="1"/>
              <p:nvPr/>
            </p:nvSpPr>
            <p:spPr>
              <a:xfrm>
                <a:off x="3794449" y="775742"/>
                <a:ext cx="85829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𝐹</m:t>
                    </m:r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分布</a:t>
                </a:r>
                <a:endParaRPr lang="en-US" altLang="zh-CN" sz="1600" dirty="0"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FCFE9ED-E2C0-E136-C16A-73B705043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449" y="775742"/>
                <a:ext cx="858299" cy="338554"/>
              </a:xfrm>
              <a:prstGeom prst="rect">
                <a:avLst/>
              </a:prstGeom>
              <a:blipFill>
                <a:blip r:embed="rId4"/>
                <a:stretch>
                  <a:fillRect t="-5357" r="-4255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A2F7E27B-ABA7-3BE5-F9FA-5AD7F292858F}"/>
                  </a:ext>
                </a:extLst>
              </p:cNvPr>
              <p:cNvSpPr/>
              <p:nvPr/>
            </p:nvSpPr>
            <p:spPr>
              <a:xfrm>
                <a:off x="576364" y="2514527"/>
                <a:ext cx="1364403" cy="682687"/>
              </a:xfrm>
              <a:prstGeom prst="roundRect">
                <a:avLst/>
              </a:prstGeom>
              <a:solidFill>
                <a:srgbClr val="C00000">
                  <a:alpha val="25098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𝐹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分布</a:t>
                </a:r>
                <a:endParaRPr lang="zh-CN" altLang="en-US" dirty="0">
                  <a:solidFill>
                    <a:schemeClr val="tx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A2F7E27B-ABA7-3BE5-F9FA-5AD7F29285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2514527"/>
                <a:ext cx="1364403" cy="68268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099AE84-992A-43E3-75B7-51F70FCA872B}"/>
                  </a:ext>
                </a:extLst>
              </p:cNvPr>
              <p:cNvSpPr txBox="1"/>
              <p:nvPr/>
            </p:nvSpPr>
            <p:spPr>
              <a:xfrm>
                <a:off x="2094972" y="2514527"/>
                <a:ext cx="9127473" cy="841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若有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pPr>
                      <m:e>
                        <m:r>
                          <a:rPr lang="zh-CN" altLang="en-US" sz="1600" b="1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𝝌</m:t>
                        </m:r>
                      </m:e>
                      <m:sup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1600" b="1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变量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，又有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pPr>
                      <m:e>
                        <m:r>
                          <a:rPr lang="zh-CN" altLang="en-US" sz="1600" b="1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𝝌</m:t>
                        </m:r>
                      </m:e>
                      <m:sup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1600" b="1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变量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，且它们相互独立，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称 随机变量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𝑭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/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𝑌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/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服从 第一自由度为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、第二自由度为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𝑭</m:t>
                    </m:r>
                  </m:oMath>
                </a14:m>
                <a:r>
                  <a:rPr lang="zh-CN" altLang="en-US" sz="1600" b="1" dirty="0">
                    <a:solidFill>
                      <a:srgbClr val="FF33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分布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，记作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𝐹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𝐹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。 。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099AE84-992A-43E3-75B7-51F70FCA8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972" y="2514527"/>
                <a:ext cx="9127473" cy="841321"/>
              </a:xfrm>
              <a:prstGeom prst="rect">
                <a:avLst/>
              </a:prstGeom>
              <a:blipFill>
                <a:blip r:embed="rId6"/>
                <a:stretch>
                  <a:fillRect l="-401" t="-2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AB1E187-55C3-A5AE-E323-4F52960DA726}"/>
              </a:ext>
            </a:extLst>
          </p:cNvPr>
          <p:cNvCxnSpPr>
            <a:cxnSpLocks/>
          </p:cNvCxnSpPr>
          <p:nvPr/>
        </p:nvCxnSpPr>
        <p:spPr>
          <a:xfrm>
            <a:off x="828483" y="3133953"/>
            <a:ext cx="0" cy="1000664"/>
          </a:xfrm>
          <a:prstGeom prst="line">
            <a:avLst/>
          </a:prstGeom>
          <a:ln w="38100">
            <a:solidFill>
              <a:srgbClr val="EFBF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4A1FD7F-C3B5-9789-A6EC-D405BA089A42}"/>
              </a:ext>
            </a:extLst>
          </p:cNvPr>
          <p:cNvGrpSpPr/>
          <p:nvPr/>
        </p:nvGrpSpPr>
        <p:grpSpPr>
          <a:xfrm>
            <a:off x="783038" y="3478706"/>
            <a:ext cx="10832598" cy="332527"/>
            <a:chOff x="783038" y="3954807"/>
            <a:chExt cx="10832598" cy="332527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C93CFCA3-6954-AB0D-9D1A-AE17293C4F3D}"/>
                </a:ext>
              </a:extLst>
            </p:cNvPr>
            <p:cNvGrpSpPr/>
            <p:nvPr/>
          </p:nvGrpSpPr>
          <p:grpSpPr>
            <a:xfrm>
              <a:off x="783038" y="4095274"/>
              <a:ext cx="590428" cy="90889"/>
              <a:chOff x="783038" y="4127296"/>
              <a:chExt cx="590428" cy="90889"/>
            </a:xfrm>
          </p:grpSpPr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D2168B74-B939-EE8D-924E-29B6373638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172741"/>
                <a:ext cx="559215" cy="0"/>
              </a:xfrm>
              <a:prstGeom prst="line">
                <a:avLst/>
              </a:prstGeom>
              <a:ln w="38100">
                <a:solidFill>
                  <a:srgbClr val="EFBFBF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1488A9A6-1F14-EDC8-0D45-1E1AD2116FE7}"/>
                  </a:ext>
                </a:extLst>
              </p:cNvPr>
              <p:cNvSpPr/>
              <p:nvPr/>
            </p:nvSpPr>
            <p:spPr>
              <a:xfrm>
                <a:off x="783038" y="4127296"/>
                <a:ext cx="90889" cy="90889"/>
              </a:xfrm>
              <a:prstGeom prst="ellipse">
                <a:avLst/>
              </a:prstGeom>
              <a:solidFill>
                <a:srgbClr val="DF7F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ED116161-2CCF-A3DE-79FB-C22A40BBD219}"/>
                    </a:ext>
                  </a:extLst>
                </p:cNvPr>
                <p:cNvSpPr txBox="1"/>
                <p:nvPr/>
              </p:nvSpPr>
              <p:spPr>
                <a:xfrm>
                  <a:off x="1418911" y="3954807"/>
                  <a:ext cx="10196725" cy="3325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注意若要构造符合</a:t>
                  </a:r>
                  <a14:m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𝐹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分布的形式，务必确保</a:t>
                  </a:r>
                  <a14:m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𝑌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位置上的部分都服从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pPr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分布。除的常数要与自由度保持一致。</a:t>
                  </a:r>
                  <a:endPara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ED116161-2CCF-A3DE-79FB-C22A40BBD2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911" y="3954807"/>
                  <a:ext cx="10196725" cy="332527"/>
                </a:xfrm>
                <a:prstGeom prst="rect">
                  <a:avLst/>
                </a:prstGeom>
                <a:blipFill>
                  <a:blip r:embed="rId7"/>
                  <a:stretch>
                    <a:fillRect l="-179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A82A77C6-71B9-A16F-83E9-60BFB8760AF9}"/>
              </a:ext>
            </a:extLst>
          </p:cNvPr>
          <p:cNvGrpSpPr/>
          <p:nvPr/>
        </p:nvGrpSpPr>
        <p:grpSpPr>
          <a:xfrm>
            <a:off x="783038" y="3954891"/>
            <a:ext cx="10832598" cy="730265"/>
            <a:chOff x="783038" y="4002579"/>
            <a:chExt cx="10832598" cy="730265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1647C6B8-1036-61FF-295B-18263DF692B2}"/>
                </a:ext>
              </a:extLst>
            </p:cNvPr>
            <p:cNvGrpSpPr/>
            <p:nvPr/>
          </p:nvGrpSpPr>
          <p:grpSpPr>
            <a:xfrm>
              <a:off x="783038" y="4136861"/>
              <a:ext cx="590428" cy="90889"/>
              <a:chOff x="783038" y="4168883"/>
              <a:chExt cx="590428" cy="90889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13A7D1EC-9F06-B3F4-7FEA-3DE564DFFA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rgbClr val="EFBFBF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1A18563C-BD2B-697A-55D7-03E2B24F4849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rgbClr val="DF7F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3BAB7AA4-5A81-8C2C-F01F-1AE424A70F73}"/>
                    </a:ext>
                  </a:extLst>
                </p:cNvPr>
                <p:cNvSpPr txBox="1"/>
                <p:nvPr/>
              </p:nvSpPr>
              <p:spPr>
                <a:xfrm>
                  <a:off x="1418911" y="4002579"/>
                  <a:ext cx="10196725" cy="7302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𝐹</m:t>
                      </m:r>
                    </m:oMath>
                  </a14:m>
                  <a:r>
                    <a:rPr lang="zh-CN" altLang="en-US" sz="14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分布</a:t>
                  </a:r>
                  <a:r>
                    <a:rPr lang="zh-CN" altLang="en-US" sz="14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  <a:cs typeface="汉仪文黑-85W" panose="00020600040101010101" pitchFamily="18" charset="-128"/>
                    </a:rPr>
                    <a:t>的性质</a:t>
                  </a:r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：</a:t>
                  </a:r>
                  <a:endParaRPr lang="en-US" altLang="zh-CN" sz="14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1</a:t>
                  </a: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）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𝐹</m:t>
                          </m:r>
                        </m:den>
                      </m:f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~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𝐹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.	</a:t>
                  </a: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2</a:t>
                  </a: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）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𝑇</m:t>
                          </m:r>
                        </m:e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~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𝐹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(1,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.	</a:t>
                  </a: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</a:t>
                  </a: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）</a:t>
                  </a:r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* 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−2</m:t>
                          </m:r>
                        </m:den>
                      </m:f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&gt;2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,  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altLang="zh-CN" sz="1400" b="0" i="1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fPr>
                        <m:num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−2)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方正清刻本悦宋简体" panose="02000000000000000000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  <a:ea typeface="方正清刻本悦宋简体" panose="02000000000000000000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  <a:ea typeface="方正清刻本悦宋简体" panose="02000000000000000000" pitchFamily="2" charset="-122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  <a:ea typeface="方正清刻本悦宋简体" panose="02000000000000000000" pitchFamily="2" charset="-122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方正清刻本悦宋简体" panose="02000000000000000000" pitchFamily="2" charset="-122"/>
                                    </a:rPr>
                                    <m:t>−2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−4)</m:t>
                          </m:r>
                        </m:den>
                      </m:f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 (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&gt;4)</m:t>
                      </m:r>
                    </m:oMath>
                  </a14:m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3BAB7AA4-5A81-8C2C-F01F-1AE424A70F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911" y="4002579"/>
                  <a:ext cx="10196725" cy="730265"/>
                </a:xfrm>
                <a:prstGeom prst="rect">
                  <a:avLst/>
                </a:prstGeom>
                <a:blipFill>
                  <a:blip r:embed="rId8"/>
                  <a:stretch>
                    <a:fillRect l="-179"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417484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521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4.1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15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4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的一个样本，则统计量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𝐹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+…+</m:t>
                        </m:r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10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2(</m:t>
                        </m:r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+…+</m:t>
                        </m:r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15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服从的分布为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______.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521168"/>
              </a:xfrm>
              <a:prstGeom prst="rect">
                <a:avLst/>
              </a:prstGeom>
              <a:blipFill>
                <a:blip r:embed="rId3"/>
                <a:stretch>
                  <a:fillRect l="-274" b="-23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1962542"/>
                <a:ext cx="11108176" cy="913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+…+</m:t>
                        </m:r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10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4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(10)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+…+</m:t>
                        </m:r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4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~ 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5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𝐹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+…+</m:t>
                        </m:r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10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2(</m:t>
                        </m:r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11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+…+</m:t>
                        </m:r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15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)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/10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/5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~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𝐹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(10,5)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962542"/>
                <a:ext cx="11108176" cy="913583"/>
              </a:xfrm>
              <a:prstGeom prst="rect">
                <a:avLst/>
              </a:prstGeom>
              <a:blipFill>
                <a:blip r:embed="rId4"/>
                <a:stretch>
                  <a:fillRect l="-274" b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F354AE80-E809-A886-408A-B71954E68FE5}"/>
              </a:ext>
            </a:extLst>
          </p:cNvPr>
          <p:cNvSpPr txBox="1"/>
          <p:nvPr/>
        </p:nvSpPr>
        <p:spPr>
          <a:xfrm>
            <a:off x="507461" y="496110"/>
            <a:ext cx="3175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常用统计分布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619248E-A024-2F04-A086-836F0A0540E9}"/>
                  </a:ext>
                </a:extLst>
              </p:cNvPr>
              <p:cNvSpPr txBox="1"/>
              <p:nvPr/>
            </p:nvSpPr>
            <p:spPr>
              <a:xfrm>
                <a:off x="3794449" y="775742"/>
                <a:ext cx="178967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𝐹</m:t>
                    </m:r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分布的求解</a:t>
                </a:r>
                <a:endParaRPr lang="en-US" altLang="zh-CN" sz="1600" dirty="0"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619248E-A024-2F04-A086-836F0A054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449" y="775742"/>
                <a:ext cx="1789673" cy="338554"/>
              </a:xfrm>
              <a:prstGeom prst="rect">
                <a:avLst/>
              </a:prstGeom>
              <a:blipFill>
                <a:blip r:embed="rId5"/>
                <a:stretch>
                  <a:fillRect t="-5357" r="-2041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110DD7-47AC-B1E9-0C6D-518091566192}"/>
              </a:ext>
            </a:extLst>
          </p:cNvPr>
          <p:cNvCxnSpPr>
            <a:cxnSpLocks/>
          </p:cNvCxnSpPr>
          <p:nvPr/>
        </p:nvCxnSpPr>
        <p:spPr>
          <a:xfrm>
            <a:off x="580118" y="3100079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E22989E-3591-22A9-D6AB-A2C3D13C887C}"/>
                  </a:ext>
                </a:extLst>
              </p:cNvPr>
              <p:cNvSpPr txBox="1"/>
              <p:nvPr/>
            </p:nvSpPr>
            <p:spPr>
              <a:xfrm>
                <a:off x="507460" y="3324034"/>
                <a:ext cx="11108176" cy="547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4.2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𝑚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的一个样本，求统计量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𝐹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𝑚</m:t>
                        </m:r>
                        <m:nary>
                          <m:naryPr>
                            <m:chr m:val="∑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nary>
                          <m:naryPr>
                            <m:chr m:val="∑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=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𝑚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den>
                    </m:f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服从的分布。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E22989E-3591-22A9-D6AB-A2C3D13C8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324034"/>
                <a:ext cx="11108176" cy="547907"/>
              </a:xfrm>
              <a:prstGeom prst="rect">
                <a:avLst/>
              </a:prstGeom>
              <a:blipFill>
                <a:blip r:embed="rId6"/>
                <a:stretch>
                  <a:fillRect l="-274" t="-41111" b="-7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36EE08C-9F60-C7BB-1C31-F50963D7C43C}"/>
                  </a:ext>
                </a:extLst>
              </p:cNvPr>
              <p:cNvSpPr txBox="1"/>
              <p:nvPr/>
            </p:nvSpPr>
            <p:spPr>
              <a:xfrm>
                <a:off x="507460" y="3871941"/>
                <a:ext cx="11108176" cy="958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zh-CN" altLang="en-US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𝑁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(0,1)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 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𝑛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 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𝑚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𝐹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𝑚</m:t>
                        </m:r>
                        <m:nary>
                          <m:naryPr>
                            <m:chr m:val="∑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nary>
                          <m:naryPr>
                            <m:chr m:val="∑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=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𝑚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/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=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𝑚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/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𝑚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~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𝐹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𝑚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36EE08C-9F60-C7BB-1C31-F50963D7C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871941"/>
                <a:ext cx="11108176" cy="958852"/>
              </a:xfrm>
              <a:prstGeom prst="rect">
                <a:avLst/>
              </a:prstGeom>
              <a:blipFill>
                <a:blip r:embed="rId7"/>
                <a:stretch>
                  <a:fillRect l="-274" t="-26752" b="-414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615641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 build="p"/>
      <p:bldP spid="5" grpId="0"/>
      <p:bldP spid="6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1" y="496110"/>
            <a:ext cx="3175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常用统计分布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7950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对于一些常用的分布，我们在应用时常常希望知道 随机变量取什么值时 比此值大或小 的概率为某一个需要的值。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例如 随机变量分布的</a:t>
                </a:r>
                <a:r>
                  <a:rPr lang="zh-CN" altLang="en-US" sz="1600" u="sng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中位数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，随机变量取值 比它大 和 比它小 的概率都为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1/2</m:t>
                    </m:r>
                  </m:oMath>
                </a14:m>
                <a:r>
                  <a:rPr lang="en-US" altLang="zh-CN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.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795026"/>
              </a:xfrm>
              <a:prstGeom prst="rect">
                <a:avLst/>
              </a:prstGeom>
              <a:blipFill>
                <a:blip r:embed="rId3"/>
                <a:stretch>
                  <a:fillRect l="-274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3794449" y="775742"/>
            <a:ext cx="1954169" cy="34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概率分布的分位数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: 圆角 2">
                <a:extLst>
                  <a:ext uri="{FF2B5EF4-FFF2-40B4-BE49-F238E27FC236}">
                    <a16:creationId xmlns:a16="http://schemas.microsoft.com/office/drawing/2014/main" id="{61BE5C85-B991-8230-41DF-ED925298C68F}"/>
                  </a:ext>
                </a:extLst>
              </p:cNvPr>
              <p:cNvSpPr/>
              <p:nvPr/>
            </p:nvSpPr>
            <p:spPr>
              <a:xfrm>
                <a:off x="576364" y="2514527"/>
                <a:ext cx="1588612" cy="464893"/>
              </a:xfrm>
              <a:prstGeom prst="round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800" dirty="0">
                    <a:solidFill>
                      <a:schemeClr val="bg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上</a:t>
                </a:r>
                <a14:m>
                  <m:oMath xmlns:m="http://schemas.openxmlformats.org/officeDocument/2006/math">
                    <m:r>
                      <a:rPr lang="zh-CN" altLang="en-US" sz="18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𝛼</m:t>
                    </m:r>
                  </m:oMath>
                </a14:m>
                <a:r>
                  <a:rPr lang="zh-CN" altLang="en-US" sz="1800" dirty="0">
                    <a:solidFill>
                      <a:schemeClr val="bg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分位点</a:t>
                </a:r>
                <a:endParaRPr lang="zh-CN" altLang="en-US" dirty="0">
                  <a:solidFill>
                    <a:schemeClr val="bg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3" name="矩形: 圆角 2">
                <a:extLst>
                  <a:ext uri="{FF2B5EF4-FFF2-40B4-BE49-F238E27FC236}">
                    <a16:creationId xmlns:a16="http://schemas.microsoft.com/office/drawing/2014/main" id="{61BE5C85-B991-8230-41DF-ED925298C6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2514527"/>
                <a:ext cx="1588612" cy="464893"/>
              </a:xfrm>
              <a:prstGeom prst="roundRect">
                <a:avLst/>
              </a:prstGeom>
              <a:blipFill>
                <a:blip r:embed="rId4"/>
                <a:stretch>
                  <a:fillRect b="-103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FF6C862-1F5D-98FE-B262-7EC719BE914B}"/>
                  </a:ext>
                </a:extLst>
              </p:cNvPr>
              <p:cNvSpPr txBox="1"/>
              <p:nvPr/>
            </p:nvSpPr>
            <p:spPr>
              <a:xfrm>
                <a:off x="2446020" y="2567940"/>
                <a:ext cx="90476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对应分布的 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上</a:t>
                </a:r>
                <a14:m>
                  <m:oMath xmlns:m="http://schemas.openxmlformats.org/officeDocument/2006/math">
                    <m:r>
                      <a:rPr lang="zh-CN" altLang="en-US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分位点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（或称</a:t>
                </a:r>
                <a:r>
                  <a:rPr lang="zh-CN" altLang="en-US" sz="1600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临界值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）。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FF6C862-1F5D-98FE-B262-7EC719BE9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020" y="2567940"/>
                <a:ext cx="9047696" cy="338554"/>
              </a:xfrm>
              <a:prstGeom prst="rect">
                <a:avLst/>
              </a:prstGeom>
              <a:blipFill>
                <a:blip r:embed="rId5"/>
                <a:stretch>
                  <a:fillRect l="-337" t="-7143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BA36016-D1F8-A5C5-16A2-20E444B440D4}"/>
              </a:ext>
            </a:extLst>
          </p:cNvPr>
          <p:cNvCxnSpPr>
            <a:cxnSpLocks/>
          </p:cNvCxnSpPr>
          <p:nvPr/>
        </p:nvCxnSpPr>
        <p:spPr>
          <a:xfrm>
            <a:off x="828483" y="2979420"/>
            <a:ext cx="0" cy="100066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C2580E1B-96C4-E257-F95B-BB47D44FB5D7}"/>
              </a:ext>
            </a:extLst>
          </p:cNvPr>
          <p:cNvGrpSpPr/>
          <p:nvPr/>
        </p:nvGrpSpPr>
        <p:grpSpPr>
          <a:xfrm>
            <a:off x="783038" y="3205123"/>
            <a:ext cx="10832598" cy="332527"/>
            <a:chOff x="783038" y="3954807"/>
            <a:chExt cx="10832598" cy="332527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9960D78E-13A4-0D51-F65B-D6ED0825C221}"/>
                </a:ext>
              </a:extLst>
            </p:cNvPr>
            <p:cNvGrpSpPr/>
            <p:nvPr/>
          </p:nvGrpSpPr>
          <p:grpSpPr>
            <a:xfrm>
              <a:off x="783038" y="4095274"/>
              <a:ext cx="590428" cy="90889"/>
              <a:chOff x="783038" y="4127296"/>
              <a:chExt cx="590428" cy="90889"/>
            </a:xfrm>
          </p:grpSpPr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9080AABE-518A-6B41-902E-39001C6466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172741"/>
                <a:ext cx="559215" cy="0"/>
              </a:xfrm>
              <a:prstGeom prst="line">
                <a:avLst/>
              </a:prstGeom>
              <a:ln w="38100">
                <a:solidFill>
                  <a:srgbClr val="C0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109FAFC4-DB87-0033-5E8B-04157357BC5E}"/>
                  </a:ext>
                </a:extLst>
              </p:cNvPr>
              <p:cNvSpPr/>
              <p:nvPr/>
            </p:nvSpPr>
            <p:spPr>
              <a:xfrm>
                <a:off x="783038" y="4127296"/>
                <a:ext cx="90889" cy="90889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AC113F96-37F0-0604-74B1-9E387D66A254}"/>
                    </a:ext>
                  </a:extLst>
                </p:cNvPr>
                <p:cNvSpPr txBox="1"/>
                <p:nvPr/>
              </p:nvSpPr>
              <p:spPr>
                <a:xfrm>
                  <a:off x="1418911" y="3954807"/>
                  <a:ext cx="10196725" cy="3325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注意，</a:t>
                  </a:r>
                  <a14:m>
                    <m:oMath xmlns:m="http://schemas.openxmlformats.org/officeDocument/2006/math">
                      <m:r>
                        <a:rPr lang="zh-CN" altLang="en-US" sz="1400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是一个概率值，一般而言它应当是已知的，且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0&lt;</m:t>
                      </m:r>
                      <m:r>
                        <a:rPr lang="zh-CN" altLang="en-US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𝛼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&lt;1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；要求的上</a:t>
                  </a:r>
                  <a14:m>
                    <m:oMath xmlns:m="http://schemas.openxmlformats.org/officeDocument/2006/math"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分位点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仅仅是随机变量的一个取值而已。</a:t>
                  </a:r>
                  <a:endPara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AC113F96-37F0-0604-74B1-9E387D66A2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911" y="3954807"/>
                  <a:ext cx="10196725" cy="332527"/>
                </a:xfrm>
                <a:prstGeom prst="rect">
                  <a:avLst/>
                </a:prstGeom>
                <a:blipFill>
                  <a:blip r:embed="rId6"/>
                  <a:stretch>
                    <a:fillRect l="-179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C212170-8656-98A3-D984-F2152B4EEFA5}"/>
              </a:ext>
            </a:extLst>
          </p:cNvPr>
          <p:cNvGrpSpPr/>
          <p:nvPr/>
        </p:nvGrpSpPr>
        <p:grpSpPr>
          <a:xfrm>
            <a:off x="783038" y="3763353"/>
            <a:ext cx="10832598" cy="1751442"/>
            <a:chOff x="783038" y="4002579"/>
            <a:chExt cx="10832598" cy="1751442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9C77C7D0-C600-7296-9CEE-72C912E2CEDD}"/>
                </a:ext>
              </a:extLst>
            </p:cNvPr>
            <p:cNvGrpSpPr/>
            <p:nvPr/>
          </p:nvGrpSpPr>
          <p:grpSpPr>
            <a:xfrm>
              <a:off x="783038" y="4136861"/>
              <a:ext cx="590428" cy="90889"/>
              <a:chOff x="783038" y="4168883"/>
              <a:chExt cx="590428" cy="90889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1CCCC262-C64D-FBF7-2A82-C3BC41A1B7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rgbClr val="C0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6274363A-36F6-3AE9-454C-F3BA4723157B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D949175-5CC2-020B-7BCB-916A6D890699}"/>
                    </a:ext>
                  </a:extLst>
                </p:cNvPr>
                <p:cNvSpPr txBox="1"/>
                <p:nvPr/>
              </p:nvSpPr>
              <p:spPr>
                <a:xfrm>
                  <a:off x="1418911" y="4002579"/>
                  <a:ext cx="10196725" cy="17514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 dirty="0">
                      <a:solidFill>
                        <a:schemeClr val="tx1"/>
                      </a:solidFill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常见分布的上</a:t>
                  </a:r>
                  <a14:m>
                    <m:oMath xmlns:m="http://schemas.openxmlformats.org/officeDocument/2006/math">
                      <m:r>
                        <a:rPr lang="zh-CN" alt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𝛼</m:t>
                      </m:r>
                    </m:oMath>
                  </a14:m>
                  <a:r>
                    <a:rPr lang="zh-CN" altLang="en-US" sz="1400" dirty="0">
                      <a:solidFill>
                        <a:schemeClr val="tx1"/>
                      </a:solidFill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分位点</a:t>
                  </a:r>
                  <a:r>
                    <a:rPr lang="zh-CN" altLang="en-US" sz="1400" dirty="0">
                      <a:solidFill>
                        <a:schemeClr val="tx1"/>
                      </a:solidFill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：</a:t>
                  </a:r>
                  <a:endParaRPr lang="en-US" altLang="zh-CN" sz="14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pPr>
                    <a:lnSpc>
                      <a:spcPct val="200000"/>
                    </a:lnSpc>
                  </a:pPr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:r>
                    <a:rPr lang="en-US" altLang="zh-CN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1</a:t>
                  </a:r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）</a:t>
                  </a:r>
                  <a14:m>
                    <m:oMath xmlns:m="http://schemas.openxmlformats.org/officeDocument/2006/math">
                      <m:r>
                        <a:rPr lang="zh-CN" alt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标准</m:t>
                      </m:r>
                    </m:oMath>
                  </a14:m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正态分布</a:t>
                  </a:r>
                  <a14:m>
                    <m:oMath xmlns:m="http://schemas.openxmlformats.org/officeDocument/2006/math"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~</m:t>
                      </m:r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𝑁</m:t>
                      </m:r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(0,1)</m:t>
                      </m:r>
                    </m:oMath>
                  </a14:m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，上</a:t>
                  </a:r>
                  <a14:m>
                    <m:oMath xmlns:m="http://schemas.openxmlformats.org/officeDocument/2006/math">
                      <m:r>
                        <a:rPr lang="zh-CN" altLang="en-US" sz="1400" i="1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𝛼</m:t>
                      </m:r>
                    </m:oMath>
                  </a14:m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分位点记作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𝛼</m:t>
                          </m:r>
                        </m:sub>
                      </m:sSub>
                    </m:oMath>
                  </a14:m>
                  <a:r>
                    <a:rPr lang="en-US" altLang="zh-CN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.	</a:t>
                  </a:r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有性质：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r>
                        <a:rPr lang="zh-CN" alt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a14:m>
                  <a:r>
                    <a:rPr lang="en-US" altLang="zh-CN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	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:r>
                    <a:rPr lang="en-US" altLang="zh-CN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2</a:t>
                  </a:r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）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pPr>
                        <m:e>
                          <m:r>
                            <a:rPr lang="zh-CN" altLang="en-US" sz="1400" b="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1400" b="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分布</a:t>
                  </a:r>
                  <a14:m>
                    <m:oMath xmlns:m="http://schemas.openxmlformats.org/officeDocument/2006/math">
                      <m:r>
                        <a:rPr lang="en-US" altLang="zh-CN" sz="1400" i="1" dirty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  <m:r>
                        <a:rPr lang="en-US" altLang="zh-CN" sz="1400" i="1" dirty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~</m:t>
                      </m:r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pPr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1400" i="1" dirty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  <m:r>
                        <a:rPr lang="en-US" altLang="zh-CN" sz="1400" i="1" dirty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，上</a:t>
                  </a:r>
                  <a14:m>
                    <m:oMath xmlns:m="http://schemas.openxmlformats.org/officeDocument/2006/math">
                      <m:r>
                        <a:rPr lang="zh-CN" altLang="en-US" sz="1400" i="1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𝛼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分位点记作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bSupPr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𝜒</m:t>
                          </m:r>
                        </m:e>
                        <m:sub>
                          <m:r>
                            <a:rPr lang="zh-CN" altLang="en-US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𝛼</m:t>
                          </m:r>
                        </m:sub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𝑛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)</m:t>
                      </m:r>
                    </m:oMath>
                  </a14:m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.	</a:t>
                  </a:r>
                  <a:endParaRPr lang="en-US" altLang="zh-CN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:r>
                    <a:rPr lang="en-US" altLang="zh-CN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</a:t>
                  </a:r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）</a:t>
                  </a:r>
                  <a14:m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𝑡</m:t>
                      </m:r>
                    </m:oMath>
                  </a14:m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分布</a:t>
                  </a:r>
                  <a14:m>
                    <m:oMath xmlns:m="http://schemas.openxmlformats.org/officeDocument/2006/math">
                      <m:r>
                        <a:rPr lang="en-US" altLang="zh-CN" sz="1400" i="1" dirty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  <m:r>
                        <a:rPr lang="en-US" altLang="zh-CN" sz="1400" i="1" dirty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~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𝑡</m:t>
                      </m:r>
                      <m:r>
                        <a:rPr lang="en-US" altLang="zh-CN" sz="1400" i="1" dirty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  <m:r>
                        <a:rPr lang="en-US" altLang="zh-CN" sz="1400" i="1" dirty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，上</a:t>
                  </a:r>
                  <a14:m>
                    <m:oMath xmlns:m="http://schemas.openxmlformats.org/officeDocument/2006/math">
                      <m:r>
                        <a:rPr lang="zh-CN" altLang="en-US" sz="1400" i="1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𝛼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分位点记作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𝛼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𝑛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)</m:t>
                      </m:r>
                    </m:oMath>
                  </a14:m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.		</a:t>
                  </a: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有性质：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)=−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>
                    <a:lnSpc>
                      <a:spcPct val="110000"/>
                    </a:lnSpc>
                  </a:pPr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:r>
                    <a:rPr lang="en-US" altLang="zh-CN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4</a:t>
                  </a:r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）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𝐹</m:t>
                      </m:r>
                    </m:oMath>
                  </a14:m>
                  <a:r>
                    <a:rPr lang="zh-CN" altLang="en-US" sz="14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分布</a:t>
                  </a:r>
                  <a14:m>
                    <m:oMath xmlns:m="http://schemas.openxmlformats.org/officeDocument/2006/math">
                      <m:r>
                        <a:rPr lang="en-US" altLang="zh-CN" sz="1400" i="1" dirty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  <m:r>
                        <a:rPr lang="en-US" altLang="zh-CN" sz="1400" i="1" dirty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~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𝐹</m:t>
                      </m:r>
                      <m:r>
                        <a:rPr lang="en-US" altLang="zh-CN" sz="1400" i="1" dirty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  <m:r>
                        <a:rPr lang="en-US" altLang="zh-CN" sz="1400" i="1" dirty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，上</a:t>
                  </a:r>
                  <a14:m>
                    <m:oMath xmlns:m="http://schemas.openxmlformats.org/officeDocument/2006/math">
                      <m:r>
                        <a:rPr lang="zh-CN" altLang="en-US" sz="1400" i="1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𝛼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分位点记作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𝛼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)</m:t>
                      </m:r>
                    </m:oMath>
                  </a14:m>
                  <a:r>
                    <a: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.	</a:t>
                  </a:r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有性质：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zh-CN" alt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a14:m>
                  <a:endParaRPr lang="en-US" altLang="zh-CN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D949175-5CC2-020B-7BCB-916A6D8906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911" y="4002579"/>
                  <a:ext cx="10196725" cy="1751442"/>
                </a:xfrm>
                <a:prstGeom prst="rect">
                  <a:avLst/>
                </a:prstGeom>
                <a:blipFill>
                  <a:blip r:embed="rId7"/>
                  <a:stretch>
                    <a:fillRect l="-179" t="-10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A0ADDAD-7C0A-99C6-8B24-1BC8800AB9B8}"/>
              </a:ext>
            </a:extLst>
          </p:cNvPr>
          <p:cNvGrpSpPr/>
          <p:nvPr/>
        </p:nvGrpSpPr>
        <p:grpSpPr>
          <a:xfrm>
            <a:off x="8901236" y="1956266"/>
            <a:ext cx="2725203" cy="1694236"/>
            <a:chOff x="8901236" y="4597956"/>
            <a:chExt cx="2725203" cy="1694236"/>
          </a:xfrm>
        </p:grpSpPr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44AD16AB-032A-0CD1-FD68-A644E8378DD0}"/>
                </a:ext>
              </a:extLst>
            </p:cNvPr>
            <p:cNvSpPr/>
            <p:nvPr/>
          </p:nvSpPr>
          <p:spPr>
            <a:xfrm>
              <a:off x="10497813" y="5143116"/>
              <a:ext cx="1064587" cy="853783"/>
            </a:xfrm>
            <a:custGeom>
              <a:avLst/>
              <a:gdLst>
                <a:gd name="connsiteX0" fmla="*/ 81080 w 1122158"/>
                <a:gd name="connsiteY0" fmla="*/ 38516 h 944861"/>
                <a:gd name="connsiteX1" fmla="*/ 176653 w 1122158"/>
                <a:gd name="connsiteY1" fmla="*/ 167669 h 944861"/>
                <a:gd name="connsiteX2" fmla="*/ 295473 w 1122158"/>
                <a:gd name="connsiteY2" fmla="*/ 394977 h 944861"/>
                <a:gd name="connsiteX3" fmla="*/ 471120 w 1122158"/>
                <a:gd name="connsiteY3" fmla="*/ 586123 h 944861"/>
                <a:gd name="connsiteX4" fmla="*/ 708761 w 1122158"/>
                <a:gd name="connsiteY4" fmla="*/ 704943 h 944861"/>
                <a:gd name="connsiteX5" fmla="*/ 1065222 w 1122158"/>
                <a:gd name="connsiteY5" fmla="*/ 774686 h 944861"/>
                <a:gd name="connsiteX6" fmla="*/ 1122049 w 1122158"/>
                <a:gd name="connsiteY6" fmla="*/ 875425 h 944861"/>
                <a:gd name="connsiteX7" fmla="*/ 1080720 w 1122158"/>
                <a:gd name="connsiteY7" fmla="*/ 888340 h 944861"/>
                <a:gd name="connsiteX8" fmla="*/ 75914 w 1122158"/>
                <a:gd name="connsiteY8" fmla="*/ 880591 h 944861"/>
                <a:gd name="connsiteX9" fmla="*/ 81080 w 1122158"/>
                <a:gd name="connsiteY9" fmla="*/ 38516 h 944861"/>
                <a:gd name="connsiteX0" fmla="*/ 81080 w 1122158"/>
                <a:gd name="connsiteY0" fmla="*/ 38516 h 944861"/>
                <a:gd name="connsiteX1" fmla="*/ 176653 w 1122158"/>
                <a:gd name="connsiteY1" fmla="*/ 167669 h 944861"/>
                <a:gd name="connsiteX2" fmla="*/ 295473 w 1122158"/>
                <a:gd name="connsiteY2" fmla="*/ 394977 h 944861"/>
                <a:gd name="connsiteX3" fmla="*/ 471120 w 1122158"/>
                <a:gd name="connsiteY3" fmla="*/ 586123 h 944861"/>
                <a:gd name="connsiteX4" fmla="*/ 708761 w 1122158"/>
                <a:gd name="connsiteY4" fmla="*/ 704943 h 944861"/>
                <a:gd name="connsiteX5" fmla="*/ 1065222 w 1122158"/>
                <a:gd name="connsiteY5" fmla="*/ 774686 h 944861"/>
                <a:gd name="connsiteX6" fmla="*/ 1122049 w 1122158"/>
                <a:gd name="connsiteY6" fmla="*/ 875425 h 944861"/>
                <a:gd name="connsiteX7" fmla="*/ 1080720 w 1122158"/>
                <a:gd name="connsiteY7" fmla="*/ 888340 h 944861"/>
                <a:gd name="connsiteX8" fmla="*/ 75914 w 1122158"/>
                <a:gd name="connsiteY8" fmla="*/ 880591 h 944861"/>
                <a:gd name="connsiteX9" fmla="*/ 81080 w 1122158"/>
                <a:gd name="connsiteY9" fmla="*/ 38516 h 944861"/>
                <a:gd name="connsiteX0" fmla="*/ 32142 w 1073220"/>
                <a:gd name="connsiteY0" fmla="*/ 38693 h 946911"/>
                <a:gd name="connsiteX1" fmla="*/ 127715 w 1073220"/>
                <a:gd name="connsiteY1" fmla="*/ 167846 h 946911"/>
                <a:gd name="connsiteX2" fmla="*/ 246535 w 1073220"/>
                <a:gd name="connsiteY2" fmla="*/ 395154 h 946911"/>
                <a:gd name="connsiteX3" fmla="*/ 422182 w 1073220"/>
                <a:gd name="connsiteY3" fmla="*/ 586300 h 946911"/>
                <a:gd name="connsiteX4" fmla="*/ 659823 w 1073220"/>
                <a:gd name="connsiteY4" fmla="*/ 705120 h 946911"/>
                <a:gd name="connsiteX5" fmla="*/ 1016284 w 1073220"/>
                <a:gd name="connsiteY5" fmla="*/ 774863 h 946911"/>
                <a:gd name="connsiteX6" fmla="*/ 1073111 w 1073220"/>
                <a:gd name="connsiteY6" fmla="*/ 875602 h 946911"/>
                <a:gd name="connsiteX7" fmla="*/ 1031782 w 1073220"/>
                <a:gd name="connsiteY7" fmla="*/ 888517 h 946911"/>
                <a:gd name="connsiteX8" fmla="*/ 96718 w 1073220"/>
                <a:gd name="connsiteY8" fmla="*/ 883351 h 946911"/>
                <a:gd name="connsiteX9" fmla="*/ 32142 w 1073220"/>
                <a:gd name="connsiteY9" fmla="*/ 38693 h 946911"/>
                <a:gd name="connsiteX0" fmla="*/ 32142 w 1073220"/>
                <a:gd name="connsiteY0" fmla="*/ 38693 h 946911"/>
                <a:gd name="connsiteX1" fmla="*/ 127715 w 1073220"/>
                <a:gd name="connsiteY1" fmla="*/ 167846 h 946911"/>
                <a:gd name="connsiteX2" fmla="*/ 246535 w 1073220"/>
                <a:gd name="connsiteY2" fmla="*/ 395154 h 946911"/>
                <a:gd name="connsiteX3" fmla="*/ 422182 w 1073220"/>
                <a:gd name="connsiteY3" fmla="*/ 586300 h 946911"/>
                <a:gd name="connsiteX4" fmla="*/ 659823 w 1073220"/>
                <a:gd name="connsiteY4" fmla="*/ 705120 h 946911"/>
                <a:gd name="connsiteX5" fmla="*/ 1016284 w 1073220"/>
                <a:gd name="connsiteY5" fmla="*/ 774863 h 946911"/>
                <a:gd name="connsiteX6" fmla="*/ 1073111 w 1073220"/>
                <a:gd name="connsiteY6" fmla="*/ 875602 h 946911"/>
                <a:gd name="connsiteX7" fmla="*/ 1031782 w 1073220"/>
                <a:gd name="connsiteY7" fmla="*/ 888517 h 946911"/>
                <a:gd name="connsiteX8" fmla="*/ 96718 w 1073220"/>
                <a:gd name="connsiteY8" fmla="*/ 883351 h 946911"/>
                <a:gd name="connsiteX9" fmla="*/ 32142 w 1073220"/>
                <a:gd name="connsiteY9" fmla="*/ 38693 h 946911"/>
                <a:gd name="connsiteX0" fmla="*/ 32142 w 1103698"/>
                <a:gd name="connsiteY0" fmla="*/ 38693 h 951652"/>
                <a:gd name="connsiteX1" fmla="*/ 127715 w 1103698"/>
                <a:gd name="connsiteY1" fmla="*/ 167846 h 951652"/>
                <a:gd name="connsiteX2" fmla="*/ 246535 w 1103698"/>
                <a:gd name="connsiteY2" fmla="*/ 395154 h 951652"/>
                <a:gd name="connsiteX3" fmla="*/ 422182 w 1103698"/>
                <a:gd name="connsiteY3" fmla="*/ 586300 h 951652"/>
                <a:gd name="connsiteX4" fmla="*/ 659823 w 1103698"/>
                <a:gd name="connsiteY4" fmla="*/ 705120 h 951652"/>
                <a:gd name="connsiteX5" fmla="*/ 1016284 w 1103698"/>
                <a:gd name="connsiteY5" fmla="*/ 774863 h 951652"/>
                <a:gd name="connsiteX6" fmla="*/ 1073111 w 1103698"/>
                <a:gd name="connsiteY6" fmla="*/ 875602 h 951652"/>
                <a:gd name="connsiteX7" fmla="*/ 611715 w 1103698"/>
                <a:gd name="connsiteY7" fmla="*/ 904763 h 951652"/>
                <a:gd name="connsiteX8" fmla="*/ 96718 w 1103698"/>
                <a:gd name="connsiteY8" fmla="*/ 883351 h 951652"/>
                <a:gd name="connsiteX9" fmla="*/ 32142 w 1103698"/>
                <a:gd name="connsiteY9" fmla="*/ 38693 h 951652"/>
                <a:gd name="connsiteX0" fmla="*/ 35462 w 1145143"/>
                <a:gd name="connsiteY0" fmla="*/ 38693 h 947388"/>
                <a:gd name="connsiteX1" fmla="*/ 131035 w 1145143"/>
                <a:gd name="connsiteY1" fmla="*/ 167846 h 947388"/>
                <a:gd name="connsiteX2" fmla="*/ 249855 w 1145143"/>
                <a:gd name="connsiteY2" fmla="*/ 395154 h 947388"/>
                <a:gd name="connsiteX3" fmla="*/ 425502 w 1145143"/>
                <a:gd name="connsiteY3" fmla="*/ 586300 h 947388"/>
                <a:gd name="connsiteX4" fmla="*/ 663143 w 1145143"/>
                <a:gd name="connsiteY4" fmla="*/ 705120 h 947388"/>
                <a:gd name="connsiteX5" fmla="*/ 1019604 w 1145143"/>
                <a:gd name="connsiteY5" fmla="*/ 774863 h 947388"/>
                <a:gd name="connsiteX6" fmla="*/ 1076431 w 1145143"/>
                <a:gd name="connsiteY6" fmla="*/ 875602 h 947388"/>
                <a:gd name="connsiteX7" fmla="*/ 100038 w 1145143"/>
                <a:gd name="connsiteY7" fmla="*/ 883351 h 947388"/>
                <a:gd name="connsiteX8" fmla="*/ 35462 w 1145143"/>
                <a:gd name="connsiteY8" fmla="*/ 38693 h 947388"/>
                <a:gd name="connsiteX0" fmla="*/ 35462 w 1145143"/>
                <a:gd name="connsiteY0" fmla="*/ 38693 h 883351"/>
                <a:gd name="connsiteX1" fmla="*/ 131035 w 1145143"/>
                <a:gd name="connsiteY1" fmla="*/ 167846 h 883351"/>
                <a:gd name="connsiteX2" fmla="*/ 249855 w 1145143"/>
                <a:gd name="connsiteY2" fmla="*/ 395154 h 883351"/>
                <a:gd name="connsiteX3" fmla="*/ 425502 w 1145143"/>
                <a:gd name="connsiteY3" fmla="*/ 586300 h 883351"/>
                <a:gd name="connsiteX4" fmla="*/ 663143 w 1145143"/>
                <a:gd name="connsiteY4" fmla="*/ 705120 h 883351"/>
                <a:gd name="connsiteX5" fmla="*/ 1019604 w 1145143"/>
                <a:gd name="connsiteY5" fmla="*/ 774863 h 883351"/>
                <a:gd name="connsiteX6" fmla="*/ 1076431 w 1145143"/>
                <a:gd name="connsiteY6" fmla="*/ 875602 h 883351"/>
                <a:gd name="connsiteX7" fmla="*/ 100038 w 1145143"/>
                <a:gd name="connsiteY7" fmla="*/ 883351 h 883351"/>
                <a:gd name="connsiteX8" fmla="*/ 35462 w 1145143"/>
                <a:gd name="connsiteY8" fmla="*/ 38693 h 883351"/>
                <a:gd name="connsiteX0" fmla="*/ 35462 w 1076431"/>
                <a:gd name="connsiteY0" fmla="*/ 38693 h 883351"/>
                <a:gd name="connsiteX1" fmla="*/ 131035 w 1076431"/>
                <a:gd name="connsiteY1" fmla="*/ 167846 h 883351"/>
                <a:gd name="connsiteX2" fmla="*/ 249855 w 1076431"/>
                <a:gd name="connsiteY2" fmla="*/ 395154 h 883351"/>
                <a:gd name="connsiteX3" fmla="*/ 425502 w 1076431"/>
                <a:gd name="connsiteY3" fmla="*/ 586300 h 883351"/>
                <a:gd name="connsiteX4" fmla="*/ 663143 w 1076431"/>
                <a:gd name="connsiteY4" fmla="*/ 705120 h 883351"/>
                <a:gd name="connsiteX5" fmla="*/ 1019604 w 1076431"/>
                <a:gd name="connsiteY5" fmla="*/ 774863 h 883351"/>
                <a:gd name="connsiteX6" fmla="*/ 1076431 w 1076431"/>
                <a:gd name="connsiteY6" fmla="*/ 875602 h 883351"/>
                <a:gd name="connsiteX7" fmla="*/ 100038 w 1076431"/>
                <a:gd name="connsiteY7" fmla="*/ 883351 h 883351"/>
                <a:gd name="connsiteX8" fmla="*/ 35462 w 1076431"/>
                <a:gd name="connsiteY8" fmla="*/ 38693 h 883351"/>
                <a:gd name="connsiteX0" fmla="*/ 35462 w 1046919"/>
                <a:gd name="connsiteY0" fmla="*/ 38693 h 883351"/>
                <a:gd name="connsiteX1" fmla="*/ 131035 w 1046919"/>
                <a:gd name="connsiteY1" fmla="*/ 167846 h 883351"/>
                <a:gd name="connsiteX2" fmla="*/ 249855 w 1046919"/>
                <a:gd name="connsiteY2" fmla="*/ 395154 h 883351"/>
                <a:gd name="connsiteX3" fmla="*/ 425502 w 1046919"/>
                <a:gd name="connsiteY3" fmla="*/ 586300 h 883351"/>
                <a:gd name="connsiteX4" fmla="*/ 663143 w 1046919"/>
                <a:gd name="connsiteY4" fmla="*/ 705120 h 883351"/>
                <a:gd name="connsiteX5" fmla="*/ 1019604 w 1046919"/>
                <a:gd name="connsiteY5" fmla="*/ 774863 h 883351"/>
                <a:gd name="connsiteX6" fmla="*/ 1023052 w 1046919"/>
                <a:gd name="connsiteY6" fmla="*/ 882565 h 883351"/>
                <a:gd name="connsiteX7" fmla="*/ 100038 w 1046919"/>
                <a:gd name="connsiteY7" fmla="*/ 883351 h 883351"/>
                <a:gd name="connsiteX8" fmla="*/ 35462 w 1046919"/>
                <a:gd name="connsiteY8" fmla="*/ 38693 h 883351"/>
                <a:gd name="connsiteX0" fmla="*/ 35462 w 1023052"/>
                <a:gd name="connsiteY0" fmla="*/ 38693 h 883351"/>
                <a:gd name="connsiteX1" fmla="*/ 131035 w 1023052"/>
                <a:gd name="connsiteY1" fmla="*/ 167846 h 883351"/>
                <a:gd name="connsiteX2" fmla="*/ 249855 w 1023052"/>
                <a:gd name="connsiteY2" fmla="*/ 395154 h 883351"/>
                <a:gd name="connsiteX3" fmla="*/ 425502 w 1023052"/>
                <a:gd name="connsiteY3" fmla="*/ 586300 h 883351"/>
                <a:gd name="connsiteX4" fmla="*/ 663143 w 1023052"/>
                <a:gd name="connsiteY4" fmla="*/ 705120 h 883351"/>
                <a:gd name="connsiteX5" fmla="*/ 1019604 w 1023052"/>
                <a:gd name="connsiteY5" fmla="*/ 774863 h 883351"/>
                <a:gd name="connsiteX6" fmla="*/ 1023052 w 1023052"/>
                <a:gd name="connsiteY6" fmla="*/ 882565 h 883351"/>
                <a:gd name="connsiteX7" fmla="*/ 100038 w 1023052"/>
                <a:gd name="connsiteY7" fmla="*/ 883351 h 883351"/>
                <a:gd name="connsiteX8" fmla="*/ 35462 w 1023052"/>
                <a:gd name="connsiteY8" fmla="*/ 38693 h 883351"/>
                <a:gd name="connsiteX0" fmla="*/ 0 w 987590"/>
                <a:gd name="connsiteY0" fmla="*/ 38693 h 883351"/>
                <a:gd name="connsiteX1" fmla="*/ 95573 w 987590"/>
                <a:gd name="connsiteY1" fmla="*/ 167846 h 883351"/>
                <a:gd name="connsiteX2" fmla="*/ 214393 w 987590"/>
                <a:gd name="connsiteY2" fmla="*/ 395154 h 883351"/>
                <a:gd name="connsiteX3" fmla="*/ 390040 w 987590"/>
                <a:gd name="connsiteY3" fmla="*/ 586300 h 883351"/>
                <a:gd name="connsiteX4" fmla="*/ 627681 w 987590"/>
                <a:gd name="connsiteY4" fmla="*/ 705120 h 883351"/>
                <a:gd name="connsiteX5" fmla="*/ 984142 w 987590"/>
                <a:gd name="connsiteY5" fmla="*/ 774863 h 883351"/>
                <a:gd name="connsiteX6" fmla="*/ 987590 w 987590"/>
                <a:gd name="connsiteY6" fmla="*/ 882565 h 883351"/>
                <a:gd name="connsiteX7" fmla="*/ 64576 w 987590"/>
                <a:gd name="connsiteY7" fmla="*/ 883351 h 883351"/>
                <a:gd name="connsiteX8" fmla="*/ 0 w 987590"/>
                <a:gd name="connsiteY8" fmla="*/ 38693 h 883351"/>
                <a:gd name="connsiteX0" fmla="*/ 6601 w 1066316"/>
                <a:gd name="connsiteY0" fmla="*/ 38535 h 889997"/>
                <a:gd name="connsiteX1" fmla="*/ 102174 w 1066316"/>
                <a:gd name="connsiteY1" fmla="*/ 167688 h 889997"/>
                <a:gd name="connsiteX2" fmla="*/ 220994 w 1066316"/>
                <a:gd name="connsiteY2" fmla="*/ 394996 h 889997"/>
                <a:gd name="connsiteX3" fmla="*/ 396641 w 1066316"/>
                <a:gd name="connsiteY3" fmla="*/ 586142 h 889997"/>
                <a:gd name="connsiteX4" fmla="*/ 634282 w 1066316"/>
                <a:gd name="connsiteY4" fmla="*/ 704962 h 889997"/>
                <a:gd name="connsiteX5" fmla="*/ 990743 w 1066316"/>
                <a:gd name="connsiteY5" fmla="*/ 774705 h 889997"/>
                <a:gd name="connsiteX6" fmla="*/ 994191 w 1066316"/>
                <a:gd name="connsiteY6" fmla="*/ 882407 h 889997"/>
                <a:gd name="connsiteX7" fmla="*/ 8515 w 1066316"/>
                <a:gd name="connsiteY7" fmla="*/ 880873 h 889997"/>
                <a:gd name="connsiteX8" fmla="*/ 6601 w 1066316"/>
                <a:gd name="connsiteY8" fmla="*/ 38535 h 889997"/>
                <a:gd name="connsiteX0" fmla="*/ 7193 w 1064587"/>
                <a:gd name="connsiteY0" fmla="*/ 38268 h 892051"/>
                <a:gd name="connsiteX1" fmla="*/ 100445 w 1064587"/>
                <a:gd name="connsiteY1" fmla="*/ 169742 h 892051"/>
                <a:gd name="connsiteX2" fmla="*/ 219265 w 1064587"/>
                <a:gd name="connsiteY2" fmla="*/ 397050 h 892051"/>
                <a:gd name="connsiteX3" fmla="*/ 394912 w 1064587"/>
                <a:gd name="connsiteY3" fmla="*/ 588196 h 892051"/>
                <a:gd name="connsiteX4" fmla="*/ 632553 w 1064587"/>
                <a:gd name="connsiteY4" fmla="*/ 707016 h 892051"/>
                <a:gd name="connsiteX5" fmla="*/ 989014 w 1064587"/>
                <a:gd name="connsiteY5" fmla="*/ 776759 h 892051"/>
                <a:gd name="connsiteX6" fmla="*/ 992462 w 1064587"/>
                <a:gd name="connsiteY6" fmla="*/ 884461 h 892051"/>
                <a:gd name="connsiteX7" fmla="*/ 6786 w 1064587"/>
                <a:gd name="connsiteY7" fmla="*/ 882927 h 892051"/>
                <a:gd name="connsiteX8" fmla="*/ 7193 w 1064587"/>
                <a:gd name="connsiteY8" fmla="*/ 38268 h 892051"/>
                <a:gd name="connsiteX0" fmla="*/ 7193 w 1064587"/>
                <a:gd name="connsiteY0" fmla="*/ 0 h 853783"/>
                <a:gd name="connsiteX1" fmla="*/ 100445 w 1064587"/>
                <a:gd name="connsiteY1" fmla="*/ 131474 h 853783"/>
                <a:gd name="connsiteX2" fmla="*/ 219265 w 1064587"/>
                <a:gd name="connsiteY2" fmla="*/ 358782 h 853783"/>
                <a:gd name="connsiteX3" fmla="*/ 394912 w 1064587"/>
                <a:gd name="connsiteY3" fmla="*/ 549928 h 853783"/>
                <a:gd name="connsiteX4" fmla="*/ 632553 w 1064587"/>
                <a:gd name="connsiteY4" fmla="*/ 668748 h 853783"/>
                <a:gd name="connsiteX5" fmla="*/ 989014 w 1064587"/>
                <a:gd name="connsiteY5" fmla="*/ 738491 h 853783"/>
                <a:gd name="connsiteX6" fmla="*/ 992462 w 1064587"/>
                <a:gd name="connsiteY6" fmla="*/ 846193 h 853783"/>
                <a:gd name="connsiteX7" fmla="*/ 6786 w 1064587"/>
                <a:gd name="connsiteY7" fmla="*/ 844659 h 853783"/>
                <a:gd name="connsiteX8" fmla="*/ 7193 w 1064587"/>
                <a:gd name="connsiteY8" fmla="*/ 0 h 853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4587" h="853783">
                  <a:moveTo>
                    <a:pt x="7193" y="0"/>
                  </a:moveTo>
                  <a:lnTo>
                    <a:pt x="100445" y="131474"/>
                  </a:lnTo>
                  <a:cubicBezTo>
                    <a:pt x="135790" y="191271"/>
                    <a:pt x="170187" y="289040"/>
                    <a:pt x="219265" y="358782"/>
                  </a:cubicBezTo>
                  <a:cubicBezTo>
                    <a:pt x="268343" y="428524"/>
                    <a:pt x="326031" y="498267"/>
                    <a:pt x="394912" y="549928"/>
                  </a:cubicBezTo>
                  <a:cubicBezTo>
                    <a:pt x="463793" y="601589"/>
                    <a:pt x="533536" y="637321"/>
                    <a:pt x="632553" y="668748"/>
                  </a:cubicBezTo>
                  <a:cubicBezTo>
                    <a:pt x="731570" y="700175"/>
                    <a:pt x="929029" y="708917"/>
                    <a:pt x="989014" y="738491"/>
                  </a:cubicBezTo>
                  <a:cubicBezTo>
                    <a:pt x="990163" y="774392"/>
                    <a:pt x="1156167" y="828498"/>
                    <a:pt x="992462" y="846193"/>
                  </a:cubicBezTo>
                  <a:cubicBezTo>
                    <a:pt x="828757" y="863888"/>
                    <a:pt x="335345" y="845170"/>
                    <a:pt x="6786" y="844659"/>
                  </a:cubicBezTo>
                  <a:cubicBezTo>
                    <a:pt x="6148" y="563880"/>
                    <a:pt x="-8417" y="118864"/>
                    <a:pt x="7193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9F0978D3-6233-F380-CAF8-90174E6DAC67}"/>
                </a:ext>
              </a:extLst>
            </p:cNvPr>
            <p:cNvCxnSpPr>
              <a:cxnSpLocks/>
            </p:cNvCxnSpPr>
            <p:nvPr/>
          </p:nvCxnSpPr>
          <p:spPr>
            <a:xfrm>
              <a:off x="10500021" y="5140271"/>
              <a:ext cx="0" cy="850129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22393E96-12A7-55BF-A080-CF7C018D8045}"/>
                </a:ext>
              </a:extLst>
            </p:cNvPr>
            <p:cNvCxnSpPr/>
            <p:nvPr/>
          </p:nvCxnSpPr>
          <p:spPr>
            <a:xfrm>
              <a:off x="8901236" y="5990400"/>
              <a:ext cx="27144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87B0EC2E-FE06-3A51-87EB-6151C25E74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95200" y="4737397"/>
              <a:ext cx="0" cy="155479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548F9AFB-5073-4EDF-AC4F-9A97BC448B4C}"/>
                </a:ext>
              </a:extLst>
            </p:cNvPr>
            <p:cNvSpPr/>
            <p:nvPr/>
          </p:nvSpPr>
          <p:spPr>
            <a:xfrm>
              <a:off x="9050400" y="4952925"/>
              <a:ext cx="2419200" cy="922275"/>
            </a:xfrm>
            <a:custGeom>
              <a:avLst/>
              <a:gdLst>
                <a:gd name="connsiteX0" fmla="*/ 0 w 2419200"/>
                <a:gd name="connsiteY0" fmla="*/ 814275 h 922275"/>
                <a:gd name="connsiteX1" fmla="*/ 568800 w 2419200"/>
                <a:gd name="connsiteY1" fmla="*/ 619875 h 922275"/>
                <a:gd name="connsiteX2" fmla="*/ 928800 w 2419200"/>
                <a:gd name="connsiteY2" fmla="*/ 166275 h 922275"/>
                <a:gd name="connsiteX3" fmla="*/ 1216800 w 2419200"/>
                <a:gd name="connsiteY3" fmla="*/ 675 h 922275"/>
                <a:gd name="connsiteX4" fmla="*/ 1483200 w 2419200"/>
                <a:gd name="connsiteY4" fmla="*/ 216675 h 922275"/>
                <a:gd name="connsiteX5" fmla="*/ 1706400 w 2419200"/>
                <a:gd name="connsiteY5" fmla="*/ 598275 h 922275"/>
                <a:gd name="connsiteX6" fmla="*/ 1980000 w 2419200"/>
                <a:gd name="connsiteY6" fmla="*/ 814275 h 922275"/>
                <a:gd name="connsiteX7" fmla="*/ 2419200 w 2419200"/>
                <a:gd name="connsiteY7" fmla="*/ 922275 h 92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19200" h="922275">
                  <a:moveTo>
                    <a:pt x="0" y="814275"/>
                  </a:moveTo>
                  <a:cubicBezTo>
                    <a:pt x="207000" y="771075"/>
                    <a:pt x="414000" y="727875"/>
                    <a:pt x="568800" y="619875"/>
                  </a:cubicBezTo>
                  <a:cubicBezTo>
                    <a:pt x="723600" y="511875"/>
                    <a:pt x="820800" y="269475"/>
                    <a:pt x="928800" y="166275"/>
                  </a:cubicBezTo>
                  <a:cubicBezTo>
                    <a:pt x="1036800" y="63075"/>
                    <a:pt x="1124400" y="-7725"/>
                    <a:pt x="1216800" y="675"/>
                  </a:cubicBezTo>
                  <a:cubicBezTo>
                    <a:pt x="1309200" y="9075"/>
                    <a:pt x="1401600" y="117075"/>
                    <a:pt x="1483200" y="216675"/>
                  </a:cubicBezTo>
                  <a:cubicBezTo>
                    <a:pt x="1564800" y="316275"/>
                    <a:pt x="1623600" y="498675"/>
                    <a:pt x="1706400" y="598275"/>
                  </a:cubicBezTo>
                  <a:cubicBezTo>
                    <a:pt x="1789200" y="697875"/>
                    <a:pt x="1861200" y="760275"/>
                    <a:pt x="1980000" y="814275"/>
                  </a:cubicBezTo>
                  <a:cubicBezTo>
                    <a:pt x="2098800" y="868275"/>
                    <a:pt x="2259000" y="895275"/>
                    <a:pt x="2419200" y="922275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A219FFFD-7828-7DDD-8D8D-542669A7DA3E}"/>
                    </a:ext>
                  </a:extLst>
                </p:cNvPr>
                <p:cNvSpPr txBox="1"/>
                <p:nvPr/>
              </p:nvSpPr>
              <p:spPr>
                <a:xfrm>
                  <a:off x="10594372" y="5591823"/>
                  <a:ext cx="20736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zh-CN" altLang="en-US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A219FFFD-7828-7DDD-8D8D-542669A7DA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94372" y="5591823"/>
                  <a:ext cx="207364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4706" r="-117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C527AD99-F27D-D069-2A68-4ACBA403483F}"/>
                    </a:ext>
                  </a:extLst>
                </p:cNvPr>
                <p:cNvSpPr txBox="1"/>
                <p:nvPr/>
              </p:nvSpPr>
              <p:spPr>
                <a:xfrm>
                  <a:off x="10342546" y="5945850"/>
                  <a:ext cx="3105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C527AD99-F27D-D069-2A68-4ACBA40348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42546" y="5945850"/>
                  <a:ext cx="31053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9804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5803046E-2110-6EDE-7AD6-FF25D3786352}"/>
                    </a:ext>
                  </a:extLst>
                </p:cNvPr>
                <p:cNvSpPr txBox="1"/>
                <p:nvPr/>
              </p:nvSpPr>
              <p:spPr>
                <a:xfrm>
                  <a:off x="10336192" y="4597956"/>
                  <a:ext cx="516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5803046E-2110-6EDE-7AD6-FF25D37863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6192" y="4597956"/>
                  <a:ext cx="516360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0714" t="-2222" r="-16667" b="-3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8A080D7B-7550-52DB-DDDD-D70AE808301F}"/>
                    </a:ext>
                  </a:extLst>
                </p:cNvPr>
                <p:cNvSpPr txBox="1"/>
                <p:nvPr/>
              </p:nvSpPr>
              <p:spPr>
                <a:xfrm>
                  <a:off x="11433502" y="5971375"/>
                  <a:ext cx="19293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8A080D7B-7550-52DB-DDDD-D70AE80830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502" y="5971375"/>
                  <a:ext cx="192937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6129" r="-129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3666640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5.1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~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𝑡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~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𝐹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(1,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，给定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(0&lt;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&lt;0.5)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，常数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𝑐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&gt;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𝑐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zh-CN" altLang="en-US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𝛼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𝑐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&gt;0)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&gt;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𝑐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______.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338554"/>
              </a:xfrm>
              <a:prstGeom prst="rect">
                <a:avLst/>
              </a:prstGeom>
              <a:blipFill>
                <a:blip r:embed="rId3"/>
                <a:stretch>
                  <a:fillRect l="-274" t="-3636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1884667"/>
                <a:ext cx="11108176" cy="659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解：因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(1,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&gt;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𝑐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&gt;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𝑐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&gt;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𝑐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&lt;−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𝑐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}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分布的对称性，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&gt;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𝑐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&lt;−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𝑐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zh-CN" altLang="en-US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𝛼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&gt;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𝑐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=2</m:t>
                    </m:r>
                    <m:r>
                      <a:rPr lang="zh-CN" altLang="en-US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𝛼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884667"/>
                <a:ext cx="11108176" cy="659219"/>
              </a:xfrm>
              <a:prstGeom prst="rect">
                <a:avLst/>
              </a:prstGeom>
              <a:blipFill>
                <a:blip r:embed="rId4"/>
                <a:stretch>
                  <a:fillRect l="-274" t="-3704" b="-10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110DD7-47AC-B1E9-0C6D-518091566192}"/>
              </a:ext>
            </a:extLst>
          </p:cNvPr>
          <p:cNvCxnSpPr>
            <a:cxnSpLocks/>
          </p:cNvCxnSpPr>
          <p:nvPr/>
        </p:nvCxnSpPr>
        <p:spPr>
          <a:xfrm>
            <a:off x="580118" y="2850099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E22989E-3591-22A9-D6AB-A2C3D13C887C}"/>
                  </a:ext>
                </a:extLst>
              </p:cNvPr>
              <p:cNvSpPr txBox="1"/>
              <p:nvPr/>
            </p:nvSpPr>
            <p:spPr>
              <a:xfrm>
                <a:off x="507460" y="3156313"/>
                <a:ext cx="111081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5.2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𝐹</m:t>
                        </m:r>
                      </m:e>
                      <m:sub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5,4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=0.3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1−</m:t>
                        </m:r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4,5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______.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E22989E-3591-22A9-D6AB-A2C3D13C8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156313"/>
                <a:ext cx="11108176" cy="338554"/>
              </a:xfrm>
              <a:prstGeom prst="rect">
                <a:avLst/>
              </a:prstGeom>
              <a:blipFill>
                <a:blip r:embed="rId5"/>
                <a:stretch>
                  <a:fillRect l="-274" t="-3636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36EE08C-9F60-C7BB-1C31-F50963D7C43C}"/>
                  </a:ext>
                </a:extLst>
              </p:cNvPr>
              <p:cNvSpPr txBox="1"/>
              <p:nvPr/>
            </p:nvSpPr>
            <p:spPr>
              <a:xfrm>
                <a:off x="507460" y="3635498"/>
                <a:ext cx="11108176" cy="471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分布上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分位点的性质，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1−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4,5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𝐹</m:t>
                            </m:r>
                          </m:e>
                          <m:sub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5,4</m:t>
                            </m:r>
                          </m:e>
                        </m: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10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36EE08C-9F60-C7BB-1C31-F50963D7C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635498"/>
                <a:ext cx="11108176" cy="471796"/>
              </a:xfrm>
              <a:prstGeom prst="rect">
                <a:avLst/>
              </a:prstGeom>
              <a:blipFill>
                <a:blip r:embed="rId6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6AFBCFBC-FA85-2469-8EAE-0D913566C418}"/>
              </a:ext>
            </a:extLst>
          </p:cNvPr>
          <p:cNvSpPr txBox="1"/>
          <p:nvPr/>
        </p:nvSpPr>
        <p:spPr>
          <a:xfrm>
            <a:off x="507461" y="496110"/>
            <a:ext cx="3175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常用统计分布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64CDEE-5199-C16E-623A-6BAC4E0A85BB}"/>
              </a:ext>
            </a:extLst>
          </p:cNvPr>
          <p:cNvSpPr txBox="1"/>
          <p:nvPr/>
        </p:nvSpPr>
        <p:spPr>
          <a:xfrm>
            <a:off x="3794449" y="775742"/>
            <a:ext cx="1954169" cy="34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概率分布的分位数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8078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 build="p"/>
      <p:bldP spid="5" grpId="0"/>
      <p:bldP spid="6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1" y="496110"/>
            <a:ext cx="2515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抽样分布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除了前面提到的 样本均值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、样本方差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等，在之后的应用中，我们还要构造一些其它形式的统计量。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学习了三种常用的统计分布以后，对于 </a:t>
                </a:r>
                <a:r>
                  <a:rPr lang="zh-CN" altLang="en-US" sz="1600" dirty="0">
                    <a:solidFill>
                      <a:srgbClr val="00B050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来自</a:t>
                </a:r>
                <a:r>
                  <a:rPr lang="zh-CN" altLang="en-US" sz="1600" u="sng" dirty="0">
                    <a:solidFill>
                      <a:srgbClr val="00B050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正态总体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~</m:t>
                    </m:r>
                    <m:r>
                      <a:rPr lang="en-US" altLang="zh-CN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𝑁</m:t>
                    </m:r>
                    <m:r>
                      <a:rPr lang="en-US" altLang="zh-CN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zh-CN" altLang="en-US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𝜇</m:t>
                    </m:r>
                    <m:r>
                      <a:rPr lang="en-US" altLang="zh-CN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sSup>
                      <m:sSupPr>
                        <m:ctrlPr>
                          <a:rPr lang="en-US" altLang="zh-CN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pPr>
                      <m:e>
                        <m:r>
                          <a:rPr lang="zh-CN" alt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solidFill>
                      <a:srgbClr val="00B050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的样本 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构造的统计量，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我们不加证明的给出 如下形式的统计量 所服从的分布：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1169551"/>
              </a:xfrm>
              <a:prstGeom prst="rect">
                <a:avLst/>
              </a:prstGeom>
              <a:blipFill>
                <a:blip r:embed="rId3"/>
                <a:stretch>
                  <a:fillRect l="-274" b="-57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3023118" y="775742"/>
            <a:ext cx="2171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正态总体的抽样分布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C848A63-DD54-C4D6-1358-5BDBE50286D1}"/>
              </a:ext>
            </a:extLst>
          </p:cNvPr>
          <p:cNvGrpSpPr/>
          <p:nvPr/>
        </p:nvGrpSpPr>
        <p:grpSpPr>
          <a:xfrm>
            <a:off x="576363" y="2735826"/>
            <a:ext cx="7846744" cy="638910"/>
            <a:chOff x="576363" y="2735826"/>
            <a:chExt cx="7846744" cy="6389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0E77862-28CD-43EF-6161-1EFAA9EE8B8E}"/>
                    </a:ext>
                  </a:extLst>
                </p:cNvPr>
                <p:cNvSpPr txBox="1"/>
                <p:nvPr/>
              </p:nvSpPr>
              <p:spPr>
                <a:xfrm>
                  <a:off x="4109059" y="2735826"/>
                  <a:ext cx="1326196" cy="55579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  <m:r>
                          <a:rPr lang="en-US" altLang="zh-CN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~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0E77862-28CD-43EF-6161-1EFAA9EE8B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9059" y="2735826"/>
                  <a:ext cx="1326196" cy="55579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CE93EC2-956D-9AEC-7261-BF8A9584E361}"/>
                    </a:ext>
                  </a:extLst>
                </p:cNvPr>
                <p:cNvSpPr txBox="1"/>
                <p:nvPr/>
              </p:nvSpPr>
              <p:spPr>
                <a:xfrm>
                  <a:off x="6820232" y="2761235"/>
                  <a:ext cx="1602875" cy="61350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zh-CN" altLang="en-US" b="1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acc>
                            <m: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r>
                              <a:rPr lang="zh-CN" altLang="en-US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(0,1)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CE93EC2-956D-9AEC-7261-BF8A9584E3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0232" y="2761235"/>
                  <a:ext cx="1602875" cy="61350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: 圆角 22">
                  <a:extLst>
                    <a:ext uri="{FF2B5EF4-FFF2-40B4-BE49-F238E27FC236}">
                      <a16:creationId xmlns:a16="http://schemas.microsoft.com/office/drawing/2014/main" id="{680D9475-9FCB-D0D8-9569-9BDB1A85C30F}"/>
                    </a:ext>
                  </a:extLst>
                </p:cNvPr>
                <p:cNvSpPr/>
                <p:nvPr/>
              </p:nvSpPr>
              <p:spPr>
                <a:xfrm>
                  <a:off x="576363" y="2844352"/>
                  <a:ext cx="2815991" cy="447268"/>
                </a:xfrm>
                <a:prstGeom prst="round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由 样本均值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a14:m>
                  <a:r>
                    <a:rPr lang="zh-CN" altLang="en-US" sz="1400" dirty="0">
                      <a:solidFill>
                        <a:schemeClr val="tx1"/>
                      </a:solidFill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 构造的统计量</a:t>
                  </a:r>
                </a:p>
              </p:txBody>
            </p:sp>
          </mc:Choice>
          <mc:Fallback xmlns="">
            <p:sp>
              <p:nvSpPr>
                <p:cNvPr id="23" name="矩形: 圆角 22">
                  <a:extLst>
                    <a:ext uri="{FF2B5EF4-FFF2-40B4-BE49-F238E27FC236}">
                      <a16:creationId xmlns:a16="http://schemas.microsoft.com/office/drawing/2014/main" id="{680D9475-9FCB-D0D8-9569-9BDB1A85C3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363" y="2844352"/>
                  <a:ext cx="2815991" cy="447268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8128896-C5CF-1CFF-A14C-3E4323AE430E}"/>
              </a:ext>
            </a:extLst>
          </p:cNvPr>
          <p:cNvGrpSpPr/>
          <p:nvPr/>
        </p:nvGrpSpPr>
        <p:grpSpPr>
          <a:xfrm>
            <a:off x="576362" y="3566382"/>
            <a:ext cx="8093927" cy="520463"/>
            <a:chOff x="576362" y="3566382"/>
            <a:chExt cx="8093927" cy="5204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DF25D50E-3387-1209-30C6-CAE8B68C7A1D}"/>
                    </a:ext>
                  </a:extLst>
                </p:cNvPr>
                <p:cNvSpPr txBox="1"/>
                <p:nvPr/>
              </p:nvSpPr>
              <p:spPr>
                <a:xfrm>
                  <a:off x="4109059" y="3566382"/>
                  <a:ext cx="2235035" cy="5204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  <m:sup>
                                <m:r>
                                  <a:rPr lang="en-US" altLang="zh-CN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DF25D50E-3387-1209-30C6-CAE8B68C7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9059" y="3566382"/>
                  <a:ext cx="2235035" cy="52046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72FA4EC-EB01-6B08-38C7-BA136100B027}"/>
                    </a:ext>
                  </a:extLst>
                </p:cNvPr>
                <p:cNvSpPr txBox="1"/>
                <p:nvPr/>
              </p:nvSpPr>
              <p:spPr>
                <a:xfrm>
                  <a:off x="6820232" y="3612420"/>
                  <a:ext cx="1850057" cy="4744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sSubSup>
                          <m:sSubSupPr>
                            <m:ctrlPr>
                              <a:rPr lang="en-US" altLang="zh-CN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  <m:sup>
                            <m:r>
                              <a:rPr lang="en-US" altLang="zh-CN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~ 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72FA4EC-EB01-6B08-38C7-BA136100B0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0232" y="3612420"/>
                  <a:ext cx="1850057" cy="47442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: 圆角 24">
                  <a:extLst>
                    <a:ext uri="{FF2B5EF4-FFF2-40B4-BE49-F238E27FC236}">
                      <a16:creationId xmlns:a16="http://schemas.microsoft.com/office/drawing/2014/main" id="{92132BD6-CFD6-F6C9-3A23-9DB8756C56C0}"/>
                    </a:ext>
                  </a:extLst>
                </p:cNvPr>
                <p:cNvSpPr/>
                <p:nvPr/>
              </p:nvSpPr>
              <p:spPr>
                <a:xfrm>
                  <a:off x="576362" y="3625998"/>
                  <a:ext cx="2815992" cy="447268"/>
                </a:xfrm>
                <a:prstGeom prst="round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由 样本方差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zh-CN" altLang="en-US" sz="1400" dirty="0">
                      <a:solidFill>
                        <a:schemeClr val="tx1"/>
                      </a:solidFill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 构造的统计量</a:t>
                  </a:r>
                </a:p>
              </p:txBody>
            </p:sp>
          </mc:Choice>
          <mc:Fallback xmlns="">
            <p:sp>
              <p:nvSpPr>
                <p:cNvPr id="25" name="矩形: 圆角 24">
                  <a:extLst>
                    <a:ext uri="{FF2B5EF4-FFF2-40B4-BE49-F238E27FC236}">
                      <a16:creationId xmlns:a16="http://schemas.microsoft.com/office/drawing/2014/main" id="{92132BD6-CFD6-F6C9-3A23-9DB8756C56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362" y="3625998"/>
                  <a:ext cx="2815992" cy="447268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59780F8-18CC-B30C-D4D7-B32F92F7EF4F}"/>
              </a:ext>
            </a:extLst>
          </p:cNvPr>
          <p:cNvGrpSpPr/>
          <p:nvPr/>
        </p:nvGrpSpPr>
        <p:grpSpPr>
          <a:xfrm>
            <a:off x="576361" y="4406939"/>
            <a:ext cx="8448001" cy="637226"/>
            <a:chOff x="576361" y="4406939"/>
            <a:chExt cx="8448001" cy="6372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ED2B868-DB15-C952-2FF4-9873277213B1}"/>
                    </a:ext>
                  </a:extLst>
                </p:cNvPr>
                <p:cNvSpPr txBox="1"/>
                <p:nvPr/>
              </p:nvSpPr>
              <p:spPr>
                <a:xfrm>
                  <a:off x="4109059" y="4406939"/>
                  <a:ext cx="1783309" cy="61433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zh-CN" altLang="en-US" b="1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acc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altLang="zh-CN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  <m:sup>
                                <m:r>
                                  <a:rPr lang="en-US" altLang="zh-CN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~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ED2B868-DB15-C952-2FF4-9873277213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9059" y="4406939"/>
                  <a:ext cx="1783309" cy="61433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020A3F1-158B-B9AD-F4D7-BEB9C1F48D3E}"/>
                    </a:ext>
                  </a:extLst>
                </p:cNvPr>
                <p:cNvSpPr txBox="1"/>
                <p:nvPr/>
              </p:nvSpPr>
              <p:spPr>
                <a:xfrm>
                  <a:off x="6820232" y="4407644"/>
                  <a:ext cx="2204130" cy="6365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zh-CN" altLang="en-US" b="1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acc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rad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~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020A3F1-158B-B9AD-F4D7-BEB9C1F48D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0232" y="4407644"/>
                  <a:ext cx="2204130" cy="6365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: 圆角 25">
                  <a:extLst>
                    <a:ext uri="{FF2B5EF4-FFF2-40B4-BE49-F238E27FC236}">
                      <a16:creationId xmlns:a16="http://schemas.microsoft.com/office/drawing/2014/main" id="{801339FA-C12C-537B-DE11-6B8594FEC721}"/>
                    </a:ext>
                  </a:extLst>
                </p:cNvPr>
                <p:cNvSpPr/>
                <p:nvPr/>
              </p:nvSpPr>
              <p:spPr>
                <a:xfrm>
                  <a:off x="576361" y="4407644"/>
                  <a:ext cx="2815993" cy="613630"/>
                </a:xfrm>
                <a:prstGeom prst="roundRect">
                  <a:avLst/>
                </a:prstGeom>
                <a:gradFill>
                  <a:gsLst>
                    <a:gs pos="0">
                      <a:schemeClr val="accent5">
                        <a:lumMod val="20000"/>
                        <a:lumOff val="8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由 样本均值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a14:m>
                  <a:r>
                    <a:rPr lang="zh-CN" altLang="en-US" sz="1400" dirty="0">
                      <a:solidFill>
                        <a:schemeClr val="tx1"/>
                      </a:solidFill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 和 样本标准差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endParaRPr lang="en-US" altLang="zh-CN" sz="14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构造的统计量</a:t>
                  </a:r>
                </a:p>
              </p:txBody>
            </p:sp>
          </mc:Choice>
          <mc:Fallback xmlns="">
            <p:sp>
              <p:nvSpPr>
                <p:cNvPr id="26" name="矩形: 圆角 25">
                  <a:extLst>
                    <a:ext uri="{FF2B5EF4-FFF2-40B4-BE49-F238E27FC236}">
                      <a16:creationId xmlns:a16="http://schemas.microsoft.com/office/drawing/2014/main" id="{801339FA-C12C-537B-DE11-6B8594FEC7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361" y="4407644"/>
                  <a:ext cx="2815993" cy="613630"/>
                </a:xfrm>
                <a:prstGeom prst="roundRect">
                  <a:avLst/>
                </a:prstGeom>
                <a:blipFill>
                  <a:blip r:embed="rId12"/>
                  <a:stretch>
                    <a:fillRect b="-198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427833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53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6.1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0,1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𝑆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为样本方差，则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𝑛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𝑆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___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___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___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CN" sz="1600" i="1" dirty="0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=2</m:t>
                            </m:r>
                          </m:sub>
                          <m:sup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den>
                    </m:f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___.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530530"/>
              </a:xfrm>
              <a:prstGeom prst="rect">
                <a:avLst/>
              </a:prstGeom>
              <a:blipFill>
                <a:blip r:embed="rId3"/>
                <a:stretch>
                  <a:fillRect l="-274" t="-3448" r="-659" b="-747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1960738"/>
                <a:ext cx="11108176" cy="859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解：总体的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𝑛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𝑆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𝑆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−1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2(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−1)</m:t>
                    </m:r>
                  </m:oMath>
                </a14:m>
                <a:r>
                  <a:rPr lang="en-US" altLang="zh-CN" sz="1600" i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=2</m:t>
                            </m:r>
                          </m:sub>
                          <m:sup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1600" i="1" dirty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den>
                    </m:f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/1</m:t>
                        </m:r>
                      </m:num>
                      <m:den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(</m:t>
                        </m:r>
                        <m:nary>
                          <m:naryPr>
                            <m:chr m:val="∑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=2</m:t>
                            </m:r>
                          </m:sub>
                          <m:sup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1600" i="1" dirty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)/(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−1)</m:t>
                        </m:r>
                      </m:den>
                    </m:f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𝐹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(1,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𝑛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−1)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960738"/>
                <a:ext cx="11108176" cy="859979"/>
              </a:xfrm>
              <a:prstGeom prst="rect">
                <a:avLst/>
              </a:prstGeom>
              <a:blipFill>
                <a:blip r:embed="rId4"/>
                <a:stretch>
                  <a:fillRect l="-274" b="-460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110DD7-47AC-B1E9-0C6D-518091566192}"/>
              </a:ext>
            </a:extLst>
          </p:cNvPr>
          <p:cNvCxnSpPr>
            <a:cxnSpLocks/>
          </p:cNvCxnSpPr>
          <p:nvPr/>
        </p:nvCxnSpPr>
        <p:spPr>
          <a:xfrm>
            <a:off x="580118" y="3047453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E22989E-3591-22A9-D6AB-A2C3D13C887C}"/>
                  </a:ext>
                </a:extLst>
              </p:cNvPr>
              <p:cNvSpPr txBox="1"/>
              <p:nvPr/>
            </p:nvSpPr>
            <p:spPr>
              <a:xfrm>
                <a:off x="507460" y="3330324"/>
                <a:ext cx="11108176" cy="839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6.2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3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4</m:t>
                        </m:r>
                      </m:sub>
                    </m:sSub>
                    <m:r>
                      <a:rPr lang="en-US" altLang="zh-CN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是总体</a:t>
                </a:r>
                <a14:m>
                  <m:oMath xmlns:m="http://schemas.openxmlformats.org/officeDocument/2006/math">
                    <m:r>
                      <a:rPr lang="en-US" altLang="zh-CN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zh-CN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𝜇</m:t>
                        </m:r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zh-CN" altLang="en-US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的一个样本，其样本均值为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，样本方差为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；又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𝜇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且与样本独立，</a:t>
                </a:r>
                <a:endParaRPr lang="en-US" altLang="zh-CN" sz="1600" dirty="0">
                  <a:solidFill>
                    <a:schemeClr val="tx1"/>
                  </a:solidFill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            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试求统计量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𝑇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num>
                      <m:den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+1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服从的分布。</a:t>
                </a:r>
                <a:endParaRPr lang="en-US" altLang="zh-CN" sz="1600" dirty="0">
                  <a:solidFill>
                    <a:schemeClr val="tx1"/>
                  </a:solidFill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E22989E-3591-22A9-D6AB-A2C3D13C8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330324"/>
                <a:ext cx="11108176" cy="839653"/>
              </a:xfrm>
              <a:prstGeom prst="rect">
                <a:avLst/>
              </a:prstGeom>
              <a:blipFill>
                <a:blip r:embed="rId5"/>
                <a:stretch>
                  <a:fillRect l="-274" t="-1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36EE08C-9F60-C7BB-1C31-F50963D7C43C}"/>
                  </a:ext>
                </a:extLst>
              </p:cNvPr>
              <p:cNvSpPr txBox="1"/>
              <p:nvPr/>
            </p:nvSpPr>
            <p:spPr>
              <a:xfrm>
                <a:off x="507460" y="4197609"/>
                <a:ext cx="11108176" cy="1524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解：易得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+1</m:t>
                        </m:r>
                      </m:sub>
                    </m:sSub>
                    <m:r>
                      <a:rPr lang="en-US" altLang="zh-CN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zh-CN" altLang="en-US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𝜇</m:t>
                        </m:r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zh-CN" altLang="en-US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+1</m:t>
                        </m:r>
                      </m:sub>
                    </m:sSub>
                    <m:r>
                      <a:rPr lang="en-US" altLang="zh-CN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(0, </m:t>
                    </m:r>
                    <m:f>
                      <m:f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+1</m:t>
                        </m:r>
                      </m:num>
                      <m:den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 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zh-CN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zh-C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𝑛</m:t>
                                </m:r>
                                <m:r>
                                  <a:rPr lang="en-US" altLang="zh-CN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+1</m:t>
                                </m:r>
                              </m:num>
                              <m:den>
                                <m:r>
                                  <a:rPr lang="en-US" altLang="zh-CN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𝑛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~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𝑁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(0,1)</m:t>
                    </m:r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en-US" altLang="zh-CN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又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Sup>
                      <m:sSubSup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𝑇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num>
                      <m:den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+1</m:t>
                            </m:r>
                          </m:den>
                        </m:f>
                      </m:e>
                    </m:ra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𝑛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16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+1</m:t>
                                    </m:r>
                                  </m:num>
                                  <m:den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𝑛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/(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−1)</m:t>
                            </m:r>
                          </m:e>
                        </m:ra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𝑡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−1)</m:t>
                    </m:r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36EE08C-9F60-C7BB-1C31-F50963D7C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4197609"/>
                <a:ext cx="11108176" cy="1524328"/>
              </a:xfrm>
              <a:prstGeom prst="rect">
                <a:avLst/>
              </a:prstGeom>
              <a:blipFill>
                <a:blip r:embed="rId6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FEA57371-77C0-CD4B-0F96-0C0ED39FF46A}"/>
              </a:ext>
            </a:extLst>
          </p:cNvPr>
          <p:cNvSpPr txBox="1"/>
          <p:nvPr/>
        </p:nvSpPr>
        <p:spPr>
          <a:xfrm>
            <a:off x="507461" y="496110"/>
            <a:ext cx="2515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抽样分布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6D5263-D00F-625F-34B0-0E8731A163C8}"/>
              </a:ext>
            </a:extLst>
          </p:cNvPr>
          <p:cNvSpPr txBox="1"/>
          <p:nvPr/>
        </p:nvSpPr>
        <p:spPr>
          <a:xfrm>
            <a:off x="3023118" y="775742"/>
            <a:ext cx="2171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正态总体的抽样分布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681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 build="p"/>
      <p:bldP spid="5" grpId="0"/>
      <p:bldP spid="6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DA699433-94B9-422C-C0AC-B8CF736B0CE1}"/>
              </a:ext>
            </a:extLst>
          </p:cNvPr>
          <p:cNvCxnSpPr>
            <a:cxnSpLocks/>
          </p:cNvCxnSpPr>
          <p:nvPr/>
        </p:nvCxnSpPr>
        <p:spPr>
          <a:xfrm>
            <a:off x="0" y="4384053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9FD73E4-56FA-6572-DE2B-71618A131228}"/>
              </a:ext>
            </a:extLst>
          </p:cNvPr>
          <p:cNvCxnSpPr>
            <a:cxnSpLocks/>
          </p:cNvCxnSpPr>
          <p:nvPr/>
        </p:nvCxnSpPr>
        <p:spPr>
          <a:xfrm>
            <a:off x="0" y="2322612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4802336" y="2082818"/>
            <a:ext cx="2587326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数理统计的基本概念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170BE7-0F76-5811-175E-EA30464C19C2}"/>
              </a:ext>
            </a:extLst>
          </p:cNvPr>
          <p:cNvSpPr txBox="1"/>
          <p:nvPr/>
        </p:nvSpPr>
        <p:spPr>
          <a:xfrm>
            <a:off x="4802336" y="4183998"/>
            <a:ext cx="2587326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常用统计分布</a:t>
            </a: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224B2CB-7DEC-89D6-385B-3B3A5D8DBA8B}"/>
              </a:ext>
            </a:extLst>
          </p:cNvPr>
          <p:cNvCxnSpPr>
            <a:cxnSpLocks/>
          </p:cNvCxnSpPr>
          <p:nvPr/>
        </p:nvCxnSpPr>
        <p:spPr>
          <a:xfrm>
            <a:off x="0" y="5408005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7AB62AB-D9C7-9698-0FC6-8674D5DF6915}"/>
              </a:ext>
            </a:extLst>
          </p:cNvPr>
          <p:cNvSpPr txBox="1"/>
          <p:nvPr/>
        </p:nvSpPr>
        <p:spPr>
          <a:xfrm>
            <a:off x="4802336" y="5204651"/>
            <a:ext cx="2604109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抽样分布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3D7142-4BB3-9AA1-B5B8-3F27DC579DCE}"/>
              </a:ext>
            </a:extLst>
          </p:cNvPr>
          <p:cNvSpPr txBox="1"/>
          <p:nvPr/>
        </p:nvSpPr>
        <p:spPr>
          <a:xfrm>
            <a:off x="4238519" y="528331"/>
            <a:ext cx="3825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数理统计 抽样分布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8F909CA-2FBE-AACA-5C66-D51B6896BC78}"/>
              </a:ext>
            </a:extLst>
          </p:cNvPr>
          <p:cNvGrpSpPr/>
          <p:nvPr/>
        </p:nvGrpSpPr>
        <p:grpSpPr>
          <a:xfrm>
            <a:off x="817056" y="1397745"/>
            <a:ext cx="10557885" cy="558229"/>
            <a:chOff x="755064" y="2416389"/>
            <a:chExt cx="10557885" cy="55822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32D37FF5-18AA-650A-15CE-6CE645306310}"/>
                </a:ext>
              </a:extLst>
            </p:cNvPr>
            <p:cNvSpPr txBox="1"/>
            <p:nvPr/>
          </p:nvSpPr>
          <p:spPr>
            <a:xfrm>
              <a:off x="981383" y="2416389"/>
              <a:ext cx="7703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00B050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总体</a:t>
              </a:r>
              <a:endParaRPr lang="en-US" altLang="zh-CN" sz="1600" dirty="0">
                <a:solidFill>
                  <a:srgbClr val="00B050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222EDA0-A32B-1F85-BCE9-B1A8300A0EF9}"/>
                </a:ext>
              </a:extLst>
            </p:cNvPr>
            <p:cNvSpPr txBox="1"/>
            <p:nvPr/>
          </p:nvSpPr>
          <p:spPr>
            <a:xfrm>
              <a:off x="2814697" y="2416389"/>
              <a:ext cx="7703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accent6">
                      <a:lumMod val="75000"/>
                    </a:schemeClr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样本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7B4A4D4-43EC-84EC-E7B6-B191506674F5}"/>
                </a:ext>
              </a:extLst>
            </p:cNvPr>
            <p:cNvSpPr txBox="1"/>
            <p:nvPr/>
          </p:nvSpPr>
          <p:spPr>
            <a:xfrm>
              <a:off x="7918344" y="2416389"/>
              <a:ext cx="10774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00B0F0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统计量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5FFD965-159A-6E8B-425B-55F8403384B7}"/>
                </a:ext>
              </a:extLst>
            </p:cNvPr>
            <p:cNvSpPr txBox="1"/>
            <p:nvPr/>
          </p:nvSpPr>
          <p:spPr>
            <a:xfrm>
              <a:off x="9317516" y="2636064"/>
              <a:ext cx="16279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accent5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统计量的观测值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261D18B-219B-A70B-B54A-9444A9A00E8C}"/>
                </a:ext>
              </a:extLst>
            </p:cNvPr>
            <p:cNvSpPr txBox="1"/>
            <p:nvPr/>
          </p:nvSpPr>
          <p:spPr>
            <a:xfrm>
              <a:off x="4500385" y="2631061"/>
              <a:ext cx="14837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accent6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样本的观测值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2E8EE98-3FE5-BA86-C684-F47618BBCCE3}"/>
                    </a:ext>
                  </a:extLst>
                </p:cNvPr>
                <p:cNvSpPr txBox="1"/>
                <p:nvPr/>
              </p:nvSpPr>
              <p:spPr>
                <a:xfrm>
                  <a:off x="755064" y="2665882"/>
                  <a:ext cx="1212230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solidFill>
                        <a:srgbClr val="00B050"/>
                      </a:solidFill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一维随机变量</a:t>
                  </a:r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𝑋</m:t>
                      </m:r>
                    </m:oMath>
                  </a14:m>
                  <a:endParaRPr lang="zh-CN" altLang="en-US" sz="1200" dirty="0">
                    <a:solidFill>
                      <a:srgbClr val="00B05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2E8EE98-3FE5-BA86-C684-F47618BBC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064" y="2665882"/>
                  <a:ext cx="1212230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1DCE60A3-6742-3CDE-911E-4346703428DF}"/>
                    </a:ext>
                  </a:extLst>
                </p:cNvPr>
                <p:cNvSpPr txBox="1"/>
                <p:nvPr/>
              </p:nvSpPr>
              <p:spPr>
                <a:xfrm>
                  <a:off x="2182558" y="2665881"/>
                  <a:ext cx="2091099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𝑛</m:t>
                      </m:r>
                    </m:oMath>
                  </a14:m>
                  <a:r>
                    <a:rPr lang="zh-CN" altLang="en-US" sz="1200" dirty="0">
                      <a:solidFill>
                        <a:schemeClr val="accent6">
                          <a:lumMod val="75000"/>
                        </a:schemeClr>
                      </a:solidFill>
                      <a:latin typeface="仿宋" panose="02010609060101010101" pitchFamily="49" charset="-122"/>
                      <a:ea typeface="仿宋" panose="02010609060101010101" pitchFamily="49" charset="-122"/>
                    </a:rPr>
                    <a:t>维随机变量</a:t>
                  </a:r>
                  <a14:m>
                    <m:oMath xmlns:m="http://schemas.openxmlformats.org/officeDocument/2006/math">
                      <m:r>
                        <a:rPr lang="en-US" altLang="zh-CN" sz="1200" b="0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12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200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1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1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200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,…,</m:t>
                      </m:r>
                      <m:sSub>
                        <m:sSubPr>
                          <m:ctrlPr>
                            <a:rPr lang="en-US" altLang="zh-CN" sz="1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1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200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)</m:t>
                      </m:r>
                    </m:oMath>
                  </a14:m>
                  <a:endParaRPr lang="zh-CN" altLang="en-US" sz="1200" dirty="0">
                    <a:solidFill>
                      <a:schemeClr val="accent6">
                        <a:lumMod val="75000"/>
                      </a:schemeClr>
                    </a:solidFill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1DCE60A3-6742-3CDE-911E-4346703428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558" y="2665881"/>
                  <a:ext cx="2091099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78055FC-8F42-217E-52BE-0F4061E047BA}"/>
                    </a:ext>
                  </a:extLst>
                </p:cNvPr>
                <p:cNvSpPr txBox="1"/>
                <p:nvPr/>
              </p:nvSpPr>
              <p:spPr>
                <a:xfrm>
                  <a:off x="5820594" y="2691026"/>
                  <a:ext cx="170957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𝑛</m:t>
                      </m:r>
                    </m:oMath>
                  </a14:m>
                  <a:r>
                    <a:rPr lang="zh-CN" altLang="en-US" sz="1200" dirty="0">
                      <a:solidFill>
                        <a:schemeClr val="accent6"/>
                      </a:solidFill>
                      <a:latin typeface="仿宋" panose="02010609060101010101" pitchFamily="49" charset="-122"/>
                      <a:ea typeface="仿宋" panose="02010609060101010101" pitchFamily="49" charset="-122"/>
                    </a:rPr>
                    <a:t>维向量</a:t>
                  </a:r>
                  <a14:m>
                    <m:oMath xmlns:m="http://schemas.openxmlformats.org/officeDocument/2006/math">
                      <m:r>
                        <a:rPr lang="en-US" altLang="zh-CN" sz="1200" b="0" i="0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2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12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2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12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12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2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,…,</m:t>
                      </m:r>
                      <m:sSub>
                        <m:sSubPr>
                          <m:ctrlPr>
                            <a:rPr lang="en-US" altLang="zh-CN" sz="12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12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200" b="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)</m:t>
                      </m:r>
                    </m:oMath>
                  </a14:m>
                  <a:endParaRPr lang="zh-CN" altLang="en-US" sz="1200" dirty="0">
                    <a:solidFill>
                      <a:schemeClr val="accent6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78055FC-8F42-217E-52BE-0F4061E047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0594" y="2691026"/>
                  <a:ext cx="1709578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1E1B5DB2-8571-C392-C912-D795148924EE}"/>
                    </a:ext>
                  </a:extLst>
                </p:cNvPr>
                <p:cNvSpPr txBox="1"/>
                <p:nvPr/>
              </p:nvSpPr>
              <p:spPr>
                <a:xfrm>
                  <a:off x="7800426" y="2665086"/>
                  <a:ext cx="123014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solidFill>
                        <a:srgbClr val="00B0F0"/>
                      </a:solidFill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一维随机变量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12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𝑋</m:t>
                          </m:r>
                        </m:e>
                      </m:acc>
                    </m:oMath>
                  </a14:m>
                  <a:endParaRPr lang="zh-CN" altLang="en-US" sz="1200" dirty="0">
                    <a:solidFill>
                      <a:srgbClr val="00B0F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1E1B5DB2-8571-C392-C912-D795148924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0426" y="2665086"/>
                  <a:ext cx="1230141" cy="276999"/>
                </a:xfrm>
                <a:prstGeom prst="rect">
                  <a:avLst/>
                </a:prstGeom>
                <a:blipFill>
                  <a:blip r:embed="rId6"/>
                  <a:stretch>
                    <a:fillRect r="-7921" b="-152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D2E4C54-0C46-39C5-5FD4-4872E301F5C0}"/>
                </a:ext>
              </a:extLst>
            </p:cNvPr>
            <p:cNvSpPr txBox="1"/>
            <p:nvPr/>
          </p:nvSpPr>
          <p:spPr>
            <a:xfrm>
              <a:off x="10799098" y="2696028"/>
              <a:ext cx="51385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常量</a:t>
              </a:r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C2FED1F2-1BF2-A8E7-2CC5-155407AEF882}"/>
                </a:ext>
              </a:extLst>
            </p:cNvPr>
            <p:cNvCxnSpPr>
              <a:cxnSpLocks/>
            </p:cNvCxnSpPr>
            <p:nvPr/>
          </p:nvCxnSpPr>
          <p:spPr>
            <a:xfrm>
              <a:off x="1755292" y="2576170"/>
              <a:ext cx="1062963" cy="0"/>
            </a:xfrm>
            <a:prstGeom prst="straightConnector1">
              <a:avLst/>
            </a:prstGeom>
            <a:ln w="28575">
              <a:gradFill>
                <a:gsLst>
                  <a:gs pos="0">
                    <a:srgbClr val="00B050"/>
                  </a:gs>
                  <a:gs pos="100000">
                    <a:schemeClr val="accent6">
                      <a:lumMod val="50000"/>
                    </a:schemeClr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BB492B2B-2B24-A10D-0778-1C713E33E605}"/>
                </a:ext>
              </a:extLst>
            </p:cNvPr>
            <p:cNvCxnSpPr>
              <a:cxnSpLocks/>
            </p:cNvCxnSpPr>
            <p:nvPr/>
          </p:nvCxnSpPr>
          <p:spPr>
            <a:xfrm>
              <a:off x="3585048" y="2576170"/>
              <a:ext cx="4464248" cy="0"/>
            </a:xfrm>
            <a:prstGeom prst="straightConnector1">
              <a:avLst/>
            </a:prstGeom>
            <a:ln w="28575">
              <a:gradFill>
                <a:gsLst>
                  <a:gs pos="100000">
                    <a:srgbClr val="00B0F0"/>
                  </a:gs>
                  <a:gs pos="3000">
                    <a:schemeClr val="accent6">
                      <a:lumMod val="50000"/>
                    </a:schemeClr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连接符: 肘形 28">
              <a:extLst>
                <a:ext uri="{FF2B5EF4-FFF2-40B4-BE49-F238E27FC236}">
                  <a16:creationId xmlns:a16="http://schemas.microsoft.com/office/drawing/2014/main" id="{0E7C3A9A-92E0-4302-6972-8D5F63B45F8F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>
              <a:off x="4240124" y="2576170"/>
              <a:ext cx="260261" cy="224168"/>
            </a:xfrm>
            <a:prstGeom prst="bentConnector3">
              <a:avLst/>
            </a:prstGeom>
            <a:ln w="19050">
              <a:gradFill>
                <a:gsLst>
                  <a:gs pos="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0"/>
              </a:gradFill>
              <a:headEnd type="none" w="med" len="med"/>
              <a:tailEnd type="arrow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0" name="连接符: 肘形 29">
              <a:extLst>
                <a:ext uri="{FF2B5EF4-FFF2-40B4-BE49-F238E27FC236}">
                  <a16:creationId xmlns:a16="http://schemas.microsoft.com/office/drawing/2014/main" id="{3D6B1A4F-52B6-1DC3-F941-C800DA56D307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8850381" y="2576170"/>
              <a:ext cx="467135" cy="229171"/>
            </a:xfrm>
            <a:prstGeom prst="bentConnector3">
              <a:avLst/>
            </a:prstGeom>
            <a:ln w="19050">
              <a:gradFill>
                <a:gsLst>
                  <a:gs pos="100000">
                    <a:schemeClr val="accent1"/>
                  </a:gs>
                  <a:gs pos="0">
                    <a:srgbClr val="00B0F0"/>
                  </a:gs>
                </a:gsLst>
                <a:lin ang="0" scaled="0"/>
              </a:gradFill>
              <a:headEnd type="none" w="med" len="med"/>
              <a:tailEnd type="arrow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AE0B124-0675-7E21-EA8C-E997A930B02E}"/>
              </a:ext>
            </a:extLst>
          </p:cNvPr>
          <p:cNvGrpSpPr/>
          <p:nvPr/>
        </p:nvGrpSpPr>
        <p:grpSpPr>
          <a:xfrm>
            <a:off x="879644" y="2193015"/>
            <a:ext cx="951051" cy="824893"/>
            <a:chOff x="198197" y="3735032"/>
            <a:chExt cx="951051" cy="8248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: 圆角 33">
                  <a:extLst>
                    <a:ext uri="{FF2B5EF4-FFF2-40B4-BE49-F238E27FC236}">
                      <a16:creationId xmlns:a16="http://schemas.microsoft.com/office/drawing/2014/main" id="{0A77ECE5-A2A6-562A-32C9-80C096AD725D}"/>
                    </a:ext>
                  </a:extLst>
                </p:cNvPr>
                <p:cNvSpPr/>
                <p:nvPr/>
              </p:nvSpPr>
              <p:spPr>
                <a:xfrm>
                  <a:off x="198197" y="3735032"/>
                  <a:ext cx="951051" cy="322612"/>
                </a:xfrm>
                <a:prstGeom prst="round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1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样本均值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11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a14:m>
                  <a:endParaRPr lang="zh-CN" altLang="en-US" sz="11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34" name="矩形: 圆角 33">
                  <a:extLst>
                    <a:ext uri="{FF2B5EF4-FFF2-40B4-BE49-F238E27FC236}">
                      <a16:creationId xmlns:a16="http://schemas.microsoft.com/office/drawing/2014/main" id="{0A77ECE5-A2A6-562A-32C9-80C096AD72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197" y="3735032"/>
                  <a:ext cx="951051" cy="322612"/>
                </a:xfrm>
                <a:prstGeom prst="roundRect">
                  <a:avLst/>
                </a:prstGeom>
                <a:blipFill>
                  <a:blip r:embed="rId7"/>
                  <a:stretch>
                    <a:fillRect r="-4487" b="-377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F40C6BE6-5AE6-C739-AF05-6F6970B80D4C}"/>
                    </a:ext>
                  </a:extLst>
                </p:cNvPr>
                <p:cNvSpPr txBox="1"/>
                <p:nvPr/>
              </p:nvSpPr>
              <p:spPr>
                <a:xfrm>
                  <a:off x="270241" y="4097811"/>
                  <a:ext cx="765530" cy="46211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11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1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CN" altLang="en-US" sz="1100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F40C6BE6-5AE6-C739-AF05-6F6970B80D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241" y="4097811"/>
                  <a:ext cx="765530" cy="462114"/>
                </a:xfrm>
                <a:prstGeom prst="rect">
                  <a:avLst/>
                </a:prstGeom>
                <a:blipFill>
                  <a:blip r:embed="rId8"/>
                  <a:stretch>
                    <a:fillRect l="-17460" t="-122368" r="-115079" b="-184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AAC01AB-F971-DDD3-7F3F-1676CDE3E0AA}"/>
              </a:ext>
            </a:extLst>
          </p:cNvPr>
          <p:cNvGrpSpPr/>
          <p:nvPr/>
        </p:nvGrpSpPr>
        <p:grpSpPr>
          <a:xfrm>
            <a:off x="1885644" y="2192832"/>
            <a:ext cx="1182183" cy="793930"/>
            <a:chOff x="1364926" y="2192832"/>
            <a:chExt cx="1182183" cy="7939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: 圆角 36">
                  <a:extLst>
                    <a:ext uri="{FF2B5EF4-FFF2-40B4-BE49-F238E27FC236}">
                      <a16:creationId xmlns:a16="http://schemas.microsoft.com/office/drawing/2014/main" id="{76938B7F-5FF7-0DDF-219E-A6B6303F0707}"/>
                    </a:ext>
                  </a:extLst>
                </p:cNvPr>
                <p:cNvSpPr/>
                <p:nvPr/>
              </p:nvSpPr>
              <p:spPr>
                <a:xfrm>
                  <a:off x="1480493" y="2192832"/>
                  <a:ext cx="951051" cy="290096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1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样本方差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10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a14:m>
                  <a:endParaRPr lang="zh-CN" altLang="en-US" sz="11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37" name="矩形: 圆角 36">
                  <a:extLst>
                    <a:ext uri="{FF2B5EF4-FFF2-40B4-BE49-F238E27FC236}">
                      <a16:creationId xmlns:a16="http://schemas.microsoft.com/office/drawing/2014/main" id="{76938B7F-5FF7-0DDF-219E-A6B6303F07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0493" y="2192832"/>
                  <a:ext cx="951051" cy="290096"/>
                </a:xfrm>
                <a:prstGeom prst="roundRect">
                  <a:avLst/>
                </a:prstGeom>
                <a:blipFill>
                  <a:blip r:embed="rId9"/>
                  <a:stretch>
                    <a:fillRect b="-1063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C6A1628C-F652-F8F9-8A60-665A83B88DEC}"/>
                    </a:ext>
                  </a:extLst>
                </p:cNvPr>
                <p:cNvSpPr txBox="1"/>
                <p:nvPr/>
              </p:nvSpPr>
              <p:spPr>
                <a:xfrm>
                  <a:off x="1364926" y="2524648"/>
                  <a:ext cx="1182183" cy="46211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1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10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1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1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1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zh-CN" altLang="en-US" sz="11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1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CN" sz="11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 sz="1100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C6A1628C-F652-F8F9-8A60-665A83B88D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4926" y="2524648"/>
                  <a:ext cx="1182183" cy="462114"/>
                </a:xfrm>
                <a:prstGeom prst="rect">
                  <a:avLst/>
                </a:prstGeom>
                <a:blipFill>
                  <a:blip r:embed="rId10"/>
                  <a:stretch>
                    <a:fillRect l="-6701" t="-122368" r="-44330" b="-184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B708B5A-8333-2E2A-4DCA-23274CB67265}"/>
              </a:ext>
            </a:extLst>
          </p:cNvPr>
          <p:cNvGrpSpPr/>
          <p:nvPr/>
        </p:nvGrpSpPr>
        <p:grpSpPr>
          <a:xfrm>
            <a:off x="3122778" y="2192832"/>
            <a:ext cx="1245755" cy="712872"/>
            <a:chOff x="7853877" y="2417591"/>
            <a:chExt cx="1245755" cy="7128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矩形: 圆角 45">
                  <a:extLst>
                    <a:ext uri="{FF2B5EF4-FFF2-40B4-BE49-F238E27FC236}">
                      <a16:creationId xmlns:a16="http://schemas.microsoft.com/office/drawing/2014/main" id="{154DCFCD-B19A-9246-4875-A249722CE9C7}"/>
                    </a:ext>
                  </a:extLst>
                </p:cNvPr>
                <p:cNvSpPr/>
                <p:nvPr/>
              </p:nvSpPr>
              <p:spPr>
                <a:xfrm>
                  <a:off x="7853877" y="2417591"/>
                  <a:ext cx="1245755" cy="290092"/>
                </a:xfrm>
                <a:prstGeom prst="round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1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修正样本方差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10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a14:m>
                  <a:endParaRPr lang="zh-CN" altLang="en-US" sz="11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46" name="矩形: 圆角 45">
                  <a:extLst>
                    <a:ext uri="{FF2B5EF4-FFF2-40B4-BE49-F238E27FC236}">
                      <a16:creationId xmlns:a16="http://schemas.microsoft.com/office/drawing/2014/main" id="{154DCFCD-B19A-9246-4875-A249722CE9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3877" y="2417591"/>
                  <a:ext cx="1245755" cy="290092"/>
                </a:xfrm>
                <a:prstGeom prst="roundRect">
                  <a:avLst/>
                </a:prstGeom>
                <a:blipFill>
                  <a:blip r:embed="rId11"/>
                  <a:stretch>
                    <a:fillRect b="-1063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6D6E69D2-9A8F-CD4B-9FAA-799AD7D5DBBF}"/>
                    </a:ext>
                  </a:extLst>
                </p:cNvPr>
                <p:cNvSpPr txBox="1"/>
                <p:nvPr/>
              </p:nvSpPr>
              <p:spPr>
                <a:xfrm>
                  <a:off x="8010408" y="2840575"/>
                  <a:ext cx="932691" cy="289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1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sz="11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1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11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11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1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sSubSup>
                          <m:sSubSupPr>
                            <m:ctrlPr>
                              <a:rPr lang="en-US" altLang="zh-CN" sz="11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1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1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1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CN" altLang="en-US" sz="1100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6D6E69D2-9A8F-CD4B-9FAA-799AD7D5DB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0408" y="2840575"/>
                  <a:ext cx="932691" cy="289888"/>
                </a:xfrm>
                <a:prstGeom prst="rect">
                  <a:avLst/>
                </a:prstGeom>
                <a:blipFill>
                  <a:blip r:embed="rId12"/>
                  <a:stretch>
                    <a:fillRect l="-2614" r="-654" b="-145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4086A0B3-6B79-26D1-553B-F395691CA71E}"/>
              </a:ext>
            </a:extLst>
          </p:cNvPr>
          <p:cNvGrpSpPr/>
          <p:nvPr/>
        </p:nvGrpSpPr>
        <p:grpSpPr>
          <a:xfrm>
            <a:off x="879644" y="3106708"/>
            <a:ext cx="1351808" cy="798793"/>
            <a:chOff x="578491" y="4650075"/>
            <a:chExt cx="1351808" cy="7987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矩形: 圆角 50">
                  <a:extLst>
                    <a:ext uri="{FF2B5EF4-FFF2-40B4-BE49-F238E27FC236}">
                      <a16:creationId xmlns:a16="http://schemas.microsoft.com/office/drawing/2014/main" id="{3B17C00D-1496-7AA1-6679-773D82310A9A}"/>
                    </a:ext>
                  </a:extLst>
                </p:cNvPr>
                <p:cNvSpPr/>
                <p:nvPr/>
              </p:nvSpPr>
              <p:spPr>
                <a:xfrm>
                  <a:off x="578491" y="4650075"/>
                  <a:ext cx="1351808" cy="302076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1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样本</a:t>
                  </a:r>
                  <a14:m>
                    <m:oMath xmlns:m="http://schemas.openxmlformats.org/officeDocument/2006/math">
                      <m:r>
                        <a:rPr lang="en-US" altLang="zh-CN" sz="1100" i="1" dirty="0" smtClean="0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𝑘</m:t>
                      </m:r>
                    </m:oMath>
                  </a14:m>
                  <a:r>
                    <a:rPr lang="zh-CN" altLang="en-US" sz="11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阶原点矩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𝑘</m:t>
                          </m:r>
                        </m:sub>
                      </m:sSub>
                    </m:oMath>
                  </a14:m>
                  <a:endParaRPr lang="zh-CN" altLang="en-US" sz="11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51" name="矩形: 圆角 50">
                  <a:extLst>
                    <a:ext uri="{FF2B5EF4-FFF2-40B4-BE49-F238E27FC236}">
                      <a16:creationId xmlns:a16="http://schemas.microsoft.com/office/drawing/2014/main" id="{3B17C00D-1496-7AA1-6679-773D82310A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491" y="4650075"/>
                  <a:ext cx="1351808" cy="302076"/>
                </a:xfrm>
                <a:prstGeom prst="roundRect">
                  <a:avLst/>
                </a:prstGeom>
                <a:blipFill>
                  <a:blip r:embed="rId13"/>
                  <a:stretch>
                    <a:fillRect b="-816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1A050B2D-AC41-7314-73DC-FB0FD30709C5}"/>
                    </a:ext>
                  </a:extLst>
                </p:cNvPr>
                <p:cNvSpPr txBox="1"/>
                <p:nvPr/>
              </p:nvSpPr>
              <p:spPr>
                <a:xfrm>
                  <a:off x="780739" y="4986754"/>
                  <a:ext cx="869982" cy="46211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1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1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  <a:endParaRPr lang="zh-CN" altLang="en-US" sz="1100" dirty="0"/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1A050B2D-AC41-7314-73DC-FB0FD30709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739" y="4986754"/>
                  <a:ext cx="869982" cy="462114"/>
                </a:xfrm>
                <a:prstGeom prst="rect">
                  <a:avLst/>
                </a:prstGeom>
                <a:blipFill>
                  <a:blip r:embed="rId14"/>
                  <a:stretch>
                    <a:fillRect l="-7692" t="-123684" r="-97203" b="-1828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FAEEA425-9E09-5BB4-38A2-CFF93206C029}"/>
              </a:ext>
            </a:extLst>
          </p:cNvPr>
          <p:cNvGrpSpPr/>
          <p:nvPr/>
        </p:nvGrpSpPr>
        <p:grpSpPr>
          <a:xfrm>
            <a:off x="2371038" y="3105759"/>
            <a:ext cx="1325326" cy="799742"/>
            <a:chOff x="4800690" y="4612654"/>
            <a:chExt cx="1325326" cy="7997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矩形: 圆角 60">
                  <a:extLst>
                    <a:ext uri="{FF2B5EF4-FFF2-40B4-BE49-F238E27FC236}">
                      <a16:creationId xmlns:a16="http://schemas.microsoft.com/office/drawing/2014/main" id="{484EB114-E4EF-1448-7133-5E53C8711FC3}"/>
                    </a:ext>
                  </a:extLst>
                </p:cNvPr>
                <p:cNvSpPr/>
                <p:nvPr/>
              </p:nvSpPr>
              <p:spPr>
                <a:xfrm>
                  <a:off x="4800690" y="4612654"/>
                  <a:ext cx="1292086" cy="298771"/>
                </a:xfrm>
                <a:prstGeom prst="round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1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样本</a:t>
                  </a:r>
                  <a14:m>
                    <m:oMath xmlns:m="http://schemas.openxmlformats.org/officeDocument/2006/math">
                      <m:r>
                        <a:rPr lang="en-US" altLang="zh-CN" sz="1100" i="1" dirty="0" smtClean="0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𝑘</m:t>
                      </m:r>
                    </m:oMath>
                  </a14:m>
                  <a:r>
                    <a:rPr lang="zh-CN" altLang="en-US" sz="11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阶中心矩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1100" i="1"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𝑘</m:t>
                          </m:r>
                        </m:sub>
                      </m:sSub>
                    </m:oMath>
                  </a14:m>
                  <a:endParaRPr lang="zh-CN" altLang="en-US" sz="11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61" name="矩形: 圆角 60">
                  <a:extLst>
                    <a:ext uri="{FF2B5EF4-FFF2-40B4-BE49-F238E27FC236}">
                      <a16:creationId xmlns:a16="http://schemas.microsoft.com/office/drawing/2014/main" id="{484EB114-E4EF-1448-7133-5E53C8711F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690" y="4612654"/>
                  <a:ext cx="1292086" cy="298771"/>
                </a:xfrm>
                <a:prstGeom prst="roundRect">
                  <a:avLst/>
                </a:prstGeom>
                <a:blipFill>
                  <a:blip r:embed="rId15"/>
                  <a:stretch>
                    <a:fillRect b="-1020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F77C270D-5AD2-E841-5F42-CEF73A8F9407}"/>
                    </a:ext>
                  </a:extLst>
                </p:cNvPr>
                <p:cNvSpPr txBox="1"/>
                <p:nvPr/>
              </p:nvSpPr>
              <p:spPr>
                <a:xfrm>
                  <a:off x="4868941" y="4950282"/>
                  <a:ext cx="1257075" cy="46211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1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11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1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11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1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zh-CN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sz="11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sz="1100" b="0" i="1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100" b="0" i="1" smtClean="0">
                                            <a:solidFill>
                                              <a:schemeClr val="accent6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zh-CN" sz="11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zh-CN" altLang="en-US" sz="1100" dirty="0"/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F77C270D-5AD2-E841-5F42-CEF73A8F94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8941" y="4950282"/>
                  <a:ext cx="1257075" cy="462114"/>
                </a:xfrm>
                <a:prstGeom prst="rect">
                  <a:avLst/>
                </a:prstGeom>
                <a:blipFill>
                  <a:blip r:embed="rId16"/>
                  <a:stretch>
                    <a:fillRect l="-5340" t="-123684" r="-36893" b="-1828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F500BEE5-6881-A0CE-2073-4738CB14DDE2}"/>
              </a:ext>
            </a:extLst>
          </p:cNvPr>
          <p:cNvGrpSpPr/>
          <p:nvPr/>
        </p:nvGrpSpPr>
        <p:grpSpPr>
          <a:xfrm>
            <a:off x="4905668" y="2582123"/>
            <a:ext cx="2647208" cy="1103284"/>
            <a:chOff x="4366580" y="2582123"/>
            <a:chExt cx="2647208" cy="1103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8FAC5416-ED08-954D-F6FF-4E9428AF5C95}"/>
                    </a:ext>
                  </a:extLst>
                </p:cNvPr>
                <p:cNvSpPr txBox="1"/>
                <p:nvPr/>
              </p:nvSpPr>
              <p:spPr>
                <a:xfrm>
                  <a:off x="4366580" y="2595701"/>
                  <a:ext cx="94461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𝐸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oMath>
                    </m:oMathPara>
                  </a14:m>
                  <a:endParaRPr lang="en-US" altLang="zh-CN" sz="1200" b="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8FAC5416-ED08-954D-F6FF-4E9428AF5C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6580" y="2595701"/>
                  <a:ext cx="944618" cy="184666"/>
                </a:xfrm>
                <a:prstGeom prst="rect">
                  <a:avLst/>
                </a:prstGeom>
                <a:blipFill>
                  <a:blip r:embed="rId17"/>
                  <a:stretch>
                    <a:fillRect l="-1290" r="-3226" b="-4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91FA8E39-19DA-5467-CCD7-DA1B6F2CB265}"/>
                    </a:ext>
                  </a:extLst>
                </p:cNvPr>
                <p:cNvSpPr txBox="1"/>
                <p:nvPr/>
              </p:nvSpPr>
              <p:spPr>
                <a:xfrm>
                  <a:off x="5852671" y="2582123"/>
                  <a:ext cx="1062086" cy="26180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𝐷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𝑛</m:t>
                          </m:r>
                        </m:den>
                      </m:f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𝐷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en-US" altLang="zh-CN" sz="1200" b="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91FA8E39-19DA-5467-CCD7-DA1B6F2CB2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2671" y="2582123"/>
                  <a:ext cx="1062086" cy="261803"/>
                </a:xfrm>
                <a:prstGeom prst="rect">
                  <a:avLst/>
                </a:prstGeom>
                <a:blipFill>
                  <a:blip r:embed="rId18"/>
                  <a:stretch>
                    <a:fillRect l="-5172" b="-1162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623CC374-0A07-14DA-D7DA-354593F4CD91}"/>
                    </a:ext>
                  </a:extLst>
                </p:cNvPr>
                <p:cNvSpPr txBox="1"/>
                <p:nvPr/>
              </p:nvSpPr>
              <p:spPr>
                <a:xfrm>
                  <a:off x="4412551" y="2987021"/>
                  <a:ext cx="1260089" cy="26180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𝐸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𝑛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𝑛</m:t>
                          </m:r>
                        </m:den>
                      </m:f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𝐷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en-US" altLang="zh-CN" sz="1200" b="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623CC374-0A07-14DA-D7DA-354593F4CD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2551" y="2987021"/>
                  <a:ext cx="1260089" cy="261803"/>
                </a:xfrm>
                <a:prstGeom prst="rect">
                  <a:avLst/>
                </a:prstGeom>
                <a:blipFill>
                  <a:blip r:embed="rId19"/>
                  <a:stretch>
                    <a:fillRect l="-4348" b="-1162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9F1388B4-5354-66FA-3CB4-AF6634BC7F0F}"/>
                    </a:ext>
                  </a:extLst>
                </p:cNvPr>
                <p:cNvSpPr txBox="1"/>
                <p:nvPr/>
              </p:nvSpPr>
              <p:spPr>
                <a:xfrm>
                  <a:off x="5852671" y="3001235"/>
                  <a:ext cx="1089273" cy="2172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𝐸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𝐷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𝑋</m:t>
                          </m:r>
                        </m:e>
                      </m:d>
                    </m:oMath>
                  </a14:m>
                  <a:r>
                    <a:rPr lang="en-US" altLang="zh-CN" sz="1200" b="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9F1388B4-5354-66FA-3CB4-AF6634BC7F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2671" y="3001235"/>
                  <a:ext cx="1089273" cy="217239"/>
                </a:xfrm>
                <a:prstGeom prst="rect">
                  <a:avLst/>
                </a:prstGeom>
                <a:blipFill>
                  <a:blip r:embed="rId20"/>
                  <a:stretch>
                    <a:fillRect l="-5056" b="-2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85B203C9-8F37-8EA6-A826-48E8A6C02CE8}"/>
                    </a:ext>
                  </a:extLst>
                </p:cNvPr>
                <p:cNvSpPr txBox="1"/>
                <p:nvPr/>
              </p:nvSpPr>
              <p:spPr>
                <a:xfrm>
                  <a:off x="4412551" y="3449161"/>
                  <a:ext cx="852606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𝐸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𝑘</m:t>
                          </m:r>
                        </m:sub>
                      </m:sSub>
                    </m:oMath>
                  </a14:m>
                  <a:r>
                    <a:rPr lang="en-US" altLang="zh-CN" sz="1200" b="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85B203C9-8F37-8EA6-A826-48E8A6C02C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2551" y="3449161"/>
                  <a:ext cx="852606" cy="184666"/>
                </a:xfrm>
                <a:prstGeom prst="rect">
                  <a:avLst/>
                </a:prstGeom>
                <a:blipFill>
                  <a:blip r:embed="rId21"/>
                  <a:stretch>
                    <a:fillRect l="-6429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F961B816-7DBF-8412-1688-059B0912DA3E}"/>
                    </a:ext>
                  </a:extLst>
                </p:cNvPr>
                <p:cNvSpPr txBox="1"/>
                <p:nvPr/>
              </p:nvSpPr>
              <p:spPr>
                <a:xfrm>
                  <a:off x="5847571" y="3437262"/>
                  <a:ext cx="1166217" cy="2481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𝑘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groupCh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𝑘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→∞)</m:t>
                      </m:r>
                    </m:oMath>
                  </a14:m>
                  <a:r>
                    <a:rPr lang="en-US" altLang="zh-CN" sz="1200" b="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F961B816-7DBF-8412-1688-059B0912DA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7571" y="3437262"/>
                  <a:ext cx="1166217" cy="248145"/>
                </a:xfrm>
                <a:prstGeom prst="rect">
                  <a:avLst/>
                </a:prstGeom>
                <a:blipFill>
                  <a:blip r:embed="rId22"/>
                  <a:stretch>
                    <a:fillRect l="-4712" t="-7317" b="-658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5" name="左大括号 74">
            <a:extLst>
              <a:ext uri="{FF2B5EF4-FFF2-40B4-BE49-F238E27FC236}">
                <a16:creationId xmlns:a16="http://schemas.microsoft.com/office/drawing/2014/main" id="{7AE37334-2E66-71B9-44C3-CC7C05CC3EE5}"/>
              </a:ext>
            </a:extLst>
          </p:cNvPr>
          <p:cNvSpPr/>
          <p:nvPr/>
        </p:nvSpPr>
        <p:spPr>
          <a:xfrm>
            <a:off x="4618605" y="2578516"/>
            <a:ext cx="192705" cy="1106891"/>
          </a:xfrm>
          <a:prstGeom prst="leftBrace">
            <a:avLst>
              <a:gd name="adj1" fmla="val 48389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34F8A39C-6C60-8446-9F5F-F4043EE3DADC}"/>
              </a:ext>
            </a:extLst>
          </p:cNvPr>
          <p:cNvSpPr/>
          <p:nvPr/>
        </p:nvSpPr>
        <p:spPr>
          <a:xfrm>
            <a:off x="3812613" y="3099438"/>
            <a:ext cx="529885" cy="53438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及其性质</a:t>
            </a: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308108E4-5D91-ABC7-0EC6-C8199B037A32}"/>
              </a:ext>
            </a:extLst>
          </p:cNvPr>
          <p:cNvCxnSpPr>
            <a:stCxn id="76" idx="3"/>
            <a:endCxn id="75" idx="1"/>
          </p:cNvCxnSpPr>
          <p:nvPr/>
        </p:nvCxnSpPr>
        <p:spPr>
          <a:xfrm flipV="1">
            <a:off x="4342498" y="3131962"/>
            <a:ext cx="276107" cy="234671"/>
          </a:xfrm>
          <a:prstGeom prst="straightConnector1">
            <a:avLst/>
          </a:prstGeom>
          <a:ln w="12700">
            <a:prstDash val="sysDot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C0D10FB3-9885-5B2C-9884-EDD5C3D16986}"/>
              </a:ext>
            </a:extLst>
          </p:cNvPr>
          <p:cNvSpPr/>
          <p:nvPr/>
        </p:nvSpPr>
        <p:spPr>
          <a:xfrm>
            <a:off x="8302025" y="2189328"/>
            <a:ext cx="1158259" cy="285688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次序统计量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AF76CFAC-E75B-E79A-C581-AAC779DF24F4}"/>
                  </a:ext>
                </a:extLst>
              </p:cNvPr>
              <p:cNvSpPr txBox="1"/>
              <p:nvPr/>
            </p:nvSpPr>
            <p:spPr>
              <a:xfrm>
                <a:off x="7937524" y="2522668"/>
                <a:ext cx="1975273" cy="29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dirty="0">
                    <a:solidFill>
                      <a:schemeClr val="accent5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最小次序统计量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𝑋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(1)</m:t>
                        </m:r>
                      </m:sub>
                    </m:sSub>
                  </m:oMath>
                </a14:m>
                <a:endParaRPr lang="zh-CN" altLang="en-US" sz="1200" dirty="0">
                  <a:solidFill>
                    <a:schemeClr val="accent5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  <a:cs typeface="汉仪文黑-85W" panose="00020600040101010101" pitchFamily="18" charset="-128"/>
                </a:endParaRPr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AF76CFAC-E75B-E79A-C581-AAC779DF2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524" y="2522668"/>
                <a:ext cx="1975273" cy="294824"/>
              </a:xfrm>
              <a:prstGeom prst="rect">
                <a:avLst/>
              </a:prstGeom>
              <a:blipFill>
                <a:blip r:embed="rId23"/>
                <a:stretch>
                  <a:fillRect t="-2083" b="-10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A0067559-761B-3E48-3506-935C3BE96049}"/>
                  </a:ext>
                </a:extLst>
              </p:cNvPr>
              <p:cNvSpPr txBox="1"/>
              <p:nvPr/>
            </p:nvSpPr>
            <p:spPr>
              <a:xfrm>
                <a:off x="7937524" y="3128555"/>
                <a:ext cx="1975273" cy="29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dirty="0">
                    <a:solidFill>
                      <a:schemeClr val="accent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最大次序统计量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𝑋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(</m:t>
                        </m:r>
                        <m:r>
                          <a:rPr lang="en-US" altLang="zh-CN" sz="1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𝑛</m:t>
                        </m:r>
                        <m:r>
                          <a:rPr lang="en-US" altLang="zh-CN" sz="1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)</m:t>
                        </m:r>
                      </m:sub>
                    </m:sSub>
                  </m:oMath>
                </a14:m>
                <a:endParaRPr lang="zh-CN" altLang="en-US" sz="1200" dirty="0">
                  <a:solidFill>
                    <a:schemeClr val="accent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  <a:cs typeface="汉仪文黑-85W" panose="00020600040101010101" pitchFamily="18" charset="-128"/>
                </a:endParaRPr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A0067559-761B-3E48-3506-935C3BE96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524" y="3128555"/>
                <a:ext cx="1975273" cy="294824"/>
              </a:xfrm>
              <a:prstGeom prst="rect">
                <a:avLst/>
              </a:prstGeom>
              <a:blipFill>
                <a:blip r:embed="rId24"/>
                <a:stretch>
                  <a:fillRect b="-8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A8C7EA33-C785-499E-B8C3-BCB57E3059CD}"/>
                  </a:ext>
                </a:extLst>
              </p:cNvPr>
              <p:cNvSpPr txBox="1"/>
              <p:nvPr/>
            </p:nvSpPr>
            <p:spPr>
              <a:xfrm>
                <a:off x="7889557" y="2786851"/>
                <a:ext cx="2071208" cy="2249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A8C7EA33-C785-499E-B8C3-BCB57E305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557" y="2786851"/>
                <a:ext cx="2071208" cy="224933"/>
              </a:xfrm>
              <a:prstGeom prst="rect">
                <a:avLst/>
              </a:prstGeom>
              <a:blipFill>
                <a:blip r:embed="rId25"/>
                <a:stretch>
                  <a:fillRect l="-1176" r="-2059"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BF92D0C8-E8B7-D2DF-0AF9-9E79B4C87D75}"/>
                  </a:ext>
                </a:extLst>
              </p:cNvPr>
              <p:cNvSpPr txBox="1"/>
              <p:nvPr/>
            </p:nvSpPr>
            <p:spPr>
              <a:xfrm>
                <a:off x="7889557" y="3391160"/>
                <a:ext cx="1813702" cy="2249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BF92D0C8-E8B7-D2DF-0AF9-9E79B4C87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557" y="3391160"/>
                <a:ext cx="1813702" cy="224933"/>
              </a:xfrm>
              <a:prstGeom prst="rect">
                <a:avLst/>
              </a:prstGeom>
              <a:blipFill>
                <a:blip r:embed="rId26"/>
                <a:stretch>
                  <a:fillRect l="-1342" r="-2349"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67578625-5760-29A7-3FBE-3A0FE8E420F3}"/>
              </a:ext>
            </a:extLst>
          </p:cNvPr>
          <p:cNvSpPr/>
          <p:nvPr/>
        </p:nvSpPr>
        <p:spPr>
          <a:xfrm>
            <a:off x="576363" y="2198142"/>
            <a:ext cx="234996" cy="143568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统计量</a:t>
            </a: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32D95FE3-BCDF-93B5-F728-E975CD20942B}"/>
              </a:ext>
            </a:extLst>
          </p:cNvPr>
          <p:cNvSpPr/>
          <p:nvPr/>
        </p:nvSpPr>
        <p:spPr>
          <a:xfrm>
            <a:off x="10135689" y="2187431"/>
            <a:ext cx="1378982" cy="29482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经验分布函数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D29B3236-0FFB-0A58-67A6-0FC3E734C1C4}"/>
                  </a:ext>
                </a:extLst>
              </p:cNvPr>
              <p:cNvSpPr txBox="1"/>
              <p:nvPr/>
            </p:nvSpPr>
            <p:spPr>
              <a:xfrm>
                <a:off x="10135689" y="2570733"/>
                <a:ext cx="1378982" cy="7801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eqArr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𝑘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/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4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D29B3236-0FFB-0A58-67A6-0FC3E734C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5689" y="2570733"/>
                <a:ext cx="1378982" cy="78015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: 圆角 95">
                <a:extLst>
                  <a:ext uri="{FF2B5EF4-FFF2-40B4-BE49-F238E27FC236}">
                    <a16:creationId xmlns:a16="http://schemas.microsoft.com/office/drawing/2014/main" id="{B09994F4-164A-E42F-F804-7E7A1B3D8480}"/>
                  </a:ext>
                </a:extLst>
              </p:cNvPr>
              <p:cNvSpPr/>
              <p:nvPr/>
            </p:nvSpPr>
            <p:spPr>
              <a:xfrm>
                <a:off x="576363" y="4170817"/>
                <a:ext cx="951051" cy="364571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pPr>
                      <m:e>
                        <m:r>
                          <a:rPr lang="zh-CN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分布</a:t>
                </a:r>
              </a:p>
            </p:txBody>
          </p:sp>
        </mc:Choice>
        <mc:Fallback xmlns="">
          <p:sp>
            <p:nvSpPr>
              <p:cNvPr id="96" name="矩形: 圆角 95">
                <a:extLst>
                  <a:ext uri="{FF2B5EF4-FFF2-40B4-BE49-F238E27FC236}">
                    <a16:creationId xmlns:a16="http://schemas.microsoft.com/office/drawing/2014/main" id="{B09994F4-164A-E42F-F804-7E7A1B3D84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3" y="4170817"/>
                <a:ext cx="951051" cy="364571"/>
              </a:xfrm>
              <a:prstGeom prst="roundRect">
                <a:avLst/>
              </a:prstGeom>
              <a:blipFill>
                <a:blip r:embed="rId28"/>
                <a:stretch>
                  <a:fillRect b="-1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2E0DEBC7-C572-7B5D-9626-9349AA58CC1A}"/>
                  </a:ext>
                </a:extLst>
              </p:cNvPr>
              <p:cNvSpPr txBox="1"/>
              <p:nvPr/>
            </p:nvSpPr>
            <p:spPr>
              <a:xfrm>
                <a:off x="1590013" y="4054879"/>
                <a:ext cx="2724497" cy="5964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bSupPr>
                        <m:e>
                          <m:r>
                            <a:rPr lang="zh-CN" alt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𝝌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𝒏</m:t>
                          </m:r>
                        </m:sub>
                        <m:sup>
                          <m: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𝟐</m:t>
                          </m:r>
                        </m:sup>
                      </m:sSubSup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𝑖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+…+</m:t>
                      </m:r>
                      <m:sSubSup>
                        <m:sSub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2E0DEBC7-C572-7B5D-9626-9349AA58C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013" y="4054879"/>
                <a:ext cx="2724497" cy="596445"/>
              </a:xfrm>
              <a:prstGeom prst="rect">
                <a:avLst/>
              </a:prstGeom>
              <a:blipFill>
                <a:blip r:embed="rId29"/>
                <a:stretch>
                  <a:fillRect t="-95918" b="-1479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1C5EFD2D-1934-A3D4-A5ED-E918BFABCB0A}"/>
                  </a:ext>
                </a:extLst>
              </p:cNvPr>
              <p:cNvSpPr txBox="1"/>
              <p:nvPr/>
            </p:nvSpPr>
            <p:spPr>
              <a:xfrm>
                <a:off x="434834" y="4673440"/>
                <a:ext cx="3827862" cy="3070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</a:t>
                </a:r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</m:ctrlPr>
                          </m:sSubSupPr>
                          <m:e>
                            <m:r>
                              <a:rPr lang="zh-CN" altLang="en-US" sz="1200" b="0" i="1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zh-CN" sz="1200" b="0" i="1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200" b="0" i="1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=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𝑛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,  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</m:ctrlPr>
                          </m:sSubSupPr>
                          <m:e>
                            <m:r>
                              <a:rPr lang="zh-CN" altLang="en-US" sz="1200" b="0" i="1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zh-CN" sz="1200" b="0" i="1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200" b="0" i="1">
                                <a:latin typeface="Cambria Math" panose="02040503050406030204" pitchFamily="18" charset="0"/>
                                <a:ea typeface="方正清刻本悦宋简体" panose="02000000000000000000" pitchFamily="2" charset="-122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zh-CN" sz="1200" b="0" i="1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=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2</m:t>
                    </m:r>
                    <m:r>
                      <a:rPr lang="en-US" altLang="zh-CN" sz="1200" b="0" i="1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𝑛</m:t>
                    </m:r>
                  </m:oMath>
                </a14:m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（</a:t>
                </a:r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p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𝜒</m:t>
                        </m:r>
                      </m:e>
                      <m:sup>
                        <m:r>
                          <a:rPr lang="en-US" altLang="zh-CN" sz="12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分布的可加性</a:t>
                </a:r>
                <a:endParaRPr lang="en-US" altLang="zh-CN" sz="1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1C5EFD2D-1934-A3D4-A5ED-E918BFABC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34" y="4673440"/>
                <a:ext cx="3827862" cy="307058"/>
              </a:xfrm>
              <a:prstGeom prst="rect">
                <a:avLst/>
              </a:prstGeom>
              <a:blipFill>
                <a:blip r:embed="rId30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: 圆角 100">
                <a:extLst>
                  <a:ext uri="{FF2B5EF4-FFF2-40B4-BE49-F238E27FC236}">
                    <a16:creationId xmlns:a16="http://schemas.microsoft.com/office/drawing/2014/main" id="{65B4624D-99AD-9A91-6C32-AF0D9F30DDEC}"/>
                  </a:ext>
                </a:extLst>
              </p:cNvPr>
              <p:cNvSpPr/>
              <p:nvPr/>
            </p:nvSpPr>
            <p:spPr>
              <a:xfrm>
                <a:off x="7724799" y="4166299"/>
                <a:ext cx="951051" cy="364572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𝑡</m:t>
                    </m:r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分布</a:t>
                </a:r>
              </a:p>
            </p:txBody>
          </p:sp>
        </mc:Choice>
        <mc:Fallback xmlns="">
          <p:sp>
            <p:nvSpPr>
              <p:cNvPr id="101" name="矩形: 圆角 100">
                <a:extLst>
                  <a:ext uri="{FF2B5EF4-FFF2-40B4-BE49-F238E27FC236}">
                    <a16:creationId xmlns:a16="http://schemas.microsoft.com/office/drawing/2014/main" id="{65B4624D-99AD-9A91-6C32-AF0D9F30DD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4799" y="4166299"/>
                <a:ext cx="951051" cy="364572"/>
              </a:xfrm>
              <a:prstGeom prst="roundRect">
                <a:avLst/>
              </a:prstGeom>
              <a:blipFill>
                <a:blip r:embed="rId31"/>
                <a:stretch>
                  <a:fillRect b="-1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EA63030F-8ECD-2707-001B-D86EB9AE1644}"/>
                  </a:ext>
                </a:extLst>
              </p:cNvPr>
              <p:cNvSpPr txBox="1"/>
              <p:nvPr/>
            </p:nvSpPr>
            <p:spPr>
              <a:xfrm>
                <a:off x="7672921" y="4647173"/>
                <a:ext cx="2209258" cy="339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𝑇</m:t>
                        </m:r>
                      </m:e>
                    </m:d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=0,  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𝑇</m:t>
                        </m:r>
                      </m:e>
                    </m:d>
                    <m:r>
                      <a:rPr lang="en-US" altLang="zh-CN" sz="1200" b="0" i="1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fPr>
                      <m:num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𝑛</m:t>
                        </m:r>
                      </m:num>
                      <m:den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𝑛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−2</m:t>
                        </m:r>
                      </m:den>
                    </m:f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 (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𝑛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&gt;2)</m:t>
                    </m:r>
                  </m:oMath>
                </a14:m>
                <a:r>
                  <a:rPr lang="zh-CN" altLang="en-US" sz="1200" dirty="0"/>
                  <a:t> </a:t>
                </a:r>
              </a:p>
            </p:txBody>
          </p:sp>
        </mc:Choice>
        <mc:Fallback xmlns="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EA63030F-8ECD-2707-001B-D86EB9AE1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921" y="4647173"/>
                <a:ext cx="2209258" cy="33945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C899B1C4-14DB-EFD1-34F4-C7C6134B7807}"/>
                  </a:ext>
                </a:extLst>
              </p:cNvPr>
              <p:cNvSpPr txBox="1"/>
              <p:nvPr/>
            </p:nvSpPr>
            <p:spPr>
              <a:xfrm>
                <a:off x="8800904" y="4110506"/>
                <a:ext cx="920927" cy="5155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𝑻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𝑋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𝑌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/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C899B1C4-14DB-EFD1-34F4-C7C6134B7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0904" y="4110506"/>
                <a:ext cx="920927" cy="515590"/>
              </a:xfrm>
              <a:prstGeom prst="rect">
                <a:avLst/>
              </a:prstGeom>
              <a:blipFill>
                <a:blip r:embed="rId33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: 圆角 105">
                <a:extLst>
                  <a:ext uri="{FF2B5EF4-FFF2-40B4-BE49-F238E27FC236}">
                    <a16:creationId xmlns:a16="http://schemas.microsoft.com/office/drawing/2014/main" id="{D5BE12F4-35A0-B4C7-CEBD-3F1EE7EC6512}"/>
                  </a:ext>
                </a:extLst>
              </p:cNvPr>
              <p:cNvSpPr/>
              <p:nvPr/>
            </p:nvSpPr>
            <p:spPr>
              <a:xfrm>
                <a:off x="9960765" y="4160917"/>
                <a:ext cx="951051" cy="364573"/>
              </a:xfrm>
              <a:prstGeom prst="roundRect">
                <a:avLst/>
              </a:prstGeom>
              <a:solidFill>
                <a:srgbClr val="E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𝐹</m:t>
                    </m:r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分布</a:t>
                </a:r>
              </a:p>
            </p:txBody>
          </p:sp>
        </mc:Choice>
        <mc:Fallback xmlns="">
          <p:sp>
            <p:nvSpPr>
              <p:cNvPr id="106" name="矩形: 圆角 105">
                <a:extLst>
                  <a:ext uri="{FF2B5EF4-FFF2-40B4-BE49-F238E27FC236}">
                    <a16:creationId xmlns:a16="http://schemas.microsoft.com/office/drawing/2014/main" id="{D5BE12F4-35A0-B4C7-CEBD-3F1EE7EC65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0765" y="4160917"/>
                <a:ext cx="951051" cy="364573"/>
              </a:xfrm>
              <a:prstGeom prst="roundRect">
                <a:avLst/>
              </a:prstGeom>
              <a:blipFill>
                <a:blip r:embed="rId34"/>
                <a:stretch>
                  <a:fillRect b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17C196A8-181E-B1A9-9755-FDE2EFA9E118}"/>
                  </a:ext>
                </a:extLst>
              </p:cNvPr>
              <p:cNvSpPr txBox="1"/>
              <p:nvPr/>
            </p:nvSpPr>
            <p:spPr>
              <a:xfrm>
                <a:off x="10925110" y="4110196"/>
                <a:ext cx="1021902" cy="474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𝑭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方正清刻本悦宋简体" panose="02000000000000000000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𝑋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𝑌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方正清刻本悦宋简体" panose="02000000000000000000" pitchFamily="2" charset="-122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方正清刻本悦宋简体" panose="02000000000000000000" pitchFamily="2" charset="-122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17C196A8-181E-B1A9-9755-FDE2EFA9E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5110" y="4110196"/>
                <a:ext cx="1021902" cy="474104"/>
              </a:xfrm>
              <a:prstGeom prst="rect">
                <a:avLst/>
              </a:prstGeom>
              <a:blipFill>
                <a:blip r:embed="rId35"/>
                <a:stretch>
                  <a:fillRect b="-5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940004CC-A84B-5133-4A4A-A88C35C92831}"/>
                  </a:ext>
                </a:extLst>
              </p:cNvPr>
              <p:cNvSpPr txBox="1"/>
              <p:nvPr/>
            </p:nvSpPr>
            <p:spPr>
              <a:xfrm>
                <a:off x="10135689" y="4626096"/>
                <a:ext cx="1531771" cy="537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</a:t>
                </a:r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den>
                    </m:f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~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en-US" altLang="zh-CN" sz="1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</a:t>
                </a:r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𝑇</m:t>
                        </m:r>
                      </m:e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~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(1,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940004CC-A84B-5133-4A4A-A88C35C92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5689" y="4626096"/>
                <a:ext cx="1531771" cy="537776"/>
              </a:xfrm>
              <a:prstGeom prst="rect">
                <a:avLst/>
              </a:prstGeom>
              <a:blipFill>
                <a:blip r:embed="rId36"/>
                <a:stretch>
                  <a:fillRect l="-398"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08006A07-090D-8C75-9069-9BC9913AB615}"/>
                  </a:ext>
                </a:extLst>
              </p:cNvPr>
              <p:cNvSpPr txBox="1"/>
              <p:nvPr/>
            </p:nvSpPr>
            <p:spPr>
              <a:xfrm>
                <a:off x="639014" y="5488280"/>
                <a:ext cx="885755" cy="3705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12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2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acc>
                      <m:r>
                        <a:rPr lang="en-US" altLang="zh-CN" sz="12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2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2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08006A07-090D-8C75-9069-9BC9913AB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14" y="5488280"/>
                <a:ext cx="885755" cy="370551"/>
              </a:xfrm>
              <a:prstGeom prst="rect">
                <a:avLst/>
              </a:prstGeom>
              <a:blipFill>
                <a:blip r:embed="rId37"/>
                <a:stretch>
                  <a:fillRect l="-3448" r="-5517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139296CF-CC8C-2660-1292-78AA8508A4A3}"/>
                  </a:ext>
                </a:extLst>
              </p:cNvPr>
              <p:cNvSpPr txBox="1"/>
              <p:nvPr/>
            </p:nvSpPr>
            <p:spPr>
              <a:xfrm>
                <a:off x="1951874" y="5498723"/>
                <a:ext cx="1068498" cy="4090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zh-CN" altLang="en-US" sz="12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acc>
                          <m:r>
                            <a:rPr lang="en-US" altLang="zh-CN" sz="1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zh-CN" altLang="en-US" sz="12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CN" sz="1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n-US" altLang="zh-CN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139296CF-CC8C-2660-1292-78AA8508A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874" y="5498723"/>
                <a:ext cx="1068498" cy="409023"/>
              </a:xfrm>
              <a:prstGeom prst="rect">
                <a:avLst/>
              </a:prstGeom>
              <a:blipFill>
                <a:blip r:embed="rId38"/>
                <a:stretch>
                  <a:fillRect l="-2857" r="-5143" b="-164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58AC9DCE-3555-62F3-6765-94C26829CE95}"/>
                  </a:ext>
                </a:extLst>
              </p:cNvPr>
              <p:cNvSpPr txBox="1"/>
              <p:nvPr/>
            </p:nvSpPr>
            <p:spPr>
              <a:xfrm>
                <a:off x="7560709" y="5511941"/>
                <a:ext cx="1498039" cy="3468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  <m:sup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  <m:sup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58AC9DCE-3555-62F3-6765-94C26829C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709" y="5511941"/>
                <a:ext cx="1498039" cy="346890"/>
              </a:xfrm>
              <a:prstGeom prst="rect">
                <a:avLst/>
              </a:prstGeom>
              <a:blipFill>
                <a:blip r:embed="rId39"/>
                <a:stretch>
                  <a:fillRect l="-813" t="-3509" r="-3252"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51E68DA6-A736-21CD-5980-5536B72C3E15}"/>
                  </a:ext>
                </a:extLst>
              </p:cNvPr>
              <p:cNvSpPr txBox="1"/>
              <p:nvPr/>
            </p:nvSpPr>
            <p:spPr>
              <a:xfrm>
                <a:off x="3326589" y="5552808"/>
                <a:ext cx="1235723" cy="3162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Sup>
                        <m:sSubSupPr>
                          <m:ctrlP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  <m:sup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zh-CN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~ 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51E68DA6-A736-21CD-5980-5536B72C3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589" y="5552808"/>
                <a:ext cx="1235723" cy="316240"/>
              </a:xfrm>
              <a:prstGeom prst="rect">
                <a:avLst/>
              </a:prstGeom>
              <a:blipFill>
                <a:blip r:embed="rId40"/>
                <a:stretch>
                  <a:fillRect l="-1485" t="-1923" r="-3960" b="-9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E86C385F-7884-5F00-C315-F0715D07B200}"/>
                  </a:ext>
                </a:extLst>
              </p:cNvPr>
              <p:cNvSpPr txBox="1"/>
              <p:nvPr/>
            </p:nvSpPr>
            <p:spPr>
              <a:xfrm>
                <a:off x="9189272" y="5484819"/>
                <a:ext cx="1194751" cy="4091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zh-CN" altLang="en-US" sz="12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acc>
                          <m:r>
                            <a:rPr lang="en-US" altLang="zh-CN" sz="12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2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CN" sz="12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  <m:sup>
                              <m:r>
                                <a:rPr lang="en-US" altLang="zh-CN" sz="12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zh-CN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n-US" altLang="zh-CN" sz="12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E86C385F-7884-5F00-C315-F0715D07B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9272" y="5484819"/>
                <a:ext cx="1194751" cy="409151"/>
              </a:xfrm>
              <a:prstGeom prst="rect">
                <a:avLst/>
              </a:prstGeom>
              <a:blipFill>
                <a:blip r:embed="rId41"/>
                <a:stretch>
                  <a:fillRect l="-2551" r="-4082" b="-164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B5D9D670-8EC7-5484-61F9-8C684C2749EE}"/>
                  </a:ext>
                </a:extLst>
              </p:cNvPr>
              <p:cNvSpPr txBox="1"/>
              <p:nvPr/>
            </p:nvSpPr>
            <p:spPr>
              <a:xfrm>
                <a:off x="10520639" y="5480874"/>
                <a:ext cx="1194751" cy="4090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zh-CN" altLang="en-US" sz="12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acc>
                          <m:r>
                            <a:rPr lang="en-US" altLang="zh-CN" sz="12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2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altLang="zh-CN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n-US" altLang="zh-CN" sz="12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B5D9D670-8EC7-5484-61F9-8C684C274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0639" y="5480874"/>
                <a:ext cx="1194751" cy="409023"/>
              </a:xfrm>
              <a:prstGeom prst="rect">
                <a:avLst/>
              </a:prstGeom>
              <a:blipFill>
                <a:blip r:embed="rId42"/>
                <a:stretch>
                  <a:fillRect l="-2551" r="-3571" b="-164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9955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reveal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6|31.1|4.7|8.2|2.5|26.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18502</TotalTime>
  <Words>4162</Words>
  <Application>Microsoft Office PowerPoint</Application>
  <PresentationFormat>宽屏</PresentationFormat>
  <Paragraphs>284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方正小标宋简体</vt:lpstr>
      <vt:lpstr>Cambria Math</vt:lpstr>
      <vt:lpstr>华文宋体</vt:lpstr>
      <vt:lpstr>华文中宋</vt:lpstr>
      <vt:lpstr>Arial</vt:lpstr>
      <vt:lpstr>方正清刻本悦宋简体</vt:lpstr>
      <vt:lpstr>汉仪文黑-85W</vt:lpstr>
      <vt:lpstr>楷体</vt:lpstr>
      <vt:lpstr>汉仪润圆-65简</vt:lpstr>
      <vt:lpstr>仿宋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展 未央</dc:creator>
  <cp:lastModifiedBy>展 未央</cp:lastModifiedBy>
  <cp:revision>193</cp:revision>
  <dcterms:created xsi:type="dcterms:W3CDTF">2022-05-05T07:14:53Z</dcterms:created>
  <dcterms:modified xsi:type="dcterms:W3CDTF">2023-02-19T16:57:25Z</dcterms:modified>
</cp:coreProperties>
</file>