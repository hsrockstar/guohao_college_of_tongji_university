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"/>
  </p:notesMasterIdLst>
  <p:sldIdLst>
    <p:sldId id="262" r:id="rId2"/>
    <p:sldId id="261" r:id="rId3"/>
    <p:sldId id="284" r:id="rId4"/>
    <p:sldId id="289" r:id="rId5"/>
  </p:sldIdLst>
  <p:sldSz cx="6858000" cy="12192000"/>
  <p:notesSz cx="6858000" cy="9144000"/>
  <p:embeddedFontLst>
    <p:embeddedFont>
      <p:font typeface="等线" panose="02010600030101010101" pitchFamily="2" charset="-122"/>
      <p:regular r:id="rId7"/>
      <p:bold r:id="rId8"/>
    </p:embeddedFont>
    <p:embeddedFont>
      <p:font typeface="方正清刻本悦宋简体" panose="02000000000000000000" pitchFamily="2" charset="-122"/>
      <p:regular r:id="rId9"/>
    </p:embeddedFont>
    <p:embeddedFont>
      <p:font typeface="方正小标宋简体" panose="02000000000000000000" pitchFamily="2" charset="-122"/>
      <p:regular r:id="rId10"/>
    </p:embeddedFont>
    <p:embeddedFont>
      <p:font typeface="仿宋" panose="02010609060101010101" pitchFamily="49" charset="-122"/>
      <p:regular r:id="rId11"/>
    </p:embeddedFont>
    <p:embeddedFont>
      <p:font typeface="汉仪润圆-65简" panose="00020600040101010101" pitchFamily="18" charset="-122"/>
      <p:regular r:id="rId12"/>
    </p:embeddedFont>
    <p:embeddedFont>
      <p:font typeface="汉仪文黑-85W" panose="00020600040101010101" pitchFamily="18" charset="-122"/>
      <p:regular r:id="rId13"/>
    </p:embeddedFont>
    <p:embeddedFont>
      <p:font typeface="华文宋体" panose="02010600040101010101" pitchFamily="2" charset="-122"/>
      <p:regular r:id="rId14"/>
    </p:embeddedFont>
    <p:embeddedFont>
      <p:font typeface="楷体" panose="02010609060101010101" pitchFamily="49" charset="-12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DF4"/>
    <a:srgbClr val="556FB5"/>
    <a:srgbClr val="1D39E3"/>
    <a:srgbClr val="ACACA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5526" autoAdjust="0"/>
  </p:normalViewPr>
  <p:slideViewPr>
    <p:cSldViewPr snapToGrid="0">
      <p:cViewPr varScale="1">
        <p:scale>
          <a:sx n="53" d="100"/>
          <a:sy n="53" d="100"/>
        </p:scale>
        <p:origin x="2438" y="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54FBF-0B5F-4870-A52C-77298F6E9411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EF875-1C0A-4E41-8A10-132A116ABE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555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68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56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24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6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43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77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7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96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26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52243-610E-4E2B-BAFB-B61957107D23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DF380-A7C5-44E8-97BE-68FB3F5F38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39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4.png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6.sv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.svg"/><Relationship Id="rId20" Type="http://schemas.openxmlformats.org/officeDocument/2006/relationships/image" Target="../media/image40.png"/><Relationship Id="rId1" Type="http://schemas.openxmlformats.org/officeDocument/2006/relationships/tags" Target="../tags/tag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11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46745B-DC29-26A2-7D6A-A08D39EB482B}"/>
              </a:ext>
            </a:extLst>
          </p:cNvPr>
          <p:cNvSpPr txBox="1"/>
          <p:nvPr/>
        </p:nvSpPr>
        <p:spPr>
          <a:xfrm>
            <a:off x="1905000" y="3691850"/>
            <a:ext cx="304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未央の随想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EBA51FD-7413-E7F3-4A52-BBE25266B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286740"/>
            <a:ext cx="1818640" cy="16670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B9B0BD2-ACF5-B8DA-262E-349DC8D2B99B}"/>
              </a:ext>
            </a:extLst>
          </p:cNvPr>
          <p:cNvSpPr txBox="1"/>
          <p:nvPr/>
        </p:nvSpPr>
        <p:spPr>
          <a:xfrm>
            <a:off x="426720" y="5868227"/>
            <a:ext cx="6004560" cy="1740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4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泊松分布、指数分布的</a:t>
            </a:r>
            <a:endParaRPr lang="en-US" altLang="zh-CN" sz="4400" dirty="0">
              <a:latin typeface="汉仪文黑-85W" panose="00020600040101010101" pitchFamily="18" charset="-128"/>
              <a:ea typeface="汉仪文黑-85W" panose="00020600040101010101" pitchFamily="18" charset="-128"/>
              <a:cs typeface="汉仪文黑-85W" panose="00020600040101010101" pitchFamily="18" charset="-128"/>
            </a:endParaRPr>
          </a:p>
          <a:p>
            <a:pPr algn="ctr">
              <a:lnSpc>
                <a:spcPct val="125000"/>
              </a:lnSpc>
            </a:pPr>
            <a:r>
              <a:rPr lang="zh-CN" altLang="en-US" sz="4400" dirty="0">
                <a:latin typeface="汉仪文黑-85W" panose="00020600040101010101" pitchFamily="18" charset="-128"/>
                <a:ea typeface="汉仪文黑-85W" panose="00020600040101010101" pitchFamily="18" charset="-128"/>
                <a:cs typeface="汉仪文黑-85W" panose="00020600040101010101" pitchFamily="18" charset="-128"/>
              </a:rPr>
              <a:t>来源与意义</a:t>
            </a:r>
          </a:p>
        </p:txBody>
      </p:sp>
      <p:pic>
        <p:nvPicPr>
          <p:cNvPr id="16" name="图形 15" descr="灯泡">
            <a:extLst>
              <a:ext uri="{FF2B5EF4-FFF2-40B4-BE49-F238E27FC236}">
                <a16:creationId xmlns:a16="http://schemas.microsoft.com/office/drawing/2014/main" id="{DF7AB47B-4DA8-F2D8-4125-CC5A53E02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7656" y="5029683"/>
            <a:ext cx="762687" cy="7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5F45888-B26A-5968-CB0A-F635CA6FCA48}"/>
              </a:ext>
            </a:extLst>
          </p:cNvPr>
          <p:cNvSpPr txBox="1"/>
          <p:nvPr/>
        </p:nvSpPr>
        <p:spPr>
          <a:xfrm>
            <a:off x="2041736" y="2254640"/>
            <a:ext cx="277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u="sng" dirty="0">
                <a:solidFill>
                  <a:schemeClr val="bg1">
                    <a:lumMod val="50000"/>
                  </a:schemeClr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二项分布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44B7DA1-0476-7CAF-435F-02B0135F460C}"/>
              </a:ext>
            </a:extLst>
          </p:cNvPr>
          <p:cNvGrpSpPr/>
          <p:nvPr/>
        </p:nvGrpSpPr>
        <p:grpSpPr>
          <a:xfrm>
            <a:off x="654475" y="7648973"/>
            <a:ext cx="5987450" cy="1852403"/>
            <a:chOff x="654475" y="7111782"/>
            <a:chExt cx="5987450" cy="1852403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4D0738F-9085-41D5-E113-5CE16B658317}"/>
                </a:ext>
              </a:extLst>
            </p:cNvPr>
            <p:cNvSpPr txBox="1"/>
            <p:nvPr/>
          </p:nvSpPr>
          <p:spPr>
            <a:xfrm>
              <a:off x="3572118" y="7330098"/>
              <a:ext cx="27082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u="sng" dirty="0">
                  <a:latin typeface="方正小标宋简体" panose="02000000000000000000" pitchFamily="2" charset="-122"/>
                  <a:ea typeface="方正小标宋简体" panose="02000000000000000000" pitchFamily="2" charset="-122"/>
                </a:rPr>
                <a:t>指数分布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711043F-9C03-BFAC-E642-C01AD9433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475" y="7111782"/>
              <a:ext cx="2631409" cy="185240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019C4-5C14-702B-7656-E79B9581B1FD}"/>
                    </a:ext>
                  </a:extLst>
                </p:cNvPr>
                <p:cNvSpPr txBox="1"/>
                <p:nvPr/>
              </p:nvSpPr>
              <p:spPr>
                <a:xfrm>
                  <a:off x="3210519" y="8150986"/>
                  <a:ext cx="3431406" cy="7101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𝜆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 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         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019C4-5C14-702B-7656-E79B9581B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519" y="8150986"/>
                  <a:ext cx="3431406" cy="7101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D954183-1B59-DD2A-24E4-4D7BF9E2F447}"/>
              </a:ext>
            </a:extLst>
          </p:cNvPr>
          <p:cNvGrpSpPr/>
          <p:nvPr/>
        </p:nvGrpSpPr>
        <p:grpSpPr>
          <a:xfrm>
            <a:off x="326033" y="4252982"/>
            <a:ext cx="5954293" cy="2109597"/>
            <a:chOff x="326033" y="4275661"/>
            <a:chExt cx="5954293" cy="2109597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28CBEF6-474C-5AF7-5867-92DDC21FEC67}"/>
                </a:ext>
              </a:extLst>
            </p:cNvPr>
            <p:cNvSpPr txBox="1"/>
            <p:nvPr/>
          </p:nvSpPr>
          <p:spPr>
            <a:xfrm>
              <a:off x="616075" y="4511789"/>
              <a:ext cx="27082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u="sng" dirty="0">
                  <a:latin typeface="方正小标宋简体" panose="02000000000000000000" pitchFamily="2" charset="-122"/>
                  <a:ea typeface="方正小标宋简体" panose="02000000000000000000" pitchFamily="2" charset="-122"/>
                </a:rPr>
                <a:t>泊松分布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A9EE887-831F-9E12-83A8-2AC5C6B5B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72119" y="4275661"/>
              <a:ext cx="2708207" cy="210959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27569C3-B27F-C9BD-A5A9-1BC4AE1FE3DE}"/>
                    </a:ext>
                  </a:extLst>
                </p:cNvPr>
                <p:cNvSpPr txBox="1"/>
                <p:nvPr/>
              </p:nvSpPr>
              <p:spPr>
                <a:xfrm>
                  <a:off x="326033" y="5288986"/>
                  <a:ext cx="3431406" cy="930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</m:t>
                        </m:r>
                      </m:oMath>
                    </m:oMathPara>
                  </a14:m>
                  <a:endParaRPr lang="en-US" altLang="zh-CN" b="0" i="1" dirty="0">
                    <a:latin typeface="Cambria Math" panose="02040503050406030204" pitchFamily="18" charset="0"/>
                    <a:ea typeface="楷体" panose="02010609060101010101" pitchFamily="49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27569C3-B27F-C9BD-A5A9-1BC4AE1FE3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033" y="5288986"/>
                  <a:ext cx="3431406" cy="930896"/>
                </a:xfrm>
                <a:prstGeom prst="rect">
                  <a:avLst/>
                </a:prstGeom>
                <a:blipFill>
                  <a:blip r:embed="rId7"/>
                  <a:stretch>
                    <a:fillRect b="-52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4" name="图形 33" descr="v 形箭头">
            <a:extLst>
              <a:ext uri="{FF2B5EF4-FFF2-40B4-BE49-F238E27FC236}">
                <a16:creationId xmlns:a16="http://schemas.microsoft.com/office/drawing/2014/main" id="{6679CE48-F9C0-019F-8833-4B8406A066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3034790" y="3278073"/>
            <a:ext cx="788411" cy="788411"/>
          </a:xfrm>
          <a:prstGeom prst="rect">
            <a:avLst/>
          </a:prstGeom>
        </p:spPr>
      </p:pic>
      <p:pic>
        <p:nvPicPr>
          <p:cNvPr id="35" name="图形 34" descr="v 形箭头">
            <a:extLst>
              <a:ext uri="{FF2B5EF4-FFF2-40B4-BE49-F238E27FC236}">
                <a16:creationId xmlns:a16="http://schemas.microsoft.com/office/drawing/2014/main" id="{97F51752-57E0-3440-165E-9254650846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3034790" y="6638040"/>
            <a:ext cx="788411" cy="78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67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1689394" y="2052466"/>
            <a:ext cx="4844401" cy="987157"/>
            <a:chOff x="709008" y="3560925"/>
            <a:chExt cx="6828339" cy="1754947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709010" y="3560925"/>
              <a:ext cx="6828337" cy="623649"/>
              <a:chOff x="2030774" y="1540003"/>
              <a:chExt cx="6828337" cy="623649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2"/>
                <a:ext cx="682833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4711099" y="1540003"/>
                <a:ext cx="1467682" cy="601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二项分布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709008" y="4270122"/>
                  <a:ext cx="6828338" cy="492443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描述事件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次试验中成功发生𝑋次的概率，记作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270122"/>
                  <a:ext cx="6828338" cy="492443"/>
                </a:xfrm>
                <a:prstGeom prst="rect">
                  <a:avLst/>
                </a:prstGeom>
                <a:blipFill>
                  <a:blip r:embed="rId5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1978736" y="4817502"/>
                  <a:ext cx="5558610" cy="49837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(1−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 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=0,1,2,…,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8736" y="4817502"/>
                  <a:ext cx="5558610" cy="498370"/>
                </a:xfrm>
                <a:prstGeom prst="rect">
                  <a:avLst/>
                </a:prstGeom>
                <a:blipFill>
                  <a:blip r:embed="rId6"/>
                  <a:stretch>
                    <a:fillRect b="-1087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36439B9-B880-F531-23E3-CBB0B3FE1ED2}"/>
                </a:ext>
              </a:extLst>
            </p:cNvPr>
            <p:cNvSpPr txBox="1"/>
            <p:nvPr/>
          </p:nvSpPr>
          <p:spPr>
            <a:xfrm>
              <a:off x="709008" y="4823429"/>
              <a:ext cx="1188769" cy="4924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分布律</a:t>
              </a:r>
              <a:endParaRPr lang="en-US" altLang="zh-CN" sz="1200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/>
              <p:nvPr/>
            </p:nvSpPr>
            <p:spPr>
              <a:xfrm>
                <a:off x="1773225" y="5494417"/>
                <a:ext cx="3315417" cy="52905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−10</m:t>
                          </m:r>
                        </m:sup>
                      </m:sSup>
                      <m:r>
                        <a:rPr lang="en-US" altLang="zh-CN" sz="14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225" y="5494417"/>
                <a:ext cx="3315417" cy="5290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23F7442-ADED-0986-4F55-568592B6B89A}"/>
              </a:ext>
            </a:extLst>
          </p:cNvPr>
          <p:cNvGrpSpPr/>
          <p:nvPr/>
        </p:nvGrpSpPr>
        <p:grpSpPr>
          <a:xfrm>
            <a:off x="333298" y="4296131"/>
            <a:ext cx="6195437" cy="1203533"/>
            <a:chOff x="7000621" y="3785154"/>
            <a:chExt cx="11014108" cy="21396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/>
                <p:nvPr/>
              </p:nvSpPr>
              <p:spPr>
                <a:xfrm>
                  <a:off x="7165476" y="4310651"/>
                  <a:ext cx="10849253" cy="16141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某单机游戏宣称，游戏内某“摇钱树”每小时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平均会产生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10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个元宝</a:t>
                  </a:r>
                  <a:endParaRPr lang="en-US" altLang="zh-CN" sz="16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338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表示它在某一小时内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产出元宝个数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338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表示这段时间产出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个）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5476" y="4310651"/>
                  <a:ext cx="10849253" cy="1614117"/>
                </a:xfrm>
                <a:prstGeom prst="rect">
                  <a:avLst/>
                </a:prstGeom>
                <a:blipFill>
                  <a:blip r:embed="rId8"/>
                  <a:stretch>
                    <a:fillRect l="-400" t="-2013" r="-300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CA0AD93-043D-5732-2DCC-3D5DD1A4A879}"/>
                </a:ext>
              </a:extLst>
            </p:cNvPr>
            <p:cNvGrpSpPr/>
            <p:nvPr/>
          </p:nvGrpSpPr>
          <p:grpSpPr>
            <a:xfrm>
              <a:off x="7000621" y="3785154"/>
              <a:ext cx="11006936" cy="2030056"/>
              <a:chOff x="703270" y="3570031"/>
              <a:chExt cx="11006936" cy="20300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/>
                  <p:nvPr/>
                </p:nvSpPr>
                <p:spPr>
                  <a:xfrm>
                    <a:off x="5788339" y="3570031"/>
                    <a:ext cx="1008825" cy="60187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16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8339" y="3570031"/>
                    <a:ext cx="1008825" cy="601874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矩形: 圆角 100">
                <a:extLst>
                  <a:ext uri="{FF2B5EF4-FFF2-40B4-BE49-F238E27FC236}">
                    <a16:creationId xmlns:a16="http://schemas.microsoft.com/office/drawing/2014/main" id="{9EDA2B15-38B3-5108-2A8D-25248B8796F4}"/>
                  </a:ext>
                </a:extLst>
              </p:cNvPr>
              <p:cNvSpPr/>
              <p:nvPr/>
            </p:nvSpPr>
            <p:spPr>
              <a:xfrm>
                <a:off x="703270" y="3985988"/>
                <a:ext cx="270179" cy="1614099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sp>
            <p:nvSpPr>
              <p:cNvPr id="21" name="矩形: 圆角 100">
                <a:extLst>
                  <a:ext uri="{FF2B5EF4-FFF2-40B4-BE49-F238E27FC236}">
                    <a16:creationId xmlns:a16="http://schemas.microsoft.com/office/drawing/2014/main" id="{55E965F8-638A-56E6-0C3D-65C860925E9C}"/>
                  </a:ext>
                </a:extLst>
              </p:cNvPr>
              <p:cNvSpPr/>
              <p:nvPr/>
            </p:nvSpPr>
            <p:spPr>
              <a:xfrm rot="10800000">
                <a:off x="11519808" y="3985988"/>
                <a:ext cx="190398" cy="1614099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13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6844DE8-EE6D-D022-A787-0F7C8E2E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0588" y="3969531"/>
                <a:ext cx="699648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1792E1D-F30C-DFB6-F717-5A1A8476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63304" y="3969531"/>
                <a:ext cx="699648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6699177-1D9B-4FE1-060A-FF3B479BFC89}"/>
              </a:ext>
            </a:extLst>
          </p:cNvPr>
          <p:cNvGrpSpPr/>
          <p:nvPr/>
        </p:nvGrpSpPr>
        <p:grpSpPr>
          <a:xfrm>
            <a:off x="377647" y="2830378"/>
            <a:ext cx="1579066" cy="942733"/>
            <a:chOff x="4865610" y="1062408"/>
            <a:chExt cx="2807227" cy="1675972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D23162B-B950-0D7D-7364-DC9DCD950623}"/>
                </a:ext>
              </a:extLst>
            </p:cNvPr>
            <p:cNvGrpSpPr/>
            <p:nvPr/>
          </p:nvGrpSpPr>
          <p:grpSpPr>
            <a:xfrm>
              <a:off x="4865610" y="1511299"/>
              <a:ext cx="2135279" cy="1227081"/>
              <a:chOff x="4726809" y="1709872"/>
              <a:chExt cx="2135279" cy="122708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4114CE4E-631E-C6C5-792E-98F8D7C98B5C}"/>
                      </a:ext>
                    </a:extLst>
                  </p:cNvPr>
                  <p:cNvSpPr txBox="1"/>
                  <p:nvPr/>
                </p:nvSpPr>
                <p:spPr>
                  <a:xfrm>
                    <a:off x="4781410" y="1709872"/>
                    <a:ext cx="1129192" cy="4924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4114CE4E-631E-C6C5-792E-98F8D7C98B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1410" y="1709872"/>
                    <a:ext cx="1129192" cy="4924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D9606FE-51D0-98AC-0838-C071B45E5E61}"/>
                      </a:ext>
                    </a:extLst>
                  </p:cNvPr>
                  <p:cNvSpPr txBox="1"/>
                  <p:nvPr/>
                </p:nvSpPr>
                <p:spPr>
                  <a:xfrm>
                    <a:off x="4726809" y="2116214"/>
                    <a:ext cx="2135279" cy="8207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取</a:t>
                    </a:r>
                    <a14:m>
                      <m:oMath xmlns:m="http://schemas.openxmlformats.org/officeDocument/2006/math"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𝑛𝑝</m:t>
                        </m:r>
                      </m:oMath>
                    </a14:m>
                    <a:endPara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用于近似计算</a:t>
                    </a: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D9606FE-51D0-98AC-0838-C071B45E5E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26809" y="2116214"/>
                    <a:ext cx="2135279" cy="82073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08" b="-105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EEF39015-AC1F-128B-B5D5-39DD0122AF03}"/>
                </a:ext>
              </a:extLst>
            </p:cNvPr>
            <p:cNvSpPr/>
            <p:nvPr/>
          </p:nvSpPr>
          <p:spPr>
            <a:xfrm rot="12600000">
              <a:off x="6438144" y="1062408"/>
              <a:ext cx="1234693" cy="1173266"/>
            </a:xfrm>
            <a:prstGeom prst="arc">
              <a:avLst>
                <a:gd name="adj1" fmla="val 15393192"/>
                <a:gd name="adj2" fmla="val 2035194"/>
              </a:avLst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13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68018A0-20E9-5BB6-5E7E-B4CA0FF20E62}"/>
              </a:ext>
            </a:extLst>
          </p:cNvPr>
          <p:cNvSpPr/>
          <p:nvPr/>
        </p:nvSpPr>
        <p:spPr>
          <a:xfrm>
            <a:off x="333298" y="6192382"/>
            <a:ext cx="6191404" cy="40702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33807A-379F-7E84-BF0D-04EAB7A23E51}"/>
                  </a:ext>
                </a:extLst>
              </p:cNvPr>
              <p:cNvSpPr txBox="1"/>
              <p:nvPr/>
            </p:nvSpPr>
            <p:spPr>
              <a:xfrm>
                <a:off x="467262" y="7350108"/>
                <a:ext cx="6020240" cy="280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在满足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𝑛𝑝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=10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（游戏公司不会让你多赚）</a:t>
                </a: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的前提下：</a:t>
                </a:r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每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min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玩家观察一次，则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1/6</m:t>
                    </m:r>
                  </m:oMath>
                </a14:m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每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0.5 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min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20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m:t>玩家观察一次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1/12</m:t>
                    </m:r>
                  </m:oMath>
                </a14:m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每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0.05 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min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2000" dirty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m:t>玩家观察一次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应为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1/120</m:t>
                    </m:r>
                  </m:oMath>
                </a14:m>
                <a:endParaRPr lang="en-US" altLang="zh-CN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……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zh-CN" altLang="en-US" sz="20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，但始终有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𝑛𝑝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=10</m:t>
                    </m:r>
                  </m:oMath>
                </a14:m>
                <a:endParaRPr lang="zh-CN" altLang="en-US" sz="20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F33807A-379F-7E84-BF0D-04EAB7A23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62" y="7350108"/>
                <a:ext cx="6020240" cy="2801473"/>
              </a:xfrm>
              <a:prstGeom prst="rect">
                <a:avLst/>
              </a:prstGeom>
              <a:blipFill>
                <a:blip r:embed="rId12"/>
                <a:stretch>
                  <a:fillRect b="-2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58DD52-6F4A-3988-3A86-F812FDAA7BAE}"/>
              </a:ext>
            </a:extLst>
          </p:cNvPr>
          <p:cNvCxnSpPr>
            <a:cxnSpLocks/>
          </p:cNvCxnSpPr>
          <p:nvPr/>
        </p:nvCxnSpPr>
        <p:spPr>
          <a:xfrm>
            <a:off x="534565" y="7263782"/>
            <a:ext cx="5734455" cy="0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C6C3593-830B-A632-26E1-AA38BEAF50C8}"/>
                  </a:ext>
                </a:extLst>
              </p:cNvPr>
              <p:cNvSpPr txBox="1"/>
              <p:nvPr/>
            </p:nvSpPr>
            <p:spPr>
              <a:xfrm>
                <a:off x="436195" y="6417302"/>
                <a:ext cx="5931194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表示“玩家观察一次‘摇钱树’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发现其产生了一个元宝”的概率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C6C3593-830B-A632-26E1-AA38BEAF5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95" y="6417302"/>
                <a:ext cx="5931194" cy="707886"/>
              </a:xfrm>
              <a:prstGeom prst="rect">
                <a:avLst/>
              </a:prstGeom>
              <a:blipFill>
                <a:blip r:embed="rId13"/>
                <a:stretch>
                  <a:fillRect t="-6897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D2CDF977-705F-5C39-FFFF-26701EB8EF3A}"/>
              </a:ext>
            </a:extLst>
          </p:cNvPr>
          <p:cNvGrpSpPr/>
          <p:nvPr/>
        </p:nvGrpSpPr>
        <p:grpSpPr>
          <a:xfrm>
            <a:off x="1686546" y="3161457"/>
            <a:ext cx="4844401" cy="987157"/>
            <a:chOff x="709008" y="3560925"/>
            <a:chExt cx="6828339" cy="1754947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98A672A-045C-58C1-6E62-C75FE9F5543C}"/>
                </a:ext>
              </a:extLst>
            </p:cNvPr>
            <p:cNvGrpSpPr/>
            <p:nvPr/>
          </p:nvGrpSpPr>
          <p:grpSpPr>
            <a:xfrm>
              <a:off x="709010" y="3560925"/>
              <a:ext cx="6828337" cy="623649"/>
              <a:chOff x="2030774" y="1540003"/>
              <a:chExt cx="6828337" cy="623649"/>
            </a:xfrm>
          </p:grpSpPr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7C7C968D-FD67-A2AD-4ED1-2E5810CF3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2"/>
                <a:ext cx="682833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E49D89E7-B424-8621-C2D7-684E953E5B42}"/>
                  </a:ext>
                </a:extLst>
              </p:cNvPr>
              <p:cNvSpPr txBox="1"/>
              <p:nvPr/>
            </p:nvSpPr>
            <p:spPr>
              <a:xfrm>
                <a:off x="4711099" y="1540003"/>
                <a:ext cx="1467682" cy="601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泊松分布</a:t>
                </a: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B1F7655-620E-266C-AE9B-0C7B68135B8C}"/>
                </a:ext>
              </a:extLst>
            </p:cNvPr>
            <p:cNvSpPr txBox="1"/>
            <p:nvPr/>
          </p:nvSpPr>
          <p:spPr>
            <a:xfrm>
              <a:off x="709008" y="4270122"/>
              <a:ext cx="6828338" cy="49244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描述在某段时间内事件𝐴发生的次数𝑋，记作𝑋</a:t>
              </a:r>
              <a:r>
                <a:rPr lang="en-US" altLang="zh-CN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~</a:t>
              </a:r>
              <a:r>
                <a:rPr lang="zh-CN" altLang="en-US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𝑃</a:t>
              </a:r>
              <a:r>
                <a:rPr lang="en-US" altLang="zh-CN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𝜆</a:t>
              </a:r>
              <a:r>
                <a:rPr lang="en-US" altLang="zh-CN" sz="1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3189B65-D20F-74C9-8D3E-C7523D729570}"/>
                    </a:ext>
                  </a:extLst>
                </p:cNvPr>
                <p:cNvSpPr txBox="1"/>
                <p:nvPr/>
              </p:nvSpPr>
              <p:spPr>
                <a:xfrm>
                  <a:off x="1978736" y="4817502"/>
                  <a:ext cx="5558610" cy="49837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{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}=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^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^(−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    (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3189B65-D20F-74C9-8D3E-C7523D729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8736" y="4817502"/>
                  <a:ext cx="5558610" cy="498370"/>
                </a:xfrm>
                <a:prstGeom prst="rect">
                  <a:avLst/>
                </a:prstGeom>
                <a:blipFill>
                  <a:blip r:embed="rId14"/>
                  <a:stretch>
                    <a:fillRect t="-2174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C6648E1-BBC0-C26B-D927-9C732A8EDD1C}"/>
                </a:ext>
              </a:extLst>
            </p:cNvPr>
            <p:cNvSpPr txBox="1"/>
            <p:nvPr/>
          </p:nvSpPr>
          <p:spPr>
            <a:xfrm>
              <a:off x="709008" y="4823429"/>
              <a:ext cx="1188769" cy="4924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分布律</a:t>
              </a:r>
              <a:endParaRPr lang="en-US" altLang="zh-CN" sz="1200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</p:grpSp>
      <p:sp>
        <p:nvSpPr>
          <p:cNvPr id="64" name="矩形 63">
            <a:extLst>
              <a:ext uri="{FF2B5EF4-FFF2-40B4-BE49-F238E27FC236}">
                <a16:creationId xmlns:a16="http://schemas.microsoft.com/office/drawing/2014/main" id="{08F18B59-9A05-3E8B-DA74-9A773C9B87F6}"/>
              </a:ext>
            </a:extLst>
          </p:cNvPr>
          <p:cNvSpPr/>
          <p:nvPr/>
        </p:nvSpPr>
        <p:spPr>
          <a:xfrm>
            <a:off x="342390" y="6192381"/>
            <a:ext cx="6191404" cy="40702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B3C9E6C-3D4C-E680-065B-3AB2C4955970}"/>
                  </a:ext>
                </a:extLst>
              </p:cNvPr>
              <p:cNvSpPr txBox="1"/>
              <p:nvPr/>
            </p:nvSpPr>
            <p:spPr>
              <a:xfrm>
                <a:off x="453576" y="6165380"/>
                <a:ext cx="6245818" cy="4013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en-US" altLang="zh-CN" sz="2300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300" b="0" i="1" smtClean="0">
                        <a:latin typeface="Cambria Math" panose="02040503050406030204" pitchFamily="18" charset="0"/>
                      </a:rPr>
                      <m:t>   </m:t>
                    </m:r>
                    <m:func>
                      <m:func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3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(1−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</m:e>
                    </m:func>
                  </m:oMath>
                </a14:m>
                <a:endParaRPr lang="en-US" altLang="zh-CN" sz="230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3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3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23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3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altLang="zh-CN" sz="23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23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limLow>
                      <m:limLowPr>
                        <m:ctrlPr>
                          <a:rPr lang="en-US" altLang="zh-CN" sz="23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30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zh-CN" sz="23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3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3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3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3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altLang="zh-CN" sz="23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sz="2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</m:sup>
                    </m:sSup>
                    <m:r>
                      <a:rPr lang="en-US" altLang="zh-CN" sz="23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                                           </m:t>
                    </m:r>
                  </m:oMath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B3C9E6C-3D4C-E680-065B-3AB2C4955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76" y="6165380"/>
                <a:ext cx="6245818" cy="401302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11F5661-AA92-AA65-C664-07DC28B02915}"/>
                  </a:ext>
                </a:extLst>
              </p:cNvPr>
              <p:cNvSpPr txBox="1"/>
              <p:nvPr/>
            </p:nvSpPr>
            <p:spPr>
              <a:xfrm>
                <a:off x="4271741" y="6302095"/>
                <a:ext cx="2050089" cy="6183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A11F5661-AA92-AA65-C664-07DC28B02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741" y="6302095"/>
                <a:ext cx="2050089" cy="61831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组合 57">
            <a:extLst>
              <a:ext uri="{FF2B5EF4-FFF2-40B4-BE49-F238E27FC236}">
                <a16:creationId xmlns:a16="http://schemas.microsoft.com/office/drawing/2014/main" id="{AF3E323C-D687-C098-E0BF-E2AB47F1ABD2}"/>
              </a:ext>
            </a:extLst>
          </p:cNvPr>
          <p:cNvGrpSpPr/>
          <p:nvPr/>
        </p:nvGrpSpPr>
        <p:grpSpPr>
          <a:xfrm>
            <a:off x="2600031" y="7407294"/>
            <a:ext cx="1768050" cy="1050651"/>
            <a:chOff x="3729630" y="4363753"/>
            <a:chExt cx="1182607" cy="702755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D04EC6A-8B3A-6B20-AF50-50248BFD1B85}"/>
                </a:ext>
              </a:extLst>
            </p:cNvPr>
            <p:cNvSpPr/>
            <p:nvPr/>
          </p:nvSpPr>
          <p:spPr>
            <a:xfrm>
              <a:off x="4818081" y="4363753"/>
              <a:ext cx="94156" cy="1551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8437F08-95FB-F4AC-7600-3D5B51F6C676}"/>
                </a:ext>
              </a:extLst>
            </p:cNvPr>
            <p:cNvSpPr/>
            <p:nvPr/>
          </p:nvSpPr>
          <p:spPr>
            <a:xfrm>
              <a:off x="3729630" y="4911324"/>
              <a:ext cx="216304" cy="1551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C0B17F1-3FA1-392D-43FB-B51FEC9D7B4D}"/>
                </a:ext>
              </a:extLst>
            </p:cNvPr>
            <p:cNvCxnSpPr>
              <a:cxnSpLocks/>
              <a:stCxn id="45" idx="1"/>
              <a:endCxn id="46" idx="3"/>
            </p:cNvCxnSpPr>
            <p:nvPr/>
          </p:nvCxnSpPr>
          <p:spPr>
            <a:xfrm flipH="1">
              <a:off x="3945934" y="4441345"/>
              <a:ext cx="872147" cy="54757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B14037B-CF33-A284-23EE-3041B7991C5B}"/>
              </a:ext>
            </a:extLst>
          </p:cNvPr>
          <p:cNvGrpSpPr/>
          <p:nvPr/>
        </p:nvGrpSpPr>
        <p:grpSpPr>
          <a:xfrm>
            <a:off x="2587361" y="7411162"/>
            <a:ext cx="1814318" cy="1069214"/>
            <a:chOff x="3670559" y="4207785"/>
            <a:chExt cx="1182705" cy="696992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049AC457-72DC-EA88-B337-222DF94B48CE}"/>
                </a:ext>
              </a:extLst>
            </p:cNvPr>
            <p:cNvSpPr/>
            <p:nvPr/>
          </p:nvSpPr>
          <p:spPr>
            <a:xfrm>
              <a:off x="3670559" y="4207785"/>
              <a:ext cx="233573" cy="15518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73609E5-6CB1-A8CB-6ACD-B6EA251D062B}"/>
                </a:ext>
              </a:extLst>
            </p:cNvPr>
            <p:cNvSpPr/>
            <p:nvPr/>
          </p:nvSpPr>
          <p:spPr>
            <a:xfrm>
              <a:off x="4619691" y="4749593"/>
              <a:ext cx="233573" cy="155184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58F6E3E-F47A-2736-7FD2-F9203ACAAB6D}"/>
                </a:ext>
              </a:extLst>
            </p:cNvPr>
            <p:cNvCxnSpPr>
              <a:cxnSpLocks/>
              <a:stCxn id="60" idx="3"/>
              <a:endCxn id="61" idx="1"/>
            </p:cNvCxnSpPr>
            <p:nvPr/>
          </p:nvCxnSpPr>
          <p:spPr>
            <a:xfrm>
              <a:off x="3904132" y="4285377"/>
              <a:ext cx="715558" cy="541808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B10DC67-884C-A0E2-8112-CF34E260C9F3}"/>
              </a:ext>
            </a:extLst>
          </p:cNvPr>
          <p:cNvGrpSpPr/>
          <p:nvPr/>
        </p:nvGrpSpPr>
        <p:grpSpPr>
          <a:xfrm>
            <a:off x="861258" y="7881874"/>
            <a:ext cx="3519744" cy="1461122"/>
            <a:chOff x="2602908" y="3381440"/>
            <a:chExt cx="2274843" cy="944336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CDEE2406-2FC2-943A-36A5-6E3F2D71203C}"/>
                </a:ext>
              </a:extLst>
            </p:cNvPr>
            <p:cNvSpPr/>
            <p:nvPr/>
          </p:nvSpPr>
          <p:spPr>
            <a:xfrm>
              <a:off x="4679094" y="3381440"/>
              <a:ext cx="198657" cy="389748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4C8BA7C5-0447-8375-CF15-326BC7347842}"/>
                </a:ext>
              </a:extLst>
            </p:cNvPr>
            <p:cNvSpPr/>
            <p:nvPr/>
          </p:nvSpPr>
          <p:spPr>
            <a:xfrm>
              <a:off x="2602908" y="3901777"/>
              <a:ext cx="203349" cy="423999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9741A738-2643-3E9F-70F8-393788B1CFFF}"/>
                </a:ext>
              </a:extLst>
            </p:cNvPr>
            <p:cNvCxnSpPr>
              <a:cxnSpLocks/>
              <a:stCxn id="80" idx="1"/>
              <a:endCxn id="82" idx="3"/>
            </p:cNvCxnSpPr>
            <p:nvPr/>
          </p:nvCxnSpPr>
          <p:spPr>
            <a:xfrm flipH="1">
              <a:off x="2806257" y="3576314"/>
              <a:ext cx="1872837" cy="537462"/>
            </a:xfrm>
            <a:prstGeom prst="straightConnector1">
              <a:avLst/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44F5BC4-CF10-F8B6-6F23-A7E4AABDBFD3}"/>
              </a:ext>
            </a:extLst>
          </p:cNvPr>
          <p:cNvGrpSpPr/>
          <p:nvPr/>
        </p:nvGrpSpPr>
        <p:grpSpPr>
          <a:xfrm>
            <a:off x="4969150" y="8019364"/>
            <a:ext cx="1392559" cy="1012371"/>
            <a:chOff x="5215790" y="4728117"/>
            <a:chExt cx="892341" cy="648720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60A06FE7-9831-E58D-5128-F733E7B182BA}"/>
                </a:ext>
              </a:extLst>
            </p:cNvPr>
            <p:cNvGrpSpPr/>
            <p:nvPr/>
          </p:nvGrpSpPr>
          <p:grpSpPr>
            <a:xfrm>
              <a:off x="5215790" y="4728117"/>
              <a:ext cx="529473" cy="648720"/>
              <a:chOff x="4821617" y="3396021"/>
              <a:chExt cx="529473" cy="648720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4A5F03D7-A403-289D-9692-913F8C826C4F}"/>
                  </a:ext>
                </a:extLst>
              </p:cNvPr>
              <p:cNvSpPr/>
              <p:nvPr/>
            </p:nvSpPr>
            <p:spPr>
              <a:xfrm>
                <a:off x="5054980" y="3396021"/>
                <a:ext cx="296110" cy="132371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1438A4AC-0E30-54E0-97D8-45175C0B18D4}"/>
                  </a:ext>
                </a:extLst>
              </p:cNvPr>
              <p:cNvSpPr/>
              <p:nvPr/>
            </p:nvSpPr>
            <p:spPr>
              <a:xfrm>
                <a:off x="4821617" y="3914982"/>
                <a:ext cx="201613" cy="129759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cxnSp>
            <p:nvCxnSpPr>
              <p:cNvPr id="98" name="直接箭头连接符 97">
                <a:extLst>
                  <a:ext uri="{FF2B5EF4-FFF2-40B4-BE49-F238E27FC236}">
                    <a16:creationId xmlns:a16="http://schemas.microsoft.com/office/drawing/2014/main" id="{4F321569-8114-B26F-016D-18DEC40BAAA9}"/>
                  </a:ext>
                </a:extLst>
              </p:cNvPr>
              <p:cNvCxnSpPr>
                <a:cxnSpLocks/>
                <a:stCxn id="96" idx="2"/>
                <a:endCxn id="97" idx="0"/>
              </p:cNvCxnSpPr>
              <p:nvPr/>
            </p:nvCxnSpPr>
            <p:spPr>
              <a:xfrm flipH="1">
                <a:off x="4922424" y="3528392"/>
                <a:ext cx="280611" cy="38659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97BC6BFC-5BAF-6E2D-00ED-0EF816816496}"/>
                </a:ext>
              </a:extLst>
            </p:cNvPr>
            <p:cNvSpPr/>
            <p:nvPr/>
          </p:nvSpPr>
          <p:spPr>
            <a:xfrm>
              <a:off x="5989343" y="5247078"/>
              <a:ext cx="118788" cy="129759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3188F6E9-226F-CBCC-FAE7-389A4F3C8BB2}"/>
                </a:ext>
              </a:extLst>
            </p:cNvPr>
            <p:cNvCxnSpPr>
              <a:cxnSpLocks/>
              <a:stCxn id="96" idx="2"/>
              <a:endCxn id="109" idx="0"/>
            </p:cNvCxnSpPr>
            <p:nvPr/>
          </p:nvCxnSpPr>
          <p:spPr>
            <a:xfrm>
              <a:off x="5597208" y="4860488"/>
              <a:ext cx="451529" cy="38659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48647D3-5D45-D362-B435-73ED26CEEE02}"/>
              </a:ext>
            </a:extLst>
          </p:cNvPr>
          <p:cNvGrpSpPr/>
          <p:nvPr/>
        </p:nvGrpSpPr>
        <p:grpSpPr>
          <a:xfrm>
            <a:off x="1846601" y="9592470"/>
            <a:ext cx="4454058" cy="369332"/>
            <a:chOff x="7822738" y="9655731"/>
            <a:chExt cx="4454058" cy="369332"/>
          </a:xfrm>
        </p:grpSpPr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6B9D17BD-E99B-8634-1ACC-4EFFDE9D5470}"/>
                </a:ext>
              </a:extLst>
            </p:cNvPr>
            <p:cNvCxnSpPr/>
            <p:nvPr/>
          </p:nvCxnSpPr>
          <p:spPr>
            <a:xfrm>
              <a:off x="7822738" y="9840397"/>
              <a:ext cx="258688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B7BB2C7-B25E-B69A-D602-55D3845D4502}"/>
                </a:ext>
              </a:extLst>
            </p:cNvPr>
            <p:cNvSpPr txBox="1"/>
            <p:nvPr/>
          </p:nvSpPr>
          <p:spPr>
            <a:xfrm>
              <a:off x="10454052" y="9655731"/>
              <a:ext cx="1822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accent1"/>
                  </a:solidFill>
                  <a:latin typeface="汉仪文黑-85W" panose="00020600040101010101" pitchFamily="18" charset="-128"/>
                  <a:ea typeface="汉仪文黑-85W" panose="00020600040101010101" pitchFamily="18" charset="-128"/>
                  <a:cs typeface="汉仪文黑-85W" panose="00020600040101010101" pitchFamily="18" charset="-128"/>
                </a:rPr>
                <a:t>泊松分布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33341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  <p:bldP spid="7" grpId="0"/>
      <p:bldP spid="31" grpId="0"/>
      <p:bldP spid="64" grpId="0" animBg="1"/>
      <p:bldP spid="32" grpId="0" uiExpand="1" build="p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661356" y="2141663"/>
            <a:ext cx="3473383" cy="1490273"/>
            <a:chOff x="-812809" y="4134174"/>
            <a:chExt cx="6174902" cy="2649375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-812808" y="4134174"/>
              <a:ext cx="6174900" cy="672970"/>
              <a:chOff x="508956" y="2113252"/>
              <a:chExt cx="6174900" cy="67297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8956" y="2786222"/>
                <a:ext cx="6174900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2313791" y="2113252"/>
                <a:ext cx="2777363" cy="60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指数分布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-812809" y="4950663"/>
                  <a:ext cx="6174901" cy="820738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事件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在单位时间内发生次数的期望为</a:t>
                  </a:r>
                  <a14:m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</m:oMath>
                  </a14:m>
                  <a:endParaRPr lang="en-US" altLang="zh-CN" sz="12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则其发生所用的时间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服从指数分布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𝐸𝑥𝑝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zh-CN" altLang="en-US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  <m:r>
                        <a:rPr lang="en-US" altLang="zh-CN" sz="1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2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2809" y="4950663"/>
                  <a:ext cx="6174901" cy="820738"/>
                </a:xfrm>
                <a:prstGeom prst="rect">
                  <a:avLst/>
                </a:prstGeom>
                <a:blipFill>
                  <a:blip r:embed="rId5"/>
                  <a:stretch>
                    <a:fillRect t="-1333" b="-1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722854" y="5887006"/>
                  <a:ext cx="4639239" cy="89654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zh-CN" altLang="en-US" sz="1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𝜆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  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0,           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54" y="5887006"/>
                  <a:ext cx="4639239" cy="896542"/>
                </a:xfrm>
                <a:prstGeom prst="rect">
                  <a:avLst/>
                </a:prstGeom>
                <a:blipFill>
                  <a:blip r:embed="rId6"/>
                  <a:stretch>
                    <a:fillRect t="-175904" b="-2566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/>
                <p:nvPr/>
              </p:nvSpPr>
              <p:spPr>
                <a:xfrm>
                  <a:off x="-812809" y="5904448"/>
                  <a:ext cx="1426667" cy="87910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90000"/>
                    </a:lnSpc>
                    <a:spcBef>
                      <a:spcPts val="675"/>
                    </a:spcBef>
                    <a:spcAft>
                      <a:spcPts val="4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zh-CN" altLang="en-US" sz="12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密度函数</m:t>
                        </m:r>
                      </m:oMath>
                    </m:oMathPara>
                  </a14:m>
                  <a:endParaRPr lang="en-US" altLang="zh-CN" sz="1200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2809" y="5904448"/>
                  <a:ext cx="1426667" cy="87910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46506E-513E-1F82-D47D-180272DD160D}"/>
                  </a:ext>
                </a:extLst>
              </p:cNvPr>
              <p:cNvSpPr txBox="1"/>
              <p:nvPr/>
            </p:nvSpPr>
            <p:spPr>
              <a:xfrm>
                <a:off x="4350149" y="1751056"/>
                <a:ext cx="2079778" cy="1945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60734" indent="-160734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指数分布是从泊松分布中推导出的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160734" indent="-160734">
                  <a:lnSpc>
                    <a:spcPct val="125000"/>
                  </a:lnSpc>
                  <a:spcBef>
                    <a:spcPts val="338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具有“无记忆性”的特点，即：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。意义是：无论如何选取时间起点，经过相等的时间间隔，其发生的概率仍然不变。</a:t>
                </a:r>
                <a:endPara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46506E-513E-1F82-D47D-180272DD1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149" y="1751056"/>
                <a:ext cx="2079778" cy="1945725"/>
              </a:xfrm>
              <a:prstGeom prst="rect">
                <a:avLst/>
              </a:prstGeom>
              <a:blipFill>
                <a:blip r:embed="rId8"/>
                <a:stretch>
                  <a:fillRect r="-4399" b="-1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7C3FDEB-3B67-A21A-3358-148D13EC061E}"/>
              </a:ext>
            </a:extLst>
          </p:cNvPr>
          <p:cNvSpPr/>
          <p:nvPr/>
        </p:nvSpPr>
        <p:spPr>
          <a:xfrm>
            <a:off x="310458" y="3925112"/>
            <a:ext cx="6252021" cy="6379177"/>
          </a:xfrm>
          <a:prstGeom prst="roundRect">
            <a:avLst>
              <a:gd name="adj" fmla="val 7213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A40C67-2B4B-EDE4-6C08-5BEE8D1DB50F}"/>
              </a:ext>
            </a:extLst>
          </p:cNvPr>
          <p:cNvSpPr txBox="1"/>
          <p:nvPr/>
        </p:nvSpPr>
        <p:spPr>
          <a:xfrm>
            <a:off x="463265" y="4502344"/>
            <a:ext cx="670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泊松分布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D28E1C0-2E6B-A4B8-C3DE-C4EA7670C4D4}"/>
                  </a:ext>
                </a:extLst>
              </p:cNvPr>
              <p:cNvSpPr txBox="1"/>
              <p:nvPr/>
            </p:nvSpPr>
            <p:spPr>
              <a:xfrm>
                <a:off x="1002801" y="4144132"/>
                <a:ext cx="5391934" cy="1207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某工厂运营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年，电子元件故障的个数期望为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 这批电子元件在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年内发生故障的个数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𝜆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=0,1,2,…)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D28E1C0-2E6B-A4B8-C3DE-C4EA7670C4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01" y="4144132"/>
                <a:ext cx="5391934" cy="1207895"/>
              </a:xfrm>
              <a:prstGeom prst="rect">
                <a:avLst/>
              </a:prstGeom>
              <a:blipFill>
                <a:blip r:embed="rId9"/>
                <a:stretch>
                  <a:fillRect l="-339" t="-4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36ECC53C-0158-99AC-F385-1469CCFBBB1B}"/>
              </a:ext>
            </a:extLst>
          </p:cNvPr>
          <p:cNvSpPr txBox="1"/>
          <p:nvPr/>
        </p:nvSpPr>
        <p:spPr>
          <a:xfrm>
            <a:off x="463264" y="5935320"/>
            <a:ext cx="670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泊松过程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5973E13-397A-3198-4787-EDDF903B477B}"/>
                  </a:ext>
                </a:extLst>
              </p:cNvPr>
              <p:cNvSpPr txBox="1"/>
              <p:nvPr/>
            </p:nvSpPr>
            <p:spPr>
              <a:xfrm>
                <a:off x="1037993" y="5573061"/>
                <a:ext cx="5391934" cy="1207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某工厂运营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年，电子元件故障的个数期望为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𝑵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𝒕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 这批电子元件</a:t>
                </a:r>
                <a:r>
                  <a:rPr lang="zh-CN" altLang="en-US" b="1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:r>
                  <a:rPr lang="en-US" altLang="zh-CN" b="1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t</a:t>
                </a:r>
                <a:r>
                  <a:rPr lang="zh-CN" altLang="en-US" b="1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年内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发生故障的个数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𝜆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=0,1,2,…)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5973E13-397A-3198-4787-EDDF903B4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93" y="5573061"/>
                <a:ext cx="5391934" cy="1207895"/>
              </a:xfrm>
              <a:prstGeom prst="rect">
                <a:avLst/>
              </a:prstGeom>
              <a:blipFill>
                <a:blip r:embed="rId10"/>
                <a:stretch>
                  <a:fillRect l="-226" t="-3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AC212D4B-6850-51AB-3372-59E369A40A72}"/>
              </a:ext>
            </a:extLst>
          </p:cNvPr>
          <p:cNvGrpSpPr/>
          <p:nvPr/>
        </p:nvGrpSpPr>
        <p:grpSpPr>
          <a:xfrm>
            <a:off x="463263" y="6877744"/>
            <a:ext cx="5966663" cy="796267"/>
            <a:chOff x="5598724" y="3690211"/>
            <a:chExt cx="5838969" cy="141559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62FE28F-15F1-8992-6316-008F755F6474}"/>
                </a:ext>
              </a:extLst>
            </p:cNvPr>
            <p:cNvSpPr/>
            <p:nvPr/>
          </p:nvSpPr>
          <p:spPr>
            <a:xfrm>
              <a:off x="5598724" y="3690211"/>
              <a:ext cx="5838969" cy="14155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0FA015A-D822-F134-5C87-62F1BCA90520}"/>
                    </a:ext>
                  </a:extLst>
                </p:cNvPr>
                <p:cNvSpPr txBox="1"/>
                <p:nvPr/>
              </p:nvSpPr>
              <p:spPr>
                <a:xfrm>
                  <a:off x="5598724" y="3801758"/>
                  <a:ext cx="5838969" cy="12584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:r>
                    <a:rPr lang="en-US" altLang="zh-CN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t</a:t>
                  </a:r>
                  <a:r>
                    <a:rPr lang="zh-CN" altLang="en-US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时间内没有元件故障</a:t>
                  </a:r>
                  <a14:m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𝑵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𝒕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𝟎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a14:m>
                  <a:endParaRPr lang="en-US" altLang="zh-CN" sz="2000" i="1" dirty="0">
                    <a:latin typeface="Cambria Math" panose="02040503050406030204" pitchFamily="18" charset="0"/>
                    <a:ea typeface="楷体" panose="02010609060101010101" pitchFamily="49" charset="-122"/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zh-CN" altLang="en-US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:r>
                    <a:rPr lang="en-US" altLang="zh-CN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t</a:t>
                  </a:r>
                  <a:r>
                    <a:rPr lang="zh-CN" altLang="en-US" sz="20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时间后才有元件故障</a:t>
                  </a: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0FA015A-D822-F134-5C87-62F1BCA90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724" y="3801758"/>
                  <a:ext cx="5838969" cy="1258470"/>
                </a:xfrm>
                <a:prstGeom prst="rect">
                  <a:avLst/>
                </a:prstGeom>
                <a:blipFill>
                  <a:blip r:embed="rId11"/>
                  <a:stretch>
                    <a:fillRect t="-6897" b="-1293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F8EC0B9-7634-58A8-5BAF-0C95EAAE7993}"/>
                  </a:ext>
                </a:extLst>
              </p:cNvPr>
              <p:cNvSpPr txBox="1"/>
              <p:nvPr/>
            </p:nvSpPr>
            <p:spPr>
              <a:xfrm>
                <a:off x="661356" y="8287563"/>
                <a:ext cx="5855450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𝑌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𝑁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)=0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= 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𝜆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0!</m:t>
                          </m:r>
                        </m:den>
                      </m:f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𝜆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𝜆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2F8EC0B9-7634-58A8-5BAF-0C95EAAE7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56" y="8287563"/>
                <a:ext cx="5855450" cy="7099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2B96E2-B915-B1BB-F53D-B3C93A35C8DD}"/>
                  </a:ext>
                </a:extLst>
              </p:cNvPr>
              <p:cNvSpPr txBox="1"/>
              <p:nvPr/>
            </p:nvSpPr>
            <p:spPr>
              <a:xfrm>
                <a:off x="1732206" y="7750041"/>
                <a:ext cx="37137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 有元件发生了故障的时间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A2B96E2-B915-B1BB-F53D-B3C93A35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206" y="7750041"/>
                <a:ext cx="3713750" cy="369332"/>
              </a:xfrm>
              <a:prstGeom prst="rect">
                <a:avLst/>
              </a:prstGeom>
              <a:blipFill>
                <a:blip r:embed="rId13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3E82CEE-44D4-5D80-1680-3D2D3A3978F5}"/>
                  </a:ext>
                </a:extLst>
              </p:cNvPr>
              <p:cNvSpPr txBox="1"/>
              <p:nvPr/>
            </p:nvSpPr>
            <p:spPr>
              <a:xfrm>
                <a:off x="661356" y="9350548"/>
                <a:ext cx="5855450" cy="41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𝒀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=1−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𝑌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𝜆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3E82CEE-44D4-5D80-1680-3D2D3A397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56" y="9350548"/>
                <a:ext cx="5855450" cy="41460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8CA3264B-C4F5-B8BF-DC7F-B920BCB36342}"/>
              </a:ext>
            </a:extLst>
          </p:cNvPr>
          <p:cNvGrpSpPr/>
          <p:nvPr/>
        </p:nvGrpSpPr>
        <p:grpSpPr>
          <a:xfrm>
            <a:off x="1441552" y="9401506"/>
            <a:ext cx="4275301" cy="681232"/>
            <a:chOff x="6663652" y="4881262"/>
            <a:chExt cx="7600534" cy="1211077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08FC65B-A1FE-C229-CF6F-966B57FD6ABD}"/>
                </a:ext>
              </a:extLst>
            </p:cNvPr>
            <p:cNvGrpSpPr/>
            <p:nvPr/>
          </p:nvGrpSpPr>
          <p:grpSpPr>
            <a:xfrm>
              <a:off x="6663652" y="4881262"/>
              <a:ext cx="7600534" cy="1211077"/>
              <a:chOff x="6663652" y="4881262"/>
              <a:chExt cx="7600534" cy="1211077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83D3CAD5-7535-AE59-CD0E-20815CBB7363}"/>
                  </a:ext>
                </a:extLst>
              </p:cNvPr>
              <p:cNvSpPr/>
              <p:nvPr/>
            </p:nvSpPr>
            <p:spPr>
              <a:xfrm>
                <a:off x="6663652" y="4881262"/>
                <a:ext cx="1897726" cy="6412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4735D0CB-BB86-7A0A-47F9-BC3D06D259F1}"/>
                  </a:ext>
                </a:extLst>
              </p:cNvPr>
              <p:cNvSpPr txBox="1"/>
              <p:nvPr/>
            </p:nvSpPr>
            <p:spPr>
              <a:xfrm>
                <a:off x="12481324" y="5490466"/>
                <a:ext cx="1782862" cy="60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分布函数</a:t>
                </a:r>
              </a:p>
            </p:txBody>
          </p:sp>
        </p:grp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07F1514-D799-8F8C-322A-606C6305B495}"/>
                </a:ext>
              </a:extLst>
            </p:cNvPr>
            <p:cNvCxnSpPr>
              <a:cxnSpLocks/>
            </p:cNvCxnSpPr>
            <p:nvPr/>
          </p:nvCxnSpPr>
          <p:spPr>
            <a:xfrm>
              <a:off x="12541953" y="5522511"/>
              <a:ext cx="1661603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8B46ABC-11D7-AB79-90EF-648EDF70A17F}"/>
              </a:ext>
            </a:extLst>
          </p:cNvPr>
          <p:cNvGrpSpPr/>
          <p:nvPr/>
        </p:nvGrpSpPr>
        <p:grpSpPr>
          <a:xfrm>
            <a:off x="558996" y="8235936"/>
            <a:ext cx="668562" cy="1467506"/>
            <a:chOff x="5817176" y="2833092"/>
            <a:chExt cx="1188554" cy="2608897"/>
          </a:xfrm>
        </p:grpSpPr>
        <p:sp>
          <p:nvSpPr>
            <p:cNvPr id="52" name="弧形 51">
              <a:extLst>
                <a:ext uri="{FF2B5EF4-FFF2-40B4-BE49-F238E27FC236}">
                  <a16:creationId xmlns:a16="http://schemas.microsoft.com/office/drawing/2014/main" id="{31B108E1-4BB1-09C9-AAF3-4AF317DB1777}"/>
                </a:ext>
              </a:extLst>
            </p:cNvPr>
            <p:cNvSpPr/>
            <p:nvPr/>
          </p:nvSpPr>
          <p:spPr>
            <a:xfrm rot="10800000">
              <a:off x="5817176" y="2833092"/>
              <a:ext cx="1188554" cy="2608897"/>
            </a:xfrm>
            <a:prstGeom prst="arc">
              <a:avLst>
                <a:gd name="adj1" fmla="val 16132588"/>
                <a:gd name="adj2" fmla="val 852101"/>
              </a:avLst>
            </a:prstGeom>
            <a:ln w="28575">
              <a:gradFill>
                <a:gsLst>
                  <a:gs pos="0">
                    <a:srgbClr val="FF0000"/>
                  </a:gs>
                  <a:gs pos="100000">
                    <a:srgbClr val="00B0F0"/>
                  </a:gs>
                </a:gsLst>
                <a:lin ang="0" scaled="0"/>
              </a:gradFill>
              <a:headEnd type="none" w="med" len="med"/>
              <a:tailEnd type="arrow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011C56F-9319-F444-3FA4-BCFDE8C1300B}"/>
                </a:ext>
              </a:extLst>
            </p:cNvPr>
            <p:cNvSpPr txBox="1"/>
            <p:nvPr/>
          </p:nvSpPr>
          <p:spPr>
            <a:xfrm>
              <a:off x="6090579" y="4280607"/>
              <a:ext cx="604739" cy="1039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求导</a:t>
              </a:r>
            </a:p>
          </p:txBody>
        </p:sp>
      </p:grpSp>
      <p:sp>
        <p:nvSpPr>
          <p:cNvPr id="55" name="箭头: 下 54">
            <a:extLst>
              <a:ext uri="{FF2B5EF4-FFF2-40B4-BE49-F238E27FC236}">
                <a16:creationId xmlns:a16="http://schemas.microsoft.com/office/drawing/2014/main" id="{87D7CFF3-1056-90B8-F979-F4406BCD0A87}"/>
              </a:ext>
            </a:extLst>
          </p:cNvPr>
          <p:cNvSpPr/>
          <p:nvPr/>
        </p:nvSpPr>
        <p:spPr>
          <a:xfrm>
            <a:off x="703982" y="5315806"/>
            <a:ext cx="189295" cy="38216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弧形 57">
            <a:extLst>
              <a:ext uri="{FF2B5EF4-FFF2-40B4-BE49-F238E27FC236}">
                <a16:creationId xmlns:a16="http://schemas.microsoft.com/office/drawing/2014/main" id="{CD3556B0-2ADE-7673-E756-8B70885BD54E}"/>
              </a:ext>
            </a:extLst>
          </p:cNvPr>
          <p:cNvSpPr/>
          <p:nvPr/>
        </p:nvSpPr>
        <p:spPr>
          <a:xfrm rot="5400000">
            <a:off x="4915020" y="7252366"/>
            <a:ext cx="813247" cy="848147"/>
          </a:xfrm>
          <a:prstGeom prst="arc">
            <a:avLst>
              <a:gd name="adj1" fmla="val 16200000"/>
              <a:gd name="adj2" fmla="val 20471889"/>
            </a:avLst>
          </a:prstGeom>
          <a:ln w="28575">
            <a:solidFill>
              <a:schemeClr val="accent4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5376A08-3603-5CC3-047D-5C328480D375}"/>
              </a:ext>
            </a:extLst>
          </p:cNvPr>
          <p:cNvSpPr/>
          <p:nvPr/>
        </p:nvSpPr>
        <p:spPr>
          <a:xfrm>
            <a:off x="310458" y="3925113"/>
            <a:ext cx="6252021" cy="6379176"/>
          </a:xfrm>
          <a:prstGeom prst="roundRect">
            <a:avLst>
              <a:gd name="adj" fmla="val 7213"/>
            </a:avLst>
          </a:prstGeom>
          <a:solidFill>
            <a:schemeClr val="bg1">
              <a:alpha val="75000"/>
            </a:schemeClr>
          </a:solidFill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3"/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329F90DB-CC52-EA69-2B77-8974D09A667F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9548" t="5568" r="8369" b="4936"/>
          <a:stretch/>
        </p:blipFill>
        <p:spPr>
          <a:xfrm>
            <a:off x="428073" y="3949854"/>
            <a:ext cx="5098872" cy="4169519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6960F177-17B8-74A6-7B8B-A5B279F6A865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9063" t="5460" r="8854" b="5893"/>
          <a:stretch/>
        </p:blipFill>
        <p:spPr>
          <a:xfrm>
            <a:off x="1223537" y="5960557"/>
            <a:ext cx="5274191" cy="4271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33E0987-5A58-A430-BCEB-2483025BD1E2}"/>
                  </a:ext>
                </a:extLst>
              </p:cNvPr>
              <p:cNvSpPr txBox="1"/>
              <p:nvPr/>
            </p:nvSpPr>
            <p:spPr>
              <a:xfrm>
                <a:off x="1052951" y="4239357"/>
                <a:ext cx="2754838" cy="7344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m:rPr>
                              <m:sty m:val="p"/>
                            </m:rPr>
                            <a:rPr lang="el-GR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33E0987-5A58-A430-BCEB-2483025BD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51" y="4239357"/>
                <a:ext cx="2754838" cy="7344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336D28B-5CC5-EB2B-E35F-40A0B96EC31E}"/>
                  </a:ext>
                </a:extLst>
              </p:cNvPr>
              <p:cNvSpPr txBox="1"/>
              <p:nvPr/>
            </p:nvSpPr>
            <p:spPr>
              <a:xfrm>
                <a:off x="1932648" y="6294339"/>
                <a:ext cx="2815449" cy="15065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|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336D28B-5CC5-EB2B-E35F-40A0B96EC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48" y="6294339"/>
                <a:ext cx="2815449" cy="150650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10353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nimBg="1"/>
      <p:bldP spid="31" grpId="0"/>
      <p:bldP spid="32" grpId="0"/>
      <p:bldP spid="33" grpId="0"/>
      <p:bldP spid="34" grpId="0"/>
      <p:bldP spid="38" grpId="0"/>
      <p:bldP spid="40" grpId="0"/>
      <p:bldP spid="41" grpId="0"/>
      <p:bldP spid="55" grpId="0" animBg="1"/>
      <p:bldP spid="58" grpId="0" animBg="1"/>
      <p:bldP spid="6" grpId="0" animBg="1"/>
      <p:bldP spid="64" grpId="0" animBg="1"/>
      <p:bldP spid="6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5|32.9|15.8|83.9|14.7|9.9|1.8|2.5|2.6|1.9|2.9|3.8|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44.6|150.7|34.1|33.9|9.7|4.2|17.2|13.7|7|20.6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1698</TotalTime>
  <Words>545</Words>
  <Application>Microsoft Office PowerPoint</Application>
  <PresentationFormat>宽屏</PresentationFormat>
  <Paragraphs>64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汉仪文黑-85W</vt:lpstr>
      <vt:lpstr>汉仪润圆-65简</vt:lpstr>
      <vt:lpstr>Cambria Math</vt:lpstr>
      <vt:lpstr>Calibri</vt:lpstr>
      <vt:lpstr>楷体</vt:lpstr>
      <vt:lpstr>方正清刻本悦宋简体</vt:lpstr>
      <vt:lpstr>Arial</vt:lpstr>
      <vt:lpstr>Calibri Light</vt:lpstr>
      <vt:lpstr>Wingdings</vt:lpstr>
      <vt:lpstr>华文宋体</vt:lpstr>
      <vt:lpstr>等线</vt:lpstr>
      <vt:lpstr>仿宋</vt:lpstr>
      <vt:lpstr>方正小标宋简体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26</cp:revision>
  <dcterms:created xsi:type="dcterms:W3CDTF">2022-10-11T13:11:26Z</dcterms:created>
  <dcterms:modified xsi:type="dcterms:W3CDTF">2023-02-19T17:00:44Z</dcterms:modified>
</cp:coreProperties>
</file>