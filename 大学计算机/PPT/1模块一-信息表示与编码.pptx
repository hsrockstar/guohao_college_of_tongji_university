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7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ppt/tags/tag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  <p:sldMasterId id="2147483895" r:id="rId8"/>
    <p:sldMasterId id="2147483908" r:id="rId9"/>
    <p:sldMasterId id="2147483914" r:id="rId10"/>
    <p:sldMasterId id="2147483927" r:id="rId11"/>
  </p:sldMasterIdLst>
  <p:notesMasterIdLst>
    <p:notesMasterId r:id="rId60"/>
  </p:notesMasterIdLst>
  <p:handoutMasterIdLst>
    <p:handoutMasterId r:id="rId61"/>
  </p:handoutMasterIdLst>
  <p:sldIdLst>
    <p:sldId id="1237" r:id="rId12"/>
    <p:sldId id="390" r:id="rId13"/>
    <p:sldId id="385" r:id="rId14"/>
    <p:sldId id="354" r:id="rId15"/>
    <p:sldId id="1128" r:id="rId16"/>
    <p:sldId id="1236" r:id="rId17"/>
    <p:sldId id="1131" r:id="rId18"/>
    <p:sldId id="1195" r:id="rId19"/>
    <p:sldId id="1231" r:id="rId20"/>
    <p:sldId id="332" r:id="rId21"/>
    <p:sldId id="368" r:id="rId22"/>
    <p:sldId id="372" r:id="rId23"/>
    <p:sldId id="386" r:id="rId24"/>
    <p:sldId id="334" r:id="rId25"/>
    <p:sldId id="369" r:id="rId26"/>
    <p:sldId id="1190" r:id="rId27"/>
    <p:sldId id="371" r:id="rId28"/>
    <p:sldId id="336" r:id="rId29"/>
    <p:sldId id="373" r:id="rId30"/>
    <p:sldId id="1239" r:id="rId31"/>
    <p:sldId id="1241" r:id="rId32"/>
    <p:sldId id="1240" r:id="rId33"/>
    <p:sldId id="376" r:id="rId34"/>
    <p:sldId id="377" r:id="rId35"/>
    <p:sldId id="1164" r:id="rId36"/>
    <p:sldId id="378" r:id="rId37"/>
    <p:sldId id="384" r:id="rId38"/>
    <p:sldId id="381" r:id="rId39"/>
    <p:sldId id="1219" r:id="rId40"/>
    <p:sldId id="360" r:id="rId41"/>
    <p:sldId id="1170" r:id="rId42"/>
    <p:sldId id="338" r:id="rId43"/>
    <p:sldId id="364" r:id="rId44"/>
    <p:sldId id="339" r:id="rId45"/>
    <p:sldId id="388" r:id="rId46"/>
    <p:sldId id="1242" r:id="rId47"/>
    <p:sldId id="362" r:id="rId48"/>
    <p:sldId id="1243" r:id="rId49"/>
    <p:sldId id="1210" r:id="rId50"/>
    <p:sldId id="1175" r:id="rId51"/>
    <p:sldId id="306" r:id="rId52"/>
    <p:sldId id="309" r:id="rId53"/>
    <p:sldId id="310" r:id="rId54"/>
    <p:sldId id="1238" r:id="rId55"/>
    <p:sldId id="1249" r:id="rId56"/>
    <p:sldId id="1245" r:id="rId57"/>
    <p:sldId id="1246" r:id="rId58"/>
    <p:sldId id="1251" r:id="rId59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2BB95E2-DD46-456F-861C-E5888B2ED4FC}">
          <p14:sldIdLst>
            <p14:sldId id="1237"/>
            <p14:sldId id="390"/>
            <p14:sldId id="385"/>
            <p14:sldId id="354"/>
            <p14:sldId id="1128"/>
            <p14:sldId id="1236"/>
            <p14:sldId id="1131"/>
            <p14:sldId id="1195"/>
            <p14:sldId id="1231"/>
            <p14:sldId id="332"/>
            <p14:sldId id="368"/>
            <p14:sldId id="372"/>
            <p14:sldId id="386"/>
            <p14:sldId id="334"/>
            <p14:sldId id="369"/>
            <p14:sldId id="1190"/>
            <p14:sldId id="371"/>
            <p14:sldId id="336"/>
            <p14:sldId id="373"/>
            <p14:sldId id="1239"/>
            <p14:sldId id="1241"/>
            <p14:sldId id="1240"/>
            <p14:sldId id="376"/>
            <p14:sldId id="377"/>
            <p14:sldId id="1164"/>
            <p14:sldId id="378"/>
            <p14:sldId id="384"/>
            <p14:sldId id="381"/>
            <p14:sldId id="1219"/>
            <p14:sldId id="360"/>
            <p14:sldId id="1170"/>
            <p14:sldId id="338"/>
            <p14:sldId id="364"/>
            <p14:sldId id="339"/>
            <p14:sldId id="388"/>
            <p14:sldId id="1242"/>
            <p14:sldId id="362"/>
            <p14:sldId id="1243"/>
            <p14:sldId id="1210"/>
            <p14:sldId id="1175"/>
            <p14:sldId id="306"/>
            <p14:sldId id="309"/>
            <p14:sldId id="310"/>
            <p14:sldId id="1238"/>
            <p14:sldId id="1249"/>
            <p14:sldId id="1245"/>
            <p14:sldId id="1246"/>
            <p14:sldId id="1251"/>
          </p14:sldIdLst>
        </p14:section>
      </p14:sectionLst>
    </p:ex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000066"/>
    <a:srgbClr val="404040"/>
    <a:srgbClr val="C7000B"/>
    <a:srgbClr val="ADCDEA"/>
    <a:srgbClr val="EBEBEB"/>
    <a:srgbClr val="151515"/>
    <a:srgbClr val="575756"/>
    <a:srgbClr val="FFFFFF"/>
    <a:srgbClr val="DD46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175" autoAdjust="0"/>
  </p:normalViewPr>
  <p:slideViewPr>
    <p:cSldViewPr snapToGrid="0" snapToObjects="1">
      <p:cViewPr varScale="1">
        <p:scale>
          <a:sx n="57" d="100"/>
          <a:sy n="57" d="100"/>
        </p:scale>
        <p:origin x="350" y="17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7368"/>
    </p:cViewPr>
  </p:sorterViewPr>
  <p:notesViewPr>
    <p:cSldViewPr snapToGrid="0" snapToObjects="1">
      <p:cViewPr>
        <p:scale>
          <a:sx n="100" d="100"/>
          <a:sy n="100" d="100"/>
        </p:scale>
        <p:origin x="1581" y="-1245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5" Type="http://schemas.openxmlformats.org/officeDocument/2006/relationships/slideMaster" Target="slideMasters/slideMaster2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56" Type="http://schemas.openxmlformats.org/officeDocument/2006/relationships/slide" Target="slides/slide45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0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slide" Target="slides/slide35.xml"/><Relationship Id="rId59" Type="http://schemas.openxmlformats.org/officeDocument/2006/relationships/slide" Target="slides/slide48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54" Type="http://schemas.openxmlformats.org/officeDocument/2006/relationships/slide" Target="slides/slide43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49" Type="http://schemas.openxmlformats.org/officeDocument/2006/relationships/slide" Target="slides/slide38.xml"/><Relationship Id="rId57" Type="http://schemas.openxmlformats.org/officeDocument/2006/relationships/slide" Target="slides/slide46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0.xml"/><Relationship Id="rId44" Type="http://schemas.openxmlformats.org/officeDocument/2006/relationships/slide" Target="slides/slide33.xml"/><Relationship Id="rId52" Type="http://schemas.openxmlformats.org/officeDocument/2006/relationships/slide" Target="slides/slide4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1/10/2026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717550"/>
            <a:ext cx="5580062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438374" cy="1533444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E459AD-631C-4859-A2C6-036CD530E7D2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39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96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4310765"/>
            <a:ext cx="5509936" cy="14221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请华为老师更换图片</a:t>
            </a:r>
          </a:p>
        </p:txBody>
      </p:sp>
    </p:spTree>
    <p:extLst>
      <p:ext uri="{BB962C8B-B14F-4D97-AF65-F5344CB8AC3E}">
        <p14:creationId xmlns:p14="http://schemas.microsoft.com/office/powerpoint/2010/main" val="2184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r>
              <a:rPr lang="en-US" altLang="zh-CN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进制数用 </a:t>
            </a:r>
            <a:r>
              <a:rPr lang="en-US" altLang="zh-CN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个基本符号（</a:t>
            </a:r>
            <a:r>
              <a:rPr lang="en-US" altLang="zh-CN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0,1,2,</a:t>
            </a:r>
            <a:r>
              <a:rPr lang="en-US" altLang="zh-CN" sz="1200" b="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…</a:t>
            </a:r>
            <a:r>
              <a:rPr lang="en-US" altLang="zh-CN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,r-1</a:t>
            </a:r>
            <a:r>
              <a:rPr lang="zh-CN" altLang="en-US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）表示数码，</a:t>
            </a:r>
            <a:r>
              <a:rPr lang="en-US" altLang="zh-CN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200" b="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为基数，权为以基数为底数码所在位置的序号为指数</a:t>
            </a:r>
            <a:endParaRPr lang="en-US" altLang="zh-CN" sz="1200" b="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DA751-3BE1-463C-B264-A7CA5B0E60E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729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一行一行出来</a:t>
            </a:r>
          </a:p>
        </p:txBody>
      </p:sp>
    </p:spTree>
    <p:extLst>
      <p:ext uri="{BB962C8B-B14F-4D97-AF65-F5344CB8AC3E}">
        <p14:creationId xmlns:p14="http://schemas.microsoft.com/office/powerpoint/2010/main" val="2000882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使用</a:t>
            </a:r>
            <a:r>
              <a:rPr lang="en-US" altLang="zh-CN" dirty="0" err="1"/>
              <a:t>PPT</a:t>
            </a:r>
            <a:r>
              <a:rPr lang="zh-CN" altLang="en-US" dirty="0"/>
              <a:t>动画</a:t>
            </a:r>
          </a:p>
        </p:txBody>
      </p:sp>
    </p:spTree>
    <p:extLst>
      <p:ext uri="{BB962C8B-B14F-4D97-AF65-F5344CB8AC3E}">
        <p14:creationId xmlns:p14="http://schemas.microsoft.com/office/powerpoint/2010/main" val="2451350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使用</a:t>
            </a:r>
            <a:r>
              <a:rPr lang="en-US" altLang="zh-CN" dirty="0" err="1"/>
              <a:t>PPT</a:t>
            </a:r>
            <a:r>
              <a:rPr lang="zh-CN" altLang="en-US" dirty="0"/>
              <a:t>动画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5694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此图不清，咋办？</a:t>
            </a:r>
          </a:p>
        </p:txBody>
      </p:sp>
    </p:spTree>
    <p:extLst>
      <p:ext uri="{BB962C8B-B14F-4D97-AF65-F5344CB8AC3E}">
        <p14:creationId xmlns:p14="http://schemas.microsoft.com/office/powerpoint/2010/main" val="1760169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能不能有一段动画或视频：一个人用某个输入法输入汉字</a:t>
            </a:r>
            <a:r>
              <a:rPr lang="zh-CN" altLang="en-US" baseline="0" dirty="0"/>
              <a:t>，转换成机内码，以字形码输出</a:t>
            </a:r>
            <a:endParaRPr lang="en-US" altLang="zh-CN" baseline="0" dirty="0"/>
          </a:p>
          <a:p>
            <a:pPr marL="0" indent="0">
              <a:buNone/>
            </a:pPr>
            <a:endParaRPr lang="en-US" altLang="zh-CN" baseline="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7245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能不能有一段动画或视频：一个人用某个输入法输入汉字</a:t>
            </a:r>
            <a:r>
              <a:rPr lang="zh-CN" altLang="en-US" baseline="0" dirty="0"/>
              <a:t>，转换成机内码，以字形码输出</a:t>
            </a:r>
            <a:endParaRPr lang="en-US" altLang="zh-CN" baseline="0" dirty="0"/>
          </a:p>
          <a:p>
            <a:pPr marL="0" indent="0">
              <a:buNone/>
            </a:pPr>
            <a:endParaRPr lang="en-US" altLang="zh-CN" baseline="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137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能不能有一段动画或视频：一个人用某个输入法输入汉字</a:t>
            </a:r>
            <a:r>
              <a:rPr lang="zh-CN" altLang="en-US" baseline="0" dirty="0"/>
              <a:t>，转换成机内码，以字形码输出</a:t>
            </a:r>
            <a:endParaRPr lang="en-US" altLang="zh-CN" baseline="0" dirty="0"/>
          </a:p>
          <a:p>
            <a:pPr marL="0" indent="0">
              <a:buNone/>
            </a:pPr>
            <a:endParaRPr lang="en-US" altLang="zh-CN" baseline="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1553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此图片如何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9316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此图片如何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1784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4DA751-3BE1-463C-B264-A7CA5B0E60E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085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此图片如何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1885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此图片如何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7075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此图片如何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994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此图片如何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0833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09633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这里可以有没有动画</a:t>
            </a:r>
          </a:p>
        </p:txBody>
      </p:sp>
    </p:spTree>
    <p:extLst>
      <p:ext uri="{BB962C8B-B14F-4D97-AF65-F5344CB8AC3E}">
        <p14:creationId xmlns:p14="http://schemas.microsoft.com/office/powerpoint/2010/main" val="4114430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扫描仪扫描的动画？</a:t>
            </a:r>
          </a:p>
        </p:txBody>
      </p:sp>
    </p:spTree>
    <p:extLst>
      <p:ext uri="{BB962C8B-B14F-4D97-AF65-F5344CB8AC3E}">
        <p14:creationId xmlns:p14="http://schemas.microsoft.com/office/powerpoint/2010/main" val="1378719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4757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3499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0461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63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1371600"/>
            <a:ext cx="11277600" cy="4876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304800"/>
            <a:ext cx="11277600" cy="8382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546100" y="1143000"/>
            <a:ext cx="11163300" cy="0"/>
          </a:xfrm>
          <a:prstGeom prst="line">
            <a:avLst/>
          </a:prstGeom>
          <a:ln w="254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46790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478A1C7-C138-4D5D-AB12-BA3A0F6A8AC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Line 15"/>
          <p:cNvSpPr>
            <a:spLocks noChangeShapeType="1"/>
          </p:cNvSpPr>
          <p:nvPr userDrawn="1"/>
        </p:nvSpPr>
        <p:spPr bwMode="auto">
          <a:xfrm>
            <a:off x="0" y="1220755"/>
            <a:ext cx="9697077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349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此版式用于思考题具体格式</a:t>
            </a:r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AA02E08-35AD-4148-B89B-97C6CD5E94D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57393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2D78CFB-3E4E-450F-81D6-18CCF5CF71D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Line 15"/>
          <p:cNvSpPr>
            <a:spLocks noChangeShapeType="1"/>
          </p:cNvSpPr>
          <p:nvPr userDrawn="1"/>
        </p:nvSpPr>
        <p:spPr bwMode="auto">
          <a:xfrm>
            <a:off x="0" y="1220755"/>
            <a:ext cx="9697077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93862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F6745A0-E443-4903-8670-650C97FE120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62647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F7CD4F-3C92-41A7-BFFE-C231E4C7D14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62626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FC05686-41BB-4577-B5EB-A25971081AB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32814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968896" y="35665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sz="3733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1FE1902B-9288-48E6-8E8C-06E9BFCABB1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Line 15"/>
          <p:cNvSpPr>
            <a:spLocks noChangeShapeType="1"/>
          </p:cNvSpPr>
          <p:nvPr userDrawn="1"/>
        </p:nvSpPr>
        <p:spPr bwMode="auto">
          <a:xfrm>
            <a:off x="0" y="1220755"/>
            <a:ext cx="9697077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 userDrawn="1"/>
        </p:nvSpPr>
        <p:spPr>
          <a:xfrm>
            <a:off x="241300" y="1530940"/>
            <a:ext cx="109728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0" lang="zh-CN" altLang="en-US" sz="2667" b="0" kern="0">
                <a:solidFill>
                  <a:srgbClr val="000066"/>
                </a:solidFill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754989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5"/>
          <p:cNvSpPr>
            <a:spLocks noChangeShapeType="1"/>
          </p:cNvSpPr>
          <p:nvPr userDrawn="1"/>
        </p:nvSpPr>
        <p:spPr bwMode="auto">
          <a:xfrm>
            <a:off x="0" y="1220755"/>
            <a:ext cx="9697077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9805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34BE83C-4683-4022-B086-C7CC308FF63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482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B344D6-FBEE-4689-91AE-28E0D53827D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56511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DE94D52-8B42-43AF-8322-57E0B20FF4F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55679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61667A5-3864-4605-890E-340BE4F486A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32445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304800"/>
            <a:ext cx="11277600" cy="838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1371600"/>
            <a:ext cx="5537200" cy="4876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46800" y="1371600"/>
            <a:ext cx="5537200" cy="2362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46800" y="3886200"/>
            <a:ext cx="5537200" cy="2362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>
              <a:spcBef>
                <a:spcPct val="0"/>
              </a:spcBef>
              <a:defRPr/>
            </a:pPr>
            <a:fld id="{AC576D71-FD60-4978-A776-1FE6AAA2A8EF}" type="datetime1">
              <a:rPr lang="zh-CN" altLang="en-US" sz="1200" smtClean="0">
                <a:solidFill>
                  <a:schemeClr val="tx2">
                    <a:shade val="90000"/>
                  </a:schemeClr>
                </a:solidFill>
              </a:rPr>
              <a:pPr defTabSz="914377">
                <a:spcBef>
                  <a:spcPct val="0"/>
                </a:spcBef>
                <a:defRPr/>
              </a:pPr>
              <a:t>2026/1/10</a:t>
            </a:fld>
            <a:endParaRPr lang="zh-CN" altLang="en-US" sz="120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>
              <a:spcBef>
                <a:spcPct val="0"/>
              </a:spcBef>
              <a:defRPr/>
            </a:pPr>
            <a:endParaRPr lang="zh-CN" altLang="en-US" sz="120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9A0DB2DC-4C9A-4742-B13C-FB6460FD350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52777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5251566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740934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038862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88067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5749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5"/>
            <a:ext cx="12192000" cy="1079876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2400" noProof="0" dirty="0"/>
          </a:p>
        </p:txBody>
      </p:sp>
      <p:sp>
        <p:nvSpPr>
          <p:cNvPr id="8" name="矩形 7"/>
          <p:cNvSpPr/>
          <p:nvPr/>
        </p:nvSpPr>
        <p:spPr>
          <a:xfrm>
            <a:off x="2" y="1"/>
            <a:ext cx="9744405" cy="1079876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2400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1" y="2292095"/>
            <a:ext cx="10096500" cy="2219691"/>
          </a:xfrm>
          <a:noFill/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9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189" indent="0" algn="ctr" rtl="0">
              <a:buNone/>
              <a:defRPr sz="2000"/>
            </a:lvl2pPr>
            <a:lvl3pPr marL="914377" indent="0" algn="ctr" rtl="0">
              <a:buNone/>
              <a:defRPr sz="1800"/>
            </a:lvl3pPr>
            <a:lvl4pPr marL="1371566" indent="0" algn="ctr" rtl="0">
              <a:buNone/>
              <a:defRPr sz="1600"/>
            </a:lvl4pPr>
            <a:lvl5pPr marL="1828754" indent="0" algn="ctr" rtl="0">
              <a:buNone/>
              <a:defRPr sz="1600"/>
            </a:lvl5pPr>
            <a:lvl6pPr marL="2285943" indent="0" algn="ctr" rtl="0">
              <a:buNone/>
              <a:defRPr sz="1600"/>
            </a:lvl6pPr>
            <a:lvl7pPr marL="2743131" indent="0" algn="ctr" rtl="0">
              <a:buNone/>
              <a:defRPr sz="1600"/>
            </a:lvl7pPr>
            <a:lvl8pPr marL="3200320" indent="0" algn="ctr" rtl="0">
              <a:buNone/>
              <a:defRPr sz="1600"/>
            </a:lvl8pPr>
            <a:lvl9pPr marL="3657509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DDEE976-CBFF-49D3-8E31-CE66B8C964FA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27566407-BE89-4246-9C3D-F9E99FBFFAE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243" y="-190143"/>
            <a:ext cx="2755048" cy="275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14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86003DB-DD92-4BDE-971E-EAFA1A0CB53D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B4205A9-C0CE-4DC9-9155-50A1457D6FD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541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1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215571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5"/>
            <a:ext cx="12192000" cy="1079876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240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" y="0"/>
            <a:ext cx="10842171" cy="1183611"/>
          </a:xfrm>
          <a:prstGeom prst="rect">
            <a:avLst/>
          </a:prstGeom>
          <a:pattFill prst="ltUpDiag">
            <a:fgClr>
              <a:srgbClr val="00206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2400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5734051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ctr" rtl="0">
              <a:buNone/>
              <a:defRPr sz="2000"/>
            </a:lvl2pPr>
            <a:lvl3pPr marL="914377" indent="0" algn="ctr" rtl="0">
              <a:buNone/>
              <a:defRPr sz="1800"/>
            </a:lvl3pPr>
            <a:lvl4pPr marL="1371566" indent="0" algn="ctr" rtl="0">
              <a:buNone/>
              <a:defRPr sz="1600"/>
            </a:lvl4pPr>
            <a:lvl5pPr marL="1828754" indent="0" algn="ctr" rtl="0">
              <a:buNone/>
              <a:defRPr sz="1600"/>
            </a:lvl5pPr>
            <a:lvl6pPr marL="2285943" indent="0" algn="ctr" rtl="0">
              <a:buNone/>
              <a:defRPr sz="1600"/>
            </a:lvl6pPr>
            <a:lvl7pPr marL="2743131" indent="0" algn="ctr" rtl="0">
              <a:buNone/>
              <a:defRPr sz="1600"/>
            </a:lvl7pPr>
            <a:lvl8pPr marL="3200320" indent="0" algn="ctr" rtl="0">
              <a:buNone/>
              <a:defRPr sz="1600"/>
            </a:lvl8pPr>
            <a:lvl9pPr marL="3657509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1" y="1"/>
            <a:ext cx="1747524" cy="229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5" y="1310657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  <p:pic>
        <p:nvPicPr>
          <p:cNvPr id="20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028" y="-63612"/>
            <a:ext cx="1336517" cy="133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42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1"/>
            <a:ext cx="12192000" cy="3194035"/>
            <a:chOff x="647402" y="2514600"/>
            <a:chExt cx="10838688" cy="3194035"/>
          </a:xfrm>
          <a:solidFill>
            <a:schemeClr val="tx1">
              <a:lumMod val="65000"/>
              <a:lumOff val="35000"/>
            </a:schemeClr>
          </a:solidFill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sz="2400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  <a:grpFill/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grpFill/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grpFill/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2971806"/>
            <a:ext cx="10071099" cy="168415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4655957"/>
            <a:ext cx="10071099" cy="509751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02F2924-743E-4ADA-B3BE-10F8DB534DC0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BE1A241-BED9-42F2-A6A9-D7B384B8D295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1" y="1"/>
            <a:ext cx="1783188" cy="2971807"/>
          </a:xfrm>
          <a:prstGeom prst="rect">
            <a:avLst/>
          </a:prstGeom>
        </p:spPr>
      </p:pic>
      <p:pic>
        <p:nvPicPr>
          <p:cNvPr id="1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484" y="-32913"/>
            <a:ext cx="1336517" cy="133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439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1" y="1600202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1" y="1600202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084BB1D3-3A81-414D-B0C6-5281BC948F4B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59E8A47D-0AB1-4744-95A8-39E7A180AC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30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2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l" rtl="0">
              <a:buNone/>
              <a:defRPr sz="2000" b="1"/>
            </a:lvl2pPr>
            <a:lvl3pPr marL="914377" indent="0" algn="l" rtl="0">
              <a:buNone/>
              <a:defRPr sz="1800" b="1"/>
            </a:lvl3pPr>
            <a:lvl4pPr marL="1371566" indent="0" algn="l" rtl="0">
              <a:buNone/>
              <a:defRPr sz="1600" b="1"/>
            </a:lvl4pPr>
            <a:lvl5pPr marL="1828754" indent="0" algn="l" rtl="0">
              <a:buNone/>
              <a:defRPr sz="1600" b="1"/>
            </a:lvl5pPr>
            <a:lvl6pPr marL="2285943" indent="0" algn="l" rtl="0">
              <a:buNone/>
              <a:defRPr sz="1600" b="1"/>
            </a:lvl6pPr>
            <a:lvl7pPr marL="2743131" indent="0" algn="l" rtl="0">
              <a:buNone/>
              <a:defRPr sz="1600" b="1"/>
            </a:lvl7pPr>
            <a:lvl8pPr marL="3200320" indent="0" algn="l" rtl="0">
              <a:buNone/>
              <a:defRPr sz="1600" b="1"/>
            </a:lvl8pPr>
            <a:lvl9pPr marL="3657509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1" y="1600202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l" rtl="0">
              <a:buNone/>
              <a:defRPr sz="2000" b="1"/>
            </a:lvl2pPr>
            <a:lvl3pPr marL="914377" indent="0" algn="l" rtl="0">
              <a:buNone/>
              <a:defRPr sz="1800" b="1"/>
            </a:lvl3pPr>
            <a:lvl4pPr marL="1371566" indent="0" algn="l" rtl="0">
              <a:buNone/>
              <a:defRPr sz="1600" b="1"/>
            </a:lvl4pPr>
            <a:lvl5pPr marL="1828754" indent="0" algn="l" rtl="0">
              <a:buNone/>
              <a:defRPr sz="1600" b="1"/>
            </a:lvl5pPr>
            <a:lvl6pPr marL="2285943" indent="0" algn="l" rtl="0">
              <a:buNone/>
              <a:defRPr sz="1600" b="1"/>
            </a:lvl6pPr>
            <a:lvl7pPr marL="2743131" indent="0" algn="l" rtl="0">
              <a:buNone/>
              <a:defRPr sz="1600" b="1"/>
            </a:lvl7pPr>
            <a:lvl8pPr marL="3200320" indent="0" algn="l" rtl="0">
              <a:buNone/>
              <a:defRPr sz="1600" b="1"/>
            </a:lvl8pPr>
            <a:lvl9pPr marL="3657509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1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957CC2E-BA7D-44E8-8543-A2388C7C6ED5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6B1D184D-5C9D-41E8-9FD9-B6823935AD2C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60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9376702-95FB-4BA7-A05A-8C3261398C11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4B08C6E5-0368-4EF4-A482-B7C01F5ADC8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31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159572A-820F-4ACF-9D42-32F74E11D922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8E1DCD51-4692-4631-91E0-6E3FCC30005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52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3376" y="258576"/>
            <a:ext cx="5094224" cy="664029"/>
          </a:xfrm>
        </p:spPr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9" y="1600201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1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189" indent="0" algn="l" rtl="0">
              <a:buNone/>
              <a:defRPr sz="1400"/>
            </a:lvl2pPr>
            <a:lvl3pPr marL="914377" indent="0" algn="l" rtl="0">
              <a:buNone/>
              <a:defRPr sz="1200"/>
            </a:lvl3pPr>
            <a:lvl4pPr marL="1371566" indent="0" algn="l" rtl="0">
              <a:buNone/>
              <a:defRPr sz="1000"/>
            </a:lvl4pPr>
            <a:lvl5pPr marL="1828754" indent="0" algn="l" rtl="0">
              <a:buNone/>
              <a:defRPr sz="1000"/>
            </a:lvl5pPr>
            <a:lvl6pPr marL="2285943" indent="0" algn="l" rtl="0">
              <a:buNone/>
              <a:defRPr sz="1000"/>
            </a:lvl6pPr>
            <a:lvl7pPr marL="2743131" indent="0" algn="l" rtl="0">
              <a:buNone/>
              <a:defRPr sz="1000"/>
            </a:lvl7pPr>
            <a:lvl8pPr marL="3200320" indent="0" algn="l" rtl="0">
              <a:buNone/>
              <a:defRPr sz="1000"/>
            </a:lvl8pPr>
            <a:lvl9pPr marL="3657509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5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201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l" rtl="0">
              <a:buNone/>
              <a:defRPr sz="2800"/>
            </a:lvl2pPr>
            <a:lvl3pPr marL="914377" indent="0" algn="l" rtl="0">
              <a:buNone/>
              <a:defRPr sz="2400"/>
            </a:lvl3pPr>
            <a:lvl4pPr marL="1371566" indent="0" algn="l" rtl="0">
              <a:buNone/>
              <a:defRPr sz="2000"/>
            </a:lvl4pPr>
            <a:lvl5pPr marL="1828754" indent="0" algn="l" rtl="0">
              <a:buNone/>
              <a:defRPr sz="2000"/>
            </a:lvl5pPr>
            <a:lvl6pPr marL="2285943" indent="0" algn="l" rtl="0">
              <a:buNone/>
              <a:defRPr sz="2000"/>
            </a:lvl6pPr>
            <a:lvl7pPr marL="2743131" indent="0" algn="l" rtl="0">
              <a:buNone/>
              <a:defRPr sz="2000"/>
            </a:lvl7pPr>
            <a:lvl8pPr marL="3200320" indent="0" algn="l" rtl="0">
              <a:buNone/>
              <a:defRPr sz="2000"/>
            </a:lvl8pPr>
            <a:lvl9pPr marL="3657509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1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189" indent="0" algn="l" rtl="0">
              <a:buNone/>
              <a:defRPr sz="1400"/>
            </a:lvl2pPr>
            <a:lvl3pPr marL="914377" indent="0" algn="l" rtl="0">
              <a:buNone/>
              <a:defRPr sz="1200"/>
            </a:lvl3pPr>
            <a:lvl4pPr marL="1371566" indent="0" algn="l" rtl="0">
              <a:buNone/>
              <a:defRPr sz="1000"/>
            </a:lvl4pPr>
            <a:lvl5pPr marL="1828754" indent="0" algn="l" rtl="0">
              <a:buNone/>
              <a:defRPr sz="1000"/>
            </a:lvl5pPr>
            <a:lvl6pPr marL="2285943" indent="0" algn="l" rtl="0">
              <a:buNone/>
              <a:defRPr sz="1000"/>
            </a:lvl6pPr>
            <a:lvl7pPr marL="2743131" indent="0" algn="l" rtl="0">
              <a:buNone/>
              <a:defRPr sz="1000"/>
            </a:lvl7pPr>
            <a:lvl8pPr marL="3200320" indent="0" algn="l" rtl="0">
              <a:buNone/>
              <a:defRPr sz="1000"/>
            </a:lvl8pPr>
            <a:lvl9pPr marL="3657509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68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94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1" y="365126"/>
            <a:ext cx="1714500" cy="5811839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6"/>
            <a:ext cx="8098896" cy="5811839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5FB8457-19A9-4A8A-A8FF-B4BB33699748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pPr>
              <a:defRPr/>
            </a:pPr>
            <a:fld id="{50FB4B70-985E-49BB-AC52-476E4B0A283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4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116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DAA02E08-35AD-4148-B89B-97C6CD5E94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928994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42D78CFB-3E4E-450F-81D6-18CCF5CF71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Line 15"/>
          <p:cNvSpPr>
            <a:spLocks noChangeShapeType="1"/>
          </p:cNvSpPr>
          <p:nvPr userDrawn="1"/>
        </p:nvSpPr>
        <p:spPr bwMode="auto">
          <a:xfrm>
            <a:off x="0" y="932723"/>
            <a:ext cx="9744405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41066471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F6745A0-E443-4903-8670-650C97FE12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198903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5F7CD4F-3C92-41A7-BFFE-C231E4C7D1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098320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FC05686-41BB-4577-B5EB-A25971081A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8023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1FE1902B-9288-48E6-8E8C-06E9BFCABB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Line 15"/>
          <p:cNvSpPr>
            <a:spLocks noChangeShapeType="1"/>
          </p:cNvSpPr>
          <p:nvPr userDrawn="1"/>
        </p:nvSpPr>
        <p:spPr bwMode="auto">
          <a:xfrm>
            <a:off x="0" y="932723"/>
            <a:ext cx="9744405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7155362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478A1C7-C138-4D5D-AB12-BA3A0F6A8A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Line 15"/>
          <p:cNvSpPr>
            <a:spLocks noChangeShapeType="1"/>
          </p:cNvSpPr>
          <p:nvPr userDrawn="1"/>
        </p:nvSpPr>
        <p:spPr bwMode="auto">
          <a:xfrm>
            <a:off x="0" y="932723"/>
            <a:ext cx="9744405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64052702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34BE83C-4683-4022-B086-C7CC308FF6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996017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43B344D6-FBEE-4689-91AE-28E0D53827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53494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DE94D52-8B42-43AF-8322-57E0B20FF4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7938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14101" y="6477000"/>
            <a:ext cx="977900" cy="381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61667A5-3864-4605-890E-340BE4F486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39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jpe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  <p:pic>
        <p:nvPicPr>
          <p:cNvPr id="71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2391" y="0"/>
            <a:ext cx="1002388" cy="100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94" r:id="rId2"/>
    <p:sldLayoutId id="214748393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5"/>
          <p:cNvSpPr>
            <a:spLocks noChangeShapeType="1"/>
          </p:cNvSpPr>
          <p:nvPr userDrawn="1"/>
        </p:nvSpPr>
        <p:spPr bwMode="auto">
          <a:xfrm>
            <a:off x="0" y="0"/>
            <a:ext cx="12192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  <p:sp>
        <p:nvSpPr>
          <p:cNvPr id="11" name="Line 15"/>
          <p:cNvSpPr>
            <a:spLocks noChangeShapeType="1"/>
          </p:cNvSpPr>
          <p:nvPr userDrawn="1"/>
        </p:nvSpPr>
        <p:spPr bwMode="auto">
          <a:xfrm>
            <a:off x="0" y="6858000"/>
            <a:ext cx="12192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 userDrawn="1"/>
        </p:nvSpPr>
        <p:spPr bwMode="auto">
          <a:xfrm flipV="1">
            <a:off x="12192000" y="-5549"/>
            <a:ext cx="3472" cy="6863549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  <p:sp>
        <p:nvSpPr>
          <p:cNvPr id="13" name="Line 15"/>
          <p:cNvSpPr>
            <a:spLocks noChangeShapeType="1"/>
          </p:cNvSpPr>
          <p:nvPr userDrawn="1"/>
        </p:nvSpPr>
        <p:spPr bwMode="auto">
          <a:xfrm flipV="1">
            <a:off x="-6944" y="5551"/>
            <a:ext cx="3472" cy="6863549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1241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  <a:ea typeface="+mn-ea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  <a:ea typeface="+mn-ea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  <p:cxnSp>
        <p:nvCxnSpPr>
          <p:cNvPr id="48" name="直接连接符 47"/>
          <p:cNvCxnSpPr/>
          <p:nvPr userDrawn="1"/>
        </p:nvCxnSpPr>
        <p:spPr>
          <a:xfrm>
            <a:off x="457200" y="1143000"/>
            <a:ext cx="11163300" cy="0"/>
          </a:xfrm>
          <a:prstGeom prst="line">
            <a:avLst/>
          </a:prstGeom>
          <a:ln w="25400">
            <a:solidFill>
              <a:srgbClr val="A500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2699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-1"/>
            <a:ext cx="10855483" cy="1219201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sz="2400" noProof="0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3377" y="258576"/>
            <a:ext cx="4787900" cy="664029"/>
          </a:xfrm>
          <a:prstGeom prst="rect">
            <a:avLst/>
          </a:prstGeom>
          <a:solidFill>
            <a:srgbClr val="C00000"/>
          </a:solidFill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901" y="6356352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2245BD58-8AB0-492A-ADC0-45D4D042BE64}" type="datetimeFigureOut">
              <a:rPr lang="zh-CN" altLang="en-US" smtClean="0"/>
              <a:pPr>
                <a:defRPr/>
              </a:pPr>
              <a:t>2026/1/10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3" cy="36512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3" y="6356352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B91A0AD-5401-487A-B4DF-AAE6F99653A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5" name="组 14"/>
          <p:cNvGrpSpPr/>
          <p:nvPr/>
        </p:nvGrpSpPr>
        <p:grpSpPr>
          <a:xfrm>
            <a:off x="842117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https://timgsa.baidu.com/timg?image&amp;quality=80&amp;size=b9999_10000&amp;sec=1511172908148&amp;di=6d02f21212d218024932031e15da36ed&amp;imgtype=0&amp;src=http%3A%2F%2Fphotocdn.sohu.com%2F20120523%2FImg343922632.jpg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5484" y="-32913"/>
            <a:ext cx="1336517" cy="1336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52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5"/>
          <p:cNvSpPr>
            <a:spLocks noChangeShapeType="1"/>
          </p:cNvSpPr>
          <p:nvPr userDrawn="1"/>
        </p:nvSpPr>
        <p:spPr bwMode="auto">
          <a:xfrm>
            <a:off x="0" y="0"/>
            <a:ext cx="12192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/>
          </a:p>
        </p:txBody>
      </p:sp>
      <p:sp>
        <p:nvSpPr>
          <p:cNvPr id="11" name="Line 15"/>
          <p:cNvSpPr>
            <a:spLocks noChangeShapeType="1"/>
          </p:cNvSpPr>
          <p:nvPr userDrawn="1"/>
        </p:nvSpPr>
        <p:spPr bwMode="auto">
          <a:xfrm>
            <a:off x="0" y="6858000"/>
            <a:ext cx="12192000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/>
          </a:p>
        </p:txBody>
      </p:sp>
      <p:sp>
        <p:nvSpPr>
          <p:cNvPr id="12" name="Line 15"/>
          <p:cNvSpPr>
            <a:spLocks noChangeShapeType="1"/>
          </p:cNvSpPr>
          <p:nvPr userDrawn="1"/>
        </p:nvSpPr>
        <p:spPr bwMode="auto">
          <a:xfrm flipV="1">
            <a:off x="12192000" y="-5549"/>
            <a:ext cx="3472" cy="6863549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/>
          </a:p>
        </p:txBody>
      </p:sp>
      <p:sp>
        <p:nvSpPr>
          <p:cNvPr id="13" name="Line 15"/>
          <p:cNvSpPr>
            <a:spLocks noChangeShapeType="1"/>
          </p:cNvSpPr>
          <p:nvPr userDrawn="1"/>
        </p:nvSpPr>
        <p:spPr bwMode="auto">
          <a:xfrm flipV="1">
            <a:off x="-6944" y="5551"/>
            <a:ext cx="3472" cy="6863549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200170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  <a:ea typeface="+mn-ea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  <a:ea typeface="+mn-ea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3.xml"/><Relationship Id="rId4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ownload" TargetMode="External"/><Relationship Id="rId2" Type="http://schemas.openxmlformats.org/officeDocument/2006/relationships/slideLayout" Target="../slideLayouts/slideLayout50.xml"/><Relationship Id="rId1" Type="http://schemas.openxmlformats.org/officeDocument/2006/relationships/tags" Target="../tags/tag1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50.xml"/><Relationship Id="rId1" Type="http://schemas.openxmlformats.org/officeDocument/2006/relationships/tags" Target="../tags/tag12.xml"/><Relationship Id="rId4" Type="http://schemas.openxmlformats.org/officeDocument/2006/relationships/hyperlink" Target="http://www.python.org/download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/>
          </p:cNvSpPr>
          <p:nvPr/>
        </p:nvSpPr>
        <p:spPr bwMode="auto">
          <a:xfrm>
            <a:off x="2" y="2084851"/>
            <a:ext cx="11952649" cy="960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3236" lvl="1" indent="-78315" algn="ctr" defTabSz="121917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85000"/>
            </a:pPr>
            <a:endParaRPr lang="zh-CN" altLang="en-US" sz="4800" b="1" dirty="0">
              <a:solidFill>
                <a:prstClr val="black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9457" y="1604797"/>
            <a:ext cx="8351473" cy="2688299"/>
          </a:xfrm>
          <a:solidFill>
            <a:srgbClr val="C00000"/>
          </a:solidFill>
        </p:spPr>
        <p:txBody>
          <a:bodyPr vert="horz" lIns="384000" tIns="336000" rIns="0" bIns="45720" rtlCol="0" anchor="ctr">
            <a:noAutofit/>
          </a:bodyPr>
          <a:lstStyle/>
          <a:p>
            <a:pPr lvl="1" algn="l" defTabSz="914377" rtl="0">
              <a:lnSpc>
                <a:spcPct val="150000"/>
              </a:lnSpc>
              <a:spcBef>
                <a:spcPct val="0"/>
              </a:spcBef>
            </a:pPr>
            <a:r>
              <a:rPr lang="zh-CN" altLang="en-US" sz="373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大学计算机</a:t>
            </a:r>
            <a:br>
              <a:rPr lang="en-US" altLang="zh-CN" sz="373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73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——</a:t>
            </a:r>
            <a:r>
              <a:rPr lang="zh-CN" altLang="en-US" sz="3733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数制与信息编码</a:t>
            </a:r>
          </a:p>
        </p:txBody>
      </p:sp>
      <p:sp>
        <p:nvSpPr>
          <p:cNvPr id="5123" name="副标题 2"/>
          <p:cNvSpPr>
            <a:spLocks noGrp="1"/>
          </p:cNvSpPr>
          <p:nvPr>
            <p:ph type="subTitle" idx="1"/>
          </p:nvPr>
        </p:nvSpPr>
        <p:spPr>
          <a:xfrm>
            <a:off x="4367808" y="4965171"/>
            <a:ext cx="5184576" cy="576064"/>
          </a:xfrm>
        </p:spPr>
        <p:txBody>
          <a:bodyPr>
            <a:normAutofit/>
          </a:bodyPr>
          <a:lstStyle/>
          <a:p>
            <a:pPr marL="84665" algn="r"/>
            <a:r>
              <a:rPr lang="zh-CN" altLang="en-US" sz="3200" dirty="0">
                <a:solidFill>
                  <a:srgbClr val="000066"/>
                </a:solidFill>
              </a:rPr>
              <a:t>同济大学计算机基础教研室</a:t>
            </a:r>
          </a:p>
        </p:txBody>
      </p:sp>
    </p:spTree>
    <p:extLst>
      <p:ext uri="{BB962C8B-B14F-4D97-AF65-F5344CB8AC3E}">
        <p14:creationId xmlns:p14="http://schemas.microsoft.com/office/powerpoint/2010/main" val="114710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 txBox="1">
            <a:spLocks/>
          </p:cNvSpPr>
          <p:nvPr/>
        </p:nvSpPr>
        <p:spPr>
          <a:xfrm>
            <a:off x="456717" y="1086040"/>
            <a:ext cx="10262007" cy="532460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     通常情况下，信息和数据不作严格区分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1"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数据是信息的表现形式和载体，信息是数据的内涵</a:t>
            </a:r>
            <a:b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1"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信息有意义，而数据没有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意义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1"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例如，测量</a:t>
            </a:r>
            <a:r>
              <a:rPr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体温时，病人的体温是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r>
              <a:rPr lang="en-US" altLang="zh-CN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，这是信息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医生</a:t>
            </a:r>
            <a:r>
              <a:rPr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在病历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写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39</a:t>
            </a:r>
            <a:r>
              <a:rPr lang="en-US" altLang="zh-CN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，这</a:t>
            </a:r>
            <a:r>
              <a:rPr lang="zh-CN" altLang="zh-CN" dirty="0">
                <a:latin typeface="Arial" panose="020B0604020202020204" pitchFamily="34" charset="0"/>
                <a:cs typeface="Arial" panose="020B0604020202020204" pitchFamily="34" charset="0"/>
              </a:rPr>
              <a:t>是数据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信息</a:t>
            </a:r>
            <a:r>
              <a:rPr kumimoji="1" lang="zh-CN" altLang="en-US" sz="32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和数据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49466" y="4646797"/>
            <a:ext cx="1600200" cy="584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</a:p>
        </p:txBody>
      </p:sp>
      <p:cxnSp>
        <p:nvCxnSpPr>
          <p:cNvPr id="4" name="直接箭头连接符 3"/>
          <p:cNvCxnSpPr/>
          <p:nvPr/>
        </p:nvCxnSpPr>
        <p:spPr>
          <a:xfrm>
            <a:off x="4549666" y="4926197"/>
            <a:ext cx="1549400" cy="0"/>
          </a:xfrm>
          <a:prstGeom prst="straightConnector1">
            <a:avLst/>
          </a:prstGeom>
          <a:ln w="22225"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099066" y="4646797"/>
            <a:ext cx="1600200" cy="584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70368" y="441596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965732" y="531441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才能存储、传输</a:t>
            </a:r>
          </a:p>
        </p:txBody>
      </p:sp>
    </p:spTree>
    <p:extLst>
      <p:ext uri="{BB962C8B-B14F-4D97-AF65-F5344CB8AC3E}">
        <p14:creationId xmlns:p14="http://schemas.microsoft.com/office/powerpoint/2010/main" val="90710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6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 txBox="1">
            <a:spLocks/>
          </p:cNvSpPr>
          <p:nvPr/>
        </p:nvSpPr>
        <p:spPr>
          <a:xfrm>
            <a:off x="1274319" y="1139694"/>
            <a:ext cx="10917681" cy="528650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◆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生活、工作中多数使用十进制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◆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计算机内部的数据使用二进制表示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◆ </a:t>
            </a:r>
            <a:r>
              <a:rPr kumimoji="1"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计算机内部的数据书写时使用十六进制</a:t>
            </a:r>
            <a:endParaRPr kumimoji="1"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二进制数据太长，与十六进制存在直接对应关系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93350" y="4124042"/>
            <a:ext cx="667630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十进制：   </a:t>
            </a:r>
            <a:r>
              <a:rPr lang="en-US" altLang="zh-CN" sz="3200" u="sng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35405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32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二进制：   </a:t>
            </a:r>
            <a:r>
              <a:rPr lang="zh-CN" altLang="en-US" sz="3200" u="sng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1000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200" u="sng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1010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200" u="sng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0100</a:t>
            </a: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3200" u="sng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1101</a:t>
            </a:r>
            <a:b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十六进制：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  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   </a:t>
            </a:r>
            <a:r>
              <a:rPr lang="en-US" altLang="zh-CN" sz="3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      D</a:t>
            </a:r>
            <a:endParaRPr lang="zh-CN" altLang="en-US" sz="32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zh-CN" sz="32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二进制表示</a:t>
            </a:r>
            <a:endParaRPr lang="zh-CN" altLang="en-US" sz="3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96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 txBox="1">
            <a:spLocks/>
          </p:cNvSpPr>
          <p:nvPr/>
        </p:nvSpPr>
        <p:spPr>
          <a:xfrm>
            <a:off x="1274319" y="1139694"/>
            <a:ext cx="10262007" cy="513410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进制的特点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0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两个数码</a:t>
            </a:r>
            <a:endParaRPr kumimoji="1"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逢二进一</a:t>
            </a:r>
            <a:b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b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二进制表示</a:t>
            </a:r>
            <a:b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9107" y="2013479"/>
            <a:ext cx="6169830" cy="361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5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 txBox="1">
            <a:spLocks noGrp="1"/>
          </p:cNvSpPr>
          <p:nvPr>
            <p:ph type="sldNum" sz="quarter" idx="4294967295"/>
          </p:nvPr>
        </p:nvSpPr>
        <p:spPr>
          <a:noFill/>
        </p:spPr>
        <p:txBody>
          <a:bodyPr vert="horz" lIns="0" tIns="0" rIns="0" bIns="0" anchor="b"/>
          <a:lstStyle>
            <a:lvl1pPr marL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189" lvl="1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377" lvl="2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566" lvl="3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754" lvl="4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2400" dirty="0">
                <a:solidFill>
                  <a:srgbClr val="045C75"/>
                </a:solidFill>
              </a:rPr>
              <a:t>4</a:t>
            </a:fld>
            <a:endParaRPr lang="zh-CN" altLang="en-US" sz="2400" dirty="0">
              <a:solidFill>
                <a:srgbClr val="045C75"/>
              </a:solidFill>
            </a:endParaRP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3393" y="1412776"/>
            <a:ext cx="8963025" cy="46069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273044" indent="-273044" defTabSz="914377">
              <a:spcBef>
                <a:spcPts val="2400"/>
              </a:spcBef>
              <a:buClr>
                <a:srgbClr val="0BD0D9"/>
              </a:buClr>
              <a:buSzPct val="95000"/>
              <a:defRPr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物理上容易实现，可靠性强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3044" indent="-273044" defTabSz="914377">
              <a:spcBef>
                <a:spcPts val="2400"/>
              </a:spcBef>
              <a:buClr>
                <a:srgbClr val="0BD0D9"/>
              </a:buClr>
              <a:buSzPct val="95000"/>
              <a:defRPr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两个状态稳定，高电压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、低电压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    </a:t>
            </a:r>
            <a:endParaRPr lang="zh-CN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spcBef>
                <a:spcPts val="2400"/>
              </a:spcBef>
              <a:buClr>
                <a:srgbClr val="0BD0D9"/>
              </a:buClr>
              <a:buSzPct val="95000"/>
              <a:defRPr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运算简单，通用性强 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lnSpc>
                <a:spcPct val="100000"/>
              </a:lnSpc>
              <a:spcBef>
                <a:spcPts val="1600"/>
              </a:spcBef>
              <a:defRPr/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例如九九乘法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种运算</a:t>
            </a:r>
          </a:p>
          <a:p>
            <a:pPr defTabSz="914377">
              <a:lnSpc>
                <a:spcPct val="100000"/>
              </a:lnSpc>
              <a:spcBef>
                <a:spcPts val="1600"/>
              </a:spcBef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二进制</a:t>
            </a:r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种运算： 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1×1=1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0×0=0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1×0= 0×1=0</a:t>
            </a:r>
          </a:p>
          <a:p>
            <a:pPr defTabSz="914377">
              <a:spcBef>
                <a:spcPts val="2400"/>
              </a:spcBef>
              <a:buClr>
                <a:srgbClr val="0BD0D9"/>
              </a:buClr>
              <a:buSzPct val="95000"/>
              <a:defRPr/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便于表示和进行逻辑运算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spcBef>
                <a:spcPts val="2400"/>
              </a:spcBef>
              <a:buClr>
                <a:srgbClr val="0BD0D9"/>
              </a:buClr>
              <a:buSzPct val="95000"/>
              <a:defRPr/>
            </a:pPr>
            <a:r>
              <a:rPr kumimoji="1"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与“真”和“假”相对应，便于实现逻辑运算</a:t>
            </a:r>
            <a:endParaRPr kumimoji="1"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377">
              <a:spcBef>
                <a:spcPts val="2400"/>
              </a:spcBef>
              <a:buClr>
                <a:srgbClr val="0BD0D9"/>
              </a:buClr>
              <a:buSzPct val="95000"/>
              <a:defRPr/>
            </a:pP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和十进制之间的转换很方便</a:t>
            </a:r>
            <a:endParaRPr lang="zh-CN" alt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3044" indent="-273044" defTabSz="914377">
              <a:buClr>
                <a:srgbClr val="0BD0D9"/>
              </a:buClr>
              <a:buSzPct val="95000"/>
              <a:defRPr/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48" name="Rectangle 6"/>
          <p:cNvSpPr>
            <a:spLocks noGrp="1"/>
          </p:cNvSpPr>
          <p:nvPr>
            <p:ph type="title" idx="4294967295"/>
          </p:nvPr>
        </p:nvSpPr>
        <p:spPr>
          <a:xfrm>
            <a:off x="435429" y="415926"/>
            <a:ext cx="10320469" cy="666751"/>
          </a:xfrm>
          <a:solidFill>
            <a:srgbClr val="FFCC99">
              <a:alpha val="100000"/>
            </a:srgbClr>
          </a:solidFill>
          <a:ln/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lang="zh-CN" altLang="zh-CN" sz="3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计算机为什么采用二进制</a:t>
            </a:r>
            <a:r>
              <a:rPr lang="zh-CN" altLang="en-US" sz="3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表示？</a:t>
            </a:r>
          </a:p>
        </p:txBody>
      </p:sp>
      <p:sp>
        <p:nvSpPr>
          <p:cNvPr id="6149" name="Rectangle 5"/>
          <p:cNvSpPr/>
          <p:nvPr/>
        </p:nvSpPr>
        <p:spPr>
          <a:xfrm>
            <a:off x="1524002" y="-230831"/>
            <a:ext cx="184731" cy="461665"/>
          </a:xfrm>
          <a:prstGeom prst="rect">
            <a:avLst/>
          </a:prstGeom>
          <a:noFill/>
          <a:ln w="25400">
            <a:noFill/>
          </a:ln>
        </p:spPr>
        <p:txBody>
          <a:bodyPr wrap="none" anchor="ctr">
            <a:spAutoFit/>
          </a:bodyPr>
          <a:lstStyle/>
          <a:p>
            <a:endParaRPr lang="zh-CN" altLang="en-US" sz="2400" dirty="0"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213" y="1915096"/>
            <a:ext cx="3792240" cy="10907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784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21" name="Text Box 17"/>
          <p:cNvSpPr txBox="1"/>
          <p:nvPr/>
        </p:nvSpPr>
        <p:spPr>
          <a:xfrm>
            <a:off x="294429" y="1887881"/>
            <a:ext cx="11838659" cy="3237809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defTabSz="1219170" fontAlgn="base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① 只有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0~9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十个数字</a:t>
            </a:r>
            <a:endParaRPr kumimoji="1" lang="en-US" altLang="zh-CN" sz="2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defTabSz="1219170" fontAlgn="base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逢十进一          </a:t>
            </a:r>
            <a:endParaRPr kumimoji="1" lang="en-US" altLang="zh-CN" sz="2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defTabSz="1219170" fontAlgn="base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1" lang="zh-CN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展开式：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1234.56=1×10</a:t>
            </a:r>
            <a:r>
              <a:rPr kumimoji="1" lang="en-US" altLang="zh-CN" sz="28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+2×10</a:t>
            </a:r>
            <a:r>
              <a:rPr kumimoji="1" lang="en-US" altLang="zh-CN" sz="28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+3×10</a:t>
            </a:r>
            <a:r>
              <a:rPr kumimoji="1" lang="en-US" altLang="zh-CN" sz="2800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+4×10</a:t>
            </a:r>
            <a:r>
              <a:rPr kumimoji="1" lang="en-US" altLang="zh-CN" sz="2800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+5×10</a:t>
            </a:r>
            <a:r>
              <a:rPr kumimoji="1" lang="en-US" altLang="zh-CN" sz="28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+6×10</a:t>
            </a:r>
            <a:r>
              <a:rPr kumimoji="1" lang="en-US" altLang="zh-CN" sz="28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</a:t>
            </a:r>
            <a:endParaRPr kumimoji="1"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defTabSz="121917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endParaRPr kumimoji="1" lang="en-US" altLang="zh-CN" sz="2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defTabSz="1219170" fontAlgn="base">
              <a:lnSpc>
                <a:spcPct val="120000"/>
              </a:lnSpc>
              <a:spcBef>
                <a:spcPct val="10000"/>
              </a:spcBef>
              <a:spcAft>
                <a:spcPct val="0"/>
              </a:spcAft>
            </a:pPr>
            <a:endParaRPr kumimoji="1" lang="en-US" altLang="zh-CN" sz="28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 idx="4294967295"/>
          </p:nvPr>
        </p:nvSpPr>
        <p:spPr>
          <a:xfrm>
            <a:off x="527381" y="162707"/>
            <a:ext cx="9144000" cy="1125539"/>
          </a:xfrm>
          <a:solidFill>
            <a:srgbClr val="FFCC99">
              <a:alpha val="100000"/>
            </a:srgbClr>
          </a:solidFill>
          <a:ln/>
        </p:spPr>
        <p:txBody>
          <a:bodyPr vert="horz" wrap="square" lIns="91440" tIns="45720" rIns="91440" bIns="45720" anchor="ctr"/>
          <a:lstStyle/>
          <a:p>
            <a:pPr algn="l" eaLnBrk="1" hangingPunct="1"/>
            <a:r>
              <a:rPr kumimoji="1" lang="en-US" altLang="zh-CN" sz="32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◆ </a:t>
            </a:r>
            <a:r>
              <a:rPr kumimoji="1" lang="zh-CN" altLang="en-US" sz="3200" kern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数制及其转换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3887" y="1368257"/>
            <a:ext cx="700763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）十进制数制特点</a:t>
            </a:r>
          </a:p>
        </p:txBody>
      </p:sp>
      <p:sp>
        <p:nvSpPr>
          <p:cNvPr id="21" name="Oval 21"/>
          <p:cNvSpPr/>
          <p:nvPr/>
        </p:nvSpPr>
        <p:spPr>
          <a:xfrm>
            <a:off x="4377475" y="3370404"/>
            <a:ext cx="225261" cy="548454"/>
          </a:xfrm>
          <a:prstGeom prst="ellipse">
            <a:avLst/>
          </a:prstGeom>
          <a:noFill/>
          <a:ln w="28575" cap="sq" cmpd="sng">
            <a:solidFill>
              <a:srgbClr val="C00000"/>
            </a:solidFill>
            <a:prstDash val="solid"/>
            <a:headEnd type="none" w="sm" len="sm"/>
            <a:tailEnd type="none" w="sm" len="sm"/>
          </a:ln>
        </p:spPr>
        <p:txBody>
          <a:bodyPr wrap="none" lIns="131529" tIns="65765" rIns="131529" bIns="65765" anchor="ctr"/>
          <a:lstStyle/>
          <a:p>
            <a:pPr algn="ctr"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1400" b="1" dirty="0">
              <a:solidFill>
                <a:srgbClr val="000066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AutoShape 20"/>
          <p:cNvSpPr>
            <a:spLocks noChangeArrowheads="1"/>
          </p:cNvSpPr>
          <p:nvPr/>
        </p:nvSpPr>
        <p:spPr bwMode="auto">
          <a:xfrm>
            <a:off x="3742125" y="4251362"/>
            <a:ext cx="1152606" cy="534261"/>
          </a:xfrm>
          <a:prstGeom prst="wedgeEllipseCallout">
            <a:avLst>
              <a:gd name="adj1" fmla="val 14684"/>
              <a:gd name="adj2" fmla="val -108566"/>
            </a:avLst>
          </a:prstGeom>
          <a:noFill/>
          <a:ln w="15875">
            <a:solidFill>
              <a:srgbClr val="000066"/>
            </a:solidFill>
            <a:miter lim="800000"/>
          </a:ln>
          <a:effectLst/>
        </p:spPr>
        <p:txBody>
          <a:bodyPr lIns="64008" tIns="32004" rIns="64008" bIns="32004"/>
          <a:lstStyle/>
          <a:p>
            <a:pPr algn="ctr" defTabSz="6394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数码</a:t>
            </a:r>
          </a:p>
        </p:txBody>
      </p:sp>
      <p:sp>
        <p:nvSpPr>
          <p:cNvPr id="23" name="AutoShape 20"/>
          <p:cNvSpPr>
            <a:spLocks noChangeArrowheads="1"/>
          </p:cNvSpPr>
          <p:nvPr/>
        </p:nvSpPr>
        <p:spPr bwMode="auto">
          <a:xfrm>
            <a:off x="6508376" y="4272775"/>
            <a:ext cx="1152606" cy="534261"/>
          </a:xfrm>
          <a:prstGeom prst="wedgeEllipseCallout">
            <a:avLst>
              <a:gd name="adj1" fmla="val 14684"/>
              <a:gd name="adj2" fmla="val -108566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64008" tIns="32004" rIns="64008" bIns="32004"/>
          <a:lstStyle/>
          <a:p>
            <a:pPr algn="ctr" defTabSz="6394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基数</a:t>
            </a:r>
          </a:p>
        </p:txBody>
      </p:sp>
      <p:sp>
        <p:nvSpPr>
          <p:cNvPr id="24" name="AutoShape 20"/>
          <p:cNvSpPr>
            <a:spLocks noChangeArrowheads="1"/>
          </p:cNvSpPr>
          <p:nvPr/>
        </p:nvSpPr>
        <p:spPr bwMode="auto">
          <a:xfrm>
            <a:off x="8998004" y="4245936"/>
            <a:ext cx="1152606" cy="534261"/>
          </a:xfrm>
          <a:prstGeom prst="wedgeEllipseCallout">
            <a:avLst>
              <a:gd name="adj1" fmla="val 14684"/>
              <a:gd name="adj2" fmla="val -108566"/>
            </a:avLst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lIns="64008" tIns="32004" rIns="64008" bIns="32004"/>
          <a:lstStyle/>
          <a:p>
            <a:pPr algn="ctr" defTabSz="639429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</a:t>
            </a:r>
          </a:p>
        </p:txBody>
      </p:sp>
      <p:sp>
        <p:nvSpPr>
          <p:cNvPr id="25" name="Oval 21"/>
          <p:cNvSpPr/>
          <p:nvPr/>
        </p:nvSpPr>
        <p:spPr>
          <a:xfrm>
            <a:off x="7123099" y="3378088"/>
            <a:ext cx="315046" cy="548454"/>
          </a:xfrm>
          <a:prstGeom prst="ellipse">
            <a:avLst/>
          </a:prstGeom>
          <a:noFill/>
          <a:ln w="28575" cap="sq" cmpd="sng">
            <a:solidFill>
              <a:srgbClr val="C00000"/>
            </a:solidFill>
            <a:prstDash val="solid"/>
            <a:headEnd type="none" w="sm" len="sm"/>
            <a:tailEnd type="none" w="sm" len="sm"/>
          </a:ln>
        </p:spPr>
        <p:txBody>
          <a:bodyPr wrap="none" lIns="131529" tIns="65765" rIns="131529" bIns="65765" anchor="ctr"/>
          <a:lstStyle/>
          <a:p>
            <a:pPr algn="ctr"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1400" b="1" dirty="0">
              <a:solidFill>
                <a:srgbClr val="000066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Oval 21"/>
          <p:cNvSpPr/>
          <p:nvPr/>
        </p:nvSpPr>
        <p:spPr>
          <a:xfrm>
            <a:off x="9639735" y="3353756"/>
            <a:ext cx="225261" cy="548454"/>
          </a:xfrm>
          <a:prstGeom prst="ellipse">
            <a:avLst/>
          </a:prstGeom>
          <a:noFill/>
          <a:ln w="28575" cap="sq" cmpd="sng">
            <a:solidFill>
              <a:srgbClr val="C00000"/>
            </a:solidFill>
            <a:prstDash val="solid"/>
            <a:headEnd type="none" w="sm" len="sm"/>
            <a:tailEnd type="none" w="sm" len="sm"/>
          </a:ln>
        </p:spPr>
        <p:txBody>
          <a:bodyPr wrap="none" lIns="131529" tIns="65765" rIns="131529" bIns="65765" anchor="ctr"/>
          <a:lstStyle/>
          <a:p>
            <a:pPr algn="ctr"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1400" b="1" dirty="0">
              <a:solidFill>
                <a:srgbClr val="000066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Text Box 17"/>
          <p:cNvSpPr txBox="1"/>
          <p:nvPr/>
        </p:nvSpPr>
        <p:spPr>
          <a:xfrm>
            <a:off x="294428" y="4743174"/>
            <a:ext cx="11746453" cy="2117503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defTabSz="1219170" fontAlgn="base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① 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 1  2 … r-1    </a:t>
            </a:r>
            <a:r>
              <a:rPr kumimoji="1"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二进制：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0  1   </a:t>
            </a:r>
            <a:r>
              <a:rPr kumimoji="1"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八进制 ：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 1 … 7    </a:t>
            </a:r>
            <a:r>
              <a:rPr kumimoji="1"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十六进制：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 1 …9  A…F </a:t>
            </a:r>
          </a:p>
          <a:p>
            <a:pPr defTabSz="1219170" fontAlgn="base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逢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进一          逢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       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逢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                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逢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 </a:t>
            </a:r>
          </a:p>
          <a:p>
            <a:pPr defTabSz="1219170" fontAlgn="base">
              <a:lnSpc>
                <a:spcPct val="150000"/>
              </a:lnSpc>
              <a:spcBef>
                <a:spcPct val="1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1" lang="zh-CN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kumimoji="1"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展开式：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1234.56(R)=1×R</a:t>
            </a:r>
            <a:r>
              <a:rPr kumimoji="1" lang="en-US" altLang="zh-CN" sz="28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+2×R</a:t>
            </a:r>
            <a:r>
              <a:rPr kumimoji="1" lang="en-US" altLang="zh-CN" sz="28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+3×R</a:t>
            </a:r>
            <a:r>
              <a:rPr kumimoji="1" lang="en-US" altLang="zh-CN" sz="2800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+4×R</a:t>
            </a:r>
            <a:r>
              <a:rPr kumimoji="1" lang="en-US" altLang="zh-CN" sz="2800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+5×R</a:t>
            </a:r>
            <a:r>
              <a:rPr kumimoji="1" lang="en-US" altLang="zh-CN" sz="28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</a:t>
            </a:r>
            <a:r>
              <a:rPr kumimoji="1"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+6×R</a:t>
            </a:r>
            <a:r>
              <a:rPr kumimoji="1" lang="en-US" altLang="zh-CN" sz="28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-2</a:t>
            </a:r>
            <a:endParaRPr kumimoji="1" lang="en-US" altLang="zh-CN" sz="2400" b="1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38309" y="4195746"/>
            <a:ext cx="7007632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4720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21" grpId="0"/>
      <p:bldP spid="328721" grpId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31" grpId="0"/>
      <p:bldP spid="3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 txBox="1">
            <a:spLocks noGrp="1"/>
          </p:cNvSpPr>
          <p:nvPr>
            <p:ph type="sldNum" sz="quarter" idx="4294967295"/>
          </p:nvPr>
        </p:nvSpPr>
        <p:spPr>
          <a:noFill/>
        </p:spPr>
        <p:txBody>
          <a:bodyPr vert="horz" lIns="0" tIns="0" rIns="0" bIns="0" anchor="b"/>
          <a:lstStyle>
            <a:lvl1pPr marL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189" lvl="1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377" lvl="2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566" lvl="3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754" lvl="4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algn="r" eaLnBrk="1" hangingPunct="1"/>
            <a:endParaRPr kumimoji="1" lang="zh-CN" altLang="en-US" sz="2400" dirty="0">
              <a:solidFill>
                <a:srgbClr val="045C75"/>
              </a:solidFill>
            </a:endParaRPr>
          </a:p>
        </p:txBody>
      </p:sp>
      <p:grpSp>
        <p:nvGrpSpPr>
          <p:cNvPr id="9219" name="Group 3"/>
          <p:cNvGrpSpPr/>
          <p:nvPr/>
        </p:nvGrpSpPr>
        <p:grpSpPr>
          <a:xfrm>
            <a:off x="1006877" y="2598954"/>
            <a:ext cx="10177719" cy="2008548"/>
            <a:chOff x="-411" y="2670"/>
            <a:chExt cx="7133" cy="1758"/>
          </a:xfrm>
        </p:grpSpPr>
        <p:graphicFrame>
          <p:nvGraphicFramePr>
            <p:cNvPr id="9223" name="Object 4"/>
            <p:cNvGraphicFramePr>
              <a:graphicFrameLocks noChangeAspect="1"/>
            </p:cNvGraphicFramePr>
            <p:nvPr/>
          </p:nvGraphicFramePr>
          <p:xfrm>
            <a:off x="-411" y="3456"/>
            <a:ext cx="1728" cy="9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61365" imgH="431800" progId="Equation.2">
                    <p:embed/>
                  </p:oleObj>
                </mc:Choice>
                <mc:Fallback>
                  <p:oleObj r:id="rId3" imgW="761365" imgH="431800" progId="Equation.2">
                    <p:embed/>
                    <p:pic>
                      <p:nvPicPr>
                        <p:cNvPr id="9223" name="Object 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-411" y="3456"/>
                          <a:ext cx="1728" cy="9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4" name="Rectangle 5"/>
            <p:cNvSpPr/>
            <p:nvPr/>
          </p:nvSpPr>
          <p:spPr>
            <a:xfrm>
              <a:off x="-410" y="2670"/>
              <a:ext cx="7132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64008" tIns="32004" rIns="64008" bIns="32004">
              <a:spAutoFit/>
            </a:bodyPr>
            <a:lstStyle/>
            <a:p>
              <a:pPr algn="just" defTabSz="640064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spc="-67" dirty="0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N=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2400" b="1" spc="-67" baseline="-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n-1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×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400" b="1" spc="-67" baseline="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n-1</a:t>
              </a:r>
              <a:r>
                <a:rPr kumimoji="1" lang="zh-CN" altLang="en-US" sz="2400" b="1" spc="-67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＋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2400" b="1" spc="-67" baseline="-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n-2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×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400" b="1" spc="-67" baseline="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n-2</a:t>
              </a:r>
              <a:r>
                <a:rPr kumimoji="1" lang="zh-CN" altLang="en-US" sz="2400" b="1" spc="-67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＋</a:t>
              </a:r>
              <a:r>
                <a:rPr kumimoji="1" lang="en-US" altLang="zh-CN" sz="2400" b="1" spc="-67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2400" b="1" spc="-67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＋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2400" b="1" spc="-67" baseline="-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0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×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400" b="1" spc="-67" baseline="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0</a:t>
              </a:r>
              <a:r>
                <a:rPr kumimoji="1" lang="zh-CN" altLang="en-US" sz="2400" b="1" spc="-67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＋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2400" b="1" spc="-67" baseline="-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-1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×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400" b="1" spc="-67" baseline="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-1</a:t>
              </a:r>
              <a:r>
                <a:rPr kumimoji="1" lang="zh-CN" altLang="en-US" sz="2400" b="1" spc="-67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＋</a:t>
              </a:r>
              <a:r>
                <a:rPr kumimoji="1" lang="en-US" altLang="zh-CN" sz="2400" b="1" spc="-67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…</a:t>
              </a:r>
              <a:r>
                <a:rPr kumimoji="1" lang="zh-CN" altLang="en-US" sz="2400" b="1" spc="-67" dirty="0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＋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a</a:t>
              </a:r>
              <a:r>
                <a:rPr kumimoji="1" lang="en-US" altLang="zh-CN" sz="2400" b="1" spc="-67" baseline="-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-m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×</a:t>
              </a:r>
              <a:r>
                <a:rPr kumimoji="1" lang="en-US" altLang="zh-CN" sz="2400" b="1" spc="-67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r</a:t>
              </a:r>
              <a:r>
                <a:rPr kumimoji="1" lang="en-US" altLang="zh-CN" sz="2400" b="1" spc="-67" baseline="30000" dirty="0" err="1">
                  <a:solidFill>
                    <a:srgbClr val="A50021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-m</a:t>
              </a:r>
              <a:endParaRPr kumimoji="1" lang="en-US" altLang="zh-CN" sz="2400" b="1" spc="-67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9220" name="Rectangle 6"/>
          <p:cNvSpPr/>
          <p:nvPr/>
        </p:nvSpPr>
        <p:spPr>
          <a:xfrm>
            <a:off x="527381" y="1700809"/>
            <a:ext cx="6121400" cy="470257"/>
          </a:xfrm>
          <a:prstGeom prst="rect">
            <a:avLst/>
          </a:prstGeom>
          <a:noFill/>
          <a:ln w="9525">
            <a:noFill/>
          </a:ln>
        </p:spPr>
        <p:txBody>
          <a:bodyPr lIns="64008" tIns="32004" rIns="64008" bIns="32004">
            <a:spAutoFit/>
          </a:bodyPr>
          <a:lstStyle/>
          <a:p>
            <a:pPr defTabSz="640064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</a:t>
            </a:r>
            <a:r>
              <a:rPr kumimoji="1"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制数</a:t>
            </a:r>
            <a:r>
              <a:rPr kumimoji="1"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展开式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可表示为：</a:t>
            </a:r>
          </a:p>
        </p:txBody>
      </p:sp>
      <p:sp>
        <p:nvSpPr>
          <p:cNvPr id="9222" name="Rectangle 15"/>
          <p:cNvSpPr/>
          <p:nvPr/>
        </p:nvSpPr>
        <p:spPr>
          <a:xfrm>
            <a:off x="6003636" y="3037164"/>
            <a:ext cx="184730" cy="494751"/>
          </a:xfrm>
          <a:prstGeom prst="rect">
            <a:avLst/>
          </a:prstGeom>
          <a:noFill/>
          <a:ln w="25400">
            <a:noFill/>
          </a:ln>
        </p:spPr>
        <p:txBody>
          <a:bodyPr wrap="none" anchor="ctr">
            <a:spAutoFit/>
          </a:bodyPr>
          <a:lstStyle/>
          <a:p>
            <a:pPr algn="ctr"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dirty="0">
              <a:solidFill>
                <a:srgbClr val="000066"/>
              </a:solidFill>
              <a:latin typeface="Arial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63819" y="3769083"/>
            <a:ext cx="4059591" cy="49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数码乘以权的累加和</a:t>
            </a:r>
          </a:p>
        </p:txBody>
      </p:sp>
      <p:sp>
        <p:nvSpPr>
          <p:cNvPr id="10" name="Text Box 26"/>
          <p:cNvSpPr txBox="1"/>
          <p:nvPr/>
        </p:nvSpPr>
        <p:spPr>
          <a:xfrm>
            <a:off x="611750" y="4987198"/>
            <a:ext cx="7704137" cy="49795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七进制数</a:t>
            </a:r>
            <a: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4532.1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的位权展开式？</a:t>
            </a:r>
          </a:p>
        </p:txBody>
      </p:sp>
      <p:sp>
        <p:nvSpPr>
          <p:cNvPr id="11" name="Text Box 27"/>
          <p:cNvSpPr txBox="1"/>
          <p:nvPr/>
        </p:nvSpPr>
        <p:spPr>
          <a:xfrm>
            <a:off x="671902" y="5738204"/>
            <a:ext cx="7981951" cy="469616"/>
          </a:xfrm>
          <a:prstGeom prst="rect">
            <a:avLst/>
          </a:prstGeom>
          <a:noFill/>
          <a:ln w="9525">
            <a:noFill/>
          </a:ln>
        </p:spPr>
        <p:txBody>
          <a:bodyPr lIns="64008" tIns="32004" rIns="64008" bIns="32004">
            <a:spAutoFit/>
          </a:bodyPr>
          <a:lstStyle/>
          <a:p>
            <a:pPr defTabSz="640064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4532.1</a:t>
            </a:r>
            <a:r>
              <a:rPr kumimoji="1" lang="en-US" altLang="zh-CN" sz="2400" b="1" dirty="0">
                <a:solidFill>
                  <a:srgbClr val="000066"/>
                </a:solidFill>
                <a:latin typeface="Arial" pitchFamily="34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=4×7</a:t>
            </a:r>
            <a:r>
              <a:rPr kumimoji="1" lang="en-US" altLang="zh-CN" sz="24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+5×7</a:t>
            </a:r>
            <a:r>
              <a:rPr kumimoji="1" lang="en-US" altLang="zh-CN" sz="24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+3×7</a:t>
            </a:r>
            <a:r>
              <a:rPr kumimoji="1" lang="en-US" altLang="zh-CN" sz="24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+2×7</a:t>
            </a:r>
            <a:r>
              <a:rPr kumimoji="1" lang="en-US" altLang="zh-CN" sz="24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kumimoji="1" lang="en-US" altLang="zh-CN" sz="2400" b="1" dirty="0">
                <a:solidFill>
                  <a:srgbClr val="A50021"/>
                </a:solidFill>
                <a:latin typeface="Arial" pitchFamily="34" charset="0"/>
                <a:ea typeface="微软雅黑" panose="020B0503020204020204" pitchFamily="34" charset="-122"/>
              </a:rPr>
              <a:t>+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1×7</a:t>
            </a:r>
            <a:r>
              <a:rPr kumimoji="1" lang="en-US" altLang="zh-CN" sz="2400" b="1" baseline="30000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51656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5360" y="356659"/>
            <a:ext cx="8160907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“计算器”程序实现正整数的数制转换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15" y="1508788"/>
            <a:ext cx="2976331" cy="490543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815415" y="2852936"/>
            <a:ext cx="1440159" cy="659732"/>
          </a:xfrm>
          <a:prstGeom prst="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3200" b="1">
              <a:solidFill>
                <a:srgbClr val="A50021"/>
              </a:solidFill>
              <a:latin typeface="Arial" charset="0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3718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7733683" y="6301899"/>
            <a:ext cx="194911" cy="552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6481" tIns="48240" rIns="96481" bIns="48240">
            <a:spAutoFit/>
          </a:bodyPr>
          <a:lstStyle>
            <a:lvl1pPr defTabSz="9652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652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652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652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652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86901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zh-CN" sz="27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30440" y="2910827"/>
            <a:ext cx="8653859" cy="565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32" tIns="45717" rIns="91432" bIns="45717">
            <a:spAutoFit/>
          </a:bodyPr>
          <a:lstStyle>
            <a:lvl1pPr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</a:t>
            </a:r>
            <a:r>
              <a:rPr kumimoji="1"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kumimoji="1" lang="zh-CN" altLang="en-US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 　　   八　    　        二　 　　        十六</a:t>
            </a:r>
            <a:r>
              <a:rPr kumimoji="1" lang="en-US" altLang="zh-CN" sz="2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p:sp>
        <p:nvSpPr>
          <p:cNvPr id="3" name="右箭头 2"/>
          <p:cNvSpPr>
            <a:spLocks noChangeArrowheads="1"/>
          </p:cNvSpPr>
          <p:nvPr/>
        </p:nvSpPr>
        <p:spPr bwMode="auto">
          <a:xfrm>
            <a:off x="1488282" y="2794675"/>
            <a:ext cx="1008063" cy="819179"/>
          </a:xfrm>
          <a:prstGeom prst="rightArrow">
            <a:avLst>
              <a:gd name="adj1" fmla="val 50000"/>
              <a:gd name="adj2" fmla="val 49948"/>
            </a:avLst>
          </a:prstGeom>
          <a:solidFill>
            <a:schemeClr val="accent1"/>
          </a:solidFill>
          <a:ln w="25400" algn="ctr">
            <a:solidFill>
              <a:srgbClr val="0099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</a:p>
        </p:txBody>
      </p:sp>
      <p:grpSp>
        <p:nvGrpSpPr>
          <p:cNvPr id="20" name="Group 68"/>
          <p:cNvGrpSpPr>
            <a:grpSpLocks/>
          </p:cNvGrpSpPr>
          <p:nvPr/>
        </p:nvGrpSpPr>
        <p:grpSpPr bwMode="auto">
          <a:xfrm>
            <a:off x="2868215" y="3558456"/>
            <a:ext cx="1905000" cy="1740183"/>
            <a:chOff x="5761" y="1902"/>
            <a:chExt cx="1750" cy="1675"/>
          </a:xfrm>
        </p:grpSpPr>
        <p:sp>
          <p:nvSpPr>
            <p:cNvPr id="14356" name="Line 70"/>
            <p:cNvSpPr>
              <a:spLocks noChangeShapeType="1"/>
            </p:cNvSpPr>
            <p:nvPr/>
          </p:nvSpPr>
          <p:spPr bwMode="auto">
            <a:xfrm>
              <a:off x="6111" y="1974"/>
              <a:ext cx="0" cy="3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357" name="Line 71"/>
            <p:cNvSpPr>
              <a:spLocks noChangeShapeType="1"/>
            </p:cNvSpPr>
            <p:nvPr/>
          </p:nvSpPr>
          <p:spPr bwMode="auto">
            <a:xfrm>
              <a:off x="6086" y="2315"/>
              <a:ext cx="7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358" name="Rectangle 72"/>
            <p:cNvSpPr>
              <a:spLocks noChangeArrowheads="1"/>
            </p:cNvSpPr>
            <p:nvPr/>
          </p:nvSpPr>
          <p:spPr bwMode="auto">
            <a:xfrm>
              <a:off x="6185" y="1902"/>
              <a:ext cx="769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456</a:t>
              </a:r>
            </a:p>
          </p:txBody>
        </p:sp>
        <p:sp>
          <p:nvSpPr>
            <p:cNvPr id="14359" name="Rectangle 73"/>
            <p:cNvSpPr>
              <a:spLocks noChangeArrowheads="1"/>
            </p:cNvSpPr>
            <p:nvPr/>
          </p:nvSpPr>
          <p:spPr bwMode="auto">
            <a:xfrm>
              <a:off x="5764" y="1902"/>
              <a:ext cx="490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4360" name="Line 74"/>
            <p:cNvSpPr>
              <a:spLocks noChangeShapeType="1"/>
            </p:cNvSpPr>
            <p:nvPr/>
          </p:nvSpPr>
          <p:spPr bwMode="auto">
            <a:xfrm>
              <a:off x="6111" y="2374"/>
              <a:ext cx="0" cy="3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361" name="Line 75"/>
            <p:cNvSpPr>
              <a:spLocks noChangeShapeType="1"/>
            </p:cNvSpPr>
            <p:nvPr/>
          </p:nvSpPr>
          <p:spPr bwMode="auto">
            <a:xfrm>
              <a:off x="6170" y="2691"/>
              <a:ext cx="5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362" name="Rectangle 76"/>
            <p:cNvSpPr>
              <a:spLocks noChangeArrowheads="1"/>
            </p:cNvSpPr>
            <p:nvPr/>
          </p:nvSpPr>
          <p:spPr bwMode="auto">
            <a:xfrm>
              <a:off x="6185" y="2302"/>
              <a:ext cx="769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57</a:t>
              </a:r>
            </a:p>
          </p:txBody>
        </p:sp>
        <p:sp>
          <p:nvSpPr>
            <p:cNvPr id="14363" name="Rectangle 77"/>
            <p:cNvSpPr>
              <a:spLocks noChangeArrowheads="1"/>
            </p:cNvSpPr>
            <p:nvPr/>
          </p:nvSpPr>
          <p:spPr bwMode="auto">
            <a:xfrm>
              <a:off x="5764" y="2302"/>
              <a:ext cx="490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4364" name="Line 78"/>
            <p:cNvSpPr>
              <a:spLocks noChangeShapeType="1"/>
            </p:cNvSpPr>
            <p:nvPr/>
          </p:nvSpPr>
          <p:spPr bwMode="auto">
            <a:xfrm>
              <a:off x="6111" y="2772"/>
              <a:ext cx="0" cy="3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365" name="Line 79"/>
            <p:cNvSpPr>
              <a:spLocks noChangeShapeType="1"/>
            </p:cNvSpPr>
            <p:nvPr/>
          </p:nvSpPr>
          <p:spPr bwMode="auto">
            <a:xfrm>
              <a:off x="6118" y="3119"/>
              <a:ext cx="47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4366" name="Rectangle 80"/>
            <p:cNvSpPr>
              <a:spLocks noChangeArrowheads="1"/>
            </p:cNvSpPr>
            <p:nvPr/>
          </p:nvSpPr>
          <p:spPr bwMode="auto">
            <a:xfrm>
              <a:off x="6185" y="2702"/>
              <a:ext cx="769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7</a:t>
              </a:r>
            </a:p>
          </p:txBody>
        </p:sp>
        <p:sp>
          <p:nvSpPr>
            <p:cNvPr id="14367" name="Rectangle 81"/>
            <p:cNvSpPr>
              <a:spLocks noChangeArrowheads="1"/>
            </p:cNvSpPr>
            <p:nvPr/>
          </p:nvSpPr>
          <p:spPr bwMode="auto">
            <a:xfrm>
              <a:off x="5764" y="2702"/>
              <a:ext cx="490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4368" name="Rectangle 82"/>
            <p:cNvSpPr>
              <a:spLocks noChangeArrowheads="1"/>
            </p:cNvSpPr>
            <p:nvPr/>
          </p:nvSpPr>
          <p:spPr bwMode="auto">
            <a:xfrm>
              <a:off x="6185" y="3036"/>
              <a:ext cx="769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369" name="Rectangle 83"/>
            <p:cNvSpPr>
              <a:spLocks noChangeArrowheads="1"/>
            </p:cNvSpPr>
            <p:nvPr/>
          </p:nvSpPr>
          <p:spPr bwMode="auto">
            <a:xfrm>
              <a:off x="5761" y="3035"/>
              <a:ext cx="493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19170" eaLnBrk="1" fontAlgn="base" hangingPunct="1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800" b="1"/>
            </a:p>
          </p:txBody>
        </p:sp>
        <p:sp>
          <p:nvSpPr>
            <p:cNvPr id="14370" name="Rectangle 84"/>
            <p:cNvSpPr>
              <a:spLocks noChangeArrowheads="1"/>
            </p:cNvSpPr>
            <p:nvPr/>
          </p:nvSpPr>
          <p:spPr bwMode="auto">
            <a:xfrm>
              <a:off x="7097" y="2302"/>
              <a:ext cx="414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371" name="Rectangle 85"/>
            <p:cNvSpPr>
              <a:spLocks noChangeArrowheads="1"/>
            </p:cNvSpPr>
            <p:nvPr/>
          </p:nvSpPr>
          <p:spPr bwMode="auto">
            <a:xfrm>
              <a:off x="7097" y="2702"/>
              <a:ext cx="414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4372" name="Rectangle 86"/>
            <p:cNvSpPr>
              <a:spLocks noChangeArrowheads="1"/>
            </p:cNvSpPr>
            <p:nvPr/>
          </p:nvSpPr>
          <p:spPr bwMode="auto">
            <a:xfrm>
              <a:off x="7097" y="2969"/>
              <a:ext cx="414" cy="5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800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</p:grpSp>
      <p:sp>
        <p:nvSpPr>
          <p:cNvPr id="4" name="右箭头 3"/>
          <p:cNvSpPr>
            <a:spLocks noChangeArrowheads="1"/>
          </p:cNvSpPr>
          <p:nvPr/>
        </p:nvSpPr>
        <p:spPr bwMode="auto">
          <a:xfrm>
            <a:off x="3049483" y="2817435"/>
            <a:ext cx="1596071" cy="716781"/>
          </a:xfrm>
          <a:prstGeom prst="rightArrow">
            <a:avLst>
              <a:gd name="adj1" fmla="val 50000"/>
              <a:gd name="adj2" fmla="val 50036"/>
            </a:avLst>
          </a:prstGeom>
          <a:solidFill>
            <a:schemeClr val="accent1"/>
          </a:solidFill>
          <a:ln w="25400" algn="ctr">
            <a:solidFill>
              <a:srgbClr val="0099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位化</a:t>
            </a:r>
            <a:r>
              <a:rPr kumimoji="1" lang="en-US" altLang="zh-CN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  <a:p>
            <a:pPr algn="ctr" defTabSz="1219170"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右箭头 39"/>
          <p:cNvSpPr>
            <a:spLocks noChangeArrowheads="1"/>
          </p:cNvSpPr>
          <p:nvPr/>
        </p:nvSpPr>
        <p:spPr bwMode="auto">
          <a:xfrm>
            <a:off x="5384502" y="2781235"/>
            <a:ext cx="1710940" cy="839787"/>
          </a:xfrm>
          <a:prstGeom prst="rightArrow">
            <a:avLst>
              <a:gd name="adj1" fmla="val 50000"/>
              <a:gd name="adj2" fmla="val 50010"/>
            </a:avLst>
          </a:prstGeom>
          <a:solidFill>
            <a:schemeClr val="accent1"/>
          </a:solidFill>
          <a:ln w="25400" algn="ctr">
            <a:solidFill>
              <a:srgbClr val="0099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位并</a:t>
            </a:r>
            <a:r>
              <a:rPr kumimoji="1" lang="en-US" altLang="zh-CN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133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  <a:p>
            <a:pPr algn="ctr" defTabSz="1219170"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Group 11"/>
          <p:cNvGrpSpPr>
            <a:grpSpLocks/>
          </p:cNvGrpSpPr>
          <p:nvPr/>
        </p:nvGrpSpPr>
        <p:grpSpPr bwMode="auto">
          <a:xfrm>
            <a:off x="5276453" y="3460031"/>
            <a:ext cx="1971675" cy="1854896"/>
            <a:chOff x="2973" y="1836"/>
            <a:chExt cx="1811" cy="1623"/>
          </a:xfrm>
        </p:grpSpPr>
        <p:sp>
          <p:nvSpPr>
            <p:cNvPr id="14347" name="Rectangle 12"/>
            <p:cNvSpPr>
              <a:spLocks noChangeArrowheads="1"/>
            </p:cNvSpPr>
            <p:nvPr/>
          </p:nvSpPr>
          <p:spPr bwMode="auto">
            <a:xfrm>
              <a:off x="3530" y="1836"/>
              <a:ext cx="105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0.78</a:t>
              </a:r>
            </a:p>
          </p:txBody>
        </p:sp>
        <p:sp>
          <p:nvSpPr>
            <p:cNvPr id="14348" name="Rectangle 13"/>
            <p:cNvSpPr>
              <a:spLocks noChangeArrowheads="1"/>
            </p:cNvSpPr>
            <p:nvPr/>
          </p:nvSpPr>
          <p:spPr bwMode="auto">
            <a:xfrm>
              <a:off x="3858" y="2114"/>
              <a:ext cx="41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4349" name="Line 14"/>
            <p:cNvSpPr>
              <a:spLocks noChangeShapeType="1"/>
            </p:cNvSpPr>
            <p:nvPr/>
          </p:nvSpPr>
          <p:spPr bwMode="auto">
            <a:xfrm>
              <a:off x="2973" y="2445"/>
              <a:ext cx="18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45" name="Rectangle 15"/>
            <p:cNvSpPr>
              <a:spLocks noChangeArrowheads="1"/>
            </p:cNvSpPr>
            <p:nvPr/>
          </p:nvSpPr>
          <p:spPr bwMode="auto">
            <a:xfrm>
              <a:off x="3529" y="2431"/>
              <a:ext cx="1197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/>
            <a:p>
              <a:pPr defTabSz="121917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100" b="1" u="sng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黑体" pitchFamily="49" charset="-122"/>
                </a:rPr>
                <a:t>6</a:t>
              </a:r>
              <a:r>
                <a:rPr kumimoji="1" lang="en-US" altLang="zh-CN" sz="21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</a:rPr>
                <a:t>. 24</a:t>
              </a:r>
            </a:p>
          </p:txBody>
        </p:sp>
        <p:sp>
          <p:nvSpPr>
            <p:cNvPr id="14351" name="Rectangle 16"/>
            <p:cNvSpPr>
              <a:spLocks noChangeArrowheads="1"/>
            </p:cNvSpPr>
            <p:nvPr/>
          </p:nvSpPr>
          <p:spPr bwMode="auto">
            <a:xfrm>
              <a:off x="3858" y="2710"/>
              <a:ext cx="414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>
              <a:lvl1pPr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4352" name="Line 17"/>
            <p:cNvSpPr>
              <a:spLocks noChangeShapeType="1"/>
            </p:cNvSpPr>
            <p:nvPr/>
          </p:nvSpPr>
          <p:spPr bwMode="auto">
            <a:xfrm>
              <a:off x="2973" y="3040"/>
              <a:ext cx="18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endParaRPr kumimoji="1" lang="zh-CN" altLang="en-US" sz="2400" b="1">
                <a:solidFill>
                  <a:srgbClr val="A50021"/>
                </a:solidFill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50" name="Rectangle 20"/>
            <p:cNvSpPr>
              <a:spLocks noChangeArrowheads="1"/>
            </p:cNvSpPr>
            <p:nvPr/>
          </p:nvSpPr>
          <p:spPr bwMode="auto">
            <a:xfrm>
              <a:off x="3443" y="3071"/>
              <a:ext cx="1341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0" tIns="44447" rIns="90480" bIns="44447">
              <a:spAutoFit/>
            </a:bodyPr>
            <a:lstStyle/>
            <a:p>
              <a:pPr defTabSz="121917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1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</a:rPr>
                <a:t> </a:t>
              </a:r>
              <a:r>
                <a:rPr kumimoji="1" lang="en-US" altLang="zh-CN" sz="2100" b="1" u="sng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ea typeface="黑体" pitchFamily="49" charset="-122"/>
                </a:rPr>
                <a:t>1</a:t>
              </a:r>
              <a:r>
                <a:rPr kumimoji="1" lang="en-US" altLang="zh-CN" sz="2100" b="1" dirty="0">
                  <a:solidFill>
                    <a:srgbClr val="000000"/>
                  </a:solidFill>
                  <a:latin typeface="Times New Roman" pitchFamily="18" charset="0"/>
                  <a:ea typeface="黑体" pitchFamily="49" charset="-122"/>
                </a:rPr>
                <a:t>.  92</a:t>
              </a:r>
            </a:p>
          </p:txBody>
        </p:sp>
        <p:sp>
          <p:nvSpPr>
            <p:cNvPr id="14354" name="Rectangle 26"/>
            <p:cNvSpPr>
              <a:spLocks noChangeArrowheads="1"/>
            </p:cNvSpPr>
            <p:nvPr/>
          </p:nvSpPr>
          <p:spPr bwMode="auto">
            <a:xfrm>
              <a:off x="3189" y="2110"/>
              <a:ext cx="400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6488" tIns="48244" rIns="96488" bIns="48244">
              <a:spAutoFit/>
            </a:bodyPr>
            <a:lstStyle>
              <a:lvl1pPr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84785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sym typeface="Wingdings 2" panose="05020102010507070707" pitchFamily="18" charset="2"/>
                </a:rPr>
                <a:t></a:t>
              </a:r>
            </a:p>
          </p:txBody>
        </p:sp>
        <p:sp>
          <p:nvSpPr>
            <p:cNvPr id="14355" name="Rectangle 27"/>
            <p:cNvSpPr>
              <a:spLocks noChangeArrowheads="1"/>
            </p:cNvSpPr>
            <p:nvPr/>
          </p:nvSpPr>
          <p:spPr bwMode="auto">
            <a:xfrm>
              <a:off x="3189" y="2689"/>
              <a:ext cx="400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6488" tIns="48244" rIns="96488" bIns="48244">
              <a:spAutoFit/>
            </a:bodyPr>
            <a:lstStyle>
              <a:lvl1pPr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963613" eaLnBrk="0" hangingPunct="0"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963613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rgbClr val="000066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1284785" fontAlgn="base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  <a:sym typeface="Wingdings 2" panose="05020102010507070707" pitchFamily="18" charset="2"/>
                </a:rPr>
                <a:t></a:t>
              </a:r>
            </a:p>
          </p:txBody>
        </p:sp>
      </p:grp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61938" y="5316052"/>
            <a:ext cx="5935663" cy="2254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fontAlgn="base" hangingPunct="1">
              <a:lnSpc>
                <a:spcPct val="120000"/>
              </a:lnSpc>
              <a:spcAft>
                <a:spcPct val="0"/>
              </a:spcAft>
            </a:pPr>
            <a:r>
              <a:rPr kumimoji="1" lang="en-US" altLang="zh-CN" sz="2667">
                <a:latin typeface="微软雅黑" panose="020B0503020204020204" pitchFamily="34" charset="-122"/>
                <a:ea typeface="微软雅黑" panose="020B0503020204020204" pitchFamily="34" charset="-122"/>
              </a:rPr>
              <a:t>456.78(D)</a:t>
            </a:r>
            <a:r>
              <a:rPr kumimoji="1" lang="en-US" altLang="zh-CN" sz="2667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≈ 7   1    0  .  6   2(O)</a:t>
            </a:r>
          </a:p>
          <a:p>
            <a:pPr defTabSz="1219170" eaLnBrk="1" fontAlgn="base" hangingPunct="1">
              <a:lnSpc>
                <a:spcPct val="120000"/>
              </a:lnSpc>
              <a:spcAft>
                <a:spcPct val="0"/>
              </a:spcAft>
            </a:pPr>
            <a:r>
              <a:rPr kumimoji="1" lang="en-US" altLang="zh-CN" sz="2667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=111 001 000.110 010(B)</a:t>
            </a:r>
            <a:endParaRPr kumimoji="1" lang="en-US" altLang="zh-CN" sz="2667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defTabSz="1219170" eaLnBrk="1" fontAlgn="base" hangingPunct="1">
              <a:lnSpc>
                <a:spcPct val="120000"/>
              </a:lnSpc>
              <a:spcAft>
                <a:spcPct val="0"/>
              </a:spcAft>
            </a:pPr>
            <a:r>
              <a:rPr kumimoji="1" lang="en-US" altLang="zh-CN" sz="2667"/>
              <a:t>                 </a:t>
            </a:r>
            <a:r>
              <a:rPr kumimoji="1" lang="en-US" altLang="zh-CN" sz="2667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    C       8   .   C      8(H)</a:t>
            </a:r>
            <a:endParaRPr kumimoji="1" lang="en-US" altLang="zh-CN" sz="2667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defTabSz="1219170"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800" b="1"/>
          </a:p>
        </p:txBody>
      </p:sp>
      <p:sp>
        <p:nvSpPr>
          <p:cNvPr id="2" name="文本框 1"/>
          <p:cNvSpPr txBox="1"/>
          <p:nvPr/>
        </p:nvSpPr>
        <p:spPr>
          <a:xfrm>
            <a:off x="150814" y="1371783"/>
            <a:ext cx="12150389" cy="542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Aft>
                <a:spcPct val="0"/>
              </a:spcAft>
              <a:defRPr/>
            </a:pPr>
            <a:r>
              <a:rPr kumimoji="1" lang="zh-CN" altLang="en-US" sz="2667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</a:t>
            </a:r>
            <a:r>
              <a:rPr kumimoji="1" lang="zh-CN" altLang="en-US" sz="2667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如何快速地将十进制数分别转换成二、八、十六进制？</a:t>
            </a:r>
            <a:endParaRPr kumimoji="1" lang="zh-CN" altLang="en-US" sz="2667" b="1">
              <a:solidFill>
                <a:srgbClr val="000066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4120" y="2088238"/>
            <a:ext cx="3456384" cy="5430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67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kumimoji="1" lang="en-US" altLang="zh-CN" sz="2667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456.78(D)</a:t>
            </a:r>
            <a:endParaRPr kumimoji="1" lang="zh-CN" altLang="en-US" sz="2667" b="1">
              <a:solidFill>
                <a:srgbClr val="A5002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76731" y="3906293"/>
            <a:ext cx="1248139" cy="1367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</a:t>
            </a:r>
          </a:p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3200" b="1">
              <a:solidFill>
                <a:srgbClr val="A50021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41976" y="5546343"/>
            <a:ext cx="2656513" cy="542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位化</a:t>
            </a:r>
            <a:r>
              <a:rPr kumimoji="1" lang="en-US" altLang="zh-CN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kumimoji="1" lang="zh-CN" altLang="en-US" sz="3200" b="1">
              <a:solidFill>
                <a:srgbClr val="A50021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0285" y="6201214"/>
            <a:ext cx="1609735" cy="5430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位并</a:t>
            </a:r>
            <a:r>
              <a:rPr kumimoji="1" lang="en-US" altLang="zh-CN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98669" y="307915"/>
            <a:ext cx="2336959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综合应用</a:t>
            </a: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3313441" y="6301899"/>
            <a:ext cx="734785" cy="0"/>
          </a:xfrm>
          <a:prstGeom prst="line">
            <a:avLst/>
          </a:prstGeom>
          <a:ln w="28575">
            <a:tailEnd type="none"/>
          </a:ln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 bwMode="auto">
          <a:xfrm>
            <a:off x="2487216" y="6290256"/>
            <a:ext cx="734785" cy="0"/>
          </a:xfrm>
          <a:prstGeom prst="line">
            <a:avLst/>
          </a:prstGeom>
          <a:ln w="28575">
            <a:tailEnd type="none"/>
          </a:ln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 bwMode="auto">
          <a:xfrm>
            <a:off x="4166941" y="6284060"/>
            <a:ext cx="580856" cy="0"/>
          </a:xfrm>
          <a:prstGeom prst="line">
            <a:avLst/>
          </a:prstGeom>
          <a:ln w="28575">
            <a:tailEnd type="none"/>
          </a:ln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 bwMode="auto">
          <a:xfrm>
            <a:off x="4803645" y="6296474"/>
            <a:ext cx="332248" cy="5425"/>
          </a:xfrm>
          <a:prstGeom prst="line">
            <a:avLst/>
          </a:prstGeom>
          <a:ln w="28575">
            <a:tailEnd type="none"/>
          </a:ln>
          <a:extLs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1761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 animBg="1"/>
      <p:bldP spid="4" grpId="0" animBg="1"/>
      <p:bldP spid="40" grpId="0" animBg="1"/>
      <p:bldP spid="6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 txBox="1">
            <a:spLocks/>
          </p:cNvSpPr>
          <p:nvPr/>
        </p:nvSpPr>
        <p:spPr>
          <a:xfrm>
            <a:off x="1274319" y="1105429"/>
            <a:ext cx="10917681" cy="547700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假定一个数在机器中占用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</a:rPr>
              <a:t>8</a:t>
            </a: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</a:rPr>
              <a:t>位：</a:t>
            </a:r>
          </a:p>
          <a:p>
            <a:pPr>
              <a:spcBef>
                <a:spcPct val="50000"/>
              </a:spcBef>
            </a:pPr>
            <a:r>
              <a:rPr kumimoji="1" lang="en-US" altLang="zh-CN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 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endParaRPr kumimoji="1" lang="en-US" altLang="zh-CN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kumimoji="1" lang="en-US" altLang="zh-CN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Bef>
                <a:spcPct val="50000"/>
              </a:spcBef>
            </a:pPr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② 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反码</a:t>
            </a:r>
            <a:endParaRPr kumimoji="1"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endParaRPr kumimoji="1" lang="en-US" altLang="zh-CN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endParaRPr kumimoji="1" lang="en-US" altLang="zh-CN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en-US" altLang="zh-CN" dirty="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kumimoji="1"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kumimoji="1"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</a:t>
            </a:r>
          </a:p>
          <a:p>
            <a:pPr>
              <a:spcBef>
                <a:spcPct val="5000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Line 4"/>
          <p:cNvSpPr>
            <a:spLocks noChangeShapeType="1"/>
          </p:cNvSpPr>
          <p:nvPr/>
        </p:nvSpPr>
        <p:spPr bwMode="auto">
          <a:xfrm>
            <a:off x="4433731" y="2051243"/>
            <a:ext cx="521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74" name="Line 5"/>
          <p:cNvSpPr>
            <a:spLocks noChangeShapeType="1"/>
          </p:cNvSpPr>
          <p:nvPr/>
        </p:nvSpPr>
        <p:spPr bwMode="auto">
          <a:xfrm>
            <a:off x="4428288" y="2056957"/>
            <a:ext cx="0" cy="7509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75" name="Line 6"/>
          <p:cNvSpPr>
            <a:spLocks noChangeShapeType="1"/>
          </p:cNvSpPr>
          <p:nvPr/>
        </p:nvSpPr>
        <p:spPr bwMode="auto">
          <a:xfrm>
            <a:off x="4433731" y="2813585"/>
            <a:ext cx="521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76" name="Rectangle 7"/>
          <p:cNvSpPr>
            <a:spLocks noChangeArrowheads="1"/>
          </p:cNvSpPr>
          <p:nvPr/>
        </p:nvSpPr>
        <p:spPr bwMode="auto">
          <a:xfrm>
            <a:off x="4886566" y="1824940"/>
            <a:ext cx="1749292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0X</a:t>
            </a:r>
          </a:p>
        </p:txBody>
      </p:sp>
      <p:sp>
        <p:nvSpPr>
          <p:cNvPr id="77" name="Rectangle 8"/>
          <p:cNvSpPr>
            <a:spLocks noChangeArrowheads="1"/>
          </p:cNvSpPr>
          <p:nvPr/>
        </p:nvSpPr>
        <p:spPr bwMode="auto">
          <a:xfrm>
            <a:off x="4886566" y="2586140"/>
            <a:ext cx="1903865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1|X|</a:t>
            </a:r>
          </a:p>
        </p:txBody>
      </p:sp>
      <p:sp>
        <p:nvSpPr>
          <p:cNvPr id="78" name="Rectangle 9"/>
          <p:cNvSpPr>
            <a:spLocks noChangeArrowheads="1"/>
          </p:cNvSpPr>
          <p:nvPr/>
        </p:nvSpPr>
        <p:spPr bwMode="auto">
          <a:xfrm>
            <a:off x="5576703" y="1824940"/>
            <a:ext cx="4416227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0&lt;=X</a:t>
            </a:r>
          </a:p>
        </p:txBody>
      </p:sp>
      <p:sp>
        <p:nvSpPr>
          <p:cNvPr id="79" name="Rectangle 10"/>
          <p:cNvSpPr>
            <a:spLocks noChangeArrowheads="1"/>
          </p:cNvSpPr>
          <p:nvPr/>
        </p:nvSpPr>
        <p:spPr bwMode="auto">
          <a:xfrm>
            <a:off x="5576703" y="2607855"/>
            <a:ext cx="1213728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X&lt;=0</a:t>
            </a:r>
          </a:p>
        </p:txBody>
      </p:sp>
      <p:sp>
        <p:nvSpPr>
          <p:cNvPr id="80" name="Rectangle 11"/>
          <p:cNvSpPr>
            <a:spLocks noChangeArrowheads="1"/>
          </p:cNvSpPr>
          <p:nvPr/>
        </p:nvSpPr>
        <p:spPr bwMode="auto">
          <a:xfrm>
            <a:off x="6941236" y="1791795"/>
            <a:ext cx="5224620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</a:rPr>
              <a:t>+7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00000111     +0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00000000   </a:t>
            </a:r>
          </a:p>
        </p:txBody>
      </p:sp>
      <p:sp>
        <p:nvSpPr>
          <p:cNvPr id="81" name="Rectangle 12"/>
          <p:cNvSpPr>
            <a:spLocks noChangeArrowheads="1"/>
          </p:cNvSpPr>
          <p:nvPr/>
        </p:nvSpPr>
        <p:spPr bwMode="auto">
          <a:xfrm>
            <a:off x="6827300" y="2581731"/>
            <a:ext cx="5342794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7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10000111   	</a:t>
            </a:r>
            <a:r>
              <a:rPr kumimoji="1"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10000000   </a:t>
            </a:r>
          </a:p>
        </p:txBody>
      </p:sp>
      <p:sp>
        <p:nvSpPr>
          <p:cNvPr id="82" name="Rectangle 13"/>
          <p:cNvSpPr>
            <a:spLocks noChangeArrowheads="1"/>
          </p:cNvSpPr>
          <p:nvPr/>
        </p:nvSpPr>
        <p:spPr bwMode="auto">
          <a:xfrm>
            <a:off x="3306357" y="2194110"/>
            <a:ext cx="1307142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[X]</a:t>
            </a:r>
            <a:r>
              <a:rPr kumimoji="1" lang="zh-CN" altLang="en-US" sz="2800" b="1" baseline="-25000" dirty="0">
                <a:latin typeface="Times New Roman" panose="02020603050405020304" pitchFamily="18" charset="0"/>
              </a:rPr>
              <a:t>原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84" name="Rectangle 15"/>
          <p:cNvSpPr>
            <a:spLocks noChangeArrowheads="1"/>
          </p:cNvSpPr>
          <p:nvPr/>
        </p:nvSpPr>
        <p:spPr bwMode="auto">
          <a:xfrm>
            <a:off x="6725700" y="4844197"/>
            <a:ext cx="5493476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</a:rPr>
              <a:t>   +7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00000111  	 +0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00000000   </a:t>
            </a:r>
          </a:p>
        </p:txBody>
      </p:sp>
      <p:sp>
        <p:nvSpPr>
          <p:cNvPr id="86" name="Line 17"/>
          <p:cNvSpPr>
            <a:spLocks noChangeShapeType="1"/>
          </p:cNvSpPr>
          <p:nvPr/>
        </p:nvSpPr>
        <p:spPr bwMode="auto">
          <a:xfrm>
            <a:off x="4440251" y="3434576"/>
            <a:ext cx="52257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87" name="Line 18"/>
          <p:cNvSpPr>
            <a:spLocks noChangeShapeType="1"/>
          </p:cNvSpPr>
          <p:nvPr/>
        </p:nvSpPr>
        <p:spPr bwMode="auto">
          <a:xfrm>
            <a:off x="4438074" y="3440289"/>
            <a:ext cx="0" cy="74849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88" name="Line 19"/>
          <p:cNvSpPr>
            <a:spLocks noChangeShapeType="1"/>
          </p:cNvSpPr>
          <p:nvPr/>
        </p:nvSpPr>
        <p:spPr bwMode="auto">
          <a:xfrm>
            <a:off x="4440251" y="4196782"/>
            <a:ext cx="52257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89" name="Rectangle 20"/>
          <p:cNvSpPr>
            <a:spLocks noChangeArrowheads="1"/>
          </p:cNvSpPr>
          <p:nvPr/>
        </p:nvSpPr>
        <p:spPr bwMode="auto">
          <a:xfrm>
            <a:off x="4895324" y="3208313"/>
            <a:ext cx="1749525" cy="5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 err="1">
                <a:latin typeface="Times New Roman" panose="02020603050405020304" pitchFamily="18" charset="0"/>
              </a:rPr>
              <a:t>0X</a:t>
            </a:r>
            <a:endParaRPr kumimoji="1"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" name="Rectangle 21"/>
          <p:cNvSpPr>
            <a:spLocks noChangeArrowheads="1"/>
          </p:cNvSpPr>
          <p:nvPr/>
        </p:nvSpPr>
        <p:spPr bwMode="auto">
          <a:xfrm>
            <a:off x="4895324" y="3969377"/>
            <a:ext cx="1899764" cy="5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1|X|</a:t>
            </a:r>
          </a:p>
        </p:txBody>
      </p:sp>
      <p:sp>
        <p:nvSpPr>
          <p:cNvPr id="91" name="Rectangle 22"/>
          <p:cNvSpPr>
            <a:spLocks noChangeArrowheads="1"/>
          </p:cNvSpPr>
          <p:nvPr/>
        </p:nvSpPr>
        <p:spPr bwMode="auto">
          <a:xfrm>
            <a:off x="5657407" y="3208313"/>
            <a:ext cx="1137681" cy="5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0&lt;=X</a:t>
            </a:r>
          </a:p>
        </p:txBody>
      </p:sp>
      <p:sp>
        <p:nvSpPr>
          <p:cNvPr id="92" name="Rectangle 23"/>
          <p:cNvSpPr>
            <a:spLocks noChangeArrowheads="1"/>
          </p:cNvSpPr>
          <p:nvPr/>
        </p:nvSpPr>
        <p:spPr bwMode="auto">
          <a:xfrm>
            <a:off x="5657407" y="3970157"/>
            <a:ext cx="1218244" cy="5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X&lt;=0</a:t>
            </a:r>
          </a:p>
        </p:txBody>
      </p:sp>
      <p:sp>
        <p:nvSpPr>
          <p:cNvPr id="93" name="Line 24"/>
          <p:cNvSpPr>
            <a:spLocks noChangeShapeType="1"/>
          </p:cNvSpPr>
          <p:nvPr/>
        </p:nvSpPr>
        <p:spPr bwMode="auto">
          <a:xfrm>
            <a:off x="4440251" y="5102974"/>
            <a:ext cx="52257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94" name="Line 25"/>
          <p:cNvSpPr>
            <a:spLocks noChangeShapeType="1"/>
          </p:cNvSpPr>
          <p:nvPr/>
        </p:nvSpPr>
        <p:spPr bwMode="auto">
          <a:xfrm>
            <a:off x="4438074" y="5110973"/>
            <a:ext cx="0" cy="74849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95" name="Line 26"/>
          <p:cNvSpPr>
            <a:spLocks noChangeShapeType="1"/>
          </p:cNvSpPr>
          <p:nvPr/>
        </p:nvSpPr>
        <p:spPr bwMode="auto">
          <a:xfrm>
            <a:off x="4440251" y="5866324"/>
            <a:ext cx="522571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96" name="Rectangle 27"/>
          <p:cNvSpPr>
            <a:spLocks noChangeArrowheads="1"/>
          </p:cNvSpPr>
          <p:nvPr/>
        </p:nvSpPr>
        <p:spPr bwMode="auto">
          <a:xfrm>
            <a:off x="4895324" y="4877855"/>
            <a:ext cx="1749525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0X</a:t>
            </a:r>
          </a:p>
        </p:txBody>
      </p:sp>
      <p:sp>
        <p:nvSpPr>
          <p:cNvPr id="97" name="Rectangle 28"/>
          <p:cNvSpPr>
            <a:spLocks noChangeArrowheads="1"/>
          </p:cNvSpPr>
          <p:nvPr/>
        </p:nvSpPr>
        <p:spPr bwMode="auto">
          <a:xfrm>
            <a:off x="4895324" y="5638919"/>
            <a:ext cx="1899764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1|X|+1</a:t>
            </a:r>
          </a:p>
        </p:txBody>
      </p:sp>
      <p:sp>
        <p:nvSpPr>
          <p:cNvPr id="98" name="Rectangle 29"/>
          <p:cNvSpPr>
            <a:spLocks noChangeArrowheads="1"/>
          </p:cNvSpPr>
          <p:nvPr/>
        </p:nvSpPr>
        <p:spPr bwMode="auto">
          <a:xfrm>
            <a:off x="5657407" y="4877855"/>
            <a:ext cx="1137681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0&lt;=X</a:t>
            </a:r>
          </a:p>
        </p:txBody>
      </p:sp>
      <p:sp>
        <p:nvSpPr>
          <p:cNvPr id="99" name="Rectangle 30"/>
          <p:cNvSpPr>
            <a:spLocks noChangeArrowheads="1"/>
          </p:cNvSpPr>
          <p:nvPr/>
        </p:nvSpPr>
        <p:spPr bwMode="auto">
          <a:xfrm>
            <a:off x="6002492" y="5638919"/>
            <a:ext cx="1214978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X&lt;=0</a:t>
            </a:r>
          </a:p>
        </p:txBody>
      </p:sp>
      <p:sp>
        <p:nvSpPr>
          <p:cNvPr id="100" name="Rectangle 31"/>
          <p:cNvSpPr>
            <a:spLocks noChangeArrowheads="1"/>
          </p:cNvSpPr>
          <p:nvPr/>
        </p:nvSpPr>
        <p:spPr bwMode="auto">
          <a:xfrm>
            <a:off x="6687600" y="3267736"/>
            <a:ext cx="5493925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800" b="1" dirty="0">
                <a:latin typeface="Times New Roman" panose="02020603050405020304" pitchFamily="18" charset="0"/>
              </a:rPr>
              <a:t>   +7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00000111     +0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00000000   </a:t>
            </a:r>
          </a:p>
        </p:txBody>
      </p:sp>
      <p:sp>
        <p:nvSpPr>
          <p:cNvPr id="101" name="Rectangle 32"/>
          <p:cNvSpPr>
            <a:spLocks noChangeArrowheads="1"/>
          </p:cNvSpPr>
          <p:nvPr/>
        </p:nvSpPr>
        <p:spPr bwMode="auto">
          <a:xfrm>
            <a:off x="6649500" y="4028800"/>
            <a:ext cx="5360491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-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7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11111000      </a:t>
            </a:r>
            <a:r>
              <a:rPr kumimoji="1"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11111111   </a:t>
            </a:r>
          </a:p>
        </p:txBody>
      </p:sp>
      <p:sp>
        <p:nvSpPr>
          <p:cNvPr id="102" name="Rectangle 33"/>
          <p:cNvSpPr>
            <a:spLocks noChangeArrowheads="1"/>
          </p:cNvSpPr>
          <p:nvPr/>
        </p:nvSpPr>
        <p:spPr bwMode="auto">
          <a:xfrm>
            <a:off x="6953626" y="5638919"/>
            <a:ext cx="5244306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-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7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11111001      -0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00000000   </a:t>
            </a:r>
          </a:p>
        </p:txBody>
      </p:sp>
      <p:sp>
        <p:nvSpPr>
          <p:cNvPr id="103" name="Rectangle 34"/>
          <p:cNvSpPr>
            <a:spLocks noChangeArrowheads="1"/>
          </p:cNvSpPr>
          <p:nvPr/>
        </p:nvSpPr>
        <p:spPr bwMode="auto">
          <a:xfrm>
            <a:off x="3079041" y="3190835"/>
            <a:ext cx="1164898" cy="5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endParaRPr kumimoji="1" lang="zh-CN" altLang="en-US" sz="28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" name="Rectangle 35"/>
          <p:cNvSpPr>
            <a:spLocks noChangeArrowheads="1"/>
          </p:cNvSpPr>
          <p:nvPr/>
        </p:nvSpPr>
        <p:spPr bwMode="auto">
          <a:xfrm>
            <a:off x="3332706" y="3583132"/>
            <a:ext cx="1147479" cy="521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[X]</a:t>
            </a:r>
            <a:r>
              <a:rPr kumimoji="1" lang="zh-CN" altLang="en-US" sz="2800" b="1" baseline="-25000" dirty="0">
                <a:latin typeface="Times New Roman" panose="02020603050405020304" pitchFamily="18" charset="0"/>
              </a:rPr>
              <a:t>反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105" name="Rectangle 36"/>
          <p:cNvSpPr>
            <a:spLocks noChangeArrowheads="1"/>
          </p:cNvSpPr>
          <p:nvPr/>
        </p:nvSpPr>
        <p:spPr bwMode="auto">
          <a:xfrm>
            <a:off x="3332706" y="5236675"/>
            <a:ext cx="1267236" cy="520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0" tIns="44446" rIns="90480" bIns="44446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3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[X]</a:t>
            </a:r>
            <a:r>
              <a:rPr kumimoji="1" lang="zh-CN" altLang="en-US" sz="2800" b="1" baseline="-25000" dirty="0">
                <a:latin typeface="Times New Roman" panose="02020603050405020304" pitchFamily="18" charset="0"/>
              </a:rPr>
              <a:t>补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</a:p>
        </p:txBody>
      </p:sp>
      <p:sp>
        <p:nvSpPr>
          <p:cNvPr id="106" name="Line 37"/>
          <p:cNvSpPr>
            <a:spLocks noChangeShapeType="1"/>
          </p:cNvSpPr>
          <p:nvPr/>
        </p:nvSpPr>
        <p:spPr bwMode="auto">
          <a:xfrm>
            <a:off x="5247322" y="4066510"/>
            <a:ext cx="23624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107" name="Line 38"/>
          <p:cNvSpPr>
            <a:spLocks noChangeShapeType="1"/>
          </p:cNvSpPr>
          <p:nvPr/>
        </p:nvSpPr>
        <p:spPr bwMode="auto">
          <a:xfrm>
            <a:off x="5260022" y="5700627"/>
            <a:ext cx="23624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p:graphicFrame>
        <p:nvGraphicFramePr>
          <p:cNvPr id="37" name="Group 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774315"/>
              </p:ext>
            </p:extLst>
          </p:nvPr>
        </p:nvGraphicFramePr>
        <p:xfrm>
          <a:off x="6102350" y="1259474"/>
          <a:ext cx="4387850" cy="457200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6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符号位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数值位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Rectangle 67"/>
          <p:cNvSpPr>
            <a:spLocks noChangeArrowheads="1"/>
          </p:cNvSpPr>
          <p:nvPr/>
        </p:nvSpPr>
        <p:spPr bwMode="auto">
          <a:xfrm>
            <a:off x="6287330" y="1711984"/>
            <a:ext cx="36544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                       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位       </a:t>
            </a:r>
          </a:p>
        </p:txBody>
      </p:sp>
    </p:spTree>
    <p:extLst>
      <p:ext uri="{BB962C8B-B14F-4D97-AF65-F5344CB8AC3E}">
        <p14:creationId xmlns:p14="http://schemas.microsoft.com/office/powerpoint/2010/main" val="67031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75" grpId="0" animBg="1"/>
      <p:bldP spid="76" grpId="0"/>
      <p:bldP spid="77" grpId="0"/>
      <p:bldP spid="78" grpId="0"/>
      <p:bldP spid="79" grpId="0"/>
      <p:bldP spid="80" grpId="0"/>
      <p:bldP spid="81" grpId="0"/>
      <p:bldP spid="82" grpId="0"/>
      <p:bldP spid="84" grpId="0"/>
      <p:bldP spid="86" grpId="0" animBg="1"/>
      <p:bldP spid="87" grpId="0" animBg="1"/>
      <p:bldP spid="88" grpId="0" animBg="1"/>
      <p:bldP spid="89" grpId="0"/>
      <p:bldP spid="90" grpId="0"/>
      <p:bldP spid="91" grpId="0"/>
      <p:bldP spid="92" grpId="0"/>
      <p:bldP spid="93" grpId="0" animBg="1"/>
      <p:bldP spid="94" grpId="0" animBg="1"/>
      <p:bldP spid="95" grpId="0" animBg="1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4" grpId="0"/>
      <p:bldP spid="105" grpId="0"/>
      <p:bldP spid="106" grpId="0" animBg="1"/>
      <p:bldP spid="107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8"/>
            <a:ext cx="10041381" cy="55620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例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1：26.0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是如何表示的？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①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规格化表示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</a:t>
            </a:r>
            <a:r>
              <a:rPr kumimoji="1"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26.0D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kumimoji="1"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11010.0B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=+1.</a:t>
            </a:r>
            <a:r>
              <a:rPr kumimoji="1" lang="en-US" altLang="zh-CN" u="sng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10100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*2</a:t>
            </a:r>
            <a:r>
              <a:rPr kumimoji="1" lang="en-US" altLang="zh-CN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②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机内存储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en-US" altLang="zh-CN" baseline="30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146"/>
          <p:cNvSpPr>
            <a:spLocks noChangeArrowheads="1"/>
          </p:cNvSpPr>
          <p:nvPr/>
        </p:nvSpPr>
        <p:spPr bwMode="auto">
          <a:xfrm>
            <a:off x="6078539" y="1364417"/>
            <a:ext cx="1935162" cy="4818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</a:pPr>
            <a:r>
              <a:rPr kumimoji="1" lang="zh-CN" altLang="en-US" sz="2400" dirty="0">
                <a:ea typeface="微软雅黑" panose="020B0503020204020204" pitchFamily="34" charset="-122"/>
                <a:cs typeface="Arial" panose="020B0604020202020204" pitchFamily="34" charset="0"/>
              </a:rPr>
              <a:t>此处必须是</a:t>
            </a:r>
            <a:r>
              <a:rPr kumimoji="1" lang="en-US" altLang="zh-CN" sz="2400" dirty="0"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5803900" y="1892100"/>
            <a:ext cx="656038" cy="746326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146"/>
          <p:cNvSpPr>
            <a:spLocks noChangeArrowheads="1"/>
          </p:cNvSpPr>
          <p:nvPr/>
        </p:nvSpPr>
        <p:spPr bwMode="auto">
          <a:xfrm>
            <a:off x="8264129" y="1364417"/>
            <a:ext cx="3751261" cy="806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dirty="0">
                <a:ea typeface="微软雅黑" panose="020B0503020204020204" pitchFamily="34" charset="-122"/>
                <a:cs typeface="Arial" panose="020B0604020202020204" pitchFamily="34" charset="0"/>
              </a:rPr>
              <a:t>指数，也应二进制：</a:t>
            </a:r>
            <a:r>
              <a:rPr kumimoji="1" lang="en-US" altLang="zh-CN" sz="2400" dirty="0" err="1">
                <a:ea typeface="微软雅黑" panose="020B0503020204020204" pitchFamily="34" charset="-122"/>
                <a:cs typeface="Arial" panose="020B0604020202020204" pitchFamily="34" charset="0"/>
              </a:rPr>
              <a:t>100B</a:t>
            </a:r>
            <a:br>
              <a:rPr kumimoji="1" lang="en-US" altLang="zh-CN" sz="2400" dirty="0"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1" lang="zh-CN" altLang="en-US" sz="2400" dirty="0">
                <a:ea typeface="微软雅黑" panose="020B0503020204020204" pitchFamily="34" charset="-122"/>
                <a:cs typeface="Arial" panose="020B0604020202020204" pitchFamily="34" charset="0"/>
              </a:rPr>
              <a:t>但是书写习惯是十进制</a:t>
            </a:r>
            <a:endParaRPr kumimoji="1" lang="en-US" altLang="zh-CN" sz="2400" dirty="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58" name="直接箭头连接符 57"/>
          <p:cNvCxnSpPr>
            <a:endCxn id="13" idx="7"/>
          </p:cNvCxnSpPr>
          <p:nvPr/>
        </p:nvCxnSpPr>
        <p:spPr>
          <a:xfrm flipH="1">
            <a:off x="7382742" y="1866700"/>
            <a:ext cx="840347" cy="758201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Group 8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143563"/>
              </p:ext>
            </p:extLst>
          </p:nvPr>
        </p:nvGraphicFramePr>
        <p:xfrm>
          <a:off x="2550319" y="4132262"/>
          <a:ext cx="5713810" cy="525463"/>
        </p:xfrm>
        <a:graphic>
          <a:graphicData uri="http://schemas.openxmlformats.org/drawingml/2006/table">
            <a:tbl>
              <a:tblPr/>
              <a:tblGrid>
                <a:gridCol w="90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8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4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阶码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尾数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接箭头连接符 61"/>
          <p:cNvCxnSpPr/>
          <p:nvPr/>
        </p:nvCxnSpPr>
        <p:spPr>
          <a:xfrm flipH="1">
            <a:off x="3117056" y="2960685"/>
            <a:ext cx="2382044" cy="1171577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H="1">
            <a:off x="6459937" y="2967028"/>
            <a:ext cx="1" cy="1165234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7184232" y="2587626"/>
            <a:ext cx="232569" cy="25452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/>
          <p:nvPr/>
        </p:nvCxnSpPr>
        <p:spPr>
          <a:xfrm flipH="1">
            <a:off x="4229100" y="2878667"/>
            <a:ext cx="3066857" cy="1231371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146"/>
          <p:cNvSpPr>
            <a:spLocks noChangeArrowheads="1"/>
          </p:cNvSpPr>
          <p:nvPr/>
        </p:nvSpPr>
        <p:spPr bwMode="auto">
          <a:xfrm>
            <a:off x="4789887" y="3608349"/>
            <a:ext cx="1676400" cy="467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</a:pPr>
            <a:r>
              <a:rPr kumimoji="1"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加</a:t>
            </a:r>
            <a:r>
              <a:rPr kumimoji="1"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127</a:t>
            </a:r>
          </a:p>
        </p:txBody>
      </p:sp>
      <p:sp>
        <p:nvSpPr>
          <p:cNvPr id="73" name="Rectangle 146"/>
          <p:cNvSpPr>
            <a:spLocks noChangeArrowheads="1"/>
          </p:cNvSpPr>
          <p:nvPr/>
        </p:nvSpPr>
        <p:spPr bwMode="auto">
          <a:xfrm>
            <a:off x="2306835" y="3608386"/>
            <a:ext cx="1935162" cy="481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</a:pPr>
            <a:r>
              <a:rPr kumimoji="1"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kumimoji="1"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4" name="Rectangle 146"/>
          <p:cNvSpPr>
            <a:spLocks noChangeArrowheads="1"/>
          </p:cNvSpPr>
          <p:nvPr/>
        </p:nvSpPr>
        <p:spPr bwMode="auto">
          <a:xfrm>
            <a:off x="8166101" y="4153295"/>
            <a:ext cx="2848767" cy="50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</a:pPr>
            <a:r>
              <a:rPr kumimoji="1" lang="zh-CN" altLang="en-US" sz="2400" dirty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假定是</a:t>
            </a:r>
            <a:r>
              <a:rPr kumimoji="1" lang="en-US" altLang="zh-CN" sz="2400" dirty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32</a:t>
            </a:r>
            <a:r>
              <a:rPr kumimoji="1" lang="zh-CN" altLang="en-US" sz="2400" dirty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位单精度</a:t>
            </a:r>
            <a:endParaRPr kumimoji="1" lang="en-US" altLang="zh-CN" sz="2400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5" name="Rectangle 67"/>
          <p:cNvSpPr>
            <a:spLocks noChangeArrowheads="1"/>
          </p:cNvSpPr>
          <p:nvPr/>
        </p:nvSpPr>
        <p:spPr bwMode="auto">
          <a:xfrm>
            <a:off x="2783857" y="4662724"/>
            <a:ext cx="4988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1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        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                    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23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</a:t>
            </a:r>
          </a:p>
        </p:txBody>
      </p:sp>
      <p:graphicFrame>
        <p:nvGraphicFramePr>
          <p:cNvPr id="76" name="Group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75809"/>
              </p:ext>
            </p:extLst>
          </p:nvPr>
        </p:nvGraphicFramePr>
        <p:xfrm>
          <a:off x="2550315" y="5282406"/>
          <a:ext cx="5713813" cy="572294"/>
        </p:xfrm>
        <a:graphic>
          <a:graphicData uri="http://schemas.openxmlformats.org/drawingml/2006/table">
            <a:tbl>
              <a:tblPr/>
              <a:tblGrid>
                <a:gridCol w="898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9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294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10000011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10100000000000000000000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浮点数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459938" y="4662724"/>
            <a:ext cx="6349" cy="619682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199338" y="4644006"/>
            <a:ext cx="6349" cy="619682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3004524" y="4644006"/>
            <a:ext cx="6349" cy="619682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590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7" grpId="0" animBg="1"/>
      <p:bldP spid="13" grpId="0" animBg="1"/>
      <p:bldP spid="72" grpId="0"/>
      <p:bldP spid="73" grpId="0"/>
      <p:bldP spid="74" grpId="0"/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8"/>
            <a:ext cx="10041381" cy="55620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例：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-2.5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是如何表示的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①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规格化表示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-</a:t>
            </a:r>
            <a:r>
              <a:rPr kumimoji="1"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2.5D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=-</a:t>
            </a:r>
            <a:r>
              <a:rPr kumimoji="1"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10.1B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=-1.</a:t>
            </a:r>
            <a:r>
              <a:rPr kumimoji="1" lang="en-US" altLang="zh-CN" u="sng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01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*2</a:t>
            </a:r>
            <a:r>
              <a:rPr kumimoji="1" lang="en-US" altLang="zh-CN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②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机内存储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en-US" altLang="zh-CN" baseline="300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ct val="5000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1" name="Group 8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545454"/>
              </p:ext>
            </p:extLst>
          </p:nvPr>
        </p:nvGraphicFramePr>
        <p:xfrm>
          <a:off x="2550319" y="4094162"/>
          <a:ext cx="5713810" cy="525463"/>
        </p:xfrm>
        <a:graphic>
          <a:graphicData uri="http://schemas.openxmlformats.org/drawingml/2006/table">
            <a:tbl>
              <a:tblPr/>
              <a:tblGrid>
                <a:gridCol w="90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81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46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阶码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尾数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直接箭头连接符 61"/>
          <p:cNvCxnSpPr/>
          <p:nvPr/>
        </p:nvCxnSpPr>
        <p:spPr>
          <a:xfrm flipH="1">
            <a:off x="3117056" y="2922585"/>
            <a:ext cx="1670844" cy="1171577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5393332" y="2928928"/>
            <a:ext cx="1066606" cy="1165234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5882481" y="2576515"/>
            <a:ext cx="232569" cy="25452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>
            <a:stCxn id="13" idx="4"/>
          </p:cNvCxnSpPr>
          <p:nvPr/>
        </p:nvCxnSpPr>
        <p:spPr>
          <a:xfrm flipH="1">
            <a:off x="4229101" y="2831043"/>
            <a:ext cx="1769665" cy="1240895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146"/>
          <p:cNvSpPr>
            <a:spLocks noChangeArrowheads="1"/>
          </p:cNvSpPr>
          <p:nvPr/>
        </p:nvSpPr>
        <p:spPr bwMode="auto">
          <a:xfrm>
            <a:off x="4307285" y="3627038"/>
            <a:ext cx="1676400" cy="467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</a:pPr>
            <a:r>
              <a:rPr kumimoji="1"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加</a:t>
            </a:r>
            <a:r>
              <a:rPr kumimoji="1"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127</a:t>
            </a:r>
          </a:p>
        </p:txBody>
      </p:sp>
      <p:sp>
        <p:nvSpPr>
          <p:cNvPr id="73" name="Rectangle 146"/>
          <p:cNvSpPr>
            <a:spLocks noChangeArrowheads="1"/>
          </p:cNvSpPr>
          <p:nvPr/>
        </p:nvSpPr>
        <p:spPr bwMode="auto">
          <a:xfrm>
            <a:off x="2069407" y="3645560"/>
            <a:ext cx="1935162" cy="481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</a:pPr>
            <a:r>
              <a:rPr kumimoji="1"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zh-CN" altLang="en-US" sz="2000" dirty="0"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kumimoji="1" lang="en-US" altLang="zh-CN" sz="2000" dirty="0"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4" name="Rectangle 146"/>
          <p:cNvSpPr>
            <a:spLocks noChangeArrowheads="1"/>
          </p:cNvSpPr>
          <p:nvPr/>
        </p:nvSpPr>
        <p:spPr bwMode="auto">
          <a:xfrm>
            <a:off x="8166101" y="4115195"/>
            <a:ext cx="2848767" cy="50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</a:pPr>
            <a:r>
              <a:rPr kumimoji="1" lang="zh-CN" altLang="en-US" sz="2400" dirty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假定是</a:t>
            </a:r>
            <a:r>
              <a:rPr kumimoji="1" lang="en-US" altLang="zh-CN" sz="2400" dirty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32</a:t>
            </a:r>
            <a:r>
              <a:rPr kumimoji="1" lang="zh-CN" altLang="en-US" sz="2400" dirty="0">
                <a:solidFill>
                  <a:srgbClr val="C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位单精度</a:t>
            </a:r>
            <a:endParaRPr kumimoji="1" lang="en-US" altLang="zh-CN" sz="2400" dirty="0">
              <a:solidFill>
                <a:srgbClr val="C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5" name="Rectangle 67"/>
          <p:cNvSpPr>
            <a:spLocks noChangeArrowheads="1"/>
          </p:cNvSpPr>
          <p:nvPr/>
        </p:nvSpPr>
        <p:spPr bwMode="auto">
          <a:xfrm>
            <a:off x="2783857" y="4624624"/>
            <a:ext cx="4988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1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        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                     </a:t>
            </a:r>
            <a:r>
              <a:rPr lang="en-US" altLang="zh-CN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23</a:t>
            </a:r>
            <a:r>
              <a: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</a:t>
            </a:r>
          </a:p>
        </p:txBody>
      </p:sp>
      <p:graphicFrame>
        <p:nvGraphicFramePr>
          <p:cNvPr id="76" name="Group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021663"/>
              </p:ext>
            </p:extLst>
          </p:nvPr>
        </p:nvGraphicFramePr>
        <p:xfrm>
          <a:off x="2550315" y="5244306"/>
          <a:ext cx="5713813" cy="572294"/>
        </p:xfrm>
        <a:graphic>
          <a:graphicData uri="http://schemas.openxmlformats.org/drawingml/2006/table">
            <a:tbl>
              <a:tblPr/>
              <a:tblGrid>
                <a:gridCol w="898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9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294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10000000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defRPr sz="28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sz="24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sz="2000"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000066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01000000000000000000000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浮点数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6459938" y="4662724"/>
            <a:ext cx="6349" cy="619682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4199338" y="4644006"/>
            <a:ext cx="6349" cy="619682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3004524" y="4644006"/>
            <a:ext cx="6349" cy="619682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95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2" grpId="0"/>
      <p:bldP spid="73" grpId="0"/>
      <p:bldP spid="74" grpId="0"/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72" y="2107791"/>
            <a:ext cx="4484409" cy="2219325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9"/>
            <a:ext cx="10638281" cy="142983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字符：西文字符、中文字符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kumimoji="1" lang="zh-CN" altLang="en-US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724846" y="3870661"/>
            <a:ext cx="834453" cy="48875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4171330" y="4352790"/>
            <a:ext cx="0" cy="514324"/>
          </a:xfrm>
          <a:prstGeom prst="straightConnector1">
            <a:avLst/>
          </a:prstGeom>
          <a:ln w="15875" cmpd="sng">
            <a:solidFill>
              <a:schemeClr val="tx1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6"/>
          <p:cNvSpPr>
            <a:spLocks noChangeArrowheads="1"/>
          </p:cNvSpPr>
          <p:nvPr/>
        </p:nvSpPr>
        <p:spPr bwMode="auto">
          <a:xfrm>
            <a:off x="3826446" y="4888064"/>
            <a:ext cx="1935162" cy="481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</a:pPr>
            <a:r>
              <a:rPr kumimoji="1" lang="zh-CN" altLang="en-US" sz="2400" dirty="0">
                <a:ea typeface="微软雅黑" panose="020B0503020204020204" pitchFamily="34" charset="-122"/>
                <a:cs typeface="Arial" panose="020B0604020202020204" pitchFamily="34" charset="0"/>
              </a:rPr>
              <a:t>使用的编码</a:t>
            </a:r>
            <a:endParaRPr kumimoji="1" lang="en-US" altLang="zh-CN" sz="2400" dirty="0"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92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9"/>
            <a:ext cx="10638281" cy="142983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字符：西文字符、中文字符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kumimoji="1" lang="zh-CN" altLang="en-US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1802907"/>
            <a:ext cx="6229350" cy="4705147"/>
          </a:xfrm>
          <a:prstGeom prst="rect">
            <a:avLst/>
          </a:prstGeom>
        </p:spPr>
      </p:pic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3983098"/>
            <a:ext cx="3559176" cy="18585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箭头连接符 10"/>
          <p:cNvCxnSpPr/>
          <p:nvPr/>
        </p:nvCxnSpPr>
        <p:spPr>
          <a:xfrm flipV="1">
            <a:off x="4267200" y="5841696"/>
            <a:ext cx="720724" cy="305104"/>
          </a:xfrm>
          <a:prstGeom prst="straightConnector1">
            <a:avLst/>
          </a:prstGeom>
          <a:ln w="19050">
            <a:solidFill>
              <a:srgbClr val="0000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81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9"/>
            <a:ext cx="10638281" cy="33141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① ANSI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西文字符：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ASCII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码，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个字节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汉字字符：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GBK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码，两个字节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例如：“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2021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上海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”的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ANSI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369" y="3882035"/>
            <a:ext cx="8923652" cy="1075140"/>
          </a:xfrm>
          <a:prstGeom prst="rect">
            <a:avLst/>
          </a:prstGeom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756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 txBox="1">
            <a:spLocks noGrp="1"/>
          </p:cNvSpPr>
          <p:nvPr>
            <p:ph type="sldNum" sz="quarter" idx="4294967295"/>
          </p:nvPr>
        </p:nvSpPr>
        <p:spPr>
          <a:noFill/>
        </p:spPr>
        <p:txBody>
          <a:bodyPr vert="horz" lIns="0" tIns="0" rIns="0" bIns="0" anchor="b"/>
          <a:lstStyle>
            <a:lvl1pPr marL="0" lvl="0" indent="0" algn="l" defTabSz="91437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189" lvl="1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377" lvl="2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566" lvl="3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754" lvl="4" indent="0" algn="l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200" dirty="0">
                <a:solidFill>
                  <a:srgbClr val="045C75"/>
                </a:solidFill>
              </a:rPr>
              <a:t>15</a:t>
            </a:fld>
            <a:endParaRPr lang="zh-CN" altLang="en-US" sz="1200" dirty="0">
              <a:solidFill>
                <a:srgbClr val="045C75"/>
              </a:solidFill>
            </a:endParaRPr>
          </a:p>
        </p:txBody>
      </p:sp>
      <p:sp>
        <p:nvSpPr>
          <p:cNvPr id="6148" name="Rectangle 5"/>
          <p:cNvSpPr/>
          <p:nvPr/>
        </p:nvSpPr>
        <p:spPr>
          <a:xfrm>
            <a:off x="353136" y="1557096"/>
            <a:ext cx="6818312" cy="42473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个字符占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个字节，用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位二进制编码，最高位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398342" name="Text Box 6"/>
          <p:cNvSpPr txBox="1"/>
          <p:nvPr/>
        </p:nvSpPr>
        <p:spPr>
          <a:xfrm>
            <a:off x="793139" y="2870013"/>
            <a:ext cx="7343775" cy="2349361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ts val="8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0~127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共可表示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</a:t>
            </a:r>
          </a:p>
          <a:p>
            <a:pPr>
              <a:spcBef>
                <a:spcPts val="800"/>
              </a:spcBef>
            </a:pP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000066"/>
                </a:solidFill>
                <a:ea typeface="微软雅黑" panose="020B0503020204020204" pitchFamily="34" charset="-122"/>
              </a:rPr>
              <a:t>‘ 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66"/>
                </a:solidFill>
                <a:ea typeface="微软雅黑" panose="020B0503020204020204" pitchFamily="34" charset="-122"/>
              </a:rPr>
              <a:t>’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'Z' 26</a:t>
            </a:r>
          </a:p>
          <a:p>
            <a:pPr>
              <a:spcBef>
                <a:spcPts val="8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000066"/>
                </a:solidFill>
                <a:ea typeface="微软雅黑" panose="020B0503020204020204" pitchFamily="34" charset="-122"/>
              </a:rPr>
              <a:t>‘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400" dirty="0">
                <a:solidFill>
                  <a:srgbClr val="000066"/>
                </a:solidFill>
                <a:ea typeface="微软雅黑" panose="020B0503020204020204" pitchFamily="34" charset="-122"/>
              </a:rPr>
              <a:t>’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rgbClr val="000066"/>
                </a:solidFill>
                <a:ea typeface="微软雅黑" panose="020B0503020204020204" pitchFamily="34" charset="-122"/>
              </a:rPr>
              <a:t> 'z'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26</a:t>
            </a:r>
          </a:p>
          <a:p>
            <a:pPr>
              <a:spcBef>
                <a:spcPts val="8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000066"/>
                </a:solidFill>
                <a:ea typeface="微软雅黑" panose="020B0503020204020204" pitchFamily="34" charset="-122"/>
              </a:rPr>
              <a:t>‘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srgbClr val="000066"/>
                </a:solidFill>
                <a:ea typeface="微软雅黑" panose="020B0503020204020204" pitchFamily="34" charset="-122"/>
              </a:rPr>
              <a:t>’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'9</a:t>
            </a:r>
            <a:r>
              <a:rPr lang="en-US" altLang="zh-CN" sz="2400" dirty="0">
                <a:solidFill>
                  <a:srgbClr val="000066"/>
                </a:solidFill>
                <a:ea typeface="微软雅黑" panose="020B0503020204020204" pitchFamily="34" charset="-122"/>
              </a:rPr>
              <a:t>'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8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其他键盘字符、控制键</a:t>
            </a:r>
            <a:endParaRPr lang="zh-CN" altLang="en-US" sz="2400" dirty="0">
              <a:solidFill>
                <a:srgbClr val="000066"/>
              </a:solidFill>
              <a:ea typeface="微软雅黑" panose="020B0503020204020204" pitchFamily="34" charset="-122"/>
            </a:endParaRPr>
          </a:p>
        </p:txBody>
      </p:sp>
      <p:sp>
        <p:nvSpPr>
          <p:cNvPr id="398343" name="AutoShape 7"/>
          <p:cNvSpPr/>
          <p:nvPr/>
        </p:nvSpPr>
        <p:spPr>
          <a:xfrm>
            <a:off x="4846969" y="3218222"/>
            <a:ext cx="504825" cy="1796207"/>
          </a:xfrm>
          <a:prstGeom prst="rightBrace">
            <a:avLst>
              <a:gd name="adj1" fmla="val 29402"/>
              <a:gd name="adj2" fmla="val 50000"/>
            </a:avLst>
          </a:prstGeom>
          <a:noFill/>
          <a:ln w="25400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spcBef>
                <a:spcPts val="800"/>
              </a:spcBef>
            </a:pPr>
            <a:endParaRPr lang="zh-CN" altLang="en-US" sz="2400" dirty="0">
              <a:solidFill>
                <a:srgbClr val="000066"/>
              </a:solidFill>
              <a:ea typeface="微软雅黑" panose="020B0503020204020204" pitchFamily="34" charset="-122"/>
            </a:endParaRPr>
          </a:p>
        </p:txBody>
      </p:sp>
      <p:sp>
        <p:nvSpPr>
          <p:cNvPr id="24586" name="Text Box 10"/>
          <p:cNvSpPr txBox="1"/>
          <p:nvPr/>
        </p:nvSpPr>
        <p:spPr>
          <a:xfrm>
            <a:off x="335361" y="2130067"/>
            <a:ext cx="5111751" cy="46166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ts val="8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为什么用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位？ 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-1=127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7" name="Text Box 11"/>
          <p:cNvSpPr txBox="1"/>
          <p:nvPr/>
        </p:nvSpPr>
        <p:spPr>
          <a:xfrm>
            <a:off x="419035" y="5521934"/>
            <a:ext cx="8431163" cy="461665"/>
          </a:xfrm>
          <a:prstGeom prst="rect">
            <a:avLst/>
          </a:prstGeom>
          <a:noFill/>
          <a:ln w="25400"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127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为非图形字符，其余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94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个可显示的图形字符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1371" y="382557"/>
            <a:ext cx="11509149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67"/>
              <a:t>ASCII </a:t>
            </a:r>
            <a:r>
              <a:rPr lang="zh-CN" altLang="en-US" sz="2667">
                <a:ea typeface="微软雅黑" panose="020B0503020204020204" pitchFamily="34" charset="-122"/>
              </a:rPr>
              <a:t> </a:t>
            </a:r>
            <a:r>
              <a:rPr lang="en-US" altLang="zh-CN" sz="2667">
                <a:ea typeface="微软雅黑" panose="020B0503020204020204" pitchFamily="34" charset="-122"/>
              </a:rPr>
              <a:t>(</a:t>
            </a:r>
            <a:r>
              <a:rPr lang="en-US" altLang="zh-CN" sz="2667">
                <a:solidFill>
                  <a:srgbClr val="C00000"/>
                </a:solidFill>
                <a:ea typeface="微软雅黑" panose="020B0503020204020204" pitchFamily="34" charset="-122"/>
              </a:rPr>
              <a:t>A</a:t>
            </a:r>
            <a:r>
              <a:rPr lang="en-US" altLang="zh-CN" sz="2667">
                <a:solidFill>
                  <a:srgbClr val="000066"/>
                </a:solidFill>
                <a:ea typeface="微软雅黑" panose="020B0503020204020204" pitchFamily="34" charset="-122"/>
              </a:rPr>
              <a:t>merican </a:t>
            </a:r>
            <a:r>
              <a:rPr lang="en-US" altLang="zh-CN" sz="2667">
                <a:solidFill>
                  <a:srgbClr val="C00000"/>
                </a:solidFill>
                <a:ea typeface="微软雅黑" panose="020B0503020204020204" pitchFamily="34" charset="-122"/>
              </a:rPr>
              <a:t>S</a:t>
            </a:r>
            <a:r>
              <a:rPr lang="en-US" altLang="zh-CN" sz="2667">
                <a:solidFill>
                  <a:srgbClr val="000066"/>
                </a:solidFill>
                <a:ea typeface="微软雅黑" panose="020B0503020204020204" pitchFamily="34" charset="-122"/>
              </a:rPr>
              <a:t>tandard </a:t>
            </a:r>
            <a:r>
              <a:rPr lang="en-US" altLang="zh-CN" sz="2667">
                <a:solidFill>
                  <a:srgbClr val="C00000"/>
                </a:solidFill>
                <a:ea typeface="微软雅黑" panose="020B0503020204020204" pitchFamily="34" charset="-122"/>
              </a:rPr>
              <a:t>C</a:t>
            </a:r>
            <a:r>
              <a:rPr lang="en-US" altLang="zh-CN" sz="2667">
                <a:solidFill>
                  <a:srgbClr val="000066"/>
                </a:solidFill>
                <a:ea typeface="微软雅黑" panose="020B0503020204020204" pitchFamily="34" charset="-122"/>
              </a:rPr>
              <a:t>ode for </a:t>
            </a:r>
            <a:r>
              <a:rPr lang="en-US" altLang="zh-CN" sz="2667">
                <a:solidFill>
                  <a:srgbClr val="C00000"/>
                </a:solidFill>
                <a:ea typeface="微软雅黑" panose="020B0503020204020204" pitchFamily="34" charset="-122"/>
              </a:rPr>
              <a:t>I</a:t>
            </a:r>
            <a:r>
              <a:rPr lang="en-US" altLang="zh-CN" sz="2667">
                <a:solidFill>
                  <a:srgbClr val="000066"/>
                </a:solidFill>
                <a:ea typeface="微软雅黑" panose="020B0503020204020204" pitchFamily="34" charset="-122"/>
              </a:rPr>
              <a:t>nformation </a:t>
            </a:r>
            <a:r>
              <a:rPr lang="en-US" altLang="zh-CN" sz="2667">
                <a:solidFill>
                  <a:srgbClr val="C00000"/>
                </a:solidFill>
                <a:ea typeface="微软雅黑" panose="020B0503020204020204" pitchFamily="34" charset="-122"/>
              </a:rPr>
              <a:t>I</a:t>
            </a:r>
            <a:r>
              <a:rPr lang="en-US" altLang="zh-CN" sz="2667">
                <a:solidFill>
                  <a:srgbClr val="000066"/>
                </a:solidFill>
                <a:ea typeface="微软雅黑" panose="020B0503020204020204" pitchFamily="34" charset="-122"/>
              </a:rPr>
              <a:t>nterchange</a:t>
            </a:r>
            <a:r>
              <a:rPr lang="en-US" altLang="zh-CN" sz="2667">
                <a:ea typeface="微软雅黑" panose="020B0503020204020204" pitchFamily="34" charset="-122"/>
              </a:rPr>
              <a:t>)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5338813" y="4019356"/>
            <a:ext cx="5269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</a:pP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&lt;128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位可以表示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248128" y="1370248"/>
            <a:ext cx="2592288" cy="461665"/>
          </a:xfrm>
          <a:prstGeom prst="rect">
            <a:avLst/>
          </a:prstGeom>
          <a:noFill/>
          <a:ln w="31750">
            <a:solidFill>
              <a:srgbClr val="00006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spc="253"/>
              <a:t>0 xxxxxxx</a:t>
            </a:r>
            <a:endParaRPr lang="zh-CN" altLang="en-US" sz="2400" spc="253"/>
          </a:p>
        </p:txBody>
      </p:sp>
      <p:sp>
        <p:nvSpPr>
          <p:cNvPr id="5" name="文本框 4"/>
          <p:cNvSpPr txBox="1"/>
          <p:nvPr/>
        </p:nvSpPr>
        <p:spPr>
          <a:xfrm>
            <a:off x="1443028" y="6107558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回车、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Ctrl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键等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60155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2" grpId="0"/>
      <p:bldP spid="398343" grpId="0" bldLvl="0" animBg="1"/>
      <p:bldP spid="24586" grpId="0"/>
      <p:bldP spid="24587" grpId="0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29"/>
            <a:ext cx="10474768" cy="47746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◆ 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ASCII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码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换行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0AH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10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回车      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0DH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	13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空格      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20H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	32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'0'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'9'   	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30H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39H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48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57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'A'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 Z' 	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41H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5AH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65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90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'a'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'z '   	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61H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7AH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97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122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11188" y="3756139"/>
            <a:ext cx="8882062" cy="40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20675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39763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960438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279525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200" b="1" dirty="0">
                <a:latin typeface="Times New Roman" panose="02020603050405020304" pitchFamily="18" charset="0"/>
              </a:rPr>
              <a:t>      </a:t>
            </a:r>
            <a:endParaRPr kumimoji="1"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05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8"/>
            <a:ext cx="10638281" cy="38856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② 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UTF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-16 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LE（Little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Endian）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所有字符占两个字节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西文字符：在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ASCII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基础上，加两个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0H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。例如，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32H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变成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00 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32H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存储时低字节在前，高字节在后：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  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00H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汉字字符：编码与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GBK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不同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例如：“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2021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上海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”的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UTF-16 LE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846" y="5163077"/>
            <a:ext cx="10623795" cy="868702"/>
          </a:xfrm>
          <a:prstGeom prst="rect">
            <a:avLst/>
          </a:prstGeom>
        </p:spPr>
      </p:pic>
      <p:sp>
        <p:nvSpPr>
          <p:cNvPr id="5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9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9"/>
            <a:ext cx="10638281" cy="33141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③ 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UTF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-8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　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Unicode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的变种，所有字符占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1~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４字节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西文字符：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个字节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汉字字符：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个字节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例如：“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2021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上海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”的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UTF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-8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49" y="4419605"/>
            <a:ext cx="10122482" cy="107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61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9"/>
            <a:ext cx="10638281" cy="46095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④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其他汉字编码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微软拼音、五笔字型等输入码都是汉字编码</a:t>
            </a:r>
            <a:b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点阵字库、矢量字库中的字形码也是汉字编码</a:t>
            </a:r>
            <a:b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2095499" y="2405063"/>
            <a:ext cx="14400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2497749" y="1897231"/>
            <a:ext cx="93503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ea typeface="黑体" panose="02010609060101010101" pitchFamily="49" charset="-122"/>
              </a:rPr>
              <a:t>键盘输入</a:t>
            </a: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558382" y="2086713"/>
            <a:ext cx="1368425" cy="57626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zh-CN" altLang="en-US" sz="2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输入码</a:t>
            </a:r>
          </a:p>
        </p:txBody>
      </p:sp>
      <p:sp>
        <p:nvSpPr>
          <p:cNvPr id="12" name="Rectangle 17"/>
          <p:cNvSpPr>
            <a:spLocks noChangeArrowheads="1"/>
          </p:cNvSpPr>
          <p:nvPr/>
        </p:nvSpPr>
        <p:spPr bwMode="auto">
          <a:xfrm>
            <a:off x="5720759" y="2086712"/>
            <a:ext cx="1368000" cy="57626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2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机内码</a:t>
            </a:r>
          </a:p>
        </p:txBody>
      </p:sp>
      <p:sp>
        <p:nvSpPr>
          <p:cNvPr id="13" name="Rectangle 18"/>
          <p:cNvSpPr>
            <a:spLocks noChangeArrowheads="1"/>
          </p:cNvSpPr>
          <p:nvPr/>
        </p:nvSpPr>
        <p:spPr bwMode="auto">
          <a:xfrm>
            <a:off x="7932951" y="2088301"/>
            <a:ext cx="1368000" cy="576263"/>
          </a:xfrm>
          <a:prstGeom prst="rect">
            <a:avLst/>
          </a:prstGeom>
          <a:solidFill>
            <a:schemeClr val="accent1"/>
          </a:solidFill>
          <a:ln w="25400">
            <a:solidFill>
              <a:srgbClr val="0099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kumimoji="1" lang="zh-CN" altLang="en-US" sz="2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字形码</a:t>
            </a: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9260496" y="1897231"/>
            <a:ext cx="154044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屏幕显示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打印输出</a:t>
            </a:r>
          </a:p>
        </p:txBody>
      </p:sp>
      <p:sp>
        <p:nvSpPr>
          <p:cNvPr id="16" name="Line 21"/>
          <p:cNvSpPr>
            <a:spLocks noChangeShapeType="1"/>
          </p:cNvSpPr>
          <p:nvPr/>
        </p:nvSpPr>
        <p:spPr bwMode="auto">
          <a:xfrm>
            <a:off x="8607426" y="2332038"/>
            <a:ext cx="504825" cy="0"/>
          </a:xfrm>
          <a:prstGeom prst="line">
            <a:avLst/>
          </a:prstGeom>
          <a:noFill/>
          <a:ln w="25400">
            <a:solidFill>
              <a:srgbClr val="0099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4926806" y="2405063"/>
            <a:ext cx="806875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7089351" y="2435226"/>
            <a:ext cx="806875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9300950" y="2405063"/>
            <a:ext cx="14400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16125458" y="4173537"/>
            <a:ext cx="10810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输出</a:t>
            </a:r>
          </a:p>
        </p:txBody>
      </p:sp>
      <p:graphicFrame>
        <p:nvGraphicFramePr>
          <p:cNvPr id="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966504"/>
              </p:ext>
            </p:extLst>
          </p:nvPr>
        </p:nvGraphicFramePr>
        <p:xfrm>
          <a:off x="2965267" y="4371973"/>
          <a:ext cx="3060311" cy="2332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3" imgW="4409524" imgH="3200000" progId="Paint.Picture">
                  <p:embed/>
                </p:oleObj>
              </mc:Choice>
              <mc:Fallback>
                <p:oleObj name="位图图像" r:id="rId3" imgW="4409524" imgH="3200000" progId="Paint.Picture">
                  <p:embed/>
                  <p:pic>
                    <p:nvPicPr>
                      <p:cNvPr id="2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267" y="4371973"/>
                        <a:ext cx="3060311" cy="23327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063" y="4371973"/>
            <a:ext cx="2465607" cy="2332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55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30"/>
            <a:ext cx="10073234" cy="558767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拓展：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中查看</a:t>
            </a:r>
            <a:r>
              <a:rPr lang="zh-CN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字符的编码值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◆</a:t>
            </a:r>
            <a:r>
              <a:rPr kumimoji="1"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函数：返回字符的编码值</a:t>
            </a: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("A")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Out[1]: 65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("a")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Out[2]: 97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("0")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Out[3]: 48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ord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kumimoji="1"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Out[4]: 19978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hex(19978)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Out[5]: '</a:t>
            </a:r>
            <a:r>
              <a:rPr kumimoji="1"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0x4e0a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16125458" y="4173537"/>
            <a:ext cx="10810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输出</a:t>
            </a:r>
          </a:p>
        </p:txBody>
      </p:sp>
      <p:sp>
        <p:nvSpPr>
          <p:cNvPr id="18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331" y="2322250"/>
            <a:ext cx="6879249" cy="429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14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30"/>
            <a:ext cx="10073234" cy="558767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拓展：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中查看</a:t>
            </a:r>
            <a:r>
              <a:rPr lang="zh-CN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字符的编码值</a:t>
            </a:r>
            <a:endParaRPr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◆</a:t>
            </a:r>
            <a:r>
              <a:rPr kumimoji="1" lang="en-US" altLang="zh-CN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chr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函数：返回编码值对应的字符</a:t>
            </a: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chr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(65)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Out[6]: 'A'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chr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(97)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Out[7]: 'a'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chr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(48)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Out[8]: '0'</a:t>
            </a: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 err="1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chr</a:t>
            </a: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(19978)</a:t>
            </a: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00">
              <a:lnSpc>
                <a:spcPct val="10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Out[9]: '</a:t>
            </a: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'</a:t>
            </a:r>
            <a:endParaRPr kumimoji="1" lang="zh-CN" altLang="en-US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22" name="Text Box 20"/>
          <p:cNvSpPr txBox="1">
            <a:spLocks noChangeArrowheads="1"/>
          </p:cNvSpPr>
          <p:nvPr/>
        </p:nvSpPr>
        <p:spPr bwMode="auto">
          <a:xfrm>
            <a:off x="16125458" y="4173537"/>
            <a:ext cx="10810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ea typeface="黑体" panose="02010609060101010101" pitchFamily="49" charset="-122"/>
              </a:rPr>
              <a:t>输出</a:t>
            </a:r>
          </a:p>
        </p:txBody>
      </p:sp>
      <p:sp>
        <p:nvSpPr>
          <p:cNvPr id="18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字符编码</a:t>
            </a:r>
            <a:endParaRPr lang="zh-CN" altLang="en-US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315061"/>
            <a:ext cx="6781021" cy="42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74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>
            <a:spLocks/>
          </p:cNvSpPr>
          <p:nvPr/>
        </p:nvSpPr>
        <p:spPr>
          <a:xfrm>
            <a:off x="1100780" y="1105428"/>
            <a:ext cx="10474768" cy="51937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声音：</a:t>
            </a:r>
            <a:r>
              <a:rPr lang="zh-CN" altLang="en-US" dirty="0"/>
              <a:t>由物体振动产生的声波</a:t>
            </a:r>
            <a:br>
              <a:rPr lang="en-US" altLang="zh-CN" dirty="0"/>
            </a:br>
            <a:r>
              <a:rPr lang="en-US" altLang="zh-CN" dirty="0"/>
              <a:t>               </a:t>
            </a:r>
            <a:r>
              <a:rPr lang="zh-CN" altLang="en-US" dirty="0"/>
              <a:t>频率、周期、振幅</a:t>
            </a: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              </a:t>
            </a:r>
            <a:r>
              <a:rPr lang="zh-CN" altLang="en-US" dirty="0"/>
              <a:t>可以被人耳识别的声波频率在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 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Hz~20000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Hz</a:t>
            </a:r>
            <a:r>
              <a:rPr lang="zh-CN" altLang="en-US" dirty="0"/>
              <a:t>之间）</a:t>
            </a: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声音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28"/>
            <a:ext cx="10474768" cy="51937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332419"/>
              </p:ext>
            </p:extLst>
          </p:nvPr>
        </p:nvGraphicFramePr>
        <p:xfrm>
          <a:off x="5435670" y="1811791"/>
          <a:ext cx="4295519" cy="2864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005766" imgH="1583026" progId="Word.Picture.8">
                  <p:embed/>
                </p:oleObj>
              </mc:Choice>
              <mc:Fallback>
                <p:oleObj name="图片" r:id="rId3" imgW="3005766" imgH="158302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678" r="8508"/>
                      <a:stretch>
                        <a:fillRect/>
                      </a:stretch>
                    </p:blipFill>
                    <p:spPr bwMode="auto">
                      <a:xfrm>
                        <a:off x="5435670" y="1811791"/>
                        <a:ext cx="4295519" cy="2864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4591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>
            <a:spLocks/>
          </p:cNvSpPr>
          <p:nvPr/>
        </p:nvSpPr>
        <p:spPr>
          <a:xfrm>
            <a:off x="1100780" y="1105429"/>
            <a:ext cx="10474768" cy="141785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香农采样定理：采样频率应该是信号频率的两倍以上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        </a:t>
            </a:r>
            <a:r>
              <a:rPr lang="zh-CN" altLang="en-US" dirty="0"/>
              <a:t>原来的连续信号可以从采样样本中完全重构出来</a:t>
            </a: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              </a:t>
            </a: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声音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28"/>
            <a:ext cx="10474768" cy="51937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952976"/>
              </p:ext>
            </p:extLst>
          </p:nvPr>
        </p:nvGraphicFramePr>
        <p:xfrm>
          <a:off x="3687893" y="2695259"/>
          <a:ext cx="5075107" cy="3384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3" imgW="3005766" imgH="1583026" progId="Word.Picture.8">
                  <p:embed/>
                </p:oleObj>
              </mc:Choice>
              <mc:Fallback>
                <p:oleObj name="图片" r:id="rId3" imgW="3005766" imgH="158302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678" r="8508"/>
                      <a:stretch>
                        <a:fillRect/>
                      </a:stretch>
                    </p:blipFill>
                    <p:spPr bwMode="auto">
                      <a:xfrm>
                        <a:off x="3687893" y="2695259"/>
                        <a:ext cx="5075107" cy="3384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0400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297168" y="224224"/>
            <a:ext cx="5643563" cy="706437"/>
          </a:xfrm>
        </p:spPr>
        <p:txBody>
          <a:bodyPr vert="horz" wrap="square" lIns="0" tIns="45720" rIns="0" bIns="0" anchor="b"/>
          <a:lstStyle/>
          <a:p>
            <a:pPr eaLnBrk="1" hangingPunct="1"/>
            <a:r>
              <a:rPr lang="zh-CN" altLang="en-US" sz="3200" dirty="0">
                <a:solidFill>
                  <a:srgbClr val="C00000"/>
                </a:solidFill>
              </a:rPr>
              <a:t>模拟音频的数字化</a:t>
            </a:r>
          </a:p>
        </p:txBody>
      </p:sp>
      <p:sp>
        <p:nvSpPr>
          <p:cNvPr id="17411" name="Text Box 3"/>
          <p:cNvSpPr txBox="1"/>
          <p:nvPr/>
        </p:nvSpPr>
        <p:spPr>
          <a:xfrm>
            <a:off x="0" y="1396364"/>
            <a:ext cx="12432704" cy="475066"/>
          </a:xfrm>
          <a:prstGeom prst="rect">
            <a:avLst/>
          </a:prstGeom>
          <a:noFill/>
          <a:ln w="9525">
            <a:noFill/>
          </a:ln>
        </p:spPr>
        <p:txBody>
          <a:bodyPr wrap="square" lIns="64008" tIns="32004" rIns="64008" bIns="32004">
            <a:spAutoFit/>
          </a:bodyPr>
          <a:lstStyle/>
          <a:p>
            <a:pPr algn="just" defTabSz="640064" eaLnBrk="0" hangingPunct="0"/>
            <a:r>
              <a:rPr lang="zh-CN" altLang="en-US" sz="2667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用计算机对音频信息处理，就要将模拟信号（如语音、音乐等）转换成数字信号。</a:t>
            </a:r>
          </a:p>
        </p:txBody>
      </p:sp>
      <p:grpSp>
        <p:nvGrpSpPr>
          <p:cNvPr id="294917" name="Group 5"/>
          <p:cNvGrpSpPr/>
          <p:nvPr/>
        </p:nvGrpSpPr>
        <p:grpSpPr>
          <a:xfrm>
            <a:off x="1391477" y="2317730"/>
            <a:ext cx="7851457" cy="417750"/>
            <a:chOff x="765" y="2304"/>
            <a:chExt cx="7213" cy="366"/>
          </a:xfrm>
        </p:grpSpPr>
        <p:sp>
          <p:nvSpPr>
            <p:cNvPr id="17416" name="Rectangle 6"/>
            <p:cNvSpPr/>
            <p:nvPr/>
          </p:nvSpPr>
          <p:spPr>
            <a:xfrm>
              <a:off x="765" y="2304"/>
              <a:ext cx="115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64008" tIns="32004" rIns="64008" bIns="32004">
              <a:spAutoFit/>
            </a:bodyPr>
            <a:lstStyle/>
            <a:p>
              <a:pPr defTabSz="640064" eaLnBrk="0" hangingPunct="0"/>
              <a:r>
                <a:rPr lang="zh-CN" altLang="en-US" sz="2200" dirty="0">
                  <a:solidFill>
                    <a:srgbClr val="000066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模拟信号</a:t>
              </a:r>
            </a:p>
          </p:txBody>
        </p:sp>
        <p:sp>
          <p:nvSpPr>
            <p:cNvPr id="17417" name="Rectangle 7"/>
            <p:cNvSpPr/>
            <p:nvPr/>
          </p:nvSpPr>
          <p:spPr>
            <a:xfrm>
              <a:off x="2730" y="2304"/>
              <a:ext cx="637" cy="35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64008" tIns="32004" rIns="64008" bIns="32004">
              <a:spAutoFit/>
            </a:bodyPr>
            <a:lstStyle/>
            <a:p>
              <a:pPr defTabSz="640064" eaLnBrk="0" hangingPunct="0"/>
              <a:r>
                <a:rPr lang="zh-CN" altLang="en-US" sz="2200" dirty="0">
                  <a:solidFill>
                    <a:srgbClr val="000066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采样</a:t>
              </a:r>
            </a:p>
          </p:txBody>
        </p:sp>
        <p:sp>
          <p:nvSpPr>
            <p:cNvPr id="17418" name="Rectangle 8"/>
            <p:cNvSpPr/>
            <p:nvPr/>
          </p:nvSpPr>
          <p:spPr>
            <a:xfrm>
              <a:off x="4077" y="2317"/>
              <a:ext cx="637" cy="353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64008" tIns="32004" rIns="64008" bIns="32004">
              <a:spAutoFit/>
            </a:bodyPr>
            <a:lstStyle/>
            <a:p>
              <a:pPr defTabSz="640064" eaLnBrk="0" hangingPunct="0"/>
              <a:r>
                <a:rPr lang="zh-CN" altLang="en-US" sz="2200" dirty="0">
                  <a:solidFill>
                    <a:srgbClr val="000066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量化</a:t>
              </a:r>
            </a:p>
          </p:txBody>
        </p:sp>
        <p:sp>
          <p:nvSpPr>
            <p:cNvPr id="17419" name="Rectangle 9"/>
            <p:cNvSpPr/>
            <p:nvPr/>
          </p:nvSpPr>
          <p:spPr>
            <a:xfrm>
              <a:off x="5505" y="2317"/>
              <a:ext cx="637" cy="353"/>
            </a:xfrm>
            <a:prstGeom prst="rect">
              <a:avLst/>
            </a:prstGeom>
            <a:noFill/>
            <a:ln w="38100" cap="flat" cmpd="dbl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64008" tIns="32004" rIns="64008" bIns="32004">
              <a:spAutoFit/>
            </a:bodyPr>
            <a:lstStyle/>
            <a:p>
              <a:pPr defTabSz="640064" eaLnBrk="0" hangingPunct="0"/>
              <a:r>
                <a:rPr lang="zh-CN" altLang="en-US" sz="2200" dirty="0">
                  <a:solidFill>
                    <a:srgbClr val="000066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编码</a:t>
              </a:r>
            </a:p>
          </p:txBody>
        </p:sp>
        <p:sp>
          <p:nvSpPr>
            <p:cNvPr id="17420" name="Line 10"/>
            <p:cNvSpPr/>
            <p:nvPr/>
          </p:nvSpPr>
          <p:spPr>
            <a:xfrm>
              <a:off x="3360" y="2496"/>
              <a:ext cx="672" cy="0"/>
            </a:xfrm>
            <a:prstGeom prst="line">
              <a:avLst/>
            </a:prstGeom>
            <a:ln w="69850" cap="flat" cmpd="dbl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421" name="Line 11"/>
            <p:cNvSpPr/>
            <p:nvPr/>
          </p:nvSpPr>
          <p:spPr>
            <a:xfrm>
              <a:off x="4752" y="2496"/>
              <a:ext cx="672" cy="0"/>
            </a:xfrm>
            <a:prstGeom prst="line">
              <a:avLst/>
            </a:prstGeom>
            <a:ln w="69850" cap="flat" cmpd="dbl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422" name="Rectangle 12"/>
            <p:cNvSpPr/>
            <p:nvPr/>
          </p:nvSpPr>
          <p:spPr>
            <a:xfrm>
              <a:off x="6822" y="2304"/>
              <a:ext cx="1156" cy="35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64008" tIns="32004" rIns="64008" bIns="32004">
              <a:spAutoFit/>
            </a:bodyPr>
            <a:lstStyle/>
            <a:p>
              <a:pPr defTabSz="640064" eaLnBrk="0" hangingPunct="0"/>
              <a:r>
                <a:rPr lang="zh-CN" altLang="en-US" sz="2200" dirty="0">
                  <a:solidFill>
                    <a:srgbClr val="000066"/>
                  </a:solidFill>
                  <a:latin typeface="宋体" panose="02010600030101010101" pitchFamily="2" charset="-122"/>
                  <a:ea typeface="微软雅黑" panose="020B0503020204020204" pitchFamily="34" charset="-122"/>
                </a:rPr>
                <a:t>数字信号</a:t>
              </a:r>
            </a:p>
          </p:txBody>
        </p:sp>
        <p:sp>
          <p:nvSpPr>
            <p:cNvPr id="17423" name="Line 13"/>
            <p:cNvSpPr/>
            <p:nvPr/>
          </p:nvSpPr>
          <p:spPr>
            <a:xfrm>
              <a:off x="2016" y="2496"/>
              <a:ext cx="672" cy="0"/>
            </a:xfrm>
            <a:prstGeom prst="line">
              <a:avLst/>
            </a:prstGeom>
            <a:ln w="69850" cap="flat" cmpd="dbl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424" name="Line 14"/>
            <p:cNvSpPr/>
            <p:nvPr/>
          </p:nvSpPr>
          <p:spPr>
            <a:xfrm>
              <a:off x="6144" y="2496"/>
              <a:ext cx="672" cy="0"/>
            </a:xfrm>
            <a:prstGeom prst="line">
              <a:avLst/>
            </a:prstGeom>
            <a:ln w="69850" cap="flat" cmpd="dbl">
              <a:solidFill>
                <a:schemeClr val="tx1"/>
              </a:solidFill>
              <a:prstDash val="solid"/>
              <a:headEnd type="none" w="med" len="med"/>
              <a:tailEnd type="triangle" w="sm" len="med"/>
            </a:ln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95000" name="Rectangle 88"/>
          <p:cNvSpPr/>
          <p:nvPr/>
        </p:nvSpPr>
        <p:spPr>
          <a:xfrm>
            <a:off x="1524002" y="3269608"/>
            <a:ext cx="184731" cy="461665"/>
          </a:xfrm>
          <a:prstGeom prst="rect">
            <a:avLst/>
          </a:prstGeom>
          <a:noFill/>
          <a:ln w="25400">
            <a:noFill/>
          </a:ln>
        </p:spPr>
        <p:txBody>
          <a:bodyPr wrap="none" anchor="ctr">
            <a:spAutoFit/>
          </a:bodyPr>
          <a:lstStyle/>
          <a:p>
            <a:endParaRPr lang="zh-CN" altLang="en-US" sz="2400" dirty="0">
              <a:solidFill>
                <a:srgbClr val="000066"/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9350" y="4955941"/>
            <a:ext cx="7968885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640064" eaLnBrk="0" hangingPunct="0">
              <a:lnSpc>
                <a:spcPct val="13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采样：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每隔一定时间间隔对模拟波形上取一个幅度值。</a:t>
            </a:r>
          </a:p>
          <a:p>
            <a:pPr algn="just" defTabSz="640064" eaLnBrk="0" hangingPunct="0">
              <a:lnSpc>
                <a:spcPct val="13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量化：</a:t>
            </a:r>
            <a:r>
              <a:rPr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将每个采样点得到的幅度值 以数字存储。</a:t>
            </a:r>
          </a:p>
          <a:p>
            <a:pPr algn="just" defTabSz="640064" eaLnBrk="0" hangingPunct="0">
              <a:lnSpc>
                <a:spcPct val="130000"/>
              </a:lnSpc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编码：</a:t>
            </a:r>
            <a:r>
              <a:rPr lang="zh-CN" altLang="en-US" sz="2400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将采样和量化后的数字数据以一定的格式记录下来</a:t>
            </a:r>
            <a:endParaRPr lang="zh-CN" altLang="en-US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00" y="2910357"/>
            <a:ext cx="2235200" cy="1498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801" y="2981245"/>
            <a:ext cx="3035300" cy="1498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5821" y="2960449"/>
            <a:ext cx="2997200" cy="1524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1122" y="3148344"/>
            <a:ext cx="3111500" cy="1371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090796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00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>
            <a:spLocks/>
          </p:cNvSpPr>
          <p:nvPr/>
        </p:nvSpPr>
        <p:spPr>
          <a:xfrm>
            <a:off x="1100780" y="1105429"/>
            <a:ext cx="10473904" cy="40105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采取频率： 每秒钟的采样次数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采样精度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量化位数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存放采样点振幅值的二进制位数。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8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位、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位、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24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位、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32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声道数 ：立体声为双声道</a:t>
            </a:r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              </a:t>
            </a: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声音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28"/>
            <a:ext cx="10474768" cy="51937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888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>
            <a:spLocks/>
          </p:cNvSpPr>
          <p:nvPr/>
        </p:nvSpPr>
        <p:spPr>
          <a:xfrm>
            <a:off x="1100780" y="1117003"/>
            <a:ext cx="9779423" cy="42999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每秒钟声音的存储容量的计算公式为： 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采样频率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采样精度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声道数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/8=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字节数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例：用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44.10 kHz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的采样频率，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位的精度存储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则录制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秒钟的立体声节目，其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WAV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文件所需的存储量为：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44 100×16×2/8=176 400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（字节）</a:t>
            </a:r>
            <a:endParaRPr lang="en-US" altLang="zh-CN" dirty="0"/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              </a:t>
            </a: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声音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28"/>
            <a:ext cx="10474768" cy="51937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9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>
            <a:spLocks/>
          </p:cNvSpPr>
          <p:nvPr/>
        </p:nvSpPr>
        <p:spPr>
          <a:xfrm>
            <a:off x="1100781" y="1117004"/>
            <a:ext cx="9503720" cy="51821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声音文件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Wave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文件（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.wav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）：声音原始采样数据，没有压缩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MPEG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音频文件（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MP1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/.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MP2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/.MP3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MPEG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音频压缩标准进行压缩的文件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格式文件（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ra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）、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WMA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格式文件（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.wma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流媒体声音文件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④ MIDI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文件：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存储了音乐演奏的信息或指令</a:t>
            </a: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声音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28"/>
            <a:ext cx="10474768" cy="51937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64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335360" y="262667"/>
            <a:ext cx="7200800" cy="706437"/>
          </a:xfrm>
        </p:spPr>
        <p:txBody>
          <a:bodyPr vert="horz" wrap="square" lIns="0" tIns="45720" rIns="0" bIns="0" anchor="b"/>
          <a:lstStyle/>
          <a:p>
            <a:r>
              <a:rPr kumimoji="1" lang="en-US" altLang="zh-CN" sz="4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zh-CN" altLang="zh-CN" sz="4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endParaRPr kumimoji="1" lang="en-US" altLang="zh-CN" sz="4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3339" y="1350518"/>
            <a:ext cx="11713301" cy="5157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40064">
              <a:lnSpc>
                <a:spcPct val="125000"/>
              </a:lnSpc>
              <a:spcBef>
                <a:spcPct val="15000"/>
              </a:spcBef>
            </a:pP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dirty="0"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图形和图像 </a:t>
            </a:r>
          </a:p>
          <a:p>
            <a:pPr defTabSz="640064">
              <a:lnSpc>
                <a:spcPct val="125000"/>
              </a:lnSpc>
              <a:spcBef>
                <a:spcPct val="15000"/>
              </a:spcBef>
            </a:pPr>
            <a:r>
              <a:rPr lang="zh-CN" altLang="en-US" sz="2667" dirty="0">
                <a:solidFill>
                  <a:srgbClr val="C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 图形：</a:t>
            </a: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由点、线等组成的有边界画面，文件中存放描述图形的指令，</a:t>
            </a:r>
            <a:r>
              <a:rPr lang="zh-CN" altLang="en-US" sz="2667" dirty="0">
                <a:solidFill>
                  <a:srgbClr val="C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矢量图</a:t>
            </a: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。   </a:t>
            </a:r>
          </a:p>
          <a:p>
            <a:pPr defTabSz="640064">
              <a:lnSpc>
                <a:spcPct val="125000"/>
              </a:lnSpc>
              <a:spcBef>
                <a:spcPct val="15000"/>
              </a:spcBef>
            </a:pPr>
            <a:r>
              <a:rPr lang="zh-CN" altLang="en-US" sz="2667" dirty="0">
                <a:solidFill>
                  <a:srgbClr val="C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 图像：</a:t>
            </a: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由图像设备输入的无边界画面，数字化后以位图形式存储，</a:t>
            </a:r>
            <a:r>
              <a:rPr lang="zh-CN" altLang="en-US" sz="2667" dirty="0">
                <a:solidFill>
                  <a:srgbClr val="C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位图</a:t>
            </a: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。</a:t>
            </a:r>
            <a:endParaRPr lang="en-US" altLang="zh-CN" sz="2667" dirty="0">
              <a:solidFill>
                <a:srgbClr val="000066"/>
              </a:solidFill>
              <a:latin typeface="宋体" panose="02010600030101010101" pitchFamily="2" charset="-122"/>
              <a:ea typeface="微软雅黑" panose="020B0503020204020204" pitchFamily="34" charset="-122"/>
            </a:endParaRPr>
          </a:p>
          <a:p>
            <a:pPr defTabSz="640064">
              <a:lnSpc>
                <a:spcPct val="125000"/>
              </a:lnSpc>
              <a:spcBef>
                <a:spcPct val="15000"/>
              </a:spcBef>
            </a:pPr>
            <a:endParaRPr lang="en-US" altLang="zh-CN" sz="2667" dirty="0">
              <a:solidFill>
                <a:srgbClr val="000066"/>
              </a:solidFill>
              <a:latin typeface="宋体" panose="02010600030101010101" pitchFamily="2" charset="-122"/>
              <a:ea typeface="微软雅黑" panose="020B0503020204020204" pitchFamily="34" charset="-122"/>
            </a:endParaRPr>
          </a:p>
          <a:p>
            <a:pPr defTabSz="640064">
              <a:lnSpc>
                <a:spcPct val="125000"/>
              </a:lnSpc>
              <a:spcBef>
                <a:spcPct val="15000"/>
              </a:spcBef>
            </a:pPr>
            <a:endParaRPr lang="en-US" altLang="zh-CN" sz="2667" dirty="0">
              <a:solidFill>
                <a:srgbClr val="000066"/>
              </a:solidFill>
              <a:latin typeface="宋体" panose="02010600030101010101" pitchFamily="2" charset="-122"/>
              <a:ea typeface="微软雅黑" panose="020B0503020204020204" pitchFamily="34" charset="-122"/>
            </a:endParaRPr>
          </a:p>
          <a:p>
            <a:pPr defTabSz="640064">
              <a:lnSpc>
                <a:spcPct val="125000"/>
              </a:lnSpc>
              <a:spcBef>
                <a:spcPct val="15000"/>
              </a:spcBef>
            </a:pPr>
            <a:endParaRPr lang="en-US" altLang="zh-CN" sz="2667" dirty="0">
              <a:solidFill>
                <a:srgbClr val="000066"/>
              </a:solidFill>
              <a:latin typeface="宋体" panose="02010600030101010101" pitchFamily="2" charset="-122"/>
              <a:ea typeface="微软雅黑" panose="020B0503020204020204" pitchFamily="34" charset="-122"/>
            </a:endParaRPr>
          </a:p>
          <a:p>
            <a:pPr defTabSz="640064">
              <a:lnSpc>
                <a:spcPct val="125000"/>
              </a:lnSpc>
              <a:spcBef>
                <a:spcPct val="15000"/>
              </a:spcBef>
            </a:pP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图像的技术参数 </a:t>
            </a:r>
          </a:p>
          <a:p>
            <a:pPr defTabSz="640064">
              <a:lnSpc>
                <a:spcPct val="125000"/>
              </a:lnSpc>
              <a:spcBef>
                <a:spcPct val="15000"/>
              </a:spcBef>
            </a:pP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  </a:t>
            </a:r>
            <a:r>
              <a:rPr lang="zh-CN" altLang="en-US" sz="2667" dirty="0">
                <a:solidFill>
                  <a:srgbClr val="C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分辨率</a:t>
            </a:r>
            <a:r>
              <a:rPr lang="zh-CN" altLang="en-US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（行、列）：</a:t>
            </a:r>
            <a:r>
              <a:rPr lang="zh-CN" altLang="zh-CN" sz="2667" dirty="0">
                <a:solidFill>
                  <a:srgbClr val="000066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度量一幅图像的像素密度的方法</a:t>
            </a:r>
            <a:endParaRPr lang="en-US" altLang="zh-CN" sz="2667" dirty="0">
              <a:solidFill>
                <a:srgbClr val="000066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defTabSz="640064">
              <a:lnSpc>
                <a:spcPct val="125000"/>
              </a:lnSpc>
              <a:spcBef>
                <a:spcPct val="15000"/>
              </a:spcBef>
            </a:pPr>
            <a:r>
              <a:rPr lang="en-US" altLang="zh-CN" sz="2667" dirty="0">
                <a:solidFill>
                  <a:srgbClr val="000066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  </a:t>
            </a:r>
            <a:r>
              <a:rPr lang="zh-CN" altLang="en-US" sz="2667" dirty="0">
                <a:solidFill>
                  <a:srgbClr val="C00000"/>
                </a:solidFill>
                <a:latin typeface="宋体" panose="02010600030101010101" pitchFamily="2" charset="-122"/>
                <a:ea typeface="微软雅黑" panose="020B0503020204020204" pitchFamily="34" charset="-122"/>
              </a:rPr>
              <a:t>颜色深度：</a:t>
            </a:r>
            <a:r>
              <a:rPr lang="zh-CN" altLang="en-US" sz="2667" dirty="0">
                <a:solidFill>
                  <a:srgbClr val="000066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储存一个像素的颜色所需的位数</a:t>
            </a:r>
            <a:endParaRPr lang="zh-CN" altLang="en-US" sz="2400" dirty="0"/>
          </a:p>
        </p:txBody>
      </p:sp>
      <p:grpSp>
        <p:nvGrpSpPr>
          <p:cNvPr id="6" name="Group 61998"/>
          <p:cNvGrpSpPr/>
          <p:nvPr/>
        </p:nvGrpSpPr>
        <p:grpSpPr>
          <a:xfrm>
            <a:off x="3119670" y="3140968"/>
            <a:ext cx="5258629" cy="2003243"/>
            <a:chOff x="-2425" y="-3340"/>
            <a:chExt cx="3944112" cy="1502458"/>
          </a:xfrm>
        </p:grpSpPr>
        <p:pic>
          <p:nvPicPr>
            <p:cNvPr id="7" name="Picture 6367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-2425" y="-3340"/>
              <a:ext cx="3944112" cy="1225296"/>
            </a:xfrm>
            <a:prstGeom prst="rect">
              <a:avLst/>
            </a:prstGeom>
          </p:spPr>
        </p:pic>
        <p:sp>
          <p:nvSpPr>
            <p:cNvPr id="8" name="Shape 12148"/>
            <p:cNvSpPr/>
            <p:nvPr/>
          </p:nvSpPr>
          <p:spPr>
            <a:xfrm>
              <a:off x="606225" y="1177675"/>
              <a:ext cx="22644" cy="96596"/>
            </a:xfrm>
            <a:custGeom>
              <a:avLst/>
              <a:gdLst/>
              <a:ahLst/>
              <a:cxnLst/>
              <a:rect l="0" t="0" r="0" b="0"/>
              <a:pathLst>
                <a:path w="22644" h="96596">
                  <a:moveTo>
                    <a:pt x="21628" y="26"/>
                  </a:moveTo>
                  <a:cubicBezTo>
                    <a:pt x="21895" y="39"/>
                    <a:pt x="22149" y="204"/>
                    <a:pt x="22390" y="495"/>
                  </a:cubicBezTo>
                  <a:cubicBezTo>
                    <a:pt x="22644" y="801"/>
                    <a:pt x="22555" y="1308"/>
                    <a:pt x="22123" y="2032"/>
                  </a:cubicBezTo>
                  <a:lnTo>
                    <a:pt x="20485" y="4814"/>
                  </a:lnTo>
                  <a:cubicBezTo>
                    <a:pt x="19368" y="6693"/>
                    <a:pt x="17856" y="9297"/>
                    <a:pt x="15977" y="12624"/>
                  </a:cubicBezTo>
                  <a:cubicBezTo>
                    <a:pt x="14084" y="15952"/>
                    <a:pt x="12751" y="18580"/>
                    <a:pt x="11976" y="20536"/>
                  </a:cubicBezTo>
                  <a:cubicBezTo>
                    <a:pt x="11201" y="22492"/>
                    <a:pt x="10452" y="24829"/>
                    <a:pt x="9715" y="27584"/>
                  </a:cubicBezTo>
                  <a:cubicBezTo>
                    <a:pt x="8992" y="30328"/>
                    <a:pt x="8395" y="32995"/>
                    <a:pt x="7938" y="35599"/>
                  </a:cubicBezTo>
                  <a:cubicBezTo>
                    <a:pt x="7468" y="38189"/>
                    <a:pt x="7188" y="40984"/>
                    <a:pt x="7087" y="43980"/>
                  </a:cubicBezTo>
                  <a:cubicBezTo>
                    <a:pt x="6998" y="46965"/>
                    <a:pt x="6998" y="49556"/>
                    <a:pt x="7087" y="51740"/>
                  </a:cubicBezTo>
                  <a:cubicBezTo>
                    <a:pt x="7188" y="55436"/>
                    <a:pt x="7480" y="58675"/>
                    <a:pt x="7963" y="61443"/>
                  </a:cubicBezTo>
                  <a:cubicBezTo>
                    <a:pt x="8433" y="64199"/>
                    <a:pt x="8966" y="66612"/>
                    <a:pt x="9550" y="68682"/>
                  </a:cubicBezTo>
                  <a:cubicBezTo>
                    <a:pt x="10122" y="70739"/>
                    <a:pt x="10973" y="73279"/>
                    <a:pt x="12078" y="76251"/>
                  </a:cubicBezTo>
                  <a:cubicBezTo>
                    <a:pt x="13183" y="79223"/>
                    <a:pt x="15469" y="83604"/>
                    <a:pt x="18948" y="89395"/>
                  </a:cubicBezTo>
                  <a:lnTo>
                    <a:pt x="20485" y="91973"/>
                  </a:lnTo>
                  <a:cubicBezTo>
                    <a:pt x="21679" y="94056"/>
                    <a:pt x="22276" y="95276"/>
                    <a:pt x="22301" y="95644"/>
                  </a:cubicBezTo>
                  <a:cubicBezTo>
                    <a:pt x="22314" y="96012"/>
                    <a:pt x="22162" y="96266"/>
                    <a:pt x="21857" y="96445"/>
                  </a:cubicBezTo>
                  <a:cubicBezTo>
                    <a:pt x="21539" y="96596"/>
                    <a:pt x="21120" y="96533"/>
                    <a:pt x="20612" y="96216"/>
                  </a:cubicBezTo>
                  <a:cubicBezTo>
                    <a:pt x="20091" y="95898"/>
                    <a:pt x="19177" y="94907"/>
                    <a:pt x="17856" y="93218"/>
                  </a:cubicBezTo>
                  <a:lnTo>
                    <a:pt x="15977" y="90881"/>
                  </a:lnTo>
                  <a:cubicBezTo>
                    <a:pt x="14351" y="88926"/>
                    <a:pt x="12230" y="86005"/>
                    <a:pt x="9627" y="82080"/>
                  </a:cubicBezTo>
                  <a:cubicBezTo>
                    <a:pt x="7010" y="78156"/>
                    <a:pt x="5029" y="74385"/>
                    <a:pt x="3670" y="70790"/>
                  </a:cubicBezTo>
                  <a:cubicBezTo>
                    <a:pt x="2311" y="67184"/>
                    <a:pt x="1384" y="63691"/>
                    <a:pt x="864" y="60300"/>
                  </a:cubicBezTo>
                  <a:cubicBezTo>
                    <a:pt x="356" y="56909"/>
                    <a:pt x="76" y="54090"/>
                    <a:pt x="51" y="51842"/>
                  </a:cubicBezTo>
                  <a:cubicBezTo>
                    <a:pt x="13" y="49581"/>
                    <a:pt x="0" y="47841"/>
                    <a:pt x="0" y="46584"/>
                  </a:cubicBezTo>
                  <a:cubicBezTo>
                    <a:pt x="64" y="43307"/>
                    <a:pt x="356" y="39980"/>
                    <a:pt x="864" y="36589"/>
                  </a:cubicBezTo>
                  <a:cubicBezTo>
                    <a:pt x="1384" y="33186"/>
                    <a:pt x="2324" y="29667"/>
                    <a:pt x="3696" y="26022"/>
                  </a:cubicBezTo>
                  <a:cubicBezTo>
                    <a:pt x="5067" y="22365"/>
                    <a:pt x="7112" y="18517"/>
                    <a:pt x="9843" y="14491"/>
                  </a:cubicBezTo>
                  <a:cubicBezTo>
                    <a:pt x="12573" y="10440"/>
                    <a:pt x="15253" y="6807"/>
                    <a:pt x="17856" y="3569"/>
                  </a:cubicBezTo>
                  <a:lnTo>
                    <a:pt x="19495" y="1537"/>
                  </a:lnTo>
                  <a:cubicBezTo>
                    <a:pt x="19761" y="1169"/>
                    <a:pt x="20117" y="826"/>
                    <a:pt x="20561" y="495"/>
                  </a:cubicBezTo>
                  <a:cubicBezTo>
                    <a:pt x="21006" y="165"/>
                    <a:pt x="21361" y="0"/>
                    <a:pt x="21628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9" name="Shape 12149"/>
            <p:cNvSpPr/>
            <p:nvPr/>
          </p:nvSpPr>
          <p:spPr>
            <a:xfrm>
              <a:off x="645220" y="1230019"/>
              <a:ext cx="16815" cy="27383"/>
            </a:xfrm>
            <a:custGeom>
              <a:avLst/>
              <a:gdLst/>
              <a:ahLst/>
              <a:cxnLst/>
              <a:rect l="0" t="0" r="0" b="0"/>
              <a:pathLst>
                <a:path w="16815" h="27383">
                  <a:moveTo>
                    <a:pt x="16815" y="0"/>
                  </a:moveTo>
                  <a:lnTo>
                    <a:pt x="16815" y="3050"/>
                  </a:lnTo>
                  <a:lnTo>
                    <a:pt x="15621" y="3570"/>
                  </a:lnTo>
                  <a:cubicBezTo>
                    <a:pt x="13018" y="5018"/>
                    <a:pt x="11138" y="6542"/>
                    <a:pt x="10020" y="8130"/>
                  </a:cubicBezTo>
                  <a:cubicBezTo>
                    <a:pt x="8890" y="9717"/>
                    <a:pt x="8331" y="11457"/>
                    <a:pt x="8331" y="13336"/>
                  </a:cubicBezTo>
                  <a:cubicBezTo>
                    <a:pt x="8331" y="15724"/>
                    <a:pt x="9042" y="17693"/>
                    <a:pt x="10465" y="19268"/>
                  </a:cubicBezTo>
                  <a:cubicBezTo>
                    <a:pt x="11887" y="20830"/>
                    <a:pt x="13526" y="21629"/>
                    <a:pt x="15380" y="21629"/>
                  </a:cubicBezTo>
                  <a:lnTo>
                    <a:pt x="16815" y="20911"/>
                  </a:lnTo>
                  <a:lnTo>
                    <a:pt x="16815" y="25930"/>
                  </a:lnTo>
                  <a:lnTo>
                    <a:pt x="16523" y="26138"/>
                  </a:lnTo>
                  <a:cubicBezTo>
                    <a:pt x="14732" y="26963"/>
                    <a:pt x="12827" y="27383"/>
                    <a:pt x="10808" y="27383"/>
                  </a:cubicBezTo>
                  <a:cubicBezTo>
                    <a:pt x="7671" y="27383"/>
                    <a:pt x="5080" y="26303"/>
                    <a:pt x="3048" y="24157"/>
                  </a:cubicBezTo>
                  <a:cubicBezTo>
                    <a:pt x="1016" y="21998"/>
                    <a:pt x="0" y="19166"/>
                    <a:pt x="0" y="15673"/>
                  </a:cubicBezTo>
                  <a:cubicBezTo>
                    <a:pt x="0" y="13451"/>
                    <a:pt x="495" y="11533"/>
                    <a:pt x="1486" y="9920"/>
                  </a:cubicBezTo>
                  <a:cubicBezTo>
                    <a:pt x="2845" y="7660"/>
                    <a:pt x="5194" y="5551"/>
                    <a:pt x="8560" y="3570"/>
                  </a:cubicBezTo>
                  <a:lnTo>
                    <a:pt x="1681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0" name="Shape 12150"/>
            <p:cNvSpPr/>
            <p:nvPr/>
          </p:nvSpPr>
          <p:spPr>
            <a:xfrm>
              <a:off x="646960" y="1210122"/>
              <a:ext cx="15075" cy="15770"/>
            </a:xfrm>
            <a:custGeom>
              <a:avLst/>
              <a:gdLst/>
              <a:ahLst/>
              <a:cxnLst/>
              <a:rect l="0" t="0" r="0" b="0"/>
              <a:pathLst>
                <a:path w="15075" h="15770">
                  <a:moveTo>
                    <a:pt x="15075" y="0"/>
                  </a:moveTo>
                  <a:lnTo>
                    <a:pt x="15075" y="2592"/>
                  </a:lnTo>
                  <a:lnTo>
                    <a:pt x="10160" y="4264"/>
                  </a:lnTo>
                  <a:cubicBezTo>
                    <a:pt x="8903" y="5382"/>
                    <a:pt x="8280" y="6677"/>
                    <a:pt x="8280" y="8138"/>
                  </a:cubicBezTo>
                  <a:lnTo>
                    <a:pt x="8382" y="11008"/>
                  </a:lnTo>
                  <a:cubicBezTo>
                    <a:pt x="8382" y="12519"/>
                    <a:pt x="7988" y="13701"/>
                    <a:pt x="7214" y="14538"/>
                  </a:cubicBezTo>
                  <a:cubicBezTo>
                    <a:pt x="6439" y="15352"/>
                    <a:pt x="5423" y="15770"/>
                    <a:pt x="4166" y="15770"/>
                  </a:cubicBezTo>
                  <a:cubicBezTo>
                    <a:pt x="2934" y="15770"/>
                    <a:pt x="1930" y="15338"/>
                    <a:pt x="1156" y="14488"/>
                  </a:cubicBezTo>
                  <a:cubicBezTo>
                    <a:pt x="381" y="13611"/>
                    <a:pt x="0" y="12456"/>
                    <a:pt x="0" y="10957"/>
                  </a:cubicBezTo>
                  <a:cubicBezTo>
                    <a:pt x="0" y="8112"/>
                    <a:pt x="1448" y="5509"/>
                    <a:pt x="4356" y="3121"/>
                  </a:cubicBezTo>
                  <a:lnTo>
                    <a:pt x="1507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" name="Shape 12151"/>
            <p:cNvSpPr/>
            <p:nvPr/>
          </p:nvSpPr>
          <p:spPr>
            <a:xfrm>
              <a:off x="662034" y="1209675"/>
              <a:ext cx="24460" cy="47676"/>
            </a:xfrm>
            <a:custGeom>
              <a:avLst/>
              <a:gdLst/>
              <a:ahLst/>
              <a:cxnLst/>
              <a:rect l="0" t="0" r="0" b="0"/>
              <a:pathLst>
                <a:path w="24460" h="47676">
                  <a:moveTo>
                    <a:pt x="1537" y="0"/>
                  </a:moveTo>
                  <a:cubicBezTo>
                    <a:pt x="5575" y="0"/>
                    <a:pt x="8877" y="673"/>
                    <a:pt x="11455" y="2032"/>
                  </a:cubicBezTo>
                  <a:cubicBezTo>
                    <a:pt x="13411" y="3048"/>
                    <a:pt x="14846" y="4661"/>
                    <a:pt x="15773" y="6845"/>
                  </a:cubicBezTo>
                  <a:cubicBezTo>
                    <a:pt x="16370" y="8255"/>
                    <a:pt x="16675" y="11176"/>
                    <a:pt x="16675" y="15570"/>
                  </a:cubicBezTo>
                  <a:lnTo>
                    <a:pt x="16675" y="31000"/>
                  </a:lnTo>
                  <a:cubicBezTo>
                    <a:pt x="16675" y="35331"/>
                    <a:pt x="16751" y="37986"/>
                    <a:pt x="16916" y="38964"/>
                  </a:cubicBezTo>
                  <a:cubicBezTo>
                    <a:pt x="17082" y="39942"/>
                    <a:pt x="17361" y="40589"/>
                    <a:pt x="17729" y="40932"/>
                  </a:cubicBezTo>
                  <a:cubicBezTo>
                    <a:pt x="18110" y="41249"/>
                    <a:pt x="18555" y="41428"/>
                    <a:pt x="19050" y="41428"/>
                  </a:cubicBezTo>
                  <a:cubicBezTo>
                    <a:pt x="19583" y="41428"/>
                    <a:pt x="20041" y="41301"/>
                    <a:pt x="20434" y="41072"/>
                  </a:cubicBezTo>
                  <a:cubicBezTo>
                    <a:pt x="21133" y="40640"/>
                    <a:pt x="22479" y="39433"/>
                    <a:pt x="24460" y="37452"/>
                  </a:cubicBezTo>
                  <a:lnTo>
                    <a:pt x="24460" y="40234"/>
                  </a:lnTo>
                  <a:cubicBezTo>
                    <a:pt x="20752" y="45200"/>
                    <a:pt x="17221" y="47676"/>
                    <a:pt x="13843" y="47676"/>
                  </a:cubicBezTo>
                  <a:cubicBezTo>
                    <a:pt x="12217" y="47676"/>
                    <a:pt x="10935" y="47104"/>
                    <a:pt x="9970" y="45986"/>
                  </a:cubicBezTo>
                  <a:cubicBezTo>
                    <a:pt x="9017" y="44856"/>
                    <a:pt x="8509" y="42938"/>
                    <a:pt x="8484" y="40234"/>
                  </a:cubicBezTo>
                  <a:lnTo>
                    <a:pt x="0" y="46274"/>
                  </a:lnTo>
                  <a:lnTo>
                    <a:pt x="0" y="41255"/>
                  </a:lnTo>
                  <a:lnTo>
                    <a:pt x="8484" y="37008"/>
                  </a:lnTo>
                  <a:lnTo>
                    <a:pt x="8484" y="19698"/>
                  </a:lnTo>
                  <a:lnTo>
                    <a:pt x="0" y="23394"/>
                  </a:lnTo>
                  <a:lnTo>
                    <a:pt x="0" y="20344"/>
                  </a:lnTo>
                  <a:lnTo>
                    <a:pt x="8484" y="16675"/>
                  </a:lnTo>
                  <a:lnTo>
                    <a:pt x="8484" y="14884"/>
                  </a:lnTo>
                  <a:cubicBezTo>
                    <a:pt x="8484" y="10338"/>
                    <a:pt x="7760" y="7239"/>
                    <a:pt x="6325" y="5562"/>
                  </a:cubicBezTo>
                  <a:cubicBezTo>
                    <a:pt x="4889" y="3873"/>
                    <a:pt x="2794" y="3022"/>
                    <a:pt x="51" y="3022"/>
                  </a:cubicBezTo>
                  <a:lnTo>
                    <a:pt x="0" y="3040"/>
                  </a:lnTo>
                  <a:lnTo>
                    <a:pt x="0" y="447"/>
                  </a:lnTo>
                  <a:lnTo>
                    <a:pt x="1537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" name="Shape 12152"/>
            <p:cNvSpPr/>
            <p:nvPr/>
          </p:nvSpPr>
          <p:spPr>
            <a:xfrm>
              <a:off x="698151" y="1178570"/>
              <a:ext cx="22670" cy="96609"/>
            </a:xfrm>
            <a:custGeom>
              <a:avLst/>
              <a:gdLst/>
              <a:ahLst/>
              <a:cxnLst/>
              <a:rect l="0" t="0" r="0" b="0"/>
              <a:pathLst>
                <a:path w="22670" h="96609">
                  <a:moveTo>
                    <a:pt x="940" y="26"/>
                  </a:moveTo>
                  <a:cubicBezTo>
                    <a:pt x="1207" y="0"/>
                    <a:pt x="1575" y="178"/>
                    <a:pt x="2057" y="521"/>
                  </a:cubicBezTo>
                  <a:cubicBezTo>
                    <a:pt x="2540" y="864"/>
                    <a:pt x="2908" y="1194"/>
                    <a:pt x="3175" y="1486"/>
                  </a:cubicBezTo>
                  <a:lnTo>
                    <a:pt x="4813" y="3569"/>
                  </a:lnTo>
                  <a:cubicBezTo>
                    <a:pt x="7658" y="7239"/>
                    <a:pt x="10363" y="10960"/>
                    <a:pt x="12941" y="14757"/>
                  </a:cubicBezTo>
                  <a:cubicBezTo>
                    <a:pt x="15532" y="18542"/>
                    <a:pt x="17513" y="22289"/>
                    <a:pt x="18898" y="25997"/>
                  </a:cubicBezTo>
                  <a:cubicBezTo>
                    <a:pt x="20295" y="29693"/>
                    <a:pt x="21234" y="33236"/>
                    <a:pt x="21755" y="36614"/>
                  </a:cubicBezTo>
                  <a:cubicBezTo>
                    <a:pt x="22263" y="39980"/>
                    <a:pt x="22542" y="42799"/>
                    <a:pt x="22593" y="45072"/>
                  </a:cubicBezTo>
                  <a:cubicBezTo>
                    <a:pt x="22644" y="47320"/>
                    <a:pt x="22670" y="49060"/>
                    <a:pt x="22670" y="50254"/>
                  </a:cubicBezTo>
                  <a:cubicBezTo>
                    <a:pt x="22568" y="53556"/>
                    <a:pt x="22263" y="56896"/>
                    <a:pt x="21755" y="60299"/>
                  </a:cubicBezTo>
                  <a:cubicBezTo>
                    <a:pt x="21234" y="63691"/>
                    <a:pt x="20307" y="67183"/>
                    <a:pt x="18948" y="70789"/>
                  </a:cubicBezTo>
                  <a:cubicBezTo>
                    <a:pt x="17589" y="74384"/>
                    <a:pt x="15608" y="78156"/>
                    <a:pt x="12992" y="82080"/>
                  </a:cubicBezTo>
                  <a:cubicBezTo>
                    <a:pt x="10389" y="85992"/>
                    <a:pt x="8281" y="88926"/>
                    <a:pt x="6693" y="90881"/>
                  </a:cubicBezTo>
                  <a:lnTo>
                    <a:pt x="4813" y="93218"/>
                  </a:lnTo>
                  <a:cubicBezTo>
                    <a:pt x="3454" y="94907"/>
                    <a:pt x="2527" y="95898"/>
                    <a:pt x="2007" y="96228"/>
                  </a:cubicBezTo>
                  <a:cubicBezTo>
                    <a:pt x="1499" y="96533"/>
                    <a:pt x="1092" y="96609"/>
                    <a:pt x="800" y="96444"/>
                  </a:cubicBezTo>
                  <a:cubicBezTo>
                    <a:pt x="495" y="96266"/>
                    <a:pt x="343" y="95821"/>
                    <a:pt x="343" y="95110"/>
                  </a:cubicBezTo>
                  <a:lnTo>
                    <a:pt x="2184" y="91986"/>
                  </a:lnTo>
                  <a:lnTo>
                    <a:pt x="3670" y="89395"/>
                  </a:lnTo>
                  <a:cubicBezTo>
                    <a:pt x="7214" y="83248"/>
                    <a:pt x="9512" y="78753"/>
                    <a:pt x="10592" y="75946"/>
                  </a:cubicBezTo>
                  <a:cubicBezTo>
                    <a:pt x="11659" y="73139"/>
                    <a:pt x="12497" y="70714"/>
                    <a:pt x="13068" y="68682"/>
                  </a:cubicBezTo>
                  <a:cubicBezTo>
                    <a:pt x="13652" y="66649"/>
                    <a:pt x="14173" y="64262"/>
                    <a:pt x="14631" y="61519"/>
                  </a:cubicBezTo>
                  <a:cubicBezTo>
                    <a:pt x="15100" y="58763"/>
                    <a:pt x="15380" y="55905"/>
                    <a:pt x="15481" y="52934"/>
                  </a:cubicBezTo>
                  <a:cubicBezTo>
                    <a:pt x="15583" y="49962"/>
                    <a:pt x="15596" y="47346"/>
                    <a:pt x="15532" y="45098"/>
                  </a:cubicBezTo>
                  <a:cubicBezTo>
                    <a:pt x="15392" y="41249"/>
                    <a:pt x="15100" y="38074"/>
                    <a:pt x="14656" y="35547"/>
                  </a:cubicBezTo>
                  <a:cubicBezTo>
                    <a:pt x="14211" y="33020"/>
                    <a:pt x="13627" y="30366"/>
                    <a:pt x="12903" y="27610"/>
                  </a:cubicBezTo>
                  <a:cubicBezTo>
                    <a:pt x="12167" y="24841"/>
                    <a:pt x="11430" y="22504"/>
                    <a:pt x="10668" y="20612"/>
                  </a:cubicBezTo>
                  <a:cubicBezTo>
                    <a:pt x="9906" y="18707"/>
                    <a:pt x="8509" y="15964"/>
                    <a:pt x="6503" y="12382"/>
                  </a:cubicBezTo>
                  <a:cubicBezTo>
                    <a:pt x="4483" y="8775"/>
                    <a:pt x="3048" y="6261"/>
                    <a:pt x="2184" y="4814"/>
                  </a:cubicBezTo>
                  <a:lnTo>
                    <a:pt x="495" y="2032"/>
                  </a:lnTo>
                  <a:cubicBezTo>
                    <a:pt x="102" y="1333"/>
                    <a:pt x="0" y="826"/>
                    <a:pt x="229" y="521"/>
                  </a:cubicBezTo>
                  <a:cubicBezTo>
                    <a:pt x="445" y="203"/>
                    <a:pt x="673" y="38"/>
                    <a:pt x="940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" name="Shape 12153"/>
            <p:cNvSpPr/>
            <p:nvPr/>
          </p:nvSpPr>
          <p:spPr>
            <a:xfrm>
              <a:off x="793403" y="1180521"/>
              <a:ext cx="91377" cy="91453"/>
            </a:xfrm>
            <a:custGeom>
              <a:avLst/>
              <a:gdLst/>
              <a:ahLst/>
              <a:cxnLst/>
              <a:rect l="0" t="0" r="0" b="0"/>
              <a:pathLst>
                <a:path w="91377" h="91453">
                  <a:moveTo>
                    <a:pt x="22073" y="26"/>
                  </a:moveTo>
                  <a:cubicBezTo>
                    <a:pt x="22174" y="0"/>
                    <a:pt x="22670" y="153"/>
                    <a:pt x="23559" y="533"/>
                  </a:cubicBezTo>
                  <a:lnTo>
                    <a:pt x="33338" y="4649"/>
                  </a:lnTo>
                  <a:cubicBezTo>
                    <a:pt x="33960" y="4940"/>
                    <a:pt x="34354" y="5194"/>
                    <a:pt x="34531" y="5385"/>
                  </a:cubicBezTo>
                  <a:cubicBezTo>
                    <a:pt x="34697" y="5588"/>
                    <a:pt x="34785" y="5791"/>
                    <a:pt x="34798" y="6007"/>
                  </a:cubicBezTo>
                  <a:cubicBezTo>
                    <a:pt x="34823" y="6223"/>
                    <a:pt x="34531" y="6477"/>
                    <a:pt x="33935" y="6782"/>
                  </a:cubicBezTo>
                  <a:lnTo>
                    <a:pt x="31102" y="8217"/>
                  </a:lnTo>
                  <a:cubicBezTo>
                    <a:pt x="29807" y="10655"/>
                    <a:pt x="28042" y="14021"/>
                    <a:pt x="25794" y="18288"/>
                  </a:cubicBezTo>
                  <a:lnTo>
                    <a:pt x="63995" y="18288"/>
                  </a:lnTo>
                  <a:lnTo>
                    <a:pt x="67513" y="14122"/>
                  </a:lnTo>
                  <a:cubicBezTo>
                    <a:pt x="68339" y="13132"/>
                    <a:pt x="68872" y="12624"/>
                    <a:pt x="69101" y="12611"/>
                  </a:cubicBezTo>
                  <a:cubicBezTo>
                    <a:pt x="69329" y="12586"/>
                    <a:pt x="69990" y="12979"/>
                    <a:pt x="71082" y="13767"/>
                  </a:cubicBezTo>
                  <a:lnTo>
                    <a:pt x="77788" y="18732"/>
                  </a:lnTo>
                  <a:cubicBezTo>
                    <a:pt x="78308" y="19152"/>
                    <a:pt x="78664" y="19507"/>
                    <a:pt x="78829" y="19748"/>
                  </a:cubicBezTo>
                  <a:cubicBezTo>
                    <a:pt x="78994" y="20003"/>
                    <a:pt x="79083" y="20168"/>
                    <a:pt x="79096" y="20295"/>
                  </a:cubicBezTo>
                  <a:cubicBezTo>
                    <a:pt x="79121" y="20409"/>
                    <a:pt x="78969" y="20562"/>
                    <a:pt x="78677" y="20739"/>
                  </a:cubicBezTo>
                  <a:cubicBezTo>
                    <a:pt x="78385" y="20917"/>
                    <a:pt x="77978" y="21019"/>
                    <a:pt x="77483" y="21019"/>
                  </a:cubicBezTo>
                  <a:lnTo>
                    <a:pt x="50902" y="21019"/>
                  </a:lnTo>
                  <a:cubicBezTo>
                    <a:pt x="50432" y="21831"/>
                    <a:pt x="50140" y="22276"/>
                    <a:pt x="50000" y="22352"/>
                  </a:cubicBezTo>
                  <a:lnTo>
                    <a:pt x="48514" y="23546"/>
                  </a:lnTo>
                  <a:cubicBezTo>
                    <a:pt x="48311" y="26188"/>
                    <a:pt x="48133" y="29401"/>
                    <a:pt x="47968" y="33172"/>
                  </a:cubicBezTo>
                  <a:cubicBezTo>
                    <a:pt x="47803" y="36944"/>
                    <a:pt x="47701" y="38977"/>
                    <a:pt x="47676" y="39294"/>
                  </a:cubicBezTo>
                  <a:cubicBezTo>
                    <a:pt x="47638" y="39612"/>
                    <a:pt x="47587" y="40221"/>
                    <a:pt x="47523" y="41161"/>
                  </a:cubicBezTo>
                  <a:lnTo>
                    <a:pt x="47320" y="43244"/>
                  </a:lnTo>
                  <a:lnTo>
                    <a:pt x="75349" y="43244"/>
                  </a:lnTo>
                  <a:lnTo>
                    <a:pt x="79172" y="38633"/>
                  </a:lnTo>
                  <a:cubicBezTo>
                    <a:pt x="79705" y="37998"/>
                    <a:pt x="80086" y="37668"/>
                    <a:pt x="80340" y="37656"/>
                  </a:cubicBezTo>
                  <a:cubicBezTo>
                    <a:pt x="80582" y="37630"/>
                    <a:pt x="81090" y="37897"/>
                    <a:pt x="81852" y="38430"/>
                  </a:cubicBezTo>
                  <a:lnTo>
                    <a:pt x="89040" y="43739"/>
                  </a:lnTo>
                  <a:cubicBezTo>
                    <a:pt x="89510" y="44094"/>
                    <a:pt x="89814" y="44412"/>
                    <a:pt x="89992" y="44679"/>
                  </a:cubicBezTo>
                  <a:cubicBezTo>
                    <a:pt x="90157" y="44945"/>
                    <a:pt x="90246" y="45224"/>
                    <a:pt x="90259" y="45517"/>
                  </a:cubicBezTo>
                  <a:cubicBezTo>
                    <a:pt x="90284" y="45822"/>
                    <a:pt x="89688" y="45974"/>
                    <a:pt x="88494" y="45974"/>
                  </a:cubicBezTo>
                  <a:lnTo>
                    <a:pt x="50051" y="45974"/>
                  </a:lnTo>
                  <a:cubicBezTo>
                    <a:pt x="51016" y="48908"/>
                    <a:pt x="51994" y="51346"/>
                    <a:pt x="53010" y="53289"/>
                  </a:cubicBezTo>
                  <a:cubicBezTo>
                    <a:pt x="54013" y="55220"/>
                    <a:pt x="56172" y="58534"/>
                    <a:pt x="59474" y="63233"/>
                  </a:cubicBezTo>
                  <a:cubicBezTo>
                    <a:pt x="62789" y="67920"/>
                    <a:pt x="67043" y="71742"/>
                    <a:pt x="72225" y="74688"/>
                  </a:cubicBezTo>
                  <a:cubicBezTo>
                    <a:pt x="77419" y="77635"/>
                    <a:pt x="81179" y="79477"/>
                    <a:pt x="83515" y="80252"/>
                  </a:cubicBezTo>
                  <a:cubicBezTo>
                    <a:pt x="85852" y="81000"/>
                    <a:pt x="87325" y="81445"/>
                    <a:pt x="87960" y="81547"/>
                  </a:cubicBezTo>
                  <a:lnTo>
                    <a:pt x="90488" y="82029"/>
                  </a:lnTo>
                  <a:cubicBezTo>
                    <a:pt x="91085" y="82156"/>
                    <a:pt x="91377" y="82448"/>
                    <a:pt x="91377" y="82880"/>
                  </a:cubicBezTo>
                  <a:cubicBezTo>
                    <a:pt x="91351" y="83045"/>
                    <a:pt x="91262" y="83198"/>
                    <a:pt x="91135" y="83376"/>
                  </a:cubicBezTo>
                  <a:cubicBezTo>
                    <a:pt x="90996" y="83541"/>
                    <a:pt x="90856" y="83642"/>
                    <a:pt x="90678" y="83668"/>
                  </a:cubicBezTo>
                  <a:lnTo>
                    <a:pt x="87960" y="84265"/>
                  </a:lnTo>
                  <a:cubicBezTo>
                    <a:pt x="86957" y="84493"/>
                    <a:pt x="85966" y="84887"/>
                    <a:pt x="84950" y="85458"/>
                  </a:cubicBezTo>
                  <a:cubicBezTo>
                    <a:pt x="83947" y="86017"/>
                    <a:pt x="82995" y="86626"/>
                    <a:pt x="82131" y="87275"/>
                  </a:cubicBezTo>
                  <a:cubicBezTo>
                    <a:pt x="81255" y="87909"/>
                    <a:pt x="80632" y="88633"/>
                    <a:pt x="80264" y="89433"/>
                  </a:cubicBezTo>
                  <a:cubicBezTo>
                    <a:pt x="79896" y="90221"/>
                    <a:pt x="79591" y="90615"/>
                    <a:pt x="79324" y="90615"/>
                  </a:cubicBezTo>
                  <a:cubicBezTo>
                    <a:pt x="78600" y="90640"/>
                    <a:pt x="77267" y="90043"/>
                    <a:pt x="75324" y="88836"/>
                  </a:cubicBezTo>
                  <a:cubicBezTo>
                    <a:pt x="73393" y="87605"/>
                    <a:pt x="70561" y="85572"/>
                    <a:pt x="66840" y="82728"/>
                  </a:cubicBezTo>
                  <a:cubicBezTo>
                    <a:pt x="63119" y="79883"/>
                    <a:pt x="59690" y="76060"/>
                    <a:pt x="56553" y="71272"/>
                  </a:cubicBezTo>
                  <a:cubicBezTo>
                    <a:pt x="53404" y="66472"/>
                    <a:pt x="51397" y="61950"/>
                    <a:pt x="50495" y="57709"/>
                  </a:cubicBezTo>
                  <a:cubicBezTo>
                    <a:pt x="49606" y="53442"/>
                    <a:pt x="48946" y="49543"/>
                    <a:pt x="48514" y="45974"/>
                  </a:cubicBezTo>
                  <a:lnTo>
                    <a:pt x="46927" y="45974"/>
                  </a:lnTo>
                  <a:cubicBezTo>
                    <a:pt x="46063" y="50356"/>
                    <a:pt x="45238" y="54026"/>
                    <a:pt x="44450" y="56935"/>
                  </a:cubicBezTo>
                  <a:cubicBezTo>
                    <a:pt x="43650" y="59830"/>
                    <a:pt x="42570" y="62585"/>
                    <a:pt x="41199" y="65189"/>
                  </a:cubicBezTo>
                  <a:cubicBezTo>
                    <a:pt x="39827" y="67780"/>
                    <a:pt x="38049" y="70231"/>
                    <a:pt x="35890" y="72504"/>
                  </a:cubicBezTo>
                  <a:cubicBezTo>
                    <a:pt x="33718" y="74790"/>
                    <a:pt x="31001" y="77064"/>
                    <a:pt x="27699" y="79337"/>
                  </a:cubicBezTo>
                  <a:cubicBezTo>
                    <a:pt x="24410" y="81585"/>
                    <a:pt x="21273" y="83489"/>
                    <a:pt x="18301" y="85014"/>
                  </a:cubicBezTo>
                  <a:lnTo>
                    <a:pt x="12497" y="87846"/>
                  </a:lnTo>
                  <a:cubicBezTo>
                    <a:pt x="10249" y="88951"/>
                    <a:pt x="8763" y="89650"/>
                    <a:pt x="8039" y="89929"/>
                  </a:cubicBezTo>
                  <a:lnTo>
                    <a:pt x="4509" y="91262"/>
                  </a:lnTo>
                  <a:cubicBezTo>
                    <a:pt x="4242" y="91364"/>
                    <a:pt x="3963" y="91415"/>
                    <a:pt x="3645" y="91440"/>
                  </a:cubicBezTo>
                  <a:cubicBezTo>
                    <a:pt x="3328" y="91453"/>
                    <a:pt x="3150" y="91402"/>
                    <a:pt x="3099" y="91287"/>
                  </a:cubicBezTo>
                  <a:cubicBezTo>
                    <a:pt x="3048" y="91160"/>
                    <a:pt x="3010" y="90995"/>
                    <a:pt x="2997" y="90742"/>
                  </a:cubicBezTo>
                  <a:cubicBezTo>
                    <a:pt x="2985" y="90500"/>
                    <a:pt x="3251" y="90221"/>
                    <a:pt x="3810" y="89929"/>
                  </a:cubicBezTo>
                  <a:lnTo>
                    <a:pt x="7239" y="88036"/>
                  </a:lnTo>
                  <a:cubicBezTo>
                    <a:pt x="15177" y="83668"/>
                    <a:pt x="20701" y="79654"/>
                    <a:pt x="23813" y="75985"/>
                  </a:cubicBezTo>
                  <a:cubicBezTo>
                    <a:pt x="26911" y="72314"/>
                    <a:pt x="29286" y="69012"/>
                    <a:pt x="30899" y="66116"/>
                  </a:cubicBezTo>
                  <a:cubicBezTo>
                    <a:pt x="32525" y="63195"/>
                    <a:pt x="33744" y="60427"/>
                    <a:pt x="34569" y="57823"/>
                  </a:cubicBezTo>
                  <a:cubicBezTo>
                    <a:pt x="35395" y="55207"/>
                    <a:pt x="36347" y="51257"/>
                    <a:pt x="37402" y="45974"/>
                  </a:cubicBezTo>
                  <a:lnTo>
                    <a:pt x="1689" y="45974"/>
                  </a:lnTo>
                  <a:lnTo>
                    <a:pt x="1435" y="45974"/>
                  </a:lnTo>
                  <a:cubicBezTo>
                    <a:pt x="902" y="45898"/>
                    <a:pt x="533" y="45771"/>
                    <a:pt x="318" y="45568"/>
                  </a:cubicBezTo>
                  <a:cubicBezTo>
                    <a:pt x="102" y="45377"/>
                    <a:pt x="0" y="44933"/>
                    <a:pt x="25" y="44259"/>
                  </a:cubicBezTo>
                  <a:cubicBezTo>
                    <a:pt x="38" y="43574"/>
                    <a:pt x="445" y="43244"/>
                    <a:pt x="1232" y="43244"/>
                  </a:cubicBezTo>
                  <a:lnTo>
                    <a:pt x="37706" y="43244"/>
                  </a:lnTo>
                  <a:cubicBezTo>
                    <a:pt x="37732" y="42367"/>
                    <a:pt x="37783" y="41719"/>
                    <a:pt x="37846" y="41263"/>
                  </a:cubicBezTo>
                  <a:lnTo>
                    <a:pt x="37998" y="39675"/>
                  </a:lnTo>
                  <a:cubicBezTo>
                    <a:pt x="38062" y="38583"/>
                    <a:pt x="38151" y="36297"/>
                    <a:pt x="38265" y="32817"/>
                  </a:cubicBezTo>
                  <a:cubicBezTo>
                    <a:pt x="38392" y="29349"/>
                    <a:pt x="38468" y="27229"/>
                    <a:pt x="38494" y="26467"/>
                  </a:cubicBezTo>
                  <a:lnTo>
                    <a:pt x="38494" y="24244"/>
                  </a:lnTo>
                  <a:lnTo>
                    <a:pt x="38494" y="21019"/>
                  </a:lnTo>
                  <a:lnTo>
                    <a:pt x="24410" y="21019"/>
                  </a:lnTo>
                  <a:cubicBezTo>
                    <a:pt x="19838" y="28563"/>
                    <a:pt x="15710" y="34607"/>
                    <a:pt x="12002" y="39167"/>
                  </a:cubicBezTo>
                  <a:lnTo>
                    <a:pt x="9868" y="41808"/>
                  </a:lnTo>
                  <a:cubicBezTo>
                    <a:pt x="9474" y="42304"/>
                    <a:pt x="9157" y="42443"/>
                    <a:pt x="8928" y="42278"/>
                  </a:cubicBezTo>
                  <a:cubicBezTo>
                    <a:pt x="8700" y="42088"/>
                    <a:pt x="8573" y="41884"/>
                    <a:pt x="8560" y="41681"/>
                  </a:cubicBezTo>
                  <a:cubicBezTo>
                    <a:pt x="8535" y="41453"/>
                    <a:pt x="8611" y="41186"/>
                    <a:pt x="8776" y="40856"/>
                  </a:cubicBezTo>
                  <a:lnTo>
                    <a:pt x="10617" y="37046"/>
                  </a:lnTo>
                  <a:cubicBezTo>
                    <a:pt x="12027" y="34024"/>
                    <a:pt x="13475" y="30417"/>
                    <a:pt x="14935" y="26226"/>
                  </a:cubicBezTo>
                  <a:cubicBezTo>
                    <a:pt x="16383" y="22022"/>
                    <a:pt x="17539" y="18377"/>
                    <a:pt x="18377" y="15291"/>
                  </a:cubicBezTo>
                  <a:cubicBezTo>
                    <a:pt x="19215" y="12179"/>
                    <a:pt x="19838" y="9766"/>
                    <a:pt x="20231" y="8013"/>
                  </a:cubicBezTo>
                  <a:lnTo>
                    <a:pt x="21235" y="3353"/>
                  </a:lnTo>
                  <a:lnTo>
                    <a:pt x="21730" y="279"/>
                  </a:lnTo>
                  <a:cubicBezTo>
                    <a:pt x="21857" y="140"/>
                    <a:pt x="21971" y="51"/>
                    <a:pt x="22073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" name="Shape 12154"/>
            <p:cNvSpPr/>
            <p:nvPr/>
          </p:nvSpPr>
          <p:spPr>
            <a:xfrm>
              <a:off x="895109" y="1263497"/>
              <a:ext cx="33185" cy="2781"/>
            </a:xfrm>
            <a:custGeom>
              <a:avLst/>
              <a:gdLst/>
              <a:ahLst/>
              <a:cxnLst/>
              <a:rect l="0" t="0" r="0" b="0"/>
              <a:pathLst>
                <a:path w="33185" h="2781">
                  <a:moveTo>
                    <a:pt x="1575" y="0"/>
                  </a:moveTo>
                  <a:lnTo>
                    <a:pt x="33185" y="0"/>
                  </a:lnTo>
                  <a:lnTo>
                    <a:pt x="33185" y="2781"/>
                  </a:lnTo>
                  <a:lnTo>
                    <a:pt x="1473" y="2781"/>
                  </a:lnTo>
                  <a:lnTo>
                    <a:pt x="788" y="2490"/>
                  </a:lnTo>
                  <a:cubicBezTo>
                    <a:pt x="457" y="2146"/>
                    <a:pt x="229" y="1651"/>
                    <a:pt x="114" y="991"/>
                  </a:cubicBezTo>
                  <a:cubicBezTo>
                    <a:pt x="0" y="330"/>
                    <a:pt x="483" y="0"/>
                    <a:pt x="157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" name="Shape 12155"/>
            <p:cNvSpPr/>
            <p:nvPr/>
          </p:nvSpPr>
          <p:spPr>
            <a:xfrm>
              <a:off x="903706" y="1252334"/>
              <a:ext cx="24587" cy="2730"/>
            </a:xfrm>
            <a:custGeom>
              <a:avLst/>
              <a:gdLst/>
              <a:ahLst/>
              <a:cxnLst/>
              <a:rect l="0" t="0" r="0" b="0"/>
              <a:pathLst>
                <a:path w="24587" h="2730">
                  <a:moveTo>
                    <a:pt x="1562" y="0"/>
                  </a:moveTo>
                  <a:lnTo>
                    <a:pt x="24587" y="0"/>
                  </a:lnTo>
                  <a:lnTo>
                    <a:pt x="24587" y="2730"/>
                  </a:lnTo>
                  <a:lnTo>
                    <a:pt x="1562" y="2730"/>
                  </a:lnTo>
                  <a:cubicBezTo>
                    <a:pt x="775" y="2730"/>
                    <a:pt x="292" y="2274"/>
                    <a:pt x="153" y="1371"/>
                  </a:cubicBezTo>
                  <a:cubicBezTo>
                    <a:pt x="0" y="457"/>
                    <a:pt x="470" y="0"/>
                    <a:pt x="1562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6" name="Shape 12156"/>
            <p:cNvSpPr/>
            <p:nvPr/>
          </p:nvSpPr>
          <p:spPr>
            <a:xfrm>
              <a:off x="911568" y="1219759"/>
              <a:ext cx="16726" cy="28219"/>
            </a:xfrm>
            <a:custGeom>
              <a:avLst/>
              <a:gdLst/>
              <a:ahLst/>
              <a:cxnLst/>
              <a:rect l="0" t="0" r="0" b="0"/>
              <a:pathLst>
                <a:path w="16726" h="28219">
                  <a:moveTo>
                    <a:pt x="597" y="38"/>
                  </a:moveTo>
                  <a:cubicBezTo>
                    <a:pt x="724" y="0"/>
                    <a:pt x="1257" y="203"/>
                    <a:pt x="2184" y="635"/>
                  </a:cubicBezTo>
                  <a:lnTo>
                    <a:pt x="9080" y="3949"/>
                  </a:lnTo>
                  <a:lnTo>
                    <a:pt x="16726" y="3949"/>
                  </a:lnTo>
                  <a:lnTo>
                    <a:pt x="16726" y="6731"/>
                  </a:lnTo>
                  <a:lnTo>
                    <a:pt x="8788" y="6731"/>
                  </a:lnTo>
                  <a:lnTo>
                    <a:pt x="8788" y="12534"/>
                  </a:lnTo>
                  <a:lnTo>
                    <a:pt x="16726" y="12534"/>
                  </a:lnTo>
                  <a:lnTo>
                    <a:pt x="16726" y="15265"/>
                  </a:lnTo>
                  <a:lnTo>
                    <a:pt x="8788" y="15265"/>
                  </a:lnTo>
                  <a:lnTo>
                    <a:pt x="8788" y="21564"/>
                  </a:lnTo>
                  <a:lnTo>
                    <a:pt x="16726" y="21564"/>
                  </a:lnTo>
                  <a:lnTo>
                    <a:pt x="16726" y="24295"/>
                  </a:lnTo>
                  <a:lnTo>
                    <a:pt x="8788" y="24295"/>
                  </a:lnTo>
                  <a:lnTo>
                    <a:pt x="8788" y="25641"/>
                  </a:lnTo>
                  <a:cubicBezTo>
                    <a:pt x="8788" y="26391"/>
                    <a:pt x="7938" y="27025"/>
                    <a:pt x="6223" y="27521"/>
                  </a:cubicBezTo>
                  <a:cubicBezTo>
                    <a:pt x="4521" y="28016"/>
                    <a:pt x="3327" y="28219"/>
                    <a:pt x="2629" y="28118"/>
                  </a:cubicBezTo>
                  <a:cubicBezTo>
                    <a:pt x="1931" y="28080"/>
                    <a:pt x="1384" y="27915"/>
                    <a:pt x="965" y="27622"/>
                  </a:cubicBezTo>
                  <a:cubicBezTo>
                    <a:pt x="559" y="27318"/>
                    <a:pt x="229" y="26988"/>
                    <a:pt x="0" y="26632"/>
                  </a:cubicBezTo>
                  <a:lnTo>
                    <a:pt x="394" y="16802"/>
                  </a:lnTo>
                  <a:lnTo>
                    <a:pt x="394" y="10007"/>
                  </a:lnTo>
                  <a:lnTo>
                    <a:pt x="0" y="635"/>
                  </a:lnTo>
                  <a:cubicBezTo>
                    <a:pt x="267" y="254"/>
                    <a:pt x="470" y="64"/>
                    <a:pt x="597" y="38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" name="Shape 12157"/>
            <p:cNvSpPr/>
            <p:nvPr/>
          </p:nvSpPr>
          <p:spPr>
            <a:xfrm>
              <a:off x="894753" y="1213840"/>
              <a:ext cx="33541" cy="2680"/>
            </a:xfrm>
            <a:custGeom>
              <a:avLst/>
              <a:gdLst/>
              <a:ahLst/>
              <a:cxnLst/>
              <a:rect l="0" t="0" r="0" b="0"/>
              <a:pathLst>
                <a:path w="33541" h="2680">
                  <a:moveTo>
                    <a:pt x="1486" y="0"/>
                  </a:moveTo>
                  <a:lnTo>
                    <a:pt x="33541" y="0"/>
                  </a:lnTo>
                  <a:lnTo>
                    <a:pt x="33541" y="2680"/>
                  </a:lnTo>
                  <a:lnTo>
                    <a:pt x="1486" y="2680"/>
                  </a:lnTo>
                  <a:cubicBezTo>
                    <a:pt x="699" y="2680"/>
                    <a:pt x="241" y="2236"/>
                    <a:pt x="127" y="1346"/>
                  </a:cubicBezTo>
                  <a:cubicBezTo>
                    <a:pt x="0" y="444"/>
                    <a:pt x="457" y="0"/>
                    <a:pt x="148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8" name="Shape 12158"/>
            <p:cNvSpPr/>
            <p:nvPr/>
          </p:nvSpPr>
          <p:spPr>
            <a:xfrm>
              <a:off x="912165" y="1183690"/>
              <a:ext cx="16129" cy="27749"/>
            </a:xfrm>
            <a:custGeom>
              <a:avLst/>
              <a:gdLst/>
              <a:ahLst/>
              <a:cxnLst/>
              <a:rect l="0" t="0" r="0" b="0"/>
              <a:pathLst>
                <a:path w="16129" h="27749">
                  <a:moveTo>
                    <a:pt x="622" y="38"/>
                  </a:moveTo>
                  <a:cubicBezTo>
                    <a:pt x="775" y="0"/>
                    <a:pt x="1321" y="216"/>
                    <a:pt x="2286" y="686"/>
                  </a:cubicBezTo>
                  <a:lnTo>
                    <a:pt x="8827" y="4052"/>
                  </a:lnTo>
                  <a:lnTo>
                    <a:pt x="16129" y="4052"/>
                  </a:lnTo>
                  <a:lnTo>
                    <a:pt x="16129" y="6782"/>
                  </a:lnTo>
                  <a:lnTo>
                    <a:pt x="8636" y="6782"/>
                  </a:lnTo>
                  <a:lnTo>
                    <a:pt x="8636" y="12294"/>
                  </a:lnTo>
                  <a:lnTo>
                    <a:pt x="16129" y="12294"/>
                  </a:lnTo>
                  <a:lnTo>
                    <a:pt x="16129" y="14974"/>
                  </a:lnTo>
                  <a:lnTo>
                    <a:pt x="8636" y="14974"/>
                  </a:lnTo>
                  <a:lnTo>
                    <a:pt x="8636" y="21324"/>
                  </a:lnTo>
                  <a:lnTo>
                    <a:pt x="16129" y="21324"/>
                  </a:lnTo>
                  <a:lnTo>
                    <a:pt x="16129" y="24054"/>
                  </a:lnTo>
                  <a:lnTo>
                    <a:pt x="8636" y="24054"/>
                  </a:lnTo>
                  <a:lnTo>
                    <a:pt x="8636" y="25197"/>
                  </a:lnTo>
                  <a:cubicBezTo>
                    <a:pt x="8636" y="26251"/>
                    <a:pt x="7925" y="26937"/>
                    <a:pt x="6528" y="27280"/>
                  </a:cubicBezTo>
                  <a:cubicBezTo>
                    <a:pt x="5118" y="27598"/>
                    <a:pt x="3874" y="27749"/>
                    <a:pt x="2781" y="27725"/>
                  </a:cubicBezTo>
                  <a:cubicBezTo>
                    <a:pt x="1715" y="27725"/>
                    <a:pt x="1041" y="27572"/>
                    <a:pt x="724" y="27280"/>
                  </a:cubicBezTo>
                  <a:cubicBezTo>
                    <a:pt x="406" y="26975"/>
                    <a:pt x="165" y="26607"/>
                    <a:pt x="0" y="26188"/>
                  </a:cubicBezTo>
                  <a:lnTo>
                    <a:pt x="394" y="18390"/>
                  </a:lnTo>
                  <a:lnTo>
                    <a:pt x="394" y="8573"/>
                  </a:lnTo>
                  <a:lnTo>
                    <a:pt x="0" y="483"/>
                  </a:lnTo>
                  <a:cubicBezTo>
                    <a:pt x="267" y="216"/>
                    <a:pt x="470" y="64"/>
                    <a:pt x="622" y="38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" name="Shape 12159"/>
            <p:cNvSpPr/>
            <p:nvPr/>
          </p:nvSpPr>
          <p:spPr>
            <a:xfrm>
              <a:off x="928294" y="1223708"/>
              <a:ext cx="25222" cy="42570"/>
            </a:xfrm>
            <a:custGeom>
              <a:avLst/>
              <a:gdLst/>
              <a:ahLst/>
              <a:cxnLst/>
              <a:rect l="0" t="0" r="0" b="0"/>
              <a:pathLst>
                <a:path w="25222" h="42570">
                  <a:moveTo>
                    <a:pt x="0" y="0"/>
                  </a:moveTo>
                  <a:lnTo>
                    <a:pt x="25222" y="0"/>
                  </a:lnTo>
                  <a:lnTo>
                    <a:pt x="25222" y="2781"/>
                  </a:lnTo>
                  <a:lnTo>
                    <a:pt x="17602" y="2781"/>
                  </a:lnTo>
                  <a:lnTo>
                    <a:pt x="16764" y="3429"/>
                  </a:lnTo>
                  <a:lnTo>
                    <a:pt x="16764" y="8586"/>
                  </a:lnTo>
                  <a:lnTo>
                    <a:pt x="25222" y="8586"/>
                  </a:lnTo>
                  <a:lnTo>
                    <a:pt x="25222" y="11316"/>
                  </a:lnTo>
                  <a:lnTo>
                    <a:pt x="16764" y="11316"/>
                  </a:lnTo>
                  <a:lnTo>
                    <a:pt x="16764" y="17614"/>
                  </a:lnTo>
                  <a:lnTo>
                    <a:pt x="25222" y="17614"/>
                  </a:lnTo>
                  <a:lnTo>
                    <a:pt x="25222" y="20345"/>
                  </a:lnTo>
                  <a:lnTo>
                    <a:pt x="16764" y="20345"/>
                  </a:lnTo>
                  <a:lnTo>
                    <a:pt x="16764" y="28626"/>
                  </a:lnTo>
                  <a:lnTo>
                    <a:pt x="25222" y="28626"/>
                  </a:lnTo>
                  <a:lnTo>
                    <a:pt x="25222" y="31356"/>
                  </a:lnTo>
                  <a:lnTo>
                    <a:pt x="16764" y="31356"/>
                  </a:lnTo>
                  <a:lnTo>
                    <a:pt x="16764" y="39789"/>
                  </a:lnTo>
                  <a:lnTo>
                    <a:pt x="25222" y="39789"/>
                  </a:lnTo>
                  <a:lnTo>
                    <a:pt x="25222" y="42570"/>
                  </a:lnTo>
                  <a:lnTo>
                    <a:pt x="0" y="42570"/>
                  </a:lnTo>
                  <a:lnTo>
                    <a:pt x="0" y="39789"/>
                  </a:lnTo>
                  <a:lnTo>
                    <a:pt x="7938" y="39789"/>
                  </a:lnTo>
                  <a:lnTo>
                    <a:pt x="7938" y="31356"/>
                  </a:lnTo>
                  <a:lnTo>
                    <a:pt x="0" y="31356"/>
                  </a:lnTo>
                  <a:lnTo>
                    <a:pt x="0" y="28626"/>
                  </a:lnTo>
                  <a:lnTo>
                    <a:pt x="7938" y="28626"/>
                  </a:lnTo>
                  <a:lnTo>
                    <a:pt x="7938" y="20345"/>
                  </a:lnTo>
                  <a:lnTo>
                    <a:pt x="0" y="20345"/>
                  </a:lnTo>
                  <a:lnTo>
                    <a:pt x="0" y="17614"/>
                  </a:lnTo>
                  <a:lnTo>
                    <a:pt x="7938" y="17614"/>
                  </a:lnTo>
                  <a:lnTo>
                    <a:pt x="7938" y="11316"/>
                  </a:lnTo>
                  <a:lnTo>
                    <a:pt x="0" y="11316"/>
                  </a:lnTo>
                  <a:lnTo>
                    <a:pt x="0" y="8585"/>
                  </a:lnTo>
                  <a:lnTo>
                    <a:pt x="7938" y="8585"/>
                  </a:lnTo>
                  <a:lnTo>
                    <a:pt x="7938" y="2781"/>
                  </a:lnTo>
                  <a:lnTo>
                    <a:pt x="0" y="278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" name="Shape 65741"/>
            <p:cNvSpPr/>
            <p:nvPr/>
          </p:nvSpPr>
          <p:spPr>
            <a:xfrm>
              <a:off x="928294" y="1213840"/>
              <a:ext cx="25222" cy="9144"/>
            </a:xfrm>
            <a:custGeom>
              <a:avLst/>
              <a:gdLst/>
              <a:ahLst/>
              <a:cxnLst/>
              <a:rect l="0" t="0" r="0" b="0"/>
              <a:pathLst>
                <a:path w="25222" h="9144">
                  <a:moveTo>
                    <a:pt x="0" y="0"/>
                  </a:moveTo>
                  <a:lnTo>
                    <a:pt x="25222" y="0"/>
                  </a:lnTo>
                  <a:lnTo>
                    <a:pt x="25222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1" name="Shape 65742"/>
            <p:cNvSpPr/>
            <p:nvPr/>
          </p:nvSpPr>
          <p:spPr>
            <a:xfrm>
              <a:off x="928294" y="1205014"/>
              <a:ext cx="25222" cy="9144"/>
            </a:xfrm>
            <a:custGeom>
              <a:avLst/>
              <a:gdLst/>
              <a:ahLst/>
              <a:cxnLst/>
              <a:rect l="0" t="0" r="0" b="0"/>
              <a:pathLst>
                <a:path w="25222" h="9144">
                  <a:moveTo>
                    <a:pt x="0" y="0"/>
                  </a:moveTo>
                  <a:lnTo>
                    <a:pt x="25222" y="0"/>
                  </a:lnTo>
                  <a:lnTo>
                    <a:pt x="25222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2" name="Shape 65743"/>
            <p:cNvSpPr/>
            <p:nvPr/>
          </p:nvSpPr>
          <p:spPr>
            <a:xfrm>
              <a:off x="928294" y="1195984"/>
              <a:ext cx="25222" cy="9144"/>
            </a:xfrm>
            <a:custGeom>
              <a:avLst/>
              <a:gdLst/>
              <a:ahLst/>
              <a:cxnLst/>
              <a:rect l="0" t="0" r="0" b="0"/>
              <a:pathLst>
                <a:path w="25222" h="9144">
                  <a:moveTo>
                    <a:pt x="0" y="0"/>
                  </a:moveTo>
                  <a:lnTo>
                    <a:pt x="25222" y="0"/>
                  </a:lnTo>
                  <a:lnTo>
                    <a:pt x="25222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3" name="Shape 65744"/>
            <p:cNvSpPr/>
            <p:nvPr/>
          </p:nvSpPr>
          <p:spPr>
            <a:xfrm>
              <a:off x="928294" y="1187742"/>
              <a:ext cx="25222" cy="9144"/>
            </a:xfrm>
            <a:custGeom>
              <a:avLst/>
              <a:gdLst/>
              <a:ahLst/>
              <a:cxnLst/>
              <a:rect l="0" t="0" r="0" b="0"/>
              <a:pathLst>
                <a:path w="25222" h="9144">
                  <a:moveTo>
                    <a:pt x="0" y="0"/>
                  </a:moveTo>
                  <a:lnTo>
                    <a:pt x="25222" y="0"/>
                  </a:lnTo>
                  <a:lnTo>
                    <a:pt x="25222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4" name="Shape 12164"/>
            <p:cNvSpPr/>
            <p:nvPr/>
          </p:nvSpPr>
          <p:spPr>
            <a:xfrm>
              <a:off x="953516" y="1258443"/>
              <a:ext cx="31077" cy="7835"/>
            </a:xfrm>
            <a:custGeom>
              <a:avLst/>
              <a:gdLst/>
              <a:ahLst/>
              <a:cxnLst/>
              <a:rect l="0" t="0" r="0" b="0"/>
              <a:pathLst>
                <a:path w="31077" h="7835">
                  <a:moveTo>
                    <a:pt x="23114" y="25"/>
                  </a:moveTo>
                  <a:cubicBezTo>
                    <a:pt x="23228" y="0"/>
                    <a:pt x="23533" y="203"/>
                    <a:pt x="24029" y="647"/>
                  </a:cubicBezTo>
                  <a:lnTo>
                    <a:pt x="30836" y="6896"/>
                  </a:lnTo>
                  <a:cubicBezTo>
                    <a:pt x="31001" y="7061"/>
                    <a:pt x="31077" y="7251"/>
                    <a:pt x="31052" y="7493"/>
                  </a:cubicBezTo>
                  <a:cubicBezTo>
                    <a:pt x="31039" y="7709"/>
                    <a:pt x="30836" y="7835"/>
                    <a:pt x="30429" y="7835"/>
                  </a:cubicBezTo>
                  <a:lnTo>
                    <a:pt x="0" y="7835"/>
                  </a:lnTo>
                  <a:lnTo>
                    <a:pt x="0" y="5054"/>
                  </a:lnTo>
                  <a:lnTo>
                    <a:pt x="18631" y="5054"/>
                  </a:lnTo>
                  <a:lnTo>
                    <a:pt x="22403" y="647"/>
                  </a:lnTo>
                  <a:cubicBezTo>
                    <a:pt x="22758" y="241"/>
                    <a:pt x="23000" y="38"/>
                    <a:pt x="23114" y="25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5" name="Shape 12165"/>
            <p:cNvSpPr/>
            <p:nvPr/>
          </p:nvSpPr>
          <p:spPr>
            <a:xfrm>
              <a:off x="953516" y="1247673"/>
              <a:ext cx="22936" cy="7391"/>
            </a:xfrm>
            <a:custGeom>
              <a:avLst/>
              <a:gdLst/>
              <a:ahLst/>
              <a:cxnLst/>
              <a:rect l="0" t="0" r="0" b="0"/>
              <a:pathLst>
                <a:path w="22936" h="7391">
                  <a:moveTo>
                    <a:pt x="15126" y="26"/>
                  </a:moveTo>
                  <a:cubicBezTo>
                    <a:pt x="15253" y="38"/>
                    <a:pt x="15456" y="165"/>
                    <a:pt x="15748" y="394"/>
                  </a:cubicBezTo>
                  <a:lnTo>
                    <a:pt x="22403" y="6503"/>
                  </a:lnTo>
                  <a:cubicBezTo>
                    <a:pt x="22428" y="6565"/>
                    <a:pt x="22543" y="6718"/>
                    <a:pt x="22746" y="6972"/>
                  </a:cubicBezTo>
                  <a:cubicBezTo>
                    <a:pt x="22936" y="7226"/>
                    <a:pt x="22720" y="7341"/>
                    <a:pt x="22098" y="7341"/>
                  </a:cubicBezTo>
                  <a:lnTo>
                    <a:pt x="12726" y="7341"/>
                  </a:lnTo>
                  <a:lnTo>
                    <a:pt x="12726" y="7391"/>
                  </a:lnTo>
                  <a:lnTo>
                    <a:pt x="0" y="7391"/>
                  </a:lnTo>
                  <a:lnTo>
                    <a:pt x="0" y="4661"/>
                  </a:lnTo>
                  <a:lnTo>
                    <a:pt x="10884" y="4661"/>
                  </a:lnTo>
                  <a:lnTo>
                    <a:pt x="14605" y="394"/>
                  </a:lnTo>
                  <a:cubicBezTo>
                    <a:pt x="14834" y="127"/>
                    <a:pt x="15011" y="0"/>
                    <a:pt x="15126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6" name="Shape 12166"/>
            <p:cNvSpPr/>
            <p:nvPr/>
          </p:nvSpPr>
          <p:spPr>
            <a:xfrm>
              <a:off x="953516" y="1220038"/>
              <a:ext cx="20257" cy="26569"/>
            </a:xfrm>
            <a:custGeom>
              <a:avLst/>
              <a:gdLst/>
              <a:ahLst/>
              <a:cxnLst/>
              <a:rect l="0" t="0" r="0" b="0"/>
              <a:pathLst>
                <a:path w="20257" h="26569">
                  <a:moveTo>
                    <a:pt x="10909" y="26"/>
                  </a:moveTo>
                  <a:cubicBezTo>
                    <a:pt x="11125" y="38"/>
                    <a:pt x="11417" y="153"/>
                    <a:pt x="11786" y="356"/>
                  </a:cubicBezTo>
                  <a:lnTo>
                    <a:pt x="19672" y="5169"/>
                  </a:lnTo>
                  <a:cubicBezTo>
                    <a:pt x="19939" y="5359"/>
                    <a:pt x="20091" y="5486"/>
                    <a:pt x="20142" y="5563"/>
                  </a:cubicBezTo>
                  <a:cubicBezTo>
                    <a:pt x="20193" y="5626"/>
                    <a:pt x="20219" y="5703"/>
                    <a:pt x="20244" y="5779"/>
                  </a:cubicBezTo>
                  <a:cubicBezTo>
                    <a:pt x="20257" y="5855"/>
                    <a:pt x="20231" y="5956"/>
                    <a:pt x="20168" y="6058"/>
                  </a:cubicBezTo>
                  <a:lnTo>
                    <a:pt x="19266" y="6998"/>
                  </a:lnTo>
                  <a:lnTo>
                    <a:pt x="17780" y="8738"/>
                  </a:lnTo>
                  <a:lnTo>
                    <a:pt x="17780" y="16129"/>
                  </a:lnTo>
                  <a:lnTo>
                    <a:pt x="18225" y="22923"/>
                  </a:lnTo>
                  <a:cubicBezTo>
                    <a:pt x="17932" y="23647"/>
                    <a:pt x="17513" y="24232"/>
                    <a:pt x="16993" y="24664"/>
                  </a:cubicBezTo>
                  <a:cubicBezTo>
                    <a:pt x="16459" y="25083"/>
                    <a:pt x="15481" y="25515"/>
                    <a:pt x="14034" y="25946"/>
                  </a:cubicBezTo>
                  <a:cubicBezTo>
                    <a:pt x="12598" y="26378"/>
                    <a:pt x="11240" y="26569"/>
                    <a:pt x="9944" y="26543"/>
                  </a:cubicBezTo>
                  <a:cubicBezTo>
                    <a:pt x="9284" y="26543"/>
                    <a:pt x="8877" y="26442"/>
                    <a:pt x="8700" y="26251"/>
                  </a:cubicBezTo>
                  <a:cubicBezTo>
                    <a:pt x="8535" y="26048"/>
                    <a:pt x="8458" y="25756"/>
                    <a:pt x="8458" y="25362"/>
                  </a:cubicBezTo>
                  <a:lnTo>
                    <a:pt x="8458" y="24016"/>
                  </a:lnTo>
                  <a:lnTo>
                    <a:pt x="0" y="24016"/>
                  </a:lnTo>
                  <a:lnTo>
                    <a:pt x="0" y="21285"/>
                  </a:lnTo>
                  <a:lnTo>
                    <a:pt x="8458" y="21285"/>
                  </a:lnTo>
                  <a:lnTo>
                    <a:pt x="8458" y="14986"/>
                  </a:lnTo>
                  <a:lnTo>
                    <a:pt x="0" y="14986"/>
                  </a:lnTo>
                  <a:lnTo>
                    <a:pt x="0" y="12256"/>
                  </a:lnTo>
                  <a:lnTo>
                    <a:pt x="8458" y="12256"/>
                  </a:lnTo>
                  <a:lnTo>
                    <a:pt x="8458" y="6452"/>
                  </a:lnTo>
                  <a:lnTo>
                    <a:pt x="0" y="6452"/>
                  </a:lnTo>
                  <a:lnTo>
                    <a:pt x="0" y="3670"/>
                  </a:lnTo>
                  <a:lnTo>
                    <a:pt x="7811" y="3670"/>
                  </a:lnTo>
                  <a:lnTo>
                    <a:pt x="10046" y="698"/>
                  </a:lnTo>
                  <a:cubicBezTo>
                    <a:pt x="10414" y="229"/>
                    <a:pt x="10694" y="0"/>
                    <a:pt x="10909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7" name="Shape 12167"/>
            <p:cNvSpPr/>
            <p:nvPr/>
          </p:nvSpPr>
          <p:spPr>
            <a:xfrm>
              <a:off x="953516" y="1208837"/>
              <a:ext cx="31776" cy="7683"/>
            </a:xfrm>
            <a:custGeom>
              <a:avLst/>
              <a:gdLst/>
              <a:ahLst/>
              <a:cxnLst/>
              <a:rect l="0" t="0" r="0" b="0"/>
              <a:pathLst>
                <a:path w="31776" h="7683">
                  <a:moveTo>
                    <a:pt x="23482" y="12"/>
                  </a:moveTo>
                  <a:cubicBezTo>
                    <a:pt x="23622" y="0"/>
                    <a:pt x="23940" y="190"/>
                    <a:pt x="24435" y="584"/>
                  </a:cubicBezTo>
                  <a:lnTo>
                    <a:pt x="31331" y="6490"/>
                  </a:lnTo>
                  <a:cubicBezTo>
                    <a:pt x="31623" y="6756"/>
                    <a:pt x="31776" y="6959"/>
                    <a:pt x="31776" y="7137"/>
                  </a:cubicBezTo>
                  <a:cubicBezTo>
                    <a:pt x="31737" y="7493"/>
                    <a:pt x="31407" y="7683"/>
                    <a:pt x="30785" y="7683"/>
                  </a:cubicBezTo>
                  <a:lnTo>
                    <a:pt x="21806" y="7683"/>
                  </a:lnTo>
                  <a:lnTo>
                    <a:pt x="0" y="7683"/>
                  </a:lnTo>
                  <a:lnTo>
                    <a:pt x="0" y="5004"/>
                  </a:lnTo>
                  <a:lnTo>
                    <a:pt x="19025" y="5004"/>
                  </a:lnTo>
                  <a:lnTo>
                    <a:pt x="22593" y="889"/>
                  </a:lnTo>
                  <a:cubicBezTo>
                    <a:pt x="23063" y="317"/>
                    <a:pt x="23355" y="38"/>
                    <a:pt x="23482" y="12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8" name="Shape 12168"/>
            <p:cNvSpPr/>
            <p:nvPr/>
          </p:nvSpPr>
          <p:spPr>
            <a:xfrm>
              <a:off x="953516" y="1184072"/>
              <a:ext cx="18961" cy="27139"/>
            </a:xfrm>
            <a:custGeom>
              <a:avLst/>
              <a:gdLst/>
              <a:ahLst/>
              <a:cxnLst/>
              <a:rect l="0" t="0" r="0" b="0"/>
              <a:pathLst>
                <a:path w="18961" h="27139">
                  <a:moveTo>
                    <a:pt x="10541" y="305"/>
                  </a:moveTo>
                  <a:lnTo>
                    <a:pt x="18377" y="4813"/>
                  </a:lnTo>
                  <a:cubicBezTo>
                    <a:pt x="18542" y="4940"/>
                    <a:pt x="18682" y="5067"/>
                    <a:pt x="18771" y="5194"/>
                  </a:cubicBezTo>
                  <a:cubicBezTo>
                    <a:pt x="18872" y="5296"/>
                    <a:pt x="18936" y="5385"/>
                    <a:pt x="18948" y="5461"/>
                  </a:cubicBezTo>
                  <a:cubicBezTo>
                    <a:pt x="18961" y="5524"/>
                    <a:pt x="18923" y="5715"/>
                    <a:pt x="18796" y="6007"/>
                  </a:cubicBezTo>
                  <a:cubicBezTo>
                    <a:pt x="18682" y="6299"/>
                    <a:pt x="18479" y="6565"/>
                    <a:pt x="18174" y="6807"/>
                  </a:cubicBezTo>
                  <a:lnTo>
                    <a:pt x="15951" y="8585"/>
                  </a:lnTo>
                  <a:lnTo>
                    <a:pt x="15951" y="17614"/>
                  </a:lnTo>
                  <a:lnTo>
                    <a:pt x="16345" y="23419"/>
                  </a:lnTo>
                  <a:cubicBezTo>
                    <a:pt x="16116" y="24117"/>
                    <a:pt x="15748" y="24688"/>
                    <a:pt x="15227" y="25133"/>
                  </a:cubicBezTo>
                  <a:cubicBezTo>
                    <a:pt x="14719" y="25578"/>
                    <a:pt x="13716" y="26022"/>
                    <a:pt x="12230" y="26492"/>
                  </a:cubicBezTo>
                  <a:cubicBezTo>
                    <a:pt x="10744" y="26950"/>
                    <a:pt x="9500" y="27139"/>
                    <a:pt x="8509" y="27038"/>
                  </a:cubicBezTo>
                  <a:cubicBezTo>
                    <a:pt x="7747" y="26962"/>
                    <a:pt x="7290" y="26809"/>
                    <a:pt x="7112" y="26543"/>
                  </a:cubicBezTo>
                  <a:cubicBezTo>
                    <a:pt x="6947" y="26276"/>
                    <a:pt x="6871" y="25908"/>
                    <a:pt x="6871" y="25450"/>
                  </a:cubicBezTo>
                  <a:lnTo>
                    <a:pt x="6871" y="23673"/>
                  </a:lnTo>
                  <a:lnTo>
                    <a:pt x="0" y="23673"/>
                  </a:lnTo>
                  <a:lnTo>
                    <a:pt x="0" y="20942"/>
                  </a:lnTo>
                  <a:lnTo>
                    <a:pt x="6871" y="20942"/>
                  </a:lnTo>
                  <a:lnTo>
                    <a:pt x="6871" y="14592"/>
                  </a:lnTo>
                  <a:lnTo>
                    <a:pt x="0" y="14592"/>
                  </a:lnTo>
                  <a:lnTo>
                    <a:pt x="0" y="11912"/>
                  </a:lnTo>
                  <a:lnTo>
                    <a:pt x="6871" y="11912"/>
                  </a:lnTo>
                  <a:lnTo>
                    <a:pt x="6871" y="6400"/>
                  </a:lnTo>
                  <a:lnTo>
                    <a:pt x="0" y="6400"/>
                  </a:lnTo>
                  <a:lnTo>
                    <a:pt x="0" y="3670"/>
                  </a:lnTo>
                  <a:lnTo>
                    <a:pt x="6426" y="3670"/>
                  </a:lnTo>
                  <a:lnTo>
                    <a:pt x="9106" y="597"/>
                  </a:lnTo>
                  <a:cubicBezTo>
                    <a:pt x="9525" y="102"/>
                    <a:pt x="10008" y="0"/>
                    <a:pt x="10541" y="305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29" name="Shape 12169"/>
            <p:cNvSpPr/>
            <p:nvPr/>
          </p:nvSpPr>
          <p:spPr>
            <a:xfrm>
              <a:off x="1025789" y="1241222"/>
              <a:ext cx="14872" cy="8507"/>
            </a:xfrm>
            <a:custGeom>
              <a:avLst/>
              <a:gdLst/>
              <a:ahLst/>
              <a:cxnLst/>
              <a:rect l="0" t="0" r="0" b="0"/>
              <a:pathLst>
                <a:path w="14872" h="8507">
                  <a:moveTo>
                    <a:pt x="1372" y="0"/>
                  </a:moveTo>
                  <a:cubicBezTo>
                    <a:pt x="1499" y="0"/>
                    <a:pt x="1816" y="26"/>
                    <a:pt x="2286" y="76"/>
                  </a:cubicBezTo>
                  <a:cubicBezTo>
                    <a:pt x="2769" y="127"/>
                    <a:pt x="6147" y="330"/>
                    <a:pt x="12433" y="673"/>
                  </a:cubicBezTo>
                  <a:lnTo>
                    <a:pt x="14872" y="1430"/>
                  </a:lnTo>
                  <a:lnTo>
                    <a:pt x="14872" y="8507"/>
                  </a:lnTo>
                  <a:lnTo>
                    <a:pt x="11570" y="5931"/>
                  </a:lnTo>
                  <a:cubicBezTo>
                    <a:pt x="9335" y="4623"/>
                    <a:pt x="6693" y="3442"/>
                    <a:pt x="3658" y="2387"/>
                  </a:cubicBezTo>
                  <a:lnTo>
                    <a:pt x="927" y="1486"/>
                  </a:lnTo>
                  <a:cubicBezTo>
                    <a:pt x="292" y="1219"/>
                    <a:pt x="0" y="927"/>
                    <a:pt x="51" y="597"/>
                  </a:cubicBezTo>
                  <a:cubicBezTo>
                    <a:pt x="102" y="267"/>
                    <a:pt x="546" y="64"/>
                    <a:pt x="1372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" name="Shape 12170"/>
            <p:cNvSpPr/>
            <p:nvPr/>
          </p:nvSpPr>
          <p:spPr>
            <a:xfrm>
              <a:off x="1032914" y="1227087"/>
              <a:ext cx="7747" cy="11916"/>
            </a:xfrm>
            <a:custGeom>
              <a:avLst/>
              <a:gdLst/>
              <a:ahLst/>
              <a:cxnLst/>
              <a:rect l="0" t="0" r="0" b="0"/>
              <a:pathLst>
                <a:path w="7747" h="11916">
                  <a:moveTo>
                    <a:pt x="1194" y="0"/>
                  </a:moveTo>
                  <a:cubicBezTo>
                    <a:pt x="1384" y="0"/>
                    <a:pt x="1626" y="25"/>
                    <a:pt x="1905" y="102"/>
                  </a:cubicBezTo>
                  <a:cubicBezTo>
                    <a:pt x="2184" y="165"/>
                    <a:pt x="3073" y="317"/>
                    <a:pt x="4547" y="546"/>
                  </a:cubicBezTo>
                  <a:lnTo>
                    <a:pt x="7747" y="1491"/>
                  </a:lnTo>
                  <a:lnTo>
                    <a:pt x="7747" y="11916"/>
                  </a:lnTo>
                  <a:lnTo>
                    <a:pt x="6452" y="11366"/>
                  </a:lnTo>
                  <a:cubicBezTo>
                    <a:pt x="6020" y="10464"/>
                    <a:pt x="5588" y="9309"/>
                    <a:pt x="5131" y="7912"/>
                  </a:cubicBezTo>
                  <a:cubicBezTo>
                    <a:pt x="4686" y="6502"/>
                    <a:pt x="4216" y="5435"/>
                    <a:pt x="3721" y="4686"/>
                  </a:cubicBezTo>
                  <a:cubicBezTo>
                    <a:pt x="3226" y="3949"/>
                    <a:pt x="2667" y="3277"/>
                    <a:pt x="2032" y="2680"/>
                  </a:cubicBezTo>
                  <a:lnTo>
                    <a:pt x="394" y="1295"/>
                  </a:lnTo>
                  <a:cubicBezTo>
                    <a:pt x="165" y="1092"/>
                    <a:pt x="38" y="838"/>
                    <a:pt x="25" y="571"/>
                  </a:cubicBezTo>
                  <a:cubicBezTo>
                    <a:pt x="0" y="279"/>
                    <a:pt x="394" y="102"/>
                    <a:pt x="1194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1" name="Shape 12171"/>
            <p:cNvSpPr/>
            <p:nvPr/>
          </p:nvSpPr>
          <p:spPr>
            <a:xfrm>
              <a:off x="1012035" y="1189507"/>
              <a:ext cx="28626" cy="44298"/>
            </a:xfrm>
            <a:custGeom>
              <a:avLst/>
              <a:gdLst/>
              <a:ahLst/>
              <a:cxnLst/>
              <a:rect l="0" t="0" r="0" b="0"/>
              <a:pathLst>
                <a:path w="28626" h="44298">
                  <a:moveTo>
                    <a:pt x="15900" y="51"/>
                  </a:moveTo>
                  <a:cubicBezTo>
                    <a:pt x="16040" y="0"/>
                    <a:pt x="16535" y="102"/>
                    <a:pt x="17361" y="369"/>
                  </a:cubicBezTo>
                  <a:lnTo>
                    <a:pt x="25743" y="3302"/>
                  </a:lnTo>
                  <a:cubicBezTo>
                    <a:pt x="26238" y="3505"/>
                    <a:pt x="26581" y="3670"/>
                    <a:pt x="26784" y="3823"/>
                  </a:cubicBezTo>
                  <a:cubicBezTo>
                    <a:pt x="26988" y="3976"/>
                    <a:pt x="27076" y="4153"/>
                    <a:pt x="27051" y="4394"/>
                  </a:cubicBezTo>
                  <a:cubicBezTo>
                    <a:pt x="27038" y="4611"/>
                    <a:pt x="26607" y="4966"/>
                    <a:pt x="25743" y="5436"/>
                  </a:cubicBezTo>
                  <a:lnTo>
                    <a:pt x="23508" y="6680"/>
                  </a:lnTo>
                  <a:lnTo>
                    <a:pt x="20333" y="11341"/>
                  </a:lnTo>
                  <a:lnTo>
                    <a:pt x="28626" y="11341"/>
                  </a:lnTo>
                  <a:lnTo>
                    <a:pt x="28626" y="14021"/>
                  </a:lnTo>
                  <a:lnTo>
                    <a:pt x="18948" y="14021"/>
                  </a:lnTo>
                  <a:cubicBezTo>
                    <a:pt x="20803" y="16955"/>
                    <a:pt x="23622" y="20142"/>
                    <a:pt x="27432" y="23597"/>
                  </a:cubicBezTo>
                  <a:lnTo>
                    <a:pt x="28626" y="22132"/>
                  </a:lnTo>
                  <a:lnTo>
                    <a:pt x="28626" y="32221"/>
                  </a:lnTo>
                  <a:lnTo>
                    <a:pt x="28067" y="31776"/>
                  </a:lnTo>
                  <a:cubicBezTo>
                    <a:pt x="24968" y="34061"/>
                    <a:pt x="21399" y="36170"/>
                    <a:pt x="17386" y="38126"/>
                  </a:cubicBezTo>
                  <a:cubicBezTo>
                    <a:pt x="13360" y="40069"/>
                    <a:pt x="9741" y="41555"/>
                    <a:pt x="6490" y="42596"/>
                  </a:cubicBezTo>
                  <a:lnTo>
                    <a:pt x="2769" y="43777"/>
                  </a:lnTo>
                  <a:cubicBezTo>
                    <a:pt x="1714" y="44145"/>
                    <a:pt x="1054" y="44298"/>
                    <a:pt x="813" y="44272"/>
                  </a:cubicBezTo>
                  <a:cubicBezTo>
                    <a:pt x="559" y="44247"/>
                    <a:pt x="368" y="44159"/>
                    <a:pt x="241" y="44031"/>
                  </a:cubicBezTo>
                  <a:cubicBezTo>
                    <a:pt x="114" y="43892"/>
                    <a:pt x="38" y="43714"/>
                    <a:pt x="13" y="43485"/>
                  </a:cubicBezTo>
                  <a:cubicBezTo>
                    <a:pt x="0" y="43244"/>
                    <a:pt x="190" y="43015"/>
                    <a:pt x="584" y="42787"/>
                  </a:cubicBezTo>
                  <a:lnTo>
                    <a:pt x="2476" y="41999"/>
                  </a:lnTo>
                  <a:lnTo>
                    <a:pt x="5893" y="40361"/>
                  </a:lnTo>
                  <a:cubicBezTo>
                    <a:pt x="6820" y="39929"/>
                    <a:pt x="9144" y="38571"/>
                    <a:pt x="12840" y="36297"/>
                  </a:cubicBezTo>
                  <a:cubicBezTo>
                    <a:pt x="16548" y="34011"/>
                    <a:pt x="20307" y="30938"/>
                    <a:pt x="24105" y="27064"/>
                  </a:cubicBezTo>
                  <a:cubicBezTo>
                    <a:pt x="21222" y="23317"/>
                    <a:pt x="19317" y="20142"/>
                    <a:pt x="18351" y="17539"/>
                  </a:cubicBezTo>
                  <a:lnTo>
                    <a:pt x="17361" y="14961"/>
                  </a:lnTo>
                  <a:cubicBezTo>
                    <a:pt x="16497" y="16015"/>
                    <a:pt x="15875" y="16752"/>
                    <a:pt x="15469" y="17196"/>
                  </a:cubicBezTo>
                  <a:cubicBezTo>
                    <a:pt x="15075" y="17615"/>
                    <a:pt x="13881" y="18809"/>
                    <a:pt x="11874" y="20740"/>
                  </a:cubicBezTo>
                  <a:cubicBezTo>
                    <a:pt x="9868" y="22670"/>
                    <a:pt x="8649" y="23838"/>
                    <a:pt x="8179" y="24232"/>
                  </a:cubicBezTo>
                  <a:lnTo>
                    <a:pt x="5296" y="26619"/>
                  </a:lnTo>
                  <a:cubicBezTo>
                    <a:pt x="3746" y="27902"/>
                    <a:pt x="2819" y="28499"/>
                    <a:pt x="2527" y="28397"/>
                  </a:cubicBezTo>
                  <a:cubicBezTo>
                    <a:pt x="2426" y="28397"/>
                    <a:pt x="2337" y="28360"/>
                    <a:pt x="2248" y="28284"/>
                  </a:cubicBezTo>
                  <a:cubicBezTo>
                    <a:pt x="2172" y="28194"/>
                    <a:pt x="2121" y="28067"/>
                    <a:pt x="2108" y="27902"/>
                  </a:cubicBezTo>
                  <a:cubicBezTo>
                    <a:pt x="2083" y="27737"/>
                    <a:pt x="2146" y="27522"/>
                    <a:pt x="2273" y="27267"/>
                  </a:cubicBezTo>
                  <a:lnTo>
                    <a:pt x="4064" y="24930"/>
                  </a:lnTo>
                  <a:lnTo>
                    <a:pt x="6096" y="21908"/>
                  </a:lnTo>
                  <a:cubicBezTo>
                    <a:pt x="8407" y="18453"/>
                    <a:pt x="10338" y="14910"/>
                    <a:pt x="11849" y="11265"/>
                  </a:cubicBezTo>
                  <a:cubicBezTo>
                    <a:pt x="13373" y="7607"/>
                    <a:pt x="14313" y="5131"/>
                    <a:pt x="14681" y="3849"/>
                  </a:cubicBezTo>
                  <a:lnTo>
                    <a:pt x="15621" y="369"/>
                  </a:lnTo>
                  <a:cubicBezTo>
                    <a:pt x="15646" y="204"/>
                    <a:pt x="15748" y="102"/>
                    <a:pt x="15900" y="51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2" name="Shape 12172"/>
            <p:cNvSpPr/>
            <p:nvPr/>
          </p:nvSpPr>
          <p:spPr>
            <a:xfrm>
              <a:off x="1002510" y="1182649"/>
              <a:ext cx="38151" cy="85293"/>
            </a:xfrm>
            <a:custGeom>
              <a:avLst/>
              <a:gdLst/>
              <a:ahLst/>
              <a:cxnLst/>
              <a:rect l="0" t="0" r="0" b="0"/>
              <a:pathLst>
                <a:path w="38151" h="85293">
                  <a:moveTo>
                    <a:pt x="521" y="38"/>
                  </a:moveTo>
                  <a:cubicBezTo>
                    <a:pt x="635" y="0"/>
                    <a:pt x="1054" y="153"/>
                    <a:pt x="1778" y="483"/>
                  </a:cubicBezTo>
                  <a:lnTo>
                    <a:pt x="9017" y="3911"/>
                  </a:lnTo>
                  <a:lnTo>
                    <a:pt x="38151" y="3911"/>
                  </a:lnTo>
                  <a:lnTo>
                    <a:pt x="38151" y="6642"/>
                  </a:lnTo>
                  <a:lnTo>
                    <a:pt x="8382" y="6642"/>
                  </a:lnTo>
                  <a:lnTo>
                    <a:pt x="8382" y="75197"/>
                  </a:lnTo>
                  <a:lnTo>
                    <a:pt x="38151" y="75197"/>
                  </a:lnTo>
                  <a:lnTo>
                    <a:pt x="38151" y="77927"/>
                  </a:lnTo>
                  <a:lnTo>
                    <a:pt x="8382" y="77927"/>
                  </a:lnTo>
                  <a:lnTo>
                    <a:pt x="8382" y="82486"/>
                  </a:lnTo>
                  <a:cubicBezTo>
                    <a:pt x="8382" y="83680"/>
                    <a:pt x="7531" y="84442"/>
                    <a:pt x="5842" y="84772"/>
                  </a:cubicBezTo>
                  <a:cubicBezTo>
                    <a:pt x="4166" y="85090"/>
                    <a:pt x="2807" y="85268"/>
                    <a:pt x="1778" y="85268"/>
                  </a:cubicBezTo>
                  <a:cubicBezTo>
                    <a:pt x="1219" y="85293"/>
                    <a:pt x="813" y="85243"/>
                    <a:pt x="584" y="85090"/>
                  </a:cubicBezTo>
                  <a:cubicBezTo>
                    <a:pt x="356" y="84937"/>
                    <a:pt x="165" y="84544"/>
                    <a:pt x="0" y="83922"/>
                  </a:cubicBezTo>
                  <a:lnTo>
                    <a:pt x="445" y="72174"/>
                  </a:lnTo>
                  <a:lnTo>
                    <a:pt x="445" y="9461"/>
                  </a:lnTo>
                  <a:lnTo>
                    <a:pt x="38" y="584"/>
                  </a:lnTo>
                  <a:cubicBezTo>
                    <a:pt x="241" y="254"/>
                    <a:pt x="394" y="64"/>
                    <a:pt x="521" y="38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3" name="Shape 12173"/>
            <p:cNvSpPr/>
            <p:nvPr/>
          </p:nvSpPr>
          <p:spPr>
            <a:xfrm>
              <a:off x="1040661" y="1242651"/>
              <a:ext cx="14923" cy="14026"/>
            </a:xfrm>
            <a:custGeom>
              <a:avLst/>
              <a:gdLst/>
              <a:ahLst/>
              <a:cxnLst/>
              <a:rect l="0" t="0" r="0" b="0"/>
              <a:pathLst>
                <a:path w="14923" h="14026">
                  <a:moveTo>
                    <a:pt x="0" y="0"/>
                  </a:moveTo>
                  <a:lnTo>
                    <a:pt x="10986" y="3409"/>
                  </a:lnTo>
                  <a:cubicBezTo>
                    <a:pt x="13640" y="5848"/>
                    <a:pt x="14923" y="8032"/>
                    <a:pt x="14821" y="9988"/>
                  </a:cubicBezTo>
                  <a:cubicBezTo>
                    <a:pt x="14757" y="11080"/>
                    <a:pt x="14364" y="12020"/>
                    <a:pt x="13640" y="12808"/>
                  </a:cubicBezTo>
                  <a:cubicBezTo>
                    <a:pt x="12903" y="13608"/>
                    <a:pt x="11849" y="14001"/>
                    <a:pt x="10465" y="14001"/>
                  </a:cubicBezTo>
                  <a:cubicBezTo>
                    <a:pt x="9169" y="14026"/>
                    <a:pt x="8103" y="13773"/>
                    <a:pt x="7239" y="13214"/>
                  </a:cubicBezTo>
                  <a:cubicBezTo>
                    <a:pt x="6375" y="12642"/>
                    <a:pt x="4966" y="11372"/>
                    <a:pt x="2997" y="9416"/>
                  </a:cubicBezTo>
                  <a:lnTo>
                    <a:pt x="0" y="7078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4" name="Shape 12174"/>
            <p:cNvSpPr/>
            <p:nvPr/>
          </p:nvSpPr>
          <p:spPr>
            <a:xfrm>
              <a:off x="1040661" y="1228578"/>
              <a:ext cx="6388" cy="11158"/>
            </a:xfrm>
            <a:custGeom>
              <a:avLst/>
              <a:gdLst/>
              <a:ahLst/>
              <a:cxnLst/>
              <a:rect l="0" t="0" r="0" b="0"/>
              <a:pathLst>
                <a:path w="6388" h="11158">
                  <a:moveTo>
                    <a:pt x="0" y="0"/>
                  </a:moveTo>
                  <a:lnTo>
                    <a:pt x="1486" y="439"/>
                  </a:lnTo>
                  <a:cubicBezTo>
                    <a:pt x="3137" y="1137"/>
                    <a:pt x="4356" y="2039"/>
                    <a:pt x="5156" y="3170"/>
                  </a:cubicBezTo>
                  <a:cubicBezTo>
                    <a:pt x="5944" y="4287"/>
                    <a:pt x="6350" y="5354"/>
                    <a:pt x="6363" y="6345"/>
                  </a:cubicBezTo>
                  <a:cubicBezTo>
                    <a:pt x="6388" y="7335"/>
                    <a:pt x="6160" y="8199"/>
                    <a:pt x="5702" y="8923"/>
                  </a:cubicBezTo>
                  <a:cubicBezTo>
                    <a:pt x="5232" y="9646"/>
                    <a:pt x="4636" y="10205"/>
                    <a:pt x="3886" y="10586"/>
                  </a:cubicBezTo>
                  <a:cubicBezTo>
                    <a:pt x="3137" y="10955"/>
                    <a:pt x="2426" y="11158"/>
                    <a:pt x="1727" y="11158"/>
                  </a:cubicBezTo>
                  <a:lnTo>
                    <a:pt x="0" y="10425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5" name="Shape 12175"/>
            <p:cNvSpPr/>
            <p:nvPr/>
          </p:nvSpPr>
          <p:spPr>
            <a:xfrm>
              <a:off x="1040661" y="1197470"/>
              <a:ext cx="30798" cy="35929"/>
            </a:xfrm>
            <a:custGeom>
              <a:avLst/>
              <a:gdLst/>
              <a:ahLst/>
              <a:cxnLst/>
              <a:rect l="0" t="0" r="0" b="0"/>
              <a:pathLst>
                <a:path w="30798" h="35929">
                  <a:moveTo>
                    <a:pt x="10757" y="26"/>
                  </a:moveTo>
                  <a:cubicBezTo>
                    <a:pt x="11189" y="38"/>
                    <a:pt x="12065" y="470"/>
                    <a:pt x="13386" y="1346"/>
                  </a:cubicBezTo>
                  <a:lnTo>
                    <a:pt x="18199" y="4559"/>
                  </a:lnTo>
                  <a:cubicBezTo>
                    <a:pt x="19266" y="5283"/>
                    <a:pt x="19863" y="5766"/>
                    <a:pt x="20041" y="6007"/>
                  </a:cubicBezTo>
                  <a:cubicBezTo>
                    <a:pt x="20206" y="6223"/>
                    <a:pt x="20282" y="6515"/>
                    <a:pt x="20257" y="6845"/>
                  </a:cubicBezTo>
                  <a:cubicBezTo>
                    <a:pt x="20244" y="7163"/>
                    <a:pt x="19558" y="7519"/>
                    <a:pt x="18199" y="7887"/>
                  </a:cubicBezTo>
                  <a:lnTo>
                    <a:pt x="16015" y="8484"/>
                  </a:lnTo>
                  <a:cubicBezTo>
                    <a:pt x="12547" y="12509"/>
                    <a:pt x="8826" y="16243"/>
                    <a:pt x="4851" y="19698"/>
                  </a:cubicBezTo>
                  <a:cubicBezTo>
                    <a:pt x="7963" y="21501"/>
                    <a:pt x="11570" y="23013"/>
                    <a:pt x="15672" y="24206"/>
                  </a:cubicBezTo>
                  <a:cubicBezTo>
                    <a:pt x="19774" y="25400"/>
                    <a:pt x="23660" y="26175"/>
                    <a:pt x="27330" y="26543"/>
                  </a:cubicBezTo>
                  <a:lnTo>
                    <a:pt x="30200" y="26836"/>
                  </a:lnTo>
                  <a:cubicBezTo>
                    <a:pt x="30569" y="26899"/>
                    <a:pt x="30759" y="27102"/>
                    <a:pt x="30772" y="27432"/>
                  </a:cubicBezTo>
                  <a:cubicBezTo>
                    <a:pt x="30798" y="27763"/>
                    <a:pt x="30607" y="28004"/>
                    <a:pt x="30200" y="28181"/>
                  </a:cubicBezTo>
                  <a:lnTo>
                    <a:pt x="27724" y="29363"/>
                  </a:lnTo>
                  <a:cubicBezTo>
                    <a:pt x="27064" y="29693"/>
                    <a:pt x="26340" y="30239"/>
                    <a:pt x="25565" y="30988"/>
                  </a:cubicBezTo>
                  <a:cubicBezTo>
                    <a:pt x="24790" y="31724"/>
                    <a:pt x="24130" y="32715"/>
                    <a:pt x="23584" y="33986"/>
                  </a:cubicBezTo>
                  <a:cubicBezTo>
                    <a:pt x="23038" y="35230"/>
                    <a:pt x="22492" y="35865"/>
                    <a:pt x="21971" y="35865"/>
                  </a:cubicBezTo>
                  <a:cubicBezTo>
                    <a:pt x="21145" y="35929"/>
                    <a:pt x="18783" y="35179"/>
                    <a:pt x="14897" y="33617"/>
                  </a:cubicBezTo>
                  <a:cubicBezTo>
                    <a:pt x="11011" y="32042"/>
                    <a:pt x="8115" y="30556"/>
                    <a:pt x="6197" y="29197"/>
                  </a:cubicBezTo>
                  <a:lnTo>
                    <a:pt x="0" y="24258"/>
                  </a:lnTo>
                  <a:lnTo>
                    <a:pt x="0" y="14169"/>
                  </a:lnTo>
                  <a:lnTo>
                    <a:pt x="2769" y="10770"/>
                  </a:lnTo>
                  <a:cubicBezTo>
                    <a:pt x="4458" y="8586"/>
                    <a:pt x="5613" y="7010"/>
                    <a:pt x="6248" y="6058"/>
                  </a:cubicBezTo>
                  <a:lnTo>
                    <a:pt x="0" y="6058"/>
                  </a:lnTo>
                  <a:lnTo>
                    <a:pt x="0" y="3378"/>
                  </a:lnTo>
                  <a:lnTo>
                    <a:pt x="7036" y="3378"/>
                  </a:lnTo>
                  <a:lnTo>
                    <a:pt x="9220" y="991"/>
                  </a:lnTo>
                  <a:cubicBezTo>
                    <a:pt x="9817" y="318"/>
                    <a:pt x="10325" y="0"/>
                    <a:pt x="10757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6" name="Shape 12176"/>
            <p:cNvSpPr/>
            <p:nvPr/>
          </p:nvSpPr>
          <p:spPr>
            <a:xfrm>
              <a:off x="1040661" y="1183132"/>
              <a:ext cx="43739" cy="83579"/>
            </a:xfrm>
            <a:custGeom>
              <a:avLst/>
              <a:gdLst/>
              <a:ahLst/>
              <a:cxnLst/>
              <a:rect l="0" t="0" r="0" b="0"/>
              <a:pathLst>
                <a:path w="43739" h="83579">
                  <a:moveTo>
                    <a:pt x="35090" y="25"/>
                  </a:moveTo>
                  <a:cubicBezTo>
                    <a:pt x="35370" y="38"/>
                    <a:pt x="36093" y="394"/>
                    <a:pt x="37249" y="1092"/>
                  </a:cubicBezTo>
                  <a:lnTo>
                    <a:pt x="41567" y="3822"/>
                  </a:lnTo>
                  <a:cubicBezTo>
                    <a:pt x="42685" y="4546"/>
                    <a:pt x="43332" y="5004"/>
                    <a:pt x="43472" y="5181"/>
                  </a:cubicBezTo>
                  <a:cubicBezTo>
                    <a:pt x="43624" y="5359"/>
                    <a:pt x="43701" y="5524"/>
                    <a:pt x="43726" y="5652"/>
                  </a:cubicBezTo>
                  <a:cubicBezTo>
                    <a:pt x="43739" y="5778"/>
                    <a:pt x="43701" y="5905"/>
                    <a:pt x="43624" y="6032"/>
                  </a:cubicBezTo>
                  <a:cubicBezTo>
                    <a:pt x="43548" y="6134"/>
                    <a:pt x="43117" y="6528"/>
                    <a:pt x="42354" y="7188"/>
                  </a:cubicBezTo>
                  <a:lnTo>
                    <a:pt x="40221" y="8979"/>
                  </a:lnTo>
                  <a:lnTo>
                    <a:pt x="40221" y="70205"/>
                  </a:lnTo>
                  <a:lnTo>
                    <a:pt x="40716" y="80721"/>
                  </a:lnTo>
                  <a:cubicBezTo>
                    <a:pt x="40323" y="81572"/>
                    <a:pt x="39713" y="82258"/>
                    <a:pt x="38887" y="82779"/>
                  </a:cubicBezTo>
                  <a:cubicBezTo>
                    <a:pt x="38062" y="83286"/>
                    <a:pt x="36639" y="83541"/>
                    <a:pt x="34620" y="83565"/>
                  </a:cubicBezTo>
                  <a:cubicBezTo>
                    <a:pt x="32601" y="83579"/>
                    <a:pt x="31597" y="83058"/>
                    <a:pt x="31597" y="82004"/>
                  </a:cubicBezTo>
                  <a:lnTo>
                    <a:pt x="31597" y="77444"/>
                  </a:lnTo>
                  <a:lnTo>
                    <a:pt x="0" y="77444"/>
                  </a:lnTo>
                  <a:lnTo>
                    <a:pt x="0" y="74714"/>
                  </a:lnTo>
                  <a:lnTo>
                    <a:pt x="31597" y="74714"/>
                  </a:lnTo>
                  <a:lnTo>
                    <a:pt x="31597" y="6159"/>
                  </a:lnTo>
                  <a:lnTo>
                    <a:pt x="0" y="6159"/>
                  </a:lnTo>
                  <a:lnTo>
                    <a:pt x="0" y="3428"/>
                  </a:lnTo>
                  <a:lnTo>
                    <a:pt x="31344" y="3428"/>
                  </a:lnTo>
                  <a:lnTo>
                    <a:pt x="33426" y="1295"/>
                  </a:lnTo>
                  <a:cubicBezTo>
                    <a:pt x="34252" y="419"/>
                    <a:pt x="34811" y="0"/>
                    <a:pt x="35090" y="25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7" name="Shape 12177"/>
            <p:cNvSpPr/>
            <p:nvPr/>
          </p:nvSpPr>
          <p:spPr>
            <a:xfrm>
              <a:off x="2917632" y="1177675"/>
              <a:ext cx="22644" cy="96596"/>
            </a:xfrm>
            <a:custGeom>
              <a:avLst/>
              <a:gdLst/>
              <a:ahLst/>
              <a:cxnLst/>
              <a:rect l="0" t="0" r="0" b="0"/>
              <a:pathLst>
                <a:path w="22644" h="96596">
                  <a:moveTo>
                    <a:pt x="21628" y="26"/>
                  </a:moveTo>
                  <a:cubicBezTo>
                    <a:pt x="21895" y="39"/>
                    <a:pt x="22149" y="204"/>
                    <a:pt x="22403" y="495"/>
                  </a:cubicBezTo>
                  <a:cubicBezTo>
                    <a:pt x="22644" y="801"/>
                    <a:pt x="22542" y="1308"/>
                    <a:pt x="22123" y="2032"/>
                  </a:cubicBezTo>
                  <a:lnTo>
                    <a:pt x="20485" y="4814"/>
                  </a:lnTo>
                  <a:cubicBezTo>
                    <a:pt x="19367" y="6693"/>
                    <a:pt x="17856" y="9297"/>
                    <a:pt x="15977" y="12624"/>
                  </a:cubicBezTo>
                  <a:cubicBezTo>
                    <a:pt x="14084" y="15952"/>
                    <a:pt x="12751" y="18580"/>
                    <a:pt x="11976" y="20536"/>
                  </a:cubicBezTo>
                  <a:cubicBezTo>
                    <a:pt x="11214" y="22492"/>
                    <a:pt x="10439" y="24829"/>
                    <a:pt x="9716" y="27584"/>
                  </a:cubicBezTo>
                  <a:cubicBezTo>
                    <a:pt x="9004" y="30328"/>
                    <a:pt x="8408" y="32995"/>
                    <a:pt x="7938" y="35599"/>
                  </a:cubicBezTo>
                  <a:cubicBezTo>
                    <a:pt x="7468" y="38189"/>
                    <a:pt x="7188" y="40984"/>
                    <a:pt x="7087" y="43980"/>
                  </a:cubicBezTo>
                  <a:cubicBezTo>
                    <a:pt x="6998" y="46965"/>
                    <a:pt x="6998" y="49556"/>
                    <a:pt x="7087" y="51740"/>
                  </a:cubicBezTo>
                  <a:cubicBezTo>
                    <a:pt x="7188" y="55436"/>
                    <a:pt x="7493" y="58675"/>
                    <a:pt x="7963" y="61443"/>
                  </a:cubicBezTo>
                  <a:cubicBezTo>
                    <a:pt x="8433" y="64199"/>
                    <a:pt x="8979" y="66612"/>
                    <a:pt x="9551" y="68682"/>
                  </a:cubicBezTo>
                  <a:cubicBezTo>
                    <a:pt x="10122" y="70739"/>
                    <a:pt x="10960" y="73279"/>
                    <a:pt x="12078" y="76251"/>
                  </a:cubicBezTo>
                  <a:cubicBezTo>
                    <a:pt x="13195" y="79223"/>
                    <a:pt x="15481" y="83604"/>
                    <a:pt x="18948" y="89395"/>
                  </a:cubicBezTo>
                  <a:lnTo>
                    <a:pt x="20485" y="91973"/>
                  </a:lnTo>
                  <a:cubicBezTo>
                    <a:pt x="21679" y="94056"/>
                    <a:pt x="22276" y="95276"/>
                    <a:pt x="22301" y="95644"/>
                  </a:cubicBezTo>
                  <a:cubicBezTo>
                    <a:pt x="22327" y="96012"/>
                    <a:pt x="22174" y="96266"/>
                    <a:pt x="21857" y="96445"/>
                  </a:cubicBezTo>
                  <a:cubicBezTo>
                    <a:pt x="21527" y="96596"/>
                    <a:pt x="21133" y="96533"/>
                    <a:pt x="20612" y="96216"/>
                  </a:cubicBezTo>
                  <a:cubicBezTo>
                    <a:pt x="20091" y="95898"/>
                    <a:pt x="19177" y="94907"/>
                    <a:pt x="17856" y="93218"/>
                  </a:cubicBezTo>
                  <a:lnTo>
                    <a:pt x="15977" y="90881"/>
                  </a:lnTo>
                  <a:cubicBezTo>
                    <a:pt x="14364" y="88926"/>
                    <a:pt x="12230" y="86005"/>
                    <a:pt x="9627" y="82080"/>
                  </a:cubicBezTo>
                  <a:cubicBezTo>
                    <a:pt x="7023" y="78156"/>
                    <a:pt x="5029" y="74385"/>
                    <a:pt x="3670" y="70790"/>
                  </a:cubicBezTo>
                  <a:cubicBezTo>
                    <a:pt x="2311" y="67184"/>
                    <a:pt x="1384" y="63691"/>
                    <a:pt x="864" y="60300"/>
                  </a:cubicBezTo>
                  <a:cubicBezTo>
                    <a:pt x="343" y="56909"/>
                    <a:pt x="76" y="54090"/>
                    <a:pt x="51" y="51842"/>
                  </a:cubicBezTo>
                  <a:cubicBezTo>
                    <a:pt x="26" y="49581"/>
                    <a:pt x="0" y="47841"/>
                    <a:pt x="0" y="46584"/>
                  </a:cubicBezTo>
                  <a:cubicBezTo>
                    <a:pt x="76" y="43307"/>
                    <a:pt x="343" y="39980"/>
                    <a:pt x="864" y="36589"/>
                  </a:cubicBezTo>
                  <a:cubicBezTo>
                    <a:pt x="1384" y="33186"/>
                    <a:pt x="2324" y="29667"/>
                    <a:pt x="3696" y="26022"/>
                  </a:cubicBezTo>
                  <a:cubicBezTo>
                    <a:pt x="5055" y="22365"/>
                    <a:pt x="7112" y="18517"/>
                    <a:pt x="9842" y="14491"/>
                  </a:cubicBezTo>
                  <a:cubicBezTo>
                    <a:pt x="12573" y="10440"/>
                    <a:pt x="15253" y="6807"/>
                    <a:pt x="17856" y="3569"/>
                  </a:cubicBezTo>
                  <a:lnTo>
                    <a:pt x="19495" y="1537"/>
                  </a:lnTo>
                  <a:cubicBezTo>
                    <a:pt x="19774" y="1169"/>
                    <a:pt x="20117" y="826"/>
                    <a:pt x="20562" y="495"/>
                  </a:cubicBezTo>
                  <a:cubicBezTo>
                    <a:pt x="21006" y="165"/>
                    <a:pt x="21361" y="0"/>
                    <a:pt x="21628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8" name="Shape 12178"/>
            <p:cNvSpPr/>
            <p:nvPr/>
          </p:nvSpPr>
          <p:spPr>
            <a:xfrm>
              <a:off x="2952748" y="1185908"/>
              <a:ext cx="27413" cy="71933"/>
            </a:xfrm>
            <a:custGeom>
              <a:avLst/>
              <a:gdLst/>
              <a:ahLst/>
              <a:cxnLst/>
              <a:rect l="0" t="0" r="0" b="0"/>
              <a:pathLst>
                <a:path w="27413" h="71933">
                  <a:moveTo>
                    <a:pt x="13653" y="0"/>
                  </a:moveTo>
                  <a:lnTo>
                    <a:pt x="15875" y="0"/>
                  </a:lnTo>
                  <a:lnTo>
                    <a:pt x="15875" y="32944"/>
                  </a:lnTo>
                  <a:lnTo>
                    <a:pt x="27413" y="25509"/>
                  </a:lnTo>
                  <a:lnTo>
                    <a:pt x="27413" y="31452"/>
                  </a:lnTo>
                  <a:lnTo>
                    <a:pt x="26200" y="30810"/>
                  </a:lnTo>
                  <a:cubicBezTo>
                    <a:pt x="24435" y="30810"/>
                    <a:pt x="22708" y="31255"/>
                    <a:pt x="20942" y="32144"/>
                  </a:cubicBezTo>
                  <a:cubicBezTo>
                    <a:pt x="19622" y="32804"/>
                    <a:pt x="17945" y="34137"/>
                    <a:pt x="15875" y="36119"/>
                  </a:cubicBezTo>
                  <a:lnTo>
                    <a:pt x="15875" y="63309"/>
                  </a:lnTo>
                  <a:cubicBezTo>
                    <a:pt x="17564" y="64960"/>
                    <a:pt x="19304" y="66205"/>
                    <a:pt x="21120" y="67056"/>
                  </a:cubicBezTo>
                  <a:cubicBezTo>
                    <a:pt x="22923" y="67894"/>
                    <a:pt x="24765" y="68313"/>
                    <a:pt x="26644" y="68313"/>
                  </a:cubicBezTo>
                  <a:lnTo>
                    <a:pt x="27413" y="67860"/>
                  </a:lnTo>
                  <a:lnTo>
                    <a:pt x="27413" y="70572"/>
                  </a:lnTo>
                  <a:lnTo>
                    <a:pt x="24117" y="71933"/>
                  </a:lnTo>
                  <a:cubicBezTo>
                    <a:pt x="21463" y="71933"/>
                    <a:pt x="18783" y="71450"/>
                    <a:pt x="16053" y="70497"/>
                  </a:cubicBezTo>
                  <a:cubicBezTo>
                    <a:pt x="13322" y="69532"/>
                    <a:pt x="10554" y="68097"/>
                    <a:pt x="7696" y="66180"/>
                  </a:cubicBezTo>
                  <a:lnTo>
                    <a:pt x="7696" y="19100"/>
                  </a:lnTo>
                  <a:cubicBezTo>
                    <a:pt x="7696" y="13945"/>
                    <a:pt x="7569" y="10770"/>
                    <a:pt x="7328" y="9575"/>
                  </a:cubicBezTo>
                  <a:cubicBezTo>
                    <a:pt x="7074" y="8382"/>
                    <a:pt x="6680" y="7569"/>
                    <a:pt x="6159" y="7150"/>
                  </a:cubicBezTo>
                  <a:cubicBezTo>
                    <a:pt x="5639" y="6718"/>
                    <a:pt x="4966" y="6503"/>
                    <a:pt x="4178" y="6503"/>
                  </a:cubicBezTo>
                  <a:cubicBezTo>
                    <a:pt x="3251" y="6503"/>
                    <a:pt x="2096" y="6769"/>
                    <a:pt x="698" y="7303"/>
                  </a:cubicBezTo>
                  <a:lnTo>
                    <a:pt x="0" y="5562"/>
                  </a:lnTo>
                  <a:lnTo>
                    <a:pt x="13653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39" name="Shape 12179"/>
            <p:cNvSpPr/>
            <p:nvPr/>
          </p:nvSpPr>
          <p:spPr>
            <a:xfrm>
              <a:off x="2980161" y="1209669"/>
              <a:ext cx="20123" cy="46811"/>
            </a:xfrm>
            <a:custGeom>
              <a:avLst/>
              <a:gdLst/>
              <a:ahLst/>
              <a:cxnLst/>
              <a:rect l="0" t="0" r="0" b="0"/>
              <a:pathLst>
                <a:path w="20123" h="46811">
                  <a:moveTo>
                    <a:pt x="2711" y="0"/>
                  </a:moveTo>
                  <a:cubicBezTo>
                    <a:pt x="7372" y="0"/>
                    <a:pt x="11436" y="1994"/>
                    <a:pt x="14916" y="5982"/>
                  </a:cubicBezTo>
                  <a:cubicBezTo>
                    <a:pt x="18383" y="9970"/>
                    <a:pt x="20123" y="15405"/>
                    <a:pt x="20123" y="22327"/>
                  </a:cubicBezTo>
                  <a:cubicBezTo>
                    <a:pt x="20123" y="30391"/>
                    <a:pt x="17444" y="36894"/>
                    <a:pt x="12084" y="41821"/>
                  </a:cubicBezTo>
                  <a:lnTo>
                    <a:pt x="0" y="46811"/>
                  </a:lnTo>
                  <a:lnTo>
                    <a:pt x="0" y="44099"/>
                  </a:lnTo>
                  <a:lnTo>
                    <a:pt x="7639" y="39599"/>
                  </a:lnTo>
                  <a:cubicBezTo>
                    <a:pt x="10242" y="36284"/>
                    <a:pt x="11538" y="31471"/>
                    <a:pt x="11538" y="25159"/>
                  </a:cubicBezTo>
                  <a:cubicBezTo>
                    <a:pt x="11538" y="19330"/>
                    <a:pt x="10242" y="14860"/>
                    <a:pt x="7639" y="11735"/>
                  </a:cubicBezTo>
                  <a:lnTo>
                    <a:pt x="0" y="7691"/>
                  </a:lnTo>
                  <a:lnTo>
                    <a:pt x="0" y="1747"/>
                  </a:lnTo>
                  <a:lnTo>
                    <a:pt x="2711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0" name="Shape 12180"/>
            <p:cNvSpPr/>
            <p:nvPr/>
          </p:nvSpPr>
          <p:spPr>
            <a:xfrm>
              <a:off x="3015257" y="1178570"/>
              <a:ext cx="22682" cy="96609"/>
            </a:xfrm>
            <a:custGeom>
              <a:avLst/>
              <a:gdLst/>
              <a:ahLst/>
              <a:cxnLst/>
              <a:rect l="0" t="0" r="0" b="0"/>
              <a:pathLst>
                <a:path w="22682" h="96609">
                  <a:moveTo>
                    <a:pt x="953" y="26"/>
                  </a:moveTo>
                  <a:cubicBezTo>
                    <a:pt x="1219" y="0"/>
                    <a:pt x="1588" y="178"/>
                    <a:pt x="2057" y="521"/>
                  </a:cubicBezTo>
                  <a:cubicBezTo>
                    <a:pt x="2540" y="864"/>
                    <a:pt x="2908" y="1194"/>
                    <a:pt x="3175" y="1486"/>
                  </a:cubicBezTo>
                  <a:lnTo>
                    <a:pt x="4813" y="3569"/>
                  </a:lnTo>
                  <a:cubicBezTo>
                    <a:pt x="7671" y="7239"/>
                    <a:pt x="10376" y="10960"/>
                    <a:pt x="12954" y="14757"/>
                  </a:cubicBezTo>
                  <a:cubicBezTo>
                    <a:pt x="15532" y="18542"/>
                    <a:pt x="17513" y="22289"/>
                    <a:pt x="18910" y="25997"/>
                  </a:cubicBezTo>
                  <a:cubicBezTo>
                    <a:pt x="20294" y="29693"/>
                    <a:pt x="21234" y="33236"/>
                    <a:pt x="21755" y="36614"/>
                  </a:cubicBezTo>
                  <a:cubicBezTo>
                    <a:pt x="22276" y="39980"/>
                    <a:pt x="22555" y="42799"/>
                    <a:pt x="22606" y="45072"/>
                  </a:cubicBezTo>
                  <a:cubicBezTo>
                    <a:pt x="22657" y="47320"/>
                    <a:pt x="22682" y="49060"/>
                    <a:pt x="22682" y="50254"/>
                  </a:cubicBezTo>
                  <a:cubicBezTo>
                    <a:pt x="22581" y="53556"/>
                    <a:pt x="22276" y="56896"/>
                    <a:pt x="21755" y="60299"/>
                  </a:cubicBezTo>
                  <a:cubicBezTo>
                    <a:pt x="21234" y="63691"/>
                    <a:pt x="20320" y="67183"/>
                    <a:pt x="18961" y="70789"/>
                  </a:cubicBezTo>
                  <a:cubicBezTo>
                    <a:pt x="17590" y="74384"/>
                    <a:pt x="15608" y="78156"/>
                    <a:pt x="13005" y="82080"/>
                  </a:cubicBezTo>
                  <a:cubicBezTo>
                    <a:pt x="10401" y="85992"/>
                    <a:pt x="8293" y="88926"/>
                    <a:pt x="6706" y="90881"/>
                  </a:cubicBezTo>
                  <a:lnTo>
                    <a:pt x="4813" y="93218"/>
                  </a:lnTo>
                  <a:cubicBezTo>
                    <a:pt x="3454" y="94907"/>
                    <a:pt x="2540" y="95898"/>
                    <a:pt x="2019" y="96228"/>
                  </a:cubicBezTo>
                  <a:cubicBezTo>
                    <a:pt x="1499" y="96533"/>
                    <a:pt x="1092" y="96609"/>
                    <a:pt x="800" y="96444"/>
                  </a:cubicBezTo>
                  <a:cubicBezTo>
                    <a:pt x="495" y="96266"/>
                    <a:pt x="356" y="95821"/>
                    <a:pt x="356" y="95110"/>
                  </a:cubicBezTo>
                  <a:lnTo>
                    <a:pt x="2184" y="91986"/>
                  </a:lnTo>
                  <a:lnTo>
                    <a:pt x="3670" y="89395"/>
                  </a:lnTo>
                  <a:cubicBezTo>
                    <a:pt x="7226" y="83248"/>
                    <a:pt x="9525" y="78753"/>
                    <a:pt x="10592" y="75946"/>
                  </a:cubicBezTo>
                  <a:cubicBezTo>
                    <a:pt x="11659" y="73139"/>
                    <a:pt x="12510" y="70714"/>
                    <a:pt x="13081" y="68682"/>
                  </a:cubicBezTo>
                  <a:cubicBezTo>
                    <a:pt x="13653" y="66649"/>
                    <a:pt x="14173" y="64262"/>
                    <a:pt x="14643" y="61519"/>
                  </a:cubicBezTo>
                  <a:cubicBezTo>
                    <a:pt x="15113" y="58763"/>
                    <a:pt x="15380" y="55905"/>
                    <a:pt x="15481" y="52934"/>
                  </a:cubicBezTo>
                  <a:cubicBezTo>
                    <a:pt x="15583" y="49962"/>
                    <a:pt x="15608" y="47346"/>
                    <a:pt x="15532" y="45098"/>
                  </a:cubicBezTo>
                  <a:cubicBezTo>
                    <a:pt x="15405" y="41249"/>
                    <a:pt x="15113" y="38074"/>
                    <a:pt x="14668" y="35547"/>
                  </a:cubicBezTo>
                  <a:cubicBezTo>
                    <a:pt x="14224" y="33020"/>
                    <a:pt x="13627" y="30366"/>
                    <a:pt x="12903" y="27610"/>
                  </a:cubicBezTo>
                  <a:cubicBezTo>
                    <a:pt x="12179" y="24841"/>
                    <a:pt x="11443" y="22504"/>
                    <a:pt x="10668" y="20612"/>
                  </a:cubicBezTo>
                  <a:cubicBezTo>
                    <a:pt x="9906" y="18707"/>
                    <a:pt x="8509" y="15964"/>
                    <a:pt x="6502" y="12382"/>
                  </a:cubicBezTo>
                  <a:cubicBezTo>
                    <a:pt x="4496" y="8775"/>
                    <a:pt x="3061" y="6261"/>
                    <a:pt x="2184" y="4814"/>
                  </a:cubicBezTo>
                  <a:lnTo>
                    <a:pt x="495" y="2032"/>
                  </a:lnTo>
                  <a:cubicBezTo>
                    <a:pt x="102" y="1333"/>
                    <a:pt x="0" y="826"/>
                    <a:pt x="229" y="521"/>
                  </a:cubicBezTo>
                  <a:cubicBezTo>
                    <a:pt x="457" y="203"/>
                    <a:pt x="673" y="38"/>
                    <a:pt x="953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1" name="Shape 12181"/>
            <p:cNvSpPr/>
            <p:nvPr/>
          </p:nvSpPr>
          <p:spPr>
            <a:xfrm>
              <a:off x="3146601" y="1212117"/>
              <a:ext cx="14834" cy="45415"/>
            </a:xfrm>
            <a:custGeom>
              <a:avLst/>
              <a:gdLst/>
              <a:ahLst/>
              <a:cxnLst/>
              <a:rect l="0" t="0" r="0" b="0"/>
              <a:pathLst>
                <a:path w="14834" h="45415">
                  <a:moveTo>
                    <a:pt x="965" y="38"/>
                  </a:moveTo>
                  <a:cubicBezTo>
                    <a:pt x="1041" y="64"/>
                    <a:pt x="1320" y="368"/>
                    <a:pt x="1841" y="953"/>
                  </a:cubicBezTo>
                  <a:cubicBezTo>
                    <a:pt x="2362" y="1524"/>
                    <a:pt x="2997" y="2439"/>
                    <a:pt x="3797" y="3708"/>
                  </a:cubicBezTo>
                  <a:lnTo>
                    <a:pt x="7366" y="9614"/>
                  </a:lnTo>
                  <a:cubicBezTo>
                    <a:pt x="8737" y="12052"/>
                    <a:pt x="9944" y="14694"/>
                    <a:pt x="11036" y="17552"/>
                  </a:cubicBezTo>
                  <a:cubicBezTo>
                    <a:pt x="12128" y="20383"/>
                    <a:pt x="13055" y="23330"/>
                    <a:pt x="13767" y="26377"/>
                  </a:cubicBezTo>
                  <a:cubicBezTo>
                    <a:pt x="14491" y="29413"/>
                    <a:pt x="14834" y="32245"/>
                    <a:pt x="14808" y="34861"/>
                  </a:cubicBezTo>
                  <a:cubicBezTo>
                    <a:pt x="14782" y="36614"/>
                    <a:pt x="14414" y="38811"/>
                    <a:pt x="13690" y="41440"/>
                  </a:cubicBezTo>
                  <a:cubicBezTo>
                    <a:pt x="12979" y="44069"/>
                    <a:pt x="11443" y="45377"/>
                    <a:pt x="9055" y="45403"/>
                  </a:cubicBezTo>
                  <a:cubicBezTo>
                    <a:pt x="6680" y="45415"/>
                    <a:pt x="5093" y="44856"/>
                    <a:pt x="4292" y="43738"/>
                  </a:cubicBezTo>
                  <a:cubicBezTo>
                    <a:pt x="3505" y="42608"/>
                    <a:pt x="3073" y="41364"/>
                    <a:pt x="2997" y="39967"/>
                  </a:cubicBezTo>
                  <a:cubicBezTo>
                    <a:pt x="2934" y="38582"/>
                    <a:pt x="3099" y="36678"/>
                    <a:pt x="3505" y="34265"/>
                  </a:cubicBezTo>
                  <a:cubicBezTo>
                    <a:pt x="4026" y="30962"/>
                    <a:pt x="4369" y="28499"/>
                    <a:pt x="4495" y="26898"/>
                  </a:cubicBezTo>
                  <a:cubicBezTo>
                    <a:pt x="4610" y="25285"/>
                    <a:pt x="4686" y="23711"/>
                    <a:pt x="4711" y="22161"/>
                  </a:cubicBezTo>
                  <a:cubicBezTo>
                    <a:pt x="4737" y="20600"/>
                    <a:pt x="4610" y="18847"/>
                    <a:pt x="4343" y="16904"/>
                  </a:cubicBezTo>
                  <a:cubicBezTo>
                    <a:pt x="4114" y="15443"/>
                    <a:pt x="3772" y="13677"/>
                    <a:pt x="3353" y="11620"/>
                  </a:cubicBezTo>
                  <a:cubicBezTo>
                    <a:pt x="2934" y="9551"/>
                    <a:pt x="2527" y="8001"/>
                    <a:pt x="2210" y="6985"/>
                  </a:cubicBezTo>
                  <a:lnTo>
                    <a:pt x="1270" y="4305"/>
                  </a:lnTo>
                  <a:cubicBezTo>
                    <a:pt x="851" y="3073"/>
                    <a:pt x="521" y="2248"/>
                    <a:pt x="305" y="1829"/>
                  </a:cubicBezTo>
                  <a:cubicBezTo>
                    <a:pt x="76" y="1384"/>
                    <a:pt x="0" y="977"/>
                    <a:pt x="51" y="584"/>
                  </a:cubicBezTo>
                  <a:cubicBezTo>
                    <a:pt x="102" y="191"/>
                    <a:pt x="393" y="0"/>
                    <a:pt x="965" y="38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2" name="Shape 12182"/>
            <p:cNvSpPr/>
            <p:nvPr/>
          </p:nvSpPr>
          <p:spPr>
            <a:xfrm>
              <a:off x="3135856" y="1208041"/>
              <a:ext cx="66434" cy="58877"/>
            </a:xfrm>
            <a:custGeom>
              <a:avLst/>
              <a:gdLst/>
              <a:ahLst/>
              <a:cxnLst/>
              <a:rect l="0" t="0" r="0" b="0"/>
              <a:pathLst>
                <a:path w="66434" h="58877">
                  <a:moveTo>
                    <a:pt x="41580" y="0"/>
                  </a:moveTo>
                  <a:lnTo>
                    <a:pt x="43815" y="888"/>
                  </a:lnTo>
                  <a:lnTo>
                    <a:pt x="54178" y="4952"/>
                  </a:lnTo>
                  <a:cubicBezTo>
                    <a:pt x="54496" y="5080"/>
                    <a:pt x="54750" y="5232"/>
                    <a:pt x="54876" y="5384"/>
                  </a:cubicBezTo>
                  <a:cubicBezTo>
                    <a:pt x="55004" y="5524"/>
                    <a:pt x="55067" y="5702"/>
                    <a:pt x="55042" y="5931"/>
                  </a:cubicBezTo>
                  <a:cubicBezTo>
                    <a:pt x="55016" y="6134"/>
                    <a:pt x="54750" y="6400"/>
                    <a:pt x="54178" y="6693"/>
                  </a:cubicBezTo>
                  <a:lnTo>
                    <a:pt x="51600" y="8077"/>
                  </a:lnTo>
                  <a:cubicBezTo>
                    <a:pt x="50584" y="12281"/>
                    <a:pt x="49365" y="17081"/>
                    <a:pt x="48006" y="22466"/>
                  </a:cubicBezTo>
                  <a:cubicBezTo>
                    <a:pt x="46634" y="27851"/>
                    <a:pt x="44755" y="33959"/>
                    <a:pt x="42367" y="40780"/>
                  </a:cubicBezTo>
                  <a:cubicBezTo>
                    <a:pt x="39992" y="47586"/>
                    <a:pt x="37833" y="52743"/>
                    <a:pt x="35928" y="56248"/>
                  </a:cubicBezTo>
                  <a:lnTo>
                    <a:pt x="49759" y="56248"/>
                  </a:lnTo>
                  <a:lnTo>
                    <a:pt x="55270" y="49949"/>
                  </a:lnTo>
                  <a:cubicBezTo>
                    <a:pt x="55791" y="49352"/>
                    <a:pt x="56134" y="49047"/>
                    <a:pt x="56261" y="49034"/>
                  </a:cubicBezTo>
                  <a:cubicBezTo>
                    <a:pt x="56388" y="49009"/>
                    <a:pt x="56731" y="49263"/>
                    <a:pt x="57302" y="49758"/>
                  </a:cubicBezTo>
                  <a:lnTo>
                    <a:pt x="65989" y="57645"/>
                  </a:lnTo>
                  <a:cubicBezTo>
                    <a:pt x="66281" y="57937"/>
                    <a:pt x="66434" y="58165"/>
                    <a:pt x="66434" y="58331"/>
                  </a:cubicBezTo>
                  <a:cubicBezTo>
                    <a:pt x="66408" y="58458"/>
                    <a:pt x="66307" y="58585"/>
                    <a:pt x="66154" y="58712"/>
                  </a:cubicBezTo>
                  <a:cubicBezTo>
                    <a:pt x="66015" y="58826"/>
                    <a:pt x="65862" y="58877"/>
                    <a:pt x="65735" y="58877"/>
                  </a:cubicBezTo>
                  <a:lnTo>
                    <a:pt x="61620" y="58877"/>
                  </a:lnTo>
                  <a:lnTo>
                    <a:pt x="1295" y="58877"/>
                  </a:lnTo>
                  <a:cubicBezTo>
                    <a:pt x="483" y="58877"/>
                    <a:pt x="51" y="58432"/>
                    <a:pt x="25" y="57569"/>
                  </a:cubicBezTo>
                  <a:cubicBezTo>
                    <a:pt x="0" y="56693"/>
                    <a:pt x="432" y="56248"/>
                    <a:pt x="1295" y="56248"/>
                  </a:cubicBezTo>
                  <a:lnTo>
                    <a:pt x="32842" y="56248"/>
                  </a:lnTo>
                  <a:cubicBezTo>
                    <a:pt x="34836" y="47447"/>
                    <a:pt x="36347" y="40183"/>
                    <a:pt x="37389" y="34430"/>
                  </a:cubicBezTo>
                  <a:cubicBezTo>
                    <a:pt x="38430" y="28677"/>
                    <a:pt x="39268" y="23190"/>
                    <a:pt x="39916" y="17983"/>
                  </a:cubicBezTo>
                  <a:cubicBezTo>
                    <a:pt x="40564" y="12776"/>
                    <a:pt x="40932" y="9080"/>
                    <a:pt x="41034" y="6896"/>
                  </a:cubicBezTo>
                  <a:lnTo>
                    <a:pt x="41237" y="1689"/>
                  </a:lnTo>
                  <a:lnTo>
                    <a:pt x="41237" y="190"/>
                  </a:lnTo>
                  <a:cubicBezTo>
                    <a:pt x="41300" y="114"/>
                    <a:pt x="41402" y="64"/>
                    <a:pt x="4158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3" name="Shape 12183"/>
            <p:cNvSpPr/>
            <p:nvPr/>
          </p:nvSpPr>
          <p:spPr>
            <a:xfrm>
              <a:off x="3138244" y="1197816"/>
              <a:ext cx="63449" cy="9373"/>
            </a:xfrm>
            <a:custGeom>
              <a:avLst/>
              <a:gdLst/>
              <a:ahLst/>
              <a:cxnLst/>
              <a:rect l="0" t="0" r="0" b="0"/>
              <a:pathLst>
                <a:path w="63449" h="9373">
                  <a:moveTo>
                    <a:pt x="53061" y="26"/>
                  </a:moveTo>
                  <a:cubicBezTo>
                    <a:pt x="53200" y="0"/>
                    <a:pt x="53581" y="229"/>
                    <a:pt x="54178" y="699"/>
                  </a:cubicBezTo>
                  <a:lnTo>
                    <a:pt x="62802" y="7887"/>
                  </a:lnTo>
                  <a:cubicBezTo>
                    <a:pt x="63221" y="8255"/>
                    <a:pt x="63449" y="8548"/>
                    <a:pt x="63449" y="8776"/>
                  </a:cubicBezTo>
                  <a:cubicBezTo>
                    <a:pt x="63424" y="9182"/>
                    <a:pt x="63106" y="9373"/>
                    <a:pt x="62509" y="9373"/>
                  </a:cubicBezTo>
                  <a:lnTo>
                    <a:pt x="1537" y="9373"/>
                  </a:lnTo>
                  <a:lnTo>
                    <a:pt x="1092" y="9373"/>
                  </a:lnTo>
                  <a:cubicBezTo>
                    <a:pt x="724" y="9284"/>
                    <a:pt x="445" y="9144"/>
                    <a:pt x="267" y="8979"/>
                  </a:cubicBezTo>
                  <a:cubicBezTo>
                    <a:pt x="102" y="8802"/>
                    <a:pt x="0" y="8382"/>
                    <a:pt x="26" y="7722"/>
                  </a:cubicBezTo>
                  <a:cubicBezTo>
                    <a:pt x="51" y="7036"/>
                    <a:pt x="394" y="6693"/>
                    <a:pt x="1092" y="6693"/>
                  </a:cubicBezTo>
                  <a:lnTo>
                    <a:pt x="46825" y="6693"/>
                  </a:lnTo>
                  <a:lnTo>
                    <a:pt x="52044" y="889"/>
                  </a:lnTo>
                  <a:cubicBezTo>
                    <a:pt x="52565" y="330"/>
                    <a:pt x="52908" y="39"/>
                    <a:pt x="53061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4" name="Shape 12184"/>
            <p:cNvSpPr/>
            <p:nvPr/>
          </p:nvSpPr>
          <p:spPr>
            <a:xfrm>
              <a:off x="3155973" y="1182297"/>
              <a:ext cx="17666" cy="20486"/>
            </a:xfrm>
            <a:custGeom>
              <a:avLst/>
              <a:gdLst/>
              <a:ahLst/>
              <a:cxnLst/>
              <a:rect l="0" t="0" r="0" b="0"/>
              <a:pathLst>
                <a:path w="17666" h="20486">
                  <a:moveTo>
                    <a:pt x="876" y="38"/>
                  </a:moveTo>
                  <a:cubicBezTo>
                    <a:pt x="1689" y="0"/>
                    <a:pt x="4597" y="978"/>
                    <a:pt x="9576" y="2946"/>
                  </a:cubicBezTo>
                  <a:cubicBezTo>
                    <a:pt x="14567" y="4902"/>
                    <a:pt x="17221" y="8230"/>
                    <a:pt x="17590" y="12891"/>
                  </a:cubicBezTo>
                  <a:cubicBezTo>
                    <a:pt x="17666" y="13881"/>
                    <a:pt x="17145" y="15405"/>
                    <a:pt x="16028" y="17476"/>
                  </a:cubicBezTo>
                  <a:cubicBezTo>
                    <a:pt x="14910" y="19533"/>
                    <a:pt x="13132" y="20486"/>
                    <a:pt x="10643" y="20282"/>
                  </a:cubicBezTo>
                  <a:cubicBezTo>
                    <a:pt x="8839" y="20180"/>
                    <a:pt x="7620" y="19571"/>
                    <a:pt x="6998" y="18479"/>
                  </a:cubicBezTo>
                  <a:cubicBezTo>
                    <a:pt x="6376" y="17361"/>
                    <a:pt x="6007" y="15863"/>
                    <a:pt x="5829" y="14008"/>
                  </a:cubicBezTo>
                  <a:cubicBezTo>
                    <a:pt x="5664" y="12141"/>
                    <a:pt x="5436" y="10287"/>
                    <a:pt x="5169" y="8471"/>
                  </a:cubicBezTo>
                  <a:cubicBezTo>
                    <a:pt x="4890" y="6655"/>
                    <a:pt x="3823" y="4800"/>
                    <a:pt x="1968" y="2922"/>
                  </a:cubicBezTo>
                  <a:lnTo>
                    <a:pt x="521" y="1537"/>
                  </a:lnTo>
                  <a:cubicBezTo>
                    <a:pt x="153" y="1156"/>
                    <a:pt x="0" y="864"/>
                    <a:pt x="76" y="635"/>
                  </a:cubicBezTo>
                  <a:cubicBezTo>
                    <a:pt x="153" y="267"/>
                    <a:pt x="407" y="64"/>
                    <a:pt x="876" y="38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5" name="Shape 12185"/>
            <p:cNvSpPr/>
            <p:nvPr/>
          </p:nvSpPr>
          <p:spPr>
            <a:xfrm>
              <a:off x="3109719" y="1181408"/>
              <a:ext cx="35471" cy="90157"/>
            </a:xfrm>
            <a:custGeom>
              <a:avLst/>
              <a:gdLst/>
              <a:ahLst/>
              <a:cxnLst/>
              <a:rect l="0" t="0" r="0" b="0"/>
              <a:pathLst>
                <a:path w="35471" h="90157">
                  <a:moveTo>
                    <a:pt x="21476" y="39"/>
                  </a:moveTo>
                  <a:cubicBezTo>
                    <a:pt x="21552" y="0"/>
                    <a:pt x="22352" y="292"/>
                    <a:pt x="23863" y="927"/>
                  </a:cubicBezTo>
                  <a:lnTo>
                    <a:pt x="34125" y="5194"/>
                  </a:lnTo>
                  <a:cubicBezTo>
                    <a:pt x="35027" y="5588"/>
                    <a:pt x="35471" y="5918"/>
                    <a:pt x="35446" y="6160"/>
                  </a:cubicBezTo>
                  <a:cubicBezTo>
                    <a:pt x="35420" y="6414"/>
                    <a:pt x="35052" y="6693"/>
                    <a:pt x="34328" y="7036"/>
                  </a:cubicBezTo>
                  <a:lnTo>
                    <a:pt x="30899" y="8573"/>
                  </a:lnTo>
                  <a:cubicBezTo>
                    <a:pt x="28156" y="13336"/>
                    <a:pt x="25451" y="18174"/>
                    <a:pt x="22771" y="23102"/>
                  </a:cubicBezTo>
                  <a:lnTo>
                    <a:pt x="25794" y="24994"/>
                  </a:lnTo>
                  <a:cubicBezTo>
                    <a:pt x="26594" y="25515"/>
                    <a:pt x="26988" y="25959"/>
                    <a:pt x="26962" y="26302"/>
                  </a:cubicBezTo>
                  <a:cubicBezTo>
                    <a:pt x="26937" y="26657"/>
                    <a:pt x="26683" y="26988"/>
                    <a:pt x="26188" y="27318"/>
                  </a:cubicBezTo>
                  <a:lnTo>
                    <a:pt x="23863" y="28905"/>
                  </a:lnTo>
                  <a:lnTo>
                    <a:pt x="23863" y="74308"/>
                  </a:lnTo>
                  <a:lnTo>
                    <a:pt x="24257" y="86411"/>
                  </a:lnTo>
                  <a:cubicBezTo>
                    <a:pt x="24054" y="87402"/>
                    <a:pt x="23762" y="88126"/>
                    <a:pt x="23394" y="88570"/>
                  </a:cubicBezTo>
                  <a:cubicBezTo>
                    <a:pt x="23013" y="89015"/>
                    <a:pt x="22327" y="89383"/>
                    <a:pt x="21311" y="89701"/>
                  </a:cubicBezTo>
                  <a:cubicBezTo>
                    <a:pt x="20295" y="90018"/>
                    <a:pt x="19393" y="90157"/>
                    <a:pt x="18605" y="90132"/>
                  </a:cubicBezTo>
                  <a:cubicBezTo>
                    <a:pt x="18186" y="90132"/>
                    <a:pt x="17640" y="90069"/>
                    <a:pt x="17018" y="89954"/>
                  </a:cubicBezTo>
                  <a:cubicBezTo>
                    <a:pt x="16396" y="89827"/>
                    <a:pt x="15977" y="89637"/>
                    <a:pt x="15773" y="89357"/>
                  </a:cubicBezTo>
                  <a:cubicBezTo>
                    <a:pt x="15570" y="89078"/>
                    <a:pt x="15430" y="88735"/>
                    <a:pt x="15329" y="88341"/>
                  </a:cubicBezTo>
                  <a:lnTo>
                    <a:pt x="15723" y="77178"/>
                  </a:lnTo>
                  <a:lnTo>
                    <a:pt x="15723" y="33376"/>
                  </a:lnTo>
                  <a:cubicBezTo>
                    <a:pt x="10097" y="40640"/>
                    <a:pt x="6121" y="45428"/>
                    <a:pt x="3823" y="47714"/>
                  </a:cubicBezTo>
                  <a:lnTo>
                    <a:pt x="1435" y="50051"/>
                  </a:lnTo>
                  <a:cubicBezTo>
                    <a:pt x="622" y="50864"/>
                    <a:pt x="152" y="50965"/>
                    <a:pt x="76" y="50343"/>
                  </a:cubicBezTo>
                  <a:cubicBezTo>
                    <a:pt x="0" y="49708"/>
                    <a:pt x="51" y="49213"/>
                    <a:pt x="241" y="48857"/>
                  </a:cubicBezTo>
                  <a:lnTo>
                    <a:pt x="2375" y="45187"/>
                  </a:lnTo>
                  <a:cubicBezTo>
                    <a:pt x="8408" y="34823"/>
                    <a:pt x="12573" y="26429"/>
                    <a:pt x="14935" y="20003"/>
                  </a:cubicBezTo>
                  <a:cubicBezTo>
                    <a:pt x="17285" y="13564"/>
                    <a:pt x="18821" y="9119"/>
                    <a:pt x="19545" y="6630"/>
                  </a:cubicBezTo>
                  <a:lnTo>
                    <a:pt x="20739" y="2464"/>
                  </a:lnTo>
                  <a:cubicBezTo>
                    <a:pt x="21158" y="877"/>
                    <a:pt x="21399" y="64"/>
                    <a:pt x="21476" y="39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6" name="Shape 12186"/>
            <p:cNvSpPr/>
            <p:nvPr/>
          </p:nvSpPr>
          <p:spPr>
            <a:xfrm>
              <a:off x="3241303" y="1241222"/>
              <a:ext cx="14872" cy="8517"/>
            </a:xfrm>
            <a:custGeom>
              <a:avLst/>
              <a:gdLst/>
              <a:ahLst/>
              <a:cxnLst/>
              <a:rect l="0" t="0" r="0" b="0"/>
              <a:pathLst>
                <a:path w="14872" h="8517">
                  <a:moveTo>
                    <a:pt x="1372" y="0"/>
                  </a:moveTo>
                  <a:cubicBezTo>
                    <a:pt x="1486" y="0"/>
                    <a:pt x="1816" y="26"/>
                    <a:pt x="2286" y="76"/>
                  </a:cubicBezTo>
                  <a:cubicBezTo>
                    <a:pt x="2756" y="127"/>
                    <a:pt x="6159" y="330"/>
                    <a:pt x="12433" y="673"/>
                  </a:cubicBezTo>
                  <a:lnTo>
                    <a:pt x="14872" y="1430"/>
                  </a:lnTo>
                  <a:lnTo>
                    <a:pt x="14872" y="8517"/>
                  </a:lnTo>
                  <a:lnTo>
                    <a:pt x="11557" y="5931"/>
                  </a:lnTo>
                  <a:cubicBezTo>
                    <a:pt x="9334" y="4623"/>
                    <a:pt x="6705" y="3442"/>
                    <a:pt x="3645" y="2387"/>
                  </a:cubicBezTo>
                  <a:lnTo>
                    <a:pt x="914" y="1486"/>
                  </a:lnTo>
                  <a:cubicBezTo>
                    <a:pt x="305" y="1219"/>
                    <a:pt x="0" y="927"/>
                    <a:pt x="51" y="597"/>
                  </a:cubicBezTo>
                  <a:cubicBezTo>
                    <a:pt x="102" y="267"/>
                    <a:pt x="546" y="64"/>
                    <a:pt x="1372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7" name="Shape 12187"/>
            <p:cNvSpPr/>
            <p:nvPr/>
          </p:nvSpPr>
          <p:spPr>
            <a:xfrm>
              <a:off x="3248428" y="1227087"/>
              <a:ext cx="7747" cy="11916"/>
            </a:xfrm>
            <a:custGeom>
              <a:avLst/>
              <a:gdLst/>
              <a:ahLst/>
              <a:cxnLst/>
              <a:rect l="0" t="0" r="0" b="0"/>
              <a:pathLst>
                <a:path w="7747" h="11916">
                  <a:moveTo>
                    <a:pt x="1181" y="0"/>
                  </a:moveTo>
                  <a:cubicBezTo>
                    <a:pt x="1384" y="0"/>
                    <a:pt x="1639" y="25"/>
                    <a:pt x="1905" y="102"/>
                  </a:cubicBezTo>
                  <a:cubicBezTo>
                    <a:pt x="2185" y="165"/>
                    <a:pt x="3073" y="317"/>
                    <a:pt x="4534" y="546"/>
                  </a:cubicBezTo>
                  <a:lnTo>
                    <a:pt x="7747" y="1495"/>
                  </a:lnTo>
                  <a:lnTo>
                    <a:pt x="7747" y="11916"/>
                  </a:lnTo>
                  <a:lnTo>
                    <a:pt x="6452" y="11366"/>
                  </a:lnTo>
                  <a:cubicBezTo>
                    <a:pt x="6020" y="10464"/>
                    <a:pt x="5576" y="9309"/>
                    <a:pt x="5131" y="7912"/>
                  </a:cubicBezTo>
                  <a:cubicBezTo>
                    <a:pt x="4687" y="6502"/>
                    <a:pt x="4216" y="5435"/>
                    <a:pt x="3721" y="4686"/>
                  </a:cubicBezTo>
                  <a:cubicBezTo>
                    <a:pt x="3226" y="3949"/>
                    <a:pt x="2654" y="3277"/>
                    <a:pt x="2032" y="2680"/>
                  </a:cubicBezTo>
                  <a:lnTo>
                    <a:pt x="394" y="1295"/>
                  </a:lnTo>
                  <a:cubicBezTo>
                    <a:pt x="165" y="1092"/>
                    <a:pt x="51" y="838"/>
                    <a:pt x="26" y="571"/>
                  </a:cubicBezTo>
                  <a:cubicBezTo>
                    <a:pt x="0" y="279"/>
                    <a:pt x="394" y="102"/>
                    <a:pt x="1181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8" name="Shape 12188"/>
            <p:cNvSpPr/>
            <p:nvPr/>
          </p:nvSpPr>
          <p:spPr>
            <a:xfrm>
              <a:off x="3227536" y="1189507"/>
              <a:ext cx="28639" cy="44298"/>
            </a:xfrm>
            <a:custGeom>
              <a:avLst/>
              <a:gdLst/>
              <a:ahLst/>
              <a:cxnLst/>
              <a:rect l="0" t="0" r="0" b="0"/>
              <a:pathLst>
                <a:path w="28639" h="44298">
                  <a:moveTo>
                    <a:pt x="15901" y="51"/>
                  </a:moveTo>
                  <a:cubicBezTo>
                    <a:pt x="16053" y="0"/>
                    <a:pt x="16548" y="102"/>
                    <a:pt x="17361" y="369"/>
                  </a:cubicBezTo>
                  <a:lnTo>
                    <a:pt x="25756" y="3302"/>
                  </a:lnTo>
                  <a:cubicBezTo>
                    <a:pt x="26251" y="3505"/>
                    <a:pt x="26594" y="3670"/>
                    <a:pt x="26797" y="3823"/>
                  </a:cubicBezTo>
                  <a:cubicBezTo>
                    <a:pt x="26988" y="3976"/>
                    <a:pt x="27089" y="4153"/>
                    <a:pt x="27064" y="4394"/>
                  </a:cubicBezTo>
                  <a:cubicBezTo>
                    <a:pt x="27038" y="4611"/>
                    <a:pt x="26619" y="4966"/>
                    <a:pt x="25756" y="5436"/>
                  </a:cubicBezTo>
                  <a:lnTo>
                    <a:pt x="23520" y="6680"/>
                  </a:lnTo>
                  <a:lnTo>
                    <a:pt x="20345" y="11341"/>
                  </a:lnTo>
                  <a:lnTo>
                    <a:pt x="28639" y="11341"/>
                  </a:lnTo>
                  <a:lnTo>
                    <a:pt x="28639" y="14021"/>
                  </a:lnTo>
                  <a:lnTo>
                    <a:pt x="18948" y="14021"/>
                  </a:lnTo>
                  <a:cubicBezTo>
                    <a:pt x="20815" y="16955"/>
                    <a:pt x="23647" y="20142"/>
                    <a:pt x="27432" y="23597"/>
                  </a:cubicBezTo>
                  <a:lnTo>
                    <a:pt x="28639" y="22121"/>
                  </a:lnTo>
                  <a:lnTo>
                    <a:pt x="28639" y="32222"/>
                  </a:lnTo>
                  <a:lnTo>
                    <a:pt x="28080" y="31776"/>
                  </a:lnTo>
                  <a:cubicBezTo>
                    <a:pt x="24981" y="34061"/>
                    <a:pt x="21412" y="36170"/>
                    <a:pt x="17386" y="38126"/>
                  </a:cubicBezTo>
                  <a:cubicBezTo>
                    <a:pt x="13373" y="40069"/>
                    <a:pt x="9754" y="41555"/>
                    <a:pt x="6502" y="42596"/>
                  </a:cubicBezTo>
                  <a:lnTo>
                    <a:pt x="2781" y="43777"/>
                  </a:lnTo>
                  <a:cubicBezTo>
                    <a:pt x="1715" y="44145"/>
                    <a:pt x="1067" y="44298"/>
                    <a:pt x="826" y="44272"/>
                  </a:cubicBezTo>
                  <a:cubicBezTo>
                    <a:pt x="572" y="44247"/>
                    <a:pt x="381" y="44159"/>
                    <a:pt x="254" y="44031"/>
                  </a:cubicBezTo>
                  <a:cubicBezTo>
                    <a:pt x="127" y="43892"/>
                    <a:pt x="51" y="43714"/>
                    <a:pt x="26" y="43485"/>
                  </a:cubicBezTo>
                  <a:cubicBezTo>
                    <a:pt x="0" y="43244"/>
                    <a:pt x="203" y="43015"/>
                    <a:pt x="597" y="42787"/>
                  </a:cubicBezTo>
                  <a:lnTo>
                    <a:pt x="2489" y="41999"/>
                  </a:lnTo>
                  <a:lnTo>
                    <a:pt x="5905" y="40361"/>
                  </a:lnTo>
                  <a:cubicBezTo>
                    <a:pt x="6820" y="39929"/>
                    <a:pt x="9157" y="38571"/>
                    <a:pt x="12852" y="36297"/>
                  </a:cubicBezTo>
                  <a:cubicBezTo>
                    <a:pt x="16548" y="34011"/>
                    <a:pt x="20320" y="30938"/>
                    <a:pt x="24118" y="27064"/>
                  </a:cubicBezTo>
                  <a:cubicBezTo>
                    <a:pt x="21234" y="23317"/>
                    <a:pt x="19329" y="20142"/>
                    <a:pt x="18364" y="17539"/>
                  </a:cubicBezTo>
                  <a:lnTo>
                    <a:pt x="17361" y="14961"/>
                  </a:lnTo>
                  <a:cubicBezTo>
                    <a:pt x="16497" y="16015"/>
                    <a:pt x="15875" y="16752"/>
                    <a:pt x="15481" y="17196"/>
                  </a:cubicBezTo>
                  <a:cubicBezTo>
                    <a:pt x="15087" y="17615"/>
                    <a:pt x="13894" y="18809"/>
                    <a:pt x="11887" y="20740"/>
                  </a:cubicBezTo>
                  <a:cubicBezTo>
                    <a:pt x="9881" y="22670"/>
                    <a:pt x="8661" y="23838"/>
                    <a:pt x="8191" y="24232"/>
                  </a:cubicBezTo>
                  <a:lnTo>
                    <a:pt x="5309" y="26619"/>
                  </a:lnTo>
                  <a:cubicBezTo>
                    <a:pt x="3747" y="27902"/>
                    <a:pt x="2832" y="28499"/>
                    <a:pt x="2527" y="28397"/>
                  </a:cubicBezTo>
                  <a:cubicBezTo>
                    <a:pt x="2439" y="28397"/>
                    <a:pt x="2337" y="28360"/>
                    <a:pt x="2261" y="28284"/>
                  </a:cubicBezTo>
                  <a:cubicBezTo>
                    <a:pt x="2184" y="28194"/>
                    <a:pt x="2134" y="28067"/>
                    <a:pt x="2108" y="27902"/>
                  </a:cubicBezTo>
                  <a:cubicBezTo>
                    <a:pt x="2083" y="27737"/>
                    <a:pt x="2159" y="27522"/>
                    <a:pt x="2286" y="27267"/>
                  </a:cubicBezTo>
                  <a:lnTo>
                    <a:pt x="4077" y="24930"/>
                  </a:lnTo>
                  <a:lnTo>
                    <a:pt x="6109" y="21908"/>
                  </a:lnTo>
                  <a:cubicBezTo>
                    <a:pt x="8408" y="18453"/>
                    <a:pt x="10351" y="14910"/>
                    <a:pt x="11862" y="11265"/>
                  </a:cubicBezTo>
                  <a:cubicBezTo>
                    <a:pt x="13373" y="7607"/>
                    <a:pt x="14313" y="5131"/>
                    <a:pt x="14681" y="3849"/>
                  </a:cubicBezTo>
                  <a:lnTo>
                    <a:pt x="15634" y="369"/>
                  </a:lnTo>
                  <a:cubicBezTo>
                    <a:pt x="15659" y="204"/>
                    <a:pt x="15748" y="102"/>
                    <a:pt x="15901" y="51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49" name="Shape 12189"/>
            <p:cNvSpPr/>
            <p:nvPr/>
          </p:nvSpPr>
          <p:spPr>
            <a:xfrm>
              <a:off x="3218011" y="1182649"/>
              <a:ext cx="38164" cy="85293"/>
            </a:xfrm>
            <a:custGeom>
              <a:avLst/>
              <a:gdLst/>
              <a:ahLst/>
              <a:cxnLst/>
              <a:rect l="0" t="0" r="0" b="0"/>
              <a:pathLst>
                <a:path w="38164" h="85293">
                  <a:moveTo>
                    <a:pt x="521" y="38"/>
                  </a:moveTo>
                  <a:cubicBezTo>
                    <a:pt x="648" y="0"/>
                    <a:pt x="1067" y="153"/>
                    <a:pt x="1791" y="483"/>
                  </a:cubicBezTo>
                  <a:lnTo>
                    <a:pt x="9030" y="3911"/>
                  </a:lnTo>
                  <a:lnTo>
                    <a:pt x="38164" y="3911"/>
                  </a:lnTo>
                  <a:lnTo>
                    <a:pt x="38164" y="6642"/>
                  </a:lnTo>
                  <a:lnTo>
                    <a:pt x="8382" y="6642"/>
                  </a:lnTo>
                  <a:lnTo>
                    <a:pt x="8382" y="75197"/>
                  </a:lnTo>
                  <a:lnTo>
                    <a:pt x="38164" y="75197"/>
                  </a:lnTo>
                  <a:lnTo>
                    <a:pt x="38164" y="77927"/>
                  </a:lnTo>
                  <a:lnTo>
                    <a:pt x="8382" y="77927"/>
                  </a:lnTo>
                  <a:lnTo>
                    <a:pt x="8382" y="82486"/>
                  </a:lnTo>
                  <a:cubicBezTo>
                    <a:pt x="8382" y="83680"/>
                    <a:pt x="7544" y="84442"/>
                    <a:pt x="5855" y="84772"/>
                  </a:cubicBezTo>
                  <a:cubicBezTo>
                    <a:pt x="4166" y="85090"/>
                    <a:pt x="2807" y="85268"/>
                    <a:pt x="1791" y="85268"/>
                  </a:cubicBezTo>
                  <a:cubicBezTo>
                    <a:pt x="1219" y="85293"/>
                    <a:pt x="826" y="85243"/>
                    <a:pt x="597" y="85090"/>
                  </a:cubicBezTo>
                  <a:cubicBezTo>
                    <a:pt x="381" y="84937"/>
                    <a:pt x="178" y="84544"/>
                    <a:pt x="0" y="83922"/>
                  </a:cubicBezTo>
                  <a:lnTo>
                    <a:pt x="445" y="72174"/>
                  </a:lnTo>
                  <a:lnTo>
                    <a:pt x="445" y="9461"/>
                  </a:lnTo>
                  <a:lnTo>
                    <a:pt x="51" y="584"/>
                  </a:lnTo>
                  <a:cubicBezTo>
                    <a:pt x="254" y="254"/>
                    <a:pt x="394" y="64"/>
                    <a:pt x="521" y="38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50" name="Shape 12190"/>
            <p:cNvSpPr/>
            <p:nvPr/>
          </p:nvSpPr>
          <p:spPr>
            <a:xfrm>
              <a:off x="3256175" y="1242652"/>
              <a:ext cx="14922" cy="14025"/>
            </a:xfrm>
            <a:custGeom>
              <a:avLst/>
              <a:gdLst/>
              <a:ahLst/>
              <a:cxnLst/>
              <a:rect l="0" t="0" r="0" b="0"/>
              <a:pathLst>
                <a:path w="14922" h="14025">
                  <a:moveTo>
                    <a:pt x="0" y="0"/>
                  </a:moveTo>
                  <a:lnTo>
                    <a:pt x="10973" y="3408"/>
                  </a:lnTo>
                  <a:cubicBezTo>
                    <a:pt x="13627" y="5847"/>
                    <a:pt x="14922" y="8031"/>
                    <a:pt x="14821" y="9987"/>
                  </a:cubicBezTo>
                  <a:cubicBezTo>
                    <a:pt x="14745" y="11079"/>
                    <a:pt x="14351" y="12019"/>
                    <a:pt x="13627" y="12807"/>
                  </a:cubicBezTo>
                  <a:cubicBezTo>
                    <a:pt x="12916" y="13607"/>
                    <a:pt x="11849" y="14001"/>
                    <a:pt x="10452" y="14001"/>
                  </a:cubicBezTo>
                  <a:cubicBezTo>
                    <a:pt x="9169" y="14025"/>
                    <a:pt x="8103" y="13772"/>
                    <a:pt x="7226" y="13213"/>
                  </a:cubicBezTo>
                  <a:cubicBezTo>
                    <a:pt x="6363" y="12642"/>
                    <a:pt x="4953" y="11371"/>
                    <a:pt x="2984" y="9416"/>
                  </a:cubicBezTo>
                  <a:lnTo>
                    <a:pt x="0" y="7087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51" name="Shape 12191"/>
            <p:cNvSpPr/>
            <p:nvPr/>
          </p:nvSpPr>
          <p:spPr>
            <a:xfrm>
              <a:off x="3256175" y="1228582"/>
              <a:ext cx="6388" cy="11154"/>
            </a:xfrm>
            <a:custGeom>
              <a:avLst/>
              <a:gdLst/>
              <a:ahLst/>
              <a:cxnLst/>
              <a:rect l="0" t="0" r="0" b="0"/>
              <a:pathLst>
                <a:path w="6388" h="11154">
                  <a:moveTo>
                    <a:pt x="0" y="0"/>
                  </a:moveTo>
                  <a:lnTo>
                    <a:pt x="1473" y="435"/>
                  </a:lnTo>
                  <a:cubicBezTo>
                    <a:pt x="3137" y="1134"/>
                    <a:pt x="4356" y="2035"/>
                    <a:pt x="5143" y="3166"/>
                  </a:cubicBezTo>
                  <a:cubicBezTo>
                    <a:pt x="5943" y="4283"/>
                    <a:pt x="6337" y="5350"/>
                    <a:pt x="6363" y="6341"/>
                  </a:cubicBezTo>
                  <a:cubicBezTo>
                    <a:pt x="6388" y="7332"/>
                    <a:pt x="6159" y="8195"/>
                    <a:pt x="5690" y="8919"/>
                  </a:cubicBezTo>
                  <a:cubicBezTo>
                    <a:pt x="5220" y="9642"/>
                    <a:pt x="4623" y="10201"/>
                    <a:pt x="3886" y="10583"/>
                  </a:cubicBezTo>
                  <a:cubicBezTo>
                    <a:pt x="3137" y="10951"/>
                    <a:pt x="2426" y="11154"/>
                    <a:pt x="1727" y="11154"/>
                  </a:cubicBezTo>
                  <a:lnTo>
                    <a:pt x="0" y="1042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52" name="Shape 12192"/>
            <p:cNvSpPr/>
            <p:nvPr/>
          </p:nvSpPr>
          <p:spPr>
            <a:xfrm>
              <a:off x="3256175" y="1197470"/>
              <a:ext cx="30797" cy="35929"/>
            </a:xfrm>
            <a:custGeom>
              <a:avLst/>
              <a:gdLst/>
              <a:ahLst/>
              <a:cxnLst/>
              <a:rect l="0" t="0" r="0" b="0"/>
              <a:pathLst>
                <a:path w="30797" h="35929">
                  <a:moveTo>
                    <a:pt x="10757" y="26"/>
                  </a:moveTo>
                  <a:cubicBezTo>
                    <a:pt x="11176" y="38"/>
                    <a:pt x="12065" y="470"/>
                    <a:pt x="13386" y="1346"/>
                  </a:cubicBezTo>
                  <a:lnTo>
                    <a:pt x="18199" y="4559"/>
                  </a:lnTo>
                  <a:cubicBezTo>
                    <a:pt x="19266" y="5283"/>
                    <a:pt x="19863" y="5766"/>
                    <a:pt x="20028" y="6007"/>
                  </a:cubicBezTo>
                  <a:cubicBezTo>
                    <a:pt x="20206" y="6223"/>
                    <a:pt x="20282" y="6515"/>
                    <a:pt x="20257" y="6845"/>
                  </a:cubicBezTo>
                  <a:cubicBezTo>
                    <a:pt x="20231" y="7163"/>
                    <a:pt x="19558" y="7519"/>
                    <a:pt x="18199" y="7887"/>
                  </a:cubicBezTo>
                  <a:lnTo>
                    <a:pt x="16015" y="8484"/>
                  </a:lnTo>
                  <a:cubicBezTo>
                    <a:pt x="12535" y="12509"/>
                    <a:pt x="8814" y="16243"/>
                    <a:pt x="4851" y="19698"/>
                  </a:cubicBezTo>
                  <a:cubicBezTo>
                    <a:pt x="7950" y="21501"/>
                    <a:pt x="11570" y="23013"/>
                    <a:pt x="15659" y="24206"/>
                  </a:cubicBezTo>
                  <a:cubicBezTo>
                    <a:pt x="19761" y="25400"/>
                    <a:pt x="23647" y="26175"/>
                    <a:pt x="27318" y="26543"/>
                  </a:cubicBezTo>
                  <a:lnTo>
                    <a:pt x="30200" y="26836"/>
                  </a:lnTo>
                  <a:cubicBezTo>
                    <a:pt x="30569" y="26899"/>
                    <a:pt x="30747" y="27102"/>
                    <a:pt x="30772" y="27432"/>
                  </a:cubicBezTo>
                  <a:cubicBezTo>
                    <a:pt x="30797" y="27763"/>
                    <a:pt x="30594" y="28004"/>
                    <a:pt x="30200" y="28181"/>
                  </a:cubicBezTo>
                  <a:lnTo>
                    <a:pt x="27724" y="29363"/>
                  </a:lnTo>
                  <a:cubicBezTo>
                    <a:pt x="27051" y="29693"/>
                    <a:pt x="26327" y="30239"/>
                    <a:pt x="25565" y="30988"/>
                  </a:cubicBezTo>
                  <a:cubicBezTo>
                    <a:pt x="24790" y="31724"/>
                    <a:pt x="24130" y="32715"/>
                    <a:pt x="23584" y="33986"/>
                  </a:cubicBezTo>
                  <a:cubicBezTo>
                    <a:pt x="23038" y="35230"/>
                    <a:pt x="22492" y="35865"/>
                    <a:pt x="21971" y="35865"/>
                  </a:cubicBezTo>
                  <a:cubicBezTo>
                    <a:pt x="21146" y="35929"/>
                    <a:pt x="18796" y="35179"/>
                    <a:pt x="14897" y="33617"/>
                  </a:cubicBezTo>
                  <a:cubicBezTo>
                    <a:pt x="10998" y="32042"/>
                    <a:pt x="8103" y="30556"/>
                    <a:pt x="6185" y="29197"/>
                  </a:cubicBezTo>
                  <a:lnTo>
                    <a:pt x="0" y="24259"/>
                  </a:lnTo>
                  <a:lnTo>
                    <a:pt x="0" y="14157"/>
                  </a:lnTo>
                  <a:lnTo>
                    <a:pt x="2768" y="10770"/>
                  </a:lnTo>
                  <a:cubicBezTo>
                    <a:pt x="4458" y="8586"/>
                    <a:pt x="5613" y="7010"/>
                    <a:pt x="6236" y="6058"/>
                  </a:cubicBezTo>
                  <a:lnTo>
                    <a:pt x="0" y="6058"/>
                  </a:lnTo>
                  <a:lnTo>
                    <a:pt x="0" y="3378"/>
                  </a:lnTo>
                  <a:lnTo>
                    <a:pt x="7036" y="3378"/>
                  </a:lnTo>
                  <a:lnTo>
                    <a:pt x="9220" y="991"/>
                  </a:lnTo>
                  <a:cubicBezTo>
                    <a:pt x="9817" y="318"/>
                    <a:pt x="10338" y="0"/>
                    <a:pt x="10757" y="26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53" name="Shape 12193"/>
            <p:cNvSpPr/>
            <p:nvPr/>
          </p:nvSpPr>
          <p:spPr>
            <a:xfrm>
              <a:off x="3256175" y="1183132"/>
              <a:ext cx="43739" cy="83579"/>
            </a:xfrm>
            <a:custGeom>
              <a:avLst/>
              <a:gdLst/>
              <a:ahLst/>
              <a:cxnLst/>
              <a:rect l="0" t="0" r="0" b="0"/>
              <a:pathLst>
                <a:path w="43739" h="83579">
                  <a:moveTo>
                    <a:pt x="35090" y="25"/>
                  </a:moveTo>
                  <a:cubicBezTo>
                    <a:pt x="35357" y="38"/>
                    <a:pt x="36081" y="394"/>
                    <a:pt x="37249" y="1092"/>
                  </a:cubicBezTo>
                  <a:lnTo>
                    <a:pt x="41567" y="3822"/>
                  </a:lnTo>
                  <a:cubicBezTo>
                    <a:pt x="42672" y="4546"/>
                    <a:pt x="43320" y="5004"/>
                    <a:pt x="43472" y="5181"/>
                  </a:cubicBezTo>
                  <a:cubicBezTo>
                    <a:pt x="43624" y="5359"/>
                    <a:pt x="43701" y="5524"/>
                    <a:pt x="43713" y="5652"/>
                  </a:cubicBezTo>
                  <a:cubicBezTo>
                    <a:pt x="43739" y="5778"/>
                    <a:pt x="43701" y="5905"/>
                    <a:pt x="43624" y="6032"/>
                  </a:cubicBezTo>
                  <a:cubicBezTo>
                    <a:pt x="43548" y="6134"/>
                    <a:pt x="43129" y="6528"/>
                    <a:pt x="42354" y="7188"/>
                  </a:cubicBezTo>
                  <a:lnTo>
                    <a:pt x="40221" y="8979"/>
                  </a:lnTo>
                  <a:lnTo>
                    <a:pt x="40221" y="70205"/>
                  </a:lnTo>
                  <a:lnTo>
                    <a:pt x="40716" y="80721"/>
                  </a:lnTo>
                  <a:cubicBezTo>
                    <a:pt x="40322" y="81572"/>
                    <a:pt x="39700" y="82258"/>
                    <a:pt x="38888" y="82779"/>
                  </a:cubicBezTo>
                  <a:cubicBezTo>
                    <a:pt x="38062" y="83286"/>
                    <a:pt x="36627" y="83541"/>
                    <a:pt x="34620" y="83565"/>
                  </a:cubicBezTo>
                  <a:cubicBezTo>
                    <a:pt x="32601" y="83579"/>
                    <a:pt x="31585" y="83058"/>
                    <a:pt x="31585" y="82004"/>
                  </a:cubicBezTo>
                  <a:lnTo>
                    <a:pt x="31585" y="77444"/>
                  </a:lnTo>
                  <a:lnTo>
                    <a:pt x="0" y="77444"/>
                  </a:lnTo>
                  <a:lnTo>
                    <a:pt x="0" y="74714"/>
                  </a:lnTo>
                  <a:lnTo>
                    <a:pt x="31585" y="74714"/>
                  </a:lnTo>
                  <a:lnTo>
                    <a:pt x="31585" y="6159"/>
                  </a:lnTo>
                  <a:lnTo>
                    <a:pt x="0" y="6159"/>
                  </a:lnTo>
                  <a:lnTo>
                    <a:pt x="0" y="3428"/>
                  </a:lnTo>
                  <a:lnTo>
                    <a:pt x="31343" y="3428"/>
                  </a:lnTo>
                  <a:lnTo>
                    <a:pt x="33426" y="1295"/>
                  </a:lnTo>
                  <a:cubicBezTo>
                    <a:pt x="34239" y="419"/>
                    <a:pt x="34811" y="0"/>
                    <a:pt x="35090" y="25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8171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zh-CN" altLang="en-US" sz="2400"/>
            </a:p>
          </p:txBody>
        </p:sp>
        <p:sp>
          <p:nvSpPr>
            <p:cNvPr id="54" name="Rectangle 12194"/>
            <p:cNvSpPr/>
            <p:nvPr/>
          </p:nvSpPr>
          <p:spPr>
            <a:xfrm>
              <a:off x="1186837" y="1347099"/>
              <a:ext cx="152019" cy="15201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 marL="84665" indent="-8466">
                <a:lnSpc>
                  <a:spcPct val="107000"/>
                </a:lnSpc>
                <a:spcAft>
                  <a:spcPts val="1067"/>
                </a:spcAft>
              </a:pPr>
              <a:endParaRPr lang="zh-CN" altLang="en-US" sz="1400" kern="100">
                <a:solidFill>
                  <a:srgbClr val="18171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pic>
        <p:nvPicPr>
          <p:cNvPr id="55" name="Picture 4" descr="tj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720" y="4548188"/>
            <a:ext cx="1673225" cy="1697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9718049" y="6237197"/>
            <a:ext cx="1138563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133"/>
              <a:t>48</a:t>
            </a:r>
            <a:r>
              <a:rPr lang="en-US" altLang="zh-CN" sz="2133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altLang="zh-CN" sz="2133"/>
              <a:t>48</a:t>
            </a:r>
            <a:endParaRPr lang="zh-CN" altLang="en-US" sz="2133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88977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6" name="文本占位符 2"/>
          <p:cNvSpPr txBox="1">
            <a:spLocks/>
          </p:cNvSpPr>
          <p:nvPr/>
        </p:nvSpPr>
        <p:spPr>
          <a:xfrm>
            <a:off x="1274320" y="1105428"/>
            <a:ext cx="10474768" cy="57525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数据化的图像是由一个个像素组成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 技术参数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分辨率：列数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ⅹ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数    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800*600</a:t>
            </a:r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kumimoji="1"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颜色深度（位分辨率）：储存一个像素的颜色所用的位数</a:t>
            </a:r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kumimoji="1" lang="zh-CN" altLang="en-US" sz="2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真彩色：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24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位，</a:t>
            </a:r>
            <a:r>
              <a:rPr kumimoji="1" lang="zh-CN" altLang="en-US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红绿蓝三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个分量各占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个字节</a:t>
            </a:r>
            <a:b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共有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1" lang="en-US" altLang="zh-CN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24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种颜色</a:t>
            </a:r>
            <a:b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</a:t>
            </a:r>
            <a:endParaRPr kumimoji="1"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36" y="4299582"/>
            <a:ext cx="2588235" cy="238644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46528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3" name="Rectangle 3"/>
          <p:cNvSpPr>
            <a:spLocks noGrp="1"/>
          </p:cNvSpPr>
          <p:nvPr>
            <p:ph idx="1"/>
          </p:nvPr>
        </p:nvSpPr>
        <p:spPr>
          <a:xfrm>
            <a:off x="136048" y="1447419"/>
            <a:ext cx="12097344" cy="64531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  <a:spcBef>
                <a:spcPct val="35000"/>
              </a:spcBef>
              <a:buNone/>
            </a:pPr>
            <a:r>
              <a:rPr lang="zh-CN" altLang="en-US" sz="2667">
                <a:solidFill>
                  <a:srgbClr val="A50021"/>
                </a:solidFill>
              </a:rPr>
              <a:t>黑白图</a:t>
            </a:r>
            <a:r>
              <a:rPr lang="en-US" altLang="zh-CN" sz="2667">
                <a:solidFill>
                  <a:srgbClr val="A50021"/>
                </a:solidFill>
              </a:rPr>
              <a:t>:</a:t>
            </a:r>
            <a:r>
              <a:rPr lang="zh-CN" altLang="en-US" sz="2667"/>
              <a:t>  </a:t>
            </a:r>
            <a:r>
              <a:rPr lang="en-US" altLang="zh-CN" sz="2667"/>
              <a:t>1</a:t>
            </a:r>
            <a:r>
              <a:rPr lang="zh-CN" altLang="en-US" sz="2667"/>
              <a:t>位，</a:t>
            </a:r>
            <a:r>
              <a:rPr lang="en-US" altLang="zh-CN" sz="2667"/>
              <a:t>1</a:t>
            </a:r>
            <a:r>
              <a:rPr lang="zh-CN" altLang="en-US" sz="2667" dirty="0"/>
              <a:t>和</a:t>
            </a:r>
            <a:r>
              <a:rPr lang="en-US" altLang="zh-CN" sz="2667" dirty="0"/>
              <a:t>0</a:t>
            </a:r>
            <a:r>
              <a:rPr lang="zh-CN" altLang="en-US" sz="2667" dirty="0"/>
              <a:t>表示纯白、纯黑两种情况； 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None/>
            </a:pPr>
            <a:r>
              <a:rPr lang="zh-CN" altLang="en-US" sz="2667">
                <a:solidFill>
                  <a:srgbClr val="A50021"/>
                </a:solidFill>
              </a:rPr>
              <a:t>灰度图</a:t>
            </a:r>
            <a:r>
              <a:rPr lang="en-US" altLang="zh-CN" sz="2667">
                <a:solidFill>
                  <a:srgbClr val="A50021"/>
                </a:solidFill>
              </a:rPr>
              <a:t>: </a:t>
            </a:r>
            <a:r>
              <a:rPr lang="zh-CN" altLang="en-US" sz="2667">
                <a:solidFill>
                  <a:schemeClr val="accent2"/>
                </a:solidFill>
              </a:rPr>
              <a:t> </a:t>
            </a:r>
            <a:r>
              <a:rPr lang="en-US" altLang="zh-CN" sz="2667"/>
              <a:t>8</a:t>
            </a:r>
            <a:r>
              <a:rPr lang="zh-CN" altLang="en-US" sz="2667"/>
              <a:t>位，</a:t>
            </a:r>
            <a:r>
              <a:rPr lang="zh-CN" altLang="en-US" sz="2667" dirty="0"/>
              <a:t>占一个字节，灰度级别为</a:t>
            </a:r>
            <a:r>
              <a:rPr lang="en-US" altLang="zh-CN" sz="2667" dirty="0"/>
              <a:t>256</a:t>
            </a:r>
            <a:r>
              <a:rPr lang="zh-CN" altLang="en-US" sz="2667"/>
              <a:t>级。</a:t>
            </a:r>
            <a:endParaRPr lang="en-US" altLang="zh-CN" sz="2667"/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None/>
            </a:pPr>
            <a:r>
              <a:rPr lang="en-US" altLang="zh-CN" sz="2667"/>
              <a:t>             </a:t>
            </a:r>
            <a:r>
              <a:rPr lang="zh-CN" altLang="en-US" sz="2667"/>
              <a:t>通过调整黑白两</a:t>
            </a:r>
            <a:r>
              <a:rPr lang="zh-CN" altLang="en-US" sz="2667" dirty="0"/>
              <a:t>色的程度（称颜色灰度）来有效地显示单色图像；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None/>
            </a:pPr>
            <a:r>
              <a:rPr lang="zh-CN" altLang="en-US" sz="2667">
                <a:solidFill>
                  <a:srgbClr val="A50021"/>
                </a:solidFill>
              </a:rPr>
              <a:t>真彩色</a:t>
            </a:r>
            <a:r>
              <a:rPr lang="en-US" altLang="zh-CN" sz="2667">
                <a:solidFill>
                  <a:srgbClr val="A50021"/>
                </a:solidFill>
              </a:rPr>
              <a:t>:  </a:t>
            </a:r>
            <a:r>
              <a:rPr lang="en-US" altLang="zh-CN" sz="2667"/>
              <a:t>24</a:t>
            </a:r>
            <a:r>
              <a:rPr lang="zh-CN" altLang="en-US" sz="2667"/>
              <a:t>位，由</a:t>
            </a:r>
            <a:r>
              <a:rPr lang="zh-CN" altLang="en-US" sz="2667" dirty="0"/>
              <a:t>红、绿、蓝三基色通过不同的强度混合而</a:t>
            </a:r>
            <a:r>
              <a:rPr lang="zh-CN" altLang="en-US" sz="2667"/>
              <a:t>成，</a:t>
            </a:r>
            <a:endParaRPr lang="en-US" altLang="zh-CN" sz="2667"/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None/>
            </a:pPr>
            <a:r>
              <a:rPr kumimoji="1" lang="en-US" altLang="zh-CN" sz="2667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kumimoji="1" lang="zh-CN" altLang="en-US" sz="2667">
                <a:latin typeface="Arial" panose="020B0604020202020204" pitchFamily="34" charset="0"/>
                <a:cs typeface="Arial" panose="020B0604020202020204" pitchFamily="34" charset="0"/>
              </a:rPr>
              <a:t>一个颜色分量占</a:t>
            </a:r>
            <a:r>
              <a:rPr kumimoji="1" lang="en-US" altLang="zh-CN" sz="2667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1" lang="zh-CN" altLang="en-US" sz="2667">
                <a:latin typeface="Arial" panose="020B0604020202020204" pitchFamily="34" charset="0"/>
                <a:cs typeface="Arial" panose="020B0604020202020204" pitchFamily="34" charset="0"/>
              </a:rPr>
              <a:t>个字节</a:t>
            </a:r>
            <a:r>
              <a:rPr lang="zh-CN" altLang="en-US" sz="2667"/>
              <a:t>（值为</a:t>
            </a:r>
            <a:r>
              <a:rPr lang="en-US" altLang="zh-CN" sz="2667"/>
              <a:t>0</a:t>
            </a:r>
            <a:r>
              <a:rPr lang="zh-CN" altLang="en-US" sz="2667"/>
              <a:t>～</a:t>
            </a:r>
            <a:r>
              <a:rPr lang="en-US" altLang="zh-CN" sz="2667"/>
              <a:t>255</a:t>
            </a:r>
            <a:r>
              <a:rPr lang="zh-CN" altLang="en-US" sz="2667"/>
              <a:t>），</a:t>
            </a:r>
            <a:r>
              <a:rPr kumimoji="1" lang="zh-CN" altLang="en-US" sz="2667">
                <a:latin typeface="Arial" panose="020B0604020202020204" pitchFamily="34" charset="0"/>
                <a:cs typeface="Arial" panose="020B0604020202020204" pitchFamily="34" charset="0"/>
              </a:rPr>
              <a:t>共有</a:t>
            </a:r>
            <a:r>
              <a:rPr kumimoji="1" lang="en-US" altLang="zh-CN" sz="2667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1" lang="en-US" altLang="zh-CN" sz="2667" baseline="3000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kumimoji="1" lang="zh-CN" altLang="en-US" sz="2667">
                <a:latin typeface="Arial" panose="020B0604020202020204" pitchFamily="34" charset="0"/>
                <a:cs typeface="Arial" panose="020B0604020202020204" pitchFamily="34" charset="0"/>
              </a:rPr>
              <a:t>种颜色</a:t>
            </a:r>
            <a:r>
              <a:rPr lang="zh-CN" altLang="en-US" sz="2400"/>
              <a:t>。</a:t>
            </a:r>
            <a:endParaRPr lang="zh-CN" altLang="en-US" sz="2400" dirty="0"/>
          </a:p>
        </p:txBody>
      </p:sp>
      <p:pic>
        <p:nvPicPr>
          <p:cNvPr id="3123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413" y="4895339"/>
            <a:ext cx="1873251" cy="172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232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765" y="4796786"/>
            <a:ext cx="1439863" cy="19446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232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750" y="4725347"/>
            <a:ext cx="1368425" cy="201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8" name="Rectangle 9"/>
          <p:cNvSpPr/>
          <p:nvPr/>
        </p:nvSpPr>
        <p:spPr>
          <a:xfrm>
            <a:off x="5572739" y="5596611"/>
            <a:ext cx="1223963" cy="46166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CC3300"/>
                </a:solidFill>
                <a:ea typeface="微软雅黑" panose="020B0503020204020204" pitchFamily="34" charset="-122"/>
              </a:rPr>
              <a:t>灰度图</a:t>
            </a:r>
          </a:p>
        </p:txBody>
      </p:sp>
      <p:sp>
        <p:nvSpPr>
          <p:cNvPr id="23559" name="Rectangle 10"/>
          <p:cNvSpPr/>
          <p:nvPr/>
        </p:nvSpPr>
        <p:spPr>
          <a:xfrm>
            <a:off x="8448175" y="5588001"/>
            <a:ext cx="1223963" cy="46166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CC3300"/>
                </a:solidFill>
                <a:ea typeface="微软雅黑" panose="020B0503020204020204" pitchFamily="34" charset="-122"/>
              </a:rPr>
              <a:t>彩色图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35360" y="452670"/>
            <a:ext cx="268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颜色深度</a:t>
            </a:r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754" y="4674013"/>
            <a:ext cx="1383863" cy="20317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655989" y="5494850"/>
            <a:ext cx="1223963" cy="46166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CC3300"/>
                </a:solidFill>
                <a:ea typeface="微软雅黑" panose="020B0503020204020204" pitchFamily="34" charset="-122"/>
              </a:rPr>
              <a:t>黑白图</a:t>
            </a:r>
            <a:endParaRPr lang="zh-CN" altLang="en-US" sz="2400" dirty="0">
              <a:solidFill>
                <a:srgbClr val="CC3300"/>
              </a:solidFill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7100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23559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9"/>
            <a:ext cx="10168381" cy="42285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计算一幅没有压缩的图像存储所需的存储容量：</a:t>
            </a:r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列数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行数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像素的颜色深度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/8 =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字节数 </a:t>
            </a:r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例：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1280×1024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分辨率的图像，则需要：    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defTabSz="640080"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       </a:t>
            </a:r>
            <a:r>
              <a:rPr kumimoji="1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真彩色：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1280×1024×24/8=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3840KB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3.75MB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kumimoji="1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灰度图像：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1280×1024×8/8=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1280KB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1.25MB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</a:t>
            </a:r>
            <a:r>
              <a:rPr kumimoji="1" lang="en-US" altLang="zh-CN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黑白图像：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1280×1024×1/8=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160KB</a:t>
            </a:r>
            <a:endParaRPr kumimoji="1"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66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8"/>
            <a:ext cx="8377681" cy="6708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图像数字化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38430" y="5382193"/>
            <a:ext cx="8888414" cy="549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400" dirty="0"/>
              <a:t>    </a:t>
            </a:r>
            <a:r>
              <a:rPr lang="zh-CN" altLang="en-US" sz="2400" b="1" dirty="0">
                <a:solidFill>
                  <a:srgbClr val="CC0000"/>
                </a:solidFill>
              </a:rPr>
              <a:t>图像                      采样                    量化                数字图像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253" y="3150168"/>
            <a:ext cx="1427163" cy="223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993" y="3173981"/>
            <a:ext cx="1490662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316" y="3173981"/>
            <a:ext cx="1508343" cy="210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582" y="3186681"/>
            <a:ext cx="1808818" cy="207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934253" y="2073348"/>
            <a:ext cx="1083332" cy="4955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64008" tIns="32004" rIns="64008" bIns="32004">
            <a:spAutoFit/>
          </a:bodyPr>
          <a:lstStyle>
            <a:lvl1pPr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20675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39763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960438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279525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采样</a:t>
            </a: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3755929" y="2103433"/>
            <a:ext cx="1083600" cy="4955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>
            <a:lvl1pPr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20675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39763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960438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279525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量化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5530840" y="2072155"/>
            <a:ext cx="1083600" cy="495520"/>
          </a:xfrm>
          <a:prstGeom prst="rect">
            <a:avLst/>
          </a:prstGeom>
          <a:noFill/>
          <a:ln w="9525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64008" tIns="32004" rIns="64008" bIns="32004">
            <a:spAutoFit/>
          </a:bodyPr>
          <a:lstStyle>
            <a:lvl1pPr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320675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639763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960438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279525" algn="l" defTabSz="6397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7367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1939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6511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108325" defTabSz="6397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3024447" y="2358798"/>
            <a:ext cx="731482" cy="0"/>
          </a:xfrm>
          <a:prstGeom prst="line">
            <a:avLst/>
          </a:prstGeom>
          <a:noFill/>
          <a:ln w="69850" cmpd="dbl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4821265" y="2358798"/>
            <a:ext cx="731482" cy="0"/>
          </a:xfrm>
          <a:prstGeom prst="line">
            <a:avLst/>
          </a:prstGeom>
          <a:noFill/>
          <a:ln w="69850" cmpd="dbl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494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8"/>
            <a:ext cx="10917681" cy="57525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◆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采样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数码相机：分辨率（列数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×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列数）  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1920 × 1080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影像通过镜头，进入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CCD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，转换成电信号，模数转换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CCD：排列成矩阵形式的大量独立感光二极管组成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扫描仪：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DPI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，如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300DPI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，最后也是分辨率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   </a:t>
            </a:r>
            <a:r>
              <a:rPr kumimoji="1"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强光照射物体，反射的光进入CCD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kumimoji="1" lang="en-US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分辨率越高，图像越清晰，存储量也越大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32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8"/>
            <a:ext cx="10917681" cy="57525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◆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量化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采样后得到的表示像素颜色的数值变换成离散的整数值</a:t>
            </a:r>
            <a:b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这个整数值所占的位数也称为颜色深度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◆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编码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以某一种格式进行存储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spcBef>
                <a:spcPct val="5000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BMP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(.bmp)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：位图文件，没有压缩过</a:t>
            </a: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spcBef>
                <a:spcPct val="5000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GIF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(.gif)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256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色彩色图像，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个像素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位</a:t>
            </a:r>
          </a:p>
          <a:p>
            <a:pPr eaLnBrk="0" hangingPunct="0">
              <a:spcBef>
                <a:spcPct val="35000"/>
              </a:spcBef>
            </a:pP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JPEG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文件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(.jpg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.jpeg)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：利用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JPEG</a:t>
            </a:r>
            <a:r>
              <a:rPr kumimoji="1"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标准压缩的图像文件</a:t>
            </a:r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endParaRPr kumimoji="1"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图像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6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文本占位符 2"/>
          <p:cNvSpPr txBox="1">
            <a:spLocks/>
          </p:cNvSpPr>
          <p:nvPr/>
        </p:nvSpPr>
        <p:spPr>
          <a:xfrm>
            <a:off x="1274319" y="1105428"/>
            <a:ext cx="10917681" cy="575257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lang="zh-CN" altLang="en-US" dirty="0"/>
              <a:t>① 条形码：将宽度不等的黑条和空白按这一定的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lang="zh-CN" altLang="en-US" dirty="0"/>
              <a:t>                       编码规则排列，用以表达一组信息的</a:t>
            </a:r>
            <a:br>
              <a:rPr lang="en-US" altLang="zh-CN" dirty="0"/>
            </a:br>
            <a:r>
              <a:rPr lang="en-US" altLang="zh-CN" dirty="0"/>
              <a:t>                       </a:t>
            </a:r>
            <a:r>
              <a:rPr lang="zh-CN" altLang="en-US" dirty="0"/>
              <a:t>图形标识符。常的见是商品的条形码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lang="zh-CN" altLang="en-US" dirty="0"/>
              <a:t>② 二维码：用特定的几何图形按平面分布的黑色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lang="zh-CN" altLang="en-US" dirty="0"/>
              <a:t>                      相间的图形，又称为编码的编码</a:t>
            </a:r>
            <a:endParaRPr lang="en-US" altLang="zh-CN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</a:pP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③ 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ISBN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978-7-302-53452-5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</a:pP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④ </a:t>
            </a:r>
            <a:r>
              <a:rPr kumimoji="1"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5G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也有编码：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LDPC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kumimoji="1"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Polar</a:t>
            </a: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等</a:t>
            </a:r>
            <a:endParaRPr kumimoji="1"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00000"/>
              </a:buClr>
            </a:pPr>
            <a:r>
              <a:rPr kumimoji="1"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所有数码设备：处处有编码</a:t>
            </a:r>
            <a:endParaRPr lang="en-US" altLang="zh-CN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其他类型编码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19525D-3F05-4822-9609-D8E9C2544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209" y="1337573"/>
            <a:ext cx="2013507" cy="12256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AA5A79-A63C-4628-B3C4-1C96D4EA1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1496" y="3295561"/>
            <a:ext cx="2013506" cy="199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9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其他类型编码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占位符 2"/>
          <p:cNvSpPr txBox="1">
            <a:spLocks/>
          </p:cNvSpPr>
          <p:nvPr/>
        </p:nvSpPr>
        <p:spPr>
          <a:xfrm>
            <a:off x="1274320" y="1105430"/>
            <a:ext cx="5972300" cy="558767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拓展：</a:t>
            </a:r>
            <a:r>
              <a:rPr kumimoji="1" lang="zh-CN" altLang="zh-CN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生成条形码</a:t>
            </a: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 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导入第三方库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pystrich.code128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Code128Encoder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from 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pystrich.code128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import 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Code128Encoder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endParaRPr kumimoji="1" lang="zh-CN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msg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input(“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请输入条码字符：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\n")</a:t>
            </a:r>
            <a:endParaRPr kumimoji="1" lang="zh-CN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encoder = 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Code128Encoder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msg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endParaRPr kumimoji="1" lang="zh-CN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encoder.save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条形码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png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程序运行：</a:t>
            </a: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zh-CN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请输入条形码字符：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srgbClr val="A5002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6920152461020</a:t>
            </a:r>
            <a:endParaRPr kumimoji="1" lang="zh-CN" altLang="zh-CN" dirty="0">
              <a:solidFill>
                <a:srgbClr val="A5002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kumimoji="1" lang="zh-CN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+mn-lt"/>
              <a:ea typeface="黑体" panose="02010609060101010101" pitchFamily="49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284" y="4773930"/>
            <a:ext cx="5440363" cy="20840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057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587" y="3130867"/>
            <a:ext cx="3803333" cy="3506153"/>
          </a:xfrm>
          <a:prstGeom prst="rect">
            <a:avLst/>
          </a:prstGeom>
        </p:spPr>
      </p:pic>
      <p:sp>
        <p:nvSpPr>
          <p:cNvPr id="4" name="标题 1"/>
          <p:cNvSpPr txBox="1">
            <a:spLocks/>
          </p:cNvSpPr>
          <p:nvPr/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kumimoji="1" lang="zh-CN" altLang="zh-CN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kumimoji="1" lang="zh-CN" altLang="en-US" sz="3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其他类型编码</a:t>
            </a:r>
            <a:endParaRPr kumimoji="1" lang="en-US" altLang="zh-CN" sz="3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文本占位符 2"/>
          <p:cNvSpPr txBox="1">
            <a:spLocks/>
          </p:cNvSpPr>
          <p:nvPr/>
        </p:nvSpPr>
        <p:spPr>
          <a:xfrm>
            <a:off x="1274320" y="1105430"/>
            <a:ext cx="10917680" cy="4563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拓展：生成二维码</a:t>
            </a: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import 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os</a:t>
            </a:r>
            <a:endParaRPr kumimoji="1" lang="zh-CN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from 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pystrich.qrcode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import 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QRCodeEncoder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# 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需先安装好第三方库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msg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= input("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请输入内容：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</a:t>
            </a:r>
            <a:endParaRPr kumimoji="1" lang="zh-CN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encoder = 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QRCodeEncoder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msg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#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调用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QRCodeEncoder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函数生成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QRCode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二维码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encoder.save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二维码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png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     # 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保存二维码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os.system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kumimoji="1" lang="zh-CN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二维码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png</a:t>
            </a:r>
            <a:r>
              <a:rPr kumimoji="1" lang="en-US" altLang="zh-CN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 </a:t>
            </a:r>
            <a:endParaRPr kumimoji="1" lang="zh-CN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kumimoji="1" lang="en-US" altLang="zh-CN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kumimoji="1"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</a:t>
            </a:r>
            <a:r>
              <a:rPr kumimoji="1" lang="zh-CN" altLang="en-US" sz="24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2400" dirty="0" err="1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www.tongji.edu.cn</a:t>
            </a:r>
            <a:endParaRPr kumimoji="1" lang="zh-CN" altLang="zh-CN" sz="24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C00000"/>
              </a:buClr>
            </a:pPr>
            <a:endParaRPr kumimoji="1" lang="zh-CN" altLang="en-US" dirty="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zh-CN" altLang="en-US" sz="2000" dirty="0">
              <a:latin typeface="+mn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1083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TextBox 3"/>
          <p:cNvSpPr txBox="1"/>
          <p:nvPr/>
        </p:nvSpPr>
        <p:spPr>
          <a:xfrm>
            <a:off x="143339" y="1278600"/>
            <a:ext cx="6913563" cy="50276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zh-CN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数据压缩的重要性</a:t>
            </a:r>
            <a:r>
              <a:rPr lang="zh-CN" altLang="en-US" sz="2667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2667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矩形 1"/>
          <p:cNvSpPr/>
          <p:nvPr/>
        </p:nvSpPr>
        <p:spPr>
          <a:xfrm>
            <a:off x="335360" y="4581129"/>
            <a:ext cx="11544200" cy="113877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带来的问题</a:t>
            </a:r>
          </a:p>
          <a:p>
            <a:pPr>
              <a:spcBef>
                <a:spcPts val="600"/>
              </a:spcBef>
            </a:pPr>
            <a:r>
              <a:rPr lang="zh-CN" altLang="en-US" sz="28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占用存储容量、降低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通信干线的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信道传输率、影响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计算机的处理速度和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播放效果。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4" name="Text Box 3"/>
          <p:cNvSpPr txBox="1"/>
          <p:nvPr/>
        </p:nvSpPr>
        <p:spPr>
          <a:xfrm>
            <a:off x="623393" y="6021288"/>
            <a:ext cx="8713788" cy="561372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B2B2B2"/>
            </a:outerShdw>
          </a:effectLst>
        </p:spPr>
        <p:txBody>
          <a:bodyPr lIns="64008" tIns="32004" rIns="64008" bIns="32004">
            <a:spAutoFit/>
          </a:bodyPr>
          <a:lstStyle/>
          <a:p>
            <a:pPr defTabSz="640064">
              <a:lnSpc>
                <a:spcPct val="125000"/>
              </a:lnSpc>
              <a:spcBef>
                <a:spcPct val="3000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问题的解决：</a:t>
            </a:r>
            <a:r>
              <a:rPr lang="zh-CN" altLang="en-US" sz="2800" dirty="0">
                <a:solidFill>
                  <a:srgbClr val="C00000"/>
                </a:solidFill>
                <a:ea typeface="微软雅黑" panose="020B0503020204020204" pitchFamily="34" charset="-122"/>
              </a:rPr>
              <a:t>数据压缩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1371" y="347284"/>
            <a:ext cx="432048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733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、数据压缩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7381" y="2080785"/>
            <a:ext cx="104880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数字化了的图像、声音和视频信号的数量之大是非常惊人的</a:t>
            </a:r>
          </a:p>
          <a:p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一幅（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1280×720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位真彩色数据量大约在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2.6 MB</a:t>
            </a:r>
          </a:p>
          <a:p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一部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分钟（按每秒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帧）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44.10 kHz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位声卡存储影片占用：</a:t>
            </a:r>
          </a:p>
          <a:p>
            <a:r>
              <a:rPr lang="zh-CN" altLang="en-US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=(1280*720*3*25+ 44 100×16/8)*3600≈10GB</a:t>
            </a:r>
          </a:p>
          <a:p>
            <a:endParaRPr lang="zh-CN" altLang="en-US" sz="240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58743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/>
      <p:bldP spid="2765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 Box 3"/>
          <p:cNvSpPr txBox="1"/>
          <p:nvPr/>
        </p:nvSpPr>
        <p:spPr>
          <a:xfrm>
            <a:off x="143339" y="1287679"/>
            <a:ext cx="8713787" cy="2446182"/>
          </a:xfrm>
          <a:prstGeom prst="rect">
            <a:avLst/>
          </a:prstGeom>
          <a:noFill/>
          <a:ln w="9525">
            <a:noFill/>
          </a:ln>
          <a:effectLst>
            <a:outerShdw dist="17961" dir="2699999" algn="ctr" rotWithShape="0">
              <a:srgbClr val="B2B2B2"/>
            </a:outerShdw>
          </a:effectLst>
        </p:spPr>
        <p:txBody>
          <a:bodyPr lIns="64008" tIns="32004" rIns="64008" bIns="32004">
            <a:spAutoFit/>
          </a:bodyPr>
          <a:lstStyle/>
          <a:p>
            <a:pPr defTabSz="640064">
              <a:lnSpc>
                <a:spcPct val="125000"/>
              </a:lnSpc>
              <a:spcBef>
                <a:spcPct val="30000"/>
              </a:spcBef>
            </a:pPr>
            <a:r>
              <a:rPr lang="zh-CN" altLang="en-US" sz="2667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数据压缩可能性：</a:t>
            </a:r>
            <a:endParaRPr lang="en-US" altLang="zh-CN" sz="2667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40064">
              <a:lnSpc>
                <a:spcPct val="125000"/>
              </a:lnSpc>
              <a:spcBef>
                <a:spcPct val="30000"/>
              </a:spcBef>
            </a:pPr>
            <a:r>
              <a:rPr lang="zh-CN" altLang="en-US" sz="2667">
                <a:solidFill>
                  <a:srgbClr val="000066"/>
                </a:solidFill>
                <a:ea typeface="微软雅黑" panose="020B0503020204020204" pitchFamily="34" charset="-122"/>
              </a:rPr>
              <a:t>一幅图像中，各像素点的相关性</a:t>
            </a:r>
          </a:p>
          <a:p>
            <a:pPr defTabSz="640064">
              <a:lnSpc>
                <a:spcPct val="125000"/>
              </a:lnSpc>
              <a:spcBef>
                <a:spcPct val="30000"/>
              </a:spcBef>
            </a:pPr>
            <a:r>
              <a:rPr lang="zh-CN" altLang="en-US" sz="2667">
                <a:solidFill>
                  <a:srgbClr val="000066"/>
                </a:solidFill>
                <a:ea typeface="微软雅黑" panose="020B0503020204020204" pitchFamily="34" charset="-122"/>
              </a:rPr>
              <a:t>     视频视频图像中，各帧图像之间有着相同的部分</a:t>
            </a:r>
          </a:p>
          <a:p>
            <a:pPr defTabSz="640064">
              <a:lnSpc>
                <a:spcPct val="125000"/>
              </a:lnSpc>
              <a:spcBef>
                <a:spcPct val="30000"/>
              </a:spcBef>
            </a:pPr>
            <a:r>
              <a:rPr lang="zh-CN" altLang="en-US" sz="2667">
                <a:solidFill>
                  <a:srgbClr val="000066"/>
                </a:solidFill>
                <a:ea typeface="微软雅黑" panose="020B0503020204020204" pitchFamily="34" charset="-122"/>
              </a:rPr>
              <a:t>     因此数据的冗余度很大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7" name="TextBox 5"/>
          <p:cNvSpPr txBox="1"/>
          <p:nvPr/>
        </p:nvSpPr>
        <p:spPr>
          <a:xfrm>
            <a:off x="143339" y="3995640"/>
            <a:ext cx="11905323" cy="119673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67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数据压缩：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是通过编码的技术来降低数据存储时所需的空间，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等需要使用时，再进行解压缩。</a:t>
            </a:r>
            <a:endParaRPr lang="zh-CN" altLang="en-US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96615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</p:spPr>
        <p:txBody>
          <a:bodyPr/>
          <a:lstStyle/>
          <a:p>
            <a:r>
              <a:rPr kumimoji="1"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zh-CN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信息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压缩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30638" y="5027613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1529" tIns="65765" rIns="131529" bIns="6576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282950" y="4989513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1529" tIns="65765" rIns="131529" bIns="6576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4"/>
          <p:cNvSpPr>
            <a:spLocks noChangeArrowheads="1"/>
          </p:cNvSpPr>
          <p:nvPr/>
        </p:nvSpPr>
        <p:spPr bwMode="auto">
          <a:xfrm>
            <a:off x="-1231900" y="5178425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1529" tIns="65765" rIns="131529" bIns="65765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4400" y="1141200"/>
            <a:ext cx="11328400" cy="532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）为什么要信息压缩（好处）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减少存储容量</a:t>
            </a:r>
          </a:p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提高其传输效率</a:t>
            </a:r>
          </a:p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提高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计算机的处理速度</a:t>
            </a:r>
          </a:p>
          <a:p>
            <a:pPr marL="0" marR="0" lvl="0" indent="0" algn="l" defTabSz="914478" rtl="0" eaLnBrk="1" fontAlgn="auto" latinLnBrk="0" hangingPunct="1">
              <a:lnSpc>
                <a:spcPct val="125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）数据压缩的分类</a:t>
            </a:r>
          </a:p>
          <a:p>
            <a:pPr marL="0" marR="0" lvl="0" indent="0" algn="l" defTabSz="914478" rtl="0" eaLnBrk="1" fontAlgn="auto" latinLnBrk="0" hangingPunct="1">
              <a:lnSpc>
                <a:spcPct val="125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无损压缩  可以恢复原始数据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</a:p>
          <a:p>
            <a:pPr marL="0" marR="0" lvl="0" indent="0" algn="l" defTabSz="914478" rtl="0" eaLnBrk="1" fontAlgn="auto" latinLnBrk="0" hangingPunct="1">
              <a:lnSpc>
                <a:spcPct val="125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     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有损压缩  不可以恢复原始数据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2027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30638" y="5027613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1529" tIns="65765" rIns="131529" bIns="6576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282950" y="4989513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1529" tIns="65765" rIns="131529" bIns="6576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4"/>
          <p:cNvSpPr>
            <a:spLocks noChangeArrowheads="1"/>
          </p:cNvSpPr>
          <p:nvPr/>
        </p:nvSpPr>
        <p:spPr bwMode="auto">
          <a:xfrm>
            <a:off x="-1231900" y="5178425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1529" tIns="65765" rIns="131529" bIns="65765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4400" y="1141200"/>
            <a:ext cx="11328400" cy="4422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）压缩技术的性能指标</a:t>
            </a:r>
          </a:p>
          <a:p>
            <a:pPr marL="0" marR="0" lvl="0" indent="0" algn="l" defTabSz="914478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压缩比  压缩前后所需的存储容量之比 </a:t>
            </a:r>
          </a:p>
          <a:p>
            <a:pPr marL="0" marR="0" lvl="0" indent="0" algn="l" defTabSz="914478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恢复效果  要尽可能恢复到原始数据</a:t>
            </a:r>
          </a:p>
          <a:p>
            <a:pPr marL="0" marR="0" lvl="0" indent="0" algn="l" defTabSz="914478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速度  压缩、解压的速度</a:t>
            </a:r>
          </a:p>
          <a:p>
            <a:pPr marL="0" marR="0" lvl="0" indent="0" algn="l" defTabSz="914478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开销  实现压缩的软、硬件开销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222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30638" y="5027613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1529" tIns="65765" rIns="131529" bIns="6576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282950" y="4989513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1529" tIns="65765" rIns="131529" bIns="6576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4"/>
          <p:cNvSpPr>
            <a:spLocks noChangeArrowheads="1"/>
          </p:cNvSpPr>
          <p:nvPr/>
        </p:nvSpPr>
        <p:spPr bwMode="auto">
          <a:xfrm>
            <a:off x="-1231900" y="5178425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1529" tIns="65765" rIns="131529" bIns="65765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4400" y="1141200"/>
            <a:ext cx="11328400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）无损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压缩</a:t>
            </a:r>
            <a:b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主要用于压缩文本数据、程序以及需要精确存储的文件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WinRar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，压缩比较低，为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～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典型的编码：行程编码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统计重复的比特或字符序列，并用它们的出现次数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取而代之，能确保解压后的数据不失真 。</a:t>
            </a:r>
          </a:p>
          <a:p>
            <a:pPr marL="0" marR="0" lvl="0" indent="0" algn="l" defTabSz="914478" rtl="0" eaLnBrk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例如，有一段文字：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AAAAABBBBCCDDDDDD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78" rtl="0" eaLnBrk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存储为：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5A4B2C6D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78" rtl="0" eaLnBrk="0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压缩比约：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8444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30638" y="5027613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1529" tIns="65765" rIns="131529" bIns="6576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3282950" y="4989513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1529" tIns="65765" rIns="131529" bIns="65765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94"/>
          <p:cNvSpPr>
            <a:spLocks noChangeArrowheads="1"/>
          </p:cNvSpPr>
          <p:nvPr/>
        </p:nvSpPr>
        <p:spPr bwMode="auto">
          <a:xfrm>
            <a:off x="-1231900" y="5178425"/>
            <a:ext cx="1333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31529" tIns="65765" rIns="131529" bIns="65765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4400" y="1141201"/>
            <a:ext cx="108287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7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）有损压缩</a:t>
            </a:r>
            <a:b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是以牺牲某些信息（这部分信息基本不影响对原始数据的理解）为代价，换取了较高的压缩比。</a:t>
            </a:r>
          </a:p>
          <a:p>
            <a:pPr marL="0" marR="0" lvl="0" indent="0" algn="l" defTabSz="914478" rtl="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主要用于语音、图像、视频数据的压缩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◆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JPEG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标准  适用于连续色调和多级灰度的静态图像</a:t>
            </a:r>
          </a:p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  ◆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MPEG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标准  适用于运动图像、音频信息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7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034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D343B-D699-0F8A-36DE-AE699E8B8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信息压缩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A8E292-939F-9933-C182-28BA425F69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winrar</a:t>
            </a:r>
            <a:r>
              <a:rPr lang="en-US" altLang="zh-CN" dirty="0"/>
              <a:t> </a:t>
            </a:r>
            <a:r>
              <a:rPr lang="zh-CN" altLang="en-US" dirty="0"/>
              <a:t>等软件的使用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Winrar</a:t>
            </a:r>
            <a:r>
              <a:rPr lang="zh-CN" altLang="en-US" dirty="0"/>
              <a:t>时无损压缩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掌握如何压缩、解压文件，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如何创建自解压文件、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如何把大的文件压缩成几个文件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E5BFAB-D32F-4D46-801F-05228106C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130" y="1484313"/>
            <a:ext cx="4785655" cy="400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794686" y="4591134"/>
            <a:ext cx="10075009" cy="1160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defTabSz="1219170" eaLnBrk="1" fontAlgn="base" hangingPunct="1">
              <a:lnSpc>
                <a:spcPct val="124000"/>
              </a:lnSpc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kumimoji="1"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开发环境与安装</a:t>
            </a:r>
            <a:r>
              <a:rPr kumimoji="1"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——A</a:t>
            </a:r>
            <a:r>
              <a:rPr kumimoji="1" lang="en-US" altLang="zh-CN" sz="3200" b="1" dirty="0">
                <a:solidFill>
                  <a:srgbClr val="C00000"/>
                </a:solidFill>
                <a:latin typeface="Courier New" pitchFamily="49" charset="0"/>
                <a:ea typeface="微软雅黑" pitchFamily="34" charset="-122"/>
                <a:cs typeface="Courier New" pitchFamily="49" charset="0"/>
              </a:rPr>
              <a:t>naconda</a:t>
            </a:r>
            <a:r>
              <a:rPr kumimoji="1" lang="en-US" altLang="zh-CN" sz="32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 defTabSz="1219170" eaLnBrk="1" fontAlgn="base" hangingPunct="1">
              <a:lnSpc>
                <a:spcPct val="124000"/>
              </a:lnSpc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kumimoji="1" lang="en-US" altLang="zh-CN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41" y="2761194"/>
            <a:ext cx="7872875" cy="329910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24465" y="1123973"/>
            <a:ext cx="7464988" cy="1524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ts val="8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特点：</a:t>
            </a: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集成度好，大多数第三方库都包括了</a:t>
            </a:r>
            <a:endParaRPr kumimoji="1"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defTabSz="1219170" fontAlgn="base">
              <a:lnSpc>
                <a:spcPct val="120000"/>
              </a:lnSpc>
              <a:spcBef>
                <a:spcPts val="800"/>
              </a:spcBef>
              <a:spcAft>
                <a:spcPct val="0"/>
              </a:spcAft>
            </a:pPr>
            <a:r>
              <a:rPr kumimoji="1"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开发环境多窗口，便于调试和运行</a:t>
            </a:r>
            <a:br>
              <a:rPr kumimoji="1" lang="en-US" altLang="zh-CN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endParaRPr kumimoji="1" lang="zh-CN" altLang="en-US" sz="2400" dirty="0">
              <a:solidFill>
                <a:srgbClr val="000066"/>
              </a:solidFill>
              <a:latin typeface="Arial" pitchFamily="34" charset="0"/>
              <a:ea typeface="黑体" pitchFamily="49" charset="-122"/>
            </a:endParaRPr>
          </a:p>
        </p:txBody>
      </p:sp>
      <p:pic>
        <p:nvPicPr>
          <p:cNvPr id="12" name="图片 11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817" y="2299147"/>
            <a:ext cx="2840567" cy="27719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矩形 12"/>
          <p:cNvSpPr/>
          <p:nvPr/>
        </p:nvSpPr>
        <p:spPr>
          <a:xfrm>
            <a:off x="8764041" y="1537014"/>
            <a:ext cx="3264363" cy="486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133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安装成功后的开始菜单</a:t>
            </a:r>
          </a:p>
        </p:txBody>
      </p:sp>
      <p:sp>
        <p:nvSpPr>
          <p:cNvPr id="14" name="圆角矩形 13"/>
          <p:cNvSpPr/>
          <p:nvPr/>
        </p:nvSpPr>
        <p:spPr bwMode="auto">
          <a:xfrm>
            <a:off x="9005298" y="4591133"/>
            <a:ext cx="2728813" cy="790004"/>
          </a:xfrm>
          <a:prstGeom prst="round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3200" b="1">
              <a:ln w="38100">
                <a:solidFill>
                  <a:srgbClr val="C00000"/>
                </a:solidFill>
              </a:ln>
              <a:solidFill>
                <a:srgbClr val="A50021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237513" y="5281426"/>
            <a:ext cx="3264363" cy="486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133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Spyder</a:t>
            </a:r>
            <a:r>
              <a:rPr kumimoji="1" lang="zh-CN" altLang="en-US" sz="2133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2C112B-C8DC-4EDE-B9EE-38F79012DF1E}"/>
              </a:ext>
            </a:extLst>
          </p:cNvPr>
          <p:cNvSpPr/>
          <p:nvPr/>
        </p:nvSpPr>
        <p:spPr bwMode="auto">
          <a:xfrm>
            <a:off x="527382" y="4868161"/>
            <a:ext cx="2259097" cy="430887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 sz="2200">
              <a:solidFill>
                <a:srgbClr val="000000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1213" y="2208288"/>
            <a:ext cx="9025003" cy="601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 fontAlgn="base">
              <a:lnSpc>
                <a:spcPct val="124000"/>
              </a:lnSpc>
              <a:spcAft>
                <a:spcPct val="0"/>
              </a:spcAft>
            </a:pPr>
            <a:r>
              <a:rPr kumimoji="1" lang="en-US" altLang="zh-CN" sz="2667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https://www.anaconda.com/download//</a:t>
            </a:r>
            <a:endParaRPr kumimoji="1" lang="en-US" altLang="zh-CN" sz="2667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321213" y="932723"/>
            <a:ext cx="7248128" cy="0"/>
          </a:xfrm>
          <a:prstGeom prst="line">
            <a:avLst/>
          </a:prstGeom>
          <a:noFill/>
          <a:ln w="254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anchor="ctr"/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3200" b="1">
              <a:solidFill>
                <a:srgbClr val="A50021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BD047C53-C23D-47E4-B884-2D2A60DEC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4638"/>
            <a:ext cx="10972800" cy="562073"/>
          </a:xfrm>
        </p:spPr>
        <p:txBody>
          <a:bodyPr/>
          <a:lstStyle/>
          <a:p>
            <a:pPr algn="l"/>
            <a:r>
              <a:rPr lang="zh-CN" altLang="en-US" sz="3733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3733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Anaconda</a:t>
            </a:r>
            <a:endParaRPr lang="zh-CN" altLang="en-US" sz="3733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FA3075-FA20-150A-45F9-4A87A2435D2B}"/>
              </a:ext>
            </a:extLst>
          </p:cNvPr>
          <p:cNvSpPr txBox="1"/>
          <p:nvPr/>
        </p:nvSpPr>
        <p:spPr>
          <a:xfrm>
            <a:off x="321213" y="6060303"/>
            <a:ext cx="1026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建议：从清华镜像下载合适版本安装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94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 animBg="1"/>
      <p:bldP spid="15" grpId="0"/>
      <p:bldP spid="16" grpId="0" animBg="1"/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85" y="1841962"/>
            <a:ext cx="9306980" cy="4947412"/>
          </a:xfrm>
          <a:prstGeom prst="rect">
            <a:avLst/>
          </a:prstGeom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243DF1EC-735F-4A49-A8D9-FC5ED4A4A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65" y="4458816"/>
            <a:ext cx="1140019" cy="6983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defTabSz="91437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000066"/>
                </a:solidFill>
                <a:latin typeface="黑体" panose="02010609060101010101" pitchFamily="49" charset="-122"/>
                <a:ea typeface="黑体" pitchFamily="49" charset="-122"/>
              </a:rPr>
              <a:t>代码编辑</a:t>
            </a: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itchFamily="49" charset="-122"/>
              </a:rPr>
              <a:t>窗口</a:t>
            </a:r>
            <a:endParaRPr lang="zh-CN" altLang="zh-CN" sz="2400" dirty="0">
              <a:solidFill>
                <a:srgbClr val="000066"/>
              </a:solidFill>
              <a:latin typeface="黑体" panose="02010609060101010101" pitchFamily="49" charset="-122"/>
              <a:ea typeface="黑体" pitchFamily="49" charset="-122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0A19ED94-C344-4F03-A748-B9DB7044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7435" y="4869160"/>
            <a:ext cx="907867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A50021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593F658B-C37C-4281-974D-7B7DAFF3F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4873" y="5733256"/>
            <a:ext cx="1152128" cy="6983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defTabSz="91437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itchFamily="49" charset="-122"/>
              </a:rPr>
              <a:t>控制台窗口</a:t>
            </a:r>
            <a:endParaRPr lang="zh-CN" altLang="zh-CN" sz="2400" dirty="0">
              <a:solidFill>
                <a:srgbClr val="000066"/>
              </a:solidFill>
              <a:latin typeface="黑体" panose="02010609060101010101" pitchFamily="49" charset="-122"/>
              <a:ea typeface="黑体" pitchFamily="49" charset="-122"/>
            </a:endParaRP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0C0DEDD7-1C85-44CF-A11F-FE20B86EFE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32437" y="6213309"/>
            <a:ext cx="864096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A50021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 flipH="1">
            <a:off x="2639616" y="2180860"/>
            <a:ext cx="288032" cy="741664"/>
          </a:xfrm>
          <a:prstGeom prst="round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3200" b="1">
              <a:ln w="38100">
                <a:solidFill>
                  <a:srgbClr val="C00000"/>
                </a:solidFill>
              </a:ln>
              <a:solidFill>
                <a:srgbClr val="A50021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593F658B-C37C-4281-974D-7B7DAFF3F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435" y="1464255"/>
            <a:ext cx="3360373" cy="3635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algn="ctr" defTabSz="914377" eaLnBrk="0" fontAlgn="base" hangingPunct="0">
              <a:lnSpc>
                <a:spcPct val="96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133" dirty="0">
                <a:solidFill>
                  <a:srgbClr val="000066"/>
                </a:solidFill>
                <a:latin typeface="黑体" panose="02010609060101010101" pitchFamily="49" charset="-122"/>
                <a:ea typeface="黑体" pitchFamily="49" charset="-122"/>
              </a:rPr>
              <a:t>运行程序按钮</a:t>
            </a:r>
            <a:endParaRPr lang="zh-CN" altLang="zh-CN" sz="2133" dirty="0">
              <a:solidFill>
                <a:srgbClr val="000066"/>
              </a:solidFill>
              <a:latin typeface="黑体" panose="02010609060101010101" pitchFamily="49" charset="-122"/>
              <a:ea typeface="黑体" pitchFamily="49" charset="-122"/>
            </a:endParaRPr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0A19ED94-C344-4F03-A748-B9DB7044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627" y="1817523"/>
            <a:ext cx="0" cy="490124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A50021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6" name="圆角矩形 15"/>
          <p:cNvSpPr/>
          <p:nvPr/>
        </p:nvSpPr>
        <p:spPr bwMode="auto">
          <a:xfrm flipH="1">
            <a:off x="5423925" y="5061181"/>
            <a:ext cx="1824203" cy="790004"/>
          </a:xfrm>
          <a:prstGeom prst="round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3200" b="1">
              <a:ln w="38100">
                <a:solidFill>
                  <a:srgbClr val="C00000"/>
                </a:solidFill>
              </a:ln>
              <a:solidFill>
                <a:srgbClr val="A50021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32171" y="5157193"/>
            <a:ext cx="278430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Shell</a:t>
            </a:r>
            <a:r>
              <a:rPr kumimoji="1" lang="zh-CN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执行方式</a:t>
            </a:r>
            <a:endParaRPr kumimoji="1"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7">
            <a:extLst>
              <a:ext uri="{FF2B5EF4-FFF2-40B4-BE49-F238E27FC236}">
                <a16:creationId xmlns:a16="http://schemas.microsoft.com/office/drawing/2014/main" id="{0C0DEDD7-1C85-44CF-A11F-FE20B86EFE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8128" y="5445224"/>
            <a:ext cx="432048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A50021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1" name="圆角矩形 20"/>
          <p:cNvSpPr/>
          <p:nvPr/>
        </p:nvSpPr>
        <p:spPr bwMode="auto">
          <a:xfrm flipH="1">
            <a:off x="1727515" y="2891108"/>
            <a:ext cx="1824203" cy="790004"/>
          </a:xfrm>
          <a:prstGeom prst="roundRect">
            <a:avLst/>
          </a:prstGeom>
          <a:noFill/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3200" b="1">
              <a:ln w="38100">
                <a:solidFill>
                  <a:srgbClr val="C00000"/>
                </a:solidFill>
              </a:ln>
              <a:solidFill>
                <a:srgbClr val="A50021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1077" y="2657335"/>
            <a:ext cx="1107996" cy="97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 fontAlgn="base">
              <a:lnSpc>
                <a:spcPct val="120000"/>
              </a:lnSpc>
              <a:spcAft>
                <a:spcPct val="0"/>
              </a:spcAft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文件执</a:t>
            </a:r>
            <a:endParaRPr lang="en-US" altLang="zh-CN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1219170" fontAlgn="base">
              <a:lnSpc>
                <a:spcPct val="120000"/>
              </a:lnSpc>
              <a:spcAft>
                <a:spcPct val="0"/>
              </a:spcAft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行方式</a:t>
            </a:r>
            <a:endParaRPr kumimoji="1"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Line 6">
            <a:extLst>
              <a:ext uri="{FF2B5EF4-FFF2-40B4-BE49-F238E27FC236}">
                <a16:creationId xmlns:a16="http://schemas.microsoft.com/office/drawing/2014/main" id="{0A19ED94-C344-4F03-A748-B9DB70449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648" y="3175503"/>
            <a:ext cx="907867" cy="0"/>
          </a:xfrm>
          <a:prstGeom prst="line">
            <a:avLst/>
          </a:prstGeom>
          <a:noFill/>
          <a:ln w="34925">
            <a:solidFill>
              <a:srgbClr val="C0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121917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A50021"/>
              </a:solidFill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619AF46F-5261-44A9-91E2-52FBB0A7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4638"/>
            <a:ext cx="10972800" cy="562073"/>
          </a:xfrm>
        </p:spPr>
        <p:txBody>
          <a:bodyPr/>
          <a:lstStyle/>
          <a:p>
            <a:pPr algn="l"/>
            <a:r>
              <a:rPr lang="zh-CN" altLang="en-US" sz="3733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3733" dirty="0" err="1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Spyder</a:t>
            </a:r>
            <a:endParaRPr lang="zh-CN" altLang="en-US" sz="3733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335360" y="950937"/>
            <a:ext cx="8424936" cy="550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宋体" charset="-122"/>
              </a:defRPr>
            </a:lvl9pPr>
          </a:lstStyle>
          <a:p>
            <a:pPr marL="457189" indent="-457189" defTabSz="1219170" eaLnBrk="1" fontAlgn="base" hangingPunct="1">
              <a:lnSpc>
                <a:spcPct val="124000"/>
              </a:lnSpc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kumimoji="1"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Spyder    </a:t>
            </a:r>
            <a:r>
              <a:rPr kumimoji="1" lang="zh-CN" altLang="en-US" sz="2400" b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编程、调试、运行、多窗口的集成开发环境</a:t>
            </a:r>
            <a:endParaRPr kumimoji="1" lang="en-US" altLang="zh-CN" sz="2400" b="1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033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8" grpId="0" animBg="1"/>
      <p:bldP spid="13" grpId="0" animBg="1"/>
      <p:bldP spid="11" grpId="0" animBg="1"/>
      <p:bldP spid="12" grpId="0" animBg="1"/>
      <p:bldP spid="14" grpId="0" animBg="1"/>
      <p:bldP spid="16" grpId="0" animBg="1"/>
      <p:bldP spid="4" grpId="0"/>
      <p:bldP spid="19" grpId="0" animBg="1"/>
      <p:bldP spid="21" grpId="0" animBg="1"/>
      <p:bldP spid="5" grpId="0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5D335-AA7F-16FA-DC3B-5EA17D6F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安装第三方库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5E3984-C837-A773-FB36-B4D0ADF5C0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D78CFB-3E4E-450F-81D6-18CCF5CF71D1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623F004-2DE4-628E-0CF0-3C307EF5B36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12" y="1077383"/>
            <a:ext cx="2407975" cy="319997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82FB1D0-CAE8-F10D-1757-3F67FE268A5A}"/>
              </a:ext>
            </a:extLst>
          </p:cNvPr>
          <p:cNvSpPr/>
          <p:nvPr/>
        </p:nvSpPr>
        <p:spPr bwMode="auto">
          <a:xfrm>
            <a:off x="467360" y="2220383"/>
            <a:ext cx="2672080" cy="33528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rgbClr val="A50021"/>
              </a:solidFill>
              <a:effectLst/>
              <a:latin typeface="Arial" charset="0"/>
              <a:ea typeface="黑体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888826-6365-29E3-341C-6B60A17F9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394" y="1542952"/>
            <a:ext cx="6704747" cy="172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2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1|18|2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6|11|0.9|26.1|14.5|7.6|19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1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22.8|2.1|7.3|1|0.7|2|3.4|5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31.1|13.2|22|9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3|0|0.4|0|0.4|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1|25.3|15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6.8|21.5|6.2|5.2|1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2|3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4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7|0.9|0.5|9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5.8|49.2|1.7|4.9"/>
</p:tagLst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3333C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A5002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noFill/>
        <a:ln>
          <a:noFill/>
          <a:tailEnd type="triangl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大基.potx" id="{D3BD0DE0-259E-470B-A8C6-16FF23288919}" vid="{C8603723-D974-4D64-AAFD-4C714794E0A9}"/>
    </a:ext>
  </a:extLst>
</a:theme>
</file>

<file path=ppt/theme/theme6.xml><?xml version="1.0" encoding="utf-8"?>
<a:theme xmlns:a="http://schemas.openxmlformats.org/drawingml/2006/main" name="5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学术文献 16x9">
  <a:themeElements>
    <a:clrScheme name="自定义 3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CC0000"/>
      </a:accent1>
      <a:accent2>
        <a:srgbClr val="D34817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spDef>
      <a:spPr bwMode="gray">
        <a:gradFill rotWithShape="1">
          <a:gsLst>
            <a:gs pos="0">
              <a:schemeClr val="folHlink">
                <a:gamma/>
                <a:shade val="72549"/>
                <a:invGamma/>
              </a:schemeClr>
            </a:gs>
            <a:gs pos="50000">
              <a:schemeClr val="folHlink"/>
            </a:gs>
            <a:gs pos="100000">
              <a:schemeClr val="folHlink">
                <a:gamma/>
                <a:shade val="72549"/>
                <a:invGamma/>
              </a:schemeClr>
            </a:gs>
          </a:gsLst>
          <a:lin ang="2700000" scaled="1"/>
        </a:gradFill>
        <a:ln w="9525">
          <a:noFill/>
          <a:miter lim="800000"/>
          <a:headEnd/>
          <a:tailEnd/>
        </a:ln>
        <a:effectLst/>
      </a:spPr>
      <a:bodyPr wrap="none" anchor="ctr"/>
      <a:lstStyle>
        <a:defPPr algn="ctr" eaLnBrk="0" hangingPunct="0">
          <a:defRPr sz="1400" b="1" dirty="0"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模板ppt.pptx" id="{0CF83854-50F9-4A05-AC3E-F0D8A78CEE97}" vid="{AE9FA267-1D14-46AF-B303-D9446FC845D0}"/>
    </a:ext>
  </a:extLst>
</a:theme>
</file>

<file path=ppt/theme/theme8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3333CC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A50021"/>
            </a:solidFill>
            <a:effectLst/>
            <a:latin typeface="Arial" charset="0"/>
            <a:ea typeface="黑体" pitchFamily="2" charset="-122"/>
          </a:defRPr>
        </a:defPPr>
      </a:lstStyle>
    </a:spDef>
    <a:lnDef>
      <a:spPr bwMode="auto">
        <a:noFill/>
        <a:ln>
          <a:noFill/>
          <a:tailEnd type="triangle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  <a:ext uri="{53640926-AAD7-44D8-BBD7-CCE9431645EC}">
            <a14:shadowObscured xmlns:a14="http://schemas.microsoft.com/office/drawing/2010/main" val="1"/>
          </a:ext>
        </a:extLst>
      </a:spPr>
      <a:bodyPr/>
      <a:lstStyle/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226774B8D87F4D92D9D1F6859ED44E" ma:contentTypeVersion="1" ma:contentTypeDescription="Create a new document." ma:contentTypeScope="" ma:versionID="192c310b45bae95d9fdbb51d5532622b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5960F2-6186-408B-A0DC-5CA5E58B604F}">
  <ds:schemaRefs>
    <ds:schemaRef ds:uri="http://purl.org/dc/elements/1.1/"/>
    <ds:schemaRef ds:uri="475f1e55-3009-46d8-9566-5d569a2b3a98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2FADE7-0FB7-4D32-803A-97A461853B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5f1e55-3009-46d8-9566-5d569a2b3a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6382</TotalTime>
  <Words>3125</Words>
  <Application>Microsoft Office PowerPoint</Application>
  <PresentationFormat>宽屏</PresentationFormat>
  <Paragraphs>447</Paragraphs>
  <Slides>48</Slides>
  <Notes>25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48</vt:i4>
      </vt:variant>
    </vt:vector>
  </HeadingPairs>
  <TitlesOfParts>
    <vt:vector size="72" baseType="lpstr">
      <vt:lpstr>Huawei Sans</vt:lpstr>
      <vt:lpstr>方正兰亭黑简体</vt:lpstr>
      <vt:lpstr>黑体</vt:lpstr>
      <vt:lpstr>华文中宋</vt:lpstr>
      <vt:lpstr>宋体</vt:lpstr>
      <vt:lpstr>微软雅黑</vt:lpstr>
      <vt:lpstr>微软雅黑</vt:lpstr>
      <vt:lpstr>Arial</vt:lpstr>
      <vt:lpstr>Calibri</vt:lpstr>
      <vt:lpstr>Courier New</vt:lpstr>
      <vt:lpstr>Euphemia</vt:lpstr>
      <vt:lpstr>Times New Roman</vt:lpstr>
      <vt:lpstr>Wingdings</vt:lpstr>
      <vt:lpstr>2_标题页模板</vt:lpstr>
      <vt:lpstr>3_功能页模板</vt:lpstr>
      <vt:lpstr>4_内容页模板</vt:lpstr>
      <vt:lpstr>5_感谢页模板</vt:lpstr>
      <vt:lpstr>默认设计模板</vt:lpstr>
      <vt:lpstr>5_内容页模板</vt:lpstr>
      <vt:lpstr>学术文献 16x9</vt:lpstr>
      <vt:lpstr>1_默认设计模板</vt:lpstr>
      <vt:lpstr>Equation.2</vt:lpstr>
      <vt:lpstr>位图图像</vt:lpstr>
      <vt:lpstr>图片</vt:lpstr>
      <vt:lpstr>大学计算机        ——数制与信息编码</vt:lpstr>
      <vt:lpstr>PowerPoint 演示文稿</vt:lpstr>
      <vt:lpstr>PowerPoint 演示文稿</vt:lpstr>
      <vt:lpstr>PowerPoint 演示文稿</vt:lpstr>
      <vt:lpstr>计算机为什么采用二进制表示？</vt:lpstr>
      <vt:lpstr>◆ 数制及其转换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模拟音频的数字化</vt:lpstr>
      <vt:lpstr>PowerPoint 演示文稿</vt:lpstr>
      <vt:lpstr>PowerPoint 演示文稿</vt:lpstr>
      <vt:lpstr>PowerPoint 演示文稿</vt:lpstr>
      <vt:lpstr>9．图像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2．信息压缩</vt:lpstr>
      <vt:lpstr>二、信息压缩</vt:lpstr>
      <vt:lpstr>二、信息压缩</vt:lpstr>
      <vt:lpstr>二、信息压缩</vt:lpstr>
      <vt:lpstr>信息压缩</vt:lpstr>
      <vt:lpstr>安装Anaconda</vt:lpstr>
      <vt:lpstr>使用Spyder</vt:lpstr>
      <vt:lpstr>安装第三方库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慧 何</cp:lastModifiedBy>
  <cp:revision>283</cp:revision>
  <cp:lastPrinted>2020-07-31T09:33:18Z</cp:lastPrinted>
  <dcterms:created xsi:type="dcterms:W3CDTF">2018-11-29T10:16:29Z</dcterms:created>
  <dcterms:modified xsi:type="dcterms:W3CDTF">2026-01-09T16:48:06Z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(3)rXFDMgeag7l6iBJTMdYXKHw53OWQN4BILogOgMy2jy6doVgh7V8QBJJmydFL0aKqbI+NTeju
bS+qb08tgXObxf86phw/tS9MwKb6pQwLhXMsZLbpqVnMd2qYDSbY93s5i2AuZzs5cwinKwTa
heU/SFoJ7pSo7NCyrehLQPduajLofjxoDImOSt3zJndSiDR1k5gwIeD/rrExb42TjKAFnJoE
se+fTf79IsfptXIwfd</vt:lpwstr>
  </property>
  <property fmtid="{D5CDD505-2E9C-101B-9397-08002B2CF9AE}" pid="3" name="_2015_ms_pID_7253431">
    <vt:lpwstr>1pbm0Y4yRE1njguKvnRcHeRgtjxQg9OqwNXMZKusykFLQNmI+b4Q8w
Zn+7ERNKyloooaPiZUJTm4Ts2YSA4IAlmWpyIlFf33nQXO+ca9Jm3Yrssh2lSzS2rYlMBMXs
3lSgO2ODVACZIVG9DCKxTOytnZJZ7RoKuk177DqOy796aLU2ayY5pm7/65YWfXKyy7yVoCjX
R3moHEDeuchoc8YVzQ7GoaQ+qsah2O+6Elin</vt:lpwstr>
  </property>
  <property fmtid="{D5CDD505-2E9C-101B-9397-08002B2CF9AE}" pid="4" name="_2015_ms_pID_7253432">
    <vt:lpwstr>iw==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1575248629</vt:lpwstr>
  </property>
  <property fmtid="{D5CDD505-2E9C-101B-9397-08002B2CF9AE}" pid="9" name="ContentTypeId">
    <vt:lpwstr>0x010100CC226774B8D87F4D92D9D1F6859ED44E</vt:lpwstr>
  </property>
</Properties>
</file>