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098" r:id="rId1"/>
  </p:sldMasterIdLst>
  <p:notesMasterIdLst>
    <p:notesMasterId r:id="rId25"/>
  </p:notesMasterIdLst>
  <p:handoutMasterIdLst>
    <p:handoutMasterId r:id="rId26"/>
  </p:handoutMasterIdLst>
  <p:sldIdLst>
    <p:sldId id="556" r:id="rId2"/>
    <p:sldId id="1473" r:id="rId3"/>
    <p:sldId id="1439" r:id="rId4"/>
    <p:sldId id="1487" r:id="rId5"/>
    <p:sldId id="1471" r:id="rId6"/>
    <p:sldId id="1428" r:id="rId7"/>
    <p:sldId id="1521" r:id="rId8"/>
    <p:sldId id="1522" r:id="rId9"/>
    <p:sldId id="1432" r:id="rId10"/>
    <p:sldId id="1515" r:id="rId11"/>
    <p:sldId id="1514" r:id="rId12"/>
    <p:sldId id="1517" r:id="rId13"/>
    <p:sldId id="1518" r:id="rId14"/>
    <p:sldId id="1519" r:id="rId15"/>
    <p:sldId id="1523" r:id="rId16"/>
    <p:sldId id="1524" r:id="rId17"/>
    <p:sldId id="1520" r:id="rId18"/>
    <p:sldId id="1475" r:id="rId19"/>
    <p:sldId id="1478" r:id="rId20"/>
    <p:sldId id="1481" r:id="rId21"/>
    <p:sldId id="1483" r:id="rId22"/>
    <p:sldId id="1525" r:id="rId23"/>
    <p:sldId id="1529" r:id="rId24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78"/>
    <a:srgbClr val="A50021"/>
    <a:srgbClr val="FFCC99"/>
    <a:srgbClr val="CCFFFF"/>
    <a:srgbClr val="50DFFC"/>
    <a:srgbClr val="67B3E5"/>
    <a:srgbClr val="68B2E3"/>
    <a:srgbClr val="000066"/>
    <a:srgbClr val="307EC9"/>
    <a:srgbClr val="109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5" autoAdjust="0"/>
    <p:restoredTop sz="80692" autoAdjust="0"/>
  </p:normalViewPr>
  <p:slideViewPr>
    <p:cSldViewPr>
      <p:cViewPr varScale="1">
        <p:scale>
          <a:sx n="70" d="100"/>
          <a:sy n="70" d="100"/>
        </p:scale>
        <p:origin x="770" y="31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>
        <p:scale>
          <a:sx n="81" d="100"/>
          <a:sy n="81" d="100"/>
        </p:scale>
        <p:origin x="1192" y="4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A3342D32-58E9-4211-BE97-B0C4DA1FDFE0}" type="datetimeFigureOut">
              <a:rPr lang="zh-CN" altLang="en-US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CAD971E3-3ED1-491A-A2D7-F911BB3808D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7651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F8683A4-79EA-4C8F-8F8E-7AEDDA4FAD9E}" type="datetimeFigureOut">
              <a:rPr lang="zh-CN" altLang="en-US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zh-CN" altLang="en-US" noProof="0"/>
              <a:t>比喻强调了教师知识储备和能力要求，一桶水都不够用，应该是自来水，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611BFF4-1710-4AF3-AE92-5EDA45BDA41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498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342900" indent="-3429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lang="zh-CN" altLang="en-US" sz="12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DEE459AD-631C-4859-A2C6-036CD530E7D2}" type="slidenum">
              <a:rPr lang="zh-CN" altLang="en-US" sz="1200">
                <a:latin typeface="+mn-lt"/>
                <a:ea typeface="+mn-ea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1</a:t>
            </a:fld>
            <a:endParaRPr lang="zh-CN" altLang="en-US" sz="120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39741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125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两者不同之处：</a:t>
            </a:r>
            <a:endParaRPr lang="en-US" altLang="zh-CN" sz="12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、银行卡密码可以修改，但是，私钥一旦生成，就无法修改</a:t>
            </a:r>
            <a:endParaRPr lang="en-US" altLang="zh-CN" sz="12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、银行卡需要申请，而地址和私钥自己就可以生成</a:t>
            </a:r>
            <a:endParaRPr lang="en-US" altLang="zh-CN" sz="12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、银行卡实名制，地址和秘钥是匿名的</a:t>
            </a:r>
            <a:endParaRPr lang="en-US" altLang="zh-CN" sz="12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、个人申请银行卡有限制，但是地址和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私钥可以无限生成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530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      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11BFF4-1710-4AF3-AE92-5EDA45BDA4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2395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        </a:t>
            </a:r>
          </a:p>
          <a:p>
            <a:r>
              <a:rPr lang="en-US" altLang="zh-CN" dirty="0"/>
              <a:t>       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11BFF4-1710-4AF3-AE92-5EDA45BDA4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904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460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说明：</a:t>
            </a:r>
            <a:br>
              <a:rPr lang="en-US" altLang="zh-CN" dirty="0"/>
            </a:b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）在比特币钱包当中，通常能够看到账户余额，然而在中本聪设计的比特币系统中，并没有余额这个概念。“比特币余额”是由比特币钱包应用派生出来的产物。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）中本聪发明了</a:t>
            </a:r>
            <a:r>
              <a:rPr lang="en-US" altLang="zh-CN" dirty="0" err="1"/>
              <a:t>UTXO</a:t>
            </a:r>
            <a:r>
              <a:rPr lang="zh-CN" altLang="en-US" dirty="0"/>
              <a:t>交易模型，并将其应用到比特币当中。</a:t>
            </a:r>
            <a:r>
              <a:rPr lang="en-US" altLang="zh-CN" dirty="0" err="1"/>
              <a:t>UTXO</a:t>
            </a:r>
            <a:r>
              <a:rPr lang="zh-CN" altLang="en-US" dirty="0"/>
              <a:t>的意思是“未花费的交易输出”，简单来说就是，每一笔比特币交易实际上都是由若干个交易输入和输出组成的。交易输入是资金来源，交易输出是资金去向，每一笔交易都要从交易输入中花费出去一部分，这一部分就是未花费的交易输出</a:t>
            </a:r>
            <a:r>
              <a:rPr lang="en-US" altLang="zh-CN" dirty="0"/>
              <a:t>(</a:t>
            </a:r>
            <a:r>
              <a:rPr lang="en-US" altLang="zh-CN" dirty="0" err="1"/>
              <a:t>UTXO</a:t>
            </a:r>
            <a:r>
              <a:rPr lang="en-US" altLang="zh-CN" dirty="0"/>
              <a:t>)</a:t>
            </a:r>
            <a:r>
              <a:rPr lang="zh-CN" altLang="en-US" dirty="0"/>
              <a:t>。每一次的交易输入都可以追溯到之前的</a:t>
            </a:r>
            <a:r>
              <a:rPr lang="en-US" altLang="zh-CN" dirty="0" err="1"/>
              <a:t>UTXO</a:t>
            </a:r>
            <a:r>
              <a:rPr lang="zh-CN" altLang="en-US" dirty="0"/>
              <a:t>，直至最初的挖矿所得。</a:t>
            </a:r>
            <a:endParaRPr lang="en-US" altLang="zh-CN" dirty="0"/>
          </a:p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因此，当我们在说某人拥有</a:t>
            </a:r>
            <a:r>
              <a:rPr lang="en-US" altLang="zh-CN" dirty="0"/>
              <a:t>1</a:t>
            </a:r>
            <a:r>
              <a:rPr lang="zh-CN" altLang="en-US" dirty="0"/>
              <a:t>枚比特币的时候，我们实际上说的是，在当前的区块链记录中，有若干笔交易的 </a:t>
            </a:r>
            <a:r>
              <a:rPr lang="en-US" altLang="zh-CN" dirty="0" err="1"/>
              <a:t>UTXO</a:t>
            </a:r>
            <a:r>
              <a:rPr lang="en-US" altLang="zh-CN" dirty="0"/>
              <a:t> </a:t>
            </a:r>
            <a:r>
              <a:rPr lang="zh-CN" altLang="en-US" dirty="0"/>
              <a:t>收款地址写的是这个人的钱包地址，这些</a:t>
            </a:r>
            <a:r>
              <a:rPr lang="en-US" altLang="zh-CN" dirty="0" err="1"/>
              <a:t>UTXO</a:t>
            </a:r>
            <a:r>
              <a:rPr lang="zh-CN" altLang="en-US" dirty="0"/>
              <a:t>的总和是</a:t>
            </a:r>
            <a:r>
              <a:rPr lang="en-US" altLang="zh-CN" dirty="0"/>
              <a:t>1</a:t>
            </a:r>
            <a:r>
              <a:rPr lang="zh-CN" altLang="en-US" dirty="0"/>
              <a:t>个比特币。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665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3013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实际是每个区块有两个部分组成：区块头和区块体。区块头父区块的</a:t>
            </a:r>
            <a:r>
              <a:rPr lang="en-US" altLang="zh-CN" dirty="0"/>
              <a:t>Hash</a:t>
            </a:r>
            <a:r>
              <a:rPr lang="zh-CN" altLang="en-US" dirty="0"/>
              <a:t>值、随机数、目标值、时间戳等组成。</a:t>
            </a:r>
            <a:endParaRPr lang="en-US" altLang="zh-CN" dirty="0"/>
          </a:p>
          <a:p>
            <a:r>
              <a:rPr lang="zh-CN" altLang="en-US" dirty="0"/>
              <a:t>区块</a:t>
            </a:r>
            <a:r>
              <a:rPr lang="en-US" altLang="zh-CN" dirty="0"/>
              <a:t>0</a:t>
            </a:r>
            <a:r>
              <a:rPr lang="zh-CN" altLang="en-US" dirty="0"/>
              <a:t>：创世区块，比特币第一区块没有父区块，所以其父区块的哈希值为</a:t>
            </a:r>
            <a:r>
              <a:rPr lang="en-US" altLang="zh-CN" dirty="0"/>
              <a:t>000000……</a:t>
            </a:r>
          </a:p>
          <a:p>
            <a:r>
              <a:rPr lang="zh-CN" altLang="en-US" dirty="0"/>
              <a:t>            其实，创世区块诞生之前是没有比特币，因此是没有交易的。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5492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11BFF4-1710-4AF3-AE92-5EDA45BDA4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37457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注：</a:t>
            </a:r>
            <a:b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）任何人都可以下载开源程序，参与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P2P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网络，监听全世界发送的交易，成为记账节点，参与记账。</a:t>
            </a:r>
            <a:b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1800" dirty="0">
                <a:solidFill>
                  <a:srgbClr val="A5002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这种分配记账权的方式称为</a:t>
            </a:r>
            <a:r>
              <a:rPr lang="en-US" altLang="zh-CN" sz="1800" dirty="0">
                <a:solidFill>
                  <a:srgbClr val="A5002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POW</a:t>
            </a:r>
            <a:r>
              <a:rPr lang="zh-CN" altLang="en-US" sz="1800" dirty="0">
                <a:solidFill>
                  <a:srgbClr val="A5002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机制（工作量证明机制）</a:t>
            </a:r>
            <a:endParaRPr lang="en-US" altLang="zh-CN" sz="18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  <a:spcBef>
                <a:spcPct val="20000"/>
              </a:spcBef>
              <a:spcAft>
                <a:spcPts val="23"/>
              </a:spcAft>
              <a:buClr>
                <a:srgbClr val="002060"/>
              </a:buClr>
              <a:buNone/>
              <a:tabLst>
                <a:tab pos="2893219" algn="l"/>
              </a:tabLst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11BFF4-1710-4AF3-AE92-5EDA45BDA4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34042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5210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1671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931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假定记录了</a:t>
            </a:r>
            <a:r>
              <a:rPr lang="en-US" altLang="zh-CN" dirty="0"/>
              <a:t>4</a:t>
            </a:r>
            <a:r>
              <a:rPr lang="zh-CN" altLang="en-US" dirty="0"/>
              <a:t>笔交易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11BFF4-1710-4AF3-AE92-5EDA45BDA416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6848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11BFF4-1710-4AF3-AE92-5EDA45BDA4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50610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11BFF4-1710-4AF3-AE92-5EDA45BDA4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99577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11BFF4-1710-4AF3-AE92-5EDA45BDA4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01258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11BFF4-1710-4AF3-AE92-5EDA45BDA4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12889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11BFF4-1710-4AF3-AE92-5EDA45BDA4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84180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11BFF4-1710-4AF3-AE92-5EDA45BDA4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01248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区块链溯源存在一个重要问题：如何保证链上的数据与实际数据一致。如果链上的数据与实际数据不一致，链上查证没意义。</a:t>
            </a:r>
          </a:p>
          <a:p>
            <a:r>
              <a:rPr lang="zh-CN" altLang="en-US" dirty="0"/>
              <a:t>而要保证链上链下一致性是很难做到或要花很大代价做到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11BFF4-1710-4AF3-AE92-5EDA45BDA4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8231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4333593"/>
            <a:ext cx="9144000" cy="809907"/>
          </a:xfrm>
          <a:prstGeom prst="rect">
            <a:avLst/>
          </a:prstGeom>
          <a:pattFill prst="trellis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1" y="0"/>
            <a:ext cx="7308304" cy="809907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8675" y="1719071"/>
            <a:ext cx="7572375" cy="1664768"/>
          </a:xfrm>
          <a:noFill/>
        </p:spPr>
        <p:txBody>
          <a:bodyPr rtlCol="0" anchor="ctr">
            <a:normAutofit/>
          </a:bodyPr>
          <a:lstStyle>
            <a:lvl1pPr algn="l" rtl="0">
              <a:defRPr sz="3300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28674" y="3383838"/>
            <a:ext cx="7572376" cy="716674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350"/>
            </a:lvl1pPr>
            <a:lvl2pPr marL="342900" indent="0" algn="ctr" rtl="0">
              <a:buNone/>
              <a:defRPr sz="1500"/>
            </a:lvl2pPr>
            <a:lvl3pPr marL="685800" indent="0" algn="ctr" rtl="0">
              <a:buNone/>
              <a:defRPr sz="1350"/>
            </a:lvl3pPr>
            <a:lvl4pPr marL="1028700" indent="0" algn="ctr" rtl="0">
              <a:buNone/>
              <a:defRPr sz="1200"/>
            </a:lvl4pPr>
            <a:lvl5pPr marL="1371600" indent="0" algn="ctr" rtl="0">
              <a:buNone/>
              <a:defRPr sz="1200"/>
            </a:lvl5pPr>
            <a:lvl6pPr marL="1714500" indent="0" algn="ctr" rtl="0">
              <a:buNone/>
              <a:defRPr sz="1200"/>
            </a:lvl6pPr>
            <a:lvl7pPr marL="2057400" indent="0" algn="ctr" rtl="0">
              <a:buNone/>
              <a:defRPr sz="1200"/>
            </a:lvl7pPr>
            <a:lvl8pPr marL="2400300" indent="0" algn="ctr" rtl="0">
              <a:buNone/>
              <a:defRPr sz="1200"/>
            </a:lvl8pPr>
            <a:lvl9pPr marL="2743200" indent="0" algn="ctr" rtl="0">
              <a:buNone/>
              <a:defRPr sz="12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8DDEE976-CBFF-49D3-8E31-CE66B8C964FA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27566407-BE89-4246-9C3D-F9E99FBFFAE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0" name="Picture 2" descr="https://timgsa.baidu.com/timg?image&amp;quality=80&amp;size=b9999_10000&amp;sec=1511172908148&amp;di=6d02f21212d218024932031e15da36ed&amp;imgtype=0&amp;src=http%3A%2F%2Fphotocdn.sohu.com%2F20120523%2FImg343922632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9932" y="-142607"/>
            <a:ext cx="2066286" cy="2066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3411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A86003DB-DD92-4BDE-971E-EAFA1A0CB53D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B4205A9-C0CE-4DC9-9155-50A1457D6FD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307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4234133"/>
            <a:ext cx="9144000" cy="47344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911678"/>
            <a:ext cx="9144000" cy="47344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4333593"/>
            <a:ext cx="9144000" cy="809907"/>
          </a:xfrm>
          <a:prstGeom prst="rect">
            <a:avLst/>
          </a:prstGeom>
          <a:pattFill prst="trellis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" y="0"/>
            <a:ext cx="8131628" cy="887708"/>
          </a:xfrm>
          <a:prstGeom prst="rect">
            <a:avLst/>
          </a:prstGeom>
          <a:pattFill prst="ltUpDiag">
            <a:fgClr>
              <a:srgbClr val="00206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8675" y="1719071"/>
            <a:ext cx="4300538" cy="1664768"/>
          </a:xfrm>
        </p:spPr>
        <p:txBody>
          <a:bodyPr rtlCol="0" anchor="ctr">
            <a:normAutofit/>
          </a:bodyPr>
          <a:lstStyle>
            <a:lvl1pPr algn="l" rtl="0">
              <a:defRPr sz="33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28675" y="3383838"/>
            <a:ext cx="4300538" cy="716674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3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ctr" rtl="0">
              <a:buNone/>
              <a:defRPr sz="1500"/>
            </a:lvl2pPr>
            <a:lvl3pPr marL="685800" indent="0" algn="ctr" rtl="0">
              <a:buNone/>
              <a:defRPr sz="1350"/>
            </a:lvl3pPr>
            <a:lvl4pPr marL="1028700" indent="0" algn="ctr" rtl="0">
              <a:buNone/>
              <a:defRPr sz="1200"/>
            </a:lvl4pPr>
            <a:lvl5pPr marL="1371600" indent="0" algn="ctr" rtl="0">
              <a:buNone/>
              <a:defRPr sz="1200"/>
            </a:lvl5pPr>
            <a:lvl6pPr marL="1714500" indent="0" algn="ctr" rtl="0">
              <a:buNone/>
              <a:defRPr sz="1200"/>
            </a:lvl6pPr>
            <a:lvl7pPr marL="2057400" indent="0" algn="ctr" rtl="0">
              <a:buNone/>
              <a:defRPr sz="1200"/>
            </a:lvl7pPr>
            <a:lvl8pPr marL="2400300" indent="0" algn="ctr" rtl="0">
              <a:buNone/>
              <a:defRPr sz="1200"/>
            </a:lvl8pPr>
            <a:lvl9pPr marL="2743200" indent="0" algn="ctr" rtl="0">
              <a:buNone/>
              <a:defRPr sz="12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4410" y="0"/>
            <a:ext cx="1310643" cy="171907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5235798" y="982992"/>
            <a:ext cx="3908203" cy="3156453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9258300" y="0"/>
            <a:ext cx="971550" cy="51435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0"/>
            <a:r>
              <a:rPr lang="zh-CN" altLang="en-US" sz="9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注意：</a:t>
            </a:r>
          </a:p>
          <a:p>
            <a:pPr rtl="0"/>
            <a:r>
              <a:rPr lang="zh-CN" altLang="en-US" sz="9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  <p:pic>
        <p:nvPicPr>
          <p:cNvPr id="20" name="Picture 2" descr="https://timgsa.baidu.com/timg?image&amp;quality=80&amp;size=b9999_10000&amp;sec=1511172908148&amp;di=6d02f21212d218024932031e15da36ed&amp;imgtype=0&amp;src=http%3A%2F%2Fphotocdn.sohu.com%2F20120523%2FImg343922632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771" y="-47709"/>
            <a:ext cx="1002388" cy="100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0218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1885951"/>
            <a:ext cx="9144000" cy="2395526"/>
            <a:chOff x="647402" y="2514600"/>
            <a:chExt cx="10838688" cy="3194035"/>
          </a:xfrm>
          <a:solidFill>
            <a:schemeClr val="tx1">
              <a:lumMod val="65000"/>
              <a:lumOff val="35000"/>
            </a:schemeClr>
          </a:solidFill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  <a:grpFill/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grpFill/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grpFill/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  <a:grpFill/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grpFill/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grpFill/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8675" y="2228854"/>
            <a:ext cx="7553324" cy="1263113"/>
          </a:xfrm>
        </p:spPr>
        <p:txBody>
          <a:bodyPr rtlCol="0" anchor="ctr">
            <a:normAutofit/>
          </a:bodyPr>
          <a:lstStyle>
            <a:lvl1pPr algn="l" rtl="0">
              <a:defRPr sz="33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8675" y="3491967"/>
            <a:ext cx="7553324" cy="382313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l" rtl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602F2924-743E-4ADA-B3BE-10F8DB534DC0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BE1A241-BED9-42F2-A6A9-D7B384B8D295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10" y="0"/>
            <a:ext cx="1337391" cy="2228855"/>
          </a:xfrm>
          <a:prstGeom prst="rect">
            <a:avLst/>
          </a:prstGeom>
        </p:spPr>
      </p:pic>
      <p:pic>
        <p:nvPicPr>
          <p:cNvPr id="16" name="Picture 2" descr="https://timgsa.baidu.com/timg?image&amp;quality=80&amp;size=b9999_10000&amp;sec=1511172908148&amp;di=6d02f21212d218024932031e15da36ed&amp;imgtype=0&amp;src=http%3A%2F%2Fphotocdn.sohu.com%2F20120523%2FImg343922632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1613" y="-24685"/>
            <a:ext cx="1002388" cy="100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491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8675" y="1200151"/>
            <a:ext cx="3686175" cy="3428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200151"/>
            <a:ext cx="3686175" cy="3428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084BB1D3-3A81-414D-B0C6-5281BC948F4B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59E8A47D-0AB1-4744-95A8-39E7A180ACC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171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8675" y="1200151"/>
            <a:ext cx="3689604" cy="617933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500" b="1"/>
            </a:lvl2pPr>
            <a:lvl3pPr marL="685800" indent="0" algn="l" rtl="0">
              <a:buNone/>
              <a:defRPr sz="1350" b="1"/>
            </a:lvl3pPr>
            <a:lvl4pPr marL="1028700" indent="0" algn="l" rtl="0">
              <a:buNone/>
              <a:defRPr sz="1200" b="1"/>
            </a:lvl4pPr>
            <a:lvl5pPr marL="1371600" indent="0" algn="l" rtl="0">
              <a:buNone/>
              <a:defRPr sz="1200" b="1"/>
            </a:lvl5pPr>
            <a:lvl6pPr marL="1714500" indent="0" algn="l" rtl="0">
              <a:buNone/>
              <a:defRPr sz="1200" b="1"/>
            </a:lvl6pPr>
            <a:lvl7pPr marL="2057400" indent="0" algn="l" rtl="0">
              <a:buNone/>
              <a:defRPr sz="1200" b="1"/>
            </a:lvl7pPr>
            <a:lvl8pPr marL="2400300" indent="0" algn="l" rtl="0">
              <a:buNone/>
              <a:defRPr sz="1200" b="1"/>
            </a:lvl8pPr>
            <a:lvl9pPr marL="2743200" indent="0" algn="l" rtl="0">
              <a:buNone/>
              <a:defRPr sz="12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28675" y="1818084"/>
            <a:ext cx="3689604" cy="2811066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4583" y="1200151"/>
            <a:ext cx="3689604" cy="617933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500" b="1"/>
            </a:lvl2pPr>
            <a:lvl3pPr marL="685800" indent="0" algn="l" rtl="0">
              <a:buNone/>
              <a:defRPr sz="1350" b="1"/>
            </a:lvl3pPr>
            <a:lvl4pPr marL="1028700" indent="0" algn="l" rtl="0">
              <a:buNone/>
              <a:defRPr sz="1200" b="1"/>
            </a:lvl4pPr>
            <a:lvl5pPr marL="1371600" indent="0" algn="l" rtl="0">
              <a:buNone/>
              <a:defRPr sz="1200" b="1"/>
            </a:lvl5pPr>
            <a:lvl6pPr marL="1714500" indent="0" algn="l" rtl="0">
              <a:buNone/>
              <a:defRPr sz="1200" b="1"/>
            </a:lvl6pPr>
            <a:lvl7pPr marL="2057400" indent="0" algn="l" rtl="0">
              <a:buNone/>
              <a:defRPr sz="1200" b="1"/>
            </a:lvl7pPr>
            <a:lvl8pPr marL="2400300" indent="0" algn="l" rtl="0">
              <a:buNone/>
              <a:defRPr sz="1200" b="1"/>
            </a:lvl8pPr>
            <a:lvl9pPr marL="2743200" indent="0" algn="l" rtl="0">
              <a:buNone/>
              <a:defRPr sz="12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4583" y="1818084"/>
            <a:ext cx="3689604" cy="2811066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957CC2E-BA7D-44E8-8543-A2388C7C6ED5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6B1D184D-5C9D-41E8-9FD9-B6823935AD2C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63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9376702-95FB-4BA7-A05A-8C3261398C11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4B08C6E5-0368-4EF4-A482-B7C01F5ADC89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85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8159572A-820F-4ACF-9D42-32F74E11D922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8E1DCD51-4692-4631-91E0-6E3FCC300059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636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532" y="193932"/>
            <a:ext cx="3820668" cy="498022"/>
          </a:xfrm>
        </p:spPr>
        <p:txBody>
          <a:bodyPr rtlCol="0" anchor="b"/>
          <a:lstStyle>
            <a:lvl1pPr algn="l" rtl="0">
              <a:defRPr sz="24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31386" y="1200150"/>
            <a:ext cx="4083939" cy="3429001"/>
          </a:xfrm>
        </p:spPr>
        <p:txBody>
          <a:bodyPr rtlCol="0">
            <a:normAutofit/>
          </a:bodyPr>
          <a:lstStyle>
            <a:lvl1pPr algn="l" rtl="0">
              <a:defRPr sz="1500"/>
            </a:lvl1pPr>
            <a:lvl2pPr algn="l" rtl="0">
              <a:defRPr sz="1200"/>
            </a:lvl2pPr>
            <a:lvl3pPr algn="l" rtl="0">
              <a:defRPr sz="1200"/>
            </a:lvl3pPr>
            <a:lvl4pPr algn="l" rtl="0">
              <a:defRPr sz="1050"/>
            </a:lvl4pPr>
            <a:lvl5pPr algn="l" rtl="0">
              <a:defRPr sz="1050"/>
            </a:lvl5pPr>
            <a:lvl6pPr algn="l" rtl="0">
              <a:defRPr sz="1050"/>
            </a:lvl6pPr>
            <a:lvl7pPr algn="l" rtl="0">
              <a:defRPr sz="1050"/>
            </a:lvl7pPr>
            <a:lvl8pPr algn="l" rtl="0">
              <a:defRPr sz="1050"/>
            </a:lvl8pPr>
            <a:lvl9pPr algn="l" rtl="0">
              <a:defRPr sz="105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28675" y="1200150"/>
            <a:ext cx="3288411" cy="3429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900"/>
              </a:spcBef>
              <a:buNone/>
              <a:defRPr sz="1350"/>
            </a:lvl1pPr>
            <a:lvl2pPr marL="342900" indent="0" algn="l" rtl="0">
              <a:buNone/>
              <a:defRPr sz="1050"/>
            </a:lvl2pPr>
            <a:lvl3pPr marL="685800" indent="0" algn="l" rtl="0">
              <a:buNone/>
              <a:defRPr sz="900"/>
            </a:lvl3pPr>
            <a:lvl4pPr marL="1028700" indent="0" algn="l" rtl="0">
              <a:buNone/>
              <a:defRPr sz="750"/>
            </a:lvl4pPr>
            <a:lvl5pPr marL="1371600" indent="0" algn="l" rtl="0">
              <a:buNone/>
              <a:defRPr sz="750"/>
            </a:lvl5pPr>
            <a:lvl6pPr marL="1714500" indent="0" algn="l" rtl="0">
              <a:buNone/>
              <a:defRPr sz="750"/>
            </a:lvl6pPr>
            <a:lvl7pPr marL="2057400" indent="0" algn="l" rtl="0">
              <a:buNone/>
              <a:defRPr sz="750"/>
            </a:lvl7pPr>
            <a:lvl8pPr marL="2400300" indent="0" algn="l" rtl="0">
              <a:buNone/>
              <a:defRPr sz="750"/>
            </a:lvl8pPr>
            <a:lvl9pPr marL="2743200" indent="0" algn="l" rtl="0">
              <a:buNone/>
              <a:defRPr sz="75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2245BD58-8AB0-492A-ADC0-45D4D042BE64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DB91A0AD-5401-487A-B4DF-AAE6F99653A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829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491003" y="1200150"/>
            <a:ext cx="4823184" cy="3429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15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2100"/>
            </a:lvl2pPr>
            <a:lvl3pPr marL="685800" indent="0" algn="l" rtl="0">
              <a:buNone/>
              <a:defRPr sz="1800"/>
            </a:lvl3pPr>
            <a:lvl4pPr marL="1028700" indent="0" algn="l" rtl="0">
              <a:buNone/>
              <a:defRPr sz="1500"/>
            </a:lvl4pPr>
            <a:lvl5pPr marL="1371600" indent="0" algn="l" rtl="0">
              <a:buNone/>
              <a:defRPr sz="1500"/>
            </a:lvl5pPr>
            <a:lvl6pPr marL="1714500" indent="0" algn="l" rtl="0">
              <a:buNone/>
              <a:defRPr sz="1500"/>
            </a:lvl6pPr>
            <a:lvl7pPr marL="2057400" indent="0" algn="l" rtl="0">
              <a:buNone/>
              <a:defRPr sz="1500"/>
            </a:lvl7pPr>
            <a:lvl8pPr marL="2400300" indent="0" algn="l" rtl="0">
              <a:buNone/>
              <a:defRPr sz="1500"/>
            </a:lvl8pPr>
            <a:lvl9pPr marL="2743200" indent="0" algn="l" rtl="0">
              <a:buNone/>
              <a:defRPr sz="15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28675" y="1200150"/>
            <a:ext cx="2547747" cy="3429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900"/>
              </a:spcBef>
              <a:buNone/>
              <a:defRPr sz="13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050"/>
            </a:lvl2pPr>
            <a:lvl3pPr marL="685800" indent="0" algn="l" rtl="0">
              <a:buNone/>
              <a:defRPr sz="900"/>
            </a:lvl3pPr>
            <a:lvl4pPr marL="1028700" indent="0" algn="l" rtl="0">
              <a:buNone/>
              <a:defRPr sz="750"/>
            </a:lvl4pPr>
            <a:lvl5pPr marL="1371600" indent="0" algn="l" rtl="0">
              <a:buNone/>
              <a:defRPr sz="750"/>
            </a:lvl5pPr>
            <a:lvl6pPr marL="1714500" indent="0" algn="l" rtl="0">
              <a:buNone/>
              <a:defRPr sz="750"/>
            </a:lvl6pPr>
            <a:lvl7pPr marL="2057400" indent="0" algn="l" rtl="0">
              <a:buNone/>
              <a:defRPr sz="750"/>
            </a:lvl7pPr>
            <a:lvl8pPr marL="2400300" indent="0" algn="l" rtl="0">
              <a:buNone/>
              <a:defRPr sz="750"/>
            </a:lvl8pPr>
            <a:lvl9pPr marL="2743200" indent="0" algn="l" rtl="0">
              <a:buNone/>
              <a:defRPr sz="75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2245BD58-8AB0-492A-ADC0-45D4D042BE64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B91A0AD-5401-487A-B4DF-AAE6F99653A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08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2245BD58-8AB0-492A-ADC0-45D4D042BE64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DB91A0AD-5401-487A-B4DF-AAE6F99653A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131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7029450" y="273844"/>
            <a:ext cx="1285875" cy="4358879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28675" y="273844"/>
            <a:ext cx="6074172" cy="4358879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C5FB8457-19A9-4A8A-A8FF-B4BB33699748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50FB4B70-985E-49BB-AC52-476E4B0A283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grpSp>
        <p:nvGrpSpPr>
          <p:cNvPr id="7" name="组 6"/>
          <p:cNvGrpSpPr/>
          <p:nvPr/>
        </p:nvGrpSpPr>
        <p:grpSpPr>
          <a:xfrm rot="5400000">
            <a:off x="4885535" y="2421633"/>
            <a:ext cx="4224528" cy="63302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3765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" y="-1"/>
            <a:ext cx="8141612" cy="914401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27532" y="193932"/>
            <a:ext cx="3590925" cy="498022"/>
          </a:xfrm>
          <a:prstGeom prst="rect">
            <a:avLst/>
          </a:prstGeom>
          <a:solidFill>
            <a:srgbClr val="C00000"/>
          </a:solidFill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8675" y="1200150"/>
            <a:ext cx="7486650" cy="3429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28675" y="4767264"/>
            <a:ext cx="1372169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9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2245BD58-8AB0-492A-ADC0-45D4D042BE64}" type="datetimeFigureOut">
              <a:rPr lang="zh-CN" altLang="en-US" smtClean="0"/>
              <a:pPr>
                <a:defRPr/>
              </a:pPr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00844" y="4767262"/>
            <a:ext cx="4742312" cy="27384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9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42587" y="4767264"/>
            <a:ext cx="13716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9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B91A0AD-5401-487A-B4DF-AAE6F99653A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grpSp>
        <p:nvGrpSpPr>
          <p:cNvPr id="15" name="组 14"/>
          <p:cNvGrpSpPr/>
          <p:nvPr/>
        </p:nvGrpSpPr>
        <p:grpSpPr>
          <a:xfrm>
            <a:off x="631588" y="914401"/>
            <a:ext cx="7488936" cy="63302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 descr="https://timgsa.baidu.com/timg?image&amp;quality=80&amp;size=b9999_10000&amp;sec=1511172908148&amp;di=6d02f21212d218024932031e15da36ed&amp;imgtype=0&amp;src=http%3A%2F%2Fphotocdn.sohu.com%2F20120523%2FImg343922632.jpg"/>
          <p:cNvPicPr>
            <a:picLocks noChangeAspect="1" noChangeArrowheads="1"/>
          </p:cNvPicPr>
          <p:nvPr/>
        </p:nvPicPr>
        <p:blipFill>
          <a:blip r:embed="rId1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1613" y="-24685"/>
            <a:ext cx="1002388" cy="100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9245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99" r:id="rId1"/>
    <p:sldLayoutId id="2147485100" r:id="rId2"/>
    <p:sldLayoutId id="2147485101" r:id="rId3"/>
    <p:sldLayoutId id="2147485102" r:id="rId4"/>
    <p:sldLayoutId id="2147485103" r:id="rId5"/>
    <p:sldLayoutId id="2147485104" r:id="rId6"/>
    <p:sldLayoutId id="2147485105" r:id="rId7"/>
    <p:sldLayoutId id="2147485106" r:id="rId8"/>
    <p:sldLayoutId id="2147485107" r:id="rId9"/>
    <p:sldLayoutId id="2147485108" r:id="rId10"/>
    <p:sldLayoutId id="2147485109" r:id="rId11"/>
    <p:sldLayoutId id="214748511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1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1350"/>
        </a:spcBef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ilab.fudan.edu.cn/blockchain/logi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/>
          </p:cNvSpPr>
          <p:nvPr/>
        </p:nvSpPr>
        <p:spPr bwMode="auto">
          <a:xfrm>
            <a:off x="1" y="1563638"/>
            <a:ext cx="8964487" cy="720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2438" lvl="1" indent="-58738" algn="ctr" eaLnBrk="0" hangingPunct="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85000"/>
              <a:buFont typeface="Wingdings 2" pitchFamily="18" charset="2"/>
              <a:buNone/>
            </a:pPr>
            <a:endParaRPr lang="zh-CN" altLang="en-US" sz="36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99592" y="1203598"/>
            <a:ext cx="6263605" cy="2016224"/>
          </a:xfrm>
          <a:solidFill>
            <a:srgbClr val="C00000"/>
          </a:solidFill>
        </p:spPr>
        <p:txBody>
          <a:bodyPr lIns="288000" tIns="252000">
            <a:noAutofit/>
          </a:bodyPr>
          <a:lstStyle/>
          <a:p>
            <a:pPr lvl="1" algn="l" defTabSz="685800" rtl="0">
              <a:lnSpc>
                <a:spcPct val="150000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大学计算机</a:t>
            </a:r>
            <a:br>
              <a:rPr lang="en-US" altLang="zh-CN" sz="2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——</a:t>
            </a:r>
            <a:r>
              <a:rPr lang="zh-CN" altLang="en-US" sz="2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区块链基本原理与应用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3" name="副标题 2"/>
          <p:cNvSpPr>
            <a:spLocks noGrp="1"/>
          </p:cNvSpPr>
          <p:nvPr>
            <p:ph type="subTitle" idx="1"/>
          </p:nvPr>
        </p:nvSpPr>
        <p:spPr>
          <a:xfrm>
            <a:off x="3275856" y="3723878"/>
            <a:ext cx="3888432" cy="432048"/>
          </a:xfrm>
        </p:spPr>
        <p:txBody>
          <a:bodyPr>
            <a:normAutofit/>
          </a:bodyPr>
          <a:lstStyle/>
          <a:p>
            <a:pPr marL="63500" algn="r"/>
            <a:r>
              <a:rPr lang="zh-CN" altLang="en-US" sz="2400" dirty="0">
                <a:solidFill>
                  <a:srgbClr val="000066"/>
                </a:solidFill>
              </a:rPr>
              <a:t>同济大学计算机基础教研室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en-US" altLang="zh-CN" sz="2400" dirty="0"/>
              <a:t> </a:t>
            </a:r>
            <a:r>
              <a:rPr lang="zh-CN" altLang="zh-CN" sz="2400" dirty="0"/>
              <a:t>区块链</a:t>
            </a:r>
            <a:r>
              <a:rPr lang="zh-CN" altLang="en-US" sz="2400" dirty="0"/>
              <a:t>基本原理与</a:t>
            </a:r>
            <a:r>
              <a:rPr lang="zh-CN" altLang="zh-CN" sz="2400" dirty="0"/>
              <a:t>应用</a:t>
            </a:r>
            <a:endParaRPr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3370CB-05A8-4FE8-9CA2-ED5EEAF163A5}"/>
              </a:ext>
            </a:extLst>
          </p:cNvPr>
          <p:cNvSpPr txBox="1"/>
          <p:nvPr/>
        </p:nvSpPr>
        <p:spPr>
          <a:xfrm>
            <a:off x="3951270" y="1648677"/>
            <a:ext cx="2492990" cy="18461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rgbClr val="0000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一、从</a:t>
            </a:r>
            <a:r>
              <a:rPr lang="zh-CN" altLang="en-US" sz="2000" dirty="0">
                <a:solidFill>
                  <a:srgbClr val="000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比特币说起</a:t>
            </a:r>
            <a:endParaRPr lang="en-US" altLang="zh-CN" sz="2000" dirty="0">
              <a:solidFill>
                <a:srgbClr val="0000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rgbClr val="000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二、区块链基本原理</a:t>
            </a:r>
            <a:endParaRPr lang="en-US" altLang="zh-CN" sz="2000" dirty="0">
              <a:solidFill>
                <a:srgbClr val="00007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rgbClr val="000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三、区块链应用</a:t>
            </a:r>
          </a:p>
        </p:txBody>
      </p:sp>
      <p:pic>
        <p:nvPicPr>
          <p:cNvPr id="9" name="图片 5">
            <a:extLst>
              <a:ext uri="{FF2B5EF4-FFF2-40B4-BE49-F238E27FC236}">
                <a16:creationId xmlns:a16="http://schemas.microsoft.com/office/drawing/2014/main" id="{F1C872A3-C9F9-49BF-957F-04E00A063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1999384"/>
            <a:ext cx="1385908" cy="138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150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2FCC6FAB-BB1F-49FC-B7CA-7DA0B048DAB9}"/>
              </a:ext>
            </a:extLst>
          </p:cNvPr>
          <p:cNvSpPr txBox="1">
            <a:spLocks/>
          </p:cNvSpPr>
          <p:nvPr/>
        </p:nvSpPr>
        <p:spPr>
          <a:xfrm>
            <a:off x="899592" y="1870308"/>
            <a:ext cx="7200801" cy="250164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  <a:b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  <a:t>     	 	</a:t>
            </a:r>
            <a:endParaRPr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en-US" altLang="zh-CN" sz="2400" dirty="0"/>
              <a:t> </a:t>
            </a:r>
            <a:r>
              <a:rPr lang="zh-CN" altLang="en-US" sz="2400" dirty="0"/>
              <a:t>一、从比特币说起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00242F81-74B2-4642-8166-3402D7038F8B}"/>
              </a:ext>
            </a:extLst>
          </p:cNvPr>
          <p:cNvSpPr/>
          <p:nvPr/>
        </p:nvSpPr>
        <p:spPr>
          <a:xfrm>
            <a:off x="5747740" y="2000407"/>
            <a:ext cx="1263848" cy="436024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银行卡号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5BD7FD2E-25F7-4D45-BAEA-66E48BB4E6A3}"/>
              </a:ext>
            </a:extLst>
          </p:cNvPr>
          <p:cNvSpPr/>
          <p:nvPr/>
        </p:nvSpPr>
        <p:spPr>
          <a:xfrm>
            <a:off x="5747740" y="2705741"/>
            <a:ext cx="1263848" cy="43599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银行卡密码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A7376E82-9AC7-4E09-9EC6-70512E5C36A0}"/>
              </a:ext>
            </a:extLst>
          </p:cNvPr>
          <p:cNvSpPr/>
          <p:nvPr/>
        </p:nvSpPr>
        <p:spPr>
          <a:xfrm>
            <a:off x="7844656" y="1999980"/>
            <a:ext cx="1263848" cy="41704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BA7C9733-3919-48CD-B680-AEB1E4B4B12F}"/>
              </a:ext>
            </a:extLst>
          </p:cNvPr>
          <p:cNvSpPr/>
          <p:nvPr/>
        </p:nvSpPr>
        <p:spPr>
          <a:xfrm>
            <a:off x="7845655" y="2705741"/>
            <a:ext cx="1262849" cy="435998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私钥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3E17CC79-AA33-4270-B83F-EB03DDD96843}"/>
              </a:ext>
            </a:extLst>
          </p:cNvPr>
          <p:cNvSpPr/>
          <p:nvPr/>
        </p:nvSpPr>
        <p:spPr>
          <a:xfrm>
            <a:off x="5292150" y="1420093"/>
            <a:ext cx="2048450" cy="5303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现在世界</a:t>
            </a: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C6DBCEE8-BF00-47C8-9105-9B836B92206B}"/>
              </a:ext>
            </a:extLst>
          </p:cNvPr>
          <p:cNvSpPr/>
          <p:nvPr/>
        </p:nvSpPr>
        <p:spPr>
          <a:xfrm>
            <a:off x="7844656" y="1419622"/>
            <a:ext cx="1263848" cy="5303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比特币世界</a:t>
            </a:r>
          </a:p>
        </p:txBody>
      </p: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9B1337A6-4FE3-4955-9353-AF06822C8C1B}"/>
              </a:ext>
            </a:extLst>
          </p:cNvPr>
          <p:cNvCxnSpPr>
            <a:cxnSpLocks/>
            <a:stCxn id="112" idx="3"/>
            <a:endCxn id="114" idx="1"/>
          </p:cNvCxnSpPr>
          <p:nvPr/>
        </p:nvCxnSpPr>
        <p:spPr>
          <a:xfrm flipV="1">
            <a:off x="7011588" y="2208500"/>
            <a:ext cx="833068" cy="9919"/>
          </a:xfrm>
          <a:prstGeom prst="straightConnector1">
            <a:avLst/>
          </a:prstGeom>
          <a:ln w="19050" cmpd="sng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F6FAC6F0-F205-45D3-84EE-68217D7BD359}"/>
              </a:ext>
            </a:extLst>
          </p:cNvPr>
          <p:cNvCxnSpPr>
            <a:cxnSpLocks/>
          </p:cNvCxnSpPr>
          <p:nvPr/>
        </p:nvCxnSpPr>
        <p:spPr>
          <a:xfrm>
            <a:off x="7012821" y="2921075"/>
            <a:ext cx="831835" cy="0"/>
          </a:xfrm>
          <a:prstGeom prst="straightConnector1">
            <a:avLst/>
          </a:prstGeom>
          <a:ln w="19050" cmpd="sng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1C021890-1B55-4AE1-9DBC-1E505FDCC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59" y="986626"/>
            <a:ext cx="8424937" cy="381737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私钥和地址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◆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私钥：一串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位二进制数字。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5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◆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地址：钱包地址，比特币世界的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b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b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  <a:t>     	 	</a:t>
            </a:r>
            <a:endParaRPr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B93776-29FD-5DF8-C024-5A9E8F9467A1}"/>
              </a:ext>
            </a:extLst>
          </p:cNvPr>
          <p:cNvSpPr txBox="1"/>
          <p:nvPr/>
        </p:nvSpPr>
        <p:spPr>
          <a:xfrm>
            <a:off x="431540" y="2481648"/>
            <a:ext cx="4932548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两者不同之处：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、银行卡密码可以修改，但是，私钥一旦生成，就无法修改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、银行卡需要申请，而地址和私钥自己就可以生成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、银行卡实名制，地址和秘钥是匿名的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、个人申请银行卡有限制，但是地址和私钥可以无限生成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6159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en-US" altLang="zh-CN" sz="2400" dirty="0"/>
              <a:t> </a:t>
            </a:r>
            <a:r>
              <a:rPr lang="zh-CN" altLang="en-US" sz="2400" dirty="0"/>
              <a:t>一、从比特币说起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86625"/>
            <a:ext cx="8496945" cy="85448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◆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1800" dirty="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私钥、公钥、地址的关系 </a:t>
            </a:r>
            <a:endParaRPr kumimoji="1" lang="en-US" altLang="zh-CN" sz="1800" dirty="0">
              <a:solidFill>
                <a:srgbClr val="000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假定密钥是</a:t>
            </a:r>
            <a:r>
              <a:rPr kumimoji="1"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位的，使用</a:t>
            </a:r>
            <a:r>
              <a:rPr kumimoji="1" lang="en-US" altLang="zh-CN" sz="18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ECC</a:t>
            </a:r>
            <a:r>
              <a:rPr kumimoji="1"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  <a:endParaRPr kumimoji="1" lang="zh-CN" altLang="en-US" sz="1600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9EBF1D9-B231-4088-864F-89C026683EFE}"/>
              </a:ext>
            </a:extLst>
          </p:cNvPr>
          <p:cNvSpPr txBox="1"/>
          <p:nvPr/>
        </p:nvSpPr>
        <p:spPr>
          <a:xfrm>
            <a:off x="1299519" y="2091392"/>
            <a:ext cx="1080000" cy="372025"/>
          </a:xfrm>
          <a:prstGeom prst="rect">
            <a:avLst/>
          </a:prstGeom>
          <a:noFill/>
          <a:ln w="19050">
            <a:solidFill>
              <a:srgbClr val="000078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私钥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B60513D-3880-4657-AD41-5AF96CFCA008}"/>
              </a:ext>
            </a:extLst>
          </p:cNvPr>
          <p:cNvSpPr txBox="1"/>
          <p:nvPr/>
        </p:nvSpPr>
        <p:spPr>
          <a:xfrm>
            <a:off x="5148064" y="2091394"/>
            <a:ext cx="1080000" cy="372025"/>
          </a:xfrm>
          <a:prstGeom prst="rect">
            <a:avLst/>
          </a:prstGeom>
          <a:noFill/>
          <a:ln w="19050">
            <a:solidFill>
              <a:srgbClr val="000078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地址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BF3303A-733C-4D51-9DC7-71BD100E9AB3}"/>
              </a:ext>
            </a:extLst>
          </p:cNvPr>
          <p:cNvCxnSpPr>
            <a:cxnSpLocks/>
          </p:cNvCxnSpPr>
          <p:nvPr/>
        </p:nvCxnSpPr>
        <p:spPr>
          <a:xfrm>
            <a:off x="2383846" y="2291945"/>
            <a:ext cx="775907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8E393DE-B6FD-415D-90C5-C7EAE8077FFB}"/>
              </a:ext>
            </a:extLst>
          </p:cNvPr>
          <p:cNvCxnSpPr>
            <a:cxnSpLocks/>
          </p:cNvCxnSpPr>
          <p:nvPr/>
        </p:nvCxnSpPr>
        <p:spPr>
          <a:xfrm>
            <a:off x="4284088" y="2291945"/>
            <a:ext cx="863976" cy="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19A7863-6005-4856-993D-590215936D2F}"/>
              </a:ext>
            </a:extLst>
          </p:cNvPr>
          <p:cNvSpPr txBox="1"/>
          <p:nvPr/>
        </p:nvSpPr>
        <p:spPr>
          <a:xfrm>
            <a:off x="1187623" y="2499488"/>
            <a:ext cx="1584176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可以随机产生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可以抛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256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硬币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2938D6B-4CD0-42E0-A5B4-BFCEB9E3E8A2}"/>
              </a:ext>
            </a:extLst>
          </p:cNvPr>
          <p:cNvSpPr txBox="1"/>
          <p:nvPr/>
        </p:nvSpPr>
        <p:spPr>
          <a:xfrm>
            <a:off x="2480304" y="1995686"/>
            <a:ext cx="808152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变换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E1E07D5-F673-4C5D-AE31-B6CB42845D05}"/>
              </a:ext>
            </a:extLst>
          </p:cNvPr>
          <p:cNvSpPr txBox="1"/>
          <p:nvPr/>
        </p:nvSpPr>
        <p:spPr>
          <a:xfrm>
            <a:off x="4428104" y="2015924"/>
            <a:ext cx="636105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变换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C073DB4-0A33-43CB-8D92-3D9D162DFC20}"/>
              </a:ext>
            </a:extLst>
          </p:cNvPr>
          <p:cNvSpPr txBox="1"/>
          <p:nvPr/>
        </p:nvSpPr>
        <p:spPr>
          <a:xfrm>
            <a:off x="5148064" y="2499488"/>
            <a:ext cx="1584176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字符串形式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BAF9A69-BE04-4301-8B3B-55AB1A895818}"/>
              </a:ext>
            </a:extLst>
          </p:cNvPr>
          <p:cNvSpPr txBox="1"/>
          <p:nvPr/>
        </p:nvSpPr>
        <p:spPr>
          <a:xfrm>
            <a:off x="3164080" y="2091392"/>
            <a:ext cx="1080000" cy="372025"/>
          </a:xfrm>
          <a:prstGeom prst="rect">
            <a:avLst/>
          </a:prstGeom>
          <a:noFill/>
          <a:ln w="19050">
            <a:solidFill>
              <a:srgbClr val="000078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公钥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7E6DC5A-7D87-49B2-8937-A76C87007504}"/>
              </a:ext>
            </a:extLst>
          </p:cNvPr>
          <p:cNvSpPr txBox="1"/>
          <p:nvPr/>
        </p:nvSpPr>
        <p:spPr>
          <a:xfrm>
            <a:off x="2836884" y="2499488"/>
            <a:ext cx="2167164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一个点的坐标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x,y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989DEED-8651-4F22-8C10-C68C5663C02D}"/>
              </a:ext>
            </a:extLst>
          </p:cNvPr>
          <p:cNvSpPr/>
          <p:nvPr/>
        </p:nvSpPr>
        <p:spPr>
          <a:xfrm>
            <a:off x="755576" y="3063910"/>
            <a:ext cx="22136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0000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00001100……00011101</a:t>
            </a:r>
            <a:endParaRPr lang="zh-CN" altLang="en-US" sz="1600" dirty="0">
              <a:solidFill>
                <a:srgbClr val="00007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左大括号 26">
            <a:extLst>
              <a:ext uri="{FF2B5EF4-FFF2-40B4-BE49-F238E27FC236}">
                <a16:creationId xmlns:a16="http://schemas.microsoft.com/office/drawing/2014/main" id="{9C0F9E53-CFB5-4460-8126-284BEEA5666C}"/>
              </a:ext>
            </a:extLst>
          </p:cNvPr>
          <p:cNvSpPr/>
          <p:nvPr/>
        </p:nvSpPr>
        <p:spPr>
          <a:xfrm rot="16200000">
            <a:off x="1756572" y="2487400"/>
            <a:ext cx="211727" cy="1948894"/>
          </a:xfrm>
          <a:prstGeom prst="leftBrac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23799AB-C562-4D1C-9D7B-74254BB28016}"/>
              </a:ext>
            </a:extLst>
          </p:cNvPr>
          <p:cNvSpPr/>
          <p:nvPr/>
        </p:nvSpPr>
        <p:spPr>
          <a:xfrm>
            <a:off x="3889013" y="3043846"/>
            <a:ext cx="410227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>
                <a:solidFill>
                  <a:srgbClr val="0000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58igLoRYLjmqc9H5ZSxWqBvdNT3Ro1QeUJ</a:t>
            </a:r>
            <a:endParaRPr lang="zh-CN" altLang="en-US" sz="1600" dirty="0">
              <a:solidFill>
                <a:srgbClr val="00007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993E087-CE36-4D8C-BBAE-190B492F4726}"/>
              </a:ext>
            </a:extLst>
          </p:cNvPr>
          <p:cNvSpPr/>
          <p:nvPr/>
        </p:nvSpPr>
        <p:spPr>
          <a:xfrm>
            <a:off x="1555336" y="3504907"/>
            <a:ext cx="6976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C778AC3-C9A4-2434-ECE8-E27C35E5C271}"/>
              </a:ext>
            </a:extLst>
          </p:cNvPr>
          <p:cNvSpPr txBox="1"/>
          <p:nvPr/>
        </p:nvSpPr>
        <p:spPr>
          <a:xfrm>
            <a:off x="539612" y="3767496"/>
            <a:ext cx="8352928" cy="134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私钥：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不需要申请，随机产生。可抛硬币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256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次来生成，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重复的概率很小很小（数学问题）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公钥：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由私钥经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ECC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算法转换得到，公钥不能反推私钥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地址：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由公钥经哈希算法转换得到，地址不能反推私钥。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一个地址产生以后，只有进入区块链账本，才被大家知道</a:t>
            </a:r>
          </a:p>
        </p:txBody>
      </p:sp>
    </p:spTree>
    <p:extLst>
      <p:ext uri="{BB962C8B-B14F-4D97-AF65-F5344CB8AC3E}">
        <p14:creationId xmlns:p14="http://schemas.microsoft.com/office/powerpoint/2010/main" val="10402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en-US" altLang="zh-CN" sz="2400" dirty="0"/>
              <a:t> </a:t>
            </a:r>
            <a:r>
              <a:rPr lang="zh-CN" altLang="en-US" sz="2400" dirty="0"/>
              <a:t>一、从比特币说起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8D568741-79FA-40D8-9644-FA33B49C2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1347614"/>
            <a:ext cx="3744416" cy="2302816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83093DF8-7878-4F39-B348-A71347DB36CD}"/>
              </a:ext>
            </a:extLst>
          </p:cNvPr>
          <p:cNvSpPr/>
          <p:nvPr/>
        </p:nvSpPr>
        <p:spPr>
          <a:xfrm>
            <a:off x="2560990" y="3579862"/>
            <a:ext cx="3744416" cy="43299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Arial" pitchFamily="34" charset="0"/>
              <a:buNone/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比特币的世界中，私钥就是一切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19BC4B-8835-44F5-BD32-193126C2AD84}"/>
              </a:ext>
            </a:extLst>
          </p:cNvPr>
          <p:cNvSpPr/>
          <p:nvPr/>
        </p:nvSpPr>
        <p:spPr>
          <a:xfrm>
            <a:off x="611560" y="4101360"/>
            <a:ext cx="6768752" cy="63063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可以查到比特币从一个钱包转移到另一个钱包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但并不知道钱包属于谁的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AF8A03-9376-4B07-9110-AEE894004E51}"/>
              </a:ext>
            </a:extLst>
          </p:cNvPr>
          <p:cNvSpPr/>
          <p:nvPr/>
        </p:nvSpPr>
        <p:spPr>
          <a:xfrm>
            <a:off x="6258466" y="4278830"/>
            <a:ext cx="2850038" cy="830997"/>
          </a:xfrm>
          <a:prstGeom prst="rect">
            <a:avLst/>
          </a:prstGeom>
          <a:ln>
            <a:solidFill>
              <a:srgbClr val="000078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匿名性：区块链特征之一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(5/5)</a:t>
            </a:r>
          </a:p>
          <a:p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身份信息不需要公开或验证，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信息传递可以匿名进行</a:t>
            </a:r>
          </a:p>
        </p:txBody>
      </p:sp>
    </p:spTree>
    <p:extLst>
      <p:ext uri="{BB962C8B-B14F-4D97-AF65-F5344CB8AC3E}">
        <p14:creationId xmlns:p14="http://schemas.microsoft.com/office/powerpoint/2010/main" val="3410914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en-US" altLang="zh-CN" sz="2400" dirty="0"/>
              <a:t> </a:t>
            </a:r>
            <a:r>
              <a:rPr lang="zh-CN" altLang="en-US" sz="2400" dirty="0"/>
              <a:t>三、从比特币说起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86626"/>
            <a:ext cx="8280921" cy="133197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传统交易模式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小张转帐给小李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元，需要银行</a:t>
            </a:r>
            <a:r>
              <a:rPr lang="en-US" altLang="zh-CN" sz="1800" dirty="0"/>
              <a:t>/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中介机构（支付宝、腾讯）负责记账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如何创建一个无须中介或者说去中心化的数字货币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b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  <a:t>     	 	</a:t>
            </a:r>
            <a:endParaRPr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41">
            <a:extLst>
              <a:ext uri="{FF2B5EF4-FFF2-40B4-BE49-F238E27FC236}">
                <a16:creationId xmlns:a16="http://schemas.microsoft.com/office/drawing/2014/main" id="{AC0B48B8-AB96-46C6-B953-FF0C99EA8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0949" y="2027498"/>
            <a:ext cx="3936496" cy="91307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4000"/>
              </a:lnSpc>
            </a:pPr>
            <a:r>
              <a:rPr lang="zh-CN" altLang="en-US" sz="1600" dirty="0">
                <a:solidFill>
                  <a:srgbClr val="000078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存在问题：</a:t>
            </a:r>
            <a:endParaRPr lang="en-US" altLang="zh-CN" sz="1600" dirty="0">
              <a:solidFill>
                <a:srgbClr val="000078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14000"/>
              </a:lnSpc>
            </a:pPr>
            <a:r>
              <a:rPr lang="zh-CN" altLang="en-US" sz="1600" dirty="0">
                <a:solidFill>
                  <a:srgbClr val="000078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■ 手续费</a:t>
            </a:r>
            <a:endParaRPr lang="en-US" altLang="zh-CN" sz="1600" dirty="0">
              <a:solidFill>
                <a:srgbClr val="000078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14000"/>
              </a:lnSpc>
            </a:pPr>
            <a:r>
              <a:rPr lang="zh-CN" altLang="en-US" sz="1600" dirty="0">
                <a:solidFill>
                  <a:srgbClr val="000078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■ 非实时，效率低</a:t>
            </a:r>
            <a:endParaRPr lang="zh-CN" altLang="en-US" dirty="0">
              <a:solidFill>
                <a:srgbClr val="000078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700AC1B-1C18-44F7-A017-55E0370BACBF}"/>
              </a:ext>
            </a:extLst>
          </p:cNvPr>
          <p:cNvCxnSpPr>
            <a:cxnSpLocks/>
          </p:cNvCxnSpPr>
          <p:nvPr/>
        </p:nvCxnSpPr>
        <p:spPr>
          <a:xfrm>
            <a:off x="2117829" y="2715766"/>
            <a:ext cx="1754514" cy="0"/>
          </a:xfrm>
          <a:prstGeom prst="straightConnector1">
            <a:avLst/>
          </a:prstGeom>
          <a:ln w="15875">
            <a:solidFill>
              <a:srgbClr val="00006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18">
            <a:extLst>
              <a:ext uri="{FF2B5EF4-FFF2-40B4-BE49-F238E27FC236}">
                <a16:creationId xmlns:a16="http://schemas.microsoft.com/office/drawing/2014/main" id="{E2A22AF2-E711-4DBB-8226-11D03AB9C0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7211" y="2377212"/>
            <a:ext cx="12050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转账</a:t>
            </a:r>
            <a:r>
              <a:rPr lang="en-US" altLang="zh-CN" sz="16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100</a:t>
            </a: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元</a:t>
            </a:r>
          </a:p>
        </p:txBody>
      </p:sp>
      <p:pic>
        <p:nvPicPr>
          <p:cNvPr id="13" name="图片 8">
            <a:extLst>
              <a:ext uri="{FF2B5EF4-FFF2-40B4-BE49-F238E27FC236}">
                <a16:creationId xmlns:a16="http://schemas.microsoft.com/office/drawing/2014/main" id="{2196A57E-C55A-4B8F-8169-CB45002EE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027" y="2212239"/>
            <a:ext cx="947612" cy="94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图片 9">
            <a:extLst>
              <a:ext uri="{FF2B5EF4-FFF2-40B4-BE49-F238E27FC236}">
                <a16:creationId xmlns:a16="http://schemas.microsoft.com/office/drawing/2014/main" id="{4A621DBC-D117-45F3-A25D-E032EF48EE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9207" y="2067694"/>
            <a:ext cx="1092157" cy="1092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3">
            <a:extLst>
              <a:ext uri="{FF2B5EF4-FFF2-40B4-BE49-F238E27FC236}">
                <a16:creationId xmlns:a16="http://schemas.microsoft.com/office/drawing/2014/main" id="{37F990BC-DC8D-4AE4-AA2D-94DE4DBD0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5950" y="1923678"/>
            <a:ext cx="683464" cy="360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1800" dirty="0">
                <a:solidFill>
                  <a:srgbClr val="000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小张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744993AE-7332-4DCF-BEE3-CB57DE229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5075" y="1923678"/>
            <a:ext cx="683464" cy="360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1800" dirty="0">
                <a:solidFill>
                  <a:srgbClr val="00007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小李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D870B79-FB13-44B6-B3F1-6F5D450F2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341790"/>
              </p:ext>
            </p:extLst>
          </p:nvPr>
        </p:nvGraphicFramePr>
        <p:xfrm>
          <a:off x="4767007" y="3659347"/>
          <a:ext cx="3960438" cy="9286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1">
                  <a:extLst>
                    <a:ext uri="{9D8B030D-6E8A-4147-A177-3AD203B41FA5}">
                      <a16:colId xmlns:a16="http://schemas.microsoft.com/office/drawing/2014/main" val="11937927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134775242"/>
                    </a:ext>
                  </a:extLst>
                </a:gridCol>
                <a:gridCol w="1512167">
                  <a:extLst>
                    <a:ext uri="{9D8B030D-6E8A-4147-A177-3AD203B41FA5}">
                      <a16:colId xmlns:a16="http://schemas.microsoft.com/office/drawing/2014/main" val="2769566425"/>
                    </a:ext>
                  </a:extLst>
                </a:gridCol>
              </a:tblGrid>
              <a:tr h="56858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</a:rPr>
                        <a:t>物理世界的</a:t>
                      </a:r>
                      <a:b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</a:rPr>
                        <a:t>现金</a:t>
                      </a:r>
                      <a:endParaRPr lang="zh-CN" sz="16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</a:rPr>
                        <a:t>现有的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</a:rPr>
                        <a:t>电子现金</a:t>
                      </a:r>
                      <a:endParaRPr lang="zh-CN" sz="16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000078"/>
                          </a:solidFill>
                          <a:effectLst/>
                        </a:rPr>
                        <a:t>比特币点对点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000078"/>
                          </a:solidFill>
                          <a:effectLst/>
                        </a:rPr>
                        <a:t>电子现金</a:t>
                      </a:r>
                      <a:endParaRPr lang="zh-CN" sz="1600" b="0" kern="100" dirty="0">
                        <a:solidFill>
                          <a:srgbClr val="000078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511406"/>
                  </a:ext>
                </a:extLst>
              </a:tr>
              <a:tr h="34950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</a:rPr>
                        <a:t>无中介</a:t>
                      </a:r>
                      <a:endParaRPr lang="zh-CN" sz="16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chemeClr val="tx1"/>
                          </a:solidFill>
                          <a:effectLst/>
                        </a:rPr>
                        <a:t>有中介</a:t>
                      </a:r>
                      <a:endParaRPr lang="zh-CN" sz="16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000078"/>
                          </a:solidFill>
                          <a:effectLst/>
                        </a:rPr>
                        <a:t>无中介</a:t>
                      </a:r>
                      <a:endParaRPr lang="zh-CN" sz="1600" b="0" kern="100" dirty="0">
                        <a:solidFill>
                          <a:srgbClr val="000078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746878"/>
                  </a:ext>
                </a:extLst>
              </a:tr>
            </a:tbl>
          </a:graphicData>
        </a:graphic>
      </p:graphicFrame>
      <p:sp>
        <p:nvSpPr>
          <p:cNvPr id="12" name="文本框 41">
            <a:extLst>
              <a:ext uri="{FF2B5EF4-FFF2-40B4-BE49-F238E27FC236}">
                <a16:creationId xmlns:a16="http://schemas.microsoft.com/office/drawing/2014/main" id="{8C163378-F0FC-4A83-B957-D52423D81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4236339"/>
            <a:ext cx="3528392" cy="351635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4000"/>
              </a:lnSpc>
            </a:pP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注：世界上多数国家不认可比特币</a:t>
            </a:r>
          </a:p>
        </p:txBody>
      </p:sp>
    </p:spTree>
    <p:extLst>
      <p:ext uri="{BB962C8B-B14F-4D97-AF65-F5344CB8AC3E}">
        <p14:creationId xmlns:p14="http://schemas.microsoft.com/office/powerpoint/2010/main" val="4216653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en-US" altLang="zh-CN" sz="2400" dirty="0"/>
              <a:t> </a:t>
            </a:r>
            <a:r>
              <a:rPr lang="zh-CN" altLang="en-US" sz="2400" dirty="0"/>
              <a:t>一、从比特币说起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59" y="986626"/>
            <a:ext cx="7632849" cy="374536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账簿（</a:t>
            </a: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Ledger</a:t>
            </a: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◆ </a:t>
            </a:r>
            <a:r>
              <a:rPr lang="zh-CN" altLang="en-US" sz="1800" dirty="0"/>
              <a:t>货币用于交易，交易产生记录</a:t>
            </a:r>
            <a:endParaRPr lang="en-US" altLang="zh-CN" sz="18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◆ </a:t>
            </a:r>
            <a:r>
              <a:rPr lang="zh-CN" altLang="en-US" sz="1800" dirty="0"/>
              <a:t>交易记录组成账簿</a:t>
            </a:r>
            <a:endParaRPr lang="en-US" altLang="zh-CN" sz="18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◆ </a:t>
            </a:r>
            <a:r>
              <a:rPr lang="zh-CN" altLang="en-US" sz="1800" dirty="0"/>
              <a:t>传统货币的账簿在银行</a:t>
            </a:r>
            <a:r>
              <a:rPr lang="en-US" altLang="zh-CN" sz="1800" dirty="0"/>
              <a:t>/</a:t>
            </a:r>
            <a:r>
              <a:rPr lang="zh-CN" altLang="en-US" sz="1800" dirty="0"/>
              <a:t>中介机构</a:t>
            </a:r>
            <a:endParaRPr lang="en-US" altLang="zh-CN" sz="18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/>
              <a:t>     </a:t>
            </a:r>
            <a:r>
              <a:rPr lang="zh-CN" altLang="en-US" sz="1800" dirty="0"/>
              <a:t>注：传统账户直接看到余额，</a:t>
            </a:r>
            <a:endParaRPr lang="en-US" altLang="zh-CN" sz="18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/>
              <a:t>            </a:t>
            </a:r>
            <a:r>
              <a:rPr lang="zh-CN" altLang="en-US" sz="1800" dirty="0"/>
              <a:t>比特币中的余额需要计算而得</a:t>
            </a:r>
            <a:endParaRPr lang="en-US" altLang="zh-CN" sz="18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8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A50021"/>
                </a:solidFill>
              </a:rPr>
              <a:t>     </a:t>
            </a:r>
            <a:b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800" i="1" dirty="0">
                <a:latin typeface="Arial" panose="020B0604020202020204" pitchFamily="34" charset="0"/>
                <a:cs typeface="Arial" panose="020B0604020202020204" pitchFamily="34" charset="0"/>
              </a:rPr>
              <a:t>     	 	</a:t>
            </a:r>
            <a:endParaRPr lang="zh-CN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05CEC3FD-E02D-4108-9791-AB58B275638F}"/>
              </a:ext>
            </a:extLst>
          </p:cNvPr>
          <p:cNvGraphicFramePr>
            <a:graphicFrameLocks noGrp="1"/>
          </p:cNvGraphicFramePr>
          <p:nvPr/>
        </p:nvGraphicFramePr>
        <p:xfrm>
          <a:off x="5580112" y="1527159"/>
          <a:ext cx="2952329" cy="2664297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081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01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7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600" b="0" kern="1200" dirty="0">
                          <a:solidFill>
                            <a:srgbClr val="000078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from</a:t>
                      </a:r>
                      <a:endParaRPr lang="zh-CN" altLang="en-US" sz="1600" b="0" kern="1200" dirty="0">
                        <a:solidFill>
                          <a:srgbClr val="000078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600" b="0" kern="1200" dirty="0">
                          <a:solidFill>
                            <a:srgbClr val="000078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to</a:t>
                      </a:r>
                      <a:endParaRPr lang="zh-CN" altLang="en-US" sz="1600" b="0" kern="1200" dirty="0">
                        <a:solidFill>
                          <a:srgbClr val="000078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600" b="0" kern="1200" dirty="0">
                          <a:solidFill>
                            <a:srgbClr val="000078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en-US" altLang="zh-CN" sz="1600" b="0" kern="1200" dirty="0" err="1">
                          <a:solidFill>
                            <a:srgbClr val="000078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btc</a:t>
                      </a:r>
                      <a:endParaRPr lang="zh-CN" altLang="en-US" sz="1600" b="0" kern="1200" dirty="0">
                        <a:solidFill>
                          <a:srgbClr val="000078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0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李志军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陆海清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1.2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0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张</a:t>
                      </a: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大海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刘</a:t>
                      </a: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小龙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0.5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9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林</a:t>
                      </a: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志文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胡士</a:t>
                      </a: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松</a:t>
                      </a: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2.6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7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邓清颖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杨</a:t>
                      </a: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明</a:t>
                      </a: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廉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1.8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0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邹百川</a:t>
                      </a:r>
                      <a:endParaRPr lang="en-US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农商</a:t>
                      </a: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行</a:t>
                      </a: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6.9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农商</a:t>
                      </a:r>
                      <a:r>
                        <a:rPr lang="zh-CN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行</a:t>
                      </a: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某某</a:t>
                      </a: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5.3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6627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en-US" altLang="zh-CN" sz="2400" dirty="0"/>
              <a:t> </a:t>
            </a:r>
            <a:r>
              <a:rPr lang="zh-CN" altLang="en-US" sz="2400" dirty="0"/>
              <a:t>一、从比特币说起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8A5CFB2B-3F6D-4C0D-BEEC-F57965355A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588365"/>
              </p:ext>
            </p:extLst>
          </p:nvPr>
        </p:nvGraphicFramePr>
        <p:xfrm>
          <a:off x="683568" y="1660747"/>
          <a:ext cx="2952329" cy="2664297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081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01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7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600" b="0" kern="1200" dirty="0">
                          <a:solidFill>
                            <a:srgbClr val="000078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from</a:t>
                      </a:r>
                      <a:endParaRPr lang="zh-CN" altLang="en-US" sz="1600" b="0" kern="1200" dirty="0">
                        <a:solidFill>
                          <a:srgbClr val="000078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600" b="0" kern="1200" dirty="0">
                          <a:solidFill>
                            <a:srgbClr val="000078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to</a:t>
                      </a:r>
                      <a:endParaRPr lang="zh-CN" altLang="en-US" sz="1600" b="0" kern="1200" dirty="0">
                        <a:solidFill>
                          <a:srgbClr val="000078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600" b="0" kern="1200" dirty="0">
                          <a:solidFill>
                            <a:srgbClr val="000078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en-US" altLang="zh-CN" sz="1600" b="0" kern="1200" dirty="0" err="1">
                          <a:solidFill>
                            <a:srgbClr val="000078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btc</a:t>
                      </a:r>
                      <a:endParaRPr lang="zh-CN" altLang="en-US" sz="1600" b="0" kern="1200" dirty="0">
                        <a:solidFill>
                          <a:srgbClr val="000078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0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李志军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陆海清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1.2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0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张</a:t>
                      </a: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大海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刘</a:t>
                      </a: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小龙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0.5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9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林</a:t>
                      </a: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志文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胡士</a:t>
                      </a: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松</a:t>
                      </a: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2.6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7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邓清颖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杨</a:t>
                      </a: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明</a:t>
                      </a: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廉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1.8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0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邹百川</a:t>
                      </a:r>
                      <a:endParaRPr lang="en-US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农商</a:t>
                      </a: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行</a:t>
                      </a: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6.9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5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农商</a:t>
                      </a:r>
                      <a:r>
                        <a:rPr lang="zh-CN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行</a:t>
                      </a: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某某</a:t>
                      </a: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5.3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6D832DE8-B1B2-4A44-822E-F56E6B3189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72505"/>
              </p:ext>
            </p:extLst>
          </p:nvPr>
        </p:nvGraphicFramePr>
        <p:xfrm>
          <a:off x="5157776" y="1097761"/>
          <a:ext cx="2942617" cy="1041943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077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7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5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4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600" b="0" kern="1200" dirty="0">
                          <a:solidFill>
                            <a:srgbClr val="000078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from</a:t>
                      </a:r>
                      <a:endParaRPr lang="zh-CN" altLang="en-US" sz="1600" b="0" kern="1200" dirty="0">
                        <a:solidFill>
                          <a:srgbClr val="000078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600" b="0" kern="1200" dirty="0">
                          <a:solidFill>
                            <a:srgbClr val="000078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to</a:t>
                      </a:r>
                      <a:endParaRPr lang="zh-CN" altLang="en-US" sz="1600" b="0" kern="1200" dirty="0">
                        <a:solidFill>
                          <a:srgbClr val="000078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600" b="0" kern="1200" dirty="0">
                          <a:solidFill>
                            <a:srgbClr val="000078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en-US" altLang="zh-CN" sz="1600" b="0" kern="1200" dirty="0" err="1">
                          <a:solidFill>
                            <a:srgbClr val="000078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btc</a:t>
                      </a:r>
                      <a:endParaRPr lang="zh-CN" altLang="en-US" sz="1600" b="0" kern="1200" dirty="0">
                        <a:solidFill>
                          <a:srgbClr val="000078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李志军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陆海清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1.2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7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张</a:t>
                      </a: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大海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刘</a:t>
                      </a: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小龙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0.5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24753663-0EF5-46CF-86E9-38EBF48A1F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792603"/>
              </p:ext>
            </p:extLst>
          </p:nvPr>
        </p:nvGraphicFramePr>
        <p:xfrm>
          <a:off x="5148064" y="2480623"/>
          <a:ext cx="2952329" cy="104134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081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01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42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600" b="0" kern="1200" dirty="0">
                          <a:solidFill>
                            <a:srgbClr val="000078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from</a:t>
                      </a:r>
                      <a:endParaRPr lang="zh-CN" altLang="en-US" sz="1600" b="0" kern="1200" dirty="0">
                        <a:solidFill>
                          <a:srgbClr val="000078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600" b="0" kern="1200" dirty="0">
                          <a:solidFill>
                            <a:srgbClr val="000078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to</a:t>
                      </a:r>
                      <a:endParaRPr lang="zh-CN" altLang="en-US" sz="1600" b="0" kern="1200" dirty="0">
                        <a:solidFill>
                          <a:srgbClr val="000078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600" b="0" kern="1200" dirty="0">
                          <a:solidFill>
                            <a:srgbClr val="000078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en-US" altLang="zh-CN" sz="1600" b="0" kern="1200" dirty="0" err="1">
                          <a:solidFill>
                            <a:srgbClr val="000078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btc</a:t>
                      </a:r>
                      <a:endParaRPr lang="zh-CN" altLang="en-US" sz="1600" b="0" kern="1200" dirty="0">
                        <a:solidFill>
                          <a:srgbClr val="000078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5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林</a:t>
                      </a: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志文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胡士</a:t>
                      </a: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松</a:t>
                      </a: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2.6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5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邓清颖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杨</a:t>
                      </a: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明</a:t>
                      </a: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廉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1.8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89699F82-09F2-4BED-A274-5F75EE32CF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145516"/>
              </p:ext>
            </p:extLst>
          </p:nvPr>
        </p:nvGraphicFramePr>
        <p:xfrm>
          <a:off x="5157776" y="3906665"/>
          <a:ext cx="2952328" cy="104134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081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01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29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600" b="0" kern="1200" dirty="0">
                          <a:solidFill>
                            <a:srgbClr val="000078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from</a:t>
                      </a:r>
                      <a:endParaRPr lang="zh-CN" altLang="en-US" sz="1600" b="0" kern="1200" dirty="0">
                        <a:solidFill>
                          <a:srgbClr val="000078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600" b="0" kern="1200" dirty="0">
                          <a:solidFill>
                            <a:srgbClr val="000078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to</a:t>
                      </a:r>
                      <a:endParaRPr lang="zh-CN" altLang="en-US" sz="1600" b="0" kern="1200" dirty="0">
                        <a:solidFill>
                          <a:srgbClr val="000078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600" b="0" kern="1200" dirty="0">
                          <a:solidFill>
                            <a:srgbClr val="000078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en-US" altLang="zh-CN" sz="1600" b="0" kern="1200" dirty="0" err="1">
                          <a:solidFill>
                            <a:srgbClr val="000078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btc</a:t>
                      </a:r>
                      <a:endParaRPr lang="zh-CN" altLang="en-US" sz="1600" b="0" kern="1200" dirty="0">
                        <a:solidFill>
                          <a:srgbClr val="000078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6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邹百川</a:t>
                      </a:r>
                      <a:endParaRPr lang="en-US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农商</a:t>
                      </a: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行</a:t>
                      </a: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6.9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7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农商</a:t>
                      </a:r>
                      <a:r>
                        <a:rPr lang="zh-CN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行</a:t>
                      </a: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某某</a:t>
                      </a: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5.3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08901624-C353-401C-9768-A289A65F29DA}"/>
              </a:ext>
            </a:extLst>
          </p:cNvPr>
          <p:cNvCxnSpPr>
            <a:cxnSpLocks/>
          </p:cNvCxnSpPr>
          <p:nvPr/>
        </p:nvCxnSpPr>
        <p:spPr>
          <a:xfrm flipV="1">
            <a:off x="3613039" y="1779662"/>
            <a:ext cx="1544737" cy="70096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DCFA538-6D44-4CA1-850E-C244BD0661BE}"/>
              </a:ext>
            </a:extLst>
          </p:cNvPr>
          <p:cNvCxnSpPr>
            <a:cxnSpLocks/>
          </p:cNvCxnSpPr>
          <p:nvPr/>
        </p:nvCxnSpPr>
        <p:spPr>
          <a:xfrm flipV="1">
            <a:off x="3599894" y="3227100"/>
            <a:ext cx="1538458" cy="2595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3E20DEA5-2FD4-4494-B1BE-9979A077F54B}"/>
              </a:ext>
            </a:extLst>
          </p:cNvPr>
          <p:cNvCxnSpPr>
            <a:cxnSpLocks/>
          </p:cNvCxnSpPr>
          <p:nvPr/>
        </p:nvCxnSpPr>
        <p:spPr>
          <a:xfrm>
            <a:off x="3645609" y="4006365"/>
            <a:ext cx="1512167" cy="306421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41">
            <a:extLst>
              <a:ext uri="{FF2B5EF4-FFF2-40B4-BE49-F238E27FC236}">
                <a16:creationId xmlns:a16="http://schemas.microsoft.com/office/drawing/2014/main" id="{697150D1-F371-485A-87D5-7C3890D1B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370" y="4435456"/>
            <a:ext cx="2952328" cy="699743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4000"/>
              </a:lnSpc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交易信息不是在一个区块中</a:t>
            </a:r>
            <a:endParaRPr lang="en-US" altLang="zh-CN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14000"/>
              </a:lnSpc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而是分布各区块中</a:t>
            </a:r>
          </a:p>
        </p:txBody>
      </p:sp>
      <p:sp>
        <p:nvSpPr>
          <p:cNvPr id="33" name="文本框 41">
            <a:extLst>
              <a:ext uri="{FF2B5EF4-FFF2-40B4-BE49-F238E27FC236}">
                <a16:creationId xmlns:a16="http://schemas.microsoft.com/office/drawing/2014/main" id="{245CC084-06D7-4CA6-9A89-9BD4033BE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8384" y="1426756"/>
            <a:ext cx="792088" cy="351635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4000"/>
              </a:lnSpc>
            </a:pP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区块</a:t>
            </a:r>
            <a:r>
              <a:rPr lang="en-US" altLang="zh-CN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sz="160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" name="文本框 41">
            <a:extLst>
              <a:ext uri="{FF2B5EF4-FFF2-40B4-BE49-F238E27FC236}">
                <a16:creationId xmlns:a16="http://schemas.microsoft.com/office/drawing/2014/main" id="{AC09D65C-CA34-42CD-BDEE-9663E4706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8384" y="2843149"/>
            <a:ext cx="792088" cy="351635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4000"/>
              </a:lnSpc>
            </a:pP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区块</a:t>
            </a:r>
            <a:r>
              <a:rPr lang="en-US" altLang="zh-CN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160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" name="文本框 41">
            <a:extLst>
              <a:ext uri="{FF2B5EF4-FFF2-40B4-BE49-F238E27FC236}">
                <a16:creationId xmlns:a16="http://schemas.microsoft.com/office/drawing/2014/main" id="{8CC83A52-DCFD-4EE5-BE41-3A59A78EE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8384" y="4268596"/>
            <a:ext cx="792088" cy="351635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4000"/>
              </a:lnSpc>
            </a:pP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区块</a:t>
            </a:r>
            <a:r>
              <a:rPr lang="en-US" altLang="zh-CN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160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555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41">
            <a:extLst>
              <a:ext uri="{FF2B5EF4-FFF2-40B4-BE49-F238E27FC236}">
                <a16:creationId xmlns:a16="http://schemas.microsoft.com/office/drawing/2014/main" id="{D74B108C-0A1C-457A-9F80-4830C15E5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016" y="2336076"/>
            <a:ext cx="792088" cy="351635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4000"/>
              </a:lnSpc>
            </a:pP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区块</a:t>
            </a:r>
            <a:r>
              <a:rPr lang="en-US" altLang="zh-CN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160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41">
            <a:extLst>
              <a:ext uri="{FF2B5EF4-FFF2-40B4-BE49-F238E27FC236}">
                <a16:creationId xmlns:a16="http://schemas.microsoft.com/office/drawing/2014/main" id="{E99094B4-B8A7-4493-94EB-2BE048EC90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832" y="2322218"/>
            <a:ext cx="792088" cy="351635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4000"/>
              </a:lnSpc>
            </a:pP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区块</a:t>
            </a:r>
            <a:r>
              <a:rPr lang="en-US" altLang="zh-CN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sz="160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" name="文本框 41">
            <a:extLst>
              <a:ext uri="{FF2B5EF4-FFF2-40B4-BE49-F238E27FC236}">
                <a16:creationId xmlns:a16="http://schemas.microsoft.com/office/drawing/2014/main" id="{7E430A70-C888-4830-9D61-10B25E0A1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6316" y="203891"/>
            <a:ext cx="1098092" cy="351635"/>
          </a:xfrm>
          <a:prstGeom prst="rect">
            <a:avLst/>
          </a:prstGeom>
          <a:solidFill>
            <a:srgbClr val="FFFF00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4000"/>
              </a:lnSpc>
            </a:pP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新的区块</a:t>
            </a:r>
          </a:p>
        </p:txBody>
      </p:sp>
      <p:sp>
        <p:nvSpPr>
          <p:cNvPr id="33" name="文本框 41">
            <a:extLst>
              <a:ext uri="{FF2B5EF4-FFF2-40B4-BE49-F238E27FC236}">
                <a16:creationId xmlns:a16="http://schemas.microsoft.com/office/drawing/2014/main" id="{B15C131B-904E-48B5-8E6D-C58B31FAA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629" y="4613622"/>
            <a:ext cx="1350359" cy="351635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4000"/>
              </a:lnSpc>
            </a:pP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交易信息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95486"/>
            <a:ext cx="6048724" cy="577618"/>
          </a:xfrm>
        </p:spPr>
        <p:txBody>
          <a:bodyPr>
            <a:noAutofit/>
          </a:bodyPr>
          <a:lstStyle/>
          <a:p>
            <a:pPr algn="ctr"/>
            <a:r>
              <a:rPr lang="en-US" altLang="zh-CN" sz="2400" dirty="0"/>
              <a:t> </a:t>
            </a:r>
            <a:r>
              <a:rPr lang="zh-CN" altLang="en-US" sz="2400" dirty="0"/>
              <a:t>一、从比特币说起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6BA29EA-37ED-4C97-BAEF-B005B6EA4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106920"/>
              </p:ext>
            </p:extLst>
          </p:nvPr>
        </p:nvGraphicFramePr>
        <p:xfrm>
          <a:off x="174166" y="2671935"/>
          <a:ext cx="1733610" cy="137007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73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19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b="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父区块头哈希值：</a:t>
                      </a:r>
                      <a:r>
                        <a:rPr lang="en-US" altLang="zh-CN" sz="13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000...</a:t>
                      </a:r>
                      <a:endParaRPr lang="zh-CN" altLang="en-US" sz="13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随机数：</a:t>
                      </a: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72608</a:t>
                      </a: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347825"/>
                  </a:ext>
                </a:extLst>
              </a:tr>
              <a:tr h="468162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altLang="zh-CN" sz="140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……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zh-CN" altLang="en-US" sz="140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注：第一个区块，</a:t>
                      </a:r>
                      <a:r>
                        <a:rPr lang="en-US" altLang="zh-CN" sz="140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140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没有父区块、交易信息</a:t>
                      </a: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491913"/>
                  </a:ext>
                </a:extLst>
              </a:tr>
            </a:tbl>
          </a:graphicData>
        </a:graphic>
      </p:graphicFrame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ED3FAD12-D7BC-4FD8-A4EA-C8887EE01FFA}"/>
              </a:ext>
            </a:extLst>
          </p:cNvPr>
          <p:cNvCxnSpPr/>
          <p:nvPr/>
        </p:nvCxnSpPr>
        <p:spPr>
          <a:xfrm>
            <a:off x="3192042" y="3118508"/>
            <a:ext cx="419099" cy="0"/>
          </a:xfrm>
          <a:prstGeom prst="straightConnector1">
            <a:avLst/>
          </a:prstGeom>
          <a:ln w="19050">
            <a:solidFill>
              <a:srgbClr val="000066"/>
            </a:solidFill>
            <a:headEnd type="none" w="sm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455ABD2-BA36-451D-8523-0D891B40ECF7}"/>
              </a:ext>
            </a:extLst>
          </p:cNvPr>
          <p:cNvCxnSpPr/>
          <p:nvPr/>
        </p:nvCxnSpPr>
        <p:spPr>
          <a:xfrm>
            <a:off x="5862797" y="3118508"/>
            <a:ext cx="419099" cy="0"/>
          </a:xfrm>
          <a:prstGeom prst="straightConnector1">
            <a:avLst/>
          </a:prstGeom>
          <a:ln w="19050">
            <a:solidFill>
              <a:srgbClr val="000066"/>
            </a:solidFill>
            <a:headEnd type="none" w="sm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5CEB497-5F95-43A3-A2B0-648D1D00E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025906"/>
              </p:ext>
            </p:extLst>
          </p:nvPr>
        </p:nvGraphicFramePr>
        <p:xfrm>
          <a:off x="2478350" y="2671935"/>
          <a:ext cx="1733610" cy="137007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73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19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b="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父区块头哈希值：</a:t>
                      </a:r>
                      <a:r>
                        <a:rPr lang="en-US" altLang="zh-CN" sz="1300" b="0" kern="1200" dirty="0" err="1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9fa</a:t>
                      </a:r>
                      <a:r>
                        <a:rPr lang="en-US" altLang="zh-CN" sz="13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altLang="en-US" sz="13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随机数：</a:t>
                      </a: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32343</a:t>
                      </a: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347825"/>
                  </a:ext>
                </a:extLst>
              </a:tr>
              <a:tr h="468162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</a:pPr>
                      <a:endParaRPr lang="en-US" altLang="zh-CN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……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491913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D3166B1-6362-4F47-9CBE-71125859E6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154292"/>
              </p:ext>
            </p:extLst>
          </p:nvPr>
        </p:nvGraphicFramePr>
        <p:xfrm>
          <a:off x="4782606" y="2667193"/>
          <a:ext cx="1733610" cy="137007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73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19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b="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父区块头哈希值：</a:t>
                      </a:r>
                      <a:r>
                        <a:rPr lang="en-US" altLang="zh-CN" sz="1300" b="0" kern="1200" dirty="0" err="1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ce6</a:t>
                      </a:r>
                      <a:r>
                        <a:rPr lang="en-US" altLang="zh-CN" sz="13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altLang="en-US" sz="13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随机数：</a:t>
                      </a: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65545</a:t>
                      </a: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347825"/>
                  </a:ext>
                </a:extLst>
              </a:tr>
              <a:tr h="468162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</a:pPr>
                      <a:endParaRPr lang="en-US" altLang="zh-CN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……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491913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4596795-ECF1-4401-AE66-61598A7597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481085"/>
              </p:ext>
            </p:extLst>
          </p:nvPr>
        </p:nvGraphicFramePr>
        <p:xfrm>
          <a:off x="7086862" y="2667193"/>
          <a:ext cx="1733610" cy="137007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73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19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b="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父区块头哈希值：</a:t>
                      </a:r>
                      <a:r>
                        <a:rPr lang="en-US" altLang="zh-CN" sz="1300" b="0" dirty="0" err="1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d45</a:t>
                      </a:r>
                      <a:r>
                        <a:rPr lang="en-US" altLang="zh-CN" sz="13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altLang="en-US" sz="13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随机数：</a:t>
                      </a: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84213</a:t>
                      </a: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347825"/>
                  </a:ext>
                </a:extLst>
              </a:tr>
              <a:tr h="468162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</a:pPr>
                      <a:endParaRPr lang="en-US" altLang="zh-CN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……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491913"/>
                  </a:ext>
                </a:extLst>
              </a:tr>
            </a:tbl>
          </a:graphicData>
        </a:graphic>
      </p:graphicFrame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3A9F178-0E59-4028-AB41-9974C4F5E637}"/>
              </a:ext>
            </a:extLst>
          </p:cNvPr>
          <p:cNvCxnSpPr>
            <a:cxnSpLocks/>
          </p:cNvCxnSpPr>
          <p:nvPr/>
        </p:nvCxnSpPr>
        <p:spPr>
          <a:xfrm>
            <a:off x="1907776" y="3383137"/>
            <a:ext cx="540000" cy="0"/>
          </a:xfrm>
          <a:prstGeom prst="straightConnector1">
            <a:avLst/>
          </a:prstGeom>
          <a:ln w="1905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8708613-34C1-4F56-AB39-3C9E5AED4266}"/>
              </a:ext>
            </a:extLst>
          </p:cNvPr>
          <p:cNvCxnSpPr>
            <a:cxnSpLocks/>
          </p:cNvCxnSpPr>
          <p:nvPr/>
        </p:nvCxnSpPr>
        <p:spPr>
          <a:xfrm>
            <a:off x="4211960" y="3392015"/>
            <a:ext cx="540000" cy="0"/>
          </a:xfrm>
          <a:prstGeom prst="straightConnector1">
            <a:avLst/>
          </a:prstGeom>
          <a:ln w="19050">
            <a:solidFill>
              <a:schemeClr val="accent1"/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C40A641-8522-48E1-9791-F4A078FB0D30}"/>
              </a:ext>
            </a:extLst>
          </p:cNvPr>
          <p:cNvCxnSpPr>
            <a:cxnSpLocks/>
          </p:cNvCxnSpPr>
          <p:nvPr/>
        </p:nvCxnSpPr>
        <p:spPr>
          <a:xfrm>
            <a:off x="6516216" y="3370050"/>
            <a:ext cx="540000" cy="0"/>
          </a:xfrm>
          <a:prstGeom prst="straightConnector1">
            <a:avLst/>
          </a:prstGeom>
          <a:ln w="19050">
            <a:solidFill>
              <a:schemeClr val="accent1"/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30EF3154-9675-40D1-A57A-725E8DF3ED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403990"/>
              </p:ext>
            </p:extLst>
          </p:nvPr>
        </p:nvGraphicFramePr>
        <p:xfrm>
          <a:off x="2298529" y="4418964"/>
          <a:ext cx="2093251" cy="67306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66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6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李志军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陆海清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1.2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张</a:t>
                      </a: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大海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刘</a:t>
                      </a: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小龙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0.5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3769982D-B52B-4D50-AE00-0A4AADC36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414494"/>
              </p:ext>
            </p:extLst>
          </p:nvPr>
        </p:nvGraphicFramePr>
        <p:xfrm>
          <a:off x="4602785" y="4418963"/>
          <a:ext cx="2093219" cy="67306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66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65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5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林</a:t>
                      </a: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志文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胡士</a:t>
                      </a: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松</a:t>
                      </a: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2.6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邓清颖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杨</a:t>
                      </a: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明</a:t>
                      </a: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廉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1.8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30C9021C-7DF7-4C9A-9AB7-62AB64AFC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62431"/>
              </p:ext>
            </p:extLst>
          </p:nvPr>
        </p:nvGraphicFramePr>
        <p:xfrm>
          <a:off x="6907041" y="4418964"/>
          <a:ext cx="2111826" cy="67305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73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3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5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71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邹百川</a:t>
                      </a:r>
                      <a:endParaRPr lang="en-US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农商</a:t>
                      </a: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行</a:t>
                      </a: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6.9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9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农商</a:t>
                      </a:r>
                      <a:r>
                        <a:rPr lang="zh-CN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行</a:t>
                      </a: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某某</a:t>
                      </a: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5.3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6D2186B8-3BBD-4F62-BC0A-0B096C5F0BAE}"/>
              </a:ext>
            </a:extLst>
          </p:cNvPr>
          <p:cNvCxnSpPr/>
          <p:nvPr/>
        </p:nvCxnSpPr>
        <p:spPr>
          <a:xfrm flipV="1">
            <a:off x="3419872" y="3681965"/>
            <a:ext cx="0" cy="72008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20AF1A7-8949-41D9-8462-F96FB4E63DE9}"/>
              </a:ext>
            </a:extLst>
          </p:cNvPr>
          <p:cNvCxnSpPr/>
          <p:nvPr/>
        </p:nvCxnSpPr>
        <p:spPr>
          <a:xfrm flipV="1">
            <a:off x="5724128" y="3681965"/>
            <a:ext cx="0" cy="72008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F5C42CA-6589-46BE-8D6A-79F747036627}"/>
              </a:ext>
            </a:extLst>
          </p:cNvPr>
          <p:cNvCxnSpPr/>
          <p:nvPr/>
        </p:nvCxnSpPr>
        <p:spPr>
          <a:xfrm flipV="1">
            <a:off x="8028384" y="3681965"/>
            <a:ext cx="0" cy="72008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41">
            <a:extLst>
              <a:ext uri="{FF2B5EF4-FFF2-40B4-BE49-F238E27FC236}">
                <a16:creationId xmlns:a16="http://schemas.microsoft.com/office/drawing/2014/main" id="{2DF7562A-B84D-4515-A185-C8AE96D3C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2340" y="2338112"/>
            <a:ext cx="792088" cy="351635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4000"/>
              </a:lnSpc>
            </a:pP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区块</a:t>
            </a:r>
            <a:r>
              <a:rPr lang="en-US" altLang="zh-CN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1600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41">
            <a:extLst>
              <a:ext uri="{FF2B5EF4-FFF2-40B4-BE49-F238E27FC236}">
                <a16:creationId xmlns:a16="http://schemas.microsoft.com/office/drawing/2014/main" id="{2E799FF3-530A-40E5-87A7-9AAA41873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2342345"/>
            <a:ext cx="1226154" cy="351635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4000"/>
              </a:lnSpc>
            </a:pP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创世区块</a:t>
            </a:r>
          </a:p>
        </p:txBody>
      </p:sp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6917C14B-A7AD-4001-B8A5-F80DF2B25A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474996"/>
              </p:ext>
            </p:extLst>
          </p:nvPr>
        </p:nvGraphicFramePr>
        <p:xfrm>
          <a:off x="7161579" y="553608"/>
          <a:ext cx="1733610" cy="137007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73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19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父区块哈希值：</a:t>
                      </a:r>
                      <a:r>
                        <a:rPr lang="en-US" altLang="zh-CN" sz="1400" b="0" dirty="0" err="1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84d</a:t>
                      </a: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随机数：</a:t>
                      </a: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56347</a:t>
                      </a: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347825"/>
                  </a:ext>
                </a:extLst>
              </a:tr>
              <a:tr h="468162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</a:pPr>
                      <a:endParaRPr lang="en-US" altLang="zh-CN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……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491913"/>
                  </a:ext>
                </a:extLst>
              </a:tr>
            </a:tbl>
          </a:graphicData>
        </a:graphic>
      </p:graphicFrame>
      <p:sp>
        <p:nvSpPr>
          <p:cNvPr id="38" name="文本框 41">
            <a:extLst>
              <a:ext uri="{FF2B5EF4-FFF2-40B4-BE49-F238E27FC236}">
                <a16:creationId xmlns:a16="http://schemas.microsoft.com/office/drawing/2014/main" id="{8AB1EDBB-CFB3-4142-BBDB-5E340FCC9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5665" y="1391993"/>
            <a:ext cx="1449524" cy="351635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4000"/>
              </a:lnSpc>
            </a:pP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新的交易信息</a:t>
            </a: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CDCBC90B-01D2-41A2-8046-BFDFD22EC2E8}"/>
              </a:ext>
            </a:extLst>
          </p:cNvPr>
          <p:cNvCxnSpPr>
            <a:cxnSpLocks/>
          </p:cNvCxnSpPr>
          <p:nvPr/>
        </p:nvCxnSpPr>
        <p:spPr>
          <a:xfrm flipV="1">
            <a:off x="8424428" y="1923678"/>
            <a:ext cx="0" cy="720080"/>
          </a:xfrm>
          <a:prstGeom prst="straightConnector1">
            <a:avLst/>
          </a:prstGeom>
          <a:ln w="19050">
            <a:solidFill>
              <a:schemeClr val="accent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AEA2214D-FE0C-4B96-9ED5-759F2968587C}"/>
              </a:ext>
            </a:extLst>
          </p:cNvPr>
          <p:cNvSpPr/>
          <p:nvPr/>
        </p:nvSpPr>
        <p:spPr>
          <a:xfrm>
            <a:off x="559639" y="945207"/>
            <a:ext cx="6601939" cy="1289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※ 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每个区块有区块头，记录父区块区块头哈希值、随机数等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所有区块按照顺序组织起来，形成区块链</a:t>
            </a:r>
            <a:b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新交易信息打包后组成新的区块接在最后一个区块后面</a:t>
            </a:r>
          </a:p>
        </p:txBody>
      </p:sp>
      <p:sp>
        <p:nvSpPr>
          <p:cNvPr id="30" name="文本框 41">
            <a:extLst>
              <a:ext uri="{FF2B5EF4-FFF2-40B4-BE49-F238E27FC236}">
                <a16:creationId xmlns:a16="http://schemas.microsoft.com/office/drawing/2014/main" id="{E1275E52-FCBF-448D-8826-B30B0F5E8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241" y="4019267"/>
            <a:ext cx="1837990" cy="284437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4000"/>
              </a:lnSpc>
            </a:pPr>
            <a:r>
              <a:rPr lang="zh-CN" altLang="en-US" sz="1200" b="1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本区块头哈希值：</a:t>
            </a:r>
            <a:r>
              <a:rPr lang="en-US" altLang="zh-CN" sz="1200" b="1" dirty="0" err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96a</a:t>
            </a:r>
            <a:r>
              <a:rPr lang="en-US" altLang="zh-CN" sz="1200" b="1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200" b="1" dirty="0">
              <a:solidFill>
                <a:srgbClr val="A5002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" name="文本框 41">
            <a:extLst>
              <a:ext uri="{FF2B5EF4-FFF2-40B4-BE49-F238E27FC236}">
                <a16:creationId xmlns:a16="http://schemas.microsoft.com/office/drawing/2014/main" id="{E8543E1C-2E0D-4C9E-A7DB-821E22DBA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760" y="4030042"/>
            <a:ext cx="1913726" cy="284437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4000"/>
              </a:lnSpc>
            </a:pPr>
            <a:r>
              <a:rPr lang="zh-CN" altLang="en-US" sz="1200" b="1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本区块头哈希值：</a:t>
            </a:r>
            <a:r>
              <a:rPr lang="en-US" altLang="zh-CN" sz="1200" b="1" dirty="0" err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ce6</a:t>
            </a:r>
            <a:r>
              <a:rPr lang="en-US" altLang="zh-CN" sz="1200" b="1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b="1" dirty="0">
              <a:solidFill>
                <a:srgbClr val="A5002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" name="文本框 41">
            <a:extLst>
              <a:ext uri="{FF2B5EF4-FFF2-40B4-BE49-F238E27FC236}">
                <a16:creationId xmlns:a16="http://schemas.microsoft.com/office/drawing/2014/main" id="{A51BF9D1-41F6-4B96-94D9-1571E4FB1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015" y="4011910"/>
            <a:ext cx="1913726" cy="284437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4000"/>
              </a:lnSpc>
            </a:pPr>
            <a:r>
              <a:rPr lang="zh-CN" altLang="en-US" sz="1200" b="1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本区块头哈希值：</a:t>
            </a:r>
            <a:r>
              <a:rPr lang="en-US" altLang="zh-CN" sz="1200" b="1" dirty="0" err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d45</a:t>
            </a:r>
            <a:r>
              <a:rPr lang="en-US" altLang="zh-CN" sz="1200" b="1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200" b="1" dirty="0">
              <a:solidFill>
                <a:srgbClr val="A5002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0" name="文本框 41">
            <a:extLst>
              <a:ext uri="{FF2B5EF4-FFF2-40B4-BE49-F238E27FC236}">
                <a16:creationId xmlns:a16="http://schemas.microsoft.com/office/drawing/2014/main" id="{3C258BE5-7122-4C9E-9C3E-D6ECC1102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0272" y="4015505"/>
            <a:ext cx="1913726" cy="284437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4000"/>
              </a:lnSpc>
            </a:pPr>
            <a:r>
              <a:rPr lang="zh-CN" altLang="en-US" sz="1200" b="1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本区块头哈希值：</a:t>
            </a:r>
            <a:r>
              <a:rPr lang="en-US" altLang="zh-CN" sz="1200" b="1" dirty="0" err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84d</a:t>
            </a:r>
            <a:r>
              <a:rPr lang="en-US" altLang="zh-CN" sz="1200" b="1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b="1" dirty="0">
              <a:solidFill>
                <a:srgbClr val="A5002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882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611559" y="986626"/>
            <a:ext cx="8280921" cy="3529340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None/>
              <a:tabLst>
                <a:tab pos="2893219" algn="l"/>
              </a:tabLst>
            </a:pPr>
            <a:r>
              <a:rPr lang="en-US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实现交易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None/>
              <a:tabLst>
                <a:tab pos="2893219" algn="l"/>
              </a:tabLst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）交易流程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小张向小李转账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个比特币为例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kern="1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① </a:t>
            </a:r>
            <a:r>
              <a:rPr lang="zh-CN" altLang="en-US" sz="1800" kern="1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小张把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这个交易记录进行数字签名，并向</a:t>
            </a: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全网广播</a:t>
            </a:r>
            <a:endParaRPr lang="en-US" altLang="zh-CN" sz="1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②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收到的节点进行验证数字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签名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是否正确，检验账户余额是否足够？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若通过则被放入交易池“待确认”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③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某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节点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记帐时把该交易记录打包到区块中，并向</a:t>
            </a: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全网广播</a:t>
            </a:r>
            <a:endParaRPr lang="en-US" altLang="zh-CN" sz="1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④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收到的节点进行验证，没有问题就承认这个块了，区块链就此长长了一块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6BFB8C9D-7DB5-465A-8676-8AF17BB59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2A2F54B3-BB0C-4276-83F8-72D0B62023E7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  <a:solidFill>
            <a:srgbClr val="C00000"/>
          </a:solidFill>
        </p:spPr>
        <p:txBody>
          <a:bodyPr vert="horz" lIns="0" tIns="45720" rIns="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altLang="zh-CN" sz="2400"/>
              <a:t> </a:t>
            </a:r>
            <a:r>
              <a:rPr lang="zh-CN" altLang="en-US" sz="2400"/>
              <a:t>一、从比特币说起</a:t>
            </a:r>
            <a:endParaRPr lang="zh-CN" altLang="en-US" sz="24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881376-1B89-4753-BC07-9EA7213462EB}"/>
              </a:ext>
            </a:extLst>
          </p:cNvPr>
          <p:cNvSpPr/>
          <p:nvPr/>
        </p:nvSpPr>
        <p:spPr>
          <a:xfrm>
            <a:off x="1975" y="4309735"/>
            <a:ext cx="5328592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None/>
              <a:tabLst>
                <a:tab pos="2893219" algn="l"/>
              </a:tabLst>
            </a:pP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独立性：区块链特征之一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(3/5)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None/>
              <a:tabLst>
                <a:tab pos="2893219" algn="l"/>
              </a:tabLst>
            </a:pP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比特币基于协商一致的规范和协议，所有节点能够在系统内自动安全地验证、交换数据，不需要任何人为的干预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212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611560" y="827787"/>
            <a:ext cx="8280921" cy="3817372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None/>
              <a:tabLst>
                <a:tab pos="2893219" algn="l"/>
              </a:tabLst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）记账过程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 大约每过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分钟记帐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次，每次记账只能由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个节点记账</a:t>
            </a:r>
            <a:endParaRPr lang="en-US" altLang="zh-CN" sz="18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记账权需要竞争，每次记账后重新开始</a:t>
            </a:r>
            <a:r>
              <a:rPr lang="zh-CN" altLang="en-US" sz="18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竞争记账权</a:t>
            </a:r>
            <a:r>
              <a:rPr lang="en-US" altLang="zh-CN" sz="18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1800" dirty="0">
                <a:solidFill>
                  <a:srgbClr val="A5002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这种分配记账权的方式称为</a:t>
            </a:r>
            <a:r>
              <a:rPr lang="en-US" altLang="zh-CN" sz="1800" dirty="0">
                <a:solidFill>
                  <a:srgbClr val="A5002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POW</a:t>
            </a:r>
            <a:r>
              <a:rPr lang="zh-CN" altLang="en-US" sz="1800" dirty="0">
                <a:solidFill>
                  <a:srgbClr val="A5002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机制（工作量证明机制）</a:t>
            </a:r>
            <a:endParaRPr lang="en-US" altLang="zh-CN" sz="1800" dirty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※ </a:t>
            </a: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挖矿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：求解一个数学题，找到满足下列条件的随机数</a:t>
            </a:r>
            <a:r>
              <a:rPr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</a:t>
            </a:r>
            <a:endParaRPr lang="en-US" altLang="zh-CN" sz="1600" b="1" dirty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          </a:t>
            </a:r>
            <a:r>
              <a:rPr lang="en-US" altLang="zh-CN" sz="1600" dirty="0" err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SHA256</a:t>
            </a: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随机数</a:t>
            </a:r>
            <a:r>
              <a:rPr lang="en-US" altLang="zh-CN" sz="16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父区块哈希值</a:t>
            </a:r>
            <a:r>
              <a:rPr lang="en-US" altLang="zh-CN" sz="16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交易池中的交易</a:t>
            </a:r>
            <a:r>
              <a:rPr lang="en-US" altLang="zh-CN" sz="16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)&lt;</a:t>
            </a: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某一指定值</a:t>
            </a:r>
            <a:endParaRPr lang="en-US" altLang="zh-CN" sz="1600" dirty="0">
              <a:solidFill>
                <a:srgbClr val="A5002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    除了从零开始遍历随机数碰运气以外，没有其他办法。</a:t>
            </a:r>
            <a:endParaRPr lang="en-US" altLang="zh-CN" sz="18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    某矿工率先找到解，就向全网公布，待其他节点验证无误之后</a:t>
            </a:r>
            <a:r>
              <a:rPr lang="zh-CN" altLang="en-US" sz="180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获得记账权</a:t>
            </a:r>
            <a:endParaRPr lang="en-US" altLang="zh-CN" sz="1800" dirty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※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矿工：挖矿的节点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※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比特币：获记账权的记账节点获得</a:t>
            </a:r>
            <a:r>
              <a:rPr lang="zh-CN" altLang="en-US" sz="1600" dirty="0">
                <a:cs typeface="Times New Roman" panose="02020603050405020304" pitchFamily="18" charset="0"/>
              </a:rPr>
              <a:t>比特币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奖励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6BFB8C9D-7DB5-465A-8676-8AF17BB59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2A2F54B3-BB0C-4276-83F8-72D0B62023E7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  <a:solidFill>
            <a:srgbClr val="C00000"/>
          </a:solidFill>
        </p:spPr>
        <p:txBody>
          <a:bodyPr vert="horz" lIns="0" tIns="45720" rIns="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altLang="zh-CN" sz="2400"/>
              <a:t> </a:t>
            </a:r>
            <a:r>
              <a:rPr lang="zh-CN" altLang="en-US" sz="2400"/>
              <a:t>一、从比特币说起</a:t>
            </a:r>
            <a:endParaRPr lang="zh-CN" altLang="en-US" sz="2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F1384F-08F3-4886-9FD7-8D11D8C22701}"/>
              </a:ext>
            </a:extLst>
          </p:cNvPr>
          <p:cNvSpPr/>
          <p:nvPr/>
        </p:nvSpPr>
        <p:spPr>
          <a:xfrm>
            <a:off x="6228184" y="3795886"/>
            <a:ext cx="2889137" cy="1323439"/>
          </a:xfrm>
          <a:prstGeom prst="rect">
            <a:avLst/>
          </a:prstGeom>
          <a:ln>
            <a:solidFill>
              <a:srgbClr val="000066"/>
            </a:solidFill>
          </a:ln>
        </p:spPr>
        <p:txBody>
          <a:bodyPr wrap="square" lIns="0" rIns="0">
            <a:spAutoFit/>
          </a:bodyPr>
          <a:lstStyle/>
          <a:p>
            <a:r>
              <a:rPr lang="zh-CN" altLang="en-US" sz="1600" dirty="0">
                <a:solidFill>
                  <a:srgbClr val="000078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比特币：总量</a:t>
            </a:r>
            <a:r>
              <a:rPr lang="en-US" altLang="zh-CN" sz="1600" dirty="0">
                <a:solidFill>
                  <a:srgbClr val="000078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2100</a:t>
            </a:r>
            <a:r>
              <a:rPr lang="zh-CN" altLang="en-US" sz="1600" dirty="0">
                <a:solidFill>
                  <a:srgbClr val="000078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万</a:t>
            </a:r>
            <a:endParaRPr lang="en-US" altLang="zh-CN" sz="1600" dirty="0">
              <a:solidFill>
                <a:srgbClr val="000078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78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1600" dirty="0">
                <a:solidFill>
                  <a:srgbClr val="000078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■</a:t>
            </a:r>
            <a:r>
              <a:rPr lang="en-US" altLang="zh-CN" sz="1600" dirty="0">
                <a:solidFill>
                  <a:srgbClr val="000078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10</a:t>
            </a:r>
            <a:r>
              <a:rPr lang="zh-CN" altLang="en-US" sz="1600" dirty="0">
                <a:solidFill>
                  <a:srgbClr val="000078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分钟产生一个区块</a:t>
            </a:r>
            <a:endParaRPr lang="en-US" altLang="zh-CN" sz="1600" dirty="0">
              <a:solidFill>
                <a:srgbClr val="000078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78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1600" dirty="0">
                <a:solidFill>
                  <a:srgbClr val="000078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■</a:t>
            </a:r>
            <a:r>
              <a:rPr lang="en-US" altLang="zh-CN" sz="1600" dirty="0">
                <a:solidFill>
                  <a:srgbClr val="000078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1600" dirty="0">
                <a:solidFill>
                  <a:srgbClr val="000078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奖励：</a:t>
            </a:r>
            <a:r>
              <a:rPr lang="en-US" altLang="zh-CN" sz="1600" dirty="0">
                <a:solidFill>
                  <a:srgbClr val="000078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50  </a:t>
            </a:r>
            <a:r>
              <a:rPr lang="zh-CN" altLang="en-US" sz="1600" dirty="0">
                <a:solidFill>
                  <a:srgbClr val="000078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总量</a:t>
            </a:r>
            <a:r>
              <a:rPr lang="en-US" altLang="zh-CN" sz="1600" dirty="0">
                <a:solidFill>
                  <a:srgbClr val="000078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&lt;</a:t>
            </a:r>
            <a:r>
              <a:rPr lang="en-US" altLang="zh-CN" sz="1600" dirty="0">
                <a:solidFill>
                  <a:srgbClr val="000078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1050</a:t>
            </a:r>
            <a:r>
              <a:rPr lang="zh-CN" altLang="en-US" sz="1600" dirty="0">
                <a:solidFill>
                  <a:srgbClr val="000078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万</a:t>
            </a:r>
            <a:endParaRPr lang="en-US" altLang="zh-CN" sz="1600" dirty="0">
              <a:solidFill>
                <a:srgbClr val="000078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78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25  </a:t>
            </a:r>
            <a:r>
              <a:rPr lang="zh-CN" altLang="en-US" sz="1600" dirty="0">
                <a:solidFill>
                  <a:srgbClr val="000078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总量达到</a:t>
            </a:r>
            <a:r>
              <a:rPr lang="en-US" altLang="zh-CN" sz="1600" dirty="0">
                <a:solidFill>
                  <a:srgbClr val="000078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1050</a:t>
            </a:r>
            <a:r>
              <a:rPr lang="zh-CN" altLang="en-US" sz="1600" dirty="0">
                <a:solidFill>
                  <a:srgbClr val="000078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万后</a:t>
            </a:r>
            <a:endParaRPr lang="en-US" altLang="zh-CN" sz="1600" dirty="0">
              <a:solidFill>
                <a:srgbClr val="000078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78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12.5  </a:t>
            </a:r>
            <a:r>
              <a:rPr lang="zh-CN" altLang="en-US" sz="1600" dirty="0">
                <a:solidFill>
                  <a:srgbClr val="000078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总量达到</a:t>
            </a:r>
            <a:r>
              <a:rPr lang="en-US" altLang="zh-CN" sz="1600" dirty="0">
                <a:solidFill>
                  <a:srgbClr val="000078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1575</a:t>
            </a:r>
            <a:r>
              <a:rPr lang="zh-CN" altLang="en-US" sz="1600" dirty="0">
                <a:solidFill>
                  <a:srgbClr val="000078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万后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2971D89-774D-41D2-9DC9-3BBED00344E6}"/>
              </a:ext>
            </a:extLst>
          </p:cNvPr>
          <p:cNvSpPr/>
          <p:nvPr/>
        </p:nvSpPr>
        <p:spPr>
          <a:xfrm>
            <a:off x="0" y="4609460"/>
            <a:ext cx="5508104" cy="584775"/>
          </a:xfrm>
          <a:prstGeom prst="rect">
            <a:avLst/>
          </a:prstGeom>
          <a:ln>
            <a:solidFill>
              <a:srgbClr val="000078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开放性：区块链特征之一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(2/5)</a:t>
            </a:r>
          </a:p>
          <a:p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人人可参与，信息高度透明</a:t>
            </a:r>
          </a:p>
        </p:txBody>
      </p:sp>
    </p:spTree>
    <p:extLst>
      <p:ext uri="{BB962C8B-B14F-4D97-AF65-F5344CB8AC3E}">
        <p14:creationId xmlns:p14="http://schemas.microsoft.com/office/powerpoint/2010/main" val="31041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611559" y="986626"/>
            <a:ext cx="8928993" cy="129709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/>
              <a:t>1</a:t>
            </a:r>
            <a:r>
              <a:rPr lang="zh-CN" altLang="zh-CN" sz="1800" dirty="0"/>
              <a:t>．</a:t>
            </a:r>
            <a:r>
              <a:rPr lang="zh-CN" altLang="en-US" sz="1800" dirty="0"/>
              <a:t>区块链：</a:t>
            </a:r>
            <a:endParaRPr lang="en-US" altLang="zh-CN" sz="18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/>
              <a:t>            </a:t>
            </a:r>
            <a:r>
              <a:rPr lang="zh-CN" altLang="en-US" sz="1800" dirty="0"/>
              <a:t>由一个个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区块组成的链条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/>
              <a:t>            </a:t>
            </a:r>
            <a:r>
              <a:rPr lang="zh-CN" altLang="en-US" sz="1800" dirty="0"/>
              <a:t>每一个区块中保存了一定的信息，它们按照各自产生的时间顺序连接成链条。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None/>
              <a:tabLst>
                <a:tab pos="2893219" algn="l"/>
              </a:tabLst>
            </a:pP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ABA3AF83-15C8-46EE-A55A-A81325FBA33D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  <a:solidFill>
            <a:srgbClr val="C00000"/>
          </a:solidFill>
        </p:spPr>
        <p:txBody>
          <a:bodyPr vert="horz" lIns="0" tIns="45720" rIns="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altLang="zh-CN" sz="2400" dirty="0"/>
              <a:t> </a:t>
            </a:r>
            <a:r>
              <a:rPr lang="zh-CN" altLang="en-US" sz="2400" dirty="0"/>
              <a:t>二、区块链基本原理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AC14F33-975E-498F-9366-3C3810B5F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110611"/>
              </p:ext>
            </p:extLst>
          </p:nvPr>
        </p:nvGraphicFramePr>
        <p:xfrm>
          <a:off x="179512" y="2936532"/>
          <a:ext cx="1733610" cy="137007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73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19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b="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父区块头哈希值：</a:t>
                      </a:r>
                      <a:r>
                        <a:rPr lang="en-US" altLang="zh-CN" sz="13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000…</a:t>
                      </a:r>
                      <a:endParaRPr lang="zh-CN" altLang="en-US" sz="13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随机数：</a:t>
                      </a: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72608</a:t>
                      </a: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347825"/>
                  </a:ext>
                </a:extLst>
              </a:tr>
              <a:tr h="468162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altLang="zh-CN" sz="140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……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zh-CN" altLang="en-US" sz="140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注：创世区块，第一个区块，</a:t>
                      </a:r>
                      <a:r>
                        <a:rPr lang="en-US" altLang="zh-CN" sz="140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140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没有父区块</a:t>
                      </a: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491913"/>
                  </a:ext>
                </a:extLst>
              </a:tr>
            </a:tbl>
          </a:graphicData>
        </a:graphic>
      </p:graphicFrame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8A410A8-3F2D-452C-999F-4358176E2EDE}"/>
              </a:ext>
            </a:extLst>
          </p:cNvPr>
          <p:cNvCxnSpPr/>
          <p:nvPr/>
        </p:nvCxnSpPr>
        <p:spPr>
          <a:xfrm>
            <a:off x="3197388" y="3383105"/>
            <a:ext cx="419099" cy="0"/>
          </a:xfrm>
          <a:prstGeom prst="straightConnector1">
            <a:avLst/>
          </a:prstGeom>
          <a:ln w="19050">
            <a:solidFill>
              <a:srgbClr val="000066"/>
            </a:solidFill>
            <a:headEnd type="none" w="sm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59786DA-B057-4F42-8787-01EF01AC3C64}"/>
              </a:ext>
            </a:extLst>
          </p:cNvPr>
          <p:cNvCxnSpPr/>
          <p:nvPr/>
        </p:nvCxnSpPr>
        <p:spPr>
          <a:xfrm>
            <a:off x="5868143" y="3383105"/>
            <a:ext cx="419099" cy="0"/>
          </a:xfrm>
          <a:prstGeom prst="straightConnector1">
            <a:avLst/>
          </a:prstGeom>
          <a:ln w="19050">
            <a:solidFill>
              <a:srgbClr val="000066"/>
            </a:solidFill>
            <a:headEnd type="none" w="sm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3B3CF514-7DF4-4244-AD0B-761894BB0F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686635"/>
              </p:ext>
            </p:extLst>
          </p:nvPr>
        </p:nvGraphicFramePr>
        <p:xfrm>
          <a:off x="2556441" y="2936532"/>
          <a:ext cx="1733610" cy="137007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73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19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b="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父区块头哈希值：</a:t>
                      </a:r>
                      <a:r>
                        <a:rPr lang="en-US" altLang="zh-CN" sz="1300" b="0" kern="1200" dirty="0" err="1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9fa</a:t>
                      </a:r>
                      <a:r>
                        <a:rPr lang="en-US" altLang="zh-CN" sz="13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altLang="en-US" sz="13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随机数：</a:t>
                      </a: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32343</a:t>
                      </a: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347825"/>
                  </a:ext>
                </a:extLst>
              </a:tr>
              <a:tr h="468162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</a:pPr>
                      <a:endParaRPr lang="en-US" altLang="zh-CN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……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491913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8D377004-F859-44F5-9C41-9DD7232A90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625084"/>
              </p:ext>
            </p:extLst>
          </p:nvPr>
        </p:nvGraphicFramePr>
        <p:xfrm>
          <a:off x="4923174" y="2931790"/>
          <a:ext cx="1733610" cy="137007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73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19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b="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父区块头哈希值：</a:t>
                      </a:r>
                      <a:r>
                        <a:rPr lang="en-US" altLang="zh-CN" sz="1300" b="0" kern="1200" dirty="0" err="1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ce6</a:t>
                      </a:r>
                      <a:r>
                        <a:rPr lang="en-US" altLang="zh-CN" sz="13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altLang="en-US" sz="13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随机数：</a:t>
                      </a: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65545</a:t>
                      </a: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347825"/>
                  </a:ext>
                </a:extLst>
              </a:tr>
              <a:tr h="468162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</a:pPr>
                      <a:endParaRPr lang="en-US" altLang="zh-CN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……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491913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6A11EA05-B486-4105-A7A4-4AAFF5093E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015281"/>
              </p:ext>
            </p:extLst>
          </p:nvPr>
        </p:nvGraphicFramePr>
        <p:xfrm>
          <a:off x="7308232" y="2931790"/>
          <a:ext cx="1733610" cy="137007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73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19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300" b="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父区块头哈希值：</a:t>
                      </a:r>
                      <a:r>
                        <a:rPr lang="en-US" altLang="zh-CN" sz="1300" b="0" dirty="0" err="1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d45</a:t>
                      </a:r>
                      <a:r>
                        <a:rPr lang="en-US" altLang="zh-CN" sz="13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altLang="en-US" sz="13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随机数：</a:t>
                      </a: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84213</a:t>
                      </a: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347825"/>
                  </a:ext>
                </a:extLst>
              </a:tr>
              <a:tr h="468162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</a:pPr>
                      <a:endParaRPr lang="en-US" altLang="zh-CN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……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491913"/>
                  </a:ext>
                </a:extLst>
              </a:tr>
            </a:tbl>
          </a:graphicData>
        </a:graphic>
      </p:graphicFrame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B7DA8A0-6B56-4855-AB4C-49EC87C12F5D}"/>
              </a:ext>
            </a:extLst>
          </p:cNvPr>
          <p:cNvCxnSpPr>
            <a:cxnSpLocks/>
          </p:cNvCxnSpPr>
          <p:nvPr/>
        </p:nvCxnSpPr>
        <p:spPr>
          <a:xfrm>
            <a:off x="1913122" y="3647734"/>
            <a:ext cx="648000" cy="0"/>
          </a:xfrm>
          <a:prstGeom prst="straightConnector1">
            <a:avLst/>
          </a:prstGeom>
          <a:ln w="19050">
            <a:solidFill>
              <a:schemeClr val="accent1"/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134BE57-B348-4EC1-9C06-7C09F4AC7D28}"/>
              </a:ext>
            </a:extLst>
          </p:cNvPr>
          <p:cNvCxnSpPr>
            <a:cxnSpLocks/>
          </p:cNvCxnSpPr>
          <p:nvPr/>
        </p:nvCxnSpPr>
        <p:spPr>
          <a:xfrm>
            <a:off x="4284040" y="3656612"/>
            <a:ext cx="648000" cy="0"/>
          </a:xfrm>
          <a:prstGeom prst="straightConnector1">
            <a:avLst/>
          </a:prstGeom>
          <a:ln w="19050">
            <a:solidFill>
              <a:schemeClr val="accent1"/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9DFAC767-6F64-4151-843C-AA7D42468EF2}"/>
              </a:ext>
            </a:extLst>
          </p:cNvPr>
          <p:cNvCxnSpPr>
            <a:cxnSpLocks/>
          </p:cNvCxnSpPr>
          <p:nvPr/>
        </p:nvCxnSpPr>
        <p:spPr>
          <a:xfrm>
            <a:off x="6660232" y="3656612"/>
            <a:ext cx="648000" cy="0"/>
          </a:xfrm>
          <a:prstGeom prst="straightConnector1">
            <a:avLst/>
          </a:prstGeom>
          <a:ln w="19050">
            <a:solidFill>
              <a:schemeClr val="accent1"/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41">
            <a:extLst>
              <a:ext uri="{FF2B5EF4-FFF2-40B4-BE49-F238E27FC236}">
                <a16:creationId xmlns:a16="http://schemas.microsoft.com/office/drawing/2014/main" id="{C9165356-696F-4CCB-A938-70B3D7474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4292762"/>
            <a:ext cx="1837990" cy="284437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4000"/>
              </a:lnSpc>
            </a:pPr>
            <a:r>
              <a:rPr lang="zh-CN" altLang="en-US" sz="1200" b="1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本区块头哈希值：</a:t>
            </a:r>
            <a:r>
              <a:rPr lang="en-US" altLang="zh-CN" sz="1200" b="1" dirty="0" err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96a</a:t>
            </a:r>
            <a:r>
              <a:rPr lang="en-US" altLang="zh-CN" sz="1200" b="1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200" b="1" dirty="0">
              <a:solidFill>
                <a:srgbClr val="A5002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41">
            <a:extLst>
              <a:ext uri="{FF2B5EF4-FFF2-40B4-BE49-F238E27FC236}">
                <a16:creationId xmlns:a16="http://schemas.microsoft.com/office/drawing/2014/main" id="{423B6B75-A057-467B-8790-7FC3FA419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258" y="4303537"/>
            <a:ext cx="1913726" cy="284437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4000"/>
              </a:lnSpc>
            </a:pPr>
            <a:r>
              <a:rPr lang="zh-CN" altLang="en-US" sz="1200" b="1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本区块头哈希值：</a:t>
            </a:r>
            <a:r>
              <a:rPr lang="en-US" altLang="zh-CN" sz="1200" b="1" dirty="0" err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ce6</a:t>
            </a:r>
            <a:r>
              <a:rPr lang="en-US" altLang="zh-CN" sz="1200" b="1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b="1" dirty="0">
              <a:solidFill>
                <a:srgbClr val="A5002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41">
            <a:extLst>
              <a:ext uri="{FF2B5EF4-FFF2-40B4-BE49-F238E27FC236}">
                <a16:creationId xmlns:a16="http://schemas.microsoft.com/office/drawing/2014/main" id="{FA82FC00-1440-4F0B-9054-D206412F0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0522" y="4303537"/>
            <a:ext cx="1913726" cy="284437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4000"/>
              </a:lnSpc>
            </a:pPr>
            <a:r>
              <a:rPr lang="zh-CN" altLang="en-US" sz="1200" b="1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本区块头哈希值：</a:t>
            </a:r>
            <a:r>
              <a:rPr lang="en-US" altLang="zh-CN" sz="1200" b="1" dirty="0" err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d45</a:t>
            </a:r>
            <a:r>
              <a:rPr lang="en-US" altLang="zh-CN" sz="1200" b="1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200" b="1" dirty="0">
              <a:solidFill>
                <a:srgbClr val="A5002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41">
            <a:extLst>
              <a:ext uri="{FF2B5EF4-FFF2-40B4-BE49-F238E27FC236}">
                <a16:creationId xmlns:a16="http://schemas.microsoft.com/office/drawing/2014/main" id="{E105F8AA-3F48-4A80-8B46-9B9E2E39D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6786" y="4303537"/>
            <a:ext cx="1913726" cy="284437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4000"/>
              </a:lnSpc>
            </a:pPr>
            <a:r>
              <a:rPr lang="zh-CN" altLang="en-US" sz="1200" b="1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本区块头哈希值：</a:t>
            </a:r>
            <a:r>
              <a:rPr lang="en-US" altLang="zh-CN" sz="1200" b="1" dirty="0" err="1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84d</a:t>
            </a:r>
            <a:r>
              <a:rPr lang="en-US" altLang="zh-CN" sz="1200" b="1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endParaRPr lang="zh-CN" altLang="en-US" sz="1400" b="1" dirty="0">
              <a:solidFill>
                <a:srgbClr val="A5002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60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611559" y="986626"/>
            <a:ext cx="8280921" cy="1297092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None/>
              <a:tabLst>
                <a:tab pos="2893219" algn="l"/>
              </a:tabLst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特征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None/>
              <a:tabLst>
                <a:tab pos="2893219" algn="l"/>
              </a:tabLst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）去中心化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None/>
              <a:tabLst>
                <a:tab pos="2893219" algn="l"/>
              </a:tabLst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采用分布式账本技术，分布式账本就是</a:t>
            </a:r>
            <a:r>
              <a:rPr lang="zh-CN" altLang="en-US" sz="1800" dirty="0"/>
              <a:t>一种在网</a:t>
            </a:r>
            <a:endParaRPr lang="en-US" altLang="zh-CN" sz="1800" dirty="0"/>
          </a:p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None/>
              <a:tabLst>
                <a:tab pos="2893219" algn="l"/>
              </a:tabLst>
            </a:pPr>
            <a:r>
              <a:rPr lang="en-US" altLang="zh-CN" sz="1800" dirty="0"/>
              <a:t>         </a:t>
            </a:r>
            <a:r>
              <a:rPr lang="zh-CN" altLang="en-US" sz="1800" dirty="0"/>
              <a:t>络成员之间共享、复制和同步的数据库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51620" y="4482196"/>
            <a:ext cx="6840760" cy="458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人人有一账本，可篡改自己的账本，但不能篡改其他节点的账本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ABA3AF83-15C8-46EE-A55A-A81325FBA33D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  <a:solidFill>
            <a:srgbClr val="C00000"/>
          </a:solidFill>
        </p:spPr>
        <p:txBody>
          <a:bodyPr vert="horz" lIns="0" tIns="45720" rIns="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altLang="zh-CN" sz="2400" dirty="0"/>
              <a:t> </a:t>
            </a:r>
            <a:r>
              <a:rPr lang="zh-CN" altLang="en-US" sz="2400" dirty="0"/>
              <a:t>二、区块链基本原理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4AE4FC-E284-42A3-9DCB-F21E51214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0315" y="2787774"/>
            <a:ext cx="3271639" cy="1809228"/>
          </a:xfrm>
          <a:prstGeom prst="rect">
            <a:avLst/>
          </a:prstGeom>
        </p:spPr>
      </p:pic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2E819A55-2672-4FAB-A51B-540F3BA6D3BF}"/>
              </a:ext>
            </a:extLst>
          </p:cNvPr>
          <p:cNvGraphicFramePr>
            <a:graphicFrameLocks noGrp="1"/>
          </p:cNvGraphicFramePr>
          <p:nvPr/>
        </p:nvGraphicFramePr>
        <p:xfrm>
          <a:off x="6213686" y="1707654"/>
          <a:ext cx="2678793" cy="27745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980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69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34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600" b="0" kern="1200" dirty="0">
                          <a:solidFill>
                            <a:srgbClr val="000078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from</a:t>
                      </a:r>
                      <a:endParaRPr lang="zh-CN" altLang="en-US" sz="1600" b="0" kern="1200" dirty="0">
                        <a:solidFill>
                          <a:srgbClr val="000078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600" b="0" kern="1200" dirty="0">
                          <a:solidFill>
                            <a:srgbClr val="000078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to</a:t>
                      </a:r>
                      <a:endParaRPr lang="zh-CN" altLang="en-US" sz="1600" b="0" kern="1200" dirty="0">
                        <a:solidFill>
                          <a:srgbClr val="000078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600" b="0" kern="1200" dirty="0">
                          <a:solidFill>
                            <a:srgbClr val="000078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en-US" altLang="zh-CN" sz="1600" b="0" kern="1200" dirty="0" err="1">
                          <a:solidFill>
                            <a:srgbClr val="000078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btc</a:t>
                      </a:r>
                      <a:endParaRPr lang="zh-CN" altLang="en-US" sz="1600" b="0" kern="1200" dirty="0">
                        <a:solidFill>
                          <a:srgbClr val="000078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9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李志军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陆海清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1.2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9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张</a:t>
                      </a: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大海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刘</a:t>
                      </a: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小龙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0.5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林</a:t>
                      </a: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志文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胡士</a:t>
                      </a: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松</a:t>
                      </a: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2.6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6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邓清颖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杨</a:t>
                      </a: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明</a:t>
                      </a: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廉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1.8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9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邹百川</a:t>
                      </a:r>
                      <a:endParaRPr lang="en-US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农商</a:t>
                      </a: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行</a:t>
                      </a: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6.9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9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农商</a:t>
                      </a:r>
                      <a:r>
                        <a:rPr lang="zh-CN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行</a:t>
                      </a: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某某</a:t>
                      </a: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5.3</a:t>
                      </a:r>
                      <a:endParaRPr lang="zh-CN" sz="16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816DAA48-62DE-4361-8241-7F99301770BE}"/>
              </a:ext>
            </a:extLst>
          </p:cNvPr>
          <p:cNvSpPr/>
          <p:nvPr/>
        </p:nvSpPr>
        <p:spPr>
          <a:xfrm>
            <a:off x="107504" y="3978140"/>
            <a:ext cx="2612604" cy="584775"/>
          </a:xfrm>
          <a:prstGeom prst="rect">
            <a:avLst/>
          </a:prstGeom>
          <a:ln>
            <a:solidFill>
              <a:srgbClr val="000078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去中心化：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区块链最本质的特征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(1/5)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8319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611559" y="986626"/>
            <a:ext cx="8532441" cy="2089180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None/>
              <a:tabLst>
                <a:tab pos="2893219" algn="l"/>
              </a:tabLst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）安全性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None/>
              <a:tabLst>
                <a:tab pos="2893219" algn="l"/>
              </a:tabLst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安全性是区块链最重要的特征。安全性来自其</a:t>
            </a:r>
            <a:r>
              <a:rPr lang="zh-CN" altLang="en-US" sz="1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不可篡改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的特性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ct val="125000"/>
              </a:lnSpc>
              <a:spcBef>
                <a:spcPts val="0"/>
              </a:spcBef>
              <a:buClr>
                <a:srgbClr val="002060"/>
              </a:buClr>
              <a:buNone/>
              <a:tabLst>
                <a:tab pos="2893219" algn="l"/>
              </a:tabLst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※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去中心化，人人有账本，增加了篡改的难度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ct val="125000"/>
              </a:lnSpc>
              <a:spcBef>
                <a:spcPts val="0"/>
              </a:spcBef>
              <a:buClr>
                <a:srgbClr val="002060"/>
              </a:buClr>
              <a:buNone/>
              <a:tabLst>
                <a:tab pos="2893219" algn="l"/>
              </a:tabLst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※ 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区块链中各</a:t>
            </a:r>
            <a:r>
              <a:rPr lang="zh-CN" altLang="en-US" sz="1800" dirty="0">
                <a:latin typeface="宋体" panose="02010600030101010101" pitchFamily="2" charset="-122"/>
              </a:rPr>
              <a:t>区</a:t>
            </a:r>
            <a:r>
              <a:rPr lang="zh-CN" altLang="zh-CN" sz="1800" dirty="0">
                <a:latin typeface="宋体" panose="02010600030101010101" pitchFamily="2" charset="-122"/>
              </a:rPr>
              <a:t>块首</a:t>
            </a:r>
            <a:r>
              <a:rPr lang="zh-CN" altLang="en-US" sz="1800" dirty="0">
                <a:latin typeface="宋体" panose="02010600030101010101" pitchFamily="2" charset="-122"/>
              </a:rPr>
              <a:t>尾</a:t>
            </a:r>
            <a:r>
              <a:rPr lang="zh-CN" altLang="zh-CN" sz="1800" dirty="0">
                <a:latin typeface="宋体" panose="02010600030101010101" pitchFamily="2" charset="-122"/>
              </a:rPr>
              <a:t>相连</a:t>
            </a:r>
            <a:r>
              <a:rPr lang="zh-CN" altLang="en-US" sz="1800" dirty="0">
                <a:latin typeface="宋体" panose="02010600030101010101" pitchFamily="2" charset="-122"/>
              </a:rPr>
              <a:t>。</a:t>
            </a:r>
            <a:r>
              <a:rPr lang="zh-CN" altLang="zh-CN" sz="1800" dirty="0">
                <a:latin typeface="宋体" panose="02010600030101010101" pitchFamily="2" charset="-122"/>
              </a:rPr>
              <a:t>第一个</a:t>
            </a:r>
            <a:r>
              <a:rPr lang="zh-CN" altLang="en-US" sz="1800" dirty="0">
                <a:latin typeface="宋体" panose="02010600030101010101" pitchFamily="2" charset="-122"/>
              </a:rPr>
              <a:t>区</a:t>
            </a:r>
            <a:r>
              <a:rPr lang="zh-CN" altLang="zh-CN" sz="1800" dirty="0">
                <a:latin typeface="宋体" panose="02010600030101010101" pitchFamily="2" charset="-122"/>
              </a:rPr>
              <a:t>块</a:t>
            </a:r>
            <a:r>
              <a:rPr lang="zh-CN" altLang="en-US" sz="1800" dirty="0">
                <a:latin typeface="宋体" panose="02010600030101010101" pitchFamily="2" charset="-122"/>
              </a:rPr>
              <a:t>由系统自动生成，</a:t>
            </a:r>
            <a:r>
              <a:rPr lang="zh-CN" altLang="zh-CN" sz="1800" dirty="0">
                <a:latin typeface="宋体" panose="02010600030101010101" pitchFamily="2" charset="-122"/>
              </a:rPr>
              <a:t>称之为“创</a:t>
            </a:r>
            <a:r>
              <a:rPr lang="zh-CN" altLang="en-US" sz="1800" dirty="0">
                <a:latin typeface="宋体" panose="02010600030101010101" pitchFamily="2" charset="-122"/>
              </a:rPr>
              <a:t>世</a:t>
            </a:r>
            <a:r>
              <a:rPr lang="zh-CN" altLang="zh-CN" sz="1800" dirty="0">
                <a:latin typeface="宋体" panose="02010600030101010101" pitchFamily="2" charset="-122"/>
              </a:rPr>
              <a:t>块</a:t>
            </a:r>
            <a:r>
              <a:rPr lang="zh-CN" altLang="en-US" sz="1800" dirty="0">
                <a:latin typeface="宋体" panose="02010600030101010101" pitchFamily="2" charset="-122"/>
              </a:rPr>
              <a:t>区</a:t>
            </a:r>
            <a:r>
              <a:rPr lang="zh-CN" altLang="zh-CN" sz="1800" dirty="0">
                <a:latin typeface="宋体" panose="02010600030101010101" pitchFamily="2" charset="-122"/>
              </a:rPr>
              <a:t>”</a:t>
            </a:r>
            <a:endParaRPr lang="en-US" altLang="zh-CN" sz="1800" dirty="0">
              <a:latin typeface="宋体" panose="02010600030101010101" pitchFamily="2" charset="-122"/>
            </a:endParaRPr>
          </a:p>
          <a:p>
            <a:pPr marL="0" lvl="1" indent="0">
              <a:lnSpc>
                <a:spcPct val="125000"/>
              </a:lnSpc>
              <a:spcBef>
                <a:spcPts val="0"/>
              </a:spcBef>
              <a:buClr>
                <a:srgbClr val="002060"/>
              </a:buClr>
              <a:buNone/>
              <a:tabLst>
                <a:tab pos="2893219" algn="l"/>
              </a:tabLst>
            </a:pPr>
            <a:r>
              <a:rPr lang="en-US" altLang="zh-CN" sz="1800" dirty="0">
                <a:latin typeface="宋体" panose="02010600030101010101" pitchFamily="2" charset="-122"/>
              </a:rPr>
              <a:t>  </a:t>
            </a:r>
            <a:r>
              <a:rPr lang="en-US" altLang="zh-CN" sz="1400" dirty="0">
                <a:latin typeface="宋体" panose="02010600030101010101" pitchFamily="2" charset="-122"/>
              </a:rPr>
              <a:t>  </a:t>
            </a:r>
            <a:r>
              <a:rPr lang="en-US" altLang="zh-CN" sz="1800" dirty="0">
                <a:latin typeface="宋体" panose="02010600030101010101" pitchFamily="2" charset="-122"/>
              </a:rPr>
              <a:t>    </a:t>
            </a:r>
            <a:r>
              <a:rPr lang="zh-CN" altLang="en-US" sz="1800" dirty="0">
                <a:latin typeface="宋体" panose="02010600030101010101" pitchFamily="2" charset="-122"/>
              </a:rPr>
              <a:t>后面的每个区块存储了前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序区块的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r>
              <a:rPr lang="zh-CN" altLang="en-US" sz="1800" dirty="0">
                <a:latin typeface="宋体" panose="02010600030101010101" pitchFamily="2" charset="-122"/>
              </a:rPr>
              <a:t>。</a:t>
            </a:r>
            <a:endParaRPr lang="zh-CN" altLang="zh-CN" sz="1800" dirty="0">
              <a:latin typeface="宋体" panose="02010600030101010101" pitchFamily="2" charset="-122"/>
            </a:endParaRP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None/>
              <a:tabLst>
                <a:tab pos="2893219" algn="l"/>
              </a:tabLst>
            </a:pP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ABA3AF83-15C8-46EE-A55A-A81325FBA33D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  <a:solidFill>
            <a:srgbClr val="C00000"/>
          </a:solidFill>
        </p:spPr>
        <p:txBody>
          <a:bodyPr vert="horz" lIns="0" tIns="45720" rIns="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altLang="zh-CN" sz="2400" dirty="0"/>
              <a:t> </a:t>
            </a:r>
            <a:r>
              <a:rPr lang="zh-CN" altLang="en-US" sz="2400" dirty="0"/>
              <a:t>二、区块链基本原理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E8BDC8C-CDCF-4ED8-9D01-AA23CA6E1907}"/>
              </a:ext>
            </a:extLst>
          </p:cNvPr>
          <p:cNvSpPr/>
          <p:nvPr/>
        </p:nvSpPr>
        <p:spPr>
          <a:xfrm>
            <a:off x="1403648" y="2859782"/>
            <a:ext cx="7632848" cy="753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若篡改某个区块，则改变了其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Hash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值，与后序区块中存储的哈希值不一致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若要篡改，必须要改变链中后面所有区块中存储的哈希值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BB1EFE9-B0D9-4855-A3F7-26ACCD5E6D37}"/>
              </a:ext>
            </a:extLst>
          </p:cNvPr>
          <p:cNvGraphicFramePr>
            <a:graphicFrameLocks noGrp="1"/>
          </p:cNvGraphicFramePr>
          <p:nvPr/>
        </p:nvGraphicFramePr>
        <p:xfrm>
          <a:off x="179512" y="3723878"/>
          <a:ext cx="1733610" cy="137007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73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19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父区块哈希值：</a:t>
                      </a: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000…</a:t>
                      </a: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随机数：</a:t>
                      </a: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72608</a:t>
                      </a: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347825"/>
                  </a:ext>
                </a:extLst>
              </a:tr>
              <a:tr h="468162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altLang="zh-CN" sz="140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……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zh-CN" altLang="en-US" sz="140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注：创世区块，第一个区块，</a:t>
                      </a:r>
                      <a:r>
                        <a:rPr lang="en-US" altLang="zh-CN" sz="140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140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没有父区块</a:t>
                      </a: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491913"/>
                  </a:ext>
                </a:extLst>
              </a:tr>
            </a:tbl>
          </a:graphicData>
        </a:graphic>
      </p:graphicFrame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6322C9B-31E2-41EA-922A-ACE4FE78E54D}"/>
              </a:ext>
            </a:extLst>
          </p:cNvPr>
          <p:cNvCxnSpPr/>
          <p:nvPr/>
        </p:nvCxnSpPr>
        <p:spPr>
          <a:xfrm>
            <a:off x="3197388" y="4170451"/>
            <a:ext cx="419099" cy="0"/>
          </a:xfrm>
          <a:prstGeom prst="straightConnector1">
            <a:avLst/>
          </a:prstGeom>
          <a:ln w="19050">
            <a:solidFill>
              <a:srgbClr val="000066"/>
            </a:solidFill>
            <a:headEnd type="none" w="sm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64F5AFD-B92F-4513-AE06-7898EFE44108}"/>
              </a:ext>
            </a:extLst>
          </p:cNvPr>
          <p:cNvCxnSpPr/>
          <p:nvPr/>
        </p:nvCxnSpPr>
        <p:spPr>
          <a:xfrm>
            <a:off x="5868143" y="4170451"/>
            <a:ext cx="419099" cy="0"/>
          </a:xfrm>
          <a:prstGeom prst="straightConnector1">
            <a:avLst/>
          </a:prstGeom>
          <a:ln w="19050">
            <a:solidFill>
              <a:srgbClr val="000066"/>
            </a:solidFill>
            <a:headEnd type="none" w="sm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B489A039-E914-4C99-B5C5-1F0837A126E1}"/>
              </a:ext>
            </a:extLst>
          </p:cNvPr>
          <p:cNvGraphicFramePr>
            <a:graphicFrameLocks noGrp="1"/>
          </p:cNvGraphicFramePr>
          <p:nvPr/>
        </p:nvGraphicFramePr>
        <p:xfrm>
          <a:off x="2556441" y="3723878"/>
          <a:ext cx="1733610" cy="137007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73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19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父区块哈希值：</a:t>
                      </a:r>
                      <a:r>
                        <a:rPr lang="en-US" altLang="zh-CN" sz="1400" b="0" kern="1200" dirty="0" err="1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9fa</a:t>
                      </a: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随机数：</a:t>
                      </a: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32343</a:t>
                      </a: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347825"/>
                  </a:ext>
                </a:extLst>
              </a:tr>
              <a:tr h="468162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</a:pPr>
                      <a:endParaRPr lang="en-US" altLang="zh-CN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……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491913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4E1A0A2A-9E61-40DD-8EE3-91BEA7955F47}"/>
              </a:ext>
            </a:extLst>
          </p:cNvPr>
          <p:cNvGraphicFramePr>
            <a:graphicFrameLocks noGrp="1"/>
          </p:cNvGraphicFramePr>
          <p:nvPr/>
        </p:nvGraphicFramePr>
        <p:xfrm>
          <a:off x="4923174" y="3719136"/>
          <a:ext cx="1733610" cy="137007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73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19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父区块哈希值：</a:t>
                      </a:r>
                      <a:r>
                        <a:rPr lang="en-US" altLang="zh-CN" sz="1400" b="0" kern="1200" dirty="0" err="1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ce6</a:t>
                      </a: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随机数：</a:t>
                      </a: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65545</a:t>
                      </a: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347825"/>
                  </a:ext>
                </a:extLst>
              </a:tr>
              <a:tr h="468162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</a:pPr>
                      <a:endParaRPr lang="en-US" altLang="zh-CN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……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491913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C862A6F3-6679-4785-80D1-345AD41E2469}"/>
              </a:ext>
            </a:extLst>
          </p:cNvPr>
          <p:cNvGraphicFramePr>
            <a:graphicFrameLocks noGrp="1"/>
          </p:cNvGraphicFramePr>
          <p:nvPr/>
        </p:nvGraphicFramePr>
        <p:xfrm>
          <a:off x="7308232" y="3719136"/>
          <a:ext cx="1733610" cy="137007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73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19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父区块哈希值：</a:t>
                      </a:r>
                      <a:r>
                        <a:rPr lang="en-US" altLang="zh-CN" sz="1400" b="0" dirty="0" err="1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d45</a:t>
                      </a: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随机数：</a:t>
                      </a: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84213</a:t>
                      </a: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347825"/>
                  </a:ext>
                </a:extLst>
              </a:tr>
              <a:tr h="468162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</a:pPr>
                      <a:endParaRPr lang="en-US" altLang="zh-CN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500"/>
                        </a:lnSpc>
                      </a:pP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……</a:t>
                      </a:r>
                    </a:p>
                    <a:p>
                      <a:pPr algn="l">
                        <a:lnSpc>
                          <a:spcPts val="1500"/>
                        </a:lnSpc>
                      </a:pP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491913"/>
                  </a:ext>
                </a:extLst>
              </a:tr>
            </a:tbl>
          </a:graphicData>
        </a:graphic>
      </p:graphicFrame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86111B51-4DF0-466A-A688-A1CA57EDDA09}"/>
              </a:ext>
            </a:extLst>
          </p:cNvPr>
          <p:cNvCxnSpPr>
            <a:cxnSpLocks/>
          </p:cNvCxnSpPr>
          <p:nvPr/>
        </p:nvCxnSpPr>
        <p:spPr>
          <a:xfrm>
            <a:off x="1913122" y="4435080"/>
            <a:ext cx="648000" cy="0"/>
          </a:xfrm>
          <a:prstGeom prst="straightConnector1">
            <a:avLst/>
          </a:prstGeom>
          <a:ln w="19050">
            <a:solidFill>
              <a:schemeClr val="accent1"/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18D237F2-6568-414D-B4EA-16636ABC146F}"/>
              </a:ext>
            </a:extLst>
          </p:cNvPr>
          <p:cNvCxnSpPr>
            <a:cxnSpLocks/>
          </p:cNvCxnSpPr>
          <p:nvPr/>
        </p:nvCxnSpPr>
        <p:spPr>
          <a:xfrm>
            <a:off x="4284040" y="4443958"/>
            <a:ext cx="648000" cy="0"/>
          </a:xfrm>
          <a:prstGeom prst="straightConnector1">
            <a:avLst/>
          </a:prstGeom>
          <a:ln w="19050">
            <a:solidFill>
              <a:schemeClr val="accent1"/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F7428D4A-A0C1-4769-9BDB-C3558D0F6306}"/>
              </a:ext>
            </a:extLst>
          </p:cNvPr>
          <p:cNvCxnSpPr>
            <a:cxnSpLocks/>
          </p:cNvCxnSpPr>
          <p:nvPr/>
        </p:nvCxnSpPr>
        <p:spPr>
          <a:xfrm>
            <a:off x="6660232" y="4443958"/>
            <a:ext cx="648000" cy="0"/>
          </a:xfrm>
          <a:prstGeom prst="straightConnector1">
            <a:avLst/>
          </a:prstGeom>
          <a:ln w="19050">
            <a:solidFill>
              <a:schemeClr val="accent1"/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84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611559" y="986625"/>
            <a:ext cx="8712964" cy="1550729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None/>
              <a:tabLst>
                <a:tab pos="2893219" algn="l"/>
              </a:tabLst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※ Merkel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树根    如图所示的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None/>
              <a:tabLst>
                <a:tab pos="2893219" algn="l"/>
              </a:tabLst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若某区块的交易内容改变，则其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Merkel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树根改变，区块头的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值也改变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Clr>
                <a:srgbClr val="002060"/>
              </a:buClr>
              <a:buNone/>
              <a:tabLst>
                <a:tab pos="2893219" algn="l"/>
              </a:tabLst>
            </a:pP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从而随机数不合法了，需要重新挖矿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ABA3AF83-15C8-46EE-A55A-A81325FBA33D}"/>
              </a:ext>
            </a:extLst>
          </p:cNvPr>
          <p:cNvSpPr txBox="1">
            <a:spLocks/>
          </p:cNvSpPr>
          <p:nvPr/>
        </p:nvSpPr>
        <p:spPr>
          <a:xfrm>
            <a:off x="395536" y="195486"/>
            <a:ext cx="6048724" cy="577618"/>
          </a:xfrm>
          <a:prstGeom prst="rect">
            <a:avLst/>
          </a:prstGeom>
          <a:solidFill>
            <a:srgbClr val="C00000"/>
          </a:solidFill>
        </p:spPr>
        <p:txBody>
          <a:bodyPr vert="horz" lIns="0" tIns="45720" rIns="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altLang="zh-CN" sz="2400" dirty="0"/>
              <a:t> </a:t>
            </a:r>
            <a:r>
              <a:rPr lang="zh-CN" altLang="en-US" sz="2400" dirty="0"/>
              <a:t>二、区块链基本原理</a:t>
            </a:r>
          </a:p>
        </p:txBody>
      </p:sp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BB7B0054-D60C-47D0-8E64-45AC4C3F5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664139"/>
              </p:ext>
            </p:extLst>
          </p:nvPr>
        </p:nvGraphicFramePr>
        <p:xfrm>
          <a:off x="2051720" y="2931790"/>
          <a:ext cx="1733610" cy="137007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73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19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父区块哈希值：</a:t>
                      </a:r>
                      <a:r>
                        <a:rPr lang="en-US" altLang="zh-CN" sz="1400" b="0" kern="1200" dirty="0" err="1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9fa</a:t>
                      </a: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随机数：</a:t>
                      </a:r>
                      <a:r>
                        <a:rPr lang="en-US" altLang="zh-CN" sz="1400" b="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32343</a:t>
                      </a: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347825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US" altLang="zh-CN" sz="1400" b="0" kern="1200" dirty="0">
                          <a:solidFill>
                            <a:srgbClr val="A5002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Merkel</a:t>
                      </a:r>
                      <a:r>
                        <a:rPr lang="zh-CN" altLang="en-US" sz="1400" b="0" kern="1200" dirty="0">
                          <a:solidFill>
                            <a:srgbClr val="A5002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树根</a:t>
                      </a: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491913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rgbClr val="000066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……</a:t>
                      </a:r>
                      <a:endParaRPr lang="zh-CN" altLang="en-US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anchor="ctr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772633"/>
                  </a:ext>
                </a:extLst>
              </a:tr>
            </a:tbl>
          </a:graphicData>
        </a:graphic>
      </p:graphicFrame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0A7FED65-DF50-405A-B8B1-81CAFEFB3E45}"/>
              </a:ext>
            </a:extLst>
          </p:cNvPr>
          <p:cNvCxnSpPr>
            <a:endCxn id="23" idx="0"/>
          </p:cNvCxnSpPr>
          <p:nvPr/>
        </p:nvCxnSpPr>
        <p:spPr>
          <a:xfrm>
            <a:off x="2918525" y="2320029"/>
            <a:ext cx="0" cy="611761"/>
          </a:xfrm>
          <a:prstGeom prst="straightConnector1">
            <a:avLst/>
          </a:prstGeom>
          <a:ln w="19050">
            <a:solidFill>
              <a:srgbClr val="0000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3F0F957-FFAC-481B-8224-ADB8C60FC79B}"/>
              </a:ext>
            </a:extLst>
          </p:cNvPr>
          <p:cNvCxnSpPr/>
          <p:nvPr/>
        </p:nvCxnSpPr>
        <p:spPr>
          <a:xfrm>
            <a:off x="2917281" y="4336253"/>
            <a:ext cx="0" cy="611761"/>
          </a:xfrm>
          <a:prstGeom prst="straightConnector1">
            <a:avLst/>
          </a:prstGeom>
          <a:ln w="19050">
            <a:solidFill>
              <a:srgbClr val="0000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B59C878C-BD76-42CE-98C1-5B1C52B68225}"/>
              </a:ext>
            </a:extLst>
          </p:cNvPr>
          <p:cNvSpPr/>
          <p:nvPr/>
        </p:nvSpPr>
        <p:spPr bwMode="gray">
          <a:xfrm>
            <a:off x="6398023" y="2536053"/>
            <a:ext cx="720024" cy="315328"/>
          </a:xfrm>
          <a:prstGeom prst="rect">
            <a:avLst/>
          </a:prstGeom>
          <a:noFill/>
          <a:ln w="19050">
            <a:solidFill>
              <a:srgbClr val="000078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/>
            <a:r>
              <a:rPr lang="zh-CN" altLang="en-US" sz="1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交易</a:t>
            </a:r>
            <a:r>
              <a:rPr lang="en-US" altLang="zh-CN" sz="1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400" b="1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3F0453C-92A4-4B4F-9BA6-30B7317FBB59}"/>
              </a:ext>
            </a:extLst>
          </p:cNvPr>
          <p:cNvSpPr/>
          <p:nvPr/>
        </p:nvSpPr>
        <p:spPr bwMode="gray">
          <a:xfrm>
            <a:off x="6398023" y="3218720"/>
            <a:ext cx="720024" cy="315328"/>
          </a:xfrm>
          <a:prstGeom prst="rect">
            <a:avLst/>
          </a:prstGeom>
          <a:noFill/>
          <a:ln w="19050">
            <a:solidFill>
              <a:srgbClr val="000078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/>
            <a:r>
              <a:rPr lang="zh-CN" altLang="en-US" sz="1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交易</a:t>
            </a:r>
            <a:r>
              <a:rPr lang="en-US" altLang="zh-CN" sz="1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400" b="1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FF13074-C5C1-40D2-9E5A-FB7B197E1204}"/>
              </a:ext>
            </a:extLst>
          </p:cNvPr>
          <p:cNvSpPr/>
          <p:nvPr/>
        </p:nvSpPr>
        <p:spPr bwMode="gray">
          <a:xfrm>
            <a:off x="6398023" y="3902654"/>
            <a:ext cx="720024" cy="315328"/>
          </a:xfrm>
          <a:prstGeom prst="rect">
            <a:avLst/>
          </a:prstGeom>
          <a:noFill/>
          <a:ln w="19050">
            <a:solidFill>
              <a:srgbClr val="000078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/>
            <a:r>
              <a:rPr lang="zh-CN" altLang="en-US" sz="1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交易</a:t>
            </a:r>
            <a:r>
              <a:rPr lang="en-US" altLang="zh-CN" sz="1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1400" b="1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CABF0A1-6B81-42BB-9D19-9DCBD36B4F8E}"/>
              </a:ext>
            </a:extLst>
          </p:cNvPr>
          <p:cNvSpPr/>
          <p:nvPr/>
        </p:nvSpPr>
        <p:spPr bwMode="gray">
          <a:xfrm>
            <a:off x="6410321" y="4562417"/>
            <a:ext cx="720024" cy="315328"/>
          </a:xfrm>
          <a:prstGeom prst="rect">
            <a:avLst/>
          </a:prstGeom>
          <a:noFill/>
          <a:ln w="19050">
            <a:solidFill>
              <a:srgbClr val="000078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/>
            <a:r>
              <a:rPr lang="zh-CN" altLang="en-US" sz="1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交易</a:t>
            </a:r>
            <a:r>
              <a:rPr lang="en-US" altLang="zh-CN" sz="1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400" b="1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E8046BA-78A1-47C8-BC8B-443D0DA6F1B3}"/>
              </a:ext>
            </a:extLst>
          </p:cNvPr>
          <p:cNvSpPr/>
          <p:nvPr/>
        </p:nvSpPr>
        <p:spPr bwMode="gray">
          <a:xfrm>
            <a:off x="5294297" y="2551193"/>
            <a:ext cx="720024" cy="315328"/>
          </a:xfrm>
          <a:prstGeom prst="rect">
            <a:avLst/>
          </a:prstGeom>
          <a:noFill/>
          <a:ln w="19050">
            <a:solidFill>
              <a:srgbClr val="000078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/>
            <a:r>
              <a:rPr lang="en-US" altLang="zh-CN" sz="1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</a:t>
            </a:r>
            <a:r>
              <a:rPr lang="zh-CN" altLang="en-US" sz="1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7E37FFA-FE29-4A21-88D9-77D5BCA154F5}"/>
              </a:ext>
            </a:extLst>
          </p:cNvPr>
          <p:cNvSpPr/>
          <p:nvPr/>
        </p:nvSpPr>
        <p:spPr bwMode="gray">
          <a:xfrm>
            <a:off x="5284428" y="3218720"/>
            <a:ext cx="720024" cy="315328"/>
          </a:xfrm>
          <a:prstGeom prst="rect">
            <a:avLst/>
          </a:prstGeom>
          <a:noFill/>
          <a:ln w="19050">
            <a:solidFill>
              <a:srgbClr val="000078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/>
            <a:r>
              <a:rPr lang="en-US" altLang="zh-CN" sz="1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</a:t>
            </a:r>
            <a:r>
              <a:rPr lang="zh-CN" altLang="en-US" sz="1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C4BAA5F-E788-4249-8BF6-31330B7CDABB}"/>
              </a:ext>
            </a:extLst>
          </p:cNvPr>
          <p:cNvSpPr/>
          <p:nvPr/>
        </p:nvSpPr>
        <p:spPr bwMode="gray">
          <a:xfrm>
            <a:off x="5294297" y="3910639"/>
            <a:ext cx="720024" cy="315328"/>
          </a:xfrm>
          <a:prstGeom prst="rect">
            <a:avLst/>
          </a:prstGeom>
          <a:noFill/>
          <a:ln w="19050">
            <a:solidFill>
              <a:srgbClr val="000078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/>
            <a:r>
              <a:rPr lang="en-US" altLang="zh-CN" sz="1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</a:t>
            </a:r>
            <a:r>
              <a:rPr lang="zh-CN" altLang="en-US" sz="1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DA8967A-A925-4533-85CA-02B0173A0430}"/>
              </a:ext>
            </a:extLst>
          </p:cNvPr>
          <p:cNvSpPr/>
          <p:nvPr/>
        </p:nvSpPr>
        <p:spPr bwMode="gray">
          <a:xfrm>
            <a:off x="5306595" y="4567901"/>
            <a:ext cx="720024" cy="315328"/>
          </a:xfrm>
          <a:prstGeom prst="rect">
            <a:avLst/>
          </a:prstGeom>
          <a:noFill/>
          <a:ln w="19050">
            <a:solidFill>
              <a:srgbClr val="000078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/>
            <a:r>
              <a:rPr lang="en-US" altLang="zh-CN" sz="1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</a:t>
            </a:r>
            <a:r>
              <a:rPr lang="zh-CN" altLang="en-US" sz="1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0363B12-A894-43F2-9808-410311E158D0}"/>
              </a:ext>
            </a:extLst>
          </p:cNvPr>
          <p:cNvSpPr/>
          <p:nvPr/>
        </p:nvSpPr>
        <p:spPr bwMode="gray">
          <a:xfrm>
            <a:off x="4326587" y="2913736"/>
            <a:ext cx="720024" cy="315328"/>
          </a:xfrm>
          <a:prstGeom prst="rect">
            <a:avLst/>
          </a:prstGeom>
          <a:noFill/>
          <a:ln w="19050">
            <a:solidFill>
              <a:srgbClr val="000078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/>
            <a:r>
              <a:rPr lang="en-US" altLang="zh-CN" sz="1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</a:t>
            </a:r>
            <a:r>
              <a:rPr lang="zh-CN" altLang="en-US" sz="1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48B1098-D13A-4E33-B935-FD4FD3D2166C}"/>
              </a:ext>
            </a:extLst>
          </p:cNvPr>
          <p:cNvSpPr/>
          <p:nvPr/>
        </p:nvSpPr>
        <p:spPr bwMode="gray">
          <a:xfrm>
            <a:off x="4347860" y="4247605"/>
            <a:ext cx="720024" cy="315328"/>
          </a:xfrm>
          <a:prstGeom prst="rect">
            <a:avLst/>
          </a:prstGeom>
          <a:noFill/>
          <a:ln w="19050">
            <a:solidFill>
              <a:srgbClr val="000078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eaLnBrk="0" hangingPunct="0"/>
            <a:r>
              <a:rPr lang="en-US" altLang="zh-CN" sz="1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</a:t>
            </a:r>
            <a:r>
              <a:rPr lang="zh-CN" altLang="en-US" sz="1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8BAA303C-E768-4BB6-AAB7-E97D981DAEAD}"/>
              </a:ext>
            </a:extLst>
          </p:cNvPr>
          <p:cNvCxnSpPr>
            <a:cxnSpLocks/>
          </p:cNvCxnSpPr>
          <p:nvPr/>
        </p:nvCxnSpPr>
        <p:spPr>
          <a:xfrm>
            <a:off x="6014321" y="2708857"/>
            <a:ext cx="396000" cy="0"/>
          </a:xfrm>
          <a:prstGeom prst="line">
            <a:avLst/>
          </a:prstGeom>
          <a:ln w="19050">
            <a:solidFill>
              <a:srgbClr val="00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CE501C5B-1570-4F04-A989-517064157DE2}"/>
              </a:ext>
            </a:extLst>
          </p:cNvPr>
          <p:cNvCxnSpPr>
            <a:cxnSpLocks/>
          </p:cNvCxnSpPr>
          <p:nvPr/>
        </p:nvCxnSpPr>
        <p:spPr>
          <a:xfrm>
            <a:off x="6014321" y="3403498"/>
            <a:ext cx="396000" cy="0"/>
          </a:xfrm>
          <a:prstGeom prst="line">
            <a:avLst/>
          </a:prstGeom>
          <a:ln w="19050">
            <a:solidFill>
              <a:srgbClr val="00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E925FB9F-6B5A-4065-894A-7828443EF9BB}"/>
              </a:ext>
            </a:extLst>
          </p:cNvPr>
          <p:cNvCxnSpPr>
            <a:cxnSpLocks/>
          </p:cNvCxnSpPr>
          <p:nvPr/>
        </p:nvCxnSpPr>
        <p:spPr>
          <a:xfrm>
            <a:off x="6014321" y="4088722"/>
            <a:ext cx="396000" cy="0"/>
          </a:xfrm>
          <a:prstGeom prst="line">
            <a:avLst/>
          </a:prstGeom>
          <a:ln w="19050">
            <a:solidFill>
              <a:srgbClr val="00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6A4AFA3E-F37D-4940-BF45-07DF28522DBD}"/>
              </a:ext>
            </a:extLst>
          </p:cNvPr>
          <p:cNvCxnSpPr>
            <a:cxnSpLocks/>
          </p:cNvCxnSpPr>
          <p:nvPr/>
        </p:nvCxnSpPr>
        <p:spPr>
          <a:xfrm>
            <a:off x="6014321" y="4729076"/>
            <a:ext cx="396000" cy="0"/>
          </a:xfrm>
          <a:prstGeom prst="line">
            <a:avLst/>
          </a:prstGeom>
          <a:ln w="19050">
            <a:solidFill>
              <a:srgbClr val="00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9C0EEE60-02E8-4379-8CAC-1ECF3CB4E90C}"/>
              </a:ext>
            </a:extLst>
          </p:cNvPr>
          <p:cNvCxnSpPr>
            <a:cxnSpLocks/>
            <a:stCxn id="43" idx="3"/>
          </p:cNvCxnSpPr>
          <p:nvPr/>
        </p:nvCxnSpPr>
        <p:spPr>
          <a:xfrm flipV="1">
            <a:off x="5046611" y="2708858"/>
            <a:ext cx="237817" cy="362542"/>
          </a:xfrm>
          <a:prstGeom prst="line">
            <a:avLst/>
          </a:prstGeom>
          <a:ln w="19050">
            <a:solidFill>
              <a:srgbClr val="00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E65892B2-0D26-4491-A92C-997217164DE3}"/>
              </a:ext>
            </a:extLst>
          </p:cNvPr>
          <p:cNvCxnSpPr>
            <a:cxnSpLocks/>
            <a:stCxn id="43" idx="3"/>
            <a:endCxn id="40" idx="1"/>
          </p:cNvCxnSpPr>
          <p:nvPr/>
        </p:nvCxnSpPr>
        <p:spPr>
          <a:xfrm>
            <a:off x="5046611" y="3071400"/>
            <a:ext cx="237817" cy="304984"/>
          </a:xfrm>
          <a:prstGeom prst="line">
            <a:avLst/>
          </a:prstGeom>
          <a:ln w="19050">
            <a:solidFill>
              <a:srgbClr val="00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BE4B66CD-0E00-42B7-A374-A1E3CA606200}"/>
              </a:ext>
            </a:extLst>
          </p:cNvPr>
          <p:cNvCxnSpPr>
            <a:cxnSpLocks/>
          </p:cNvCxnSpPr>
          <p:nvPr/>
        </p:nvCxnSpPr>
        <p:spPr>
          <a:xfrm flipV="1">
            <a:off x="5056480" y="4052555"/>
            <a:ext cx="237817" cy="362542"/>
          </a:xfrm>
          <a:prstGeom prst="line">
            <a:avLst/>
          </a:prstGeom>
          <a:ln w="19050">
            <a:solidFill>
              <a:srgbClr val="00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45DC3F90-8CA0-4323-8E4C-C6C5FA287586}"/>
              </a:ext>
            </a:extLst>
          </p:cNvPr>
          <p:cNvCxnSpPr>
            <a:cxnSpLocks/>
          </p:cNvCxnSpPr>
          <p:nvPr/>
        </p:nvCxnSpPr>
        <p:spPr>
          <a:xfrm>
            <a:off x="5056480" y="4415097"/>
            <a:ext cx="237817" cy="304984"/>
          </a:xfrm>
          <a:prstGeom prst="line">
            <a:avLst/>
          </a:prstGeom>
          <a:ln w="19050">
            <a:solidFill>
              <a:srgbClr val="00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910CC929-FE87-4F1E-90B8-8C2F98AC2881}"/>
              </a:ext>
            </a:extLst>
          </p:cNvPr>
          <p:cNvCxnSpPr>
            <a:cxnSpLocks/>
          </p:cNvCxnSpPr>
          <p:nvPr/>
        </p:nvCxnSpPr>
        <p:spPr>
          <a:xfrm flipV="1">
            <a:off x="3795199" y="3120881"/>
            <a:ext cx="510562" cy="667526"/>
          </a:xfrm>
          <a:prstGeom prst="line">
            <a:avLst/>
          </a:prstGeom>
          <a:ln w="19050">
            <a:solidFill>
              <a:srgbClr val="00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E42C1737-432A-43C5-B847-424181BA1656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3818141" y="3788407"/>
            <a:ext cx="529719" cy="616862"/>
          </a:xfrm>
          <a:prstGeom prst="line">
            <a:avLst/>
          </a:prstGeom>
          <a:ln w="19050">
            <a:solidFill>
              <a:srgbClr val="0000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A7BE116B-3E9A-491F-8C35-69873DBC69D0}"/>
              </a:ext>
            </a:extLst>
          </p:cNvPr>
          <p:cNvSpPr/>
          <p:nvPr/>
        </p:nvSpPr>
        <p:spPr bwMode="gray">
          <a:xfrm>
            <a:off x="3851976" y="3598514"/>
            <a:ext cx="720024" cy="31532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eaLnBrk="0" hangingPunct="0"/>
            <a:r>
              <a:rPr lang="en-US" altLang="zh-CN" sz="1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</a:t>
            </a:r>
            <a:r>
              <a:rPr lang="zh-CN" altLang="en-US" sz="1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B77A11-A368-4F38-8CB7-74B2A83BB276}"/>
              </a:ext>
            </a:extLst>
          </p:cNvPr>
          <p:cNvSpPr/>
          <p:nvPr/>
        </p:nvSpPr>
        <p:spPr>
          <a:xfrm>
            <a:off x="24785" y="3902654"/>
            <a:ext cx="1367652" cy="923330"/>
          </a:xfrm>
          <a:prstGeom prst="rect">
            <a:avLst/>
          </a:prstGeom>
          <a:ln>
            <a:solidFill>
              <a:srgbClr val="000078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这是区块链不可篡改性的重要原因</a:t>
            </a:r>
          </a:p>
        </p:txBody>
      </p:sp>
    </p:spTree>
    <p:extLst>
      <p:ext uri="{BB962C8B-B14F-4D97-AF65-F5344CB8AC3E}">
        <p14:creationId xmlns:p14="http://schemas.microsoft.com/office/powerpoint/2010/main" val="171293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611560" y="195486"/>
            <a:ext cx="5832700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/>
              <a:t>  三、区块链应用</a:t>
            </a:r>
          </a:p>
        </p:txBody>
      </p:sp>
      <p:sp>
        <p:nvSpPr>
          <p:cNvPr id="19" name="内容占位符 2"/>
          <p:cNvSpPr>
            <a:spLocks noGrp="1"/>
          </p:cNvSpPr>
          <p:nvPr>
            <p:ph idx="1"/>
          </p:nvPr>
        </p:nvSpPr>
        <p:spPr>
          <a:xfrm>
            <a:off x="611559" y="986626"/>
            <a:ext cx="7704857" cy="3673356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spcBef>
                <a:spcPct val="20000"/>
              </a:spcBef>
              <a:spcAft>
                <a:spcPts val="23"/>
              </a:spcAft>
              <a:buClr>
                <a:srgbClr val="002060"/>
              </a:buClr>
              <a:buNone/>
              <a:tabLst>
                <a:tab pos="2893219" algn="l"/>
              </a:tabLst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基于不可篡改的特性，区块链的安全性还有：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  <a:spcBef>
                <a:spcPct val="20000"/>
              </a:spcBef>
              <a:spcAft>
                <a:spcPts val="23"/>
              </a:spcAft>
              <a:buClr>
                <a:srgbClr val="002060"/>
              </a:buClr>
              <a:buNone/>
              <a:tabLst>
                <a:tab pos="2893219" algn="l"/>
              </a:tabLst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■ 不可虚构    所有记账节点验证发送者的交易履行能力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■ 不可伪造    所有记账节点验证交易记录的正确性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■ 可以追溯    存储了所有历史交易记录，可以追溯过去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  <a:spcBef>
                <a:spcPct val="20000"/>
              </a:spcBef>
              <a:spcAft>
                <a:spcPts val="23"/>
              </a:spcAft>
              <a:buClr>
                <a:srgbClr val="002060"/>
              </a:buClr>
              <a:buNone/>
              <a:tabLst>
                <a:tab pos="2893219" algn="l"/>
              </a:tabLst>
            </a:pPr>
            <a:endParaRPr lang="en-US" altLang="zh-CN" sz="1800" b="1" dirty="0">
              <a:latin typeface="宋体" panose="02010600030101010101" pitchFamily="2" charset="-122"/>
              <a:ea typeface="宋体" pitchFamily="2" charset="-122"/>
            </a:endParaRPr>
          </a:p>
        </p:txBody>
      </p:sp>
      <p:sp>
        <p:nvSpPr>
          <p:cNvPr id="20" name="内容占位符 2"/>
          <p:cNvSpPr txBox="1">
            <a:spLocks/>
          </p:cNvSpPr>
          <p:nvPr/>
        </p:nvSpPr>
        <p:spPr>
          <a:xfrm>
            <a:off x="755577" y="1851670"/>
            <a:ext cx="7272808" cy="18002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456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611560" y="195486"/>
            <a:ext cx="5832700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/>
              <a:t>  三、区块链应用</a:t>
            </a:r>
          </a:p>
        </p:txBody>
      </p:sp>
      <p:sp>
        <p:nvSpPr>
          <p:cNvPr id="19" name="内容占位符 2"/>
          <p:cNvSpPr>
            <a:spLocks noGrp="1"/>
          </p:cNvSpPr>
          <p:nvPr>
            <p:ph idx="1"/>
          </p:nvPr>
        </p:nvSpPr>
        <p:spPr>
          <a:xfrm>
            <a:off x="611559" y="986626"/>
            <a:ext cx="7704857" cy="3673356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spcBef>
                <a:spcPct val="20000"/>
              </a:spcBef>
              <a:spcAft>
                <a:spcPts val="23"/>
              </a:spcAft>
              <a:buClr>
                <a:srgbClr val="002060"/>
              </a:buClr>
              <a:buNone/>
              <a:tabLst>
                <a:tab pos="2893219" algn="l"/>
              </a:tabLst>
            </a:pPr>
            <a:r>
              <a:rPr lang="zh-CN" altLang="en-US" sz="18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小结：</a:t>
            </a:r>
            <a:endParaRPr lang="en-US" altLang="zh-CN" sz="18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/>
              <a:t>       有一个人人可见的大账本，只记录交易</a:t>
            </a:r>
            <a:endParaRPr lang="en-US" altLang="zh-CN" sz="18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/>
              <a:t>       核心技术：密码学技术等</a:t>
            </a:r>
            <a:endParaRPr lang="en-US" altLang="zh-CN" sz="18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/>
              <a:t>	</a:t>
            </a:r>
            <a:r>
              <a:rPr lang="zh-CN" altLang="en-US" sz="1800" dirty="0"/>
              <a:t>特点：</a:t>
            </a:r>
            <a:endParaRPr lang="en-US" altLang="zh-CN" sz="1800" dirty="0"/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※ </a:t>
            </a:r>
            <a:r>
              <a:rPr lang="zh-CN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去中心化</a:t>
            </a:r>
            <a:endParaRPr lang="en-US" altLang="zh-CN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※ </a:t>
            </a:r>
            <a:r>
              <a:rPr lang="zh-CN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开放性 </a:t>
            </a:r>
            <a:endParaRPr lang="en-US" altLang="zh-CN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※ </a:t>
            </a:r>
            <a:r>
              <a:rPr lang="zh-CN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独立性</a:t>
            </a:r>
            <a:endParaRPr lang="en-US" altLang="zh-CN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※ </a:t>
            </a:r>
            <a:r>
              <a:rPr lang="zh-CN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安全性</a:t>
            </a:r>
            <a:endParaRPr lang="en-US" altLang="zh-CN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※ </a:t>
            </a:r>
            <a:r>
              <a:rPr lang="zh-CN" alt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匿名性</a:t>
            </a:r>
            <a:endParaRPr lang="en-US" altLang="zh-CN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zh-CN" altLang="en-US" sz="1800" dirty="0"/>
              <a:t>      核心功能：创造信任。传统货币依靠政府公信力，比特币依靠技术</a:t>
            </a:r>
            <a:endParaRPr lang="en-US" altLang="zh-CN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  <a:spcBef>
                <a:spcPct val="20000"/>
              </a:spcBef>
              <a:spcAft>
                <a:spcPts val="23"/>
              </a:spcAft>
              <a:buClr>
                <a:srgbClr val="002060"/>
              </a:buClr>
              <a:buNone/>
              <a:tabLst>
                <a:tab pos="2893219" algn="l"/>
              </a:tabLst>
            </a:pPr>
            <a:endParaRPr lang="en-US" altLang="zh-CN" sz="1800" b="1" dirty="0">
              <a:latin typeface="宋体" panose="02010600030101010101" pitchFamily="2" charset="-122"/>
              <a:ea typeface="宋体" pitchFamily="2" charset="-122"/>
            </a:endParaRPr>
          </a:p>
        </p:txBody>
      </p:sp>
      <p:sp>
        <p:nvSpPr>
          <p:cNvPr id="20" name="内容占位符 2"/>
          <p:cNvSpPr txBox="1">
            <a:spLocks/>
          </p:cNvSpPr>
          <p:nvPr/>
        </p:nvSpPr>
        <p:spPr>
          <a:xfrm>
            <a:off x="755577" y="1851670"/>
            <a:ext cx="7272808" cy="18002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Font typeface="Wingdings" panose="05000000000000000000" pitchFamily="2" charset="2"/>
              <a:buChar char="§"/>
              <a:defRPr sz="15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Char char="§"/>
              <a:defRPr sz="105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90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611560" y="195486"/>
            <a:ext cx="5832700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/>
              <a:t>农产品溯源</a:t>
            </a:r>
          </a:p>
        </p:txBody>
      </p:sp>
      <p:sp>
        <p:nvSpPr>
          <p:cNvPr id="2" name="矩形 1"/>
          <p:cNvSpPr/>
          <p:nvPr/>
        </p:nvSpPr>
        <p:spPr>
          <a:xfrm>
            <a:off x="611560" y="1059582"/>
            <a:ext cx="8280920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0000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应用案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7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例：农产品溯源。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7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溯源也叫存证，存证就是保存证据的意思农产品溯源是区块链的典型应用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区块链溯源的机制是什么？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48"/>
          <p:cNvSpPr/>
          <p:nvPr/>
        </p:nvSpPr>
        <p:spPr>
          <a:xfrm>
            <a:off x="611560" y="2787774"/>
            <a:ext cx="7399734" cy="1400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6213" marR="0" lvl="1" indent="-176213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23"/>
              </a:spcAft>
              <a:buClr>
                <a:srgbClr val="002060"/>
              </a:buClr>
              <a:buSzTx/>
              <a:buFont typeface="Wingdings" panose="05000000000000000000" pitchFamily="2" charset="2"/>
              <a:buChar char="n"/>
              <a:tabLst>
                <a:tab pos="2893219" algn="l"/>
              </a:tabLst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溯源业务包含如下两步：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9875" marR="0" lvl="1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23"/>
              </a:spcAft>
              <a:buClr>
                <a:srgbClr val="002060"/>
              </a:buClr>
              <a:buSzTx/>
              <a:buFontTx/>
              <a:buNone/>
              <a:tabLst>
                <a:tab pos="2893219" algn="l"/>
              </a:tabLst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第一步 存证：数据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证据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上链保存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9875" marR="0" lvl="1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23"/>
              </a:spcAft>
              <a:buClr>
                <a:srgbClr val="002060"/>
              </a:buClr>
              <a:buSzTx/>
              <a:buFontTx/>
              <a:buNone/>
              <a:tabLst>
                <a:tab pos="2893219" algn="l"/>
              </a:tabLst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第二步 查证：从链上查询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证据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97239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611560" y="195486"/>
            <a:ext cx="5832700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/>
              <a:t>农产品溯源</a:t>
            </a:r>
          </a:p>
        </p:txBody>
      </p:sp>
      <p:sp>
        <p:nvSpPr>
          <p:cNvPr id="8" name="矩形 48"/>
          <p:cNvSpPr/>
          <p:nvPr/>
        </p:nvSpPr>
        <p:spPr>
          <a:xfrm>
            <a:off x="611560" y="1052736"/>
            <a:ext cx="73997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6213" marR="0" lvl="1" indent="-176213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23"/>
              </a:spcAft>
              <a:buClr>
                <a:srgbClr val="002060"/>
              </a:buClr>
              <a:buSzTx/>
              <a:buFont typeface="Wingdings" panose="05000000000000000000" pitchFamily="2" charset="2"/>
              <a:buChar char="n"/>
              <a:tabLst>
                <a:tab pos="2893219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</a:prst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农产品溯源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存证（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1/3)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040" y="1635646"/>
            <a:ext cx="700121" cy="715258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302692" y="1650132"/>
            <a:ext cx="5797699" cy="753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 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农场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将牛的生长记录保存在“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账本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”上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把账本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信息记录在“区块链”上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4311607D-823A-454A-92F9-2D4FB8EDA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629321"/>
              </p:ext>
            </p:extLst>
          </p:nvPr>
        </p:nvGraphicFramePr>
        <p:xfrm>
          <a:off x="395536" y="2810720"/>
          <a:ext cx="5267364" cy="207077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27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010">
                  <a:extLst>
                    <a:ext uri="{9D8B030D-6E8A-4147-A177-3AD203B41FA5}">
                      <a16:colId xmlns:a16="http://schemas.microsoft.com/office/drawing/2014/main" val="1121317497"/>
                    </a:ext>
                  </a:extLst>
                </a:gridCol>
                <a:gridCol w="1111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88">
                  <a:extLst>
                    <a:ext uri="{9D8B030D-6E8A-4147-A177-3AD203B41FA5}">
                      <a16:colId xmlns:a16="http://schemas.microsoft.com/office/drawing/2014/main" val="1653925218"/>
                    </a:ext>
                  </a:extLst>
                </a:gridCol>
                <a:gridCol w="1477648">
                  <a:extLst>
                    <a:ext uri="{9D8B030D-6E8A-4147-A177-3AD203B41FA5}">
                      <a16:colId xmlns:a16="http://schemas.microsoft.com/office/drawing/2014/main" val="3660599846"/>
                    </a:ext>
                  </a:extLst>
                </a:gridCol>
              </a:tblGrid>
              <a:tr h="3982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牛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ID</a:t>
                      </a:r>
                      <a:endParaRPr lang="zh-CN" altLang="en-US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D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行为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D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地点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D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时间</a:t>
                      </a:r>
                      <a:endParaRPr lang="zh-CN" altLang="en-US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D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备注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758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NMGNC1_01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出生</a:t>
                      </a: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经度、纬度</a:t>
                      </a: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2015.1.1</a:t>
                      </a: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b="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农场牛棚</a:t>
                      </a: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75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3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NMGNC1_01</a:t>
                      </a:r>
                      <a:endParaRPr kumimoji="0" lang="zh-CN" altLang="en-US" sz="13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放牧</a:t>
                      </a: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经度、纬度</a:t>
                      </a: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2016.2.3</a:t>
                      </a: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b="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黄河</a:t>
                      </a: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75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NMGNC1_01</a:t>
                      </a:r>
                      <a:endParaRPr kumimoji="0" lang="zh-CN" altLang="en-US" sz="13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放牧</a:t>
                      </a: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经度、纬度</a:t>
                      </a: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2017.5.6</a:t>
                      </a: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贺兰山</a:t>
                      </a: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75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3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NMGNC1_01</a:t>
                      </a:r>
                      <a:endParaRPr kumimoji="0" lang="zh-CN" altLang="en-US" sz="13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rgbClr val="000066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753088"/>
                  </a:ext>
                </a:extLst>
              </a:tr>
              <a:tr h="27875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NMGNC1_01</a:t>
                      </a:r>
                      <a:endParaRPr kumimoji="0" lang="zh-CN" altLang="en-US" sz="13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出栏</a:t>
                      </a: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经度、纬度</a:t>
                      </a:r>
                      <a:endParaRPr lang="zh-CN" alt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2018.12.1</a:t>
                      </a:r>
                      <a:endParaRPr lang="zh-CN" alt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农场屠宰场</a:t>
                      </a:r>
                      <a:endParaRPr lang="zh-CN" alt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2102015"/>
                  </a:ext>
                </a:extLst>
              </a:tr>
              <a:tr h="27875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NMGNC1_01</a:t>
                      </a:r>
                      <a:endParaRPr kumimoji="0" lang="zh-CN" altLang="en-US" sz="13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生产</a:t>
                      </a: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经度、纬度</a:t>
                      </a:r>
                      <a:endParaRPr lang="zh-CN" alt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2018.12.1</a:t>
                      </a:r>
                      <a:endParaRPr lang="zh-CN" alt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批次号：</a:t>
                      </a:r>
                      <a:r>
                        <a:rPr lang="en-US" altLang="zh-CN" sz="1400" b="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RN_001</a:t>
                      </a:r>
                      <a:endParaRPr lang="zh-CN" alt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2910479"/>
                  </a:ext>
                </a:extLst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799561" y="1854525"/>
            <a:ext cx="9380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农场主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内蒙古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8" name="矩形 17"/>
          <p:cNvSpPr/>
          <p:nvPr/>
        </p:nvSpPr>
        <p:spPr>
          <a:xfrm>
            <a:off x="2456823" y="2483559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账本</a:t>
            </a:r>
            <a:endParaRPr lang="zh-CN" altLang="en-US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FB34032-6C67-4C20-900B-463D08B96B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3512" y="3265920"/>
            <a:ext cx="1915563" cy="129300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2A5864E2-247F-4EA7-832B-DF21EBD2A81E}"/>
              </a:ext>
            </a:extLst>
          </p:cNvPr>
          <p:cNvSpPr/>
          <p:nvPr/>
        </p:nvSpPr>
        <p:spPr>
          <a:xfrm>
            <a:off x="8275061" y="4155926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区块链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6A3B7E1-E341-447B-BE8E-5316517B8C64}"/>
              </a:ext>
            </a:extLst>
          </p:cNvPr>
          <p:cNvSpPr/>
          <p:nvPr/>
        </p:nvSpPr>
        <p:spPr bwMode="gray">
          <a:xfrm>
            <a:off x="-40227" y="2724291"/>
            <a:ext cx="6233504" cy="2376264"/>
          </a:xfrm>
          <a:prstGeom prst="ellipse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ECB4BC3-15E4-4E88-8C39-C188CC0E57BC}"/>
              </a:ext>
            </a:extLst>
          </p:cNvPr>
          <p:cNvCxnSpPr>
            <a:cxnSpLocks/>
          </p:cNvCxnSpPr>
          <p:nvPr/>
        </p:nvCxnSpPr>
        <p:spPr>
          <a:xfrm flipV="1">
            <a:off x="5683120" y="3912423"/>
            <a:ext cx="1516671" cy="1"/>
          </a:xfrm>
          <a:prstGeom prst="straightConnector1">
            <a:avLst/>
          </a:prstGeom>
          <a:ln w="31750" cmpd="dbl">
            <a:solidFill>
              <a:srgbClr val="000078"/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4273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611560" y="195486"/>
            <a:ext cx="5832700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/>
              <a:t>农产品溯源</a:t>
            </a:r>
          </a:p>
        </p:txBody>
      </p:sp>
      <p:sp>
        <p:nvSpPr>
          <p:cNvPr id="8" name="矩形 48"/>
          <p:cNvSpPr/>
          <p:nvPr/>
        </p:nvSpPr>
        <p:spPr>
          <a:xfrm>
            <a:off x="611560" y="1052736"/>
            <a:ext cx="7399734" cy="45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6213" marR="0" lvl="1" indent="-176213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23"/>
              </a:spcAft>
              <a:buClr>
                <a:srgbClr val="002060"/>
              </a:buClr>
              <a:buSzTx/>
              <a:buFont typeface="Wingdings" panose="05000000000000000000" pitchFamily="2" charset="2"/>
              <a:buChar char="n"/>
              <a:tabLst>
                <a:tab pos="2893219" algn="l"/>
              </a:tabLst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农产品溯源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存证（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2/3)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1728350"/>
            <a:ext cx="1422136" cy="822922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2915816" y="1563412"/>
            <a:ext cx="6056142" cy="1445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  <a:spcBef>
                <a:spcPts val="0"/>
              </a:spcBef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买方下单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运输企业受买方委托，将牛肉运输到指定仓库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25000"/>
              </a:lnSpc>
              <a:spcBef>
                <a:spcPts val="0"/>
              </a:spcBef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③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将运输情况记录到“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账本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”上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25000"/>
              </a:lnSpc>
              <a:spcBef>
                <a:spcPts val="0"/>
              </a:spcBef>
            </a:pP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④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把账本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信息记录在“区块链”上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78168" y="186790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运输企业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XX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4311607D-823A-454A-92F9-2D4FB8EDA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075458"/>
              </p:ext>
            </p:extLst>
          </p:nvPr>
        </p:nvGraphicFramePr>
        <p:xfrm>
          <a:off x="133829" y="3219822"/>
          <a:ext cx="5520028" cy="126299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571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6847">
                  <a:extLst>
                    <a:ext uri="{9D8B030D-6E8A-4147-A177-3AD203B41FA5}">
                      <a16:colId xmlns:a16="http://schemas.microsoft.com/office/drawing/2014/main" val="1121317497"/>
                    </a:ext>
                  </a:extLst>
                </a:gridCol>
                <a:gridCol w="8757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6847">
                  <a:extLst>
                    <a:ext uri="{9D8B030D-6E8A-4147-A177-3AD203B41FA5}">
                      <a16:colId xmlns:a16="http://schemas.microsoft.com/office/drawing/2014/main" val="296496527"/>
                    </a:ext>
                  </a:extLst>
                </a:gridCol>
                <a:gridCol w="729830">
                  <a:extLst>
                    <a:ext uri="{9D8B030D-6E8A-4147-A177-3AD203B41FA5}">
                      <a16:colId xmlns:a16="http://schemas.microsoft.com/office/drawing/2014/main" val="1394259800"/>
                    </a:ext>
                  </a:extLst>
                </a:gridCol>
                <a:gridCol w="656847">
                  <a:extLst>
                    <a:ext uri="{9D8B030D-6E8A-4147-A177-3AD203B41FA5}">
                      <a16:colId xmlns:a16="http://schemas.microsoft.com/office/drawing/2014/main" val="1584414595"/>
                    </a:ext>
                  </a:extLst>
                </a:gridCol>
                <a:gridCol w="656847">
                  <a:extLst>
                    <a:ext uri="{9D8B030D-6E8A-4147-A177-3AD203B41FA5}">
                      <a16:colId xmlns:a16="http://schemas.microsoft.com/office/drawing/2014/main" val="2426703878"/>
                    </a:ext>
                  </a:extLst>
                </a:gridCol>
                <a:gridCol w="729830">
                  <a:extLst>
                    <a:ext uri="{9D8B030D-6E8A-4147-A177-3AD203B41FA5}">
                      <a16:colId xmlns:a16="http://schemas.microsoft.com/office/drawing/2014/main" val="129440371"/>
                    </a:ext>
                  </a:extLst>
                </a:gridCol>
              </a:tblGrid>
              <a:tr h="3982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车辆</a:t>
                      </a:r>
                      <a:endParaRPr lang="en-US" alt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号牌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D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驾驶员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D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机动车</a:t>
                      </a:r>
                      <a:endParaRPr lang="en-US" alt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出厂编号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D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订单号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D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生产</a:t>
                      </a:r>
                      <a:endParaRPr lang="en-US" alt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批次号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D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出发地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D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目的地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D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时间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75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xxx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xxx</a:t>
                      </a: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xxx</a:t>
                      </a: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xxx</a:t>
                      </a: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RN_001</a:t>
                      </a:r>
                      <a:endParaRPr lang="zh-CN" altLang="en-US" sz="14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包头</a:t>
                      </a: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北京</a:t>
                      </a: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2019.1.2</a:t>
                      </a: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75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3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75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3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3" name="图片 12">
            <a:extLst>
              <a:ext uri="{FF2B5EF4-FFF2-40B4-BE49-F238E27FC236}">
                <a16:creationId xmlns:a16="http://schemas.microsoft.com/office/drawing/2014/main" id="{9B07BE6E-014D-4642-83E6-3581A9F51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3512" y="3265920"/>
            <a:ext cx="1915563" cy="129300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8DB51AFD-E4A3-494F-BC72-0CC24DC2D81A}"/>
              </a:ext>
            </a:extLst>
          </p:cNvPr>
          <p:cNvSpPr/>
          <p:nvPr/>
        </p:nvSpPr>
        <p:spPr>
          <a:xfrm>
            <a:off x="8275061" y="4155926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区块链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6D52A611-1C0C-4A34-88DA-C73570ABB5B2}"/>
              </a:ext>
            </a:extLst>
          </p:cNvPr>
          <p:cNvCxnSpPr>
            <a:cxnSpLocks/>
          </p:cNvCxnSpPr>
          <p:nvPr/>
        </p:nvCxnSpPr>
        <p:spPr>
          <a:xfrm flipV="1">
            <a:off x="5683120" y="3912423"/>
            <a:ext cx="1516671" cy="1"/>
          </a:xfrm>
          <a:prstGeom prst="straightConnector1">
            <a:avLst/>
          </a:prstGeom>
          <a:ln w="31750" cmpd="dbl">
            <a:solidFill>
              <a:srgbClr val="000078"/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663F1032-7E7A-44B1-917E-4DF9586C5A80}"/>
              </a:ext>
            </a:extLst>
          </p:cNvPr>
          <p:cNvSpPr/>
          <p:nvPr/>
        </p:nvSpPr>
        <p:spPr>
          <a:xfrm>
            <a:off x="2570677" y="2907853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账本</a:t>
            </a:r>
          </a:p>
        </p:txBody>
      </p:sp>
    </p:spTree>
    <p:extLst>
      <p:ext uri="{BB962C8B-B14F-4D97-AF65-F5344CB8AC3E}">
        <p14:creationId xmlns:p14="http://schemas.microsoft.com/office/powerpoint/2010/main" val="4076889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611560" y="195486"/>
            <a:ext cx="5832700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/>
              <a:t>农产品溯源</a:t>
            </a:r>
          </a:p>
        </p:txBody>
      </p:sp>
      <p:sp>
        <p:nvSpPr>
          <p:cNvPr id="8" name="矩形 48"/>
          <p:cNvSpPr/>
          <p:nvPr/>
        </p:nvSpPr>
        <p:spPr>
          <a:xfrm>
            <a:off x="611560" y="1052736"/>
            <a:ext cx="739973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6213" marR="0" lvl="1" indent="-176213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23"/>
              </a:spcAft>
              <a:buClr>
                <a:srgbClr val="002060"/>
              </a:buClr>
              <a:buSzTx/>
              <a:buFont typeface="Wingdings" panose="05000000000000000000" pitchFamily="2" charset="2"/>
              <a:buChar char="n"/>
              <a:tabLst>
                <a:tab pos="2893219" algn="l"/>
              </a:tabLst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</a:prst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农产品溯源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存证（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3/3)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207" y="1729821"/>
            <a:ext cx="730902" cy="730902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854366" y="1796915"/>
            <a:ext cx="6174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电商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XX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9" name="矩形 18"/>
          <p:cNvSpPr/>
          <p:nvPr/>
        </p:nvSpPr>
        <p:spPr>
          <a:xfrm>
            <a:off x="2468684" y="1681150"/>
            <a:ext cx="3816424" cy="753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把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进货信息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记录在“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账本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”上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25000"/>
              </a:lnSpc>
              <a:spcBef>
                <a:spcPts val="0"/>
              </a:spcBef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把账本信息记录在“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区块链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”上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4311607D-823A-454A-92F9-2D4FB8EDA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198815"/>
              </p:ext>
            </p:extLst>
          </p:nvPr>
        </p:nvGraphicFramePr>
        <p:xfrm>
          <a:off x="35515" y="3219822"/>
          <a:ext cx="5616605" cy="126299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32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121317497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96496527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3942598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584414595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717400599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426703878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2944037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251948817"/>
                    </a:ext>
                  </a:extLst>
                </a:gridCol>
              </a:tblGrid>
              <a:tr h="39822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运输</a:t>
                      </a:r>
                      <a:endParaRPr lang="en-US" alt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单号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D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仓库</a:t>
                      </a:r>
                      <a:endParaRPr lang="en-US" alt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编号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D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操作员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D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订单号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D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物品</a:t>
                      </a:r>
                      <a:endParaRPr lang="en-US" alt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类型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D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品名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D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产地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D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生产</a:t>
                      </a:r>
                      <a:endParaRPr lang="en-US" alt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批次号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D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销售</a:t>
                      </a:r>
                      <a:endParaRPr lang="en-US" alt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代码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D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altLang="en-US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758">
                <a:tc>
                  <a:txBody>
                    <a:bodyPr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xxx</a:t>
                      </a: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生鲜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牛肉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内蒙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RN_001</a:t>
                      </a:r>
                      <a:endParaRPr lang="zh-CN" altLang="en-US" sz="140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JDSX111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75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3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75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3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sz="14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7" name="图片 16">
            <a:extLst>
              <a:ext uri="{FF2B5EF4-FFF2-40B4-BE49-F238E27FC236}">
                <a16:creationId xmlns:a16="http://schemas.microsoft.com/office/drawing/2014/main" id="{026168C0-0E4E-4982-BD78-40BE014F7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3512" y="3265920"/>
            <a:ext cx="1915563" cy="1293005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12D7603C-5AC9-495D-9DBA-53012E65B3D9}"/>
              </a:ext>
            </a:extLst>
          </p:cNvPr>
          <p:cNvSpPr/>
          <p:nvPr/>
        </p:nvSpPr>
        <p:spPr>
          <a:xfrm>
            <a:off x="8275061" y="4155926"/>
            <a:ext cx="7232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区块链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05725F0-4B90-47CB-89D3-C7046BC91473}"/>
              </a:ext>
            </a:extLst>
          </p:cNvPr>
          <p:cNvCxnSpPr>
            <a:cxnSpLocks/>
          </p:cNvCxnSpPr>
          <p:nvPr/>
        </p:nvCxnSpPr>
        <p:spPr>
          <a:xfrm flipV="1">
            <a:off x="5683120" y="3912423"/>
            <a:ext cx="1516671" cy="1"/>
          </a:xfrm>
          <a:prstGeom prst="straightConnector1">
            <a:avLst/>
          </a:prstGeom>
          <a:ln w="31750" cmpd="dbl">
            <a:solidFill>
              <a:srgbClr val="000078"/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2B9C9BDF-88B1-4D7F-8B13-CD488AC2DCBB}"/>
              </a:ext>
            </a:extLst>
          </p:cNvPr>
          <p:cNvSpPr/>
          <p:nvPr/>
        </p:nvSpPr>
        <p:spPr>
          <a:xfrm>
            <a:off x="2570677" y="2907853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账本</a:t>
            </a:r>
          </a:p>
        </p:txBody>
      </p:sp>
    </p:spTree>
    <p:extLst>
      <p:ext uri="{BB962C8B-B14F-4D97-AF65-F5344CB8AC3E}">
        <p14:creationId xmlns:p14="http://schemas.microsoft.com/office/powerpoint/2010/main" val="1104011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611560" y="195486"/>
            <a:ext cx="5832700" cy="577618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/>
              <a:t>农产品溯源</a:t>
            </a:r>
          </a:p>
        </p:txBody>
      </p:sp>
      <p:sp>
        <p:nvSpPr>
          <p:cNvPr id="4" name="矩形 48"/>
          <p:cNvSpPr/>
          <p:nvPr/>
        </p:nvSpPr>
        <p:spPr>
          <a:xfrm>
            <a:off x="611560" y="1052736"/>
            <a:ext cx="7399734" cy="45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6213" marR="0" lvl="1" indent="-176213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23"/>
              </a:spcAft>
              <a:buClr>
                <a:srgbClr val="002060"/>
              </a:buClr>
              <a:buSzTx/>
              <a:buFont typeface="Wingdings" panose="05000000000000000000" pitchFamily="2" charset="2"/>
              <a:buChar char="n"/>
              <a:tabLst>
                <a:tab pos="2893219" algn="l"/>
              </a:tabLst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农产品溯源 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–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查证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608050"/>
            <a:ext cx="942975" cy="9334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088" y="3435846"/>
            <a:ext cx="1524000" cy="102870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149261" y="1511516"/>
            <a:ext cx="6085870" cy="21207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XX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电商上准备购买牛肉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9875" lvl="0" indent="-269875">
              <a:lnSpc>
                <a:spcPct val="150000"/>
              </a:lnSpc>
              <a:spcBef>
                <a:spcPts val="0"/>
              </a:spcBef>
              <a:tabLst>
                <a:tab pos="269875" algn="l"/>
              </a:tabLst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XX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提供的查证入口，在区块链上可以看到拟购买批次的牛肉整个生命周期及运输、采购情况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69875" lvl="0" indent="-269875">
              <a:lnSpc>
                <a:spcPct val="150000"/>
              </a:lnSpc>
              <a:spcBef>
                <a:spcPts val="0"/>
              </a:spcBef>
              <a:tabLst>
                <a:tab pos="269875" algn="l"/>
              </a:tabLst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③ 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由于链上保存的数据无法篡改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，因此可以确认该牛肉的产地及采购、供应情况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4" name="肘形连接符 13"/>
          <p:cNvCxnSpPr>
            <a:stCxn id="3" idx="2"/>
            <a:endCxn id="6" idx="1"/>
          </p:cNvCxnSpPr>
          <p:nvPr/>
        </p:nvCxnSpPr>
        <p:spPr>
          <a:xfrm rot="16200000" flipH="1">
            <a:off x="2699240" y="1285348"/>
            <a:ext cx="1408696" cy="3921000"/>
          </a:xfrm>
          <a:prstGeom prst="bentConnector2">
            <a:avLst/>
          </a:prstGeom>
          <a:ln w="28575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3437" y="3679282"/>
            <a:ext cx="647700" cy="6762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1488" y="3786273"/>
            <a:ext cx="327844" cy="327844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50" y="3568884"/>
            <a:ext cx="695325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25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D3C11C-0CE1-2605-EC19-01F556D2F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9A5A49-EE6D-14F8-A6F8-9508604F6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hlinkClick r:id="rId2"/>
              </a:rPr>
              <a:t>https://ilab.fudan.edu.cn/blockchain/login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区块链交互实验网址</a:t>
            </a:r>
          </a:p>
        </p:txBody>
      </p:sp>
    </p:spTree>
    <p:extLst>
      <p:ext uri="{BB962C8B-B14F-4D97-AF65-F5344CB8AC3E}">
        <p14:creationId xmlns:p14="http://schemas.microsoft.com/office/powerpoint/2010/main" val="1458261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自定义 3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CC0000"/>
      </a:accent1>
      <a:accent2>
        <a:srgbClr val="D34817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spDef>
      <a:spPr bwMode="gray">
        <a:gradFill rotWithShape="1">
          <a:gsLst>
            <a:gs pos="0">
              <a:schemeClr val="folHlink">
                <a:gamma/>
                <a:shade val="72549"/>
                <a:invGamma/>
              </a:schemeClr>
            </a:gs>
            <a:gs pos="50000">
              <a:schemeClr val="folHlink"/>
            </a:gs>
            <a:gs pos="100000">
              <a:schemeClr val="folHlink">
                <a:gamma/>
                <a:shade val="72549"/>
                <a:invGamma/>
              </a:schemeClr>
            </a:gs>
          </a:gsLst>
          <a:lin ang="2700000" scaled="1"/>
        </a:gradFill>
        <a:ln w="9525">
          <a:noFill/>
          <a:miter lim="800000"/>
          <a:headEnd/>
          <a:tailEnd/>
        </a:ln>
        <a:effectLst/>
      </a:spPr>
      <a:bodyPr wrap="none" anchor="ctr"/>
      <a:lstStyle>
        <a:defPPr algn="ctr" eaLnBrk="0" hangingPunct="0">
          <a:defRPr sz="1400" b="1" dirty="0"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模板ppt.pptx" id="{0CF83854-50F9-4A05-AC3E-F0D8A78CEE97}" vid="{AE9FA267-1D14-46AF-B303-D9446FC845D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114582</TotalTime>
  <Words>2760</Words>
  <Application>Microsoft Office PowerPoint</Application>
  <PresentationFormat>全屏显示(16:9)</PresentationFormat>
  <Paragraphs>505</Paragraphs>
  <Slides>23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黑体</vt:lpstr>
      <vt:lpstr>华文中宋</vt:lpstr>
      <vt:lpstr>楷体</vt:lpstr>
      <vt:lpstr>宋体</vt:lpstr>
      <vt:lpstr>微软雅黑</vt:lpstr>
      <vt:lpstr>Arial</vt:lpstr>
      <vt:lpstr>Calibri</vt:lpstr>
      <vt:lpstr>Euphemia</vt:lpstr>
      <vt:lpstr>Times New Roman</vt:lpstr>
      <vt:lpstr>Wingdings</vt:lpstr>
      <vt:lpstr>Wingdings 2</vt:lpstr>
      <vt:lpstr>学术文献 16x9</vt:lpstr>
      <vt:lpstr>大学计算机        ——区块链基本原理与应用</vt:lpstr>
      <vt:lpstr> 区块链基本原理与应用</vt:lpstr>
      <vt:lpstr> 一、从比特币说起</vt:lpstr>
      <vt:lpstr> 一、从比特币说起</vt:lpstr>
      <vt:lpstr> 一、从比特币说起</vt:lpstr>
      <vt:lpstr> 三、从比特币说起</vt:lpstr>
      <vt:lpstr> 一、从比特币说起</vt:lpstr>
      <vt:lpstr> 一、从比特币说起</vt:lpstr>
      <vt:lpstr> 一、从比特币说起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三、区块链应用</vt:lpstr>
      <vt:lpstr>  三、区块链应用</vt:lpstr>
      <vt:lpstr>农产品溯源</vt:lpstr>
      <vt:lpstr>农产品溯源</vt:lpstr>
      <vt:lpstr>农产品溯源</vt:lpstr>
      <vt:lpstr>农产品溯源</vt:lpstr>
      <vt:lpstr>农产品溯源</vt:lpstr>
      <vt:lpstr>PowerPoint 演示文稿</vt:lpstr>
    </vt:vector>
  </TitlesOfParts>
  <Company>TJ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TJ</dc:creator>
  <cp:lastModifiedBy>慧 何</cp:lastModifiedBy>
  <cp:revision>1580</cp:revision>
  <dcterms:created xsi:type="dcterms:W3CDTF">2011-03-18T03:47:09Z</dcterms:created>
  <dcterms:modified xsi:type="dcterms:W3CDTF">2026-01-08T15:48:15Z</dcterms:modified>
</cp:coreProperties>
</file>