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5098" r:id="rId1"/>
  </p:sldMasterIdLst>
  <p:notesMasterIdLst>
    <p:notesMasterId r:id="rId85"/>
  </p:notesMasterIdLst>
  <p:handoutMasterIdLst>
    <p:handoutMasterId r:id="rId86"/>
  </p:handoutMasterIdLst>
  <p:sldIdLst>
    <p:sldId id="556" r:id="rId2"/>
    <p:sldId id="1350" r:id="rId3"/>
    <p:sldId id="1352" r:id="rId4"/>
    <p:sldId id="1355" r:id="rId5"/>
    <p:sldId id="1354" r:id="rId6"/>
    <p:sldId id="1356" r:id="rId7"/>
    <p:sldId id="1438" r:id="rId8"/>
    <p:sldId id="1374" r:id="rId9"/>
    <p:sldId id="1375" r:id="rId10"/>
    <p:sldId id="1373" r:id="rId11"/>
    <p:sldId id="1376" r:id="rId12"/>
    <p:sldId id="1424" r:id="rId13"/>
    <p:sldId id="1439" r:id="rId14"/>
    <p:sldId id="1365" r:id="rId15"/>
    <p:sldId id="1357" r:id="rId16"/>
    <p:sldId id="1362" r:id="rId17"/>
    <p:sldId id="1370" r:id="rId18"/>
    <p:sldId id="1368" r:id="rId19"/>
    <p:sldId id="1369" r:id="rId20"/>
    <p:sldId id="1360" r:id="rId21"/>
    <p:sldId id="1363" r:id="rId22"/>
    <p:sldId id="1364" r:id="rId23"/>
    <p:sldId id="1463" r:id="rId24"/>
    <p:sldId id="1419" r:id="rId25"/>
    <p:sldId id="1427" r:id="rId26"/>
    <p:sldId id="1442" r:id="rId27"/>
    <p:sldId id="1451" r:id="rId28"/>
    <p:sldId id="1441" r:id="rId29"/>
    <p:sldId id="1465" r:id="rId30"/>
    <p:sldId id="1423" r:id="rId31"/>
    <p:sldId id="1464" r:id="rId32"/>
    <p:sldId id="1380" r:id="rId33"/>
    <p:sldId id="1449" r:id="rId34"/>
    <p:sldId id="1448" r:id="rId35"/>
    <p:sldId id="1443" r:id="rId36"/>
    <p:sldId id="1445" r:id="rId37"/>
    <p:sldId id="1452" r:id="rId38"/>
    <p:sldId id="1450" r:id="rId39"/>
    <p:sldId id="1417" r:id="rId40"/>
    <p:sldId id="1384" r:id="rId41"/>
    <p:sldId id="1388" r:id="rId42"/>
    <p:sldId id="1453" r:id="rId43"/>
    <p:sldId id="1385" r:id="rId44"/>
    <p:sldId id="1455" r:id="rId45"/>
    <p:sldId id="1454" r:id="rId46"/>
    <p:sldId id="1398" r:id="rId47"/>
    <p:sldId id="1400" r:id="rId48"/>
    <p:sldId id="1403" r:id="rId49"/>
    <p:sldId id="1410" r:id="rId50"/>
    <p:sldId id="1456" r:id="rId51"/>
    <p:sldId id="1457" r:id="rId52"/>
    <p:sldId id="1458" r:id="rId53"/>
    <p:sldId id="1396" r:id="rId54"/>
    <p:sldId id="1397" r:id="rId55"/>
    <p:sldId id="1466" r:id="rId56"/>
    <p:sldId id="1392" r:id="rId57"/>
    <p:sldId id="1393" r:id="rId58"/>
    <p:sldId id="1394" r:id="rId59"/>
    <p:sldId id="1395" r:id="rId60"/>
    <p:sldId id="1413" r:id="rId61"/>
    <p:sldId id="1414" r:id="rId62"/>
    <p:sldId id="1415" r:id="rId63"/>
    <p:sldId id="1416" r:id="rId64"/>
    <p:sldId id="1437" r:id="rId65"/>
    <p:sldId id="1425" r:id="rId66"/>
    <p:sldId id="1428" r:id="rId67"/>
    <p:sldId id="1429" r:id="rId68"/>
    <p:sldId id="1430" r:id="rId69"/>
    <p:sldId id="1431" r:id="rId70"/>
    <p:sldId id="1434" r:id="rId71"/>
    <p:sldId id="1436" r:id="rId72"/>
    <p:sldId id="1390" r:id="rId73"/>
    <p:sldId id="1461" r:id="rId74"/>
    <p:sldId id="1411" r:id="rId75"/>
    <p:sldId id="1412" r:id="rId76"/>
    <p:sldId id="1418" r:id="rId77"/>
    <p:sldId id="1389" r:id="rId78"/>
    <p:sldId id="1462" r:id="rId79"/>
    <p:sldId id="1459" r:id="rId80"/>
    <p:sldId id="1407" r:id="rId81"/>
    <p:sldId id="1404" r:id="rId82"/>
    <p:sldId id="1405" r:id="rId83"/>
    <p:sldId id="1460" r:id="rId84"/>
  </p:sldIdLst>
  <p:sldSz cx="9144000" cy="5143500" type="screen16x9"/>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A50021"/>
    <a:srgbClr val="000066"/>
    <a:srgbClr val="CCFFFF"/>
    <a:srgbClr val="CCFFCC"/>
    <a:srgbClr val="66CCFF"/>
    <a:srgbClr val="CCECFF"/>
    <a:srgbClr val="FF0000"/>
    <a:srgbClr val="000078"/>
    <a:srgbClr val="50DFFC"/>
    <a:srgbClr val="67B3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75" autoAdjust="0"/>
    <p:restoredTop sz="82823" autoAdjust="0"/>
  </p:normalViewPr>
  <p:slideViewPr>
    <p:cSldViewPr>
      <p:cViewPr varScale="1">
        <p:scale>
          <a:sx n="72" d="100"/>
          <a:sy n="72" d="100"/>
        </p:scale>
        <p:origin x="722" y="36"/>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11920"/>
    </p:cViewPr>
  </p:sorterViewPr>
  <p:notesViewPr>
    <p:cSldViewPr>
      <p:cViewPr>
        <p:scale>
          <a:sx n="81" d="100"/>
          <a:sy n="81" d="100"/>
        </p:scale>
        <p:origin x="1192" y="4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ea typeface="宋体" charset="-122"/>
              </a:defRPr>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atin typeface="Arial" charset="0"/>
                <a:ea typeface="宋体" charset="-122"/>
              </a:defRPr>
            </a:lvl1pPr>
          </a:lstStyle>
          <a:p>
            <a:pPr>
              <a:defRPr/>
            </a:pPr>
            <a:fld id="{A3342D32-58E9-4211-BE97-B0C4DA1FDFE0}" type="datetimeFigureOut">
              <a:rPr lang="zh-CN" altLang="en-US"/>
              <a:pPr>
                <a:defRPr/>
              </a:pPr>
              <a:t>2025/12/24</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atin typeface="Arial" charset="0"/>
                <a:ea typeface="宋体" charset="-122"/>
              </a:defRPr>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atin typeface="Arial" charset="0"/>
                <a:ea typeface="宋体" charset="-122"/>
              </a:defRPr>
            </a:lvl1pPr>
          </a:lstStyle>
          <a:p>
            <a:pPr>
              <a:defRPr/>
            </a:pPr>
            <a:fld id="{CAD971E3-3ED1-491A-A2D7-F911BB3808DB}" type="slidenum">
              <a:rPr lang="zh-CN" altLang="en-US"/>
              <a:pPr>
                <a:defRPr/>
              </a:pPr>
              <a:t>‹#›</a:t>
            </a:fld>
            <a:endParaRPr lang="zh-CN" altLang="en-US"/>
          </a:p>
        </p:txBody>
      </p:sp>
    </p:spTree>
    <p:extLst>
      <p:ext uri="{BB962C8B-B14F-4D97-AF65-F5344CB8AC3E}">
        <p14:creationId xmlns:p14="http://schemas.microsoft.com/office/powerpoint/2010/main" val="3693765136"/>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03T01:54:31.061"/>
    </inkml:context>
    <inkml:brush xml:id="br0">
      <inkml:brushProperty name="width" value="0.05" units="cm"/>
      <inkml:brushProperty name="height" value="0.05" units="cm"/>
      <inkml:brushProperty name="ignorePressure" value="1"/>
    </inkml:brush>
  </inkml:definitions>
  <inkml:trace contextRef="#ctx0" brushRef="#br0">1 9,'0'-3,"0"-3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03T01:54:54.361"/>
    </inkml:context>
    <inkml:brush xml:id="br0">
      <inkml:brushProperty name="width" value="0.05" units="cm"/>
      <inkml:brushProperty name="height" value="0.05" units="cm"/>
      <inkml:brushProperty name="ignorePressure" value="1"/>
    </inkml:brush>
  </inkml:definitions>
  <inkml:trace contextRef="#ctx0" brushRef="#br0">1 44,'0'-4,"0"-6,0-5,0 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03T01:54:54.874"/>
    </inkml:context>
    <inkml:brush xml:id="br0">
      <inkml:brushProperty name="width" value="0.05" units="cm"/>
      <inkml:brushProperty name="height" value="0.05" units="cm"/>
      <inkml:brushProperty name="ignorePressure" value="1"/>
    </inkml:brush>
  </inkml:definitions>
  <inkml:trace contextRef="#ctx0" brushRef="#br0">0 10,'0'-4,"0"-2</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03T01:54:56.845"/>
    </inkml:context>
    <inkml:brush xml:id="br0">
      <inkml:brushProperty name="width" value="0.05" units="cm"/>
      <inkml:brushProperty name="height" value="0.05" units="cm"/>
      <inkml:brushProperty name="ignorePressure" value="1"/>
    </inkml:brush>
  </inkml:definitions>
  <inkml:trace contextRef="#ctx0" brushRef="#br0">0 10,'0'-4,"0"-1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03T01:55:00.885"/>
    </inkml:context>
    <inkml:brush xml:id="br0">
      <inkml:brushProperty name="width" value="0.05" units="cm"/>
      <inkml:brushProperty name="height" value="0.05" units="cm"/>
      <inkml:brushProperty name="ignorePressure" value="1"/>
    </inkml:brush>
  </inkml:definitions>
  <inkml:trace contextRef="#ctx0" brushRef="#br0">1 11,'0'-4,"0"-2</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03T01:55:01.397"/>
    </inkml:context>
    <inkml:brush xml:id="br0">
      <inkml:brushProperty name="width" value="0.05" units="cm"/>
      <inkml:brushProperty name="height" value="0.05" units="cm"/>
      <inkml:brushProperty name="ignorePressure" value="1"/>
    </inkml:brush>
  </inkml:definitions>
  <inkml:trace contextRef="#ctx0" brushRef="#br0">0 1,'0'0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03T01:55:14.935"/>
    </inkml:context>
    <inkml:brush xml:id="br0">
      <inkml:brushProperty name="width" value="0.05" units="cm"/>
      <inkml:brushProperty name="height" value="0.05" units="cm"/>
      <inkml:brushProperty name="ignorePressure" value="1"/>
    </inkml:brush>
  </inkml:definitions>
  <inkml:trace contextRef="#ctx0" brushRef="#br0">0 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3F8683A4-79EA-4C8F-8F8E-7AEDDA4FAD9E}" type="datetimeFigureOut">
              <a:rPr lang="zh-CN" altLang="en-US"/>
              <a:pPr>
                <a:defRPr/>
              </a:pPr>
              <a:t>2025/12/24</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1"/>
            <a:r>
              <a:rPr lang="zh-CN" altLang="en-US" noProof="0"/>
              <a:t>比喻强调了教师知识储备和能力要求，一桶水都不够用，应该是自来水，</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A611BFF4-1710-4AF3-AE92-5EDA45BDA416}" type="slidenum">
              <a:rPr lang="zh-CN" altLang="en-US"/>
              <a:pPr>
                <a:defRPr/>
              </a:pPr>
              <a:t>‹#›</a:t>
            </a:fld>
            <a:endParaRPr lang="zh-CN" altLang="en-US"/>
          </a:p>
        </p:txBody>
      </p:sp>
    </p:spTree>
    <p:extLst>
      <p:ext uri="{BB962C8B-B14F-4D97-AF65-F5344CB8AC3E}">
        <p14:creationId xmlns:p14="http://schemas.microsoft.com/office/powerpoint/2010/main" val="3369498361"/>
      </p:ext>
    </p:extLst>
  </p:cSld>
  <p:clrMap bg1="lt1" tx1="dk1" bg2="lt2" tx2="dk2" accent1="accent1" accent2="accent2" accent3="accent3" accent4="accent4" accent5="accent5" accent6="accent6" hlink="hlink" folHlink="folHlink"/>
  <p:notesStyle>
    <a:lvl1pPr marL="342900" indent="-342900"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lang="zh-CN" altLang="en-US" sz="1200" kern="1200">
        <a:solidFill>
          <a:schemeClr val="tx1"/>
        </a:solidFill>
        <a:latin typeface="+mn-lt"/>
        <a:ea typeface="+mn-ea"/>
        <a:cs typeface="+mn-cs"/>
      </a:defRPr>
    </a:lvl2pPr>
    <a:lvl3pPr marL="1143000" indent="-228600" algn="l" rtl="0" eaLnBrk="0" fontAlgn="base" hangingPunct="0">
      <a:spcBef>
        <a:spcPct val="30000"/>
      </a:spcBef>
      <a:spcAft>
        <a:spcPct val="0"/>
      </a:spcAft>
      <a:defRPr sz="1200" kern="1200">
        <a:solidFill>
          <a:schemeClr val="tx1"/>
        </a:solidFill>
        <a:latin typeface="+mn-lt"/>
        <a:ea typeface="+mn-ea"/>
        <a:cs typeface="+mn-cs"/>
      </a:defRPr>
    </a:lvl3pPr>
    <a:lvl4pPr marL="1600200" indent="-228600" algn="l" rtl="0" eaLnBrk="0" fontAlgn="base" hangingPunct="0">
      <a:spcBef>
        <a:spcPct val="30000"/>
      </a:spcBef>
      <a:spcAft>
        <a:spcPct val="0"/>
      </a:spcAft>
      <a:defRPr sz="1200" kern="1200">
        <a:solidFill>
          <a:schemeClr val="tx1"/>
        </a:solidFill>
        <a:latin typeface="+mn-lt"/>
        <a:ea typeface="+mn-ea"/>
        <a:cs typeface="+mn-cs"/>
      </a:defRPr>
    </a:lvl4pPr>
    <a:lvl5pPr marL="2057400" indent="-2286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baike.baidu.com/item/CMOS" TargetMode="External"/><Relationship Id="rId2" Type="http://schemas.openxmlformats.org/officeDocument/2006/relationships/slide" Target="../slides/slide15.xml"/><Relationship Id="rId1" Type="http://schemas.openxmlformats.org/officeDocument/2006/relationships/notesMaster" Target="../notesMasters/notesMaster1.xml"/><Relationship Id="rId4" Type="http://schemas.openxmlformats.org/officeDocument/2006/relationships/hyperlink" Target="https://baike.baidu.com/item/CCD"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 name="灯片编号占位符 3"/>
          <p:cNvSpPr txBox="1">
            <a:spLocks noGrp="1"/>
          </p:cNvSpPr>
          <p:nvPr/>
        </p:nvSpPr>
        <p:spPr>
          <a:xfrm>
            <a:off x="3884613" y="8685213"/>
            <a:ext cx="2971800" cy="457200"/>
          </a:xfrm>
          <a:prstGeom prst="rect">
            <a:avLst/>
          </a:prstGeom>
          <a:noFill/>
        </p:spPr>
        <p:txBody>
          <a:bodyPr anchor="b"/>
          <a:lstStyle/>
          <a:p>
            <a:pPr algn="r" fontAlgn="auto">
              <a:spcBef>
                <a:spcPts val="0"/>
              </a:spcBef>
              <a:spcAft>
                <a:spcPts val="0"/>
              </a:spcAft>
              <a:defRPr/>
            </a:pPr>
            <a:fld id="{DEE459AD-631C-4859-A2C6-036CD530E7D2}" type="slidenum">
              <a:rPr lang="zh-CN" altLang="en-US" sz="1200">
                <a:latin typeface="+mn-lt"/>
                <a:ea typeface="+mn-ea"/>
              </a:rPr>
              <a:pPr algn="r" fontAlgn="auto">
                <a:spcBef>
                  <a:spcPts val="0"/>
                </a:spcBef>
                <a:spcAft>
                  <a:spcPts val="0"/>
                </a:spcAft>
                <a:defRPr/>
              </a:pPr>
              <a:t>1</a:t>
            </a:fld>
            <a:endParaRPr lang="zh-CN" altLang="en-US" sz="1200">
              <a:latin typeface="+mn-lt"/>
              <a:ea typeface="+mn-ea"/>
            </a:endParaRPr>
          </a:p>
        </p:txBody>
      </p:sp>
    </p:spTree>
    <p:extLst>
      <p:ext uri="{BB962C8B-B14F-4D97-AF65-F5344CB8AC3E}">
        <p14:creationId xmlns:p14="http://schemas.microsoft.com/office/powerpoint/2010/main" val="37397411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2</a:t>
            </a:fld>
            <a:endParaRPr lang="zh-CN" altLang="en-US"/>
          </a:p>
        </p:txBody>
      </p:sp>
    </p:spTree>
    <p:extLst>
      <p:ext uri="{BB962C8B-B14F-4D97-AF65-F5344CB8AC3E}">
        <p14:creationId xmlns:p14="http://schemas.microsoft.com/office/powerpoint/2010/main" val="1833485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50000"/>
              </a:lnSpc>
              <a:spcBef>
                <a:spcPts val="0"/>
              </a:spcBef>
              <a:buNone/>
            </a:pPr>
            <a:r>
              <a:rPr lang="zh-CN" altLang="en-US"/>
              <a:t>图灵测试：</a:t>
            </a:r>
            <a:r>
              <a:rPr lang="zh-CN" altLang="zh-CN"/>
              <a:t>一个人在不接触对方的情况下，通过一种特殊的方式，和对方进行一系列的问答，如果在相当长时间内，他无法根据这些问题判断对方是人还是计算机，那么就可以认为这个计算机具有同人相当的智力，即这台计算机是能思维的。</a:t>
            </a:r>
            <a:endParaRPr lang="en-US" altLang="zh-CN" sz="1400">
              <a:solidFill>
                <a:srgbClr val="000066"/>
              </a:solidFill>
              <a:latin typeface="Times New Roman" panose="02020603050405020304" pitchFamily="18" charset="0"/>
              <a:cs typeface="Times New Roman" panose="02020603050405020304" pitchFamily="18" charset="0"/>
            </a:endParaRPr>
          </a:p>
          <a:p>
            <a:endParaRPr lang="zh-CN" altLang="en-US"/>
          </a:p>
          <a:p>
            <a:endParaRPr lang="zh-CN" altLang="en-US"/>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3</a:t>
            </a:fld>
            <a:endParaRPr lang="zh-CN" altLang="en-US"/>
          </a:p>
        </p:txBody>
      </p:sp>
    </p:spTree>
    <p:extLst>
      <p:ext uri="{BB962C8B-B14F-4D97-AF65-F5344CB8AC3E}">
        <p14:creationId xmlns:p14="http://schemas.microsoft.com/office/powerpoint/2010/main" val="13329195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那个年代，的确提出了许多激动人心的想法，但是都没有实现</a:t>
            </a:r>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4</a:t>
            </a:fld>
            <a:endParaRPr lang="zh-CN" altLang="en-US"/>
          </a:p>
        </p:txBody>
      </p:sp>
    </p:spTree>
    <p:extLst>
      <p:ext uri="{BB962C8B-B14F-4D97-AF65-F5344CB8AC3E}">
        <p14:creationId xmlns:p14="http://schemas.microsoft.com/office/powerpoint/2010/main" val="12322787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a:t>
            </a:r>
            <a:r>
              <a:rPr lang="en-US" altLang="zh-CN"/>
              <a:t>1</a:t>
            </a:r>
            <a:r>
              <a:rPr lang="zh-CN" altLang="en-US"/>
              <a:t>）日本“五代机”没有成功</a:t>
            </a:r>
            <a:endParaRPr lang="en-US" altLang="zh-CN"/>
          </a:p>
          <a:p>
            <a:r>
              <a:rPr lang="zh-CN" altLang="en-US"/>
              <a:t>（</a:t>
            </a:r>
            <a:r>
              <a:rPr lang="en-US" altLang="zh-CN"/>
              <a:t>2</a:t>
            </a:r>
            <a:r>
              <a:rPr lang="zh-CN" altLang="en-US"/>
              <a:t>）</a:t>
            </a:r>
            <a:r>
              <a:rPr lang="en-US" altLang="zh-CN"/>
              <a:t>ANN</a:t>
            </a:r>
            <a:r>
              <a:rPr lang="zh-CN" altLang="en-US"/>
              <a:t>刚提出</a:t>
            </a:r>
            <a:endParaRPr lang="en-US" altLang="zh-CN"/>
          </a:p>
          <a:p>
            <a:r>
              <a:rPr lang="zh-CN" altLang="en-US"/>
              <a:t>（</a:t>
            </a:r>
            <a:r>
              <a:rPr lang="en-US" altLang="zh-CN"/>
              <a:t>3</a:t>
            </a:r>
            <a:r>
              <a:rPr lang="zh-CN" altLang="en-US"/>
              <a:t>）专家系统才有实现价值</a:t>
            </a:r>
            <a:br>
              <a:rPr lang="en-US" altLang="zh-CN"/>
            </a:br>
            <a:endParaRPr lang="en-US" altLang="zh-CN"/>
          </a:p>
          <a:p>
            <a:endParaRPr lang="zh-CN" altLang="en-US"/>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5</a:t>
            </a:fld>
            <a:endParaRPr lang="zh-CN" altLang="en-US"/>
          </a:p>
        </p:txBody>
      </p:sp>
    </p:spTree>
    <p:extLst>
      <p:ext uri="{BB962C8B-B14F-4D97-AF65-F5344CB8AC3E}">
        <p14:creationId xmlns:p14="http://schemas.microsoft.com/office/powerpoint/2010/main" val="24865859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6</a:t>
            </a:fld>
            <a:endParaRPr lang="zh-CN" altLang="en-US"/>
          </a:p>
        </p:txBody>
      </p:sp>
    </p:spTree>
    <p:extLst>
      <p:ext uri="{BB962C8B-B14F-4D97-AF65-F5344CB8AC3E}">
        <p14:creationId xmlns:p14="http://schemas.microsoft.com/office/powerpoint/2010/main" val="10145327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7</a:t>
            </a:fld>
            <a:endParaRPr lang="zh-CN" altLang="en-US"/>
          </a:p>
        </p:txBody>
      </p:sp>
    </p:spTree>
    <p:extLst>
      <p:ext uri="{BB962C8B-B14F-4D97-AF65-F5344CB8AC3E}">
        <p14:creationId xmlns:p14="http://schemas.microsoft.com/office/powerpoint/2010/main" val="38043633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8</a:t>
            </a:fld>
            <a:endParaRPr lang="zh-CN" altLang="en-US"/>
          </a:p>
        </p:txBody>
      </p:sp>
    </p:spTree>
    <p:extLst>
      <p:ext uri="{BB962C8B-B14F-4D97-AF65-F5344CB8AC3E}">
        <p14:creationId xmlns:p14="http://schemas.microsoft.com/office/powerpoint/2010/main" val="23915125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9</a:t>
            </a:fld>
            <a:endParaRPr lang="zh-CN" altLang="en-US"/>
          </a:p>
        </p:txBody>
      </p:sp>
    </p:spTree>
    <p:extLst>
      <p:ext uri="{BB962C8B-B14F-4D97-AF65-F5344CB8AC3E}">
        <p14:creationId xmlns:p14="http://schemas.microsoft.com/office/powerpoint/2010/main" val="8834738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10</a:t>
            </a:fld>
            <a:endParaRPr lang="zh-CN" altLang="en-US"/>
          </a:p>
        </p:txBody>
      </p:sp>
    </p:spTree>
    <p:extLst>
      <p:ext uri="{BB962C8B-B14F-4D97-AF65-F5344CB8AC3E}">
        <p14:creationId xmlns:p14="http://schemas.microsoft.com/office/powerpoint/2010/main" val="18618922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11</a:t>
            </a:fld>
            <a:endParaRPr lang="zh-CN" altLang="en-US"/>
          </a:p>
        </p:txBody>
      </p:sp>
    </p:spTree>
    <p:extLst>
      <p:ext uri="{BB962C8B-B14F-4D97-AF65-F5344CB8AC3E}">
        <p14:creationId xmlns:p14="http://schemas.microsoft.com/office/powerpoint/2010/main" val="10124909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12</a:t>
            </a:fld>
            <a:endParaRPr lang="zh-CN" altLang="en-US"/>
          </a:p>
        </p:txBody>
      </p:sp>
    </p:spTree>
    <p:extLst>
      <p:ext uri="{BB962C8B-B14F-4D97-AF65-F5344CB8AC3E}">
        <p14:creationId xmlns:p14="http://schemas.microsoft.com/office/powerpoint/2010/main" val="7716465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kern="12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13</a:t>
            </a:fld>
            <a:endParaRPr lang="zh-CN" altLang="en-US"/>
          </a:p>
        </p:txBody>
      </p:sp>
    </p:spTree>
    <p:extLst>
      <p:ext uri="{BB962C8B-B14F-4D97-AF65-F5344CB8AC3E}">
        <p14:creationId xmlns:p14="http://schemas.microsoft.com/office/powerpoint/2010/main" val="4743191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kern="12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14</a:t>
            </a:fld>
            <a:endParaRPr lang="zh-CN" altLang="en-US"/>
          </a:p>
        </p:txBody>
      </p:sp>
    </p:spTree>
    <p:extLst>
      <p:ext uri="{BB962C8B-B14F-4D97-AF65-F5344CB8AC3E}">
        <p14:creationId xmlns:p14="http://schemas.microsoft.com/office/powerpoint/2010/main" val="32406938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50000"/>
              </a:lnSpc>
              <a:spcBef>
                <a:spcPts val="0"/>
              </a:spcBef>
              <a:buNone/>
            </a:pPr>
            <a:r>
              <a:rPr lang="zh-CN" altLang="en-US" sz="1200" dirty="0"/>
              <a:t>机器视觉系统是指通过图像摄取</a:t>
            </a:r>
            <a:r>
              <a:rPr lang="zh-CN" altLang="en-US" sz="1200" dirty="0">
                <a:latin typeface="Times New Roman" panose="02020603050405020304" pitchFamily="18" charset="0"/>
                <a:cs typeface="Times New Roman" panose="02020603050405020304" pitchFamily="18" charset="0"/>
              </a:rPr>
              <a:t>装置（ </a:t>
            </a:r>
            <a:r>
              <a:rPr lang="en-US" altLang="zh-CN" sz="1200" dirty="0">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CMOS</a:t>
            </a:r>
            <a:r>
              <a:rPr lang="zh-CN" altLang="en-US" sz="1200" dirty="0">
                <a:latin typeface="Times New Roman" panose="02020603050405020304" pitchFamily="18" charset="0"/>
                <a:cs typeface="Times New Roman" panose="02020603050405020304" pitchFamily="18" charset="0"/>
              </a:rPr>
              <a:t> 、</a:t>
            </a:r>
            <a:r>
              <a:rPr lang="en-US" altLang="zh-CN" sz="1200" dirty="0">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CCD</a:t>
            </a:r>
            <a:r>
              <a:rPr lang="zh-CN" altLang="en-US" sz="1200" dirty="0">
                <a:latin typeface="Times New Roman" panose="02020603050405020304" pitchFamily="18" charset="0"/>
                <a:cs typeface="Times New Roman" panose="02020603050405020304" pitchFamily="18" charset="0"/>
              </a:rPr>
              <a:t> ）将被摄取</a:t>
            </a:r>
            <a:r>
              <a:rPr lang="zh-CN" altLang="en-US" sz="1200" dirty="0"/>
              <a:t>目标转换成图像信号，传送给专用的图像处理系统，根据像素分布和亮度、颜色等信息，转变成数字化信号；图像系统对这些信号进行各种运算来抽取目标的特征，进而根据判别的结果来控制现场的设备动作。</a:t>
            </a:r>
            <a:endParaRPr lang="zh-CN" altLang="zh-CN" sz="1200" dirty="0"/>
          </a:p>
          <a:p>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15</a:t>
            </a:fld>
            <a:endParaRPr lang="zh-CN" altLang="en-US"/>
          </a:p>
        </p:txBody>
      </p:sp>
    </p:spTree>
    <p:extLst>
      <p:ext uri="{BB962C8B-B14F-4D97-AF65-F5344CB8AC3E}">
        <p14:creationId xmlns:p14="http://schemas.microsoft.com/office/powerpoint/2010/main" val="25388363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16</a:t>
            </a:fld>
            <a:endParaRPr lang="zh-CN" altLang="en-US"/>
          </a:p>
        </p:txBody>
      </p:sp>
    </p:spTree>
    <p:extLst>
      <p:ext uri="{BB962C8B-B14F-4D97-AF65-F5344CB8AC3E}">
        <p14:creationId xmlns:p14="http://schemas.microsoft.com/office/powerpoint/2010/main" val="20482055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17</a:t>
            </a:fld>
            <a:endParaRPr lang="zh-CN" altLang="en-US"/>
          </a:p>
        </p:txBody>
      </p:sp>
    </p:spTree>
    <p:extLst>
      <p:ext uri="{BB962C8B-B14F-4D97-AF65-F5344CB8AC3E}">
        <p14:creationId xmlns:p14="http://schemas.microsoft.com/office/powerpoint/2010/main" val="14294187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DENDRAL</a:t>
            </a:r>
            <a:r>
              <a:rPr lang="zh-CN" altLang="en-US" dirty="0"/>
              <a:t>：第一个专家系统，美国斯坦福大学的费根鲍姆教授于</a:t>
            </a:r>
            <a:r>
              <a:rPr lang="en-US" altLang="zh-CN" dirty="0"/>
              <a:t>1965</a:t>
            </a:r>
            <a:r>
              <a:rPr lang="zh-CN" altLang="en-US" dirty="0"/>
              <a:t>年开发的。一个化学专家系统，能根据化合物的分子式和质谱数据推断化合物的分子结构。</a:t>
            </a:r>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18</a:t>
            </a:fld>
            <a:endParaRPr lang="zh-CN" altLang="en-US"/>
          </a:p>
        </p:txBody>
      </p:sp>
    </p:spTree>
    <p:extLst>
      <p:ext uri="{BB962C8B-B14F-4D97-AF65-F5344CB8AC3E}">
        <p14:creationId xmlns:p14="http://schemas.microsoft.com/office/powerpoint/2010/main" val="11949564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19</a:t>
            </a:fld>
            <a:endParaRPr lang="zh-CN" altLang="en-US"/>
          </a:p>
        </p:txBody>
      </p:sp>
    </p:spTree>
    <p:extLst>
      <p:ext uri="{BB962C8B-B14F-4D97-AF65-F5344CB8AC3E}">
        <p14:creationId xmlns:p14="http://schemas.microsoft.com/office/powerpoint/2010/main" val="32882900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20</a:t>
            </a:fld>
            <a:endParaRPr lang="zh-CN" altLang="en-US"/>
          </a:p>
        </p:txBody>
      </p:sp>
    </p:spTree>
    <p:extLst>
      <p:ext uri="{BB962C8B-B14F-4D97-AF65-F5344CB8AC3E}">
        <p14:creationId xmlns:p14="http://schemas.microsoft.com/office/powerpoint/2010/main" val="26993616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21</a:t>
            </a:fld>
            <a:endParaRPr lang="zh-CN" altLang="en-US"/>
          </a:p>
        </p:txBody>
      </p:sp>
    </p:spTree>
    <p:extLst>
      <p:ext uri="{BB962C8B-B14F-4D97-AF65-F5344CB8AC3E}">
        <p14:creationId xmlns:p14="http://schemas.microsoft.com/office/powerpoint/2010/main" val="25307905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50000"/>
              </a:lnSpc>
              <a:spcBef>
                <a:spcPts val="0"/>
              </a:spcBef>
              <a:buNone/>
            </a:pPr>
            <a:r>
              <a:rPr lang="zh-CN" altLang="en-US" sz="1200" dirty="0"/>
              <a:t>具体地说，智能机器人具有感知环境的能力，配备有视觉、听觉、触觉 、嗅觉等感觉器官，能从外部环境中获取有关信息；具有思维能力，能对感知到的信息进行处理，以控制自己的行为；具有作用于环境的行为能力，能通过传动机构使自己的“手”“脚”等肢体行动国起来，正确、灵巧地执行思维机构下达的命令</a:t>
            </a:r>
            <a:endParaRPr lang="en-US" altLang="zh-CN" sz="1200" dirty="0"/>
          </a:p>
          <a:p>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22</a:t>
            </a:fld>
            <a:endParaRPr lang="zh-CN" altLang="en-US"/>
          </a:p>
        </p:txBody>
      </p:sp>
    </p:spTree>
    <p:extLst>
      <p:ext uri="{BB962C8B-B14F-4D97-AF65-F5344CB8AC3E}">
        <p14:creationId xmlns:p14="http://schemas.microsoft.com/office/powerpoint/2010/main" val="29523973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50000"/>
              </a:lnSpc>
              <a:spcBef>
                <a:spcPts val="0"/>
              </a:spcBef>
              <a:buNone/>
            </a:pPr>
            <a:r>
              <a:rPr lang="en-US" altLang="zh-CN" sz="1200">
                <a:latin typeface="Times New Roman" panose="02020603050405020304" pitchFamily="18" charset="0"/>
                <a:cs typeface="Times New Roman" panose="02020603050405020304" pitchFamily="18" charset="0"/>
              </a:rPr>
              <a:t>※ Herbert Simon</a:t>
            </a:r>
            <a:r>
              <a:rPr lang="zh-CN" altLang="en-US" sz="1200">
                <a:latin typeface="Times New Roman" panose="02020603050405020304" pitchFamily="18" charset="0"/>
                <a:cs typeface="Times New Roman" panose="02020603050405020304" pitchFamily="18" charset="0"/>
              </a:rPr>
              <a:t>：如果一个系统，能够通过执行某个过程，就此改进它的性能，那个这个过程就是学习，学习的核心目标是改善性能      </a:t>
            </a:r>
            <a:endParaRPr lang="en-US" altLang="zh-CN" sz="120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200">
                <a:latin typeface="Times New Roman" panose="02020603050405020304" pitchFamily="18" charset="0"/>
                <a:cs typeface="Times New Roman" panose="02020603050405020304" pitchFamily="18" charset="0"/>
              </a:rPr>
              <a:t>※ </a:t>
            </a:r>
            <a:r>
              <a:rPr lang="zh-CN" altLang="en-US" sz="1200">
                <a:latin typeface="Times New Roman" panose="02020603050405020304" pitchFamily="18" charset="0"/>
                <a:cs typeface="Times New Roman" panose="02020603050405020304" pitchFamily="18" charset="0"/>
              </a:rPr>
              <a:t>从形式上可以说，在数据中通过统计或推理的方法，寻找一个有关特定输入和预期输出的功能函数</a:t>
            </a:r>
            <a:r>
              <a:rPr lang="en-US" altLang="zh-CN" sz="1200">
                <a:latin typeface="Times New Roman" panose="02020603050405020304" pitchFamily="18" charset="0"/>
                <a:cs typeface="Times New Roman" panose="02020603050405020304" pitchFamily="18" charset="0"/>
              </a:rPr>
              <a:t>f </a:t>
            </a:r>
          </a:p>
          <a:p>
            <a:pPr marL="0" indent="0">
              <a:lnSpc>
                <a:spcPct val="150000"/>
              </a:lnSpc>
              <a:spcBef>
                <a:spcPts val="0"/>
              </a:spcBef>
              <a:buNone/>
            </a:pP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23</a:t>
            </a:fld>
            <a:endParaRPr lang="zh-CN" altLang="en-US"/>
          </a:p>
        </p:txBody>
      </p:sp>
    </p:spTree>
    <p:extLst>
      <p:ext uri="{BB962C8B-B14F-4D97-AF65-F5344CB8AC3E}">
        <p14:creationId xmlns:p14="http://schemas.microsoft.com/office/powerpoint/2010/main" val="24826130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50000"/>
              </a:lnSpc>
              <a:spcBef>
                <a:spcPts val="0"/>
              </a:spcBef>
              <a:buNone/>
            </a:pPr>
            <a:r>
              <a:rPr lang="en-US" altLang="zh-CN" sz="1200">
                <a:latin typeface="Times New Roman" panose="02020603050405020304" pitchFamily="18" charset="0"/>
                <a:cs typeface="Times New Roman" panose="02020603050405020304" pitchFamily="18" charset="0"/>
              </a:rPr>
              <a:t>※ Herbert Simon</a:t>
            </a:r>
            <a:r>
              <a:rPr lang="zh-CN" altLang="en-US" sz="1200">
                <a:latin typeface="Times New Roman" panose="02020603050405020304" pitchFamily="18" charset="0"/>
                <a:cs typeface="Times New Roman" panose="02020603050405020304" pitchFamily="18" charset="0"/>
              </a:rPr>
              <a:t>：如果一个系统，能够通过执行某个过程，就此改进它的性能，那个这个过程就是学习，学习的核心目标是改善性能      </a:t>
            </a:r>
            <a:endParaRPr lang="en-US" altLang="zh-CN" sz="120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200">
                <a:latin typeface="Times New Roman" panose="02020603050405020304" pitchFamily="18" charset="0"/>
                <a:cs typeface="Times New Roman" panose="02020603050405020304" pitchFamily="18" charset="0"/>
              </a:rPr>
              <a:t>※ </a:t>
            </a:r>
            <a:r>
              <a:rPr lang="zh-CN" altLang="en-US" sz="1200">
                <a:latin typeface="Times New Roman" panose="02020603050405020304" pitchFamily="18" charset="0"/>
                <a:cs typeface="Times New Roman" panose="02020603050405020304" pitchFamily="18" charset="0"/>
              </a:rPr>
              <a:t>从形式上可以说，在数据中通过统计或推理的方法，寻找一个有关特定输入和预期输出的功能函数</a:t>
            </a:r>
            <a:r>
              <a:rPr lang="en-US" altLang="zh-CN" sz="1200">
                <a:latin typeface="Times New Roman" panose="02020603050405020304" pitchFamily="18" charset="0"/>
                <a:cs typeface="Times New Roman" panose="02020603050405020304" pitchFamily="18" charset="0"/>
              </a:rPr>
              <a:t>f </a:t>
            </a:r>
          </a:p>
          <a:p>
            <a:pPr marL="0" indent="0">
              <a:lnSpc>
                <a:spcPct val="150000"/>
              </a:lnSpc>
              <a:spcBef>
                <a:spcPts val="0"/>
              </a:spcBef>
              <a:buNone/>
            </a:pP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24</a:t>
            </a:fld>
            <a:endParaRPr lang="zh-CN" altLang="en-US"/>
          </a:p>
        </p:txBody>
      </p:sp>
    </p:spTree>
    <p:extLst>
      <p:ext uri="{BB962C8B-B14F-4D97-AF65-F5344CB8AC3E}">
        <p14:creationId xmlns:p14="http://schemas.microsoft.com/office/powerpoint/2010/main" val="206838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50000"/>
              </a:lnSpc>
              <a:spcBef>
                <a:spcPts val="0"/>
              </a:spcBef>
              <a:buNone/>
            </a:pP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25</a:t>
            </a:fld>
            <a:endParaRPr lang="zh-CN" altLang="en-US"/>
          </a:p>
        </p:txBody>
      </p:sp>
    </p:spTree>
    <p:extLst>
      <p:ext uri="{BB962C8B-B14F-4D97-AF65-F5344CB8AC3E}">
        <p14:creationId xmlns:p14="http://schemas.microsoft.com/office/powerpoint/2010/main" val="11194234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50000"/>
              </a:lnSpc>
              <a:spcBef>
                <a:spcPts val="0"/>
              </a:spcBef>
              <a:buNone/>
            </a:pP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26</a:t>
            </a:fld>
            <a:endParaRPr lang="zh-CN" altLang="en-US"/>
          </a:p>
        </p:txBody>
      </p:sp>
    </p:spTree>
    <p:extLst>
      <p:ext uri="{BB962C8B-B14F-4D97-AF65-F5344CB8AC3E}">
        <p14:creationId xmlns:p14="http://schemas.microsoft.com/office/powerpoint/2010/main" val="3812748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50000"/>
              </a:lnSpc>
              <a:spcBef>
                <a:spcPts val="0"/>
              </a:spcBef>
              <a:buNone/>
            </a:pP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27</a:t>
            </a:fld>
            <a:endParaRPr lang="zh-CN" altLang="en-US"/>
          </a:p>
        </p:txBody>
      </p:sp>
    </p:spTree>
    <p:extLst>
      <p:ext uri="{BB962C8B-B14F-4D97-AF65-F5344CB8AC3E}">
        <p14:creationId xmlns:p14="http://schemas.microsoft.com/office/powerpoint/2010/main" val="17305602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50000"/>
              </a:lnSpc>
              <a:spcBef>
                <a:spcPts val="0"/>
              </a:spcBef>
              <a:buNone/>
            </a:pP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28</a:t>
            </a:fld>
            <a:endParaRPr lang="zh-CN" altLang="en-US"/>
          </a:p>
        </p:txBody>
      </p:sp>
    </p:spTree>
    <p:extLst>
      <p:ext uri="{BB962C8B-B14F-4D97-AF65-F5344CB8AC3E}">
        <p14:creationId xmlns:p14="http://schemas.microsoft.com/office/powerpoint/2010/main" val="20118062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50000"/>
              </a:lnSpc>
              <a:spcBef>
                <a:spcPts val="0"/>
              </a:spcBef>
              <a:buNone/>
            </a:pP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29</a:t>
            </a:fld>
            <a:endParaRPr lang="zh-CN" altLang="en-US"/>
          </a:p>
        </p:txBody>
      </p:sp>
    </p:spTree>
    <p:extLst>
      <p:ext uri="{BB962C8B-B14F-4D97-AF65-F5344CB8AC3E}">
        <p14:creationId xmlns:p14="http://schemas.microsoft.com/office/powerpoint/2010/main" val="24909471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50000"/>
              </a:lnSpc>
              <a:spcBef>
                <a:spcPts val="0"/>
              </a:spcBef>
              <a:buNone/>
            </a:pP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30</a:t>
            </a:fld>
            <a:endParaRPr lang="zh-CN" altLang="en-US"/>
          </a:p>
        </p:txBody>
      </p:sp>
    </p:spTree>
    <p:extLst>
      <p:ext uri="{BB962C8B-B14F-4D97-AF65-F5344CB8AC3E}">
        <p14:creationId xmlns:p14="http://schemas.microsoft.com/office/powerpoint/2010/main" val="1325264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50000"/>
              </a:lnSpc>
              <a:spcBef>
                <a:spcPts val="0"/>
              </a:spcBef>
              <a:buNone/>
            </a:pP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31</a:t>
            </a:fld>
            <a:endParaRPr lang="zh-CN" altLang="en-US"/>
          </a:p>
        </p:txBody>
      </p:sp>
    </p:spTree>
    <p:extLst>
      <p:ext uri="{BB962C8B-B14F-4D97-AF65-F5344CB8AC3E}">
        <p14:creationId xmlns:p14="http://schemas.microsoft.com/office/powerpoint/2010/main" val="4842506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50000"/>
              </a:lnSpc>
              <a:spcBef>
                <a:spcPts val="0"/>
              </a:spcBef>
              <a:buNone/>
            </a:pP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32</a:t>
            </a:fld>
            <a:endParaRPr lang="zh-CN" altLang="en-US"/>
          </a:p>
        </p:txBody>
      </p:sp>
    </p:spTree>
    <p:extLst>
      <p:ext uri="{BB962C8B-B14F-4D97-AF65-F5344CB8AC3E}">
        <p14:creationId xmlns:p14="http://schemas.microsoft.com/office/powerpoint/2010/main" val="31449223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50000"/>
              </a:lnSpc>
              <a:spcBef>
                <a:spcPts val="0"/>
              </a:spcBef>
              <a:buNone/>
            </a:pP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33</a:t>
            </a:fld>
            <a:endParaRPr lang="zh-CN" altLang="en-US"/>
          </a:p>
        </p:txBody>
      </p:sp>
    </p:spTree>
    <p:extLst>
      <p:ext uri="{BB962C8B-B14F-4D97-AF65-F5344CB8AC3E}">
        <p14:creationId xmlns:p14="http://schemas.microsoft.com/office/powerpoint/2010/main" val="21305141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50000"/>
              </a:lnSpc>
              <a:spcBef>
                <a:spcPts val="0"/>
              </a:spcBef>
              <a:buNone/>
            </a:pPr>
            <a:r>
              <a:rPr lang="zh-CN" altLang="en-US"/>
              <a:t>在机器学习中，一般将数据集划分：训练集，验证集和测试集，小规模数据集时，三者比例大约是</a:t>
            </a:r>
            <a:r>
              <a:rPr lang="en-US" altLang="zh-CN"/>
              <a:t>6</a:t>
            </a:r>
            <a:r>
              <a:rPr lang="zh-CN" altLang="en-US"/>
              <a:t>：</a:t>
            </a:r>
            <a:r>
              <a:rPr lang="en-US" altLang="zh-CN"/>
              <a:t>2</a:t>
            </a:r>
            <a:r>
              <a:rPr lang="zh-CN" altLang="en-US"/>
              <a:t>：</a:t>
            </a:r>
            <a:r>
              <a:rPr lang="en-US" altLang="zh-CN"/>
              <a:t>2</a:t>
            </a:r>
            <a:r>
              <a:rPr lang="zh-CN" altLang="en-US"/>
              <a:t>。</a:t>
            </a:r>
            <a:endParaRPr lang="en-US" altLang="zh-CN"/>
          </a:p>
          <a:p>
            <a:pPr marL="0" indent="0">
              <a:lnSpc>
                <a:spcPct val="150000"/>
              </a:lnSpc>
              <a:spcBef>
                <a:spcPts val="0"/>
              </a:spcBef>
              <a:buNone/>
            </a:pPr>
            <a:r>
              <a:rPr lang="zh-CN" altLang="en-US"/>
              <a:t>训练集上训练模型，在验证集上评估模型，在测试集上测试模型。</a:t>
            </a:r>
            <a:br>
              <a:rPr lang="en-US" altLang="zh-CN"/>
            </a:br>
            <a:r>
              <a:rPr lang="zh-CN" altLang="en-US"/>
              <a:t>具体地说，模型中有参数，设置不同参数就对应不同模型，选择哪个模型，需要有验证集来帮助进行模型选择。最后确定了模型，要在测试集上测试。</a:t>
            </a:r>
            <a:br>
              <a:rPr lang="en-US" altLang="zh-CN"/>
            </a:br>
            <a:r>
              <a:rPr lang="zh-CN" altLang="en-US"/>
              <a:t>例如，</a:t>
            </a:r>
            <a:r>
              <a:rPr lang="en-US" altLang="zh-CN"/>
              <a:t>K</a:t>
            </a:r>
            <a:r>
              <a:rPr lang="zh-CN" altLang="en-US"/>
              <a:t>近邻。</a:t>
            </a:r>
            <a:endParaRPr lang="en-US" altLang="zh-CN"/>
          </a:p>
          <a:p>
            <a:pPr marL="0" indent="0">
              <a:lnSpc>
                <a:spcPct val="150000"/>
              </a:lnSpc>
              <a:spcBef>
                <a:spcPts val="0"/>
              </a:spcBef>
              <a:buNone/>
            </a:pPr>
            <a:r>
              <a:rPr lang="zh-CN" altLang="en-US"/>
              <a:t>（</a:t>
            </a:r>
            <a:r>
              <a:rPr lang="en-US" altLang="zh-CN"/>
              <a:t>1</a:t>
            </a:r>
            <a:r>
              <a:rPr lang="zh-CN" altLang="en-US"/>
              <a:t>）用</a:t>
            </a:r>
            <a:r>
              <a:rPr lang="en-US" altLang="zh-CN"/>
              <a:t>60%</a:t>
            </a:r>
            <a:r>
              <a:rPr lang="zh-CN" altLang="en-US"/>
              <a:t>的训练集训练</a:t>
            </a:r>
            <a:r>
              <a:rPr lang="en-US" altLang="zh-CN"/>
              <a:t>k=3</a:t>
            </a:r>
            <a:r>
              <a:rPr lang="zh-CN" altLang="en-US"/>
              <a:t>、</a:t>
            </a:r>
            <a:r>
              <a:rPr lang="en-US" altLang="zh-CN"/>
              <a:t>4</a:t>
            </a:r>
            <a:r>
              <a:rPr lang="zh-CN" altLang="en-US"/>
              <a:t>、</a:t>
            </a:r>
            <a:r>
              <a:rPr lang="en-US" altLang="zh-CN"/>
              <a:t>5</a:t>
            </a:r>
            <a:r>
              <a:rPr lang="zh-CN" altLang="en-US"/>
              <a:t>的三个模型</a:t>
            </a:r>
            <a:br>
              <a:rPr lang="en-US" altLang="zh-CN"/>
            </a:br>
            <a:r>
              <a:rPr lang="zh-CN" altLang="en-US"/>
              <a:t>（</a:t>
            </a:r>
            <a:r>
              <a:rPr lang="en-US" altLang="zh-CN"/>
              <a:t>2</a:t>
            </a:r>
            <a:r>
              <a:rPr lang="zh-CN" altLang="en-US"/>
              <a:t>）三个经过训练的模型分别在</a:t>
            </a:r>
            <a:r>
              <a:rPr lang="en-US" altLang="zh-CN"/>
              <a:t>20%</a:t>
            </a:r>
            <a:r>
              <a:rPr lang="zh-CN" altLang="en-US"/>
              <a:t>的验证集运行，选择性能最好的一个模型（假定</a:t>
            </a:r>
            <a:r>
              <a:rPr lang="en-US" altLang="zh-CN"/>
              <a:t>k=4</a:t>
            </a:r>
            <a:r>
              <a:rPr lang="zh-CN" altLang="en-US"/>
              <a:t>）</a:t>
            </a:r>
            <a:endParaRPr lang="en-US" altLang="zh-CN"/>
          </a:p>
          <a:p>
            <a:pPr marL="0" indent="0">
              <a:lnSpc>
                <a:spcPct val="150000"/>
              </a:lnSpc>
              <a:spcBef>
                <a:spcPts val="0"/>
              </a:spcBef>
              <a:buNone/>
            </a:pPr>
            <a:r>
              <a:rPr lang="zh-CN" altLang="en-US"/>
              <a:t>（</a:t>
            </a:r>
            <a:r>
              <a:rPr lang="en-US" altLang="zh-CN"/>
              <a:t>3</a:t>
            </a:r>
            <a:r>
              <a:rPr lang="zh-CN" altLang="en-US"/>
              <a:t>）用</a:t>
            </a:r>
            <a:r>
              <a:rPr lang="en-US" altLang="zh-CN"/>
              <a:t>20%</a:t>
            </a:r>
            <a:r>
              <a:rPr lang="zh-CN" altLang="en-US"/>
              <a:t>的测试集测试选择的模型的性能</a:t>
            </a:r>
            <a:endParaRPr lang="en-US" altLang="zh-CN"/>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34</a:t>
            </a:fld>
            <a:endParaRPr lang="zh-CN" altLang="en-US"/>
          </a:p>
        </p:txBody>
      </p:sp>
    </p:spTree>
    <p:extLst>
      <p:ext uri="{BB962C8B-B14F-4D97-AF65-F5344CB8AC3E}">
        <p14:creationId xmlns:p14="http://schemas.microsoft.com/office/powerpoint/2010/main" val="324920754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50000"/>
              </a:lnSpc>
              <a:spcBef>
                <a:spcPts val="0"/>
              </a:spcBef>
              <a:buNone/>
            </a:pP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35</a:t>
            </a:fld>
            <a:endParaRPr lang="zh-CN" altLang="en-US"/>
          </a:p>
        </p:txBody>
      </p:sp>
    </p:spTree>
    <p:extLst>
      <p:ext uri="{BB962C8B-B14F-4D97-AF65-F5344CB8AC3E}">
        <p14:creationId xmlns:p14="http://schemas.microsoft.com/office/powerpoint/2010/main" val="179773119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50000"/>
              </a:lnSpc>
              <a:spcBef>
                <a:spcPts val="0"/>
              </a:spcBef>
              <a:buNone/>
            </a:pP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36</a:t>
            </a:fld>
            <a:endParaRPr lang="zh-CN" altLang="en-US"/>
          </a:p>
        </p:txBody>
      </p:sp>
    </p:spTree>
    <p:extLst>
      <p:ext uri="{BB962C8B-B14F-4D97-AF65-F5344CB8AC3E}">
        <p14:creationId xmlns:p14="http://schemas.microsoft.com/office/powerpoint/2010/main" val="29475179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50000"/>
              </a:lnSpc>
              <a:spcBef>
                <a:spcPts val="0"/>
              </a:spcBef>
              <a:buNone/>
            </a:pP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37</a:t>
            </a:fld>
            <a:endParaRPr lang="zh-CN" altLang="en-US"/>
          </a:p>
        </p:txBody>
      </p:sp>
    </p:spTree>
    <p:extLst>
      <p:ext uri="{BB962C8B-B14F-4D97-AF65-F5344CB8AC3E}">
        <p14:creationId xmlns:p14="http://schemas.microsoft.com/office/powerpoint/2010/main" val="260350602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50000"/>
              </a:lnSpc>
              <a:spcBef>
                <a:spcPts val="0"/>
              </a:spcBef>
              <a:buNone/>
            </a:pP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38</a:t>
            </a:fld>
            <a:endParaRPr lang="zh-CN" altLang="en-US"/>
          </a:p>
        </p:txBody>
      </p:sp>
    </p:spTree>
    <p:extLst>
      <p:ext uri="{BB962C8B-B14F-4D97-AF65-F5344CB8AC3E}">
        <p14:creationId xmlns:p14="http://schemas.microsoft.com/office/powerpoint/2010/main" val="40930847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39</a:t>
            </a:fld>
            <a:endParaRPr lang="zh-CN" altLang="en-US"/>
          </a:p>
        </p:txBody>
      </p:sp>
    </p:spTree>
    <p:extLst>
      <p:ext uri="{BB962C8B-B14F-4D97-AF65-F5344CB8AC3E}">
        <p14:creationId xmlns:p14="http://schemas.microsoft.com/office/powerpoint/2010/main" val="117955901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40</a:t>
            </a:fld>
            <a:endParaRPr lang="zh-CN" altLang="en-US"/>
          </a:p>
        </p:txBody>
      </p:sp>
    </p:spTree>
    <p:extLst>
      <p:ext uri="{BB962C8B-B14F-4D97-AF65-F5344CB8AC3E}">
        <p14:creationId xmlns:p14="http://schemas.microsoft.com/office/powerpoint/2010/main" val="193834785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41</a:t>
            </a:fld>
            <a:endParaRPr lang="zh-CN" altLang="en-US"/>
          </a:p>
        </p:txBody>
      </p:sp>
    </p:spTree>
    <p:extLst>
      <p:ext uri="{BB962C8B-B14F-4D97-AF65-F5344CB8AC3E}">
        <p14:creationId xmlns:p14="http://schemas.microsoft.com/office/powerpoint/2010/main" val="34820639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42</a:t>
            </a:fld>
            <a:endParaRPr lang="zh-CN" altLang="en-US"/>
          </a:p>
        </p:txBody>
      </p:sp>
    </p:spTree>
    <p:extLst>
      <p:ext uri="{BB962C8B-B14F-4D97-AF65-F5344CB8AC3E}">
        <p14:creationId xmlns:p14="http://schemas.microsoft.com/office/powerpoint/2010/main" val="340161693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43</a:t>
            </a:fld>
            <a:endParaRPr lang="zh-CN" altLang="en-US"/>
          </a:p>
        </p:txBody>
      </p:sp>
    </p:spTree>
    <p:extLst>
      <p:ext uri="{BB962C8B-B14F-4D97-AF65-F5344CB8AC3E}">
        <p14:creationId xmlns:p14="http://schemas.microsoft.com/office/powerpoint/2010/main" val="83452895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44</a:t>
            </a:fld>
            <a:endParaRPr lang="zh-CN" altLang="en-US"/>
          </a:p>
        </p:txBody>
      </p:sp>
    </p:spTree>
    <p:extLst>
      <p:ext uri="{BB962C8B-B14F-4D97-AF65-F5344CB8AC3E}">
        <p14:creationId xmlns:p14="http://schemas.microsoft.com/office/powerpoint/2010/main" val="412240586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45</a:t>
            </a:fld>
            <a:endParaRPr lang="zh-CN" altLang="en-US"/>
          </a:p>
        </p:txBody>
      </p:sp>
    </p:spTree>
    <p:extLst>
      <p:ext uri="{BB962C8B-B14F-4D97-AF65-F5344CB8AC3E}">
        <p14:creationId xmlns:p14="http://schemas.microsoft.com/office/powerpoint/2010/main" val="157576031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假定有两类：</a:t>
            </a:r>
            <a:r>
              <a:rPr lang="zh-CN" altLang="en-US" dirty="0">
                <a:solidFill>
                  <a:srgbClr val="3846B0"/>
                </a:solidFill>
              </a:rPr>
              <a:t>▲和</a:t>
            </a:r>
            <a:r>
              <a:rPr lang="zh-CN" altLang="en-US" dirty="0">
                <a:solidFill>
                  <a:srgbClr val="C00000"/>
                </a:solidFill>
              </a:rPr>
              <a:t>●，判断</a:t>
            </a:r>
            <a:r>
              <a:rPr lang="en-US" altLang="zh-CN" dirty="0">
                <a:solidFill>
                  <a:schemeClr val="accent2">
                    <a:lumMod val="40000"/>
                    <a:lumOff val="60000"/>
                  </a:schemeClr>
                </a:solidFill>
                <a:latin typeface="Times New Roman" panose="02020603050405020304" pitchFamily="18" charset="0"/>
                <a:cs typeface="Times New Roman" panose="02020603050405020304" pitchFamily="18" charset="0"/>
              </a:rPr>
              <a:t>■</a:t>
            </a:r>
            <a:r>
              <a:rPr lang="zh-CN" altLang="en-US" dirty="0">
                <a:solidFill>
                  <a:schemeClr val="accent2">
                    <a:lumMod val="40000"/>
                    <a:lumOff val="60000"/>
                  </a:schemeClr>
                </a:solidFill>
                <a:latin typeface="Times New Roman" panose="02020603050405020304" pitchFamily="18" charset="0"/>
                <a:cs typeface="Times New Roman" panose="02020603050405020304" pitchFamily="18" charset="0"/>
              </a:rPr>
              <a:t>属于哪个类别。</a:t>
            </a:r>
            <a:endParaRPr lang="en-US" altLang="zh-CN" dirty="0">
              <a:solidFill>
                <a:schemeClr val="accent2">
                  <a:lumMod val="40000"/>
                  <a:lumOff val="60000"/>
                </a:schemeClr>
              </a:solidFill>
              <a:latin typeface="Times New Roman" panose="02020603050405020304" pitchFamily="18" charset="0"/>
              <a:cs typeface="Times New Roman" panose="02020603050405020304" pitchFamily="18" charset="0"/>
            </a:endParaRPr>
          </a:p>
          <a:p>
            <a:r>
              <a:rPr lang="zh-CN" altLang="en-US" dirty="0">
                <a:solidFill>
                  <a:schemeClr val="accent2">
                    <a:lumMod val="40000"/>
                    <a:lumOff val="60000"/>
                  </a:schemeClr>
                </a:solidFill>
                <a:latin typeface="Times New Roman" panose="02020603050405020304" pitchFamily="18" charset="0"/>
                <a:cs typeface="Times New Roman" panose="02020603050405020304" pitchFamily="18" charset="0"/>
              </a:rPr>
              <a:t>若</a:t>
            </a:r>
            <a:r>
              <a:rPr lang="en-US" altLang="zh-CN" dirty="0">
                <a:solidFill>
                  <a:schemeClr val="accent2">
                    <a:lumMod val="40000"/>
                    <a:lumOff val="60000"/>
                  </a:schemeClr>
                </a:solidFill>
                <a:latin typeface="Times New Roman" panose="02020603050405020304" pitchFamily="18" charset="0"/>
                <a:cs typeface="Times New Roman" panose="02020603050405020304" pitchFamily="18" charset="0"/>
              </a:rPr>
              <a:t>k=3</a:t>
            </a:r>
            <a:r>
              <a:rPr lang="zh-CN" altLang="en-US" dirty="0">
                <a:solidFill>
                  <a:schemeClr val="accent2">
                    <a:lumMod val="40000"/>
                    <a:lumOff val="60000"/>
                  </a:schemeClr>
                </a:solidFill>
                <a:latin typeface="Times New Roman" panose="02020603050405020304" pitchFamily="18" charset="0"/>
                <a:cs typeface="Times New Roman" panose="02020603050405020304" pitchFamily="18" charset="0"/>
              </a:rPr>
              <a:t>，则</a:t>
            </a:r>
            <a:r>
              <a:rPr lang="en-US" altLang="zh-CN" dirty="0">
                <a:solidFill>
                  <a:schemeClr val="accent2">
                    <a:lumMod val="40000"/>
                    <a:lumOff val="60000"/>
                  </a:schemeClr>
                </a:solidFill>
                <a:latin typeface="Times New Roman" panose="02020603050405020304" pitchFamily="18" charset="0"/>
                <a:cs typeface="Times New Roman" panose="02020603050405020304" pitchFamily="18" charset="0"/>
              </a:rPr>
              <a:t>3</a:t>
            </a:r>
            <a:r>
              <a:rPr lang="zh-CN" altLang="en-US" dirty="0">
                <a:solidFill>
                  <a:schemeClr val="accent2">
                    <a:lumMod val="40000"/>
                    <a:lumOff val="60000"/>
                  </a:schemeClr>
                </a:solidFill>
                <a:latin typeface="Times New Roman" panose="02020603050405020304" pitchFamily="18" charset="0"/>
                <a:cs typeface="Times New Roman" panose="02020603050405020304" pitchFamily="18" charset="0"/>
              </a:rPr>
              <a:t>个近邻中有两个属于</a:t>
            </a:r>
            <a:r>
              <a:rPr lang="zh-CN" altLang="en-US" dirty="0">
                <a:solidFill>
                  <a:srgbClr val="3846B0"/>
                </a:solidFill>
              </a:rPr>
              <a:t>▲</a:t>
            </a:r>
            <a:r>
              <a:rPr lang="zh-CN" altLang="en-US" dirty="0">
                <a:solidFill>
                  <a:schemeClr val="accent2">
                    <a:lumMod val="40000"/>
                    <a:lumOff val="60000"/>
                  </a:schemeClr>
                </a:solidFill>
                <a:latin typeface="Times New Roman" panose="02020603050405020304" pitchFamily="18" charset="0"/>
                <a:cs typeface="Times New Roman" panose="02020603050405020304" pitchFamily="18" charset="0"/>
              </a:rPr>
              <a:t>，一个属于</a:t>
            </a:r>
            <a:r>
              <a:rPr lang="zh-CN" altLang="en-US" dirty="0">
                <a:solidFill>
                  <a:srgbClr val="C00000"/>
                </a:solidFill>
              </a:rPr>
              <a:t>●</a:t>
            </a:r>
            <a:r>
              <a:rPr lang="zh-CN" altLang="en-US" dirty="0">
                <a:solidFill>
                  <a:schemeClr val="accent2">
                    <a:lumMod val="40000"/>
                    <a:lumOff val="60000"/>
                  </a:schemeClr>
                </a:solidFill>
                <a:latin typeface="Times New Roman" panose="02020603050405020304" pitchFamily="18" charset="0"/>
                <a:cs typeface="Times New Roman" panose="02020603050405020304" pitchFamily="18" charset="0"/>
              </a:rPr>
              <a:t>，所以判定</a:t>
            </a:r>
            <a:r>
              <a:rPr lang="en-US" altLang="zh-CN" dirty="0">
                <a:solidFill>
                  <a:schemeClr val="accent2">
                    <a:lumMod val="40000"/>
                    <a:lumOff val="60000"/>
                  </a:schemeClr>
                </a:solidFill>
                <a:latin typeface="Times New Roman" panose="02020603050405020304" pitchFamily="18" charset="0"/>
                <a:cs typeface="Times New Roman" panose="02020603050405020304" pitchFamily="18" charset="0"/>
              </a:rPr>
              <a:t>■</a:t>
            </a:r>
            <a:r>
              <a:rPr lang="zh-CN" altLang="en-US" dirty="0">
                <a:solidFill>
                  <a:schemeClr val="accent2">
                    <a:lumMod val="40000"/>
                    <a:lumOff val="60000"/>
                  </a:schemeClr>
                </a:solidFill>
                <a:latin typeface="Times New Roman" panose="02020603050405020304" pitchFamily="18" charset="0"/>
                <a:cs typeface="Times New Roman" panose="02020603050405020304" pitchFamily="18" charset="0"/>
              </a:rPr>
              <a:t>属于</a:t>
            </a:r>
            <a:r>
              <a:rPr lang="zh-CN" altLang="en-US" dirty="0">
                <a:solidFill>
                  <a:srgbClr val="3846B0"/>
                </a:solidFill>
              </a:rPr>
              <a:t>▲。</a:t>
            </a:r>
            <a:endParaRPr lang="zh-CN" altLang="en-US" dirty="0">
              <a:solidFill>
                <a:schemeClr val="accent2">
                  <a:lumMod val="40000"/>
                  <a:lumOff val="60000"/>
                </a:schemeClr>
              </a:solidFill>
            </a:endParaRPr>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46</a:t>
            </a:fld>
            <a:endParaRPr lang="zh-CN" altLang="en-US"/>
          </a:p>
        </p:txBody>
      </p:sp>
    </p:spTree>
    <p:extLst>
      <p:ext uri="{BB962C8B-B14F-4D97-AF65-F5344CB8AC3E}">
        <p14:creationId xmlns:p14="http://schemas.microsoft.com/office/powerpoint/2010/main" val="141052314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olidFill>
                  <a:schemeClr val="accent2">
                    <a:lumMod val="40000"/>
                    <a:lumOff val="60000"/>
                  </a:schemeClr>
                </a:solidFill>
                <a:latin typeface="Times New Roman" panose="02020603050405020304" pitchFamily="18" charset="0"/>
                <a:cs typeface="Times New Roman" panose="02020603050405020304" pitchFamily="18" charset="0"/>
              </a:rPr>
              <a:t>若</a:t>
            </a:r>
            <a:r>
              <a:rPr lang="en-US" altLang="zh-CN" dirty="0">
                <a:solidFill>
                  <a:schemeClr val="accent2">
                    <a:lumMod val="40000"/>
                    <a:lumOff val="60000"/>
                  </a:schemeClr>
                </a:solidFill>
                <a:latin typeface="Times New Roman" panose="02020603050405020304" pitchFamily="18" charset="0"/>
                <a:cs typeface="Times New Roman" panose="02020603050405020304" pitchFamily="18" charset="0"/>
              </a:rPr>
              <a:t>k=3</a:t>
            </a:r>
            <a:r>
              <a:rPr lang="zh-CN" altLang="en-US" dirty="0">
                <a:solidFill>
                  <a:schemeClr val="accent2">
                    <a:lumMod val="40000"/>
                    <a:lumOff val="60000"/>
                  </a:schemeClr>
                </a:solidFill>
                <a:latin typeface="Times New Roman" panose="02020603050405020304" pitchFamily="18" charset="0"/>
                <a:cs typeface="Times New Roman" panose="02020603050405020304" pitchFamily="18" charset="0"/>
              </a:rPr>
              <a:t>，则</a:t>
            </a:r>
            <a:r>
              <a:rPr lang="en-US" altLang="zh-CN" dirty="0">
                <a:solidFill>
                  <a:schemeClr val="accent2">
                    <a:lumMod val="40000"/>
                    <a:lumOff val="60000"/>
                  </a:schemeClr>
                </a:solidFill>
                <a:latin typeface="Times New Roman" panose="02020603050405020304" pitchFamily="18" charset="0"/>
                <a:cs typeface="Times New Roman" panose="02020603050405020304" pitchFamily="18" charset="0"/>
              </a:rPr>
              <a:t>3</a:t>
            </a:r>
            <a:r>
              <a:rPr lang="zh-CN" altLang="en-US" dirty="0">
                <a:solidFill>
                  <a:schemeClr val="accent2">
                    <a:lumMod val="40000"/>
                    <a:lumOff val="60000"/>
                  </a:schemeClr>
                </a:solidFill>
                <a:latin typeface="Times New Roman" panose="02020603050405020304" pitchFamily="18" charset="0"/>
                <a:cs typeface="Times New Roman" panose="02020603050405020304" pitchFamily="18" charset="0"/>
              </a:rPr>
              <a:t>个近邻中有两个属于</a:t>
            </a:r>
            <a:r>
              <a:rPr lang="zh-CN" altLang="en-US" dirty="0">
                <a:solidFill>
                  <a:srgbClr val="3846B0"/>
                </a:solidFill>
              </a:rPr>
              <a:t>▲，</a:t>
            </a:r>
            <a:r>
              <a:rPr lang="zh-CN" altLang="en-US" dirty="0">
                <a:solidFill>
                  <a:schemeClr val="accent2">
                    <a:lumMod val="40000"/>
                    <a:lumOff val="60000"/>
                  </a:schemeClr>
                </a:solidFill>
                <a:latin typeface="Times New Roman" panose="02020603050405020304" pitchFamily="18" charset="0"/>
                <a:cs typeface="Times New Roman" panose="02020603050405020304" pitchFamily="18" charset="0"/>
              </a:rPr>
              <a:t>判定</a:t>
            </a:r>
            <a:r>
              <a:rPr lang="en-US" altLang="zh-CN" dirty="0">
                <a:solidFill>
                  <a:schemeClr val="accent2">
                    <a:lumMod val="40000"/>
                    <a:lumOff val="60000"/>
                  </a:schemeClr>
                </a:solidFill>
                <a:latin typeface="Times New Roman" panose="02020603050405020304" pitchFamily="18" charset="0"/>
                <a:cs typeface="Times New Roman" panose="02020603050405020304" pitchFamily="18" charset="0"/>
              </a:rPr>
              <a:t>■</a:t>
            </a:r>
            <a:r>
              <a:rPr lang="zh-CN" altLang="en-US" dirty="0">
                <a:solidFill>
                  <a:schemeClr val="accent2">
                    <a:lumMod val="40000"/>
                    <a:lumOff val="60000"/>
                  </a:schemeClr>
                </a:solidFill>
                <a:latin typeface="Times New Roman" panose="02020603050405020304" pitchFamily="18" charset="0"/>
                <a:cs typeface="Times New Roman" panose="02020603050405020304" pitchFamily="18" charset="0"/>
              </a:rPr>
              <a:t>属于</a:t>
            </a:r>
            <a:r>
              <a:rPr lang="zh-CN" altLang="en-US" dirty="0">
                <a:solidFill>
                  <a:srgbClr val="3846B0"/>
                </a:solidFill>
              </a:rPr>
              <a:t>▲</a:t>
            </a:r>
            <a:endParaRPr lang="en-US" altLang="zh-CN" dirty="0">
              <a:solidFill>
                <a:srgbClr val="3846B0"/>
              </a:solidFill>
            </a:endParaRPr>
          </a:p>
          <a:p>
            <a:pPr marL="342900" marR="0" lvl="0" indent="-342900" algn="l" defTabSz="914400" rtl="0" eaLnBrk="0" fontAlgn="base" latinLnBrk="0" hangingPunct="0">
              <a:lnSpc>
                <a:spcPct val="100000"/>
              </a:lnSpc>
              <a:spcBef>
                <a:spcPct val="30000"/>
              </a:spcBef>
              <a:spcAft>
                <a:spcPct val="0"/>
              </a:spcAft>
              <a:buClrTx/>
              <a:buSzTx/>
              <a:buFontTx/>
              <a:buNone/>
              <a:tabLst/>
              <a:defRPr/>
            </a:pPr>
            <a:r>
              <a:rPr lang="zh-CN" altLang="en-US" dirty="0">
                <a:solidFill>
                  <a:schemeClr val="accent2">
                    <a:lumMod val="40000"/>
                    <a:lumOff val="60000"/>
                  </a:schemeClr>
                </a:solidFill>
                <a:latin typeface="Times New Roman" panose="02020603050405020304" pitchFamily="18" charset="0"/>
                <a:cs typeface="Times New Roman" panose="02020603050405020304" pitchFamily="18" charset="0"/>
              </a:rPr>
              <a:t>若</a:t>
            </a:r>
            <a:r>
              <a:rPr lang="en-US" altLang="zh-CN" dirty="0">
                <a:solidFill>
                  <a:schemeClr val="accent2">
                    <a:lumMod val="40000"/>
                    <a:lumOff val="60000"/>
                  </a:schemeClr>
                </a:solidFill>
                <a:latin typeface="Times New Roman" panose="02020603050405020304" pitchFamily="18" charset="0"/>
                <a:cs typeface="Times New Roman" panose="02020603050405020304" pitchFamily="18" charset="0"/>
              </a:rPr>
              <a:t>k=5</a:t>
            </a:r>
            <a:r>
              <a:rPr lang="zh-CN" altLang="en-US" dirty="0">
                <a:solidFill>
                  <a:schemeClr val="accent2">
                    <a:lumMod val="40000"/>
                    <a:lumOff val="60000"/>
                  </a:schemeClr>
                </a:solidFill>
                <a:latin typeface="Times New Roman" panose="02020603050405020304" pitchFamily="18" charset="0"/>
                <a:cs typeface="Times New Roman" panose="02020603050405020304" pitchFamily="18" charset="0"/>
              </a:rPr>
              <a:t>，则</a:t>
            </a:r>
            <a:r>
              <a:rPr lang="en-US" altLang="zh-CN" dirty="0">
                <a:solidFill>
                  <a:schemeClr val="accent2">
                    <a:lumMod val="40000"/>
                    <a:lumOff val="60000"/>
                  </a:schemeClr>
                </a:solidFill>
                <a:latin typeface="Times New Roman" panose="02020603050405020304" pitchFamily="18" charset="0"/>
                <a:cs typeface="Times New Roman" panose="02020603050405020304" pitchFamily="18" charset="0"/>
              </a:rPr>
              <a:t>5</a:t>
            </a:r>
            <a:r>
              <a:rPr lang="zh-CN" altLang="en-US" dirty="0">
                <a:solidFill>
                  <a:schemeClr val="accent2">
                    <a:lumMod val="40000"/>
                    <a:lumOff val="60000"/>
                  </a:schemeClr>
                </a:solidFill>
                <a:latin typeface="Times New Roman" panose="02020603050405020304" pitchFamily="18" charset="0"/>
                <a:cs typeface="Times New Roman" panose="02020603050405020304" pitchFamily="18" charset="0"/>
              </a:rPr>
              <a:t>个近邻中有两个属于</a:t>
            </a:r>
            <a:r>
              <a:rPr lang="zh-CN" altLang="en-US" dirty="0">
                <a:solidFill>
                  <a:srgbClr val="C00000"/>
                </a:solidFill>
              </a:rPr>
              <a:t>●</a:t>
            </a:r>
            <a:r>
              <a:rPr lang="zh-CN" altLang="en-US" dirty="0">
                <a:solidFill>
                  <a:srgbClr val="3846B0"/>
                </a:solidFill>
              </a:rPr>
              <a:t>，</a:t>
            </a:r>
            <a:r>
              <a:rPr lang="zh-CN" altLang="en-US" dirty="0">
                <a:solidFill>
                  <a:schemeClr val="accent2">
                    <a:lumMod val="40000"/>
                    <a:lumOff val="60000"/>
                  </a:schemeClr>
                </a:solidFill>
                <a:latin typeface="Times New Roman" panose="02020603050405020304" pitchFamily="18" charset="0"/>
                <a:cs typeface="Times New Roman" panose="02020603050405020304" pitchFamily="18" charset="0"/>
              </a:rPr>
              <a:t>判定</a:t>
            </a:r>
            <a:r>
              <a:rPr lang="en-US" altLang="zh-CN" dirty="0">
                <a:solidFill>
                  <a:schemeClr val="accent2">
                    <a:lumMod val="40000"/>
                    <a:lumOff val="60000"/>
                  </a:schemeClr>
                </a:solidFill>
                <a:latin typeface="Times New Roman" panose="02020603050405020304" pitchFamily="18" charset="0"/>
                <a:cs typeface="Times New Roman" panose="02020603050405020304" pitchFamily="18" charset="0"/>
              </a:rPr>
              <a:t>■</a:t>
            </a:r>
            <a:r>
              <a:rPr lang="zh-CN" altLang="en-US" dirty="0">
                <a:solidFill>
                  <a:schemeClr val="accent2">
                    <a:lumMod val="40000"/>
                    <a:lumOff val="60000"/>
                  </a:schemeClr>
                </a:solidFill>
                <a:latin typeface="Times New Roman" panose="02020603050405020304" pitchFamily="18" charset="0"/>
                <a:cs typeface="Times New Roman" panose="02020603050405020304" pitchFamily="18" charset="0"/>
              </a:rPr>
              <a:t>属于</a:t>
            </a:r>
            <a:r>
              <a:rPr lang="zh-CN" altLang="en-US" dirty="0">
                <a:solidFill>
                  <a:srgbClr val="C00000"/>
                </a:solidFill>
              </a:rPr>
              <a:t>●</a:t>
            </a:r>
            <a:endParaRPr lang="zh-CN" altLang="en-US" dirty="0">
              <a:solidFill>
                <a:schemeClr val="accent2">
                  <a:lumMod val="40000"/>
                  <a:lumOff val="60000"/>
                </a:schemeClr>
              </a:solidFill>
            </a:endParaRPr>
          </a:p>
          <a:p>
            <a:endParaRPr lang="zh-CN" altLang="en-US" dirty="0">
              <a:solidFill>
                <a:schemeClr val="accent2">
                  <a:lumMod val="40000"/>
                  <a:lumOff val="60000"/>
                </a:schemeClr>
              </a:solidFill>
            </a:endParaRPr>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47</a:t>
            </a:fld>
            <a:endParaRPr lang="zh-CN" altLang="en-US"/>
          </a:p>
        </p:txBody>
      </p:sp>
    </p:spTree>
    <p:extLst>
      <p:ext uri="{BB962C8B-B14F-4D97-AF65-F5344CB8AC3E}">
        <p14:creationId xmlns:p14="http://schemas.microsoft.com/office/powerpoint/2010/main" val="127034074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olidFill>
                <a:schemeClr val="accent2">
                  <a:lumMod val="40000"/>
                  <a:lumOff val="60000"/>
                </a:schemeClr>
              </a:solidFill>
            </a:endParaRPr>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48</a:t>
            </a:fld>
            <a:endParaRPr lang="zh-CN" altLang="en-US"/>
          </a:p>
        </p:txBody>
      </p:sp>
    </p:spTree>
    <p:extLst>
      <p:ext uri="{BB962C8B-B14F-4D97-AF65-F5344CB8AC3E}">
        <p14:creationId xmlns:p14="http://schemas.microsoft.com/office/powerpoint/2010/main" val="428230035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olidFill>
                <a:schemeClr val="accent2">
                  <a:lumMod val="40000"/>
                  <a:lumOff val="60000"/>
                </a:schemeClr>
              </a:solidFill>
            </a:endParaRPr>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49</a:t>
            </a:fld>
            <a:endParaRPr lang="zh-CN" altLang="en-US"/>
          </a:p>
        </p:txBody>
      </p:sp>
    </p:spTree>
    <p:extLst>
      <p:ext uri="{BB962C8B-B14F-4D97-AF65-F5344CB8AC3E}">
        <p14:creationId xmlns:p14="http://schemas.microsoft.com/office/powerpoint/2010/main" val="77001214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olidFill>
                <a:schemeClr val="accent2">
                  <a:lumMod val="40000"/>
                  <a:lumOff val="60000"/>
                </a:schemeClr>
              </a:solidFill>
            </a:endParaRPr>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50</a:t>
            </a:fld>
            <a:endParaRPr lang="zh-CN" altLang="en-US"/>
          </a:p>
        </p:txBody>
      </p:sp>
    </p:spTree>
    <p:extLst>
      <p:ext uri="{BB962C8B-B14F-4D97-AF65-F5344CB8AC3E}">
        <p14:creationId xmlns:p14="http://schemas.microsoft.com/office/powerpoint/2010/main" val="395452362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olidFill>
                <a:schemeClr val="accent2">
                  <a:lumMod val="40000"/>
                  <a:lumOff val="60000"/>
                </a:schemeClr>
              </a:solidFill>
            </a:endParaRPr>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51</a:t>
            </a:fld>
            <a:endParaRPr lang="zh-CN" altLang="en-US"/>
          </a:p>
        </p:txBody>
      </p:sp>
    </p:spTree>
    <p:extLst>
      <p:ext uri="{BB962C8B-B14F-4D97-AF65-F5344CB8AC3E}">
        <p14:creationId xmlns:p14="http://schemas.microsoft.com/office/powerpoint/2010/main" val="153637031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olidFill>
                <a:schemeClr val="accent2">
                  <a:lumMod val="40000"/>
                  <a:lumOff val="60000"/>
                </a:schemeClr>
              </a:solidFill>
            </a:endParaRPr>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52</a:t>
            </a:fld>
            <a:endParaRPr lang="zh-CN" altLang="en-US"/>
          </a:p>
        </p:txBody>
      </p:sp>
    </p:spTree>
    <p:extLst>
      <p:ext uri="{BB962C8B-B14F-4D97-AF65-F5344CB8AC3E}">
        <p14:creationId xmlns:p14="http://schemas.microsoft.com/office/powerpoint/2010/main" val="169709245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53</a:t>
            </a:fld>
            <a:endParaRPr lang="zh-CN" altLang="en-US"/>
          </a:p>
        </p:txBody>
      </p:sp>
    </p:spTree>
    <p:extLst>
      <p:ext uri="{BB962C8B-B14F-4D97-AF65-F5344CB8AC3E}">
        <p14:creationId xmlns:p14="http://schemas.microsoft.com/office/powerpoint/2010/main" val="40523846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54</a:t>
            </a:fld>
            <a:endParaRPr lang="zh-CN" altLang="en-US"/>
          </a:p>
        </p:txBody>
      </p:sp>
    </p:spTree>
    <p:extLst>
      <p:ext uri="{BB962C8B-B14F-4D97-AF65-F5344CB8AC3E}">
        <p14:creationId xmlns:p14="http://schemas.microsoft.com/office/powerpoint/2010/main" val="117238210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55</a:t>
            </a:fld>
            <a:endParaRPr lang="zh-CN" altLang="en-US"/>
          </a:p>
        </p:txBody>
      </p:sp>
    </p:spTree>
    <p:extLst>
      <p:ext uri="{BB962C8B-B14F-4D97-AF65-F5344CB8AC3E}">
        <p14:creationId xmlns:p14="http://schemas.microsoft.com/office/powerpoint/2010/main" val="136823816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56</a:t>
            </a:fld>
            <a:endParaRPr lang="zh-CN" altLang="en-US"/>
          </a:p>
        </p:txBody>
      </p:sp>
    </p:spTree>
    <p:extLst>
      <p:ext uri="{BB962C8B-B14F-4D97-AF65-F5344CB8AC3E}">
        <p14:creationId xmlns:p14="http://schemas.microsoft.com/office/powerpoint/2010/main" val="54629256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57</a:t>
            </a:fld>
            <a:endParaRPr lang="zh-CN" altLang="en-US"/>
          </a:p>
        </p:txBody>
      </p:sp>
    </p:spTree>
    <p:extLst>
      <p:ext uri="{BB962C8B-B14F-4D97-AF65-F5344CB8AC3E}">
        <p14:creationId xmlns:p14="http://schemas.microsoft.com/office/powerpoint/2010/main" val="110332964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58</a:t>
            </a:fld>
            <a:endParaRPr lang="zh-CN" altLang="en-US"/>
          </a:p>
        </p:txBody>
      </p:sp>
    </p:spTree>
    <p:extLst>
      <p:ext uri="{BB962C8B-B14F-4D97-AF65-F5344CB8AC3E}">
        <p14:creationId xmlns:p14="http://schemas.microsoft.com/office/powerpoint/2010/main" val="167315500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59</a:t>
            </a:fld>
            <a:endParaRPr lang="zh-CN" altLang="en-US"/>
          </a:p>
        </p:txBody>
      </p:sp>
    </p:spTree>
    <p:extLst>
      <p:ext uri="{BB962C8B-B14F-4D97-AF65-F5344CB8AC3E}">
        <p14:creationId xmlns:p14="http://schemas.microsoft.com/office/powerpoint/2010/main" val="389699217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indent="0">
                  <a:buFont typeface="Wingdings" panose="05000000000000000000" pitchFamily="2" charset="2"/>
                  <a:buNone/>
                </a:pPr>
                <a:r>
                  <a:rPr lang="en-US" altLang="zh-CN" sz="1200" b="0" dirty="0">
                    <a:latin typeface="幼圆" panose="02010509060101010101" pitchFamily="49" charset="-122"/>
                    <a:ea typeface="幼圆" panose="02010509060101010101" pitchFamily="49" charset="-122"/>
                  </a:rPr>
                  <a:t>1. </a:t>
                </a:r>
                <a:r>
                  <a:rPr lang="zh-CN" altLang="en-US" sz="1200" b="0" dirty="0">
                    <a:latin typeface="幼圆" panose="02010509060101010101" pitchFamily="49" charset="-122"/>
                    <a:ea typeface="幼圆" panose="02010509060101010101" pitchFamily="49" charset="-122"/>
                  </a:rPr>
                  <a:t>理想激活函数是阶跃函数</a:t>
                </a:r>
                <a:r>
                  <a:rPr lang="en-US" altLang="zh-CN" sz="1200" b="0" dirty="0">
                    <a:latin typeface="幼圆" panose="02010509060101010101" pitchFamily="49" charset="-122"/>
                    <a:ea typeface="幼圆" panose="02010509060101010101" pitchFamily="49" charset="-122"/>
                  </a:rPr>
                  <a:t>, 0</a:t>
                </a:r>
                <a:r>
                  <a:rPr lang="zh-CN" altLang="en-US" sz="1200" b="0" dirty="0">
                    <a:latin typeface="幼圆" panose="02010509060101010101" pitchFamily="49" charset="-122"/>
                    <a:ea typeface="幼圆" panose="02010509060101010101" pitchFamily="49" charset="-122"/>
                  </a:rPr>
                  <a:t>表示抑制神经元而</a:t>
                </a:r>
                <a:r>
                  <a:rPr lang="en-US" altLang="zh-CN" sz="1200" b="0" dirty="0">
                    <a:latin typeface="幼圆" panose="02010509060101010101" pitchFamily="49" charset="-122"/>
                    <a:ea typeface="幼圆" panose="02010509060101010101" pitchFamily="49" charset="-122"/>
                  </a:rPr>
                  <a:t>1</a:t>
                </a:r>
                <a:r>
                  <a:rPr lang="zh-CN" altLang="en-US" sz="1200" b="0" dirty="0">
                    <a:latin typeface="幼圆" panose="02010509060101010101" pitchFamily="49" charset="-122"/>
                    <a:ea typeface="幼圆" panose="02010509060101010101" pitchFamily="49" charset="-122"/>
                  </a:rPr>
                  <a:t>表示激活神经元</a:t>
                </a:r>
                <a:endParaRPr lang="en-US" altLang="zh-CN" sz="1200" b="0" dirty="0">
                  <a:latin typeface="幼圆" panose="02010509060101010101" pitchFamily="49" charset="-122"/>
                  <a:ea typeface="幼圆" panose="02010509060101010101" pitchFamily="49" charset="-122"/>
                </a:endParaRPr>
              </a:p>
              <a:p>
                <a:pPr marL="0" indent="0">
                  <a:buFont typeface="Wingdings" panose="05000000000000000000" pitchFamily="2" charset="2"/>
                  <a:buNone/>
                </a:pPr>
                <a:r>
                  <a:rPr lang="en-US" altLang="zh-CN" sz="1200" b="0" dirty="0">
                    <a:latin typeface="幼圆" panose="02010509060101010101" pitchFamily="49" charset="-122"/>
                    <a:ea typeface="幼圆" panose="02010509060101010101" pitchFamily="49" charset="-122"/>
                  </a:rPr>
                  <a:t>2. </a:t>
                </a:r>
                <a:r>
                  <a:rPr lang="zh-CN" altLang="en-US" sz="1200" b="0" dirty="0">
                    <a:latin typeface="幼圆" panose="02010509060101010101" pitchFamily="49" charset="-122"/>
                    <a:ea typeface="幼圆" panose="02010509060101010101" pitchFamily="49" charset="-122"/>
                  </a:rPr>
                  <a:t>阶跃函数具有不连续、不光滑，数学特性不好</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常用的是 </a:t>
                </a:r>
                <a:r>
                  <a:rPr lang="en-US" altLang="zh-CN" sz="1200" b="0" dirty="0">
                    <a:latin typeface="幼圆" panose="02010509060101010101" pitchFamily="49" charset="-122"/>
                    <a:ea typeface="幼圆" panose="02010509060101010101" pitchFamily="49" charset="-122"/>
                  </a:rPr>
                  <a:t>Sigmoid </a:t>
                </a:r>
                <a:r>
                  <a:rPr lang="zh-CN" altLang="en-US" sz="1200" b="0" dirty="0">
                    <a:latin typeface="幼圆" panose="02010509060101010101" pitchFamily="49" charset="-122"/>
                    <a:ea typeface="幼圆" panose="02010509060101010101" pitchFamily="49" charset="-122"/>
                  </a:rPr>
                  <a:t>函数和</a:t>
                </a:r>
                <a:r>
                  <a:rPr lang="en-US" altLang="zh-CN" sz="1200" b="0" dirty="0">
                    <a:latin typeface="幼圆" panose="02010509060101010101" pitchFamily="49" charset="-122"/>
                    <a:ea typeface="幼圆" panose="02010509060101010101" pitchFamily="49" charset="-122"/>
                  </a:rPr>
                  <a:t>tanh</a:t>
                </a:r>
                <a:r>
                  <a:rPr lang="zh-CN" altLang="en-US" sz="1200" b="0" dirty="0">
                    <a:latin typeface="幼圆" panose="02010509060101010101" pitchFamily="49" charset="-122"/>
                    <a:ea typeface="幼圆" panose="02010509060101010101" pitchFamily="49" charset="-122"/>
                  </a:rPr>
                  <a:t>（双曲正切）等具有较好数学特性的函数。</a:t>
                </a:r>
                <a:endParaRPr lang="en-US" altLang="zh-CN" sz="1200" b="0" dirty="0">
                  <a:latin typeface="幼圆" panose="02010509060101010101" pitchFamily="49" charset="-122"/>
                  <a:ea typeface="幼圆" panose="02010509060101010101" pitchFamily="49" charset="-122"/>
                </a:endParaRPr>
              </a:p>
              <a:p>
                <a:pPr marL="628650" lvl="1" indent="-171450">
                  <a:buFont typeface="Wingdings" panose="05000000000000000000" pitchFamily="2" charset="2"/>
                  <a:buChar char="p"/>
                </a:pPr>
                <a:r>
                  <a:rPr lang="en-US" altLang="zh-CN" sz="1200" b="0" dirty="0">
                    <a:latin typeface="幼圆" panose="02010509060101010101" pitchFamily="49" charset="-122"/>
                    <a:ea typeface="幼圆" panose="02010509060101010101" pitchFamily="49" charset="-122"/>
                  </a:rPr>
                  <a:t>Sigmoid</a:t>
                </a:r>
                <a:r>
                  <a:rPr lang="zh-CN" altLang="en-US" sz="1200" b="0" dirty="0">
                    <a:latin typeface="幼圆" panose="02010509060101010101" pitchFamily="49" charset="-122"/>
                    <a:ea typeface="幼圆" panose="02010509060101010101" pitchFamily="49" charset="-122"/>
                  </a:rPr>
                  <a:t>函数</a:t>
                </a:r>
                <a14:m>
                  <m:oMath xmlns:m="http://schemas.openxmlformats.org/officeDocument/2006/math">
                    <m:r>
                      <m:rPr>
                        <m:sty m:val="p"/>
                      </m:rPr>
                      <a:rPr lang="en-US" altLang="zh-CN" sz="1200" b="0" i="0" smtClean="0">
                        <a:latin typeface="Cambria Math" panose="02040503050406030204" pitchFamily="18" charset="0"/>
                        <a:ea typeface="Cambria" panose="02040503050406030204" pitchFamily="18" charset="0"/>
                      </a:rPr>
                      <m:t>g</m:t>
                    </m:r>
                    <m:d>
                      <m:dPr>
                        <m:ctrlPr>
                          <a:rPr lang="en-US" altLang="zh-CN" sz="1200" b="0" i="1" smtClean="0">
                            <a:latin typeface="Cambria Math" panose="02040503050406030204" pitchFamily="18" charset="0"/>
                            <a:ea typeface="幼圆" panose="02010509060101010101" pitchFamily="49" charset="-122"/>
                          </a:rPr>
                        </m:ctrlPr>
                      </m:dPr>
                      <m:e>
                        <m:r>
                          <a:rPr lang="en-US" altLang="zh-CN" sz="1200" b="0" i="1" smtClean="0">
                            <a:latin typeface="Cambria Math" panose="02040503050406030204" pitchFamily="18" charset="0"/>
                            <a:ea typeface="幼圆" panose="02010509060101010101" pitchFamily="49" charset="-122"/>
                          </a:rPr>
                          <m:t>𝑧</m:t>
                        </m:r>
                      </m:e>
                    </m:d>
                    <m:r>
                      <a:rPr lang="en-US" altLang="zh-CN" sz="1200" b="0" i="1" smtClean="0">
                        <a:latin typeface="Cambria Math" panose="02040503050406030204" pitchFamily="18" charset="0"/>
                        <a:ea typeface="幼圆" panose="02010509060101010101" pitchFamily="49" charset="-122"/>
                      </a:rPr>
                      <m:t>=</m:t>
                    </m:r>
                    <m:f>
                      <m:fPr>
                        <m:ctrlPr>
                          <a:rPr lang="en-US" altLang="zh-CN" sz="1200" b="0" i="1" smtClean="0">
                            <a:latin typeface="Cambria Math" panose="02040503050406030204" pitchFamily="18" charset="0"/>
                            <a:ea typeface="幼圆" panose="02010509060101010101" pitchFamily="49" charset="-122"/>
                          </a:rPr>
                        </m:ctrlPr>
                      </m:fPr>
                      <m:num>
                        <m:r>
                          <a:rPr lang="en-US" altLang="zh-CN" sz="1200" b="0" i="1" smtClean="0">
                            <a:latin typeface="Cambria Math" panose="02040503050406030204" pitchFamily="18" charset="0"/>
                            <a:ea typeface="幼圆" panose="02010509060101010101" pitchFamily="49" charset="-122"/>
                          </a:rPr>
                          <m:t>1</m:t>
                        </m:r>
                      </m:num>
                      <m:den>
                        <m:r>
                          <a:rPr lang="en-US" altLang="zh-CN" sz="1200" b="0" i="1" smtClean="0">
                            <a:latin typeface="Cambria Math" panose="02040503050406030204" pitchFamily="18" charset="0"/>
                            <a:ea typeface="幼圆" panose="02010509060101010101" pitchFamily="49" charset="-122"/>
                          </a:rPr>
                          <m:t>1+</m:t>
                        </m:r>
                        <m:sSup>
                          <m:sSupPr>
                            <m:ctrlPr>
                              <a:rPr lang="en-US" altLang="zh-CN" sz="1200" b="0" i="1" smtClean="0">
                                <a:latin typeface="Cambria Math" panose="02040503050406030204" pitchFamily="18" charset="0"/>
                                <a:ea typeface="幼圆" panose="02010509060101010101" pitchFamily="49" charset="-122"/>
                              </a:rPr>
                            </m:ctrlPr>
                          </m:sSupPr>
                          <m:e>
                            <m:r>
                              <a:rPr lang="en-US" altLang="zh-CN" sz="1200" b="0" i="1" smtClean="0">
                                <a:latin typeface="Cambria Math" panose="02040503050406030204" pitchFamily="18" charset="0"/>
                                <a:ea typeface="幼圆" panose="02010509060101010101" pitchFamily="49" charset="-122"/>
                              </a:rPr>
                              <m:t>𝑒</m:t>
                            </m:r>
                          </m:e>
                          <m:sup>
                            <m:r>
                              <a:rPr lang="en-US" altLang="zh-CN" sz="1200" b="0" i="1" smtClean="0">
                                <a:latin typeface="Cambria Math" panose="02040503050406030204" pitchFamily="18" charset="0"/>
                                <a:ea typeface="幼圆" panose="02010509060101010101" pitchFamily="49" charset="-122"/>
                              </a:rPr>
                              <m:t>−</m:t>
                            </m:r>
                            <m:r>
                              <a:rPr lang="en-US" altLang="zh-CN" sz="1200" b="0" i="1" smtClean="0">
                                <a:latin typeface="Cambria Math" panose="02040503050406030204" pitchFamily="18" charset="0"/>
                                <a:ea typeface="幼圆" panose="02010509060101010101" pitchFamily="49" charset="-122"/>
                              </a:rPr>
                              <m:t>𝑧</m:t>
                            </m:r>
                          </m:sup>
                        </m:sSup>
                      </m:den>
                    </m:f>
                  </m:oMath>
                </a14:m>
                <a:r>
                  <a:rPr lang="zh-CN" altLang="en-US" sz="1200" b="0" dirty="0">
                    <a:latin typeface="幼圆" panose="02010509060101010101" pitchFamily="49" charset="-122"/>
                    <a:ea typeface="幼圆" panose="02010509060101010101" pitchFamily="49" charset="-122"/>
                  </a:rPr>
                  <a:t> </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将</a:t>
                </a:r>
                <a:r>
                  <a:rPr lang="en-US" altLang="zh-CN" sz="1200" b="0" dirty="0">
                    <a:latin typeface="幼圆" panose="02010509060101010101" pitchFamily="49" charset="-122"/>
                    <a:ea typeface="幼圆" panose="02010509060101010101" pitchFamily="49" charset="-122"/>
                  </a:rPr>
                  <a:t>[-</a:t>
                </a:r>
                <a:r>
                  <a:rPr lang="en-US" altLang="zh-CN" sz="1200" b="0" dirty="0">
                    <a:latin typeface="Cambria Math" panose="02040503050406030204" pitchFamily="18" charset="0"/>
                    <a:ea typeface="Cambria Math" panose="02040503050406030204" pitchFamily="18" charset="0"/>
                  </a:rPr>
                  <a: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范围的值映射到</a:t>
                </a:r>
                <a:r>
                  <a:rPr lang="en-US" altLang="zh-CN" sz="1200" b="0" dirty="0">
                    <a:latin typeface="幼圆" panose="02010509060101010101" pitchFamily="49" charset="-122"/>
                    <a:ea typeface="幼圆" panose="02010509060101010101" pitchFamily="49" charset="-122"/>
                  </a:rPr>
                  <a:t>[0,1];</a:t>
                </a:r>
              </a:p>
              <a:p>
                <a:pPr marL="628650" lvl="1" indent="-171450">
                  <a:buFont typeface="Wingdings" panose="05000000000000000000" pitchFamily="2" charset="2"/>
                  <a:buChar char="p"/>
                </a:pPr>
                <a:r>
                  <a:rPr lang="en-US" altLang="zh-CN" sz="1200" b="0" baseline="0" dirty="0" err="1">
                    <a:latin typeface="幼圆" panose="02010509060101010101" pitchFamily="49" charset="-122"/>
                    <a:ea typeface="幼圆" panose="02010509060101010101" pitchFamily="49" charset="-122"/>
                  </a:rPr>
                  <a:t>tanh</a:t>
                </a:r>
                <a:r>
                  <a:rPr lang="zh-CN" altLang="en-US" sz="1200" b="0" baseline="0" dirty="0">
                    <a:latin typeface="幼圆" panose="02010509060101010101" pitchFamily="49" charset="-122"/>
                    <a:ea typeface="幼圆" panose="02010509060101010101" pitchFamily="49" charset="-122"/>
                  </a:rPr>
                  <a:t>函数</a:t>
                </a:r>
                <a14:m>
                  <m:oMath xmlns:m="http://schemas.openxmlformats.org/officeDocument/2006/math">
                    <m:r>
                      <m:rPr>
                        <m:sty m:val="p"/>
                      </m:rPr>
                      <a:rPr lang="en-US" altLang="zh-CN" sz="1200" b="0" i="0" smtClean="0">
                        <a:latin typeface="Cambria Math" panose="02040503050406030204" pitchFamily="18" charset="0"/>
                        <a:ea typeface="Cambria" panose="02040503050406030204" pitchFamily="18" charset="0"/>
                      </a:rPr>
                      <m:t>g</m:t>
                    </m:r>
                    <m:d>
                      <m:dPr>
                        <m:ctrlPr>
                          <a:rPr lang="en-US" altLang="zh-CN" sz="1200" b="0" i="1" smtClean="0">
                            <a:latin typeface="Cambria Math" panose="02040503050406030204" pitchFamily="18" charset="0"/>
                            <a:ea typeface="幼圆" panose="02010509060101010101" pitchFamily="49" charset="-122"/>
                          </a:rPr>
                        </m:ctrlPr>
                      </m:dPr>
                      <m:e>
                        <m:r>
                          <a:rPr lang="en-US" altLang="zh-CN" sz="1200" b="0" i="1" smtClean="0">
                            <a:latin typeface="Cambria Math" panose="02040503050406030204" pitchFamily="18" charset="0"/>
                            <a:ea typeface="幼圆" panose="02010509060101010101" pitchFamily="49" charset="-122"/>
                          </a:rPr>
                          <m:t>𝑧</m:t>
                        </m:r>
                      </m:e>
                    </m:d>
                    <m:r>
                      <a:rPr lang="en-US" altLang="zh-CN" sz="1200" b="0" i="1" smtClean="0">
                        <a:latin typeface="Cambria Math" panose="02040503050406030204" pitchFamily="18" charset="0"/>
                        <a:ea typeface="幼圆" panose="02010509060101010101" pitchFamily="49" charset="-122"/>
                      </a:rPr>
                      <m:t>=</m:t>
                    </m:r>
                    <m:f>
                      <m:fPr>
                        <m:ctrlPr>
                          <a:rPr lang="en-US" altLang="zh-CN" sz="1200" b="0" i="1" smtClean="0">
                            <a:latin typeface="Cambria Math" panose="02040503050406030204" pitchFamily="18" charset="0"/>
                            <a:ea typeface="幼圆" panose="02010509060101010101" pitchFamily="49" charset="-122"/>
                          </a:rPr>
                        </m:ctrlPr>
                      </m:fPr>
                      <m:num>
                        <m:sSup>
                          <m:sSupPr>
                            <m:ctrlPr>
                              <a:rPr lang="en-US" altLang="zh-CN" sz="1200" b="0" i="1" smtClean="0">
                                <a:latin typeface="Cambria Math" panose="02040503050406030204" pitchFamily="18" charset="0"/>
                                <a:ea typeface="幼圆" panose="02010509060101010101" pitchFamily="49" charset="-122"/>
                              </a:rPr>
                            </m:ctrlPr>
                          </m:sSupPr>
                          <m:e>
                            <m:r>
                              <a:rPr lang="en-US" altLang="zh-CN" sz="1200" b="0" i="1" smtClean="0">
                                <a:latin typeface="Cambria Math" panose="02040503050406030204" pitchFamily="18" charset="0"/>
                                <a:ea typeface="幼圆" panose="02010509060101010101" pitchFamily="49" charset="-122"/>
                              </a:rPr>
                              <m:t>𝑒</m:t>
                            </m:r>
                          </m:e>
                          <m:sup>
                            <m:r>
                              <a:rPr lang="en-US" altLang="zh-CN" sz="1200" b="0" i="1" smtClean="0">
                                <a:latin typeface="Cambria Math" panose="02040503050406030204" pitchFamily="18" charset="0"/>
                                <a:ea typeface="幼圆" panose="02010509060101010101" pitchFamily="49" charset="-122"/>
                              </a:rPr>
                              <m:t>𝑧</m:t>
                            </m:r>
                          </m:sup>
                        </m:sSup>
                        <m:r>
                          <a:rPr lang="en-US" altLang="zh-CN" sz="1200" b="0" i="1" smtClean="0">
                            <a:latin typeface="Cambria Math" panose="02040503050406030204" pitchFamily="18" charset="0"/>
                            <a:ea typeface="幼圆" panose="02010509060101010101" pitchFamily="49" charset="-122"/>
                          </a:rPr>
                          <m:t>−</m:t>
                        </m:r>
                        <m:sSup>
                          <m:sSupPr>
                            <m:ctrlPr>
                              <a:rPr lang="en-US" altLang="zh-CN" sz="1200" b="0" i="1" smtClean="0">
                                <a:latin typeface="Cambria Math" panose="02040503050406030204" pitchFamily="18" charset="0"/>
                                <a:ea typeface="幼圆" panose="02010509060101010101" pitchFamily="49" charset="-122"/>
                              </a:rPr>
                            </m:ctrlPr>
                          </m:sSupPr>
                          <m:e>
                            <m:r>
                              <a:rPr lang="en-US" altLang="zh-CN" sz="1200" b="0" i="1" smtClean="0">
                                <a:latin typeface="Cambria Math" panose="02040503050406030204" pitchFamily="18" charset="0"/>
                                <a:ea typeface="幼圆" panose="02010509060101010101" pitchFamily="49" charset="-122"/>
                              </a:rPr>
                              <m:t>𝑒</m:t>
                            </m:r>
                          </m:e>
                          <m:sup>
                            <m:r>
                              <a:rPr lang="en-US" altLang="zh-CN" sz="1200" b="0" i="1" smtClean="0">
                                <a:latin typeface="Cambria Math" panose="02040503050406030204" pitchFamily="18" charset="0"/>
                                <a:ea typeface="幼圆" panose="02010509060101010101" pitchFamily="49" charset="-122"/>
                              </a:rPr>
                              <m:t>−</m:t>
                            </m:r>
                            <m:r>
                              <a:rPr lang="en-US" altLang="zh-CN" sz="1200" b="0" i="1" smtClean="0">
                                <a:latin typeface="Cambria Math" panose="02040503050406030204" pitchFamily="18" charset="0"/>
                                <a:ea typeface="幼圆" panose="02010509060101010101" pitchFamily="49" charset="-122"/>
                              </a:rPr>
                              <m:t>𝑧</m:t>
                            </m:r>
                          </m:sup>
                        </m:sSup>
                      </m:num>
                      <m:den>
                        <m:sSup>
                          <m:sSupPr>
                            <m:ctrlPr>
                              <a:rPr lang="en-US" altLang="zh-CN" sz="1200" b="0" i="1" smtClean="0">
                                <a:latin typeface="Cambria Math" panose="02040503050406030204" pitchFamily="18" charset="0"/>
                                <a:ea typeface="幼圆" panose="02010509060101010101" pitchFamily="49" charset="-122"/>
                              </a:rPr>
                            </m:ctrlPr>
                          </m:sSupPr>
                          <m:e>
                            <m:r>
                              <a:rPr lang="en-US" altLang="zh-CN" sz="1200" b="0" i="1" smtClean="0">
                                <a:latin typeface="Cambria Math" panose="02040503050406030204" pitchFamily="18" charset="0"/>
                                <a:ea typeface="幼圆" panose="02010509060101010101" pitchFamily="49" charset="-122"/>
                              </a:rPr>
                              <m:t>𝑒</m:t>
                            </m:r>
                          </m:e>
                          <m:sup>
                            <m:r>
                              <a:rPr lang="en-US" altLang="zh-CN" sz="1200" b="0" i="1" smtClean="0">
                                <a:latin typeface="Cambria Math" panose="02040503050406030204" pitchFamily="18" charset="0"/>
                                <a:ea typeface="幼圆" panose="02010509060101010101" pitchFamily="49" charset="-122"/>
                              </a:rPr>
                              <m:t>𝑧</m:t>
                            </m:r>
                          </m:sup>
                        </m:sSup>
                        <m:r>
                          <a:rPr lang="en-US" altLang="zh-CN" sz="1200" b="0" i="1" smtClean="0">
                            <a:latin typeface="Cambria Math" panose="02040503050406030204" pitchFamily="18" charset="0"/>
                            <a:ea typeface="幼圆" panose="02010509060101010101" pitchFamily="49" charset="-122"/>
                          </a:rPr>
                          <m:t>+</m:t>
                        </m:r>
                        <m:sSup>
                          <m:sSupPr>
                            <m:ctrlPr>
                              <a:rPr lang="en-US" altLang="zh-CN" sz="1200" b="0" i="1" smtClean="0">
                                <a:latin typeface="Cambria Math" panose="02040503050406030204" pitchFamily="18" charset="0"/>
                                <a:ea typeface="幼圆" panose="02010509060101010101" pitchFamily="49" charset="-122"/>
                              </a:rPr>
                            </m:ctrlPr>
                          </m:sSupPr>
                          <m:e>
                            <m:r>
                              <a:rPr lang="en-US" altLang="zh-CN" sz="1200" b="0" i="1" smtClean="0">
                                <a:latin typeface="Cambria Math" panose="02040503050406030204" pitchFamily="18" charset="0"/>
                                <a:ea typeface="幼圆" panose="02010509060101010101" pitchFamily="49" charset="-122"/>
                              </a:rPr>
                              <m:t>𝑒</m:t>
                            </m:r>
                          </m:e>
                          <m:sup>
                            <m:r>
                              <a:rPr lang="en-US" altLang="zh-CN" sz="1200" b="0" i="1" smtClean="0">
                                <a:latin typeface="Cambria Math" panose="02040503050406030204" pitchFamily="18" charset="0"/>
                                <a:ea typeface="幼圆" panose="02010509060101010101" pitchFamily="49" charset="-122"/>
                              </a:rPr>
                              <m:t>−</m:t>
                            </m:r>
                            <m:r>
                              <a:rPr lang="en-US" altLang="zh-CN" sz="1200" b="0" i="1" smtClean="0">
                                <a:latin typeface="Cambria Math" panose="02040503050406030204" pitchFamily="18" charset="0"/>
                                <a:ea typeface="幼圆" panose="02010509060101010101" pitchFamily="49" charset="-122"/>
                              </a:rPr>
                              <m:t>𝑧</m:t>
                            </m:r>
                          </m:sup>
                        </m:sSup>
                      </m:den>
                    </m:f>
                  </m:oMath>
                </a14:m>
                <a:r>
                  <a:rPr lang="zh-CN" altLang="en-US" sz="1200" b="0" dirty="0">
                    <a:latin typeface="幼圆" panose="02010509060101010101" pitchFamily="49" charset="-122"/>
                    <a:ea typeface="幼圆" panose="02010509060101010101" pitchFamily="49" charset="-122"/>
                  </a:rPr>
                  <a:t> </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将</a:t>
                </a:r>
                <a:r>
                  <a:rPr lang="en-US" altLang="zh-CN" sz="1200" b="0" dirty="0">
                    <a:latin typeface="幼圆" panose="02010509060101010101" pitchFamily="49" charset="-122"/>
                    <a:ea typeface="幼圆" panose="02010509060101010101" pitchFamily="49" charset="-122"/>
                  </a:rPr>
                  <a:t>[-</a:t>
                </a:r>
                <a:r>
                  <a:rPr lang="en-US" altLang="zh-CN" sz="1200" b="0" dirty="0">
                    <a:latin typeface="Cambria Math" panose="02040503050406030204" pitchFamily="18" charset="0"/>
                    <a:ea typeface="Cambria Math" panose="02040503050406030204" pitchFamily="18" charset="0"/>
                  </a:rPr>
                  <a: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范围的值映射到</a:t>
                </a:r>
                <a:r>
                  <a:rPr lang="en-US" altLang="zh-CN" sz="1200" b="0" dirty="0">
                    <a:latin typeface="幼圆" panose="02010509060101010101" pitchFamily="49" charset="-122"/>
                    <a:ea typeface="幼圆" panose="02010509060101010101" pitchFamily="49" charset="-122"/>
                  </a:rPr>
                  <a:t>[-1,1]</a:t>
                </a:r>
                <a:r>
                  <a:rPr lang="zh-CN" altLang="en-US" sz="1200" b="0" dirty="0">
                    <a:latin typeface="幼圆" panose="02010509060101010101" pitchFamily="49" charset="-122"/>
                    <a:ea typeface="幼圆" panose="02010509060101010101" pitchFamily="49" charset="-122"/>
                  </a:rPr>
                  <a:t>。</a:t>
                </a:r>
                <a:endParaRPr lang="en-US" altLang="zh-CN" sz="1200" b="0" dirty="0">
                  <a:latin typeface="幼圆" panose="02010509060101010101" pitchFamily="49" charset="-122"/>
                  <a:ea typeface="幼圆" panose="02010509060101010101" pitchFamily="49" charset="-122"/>
                </a:endParaRPr>
              </a:p>
              <a:p>
                <a:pPr marL="457200" lvl="1" indent="0">
                  <a:buFont typeface="Wingdings" panose="05000000000000000000" pitchFamily="2" charset="2"/>
                  <a:buNone/>
                </a:pPr>
                <a:endParaRPr lang="en-US" altLang="zh-CN" sz="1200" b="0" dirty="0">
                  <a:latin typeface="幼圆" panose="02010509060101010101" pitchFamily="49" charset="-122"/>
                  <a:ea typeface="幼圆" panose="02010509060101010101" pitchFamily="49" charset="-122"/>
                </a:endParaRPr>
              </a:p>
              <a:p>
                <a:endParaRPr lang="zh-CN" altLang="en-US" dirty="0"/>
              </a:p>
            </p:txBody>
          </p:sp>
        </mc:Choice>
        <mc:Fallback xmlns="">
          <p:sp>
            <p:nvSpPr>
              <p:cNvPr id="3" name="备注占位符 2"/>
              <p:cNvSpPr>
                <a:spLocks noGrp="1"/>
              </p:cNvSpPr>
              <p:nvPr>
                <p:ph type="body" idx="1"/>
              </p:nvPr>
            </p:nvSpPr>
            <p:spPr/>
            <p:txBody>
              <a:bodyPr/>
              <a:lstStyle/>
              <a:p>
                <a:pPr marL="0" indent="0">
                  <a:buFont typeface="Wingdings" panose="05000000000000000000" pitchFamily="2" charset="2"/>
                  <a:buNone/>
                </a:pPr>
                <a:r>
                  <a:rPr lang="en-US" altLang="zh-CN" sz="1200" b="0" dirty="0">
                    <a:latin typeface="幼圆" panose="02010509060101010101" pitchFamily="49" charset="-122"/>
                    <a:ea typeface="幼圆" panose="02010509060101010101" pitchFamily="49" charset="-122"/>
                  </a:rPr>
                  <a:t>1. </a:t>
                </a:r>
                <a:r>
                  <a:rPr lang="zh-CN" altLang="en-US" sz="1200" b="0" dirty="0">
                    <a:latin typeface="幼圆" panose="02010509060101010101" pitchFamily="49" charset="-122"/>
                    <a:ea typeface="幼圆" panose="02010509060101010101" pitchFamily="49" charset="-122"/>
                  </a:rPr>
                  <a:t>理想激活函数是阶跃函数</a:t>
                </a:r>
                <a:r>
                  <a:rPr lang="en-US" altLang="zh-CN" sz="1200" b="0" dirty="0">
                    <a:latin typeface="幼圆" panose="02010509060101010101" pitchFamily="49" charset="-122"/>
                    <a:ea typeface="幼圆" panose="02010509060101010101" pitchFamily="49" charset="-122"/>
                  </a:rPr>
                  <a:t>, 0</a:t>
                </a:r>
                <a:r>
                  <a:rPr lang="zh-CN" altLang="en-US" sz="1200" b="0" dirty="0">
                    <a:latin typeface="幼圆" panose="02010509060101010101" pitchFamily="49" charset="-122"/>
                    <a:ea typeface="幼圆" panose="02010509060101010101" pitchFamily="49" charset="-122"/>
                  </a:rPr>
                  <a:t>表示抑制神经元而</a:t>
                </a:r>
                <a:r>
                  <a:rPr lang="en-US" altLang="zh-CN" sz="1200" b="0" dirty="0">
                    <a:latin typeface="幼圆" panose="02010509060101010101" pitchFamily="49" charset="-122"/>
                    <a:ea typeface="幼圆" panose="02010509060101010101" pitchFamily="49" charset="-122"/>
                  </a:rPr>
                  <a:t>1</a:t>
                </a:r>
                <a:r>
                  <a:rPr lang="zh-CN" altLang="en-US" sz="1200" b="0" dirty="0">
                    <a:latin typeface="幼圆" panose="02010509060101010101" pitchFamily="49" charset="-122"/>
                    <a:ea typeface="幼圆" panose="02010509060101010101" pitchFamily="49" charset="-122"/>
                  </a:rPr>
                  <a:t>表示激活神经元</a:t>
                </a:r>
                <a:endParaRPr lang="en-US" altLang="zh-CN" sz="1200" b="0" dirty="0">
                  <a:latin typeface="幼圆" panose="02010509060101010101" pitchFamily="49" charset="-122"/>
                  <a:ea typeface="幼圆" panose="02010509060101010101" pitchFamily="49" charset="-122"/>
                </a:endParaRPr>
              </a:p>
              <a:p>
                <a:pPr marL="0" indent="0">
                  <a:buFont typeface="Wingdings" panose="05000000000000000000" pitchFamily="2" charset="2"/>
                  <a:buNone/>
                </a:pPr>
                <a:r>
                  <a:rPr lang="en-US" altLang="zh-CN" sz="1200" b="0" dirty="0">
                    <a:latin typeface="幼圆" panose="02010509060101010101" pitchFamily="49" charset="-122"/>
                    <a:ea typeface="幼圆" panose="02010509060101010101" pitchFamily="49" charset="-122"/>
                  </a:rPr>
                  <a:t>2. </a:t>
                </a:r>
                <a:r>
                  <a:rPr lang="zh-CN" altLang="en-US" sz="1200" b="0" dirty="0">
                    <a:latin typeface="幼圆" panose="02010509060101010101" pitchFamily="49" charset="-122"/>
                    <a:ea typeface="幼圆" panose="02010509060101010101" pitchFamily="49" charset="-122"/>
                  </a:rPr>
                  <a:t>阶跃函数具有不连续、不光滑，数学特性不好</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常用的是 </a:t>
                </a:r>
                <a:r>
                  <a:rPr lang="en-US" altLang="zh-CN" sz="1200" b="0" dirty="0">
                    <a:latin typeface="幼圆" panose="02010509060101010101" pitchFamily="49" charset="-122"/>
                    <a:ea typeface="幼圆" panose="02010509060101010101" pitchFamily="49" charset="-122"/>
                  </a:rPr>
                  <a:t>Sigmoid </a:t>
                </a:r>
                <a:r>
                  <a:rPr lang="zh-CN" altLang="en-US" sz="1200" b="0" dirty="0">
                    <a:latin typeface="幼圆" panose="02010509060101010101" pitchFamily="49" charset="-122"/>
                    <a:ea typeface="幼圆" panose="02010509060101010101" pitchFamily="49" charset="-122"/>
                  </a:rPr>
                  <a:t>函数和</a:t>
                </a:r>
                <a:r>
                  <a:rPr lang="en-US" altLang="zh-CN" sz="1200" b="0" dirty="0">
                    <a:latin typeface="幼圆" panose="02010509060101010101" pitchFamily="49" charset="-122"/>
                    <a:ea typeface="幼圆" panose="02010509060101010101" pitchFamily="49" charset="-122"/>
                  </a:rPr>
                  <a:t>tanh</a:t>
                </a:r>
                <a:r>
                  <a:rPr lang="zh-CN" altLang="en-US" sz="1200" b="0" dirty="0">
                    <a:latin typeface="幼圆" panose="02010509060101010101" pitchFamily="49" charset="-122"/>
                    <a:ea typeface="幼圆" panose="02010509060101010101" pitchFamily="49" charset="-122"/>
                  </a:rPr>
                  <a:t>（双曲正切）等具有较好数学特性的函数。</a:t>
                </a:r>
                <a:endParaRPr lang="en-US" altLang="zh-CN" sz="1200" b="0" dirty="0">
                  <a:latin typeface="幼圆" panose="02010509060101010101" pitchFamily="49" charset="-122"/>
                  <a:ea typeface="幼圆" panose="02010509060101010101" pitchFamily="49" charset="-122"/>
                </a:endParaRPr>
              </a:p>
              <a:p>
                <a:pPr marL="628650" lvl="1" indent="-171450">
                  <a:buFont typeface="Wingdings" panose="05000000000000000000" pitchFamily="2" charset="2"/>
                  <a:buChar char="p"/>
                </a:pPr>
                <a:r>
                  <a:rPr lang="en-US" altLang="zh-CN" sz="1200" b="0" dirty="0">
                    <a:latin typeface="幼圆" panose="02010509060101010101" pitchFamily="49" charset="-122"/>
                    <a:ea typeface="幼圆" panose="02010509060101010101" pitchFamily="49" charset="-122"/>
                  </a:rPr>
                  <a:t>Sigmoid</a:t>
                </a:r>
                <a:r>
                  <a:rPr lang="zh-CN" altLang="en-US" sz="1200" b="0" dirty="0">
                    <a:latin typeface="幼圆" panose="02010509060101010101" pitchFamily="49" charset="-122"/>
                    <a:ea typeface="幼圆" panose="02010509060101010101" pitchFamily="49" charset="-122"/>
                  </a:rPr>
                  <a:t>函数</a:t>
                </a:r>
                <a:r>
                  <a:rPr lang="en-US" altLang="zh-CN" sz="1200" b="0" i="0">
                    <a:latin typeface="Cambria Math" panose="02040503050406030204" pitchFamily="18" charset="0"/>
                    <a:ea typeface="Cambria" panose="02040503050406030204" pitchFamily="18" charset="0"/>
                  </a:rPr>
                  <a:t>g</a:t>
                </a:r>
                <a:r>
                  <a:rPr lang="en-US" altLang="zh-CN" sz="1200" b="0" i="0">
                    <a:latin typeface="Cambria Math" panose="02040503050406030204" pitchFamily="18" charset="0"/>
                    <a:ea typeface="幼圆" panose="02010509060101010101" pitchFamily="49" charset="-122"/>
                  </a:rPr>
                  <a:t>(𝑧)=1/(1+𝑒^(−𝑧) )</a:t>
                </a:r>
                <a:r>
                  <a:rPr lang="zh-CN" altLang="en-US" sz="1200" b="0" dirty="0">
                    <a:latin typeface="幼圆" panose="02010509060101010101" pitchFamily="49" charset="-122"/>
                    <a:ea typeface="幼圆" panose="02010509060101010101" pitchFamily="49" charset="-122"/>
                  </a:rPr>
                  <a:t> </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将</a:t>
                </a:r>
                <a:r>
                  <a:rPr lang="en-US" altLang="zh-CN" sz="1200" b="0" dirty="0">
                    <a:latin typeface="幼圆" panose="02010509060101010101" pitchFamily="49" charset="-122"/>
                    <a:ea typeface="幼圆" panose="02010509060101010101" pitchFamily="49" charset="-122"/>
                  </a:rPr>
                  <a:t>[-</a:t>
                </a:r>
                <a:r>
                  <a:rPr lang="en-US" altLang="zh-CN" sz="1200" b="0" dirty="0">
                    <a:latin typeface="Cambria Math" panose="02040503050406030204" pitchFamily="18" charset="0"/>
                    <a:ea typeface="Cambria Math" panose="02040503050406030204" pitchFamily="18" charset="0"/>
                  </a:rPr>
                  <a: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范围的值映射到</a:t>
                </a:r>
                <a:r>
                  <a:rPr lang="en-US" altLang="zh-CN" sz="1200" b="0" dirty="0">
                    <a:latin typeface="幼圆" panose="02010509060101010101" pitchFamily="49" charset="-122"/>
                    <a:ea typeface="幼圆" panose="02010509060101010101" pitchFamily="49" charset="-122"/>
                  </a:rPr>
                  <a:t>[0,1];</a:t>
                </a:r>
              </a:p>
              <a:p>
                <a:pPr marL="628650" lvl="1" indent="-171450">
                  <a:buFont typeface="Wingdings" panose="05000000000000000000" pitchFamily="2" charset="2"/>
                  <a:buChar char="p"/>
                </a:pPr>
                <a:r>
                  <a:rPr lang="en-US" altLang="zh-CN" sz="1200" b="0" baseline="0" dirty="0" err="1">
                    <a:latin typeface="幼圆" panose="02010509060101010101" pitchFamily="49" charset="-122"/>
                    <a:ea typeface="幼圆" panose="02010509060101010101" pitchFamily="49" charset="-122"/>
                  </a:rPr>
                  <a:t>tanh</a:t>
                </a:r>
                <a:r>
                  <a:rPr lang="zh-CN" altLang="en-US" sz="1200" b="0" baseline="0" dirty="0">
                    <a:latin typeface="幼圆" panose="02010509060101010101" pitchFamily="49" charset="-122"/>
                    <a:ea typeface="幼圆" panose="02010509060101010101" pitchFamily="49" charset="-122"/>
                  </a:rPr>
                  <a:t>函数</a:t>
                </a:r>
                <a:r>
                  <a:rPr lang="en-US" altLang="zh-CN" sz="1200" b="0" i="0">
                    <a:latin typeface="Cambria Math" panose="02040503050406030204" pitchFamily="18" charset="0"/>
                    <a:ea typeface="Cambria" panose="02040503050406030204" pitchFamily="18" charset="0"/>
                  </a:rPr>
                  <a:t>g</a:t>
                </a:r>
                <a:r>
                  <a:rPr lang="en-US" altLang="zh-CN" sz="1200" b="0" i="0">
                    <a:latin typeface="Cambria Math" panose="02040503050406030204" pitchFamily="18" charset="0"/>
                    <a:ea typeface="幼圆" panose="02010509060101010101" pitchFamily="49" charset="-122"/>
                  </a:rPr>
                  <a:t>(𝑧)=(𝑒^𝑧−𝑒^(−𝑧))/(𝑒^𝑧+𝑒^(−𝑧) )</a:t>
                </a:r>
                <a:r>
                  <a:rPr lang="zh-CN" altLang="en-US" sz="1200" b="0" dirty="0">
                    <a:latin typeface="幼圆" panose="02010509060101010101" pitchFamily="49" charset="-122"/>
                    <a:ea typeface="幼圆" panose="02010509060101010101" pitchFamily="49" charset="-122"/>
                  </a:rPr>
                  <a:t> </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将</a:t>
                </a:r>
                <a:r>
                  <a:rPr lang="en-US" altLang="zh-CN" sz="1200" b="0" dirty="0">
                    <a:latin typeface="幼圆" panose="02010509060101010101" pitchFamily="49" charset="-122"/>
                    <a:ea typeface="幼圆" panose="02010509060101010101" pitchFamily="49" charset="-122"/>
                  </a:rPr>
                  <a:t>[-</a:t>
                </a:r>
                <a:r>
                  <a:rPr lang="en-US" altLang="zh-CN" sz="1200" b="0" dirty="0">
                    <a:latin typeface="Cambria Math" panose="02040503050406030204" pitchFamily="18" charset="0"/>
                    <a:ea typeface="Cambria Math" panose="02040503050406030204" pitchFamily="18" charset="0"/>
                  </a:rPr>
                  <a: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范围的值映射到</a:t>
                </a:r>
                <a:r>
                  <a:rPr lang="en-US" altLang="zh-CN" sz="1200" b="0" dirty="0">
                    <a:latin typeface="幼圆" panose="02010509060101010101" pitchFamily="49" charset="-122"/>
                    <a:ea typeface="幼圆" panose="02010509060101010101" pitchFamily="49" charset="-122"/>
                  </a:rPr>
                  <a:t>[-1,1]</a:t>
                </a:r>
                <a:r>
                  <a:rPr lang="zh-CN" altLang="en-US" sz="1200" b="0" dirty="0">
                    <a:latin typeface="幼圆" panose="02010509060101010101" pitchFamily="49" charset="-122"/>
                    <a:ea typeface="幼圆" panose="02010509060101010101" pitchFamily="49" charset="-122"/>
                  </a:rPr>
                  <a:t>。</a:t>
                </a:r>
                <a:endParaRPr lang="en-US" altLang="zh-CN" sz="1200" b="0" dirty="0">
                  <a:latin typeface="幼圆" panose="02010509060101010101" pitchFamily="49" charset="-122"/>
                  <a:ea typeface="幼圆" panose="02010509060101010101" pitchFamily="49" charset="-122"/>
                </a:endParaRPr>
              </a:p>
              <a:p>
                <a:pPr marL="628650" lvl="1" indent="-171450">
                  <a:buFont typeface="Wingdings" panose="05000000000000000000" pitchFamily="2" charset="2"/>
                  <a:buChar char="p"/>
                </a:pPr>
                <a:r>
                  <a:rPr lang="en-US" altLang="zh-CN" sz="1200" b="0" dirty="0" err="1">
                    <a:latin typeface="幼圆" panose="02010509060101010101" pitchFamily="49" charset="-122"/>
                    <a:ea typeface="幼圆" panose="02010509060101010101" pitchFamily="49" charset="-122"/>
                  </a:rPr>
                  <a:t>Relu</a:t>
                </a:r>
                <a:r>
                  <a:rPr lang="en-US" altLang="zh-CN" sz="1200" b="0" dirty="0">
                    <a:latin typeface="幼圆" panose="02010509060101010101" pitchFamily="49" charset="-122"/>
                    <a:ea typeface="幼圆" panose="02010509060101010101" pitchFamily="49" charset="-122"/>
                  </a:rPr>
                  <a:t>(</a:t>
                </a:r>
                <a:r>
                  <a:rPr lang="en-US" altLang="zh-CN" sz="1200" b="0" dirty="0" err="1">
                    <a:latin typeface="幼圆" panose="02010509060101010101" pitchFamily="49" charset="-122"/>
                    <a:ea typeface="幼圆" panose="02010509060101010101" pitchFamily="49" charset="-122"/>
                  </a:rPr>
                  <a:t>Recitified</a:t>
                </a:r>
                <a:r>
                  <a:rPr lang="en-US" altLang="zh-CN" sz="1200" b="0" dirty="0">
                    <a:latin typeface="幼圆" panose="02010509060101010101" pitchFamily="49" charset="-122"/>
                    <a:ea typeface="幼圆" panose="02010509060101010101" pitchFamily="49" charset="-122"/>
                  </a:rPr>
                  <a:t> Linear</a:t>
                </a:r>
                <a:r>
                  <a:rPr lang="en-US" altLang="zh-CN" sz="1200" b="0" baseline="0" dirty="0">
                    <a:latin typeface="幼圆" panose="02010509060101010101" pitchFamily="49" charset="-122"/>
                    <a:ea typeface="幼圆" panose="02010509060101010101" pitchFamily="49" charset="-122"/>
                  </a:rPr>
                  <a:t> Unit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线性整流函数 </a:t>
                </a:r>
                <a:r>
                  <a:rPr lang="en-US" altLang="zh-CN" sz="1200" b="0" i="0">
                    <a:latin typeface="Cambria Math" panose="02040503050406030204" pitchFamily="18" charset="0"/>
                    <a:ea typeface="Cambria" panose="02040503050406030204" pitchFamily="18" charset="0"/>
                  </a:rPr>
                  <a:t>g</a:t>
                </a:r>
                <a:r>
                  <a:rPr lang="en-US" altLang="zh-CN" sz="1200" b="0" i="0">
                    <a:latin typeface="Cambria Math" panose="02040503050406030204" pitchFamily="18" charset="0"/>
                    <a:ea typeface="幼圆" panose="02010509060101010101" pitchFamily="49" charset="-122"/>
                  </a:rPr>
                  <a:t>(𝑧)=</a:t>
                </a:r>
                <a:r>
                  <a:rPr lang="en-US" altLang="zh-CN" dirty="0">
                    <a:effectLst/>
                  </a:rPr>
                  <a:t>max(0, z) </a:t>
                </a:r>
                <a:endParaRPr lang="en-US" altLang="zh-CN" sz="1200" b="0" dirty="0">
                  <a:latin typeface="幼圆" panose="02010509060101010101" pitchFamily="49" charset="-122"/>
                  <a:ea typeface="幼圆" panose="02010509060101010101" pitchFamily="49" charset="-122"/>
                </a:endParaRPr>
              </a:p>
              <a:p>
                <a:pPr marL="457200" lvl="1" indent="0">
                  <a:buFont typeface="Wingdings" panose="05000000000000000000" pitchFamily="2" charset="2"/>
                  <a:buNone/>
                </a:pPr>
                <a:endParaRPr lang="en-US" altLang="zh-CN" sz="1200" b="0" dirty="0">
                  <a:latin typeface="幼圆" panose="02010509060101010101" pitchFamily="49" charset="-122"/>
                  <a:ea typeface="幼圆" panose="02010509060101010101" pitchFamily="49" charset="-122"/>
                </a:endParaRPr>
              </a:p>
              <a:p>
                <a:endParaRPr lang="zh-CN" altLang="en-US" dirty="0"/>
              </a:p>
            </p:txBody>
          </p:sp>
        </mc:Fallback>
      </mc:AlternateContent>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60</a:t>
            </a:fld>
            <a:endParaRPr lang="zh-CN" altLang="en-US"/>
          </a:p>
        </p:txBody>
      </p:sp>
    </p:spTree>
    <p:extLst>
      <p:ext uri="{BB962C8B-B14F-4D97-AF65-F5344CB8AC3E}">
        <p14:creationId xmlns:p14="http://schemas.microsoft.com/office/powerpoint/2010/main" val="97331962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457200" lvl="1" indent="0">
                  <a:buFont typeface="Wingdings" panose="05000000000000000000" pitchFamily="2" charset="2"/>
                  <a:buNone/>
                </a:pPr>
                <a:endParaRPr lang="en-US" altLang="zh-CN" sz="1200" b="0" dirty="0">
                  <a:latin typeface="幼圆" panose="02010509060101010101" pitchFamily="49" charset="-122"/>
                  <a:ea typeface="幼圆" panose="02010509060101010101" pitchFamily="49" charset="-122"/>
                </a:endParaRPr>
              </a:p>
              <a:p>
                <a:endParaRPr lang="zh-CN" altLang="en-US" dirty="0"/>
              </a:p>
            </p:txBody>
          </p:sp>
        </mc:Choice>
        <mc:Fallback xmlns="">
          <p:sp>
            <p:nvSpPr>
              <p:cNvPr id="3" name="备注占位符 2"/>
              <p:cNvSpPr>
                <a:spLocks noGrp="1"/>
              </p:cNvSpPr>
              <p:nvPr>
                <p:ph type="body" idx="1"/>
              </p:nvPr>
            </p:nvSpPr>
            <p:spPr/>
            <p:txBody>
              <a:bodyPr/>
              <a:lstStyle/>
              <a:p>
                <a:pPr marL="0" indent="0">
                  <a:buFont typeface="Wingdings" panose="05000000000000000000" pitchFamily="2" charset="2"/>
                  <a:buNone/>
                </a:pPr>
                <a:r>
                  <a:rPr lang="en-US" altLang="zh-CN" sz="1200" b="0" dirty="0">
                    <a:latin typeface="幼圆" panose="02010509060101010101" pitchFamily="49" charset="-122"/>
                    <a:ea typeface="幼圆" panose="02010509060101010101" pitchFamily="49" charset="-122"/>
                  </a:rPr>
                  <a:t>1. </a:t>
                </a:r>
                <a:r>
                  <a:rPr lang="zh-CN" altLang="en-US" sz="1200" b="0" dirty="0">
                    <a:latin typeface="幼圆" panose="02010509060101010101" pitchFamily="49" charset="-122"/>
                    <a:ea typeface="幼圆" panose="02010509060101010101" pitchFamily="49" charset="-122"/>
                  </a:rPr>
                  <a:t>理想激活函数是阶跃函数</a:t>
                </a:r>
                <a:r>
                  <a:rPr lang="en-US" altLang="zh-CN" sz="1200" b="0" dirty="0">
                    <a:latin typeface="幼圆" panose="02010509060101010101" pitchFamily="49" charset="-122"/>
                    <a:ea typeface="幼圆" panose="02010509060101010101" pitchFamily="49" charset="-122"/>
                  </a:rPr>
                  <a:t>, 0</a:t>
                </a:r>
                <a:r>
                  <a:rPr lang="zh-CN" altLang="en-US" sz="1200" b="0" dirty="0">
                    <a:latin typeface="幼圆" panose="02010509060101010101" pitchFamily="49" charset="-122"/>
                    <a:ea typeface="幼圆" panose="02010509060101010101" pitchFamily="49" charset="-122"/>
                  </a:rPr>
                  <a:t>表示抑制神经元而</a:t>
                </a:r>
                <a:r>
                  <a:rPr lang="en-US" altLang="zh-CN" sz="1200" b="0" dirty="0">
                    <a:latin typeface="幼圆" panose="02010509060101010101" pitchFamily="49" charset="-122"/>
                    <a:ea typeface="幼圆" panose="02010509060101010101" pitchFamily="49" charset="-122"/>
                  </a:rPr>
                  <a:t>1</a:t>
                </a:r>
                <a:r>
                  <a:rPr lang="zh-CN" altLang="en-US" sz="1200" b="0" dirty="0">
                    <a:latin typeface="幼圆" panose="02010509060101010101" pitchFamily="49" charset="-122"/>
                    <a:ea typeface="幼圆" panose="02010509060101010101" pitchFamily="49" charset="-122"/>
                  </a:rPr>
                  <a:t>表示激活神经元</a:t>
                </a:r>
                <a:endParaRPr lang="en-US" altLang="zh-CN" sz="1200" b="0" dirty="0">
                  <a:latin typeface="幼圆" panose="02010509060101010101" pitchFamily="49" charset="-122"/>
                  <a:ea typeface="幼圆" panose="02010509060101010101" pitchFamily="49" charset="-122"/>
                </a:endParaRPr>
              </a:p>
              <a:p>
                <a:pPr marL="0" indent="0">
                  <a:buFont typeface="Wingdings" panose="05000000000000000000" pitchFamily="2" charset="2"/>
                  <a:buNone/>
                </a:pPr>
                <a:r>
                  <a:rPr lang="en-US" altLang="zh-CN" sz="1200" b="0" dirty="0">
                    <a:latin typeface="幼圆" panose="02010509060101010101" pitchFamily="49" charset="-122"/>
                    <a:ea typeface="幼圆" panose="02010509060101010101" pitchFamily="49" charset="-122"/>
                  </a:rPr>
                  <a:t>2. </a:t>
                </a:r>
                <a:r>
                  <a:rPr lang="zh-CN" altLang="en-US" sz="1200" b="0" dirty="0">
                    <a:latin typeface="幼圆" panose="02010509060101010101" pitchFamily="49" charset="-122"/>
                    <a:ea typeface="幼圆" panose="02010509060101010101" pitchFamily="49" charset="-122"/>
                  </a:rPr>
                  <a:t>阶跃函数具有不连续、不光滑，数学特性不好</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常用的是 </a:t>
                </a:r>
                <a:r>
                  <a:rPr lang="en-US" altLang="zh-CN" sz="1200" b="0" dirty="0">
                    <a:latin typeface="幼圆" panose="02010509060101010101" pitchFamily="49" charset="-122"/>
                    <a:ea typeface="幼圆" panose="02010509060101010101" pitchFamily="49" charset="-122"/>
                  </a:rPr>
                  <a:t>Sigmoid </a:t>
                </a:r>
                <a:r>
                  <a:rPr lang="zh-CN" altLang="en-US" sz="1200" b="0" dirty="0">
                    <a:latin typeface="幼圆" panose="02010509060101010101" pitchFamily="49" charset="-122"/>
                    <a:ea typeface="幼圆" panose="02010509060101010101" pitchFamily="49" charset="-122"/>
                  </a:rPr>
                  <a:t>函数和</a:t>
                </a:r>
                <a:r>
                  <a:rPr lang="en-US" altLang="zh-CN" sz="1200" b="0" dirty="0">
                    <a:latin typeface="幼圆" panose="02010509060101010101" pitchFamily="49" charset="-122"/>
                    <a:ea typeface="幼圆" panose="02010509060101010101" pitchFamily="49" charset="-122"/>
                  </a:rPr>
                  <a:t>tanh</a:t>
                </a:r>
                <a:r>
                  <a:rPr lang="zh-CN" altLang="en-US" sz="1200" b="0" dirty="0">
                    <a:latin typeface="幼圆" panose="02010509060101010101" pitchFamily="49" charset="-122"/>
                    <a:ea typeface="幼圆" panose="02010509060101010101" pitchFamily="49" charset="-122"/>
                  </a:rPr>
                  <a:t>（双曲正切）等具有较好数学特性的函数。</a:t>
                </a:r>
                <a:endParaRPr lang="en-US" altLang="zh-CN" sz="1200" b="0" dirty="0">
                  <a:latin typeface="幼圆" panose="02010509060101010101" pitchFamily="49" charset="-122"/>
                  <a:ea typeface="幼圆" panose="02010509060101010101" pitchFamily="49" charset="-122"/>
                </a:endParaRPr>
              </a:p>
              <a:p>
                <a:pPr marL="628650" lvl="1" indent="-171450">
                  <a:buFont typeface="Wingdings" panose="05000000000000000000" pitchFamily="2" charset="2"/>
                  <a:buChar char="p"/>
                </a:pPr>
                <a:r>
                  <a:rPr lang="en-US" altLang="zh-CN" sz="1200" b="0" dirty="0">
                    <a:latin typeface="幼圆" panose="02010509060101010101" pitchFamily="49" charset="-122"/>
                    <a:ea typeface="幼圆" panose="02010509060101010101" pitchFamily="49" charset="-122"/>
                  </a:rPr>
                  <a:t>Sigmoid</a:t>
                </a:r>
                <a:r>
                  <a:rPr lang="zh-CN" altLang="en-US" sz="1200" b="0" dirty="0">
                    <a:latin typeface="幼圆" panose="02010509060101010101" pitchFamily="49" charset="-122"/>
                    <a:ea typeface="幼圆" panose="02010509060101010101" pitchFamily="49" charset="-122"/>
                  </a:rPr>
                  <a:t>函数</a:t>
                </a:r>
                <a:r>
                  <a:rPr lang="en-US" altLang="zh-CN" sz="1200" b="0" i="0">
                    <a:latin typeface="Cambria Math" panose="02040503050406030204" pitchFamily="18" charset="0"/>
                    <a:ea typeface="Cambria" panose="02040503050406030204" pitchFamily="18" charset="0"/>
                  </a:rPr>
                  <a:t>g</a:t>
                </a:r>
                <a:r>
                  <a:rPr lang="en-US" altLang="zh-CN" sz="1200" b="0" i="0">
                    <a:latin typeface="Cambria Math" panose="02040503050406030204" pitchFamily="18" charset="0"/>
                    <a:ea typeface="幼圆" panose="02010509060101010101" pitchFamily="49" charset="-122"/>
                  </a:rPr>
                  <a:t>(𝑧)=1/(1+𝑒^(−𝑧) )</a:t>
                </a:r>
                <a:r>
                  <a:rPr lang="zh-CN" altLang="en-US" sz="1200" b="0" dirty="0">
                    <a:latin typeface="幼圆" panose="02010509060101010101" pitchFamily="49" charset="-122"/>
                    <a:ea typeface="幼圆" panose="02010509060101010101" pitchFamily="49" charset="-122"/>
                  </a:rPr>
                  <a:t> </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将</a:t>
                </a:r>
                <a:r>
                  <a:rPr lang="en-US" altLang="zh-CN" sz="1200" b="0" dirty="0">
                    <a:latin typeface="幼圆" panose="02010509060101010101" pitchFamily="49" charset="-122"/>
                    <a:ea typeface="幼圆" panose="02010509060101010101" pitchFamily="49" charset="-122"/>
                  </a:rPr>
                  <a:t>[-</a:t>
                </a:r>
                <a:r>
                  <a:rPr lang="en-US" altLang="zh-CN" sz="1200" b="0" dirty="0">
                    <a:latin typeface="Cambria Math" panose="02040503050406030204" pitchFamily="18" charset="0"/>
                    <a:ea typeface="Cambria Math" panose="02040503050406030204" pitchFamily="18" charset="0"/>
                  </a:rPr>
                  <a: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范围的值映射到</a:t>
                </a:r>
                <a:r>
                  <a:rPr lang="en-US" altLang="zh-CN" sz="1200" b="0" dirty="0">
                    <a:latin typeface="幼圆" panose="02010509060101010101" pitchFamily="49" charset="-122"/>
                    <a:ea typeface="幼圆" panose="02010509060101010101" pitchFamily="49" charset="-122"/>
                  </a:rPr>
                  <a:t>[0,1];</a:t>
                </a:r>
              </a:p>
              <a:p>
                <a:pPr marL="628650" lvl="1" indent="-171450">
                  <a:buFont typeface="Wingdings" panose="05000000000000000000" pitchFamily="2" charset="2"/>
                  <a:buChar char="p"/>
                </a:pPr>
                <a:r>
                  <a:rPr lang="en-US" altLang="zh-CN" sz="1200" b="0" baseline="0" dirty="0" err="1">
                    <a:latin typeface="幼圆" panose="02010509060101010101" pitchFamily="49" charset="-122"/>
                    <a:ea typeface="幼圆" panose="02010509060101010101" pitchFamily="49" charset="-122"/>
                  </a:rPr>
                  <a:t>tanh</a:t>
                </a:r>
                <a:r>
                  <a:rPr lang="zh-CN" altLang="en-US" sz="1200" b="0" baseline="0" dirty="0">
                    <a:latin typeface="幼圆" panose="02010509060101010101" pitchFamily="49" charset="-122"/>
                    <a:ea typeface="幼圆" panose="02010509060101010101" pitchFamily="49" charset="-122"/>
                  </a:rPr>
                  <a:t>函数</a:t>
                </a:r>
                <a:r>
                  <a:rPr lang="en-US" altLang="zh-CN" sz="1200" b="0" i="0">
                    <a:latin typeface="Cambria Math" panose="02040503050406030204" pitchFamily="18" charset="0"/>
                    <a:ea typeface="Cambria" panose="02040503050406030204" pitchFamily="18" charset="0"/>
                  </a:rPr>
                  <a:t>g</a:t>
                </a:r>
                <a:r>
                  <a:rPr lang="en-US" altLang="zh-CN" sz="1200" b="0" i="0">
                    <a:latin typeface="Cambria Math" panose="02040503050406030204" pitchFamily="18" charset="0"/>
                    <a:ea typeface="幼圆" panose="02010509060101010101" pitchFamily="49" charset="-122"/>
                  </a:rPr>
                  <a:t>(𝑧)=(𝑒^𝑧−𝑒^(−𝑧))/(𝑒^𝑧+𝑒^(−𝑧) )</a:t>
                </a:r>
                <a:r>
                  <a:rPr lang="zh-CN" altLang="en-US" sz="1200" b="0" dirty="0">
                    <a:latin typeface="幼圆" panose="02010509060101010101" pitchFamily="49" charset="-122"/>
                    <a:ea typeface="幼圆" panose="02010509060101010101" pitchFamily="49" charset="-122"/>
                  </a:rPr>
                  <a:t> </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将</a:t>
                </a:r>
                <a:r>
                  <a:rPr lang="en-US" altLang="zh-CN" sz="1200" b="0" dirty="0">
                    <a:latin typeface="幼圆" panose="02010509060101010101" pitchFamily="49" charset="-122"/>
                    <a:ea typeface="幼圆" panose="02010509060101010101" pitchFamily="49" charset="-122"/>
                  </a:rPr>
                  <a:t>[-</a:t>
                </a:r>
                <a:r>
                  <a:rPr lang="en-US" altLang="zh-CN" sz="1200" b="0" dirty="0">
                    <a:latin typeface="Cambria Math" panose="02040503050406030204" pitchFamily="18" charset="0"/>
                    <a:ea typeface="Cambria Math" panose="02040503050406030204" pitchFamily="18" charset="0"/>
                  </a:rPr>
                  <a: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范围的值映射到</a:t>
                </a:r>
                <a:r>
                  <a:rPr lang="en-US" altLang="zh-CN" sz="1200" b="0" dirty="0">
                    <a:latin typeface="幼圆" panose="02010509060101010101" pitchFamily="49" charset="-122"/>
                    <a:ea typeface="幼圆" panose="02010509060101010101" pitchFamily="49" charset="-122"/>
                  </a:rPr>
                  <a:t>[-1,1]</a:t>
                </a:r>
                <a:r>
                  <a:rPr lang="zh-CN" altLang="en-US" sz="1200" b="0" dirty="0">
                    <a:latin typeface="幼圆" panose="02010509060101010101" pitchFamily="49" charset="-122"/>
                    <a:ea typeface="幼圆" panose="02010509060101010101" pitchFamily="49" charset="-122"/>
                  </a:rPr>
                  <a:t>。</a:t>
                </a:r>
                <a:endParaRPr lang="en-US" altLang="zh-CN" sz="1200" b="0" dirty="0">
                  <a:latin typeface="幼圆" panose="02010509060101010101" pitchFamily="49" charset="-122"/>
                  <a:ea typeface="幼圆" panose="02010509060101010101" pitchFamily="49" charset="-122"/>
                </a:endParaRPr>
              </a:p>
              <a:p>
                <a:pPr marL="628650" lvl="1" indent="-171450">
                  <a:buFont typeface="Wingdings" panose="05000000000000000000" pitchFamily="2" charset="2"/>
                  <a:buChar char="p"/>
                </a:pPr>
                <a:r>
                  <a:rPr lang="en-US" altLang="zh-CN" sz="1200" b="0" dirty="0" err="1">
                    <a:latin typeface="幼圆" panose="02010509060101010101" pitchFamily="49" charset="-122"/>
                    <a:ea typeface="幼圆" panose="02010509060101010101" pitchFamily="49" charset="-122"/>
                  </a:rPr>
                  <a:t>Relu</a:t>
                </a:r>
                <a:r>
                  <a:rPr lang="en-US" altLang="zh-CN" sz="1200" b="0" dirty="0">
                    <a:latin typeface="幼圆" panose="02010509060101010101" pitchFamily="49" charset="-122"/>
                    <a:ea typeface="幼圆" panose="02010509060101010101" pitchFamily="49" charset="-122"/>
                  </a:rPr>
                  <a:t>(</a:t>
                </a:r>
                <a:r>
                  <a:rPr lang="en-US" altLang="zh-CN" sz="1200" b="0" dirty="0" err="1">
                    <a:latin typeface="幼圆" panose="02010509060101010101" pitchFamily="49" charset="-122"/>
                    <a:ea typeface="幼圆" panose="02010509060101010101" pitchFamily="49" charset="-122"/>
                  </a:rPr>
                  <a:t>Recitified</a:t>
                </a:r>
                <a:r>
                  <a:rPr lang="en-US" altLang="zh-CN" sz="1200" b="0" dirty="0">
                    <a:latin typeface="幼圆" panose="02010509060101010101" pitchFamily="49" charset="-122"/>
                    <a:ea typeface="幼圆" panose="02010509060101010101" pitchFamily="49" charset="-122"/>
                  </a:rPr>
                  <a:t> Linear</a:t>
                </a:r>
                <a:r>
                  <a:rPr lang="en-US" altLang="zh-CN" sz="1200" b="0" baseline="0" dirty="0">
                    <a:latin typeface="幼圆" panose="02010509060101010101" pitchFamily="49" charset="-122"/>
                    <a:ea typeface="幼圆" panose="02010509060101010101" pitchFamily="49" charset="-122"/>
                  </a:rPr>
                  <a:t> Unit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线性整流函数 </a:t>
                </a:r>
                <a:r>
                  <a:rPr lang="en-US" altLang="zh-CN" sz="1200" b="0" i="0">
                    <a:latin typeface="Cambria Math" panose="02040503050406030204" pitchFamily="18" charset="0"/>
                    <a:ea typeface="Cambria" panose="02040503050406030204" pitchFamily="18" charset="0"/>
                  </a:rPr>
                  <a:t>g</a:t>
                </a:r>
                <a:r>
                  <a:rPr lang="en-US" altLang="zh-CN" sz="1200" b="0" i="0">
                    <a:latin typeface="Cambria Math" panose="02040503050406030204" pitchFamily="18" charset="0"/>
                    <a:ea typeface="幼圆" panose="02010509060101010101" pitchFamily="49" charset="-122"/>
                  </a:rPr>
                  <a:t>(𝑧)=</a:t>
                </a:r>
                <a:r>
                  <a:rPr lang="en-US" altLang="zh-CN" dirty="0">
                    <a:effectLst/>
                  </a:rPr>
                  <a:t>max(0, z) </a:t>
                </a:r>
                <a:endParaRPr lang="en-US" altLang="zh-CN" sz="1200" b="0" dirty="0">
                  <a:latin typeface="幼圆" panose="02010509060101010101" pitchFamily="49" charset="-122"/>
                  <a:ea typeface="幼圆" panose="02010509060101010101" pitchFamily="49" charset="-122"/>
                </a:endParaRPr>
              </a:p>
              <a:p>
                <a:pPr marL="457200" lvl="1" indent="0">
                  <a:buFont typeface="Wingdings" panose="05000000000000000000" pitchFamily="2" charset="2"/>
                  <a:buNone/>
                </a:pPr>
                <a:endParaRPr lang="en-US" altLang="zh-CN" sz="1200" b="0" dirty="0">
                  <a:latin typeface="幼圆" panose="02010509060101010101" pitchFamily="49" charset="-122"/>
                  <a:ea typeface="幼圆" panose="02010509060101010101" pitchFamily="49" charset="-122"/>
                </a:endParaRPr>
              </a:p>
              <a:p>
                <a:endParaRPr lang="zh-CN" altLang="en-US" dirty="0"/>
              </a:p>
            </p:txBody>
          </p:sp>
        </mc:Fallback>
      </mc:AlternateContent>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61</a:t>
            </a:fld>
            <a:endParaRPr lang="zh-CN" altLang="en-US"/>
          </a:p>
        </p:txBody>
      </p:sp>
    </p:spTree>
    <p:extLst>
      <p:ext uri="{BB962C8B-B14F-4D97-AF65-F5344CB8AC3E}">
        <p14:creationId xmlns:p14="http://schemas.microsoft.com/office/powerpoint/2010/main" val="252935214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indent="0">
                  <a:buFont typeface="Wingdings" panose="05000000000000000000" pitchFamily="2" charset="2"/>
                  <a:buNone/>
                </a:pPr>
                <a:r>
                  <a:rPr lang="en-US" altLang="zh-CN" sz="1200" b="0" dirty="0">
                    <a:latin typeface="幼圆" panose="02010509060101010101" pitchFamily="49" charset="-122"/>
                    <a:ea typeface="幼圆" panose="02010509060101010101" pitchFamily="49" charset="-122"/>
                  </a:rPr>
                  <a:t>1. </a:t>
                </a:r>
                <a:r>
                  <a:rPr lang="zh-CN" altLang="en-US" sz="1200" b="0" dirty="0">
                    <a:latin typeface="幼圆" panose="02010509060101010101" pitchFamily="49" charset="-122"/>
                    <a:ea typeface="幼圆" panose="02010509060101010101" pitchFamily="49" charset="-122"/>
                  </a:rPr>
                  <a:t>理想激活函数是阶跃函数</a:t>
                </a:r>
                <a:r>
                  <a:rPr lang="en-US" altLang="zh-CN" sz="1200" b="0" dirty="0">
                    <a:latin typeface="幼圆" panose="02010509060101010101" pitchFamily="49" charset="-122"/>
                    <a:ea typeface="幼圆" panose="02010509060101010101" pitchFamily="49" charset="-122"/>
                  </a:rPr>
                  <a:t>, 0</a:t>
                </a:r>
                <a:r>
                  <a:rPr lang="zh-CN" altLang="en-US" sz="1200" b="0" dirty="0">
                    <a:latin typeface="幼圆" panose="02010509060101010101" pitchFamily="49" charset="-122"/>
                    <a:ea typeface="幼圆" panose="02010509060101010101" pitchFamily="49" charset="-122"/>
                  </a:rPr>
                  <a:t>表示抑制神经元而</a:t>
                </a:r>
                <a:r>
                  <a:rPr lang="en-US" altLang="zh-CN" sz="1200" b="0" dirty="0">
                    <a:latin typeface="幼圆" panose="02010509060101010101" pitchFamily="49" charset="-122"/>
                    <a:ea typeface="幼圆" panose="02010509060101010101" pitchFamily="49" charset="-122"/>
                  </a:rPr>
                  <a:t>1</a:t>
                </a:r>
                <a:r>
                  <a:rPr lang="zh-CN" altLang="en-US" sz="1200" b="0" dirty="0">
                    <a:latin typeface="幼圆" panose="02010509060101010101" pitchFamily="49" charset="-122"/>
                    <a:ea typeface="幼圆" panose="02010509060101010101" pitchFamily="49" charset="-122"/>
                  </a:rPr>
                  <a:t>表示激活神经元</a:t>
                </a:r>
                <a:endParaRPr lang="en-US" altLang="zh-CN" sz="1200" b="0" dirty="0">
                  <a:latin typeface="幼圆" panose="02010509060101010101" pitchFamily="49" charset="-122"/>
                  <a:ea typeface="幼圆" panose="02010509060101010101" pitchFamily="49" charset="-122"/>
                </a:endParaRPr>
              </a:p>
              <a:p>
                <a:pPr marL="0" indent="0">
                  <a:buFont typeface="Wingdings" panose="05000000000000000000" pitchFamily="2" charset="2"/>
                  <a:buNone/>
                </a:pPr>
                <a:r>
                  <a:rPr lang="en-US" altLang="zh-CN" sz="1200" b="0" dirty="0">
                    <a:latin typeface="幼圆" panose="02010509060101010101" pitchFamily="49" charset="-122"/>
                    <a:ea typeface="幼圆" panose="02010509060101010101" pitchFamily="49" charset="-122"/>
                  </a:rPr>
                  <a:t>2. </a:t>
                </a:r>
                <a:r>
                  <a:rPr lang="zh-CN" altLang="en-US" sz="1200" b="0" dirty="0">
                    <a:latin typeface="幼圆" panose="02010509060101010101" pitchFamily="49" charset="-122"/>
                    <a:ea typeface="幼圆" panose="02010509060101010101" pitchFamily="49" charset="-122"/>
                  </a:rPr>
                  <a:t>阶跃函数具有不连续、不光滑，数学特性不好</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常用的是 </a:t>
                </a:r>
                <a:r>
                  <a:rPr lang="en-US" altLang="zh-CN" sz="1200" b="0" dirty="0">
                    <a:latin typeface="幼圆" panose="02010509060101010101" pitchFamily="49" charset="-122"/>
                    <a:ea typeface="幼圆" panose="02010509060101010101" pitchFamily="49" charset="-122"/>
                  </a:rPr>
                  <a:t>Sigmoid </a:t>
                </a:r>
                <a:r>
                  <a:rPr lang="zh-CN" altLang="en-US" sz="1200" b="0" dirty="0">
                    <a:latin typeface="幼圆" panose="02010509060101010101" pitchFamily="49" charset="-122"/>
                    <a:ea typeface="幼圆" panose="02010509060101010101" pitchFamily="49" charset="-122"/>
                  </a:rPr>
                  <a:t>函数和</a:t>
                </a:r>
                <a:r>
                  <a:rPr lang="en-US" altLang="zh-CN" sz="1200" b="0" dirty="0">
                    <a:latin typeface="幼圆" panose="02010509060101010101" pitchFamily="49" charset="-122"/>
                    <a:ea typeface="幼圆" panose="02010509060101010101" pitchFamily="49" charset="-122"/>
                  </a:rPr>
                  <a:t>tanh</a:t>
                </a:r>
                <a:r>
                  <a:rPr lang="zh-CN" altLang="en-US" sz="1200" b="0" dirty="0">
                    <a:latin typeface="幼圆" panose="02010509060101010101" pitchFamily="49" charset="-122"/>
                    <a:ea typeface="幼圆" panose="02010509060101010101" pitchFamily="49" charset="-122"/>
                  </a:rPr>
                  <a:t>（双曲正切）等具有较好数学特性的函数。</a:t>
                </a:r>
                <a:endParaRPr lang="en-US" altLang="zh-CN" sz="1200" b="0" dirty="0">
                  <a:latin typeface="幼圆" panose="02010509060101010101" pitchFamily="49" charset="-122"/>
                  <a:ea typeface="幼圆" panose="02010509060101010101" pitchFamily="49" charset="-122"/>
                </a:endParaRPr>
              </a:p>
              <a:p>
                <a:pPr marL="628650" lvl="1" indent="-171450">
                  <a:buFont typeface="Wingdings" panose="05000000000000000000" pitchFamily="2" charset="2"/>
                  <a:buChar char="p"/>
                </a:pPr>
                <a:r>
                  <a:rPr lang="en-US" altLang="zh-CN" sz="1200" b="0" dirty="0">
                    <a:latin typeface="幼圆" panose="02010509060101010101" pitchFamily="49" charset="-122"/>
                    <a:ea typeface="幼圆" panose="02010509060101010101" pitchFamily="49" charset="-122"/>
                  </a:rPr>
                  <a:t>Sigmoid</a:t>
                </a:r>
                <a:r>
                  <a:rPr lang="zh-CN" altLang="en-US" sz="1200" b="0" dirty="0">
                    <a:latin typeface="幼圆" panose="02010509060101010101" pitchFamily="49" charset="-122"/>
                    <a:ea typeface="幼圆" panose="02010509060101010101" pitchFamily="49" charset="-122"/>
                  </a:rPr>
                  <a:t>函数</a:t>
                </a:r>
                <a14:m>
                  <m:oMath xmlns:m="http://schemas.openxmlformats.org/officeDocument/2006/math">
                    <m:r>
                      <m:rPr>
                        <m:sty m:val="p"/>
                      </m:rPr>
                      <a:rPr lang="en-US" altLang="zh-CN" sz="1200" b="0" i="0" smtClean="0">
                        <a:latin typeface="Cambria Math" panose="02040503050406030204" pitchFamily="18" charset="0"/>
                        <a:ea typeface="Cambria" panose="02040503050406030204" pitchFamily="18" charset="0"/>
                      </a:rPr>
                      <m:t>g</m:t>
                    </m:r>
                    <m:d>
                      <m:dPr>
                        <m:ctrlPr>
                          <a:rPr lang="en-US" altLang="zh-CN" sz="1200" b="0" i="1" smtClean="0">
                            <a:latin typeface="Cambria Math" panose="02040503050406030204" pitchFamily="18" charset="0"/>
                            <a:ea typeface="幼圆" panose="02010509060101010101" pitchFamily="49" charset="-122"/>
                          </a:rPr>
                        </m:ctrlPr>
                      </m:dPr>
                      <m:e>
                        <m:r>
                          <a:rPr lang="en-US" altLang="zh-CN" sz="1200" b="0" i="1" smtClean="0">
                            <a:latin typeface="Cambria Math" panose="02040503050406030204" pitchFamily="18" charset="0"/>
                            <a:ea typeface="幼圆" panose="02010509060101010101" pitchFamily="49" charset="-122"/>
                          </a:rPr>
                          <m:t>𝑧</m:t>
                        </m:r>
                      </m:e>
                    </m:d>
                    <m:r>
                      <a:rPr lang="en-US" altLang="zh-CN" sz="1200" b="0" i="1" smtClean="0">
                        <a:latin typeface="Cambria Math" panose="02040503050406030204" pitchFamily="18" charset="0"/>
                        <a:ea typeface="幼圆" panose="02010509060101010101" pitchFamily="49" charset="-122"/>
                      </a:rPr>
                      <m:t>=</m:t>
                    </m:r>
                    <m:f>
                      <m:fPr>
                        <m:ctrlPr>
                          <a:rPr lang="en-US" altLang="zh-CN" sz="1200" b="0" i="1" smtClean="0">
                            <a:latin typeface="Cambria Math" panose="02040503050406030204" pitchFamily="18" charset="0"/>
                            <a:ea typeface="幼圆" panose="02010509060101010101" pitchFamily="49" charset="-122"/>
                          </a:rPr>
                        </m:ctrlPr>
                      </m:fPr>
                      <m:num>
                        <m:r>
                          <a:rPr lang="en-US" altLang="zh-CN" sz="1200" b="0" i="1" smtClean="0">
                            <a:latin typeface="Cambria Math" panose="02040503050406030204" pitchFamily="18" charset="0"/>
                            <a:ea typeface="幼圆" panose="02010509060101010101" pitchFamily="49" charset="-122"/>
                          </a:rPr>
                          <m:t>1</m:t>
                        </m:r>
                      </m:num>
                      <m:den>
                        <m:r>
                          <a:rPr lang="en-US" altLang="zh-CN" sz="1200" b="0" i="1" smtClean="0">
                            <a:latin typeface="Cambria Math" panose="02040503050406030204" pitchFamily="18" charset="0"/>
                            <a:ea typeface="幼圆" panose="02010509060101010101" pitchFamily="49" charset="-122"/>
                          </a:rPr>
                          <m:t>1+</m:t>
                        </m:r>
                        <m:sSup>
                          <m:sSupPr>
                            <m:ctrlPr>
                              <a:rPr lang="en-US" altLang="zh-CN" sz="1200" b="0" i="1" smtClean="0">
                                <a:latin typeface="Cambria Math" panose="02040503050406030204" pitchFamily="18" charset="0"/>
                                <a:ea typeface="幼圆" panose="02010509060101010101" pitchFamily="49" charset="-122"/>
                              </a:rPr>
                            </m:ctrlPr>
                          </m:sSupPr>
                          <m:e>
                            <m:r>
                              <a:rPr lang="en-US" altLang="zh-CN" sz="1200" b="0" i="1" smtClean="0">
                                <a:latin typeface="Cambria Math" panose="02040503050406030204" pitchFamily="18" charset="0"/>
                                <a:ea typeface="幼圆" panose="02010509060101010101" pitchFamily="49" charset="-122"/>
                              </a:rPr>
                              <m:t>𝑒</m:t>
                            </m:r>
                          </m:e>
                          <m:sup>
                            <m:r>
                              <a:rPr lang="en-US" altLang="zh-CN" sz="1200" b="0" i="1" smtClean="0">
                                <a:latin typeface="Cambria Math" panose="02040503050406030204" pitchFamily="18" charset="0"/>
                                <a:ea typeface="幼圆" panose="02010509060101010101" pitchFamily="49" charset="-122"/>
                              </a:rPr>
                              <m:t>−</m:t>
                            </m:r>
                            <m:r>
                              <a:rPr lang="en-US" altLang="zh-CN" sz="1200" b="0" i="1" smtClean="0">
                                <a:latin typeface="Cambria Math" panose="02040503050406030204" pitchFamily="18" charset="0"/>
                                <a:ea typeface="幼圆" panose="02010509060101010101" pitchFamily="49" charset="-122"/>
                              </a:rPr>
                              <m:t>𝑧</m:t>
                            </m:r>
                          </m:sup>
                        </m:sSup>
                      </m:den>
                    </m:f>
                  </m:oMath>
                </a14:m>
                <a:r>
                  <a:rPr lang="zh-CN" altLang="en-US" sz="1200" b="0" dirty="0">
                    <a:latin typeface="幼圆" panose="02010509060101010101" pitchFamily="49" charset="-122"/>
                    <a:ea typeface="幼圆" panose="02010509060101010101" pitchFamily="49" charset="-122"/>
                  </a:rPr>
                  <a:t> </a:t>
                </a:r>
                <a:r>
                  <a:rPr lang="en-US" altLang="zh-CN" sz="1200" b="0">
                    <a:latin typeface="幼圆" panose="02010509060101010101" pitchFamily="49" charset="-122"/>
                    <a:ea typeface="幼圆" panose="02010509060101010101" pitchFamily="49" charset="-122"/>
                  </a:rPr>
                  <a:t>, </a:t>
                </a:r>
                <a:r>
                  <a:rPr lang="zh-CN" altLang="en-US" sz="1200" b="0">
                    <a:latin typeface="幼圆" panose="02010509060101010101" pitchFamily="49" charset="-122"/>
                    <a:ea typeface="幼圆" panose="02010509060101010101" pitchFamily="49" charset="-122"/>
                  </a:rPr>
                  <a:t>将</a:t>
                </a:r>
                <a:r>
                  <a:rPr lang="en-US" altLang="zh-CN" sz="1200" b="0">
                    <a:latin typeface="幼圆" panose="02010509060101010101" pitchFamily="49" charset="-122"/>
                    <a:ea typeface="幼圆" panose="02010509060101010101" pitchFamily="49" charset="-122"/>
                  </a:rPr>
                  <a:t>[-</a:t>
                </a:r>
                <a:r>
                  <a:rPr lang="en-US" altLang="zh-CN" sz="1200" b="0" dirty="0">
                    <a:latin typeface="Cambria Math" panose="02040503050406030204" pitchFamily="18" charset="0"/>
                    <a:ea typeface="Cambria Math" panose="02040503050406030204" pitchFamily="18" charset="0"/>
                  </a:rPr>
                  <a:t>∞</a:t>
                </a:r>
                <a:r>
                  <a:rPr lang="en-US" altLang="zh-CN" sz="1200" b="0">
                    <a:latin typeface="Cambria Math" panose="02040503050406030204" pitchFamily="18" charset="0"/>
                    <a:ea typeface="Cambria Math" panose="02040503050406030204" pitchFamily="18" charset="0"/>
                  </a:rPr>
                  <a:t>,+∞</a:t>
                </a:r>
                <a:r>
                  <a:rPr lang="en-US" altLang="zh-CN" sz="1200" b="0">
                    <a:latin typeface="幼圆" panose="02010509060101010101" pitchFamily="49" charset="-122"/>
                    <a:ea typeface="幼圆" panose="02010509060101010101" pitchFamily="49" charset="-122"/>
                  </a:rPr>
                  <a:t>]</a:t>
                </a:r>
                <a:r>
                  <a:rPr lang="zh-CN" altLang="en-US" sz="1200" b="0">
                    <a:latin typeface="幼圆" panose="02010509060101010101" pitchFamily="49" charset="-122"/>
                    <a:ea typeface="幼圆" panose="02010509060101010101" pitchFamily="49" charset="-122"/>
                  </a:rPr>
                  <a:t>范围</a:t>
                </a:r>
                <a:r>
                  <a:rPr lang="zh-CN" altLang="en-US" sz="1200" b="0" dirty="0">
                    <a:latin typeface="幼圆" panose="02010509060101010101" pitchFamily="49" charset="-122"/>
                    <a:ea typeface="幼圆" panose="02010509060101010101" pitchFamily="49" charset="-122"/>
                  </a:rPr>
                  <a:t>的值</a:t>
                </a:r>
                <a:r>
                  <a:rPr lang="zh-CN" altLang="en-US" sz="1200" b="0">
                    <a:latin typeface="幼圆" panose="02010509060101010101" pitchFamily="49" charset="-122"/>
                    <a:ea typeface="幼圆" panose="02010509060101010101" pitchFamily="49" charset="-122"/>
                  </a:rPr>
                  <a:t>映射到</a:t>
                </a:r>
                <a:r>
                  <a:rPr lang="en-US" altLang="zh-CN" sz="1200" b="0">
                    <a:latin typeface="幼圆" panose="02010509060101010101" pitchFamily="49" charset="-122"/>
                    <a:ea typeface="幼圆" panose="02010509060101010101" pitchFamily="49" charset="-122"/>
                  </a:rPr>
                  <a:t>[0,1];</a:t>
                </a:r>
                <a:endParaRPr lang="en-US" altLang="zh-CN" sz="1200" b="0" dirty="0">
                  <a:latin typeface="幼圆" panose="02010509060101010101" pitchFamily="49" charset="-122"/>
                  <a:ea typeface="幼圆" panose="02010509060101010101" pitchFamily="49" charset="-122"/>
                </a:endParaRPr>
              </a:p>
              <a:p>
                <a:pPr marL="628650" lvl="1" indent="-171450">
                  <a:buFont typeface="Wingdings" panose="05000000000000000000" pitchFamily="2" charset="2"/>
                  <a:buChar char="p"/>
                </a:pPr>
                <a:r>
                  <a:rPr lang="en-US" altLang="zh-CN" sz="1200" b="0" baseline="0" dirty="0" err="1">
                    <a:latin typeface="幼圆" panose="02010509060101010101" pitchFamily="49" charset="-122"/>
                    <a:ea typeface="幼圆" panose="02010509060101010101" pitchFamily="49" charset="-122"/>
                  </a:rPr>
                  <a:t>tanh</a:t>
                </a:r>
                <a:r>
                  <a:rPr lang="zh-CN" altLang="en-US" sz="1200" b="0" baseline="0" dirty="0">
                    <a:latin typeface="幼圆" panose="02010509060101010101" pitchFamily="49" charset="-122"/>
                    <a:ea typeface="幼圆" panose="02010509060101010101" pitchFamily="49" charset="-122"/>
                  </a:rPr>
                  <a:t>函数</a:t>
                </a:r>
                <a14:m>
                  <m:oMath xmlns:m="http://schemas.openxmlformats.org/officeDocument/2006/math">
                    <m:r>
                      <m:rPr>
                        <m:sty m:val="p"/>
                      </m:rPr>
                      <a:rPr lang="en-US" altLang="zh-CN" sz="1200" b="0" i="0" smtClean="0">
                        <a:latin typeface="Cambria Math" panose="02040503050406030204" pitchFamily="18" charset="0"/>
                        <a:ea typeface="Cambria" panose="02040503050406030204" pitchFamily="18" charset="0"/>
                      </a:rPr>
                      <m:t>g</m:t>
                    </m:r>
                    <m:d>
                      <m:dPr>
                        <m:ctrlPr>
                          <a:rPr lang="en-US" altLang="zh-CN" sz="1200" b="0" i="1" smtClean="0">
                            <a:latin typeface="Cambria Math" panose="02040503050406030204" pitchFamily="18" charset="0"/>
                            <a:ea typeface="幼圆" panose="02010509060101010101" pitchFamily="49" charset="-122"/>
                          </a:rPr>
                        </m:ctrlPr>
                      </m:dPr>
                      <m:e>
                        <m:r>
                          <a:rPr lang="en-US" altLang="zh-CN" sz="1200" b="0" i="1" smtClean="0">
                            <a:latin typeface="Cambria Math" panose="02040503050406030204" pitchFamily="18" charset="0"/>
                            <a:ea typeface="幼圆" panose="02010509060101010101" pitchFamily="49" charset="-122"/>
                          </a:rPr>
                          <m:t>𝑧</m:t>
                        </m:r>
                      </m:e>
                    </m:d>
                    <m:r>
                      <a:rPr lang="en-US" altLang="zh-CN" sz="1200" b="0" i="1" smtClean="0">
                        <a:latin typeface="Cambria Math" panose="02040503050406030204" pitchFamily="18" charset="0"/>
                        <a:ea typeface="幼圆" panose="02010509060101010101" pitchFamily="49" charset="-122"/>
                      </a:rPr>
                      <m:t>=</m:t>
                    </m:r>
                    <m:f>
                      <m:fPr>
                        <m:ctrlPr>
                          <a:rPr lang="en-US" altLang="zh-CN" sz="1200" b="0" i="1" smtClean="0">
                            <a:latin typeface="Cambria Math" panose="02040503050406030204" pitchFamily="18" charset="0"/>
                            <a:ea typeface="幼圆" panose="02010509060101010101" pitchFamily="49" charset="-122"/>
                          </a:rPr>
                        </m:ctrlPr>
                      </m:fPr>
                      <m:num>
                        <m:sSup>
                          <m:sSupPr>
                            <m:ctrlPr>
                              <a:rPr lang="en-US" altLang="zh-CN" sz="1200" b="0" i="1" smtClean="0">
                                <a:latin typeface="Cambria Math" panose="02040503050406030204" pitchFamily="18" charset="0"/>
                                <a:ea typeface="幼圆" panose="02010509060101010101" pitchFamily="49" charset="-122"/>
                              </a:rPr>
                            </m:ctrlPr>
                          </m:sSupPr>
                          <m:e>
                            <m:r>
                              <a:rPr lang="en-US" altLang="zh-CN" sz="1200" b="0" i="1" smtClean="0">
                                <a:latin typeface="Cambria Math" panose="02040503050406030204" pitchFamily="18" charset="0"/>
                                <a:ea typeface="幼圆" panose="02010509060101010101" pitchFamily="49" charset="-122"/>
                              </a:rPr>
                              <m:t>𝑒</m:t>
                            </m:r>
                          </m:e>
                          <m:sup>
                            <m:r>
                              <a:rPr lang="en-US" altLang="zh-CN" sz="1200" b="0" i="1" smtClean="0">
                                <a:latin typeface="Cambria Math" panose="02040503050406030204" pitchFamily="18" charset="0"/>
                                <a:ea typeface="幼圆" panose="02010509060101010101" pitchFamily="49" charset="-122"/>
                              </a:rPr>
                              <m:t>𝑧</m:t>
                            </m:r>
                          </m:sup>
                        </m:sSup>
                        <m:r>
                          <a:rPr lang="en-US" altLang="zh-CN" sz="1200" b="0" i="1" smtClean="0">
                            <a:latin typeface="Cambria Math" panose="02040503050406030204" pitchFamily="18" charset="0"/>
                            <a:ea typeface="幼圆" panose="02010509060101010101" pitchFamily="49" charset="-122"/>
                          </a:rPr>
                          <m:t>−</m:t>
                        </m:r>
                        <m:sSup>
                          <m:sSupPr>
                            <m:ctrlPr>
                              <a:rPr lang="en-US" altLang="zh-CN" sz="1200" b="0" i="1" smtClean="0">
                                <a:latin typeface="Cambria Math" panose="02040503050406030204" pitchFamily="18" charset="0"/>
                                <a:ea typeface="幼圆" panose="02010509060101010101" pitchFamily="49" charset="-122"/>
                              </a:rPr>
                            </m:ctrlPr>
                          </m:sSupPr>
                          <m:e>
                            <m:r>
                              <a:rPr lang="en-US" altLang="zh-CN" sz="1200" b="0" i="1" smtClean="0">
                                <a:latin typeface="Cambria Math" panose="02040503050406030204" pitchFamily="18" charset="0"/>
                                <a:ea typeface="幼圆" panose="02010509060101010101" pitchFamily="49" charset="-122"/>
                              </a:rPr>
                              <m:t>𝑒</m:t>
                            </m:r>
                          </m:e>
                          <m:sup>
                            <m:r>
                              <a:rPr lang="en-US" altLang="zh-CN" sz="1200" b="0" i="1" smtClean="0">
                                <a:latin typeface="Cambria Math" panose="02040503050406030204" pitchFamily="18" charset="0"/>
                                <a:ea typeface="幼圆" panose="02010509060101010101" pitchFamily="49" charset="-122"/>
                              </a:rPr>
                              <m:t>−</m:t>
                            </m:r>
                            <m:r>
                              <a:rPr lang="en-US" altLang="zh-CN" sz="1200" b="0" i="1" smtClean="0">
                                <a:latin typeface="Cambria Math" panose="02040503050406030204" pitchFamily="18" charset="0"/>
                                <a:ea typeface="幼圆" panose="02010509060101010101" pitchFamily="49" charset="-122"/>
                              </a:rPr>
                              <m:t>𝑧</m:t>
                            </m:r>
                          </m:sup>
                        </m:sSup>
                      </m:num>
                      <m:den>
                        <m:sSup>
                          <m:sSupPr>
                            <m:ctrlPr>
                              <a:rPr lang="en-US" altLang="zh-CN" sz="1200" b="0" i="1" smtClean="0">
                                <a:latin typeface="Cambria Math" panose="02040503050406030204" pitchFamily="18" charset="0"/>
                                <a:ea typeface="幼圆" panose="02010509060101010101" pitchFamily="49" charset="-122"/>
                              </a:rPr>
                            </m:ctrlPr>
                          </m:sSupPr>
                          <m:e>
                            <m:r>
                              <a:rPr lang="en-US" altLang="zh-CN" sz="1200" b="0" i="1" smtClean="0">
                                <a:latin typeface="Cambria Math" panose="02040503050406030204" pitchFamily="18" charset="0"/>
                                <a:ea typeface="幼圆" panose="02010509060101010101" pitchFamily="49" charset="-122"/>
                              </a:rPr>
                              <m:t>𝑒</m:t>
                            </m:r>
                          </m:e>
                          <m:sup>
                            <m:r>
                              <a:rPr lang="en-US" altLang="zh-CN" sz="1200" b="0" i="1" smtClean="0">
                                <a:latin typeface="Cambria Math" panose="02040503050406030204" pitchFamily="18" charset="0"/>
                                <a:ea typeface="幼圆" panose="02010509060101010101" pitchFamily="49" charset="-122"/>
                              </a:rPr>
                              <m:t>𝑧</m:t>
                            </m:r>
                          </m:sup>
                        </m:sSup>
                        <m:r>
                          <a:rPr lang="en-US" altLang="zh-CN" sz="1200" b="0" i="1" smtClean="0">
                            <a:latin typeface="Cambria Math" panose="02040503050406030204" pitchFamily="18" charset="0"/>
                            <a:ea typeface="幼圆" panose="02010509060101010101" pitchFamily="49" charset="-122"/>
                          </a:rPr>
                          <m:t>+</m:t>
                        </m:r>
                        <m:sSup>
                          <m:sSupPr>
                            <m:ctrlPr>
                              <a:rPr lang="en-US" altLang="zh-CN" sz="1200" b="0" i="1" smtClean="0">
                                <a:latin typeface="Cambria Math" panose="02040503050406030204" pitchFamily="18" charset="0"/>
                                <a:ea typeface="幼圆" panose="02010509060101010101" pitchFamily="49" charset="-122"/>
                              </a:rPr>
                            </m:ctrlPr>
                          </m:sSupPr>
                          <m:e>
                            <m:r>
                              <a:rPr lang="en-US" altLang="zh-CN" sz="1200" b="0" i="1" smtClean="0">
                                <a:latin typeface="Cambria Math" panose="02040503050406030204" pitchFamily="18" charset="0"/>
                                <a:ea typeface="幼圆" panose="02010509060101010101" pitchFamily="49" charset="-122"/>
                              </a:rPr>
                              <m:t>𝑒</m:t>
                            </m:r>
                          </m:e>
                          <m:sup>
                            <m:r>
                              <a:rPr lang="en-US" altLang="zh-CN" sz="1200" b="0" i="1" smtClean="0">
                                <a:latin typeface="Cambria Math" panose="02040503050406030204" pitchFamily="18" charset="0"/>
                                <a:ea typeface="幼圆" panose="02010509060101010101" pitchFamily="49" charset="-122"/>
                              </a:rPr>
                              <m:t>−</m:t>
                            </m:r>
                            <m:r>
                              <a:rPr lang="en-US" altLang="zh-CN" sz="1200" b="0" i="1" smtClean="0">
                                <a:latin typeface="Cambria Math" panose="02040503050406030204" pitchFamily="18" charset="0"/>
                                <a:ea typeface="幼圆" panose="02010509060101010101" pitchFamily="49" charset="-122"/>
                              </a:rPr>
                              <m:t>𝑧</m:t>
                            </m:r>
                          </m:sup>
                        </m:sSup>
                      </m:den>
                    </m:f>
                  </m:oMath>
                </a14:m>
                <a:r>
                  <a:rPr lang="zh-CN" altLang="en-US" sz="1200" b="0" dirty="0">
                    <a:latin typeface="幼圆" panose="02010509060101010101" pitchFamily="49" charset="-122"/>
                    <a:ea typeface="幼圆" panose="02010509060101010101" pitchFamily="49" charset="-122"/>
                  </a:rPr>
                  <a:t> </a:t>
                </a:r>
                <a:r>
                  <a:rPr lang="en-US" altLang="zh-CN" sz="1200" b="0">
                    <a:latin typeface="幼圆" panose="02010509060101010101" pitchFamily="49" charset="-122"/>
                    <a:ea typeface="幼圆" panose="02010509060101010101" pitchFamily="49" charset="-122"/>
                  </a:rPr>
                  <a:t>, </a:t>
                </a:r>
                <a:r>
                  <a:rPr lang="zh-CN" altLang="en-US" sz="1200" b="0">
                    <a:latin typeface="幼圆" panose="02010509060101010101" pitchFamily="49" charset="-122"/>
                    <a:ea typeface="幼圆" panose="02010509060101010101" pitchFamily="49" charset="-122"/>
                  </a:rPr>
                  <a:t>将</a:t>
                </a:r>
                <a:r>
                  <a:rPr lang="en-US" altLang="zh-CN" sz="1200" b="0">
                    <a:latin typeface="幼圆" panose="02010509060101010101" pitchFamily="49" charset="-122"/>
                    <a:ea typeface="幼圆" panose="02010509060101010101" pitchFamily="49" charset="-122"/>
                  </a:rPr>
                  <a:t>[-</a:t>
                </a:r>
                <a:r>
                  <a:rPr lang="en-US" altLang="zh-CN" sz="1200" b="0" dirty="0">
                    <a:latin typeface="Cambria Math" panose="02040503050406030204" pitchFamily="18" charset="0"/>
                    <a:ea typeface="Cambria Math" panose="02040503050406030204" pitchFamily="18" charset="0"/>
                  </a:rPr>
                  <a:t>∞</a:t>
                </a:r>
                <a:r>
                  <a:rPr lang="en-US" altLang="zh-CN" sz="1200" b="0">
                    <a:latin typeface="Cambria Math" panose="02040503050406030204" pitchFamily="18" charset="0"/>
                    <a:ea typeface="Cambria Math" panose="02040503050406030204" pitchFamily="18" charset="0"/>
                  </a:rPr>
                  <a:t>,+∞</a:t>
                </a:r>
                <a:r>
                  <a:rPr lang="en-US" altLang="zh-CN" sz="1200" b="0">
                    <a:latin typeface="幼圆" panose="02010509060101010101" pitchFamily="49" charset="-122"/>
                    <a:ea typeface="幼圆" panose="02010509060101010101" pitchFamily="49" charset="-122"/>
                  </a:rPr>
                  <a:t>]</a:t>
                </a:r>
                <a:r>
                  <a:rPr lang="zh-CN" altLang="en-US" sz="1200" b="0">
                    <a:latin typeface="幼圆" panose="02010509060101010101" pitchFamily="49" charset="-122"/>
                    <a:ea typeface="幼圆" panose="02010509060101010101" pitchFamily="49" charset="-122"/>
                  </a:rPr>
                  <a:t>范围</a:t>
                </a:r>
                <a:r>
                  <a:rPr lang="zh-CN" altLang="en-US" sz="1200" b="0" dirty="0">
                    <a:latin typeface="幼圆" panose="02010509060101010101" pitchFamily="49" charset="-122"/>
                    <a:ea typeface="幼圆" panose="02010509060101010101" pitchFamily="49" charset="-122"/>
                  </a:rPr>
                  <a:t>的值</a:t>
                </a:r>
                <a:r>
                  <a:rPr lang="zh-CN" altLang="en-US" sz="1200" b="0">
                    <a:latin typeface="幼圆" panose="02010509060101010101" pitchFamily="49" charset="-122"/>
                    <a:ea typeface="幼圆" panose="02010509060101010101" pitchFamily="49" charset="-122"/>
                  </a:rPr>
                  <a:t>映射到</a:t>
                </a:r>
                <a:r>
                  <a:rPr lang="en-US" altLang="zh-CN" sz="1200" b="0">
                    <a:latin typeface="幼圆" panose="02010509060101010101" pitchFamily="49" charset="-122"/>
                    <a:ea typeface="幼圆" panose="02010509060101010101" pitchFamily="49" charset="-122"/>
                  </a:rPr>
                  <a:t>[-1,1]</a:t>
                </a:r>
                <a:r>
                  <a:rPr lang="zh-CN" altLang="en-US" sz="1200" b="0">
                    <a:latin typeface="幼圆" panose="02010509060101010101" pitchFamily="49" charset="-122"/>
                    <a:ea typeface="幼圆" panose="02010509060101010101" pitchFamily="49" charset="-122"/>
                  </a:rPr>
                  <a:t>。</a:t>
                </a:r>
                <a:endParaRPr lang="en-US" altLang="zh-CN" sz="1200" b="0" dirty="0">
                  <a:latin typeface="幼圆" panose="02010509060101010101" pitchFamily="49" charset="-122"/>
                  <a:ea typeface="幼圆" panose="02010509060101010101" pitchFamily="49" charset="-122"/>
                </a:endParaRPr>
              </a:p>
              <a:p>
                <a:pPr marL="628650" lvl="1" indent="-171450">
                  <a:buFont typeface="Wingdings" panose="05000000000000000000" pitchFamily="2" charset="2"/>
                  <a:buChar char="p"/>
                </a:pPr>
                <a:r>
                  <a:rPr lang="en-US" altLang="zh-CN" sz="1200" b="0" dirty="0" err="1">
                    <a:latin typeface="幼圆" panose="02010509060101010101" pitchFamily="49" charset="-122"/>
                    <a:ea typeface="幼圆" panose="02010509060101010101" pitchFamily="49" charset="-122"/>
                  </a:rPr>
                  <a:t>Relu</a:t>
                </a:r>
                <a:r>
                  <a:rPr lang="en-US" altLang="zh-CN" sz="1200" b="0" dirty="0">
                    <a:latin typeface="幼圆" panose="02010509060101010101" pitchFamily="49" charset="-122"/>
                    <a:ea typeface="幼圆" panose="02010509060101010101" pitchFamily="49" charset="-122"/>
                  </a:rPr>
                  <a:t>(</a:t>
                </a:r>
                <a:r>
                  <a:rPr lang="en-US" altLang="zh-CN" sz="1200" b="0" dirty="0" err="1">
                    <a:latin typeface="幼圆" panose="02010509060101010101" pitchFamily="49" charset="-122"/>
                    <a:ea typeface="幼圆" panose="02010509060101010101" pitchFamily="49" charset="-122"/>
                  </a:rPr>
                  <a:t>Recitified</a:t>
                </a:r>
                <a:r>
                  <a:rPr lang="en-US" altLang="zh-CN" sz="1200" b="0" dirty="0">
                    <a:latin typeface="幼圆" panose="02010509060101010101" pitchFamily="49" charset="-122"/>
                    <a:ea typeface="幼圆" panose="02010509060101010101" pitchFamily="49" charset="-122"/>
                  </a:rPr>
                  <a:t> Linear</a:t>
                </a:r>
                <a:r>
                  <a:rPr lang="en-US" altLang="zh-CN" sz="1200" b="0" baseline="0" dirty="0">
                    <a:latin typeface="幼圆" panose="02010509060101010101" pitchFamily="49" charset="-122"/>
                    <a:ea typeface="幼圆" panose="02010509060101010101" pitchFamily="49" charset="-122"/>
                  </a:rPr>
                  <a:t> Unit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线性整流函数 </a:t>
                </a:r>
                <a14:m>
                  <m:oMath xmlns:m="http://schemas.openxmlformats.org/officeDocument/2006/math">
                    <m:r>
                      <m:rPr>
                        <m:sty m:val="p"/>
                      </m:rPr>
                      <a:rPr lang="en-US" altLang="zh-CN" sz="1200" b="0" i="0" smtClean="0">
                        <a:latin typeface="Cambria Math" panose="02040503050406030204" pitchFamily="18" charset="0"/>
                        <a:ea typeface="Cambria" panose="02040503050406030204" pitchFamily="18" charset="0"/>
                      </a:rPr>
                      <m:t>g</m:t>
                    </m:r>
                    <m:d>
                      <m:dPr>
                        <m:ctrlPr>
                          <a:rPr lang="en-US" altLang="zh-CN" sz="1200" b="0" i="1" smtClean="0">
                            <a:latin typeface="Cambria Math" panose="02040503050406030204" pitchFamily="18" charset="0"/>
                            <a:ea typeface="幼圆" panose="02010509060101010101" pitchFamily="49" charset="-122"/>
                          </a:rPr>
                        </m:ctrlPr>
                      </m:dPr>
                      <m:e>
                        <m:r>
                          <a:rPr lang="en-US" altLang="zh-CN" sz="1200" b="0" i="1" smtClean="0">
                            <a:latin typeface="Cambria Math" panose="02040503050406030204" pitchFamily="18" charset="0"/>
                            <a:ea typeface="幼圆" panose="02010509060101010101" pitchFamily="49" charset="-122"/>
                          </a:rPr>
                          <m:t>𝑧</m:t>
                        </m:r>
                      </m:e>
                    </m:d>
                    <m:r>
                      <a:rPr lang="en-US" altLang="zh-CN" sz="1200" b="0" i="1" smtClean="0">
                        <a:latin typeface="Cambria Math" panose="02040503050406030204" pitchFamily="18" charset="0"/>
                        <a:ea typeface="幼圆" panose="02010509060101010101" pitchFamily="49" charset="-122"/>
                      </a:rPr>
                      <m:t>=</m:t>
                    </m:r>
                  </m:oMath>
                </a14:m>
                <a:r>
                  <a:rPr lang="en-US" altLang="zh-CN" dirty="0">
                    <a:effectLst/>
                  </a:rPr>
                  <a:t>max(0, z) </a:t>
                </a:r>
                <a:endParaRPr lang="en-US" altLang="zh-CN" sz="1200" b="0" dirty="0">
                  <a:latin typeface="幼圆" panose="02010509060101010101" pitchFamily="49" charset="-122"/>
                  <a:ea typeface="幼圆" panose="02010509060101010101" pitchFamily="49" charset="-122"/>
                </a:endParaRPr>
              </a:p>
              <a:p>
                <a:pPr marL="457200" lvl="1" indent="0">
                  <a:buFont typeface="Wingdings" panose="05000000000000000000" pitchFamily="2" charset="2"/>
                  <a:buNone/>
                </a:pPr>
                <a:endParaRPr lang="en-US" altLang="zh-CN" sz="1200" b="0" dirty="0">
                  <a:latin typeface="幼圆" panose="02010509060101010101" pitchFamily="49" charset="-122"/>
                  <a:ea typeface="幼圆" panose="02010509060101010101" pitchFamily="49" charset="-122"/>
                </a:endParaRPr>
              </a:p>
              <a:p>
                <a:endParaRPr lang="zh-CN" altLang="en-US" dirty="0"/>
              </a:p>
            </p:txBody>
          </p:sp>
        </mc:Choice>
        <mc:Fallback xmlns="">
          <p:sp>
            <p:nvSpPr>
              <p:cNvPr id="3" name="备注占位符 2"/>
              <p:cNvSpPr>
                <a:spLocks noGrp="1"/>
              </p:cNvSpPr>
              <p:nvPr>
                <p:ph type="body" idx="1"/>
              </p:nvPr>
            </p:nvSpPr>
            <p:spPr/>
            <p:txBody>
              <a:bodyPr/>
              <a:lstStyle/>
              <a:p>
                <a:pPr marL="0" indent="0">
                  <a:buFont typeface="Wingdings" panose="05000000000000000000" pitchFamily="2" charset="2"/>
                  <a:buNone/>
                </a:pPr>
                <a:r>
                  <a:rPr lang="en-US" altLang="zh-CN" sz="1200" b="0" dirty="0">
                    <a:latin typeface="幼圆" panose="02010509060101010101" pitchFamily="49" charset="-122"/>
                    <a:ea typeface="幼圆" panose="02010509060101010101" pitchFamily="49" charset="-122"/>
                  </a:rPr>
                  <a:t>1. </a:t>
                </a:r>
                <a:r>
                  <a:rPr lang="zh-CN" altLang="en-US" sz="1200" b="0" dirty="0">
                    <a:latin typeface="幼圆" panose="02010509060101010101" pitchFamily="49" charset="-122"/>
                    <a:ea typeface="幼圆" panose="02010509060101010101" pitchFamily="49" charset="-122"/>
                  </a:rPr>
                  <a:t>理想激活函数是阶跃函数</a:t>
                </a:r>
                <a:r>
                  <a:rPr lang="en-US" altLang="zh-CN" sz="1200" b="0" dirty="0">
                    <a:latin typeface="幼圆" panose="02010509060101010101" pitchFamily="49" charset="-122"/>
                    <a:ea typeface="幼圆" panose="02010509060101010101" pitchFamily="49" charset="-122"/>
                  </a:rPr>
                  <a:t>, 0</a:t>
                </a:r>
                <a:r>
                  <a:rPr lang="zh-CN" altLang="en-US" sz="1200" b="0" dirty="0">
                    <a:latin typeface="幼圆" panose="02010509060101010101" pitchFamily="49" charset="-122"/>
                    <a:ea typeface="幼圆" panose="02010509060101010101" pitchFamily="49" charset="-122"/>
                  </a:rPr>
                  <a:t>表示抑制神经元而</a:t>
                </a:r>
                <a:r>
                  <a:rPr lang="en-US" altLang="zh-CN" sz="1200" b="0" dirty="0">
                    <a:latin typeface="幼圆" panose="02010509060101010101" pitchFamily="49" charset="-122"/>
                    <a:ea typeface="幼圆" panose="02010509060101010101" pitchFamily="49" charset="-122"/>
                  </a:rPr>
                  <a:t>1</a:t>
                </a:r>
                <a:r>
                  <a:rPr lang="zh-CN" altLang="en-US" sz="1200" b="0" dirty="0">
                    <a:latin typeface="幼圆" panose="02010509060101010101" pitchFamily="49" charset="-122"/>
                    <a:ea typeface="幼圆" panose="02010509060101010101" pitchFamily="49" charset="-122"/>
                  </a:rPr>
                  <a:t>表示激活神经元</a:t>
                </a:r>
                <a:endParaRPr lang="en-US" altLang="zh-CN" sz="1200" b="0" dirty="0">
                  <a:latin typeface="幼圆" panose="02010509060101010101" pitchFamily="49" charset="-122"/>
                  <a:ea typeface="幼圆" panose="02010509060101010101" pitchFamily="49" charset="-122"/>
                </a:endParaRPr>
              </a:p>
              <a:p>
                <a:pPr marL="0" indent="0">
                  <a:buFont typeface="Wingdings" panose="05000000000000000000" pitchFamily="2" charset="2"/>
                  <a:buNone/>
                </a:pPr>
                <a:r>
                  <a:rPr lang="en-US" altLang="zh-CN" sz="1200" b="0" dirty="0">
                    <a:latin typeface="幼圆" panose="02010509060101010101" pitchFamily="49" charset="-122"/>
                    <a:ea typeface="幼圆" panose="02010509060101010101" pitchFamily="49" charset="-122"/>
                  </a:rPr>
                  <a:t>2. </a:t>
                </a:r>
                <a:r>
                  <a:rPr lang="zh-CN" altLang="en-US" sz="1200" b="0" dirty="0">
                    <a:latin typeface="幼圆" panose="02010509060101010101" pitchFamily="49" charset="-122"/>
                    <a:ea typeface="幼圆" panose="02010509060101010101" pitchFamily="49" charset="-122"/>
                  </a:rPr>
                  <a:t>阶跃函数具有不连续、不光滑，数学特性不好</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常用的是 </a:t>
                </a:r>
                <a:r>
                  <a:rPr lang="en-US" altLang="zh-CN" sz="1200" b="0" dirty="0">
                    <a:latin typeface="幼圆" panose="02010509060101010101" pitchFamily="49" charset="-122"/>
                    <a:ea typeface="幼圆" panose="02010509060101010101" pitchFamily="49" charset="-122"/>
                  </a:rPr>
                  <a:t>Sigmoid </a:t>
                </a:r>
                <a:r>
                  <a:rPr lang="zh-CN" altLang="en-US" sz="1200" b="0" dirty="0">
                    <a:latin typeface="幼圆" panose="02010509060101010101" pitchFamily="49" charset="-122"/>
                    <a:ea typeface="幼圆" panose="02010509060101010101" pitchFamily="49" charset="-122"/>
                  </a:rPr>
                  <a:t>函数和</a:t>
                </a:r>
                <a:r>
                  <a:rPr lang="en-US" altLang="zh-CN" sz="1200" b="0" dirty="0">
                    <a:latin typeface="幼圆" panose="02010509060101010101" pitchFamily="49" charset="-122"/>
                    <a:ea typeface="幼圆" panose="02010509060101010101" pitchFamily="49" charset="-122"/>
                  </a:rPr>
                  <a:t>tanh</a:t>
                </a:r>
                <a:r>
                  <a:rPr lang="zh-CN" altLang="en-US" sz="1200" b="0" dirty="0">
                    <a:latin typeface="幼圆" panose="02010509060101010101" pitchFamily="49" charset="-122"/>
                    <a:ea typeface="幼圆" panose="02010509060101010101" pitchFamily="49" charset="-122"/>
                  </a:rPr>
                  <a:t>（双曲正切）等具有较好数学特性的函数。</a:t>
                </a:r>
                <a:endParaRPr lang="en-US" altLang="zh-CN" sz="1200" b="0" dirty="0">
                  <a:latin typeface="幼圆" panose="02010509060101010101" pitchFamily="49" charset="-122"/>
                  <a:ea typeface="幼圆" panose="02010509060101010101" pitchFamily="49" charset="-122"/>
                </a:endParaRPr>
              </a:p>
              <a:p>
                <a:pPr marL="628650" lvl="1" indent="-171450">
                  <a:buFont typeface="Wingdings" panose="05000000000000000000" pitchFamily="2" charset="2"/>
                  <a:buChar char="p"/>
                </a:pPr>
                <a:r>
                  <a:rPr lang="en-US" altLang="zh-CN" sz="1200" b="0" dirty="0">
                    <a:latin typeface="幼圆" panose="02010509060101010101" pitchFamily="49" charset="-122"/>
                    <a:ea typeface="幼圆" panose="02010509060101010101" pitchFamily="49" charset="-122"/>
                  </a:rPr>
                  <a:t>Sigmoid</a:t>
                </a:r>
                <a:r>
                  <a:rPr lang="zh-CN" altLang="en-US" sz="1200" b="0" dirty="0">
                    <a:latin typeface="幼圆" panose="02010509060101010101" pitchFamily="49" charset="-122"/>
                    <a:ea typeface="幼圆" panose="02010509060101010101" pitchFamily="49" charset="-122"/>
                  </a:rPr>
                  <a:t>函数</a:t>
                </a:r>
                <a:r>
                  <a:rPr lang="en-US" altLang="zh-CN" sz="1200" b="0" i="0">
                    <a:latin typeface="Cambria Math" panose="02040503050406030204" pitchFamily="18" charset="0"/>
                    <a:ea typeface="Cambria" panose="02040503050406030204" pitchFamily="18" charset="0"/>
                  </a:rPr>
                  <a:t>g</a:t>
                </a:r>
                <a:r>
                  <a:rPr lang="en-US" altLang="zh-CN" sz="1200" b="0" i="0">
                    <a:latin typeface="Cambria Math" panose="02040503050406030204" pitchFamily="18" charset="0"/>
                    <a:ea typeface="幼圆" panose="02010509060101010101" pitchFamily="49" charset="-122"/>
                  </a:rPr>
                  <a:t>(𝑧)=1/(1+𝑒^(−𝑧) )</a:t>
                </a:r>
                <a:r>
                  <a:rPr lang="zh-CN" altLang="en-US" sz="1200" b="0" dirty="0">
                    <a:latin typeface="幼圆" panose="02010509060101010101" pitchFamily="49" charset="-122"/>
                    <a:ea typeface="幼圆" panose="02010509060101010101" pitchFamily="49" charset="-122"/>
                  </a:rPr>
                  <a:t> </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将</a:t>
                </a:r>
                <a:r>
                  <a:rPr lang="en-US" altLang="zh-CN" sz="1200" b="0" dirty="0">
                    <a:latin typeface="幼圆" panose="02010509060101010101" pitchFamily="49" charset="-122"/>
                    <a:ea typeface="幼圆" panose="02010509060101010101" pitchFamily="49" charset="-122"/>
                  </a:rPr>
                  <a:t>[-</a:t>
                </a:r>
                <a:r>
                  <a:rPr lang="en-US" altLang="zh-CN" sz="1200" b="0" dirty="0">
                    <a:latin typeface="Cambria Math" panose="02040503050406030204" pitchFamily="18" charset="0"/>
                    <a:ea typeface="Cambria Math" panose="02040503050406030204" pitchFamily="18" charset="0"/>
                  </a:rPr>
                  <a: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范围的值映射到</a:t>
                </a:r>
                <a:r>
                  <a:rPr lang="en-US" altLang="zh-CN" sz="1200" b="0" dirty="0">
                    <a:latin typeface="幼圆" panose="02010509060101010101" pitchFamily="49" charset="-122"/>
                    <a:ea typeface="幼圆" panose="02010509060101010101" pitchFamily="49" charset="-122"/>
                  </a:rPr>
                  <a:t>[0,1];</a:t>
                </a:r>
              </a:p>
              <a:p>
                <a:pPr marL="628650" lvl="1" indent="-171450">
                  <a:buFont typeface="Wingdings" panose="05000000000000000000" pitchFamily="2" charset="2"/>
                  <a:buChar char="p"/>
                </a:pPr>
                <a:r>
                  <a:rPr lang="en-US" altLang="zh-CN" sz="1200" b="0" baseline="0" dirty="0" err="1">
                    <a:latin typeface="幼圆" panose="02010509060101010101" pitchFamily="49" charset="-122"/>
                    <a:ea typeface="幼圆" panose="02010509060101010101" pitchFamily="49" charset="-122"/>
                  </a:rPr>
                  <a:t>tanh</a:t>
                </a:r>
                <a:r>
                  <a:rPr lang="zh-CN" altLang="en-US" sz="1200" b="0" baseline="0" dirty="0">
                    <a:latin typeface="幼圆" panose="02010509060101010101" pitchFamily="49" charset="-122"/>
                    <a:ea typeface="幼圆" panose="02010509060101010101" pitchFamily="49" charset="-122"/>
                  </a:rPr>
                  <a:t>函数</a:t>
                </a:r>
                <a:r>
                  <a:rPr lang="en-US" altLang="zh-CN" sz="1200" b="0" i="0">
                    <a:latin typeface="Cambria Math" panose="02040503050406030204" pitchFamily="18" charset="0"/>
                    <a:ea typeface="Cambria" panose="02040503050406030204" pitchFamily="18" charset="0"/>
                  </a:rPr>
                  <a:t>g</a:t>
                </a:r>
                <a:r>
                  <a:rPr lang="en-US" altLang="zh-CN" sz="1200" b="0" i="0">
                    <a:latin typeface="Cambria Math" panose="02040503050406030204" pitchFamily="18" charset="0"/>
                    <a:ea typeface="幼圆" panose="02010509060101010101" pitchFamily="49" charset="-122"/>
                  </a:rPr>
                  <a:t>(𝑧)=(𝑒^𝑧−𝑒^(−𝑧))/(𝑒^𝑧+𝑒^(−𝑧) )</a:t>
                </a:r>
                <a:r>
                  <a:rPr lang="zh-CN" altLang="en-US" sz="1200" b="0" dirty="0">
                    <a:latin typeface="幼圆" panose="02010509060101010101" pitchFamily="49" charset="-122"/>
                    <a:ea typeface="幼圆" panose="02010509060101010101" pitchFamily="49" charset="-122"/>
                  </a:rPr>
                  <a:t> </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将</a:t>
                </a:r>
                <a:r>
                  <a:rPr lang="en-US" altLang="zh-CN" sz="1200" b="0" dirty="0">
                    <a:latin typeface="幼圆" panose="02010509060101010101" pitchFamily="49" charset="-122"/>
                    <a:ea typeface="幼圆" panose="02010509060101010101" pitchFamily="49" charset="-122"/>
                  </a:rPr>
                  <a:t>[-</a:t>
                </a:r>
                <a:r>
                  <a:rPr lang="en-US" altLang="zh-CN" sz="1200" b="0" dirty="0">
                    <a:latin typeface="Cambria Math" panose="02040503050406030204" pitchFamily="18" charset="0"/>
                    <a:ea typeface="Cambria Math" panose="02040503050406030204" pitchFamily="18" charset="0"/>
                  </a:rPr>
                  <a: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范围的值映射到</a:t>
                </a:r>
                <a:r>
                  <a:rPr lang="en-US" altLang="zh-CN" sz="1200" b="0" dirty="0">
                    <a:latin typeface="幼圆" panose="02010509060101010101" pitchFamily="49" charset="-122"/>
                    <a:ea typeface="幼圆" panose="02010509060101010101" pitchFamily="49" charset="-122"/>
                  </a:rPr>
                  <a:t>[-1,1]</a:t>
                </a:r>
                <a:r>
                  <a:rPr lang="zh-CN" altLang="en-US" sz="1200" b="0" dirty="0">
                    <a:latin typeface="幼圆" panose="02010509060101010101" pitchFamily="49" charset="-122"/>
                    <a:ea typeface="幼圆" panose="02010509060101010101" pitchFamily="49" charset="-122"/>
                  </a:rPr>
                  <a:t>。</a:t>
                </a:r>
                <a:endParaRPr lang="en-US" altLang="zh-CN" sz="1200" b="0" dirty="0">
                  <a:latin typeface="幼圆" panose="02010509060101010101" pitchFamily="49" charset="-122"/>
                  <a:ea typeface="幼圆" panose="02010509060101010101" pitchFamily="49" charset="-122"/>
                </a:endParaRPr>
              </a:p>
              <a:p>
                <a:pPr marL="628650" lvl="1" indent="-171450">
                  <a:buFont typeface="Wingdings" panose="05000000000000000000" pitchFamily="2" charset="2"/>
                  <a:buChar char="p"/>
                </a:pPr>
                <a:r>
                  <a:rPr lang="en-US" altLang="zh-CN" sz="1200" b="0" dirty="0" err="1">
                    <a:latin typeface="幼圆" panose="02010509060101010101" pitchFamily="49" charset="-122"/>
                    <a:ea typeface="幼圆" panose="02010509060101010101" pitchFamily="49" charset="-122"/>
                  </a:rPr>
                  <a:t>Relu</a:t>
                </a:r>
                <a:r>
                  <a:rPr lang="en-US" altLang="zh-CN" sz="1200" b="0" dirty="0">
                    <a:latin typeface="幼圆" panose="02010509060101010101" pitchFamily="49" charset="-122"/>
                    <a:ea typeface="幼圆" panose="02010509060101010101" pitchFamily="49" charset="-122"/>
                  </a:rPr>
                  <a:t>(</a:t>
                </a:r>
                <a:r>
                  <a:rPr lang="en-US" altLang="zh-CN" sz="1200" b="0" dirty="0" err="1">
                    <a:latin typeface="幼圆" panose="02010509060101010101" pitchFamily="49" charset="-122"/>
                    <a:ea typeface="幼圆" panose="02010509060101010101" pitchFamily="49" charset="-122"/>
                  </a:rPr>
                  <a:t>Recitified</a:t>
                </a:r>
                <a:r>
                  <a:rPr lang="en-US" altLang="zh-CN" sz="1200" b="0" dirty="0">
                    <a:latin typeface="幼圆" panose="02010509060101010101" pitchFamily="49" charset="-122"/>
                    <a:ea typeface="幼圆" panose="02010509060101010101" pitchFamily="49" charset="-122"/>
                  </a:rPr>
                  <a:t> Linear</a:t>
                </a:r>
                <a:r>
                  <a:rPr lang="en-US" altLang="zh-CN" sz="1200" b="0" baseline="0" dirty="0">
                    <a:latin typeface="幼圆" panose="02010509060101010101" pitchFamily="49" charset="-122"/>
                    <a:ea typeface="幼圆" panose="02010509060101010101" pitchFamily="49" charset="-122"/>
                  </a:rPr>
                  <a:t> Unit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线性整流函数 </a:t>
                </a:r>
                <a:r>
                  <a:rPr lang="en-US" altLang="zh-CN" sz="1200" b="0" i="0">
                    <a:latin typeface="Cambria Math" panose="02040503050406030204" pitchFamily="18" charset="0"/>
                    <a:ea typeface="Cambria" panose="02040503050406030204" pitchFamily="18" charset="0"/>
                  </a:rPr>
                  <a:t>g</a:t>
                </a:r>
                <a:r>
                  <a:rPr lang="en-US" altLang="zh-CN" sz="1200" b="0" i="0">
                    <a:latin typeface="Cambria Math" panose="02040503050406030204" pitchFamily="18" charset="0"/>
                    <a:ea typeface="幼圆" panose="02010509060101010101" pitchFamily="49" charset="-122"/>
                  </a:rPr>
                  <a:t>(𝑧)=</a:t>
                </a:r>
                <a:r>
                  <a:rPr lang="en-US" altLang="zh-CN" dirty="0">
                    <a:effectLst/>
                  </a:rPr>
                  <a:t>max(0, z) </a:t>
                </a:r>
                <a:endParaRPr lang="en-US" altLang="zh-CN" sz="1200" b="0" dirty="0">
                  <a:latin typeface="幼圆" panose="02010509060101010101" pitchFamily="49" charset="-122"/>
                  <a:ea typeface="幼圆" panose="02010509060101010101" pitchFamily="49" charset="-122"/>
                </a:endParaRPr>
              </a:p>
              <a:p>
                <a:pPr marL="457200" lvl="1" indent="0">
                  <a:buFont typeface="Wingdings" panose="05000000000000000000" pitchFamily="2" charset="2"/>
                  <a:buNone/>
                </a:pPr>
                <a:endParaRPr lang="en-US" altLang="zh-CN" sz="1200" b="0" dirty="0">
                  <a:latin typeface="幼圆" panose="02010509060101010101" pitchFamily="49" charset="-122"/>
                  <a:ea typeface="幼圆" panose="02010509060101010101" pitchFamily="49" charset="-122"/>
                </a:endParaRPr>
              </a:p>
              <a:p>
                <a:endParaRPr lang="zh-CN" altLang="en-US" dirty="0"/>
              </a:p>
            </p:txBody>
          </p:sp>
        </mc:Fallback>
      </mc:AlternateContent>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62</a:t>
            </a:fld>
            <a:endParaRPr lang="zh-CN" altLang="en-US"/>
          </a:p>
        </p:txBody>
      </p:sp>
    </p:spTree>
    <p:extLst>
      <p:ext uri="{BB962C8B-B14F-4D97-AF65-F5344CB8AC3E}">
        <p14:creationId xmlns:p14="http://schemas.microsoft.com/office/powerpoint/2010/main" val="113063090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indent="0">
                  <a:buFont typeface="Arial" panose="020B0604020202020204" pitchFamily="34" charset="0"/>
                  <a:buNone/>
                </a:pPr>
                <a:r>
                  <a:rPr lang="zh-CN" altLang="en-US"/>
                  <a:t>（</a:t>
                </a:r>
                <a:r>
                  <a:rPr lang="en-US" altLang="zh-CN"/>
                  <a:t>1</a:t>
                </a:r>
                <a:r>
                  <a:rPr lang="zh-CN" altLang="en-US"/>
                  <a:t>）本课程只讨论用于分类和回归的多层感知机，它可作为研究更复杂的深度学习方法的起点。</a:t>
                </a:r>
                <a:r>
                  <a:rPr lang="en-US" altLang="zh-CN"/>
                  <a:t>MLP</a:t>
                </a:r>
                <a:r>
                  <a:rPr lang="zh-CN" altLang="en-US"/>
                  <a:t>可视为广义线性模型，执行多层处理后得到结论。</a:t>
                </a:r>
                <a:endParaRPr lang="en-US" altLang="zh-CN"/>
              </a:p>
              <a:p>
                <a:pPr marL="0" indent="0">
                  <a:buFont typeface="Arial" panose="020B0604020202020204" pitchFamily="34" charset="0"/>
                  <a:buNone/>
                </a:pPr>
                <a:r>
                  <a:rPr lang="zh-CN" altLang="en-US"/>
                  <a:t>（</a:t>
                </a:r>
                <a:r>
                  <a:rPr lang="en-US" altLang="zh-CN"/>
                  <a:t>2</a:t>
                </a:r>
                <a:r>
                  <a:rPr lang="zh-CN" altLang="en-US"/>
                  <a:t>）</a:t>
                </a:r>
                <a:r>
                  <a:rPr lang="en-US" altLang="zh-CN"/>
                  <a:t>MLP</a:t>
                </a:r>
                <a:r>
                  <a:rPr lang="zh-CN" altLang="en-US"/>
                  <a:t>模型需要学习的参数更多：在每个输入与每个隐单元（隐单元组成了隐层）之间有一个系数，在每个隐单元与输出之间也有一个系数。</a:t>
                </a:r>
                <a:r>
                  <a:rPr lang="en-US" altLang="zh-CN"/>
                  <a:t>w</a:t>
                </a:r>
                <a:r>
                  <a:rPr lang="zh-CN" altLang="en-US"/>
                  <a:t>是输入</a:t>
                </a:r>
                <a:r>
                  <a:rPr lang="en-US" altLang="zh-CN"/>
                  <a:t>x</a:t>
                </a:r>
                <a:r>
                  <a:rPr lang="zh-CN" altLang="en-US"/>
                  <a:t>与隐层</a:t>
                </a:r>
                <a:r>
                  <a:rPr lang="en-US" altLang="zh-CN"/>
                  <a:t>h</a:t>
                </a:r>
                <a:r>
                  <a:rPr lang="zh-CN" altLang="en-US"/>
                  <a:t>之间的权重，</a:t>
                </a:r>
                <a:r>
                  <a:rPr lang="en-US" altLang="zh-CN"/>
                  <a:t>v</a:t>
                </a:r>
                <a:r>
                  <a:rPr lang="zh-CN" altLang="en-US"/>
                  <a:t>是隐层</a:t>
                </a:r>
                <a:r>
                  <a:rPr lang="en-US" altLang="zh-CN"/>
                  <a:t>h</a:t>
                </a:r>
                <a:r>
                  <a:rPr lang="zh-CN" altLang="en-US"/>
                  <a:t>与输出</a:t>
                </a:r>
                <a:r>
                  <a:rPr lang="en-US" altLang="zh-CN"/>
                  <a:t>y</a:t>
                </a:r>
                <a:r>
                  <a:rPr lang="zh-CN" altLang="en-US"/>
                  <a:t>之间的权重。权重</a:t>
                </a:r>
                <a:r>
                  <a:rPr lang="en-US" altLang="zh-CN"/>
                  <a:t>w</a:t>
                </a:r>
                <a:r>
                  <a:rPr lang="zh-CN" altLang="en-US"/>
                  <a:t>和</a:t>
                </a:r>
                <a:r>
                  <a:rPr lang="en-US" altLang="zh-CN"/>
                  <a:t>v</a:t>
                </a:r>
                <a:r>
                  <a:rPr lang="zh-CN" altLang="en-US"/>
                  <a:t>要从数据中学得，</a:t>
                </a:r>
                <a:r>
                  <a:rPr lang="en-US" altLang="zh-CN"/>
                  <a:t>x</a:t>
                </a:r>
                <a:r>
                  <a:rPr lang="zh-CN" altLang="en-US"/>
                  <a:t>是输入特征</a:t>
                </a:r>
                <a:r>
                  <a:rPr lang="en-US" altLang="zh-CN"/>
                  <a:t>,y</a:t>
                </a:r>
                <a:r>
                  <a:rPr lang="zh-CN" altLang="en-US"/>
                  <a:t>是计算得到的输出，</a:t>
                </a:r>
                <a:r>
                  <a:rPr lang="en-US" altLang="zh-CN"/>
                  <a:t>h</a:t>
                </a:r>
                <a:r>
                  <a:rPr lang="zh-CN" altLang="en-US"/>
                  <a:t>是计算的中间结果。需要用户设置的一个重要参数是隐层中节点个数。</a:t>
                </a:r>
                <a:endParaRPr lang="en-US" altLang="zh-CN"/>
              </a:p>
              <a:p>
                <a:endParaRPr lang="zh-CN" altLang="en-US" dirty="0"/>
              </a:p>
            </p:txBody>
          </p:sp>
        </mc:Choice>
        <mc:Fallback xmlns="">
          <p:sp>
            <p:nvSpPr>
              <p:cNvPr id="3" name="备注占位符 2"/>
              <p:cNvSpPr>
                <a:spLocks noGrp="1"/>
              </p:cNvSpPr>
              <p:nvPr>
                <p:ph type="body" idx="1"/>
              </p:nvPr>
            </p:nvSpPr>
            <p:spPr/>
            <p:txBody>
              <a:bodyPr/>
              <a:lstStyle/>
              <a:p>
                <a:pPr marL="0" indent="0">
                  <a:buFont typeface="Wingdings" panose="05000000000000000000" pitchFamily="2" charset="2"/>
                  <a:buNone/>
                </a:pPr>
                <a:r>
                  <a:rPr lang="en-US" altLang="zh-CN" sz="1200" b="0" dirty="0">
                    <a:latin typeface="幼圆" panose="02010509060101010101" pitchFamily="49" charset="-122"/>
                    <a:ea typeface="幼圆" panose="02010509060101010101" pitchFamily="49" charset="-122"/>
                  </a:rPr>
                  <a:t>1. </a:t>
                </a:r>
                <a:r>
                  <a:rPr lang="zh-CN" altLang="en-US" sz="1200" b="0" dirty="0">
                    <a:latin typeface="幼圆" panose="02010509060101010101" pitchFamily="49" charset="-122"/>
                    <a:ea typeface="幼圆" panose="02010509060101010101" pitchFamily="49" charset="-122"/>
                  </a:rPr>
                  <a:t>理想激活函数是阶跃函数</a:t>
                </a:r>
                <a:r>
                  <a:rPr lang="en-US" altLang="zh-CN" sz="1200" b="0" dirty="0">
                    <a:latin typeface="幼圆" panose="02010509060101010101" pitchFamily="49" charset="-122"/>
                    <a:ea typeface="幼圆" panose="02010509060101010101" pitchFamily="49" charset="-122"/>
                  </a:rPr>
                  <a:t>, 0</a:t>
                </a:r>
                <a:r>
                  <a:rPr lang="zh-CN" altLang="en-US" sz="1200" b="0" dirty="0">
                    <a:latin typeface="幼圆" panose="02010509060101010101" pitchFamily="49" charset="-122"/>
                    <a:ea typeface="幼圆" panose="02010509060101010101" pitchFamily="49" charset="-122"/>
                  </a:rPr>
                  <a:t>表示抑制神经元而</a:t>
                </a:r>
                <a:r>
                  <a:rPr lang="en-US" altLang="zh-CN" sz="1200" b="0" dirty="0">
                    <a:latin typeface="幼圆" panose="02010509060101010101" pitchFamily="49" charset="-122"/>
                    <a:ea typeface="幼圆" panose="02010509060101010101" pitchFamily="49" charset="-122"/>
                  </a:rPr>
                  <a:t>1</a:t>
                </a:r>
                <a:r>
                  <a:rPr lang="zh-CN" altLang="en-US" sz="1200" b="0" dirty="0">
                    <a:latin typeface="幼圆" panose="02010509060101010101" pitchFamily="49" charset="-122"/>
                    <a:ea typeface="幼圆" panose="02010509060101010101" pitchFamily="49" charset="-122"/>
                  </a:rPr>
                  <a:t>表示激活神经元</a:t>
                </a:r>
                <a:endParaRPr lang="en-US" altLang="zh-CN" sz="1200" b="0" dirty="0">
                  <a:latin typeface="幼圆" panose="02010509060101010101" pitchFamily="49" charset="-122"/>
                  <a:ea typeface="幼圆" panose="02010509060101010101" pitchFamily="49" charset="-122"/>
                </a:endParaRPr>
              </a:p>
              <a:p>
                <a:pPr marL="0" indent="0">
                  <a:buFont typeface="Wingdings" panose="05000000000000000000" pitchFamily="2" charset="2"/>
                  <a:buNone/>
                </a:pPr>
                <a:r>
                  <a:rPr lang="en-US" altLang="zh-CN" sz="1200" b="0" dirty="0">
                    <a:latin typeface="幼圆" panose="02010509060101010101" pitchFamily="49" charset="-122"/>
                    <a:ea typeface="幼圆" panose="02010509060101010101" pitchFamily="49" charset="-122"/>
                  </a:rPr>
                  <a:t>2. </a:t>
                </a:r>
                <a:r>
                  <a:rPr lang="zh-CN" altLang="en-US" sz="1200" b="0" dirty="0">
                    <a:latin typeface="幼圆" panose="02010509060101010101" pitchFamily="49" charset="-122"/>
                    <a:ea typeface="幼圆" panose="02010509060101010101" pitchFamily="49" charset="-122"/>
                  </a:rPr>
                  <a:t>阶跃函数具有不连续、不光滑，数学特性不好</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常用的是 </a:t>
                </a:r>
                <a:r>
                  <a:rPr lang="en-US" altLang="zh-CN" sz="1200" b="0" dirty="0">
                    <a:latin typeface="幼圆" panose="02010509060101010101" pitchFamily="49" charset="-122"/>
                    <a:ea typeface="幼圆" panose="02010509060101010101" pitchFamily="49" charset="-122"/>
                  </a:rPr>
                  <a:t>Sigmoid </a:t>
                </a:r>
                <a:r>
                  <a:rPr lang="zh-CN" altLang="en-US" sz="1200" b="0" dirty="0">
                    <a:latin typeface="幼圆" panose="02010509060101010101" pitchFamily="49" charset="-122"/>
                    <a:ea typeface="幼圆" panose="02010509060101010101" pitchFamily="49" charset="-122"/>
                  </a:rPr>
                  <a:t>函数和</a:t>
                </a:r>
                <a:r>
                  <a:rPr lang="en-US" altLang="zh-CN" sz="1200" b="0" dirty="0">
                    <a:latin typeface="幼圆" panose="02010509060101010101" pitchFamily="49" charset="-122"/>
                    <a:ea typeface="幼圆" panose="02010509060101010101" pitchFamily="49" charset="-122"/>
                  </a:rPr>
                  <a:t>tanh</a:t>
                </a:r>
                <a:r>
                  <a:rPr lang="zh-CN" altLang="en-US" sz="1200" b="0" dirty="0">
                    <a:latin typeface="幼圆" panose="02010509060101010101" pitchFamily="49" charset="-122"/>
                    <a:ea typeface="幼圆" panose="02010509060101010101" pitchFamily="49" charset="-122"/>
                  </a:rPr>
                  <a:t>（双曲正切）等具有较好数学特性的函数。</a:t>
                </a:r>
                <a:endParaRPr lang="en-US" altLang="zh-CN" sz="1200" b="0" dirty="0">
                  <a:latin typeface="幼圆" panose="02010509060101010101" pitchFamily="49" charset="-122"/>
                  <a:ea typeface="幼圆" panose="02010509060101010101" pitchFamily="49" charset="-122"/>
                </a:endParaRPr>
              </a:p>
              <a:p>
                <a:pPr marL="628650" lvl="1" indent="-171450">
                  <a:buFont typeface="Wingdings" panose="05000000000000000000" pitchFamily="2" charset="2"/>
                  <a:buChar char="p"/>
                </a:pPr>
                <a:r>
                  <a:rPr lang="en-US" altLang="zh-CN" sz="1200" b="0" dirty="0">
                    <a:latin typeface="幼圆" panose="02010509060101010101" pitchFamily="49" charset="-122"/>
                    <a:ea typeface="幼圆" panose="02010509060101010101" pitchFamily="49" charset="-122"/>
                  </a:rPr>
                  <a:t>Sigmoid</a:t>
                </a:r>
                <a:r>
                  <a:rPr lang="zh-CN" altLang="en-US" sz="1200" b="0" dirty="0">
                    <a:latin typeface="幼圆" panose="02010509060101010101" pitchFamily="49" charset="-122"/>
                    <a:ea typeface="幼圆" panose="02010509060101010101" pitchFamily="49" charset="-122"/>
                  </a:rPr>
                  <a:t>函数</a:t>
                </a:r>
                <a:r>
                  <a:rPr lang="en-US" altLang="zh-CN" sz="1200" b="0" i="0">
                    <a:latin typeface="Cambria Math" panose="02040503050406030204" pitchFamily="18" charset="0"/>
                    <a:ea typeface="Cambria" panose="02040503050406030204" pitchFamily="18" charset="0"/>
                  </a:rPr>
                  <a:t>g</a:t>
                </a:r>
                <a:r>
                  <a:rPr lang="en-US" altLang="zh-CN" sz="1200" b="0" i="0">
                    <a:latin typeface="Cambria Math" panose="02040503050406030204" pitchFamily="18" charset="0"/>
                    <a:ea typeface="幼圆" panose="02010509060101010101" pitchFamily="49" charset="-122"/>
                  </a:rPr>
                  <a:t>(𝑧)=1/(1+𝑒^(−𝑧) )</a:t>
                </a:r>
                <a:r>
                  <a:rPr lang="zh-CN" altLang="en-US" sz="1200" b="0" dirty="0">
                    <a:latin typeface="幼圆" panose="02010509060101010101" pitchFamily="49" charset="-122"/>
                    <a:ea typeface="幼圆" panose="02010509060101010101" pitchFamily="49" charset="-122"/>
                  </a:rPr>
                  <a:t> </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将</a:t>
                </a:r>
                <a:r>
                  <a:rPr lang="en-US" altLang="zh-CN" sz="1200" b="0" dirty="0">
                    <a:latin typeface="幼圆" panose="02010509060101010101" pitchFamily="49" charset="-122"/>
                    <a:ea typeface="幼圆" panose="02010509060101010101" pitchFamily="49" charset="-122"/>
                  </a:rPr>
                  <a:t>[-</a:t>
                </a:r>
                <a:r>
                  <a:rPr lang="en-US" altLang="zh-CN" sz="1200" b="0" dirty="0">
                    <a:latin typeface="Cambria Math" panose="02040503050406030204" pitchFamily="18" charset="0"/>
                    <a:ea typeface="Cambria Math" panose="02040503050406030204" pitchFamily="18" charset="0"/>
                  </a:rPr>
                  <a: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范围的值映射到</a:t>
                </a:r>
                <a:r>
                  <a:rPr lang="en-US" altLang="zh-CN" sz="1200" b="0" dirty="0">
                    <a:latin typeface="幼圆" panose="02010509060101010101" pitchFamily="49" charset="-122"/>
                    <a:ea typeface="幼圆" panose="02010509060101010101" pitchFamily="49" charset="-122"/>
                  </a:rPr>
                  <a:t>[0,1];</a:t>
                </a:r>
              </a:p>
              <a:p>
                <a:pPr marL="628650" lvl="1" indent="-171450">
                  <a:buFont typeface="Wingdings" panose="05000000000000000000" pitchFamily="2" charset="2"/>
                  <a:buChar char="p"/>
                </a:pPr>
                <a:r>
                  <a:rPr lang="en-US" altLang="zh-CN" sz="1200" b="0" baseline="0" dirty="0" err="1">
                    <a:latin typeface="幼圆" panose="02010509060101010101" pitchFamily="49" charset="-122"/>
                    <a:ea typeface="幼圆" panose="02010509060101010101" pitchFamily="49" charset="-122"/>
                  </a:rPr>
                  <a:t>tanh</a:t>
                </a:r>
                <a:r>
                  <a:rPr lang="zh-CN" altLang="en-US" sz="1200" b="0" baseline="0" dirty="0">
                    <a:latin typeface="幼圆" panose="02010509060101010101" pitchFamily="49" charset="-122"/>
                    <a:ea typeface="幼圆" panose="02010509060101010101" pitchFamily="49" charset="-122"/>
                  </a:rPr>
                  <a:t>函数</a:t>
                </a:r>
                <a:r>
                  <a:rPr lang="en-US" altLang="zh-CN" sz="1200" b="0" i="0">
                    <a:latin typeface="Cambria Math" panose="02040503050406030204" pitchFamily="18" charset="0"/>
                    <a:ea typeface="Cambria" panose="02040503050406030204" pitchFamily="18" charset="0"/>
                  </a:rPr>
                  <a:t>g</a:t>
                </a:r>
                <a:r>
                  <a:rPr lang="en-US" altLang="zh-CN" sz="1200" b="0" i="0">
                    <a:latin typeface="Cambria Math" panose="02040503050406030204" pitchFamily="18" charset="0"/>
                    <a:ea typeface="幼圆" panose="02010509060101010101" pitchFamily="49" charset="-122"/>
                  </a:rPr>
                  <a:t>(𝑧)=(𝑒^𝑧−𝑒^(−𝑧))/(𝑒^𝑧+𝑒^(−𝑧) )</a:t>
                </a:r>
                <a:r>
                  <a:rPr lang="zh-CN" altLang="en-US" sz="1200" b="0" dirty="0">
                    <a:latin typeface="幼圆" panose="02010509060101010101" pitchFamily="49" charset="-122"/>
                    <a:ea typeface="幼圆" panose="02010509060101010101" pitchFamily="49" charset="-122"/>
                  </a:rPr>
                  <a:t> </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将</a:t>
                </a:r>
                <a:r>
                  <a:rPr lang="en-US" altLang="zh-CN" sz="1200" b="0" dirty="0">
                    <a:latin typeface="幼圆" panose="02010509060101010101" pitchFamily="49" charset="-122"/>
                    <a:ea typeface="幼圆" panose="02010509060101010101" pitchFamily="49" charset="-122"/>
                  </a:rPr>
                  <a:t>[-</a:t>
                </a:r>
                <a:r>
                  <a:rPr lang="en-US" altLang="zh-CN" sz="1200" b="0" dirty="0">
                    <a:latin typeface="Cambria Math" panose="02040503050406030204" pitchFamily="18" charset="0"/>
                    <a:ea typeface="Cambria Math" panose="02040503050406030204" pitchFamily="18" charset="0"/>
                  </a:rPr>
                  <a: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范围的值映射到</a:t>
                </a:r>
                <a:r>
                  <a:rPr lang="en-US" altLang="zh-CN" sz="1200" b="0" dirty="0">
                    <a:latin typeface="幼圆" panose="02010509060101010101" pitchFamily="49" charset="-122"/>
                    <a:ea typeface="幼圆" panose="02010509060101010101" pitchFamily="49" charset="-122"/>
                  </a:rPr>
                  <a:t>[-1,1]</a:t>
                </a:r>
                <a:r>
                  <a:rPr lang="zh-CN" altLang="en-US" sz="1200" b="0" dirty="0">
                    <a:latin typeface="幼圆" panose="02010509060101010101" pitchFamily="49" charset="-122"/>
                    <a:ea typeface="幼圆" panose="02010509060101010101" pitchFamily="49" charset="-122"/>
                  </a:rPr>
                  <a:t>。</a:t>
                </a:r>
                <a:endParaRPr lang="en-US" altLang="zh-CN" sz="1200" b="0" dirty="0">
                  <a:latin typeface="幼圆" panose="02010509060101010101" pitchFamily="49" charset="-122"/>
                  <a:ea typeface="幼圆" panose="02010509060101010101" pitchFamily="49" charset="-122"/>
                </a:endParaRPr>
              </a:p>
              <a:p>
                <a:pPr marL="628650" lvl="1" indent="-171450">
                  <a:buFont typeface="Wingdings" panose="05000000000000000000" pitchFamily="2" charset="2"/>
                  <a:buChar char="p"/>
                </a:pPr>
                <a:r>
                  <a:rPr lang="en-US" altLang="zh-CN" sz="1200" b="0" dirty="0" err="1">
                    <a:latin typeface="幼圆" panose="02010509060101010101" pitchFamily="49" charset="-122"/>
                    <a:ea typeface="幼圆" panose="02010509060101010101" pitchFamily="49" charset="-122"/>
                  </a:rPr>
                  <a:t>Relu</a:t>
                </a:r>
                <a:r>
                  <a:rPr lang="en-US" altLang="zh-CN" sz="1200" b="0" dirty="0">
                    <a:latin typeface="幼圆" panose="02010509060101010101" pitchFamily="49" charset="-122"/>
                    <a:ea typeface="幼圆" panose="02010509060101010101" pitchFamily="49" charset="-122"/>
                  </a:rPr>
                  <a:t>(</a:t>
                </a:r>
                <a:r>
                  <a:rPr lang="en-US" altLang="zh-CN" sz="1200" b="0" dirty="0" err="1">
                    <a:latin typeface="幼圆" panose="02010509060101010101" pitchFamily="49" charset="-122"/>
                    <a:ea typeface="幼圆" panose="02010509060101010101" pitchFamily="49" charset="-122"/>
                  </a:rPr>
                  <a:t>Recitified</a:t>
                </a:r>
                <a:r>
                  <a:rPr lang="en-US" altLang="zh-CN" sz="1200" b="0" dirty="0">
                    <a:latin typeface="幼圆" panose="02010509060101010101" pitchFamily="49" charset="-122"/>
                    <a:ea typeface="幼圆" panose="02010509060101010101" pitchFamily="49" charset="-122"/>
                  </a:rPr>
                  <a:t> Linear</a:t>
                </a:r>
                <a:r>
                  <a:rPr lang="en-US" altLang="zh-CN" sz="1200" b="0" baseline="0" dirty="0">
                    <a:latin typeface="幼圆" panose="02010509060101010101" pitchFamily="49" charset="-122"/>
                    <a:ea typeface="幼圆" panose="02010509060101010101" pitchFamily="49" charset="-122"/>
                  </a:rPr>
                  <a:t> Unit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线性整流函数 </a:t>
                </a:r>
                <a:r>
                  <a:rPr lang="en-US" altLang="zh-CN" sz="1200" b="0" i="0">
                    <a:latin typeface="Cambria Math" panose="02040503050406030204" pitchFamily="18" charset="0"/>
                    <a:ea typeface="Cambria" panose="02040503050406030204" pitchFamily="18" charset="0"/>
                  </a:rPr>
                  <a:t>g</a:t>
                </a:r>
                <a:r>
                  <a:rPr lang="en-US" altLang="zh-CN" sz="1200" b="0" i="0">
                    <a:latin typeface="Cambria Math" panose="02040503050406030204" pitchFamily="18" charset="0"/>
                    <a:ea typeface="幼圆" panose="02010509060101010101" pitchFamily="49" charset="-122"/>
                  </a:rPr>
                  <a:t>(𝑧)=</a:t>
                </a:r>
                <a:r>
                  <a:rPr lang="en-US" altLang="zh-CN" dirty="0">
                    <a:effectLst/>
                  </a:rPr>
                  <a:t>max(0, z) </a:t>
                </a:r>
                <a:endParaRPr lang="en-US" altLang="zh-CN" sz="1200" b="0" dirty="0">
                  <a:latin typeface="幼圆" panose="02010509060101010101" pitchFamily="49" charset="-122"/>
                  <a:ea typeface="幼圆" panose="02010509060101010101" pitchFamily="49" charset="-122"/>
                </a:endParaRPr>
              </a:p>
              <a:p>
                <a:pPr marL="457200" lvl="1" indent="0">
                  <a:buFont typeface="Wingdings" panose="05000000000000000000" pitchFamily="2" charset="2"/>
                  <a:buNone/>
                </a:pPr>
                <a:endParaRPr lang="en-US" altLang="zh-CN" sz="1200" b="0" dirty="0">
                  <a:latin typeface="幼圆" panose="02010509060101010101" pitchFamily="49" charset="-122"/>
                  <a:ea typeface="幼圆" panose="02010509060101010101" pitchFamily="49" charset="-122"/>
                </a:endParaRPr>
              </a:p>
              <a:p>
                <a:endParaRPr lang="zh-CN" altLang="en-US" dirty="0"/>
              </a:p>
            </p:txBody>
          </p:sp>
        </mc:Fallback>
      </mc:AlternateContent>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63</a:t>
            </a:fld>
            <a:endParaRPr lang="zh-CN" altLang="en-US"/>
          </a:p>
        </p:txBody>
      </p:sp>
    </p:spTree>
    <p:extLst>
      <p:ext uri="{BB962C8B-B14F-4D97-AF65-F5344CB8AC3E}">
        <p14:creationId xmlns:p14="http://schemas.microsoft.com/office/powerpoint/2010/main" val="348428170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indent="0">
                  <a:buFont typeface="Wingdings" panose="05000000000000000000" pitchFamily="2" charset="2"/>
                  <a:buNone/>
                </a:pPr>
                <a:r>
                  <a:rPr lang="en-US" altLang="zh-CN" sz="1200" b="0" dirty="0">
                    <a:latin typeface="幼圆" panose="02010509060101010101" pitchFamily="49" charset="-122"/>
                    <a:ea typeface="幼圆" panose="02010509060101010101" pitchFamily="49" charset="-122"/>
                  </a:rPr>
                  <a:t>1. </a:t>
                </a:r>
                <a:r>
                  <a:rPr lang="zh-CN" altLang="en-US" sz="1200" b="0" dirty="0">
                    <a:latin typeface="幼圆" panose="02010509060101010101" pitchFamily="49" charset="-122"/>
                    <a:ea typeface="幼圆" panose="02010509060101010101" pitchFamily="49" charset="-122"/>
                  </a:rPr>
                  <a:t>理想激活函数是阶跃函数</a:t>
                </a:r>
                <a:r>
                  <a:rPr lang="en-US" altLang="zh-CN" sz="1200" b="0" dirty="0">
                    <a:latin typeface="幼圆" panose="02010509060101010101" pitchFamily="49" charset="-122"/>
                    <a:ea typeface="幼圆" panose="02010509060101010101" pitchFamily="49" charset="-122"/>
                  </a:rPr>
                  <a:t>, 0</a:t>
                </a:r>
                <a:r>
                  <a:rPr lang="zh-CN" altLang="en-US" sz="1200" b="0" dirty="0">
                    <a:latin typeface="幼圆" panose="02010509060101010101" pitchFamily="49" charset="-122"/>
                    <a:ea typeface="幼圆" panose="02010509060101010101" pitchFamily="49" charset="-122"/>
                  </a:rPr>
                  <a:t>表示抑制神经元而</a:t>
                </a:r>
                <a:r>
                  <a:rPr lang="en-US" altLang="zh-CN" sz="1200" b="0" dirty="0">
                    <a:latin typeface="幼圆" panose="02010509060101010101" pitchFamily="49" charset="-122"/>
                    <a:ea typeface="幼圆" panose="02010509060101010101" pitchFamily="49" charset="-122"/>
                  </a:rPr>
                  <a:t>1</a:t>
                </a:r>
                <a:r>
                  <a:rPr lang="zh-CN" altLang="en-US" sz="1200" b="0" dirty="0">
                    <a:latin typeface="幼圆" panose="02010509060101010101" pitchFamily="49" charset="-122"/>
                    <a:ea typeface="幼圆" panose="02010509060101010101" pitchFamily="49" charset="-122"/>
                  </a:rPr>
                  <a:t>表示激活神经元</a:t>
                </a:r>
                <a:endParaRPr lang="en-US" altLang="zh-CN" sz="1200" b="0" dirty="0">
                  <a:latin typeface="幼圆" panose="02010509060101010101" pitchFamily="49" charset="-122"/>
                  <a:ea typeface="幼圆" panose="02010509060101010101" pitchFamily="49" charset="-122"/>
                </a:endParaRPr>
              </a:p>
              <a:p>
                <a:pPr marL="0" indent="0">
                  <a:buFont typeface="Wingdings" panose="05000000000000000000" pitchFamily="2" charset="2"/>
                  <a:buNone/>
                </a:pPr>
                <a:r>
                  <a:rPr lang="en-US" altLang="zh-CN" sz="1200" b="0" dirty="0">
                    <a:latin typeface="幼圆" panose="02010509060101010101" pitchFamily="49" charset="-122"/>
                    <a:ea typeface="幼圆" panose="02010509060101010101" pitchFamily="49" charset="-122"/>
                  </a:rPr>
                  <a:t>2. </a:t>
                </a:r>
                <a:r>
                  <a:rPr lang="zh-CN" altLang="en-US" sz="1200" b="0" dirty="0">
                    <a:latin typeface="幼圆" panose="02010509060101010101" pitchFamily="49" charset="-122"/>
                    <a:ea typeface="幼圆" panose="02010509060101010101" pitchFamily="49" charset="-122"/>
                  </a:rPr>
                  <a:t>阶跃函数具有不连续、不光滑，数学特性不好</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常用的是 </a:t>
                </a:r>
                <a:r>
                  <a:rPr lang="en-US" altLang="zh-CN" sz="1200" b="0" dirty="0">
                    <a:latin typeface="幼圆" panose="02010509060101010101" pitchFamily="49" charset="-122"/>
                    <a:ea typeface="幼圆" panose="02010509060101010101" pitchFamily="49" charset="-122"/>
                  </a:rPr>
                  <a:t>Sigmoid </a:t>
                </a:r>
                <a:r>
                  <a:rPr lang="zh-CN" altLang="en-US" sz="1200" b="0" dirty="0">
                    <a:latin typeface="幼圆" panose="02010509060101010101" pitchFamily="49" charset="-122"/>
                    <a:ea typeface="幼圆" panose="02010509060101010101" pitchFamily="49" charset="-122"/>
                  </a:rPr>
                  <a:t>函数和</a:t>
                </a:r>
                <a:r>
                  <a:rPr lang="en-US" altLang="zh-CN" sz="1200" b="0" dirty="0">
                    <a:latin typeface="幼圆" panose="02010509060101010101" pitchFamily="49" charset="-122"/>
                    <a:ea typeface="幼圆" panose="02010509060101010101" pitchFamily="49" charset="-122"/>
                  </a:rPr>
                  <a:t>tanh</a:t>
                </a:r>
                <a:r>
                  <a:rPr lang="zh-CN" altLang="en-US" sz="1200" b="0" dirty="0">
                    <a:latin typeface="幼圆" panose="02010509060101010101" pitchFamily="49" charset="-122"/>
                    <a:ea typeface="幼圆" panose="02010509060101010101" pitchFamily="49" charset="-122"/>
                  </a:rPr>
                  <a:t>（双曲正切）等具有较好数学特性的函数。</a:t>
                </a:r>
                <a:endParaRPr lang="en-US" altLang="zh-CN" sz="1200" b="0" dirty="0">
                  <a:latin typeface="幼圆" panose="02010509060101010101" pitchFamily="49" charset="-122"/>
                  <a:ea typeface="幼圆" panose="02010509060101010101" pitchFamily="49" charset="-122"/>
                </a:endParaRPr>
              </a:p>
              <a:p>
                <a:pPr marL="628650" lvl="1" indent="-171450">
                  <a:buFont typeface="Wingdings" panose="05000000000000000000" pitchFamily="2" charset="2"/>
                  <a:buChar char="p"/>
                </a:pPr>
                <a:r>
                  <a:rPr lang="en-US" altLang="zh-CN" sz="1200" b="0" dirty="0">
                    <a:latin typeface="幼圆" panose="02010509060101010101" pitchFamily="49" charset="-122"/>
                    <a:ea typeface="幼圆" panose="02010509060101010101" pitchFamily="49" charset="-122"/>
                  </a:rPr>
                  <a:t>Sigmoid</a:t>
                </a:r>
                <a:r>
                  <a:rPr lang="zh-CN" altLang="en-US" sz="1200" b="0" dirty="0">
                    <a:latin typeface="幼圆" panose="02010509060101010101" pitchFamily="49" charset="-122"/>
                    <a:ea typeface="幼圆" panose="02010509060101010101" pitchFamily="49" charset="-122"/>
                  </a:rPr>
                  <a:t>函数</a:t>
                </a:r>
                <a14:m>
                  <m:oMath xmlns:m="http://schemas.openxmlformats.org/officeDocument/2006/math">
                    <m:r>
                      <m:rPr>
                        <m:sty m:val="p"/>
                      </m:rPr>
                      <a:rPr lang="en-US" altLang="zh-CN" sz="1200" b="0" i="0" smtClean="0">
                        <a:latin typeface="Cambria Math" panose="02040503050406030204" pitchFamily="18" charset="0"/>
                        <a:ea typeface="Cambria" panose="02040503050406030204" pitchFamily="18" charset="0"/>
                      </a:rPr>
                      <m:t>g</m:t>
                    </m:r>
                    <m:d>
                      <m:dPr>
                        <m:ctrlPr>
                          <a:rPr lang="en-US" altLang="zh-CN" sz="1200" b="0" i="1" smtClean="0">
                            <a:latin typeface="Cambria Math" panose="02040503050406030204" pitchFamily="18" charset="0"/>
                            <a:ea typeface="幼圆" panose="02010509060101010101" pitchFamily="49" charset="-122"/>
                          </a:rPr>
                        </m:ctrlPr>
                      </m:dPr>
                      <m:e>
                        <m:r>
                          <a:rPr lang="en-US" altLang="zh-CN" sz="1200" b="0" i="1" smtClean="0">
                            <a:latin typeface="Cambria Math" panose="02040503050406030204" pitchFamily="18" charset="0"/>
                            <a:ea typeface="幼圆" panose="02010509060101010101" pitchFamily="49" charset="-122"/>
                          </a:rPr>
                          <m:t>𝑧</m:t>
                        </m:r>
                      </m:e>
                    </m:d>
                    <m:r>
                      <a:rPr lang="en-US" altLang="zh-CN" sz="1200" b="0" i="1" smtClean="0">
                        <a:latin typeface="Cambria Math" panose="02040503050406030204" pitchFamily="18" charset="0"/>
                        <a:ea typeface="幼圆" panose="02010509060101010101" pitchFamily="49" charset="-122"/>
                      </a:rPr>
                      <m:t>=</m:t>
                    </m:r>
                    <m:f>
                      <m:fPr>
                        <m:ctrlPr>
                          <a:rPr lang="en-US" altLang="zh-CN" sz="1200" b="0" i="1" smtClean="0">
                            <a:latin typeface="Cambria Math" panose="02040503050406030204" pitchFamily="18" charset="0"/>
                            <a:ea typeface="幼圆" panose="02010509060101010101" pitchFamily="49" charset="-122"/>
                          </a:rPr>
                        </m:ctrlPr>
                      </m:fPr>
                      <m:num>
                        <m:r>
                          <a:rPr lang="en-US" altLang="zh-CN" sz="1200" b="0" i="1" smtClean="0">
                            <a:latin typeface="Cambria Math" panose="02040503050406030204" pitchFamily="18" charset="0"/>
                            <a:ea typeface="幼圆" panose="02010509060101010101" pitchFamily="49" charset="-122"/>
                          </a:rPr>
                          <m:t>1</m:t>
                        </m:r>
                      </m:num>
                      <m:den>
                        <m:r>
                          <a:rPr lang="en-US" altLang="zh-CN" sz="1200" b="0" i="1" smtClean="0">
                            <a:latin typeface="Cambria Math" panose="02040503050406030204" pitchFamily="18" charset="0"/>
                            <a:ea typeface="幼圆" panose="02010509060101010101" pitchFamily="49" charset="-122"/>
                          </a:rPr>
                          <m:t>1+</m:t>
                        </m:r>
                        <m:sSup>
                          <m:sSupPr>
                            <m:ctrlPr>
                              <a:rPr lang="en-US" altLang="zh-CN" sz="1200" b="0" i="1" smtClean="0">
                                <a:latin typeface="Cambria Math" panose="02040503050406030204" pitchFamily="18" charset="0"/>
                                <a:ea typeface="幼圆" panose="02010509060101010101" pitchFamily="49" charset="-122"/>
                              </a:rPr>
                            </m:ctrlPr>
                          </m:sSupPr>
                          <m:e>
                            <m:r>
                              <a:rPr lang="en-US" altLang="zh-CN" sz="1200" b="0" i="1" smtClean="0">
                                <a:latin typeface="Cambria Math" panose="02040503050406030204" pitchFamily="18" charset="0"/>
                                <a:ea typeface="幼圆" panose="02010509060101010101" pitchFamily="49" charset="-122"/>
                              </a:rPr>
                              <m:t>𝑒</m:t>
                            </m:r>
                          </m:e>
                          <m:sup>
                            <m:r>
                              <a:rPr lang="en-US" altLang="zh-CN" sz="1200" b="0" i="1" smtClean="0">
                                <a:latin typeface="Cambria Math" panose="02040503050406030204" pitchFamily="18" charset="0"/>
                                <a:ea typeface="幼圆" panose="02010509060101010101" pitchFamily="49" charset="-122"/>
                              </a:rPr>
                              <m:t>−</m:t>
                            </m:r>
                            <m:r>
                              <a:rPr lang="en-US" altLang="zh-CN" sz="1200" b="0" i="1" smtClean="0">
                                <a:latin typeface="Cambria Math" panose="02040503050406030204" pitchFamily="18" charset="0"/>
                                <a:ea typeface="幼圆" panose="02010509060101010101" pitchFamily="49" charset="-122"/>
                              </a:rPr>
                              <m:t>𝑧</m:t>
                            </m:r>
                          </m:sup>
                        </m:sSup>
                      </m:den>
                    </m:f>
                  </m:oMath>
                </a14:m>
                <a:r>
                  <a:rPr lang="zh-CN" altLang="en-US" sz="1200" b="0" dirty="0">
                    <a:latin typeface="幼圆" panose="02010509060101010101" pitchFamily="49" charset="-122"/>
                    <a:ea typeface="幼圆" panose="02010509060101010101" pitchFamily="49" charset="-122"/>
                  </a:rPr>
                  <a:t> </a:t>
                </a:r>
                <a:r>
                  <a:rPr lang="en-US" altLang="zh-CN" sz="1200" b="0">
                    <a:latin typeface="幼圆" panose="02010509060101010101" pitchFamily="49" charset="-122"/>
                    <a:ea typeface="幼圆" panose="02010509060101010101" pitchFamily="49" charset="-122"/>
                  </a:rPr>
                  <a:t>, </a:t>
                </a:r>
                <a:r>
                  <a:rPr lang="zh-CN" altLang="en-US" sz="1200" b="0">
                    <a:latin typeface="幼圆" panose="02010509060101010101" pitchFamily="49" charset="-122"/>
                    <a:ea typeface="幼圆" panose="02010509060101010101" pitchFamily="49" charset="-122"/>
                  </a:rPr>
                  <a:t>将</a:t>
                </a:r>
                <a:r>
                  <a:rPr lang="en-US" altLang="zh-CN" sz="1200" b="0">
                    <a:latin typeface="幼圆" panose="02010509060101010101" pitchFamily="49" charset="-122"/>
                    <a:ea typeface="幼圆" panose="02010509060101010101" pitchFamily="49" charset="-122"/>
                  </a:rPr>
                  <a:t>[-</a:t>
                </a:r>
                <a:r>
                  <a:rPr lang="en-US" altLang="zh-CN" sz="1200" b="0" dirty="0">
                    <a:latin typeface="Cambria Math" panose="02040503050406030204" pitchFamily="18" charset="0"/>
                    <a:ea typeface="Cambria Math" panose="02040503050406030204" pitchFamily="18" charset="0"/>
                  </a:rPr>
                  <a:t>∞</a:t>
                </a:r>
                <a:r>
                  <a:rPr lang="en-US" altLang="zh-CN" sz="1200" b="0">
                    <a:latin typeface="Cambria Math" panose="02040503050406030204" pitchFamily="18" charset="0"/>
                    <a:ea typeface="Cambria Math" panose="02040503050406030204" pitchFamily="18" charset="0"/>
                  </a:rPr>
                  <a:t>,+∞</a:t>
                </a:r>
                <a:r>
                  <a:rPr lang="en-US" altLang="zh-CN" sz="1200" b="0">
                    <a:latin typeface="幼圆" panose="02010509060101010101" pitchFamily="49" charset="-122"/>
                    <a:ea typeface="幼圆" panose="02010509060101010101" pitchFamily="49" charset="-122"/>
                  </a:rPr>
                  <a:t>]</a:t>
                </a:r>
                <a:r>
                  <a:rPr lang="zh-CN" altLang="en-US" sz="1200" b="0">
                    <a:latin typeface="幼圆" panose="02010509060101010101" pitchFamily="49" charset="-122"/>
                    <a:ea typeface="幼圆" panose="02010509060101010101" pitchFamily="49" charset="-122"/>
                  </a:rPr>
                  <a:t>范围</a:t>
                </a:r>
                <a:r>
                  <a:rPr lang="zh-CN" altLang="en-US" sz="1200" b="0" dirty="0">
                    <a:latin typeface="幼圆" panose="02010509060101010101" pitchFamily="49" charset="-122"/>
                    <a:ea typeface="幼圆" panose="02010509060101010101" pitchFamily="49" charset="-122"/>
                  </a:rPr>
                  <a:t>的值</a:t>
                </a:r>
                <a:r>
                  <a:rPr lang="zh-CN" altLang="en-US" sz="1200" b="0">
                    <a:latin typeface="幼圆" panose="02010509060101010101" pitchFamily="49" charset="-122"/>
                    <a:ea typeface="幼圆" panose="02010509060101010101" pitchFamily="49" charset="-122"/>
                  </a:rPr>
                  <a:t>映射到</a:t>
                </a:r>
                <a:r>
                  <a:rPr lang="en-US" altLang="zh-CN" sz="1200" b="0">
                    <a:latin typeface="幼圆" panose="02010509060101010101" pitchFamily="49" charset="-122"/>
                    <a:ea typeface="幼圆" panose="02010509060101010101" pitchFamily="49" charset="-122"/>
                  </a:rPr>
                  <a:t>[0,1];</a:t>
                </a:r>
                <a:endParaRPr lang="en-US" altLang="zh-CN" sz="1200" b="0" dirty="0">
                  <a:latin typeface="幼圆" panose="02010509060101010101" pitchFamily="49" charset="-122"/>
                  <a:ea typeface="幼圆" panose="02010509060101010101" pitchFamily="49" charset="-122"/>
                </a:endParaRPr>
              </a:p>
              <a:p>
                <a:pPr marL="628650" lvl="1" indent="-171450">
                  <a:buFont typeface="Wingdings" panose="05000000000000000000" pitchFamily="2" charset="2"/>
                  <a:buChar char="p"/>
                </a:pPr>
                <a:r>
                  <a:rPr lang="en-US" altLang="zh-CN" sz="1200" b="0" baseline="0" dirty="0" err="1">
                    <a:latin typeface="幼圆" panose="02010509060101010101" pitchFamily="49" charset="-122"/>
                    <a:ea typeface="幼圆" panose="02010509060101010101" pitchFamily="49" charset="-122"/>
                  </a:rPr>
                  <a:t>tanh</a:t>
                </a:r>
                <a:r>
                  <a:rPr lang="zh-CN" altLang="en-US" sz="1200" b="0" baseline="0" dirty="0">
                    <a:latin typeface="幼圆" panose="02010509060101010101" pitchFamily="49" charset="-122"/>
                    <a:ea typeface="幼圆" panose="02010509060101010101" pitchFamily="49" charset="-122"/>
                  </a:rPr>
                  <a:t>函数</a:t>
                </a:r>
                <a14:m>
                  <m:oMath xmlns:m="http://schemas.openxmlformats.org/officeDocument/2006/math">
                    <m:r>
                      <m:rPr>
                        <m:sty m:val="p"/>
                      </m:rPr>
                      <a:rPr lang="en-US" altLang="zh-CN" sz="1200" b="0" i="0" smtClean="0">
                        <a:latin typeface="Cambria Math" panose="02040503050406030204" pitchFamily="18" charset="0"/>
                        <a:ea typeface="Cambria" panose="02040503050406030204" pitchFamily="18" charset="0"/>
                      </a:rPr>
                      <m:t>g</m:t>
                    </m:r>
                    <m:d>
                      <m:dPr>
                        <m:ctrlPr>
                          <a:rPr lang="en-US" altLang="zh-CN" sz="1200" b="0" i="1" smtClean="0">
                            <a:latin typeface="Cambria Math" panose="02040503050406030204" pitchFamily="18" charset="0"/>
                            <a:ea typeface="幼圆" panose="02010509060101010101" pitchFamily="49" charset="-122"/>
                          </a:rPr>
                        </m:ctrlPr>
                      </m:dPr>
                      <m:e>
                        <m:r>
                          <a:rPr lang="en-US" altLang="zh-CN" sz="1200" b="0" i="1" smtClean="0">
                            <a:latin typeface="Cambria Math" panose="02040503050406030204" pitchFamily="18" charset="0"/>
                            <a:ea typeface="幼圆" panose="02010509060101010101" pitchFamily="49" charset="-122"/>
                          </a:rPr>
                          <m:t>𝑧</m:t>
                        </m:r>
                      </m:e>
                    </m:d>
                    <m:r>
                      <a:rPr lang="en-US" altLang="zh-CN" sz="1200" b="0" i="1" smtClean="0">
                        <a:latin typeface="Cambria Math" panose="02040503050406030204" pitchFamily="18" charset="0"/>
                        <a:ea typeface="幼圆" panose="02010509060101010101" pitchFamily="49" charset="-122"/>
                      </a:rPr>
                      <m:t>=</m:t>
                    </m:r>
                    <m:f>
                      <m:fPr>
                        <m:ctrlPr>
                          <a:rPr lang="en-US" altLang="zh-CN" sz="1200" b="0" i="1" smtClean="0">
                            <a:latin typeface="Cambria Math" panose="02040503050406030204" pitchFamily="18" charset="0"/>
                            <a:ea typeface="幼圆" panose="02010509060101010101" pitchFamily="49" charset="-122"/>
                          </a:rPr>
                        </m:ctrlPr>
                      </m:fPr>
                      <m:num>
                        <m:sSup>
                          <m:sSupPr>
                            <m:ctrlPr>
                              <a:rPr lang="en-US" altLang="zh-CN" sz="1200" b="0" i="1" smtClean="0">
                                <a:latin typeface="Cambria Math" panose="02040503050406030204" pitchFamily="18" charset="0"/>
                                <a:ea typeface="幼圆" panose="02010509060101010101" pitchFamily="49" charset="-122"/>
                              </a:rPr>
                            </m:ctrlPr>
                          </m:sSupPr>
                          <m:e>
                            <m:r>
                              <a:rPr lang="en-US" altLang="zh-CN" sz="1200" b="0" i="1" smtClean="0">
                                <a:latin typeface="Cambria Math" panose="02040503050406030204" pitchFamily="18" charset="0"/>
                                <a:ea typeface="幼圆" panose="02010509060101010101" pitchFamily="49" charset="-122"/>
                              </a:rPr>
                              <m:t>𝑒</m:t>
                            </m:r>
                          </m:e>
                          <m:sup>
                            <m:r>
                              <a:rPr lang="en-US" altLang="zh-CN" sz="1200" b="0" i="1" smtClean="0">
                                <a:latin typeface="Cambria Math" panose="02040503050406030204" pitchFamily="18" charset="0"/>
                                <a:ea typeface="幼圆" panose="02010509060101010101" pitchFamily="49" charset="-122"/>
                              </a:rPr>
                              <m:t>𝑧</m:t>
                            </m:r>
                          </m:sup>
                        </m:sSup>
                        <m:r>
                          <a:rPr lang="en-US" altLang="zh-CN" sz="1200" b="0" i="1" smtClean="0">
                            <a:latin typeface="Cambria Math" panose="02040503050406030204" pitchFamily="18" charset="0"/>
                            <a:ea typeface="幼圆" panose="02010509060101010101" pitchFamily="49" charset="-122"/>
                          </a:rPr>
                          <m:t>−</m:t>
                        </m:r>
                        <m:sSup>
                          <m:sSupPr>
                            <m:ctrlPr>
                              <a:rPr lang="en-US" altLang="zh-CN" sz="1200" b="0" i="1" smtClean="0">
                                <a:latin typeface="Cambria Math" panose="02040503050406030204" pitchFamily="18" charset="0"/>
                                <a:ea typeface="幼圆" panose="02010509060101010101" pitchFamily="49" charset="-122"/>
                              </a:rPr>
                            </m:ctrlPr>
                          </m:sSupPr>
                          <m:e>
                            <m:r>
                              <a:rPr lang="en-US" altLang="zh-CN" sz="1200" b="0" i="1" smtClean="0">
                                <a:latin typeface="Cambria Math" panose="02040503050406030204" pitchFamily="18" charset="0"/>
                                <a:ea typeface="幼圆" panose="02010509060101010101" pitchFamily="49" charset="-122"/>
                              </a:rPr>
                              <m:t>𝑒</m:t>
                            </m:r>
                          </m:e>
                          <m:sup>
                            <m:r>
                              <a:rPr lang="en-US" altLang="zh-CN" sz="1200" b="0" i="1" smtClean="0">
                                <a:latin typeface="Cambria Math" panose="02040503050406030204" pitchFamily="18" charset="0"/>
                                <a:ea typeface="幼圆" panose="02010509060101010101" pitchFamily="49" charset="-122"/>
                              </a:rPr>
                              <m:t>−</m:t>
                            </m:r>
                            <m:r>
                              <a:rPr lang="en-US" altLang="zh-CN" sz="1200" b="0" i="1" smtClean="0">
                                <a:latin typeface="Cambria Math" panose="02040503050406030204" pitchFamily="18" charset="0"/>
                                <a:ea typeface="幼圆" panose="02010509060101010101" pitchFamily="49" charset="-122"/>
                              </a:rPr>
                              <m:t>𝑧</m:t>
                            </m:r>
                          </m:sup>
                        </m:sSup>
                      </m:num>
                      <m:den>
                        <m:sSup>
                          <m:sSupPr>
                            <m:ctrlPr>
                              <a:rPr lang="en-US" altLang="zh-CN" sz="1200" b="0" i="1" smtClean="0">
                                <a:latin typeface="Cambria Math" panose="02040503050406030204" pitchFamily="18" charset="0"/>
                                <a:ea typeface="幼圆" panose="02010509060101010101" pitchFamily="49" charset="-122"/>
                              </a:rPr>
                            </m:ctrlPr>
                          </m:sSupPr>
                          <m:e>
                            <m:r>
                              <a:rPr lang="en-US" altLang="zh-CN" sz="1200" b="0" i="1" smtClean="0">
                                <a:latin typeface="Cambria Math" panose="02040503050406030204" pitchFamily="18" charset="0"/>
                                <a:ea typeface="幼圆" panose="02010509060101010101" pitchFamily="49" charset="-122"/>
                              </a:rPr>
                              <m:t>𝑒</m:t>
                            </m:r>
                          </m:e>
                          <m:sup>
                            <m:r>
                              <a:rPr lang="en-US" altLang="zh-CN" sz="1200" b="0" i="1" smtClean="0">
                                <a:latin typeface="Cambria Math" panose="02040503050406030204" pitchFamily="18" charset="0"/>
                                <a:ea typeface="幼圆" panose="02010509060101010101" pitchFamily="49" charset="-122"/>
                              </a:rPr>
                              <m:t>𝑧</m:t>
                            </m:r>
                          </m:sup>
                        </m:sSup>
                        <m:r>
                          <a:rPr lang="en-US" altLang="zh-CN" sz="1200" b="0" i="1" smtClean="0">
                            <a:latin typeface="Cambria Math" panose="02040503050406030204" pitchFamily="18" charset="0"/>
                            <a:ea typeface="幼圆" panose="02010509060101010101" pitchFamily="49" charset="-122"/>
                          </a:rPr>
                          <m:t>+</m:t>
                        </m:r>
                        <m:sSup>
                          <m:sSupPr>
                            <m:ctrlPr>
                              <a:rPr lang="en-US" altLang="zh-CN" sz="1200" b="0" i="1" smtClean="0">
                                <a:latin typeface="Cambria Math" panose="02040503050406030204" pitchFamily="18" charset="0"/>
                                <a:ea typeface="幼圆" panose="02010509060101010101" pitchFamily="49" charset="-122"/>
                              </a:rPr>
                            </m:ctrlPr>
                          </m:sSupPr>
                          <m:e>
                            <m:r>
                              <a:rPr lang="en-US" altLang="zh-CN" sz="1200" b="0" i="1" smtClean="0">
                                <a:latin typeface="Cambria Math" panose="02040503050406030204" pitchFamily="18" charset="0"/>
                                <a:ea typeface="幼圆" panose="02010509060101010101" pitchFamily="49" charset="-122"/>
                              </a:rPr>
                              <m:t>𝑒</m:t>
                            </m:r>
                          </m:e>
                          <m:sup>
                            <m:r>
                              <a:rPr lang="en-US" altLang="zh-CN" sz="1200" b="0" i="1" smtClean="0">
                                <a:latin typeface="Cambria Math" panose="02040503050406030204" pitchFamily="18" charset="0"/>
                                <a:ea typeface="幼圆" panose="02010509060101010101" pitchFamily="49" charset="-122"/>
                              </a:rPr>
                              <m:t>−</m:t>
                            </m:r>
                            <m:r>
                              <a:rPr lang="en-US" altLang="zh-CN" sz="1200" b="0" i="1" smtClean="0">
                                <a:latin typeface="Cambria Math" panose="02040503050406030204" pitchFamily="18" charset="0"/>
                                <a:ea typeface="幼圆" panose="02010509060101010101" pitchFamily="49" charset="-122"/>
                              </a:rPr>
                              <m:t>𝑧</m:t>
                            </m:r>
                          </m:sup>
                        </m:sSup>
                      </m:den>
                    </m:f>
                  </m:oMath>
                </a14:m>
                <a:r>
                  <a:rPr lang="zh-CN" altLang="en-US" sz="1200" b="0" dirty="0">
                    <a:latin typeface="幼圆" panose="02010509060101010101" pitchFamily="49" charset="-122"/>
                    <a:ea typeface="幼圆" panose="02010509060101010101" pitchFamily="49" charset="-122"/>
                  </a:rPr>
                  <a:t> </a:t>
                </a:r>
                <a:r>
                  <a:rPr lang="en-US" altLang="zh-CN" sz="1200" b="0">
                    <a:latin typeface="幼圆" panose="02010509060101010101" pitchFamily="49" charset="-122"/>
                    <a:ea typeface="幼圆" panose="02010509060101010101" pitchFamily="49" charset="-122"/>
                  </a:rPr>
                  <a:t>, </a:t>
                </a:r>
                <a:r>
                  <a:rPr lang="zh-CN" altLang="en-US" sz="1200" b="0">
                    <a:latin typeface="幼圆" panose="02010509060101010101" pitchFamily="49" charset="-122"/>
                    <a:ea typeface="幼圆" panose="02010509060101010101" pitchFamily="49" charset="-122"/>
                  </a:rPr>
                  <a:t>将</a:t>
                </a:r>
                <a:r>
                  <a:rPr lang="en-US" altLang="zh-CN" sz="1200" b="0">
                    <a:latin typeface="幼圆" panose="02010509060101010101" pitchFamily="49" charset="-122"/>
                    <a:ea typeface="幼圆" panose="02010509060101010101" pitchFamily="49" charset="-122"/>
                  </a:rPr>
                  <a:t>[-</a:t>
                </a:r>
                <a:r>
                  <a:rPr lang="en-US" altLang="zh-CN" sz="1200" b="0" dirty="0">
                    <a:latin typeface="Cambria Math" panose="02040503050406030204" pitchFamily="18" charset="0"/>
                    <a:ea typeface="Cambria Math" panose="02040503050406030204" pitchFamily="18" charset="0"/>
                  </a:rPr>
                  <a:t>∞</a:t>
                </a:r>
                <a:r>
                  <a:rPr lang="en-US" altLang="zh-CN" sz="1200" b="0">
                    <a:latin typeface="Cambria Math" panose="02040503050406030204" pitchFamily="18" charset="0"/>
                    <a:ea typeface="Cambria Math" panose="02040503050406030204" pitchFamily="18" charset="0"/>
                  </a:rPr>
                  <a:t>,+∞</a:t>
                </a:r>
                <a:r>
                  <a:rPr lang="en-US" altLang="zh-CN" sz="1200" b="0">
                    <a:latin typeface="幼圆" panose="02010509060101010101" pitchFamily="49" charset="-122"/>
                    <a:ea typeface="幼圆" panose="02010509060101010101" pitchFamily="49" charset="-122"/>
                  </a:rPr>
                  <a:t>]</a:t>
                </a:r>
                <a:r>
                  <a:rPr lang="zh-CN" altLang="en-US" sz="1200" b="0">
                    <a:latin typeface="幼圆" panose="02010509060101010101" pitchFamily="49" charset="-122"/>
                    <a:ea typeface="幼圆" panose="02010509060101010101" pitchFamily="49" charset="-122"/>
                  </a:rPr>
                  <a:t>范围</a:t>
                </a:r>
                <a:r>
                  <a:rPr lang="zh-CN" altLang="en-US" sz="1200" b="0" dirty="0">
                    <a:latin typeface="幼圆" panose="02010509060101010101" pitchFamily="49" charset="-122"/>
                    <a:ea typeface="幼圆" panose="02010509060101010101" pitchFamily="49" charset="-122"/>
                  </a:rPr>
                  <a:t>的值</a:t>
                </a:r>
                <a:r>
                  <a:rPr lang="zh-CN" altLang="en-US" sz="1200" b="0">
                    <a:latin typeface="幼圆" panose="02010509060101010101" pitchFamily="49" charset="-122"/>
                    <a:ea typeface="幼圆" panose="02010509060101010101" pitchFamily="49" charset="-122"/>
                  </a:rPr>
                  <a:t>映射到</a:t>
                </a:r>
                <a:r>
                  <a:rPr lang="en-US" altLang="zh-CN" sz="1200" b="0">
                    <a:latin typeface="幼圆" panose="02010509060101010101" pitchFamily="49" charset="-122"/>
                    <a:ea typeface="幼圆" panose="02010509060101010101" pitchFamily="49" charset="-122"/>
                  </a:rPr>
                  <a:t>[-1,1]</a:t>
                </a:r>
                <a:r>
                  <a:rPr lang="zh-CN" altLang="en-US" sz="1200" b="0">
                    <a:latin typeface="幼圆" panose="02010509060101010101" pitchFamily="49" charset="-122"/>
                    <a:ea typeface="幼圆" panose="02010509060101010101" pitchFamily="49" charset="-122"/>
                  </a:rPr>
                  <a:t>。</a:t>
                </a:r>
                <a:endParaRPr lang="en-US" altLang="zh-CN" sz="1200" b="0" dirty="0">
                  <a:latin typeface="幼圆" panose="02010509060101010101" pitchFamily="49" charset="-122"/>
                  <a:ea typeface="幼圆" panose="02010509060101010101" pitchFamily="49" charset="-122"/>
                </a:endParaRPr>
              </a:p>
              <a:p>
                <a:pPr marL="628650" lvl="1" indent="-171450">
                  <a:buFont typeface="Wingdings" panose="05000000000000000000" pitchFamily="2" charset="2"/>
                  <a:buChar char="p"/>
                </a:pPr>
                <a:r>
                  <a:rPr lang="en-US" altLang="zh-CN" sz="1200" b="0" dirty="0" err="1">
                    <a:latin typeface="幼圆" panose="02010509060101010101" pitchFamily="49" charset="-122"/>
                    <a:ea typeface="幼圆" panose="02010509060101010101" pitchFamily="49" charset="-122"/>
                  </a:rPr>
                  <a:t>Relu</a:t>
                </a:r>
                <a:r>
                  <a:rPr lang="en-US" altLang="zh-CN" sz="1200" b="0" dirty="0">
                    <a:latin typeface="幼圆" panose="02010509060101010101" pitchFamily="49" charset="-122"/>
                    <a:ea typeface="幼圆" panose="02010509060101010101" pitchFamily="49" charset="-122"/>
                  </a:rPr>
                  <a:t>(</a:t>
                </a:r>
                <a:r>
                  <a:rPr lang="en-US" altLang="zh-CN" sz="1200" b="0" dirty="0" err="1">
                    <a:latin typeface="幼圆" panose="02010509060101010101" pitchFamily="49" charset="-122"/>
                    <a:ea typeface="幼圆" panose="02010509060101010101" pitchFamily="49" charset="-122"/>
                  </a:rPr>
                  <a:t>Recitified</a:t>
                </a:r>
                <a:r>
                  <a:rPr lang="en-US" altLang="zh-CN" sz="1200" b="0" dirty="0">
                    <a:latin typeface="幼圆" panose="02010509060101010101" pitchFamily="49" charset="-122"/>
                    <a:ea typeface="幼圆" panose="02010509060101010101" pitchFamily="49" charset="-122"/>
                  </a:rPr>
                  <a:t> Linear</a:t>
                </a:r>
                <a:r>
                  <a:rPr lang="en-US" altLang="zh-CN" sz="1200" b="0" baseline="0" dirty="0">
                    <a:latin typeface="幼圆" panose="02010509060101010101" pitchFamily="49" charset="-122"/>
                    <a:ea typeface="幼圆" panose="02010509060101010101" pitchFamily="49" charset="-122"/>
                  </a:rPr>
                  <a:t> Unit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线性整流函数 </a:t>
                </a:r>
                <a14:m>
                  <m:oMath xmlns:m="http://schemas.openxmlformats.org/officeDocument/2006/math">
                    <m:r>
                      <m:rPr>
                        <m:sty m:val="p"/>
                      </m:rPr>
                      <a:rPr lang="en-US" altLang="zh-CN" sz="1200" b="0" i="0" smtClean="0">
                        <a:latin typeface="Cambria Math" panose="02040503050406030204" pitchFamily="18" charset="0"/>
                        <a:ea typeface="Cambria" panose="02040503050406030204" pitchFamily="18" charset="0"/>
                      </a:rPr>
                      <m:t>g</m:t>
                    </m:r>
                    <m:d>
                      <m:dPr>
                        <m:ctrlPr>
                          <a:rPr lang="en-US" altLang="zh-CN" sz="1200" b="0" i="1" smtClean="0">
                            <a:latin typeface="Cambria Math" panose="02040503050406030204" pitchFamily="18" charset="0"/>
                            <a:ea typeface="幼圆" panose="02010509060101010101" pitchFamily="49" charset="-122"/>
                          </a:rPr>
                        </m:ctrlPr>
                      </m:dPr>
                      <m:e>
                        <m:r>
                          <a:rPr lang="en-US" altLang="zh-CN" sz="1200" b="0" i="1" smtClean="0">
                            <a:latin typeface="Cambria Math" panose="02040503050406030204" pitchFamily="18" charset="0"/>
                            <a:ea typeface="幼圆" panose="02010509060101010101" pitchFamily="49" charset="-122"/>
                          </a:rPr>
                          <m:t>𝑧</m:t>
                        </m:r>
                      </m:e>
                    </m:d>
                    <m:r>
                      <a:rPr lang="en-US" altLang="zh-CN" sz="1200" b="0" i="1" smtClean="0">
                        <a:latin typeface="Cambria Math" panose="02040503050406030204" pitchFamily="18" charset="0"/>
                        <a:ea typeface="幼圆" panose="02010509060101010101" pitchFamily="49" charset="-122"/>
                      </a:rPr>
                      <m:t>=</m:t>
                    </m:r>
                  </m:oMath>
                </a14:m>
                <a:r>
                  <a:rPr lang="en-US" altLang="zh-CN" dirty="0">
                    <a:effectLst/>
                  </a:rPr>
                  <a:t>max(0, z) </a:t>
                </a:r>
                <a:endParaRPr lang="en-US" altLang="zh-CN" sz="1200" b="0" dirty="0">
                  <a:latin typeface="幼圆" panose="02010509060101010101" pitchFamily="49" charset="-122"/>
                  <a:ea typeface="幼圆" panose="02010509060101010101" pitchFamily="49" charset="-122"/>
                </a:endParaRPr>
              </a:p>
              <a:p>
                <a:pPr marL="457200" lvl="1" indent="0">
                  <a:buFont typeface="Wingdings" panose="05000000000000000000" pitchFamily="2" charset="2"/>
                  <a:buNone/>
                </a:pPr>
                <a:endParaRPr lang="en-US" altLang="zh-CN" sz="1200" b="0" dirty="0">
                  <a:latin typeface="幼圆" panose="02010509060101010101" pitchFamily="49" charset="-122"/>
                  <a:ea typeface="幼圆" panose="02010509060101010101" pitchFamily="49" charset="-122"/>
                </a:endParaRPr>
              </a:p>
              <a:p>
                <a:endParaRPr lang="zh-CN" altLang="en-US" dirty="0"/>
              </a:p>
            </p:txBody>
          </p:sp>
        </mc:Choice>
        <mc:Fallback xmlns="">
          <p:sp>
            <p:nvSpPr>
              <p:cNvPr id="3" name="备注占位符 2"/>
              <p:cNvSpPr>
                <a:spLocks noGrp="1"/>
              </p:cNvSpPr>
              <p:nvPr>
                <p:ph type="body" idx="1"/>
              </p:nvPr>
            </p:nvSpPr>
            <p:spPr/>
            <p:txBody>
              <a:bodyPr/>
              <a:lstStyle/>
              <a:p>
                <a:pPr marL="0" indent="0">
                  <a:buFont typeface="Wingdings" panose="05000000000000000000" pitchFamily="2" charset="2"/>
                  <a:buNone/>
                </a:pPr>
                <a:r>
                  <a:rPr lang="en-US" altLang="zh-CN" sz="1200" b="0" dirty="0">
                    <a:latin typeface="幼圆" panose="02010509060101010101" pitchFamily="49" charset="-122"/>
                    <a:ea typeface="幼圆" panose="02010509060101010101" pitchFamily="49" charset="-122"/>
                  </a:rPr>
                  <a:t>1. </a:t>
                </a:r>
                <a:r>
                  <a:rPr lang="zh-CN" altLang="en-US" sz="1200" b="0" dirty="0">
                    <a:latin typeface="幼圆" panose="02010509060101010101" pitchFamily="49" charset="-122"/>
                    <a:ea typeface="幼圆" panose="02010509060101010101" pitchFamily="49" charset="-122"/>
                  </a:rPr>
                  <a:t>理想激活函数是阶跃函数</a:t>
                </a:r>
                <a:r>
                  <a:rPr lang="en-US" altLang="zh-CN" sz="1200" b="0" dirty="0">
                    <a:latin typeface="幼圆" panose="02010509060101010101" pitchFamily="49" charset="-122"/>
                    <a:ea typeface="幼圆" panose="02010509060101010101" pitchFamily="49" charset="-122"/>
                  </a:rPr>
                  <a:t>, 0</a:t>
                </a:r>
                <a:r>
                  <a:rPr lang="zh-CN" altLang="en-US" sz="1200" b="0" dirty="0">
                    <a:latin typeface="幼圆" panose="02010509060101010101" pitchFamily="49" charset="-122"/>
                    <a:ea typeface="幼圆" panose="02010509060101010101" pitchFamily="49" charset="-122"/>
                  </a:rPr>
                  <a:t>表示抑制神经元而</a:t>
                </a:r>
                <a:r>
                  <a:rPr lang="en-US" altLang="zh-CN" sz="1200" b="0" dirty="0">
                    <a:latin typeface="幼圆" panose="02010509060101010101" pitchFamily="49" charset="-122"/>
                    <a:ea typeface="幼圆" panose="02010509060101010101" pitchFamily="49" charset="-122"/>
                  </a:rPr>
                  <a:t>1</a:t>
                </a:r>
                <a:r>
                  <a:rPr lang="zh-CN" altLang="en-US" sz="1200" b="0" dirty="0">
                    <a:latin typeface="幼圆" panose="02010509060101010101" pitchFamily="49" charset="-122"/>
                    <a:ea typeface="幼圆" panose="02010509060101010101" pitchFamily="49" charset="-122"/>
                  </a:rPr>
                  <a:t>表示激活神经元</a:t>
                </a:r>
                <a:endParaRPr lang="en-US" altLang="zh-CN" sz="1200" b="0" dirty="0">
                  <a:latin typeface="幼圆" panose="02010509060101010101" pitchFamily="49" charset="-122"/>
                  <a:ea typeface="幼圆" panose="02010509060101010101" pitchFamily="49" charset="-122"/>
                </a:endParaRPr>
              </a:p>
              <a:p>
                <a:pPr marL="0" indent="0">
                  <a:buFont typeface="Wingdings" panose="05000000000000000000" pitchFamily="2" charset="2"/>
                  <a:buNone/>
                </a:pPr>
                <a:r>
                  <a:rPr lang="en-US" altLang="zh-CN" sz="1200" b="0" dirty="0">
                    <a:latin typeface="幼圆" panose="02010509060101010101" pitchFamily="49" charset="-122"/>
                    <a:ea typeface="幼圆" panose="02010509060101010101" pitchFamily="49" charset="-122"/>
                  </a:rPr>
                  <a:t>2. </a:t>
                </a:r>
                <a:r>
                  <a:rPr lang="zh-CN" altLang="en-US" sz="1200" b="0" dirty="0">
                    <a:latin typeface="幼圆" panose="02010509060101010101" pitchFamily="49" charset="-122"/>
                    <a:ea typeface="幼圆" panose="02010509060101010101" pitchFamily="49" charset="-122"/>
                  </a:rPr>
                  <a:t>阶跃函数具有不连续、不光滑，数学特性不好</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常用的是 </a:t>
                </a:r>
                <a:r>
                  <a:rPr lang="en-US" altLang="zh-CN" sz="1200" b="0" dirty="0">
                    <a:latin typeface="幼圆" panose="02010509060101010101" pitchFamily="49" charset="-122"/>
                    <a:ea typeface="幼圆" panose="02010509060101010101" pitchFamily="49" charset="-122"/>
                  </a:rPr>
                  <a:t>Sigmoid </a:t>
                </a:r>
                <a:r>
                  <a:rPr lang="zh-CN" altLang="en-US" sz="1200" b="0" dirty="0">
                    <a:latin typeface="幼圆" panose="02010509060101010101" pitchFamily="49" charset="-122"/>
                    <a:ea typeface="幼圆" panose="02010509060101010101" pitchFamily="49" charset="-122"/>
                  </a:rPr>
                  <a:t>函数和</a:t>
                </a:r>
                <a:r>
                  <a:rPr lang="en-US" altLang="zh-CN" sz="1200" b="0" dirty="0">
                    <a:latin typeface="幼圆" panose="02010509060101010101" pitchFamily="49" charset="-122"/>
                    <a:ea typeface="幼圆" panose="02010509060101010101" pitchFamily="49" charset="-122"/>
                  </a:rPr>
                  <a:t>tanh</a:t>
                </a:r>
                <a:r>
                  <a:rPr lang="zh-CN" altLang="en-US" sz="1200" b="0" dirty="0">
                    <a:latin typeface="幼圆" panose="02010509060101010101" pitchFamily="49" charset="-122"/>
                    <a:ea typeface="幼圆" panose="02010509060101010101" pitchFamily="49" charset="-122"/>
                  </a:rPr>
                  <a:t>（双曲正切）等具有较好数学特性的函数。</a:t>
                </a:r>
                <a:endParaRPr lang="en-US" altLang="zh-CN" sz="1200" b="0" dirty="0">
                  <a:latin typeface="幼圆" panose="02010509060101010101" pitchFamily="49" charset="-122"/>
                  <a:ea typeface="幼圆" panose="02010509060101010101" pitchFamily="49" charset="-122"/>
                </a:endParaRPr>
              </a:p>
              <a:p>
                <a:pPr marL="628650" lvl="1" indent="-171450">
                  <a:buFont typeface="Wingdings" panose="05000000000000000000" pitchFamily="2" charset="2"/>
                  <a:buChar char="p"/>
                </a:pPr>
                <a:r>
                  <a:rPr lang="en-US" altLang="zh-CN" sz="1200" b="0" dirty="0">
                    <a:latin typeface="幼圆" panose="02010509060101010101" pitchFamily="49" charset="-122"/>
                    <a:ea typeface="幼圆" panose="02010509060101010101" pitchFamily="49" charset="-122"/>
                  </a:rPr>
                  <a:t>Sigmoid</a:t>
                </a:r>
                <a:r>
                  <a:rPr lang="zh-CN" altLang="en-US" sz="1200" b="0" dirty="0">
                    <a:latin typeface="幼圆" panose="02010509060101010101" pitchFamily="49" charset="-122"/>
                    <a:ea typeface="幼圆" panose="02010509060101010101" pitchFamily="49" charset="-122"/>
                  </a:rPr>
                  <a:t>函数</a:t>
                </a:r>
                <a:r>
                  <a:rPr lang="en-US" altLang="zh-CN" sz="1200" b="0" i="0">
                    <a:latin typeface="Cambria Math" panose="02040503050406030204" pitchFamily="18" charset="0"/>
                    <a:ea typeface="Cambria" panose="02040503050406030204" pitchFamily="18" charset="0"/>
                  </a:rPr>
                  <a:t>g</a:t>
                </a:r>
                <a:r>
                  <a:rPr lang="en-US" altLang="zh-CN" sz="1200" b="0" i="0">
                    <a:latin typeface="Cambria Math" panose="02040503050406030204" pitchFamily="18" charset="0"/>
                    <a:ea typeface="幼圆" panose="02010509060101010101" pitchFamily="49" charset="-122"/>
                  </a:rPr>
                  <a:t>(𝑧)=1/(1+𝑒^(−𝑧) )</a:t>
                </a:r>
                <a:r>
                  <a:rPr lang="zh-CN" altLang="en-US" sz="1200" b="0" dirty="0">
                    <a:latin typeface="幼圆" panose="02010509060101010101" pitchFamily="49" charset="-122"/>
                    <a:ea typeface="幼圆" panose="02010509060101010101" pitchFamily="49" charset="-122"/>
                  </a:rPr>
                  <a:t> </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将</a:t>
                </a:r>
                <a:r>
                  <a:rPr lang="en-US" altLang="zh-CN" sz="1200" b="0" dirty="0">
                    <a:latin typeface="幼圆" panose="02010509060101010101" pitchFamily="49" charset="-122"/>
                    <a:ea typeface="幼圆" panose="02010509060101010101" pitchFamily="49" charset="-122"/>
                  </a:rPr>
                  <a:t>[-</a:t>
                </a:r>
                <a:r>
                  <a:rPr lang="en-US" altLang="zh-CN" sz="1200" b="0" dirty="0">
                    <a:latin typeface="Cambria Math" panose="02040503050406030204" pitchFamily="18" charset="0"/>
                    <a:ea typeface="Cambria Math" panose="02040503050406030204" pitchFamily="18" charset="0"/>
                  </a:rPr>
                  <a: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范围的值映射到</a:t>
                </a:r>
                <a:r>
                  <a:rPr lang="en-US" altLang="zh-CN" sz="1200" b="0" dirty="0">
                    <a:latin typeface="幼圆" panose="02010509060101010101" pitchFamily="49" charset="-122"/>
                    <a:ea typeface="幼圆" panose="02010509060101010101" pitchFamily="49" charset="-122"/>
                  </a:rPr>
                  <a:t>[0,1];</a:t>
                </a:r>
              </a:p>
              <a:p>
                <a:pPr marL="628650" lvl="1" indent="-171450">
                  <a:buFont typeface="Wingdings" panose="05000000000000000000" pitchFamily="2" charset="2"/>
                  <a:buChar char="p"/>
                </a:pPr>
                <a:r>
                  <a:rPr lang="en-US" altLang="zh-CN" sz="1200" b="0" baseline="0" dirty="0" err="1">
                    <a:latin typeface="幼圆" panose="02010509060101010101" pitchFamily="49" charset="-122"/>
                    <a:ea typeface="幼圆" panose="02010509060101010101" pitchFamily="49" charset="-122"/>
                  </a:rPr>
                  <a:t>tanh</a:t>
                </a:r>
                <a:r>
                  <a:rPr lang="zh-CN" altLang="en-US" sz="1200" b="0" baseline="0" dirty="0">
                    <a:latin typeface="幼圆" panose="02010509060101010101" pitchFamily="49" charset="-122"/>
                    <a:ea typeface="幼圆" panose="02010509060101010101" pitchFamily="49" charset="-122"/>
                  </a:rPr>
                  <a:t>函数</a:t>
                </a:r>
                <a:r>
                  <a:rPr lang="en-US" altLang="zh-CN" sz="1200" b="0" i="0">
                    <a:latin typeface="Cambria Math" panose="02040503050406030204" pitchFamily="18" charset="0"/>
                    <a:ea typeface="Cambria" panose="02040503050406030204" pitchFamily="18" charset="0"/>
                  </a:rPr>
                  <a:t>g</a:t>
                </a:r>
                <a:r>
                  <a:rPr lang="en-US" altLang="zh-CN" sz="1200" b="0" i="0">
                    <a:latin typeface="Cambria Math" panose="02040503050406030204" pitchFamily="18" charset="0"/>
                    <a:ea typeface="幼圆" panose="02010509060101010101" pitchFamily="49" charset="-122"/>
                  </a:rPr>
                  <a:t>(𝑧)=(𝑒^𝑧−𝑒^(−𝑧))/(𝑒^𝑧+𝑒^(−𝑧) )</a:t>
                </a:r>
                <a:r>
                  <a:rPr lang="zh-CN" altLang="en-US" sz="1200" b="0" dirty="0">
                    <a:latin typeface="幼圆" panose="02010509060101010101" pitchFamily="49" charset="-122"/>
                    <a:ea typeface="幼圆" panose="02010509060101010101" pitchFamily="49" charset="-122"/>
                  </a:rPr>
                  <a:t> </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将</a:t>
                </a:r>
                <a:r>
                  <a:rPr lang="en-US" altLang="zh-CN" sz="1200" b="0" dirty="0">
                    <a:latin typeface="幼圆" panose="02010509060101010101" pitchFamily="49" charset="-122"/>
                    <a:ea typeface="幼圆" panose="02010509060101010101" pitchFamily="49" charset="-122"/>
                  </a:rPr>
                  <a:t>[-</a:t>
                </a:r>
                <a:r>
                  <a:rPr lang="en-US" altLang="zh-CN" sz="1200" b="0" dirty="0">
                    <a:latin typeface="Cambria Math" panose="02040503050406030204" pitchFamily="18" charset="0"/>
                    <a:ea typeface="Cambria Math" panose="02040503050406030204" pitchFamily="18" charset="0"/>
                  </a:rPr>
                  <a: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范围的值映射到</a:t>
                </a:r>
                <a:r>
                  <a:rPr lang="en-US" altLang="zh-CN" sz="1200" b="0" dirty="0">
                    <a:latin typeface="幼圆" panose="02010509060101010101" pitchFamily="49" charset="-122"/>
                    <a:ea typeface="幼圆" panose="02010509060101010101" pitchFamily="49" charset="-122"/>
                  </a:rPr>
                  <a:t>[-1,1]</a:t>
                </a:r>
                <a:r>
                  <a:rPr lang="zh-CN" altLang="en-US" sz="1200" b="0" dirty="0">
                    <a:latin typeface="幼圆" panose="02010509060101010101" pitchFamily="49" charset="-122"/>
                    <a:ea typeface="幼圆" panose="02010509060101010101" pitchFamily="49" charset="-122"/>
                  </a:rPr>
                  <a:t>。</a:t>
                </a:r>
                <a:endParaRPr lang="en-US" altLang="zh-CN" sz="1200" b="0" dirty="0">
                  <a:latin typeface="幼圆" panose="02010509060101010101" pitchFamily="49" charset="-122"/>
                  <a:ea typeface="幼圆" panose="02010509060101010101" pitchFamily="49" charset="-122"/>
                </a:endParaRPr>
              </a:p>
              <a:p>
                <a:pPr marL="628650" lvl="1" indent="-171450">
                  <a:buFont typeface="Wingdings" panose="05000000000000000000" pitchFamily="2" charset="2"/>
                  <a:buChar char="p"/>
                </a:pPr>
                <a:r>
                  <a:rPr lang="en-US" altLang="zh-CN" sz="1200" b="0" dirty="0" err="1">
                    <a:latin typeface="幼圆" panose="02010509060101010101" pitchFamily="49" charset="-122"/>
                    <a:ea typeface="幼圆" panose="02010509060101010101" pitchFamily="49" charset="-122"/>
                  </a:rPr>
                  <a:t>Relu</a:t>
                </a:r>
                <a:r>
                  <a:rPr lang="en-US" altLang="zh-CN" sz="1200" b="0" dirty="0">
                    <a:latin typeface="幼圆" panose="02010509060101010101" pitchFamily="49" charset="-122"/>
                    <a:ea typeface="幼圆" panose="02010509060101010101" pitchFamily="49" charset="-122"/>
                  </a:rPr>
                  <a:t>(</a:t>
                </a:r>
                <a:r>
                  <a:rPr lang="en-US" altLang="zh-CN" sz="1200" b="0" dirty="0" err="1">
                    <a:latin typeface="幼圆" panose="02010509060101010101" pitchFamily="49" charset="-122"/>
                    <a:ea typeface="幼圆" panose="02010509060101010101" pitchFamily="49" charset="-122"/>
                  </a:rPr>
                  <a:t>Recitified</a:t>
                </a:r>
                <a:r>
                  <a:rPr lang="en-US" altLang="zh-CN" sz="1200" b="0" dirty="0">
                    <a:latin typeface="幼圆" panose="02010509060101010101" pitchFamily="49" charset="-122"/>
                    <a:ea typeface="幼圆" panose="02010509060101010101" pitchFamily="49" charset="-122"/>
                  </a:rPr>
                  <a:t> Linear</a:t>
                </a:r>
                <a:r>
                  <a:rPr lang="en-US" altLang="zh-CN" sz="1200" b="0" baseline="0" dirty="0">
                    <a:latin typeface="幼圆" panose="02010509060101010101" pitchFamily="49" charset="-122"/>
                    <a:ea typeface="幼圆" panose="02010509060101010101" pitchFamily="49" charset="-122"/>
                  </a:rPr>
                  <a:t> Unit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线性整流函数 </a:t>
                </a:r>
                <a:r>
                  <a:rPr lang="en-US" altLang="zh-CN" sz="1200" b="0" i="0">
                    <a:latin typeface="Cambria Math" panose="02040503050406030204" pitchFamily="18" charset="0"/>
                    <a:ea typeface="Cambria" panose="02040503050406030204" pitchFamily="18" charset="0"/>
                  </a:rPr>
                  <a:t>g</a:t>
                </a:r>
                <a:r>
                  <a:rPr lang="en-US" altLang="zh-CN" sz="1200" b="0" i="0">
                    <a:latin typeface="Cambria Math" panose="02040503050406030204" pitchFamily="18" charset="0"/>
                    <a:ea typeface="幼圆" panose="02010509060101010101" pitchFamily="49" charset="-122"/>
                  </a:rPr>
                  <a:t>(𝑧)=</a:t>
                </a:r>
                <a:r>
                  <a:rPr lang="en-US" altLang="zh-CN" dirty="0">
                    <a:effectLst/>
                  </a:rPr>
                  <a:t>max(0, z) </a:t>
                </a:r>
                <a:endParaRPr lang="en-US" altLang="zh-CN" sz="1200" b="0" dirty="0">
                  <a:latin typeface="幼圆" panose="02010509060101010101" pitchFamily="49" charset="-122"/>
                  <a:ea typeface="幼圆" panose="02010509060101010101" pitchFamily="49" charset="-122"/>
                </a:endParaRPr>
              </a:p>
              <a:p>
                <a:pPr marL="457200" lvl="1" indent="0">
                  <a:buFont typeface="Wingdings" panose="05000000000000000000" pitchFamily="2" charset="2"/>
                  <a:buNone/>
                </a:pPr>
                <a:endParaRPr lang="en-US" altLang="zh-CN" sz="1200" b="0" dirty="0">
                  <a:latin typeface="幼圆" panose="02010509060101010101" pitchFamily="49" charset="-122"/>
                  <a:ea typeface="幼圆" panose="02010509060101010101" pitchFamily="49" charset="-122"/>
                </a:endParaRPr>
              </a:p>
              <a:p>
                <a:endParaRPr lang="zh-CN" altLang="en-US" dirty="0"/>
              </a:p>
            </p:txBody>
          </p:sp>
        </mc:Fallback>
      </mc:AlternateContent>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64</a:t>
            </a:fld>
            <a:endParaRPr lang="zh-CN" altLang="en-US"/>
          </a:p>
        </p:txBody>
      </p:sp>
    </p:spTree>
    <p:extLst>
      <p:ext uri="{BB962C8B-B14F-4D97-AF65-F5344CB8AC3E}">
        <p14:creationId xmlns:p14="http://schemas.microsoft.com/office/powerpoint/2010/main" val="298148931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indent="0">
                  <a:buFont typeface="Wingdings" panose="05000000000000000000" pitchFamily="2" charset="2"/>
                  <a:buNone/>
                </a:pPr>
                <a:r>
                  <a:rPr lang="en-US" altLang="zh-CN" sz="1200" b="0" dirty="0">
                    <a:latin typeface="幼圆" panose="02010509060101010101" pitchFamily="49" charset="-122"/>
                    <a:ea typeface="幼圆" panose="02010509060101010101" pitchFamily="49" charset="-122"/>
                  </a:rPr>
                  <a:t>1. </a:t>
                </a:r>
                <a:r>
                  <a:rPr lang="zh-CN" altLang="en-US" sz="1200" b="0" dirty="0">
                    <a:latin typeface="幼圆" panose="02010509060101010101" pitchFamily="49" charset="-122"/>
                    <a:ea typeface="幼圆" panose="02010509060101010101" pitchFamily="49" charset="-122"/>
                  </a:rPr>
                  <a:t>理想激活函数是阶跃函数</a:t>
                </a:r>
                <a:r>
                  <a:rPr lang="en-US" altLang="zh-CN" sz="1200" b="0" dirty="0">
                    <a:latin typeface="幼圆" panose="02010509060101010101" pitchFamily="49" charset="-122"/>
                    <a:ea typeface="幼圆" panose="02010509060101010101" pitchFamily="49" charset="-122"/>
                  </a:rPr>
                  <a:t>, 0</a:t>
                </a:r>
                <a:r>
                  <a:rPr lang="zh-CN" altLang="en-US" sz="1200" b="0" dirty="0">
                    <a:latin typeface="幼圆" panose="02010509060101010101" pitchFamily="49" charset="-122"/>
                    <a:ea typeface="幼圆" panose="02010509060101010101" pitchFamily="49" charset="-122"/>
                  </a:rPr>
                  <a:t>表示抑制神经元而</a:t>
                </a:r>
                <a:r>
                  <a:rPr lang="en-US" altLang="zh-CN" sz="1200" b="0" dirty="0">
                    <a:latin typeface="幼圆" panose="02010509060101010101" pitchFamily="49" charset="-122"/>
                    <a:ea typeface="幼圆" panose="02010509060101010101" pitchFamily="49" charset="-122"/>
                  </a:rPr>
                  <a:t>1</a:t>
                </a:r>
                <a:r>
                  <a:rPr lang="zh-CN" altLang="en-US" sz="1200" b="0" dirty="0">
                    <a:latin typeface="幼圆" panose="02010509060101010101" pitchFamily="49" charset="-122"/>
                    <a:ea typeface="幼圆" panose="02010509060101010101" pitchFamily="49" charset="-122"/>
                  </a:rPr>
                  <a:t>表示激活神经元</a:t>
                </a:r>
                <a:endParaRPr lang="en-US" altLang="zh-CN" sz="1200" b="0" dirty="0">
                  <a:latin typeface="幼圆" panose="02010509060101010101" pitchFamily="49" charset="-122"/>
                  <a:ea typeface="幼圆" panose="02010509060101010101" pitchFamily="49" charset="-122"/>
                </a:endParaRPr>
              </a:p>
              <a:p>
                <a:pPr marL="0" indent="0">
                  <a:buFont typeface="Wingdings" panose="05000000000000000000" pitchFamily="2" charset="2"/>
                  <a:buNone/>
                </a:pPr>
                <a:r>
                  <a:rPr lang="en-US" altLang="zh-CN" sz="1200" b="0" dirty="0">
                    <a:latin typeface="幼圆" panose="02010509060101010101" pitchFamily="49" charset="-122"/>
                    <a:ea typeface="幼圆" panose="02010509060101010101" pitchFamily="49" charset="-122"/>
                  </a:rPr>
                  <a:t>2. </a:t>
                </a:r>
                <a:r>
                  <a:rPr lang="zh-CN" altLang="en-US" sz="1200" b="0" dirty="0">
                    <a:latin typeface="幼圆" panose="02010509060101010101" pitchFamily="49" charset="-122"/>
                    <a:ea typeface="幼圆" panose="02010509060101010101" pitchFamily="49" charset="-122"/>
                  </a:rPr>
                  <a:t>阶跃函数具有不连续、不光滑，数学特性不好</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常用的是 </a:t>
                </a:r>
                <a:r>
                  <a:rPr lang="en-US" altLang="zh-CN" sz="1200" b="0" dirty="0">
                    <a:latin typeface="幼圆" panose="02010509060101010101" pitchFamily="49" charset="-122"/>
                    <a:ea typeface="幼圆" panose="02010509060101010101" pitchFamily="49" charset="-122"/>
                  </a:rPr>
                  <a:t>Sigmoid </a:t>
                </a:r>
                <a:r>
                  <a:rPr lang="zh-CN" altLang="en-US" sz="1200" b="0" dirty="0">
                    <a:latin typeface="幼圆" panose="02010509060101010101" pitchFamily="49" charset="-122"/>
                    <a:ea typeface="幼圆" panose="02010509060101010101" pitchFamily="49" charset="-122"/>
                  </a:rPr>
                  <a:t>函数和</a:t>
                </a:r>
                <a:r>
                  <a:rPr lang="en-US" altLang="zh-CN" sz="1200" b="0" dirty="0">
                    <a:latin typeface="幼圆" panose="02010509060101010101" pitchFamily="49" charset="-122"/>
                    <a:ea typeface="幼圆" panose="02010509060101010101" pitchFamily="49" charset="-122"/>
                  </a:rPr>
                  <a:t>tanh</a:t>
                </a:r>
                <a:r>
                  <a:rPr lang="zh-CN" altLang="en-US" sz="1200" b="0" dirty="0">
                    <a:latin typeface="幼圆" panose="02010509060101010101" pitchFamily="49" charset="-122"/>
                    <a:ea typeface="幼圆" panose="02010509060101010101" pitchFamily="49" charset="-122"/>
                  </a:rPr>
                  <a:t>（双曲正切）等具有较好数学特性的函数。</a:t>
                </a:r>
                <a:endParaRPr lang="en-US" altLang="zh-CN" sz="1200" b="0" dirty="0">
                  <a:latin typeface="幼圆" panose="02010509060101010101" pitchFamily="49" charset="-122"/>
                  <a:ea typeface="幼圆" panose="02010509060101010101" pitchFamily="49" charset="-122"/>
                </a:endParaRPr>
              </a:p>
              <a:p>
                <a:pPr marL="628650" lvl="1" indent="-171450">
                  <a:buFont typeface="Wingdings" panose="05000000000000000000" pitchFamily="2" charset="2"/>
                  <a:buChar char="p"/>
                </a:pPr>
                <a:r>
                  <a:rPr lang="en-US" altLang="zh-CN" sz="1200" b="0" dirty="0">
                    <a:latin typeface="幼圆" panose="02010509060101010101" pitchFamily="49" charset="-122"/>
                    <a:ea typeface="幼圆" panose="02010509060101010101" pitchFamily="49" charset="-122"/>
                  </a:rPr>
                  <a:t>Sigmoid</a:t>
                </a:r>
                <a:r>
                  <a:rPr lang="zh-CN" altLang="en-US" sz="1200" b="0" dirty="0">
                    <a:latin typeface="幼圆" panose="02010509060101010101" pitchFamily="49" charset="-122"/>
                    <a:ea typeface="幼圆" panose="02010509060101010101" pitchFamily="49" charset="-122"/>
                  </a:rPr>
                  <a:t>函数</a:t>
                </a:r>
                <a14:m>
                  <m:oMath xmlns:m="http://schemas.openxmlformats.org/officeDocument/2006/math">
                    <m:r>
                      <m:rPr>
                        <m:sty m:val="p"/>
                      </m:rPr>
                      <a:rPr lang="en-US" altLang="zh-CN" sz="1200" b="0" i="0" smtClean="0">
                        <a:latin typeface="Cambria Math" panose="02040503050406030204" pitchFamily="18" charset="0"/>
                        <a:ea typeface="Cambria" panose="02040503050406030204" pitchFamily="18" charset="0"/>
                      </a:rPr>
                      <m:t>g</m:t>
                    </m:r>
                    <m:d>
                      <m:dPr>
                        <m:ctrlPr>
                          <a:rPr lang="en-US" altLang="zh-CN" sz="1200" b="0" i="1" smtClean="0">
                            <a:latin typeface="Cambria Math" panose="02040503050406030204" pitchFamily="18" charset="0"/>
                            <a:ea typeface="幼圆" panose="02010509060101010101" pitchFamily="49" charset="-122"/>
                          </a:rPr>
                        </m:ctrlPr>
                      </m:dPr>
                      <m:e>
                        <m:r>
                          <a:rPr lang="en-US" altLang="zh-CN" sz="1200" b="0" i="1" smtClean="0">
                            <a:latin typeface="Cambria Math" panose="02040503050406030204" pitchFamily="18" charset="0"/>
                            <a:ea typeface="幼圆" panose="02010509060101010101" pitchFamily="49" charset="-122"/>
                          </a:rPr>
                          <m:t>𝑧</m:t>
                        </m:r>
                      </m:e>
                    </m:d>
                    <m:r>
                      <a:rPr lang="en-US" altLang="zh-CN" sz="1200" b="0" i="1" smtClean="0">
                        <a:latin typeface="Cambria Math" panose="02040503050406030204" pitchFamily="18" charset="0"/>
                        <a:ea typeface="幼圆" panose="02010509060101010101" pitchFamily="49" charset="-122"/>
                      </a:rPr>
                      <m:t>=</m:t>
                    </m:r>
                    <m:f>
                      <m:fPr>
                        <m:ctrlPr>
                          <a:rPr lang="en-US" altLang="zh-CN" sz="1200" b="0" i="1" smtClean="0">
                            <a:latin typeface="Cambria Math" panose="02040503050406030204" pitchFamily="18" charset="0"/>
                            <a:ea typeface="幼圆" panose="02010509060101010101" pitchFamily="49" charset="-122"/>
                          </a:rPr>
                        </m:ctrlPr>
                      </m:fPr>
                      <m:num>
                        <m:r>
                          <a:rPr lang="en-US" altLang="zh-CN" sz="1200" b="0" i="1" smtClean="0">
                            <a:latin typeface="Cambria Math" panose="02040503050406030204" pitchFamily="18" charset="0"/>
                            <a:ea typeface="幼圆" panose="02010509060101010101" pitchFamily="49" charset="-122"/>
                          </a:rPr>
                          <m:t>1</m:t>
                        </m:r>
                      </m:num>
                      <m:den>
                        <m:r>
                          <a:rPr lang="en-US" altLang="zh-CN" sz="1200" b="0" i="1" smtClean="0">
                            <a:latin typeface="Cambria Math" panose="02040503050406030204" pitchFamily="18" charset="0"/>
                            <a:ea typeface="幼圆" panose="02010509060101010101" pitchFamily="49" charset="-122"/>
                          </a:rPr>
                          <m:t>1+</m:t>
                        </m:r>
                        <m:sSup>
                          <m:sSupPr>
                            <m:ctrlPr>
                              <a:rPr lang="en-US" altLang="zh-CN" sz="1200" b="0" i="1" smtClean="0">
                                <a:latin typeface="Cambria Math" panose="02040503050406030204" pitchFamily="18" charset="0"/>
                                <a:ea typeface="幼圆" panose="02010509060101010101" pitchFamily="49" charset="-122"/>
                              </a:rPr>
                            </m:ctrlPr>
                          </m:sSupPr>
                          <m:e>
                            <m:r>
                              <a:rPr lang="en-US" altLang="zh-CN" sz="1200" b="0" i="1" smtClean="0">
                                <a:latin typeface="Cambria Math" panose="02040503050406030204" pitchFamily="18" charset="0"/>
                                <a:ea typeface="幼圆" panose="02010509060101010101" pitchFamily="49" charset="-122"/>
                              </a:rPr>
                              <m:t>𝑒</m:t>
                            </m:r>
                          </m:e>
                          <m:sup>
                            <m:r>
                              <a:rPr lang="en-US" altLang="zh-CN" sz="1200" b="0" i="1" smtClean="0">
                                <a:latin typeface="Cambria Math" panose="02040503050406030204" pitchFamily="18" charset="0"/>
                                <a:ea typeface="幼圆" panose="02010509060101010101" pitchFamily="49" charset="-122"/>
                              </a:rPr>
                              <m:t>−</m:t>
                            </m:r>
                            <m:r>
                              <a:rPr lang="en-US" altLang="zh-CN" sz="1200" b="0" i="1" smtClean="0">
                                <a:latin typeface="Cambria Math" panose="02040503050406030204" pitchFamily="18" charset="0"/>
                                <a:ea typeface="幼圆" panose="02010509060101010101" pitchFamily="49" charset="-122"/>
                              </a:rPr>
                              <m:t>𝑧</m:t>
                            </m:r>
                          </m:sup>
                        </m:sSup>
                      </m:den>
                    </m:f>
                  </m:oMath>
                </a14:m>
                <a:r>
                  <a:rPr lang="zh-CN" altLang="en-US" sz="1200" b="0" dirty="0">
                    <a:latin typeface="幼圆" panose="02010509060101010101" pitchFamily="49" charset="-122"/>
                    <a:ea typeface="幼圆" panose="02010509060101010101" pitchFamily="49" charset="-122"/>
                  </a:rPr>
                  <a:t> </a:t>
                </a:r>
                <a:r>
                  <a:rPr lang="en-US" altLang="zh-CN" sz="1200" b="0">
                    <a:latin typeface="幼圆" panose="02010509060101010101" pitchFamily="49" charset="-122"/>
                    <a:ea typeface="幼圆" panose="02010509060101010101" pitchFamily="49" charset="-122"/>
                  </a:rPr>
                  <a:t>, </a:t>
                </a:r>
                <a:r>
                  <a:rPr lang="zh-CN" altLang="en-US" sz="1200" b="0">
                    <a:latin typeface="幼圆" panose="02010509060101010101" pitchFamily="49" charset="-122"/>
                    <a:ea typeface="幼圆" panose="02010509060101010101" pitchFamily="49" charset="-122"/>
                  </a:rPr>
                  <a:t>将</a:t>
                </a:r>
                <a:r>
                  <a:rPr lang="en-US" altLang="zh-CN" sz="1200" b="0">
                    <a:latin typeface="幼圆" panose="02010509060101010101" pitchFamily="49" charset="-122"/>
                    <a:ea typeface="幼圆" panose="02010509060101010101" pitchFamily="49" charset="-122"/>
                  </a:rPr>
                  <a:t>[-</a:t>
                </a:r>
                <a:r>
                  <a:rPr lang="en-US" altLang="zh-CN" sz="1200" b="0" dirty="0">
                    <a:latin typeface="Cambria Math" panose="02040503050406030204" pitchFamily="18" charset="0"/>
                    <a:ea typeface="Cambria Math" panose="02040503050406030204" pitchFamily="18" charset="0"/>
                  </a:rPr>
                  <a:t>∞</a:t>
                </a:r>
                <a:r>
                  <a:rPr lang="en-US" altLang="zh-CN" sz="1200" b="0">
                    <a:latin typeface="Cambria Math" panose="02040503050406030204" pitchFamily="18" charset="0"/>
                    <a:ea typeface="Cambria Math" panose="02040503050406030204" pitchFamily="18" charset="0"/>
                  </a:rPr>
                  <a:t>,+∞</a:t>
                </a:r>
                <a:r>
                  <a:rPr lang="en-US" altLang="zh-CN" sz="1200" b="0">
                    <a:latin typeface="幼圆" panose="02010509060101010101" pitchFamily="49" charset="-122"/>
                    <a:ea typeface="幼圆" panose="02010509060101010101" pitchFamily="49" charset="-122"/>
                  </a:rPr>
                  <a:t>]</a:t>
                </a:r>
                <a:r>
                  <a:rPr lang="zh-CN" altLang="en-US" sz="1200" b="0">
                    <a:latin typeface="幼圆" panose="02010509060101010101" pitchFamily="49" charset="-122"/>
                    <a:ea typeface="幼圆" panose="02010509060101010101" pitchFamily="49" charset="-122"/>
                  </a:rPr>
                  <a:t>范围</a:t>
                </a:r>
                <a:r>
                  <a:rPr lang="zh-CN" altLang="en-US" sz="1200" b="0" dirty="0">
                    <a:latin typeface="幼圆" panose="02010509060101010101" pitchFamily="49" charset="-122"/>
                    <a:ea typeface="幼圆" panose="02010509060101010101" pitchFamily="49" charset="-122"/>
                  </a:rPr>
                  <a:t>的值</a:t>
                </a:r>
                <a:r>
                  <a:rPr lang="zh-CN" altLang="en-US" sz="1200" b="0">
                    <a:latin typeface="幼圆" panose="02010509060101010101" pitchFamily="49" charset="-122"/>
                    <a:ea typeface="幼圆" panose="02010509060101010101" pitchFamily="49" charset="-122"/>
                  </a:rPr>
                  <a:t>映射到</a:t>
                </a:r>
                <a:r>
                  <a:rPr lang="en-US" altLang="zh-CN" sz="1200" b="0">
                    <a:latin typeface="幼圆" panose="02010509060101010101" pitchFamily="49" charset="-122"/>
                    <a:ea typeface="幼圆" panose="02010509060101010101" pitchFamily="49" charset="-122"/>
                  </a:rPr>
                  <a:t>[0,1];</a:t>
                </a:r>
                <a:endParaRPr lang="en-US" altLang="zh-CN" sz="1200" b="0" dirty="0">
                  <a:latin typeface="幼圆" panose="02010509060101010101" pitchFamily="49" charset="-122"/>
                  <a:ea typeface="幼圆" panose="02010509060101010101" pitchFamily="49" charset="-122"/>
                </a:endParaRPr>
              </a:p>
              <a:p>
                <a:pPr marL="628650" lvl="1" indent="-171450">
                  <a:buFont typeface="Wingdings" panose="05000000000000000000" pitchFamily="2" charset="2"/>
                  <a:buChar char="p"/>
                </a:pPr>
                <a:r>
                  <a:rPr lang="en-US" altLang="zh-CN" sz="1200" b="0" baseline="0" dirty="0" err="1">
                    <a:latin typeface="幼圆" panose="02010509060101010101" pitchFamily="49" charset="-122"/>
                    <a:ea typeface="幼圆" panose="02010509060101010101" pitchFamily="49" charset="-122"/>
                  </a:rPr>
                  <a:t>tanh</a:t>
                </a:r>
                <a:r>
                  <a:rPr lang="zh-CN" altLang="en-US" sz="1200" b="0" baseline="0" dirty="0">
                    <a:latin typeface="幼圆" panose="02010509060101010101" pitchFamily="49" charset="-122"/>
                    <a:ea typeface="幼圆" panose="02010509060101010101" pitchFamily="49" charset="-122"/>
                  </a:rPr>
                  <a:t>函数</a:t>
                </a:r>
                <a14:m>
                  <m:oMath xmlns:m="http://schemas.openxmlformats.org/officeDocument/2006/math">
                    <m:r>
                      <m:rPr>
                        <m:sty m:val="p"/>
                      </m:rPr>
                      <a:rPr lang="en-US" altLang="zh-CN" sz="1200" b="0" i="0" smtClean="0">
                        <a:latin typeface="Cambria Math" panose="02040503050406030204" pitchFamily="18" charset="0"/>
                        <a:ea typeface="Cambria" panose="02040503050406030204" pitchFamily="18" charset="0"/>
                      </a:rPr>
                      <m:t>g</m:t>
                    </m:r>
                    <m:d>
                      <m:dPr>
                        <m:ctrlPr>
                          <a:rPr lang="en-US" altLang="zh-CN" sz="1200" b="0" i="1" smtClean="0">
                            <a:latin typeface="Cambria Math" panose="02040503050406030204" pitchFamily="18" charset="0"/>
                            <a:ea typeface="幼圆" panose="02010509060101010101" pitchFamily="49" charset="-122"/>
                          </a:rPr>
                        </m:ctrlPr>
                      </m:dPr>
                      <m:e>
                        <m:r>
                          <a:rPr lang="en-US" altLang="zh-CN" sz="1200" b="0" i="1" smtClean="0">
                            <a:latin typeface="Cambria Math" panose="02040503050406030204" pitchFamily="18" charset="0"/>
                            <a:ea typeface="幼圆" panose="02010509060101010101" pitchFamily="49" charset="-122"/>
                          </a:rPr>
                          <m:t>𝑧</m:t>
                        </m:r>
                      </m:e>
                    </m:d>
                    <m:r>
                      <a:rPr lang="en-US" altLang="zh-CN" sz="1200" b="0" i="1" smtClean="0">
                        <a:latin typeface="Cambria Math" panose="02040503050406030204" pitchFamily="18" charset="0"/>
                        <a:ea typeface="幼圆" panose="02010509060101010101" pitchFamily="49" charset="-122"/>
                      </a:rPr>
                      <m:t>=</m:t>
                    </m:r>
                    <m:f>
                      <m:fPr>
                        <m:ctrlPr>
                          <a:rPr lang="en-US" altLang="zh-CN" sz="1200" b="0" i="1" smtClean="0">
                            <a:latin typeface="Cambria Math" panose="02040503050406030204" pitchFamily="18" charset="0"/>
                            <a:ea typeface="幼圆" panose="02010509060101010101" pitchFamily="49" charset="-122"/>
                          </a:rPr>
                        </m:ctrlPr>
                      </m:fPr>
                      <m:num>
                        <m:sSup>
                          <m:sSupPr>
                            <m:ctrlPr>
                              <a:rPr lang="en-US" altLang="zh-CN" sz="1200" b="0" i="1" smtClean="0">
                                <a:latin typeface="Cambria Math" panose="02040503050406030204" pitchFamily="18" charset="0"/>
                                <a:ea typeface="幼圆" panose="02010509060101010101" pitchFamily="49" charset="-122"/>
                              </a:rPr>
                            </m:ctrlPr>
                          </m:sSupPr>
                          <m:e>
                            <m:r>
                              <a:rPr lang="en-US" altLang="zh-CN" sz="1200" b="0" i="1" smtClean="0">
                                <a:latin typeface="Cambria Math" panose="02040503050406030204" pitchFamily="18" charset="0"/>
                                <a:ea typeface="幼圆" panose="02010509060101010101" pitchFamily="49" charset="-122"/>
                              </a:rPr>
                              <m:t>𝑒</m:t>
                            </m:r>
                          </m:e>
                          <m:sup>
                            <m:r>
                              <a:rPr lang="en-US" altLang="zh-CN" sz="1200" b="0" i="1" smtClean="0">
                                <a:latin typeface="Cambria Math" panose="02040503050406030204" pitchFamily="18" charset="0"/>
                                <a:ea typeface="幼圆" panose="02010509060101010101" pitchFamily="49" charset="-122"/>
                              </a:rPr>
                              <m:t>𝑧</m:t>
                            </m:r>
                          </m:sup>
                        </m:sSup>
                        <m:r>
                          <a:rPr lang="en-US" altLang="zh-CN" sz="1200" b="0" i="1" smtClean="0">
                            <a:latin typeface="Cambria Math" panose="02040503050406030204" pitchFamily="18" charset="0"/>
                            <a:ea typeface="幼圆" panose="02010509060101010101" pitchFamily="49" charset="-122"/>
                          </a:rPr>
                          <m:t>−</m:t>
                        </m:r>
                        <m:sSup>
                          <m:sSupPr>
                            <m:ctrlPr>
                              <a:rPr lang="en-US" altLang="zh-CN" sz="1200" b="0" i="1" smtClean="0">
                                <a:latin typeface="Cambria Math" panose="02040503050406030204" pitchFamily="18" charset="0"/>
                                <a:ea typeface="幼圆" panose="02010509060101010101" pitchFamily="49" charset="-122"/>
                              </a:rPr>
                            </m:ctrlPr>
                          </m:sSupPr>
                          <m:e>
                            <m:r>
                              <a:rPr lang="en-US" altLang="zh-CN" sz="1200" b="0" i="1" smtClean="0">
                                <a:latin typeface="Cambria Math" panose="02040503050406030204" pitchFamily="18" charset="0"/>
                                <a:ea typeface="幼圆" panose="02010509060101010101" pitchFamily="49" charset="-122"/>
                              </a:rPr>
                              <m:t>𝑒</m:t>
                            </m:r>
                          </m:e>
                          <m:sup>
                            <m:r>
                              <a:rPr lang="en-US" altLang="zh-CN" sz="1200" b="0" i="1" smtClean="0">
                                <a:latin typeface="Cambria Math" panose="02040503050406030204" pitchFamily="18" charset="0"/>
                                <a:ea typeface="幼圆" panose="02010509060101010101" pitchFamily="49" charset="-122"/>
                              </a:rPr>
                              <m:t>−</m:t>
                            </m:r>
                            <m:r>
                              <a:rPr lang="en-US" altLang="zh-CN" sz="1200" b="0" i="1" smtClean="0">
                                <a:latin typeface="Cambria Math" panose="02040503050406030204" pitchFamily="18" charset="0"/>
                                <a:ea typeface="幼圆" panose="02010509060101010101" pitchFamily="49" charset="-122"/>
                              </a:rPr>
                              <m:t>𝑧</m:t>
                            </m:r>
                          </m:sup>
                        </m:sSup>
                      </m:num>
                      <m:den>
                        <m:sSup>
                          <m:sSupPr>
                            <m:ctrlPr>
                              <a:rPr lang="en-US" altLang="zh-CN" sz="1200" b="0" i="1" smtClean="0">
                                <a:latin typeface="Cambria Math" panose="02040503050406030204" pitchFamily="18" charset="0"/>
                                <a:ea typeface="幼圆" panose="02010509060101010101" pitchFamily="49" charset="-122"/>
                              </a:rPr>
                            </m:ctrlPr>
                          </m:sSupPr>
                          <m:e>
                            <m:r>
                              <a:rPr lang="en-US" altLang="zh-CN" sz="1200" b="0" i="1" smtClean="0">
                                <a:latin typeface="Cambria Math" panose="02040503050406030204" pitchFamily="18" charset="0"/>
                                <a:ea typeface="幼圆" panose="02010509060101010101" pitchFamily="49" charset="-122"/>
                              </a:rPr>
                              <m:t>𝑒</m:t>
                            </m:r>
                          </m:e>
                          <m:sup>
                            <m:r>
                              <a:rPr lang="en-US" altLang="zh-CN" sz="1200" b="0" i="1" smtClean="0">
                                <a:latin typeface="Cambria Math" panose="02040503050406030204" pitchFamily="18" charset="0"/>
                                <a:ea typeface="幼圆" panose="02010509060101010101" pitchFamily="49" charset="-122"/>
                              </a:rPr>
                              <m:t>𝑧</m:t>
                            </m:r>
                          </m:sup>
                        </m:sSup>
                        <m:r>
                          <a:rPr lang="en-US" altLang="zh-CN" sz="1200" b="0" i="1" smtClean="0">
                            <a:latin typeface="Cambria Math" panose="02040503050406030204" pitchFamily="18" charset="0"/>
                            <a:ea typeface="幼圆" panose="02010509060101010101" pitchFamily="49" charset="-122"/>
                          </a:rPr>
                          <m:t>+</m:t>
                        </m:r>
                        <m:sSup>
                          <m:sSupPr>
                            <m:ctrlPr>
                              <a:rPr lang="en-US" altLang="zh-CN" sz="1200" b="0" i="1" smtClean="0">
                                <a:latin typeface="Cambria Math" panose="02040503050406030204" pitchFamily="18" charset="0"/>
                                <a:ea typeface="幼圆" panose="02010509060101010101" pitchFamily="49" charset="-122"/>
                              </a:rPr>
                            </m:ctrlPr>
                          </m:sSupPr>
                          <m:e>
                            <m:r>
                              <a:rPr lang="en-US" altLang="zh-CN" sz="1200" b="0" i="1" smtClean="0">
                                <a:latin typeface="Cambria Math" panose="02040503050406030204" pitchFamily="18" charset="0"/>
                                <a:ea typeface="幼圆" panose="02010509060101010101" pitchFamily="49" charset="-122"/>
                              </a:rPr>
                              <m:t>𝑒</m:t>
                            </m:r>
                          </m:e>
                          <m:sup>
                            <m:r>
                              <a:rPr lang="en-US" altLang="zh-CN" sz="1200" b="0" i="1" smtClean="0">
                                <a:latin typeface="Cambria Math" panose="02040503050406030204" pitchFamily="18" charset="0"/>
                                <a:ea typeface="幼圆" panose="02010509060101010101" pitchFamily="49" charset="-122"/>
                              </a:rPr>
                              <m:t>−</m:t>
                            </m:r>
                            <m:r>
                              <a:rPr lang="en-US" altLang="zh-CN" sz="1200" b="0" i="1" smtClean="0">
                                <a:latin typeface="Cambria Math" panose="02040503050406030204" pitchFamily="18" charset="0"/>
                                <a:ea typeface="幼圆" panose="02010509060101010101" pitchFamily="49" charset="-122"/>
                              </a:rPr>
                              <m:t>𝑧</m:t>
                            </m:r>
                          </m:sup>
                        </m:sSup>
                      </m:den>
                    </m:f>
                  </m:oMath>
                </a14:m>
                <a:r>
                  <a:rPr lang="zh-CN" altLang="en-US" sz="1200" b="0" dirty="0">
                    <a:latin typeface="幼圆" panose="02010509060101010101" pitchFamily="49" charset="-122"/>
                    <a:ea typeface="幼圆" panose="02010509060101010101" pitchFamily="49" charset="-122"/>
                  </a:rPr>
                  <a:t> </a:t>
                </a:r>
                <a:r>
                  <a:rPr lang="en-US" altLang="zh-CN" sz="1200" b="0">
                    <a:latin typeface="幼圆" panose="02010509060101010101" pitchFamily="49" charset="-122"/>
                    <a:ea typeface="幼圆" panose="02010509060101010101" pitchFamily="49" charset="-122"/>
                  </a:rPr>
                  <a:t>, </a:t>
                </a:r>
                <a:r>
                  <a:rPr lang="zh-CN" altLang="en-US" sz="1200" b="0">
                    <a:latin typeface="幼圆" panose="02010509060101010101" pitchFamily="49" charset="-122"/>
                    <a:ea typeface="幼圆" panose="02010509060101010101" pitchFamily="49" charset="-122"/>
                  </a:rPr>
                  <a:t>将</a:t>
                </a:r>
                <a:r>
                  <a:rPr lang="en-US" altLang="zh-CN" sz="1200" b="0">
                    <a:latin typeface="幼圆" panose="02010509060101010101" pitchFamily="49" charset="-122"/>
                    <a:ea typeface="幼圆" panose="02010509060101010101" pitchFamily="49" charset="-122"/>
                  </a:rPr>
                  <a:t>[-</a:t>
                </a:r>
                <a:r>
                  <a:rPr lang="en-US" altLang="zh-CN" sz="1200" b="0" dirty="0">
                    <a:latin typeface="Cambria Math" panose="02040503050406030204" pitchFamily="18" charset="0"/>
                    <a:ea typeface="Cambria Math" panose="02040503050406030204" pitchFamily="18" charset="0"/>
                  </a:rPr>
                  <a:t>∞</a:t>
                </a:r>
                <a:r>
                  <a:rPr lang="en-US" altLang="zh-CN" sz="1200" b="0">
                    <a:latin typeface="Cambria Math" panose="02040503050406030204" pitchFamily="18" charset="0"/>
                    <a:ea typeface="Cambria Math" panose="02040503050406030204" pitchFamily="18" charset="0"/>
                  </a:rPr>
                  <a:t>,+∞</a:t>
                </a:r>
                <a:r>
                  <a:rPr lang="en-US" altLang="zh-CN" sz="1200" b="0">
                    <a:latin typeface="幼圆" panose="02010509060101010101" pitchFamily="49" charset="-122"/>
                    <a:ea typeface="幼圆" panose="02010509060101010101" pitchFamily="49" charset="-122"/>
                  </a:rPr>
                  <a:t>]</a:t>
                </a:r>
                <a:r>
                  <a:rPr lang="zh-CN" altLang="en-US" sz="1200" b="0">
                    <a:latin typeface="幼圆" panose="02010509060101010101" pitchFamily="49" charset="-122"/>
                    <a:ea typeface="幼圆" panose="02010509060101010101" pitchFamily="49" charset="-122"/>
                  </a:rPr>
                  <a:t>范围</a:t>
                </a:r>
                <a:r>
                  <a:rPr lang="zh-CN" altLang="en-US" sz="1200" b="0" dirty="0">
                    <a:latin typeface="幼圆" panose="02010509060101010101" pitchFamily="49" charset="-122"/>
                    <a:ea typeface="幼圆" panose="02010509060101010101" pitchFamily="49" charset="-122"/>
                  </a:rPr>
                  <a:t>的值</a:t>
                </a:r>
                <a:r>
                  <a:rPr lang="zh-CN" altLang="en-US" sz="1200" b="0">
                    <a:latin typeface="幼圆" panose="02010509060101010101" pitchFamily="49" charset="-122"/>
                    <a:ea typeface="幼圆" panose="02010509060101010101" pitchFamily="49" charset="-122"/>
                  </a:rPr>
                  <a:t>映射到</a:t>
                </a:r>
                <a:r>
                  <a:rPr lang="en-US" altLang="zh-CN" sz="1200" b="0">
                    <a:latin typeface="幼圆" panose="02010509060101010101" pitchFamily="49" charset="-122"/>
                    <a:ea typeface="幼圆" panose="02010509060101010101" pitchFamily="49" charset="-122"/>
                  </a:rPr>
                  <a:t>[-1,1]</a:t>
                </a:r>
                <a:r>
                  <a:rPr lang="zh-CN" altLang="en-US" sz="1200" b="0">
                    <a:latin typeface="幼圆" panose="02010509060101010101" pitchFamily="49" charset="-122"/>
                    <a:ea typeface="幼圆" panose="02010509060101010101" pitchFamily="49" charset="-122"/>
                  </a:rPr>
                  <a:t>。</a:t>
                </a:r>
                <a:endParaRPr lang="en-US" altLang="zh-CN" sz="1200" b="0" dirty="0">
                  <a:latin typeface="幼圆" panose="02010509060101010101" pitchFamily="49" charset="-122"/>
                  <a:ea typeface="幼圆" panose="02010509060101010101" pitchFamily="49" charset="-122"/>
                </a:endParaRPr>
              </a:p>
              <a:p>
                <a:pPr marL="628650" lvl="1" indent="-171450">
                  <a:buFont typeface="Wingdings" panose="05000000000000000000" pitchFamily="2" charset="2"/>
                  <a:buChar char="p"/>
                </a:pPr>
                <a:r>
                  <a:rPr lang="en-US" altLang="zh-CN" sz="1200" b="0" dirty="0" err="1">
                    <a:latin typeface="幼圆" panose="02010509060101010101" pitchFamily="49" charset="-122"/>
                    <a:ea typeface="幼圆" panose="02010509060101010101" pitchFamily="49" charset="-122"/>
                  </a:rPr>
                  <a:t>Relu</a:t>
                </a:r>
                <a:r>
                  <a:rPr lang="en-US" altLang="zh-CN" sz="1200" b="0" dirty="0">
                    <a:latin typeface="幼圆" panose="02010509060101010101" pitchFamily="49" charset="-122"/>
                    <a:ea typeface="幼圆" panose="02010509060101010101" pitchFamily="49" charset="-122"/>
                  </a:rPr>
                  <a:t>(</a:t>
                </a:r>
                <a:r>
                  <a:rPr lang="en-US" altLang="zh-CN" sz="1200" b="0" dirty="0" err="1">
                    <a:latin typeface="幼圆" panose="02010509060101010101" pitchFamily="49" charset="-122"/>
                    <a:ea typeface="幼圆" panose="02010509060101010101" pitchFamily="49" charset="-122"/>
                  </a:rPr>
                  <a:t>Recitified</a:t>
                </a:r>
                <a:r>
                  <a:rPr lang="en-US" altLang="zh-CN" sz="1200" b="0" dirty="0">
                    <a:latin typeface="幼圆" panose="02010509060101010101" pitchFamily="49" charset="-122"/>
                    <a:ea typeface="幼圆" panose="02010509060101010101" pitchFamily="49" charset="-122"/>
                  </a:rPr>
                  <a:t> Linear</a:t>
                </a:r>
                <a:r>
                  <a:rPr lang="en-US" altLang="zh-CN" sz="1200" b="0" baseline="0" dirty="0">
                    <a:latin typeface="幼圆" panose="02010509060101010101" pitchFamily="49" charset="-122"/>
                    <a:ea typeface="幼圆" panose="02010509060101010101" pitchFamily="49" charset="-122"/>
                  </a:rPr>
                  <a:t> Unit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线性整流函数 </a:t>
                </a:r>
                <a14:m>
                  <m:oMath xmlns:m="http://schemas.openxmlformats.org/officeDocument/2006/math">
                    <m:r>
                      <m:rPr>
                        <m:sty m:val="p"/>
                      </m:rPr>
                      <a:rPr lang="en-US" altLang="zh-CN" sz="1200" b="0" i="0" smtClean="0">
                        <a:latin typeface="Cambria Math" panose="02040503050406030204" pitchFamily="18" charset="0"/>
                        <a:ea typeface="Cambria" panose="02040503050406030204" pitchFamily="18" charset="0"/>
                      </a:rPr>
                      <m:t>g</m:t>
                    </m:r>
                    <m:d>
                      <m:dPr>
                        <m:ctrlPr>
                          <a:rPr lang="en-US" altLang="zh-CN" sz="1200" b="0" i="1" smtClean="0">
                            <a:latin typeface="Cambria Math" panose="02040503050406030204" pitchFamily="18" charset="0"/>
                            <a:ea typeface="幼圆" panose="02010509060101010101" pitchFamily="49" charset="-122"/>
                          </a:rPr>
                        </m:ctrlPr>
                      </m:dPr>
                      <m:e>
                        <m:r>
                          <a:rPr lang="en-US" altLang="zh-CN" sz="1200" b="0" i="1" smtClean="0">
                            <a:latin typeface="Cambria Math" panose="02040503050406030204" pitchFamily="18" charset="0"/>
                            <a:ea typeface="幼圆" panose="02010509060101010101" pitchFamily="49" charset="-122"/>
                          </a:rPr>
                          <m:t>𝑧</m:t>
                        </m:r>
                      </m:e>
                    </m:d>
                    <m:r>
                      <a:rPr lang="en-US" altLang="zh-CN" sz="1200" b="0" i="1" smtClean="0">
                        <a:latin typeface="Cambria Math" panose="02040503050406030204" pitchFamily="18" charset="0"/>
                        <a:ea typeface="幼圆" panose="02010509060101010101" pitchFamily="49" charset="-122"/>
                      </a:rPr>
                      <m:t>=</m:t>
                    </m:r>
                  </m:oMath>
                </a14:m>
                <a:r>
                  <a:rPr lang="en-US" altLang="zh-CN" dirty="0">
                    <a:effectLst/>
                  </a:rPr>
                  <a:t>max(0, z) </a:t>
                </a:r>
                <a:endParaRPr lang="en-US" altLang="zh-CN" sz="1200" b="0" dirty="0">
                  <a:latin typeface="幼圆" panose="02010509060101010101" pitchFamily="49" charset="-122"/>
                  <a:ea typeface="幼圆" panose="02010509060101010101" pitchFamily="49" charset="-122"/>
                </a:endParaRPr>
              </a:p>
              <a:p>
                <a:pPr marL="457200" lvl="1" indent="0">
                  <a:buFont typeface="Wingdings" panose="05000000000000000000" pitchFamily="2" charset="2"/>
                  <a:buNone/>
                </a:pPr>
                <a:endParaRPr lang="en-US" altLang="zh-CN" sz="1200" b="0" dirty="0">
                  <a:latin typeface="幼圆" panose="02010509060101010101" pitchFamily="49" charset="-122"/>
                  <a:ea typeface="幼圆" panose="02010509060101010101" pitchFamily="49" charset="-122"/>
                </a:endParaRPr>
              </a:p>
              <a:p>
                <a:endParaRPr lang="zh-CN" altLang="en-US" dirty="0"/>
              </a:p>
            </p:txBody>
          </p:sp>
        </mc:Choice>
        <mc:Fallback xmlns="">
          <p:sp>
            <p:nvSpPr>
              <p:cNvPr id="3" name="备注占位符 2"/>
              <p:cNvSpPr>
                <a:spLocks noGrp="1"/>
              </p:cNvSpPr>
              <p:nvPr>
                <p:ph type="body" idx="1"/>
              </p:nvPr>
            </p:nvSpPr>
            <p:spPr/>
            <p:txBody>
              <a:bodyPr/>
              <a:lstStyle/>
              <a:p>
                <a:pPr marL="0" indent="0">
                  <a:buFont typeface="Wingdings" panose="05000000000000000000" pitchFamily="2" charset="2"/>
                  <a:buNone/>
                </a:pPr>
                <a:r>
                  <a:rPr lang="en-US" altLang="zh-CN" sz="1200" b="0" dirty="0">
                    <a:latin typeface="幼圆" panose="02010509060101010101" pitchFamily="49" charset="-122"/>
                    <a:ea typeface="幼圆" panose="02010509060101010101" pitchFamily="49" charset="-122"/>
                  </a:rPr>
                  <a:t>1. </a:t>
                </a:r>
                <a:r>
                  <a:rPr lang="zh-CN" altLang="en-US" sz="1200" b="0" dirty="0">
                    <a:latin typeface="幼圆" panose="02010509060101010101" pitchFamily="49" charset="-122"/>
                    <a:ea typeface="幼圆" panose="02010509060101010101" pitchFamily="49" charset="-122"/>
                  </a:rPr>
                  <a:t>理想激活函数是阶跃函数</a:t>
                </a:r>
                <a:r>
                  <a:rPr lang="en-US" altLang="zh-CN" sz="1200" b="0" dirty="0">
                    <a:latin typeface="幼圆" panose="02010509060101010101" pitchFamily="49" charset="-122"/>
                    <a:ea typeface="幼圆" panose="02010509060101010101" pitchFamily="49" charset="-122"/>
                  </a:rPr>
                  <a:t>, 0</a:t>
                </a:r>
                <a:r>
                  <a:rPr lang="zh-CN" altLang="en-US" sz="1200" b="0" dirty="0">
                    <a:latin typeface="幼圆" panose="02010509060101010101" pitchFamily="49" charset="-122"/>
                    <a:ea typeface="幼圆" panose="02010509060101010101" pitchFamily="49" charset="-122"/>
                  </a:rPr>
                  <a:t>表示抑制神经元而</a:t>
                </a:r>
                <a:r>
                  <a:rPr lang="en-US" altLang="zh-CN" sz="1200" b="0" dirty="0">
                    <a:latin typeface="幼圆" panose="02010509060101010101" pitchFamily="49" charset="-122"/>
                    <a:ea typeface="幼圆" panose="02010509060101010101" pitchFamily="49" charset="-122"/>
                  </a:rPr>
                  <a:t>1</a:t>
                </a:r>
                <a:r>
                  <a:rPr lang="zh-CN" altLang="en-US" sz="1200" b="0" dirty="0">
                    <a:latin typeface="幼圆" panose="02010509060101010101" pitchFamily="49" charset="-122"/>
                    <a:ea typeface="幼圆" panose="02010509060101010101" pitchFamily="49" charset="-122"/>
                  </a:rPr>
                  <a:t>表示激活神经元</a:t>
                </a:r>
                <a:endParaRPr lang="en-US" altLang="zh-CN" sz="1200" b="0" dirty="0">
                  <a:latin typeface="幼圆" panose="02010509060101010101" pitchFamily="49" charset="-122"/>
                  <a:ea typeface="幼圆" panose="02010509060101010101" pitchFamily="49" charset="-122"/>
                </a:endParaRPr>
              </a:p>
              <a:p>
                <a:pPr marL="0" indent="0">
                  <a:buFont typeface="Wingdings" panose="05000000000000000000" pitchFamily="2" charset="2"/>
                  <a:buNone/>
                </a:pPr>
                <a:r>
                  <a:rPr lang="en-US" altLang="zh-CN" sz="1200" b="0" dirty="0">
                    <a:latin typeface="幼圆" panose="02010509060101010101" pitchFamily="49" charset="-122"/>
                    <a:ea typeface="幼圆" panose="02010509060101010101" pitchFamily="49" charset="-122"/>
                  </a:rPr>
                  <a:t>2. </a:t>
                </a:r>
                <a:r>
                  <a:rPr lang="zh-CN" altLang="en-US" sz="1200" b="0" dirty="0">
                    <a:latin typeface="幼圆" panose="02010509060101010101" pitchFamily="49" charset="-122"/>
                    <a:ea typeface="幼圆" panose="02010509060101010101" pitchFamily="49" charset="-122"/>
                  </a:rPr>
                  <a:t>阶跃函数具有不连续、不光滑，数学特性不好</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常用的是 </a:t>
                </a:r>
                <a:r>
                  <a:rPr lang="en-US" altLang="zh-CN" sz="1200" b="0" dirty="0">
                    <a:latin typeface="幼圆" panose="02010509060101010101" pitchFamily="49" charset="-122"/>
                    <a:ea typeface="幼圆" panose="02010509060101010101" pitchFamily="49" charset="-122"/>
                  </a:rPr>
                  <a:t>Sigmoid </a:t>
                </a:r>
                <a:r>
                  <a:rPr lang="zh-CN" altLang="en-US" sz="1200" b="0" dirty="0">
                    <a:latin typeface="幼圆" panose="02010509060101010101" pitchFamily="49" charset="-122"/>
                    <a:ea typeface="幼圆" panose="02010509060101010101" pitchFamily="49" charset="-122"/>
                  </a:rPr>
                  <a:t>函数和</a:t>
                </a:r>
                <a:r>
                  <a:rPr lang="en-US" altLang="zh-CN" sz="1200" b="0" dirty="0">
                    <a:latin typeface="幼圆" panose="02010509060101010101" pitchFamily="49" charset="-122"/>
                    <a:ea typeface="幼圆" panose="02010509060101010101" pitchFamily="49" charset="-122"/>
                  </a:rPr>
                  <a:t>tanh</a:t>
                </a:r>
                <a:r>
                  <a:rPr lang="zh-CN" altLang="en-US" sz="1200" b="0" dirty="0">
                    <a:latin typeface="幼圆" panose="02010509060101010101" pitchFamily="49" charset="-122"/>
                    <a:ea typeface="幼圆" panose="02010509060101010101" pitchFamily="49" charset="-122"/>
                  </a:rPr>
                  <a:t>（双曲正切）等具有较好数学特性的函数。</a:t>
                </a:r>
                <a:endParaRPr lang="en-US" altLang="zh-CN" sz="1200" b="0" dirty="0">
                  <a:latin typeface="幼圆" panose="02010509060101010101" pitchFamily="49" charset="-122"/>
                  <a:ea typeface="幼圆" panose="02010509060101010101" pitchFamily="49" charset="-122"/>
                </a:endParaRPr>
              </a:p>
              <a:p>
                <a:pPr marL="628650" lvl="1" indent="-171450">
                  <a:buFont typeface="Wingdings" panose="05000000000000000000" pitchFamily="2" charset="2"/>
                  <a:buChar char="p"/>
                </a:pPr>
                <a:r>
                  <a:rPr lang="en-US" altLang="zh-CN" sz="1200" b="0" dirty="0">
                    <a:latin typeface="幼圆" panose="02010509060101010101" pitchFamily="49" charset="-122"/>
                    <a:ea typeface="幼圆" panose="02010509060101010101" pitchFamily="49" charset="-122"/>
                  </a:rPr>
                  <a:t>Sigmoid</a:t>
                </a:r>
                <a:r>
                  <a:rPr lang="zh-CN" altLang="en-US" sz="1200" b="0" dirty="0">
                    <a:latin typeface="幼圆" panose="02010509060101010101" pitchFamily="49" charset="-122"/>
                    <a:ea typeface="幼圆" panose="02010509060101010101" pitchFamily="49" charset="-122"/>
                  </a:rPr>
                  <a:t>函数</a:t>
                </a:r>
                <a:r>
                  <a:rPr lang="en-US" altLang="zh-CN" sz="1200" b="0" i="0">
                    <a:latin typeface="Cambria Math" panose="02040503050406030204" pitchFamily="18" charset="0"/>
                    <a:ea typeface="Cambria" panose="02040503050406030204" pitchFamily="18" charset="0"/>
                  </a:rPr>
                  <a:t>g</a:t>
                </a:r>
                <a:r>
                  <a:rPr lang="en-US" altLang="zh-CN" sz="1200" b="0" i="0">
                    <a:latin typeface="Cambria Math" panose="02040503050406030204" pitchFamily="18" charset="0"/>
                    <a:ea typeface="幼圆" panose="02010509060101010101" pitchFamily="49" charset="-122"/>
                  </a:rPr>
                  <a:t>(𝑧)=1/(1+𝑒^(−𝑧) )</a:t>
                </a:r>
                <a:r>
                  <a:rPr lang="zh-CN" altLang="en-US" sz="1200" b="0" dirty="0">
                    <a:latin typeface="幼圆" panose="02010509060101010101" pitchFamily="49" charset="-122"/>
                    <a:ea typeface="幼圆" panose="02010509060101010101" pitchFamily="49" charset="-122"/>
                  </a:rPr>
                  <a:t> </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将</a:t>
                </a:r>
                <a:r>
                  <a:rPr lang="en-US" altLang="zh-CN" sz="1200" b="0" dirty="0">
                    <a:latin typeface="幼圆" panose="02010509060101010101" pitchFamily="49" charset="-122"/>
                    <a:ea typeface="幼圆" panose="02010509060101010101" pitchFamily="49" charset="-122"/>
                  </a:rPr>
                  <a:t>[-</a:t>
                </a:r>
                <a:r>
                  <a:rPr lang="en-US" altLang="zh-CN" sz="1200" b="0" dirty="0">
                    <a:latin typeface="Cambria Math" panose="02040503050406030204" pitchFamily="18" charset="0"/>
                    <a:ea typeface="Cambria Math" panose="02040503050406030204" pitchFamily="18" charset="0"/>
                  </a:rPr>
                  <a: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范围的值映射到</a:t>
                </a:r>
                <a:r>
                  <a:rPr lang="en-US" altLang="zh-CN" sz="1200" b="0" dirty="0">
                    <a:latin typeface="幼圆" panose="02010509060101010101" pitchFamily="49" charset="-122"/>
                    <a:ea typeface="幼圆" panose="02010509060101010101" pitchFamily="49" charset="-122"/>
                  </a:rPr>
                  <a:t>[0,1];</a:t>
                </a:r>
              </a:p>
              <a:p>
                <a:pPr marL="628650" lvl="1" indent="-171450">
                  <a:buFont typeface="Wingdings" panose="05000000000000000000" pitchFamily="2" charset="2"/>
                  <a:buChar char="p"/>
                </a:pPr>
                <a:r>
                  <a:rPr lang="en-US" altLang="zh-CN" sz="1200" b="0" baseline="0" dirty="0" err="1">
                    <a:latin typeface="幼圆" panose="02010509060101010101" pitchFamily="49" charset="-122"/>
                    <a:ea typeface="幼圆" panose="02010509060101010101" pitchFamily="49" charset="-122"/>
                  </a:rPr>
                  <a:t>tanh</a:t>
                </a:r>
                <a:r>
                  <a:rPr lang="zh-CN" altLang="en-US" sz="1200" b="0" baseline="0" dirty="0">
                    <a:latin typeface="幼圆" panose="02010509060101010101" pitchFamily="49" charset="-122"/>
                    <a:ea typeface="幼圆" panose="02010509060101010101" pitchFamily="49" charset="-122"/>
                  </a:rPr>
                  <a:t>函数</a:t>
                </a:r>
                <a:r>
                  <a:rPr lang="en-US" altLang="zh-CN" sz="1200" b="0" i="0">
                    <a:latin typeface="Cambria Math" panose="02040503050406030204" pitchFamily="18" charset="0"/>
                    <a:ea typeface="Cambria" panose="02040503050406030204" pitchFamily="18" charset="0"/>
                  </a:rPr>
                  <a:t>g</a:t>
                </a:r>
                <a:r>
                  <a:rPr lang="en-US" altLang="zh-CN" sz="1200" b="0" i="0">
                    <a:latin typeface="Cambria Math" panose="02040503050406030204" pitchFamily="18" charset="0"/>
                    <a:ea typeface="幼圆" panose="02010509060101010101" pitchFamily="49" charset="-122"/>
                  </a:rPr>
                  <a:t>(𝑧)=(𝑒^𝑧−𝑒^(−𝑧))/(𝑒^𝑧+𝑒^(−𝑧) )</a:t>
                </a:r>
                <a:r>
                  <a:rPr lang="zh-CN" altLang="en-US" sz="1200" b="0" dirty="0">
                    <a:latin typeface="幼圆" panose="02010509060101010101" pitchFamily="49" charset="-122"/>
                    <a:ea typeface="幼圆" panose="02010509060101010101" pitchFamily="49" charset="-122"/>
                  </a:rPr>
                  <a:t> </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将</a:t>
                </a:r>
                <a:r>
                  <a:rPr lang="en-US" altLang="zh-CN" sz="1200" b="0" dirty="0">
                    <a:latin typeface="幼圆" panose="02010509060101010101" pitchFamily="49" charset="-122"/>
                    <a:ea typeface="幼圆" panose="02010509060101010101" pitchFamily="49" charset="-122"/>
                  </a:rPr>
                  <a:t>[-</a:t>
                </a:r>
                <a:r>
                  <a:rPr lang="en-US" altLang="zh-CN" sz="1200" b="0" dirty="0">
                    <a:latin typeface="Cambria Math" panose="02040503050406030204" pitchFamily="18" charset="0"/>
                    <a:ea typeface="Cambria Math" panose="02040503050406030204" pitchFamily="18" charset="0"/>
                  </a:rPr>
                  <a: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范围的值映射到</a:t>
                </a:r>
                <a:r>
                  <a:rPr lang="en-US" altLang="zh-CN" sz="1200" b="0" dirty="0">
                    <a:latin typeface="幼圆" panose="02010509060101010101" pitchFamily="49" charset="-122"/>
                    <a:ea typeface="幼圆" panose="02010509060101010101" pitchFamily="49" charset="-122"/>
                  </a:rPr>
                  <a:t>[-1,1]</a:t>
                </a:r>
                <a:r>
                  <a:rPr lang="zh-CN" altLang="en-US" sz="1200" b="0" dirty="0">
                    <a:latin typeface="幼圆" panose="02010509060101010101" pitchFamily="49" charset="-122"/>
                    <a:ea typeface="幼圆" panose="02010509060101010101" pitchFamily="49" charset="-122"/>
                  </a:rPr>
                  <a:t>。</a:t>
                </a:r>
                <a:endParaRPr lang="en-US" altLang="zh-CN" sz="1200" b="0" dirty="0">
                  <a:latin typeface="幼圆" panose="02010509060101010101" pitchFamily="49" charset="-122"/>
                  <a:ea typeface="幼圆" panose="02010509060101010101" pitchFamily="49" charset="-122"/>
                </a:endParaRPr>
              </a:p>
              <a:p>
                <a:pPr marL="628650" lvl="1" indent="-171450">
                  <a:buFont typeface="Wingdings" panose="05000000000000000000" pitchFamily="2" charset="2"/>
                  <a:buChar char="p"/>
                </a:pPr>
                <a:r>
                  <a:rPr lang="en-US" altLang="zh-CN" sz="1200" b="0" dirty="0" err="1">
                    <a:latin typeface="幼圆" panose="02010509060101010101" pitchFamily="49" charset="-122"/>
                    <a:ea typeface="幼圆" panose="02010509060101010101" pitchFamily="49" charset="-122"/>
                  </a:rPr>
                  <a:t>Relu</a:t>
                </a:r>
                <a:r>
                  <a:rPr lang="en-US" altLang="zh-CN" sz="1200" b="0" dirty="0">
                    <a:latin typeface="幼圆" panose="02010509060101010101" pitchFamily="49" charset="-122"/>
                    <a:ea typeface="幼圆" panose="02010509060101010101" pitchFamily="49" charset="-122"/>
                  </a:rPr>
                  <a:t>(</a:t>
                </a:r>
                <a:r>
                  <a:rPr lang="en-US" altLang="zh-CN" sz="1200" b="0" dirty="0" err="1">
                    <a:latin typeface="幼圆" panose="02010509060101010101" pitchFamily="49" charset="-122"/>
                    <a:ea typeface="幼圆" panose="02010509060101010101" pitchFamily="49" charset="-122"/>
                  </a:rPr>
                  <a:t>Recitified</a:t>
                </a:r>
                <a:r>
                  <a:rPr lang="en-US" altLang="zh-CN" sz="1200" b="0" dirty="0">
                    <a:latin typeface="幼圆" panose="02010509060101010101" pitchFamily="49" charset="-122"/>
                    <a:ea typeface="幼圆" panose="02010509060101010101" pitchFamily="49" charset="-122"/>
                  </a:rPr>
                  <a:t> Linear</a:t>
                </a:r>
                <a:r>
                  <a:rPr lang="en-US" altLang="zh-CN" sz="1200" b="0" baseline="0" dirty="0">
                    <a:latin typeface="幼圆" panose="02010509060101010101" pitchFamily="49" charset="-122"/>
                    <a:ea typeface="幼圆" panose="02010509060101010101" pitchFamily="49" charset="-122"/>
                  </a:rPr>
                  <a:t> Unit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线性整流函数 </a:t>
                </a:r>
                <a:r>
                  <a:rPr lang="en-US" altLang="zh-CN" sz="1200" b="0" i="0">
                    <a:latin typeface="Cambria Math" panose="02040503050406030204" pitchFamily="18" charset="0"/>
                    <a:ea typeface="Cambria" panose="02040503050406030204" pitchFamily="18" charset="0"/>
                  </a:rPr>
                  <a:t>g</a:t>
                </a:r>
                <a:r>
                  <a:rPr lang="en-US" altLang="zh-CN" sz="1200" b="0" i="0">
                    <a:latin typeface="Cambria Math" panose="02040503050406030204" pitchFamily="18" charset="0"/>
                    <a:ea typeface="幼圆" panose="02010509060101010101" pitchFamily="49" charset="-122"/>
                  </a:rPr>
                  <a:t>(𝑧)=</a:t>
                </a:r>
                <a:r>
                  <a:rPr lang="en-US" altLang="zh-CN" dirty="0">
                    <a:effectLst/>
                  </a:rPr>
                  <a:t>max(0, z) </a:t>
                </a:r>
                <a:endParaRPr lang="en-US" altLang="zh-CN" sz="1200" b="0" dirty="0">
                  <a:latin typeface="幼圆" panose="02010509060101010101" pitchFamily="49" charset="-122"/>
                  <a:ea typeface="幼圆" panose="02010509060101010101" pitchFamily="49" charset="-122"/>
                </a:endParaRPr>
              </a:p>
              <a:p>
                <a:pPr marL="457200" lvl="1" indent="0">
                  <a:buFont typeface="Wingdings" panose="05000000000000000000" pitchFamily="2" charset="2"/>
                  <a:buNone/>
                </a:pPr>
                <a:endParaRPr lang="en-US" altLang="zh-CN" sz="1200" b="0" dirty="0">
                  <a:latin typeface="幼圆" panose="02010509060101010101" pitchFamily="49" charset="-122"/>
                  <a:ea typeface="幼圆" panose="02010509060101010101" pitchFamily="49" charset="-122"/>
                </a:endParaRPr>
              </a:p>
              <a:p>
                <a:endParaRPr lang="zh-CN" altLang="en-US" dirty="0"/>
              </a:p>
            </p:txBody>
          </p:sp>
        </mc:Fallback>
      </mc:AlternateContent>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65</a:t>
            </a:fld>
            <a:endParaRPr lang="zh-CN" altLang="en-US"/>
          </a:p>
        </p:txBody>
      </p:sp>
    </p:spTree>
    <p:extLst>
      <p:ext uri="{BB962C8B-B14F-4D97-AF65-F5344CB8AC3E}">
        <p14:creationId xmlns:p14="http://schemas.microsoft.com/office/powerpoint/2010/main" val="305801251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indent="0">
                  <a:buFont typeface="Wingdings" panose="05000000000000000000" pitchFamily="2" charset="2"/>
                  <a:buNone/>
                </a:pPr>
                <a:r>
                  <a:rPr lang="en-US" altLang="zh-CN" sz="1200" b="0" dirty="0">
                    <a:latin typeface="幼圆" panose="02010509060101010101" pitchFamily="49" charset="-122"/>
                    <a:ea typeface="幼圆" panose="02010509060101010101" pitchFamily="49" charset="-122"/>
                  </a:rPr>
                  <a:t>1. </a:t>
                </a:r>
                <a:r>
                  <a:rPr lang="zh-CN" altLang="en-US" sz="1200" b="0" dirty="0">
                    <a:latin typeface="幼圆" panose="02010509060101010101" pitchFamily="49" charset="-122"/>
                    <a:ea typeface="幼圆" panose="02010509060101010101" pitchFamily="49" charset="-122"/>
                  </a:rPr>
                  <a:t>理想激活函数是阶跃函数</a:t>
                </a:r>
                <a:r>
                  <a:rPr lang="en-US" altLang="zh-CN" sz="1200" b="0" dirty="0">
                    <a:latin typeface="幼圆" panose="02010509060101010101" pitchFamily="49" charset="-122"/>
                    <a:ea typeface="幼圆" panose="02010509060101010101" pitchFamily="49" charset="-122"/>
                  </a:rPr>
                  <a:t>, 0</a:t>
                </a:r>
                <a:r>
                  <a:rPr lang="zh-CN" altLang="en-US" sz="1200" b="0" dirty="0">
                    <a:latin typeface="幼圆" panose="02010509060101010101" pitchFamily="49" charset="-122"/>
                    <a:ea typeface="幼圆" panose="02010509060101010101" pitchFamily="49" charset="-122"/>
                  </a:rPr>
                  <a:t>表示抑制神经元而</a:t>
                </a:r>
                <a:r>
                  <a:rPr lang="en-US" altLang="zh-CN" sz="1200" b="0" dirty="0">
                    <a:latin typeface="幼圆" panose="02010509060101010101" pitchFamily="49" charset="-122"/>
                    <a:ea typeface="幼圆" panose="02010509060101010101" pitchFamily="49" charset="-122"/>
                  </a:rPr>
                  <a:t>1</a:t>
                </a:r>
                <a:r>
                  <a:rPr lang="zh-CN" altLang="en-US" sz="1200" b="0" dirty="0">
                    <a:latin typeface="幼圆" panose="02010509060101010101" pitchFamily="49" charset="-122"/>
                    <a:ea typeface="幼圆" panose="02010509060101010101" pitchFamily="49" charset="-122"/>
                  </a:rPr>
                  <a:t>表示激活神经元</a:t>
                </a:r>
                <a:endParaRPr lang="en-US" altLang="zh-CN" sz="1200" b="0" dirty="0">
                  <a:latin typeface="幼圆" panose="02010509060101010101" pitchFamily="49" charset="-122"/>
                  <a:ea typeface="幼圆" panose="02010509060101010101" pitchFamily="49" charset="-122"/>
                </a:endParaRPr>
              </a:p>
              <a:p>
                <a:pPr marL="0" indent="0">
                  <a:buFont typeface="Wingdings" panose="05000000000000000000" pitchFamily="2" charset="2"/>
                  <a:buNone/>
                </a:pPr>
                <a:r>
                  <a:rPr lang="en-US" altLang="zh-CN" sz="1200" b="0" dirty="0">
                    <a:latin typeface="幼圆" panose="02010509060101010101" pitchFamily="49" charset="-122"/>
                    <a:ea typeface="幼圆" panose="02010509060101010101" pitchFamily="49" charset="-122"/>
                  </a:rPr>
                  <a:t>2. </a:t>
                </a:r>
                <a:r>
                  <a:rPr lang="zh-CN" altLang="en-US" sz="1200" b="0" dirty="0">
                    <a:latin typeface="幼圆" panose="02010509060101010101" pitchFamily="49" charset="-122"/>
                    <a:ea typeface="幼圆" panose="02010509060101010101" pitchFamily="49" charset="-122"/>
                  </a:rPr>
                  <a:t>阶跃函数具有不连续、不光滑，数学特性不好</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常用的是 </a:t>
                </a:r>
                <a:r>
                  <a:rPr lang="en-US" altLang="zh-CN" sz="1200" b="0" dirty="0">
                    <a:latin typeface="幼圆" panose="02010509060101010101" pitchFamily="49" charset="-122"/>
                    <a:ea typeface="幼圆" panose="02010509060101010101" pitchFamily="49" charset="-122"/>
                  </a:rPr>
                  <a:t>Sigmoid </a:t>
                </a:r>
                <a:r>
                  <a:rPr lang="zh-CN" altLang="en-US" sz="1200" b="0" dirty="0">
                    <a:latin typeface="幼圆" panose="02010509060101010101" pitchFamily="49" charset="-122"/>
                    <a:ea typeface="幼圆" panose="02010509060101010101" pitchFamily="49" charset="-122"/>
                  </a:rPr>
                  <a:t>函数和</a:t>
                </a:r>
                <a:r>
                  <a:rPr lang="en-US" altLang="zh-CN" sz="1200" b="0" dirty="0">
                    <a:latin typeface="幼圆" panose="02010509060101010101" pitchFamily="49" charset="-122"/>
                    <a:ea typeface="幼圆" panose="02010509060101010101" pitchFamily="49" charset="-122"/>
                  </a:rPr>
                  <a:t>tanh</a:t>
                </a:r>
                <a:r>
                  <a:rPr lang="zh-CN" altLang="en-US" sz="1200" b="0" dirty="0">
                    <a:latin typeface="幼圆" panose="02010509060101010101" pitchFamily="49" charset="-122"/>
                    <a:ea typeface="幼圆" panose="02010509060101010101" pitchFamily="49" charset="-122"/>
                  </a:rPr>
                  <a:t>（双曲正切）等具有较好数学特性的函数。</a:t>
                </a:r>
                <a:endParaRPr lang="en-US" altLang="zh-CN" sz="1200" b="0" dirty="0">
                  <a:latin typeface="幼圆" panose="02010509060101010101" pitchFamily="49" charset="-122"/>
                  <a:ea typeface="幼圆" panose="02010509060101010101" pitchFamily="49" charset="-122"/>
                </a:endParaRPr>
              </a:p>
              <a:p>
                <a:pPr marL="628650" lvl="1" indent="-171450">
                  <a:buFont typeface="Wingdings" panose="05000000000000000000" pitchFamily="2" charset="2"/>
                  <a:buChar char="p"/>
                </a:pPr>
                <a:r>
                  <a:rPr lang="en-US" altLang="zh-CN" sz="1200" b="0" dirty="0">
                    <a:latin typeface="幼圆" panose="02010509060101010101" pitchFamily="49" charset="-122"/>
                    <a:ea typeface="幼圆" panose="02010509060101010101" pitchFamily="49" charset="-122"/>
                  </a:rPr>
                  <a:t>Sigmoid</a:t>
                </a:r>
                <a:r>
                  <a:rPr lang="zh-CN" altLang="en-US" sz="1200" b="0" dirty="0">
                    <a:latin typeface="幼圆" panose="02010509060101010101" pitchFamily="49" charset="-122"/>
                    <a:ea typeface="幼圆" panose="02010509060101010101" pitchFamily="49" charset="-122"/>
                  </a:rPr>
                  <a:t>函数</a:t>
                </a:r>
                <a14:m>
                  <m:oMath xmlns:m="http://schemas.openxmlformats.org/officeDocument/2006/math">
                    <m:r>
                      <m:rPr>
                        <m:sty m:val="p"/>
                      </m:rPr>
                      <a:rPr lang="en-US" altLang="zh-CN" sz="1200" b="0" i="0" smtClean="0">
                        <a:latin typeface="Cambria Math" panose="02040503050406030204" pitchFamily="18" charset="0"/>
                        <a:ea typeface="Cambria" panose="02040503050406030204" pitchFamily="18" charset="0"/>
                      </a:rPr>
                      <m:t>g</m:t>
                    </m:r>
                    <m:d>
                      <m:dPr>
                        <m:ctrlPr>
                          <a:rPr lang="en-US" altLang="zh-CN" sz="1200" b="0" i="1" smtClean="0">
                            <a:latin typeface="Cambria Math" panose="02040503050406030204" pitchFamily="18" charset="0"/>
                            <a:ea typeface="幼圆" panose="02010509060101010101" pitchFamily="49" charset="-122"/>
                          </a:rPr>
                        </m:ctrlPr>
                      </m:dPr>
                      <m:e>
                        <m:r>
                          <a:rPr lang="en-US" altLang="zh-CN" sz="1200" b="0" i="1" smtClean="0">
                            <a:latin typeface="Cambria Math" panose="02040503050406030204" pitchFamily="18" charset="0"/>
                            <a:ea typeface="幼圆" panose="02010509060101010101" pitchFamily="49" charset="-122"/>
                          </a:rPr>
                          <m:t>𝑧</m:t>
                        </m:r>
                      </m:e>
                    </m:d>
                    <m:r>
                      <a:rPr lang="en-US" altLang="zh-CN" sz="1200" b="0" i="1" smtClean="0">
                        <a:latin typeface="Cambria Math" panose="02040503050406030204" pitchFamily="18" charset="0"/>
                        <a:ea typeface="幼圆" panose="02010509060101010101" pitchFamily="49" charset="-122"/>
                      </a:rPr>
                      <m:t>=</m:t>
                    </m:r>
                    <m:f>
                      <m:fPr>
                        <m:ctrlPr>
                          <a:rPr lang="en-US" altLang="zh-CN" sz="1200" b="0" i="1" smtClean="0">
                            <a:latin typeface="Cambria Math" panose="02040503050406030204" pitchFamily="18" charset="0"/>
                            <a:ea typeface="幼圆" panose="02010509060101010101" pitchFamily="49" charset="-122"/>
                          </a:rPr>
                        </m:ctrlPr>
                      </m:fPr>
                      <m:num>
                        <m:r>
                          <a:rPr lang="en-US" altLang="zh-CN" sz="1200" b="0" i="1" smtClean="0">
                            <a:latin typeface="Cambria Math" panose="02040503050406030204" pitchFamily="18" charset="0"/>
                            <a:ea typeface="幼圆" panose="02010509060101010101" pitchFamily="49" charset="-122"/>
                          </a:rPr>
                          <m:t>1</m:t>
                        </m:r>
                      </m:num>
                      <m:den>
                        <m:r>
                          <a:rPr lang="en-US" altLang="zh-CN" sz="1200" b="0" i="1" smtClean="0">
                            <a:latin typeface="Cambria Math" panose="02040503050406030204" pitchFamily="18" charset="0"/>
                            <a:ea typeface="幼圆" panose="02010509060101010101" pitchFamily="49" charset="-122"/>
                          </a:rPr>
                          <m:t>1+</m:t>
                        </m:r>
                        <m:sSup>
                          <m:sSupPr>
                            <m:ctrlPr>
                              <a:rPr lang="en-US" altLang="zh-CN" sz="1200" b="0" i="1" smtClean="0">
                                <a:latin typeface="Cambria Math" panose="02040503050406030204" pitchFamily="18" charset="0"/>
                                <a:ea typeface="幼圆" panose="02010509060101010101" pitchFamily="49" charset="-122"/>
                              </a:rPr>
                            </m:ctrlPr>
                          </m:sSupPr>
                          <m:e>
                            <m:r>
                              <a:rPr lang="en-US" altLang="zh-CN" sz="1200" b="0" i="1" smtClean="0">
                                <a:latin typeface="Cambria Math" panose="02040503050406030204" pitchFamily="18" charset="0"/>
                                <a:ea typeface="幼圆" panose="02010509060101010101" pitchFamily="49" charset="-122"/>
                              </a:rPr>
                              <m:t>𝑒</m:t>
                            </m:r>
                          </m:e>
                          <m:sup>
                            <m:r>
                              <a:rPr lang="en-US" altLang="zh-CN" sz="1200" b="0" i="1" smtClean="0">
                                <a:latin typeface="Cambria Math" panose="02040503050406030204" pitchFamily="18" charset="0"/>
                                <a:ea typeface="幼圆" panose="02010509060101010101" pitchFamily="49" charset="-122"/>
                              </a:rPr>
                              <m:t>−</m:t>
                            </m:r>
                            <m:r>
                              <a:rPr lang="en-US" altLang="zh-CN" sz="1200" b="0" i="1" smtClean="0">
                                <a:latin typeface="Cambria Math" panose="02040503050406030204" pitchFamily="18" charset="0"/>
                                <a:ea typeface="幼圆" panose="02010509060101010101" pitchFamily="49" charset="-122"/>
                              </a:rPr>
                              <m:t>𝑧</m:t>
                            </m:r>
                          </m:sup>
                        </m:sSup>
                      </m:den>
                    </m:f>
                  </m:oMath>
                </a14:m>
                <a:r>
                  <a:rPr lang="zh-CN" altLang="en-US" sz="1200" b="0" dirty="0">
                    <a:latin typeface="幼圆" panose="02010509060101010101" pitchFamily="49" charset="-122"/>
                    <a:ea typeface="幼圆" panose="02010509060101010101" pitchFamily="49" charset="-122"/>
                  </a:rPr>
                  <a:t> </a:t>
                </a:r>
                <a:r>
                  <a:rPr lang="en-US" altLang="zh-CN" sz="1200" b="0">
                    <a:latin typeface="幼圆" panose="02010509060101010101" pitchFamily="49" charset="-122"/>
                    <a:ea typeface="幼圆" panose="02010509060101010101" pitchFamily="49" charset="-122"/>
                  </a:rPr>
                  <a:t>, </a:t>
                </a:r>
                <a:r>
                  <a:rPr lang="zh-CN" altLang="en-US" sz="1200" b="0">
                    <a:latin typeface="幼圆" panose="02010509060101010101" pitchFamily="49" charset="-122"/>
                    <a:ea typeface="幼圆" panose="02010509060101010101" pitchFamily="49" charset="-122"/>
                  </a:rPr>
                  <a:t>将</a:t>
                </a:r>
                <a:r>
                  <a:rPr lang="en-US" altLang="zh-CN" sz="1200" b="0">
                    <a:latin typeface="幼圆" panose="02010509060101010101" pitchFamily="49" charset="-122"/>
                    <a:ea typeface="幼圆" panose="02010509060101010101" pitchFamily="49" charset="-122"/>
                  </a:rPr>
                  <a:t>[-</a:t>
                </a:r>
                <a:r>
                  <a:rPr lang="en-US" altLang="zh-CN" sz="1200" b="0" dirty="0">
                    <a:latin typeface="Cambria Math" panose="02040503050406030204" pitchFamily="18" charset="0"/>
                    <a:ea typeface="Cambria Math" panose="02040503050406030204" pitchFamily="18" charset="0"/>
                  </a:rPr>
                  <a:t>∞</a:t>
                </a:r>
                <a:r>
                  <a:rPr lang="en-US" altLang="zh-CN" sz="1200" b="0">
                    <a:latin typeface="Cambria Math" panose="02040503050406030204" pitchFamily="18" charset="0"/>
                    <a:ea typeface="Cambria Math" panose="02040503050406030204" pitchFamily="18" charset="0"/>
                  </a:rPr>
                  <a:t>,+∞</a:t>
                </a:r>
                <a:r>
                  <a:rPr lang="en-US" altLang="zh-CN" sz="1200" b="0">
                    <a:latin typeface="幼圆" panose="02010509060101010101" pitchFamily="49" charset="-122"/>
                    <a:ea typeface="幼圆" panose="02010509060101010101" pitchFamily="49" charset="-122"/>
                  </a:rPr>
                  <a:t>]</a:t>
                </a:r>
                <a:r>
                  <a:rPr lang="zh-CN" altLang="en-US" sz="1200" b="0">
                    <a:latin typeface="幼圆" panose="02010509060101010101" pitchFamily="49" charset="-122"/>
                    <a:ea typeface="幼圆" panose="02010509060101010101" pitchFamily="49" charset="-122"/>
                  </a:rPr>
                  <a:t>范围</a:t>
                </a:r>
                <a:r>
                  <a:rPr lang="zh-CN" altLang="en-US" sz="1200" b="0" dirty="0">
                    <a:latin typeface="幼圆" panose="02010509060101010101" pitchFamily="49" charset="-122"/>
                    <a:ea typeface="幼圆" panose="02010509060101010101" pitchFamily="49" charset="-122"/>
                  </a:rPr>
                  <a:t>的值</a:t>
                </a:r>
                <a:r>
                  <a:rPr lang="zh-CN" altLang="en-US" sz="1200" b="0">
                    <a:latin typeface="幼圆" panose="02010509060101010101" pitchFamily="49" charset="-122"/>
                    <a:ea typeface="幼圆" panose="02010509060101010101" pitchFamily="49" charset="-122"/>
                  </a:rPr>
                  <a:t>映射到</a:t>
                </a:r>
                <a:r>
                  <a:rPr lang="en-US" altLang="zh-CN" sz="1200" b="0">
                    <a:latin typeface="幼圆" panose="02010509060101010101" pitchFamily="49" charset="-122"/>
                    <a:ea typeface="幼圆" panose="02010509060101010101" pitchFamily="49" charset="-122"/>
                  </a:rPr>
                  <a:t>[0,1];</a:t>
                </a:r>
                <a:endParaRPr lang="en-US" altLang="zh-CN" sz="1200" b="0" dirty="0">
                  <a:latin typeface="幼圆" panose="02010509060101010101" pitchFamily="49" charset="-122"/>
                  <a:ea typeface="幼圆" panose="02010509060101010101" pitchFamily="49" charset="-122"/>
                </a:endParaRPr>
              </a:p>
              <a:p>
                <a:pPr marL="628650" lvl="1" indent="-171450">
                  <a:buFont typeface="Wingdings" panose="05000000000000000000" pitchFamily="2" charset="2"/>
                  <a:buChar char="p"/>
                </a:pPr>
                <a:r>
                  <a:rPr lang="en-US" altLang="zh-CN" sz="1200" b="0" baseline="0" dirty="0" err="1">
                    <a:latin typeface="幼圆" panose="02010509060101010101" pitchFamily="49" charset="-122"/>
                    <a:ea typeface="幼圆" panose="02010509060101010101" pitchFamily="49" charset="-122"/>
                  </a:rPr>
                  <a:t>tanh</a:t>
                </a:r>
                <a:r>
                  <a:rPr lang="zh-CN" altLang="en-US" sz="1200" b="0" baseline="0" dirty="0">
                    <a:latin typeface="幼圆" panose="02010509060101010101" pitchFamily="49" charset="-122"/>
                    <a:ea typeface="幼圆" panose="02010509060101010101" pitchFamily="49" charset="-122"/>
                  </a:rPr>
                  <a:t>函数</a:t>
                </a:r>
                <a14:m>
                  <m:oMath xmlns:m="http://schemas.openxmlformats.org/officeDocument/2006/math">
                    <m:r>
                      <m:rPr>
                        <m:sty m:val="p"/>
                      </m:rPr>
                      <a:rPr lang="en-US" altLang="zh-CN" sz="1200" b="0" i="0" smtClean="0">
                        <a:latin typeface="Cambria Math" panose="02040503050406030204" pitchFamily="18" charset="0"/>
                        <a:ea typeface="Cambria" panose="02040503050406030204" pitchFamily="18" charset="0"/>
                      </a:rPr>
                      <m:t>g</m:t>
                    </m:r>
                    <m:d>
                      <m:dPr>
                        <m:ctrlPr>
                          <a:rPr lang="en-US" altLang="zh-CN" sz="1200" b="0" i="1" smtClean="0">
                            <a:latin typeface="Cambria Math" panose="02040503050406030204" pitchFamily="18" charset="0"/>
                            <a:ea typeface="幼圆" panose="02010509060101010101" pitchFamily="49" charset="-122"/>
                          </a:rPr>
                        </m:ctrlPr>
                      </m:dPr>
                      <m:e>
                        <m:r>
                          <a:rPr lang="en-US" altLang="zh-CN" sz="1200" b="0" i="1" smtClean="0">
                            <a:latin typeface="Cambria Math" panose="02040503050406030204" pitchFamily="18" charset="0"/>
                            <a:ea typeface="幼圆" panose="02010509060101010101" pitchFamily="49" charset="-122"/>
                          </a:rPr>
                          <m:t>𝑧</m:t>
                        </m:r>
                      </m:e>
                    </m:d>
                    <m:r>
                      <a:rPr lang="en-US" altLang="zh-CN" sz="1200" b="0" i="1" smtClean="0">
                        <a:latin typeface="Cambria Math" panose="02040503050406030204" pitchFamily="18" charset="0"/>
                        <a:ea typeface="幼圆" panose="02010509060101010101" pitchFamily="49" charset="-122"/>
                      </a:rPr>
                      <m:t>=</m:t>
                    </m:r>
                    <m:f>
                      <m:fPr>
                        <m:ctrlPr>
                          <a:rPr lang="en-US" altLang="zh-CN" sz="1200" b="0" i="1" smtClean="0">
                            <a:latin typeface="Cambria Math" panose="02040503050406030204" pitchFamily="18" charset="0"/>
                            <a:ea typeface="幼圆" panose="02010509060101010101" pitchFamily="49" charset="-122"/>
                          </a:rPr>
                        </m:ctrlPr>
                      </m:fPr>
                      <m:num>
                        <m:sSup>
                          <m:sSupPr>
                            <m:ctrlPr>
                              <a:rPr lang="en-US" altLang="zh-CN" sz="1200" b="0" i="1" smtClean="0">
                                <a:latin typeface="Cambria Math" panose="02040503050406030204" pitchFamily="18" charset="0"/>
                                <a:ea typeface="幼圆" panose="02010509060101010101" pitchFamily="49" charset="-122"/>
                              </a:rPr>
                            </m:ctrlPr>
                          </m:sSupPr>
                          <m:e>
                            <m:r>
                              <a:rPr lang="en-US" altLang="zh-CN" sz="1200" b="0" i="1" smtClean="0">
                                <a:latin typeface="Cambria Math" panose="02040503050406030204" pitchFamily="18" charset="0"/>
                                <a:ea typeface="幼圆" panose="02010509060101010101" pitchFamily="49" charset="-122"/>
                              </a:rPr>
                              <m:t>𝑒</m:t>
                            </m:r>
                          </m:e>
                          <m:sup>
                            <m:r>
                              <a:rPr lang="en-US" altLang="zh-CN" sz="1200" b="0" i="1" smtClean="0">
                                <a:latin typeface="Cambria Math" panose="02040503050406030204" pitchFamily="18" charset="0"/>
                                <a:ea typeface="幼圆" panose="02010509060101010101" pitchFamily="49" charset="-122"/>
                              </a:rPr>
                              <m:t>𝑧</m:t>
                            </m:r>
                          </m:sup>
                        </m:sSup>
                        <m:r>
                          <a:rPr lang="en-US" altLang="zh-CN" sz="1200" b="0" i="1" smtClean="0">
                            <a:latin typeface="Cambria Math" panose="02040503050406030204" pitchFamily="18" charset="0"/>
                            <a:ea typeface="幼圆" panose="02010509060101010101" pitchFamily="49" charset="-122"/>
                          </a:rPr>
                          <m:t>−</m:t>
                        </m:r>
                        <m:sSup>
                          <m:sSupPr>
                            <m:ctrlPr>
                              <a:rPr lang="en-US" altLang="zh-CN" sz="1200" b="0" i="1" smtClean="0">
                                <a:latin typeface="Cambria Math" panose="02040503050406030204" pitchFamily="18" charset="0"/>
                                <a:ea typeface="幼圆" panose="02010509060101010101" pitchFamily="49" charset="-122"/>
                              </a:rPr>
                            </m:ctrlPr>
                          </m:sSupPr>
                          <m:e>
                            <m:r>
                              <a:rPr lang="en-US" altLang="zh-CN" sz="1200" b="0" i="1" smtClean="0">
                                <a:latin typeface="Cambria Math" panose="02040503050406030204" pitchFamily="18" charset="0"/>
                                <a:ea typeface="幼圆" panose="02010509060101010101" pitchFamily="49" charset="-122"/>
                              </a:rPr>
                              <m:t>𝑒</m:t>
                            </m:r>
                          </m:e>
                          <m:sup>
                            <m:r>
                              <a:rPr lang="en-US" altLang="zh-CN" sz="1200" b="0" i="1" smtClean="0">
                                <a:latin typeface="Cambria Math" panose="02040503050406030204" pitchFamily="18" charset="0"/>
                                <a:ea typeface="幼圆" panose="02010509060101010101" pitchFamily="49" charset="-122"/>
                              </a:rPr>
                              <m:t>−</m:t>
                            </m:r>
                            <m:r>
                              <a:rPr lang="en-US" altLang="zh-CN" sz="1200" b="0" i="1" smtClean="0">
                                <a:latin typeface="Cambria Math" panose="02040503050406030204" pitchFamily="18" charset="0"/>
                                <a:ea typeface="幼圆" panose="02010509060101010101" pitchFamily="49" charset="-122"/>
                              </a:rPr>
                              <m:t>𝑧</m:t>
                            </m:r>
                          </m:sup>
                        </m:sSup>
                      </m:num>
                      <m:den>
                        <m:sSup>
                          <m:sSupPr>
                            <m:ctrlPr>
                              <a:rPr lang="en-US" altLang="zh-CN" sz="1200" b="0" i="1" smtClean="0">
                                <a:latin typeface="Cambria Math" panose="02040503050406030204" pitchFamily="18" charset="0"/>
                                <a:ea typeface="幼圆" panose="02010509060101010101" pitchFamily="49" charset="-122"/>
                              </a:rPr>
                            </m:ctrlPr>
                          </m:sSupPr>
                          <m:e>
                            <m:r>
                              <a:rPr lang="en-US" altLang="zh-CN" sz="1200" b="0" i="1" smtClean="0">
                                <a:latin typeface="Cambria Math" panose="02040503050406030204" pitchFamily="18" charset="0"/>
                                <a:ea typeface="幼圆" panose="02010509060101010101" pitchFamily="49" charset="-122"/>
                              </a:rPr>
                              <m:t>𝑒</m:t>
                            </m:r>
                          </m:e>
                          <m:sup>
                            <m:r>
                              <a:rPr lang="en-US" altLang="zh-CN" sz="1200" b="0" i="1" smtClean="0">
                                <a:latin typeface="Cambria Math" panose="02040503050406030204" pitchFamily="18" charset="0"/>
                                <a:ea typeface="幼圆" panose="02010509060101010101" pitchFamily="49" charset="-122"/>
                              </a:rPr>
                              <m:t>𝑧</m:t>
                            </m:r>
                          </m:sup>
                        </m:sSup>
                        <m:r>
                          <a:rPr lang="en-US" altLang="zh-CN" sz="1200" b="0" i="1" smtClean="0">
                            <a:latin typeface="Cambria Math" panose="02040503050406030204" pitchFamily="18" charset="0"/>
                            <a:ea typeface="幼圆" panose="02010509060101010101" pitchFamily="49" charset="-122"/>
                          </a:rPr>
                          <m:t>+</m:t>
                        </m:r>
                        <m:sSup>
                          <m:sSupPr>
                            <m:ctrlPr>
                              <a:rPr lang="en-US" altLang="zh-CN" sz="1200" b="0" i="1" smtClean="0">
                                <a:latin typeface="Cambria Math" panose="02040503050406030204" pitchFamily="18" charset="0"/>
                                <a:ea typeface="幼圆" panose="02010509060101010101" pitchFamily="49" charset="-122"/>
                              </a:rPr>
                            </m:ctrlPr>
                          </m:sSupPr>
                          <m:e>
                            <m:r>
                              <a:rPr lang="en-US" altLang="zh-CN" sz="1200" b="0" i="1" smtClean="0">
                                <a:latin typeface="Cambria Math" panose="02040503050406030204" pitchFamily="18" charset="0"/>
                                <a:ea typeface="幼圆" panose="02010509060101010101" pitchFamily="49" charset="-122"/>
                              </a:rPr>
                              <m:t>𝑒</m:t>
                            </m:r>
                          </m:e>
                          <m:sup>
                            <m:r>
                              <a:rPr lang="en-US" altLang="zh-CN" sz="1200" b="0" i="1" smtClean="0">
                                <a:latin typeface="Cambria Math" panose="02040503050406030204" pitchFamily="18" charset="0"/>
                                <a:ea typeface="幼圆" panose="02010509060101010101" pitchFamily="49" charset="-122"/>
                              </a:rPr>
                              <m:t>−</m:t>
                            </m:r>
                            <m:r>
                              <a:rPr lang="en-US" altLang="zh-CN" sz="1200" b="0" i="1" smtClean="0">
                                <a:latin typeface="Cambria Math" panose="02040503050406030204" pitchFamily="18" charset="0"/>
                                <a:ea typeface="幼圆" panose="02010509060101010101" pitchFamily="49" charset="-122"/>
                              </a:rPr>
                              <m:t>𝑧</m:t>
                            </m:r>
                          </m:sup>
                        </m:sSup>
                      </m:den>
                    </m:f>
                  </m:oMath>
                </a14:m>
                <a:r>
                  <a:rPr lang="zh-CN" altLang="en-US" sz="1200" b="0" dirty="0">
                    <a:latin typeface="幼圆" panose="02010509060101010101" pitchFamily="49" charset="-122"/>
                    <a:ea typeface="幼圆" panose="02010509060101010101" pitchFamily="49" charset="-122"/>
                  </a:rPr>
                  <a:t> </a:t>
                </a:r>
                <a:r>
                  <a:rPr lang="en-US" altLang="zh-CN" sz="1200" b="0">
                    <a:latin typeface="幼圆" panose="02010509060101010101" pitchFamily="49" charset="-122"/>
                    <a:ea typeface="幼圆" panose="02010509060101010101" pitchFamily="49" charset="-122"/>
                  </a:rPr>
                  <a:t>, </a:t>
                </a:r>
                <a:r>
                  <a:rPr lang="zh-CN" altLang="en-US" sz="1200" b="0">
                    <a:latin typeface="幼圆" panose="02010509060101010101" pitchFamily="49" charset="-122"/>
                    <a:ea typeface="幼圆" panose="02010509060101010101" pitchFamily="49" charset="-122"/>
                  </a:rPr>
                  <a:t>将</a:t>
                </a:r>
                <a:r>
                  <a:rPr lang="en-US" altLang="zh-CN" sz="1200" b="0">
                    <a:latin typeface="幼圆" panose="02010509060101010101" pitchFamily="49" charset="-122"/>
                    <a:ea typeface="幼圆" panose="02010509060101010101" pitchFamily="49" charset="-122"/>
                  </a:rPr>
                  <a:t>[-</a:t>
                </a:r>
                <a:r>
                  <a:rPr lang="en-US" altLang="zh-CN" sz="1200" b="0" dirty="0">
                    <a:latin typeface="Cambria Math" panose="02040503050406030204" pitchFamily="18" charset="0"/>
                    <a:ea typeface="Cambria Math" panose="02040503050406030204" pitchFamily="18" charset="0"/>
                  </a:rPr>
                  <a:t>∞</a:t>
                </a:r>
                <a:r>
                  <a:rPr lang="en-US" altLang="zh-CN" sz="1200" b="0">
                    <a:latin typeface="Cambria Math" panose="02040503050406030204" pitchFamily="18" charset="0"/>
                    <a:ea typeface="Cambria Math" panose="02040503050406030204" pitchFamily="18" charset="0"/>
                  </a:rPr>
                  <a:t>,+∞</a:t>
                </a:r>
                <a:r>
                  <a:rPr lang="en-US" altLang="zh-CN" sz="1200" b="0">
                    <a:latin typeface="幼圆" panose="02010509060101010101" pitchFamily="49" charset="-122"/>
                    <a:ea typeface="幼圆" panose="02010509060101010101" pitchFamily="49" charset="-122"/>
                  </a:rPr>
                  <a:t>]</a:t>
                </a:r>
                <a:r>
                  <a:rPr lang="zh-CN" altLang="en-US" sz="1200" b="0">
                    <a:latin typeface="幼圆" panose="02010509060101010101" pitchFamily="49" charset="-122"/>
                    <a:ea typeface="幼圆" panose="02010509060101010101" pitchFamily="49" charset="-122"/>
                  </a:rPr>
                  <a:t>范围</a:t>
                </a:r>
                <a:r>
                  <a:rPr lang="zh-CN" altLang="en-US" sz="1200" b="0" dirty="0">
                    <a:latin typeface="幼圆" panose="02010509060101010101" pitchFamily="49" charset="-122"/>
                    <a:ea typeface="幼圆" panose="02010509060101010101" pitchFamily="49" charset="-122"/>
                  </a:rPr>
                  <a:t>的值</a:t>
                </a:r>
                <a:r>
                  <a:rPr lang="zh-CN" altLang="en-US" sz="1200" b="0">
                    <a:latin typeface="幼圆" panose="02010509060101010101" pitchFamily="49" charset="-122"/>
                    <a:ea typeface="幼圆" panose="02010509060101010101" pitchFamily="49" charset="-122"/>
                  </a:rPr>
                  <a:t>映射到</a:t>
                </a:r>
                <a:r>
                  <a:rPr lang="en-US" altLang="zh-CN" sz="1200" b="0">
                    <a:latin typeface="幼圆" panose="02010509060101010101" pitchFamily="49" charset="-122"/>
                    <a:ea typeface="幼圆" panose="02010509060101010101" pitchFamily="49" charset="-122"/>
                  </a:rPr>
                  <a:t>[-1,1]</a:t>
                </a:r>
                <a:r>
                  <a:rPr lang="zh-CN" altLang="en-US" sz="1200" b="0">
                    <a:latin typeface="幼圆" panose="02010509060101010101" pitchFamily="49" charset="-122"/>
                    <a:ea typeface="幼圆" panose="02010509060101010101" pitchFamily="49" charset="-122"/>
                  </a:rPr>
                  <a:t>。</a:t>
                </a:r>
                <a:endParaRPr lang="en-US" altLang="zh-CN" sz="1200" b="0" dirty="0">
                  <a:latin typeface="幼圆" panose="02010509060101010101" pitchFamily="49" charset="-122"/>
                  <a:ea typeface="幼圆" panose="02010509060101010101" pitchFamily="49" charset="-122"/>
                </a:endParaRPr>
              </a:p>
              <a:p>
                <a:pPr marL="628650" lvl="1" indent="-171450">
                  <a:buFont typeface="Wingdings" panose="05000000000000000000" pitchFamily="2" charset="2"/>
                  <a:buChar char="p"/>
                </a:pPr>
                <a:r>
                  <a:rPr lang="en-US" altLang="zh-CN" sz="1200" b="0" dirty="0" err="1">
                    <a:latin typeface="幼圆" panose="02010509060101010101" pitchFamily="49" charset="-122"/>
                    <a:ea typeface="幼圆" panose="02010509060101010101" pitchFamily="49" charset="-122"/>
                  </a:rPr>
                  <a:t>Relu</a:t>
                </a:r>
                <a:r>
                  <a:rPr lang="en-US" altLang="zh-CN" sz="1200" b="0" dirty="0">
                    <a:latin typeface="幼圆" panose="02010509060101010101" pitchFamily="49" charset="-122"/>
                    <a:ea typeface="幼圆" panose="02010509060101010101" pitchFamily="49" charset="-122"/>
                  </a:rPr>
                  <a:t>(</a:t>
                </a:r>
                <a:r>
                  <a:rPr lang="en-US" altLang="zh-CN" sz="1200" b="0" dirty="0" err="1">
                    <a:latin typeface="幼圆" panose="02010509060101010101" pitchFamily="49" charset="-122"/>
                    <a:ea typeface="幼圆" panose="02010509060101010101" pitchFamily="49" charset="-122"/>
                  </a:rPr>
                  <a:t>Recitified</a:t>
                </a:r>
                <a:r>
                  <a:rPr lang="en-US" altLang="zh-CN" sz="1200" b="0" dirty="0">
                    <a:latin typeface="幼圆" panose="02010509060101010101" pitchFamily="49" charset="-122"/>
                    <a:ea typeface="幼圆" panose="02010509060101010101" pitchFamily="49" charset="-122"/>
                  </a:rPr>
                  <a:t> Linear</a:t>
                </a:r>
                <a:r>
                  <a:rPr lang="en-US" altLang="zh-CN" sz="1200" b="0" baseline="0" dirty="0">
                    <a:latin typeface="幼圆" panose="02010509060101010101" pitchFamily="49" charset="-122"/>
                    <a:ea typeface="幼圆" panose="02010509060101010101" pitchFamily="49" charset="-122"/>
                  </a:rPr>
                  <a:t> Unit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线性整流函数 </a:t>
                </a:r>
                <a14:m>
                  <m:oMath xmlns:m="http://schemas.openxmlformats.org/officeDocument/2006/math">
                    <m:r>
                      <m:rPr>
                        <m:sty m:val="p"/>
                      </m:rPr>
                      <a:rPr lang="en-US" altLang="zh-CN" sz="1200" b="0" i="0" smtClean="0">
                        <a:latin typeface="Cambria Math" panose="02040503050406030204" pitchFamily="18" charset="0"/>
                        <a:ea typeface="Cambria" panose="02040503050406030204" pitchFamily="18" charset="0"/>
                      </a:rPr>
                      <m:t>g</m:t>
                    </m:r>
                    <m:d>
                      <m:dPr>
                        <m:ctrlPr>
                          <a:rPr lang="en-US" altLang="zh-CN" sz="1200" b="0" i="1" smtClean="0">
                            <a:latin typeface="Cambria Math" panose="02040503050406030204" pitchFamily="18" charset="0"/>
                            <a:ea typeface="幼圆" panose="02010509060101010101" pitchFamily="49" charset="-122"/>
                          </a:rPr>
                        </m:ctrlPr>
                      </m:dPr>
                      <m:e>
                        <m:r>
                          <a:rPr lang="en-US" altLang="zh-CN" sz="1200" b="0" i="1" smtClean="0">
                            <a:latin typeface="Cambria Math" panose="02040503050406030204" pitchFamily="18" charset="0"/>
                            <a:ea typeface="幼圆" panose="02010509060101010101" pitchFamily="49" charset="-122"/>
                          </a:rPr>
                          <m:t>𝑧</m:t>
                        </m:r>
                      </m:e>
                    </m:d>
                    <m:r>
                      <a:rPr lang="en-US" altLang="zh-CN" sz="1200" b="0" i="1" smtClean="0">
                        <a:latin typeface="Cambria Math" panose="02040503050406030204" pitchFamily="18" charset="0"/>
                        <a:ea typeface="幼圆" panose="02010509060101010101" pitchFamily="49" charset="-122"/>
                      </a:rPr>
                      <m:t>=</m:t>
                    </m:r>
                  </m:oMath>
                </a14:m>
                <a:r>
                  <a:rPr lang="en-US" altLang="zh-CN" dirty="0">
                    <a:effectLst/>
                  </a:rPr>
                  <a:t>max(0, z) </a:t>
                </a:r>
                <a:endParaRPr lang="en-US" altLang="zh-CN" sz="1200" b="0" dirty="0">
                  <a:latin typeface="幼圆" panose="02010509060101010101" pitchFamily="49" charset="-122"/>
                  <a:ea typeface="幼圆" panose="02010509060101010101" pitchFamily="49" charset="-122"/>
                </a:endParaRPr>
              </a:p>
              <a:p>
                <a:pPr marL="457200" lvl="1" indent="0">
                  <a:buFont typeface="Wingdings" panose="05000000000000000000" pitchFamily="2" charset="2"/>
                  <a:buNone/>
                </a:pPr>
                <a:endParaRPr lang="en-US" altLang="zh-CN" sz="1200" b="0" dirty="0">
                  <a:latin typeface="幼圆" panose="02010509060101010101" pitchFamily="49" charset="-122"/>
                  <a:ea typeface="幼圆" panose="02010509060101010101" pitchFamily="49" charset="-122"/>
                </a:endParaRPr>
              </a:p>
              <a:p>
                <a:endParaRPr lang="zh-CN" altLang="en-US" dirty="0"/>
              </a:p>
            </p:txBody>
          </p:sp>
        </mc:Choice>
        <mc:Fallback xmlns="">
          <p:sp>
            <p:nvSpPr>
              <p:cNvPr id="3" name="备注占位符 2"/>
              <p:cNvSpPr>
                <a:spLocks noGrp="1"/>
              </p:cNvSpPr>
              <p:nvPr>
                <p:ph type="body" idx="1"/>
              </p:nvPr>
            </p:nvSpPr>
            <p:spPr/>
            <p:txBody>
              <a:bodyPr/>
              <a:lstStyle/>
              <a:p>
                <a:pPr marL="0" indent="0">
                  <a:buFont typeface="Wingdings" panose="05000000000000000000" pitchFamily="2" charset="2"/>
                  <a:buNone/>
                </a:pPr>
                <a:r>
                  <a:rPr lang="en-US" altLang="zh-CN" sz="1200" b="0" dirty="0">
                    <a:latin typeface="幼圆" panose="02010509060101010101" pitchFamily="49" charset="-122"/>
                    <a:ea typeface="幼圆" panose="02010509060101010101" pitchFamily="49" charset="-122"/>
                  </a:rPr>
                  <a:t>1. </a:t>
                </a:r>
                <a:r>
                  <a:rPr lang="zh-CN" altLang="en-US" sz="1200" b="0" dirty="0">
                    <a:latin typeface="幼圆" panose="02010509060101010101" pitchFamily="49" charset="-122"/>
                    <a:ea typeface="幼圆" panose="02010509060101010101" pitchFamily="49" charset="-122"/>
                  </a:rPr>
                  <a:t>理想激活函数是阶跃函数</a:t>
                </a:r>
                <a:r>
                  <a:rPr lang="en-US" altLang="zh-CN" sz="1200" b="0" dirty="0">
                    <a:latin typeface="幼圆" panose="02010509060101010101" pitchFamily="49" charset="-122"/>
                    <a:ea typeface="幼圆" panose="02010509060101010101" pitchFamily="49" charset="-122"/>
                  </a:rPr>
                  <a:t>, 0</a:t>
                </a:r>
                <a:r>
                  <a:rPr lang="zh-CN" altLang="en-US" sz="1200" b="0" dirty="0">
                    <a:latin typeface="幼圆" panose="02010509060101010101" pitchFamily="49" charset="-122"/>
                    <a:ea typeface="幼圆" panose="02010509060101010101" pitchFamily="49" charset="-122"/>
                  </a:rPr>
                  <a:t>表示抑制神经元而</a:t>
                </a:r>
                <a:r>
                  <a:rPr lang="en-US" altLang="zh-CN" sz="1200" b="0" dirty="0">
                    <a:latin typeface="幼圆" panose="02010509060101010101" pitchFamily="49" charset="-122"/>
                    <a:ea typeface="幼圆" panose="02010509060101010101" pitchFamily="49" charset="-122"/>
                  </a:rPr>
                  <a:t>1</a:t>
                </a:r>
                <a:r>
                  <a:rPr lang="zh-CN" altLang="en-US" sz="1200" b="0" dirty="0">
                    <a:latin typeface="幼圆" panose="02010509060101010101" pitchFamily="49" charset="-122"/>
                    <a:ea typeface="幼圆" panose="02010509060101010101" pitchFamily="49" charset="-122"/>
                  </a:rPr>
                  <a:t>表示激活神经元</a:t>
                </a:r>
                <a:endParaRPr lang="en-US" altLang="zh-CN" sz="1200" b="0" dirty="0">
                  <a:latin typeface="幼圆" panose="02010509060101010101" pitchFamily="49" charset="-122"/>
                  <a:ea typeface="幼圆" panose="02010509060101010101" pitchFamily="49" charset="-122"/>
                </a:endParaRPr>
              </a:p>
              <a:p>
                <a:pPr marL="0" indent="0">
                  <a:buFont typeface="Wingdings" panose="05000000000000000000" pitchFamily="2" charset="2"/>
                  <a:buNone/>
                </a:pPr>
                <a:r>
                  <a:rPr lang="en-US" altLang="zh-CN" sz="1200" b="0" dirty="0">
                    <a:latin typeface="幼圆" panose="02010509060101010101" pitchFamily="49" charset="-122"/>
                    <a:ea typeface="幼圆" panose="02010509060101010101" pitchFamily="49" charset="-122"/>
                  </a:rPr>
                  <a:t>2. </a:t>
                </a:r>
                <a:r>
                  <a:rPr lang="zh-CN" altLang="en-US" sz="1200" b="0" dirty="0">
                    <a:latin typeface="幼圆" panose="02010509060101010101" pitchFamily="49" charset="-122"/>
                    <a:ea typeface="幼圆" panose="02010509060101010101" pitchFamily="49" charset="-122"/>
                  </a:rPr>
                  <a:t>阶跃函数具有不连续、不光滑，数学特性不好</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常用的是 </a:t>
                </a:r>
                <a:r>
                  <a:rPr lang="en-US" altLang="zh-CN" sz="1200" b="0" dirty="0">
                    <a:latin typeface="幼圆" panose="02010509060101010101" pitchFamily="49" charset="-122"/>
                    <a:ea typeface="幼圆" panose="02010509060101010101" pitchFamily="49" charset="-122"/>
                  </a:rPr>
                  <a:t>Sigmoid </a:t>
                </a:r>
                <a:r>
                  <a:rPr lang="zh-CN" altLang="en-US" sz="1200" b="0" dirty="0">
                    <a:latin typeface="幼圆" panose="02010509060101010101" pitchFamily="49" charset="-122"/>
                    <a:ea typeface="幼圆" panose="02010509060101010101" pitchFamily="49" charset="-122"/>
                  </a:rPr>
                  <a:t>函数和</a:t>
                </a:r>
                <a:r>
                  <a:rPr lang="en-US" altLang="zh-CN" sz="1200" b="0" dirty="0">
                    <a:latin typeface="幼圆" panose="02010509060101010101" pitchFamily="49" charset="-122"/>
                    <a:ea typeface="幼圆" panose="02010509060101010101" pitchFamily="49" charset="-122"/>
                  </a:rPr>
                  <a:t>tanh</a:t>
                </a:r>
                <a:r>
                  <a:rPr lang="zh-CN" altLang="en-US" sz="1200" b="0" dirty="0">
                    <a:latin typeface="幼圆" panose="02010509060101010101" pitchFamily="49" charset="-122"/>
                    <a:ea typeface="幼圆" panose="02010509060101010101" pitchFamily="49" charset="-122"/>
                  </a:rPr>
                  <a:t>（双曲正切）等具有较好数学特性的函数。</a:t>
                </a:r>
                <a:endParaRPr lang="en-US" altLang="zh-CN" sz="1200" b="0" dirty="0">
                  <a:latin typeface="幼圆" panose="02010509060101010101" pitchFamily="49" charset="-122"/>
                  <a:ea typeface="幼圆" panose="02010509060101010101" pitchFamily="49" charset="-122"/>
                </a:endParaRPr>
              </a:p>
              <a:p>
                <a:pPr marL="628650" lvl="1" indent="-171450">
                  <a:buFont typeface="Wingdings" panose="05000000000000000000" pitchFamily="2" charset="2"/>
                  <a:buChar char="p"/>
                </a:pPr>
                <a:r>
                  <a:rPr lang="en-US" altLang="zh-CN" sz="1200" b="0" dirty="0">
                    <a:latin typeface="幼圆" panose="02010509060101010101" pitchFamily="49" charset="-122"/>
                    <a:ea typeface="幼圆" panose="02010509060101010101" pitchFamily="49" charset="-122"/>
                  </a:rPr>
                  <a:t>Sigmoid</a:t>
                </a:r>
                <a:r>
                  <a:rPr lang="zh-CN" altLang="en-US" sz="1200" b="0" dirty="0">
                    <a:latin typeface="幼圆" panose="02010509060101010101" pitchFamily="49" charset="-122"/>
                    <a:ea typeface="幼圆" panose="02010509060101010101" pitchFamily="49" charset="-122"/>
                  </a:rPr>
                  <a:t>函数</a:t>
                </a:r>
                <a:r>
                  <a:rPr lang="en-US" altLang="zh-CN" sz="1200" b="0" i="0">
                    <a:latin typeface="Cambria Math" panose="02040503050406030204" pitchFamily="18" charset="0"/>
                    <a:ea typeface="Cambria" panose="02040503050406030204" pitchFamily="18" charset="0"/>
                  </a:rPr>
                  <a:t>g</a:t>
                </a:r>
                <a:r>
                  <a:rPr lang="en-US" altLang="zh-CN" sz="1200" b="0" i="0">
                    <a:latin typeface="Cambria Math" panose="02040503050406030204" pitchFamily="18" charset="0"/>
                    <a:ea typeface="幼圆" panose="02010509060101010101" pitchFamily="49" charset="-122"/>
                  </a:rPr>
                  <a:t>(𝑧)=1/(1+𝑒^(−𝑧) )</a:t>
                </a:r>
                <a:r>
                  <a:rPr lang="zh-CN" altLang="en-US" sz="1200" b="0" dirty="0">
                    <a:latin typeface="幼圆" panose="02010509060101010101" pitchFamily="49" charset="-122"/>
                    <a:ea typeface="幼圆" panose="02010509060101010101" pitchFamily="49" charset="-122"/>
                  </a:rPr>
                  <a:t> </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将</a:t>
                </a:r>
                <a:r>
                  <a:rPr lang="en-US" altLang="zh-CN" sz="1200" b="0" dirty="0">
                    <a:latin typeface="幼圆" panose="02010509060101010101" pitchFamily="49" charset="-122"/>
                    <a:ea typeface="幼圆" panose="02010509060101010101" pitchFamily="49" charset="-122"/>
                  </a:rPr>
                  <a:t>[-</a:t>
                </a:r>
                <a:r>
                  <a:rPr lang="en-US" altLang="zh-CN" sz="1200" b="0" dirty="0">
                    <a:latin typeface="Cambria Math" panose="02040503050406030204" pitchFamily="18" charset="0"/>
                    <a:ea typeface="Cambria Math" panose="02040503050406030204" pitchFamily="18" charset="0"/>
                  </a:rPr>
                  <a: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范围的值映射到</a:t>
                </a:r>
                <a:r>
                  <a:rPr lang="en-US" altLang="zh-CN" sz="1200" b="0" dirty="0">
                    <a:latin typeface="幼圆" panose="02010509060101010101" pitchFamily="49" charset="-122"/>
                    <a:ea typeface="幼圆" panose="02010509060101010101" pitchFamily="49" charset="-122"/>
                  </a:rPr>
                  <a:t>[0,1];</a:t>
                </a:r>
              </a:p>
              <a:p>
                <a:pPr marL="628650" lvl="1" indent="-171450">
                  <a:buFont typeface="Wingdings" panose="05000000000000000000" pitchFamily="2" charset="2"/>
                  <a:buChar char="p"/>
                </a:pPr>
                <a:r>
                  <a:rPr lang="en-US" altLang="zh-CN" sz="1200" b="0" baseline="0" dirty="0" err="1">
                    <a:latin typeface="幼圆" panose="02010509060101010101" pitchFamily="49" charset="-122"/>
                    <a:ea typeface="幼圆" panose="02010509060101010101" pitchFamily="49" charset="-122"/>
                  </a:rPr>
                  <a:t>tanh</a:t>
                </a:r>
                <a:r>
                  <a:rPr lang="zh-CN" altLang="en-US" sz="1200" b="0" baseline="0" dirty="0">
                    <a:latin typeface="幼圆" panose="02010509060101010101" pitchFamily="49" charset="-122"/>
                    <a:ea typeface="幼圆" panose="02010509060101010101" pitchFamily="49" charset="-122"/>
                  </a:rPr>
                  <a:t>函数</a:t>
                </a:r>
                <a:r>
                  <a:rPr lang="en-US" altLang="zh-CN" sz="1200" b="0" i="0">
                    <a:latin typeface="Cambria Math" panose="02040503050406030204" pitchFamily="18" charset="0"/>
                    <a:ea typeface="Cambria" panose="02040503050406030204" pitchFamily="18" charset="0"/>
                  </a:rPr>
                  <a:t>g</a:t>
                </a:r>
                <a:r>
                  <a:rPr lang="en-US" altLang="zh-CN" sz="1200" b="0" i="0">
                    <a:latin typeface="Cambria Math" panose="02040503050406030204" pitchFamily="18" charset="0"/>
                    <a:ea typeface="幼圆" panose="02010509060101010101" pitchFamily="49" charset="-122"/>
                  </a:rPr>
                  <a:t>(𝑧)=(𝑒^𝑧−𝑒^(−𝑧))/(𝑒^𝑧+𝑒^(−𝑧) )</a:t>
                </a:r>
                <a:r>
                  <a:rPr lang="zh-CN" altLang="en-US" sz="1200" b="0" dirty="0">
                    <a:latin typeface="幼圆" panose="02010509060101010101" pitchFamily="49" charset="-122"/>
                    <a:ea typeface="幼圆" panose="02010509060101010101" pitchFamily="49" charset="-122"/>
                  </a:rPr>
                  <a:t> </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将</a:t>
                </a:r>
                <a:r>
                  <a:rPr lang="en-US" altLang="zh-CN" sz="1200" b="0" dirty="0">
                    <a:latin typeface="幼圆" panose="02010509060101010101" pitchFamily="49" charset="-122"/>
                    <a:ea typeface="幼圆" panose="02010509060101010101" pitchFamily="49" charset="-122"/>
                  </a:rPr>
                  <a:t>[-</a:t>
                </a:r>
                <a:r>
                  <a:rPr lang="en-US" altLang="zh-CN" sz="1200" b="0" dirty="0">
                    <a:latin typeface="Cambria Math" panose="02040503050406030204" pitchFamily="18" charset="0"/>
                    <a:ea typeface="Cambria Math" panose="02040503050406030204" pitchFamily="18" charset="0"/>
                  </a:rPr>
                  <a: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范围的值映射到</a:t>
                </a:r>
                <a:r>
                  <a:rPr lang="en-US" altLang="zh-CN" sz="1200" b="0" dirty="0">
                    <a:latin typeface="幼圆" panose="02010509060101010101" pitchFamily="49" charset="-122"/>
                    <a:ea typeface="幼圆" panose="02010509060101010101" pitchFamily="49" charset="-122"/>
                  </a:rPr>
                  <a:t>[-1,1]</a:t>
                </a:r>
                <a:r>
                  <a:rPr lang="zh-CN" altLang="en-US" sz="1200" b="0" dirty="0">
                    <a:latin typeface="幼圆" panose="02010509060101010101" pitchFamily="49" charset="-122"/>
                    <a:ea typeface="幼圆" panose="02010509060101010101" pitchFamily="49" charset="-122"/>
                  </a:rPr>
                  <a:t>。</a:t>
                </a:r>
                <a:endParaRPr lang="en-US" altLang="zh-CN" sz="1200" b="0" dirty="0">
                  <a:latin typeface="幼圆" panose="02010509060101010101" pitchFamily="49" charset="-122"/>
                  <a:ea typeface="幼圆" panose="02010509060101010101" pitchFamily="49" charset="-122"/>
                </a:endParaRPr>
              </a:p>
              <a:p>
                <a:pPr marL="628650" lvl="1" indent="-171450">
                  <a:buFont typeface="Wingdings" panose="05000000000000000000" pitchFamily="2" charset="2"/>
                  <a:buChar char="p"/>
                </a:pPr>
                <a:r>
                  <a:rPr lang="en-US" altLang="zh-CN" sz="1200" b="0" dirty="0" err="1">
                    <a:latin typeface="幼圆" panose="02010509060101010101" pitchFamily="49" charset="-122"/>
                    <a:ea typeface="幼圆" panose="02010509060101010101" pitchFamily="49" charset="-122"/>
                  </a:rPr>
                  <a:t>Relu</a:t>
                </a:r>
                <a:r>
                  <a:rPr lang="en-US" altLang="zh-CN" sz="1200" b="0" dirty="0">
                    <a:latin typeface="幼圆" panose="02010509060101010101" pitchFamily="49" charset="-122"/>
                    <a:ea typeface="幼圆" panose="02010509060101010101" pitchFamily="49" charset="-122"/>
                  </a:rPr>
                  <a:t>(</a:t>
                </a:r>
                <a:r>
                  <a:rPr lang="en-US" altLang="zh-CN" sz="1200" b="0" dirty="0" err="1">
                    <a:latin typeface="幼圆" panose="02010509060101010101" pitchFamily="49" charset="-122"/>
                    <a:ea typeface="幼圆" panose="02010509060101010101" pitchFamily="49" charset="-122"/>
                  </a:rPr>
                  <a:t>Recitified</a:t>
                </a:r>
                <a:r>
                  <a:rPr lang="en-US" altLang="zh-CN" sz="1200" b="0" dirty="0">
                    <a:latin typeface="幼圆" panose="02010509060101010101" pitchFamily="49" charset="-122"/>
                    <a:ea typeface="幼圆" panose="02010509060101010101" pitchFamily="49" charset="-122"/>
                  </a:rPr>
                  <a:t> Linear</a:t>
                </a:r>
                <a:r>
                  <a:rPr lang="en-US" altLang="zh-CN" sz="1200" b="0" baseline="0" dirty="0">
                    <a:latin typeface="幼圆" panose="02010509060101010101" pitchFamily="49" charset="-122"/>
                    <a:ea typeface="幼圆" panose="02010509060101010101" pitchFamily="49" charset="-122"/>
                  </a:rPr>
                  <a:t> Unit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线性整流函数 </a:t>
                </a:r>
                <a:r>
                  <a:rPr lang="en-US" altLang="zh-CN" sz="1200" b="0" i="0">
                    <a:latin typeface="Cambria Math" panose="02040503050406030204" pitchFamily="18" charset="0"/>
                    <a:ea typeface="Cambria" panose="02040503050406030204" pitchFamily="18" charset="0"/>
                  </a:rPr>
                  <a:t>g</a:t>
                </a:r>
                <a:r>
                  <a:rPr lang="en-US" altLang="zh-CN" sz="1200" b="0" i="0">
                    <a:latin typeface="Cambria Math" panose="02040503050406030204" pitchFamily="18" charset="0"/>
                    <a:ea typeface="幼圆" panose="02010509060101010101" pitchFamily="49" charset="-122"/>
                  </a:rPr>
                  <a:t>(𝑧)=</a:t>
                </a:r>
                <a:r>
                  <a:rPr lang="en-US" altLang="zh-CN" dirty="0">
                    <a:effectLst/>
                  </a:rPr>
                  <a:t>max(0, z) </a:t>
                </a:r>
                <a:endParaRPr lang="en-US" altLang="zh-CN" sz="1200" b="0" dirty="0">
                  <a:latin typeface="幼圆" panose="02010509060101010101" pitchFamily="49" charset="-122"/>
                  <a:ea typeface="幼圆" panose="02010509060101010101" pitchFamily="49" charset="-122"/>
                </a:endParaRPr>
              </a:p>
              <a:p>
                <a:pPr marL="457200" lvl="1" indent="0">
                  <a:buFont typeface="Wingdings" panose="05000000000000000000" pitchFamily="2" charset="2"/>
                  <a:buNone/>
                </a:pPr>
                <a:endParaRPr lang="en-US" altLang="zh-CN" sz="1200" b="0" dirty="0">
                  <a:latin typeface="幼圆" panose="02010509060101010101" pitchFamily="49" charset="-122"/>
                  <a:ea typeface="幼圆" panose="02010509060101010101" pitchFamily="49" charset="-122"/>
                </a:endParaRPr>
              </a:p>
              <a:p>
                <a:endParaRPr lang="zh-CN" altLang="en-US" dirty="0"/>
              </a:p>
            </p:txBody>
          </p:sp>
        </mc:Fallback>
      </mc:AlternateContent>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66</a:t>
            </a:fld>
            <a:endParaRPr lang="zh-CN" altLang="en-US"/>
          </a:p>
        </p:txBody>
      </p:sp>
    </p:spTree>
    <p:extLst>
      <p:ext uri="{BB962C8B-B14F-4D97-AF65-F5344CB8AC3E}">
        <p14:creationId xmlns:p14="http://schemas.microsoft.com/office/powerpoint/2010/main" val="10822787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indent="0">
                  <a:buFont typeface="Wingdings" panose="05000000000000000000" pitchFamily="2" charset="2"/>
                  <a:buNone/>
                </a:pPr>
                <a:r>
                  <a:rPr lang="en-US" altLang="zh-CN" sz="1200" b="0" dirty="0">
                    <a:latin typeface="幼圆" panose="02010509060101010101" pitchFamily="49" charset="-122"/>
                    <a:ea typeface="幼圆" panose="02010509060101010101" pitchFamily="49" charset="-122"/>
                  </a:rPr>
                  <a:t>1. </a:t>
                </a:r>
                <a:r>
                  <a:rPr lang="zh-CN" altLang="en-US" sz="1200" b="0" dirty="0">
                    <a:latin typeface="幼圆" panose="02010509060101010101" pitchFamily="49" charset="-122"/>
                    <a:ea typeface="幼圆" panose="02010509060101010101" pitchFamily="49" charset="-122"/>
                  </a:rPr>
                  <a:t>理想激活函数是阶跃函数</a:t>
                </a:r>
                <a:r>
                  <a:rPr lang="en-US" altLang="zh-CN" sz="1200" b="0" dirty="0">
                    <a:latin typeface="幼圆" panose="02010509060101010101" pitchFamily="49" charset="-122"/>
                    <a:ea typeface="幼圆" panose="02010509060101010101" pitchFamily="49" charset="-122"/>
                  </a:rPr>
                  <a:t>, 0</a:t>
                </a:r>
                <a:r>
                  <a:rPr lang="zh-CN" altLang="en-US" sz="1200" b="0" dirty="0">
                    <a:latin typeface="幼圆" panose="02010509060101010101" pitchFamily="49" charset="-122"/>
                    <a:ea typeface="幼圆" panose="02010509060101010101" pitchFamily="49" charset="-122"/>
                  </a:rPr>
                  <a:t>表示抑制神经元而</a:t>
                </a:r>
                <a:r>
                  <a:rPr lang="en-US" altLang="zh-CN" sz="1200" b="0" dirty="0">
                    <a:latin typeface="幼圆" panose="02010509060101010101" pitchFamily="49" charset="-122"/>
                    <a:ea typeface="幼圆" panose="02010509060101010101" pitchFamily="49" charset="-122"/>
                  </a:rPr>
                  <a:t>1</a:t>
                </a:r>
                <a:r>
                  <a:rPr lang="zh-CN" altLang="en-US" sz="1200" b="0" dirty="0">
                    <a:latin typeface="幼圆" panose="02010509060101010101" pitchFamily="49" charset="-122"/>
                    <a:ea typeface="幼圆" panose="02010509060101010101" pitchFamily="49" charset="-122"/>
                  </a:rPr>
                  <a:t>表示激活神经元</a:t>
                </a:r>
                <a:endParaRPr lang="en-US" altLang="zh-CN" sz="1200" b="0" dirty="0">
                  <a:latin typeface="幼圆" panose="02010509060101010101" pitchFamily="49" charset="-122"/>
                  <a:ea typeface="幼圆" panose="02010509060101010101" pitchFamily="49" charset="-122"/>
                </a:endParaRPr>
              </a:p>
              <a:p>
                <a:pPr marL="0" indent="0">
                  <a:buFont typeface="Wingdings" panose="05000000000000000000" pitchFamily="2" charset="2"/>
                  <a:buNone/>
                </a:pPr>
                <a:r>
                  <a:rPr lang="en-US" altLang="zh-CN" sz="1200" b="0" dirty="0">
                    <a:latin typeface="幼圆" panose="02010509060101010101" pitchFamily="49" charset="-122"/>
                    <a:ea typeface="幼圆" panose="02010509060101010101" pitchFamily="49" charset="-122"/>
                  </a:rPr>
                  <a:t>2. </a:t>
                </a:r>
                <a:r>
                  <a:rPr lang="zh-CN" altLang="en-US" sz="1200" b="0" dirty="0">
                    <a:latin typeface="幼圆" panose="02010509060101010101" pitchFamily="49" charset="-122"/>
                    <a:ea typeface="幼圆" panose="02010509060101010101" pitchFamily="49" charset="-122"/>
                  </a:rPr>
                  <a:t>阶跃函数具有不连续、不光滑，数学特性不好</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常用的是 </a:t>
                </a:r>
                <a:r>
                  <a:rPr lang="en-US" altLang="zh-CN" sz="1200" b="0" dirty="0">
                    <a:latin typeface="幼圆" panose="02010509060101010101" pitchFamily="49" charset="-122"/>
                    <a:ea typeface="幼圆" panose="02010509060101010101" pitchFamily="49" charset="-122"/>
                  </a:rPr>
                  <a:t>Sigmoid </a:t>
                </a:r>
                <a:r>
                  <a:rPr lang="zh-CN" altLang="en-US" sz="1200" b="0" dirty="0">
                    <a:latin typeface="幼圆" panose="02010509060101010101" pitchFamily="49" charset="-122"/>
                    <a:ea typeface="幼圆" panose="02010509060101010101" pitchFamily="49" charset="-122"/>
                  </a:rPr>
                  <a:t>函数和</a:t>
                </a:r>
                <a:r>
                  <a:rPr lang="en-US" altLang="zh-CN" sz="1200" b="0" dirty="0">
                    <a:latin typeface="幼圆" panose="02010509060101010101" pitchFamily="49" charset="-122"/>
                    <a:ea typeface="幼圆" panose="02010509060101010101" pitchFamily="49" charset="-122"/>
                  </a:rPr>
                  <a:t>tanh</a:t>
                </a:r>
                <a:r>
                  <a:rPr lang="zh-CN" altLang="en-US" sz="1200" b="0" dirty="0">
                    <a:latin typeface="幼圆" panose="02010509060101010101" pitchFamily="49" charset="-122"/>
                    <a:ea typeface="幼圆" panose="02010509060101010101" pitchFamily="49" charset="-122"/>
                  </a:rPr>
                  <a:t>（双曲正切）等具有较好数学特性的函数。</a:t>
                </a:r>
                <a:endParaRPr lang="en-US" altLang="zh-CN" sz="1200" b="0" dirty="0">
                  <a:latin typeface="幼圆" panose="02010509060101010101" pitchFamily="49" charset="-122"/>
                  <a:ea typeface="幼圆" panose="02010509060101010101" pitchFamily="49" charset="-122"/>
                </a:endParaRPr>
              </a:p>
              <a:p>
                <a:pPr marL="628650" lvl="1" indent="-171450">
                  <a:buFont typeface="Wingdings" panose="05000000000000000000" pitchFamily="2" charset="2"/>
                  <a:buChar char="p"/>
                </a:pPr>
                <a:r>
                  <a:rPr lang="en-US" altLang="zh-CN" sz="1200" b="0" dirty="0">
                    <a:latin typeface="幼圆" panose="02010509060101010101" pitchFamily="49" charset="-122"/>
                    <a:ea typeface="幼圆" panose="02010509060101010101" pitchFamily="49" charset="-122"/>
                  </a:rPr>
                  <a:t>Sigmoid</a:t>
                </a:r>
                <a:r>
                  <a:rPr lang="zh-CN" altLang="en-US" sz="1200" b="0" dirty="0">
                    <a:latin typeface="幼圆" panose="02010509060101010101" pitchFamily="49" charset="-122"/>
                    <a:ea typeface="幼圆" panose="02010509060101010101" pitchFamily="49" charset="-122"/>
                  </a:rPr>
                  <a:t>函数</a:t>
                </a:r>
                <a14:m>
                  <m:oMath xmlns:m="http://schemas.openxmlformats.org/officeDocument/2006/math">
                    <m:r>
                      <m:rPr>
                        <m:sty m:val="p"/>
                      </m:rPr>
                      <a:rPr lang="en-US" altLang="zh-CN" sz="1200" b="0" i="0" smtClean="0">
                        <a:latin typeface="Cambria Math" panose="02040503050406030204" pitchFamily="18" charset="0"/>
                        <a:ea typeface="Cambria" panose="02040503050406030204" pitchFamily="18" charset="0"/>
                      </a:rPr>
                      <m:t>g</m:t>
                    </m:r>
                    <m:d>
                      <m:dPr>
                        <m:ctrlPr>
                          <a:rPr lang="en-US" altLang="zh-CN" sz="1200" b="0" i="1" smtClean="0">
                            <a:latin typeface="Cambria Math" panose="02040503050406030204" pitchFamily="18" charset="0"/>
                            <a:ea typeface="幼圆" panose="02010509060101010101" pitchFamily="49" charset="-122"/>
                          </a:rPr>
                        </m:ctrlPr>
                      </m:dPr>
                      <m:e>
                        <m:r>
                          <a:rPr lang="en-US" altLang="zh-CN" sz="1200" b="0" i="1" smtClean="0">
                            <a:latin typeface="Cambria Math" panose="02040503050406030204" pitchFamily="18" charset="0"/>
                            <a:ea typeface="幼圆" panose="02010509060101010101" pitchFamily="49" charset="-122"/>
                          </a:rPr>
                          <m:t>𝑧</m:t>
                        </m:r>
                      </m:e>
                    </m:d>
                    <m:r>
                      <a:rPr lang="en-US" altLang="zh-CN" sz="1200" b="0" i="1" smtClean="0">
                        <a:latin typeface="Cambria Math" panose="02040503050406030204" pitchFamily="18" charset="0"/>
                        <a:ea typeface="幼圆" panose="02010509060101010101" pitchFamily="49" charset="-122"/>
                      </a:rPr>
                      <m:t>=</m:t>
                    </m:r>
                    <m:f>
                      <m:fPr>
                        <m:ctrlPr>
                          <a:rPr lang="en-US" altLang="zh-CN" sz="1200" b="0" i="1" smtClean="0">
                            <a:latin typeface="Cambria Math" panose="02040503050406030204" pitchFamily="18" charset="0"/>
                            <a:ea typeface="幼圆" panose="02010509060101010101" pitchFamily="49" charset="-122"/>
                          </a:rPr>
                        </m:ctrlPr>
                      </m:fPr>
                      <m:num>
                        <m:r>
                          <a:rPr lang="en-US" altLang="zh-CN" sz="1200" b="0" i="1" smtClean="0">
                            <a:latin typeface="Cambria Math" panose="02040503050406030204" pitchFamily="18" charset="0"/>
                            <a:ea typeface="幼圆" panose="02010509060101010101" pitchFamily="49" charset="-122"/>
                          </a:rPr>
                          <m:t>1</m:t>
                        </m:r>
                      </m:num>
                      <m:den>
                        <m:r>
                          <a:rPr lang="en-US" altLang="zh-CN" sz="1200" b="0" i="1" smtClean="0">
                            <a:latin typeface="Cambria Math" panose="02040503050406030204" pitchFamily="18" charset="0"/>
                            <a:ea typeface="幼圆" panose="02010509060101010101" pitchFamily="49" charset="-122"/>
                          </a:rPr>
                          <m:t>1+</m:t>
                        </m:r>
                        <m:sSup>
                          <m:sSupPr>
                            <m:ctrlPr>
                              <a:rPr lang="en-US" altLang="zh-CN" sz="1200" b="0" i="1" smtClean="0">
                                <a:latin typeface="Cambria Math" panose="02040503050406030204" pitchFamily="18" charset="0"/>
                                <a:ea typeface="幼圆" panose="02010509060101010101" pitchFamily="49" charset="-122"/>
                              </a:rPr>
                            </m:ctrlPr>
                          </m:sSupPr>
                          <m:e>
                            <m:r>
                              <a:rPr lang="en-US" altLang="zh-CN" sz="1200" b="0" i="1" smtClean="0">
                                <a:latin typeface="Cambria Math" panose="02040503050406030204" pitchFamily="18" charset="0"/>
                                <a:ea typeface="幼圆" panose="02010509060101010101" pitchFamily="49" charset="-122"/>
                              </a:rPr>
                              <m:t>𝑒</m:t>
                            </m:r>
                          </m:e>
                          <m:sup>
                            <m:r>
                              <a:rPr lang="en-US" altLang="zh-CN" sz="1200" b="0" i="1" smtClean="0">
                                <a:latin typeface="Cambria Math" panose="02040503050406030204" pitchFamily="18" charset="0"/>
                                <a:ea typeface="幼圆" panose="02010509060101010101" pitchFamily="49" charset="-122"/>
                              </a:rPr>
                              <m:t>−</m:t>
                            </m:r>
                            <m:r>
                              <a:rPr lang="en-US" altLang="zh-CN" sz="1200" b="0" i="1" smtClean="0">
                                <a:latin typeface="Cambria Math" panose="02040503050406030204" pitchFamily="18" charset="0"/>
                                <a:ea typeface="幼圆" panose="02010509060101010101" pitchFamily="49" charset="-122"/>
                              </a:rPr>
                              <m:t>𝑧</m:t>
                            </m:r>
                          </m:sup>
                        </m:sSup>
                      </m:den>
                    </m:f>
                  </m:oMath>
                </a14:m>
                <a:r>
                  <a:rPr lang="zh-CN" altLang="en-US" sz="1200" b="0" dirty="0">
                    <a:latin typeface="幼圆" panose="02010509060101010101" pitchFamily="49" charset="-122"/>
                    <a:ea typeface="幼圆" panose="02010509060101010101" pitchFamily="49" charset="-122"/>
                  </a:rPr>
                  <a:t> </a:t>
                </a:r>
                <a:r>
                  <a:rPr lang="en-US" altLang="zh-CN" sz="1200" b="0">
                    <a:latin typeface="幼圆" panose="02010509060101010101" pitchFamily="49" charset="-122"/>
                    <a:ea typeface="幼圆" panose="02010509060101010101" pitchFamily="49" charset="-122"/>
                  </a:rPr>
                  <a:t>, </a:t>
                </a:r>
                <a:r>
                  <a:rPr lang="zh-CN" altLang="en-US" sz="1200" b="0">
                    <a:latin typeface="幼圆" panose="02010509060101010101" pitchFamily="49" charset="-122"/>
                    <a:ea typeface="幼圆" panose="02010509060101010101" pitchFamily="49" charset="-122"/>
                  </a:rPr>
                  <a:t>将</a:t>
                </a:r>
                <a:r>
                  <a:rPr lang="en-US" altLang="zh-CN" sz="1200" b="0">
                    <a:latin typeface="幼圆" panose="02010509060101010101" pitchFamily="49" charset="-122"/>
                    <a:ea typeface="幼圆" panose="02010509060101010101" pitchFamily="49" charset="-122"/>
                  </a:rPr>
                  <a:t>[-</a:t>
                </a:r>
                <a:r>
                  <a:rPr lang="en-US" altLang="zh-CN" sz="1200" b="0" dirty="0">
                    <a:latin typeface="Cambria Math" panose="02040503050406030204" pitchFamily="18" charset="0"/>
                    <a:ea typeface="Cambria Math" panose="02040503050406030204" pitchFamily="18" charset="0"/>
                  </a:rPr>
                  <a:t>∞</a:t>
                </a:r>
                <a:r>
                  <a:rPr lang="en-US" altLang="zh-CN" sz="1200" b="0">
                    <a:latin typeface="Cambria Math" panose="02040503050406030204" pitchFamily="18" charset="0"/>
                    <a:ea typeface="Cambria Math" panose="02040503050406030204" pitchFamily="18" charset="0"/>
                  </a:rPr>
                  <a:t>,+∞</a:t>
                </a:r>
                <a:r>
                  <a:rPr lang="en-US" altLang="zh-CN" sz="1200" b="0">
                    <a:latin typeface="幼圆" panose="02010509060101010101" pitchFamily="49" charset="-122"/>
                    <a:ea typeface="幼圆" panose="02010509060101010101" pitchFamily="49" charset="-122"/>
                  </a:rPr>
                  <a:t>]</a:t>
                </a:r>
                <a:r>
                  <a:rPr lang="zh-CN" altLang="en-US" sz="1200" b="0">
                    <a:latin typeface="幼圆" panose="02010509060101010101" pitchFamily="49" charset="-122"/>
                    <a:ea typeface="幼圆" panose="02010509060101010101" pitchFamily="49" charset="-122"/>
                  </a:rPr>
                  <a:t>范围</a:t>
                </a:r>
                <a:r>
                  <a:rPr lang="zh-CN" altLang="en-US" sz="1200" b="0" dirty="0">
                    <a:latin typeface="幼圆" panose="02010509060101010101" pitchFamily="49" charset="-122"/>
                    <a:ea typeface="幼圆" panose="02010509060101010101" pitchFamily="49" charset="-122"/>
                  </a:rPr>
                  <a:t>的值</a:t>
                </a:r>
                <a:r>
                  <a:rPr lang="zh-CN" altLang="en-US" sz="1200" b="0">
                    <a:latin typeface="幼圆" panose="02010509060101010101" pitchFamily="49" charset="-122"/>
                    <a:ea typeface="幼圆" panose="02010509060101010101" pitchFamily="49" charset="-122"/>
                  </a:rPr>
                  <a:t>映射到</a:t>
                </a:r>
                <a:r>
                  <a:rPr lang="en-US" altLang="zh-CN" sz="1200" b="0">
                    <a:latin typeface="幼圆" panose="02010509060101010101" pitchFamily="49" charset="-122"/>
                    <a:ea typeface="幼圆" panose="02010509060101010101" pitchFamily="49" charset="-122"/>
                  </a:rPr>
                  <a:t>[0,1];</a:t>
                </a:r>
                <a:endParaRPr lang="en-US" altLang="zh-CN" sz="1200" b="0" dirty="0">
                  <a:latin typeface="幼圆" panose="02010509060101010101" pitchFamily="49" charset="-122"/>
                  <a:ea typeface="幼圆" panose="02010509060101010101" pitchFamily="49" charset="-122"/>
                </a:endParaRPr>
              </a:p>
              <a:p>
                <a:pPr marL="628650" lvl="1" indent="-171450">
                  <a:buFont typeface="Wingdings" panose="05000000000000000000" pitchFamily="2" charset="2"/>
                  <a:buChar char="p"/>
                </a:pPr>
                <a:r>
                  <a:rPr lang="en-US" altLang="zh-CN" sz="1200" b="0" baseline="0" dirty="0" err="1">
                    <a:latin typeface="幼圆" panose="02010509060101010101" pitchFamily="49" charset="-122"/>
                    <a:ea typeface="幼圆" panose="02010509060101010101" pitchFamily="49" charset="-122"/>
                  </a:rPr>
                  <a:t>tanh</a:t>
                </a:r>
                <a:r>
                  <a:rPr lang="zh-CN" altLang="en-US" sz="1200" b="0" baseline="0" dirty="0">
                    <a:latin typeface="幼圆" panose="02010509060101010101" pitchFamily="49" charset="-122"/>
                    <a:ea typeface="幼圆" panose="02010509060101010101" pitchFamily="49" charset="-122"/>
                  </a:rPr>
                  <a:t>函数</a:t>
                </a:r>
                <a14:m>
                  <m:oMath xmlns:m="http://schemas.openxmlformats.org/officeDocument/2006/math">
                    <m:r>
                      <m:rPr>
                        <m:sty m:val="p"/>
                      </m:rPr>
                      <a:rPr lang="en-US" altLang="zh-CN" sz="1200" b="0" i="0" smtClean="0">
                        <a:latin typeface="Cambria Math" panose="02040503050406030204" pitchFamily="18" charset="0"/>
                        <a:ea typeface="Cambria" panose="02040503050406030204" pitchFamily="18" charset="0"/>
                      </a:rPr>
                      <m:t>g</m:t>
                    </m:r>
                    <m:d>
                      <m:dPr>
                        <m:ctrlPr>
                          <a:rPr lang="en-US" altLang="zh-CN" sz="1200" b="0" i="1" smtClean="0">
                            <a:latin typeface="Cambria Math" panose="02040503050406030204" pitchFamily="18" charset="0"/>
                            <a:ea typeface="幼圆" panose="02010509060101010101" pitchFamily="49" charset="-122"/>
                          </a:rPr>
                        </m:ctrlPr>
                      </m:dPr>
                      <m:e>
                        <m:r>
                          <a:rPr lang="en-US" altLang="zh-CN" sz="1200" b="0" i="1" smtClean="0">
                            <a:latin typeface="Cambria Math" panose="02040503050406030204" pitchFamily="18" charset="0"/>
                            <a:ea typeface="幼圆" panose="02010509060101010101" pitchFamily="49" charset="-122"/>
                          </a:rPr>
                          <m:t>𝑧</m:t>
                        </m:r>
                      </m:e>
                    </m:d>
                    <m:r>
                      <a:rPr lang="en-US" altLang="zh-CN" sz="1200" b="0" i="1" smtClean="0">
                        <a:latin typeface="Cambria Math" panose="02040503050406030204" pitchFamily="18" charset="0"/>
                        <a:ea typeface="幼圆" panose="02010509060101010101" pitchFamily="49" charset="-122"/>
                      </a:rPr>
                      <m:t>=</m:t>
                    </m:r>
                    <m:f>
                      <m:fPr>
                        <m:ctrlPr>
                          <a:rPr lang="en-US" altLang="zh-CN" sz="1200" b="0" i="1" smtClean="0">
                            <a:latin typeface="Cambria Math" panose="02040503050406030204" pitchFamily="18" charset="0"/>
                            <a:ea typeface="幼圆" panose="02010509060101010101" pitchFamily="49" charset="-122"/>
                          </a:rPr>
                        </m:ctrlPr>
                      </m:fPr>
                      <m:num>
                        <m:sSup>
                          <m:sSupPr>
                            <m:ctrlPr>
                              <a:rPr lang="en-US" altLang="zh-CN" sz="1200" b="0" i="1" smtClean="0">
                                <a:latin typeface="Cambria Math" panose="02040503050406030204" pitchFamily="18" charset="0"/>
                                <a:ea typeface="幼圆" panose="02010509060101010101" pitchFamily="49" charset="-122"/>
                              </a:rPr>
                            </m:ctrlPr>
                          </m:sSupPr>
                          <m:e>
                            <m:r>
                              <a:rPr lang="en-US" altLang="zh-CN" sz="1200" b="0" i="1" smtClean="0">
                                <a:latin typeface="Cambria Math" panose="02040503050406030204" pitchFamily="18" charset="0"/>
                                <a:ea typeface="幼圆" panose="02010509060101010101" pitchFamily="49" charset="-122"/>
                              </a:rPr>
                              <m:t>𝑒</m:t>
                            </m:r>
                          </m:e>
                          <m:sup>
                            <m:r>
                              <a:rPr lang="en-US" altLang="zh-CN" sz="1200" b="0" i="1" smtClean="0">
                                <a:latin typeface="Cambria Math" panose="02040503050406030204" pitchFamily="18" charset="0"/>
                                <a:ea typeface="幼圆" panose="02010509060101010101" pitchFamily="49" charset="-122"/>
                              </a:rPr>
                              <m:t>𝑧</m:t>
                            </m:r>
                          </m:sup>
                        </m:sSup>
                        <m:r>
                          <a:rPr lang="en-US" altLang="zh-CN" sz="1200" b="0" i="1" smtClean="0">
                            <a:latin typeface="Cambria Math" panose="02040503050406030204" pitchFamily="18" charset="0"/>
                            <a:ea typeface="幼圆" panose="02010509060101010101" pitchFamily="49" charset="-122"/>
                          </a:rPr>
                          <m:t>−</m:t>
                        </m:r>
                        <m:sSup>
                          <m:sSupPr>
                            <m:ctrlPr>
                              <a:rPr lang="en-US" altLang="zh-CN" sz="1200" b="0" i="1" smtClean="0">
                                <a:latin typeface="Cambria Math" panose="02040503050406030204" pitchFamily="18" charset="0"/>
                                <a:ea typeface="幼圆" panose="02010509060101010101" pitchFamily="49" charset="-122"/>
                              </a:rPr>
                            </m:ctrlPr>
                          </m:sSupPr>
                          <m:e>
                            <m:r>
                              <a:rPr lang="en-US" altLang="zh-CN" sz="1200" b="0" i="1" smtClean="0">
                                <a:latin typeface="Cambria Math" panose="02040503050406030204" pitchFamily="18" charset="0"/>
                                <a:ea typeface="幼圆" panose="02010509060101010101" pitchFamily="49" charset="-122"/>
                              </a:rPr>
                              <m:t>𝑒</m:t>
                            </m:r>
                          </m:e>
                          <m:sup>
                            <m:r>
                              <a:rPr lang="en-US" altLang="zh-CN" sz="1200" b="0" i="1" smtClean="0">
                                <a:latin typeface="Cambria Math" panose="02040503050406030204" pitchFamily="18" charset="0"/>
                                <a:ea typeface="幼圆" panose="02010509060101010101" pitchFamily="49" charset="-122"/>
                              </a:rPr>
                              <m:t>−</m:t>
                            </m:r>
                            <m:r>
                              <a:rPr lang="en-US" altLang="zh-CN" sz="1200" b="0" i="1" smtClean="0">
                                <a:latin typeface="Cambria Math" panose="02040503050406030204" pitchFamily="18" charset="0"/>
                                <a:ea typeface="幼圆" panose="02010509060101010101" pitchFamily="49" charset="-122"/>
                              </a:rPr>
                              <m:t>𝑧</m:t>
                            </m:r>
                          </m:sup>
                        </m:sSup>
                      </m:num>
                      <m:den>
                        <m:sSup>
                          <m:sSupPr>
                            <m:ctrlPr>
                              <a:rPr lang="en-US" altLang="zh-CN" sz="1200" b="0" i="1" smtClean="0">
                                <a:latin typeface="Cambria Math" panose="02040503050406030204" pitchFamily="18" charset="0"/>
                                <a:ea typeface="幼圆" panose="02010509060101010101" pitchFamily="49" charset="-122"/>
                              </a:rPr>
                            </m:ctrlPr>
                          </m:sSupPr>
                          <m:e>
                            <m:r>
                              <a:rPr lang="en-US" altLang="zh-CN" sz="1200" b="0" i="1" smtClean="0">
                                <a:latin typeface="Cambria Math" panose="02040503050406030204" pitchFamily="18" charset="0"/>
                                <a:ea typeface="幼圆" panose="02010509060101010101" pitchFamily="49" charset="-122"/>
                              </a:rPr>
                              <m:t>𝑒</m:t>
                            </m:r>
                          </m:e>
                          <m:sup>
                            <m:r>
                              <a:rPr lang="en-US" altLang="zh-CN" sz="1200" b="0" i="1" smtClean="0">
                                <a:latin typeface="Cambria Math" panose="02040503050406030204" pitchFamily="18" charset="0"/>
                                <a:ea typeface="幼圆" panose="02010509060101010101" pitchFamily="49" charset="-122"/>
                              </a:rPr>
                              <m:t>𝑧</m:t>
                            </m:r>
                          </m:sup>
                        </m:sSup>
                        <m:r>
                          <a:rPr lang="en-US" altLang="zh-CN" sz="1200" b="0" i="1" smtClean="0">
                            <a:latin typeface="Cambria Math" panose="02040503050406030204" pitchFamily="18" charset="0"/>
                            <a:ea typeface="幼圆" panose="02010509060101010101" pitchFamily="49" charset="-122"/>
                          </a:rPr>
                          <m:t>+</m:t>
                        </m:r>
                        <m:sSup>
                          <m:sSupPr>
                            <m:ctrlPr>
                              <a:rPr lang="en-US" altLang="zh-CN" sz="1200" b="0" i="1" smtClean="0">
                                <a:latin typeface="Cambria Math" panose="02040503050406030204" pitchFamily="18" charset="0"/>
                                <a:ea typeface="幼圆" panose="02010509060101010101" pitchFamily="49" charset="-122"/>
                              </a:rPr>
                            </m:ctrlPr>
                          </m:sSupPr>
                          <m:e>
                            <m:r>
                              <a:rPr lang="en-US" altLang="zh-CN" sz="1200" b="0" i="1" smtClean="0">
                                <a:latin typeface="Cambria Math" panose="02040503050406030204" pitchFamily="18" charset="0"/>
                                <a:ea typeface="幼圆" panose="02010509060101010101" pitchFamily="49" charset="-122"/>
                              </a:rPr>
                              <m:t>𝑒</m:t>
                            </m:r>
                          </m:e>
                          <m:sup>
                            <m:r>
                              <a:rPr lang="en-US" altLang="zh-CN" sz="1200" b="0" i="1" smtClean="0">
                                <a:latin typeface="Cambria Math" panose="02040503050406030204" pitchFamily="18" charset="0"/>
                                <a:ea typeface="幼圆" panose="02010509060101010101" pitchFamily="49" charset="-122"/>
                              </a:rPr>
                              <m:t>−</m:t>
                            </m:r>
                            <m:r>
                              <a:rPr lang="en-US" altLang="zh-CN" sz="1200" b="0" i="1" smtClean="0">
                                <a:latin typeface="Cambria Math" panose="02040503050406030204" pitchFamily="18" charset="0"/>
                                <a:ea typeface="幼圆" panose="02010509060101010101" pitchFamily="49" charset="-122"/>
                              </a:rPr>
                              <m:t>𝑧</m:t>
                            </m:r>
                          </m:sup>
                        </m:sSup>
                      </m:den>
                    </m:f>
                  </m:oMath>
                </a14:m>
                <a:r>
                  <a:rPr lang="zh-CN" altLang="en-US" sz="1200" b="0" dirty="0">
                    <a:latin typeface="幼圆" panose="02010509060101010101" pitchFamily="49" charset="-122"/>
                    <a:ea typeface="幼圆" panose="02010509060101010101" pitchFamily="49" charset="-122"/>
                  </a:rPr>
                  <a:t> </a:t>
                </a:r>
                <a:r>
                  <a:rPr lang="en-US" altLang="zh-CN" sz="1200" b="0">
                    <a:latin typeface="幼圆" panose="02010509060101010101" pitchFamily="49" charset="-122"/>
                    <a:ea typeface="幼圆" panose="02010509060101010101" pitchFamily="49" charset="-122"/>
                  </a:rPr>
                  <a:t>, </a:t>
                </a:r>
                <a:r>
                  <a:rPr lang="zh-CN" altLang="en-US" sz="1200" b="0">
                    <a:latin typeface="幼圆" panose="02010509060101010101" pitchFamily="49" charset="-122"/>
                    <a:ea typeface="幼圆" panose="02010509060101010101" pitchFamily="49" charset="-122"/>
                  </a:rPr>
                  <a:t>将</a:t>
                </a:r>
                <a:r>
                  <a:rPr lang="en-US" altLang="zh-CN" sz="1200" b="0">
                    <a:latin typeface="幼圆" panose="02010509060101010101" pitchFamily="49" charset="-122"/>
                    <a:ea typeface="幼圆" panose="02010509060101010101" pitchFamily="49" charset="-122"/>
                  </a:rPr>
                  <a:t>[-</a:t>
                </a:r>
                <a:r>
                  <a:rPr lang="en-US" altLang="zh-CN" sz="1200" b="0" dirty="0">
                    <a:latin typeface="Cambria Math" panose="02040503050406030204" pitchFamily="18" charset="0"/>
                    <a:ea typeface="Cambria Math" panose="02040503050406030204" pitchFamily="18" charset="0"/>
                  </a:rPr>
                  <a:t>∞</a:t>
                </a:r>
                <a:r>
                  <a:rPr lang="en-US" altLang="zh-CN" sz="1200" b="0">
                    <a:latin typeface="Cambria Math" panose="02040503050406030204" pitchFamily="18" charset="0"/>
                    <a:ea typeface="Cambria Math" panose="02040503050406030204" pitchFamily="18" charset="0"/>
                  </a:rPr>
                  <a:t>,+∞</a:t>
                </a:r>
                <a:r>
                  <a:rPr lang="en-US" altLang="zh-CN" sz="1200" b="0">
                    <a:latin typeface="幼圆" panose="02010509060101010101" pitchFamily="49" charset="-122"/>
                    <a:ea typeface="幼圆" panose="02010509060101010101" pitchFamily="49" charset="-122"/>
                  </a:rPr>
                  <a:t>]</a:t>
                </a:r>
                <a:r>
                  <a:rPr lang="zh-CN" altLang="en-US" sz="1200" b="0">
                    <a:latin typeface="幼圆" panose="02010509060101010101" pitchFamily="49" charset="-122"/>
                    <a:ea typeface="幼圆" panose="02010509060101010101" pitchFamily="49" charset="-122"/>
                  </a:rPr>
                  <a:t>范围</a:t>
                </a:r>
                <a:r>
                  <a:rPr lang="zh-CN" altLang="en-US" sz="1200" b="0" dirty="0">
                    <a:latin typeface="幼圆" panose="02010509060101010101" pitchFamily="49" charset="-122"/>
                    <a:ea typeface="幼圆" panose="02010509060101010101" pitchFamily="49" charset="-122"/>
                  </a:rPr>
                  <a:t>的值</a:t>
                </a:r>
                <a:r>
                  <a:rPr lang="zh-CN" altLang="en-US" sz="1200" b="0">
                    <a:latin typeface="幼圆" panose="02010509060101010101" pitchFamily="49" charset="-122"/>
                    <a:ea typeface="幼圆" panose="02010509060101010101" pitchFamily="49" charset="-122"/>
                  </a:rPr>
                  <a:t>映射到</a:t>
                </a:r>
                <a:r>
                  <a:rPr lang="en-US" altLang="zh-CN" sz="1200" b="0">
                    <a:latin typeface="幼圆" panose="02010509060101010101" pitchFamily="49" charset="-122"/>
                    <a:ea typeface="幼圆" panose="02010509060101010101" pitchFamily="49" charset="-122"/>
                  </a:rPr>
                  <a:t>[-1,1]</a:t>
                </a:r>
                <a:r>
                  <a:rPr lang="zh-CN" altLang="en-US" sz="1200" b="0">
                    <a:latin typeface="幼圆" panose="02010509060101010101" pitchFamily="49" charset="-122"/>
                    <a:ea typeface="幼圆" panose="02010509060101010101" pitchFamily="49" charset="-122"/>
                  </a:rPr>
                  <a:t>。</a:t>
                </a:r>
                <a:endParaRPr lang="en-US" altLang="zh-CN" sz="1200" b="0" dirty="0">
                  <a:latin typeface="幼圆" panose="02010509060101010101" pitchFamily="49" charset="-122"/>
                  <a:ea typeface="幼圆" panose="02010509060101010101" pitchFamily="49" charset="-122"/>
                </a:endParaRPr>
              </a:p>
              <a:p>
                <a:pPr marL="628650" lvl="1" indent="-171450">
                  <a:buFont typeface="Wingdings" panose="05000000000000000000" pitchFamily="2" charset="2"/>
                  <a:buChar char="p"/>
                </a:pPr>
                <a:r>
                  <a:rPr lang="en-US" altLang="zh-CN" sz="1200" b="0" dirty="0" err="1">
                    <a:latin typeface="幼圆" panose="02010509060101010101" pitchFamily="49" charset="-122"/>
                    <a:ea typeface="幼圆" panose="02010509060101010101" pitchFamily="49" charset="-122"/>
                  </a:rPr>
                  <a:t>Relu</a:t>
                </a:r>
                <a:r>
                  <a:rPr lang="en-US" altLang="zh-CN" sz="1200" b="0" dirty="0">
                    <a:latin typeface="幼圆" panose="02010509060101010101" pitchFamily="49" charset="-122"/>
                    <a:ea typeface="幼圆" panose="02010509060101010101" pitchFamily="49" charset="-122"/>
                  </a:rPr>
                  <a:t>(</a:t>
                </a:r>
                <a:r>
                  <a:rPr lang="en-US" altLang="zh-CN" sz="1200" b="0" dirty="0" err="1">
                    <a:latin typeface="幼圆" panose="02010509060101010101" pitchFamily="49" charset="-122"/>
                    <a:ea typeface="幼圆" panose="02010509060101010101" pitchFamily="49" charset="-122"/>
                  </a:rPr>
                  <a:t>Recitified</a:t>
                </a:r>
                <a:r>
                  <a:rPr lang="en-US" altLang="zh-CN" sz="1200" b="0" dirty="0">
                    <a:latin typeface="幼圆" panose="02010509060101010101" pitchFamily="49" charset="-122"/>
                    <a:ea typeface="幼圆" panose="02010509060101010101" pitchFamily="49" charset="-122"/>
                  </a:rPr>
                  <a:t> Linear</a:t>
                </a:r>
                <a:r>
                  <a:rPr lang="en-US" altLang="zh-CN" sz="1200" b="0" baseline="0" dirty="0">
                    <a:latin typeface="幼圆" panose="02010509060101010101" pitchFamily="49" charset="-122"/>
                    <a:ea typeface="幼圆" panose="02010509060101010101" pitchFamily="49" charset="-122"/>
                  </a:rPr>
                  <a:t> Unit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线性整流函数 </a:t>
                </a:r>
                <a14:m>
                  <m:oMath xmlns:m="http://schemas.openxmlformats.org/officeDocument/2006/math">
                    <m:r>
                      <m:rPr>
                        <m:sty m:val="p"/>
                      </m:rPr>
                      <a:rPr lang="en-US" altLang="zh-CN" sz="1200" b="0" i="0" smtClean="0">
                        <a:latin typeface="Cambria Math" panose="02040503050406030204" pitchFamily="18" charset="0"/>
                        <a:ea typeface="Cambria" panose="02040503050406030204" pitchFamily="18" charset="0"/>
                      </a:rPr>
                      <m:t>g</m:t>
                    </m:r>
                    <m:d>
                      <m:dPr>
                        <m:ctrlPr>
                          <a:rPr lang="en-US" altLang="zh-CN" sz="1200" b="0" i="1" smtClean="0">
                            <a:latin typeface="Cambria Math" panose="02040503050406030204" pitchFamily="18" charset="0"/>
                            <a:ea typeface="幼圆" panose="02010509060101010101" pitchFamily="49" charset="-122"/>
                          </a:rPr>
                        </m:ctrlPr>
                      </m:dPr>
                      <m:e>
                        <m:r>
                          <a:rPr lang="en-US" altLang="zh-CN" sz="1200" b="0" i="1" smtClean="0">
                            <a:latin typeface="Cambria Math" panose="02040503050406030204" pitchFamily="18" charset="0"/>
                            <a:ea typeface="幼圆" panose="02010509060101010101" pitchFamily="49" charset="-122"/>
                          </a:rPr>
                          <m:t>𝑧</m:t>
                        </m:r>
                      </m:e>
                    </m:d>
                    <m:r>
                      <a:rPr lang="en-US" altLang="zh-CN" sz="1200" b="0" i="1" smtClean="0">
                        <a:latin typeface="Cambria Math" panose="02040503050406030204" pitchFamily="18" charset="0"/>
                        <a:ea typeface="幼圆" panose="02010509060101010101" pitchFamily="49" charset="-122"/>
                      </a:rPr>
                      <m:t>=</m:t>
                    </m:r>
                  </m:oMath>
                </a14:m>
                <a:r>
                  <a:rPr lang="en-US" altLang="zh-CN" dirty="0">
                    <a:effectLst/>
                  </a:rPr>
                  <a:t>max(0, z) </a:t>
                </a:r>
                <a:endParaRPr lang="en-US" altLang="zh-CN" sz="1200" b="0" dirty="0">
                  <a:latin typeface="幼圆" panose="02010509060101010101" pitchFamily="49" charset="-122"/>
                  <a:ea typeface="幼圆" panose="02010509060101010101" pitchFamily="49" charset="-122"/>
                </a:endParaRPr>
              </a:p>
              <a:p>
                <a:pPr marL="457200" lvl="1" indent="0">
                  <a:buFont typeface="Wingdings" panose="05000000000000000000" pitchFamily="2" charset="2"/>
                  <a:buNone/>
                </a:pPr>
                <a:endParaRPr lang="en-US" altLang="zh-CN" sz="1200" b="0" dirty="0">
                  <a:latin typeface="幼圆" panose="02010509060101010101" pitchFamily="49" charset="-122"/>
                  <a:ea typeface="幼圆" panose="02010509060101010101" pitchFamily="49" charset="-122"/>
                </a:endParaRPr>
              </a:p>
              <a:p>
                <a:endParaRPr lang="zh-CN" altLang="en-US" dirty="0"/>
              </a:p>
            </p:txBody>
          </p:sp>
        </mc:Choice>
        <mc:Fallback xmlns="">
          <p:sp>
            <p:nvSpPr>
              <p:cNvPr id="3" name="备注占位符 2"/>
              <p:cNvSpPr>
                <a:spLocks noGrp="1"/>
              </p:cNvSpPr>
              <p:nvPr>
                <p:ph type="body" idx="1"/>
              </p:nvPr>
            </p:nvSpPr>
            <p:spPr/>
            <p:txBody>
              <a:bodyPr/>
              <a:lstStyle/>
              <a:p>
                <a:pPr marL="0" indent="0">
                  <a:buFont typeface="Wingdings" panose="05000000000000000000" pitchFamily="2" charset="2"/>
                  <a:buNone/>
                </a:pPr>
                <a:r>
                  <a:rPr lang="en-US" altLang="zh-CN" sz="1200" b="0" dirty="0">
                    <a:latin typeface="幼圆" panose="02010509060101010101" pitchFamily="49" charset="-122"/>
                    <a:ea typeface="幼圆" panose="02010509060101010101" pitchFamily="49" charset="-122"/>
                  </a:rPr>
                  <a:t>1. </a:t>
                </a:r>
                <a:r>
                  <a:rPr lang="zh-CN" altLang="en-US" sz="1200" b="0" dirty="0">
                    <a:latin typeface="幼圆" panose="02010509060101010101" pitchFamily="49" charset="-122"/>
                    <a:ea typeface="幼圆" panose="02010509060101010101" pitchFamily="49" charset="-122"/>
                  </a:rPr>
                  <a:t>理想激活函数是阶跃函数</a:t>
                </a:r>
                <a:r>
                  <a:rPr lang="en-US" altLang="zh-CN" sz="1200" b="0" dirty="0">
                    <a:latin typeface="幼圆" panose="02010509060101010101" pitchFamily="49" charset="-122"/>
                    <a:ea typeface="幼圆" panose="02010509060101010101" pitchFamily="49" charset="-122"/>
                  </a:rPr>
                  <a:t>, 0</a:t>
                </a:r>
                <a:r>
                  <a:rPr lang="zh-CN" altLang="en-US" sz="1200" b="0" dirty="0">
                    <a:latin typeface="幼圆" panose="02010509060101010101" pitchFamily="49" charset="-122"/>
                    <a:ea typeface="幼圆" panose="02010509060101010101" pitchFamily="49" charset="-122"/>
                  </a:rPr>
                  <a:t>表示抑制神经元而</a:t>
                </a:r>
                <a:r>
                  <a:rPr lang="en-US" altLang="zh-CN" sz="1200" b="0" dirty="0">
                    <a:latin typeface="幼圆" panose="02010509060101010101" pitchFamily="49" charset="-122"/>
                    <a:ea typeface="幼圆" panose="02010509060101010101" pitchFamily="49" charset="-122"/>
                  </a:rPr>
                  <a:t>1</a:t>
                </a:r>
                <a:r>
                  <a:rPr lang="zh-CN" altLang="en-US" sz="1200" b="0" dirty="0">
                    <a:latin typeface="幼圆" panose="02010509060101010101" pitchFamily="49" charset="-122"/>
                    <a:ea typeface="幼圆" panose="02010509060101010101" pitchFamily="49" charset="-122"/>
                  </a:rPr>
                  <a:t>表示激活神经元</a:t>
                </a:r>
                <a:endParaRPr lang="en-US" altLang="zh-CN" sz="1200" b="0" dirty="0">
                  <a:latin typeface="幼圆" panose="02010509060101010101" pitchFamily="49" charset="-122"/>
                  <a:ea typeface="幼圆" panose="02010509060101010101" pitchFamily="49" charset="-122"/>
                </a:endParaRPr>
              </a:p>
              <a:p>
                <a:pPr marL="0" indent="0">
                  <a:buFont typeface="Wingdings" panose="05000000000000000000" pitchFamily="2" charset="2"/>
                  <a:buNone/>
                </a:pPr>
                <a:r>
                  <a:rPr lang="en-US" altLang="zh-CN" sz="1200" b="0" dirty="0">
                    <a:latin typeface="幼圆" panose="02010509060101010101" pitchFamily="49" charset="-122"/>
                    <a:ea typeface="幼圆" panose="02010509060101010101" pitchFamily="49" charset="-122"/>
                  </a:rPr>
                  <a:t>2. </a:t>
                </a:r>
                <a:r>
                  <a:rPr lang="zh-CN" altLang="en-US" sz="1200" b="0" dirty="0">
                    <a:latin typeface="幼圆" panose="02010509060101010101" pitchFamily="49" charset="-122"/>
                    <a:ea typeface="幼圆" panose="02010509060101010101" pitchFamily="49" charset="-122"/>
                  </a:rPr>
                  <a:t>阶跃函数具有不连续、不光滑，数学特性不好</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常用的是 </a:t>
                </a:r>
                <a:r>
                  <a:rPr lang="en-US" altLang="zh-CN" sz="1200" b="0" dirty="0">
                    <a:latin typeface="幼圆" panose="02010509060101010101" pitchFamily="49" charset="-122"/>
                    <a:ea typeface="幼圆" panose="02010509060101010101" pitchFamily="49" charset="-122"/>
                  </a:rPr>
                  <a:t>Sigmoid </a:t>
                </a:r>
                <a:r>
                  <a:rPr lang="zh-CN" altLang="en-US" sz="1200" b="0" dirty="0">
                    <a:latin typeface="幼圆" panose="02010509060101010101" pitchFamily="49" charset="-122"/>
                    <a:ea typeface="幼圆" panose="02010509060101010101" pitchFamily="49" charset="-122"/>
                  </a:rPr>
                  <a:t>函数和</a:t>
                </a:r>
                <a:r>
                  <a:rPr lang="en-US" altLang="zh-CN" sz="1200" b="0" dirty="0">
                    <a:latin typeface="幼圆" panose="02010509060101010101" pitchFamily="49" charset="-122"/>
                    <a:ea typeface="幼圆" panose="02010509060101010101" pitchFamily="49" charset="-122"/>
                  </a:rPr>
                  <a:t>tanh</a:t>
                </a:r>
                <a:r>
                  <a:rPr lang="zh-CN" altLang="en-US" sz="1200" b="0" dirty="0">
                    <a:latin typeface="幼圆" panose="02010509060101010101" pitchFamily="49" charset="-122"/>
                    <a:ea typeface="幼圆" panose="02010509060101010101" pitchFamily="49" charset="-122"/>
                  </a:rPr>
                  <a:t>（双曲正切）等具有较好数学特性的函数。</a:t>
                </a:r>
                <a:endParaRPr lang="en-US" altLang="zh-CN" sz="1200" b="0" dirty="0">
                  <a:latin typeface="幼圆" panose="02010509060101010101" pitchFamily="49" charset="-122"/>
                  <a:ea typeface="幼圆" panose="02010509060101010101" pitchFamily="49" charset="-122"/>
                </a:endParaRPr>
              </a:p>
              <a:p>
                <a:pPr marL="628650" lvl="1" indent="-171450">
                  <a:buFont typeface="Wingdings" panose="05000000000000000000" pitchFamily="2" charset="2"/>
                  <a:buChar char="p"/>
                </a:pPr>
                <a:r>
                  <a:rPr lang="en-US" altLang="zh-CN" sz="1200" b="0" dirty="0">
                    <a:latin typeface="幼圆" panose="02010509060101010101" pitchFamily="49" charset="-122"/>
                    <a:ea typeface="幼圆" panose="02010509060101010101" pitchFamily="49" charset="-122"/>
                  </a:rPr>
                  <a:t>Sigmoid</a:t>
                </a:r>
                <a:r>
                  <a:rPr lang="zh-CN" altLang="en-US" sz="1200" b="0" dirty="0">
                    <a:latin typeface="幼圆" panose="02010509060101010101" pitchFamily="49" charset="-122"/>
                    <a:ea typeface="幼圆" panose="02010509060101010101" pitchFamily="49" charset="-122"/>
                  </a:rPr>
                  <a:t>函数</a:t>
                </a:r>
                <a:r>
                  <a:rPr lang="en-US" altLang="zh-CN" sz="1200" b="0" i="0">
                    <a:latin typeface="Cambria Math" panose="02040503050406030204" pitchFamily="18" charset="0"/>
                    <a:ea typeface="Cambria" panose="02040503050406030204" pitchFamily="18" charset="0"/>
                  </a:rPr>
                  <a:t>g</a:t>
                </a:r>
                <a:r>
                  <a:rPr lang="en-US" altLang="zh-CN" sz="1200" b="0" i="0">
                    <a:latin typeface="Cambria Math" panose="02040503050406030204" pitchFamily="18" charset="0"/>
                    <a:ea typeface="幼圆" panose="02010509060101010101" pitchFamily="49" charset="-122"/>
                  </a:rPr>
                  <a:t>(𝑧)=1/(1+𝑒^(−𝑧) )</a:t>
                </a:r>
                <a:r>
                  <a:rPr lang="zh-CN" altLang="en-US" sz="1200" b="0" dirty="0">
                    <a:latin typeface="幼圆" panose="02010509060101010101" pitchFamily="49" charset="-122"/>
                    <a:ea typeface="幼圆" panose="02010509060101010101" pitchFamily="49" charset="-122"/>
                  </a:rPr>
                  <a:t> </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将</a:t>
                </a:r>
                <a:r>
                  <a:rPr lang="en-US" altLang="zh-CN" sz="1200" b="0" dirty="0">
                    <a:latin typeface="幼圆" panose="02010509060101010101" pitchFamily="49" charset="-122"/>
                    <a:ea typeface="幼圆" panose="02010509060101010101" pitchFamily="49" charset="-122"/>
                  </a:rPr>
                  <a:t>[-</a:t>
                </a:r>
                <a:r>
                  <a:rPr lang="en-US" altLang="zh-CN" sz="1200" b="0" dirty="0">
                    <a:latin typeface="Cambria Math" panose="02040503050406030204" pitchFamily="18" charset="0"/>
                    <a:ea typeface="Cambria Math" panose="02040503050406030204" pitchFamily="18" charset="0"/>
                  </a:rPr>
                  <a: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范围的值映射到</a:t>
                </a:r>
                <a:r>
                  <a:rPr lang="en-US" altLang="zh-CN" sz="1200" b="0" dirty="0">
                    <a:latin typeface="幼圆" panose="02010509060101010101" pitchFamily="49" charset="-122"/>
                    <a:ea typeface="幼圆" panose="02010509060101010101" pitchFamily="49" charset="-122"/>
                  </a:rPr>
                  <a:t>[0,1];</a:t>
                </a:r>
              </a:p>
              <a:p>
                <a:pPr marL="628650" lvl="1" indent="-171450">
                  <a:buFont typeface="Wingdings" panose="05000000000000000000" pitchFamily="2" charset="2"/>
                  <a:buChar char="p"/>
                </a:pPr>
                <a:r>
                  <a:rPr lang="en-US" altLang="zh-CN" sz="1200" b="0" baseline="0" dirty="0" err="1">
                    <a:latin typeface="幼圆" panose="02010509060101010101" pitchFamily="49" charset="-122"/>
                    <a:ea typeface="幼圆" panose="02010509060101010101" pitchFamily="49" charset="-122"/>
                  </a:rPr>
                  <a:t>tanh</a:t>
                </a:r>
                <a:r>
                  <a:rPr lang="zh-CN" altLang="en-US" sz="1200" b="0" baseline="0" dirty="0">
                    <a:latin typeface="幼圆" panose="02010509060101010101" pitchFamily="49" charset="-122"/>
                    <a:ea typeface="幼圆" panose="02010509060101010101" pitchFamily="49" charset="-122"/>
                  </a:rPr>
                  <a:t>函数</a:t>
                </a:r>
                <a:r>
                  <a:rPr lang="en-US" altLang="zh-CN" sz="1200" b="0" i="0">
                    <a:latin typeface="Cambria Math" panose="02040503050406030204" pitchFamily="18" charset="0"/>
                    <a:ea typeface="Cambria" panose="02040503050406030204" pitchFamily="18" charset="0"/>
                  </a:rPr>
                  <a:t>g</a:t>
                </a:r>
                <a:r>
                  <a:rPr lang="en-US" altLang="zh-CN" sz="1200" b="0" i="0">
                    <a:latin typeface="Cambria Math" panose="02040503050406030204" pitchFamily="18" charset="0"/>
                    <a:ea typeface="幼圆" panose="02010509060101010101" pitchFamily="49" charset="-122"/>
                  </a:rPr>
                  <a:t>(𝑧)=(𝑒^𝑧−𝑒^(−𝑧))/(𝑒^𝑧+𝑒^(−𝑧) )</a:t>
                </a:r>
                <a:r>
                  <a:rPr lang="zh-CN" altLang="en-US" sz="1200" b="0" dirty="0">
                    <a:latin typeface="幼圆" panose="02010509060101010101" pitchFamily="49" charset="-122"/>
                    <a:ea typeface="幼圆" panose="02010509060101010101" pitchFamily="49" charset="-122"/>
                  </a:rPr>
                  <a:t> </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将</a:t>
                </a:r>
                <a:r>
                  <a:rPr lang="en-US" altLang="zh-CN" sz="1200" b="0" dirty="0">
                    <a:latin typeface="幼圆" panose="02010509060101010101" pitchFamily="49" charset="-122"/>
                    <a:ea typeface="幼圆" panose="02010509060101010101" pitchFamily="49" charset="-122"/>
                  </a:rPr>
                  <a:t>[-</a:t>
                </a:r>
                <a:r>
                  <a:rPr lang="en-US" altLang="zh-CN" sz="1200" b="0" dirty="0">
                    <a:latin typeface="Cambria Math" panose="02040503050406030204" pitchFamily="18" charset="0"/>
                    <a:ea typeface="Cambria Math" panose="02040503050406030204" pitchFamily="18" charset="0"/>
                  </a:rPr>
                  <a: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范围的值映射到</a:t>
                </a:r>
                <a:r>
                  <a:rPr lang="en-US" altLang="zh-CN" sz="1200" b="0" dirty="0">
                    <a:latin typeface="幼圆" panose="02010509060101010101" pitchFamily="49" charset="-122"/>
                    <a:ea typeface="幼圆" panose="02010509060101010101" pitchFamily="49" charset="-122"/>
                  </a:rPr>
                  <a:t>[-1,1]</a:t>
                </a:r>
                <a:r>
                  <a:rPr lang="zh-CN" altLang="en-US" sz="1200" b="0" dirty="0">
                    <a:latin typeface="幼圆" panose="02010509060101010101" pitchFamily="49" charset="-122"/>
                    <a:ea typeface="幼圆" panose="02010509060101010101" pitchFamily="49" charset="-122"/>
                  </a:rPr>
                  <a:t>。</a:t>
                </a:r>
                <a:endParaRPr lang="en-US" altLang="zh-CN" sz="1200" b="0" dirty="0">
                  <a:latin typeface="幼圆" panose="02010509060101010101" pitchFamily="49" charset="-122"/>
                  <a:ea typeface="幼圆" panose="02010509060101010101" pitchFamily="49" charset="-122"/>
                </a:endParaRPr>
              </a:p>
              <a:p>
                <a:pPr marL="628650" lvl="1" indent="-171450">
                  <a:buFont typeface="Wingdings" panose="05000000000000000000" pitchFamily="2" charset="2"/>
                  <a:buChar char="p"/>
                </a:pPr>
                <a:r>
                  <a:rPr lang="en-US" altLang="zh-CN" sz="1200" b="0" dirty="0" err="1">
                    <a:latin typeface="幼圆" panose="02010509060101010101" pitchFamily="49" charset="-122"/>
                    <a:ea typeface="幼圆" panose="02010509060101010101" pitchFamily="49" charset="-122"/>
                  </a:rPr>
                  <a:t>Relu</a:t>
                </a:r>
                <a:r>
                  <a:rPr lang="en-US" altLang="zh-CN" sz="1200" b="0" dirty="0">
                    <a:latin typeface="幼圆" panose="02010509060101010101" pitchFamily="49" charset="-122"/>
                    <a:ea typeface="幼圆" panose="02010509060101010101" pitchFamily="49" charset="-122"/>
                  </a:rPr>
                  <a:t>(</a:t>
                </a:r>
                <a:r>
                  <a:rPr lang="en-US" altLang="zh-CN" sz="1200" b="0" dirty="0" err="1">
                    <a:latin typeface="幼圆" panose="02010509060101010101" pitchFamily="49" charset="-122"/>
                    <a:ea typeface="幼圆" panose="02010509060101010101" pitchFamily="49" charset="-122"/>
                  </a:rPr>
                  <a:t>Recitified</a:t>
                </a:r>
                <a:r>
                  <a:rPr lang="en-US" altLang="zh-CN" sz="1200" b="0" dirty="0">
                    <a:latin typeface="幼圆" panose="02010509060101010101" pitchFamily="49" charset="-122"/>
                    <a:ea typeface="幼圆" panose="02010509060101010101" pitchFamily="49" charset="-122"/>
                  </a:rPr>
                  <a:t> Linear</a:t>
                </a:r>
                <a:r>
                  <a:rPr lang="en-US" altLang="zh-CN" sz="1200" b="0" baseline="0" dirty="0">
                    <a:latin typeface="幼圆" panose="02010509060101010101" pitchFamily="49" charset="-122"/>
                    <a:ea typeface="幼圆" panose="02010509060101010101" pitchFamily="49" charset="-122"/>
                  </a:rPr>
                  <a:t> Unit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线性整流函数 </a:t>
                </a:r>
                <a:r>
                  <a:rPr lang="en-US" altLang="zh-CN" sz="1200" b="0" i="0">
                    <a:latin typeface="Cambria Math" panose="02040503050406030204" pitchFamily="18" charset="0"/>
                    <a:ea typeface="Cambria" panose="02040503050406030204" pitchFamily="18" charset="0"/>
                  </a:rPr>
                  <a:t>g</a:t>
                </a:r>
                <a:r>
                  <a:rPr lang="en-US" altLang="zh-CN" sz="1200" b="0" i="0">
                    <a:latin typeface="Cambria Math" panose="02040503050406030204" pitchFamily="18" charset="0"/>
                    <a:ea typeface="幼圆" panose="02010509060101010101" pitchFamily="49" charset="-122"/>
                  </a:rPr>
                  <a:t>(𝑧)=</a:t>
                </a:r>
                <a:r>
                  <a:rPr lang="en-US" altLang="zh-CN" dirty="0">
                    <a:effectLst/>
                  </a:rPr>
                  <a:t>max(0, z) </a:t>
                </a:r>
                <a:endParaRPr lang="en-US" altLang="zh-CN" sz="1200" b="0" dirty="0">
                  <a:latin typeface="幼圆" panose="02010509060101010101" pitchFamily="49" charset="-122"/>
                  <a:ea typeface="幼圆" panose="02010509060101010101" pitchFamily="49" charset="-122"/>
                </a:endParaRPr>
              </a:p>
              <a:p>
                <a:pPr marL="457200" lvl="1" indent="0">
                  <a:buFont typeface="Wingdings" panose="05000000000000000000" pitchFamily="2" charset="2"/>
                  <a:buNone/>
                </a:pPr>
                <a:endParaRPr lang="en-US" altLang="zh-CN" sz="1200" b="0" dirty="0">
                  <a:latin typeface="幼圆" panose="02010509060101010101" pitchFamily="49" charset="-122"/>
                  <a:ea typeface="幼圆" panose="02010509060101010101" pitchFamily="49" charset="-122"/>
                </a:endParaRPr>
              </a:p>
              <a:p>
                <a:endParaRPr lang="zh-CN" altLang="en-US" dirty="0"/>
              </a:p>
            </p:txBody>
          </p:sp>
        </mc:Fallback>
      </mc:AlternateContent>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67</a:t>
            </a:fld>
            <a:endParaRPr lang="zh-CN" altLang="en-US"/>
          </a:p>
        </p:txBody>
      </p:sp>
    </p:spTree>
    <p:extLst>
      <p:ext uri="{BB962C8B-B14F-4D97-AF65-F5344CB8AC3E}">
        <p14:creationId xmlns:p14="http://schemas.microsoft.com/office/powerpoint/2010/main" val="396133715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0" fontAlgn="base" latinLnBrk="0" hangingPunct="0">
                  <a:lnSpc>
                    <a:spcPct val="110000"/>
                  </a:lnSpc>
                  <a:spcBef>
                    <a:spcPct val="30000"/>
                  </a:spcBef>
                  <a:spcAft>
                    <a:spcPct val="0"/>
                  </a:spcAft>
                  <a:buClrTx/>
                  <a:buSzPct val="120000"/>
                  <a:buFontTx/>
                  <a:buNone/>
                  <a:tabLst/>
                  <a:defRPr/>
                </a:pPr>
                <a:r>
                  <a:rPr lang="en-US" altLang="zh-CN" sz="1200">
                    <a:solidFill>
                      <a:srgbClr val="002060"/>
                    </a:solidFill>
                    <a:latin typeface="Times New Roman" panose="02020603050405020304" pitchFamily="18" charset="0"/>
                    <a:cs typeface="Times New Roman" panose="02020603050405020304" pitchFamily="18" charset="0"/>
                  </a:rPr>
                  <a:t>Pytorch</a:t>
                </a:r>
                <a:r>
                  <a:rPr lang="zh-CN" altLang="en-US" sz="1200">
                    <a:solidFill>
                      <a:srgbClr val="002060"/>
                    </a:solidFill>
                    <a:latin typeface="Times New Roman" panose="02020603050405020304" pitchFamily="18" charset="0"/>
                    <a:cs typeface="Times New Roman" panose="02020603050405020304" pitchFamily="18" charset="0"/>
                  </a:rPr>
                  <a:t>安装</a:t>
                </a:r>
                <a:br>
                  <a:rPr lang="en-US" altLang="zh-CN" sz="1200">
                    <a:solidFill>
                      <a:srgbClr val="002060"/>
                    </a:solidFill>
                    <a:latin typeface="Times New Roman" panose="02020603050405020304" pitchFamily="18" charset="0"/>
                    <a:cs typeface="Times New Roman" panose="02020603050405020304" pitchFamily="18" charset="0"/>
                  </a:rPr>
                </a:br>
                <a:r>
                  <a:rPr lang="zh-CN" altLang="en-US" sz="1200">
                    <a:solidFill>
                      <a:srgbClr val="002060"/>
                    </a:solidFill>
                    <a:latin typeface="Times New Roman" panose="02020603050405020304" pitchFamily="18" charset="0"/>
                    <a:cs typeface="Times New Roman" panose="02020603050405020304" pitchFamily="18" charset="0"/>
                  </a:rPr>
                  <a:t>（</a:t>
                </a:r>
                <a:r>
                  <a:rPr lang="en-US" altLang="zh-CN" sz="1200">
                    <a:solidFill>
                      <a:srgbClr val="002060"/>
                    </a:solidFill>
                    <a:latin typeface="Times New Roman" panose="02020603050405020304" pitchFamily="18" charset="0"/>
                    <a:cs typeface="Times New Roman" panose="02020603050405020304" pitchFamily="18" charset="0"/>
                  </a:rPr>
                  <a:t>1</a:t>
                </a:r>
                <a:r>
                  <a:rPr lang="zh-CN" altLang="en-US" sz="1200">
                    <a:solidFill>
                      <a:srgbClr val="002060"/>
                    </a:solidFill>
                    <a:latin typeface="Times New Roman" panose="02020603050405020304" pitchFamily="18" charset="0"/>
                    <a:cs typeface="Times New Roman" panose="02020603050405020304" pitchFamily="18" charset="0"/>
                  </a:rPr>
                  <a:t>）没有</a:t>
                </a:r>
                <a:r>
                  <a:rPr lang="en-US" altLang="zh-CN" sz="1200">
                    <a:solidFill>
                      <a:srgbClr val="002060"/>
                    </a:solidFill>
                    <a:latin typeface="Times New Roman" panose="02020603050405020304" pitchFamily="18" charset="0"/>
                    <a:cs typeface="Times New Roman" panose="02020603050405020304" pitchFamily="18" charset="0"/>
                  </a:rPr>
                  <a:t>GPU</a:t>
                </a:r>
                <a:r>
                  <a:rPr lang="zh-CN" altLang="en-US" sz="1200">
                    <a:solidFill>
                      <a:srgbClr val="002060"/>
                    </a:solidFill>
                    <a:latin typeface="Times New Roman" panose="02020603050405020304" pitchFamily="18" charset="0"/>
                    <a:cs typeface="Times New Roman" panose="02020603050405020304" pitchFamily="18" charset="0"/>
                  </a:rPr>
                  <a:t>，安装</a:t>
                </a:r>
                <a:r>
                  <a:rPr lang="en-US" altLang="zh-CN" sz="1200">
                    <a:solidFill>
                      <a:srgbClr val="002060"/>
                    </a:solidFill>
                    <a:latin typeface="Times New Roman" panose="02020603050405020304" pitchFamily="18" charset="0"/>
                    <a:cs typeface="Times New Roman" panose="02020603050405020304" pitchFamily="18" charset="0"/>
                  </a:rPr>
                  <a:t>CPU</a:t>
                </a:r>
                <a:r>
                  <a:rPr lang="zh-CN" altLang="en-US" sz="1200">
                    <a:solidFill>
                      <a:srgbClr val="002060"/>
                    </a:solidFill>
                    <a:latin typeface="Times New Roman" panose="02020603050405020304" pitchFamily="18" charset="0"/>
                    <a:cs typeface="Times New Roman" panose="02020603050405020304" pitchFamily="18" charset="0"/>
                  </a:rPr>
                  <a:t>版本：</a:t>
                </a:r>
                <a:r>
                  <a:rPr lang="en-US" altLang="zh-CN" sz="1200">
                    <a:solidFill>
                      <a:srgbClr val="002060"/>
                    </a:solidFill>
                    <a:latin typeface="Times New Roman" panose="02020603050405020304" pitchFamily="18" charset="0"/>
                    <a:cs typeface="Times New Roman" panose="02020603050405020304" pitchFamily="18" charset="0"/>
                  </a:rPr>
                  <a:t>conda install pytorch==1.6.0 torchvision==0.7.0 cpuonly -c pytorch</a:t>
                </a:r>
              </a:p>
              <a:p>
                <a:pPr marL="0" marR="0" lvl="0" indent="0" algn="l" defTabSz="914400" rtl="0" eaLnBrk="0" fontAlgn="base" latinLnBrk="0" hangingPunct="0">
                  <a:lnSpc>
                    <a:spcPct val="110000"/>
                  </a:lnSpc>
                  <a:spcBef>
                    <a:spcPct val="30000"/>
                  </a:spcBef>
                  <a:spcAft>
                    <a:spcPct val="0"/>
                  </a:spcAft>
                  <a:buClrTx/>
                  <a:buSzPct val="120000"/>
                  <a:buFontTx/>
                  <a:buNone/>
                  <a:tabLst/>
                  <a:defRPr/>
                </a:pPr>
                <a:r>
                  <a:rPr lang="zh-CN" altLang="en-US" sz="1200">
                    <a:solidFill>
                      <a:srgbClr val="002060"/>
                    </a:solidFill>
                    <a:latin typeface="Times New Roman" panose="02020603050405020304" pitchFamily="18" charset="0"/>
                    <a:cs typeface="Times New Roman" panose="02020603050405020304" pitchFamily="18" charset="0"/>
                  </a:rPr>
                  <a:t>（</a:t>
                </a:r>
                <a:r>
                  <a:rPr lang="en-US" altLang="zh-CN" sz="1200">
                    <a:solidFill>
                      <a:srgbClr val="002060"/>
                    </a:solidFill>
                    <a:latin typeface="Times New Roman" panose="02020603050405020304" pitchFamily="18" charset="0"/>
                    <a:cs typeface="Times New Roman" panose="02020603050405020304" pitchFamily="18" charset="0"/>
                  </a:rPr>
                  <a:t>2</a:t>
                </a:r>
                <a:r>
                  <a:rPr lang="zh-CN" altLang="en-US" sz="1200">
                    <a:solidFill>
                      <a:srgbClr val="002060"/>
                    </a:solidFill>
                    <a:latin typeface="Times New Roman" panose="02020603050405020304" pitchFamily="18" charset="0"/>
                    <a:cs typeface="Times New Roman" panose="02020603050405020304" pitchFamily="18" charset="0"/>
                  </a:rPr>
                  <a:t>）若有</a:t>
                </a:r>
                <a:r>
                  <a:rPr lang="en-US" altLang="zh-CN" sz="1200">
                    <a:solidFill>
                      <a:srgbClr val="002060"/>
                    </a:solidFill>
                    <a:latin typeface="Times New Roman" panose="02020603050405020304" pitchFamily="18" charset="0"/>
                    <a:cs typeface="Times New Roman" panose="02020603050405020304" pitchFamily="18" charset="0"/>
                  </a:rPr>
                  <a:t>GPU</a:t>
                </a:r>
                <a:r>
                  <a:rPr lang="zh-CN" altLang="en-US" sz="1200">
                    <a:solidFill>
                      <a:srgbClr val="002060"/>
                    </a:solidFill>
                    <a:latin typeface="Times New Roman" panose="02020603050405020304" pitchFamily="18" charset="0"/>
                    <a:cs typeface="Times New Roman" panose="02020603050405020304" pitchFamily="18" charset="0"/>
                  </a:rPr>
                  <a:t>，查看</a:t>
                </a:r>
                <a:r>
                  <a:rPr lang="en-US" altLang="zh-CN" sz="1200" b="0">
                    <a:solidFill>
                      <a:srgbClr val="002060"/>
                    </a:solidFill>
                    <a:ea typeface="微软雅黑" panose="020B0503020204020204" pitchFamily="34" charset="-122"/>
                  </a:rPr>
                  <a:t>CUDA</a:t>
                </a:r>
                <a:r>
                  <a:rPr lang="zh-CN" altLang="en-US" sz="1200" b="0">
                    <a:solidFill>
                      <a:srgbClr val="002060"/>
                    </a:solidFill>
                    <a:ea typeface="微软雅黑" panose="020B0503020204020204" pitchFamily="34" charset="-122"/>
                  </a:rPr>
                  <a:t>版本</a:t>
                </a:r>
                <a:endParaRPr lang="en-US" altLang="zh-CN" sz="1200" b="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0">
                  <a:lnSpc>
                    <a:spcPct val="110000"/>
                  </a:lnSpc>
                  <a:buSzPct val="120000"/>
                  <a:buNone/>
                </a:pPr>
                <a:r>
                  <a:rPr lang="en-US" altLang="zh-CN" sz="1200" b="0">
                    <a:solidFill>
                      <a:srgbClr val="002060"/>
                    </a:solidFill>
                    <a:ea typeface="微软雅黑" panose="020B0503020204020204" pitchFamily="34" charset="-122"/>
                  </a:rPr>
                  <a:t>         CUDA</a:t>
                </a:r>
                <a:r>
                  <a:rPr lang="zh-CN" altLang="en-US" sz="1200" b="0">
                    <a:solidFill>
                      <a:srgbClr val="002060"/>
                    </a:solidFill>
                    <a:ea typeface="微软雅黑" panose="020B0503020204020204" pitchFamily="34" charset="-122"/>
                  </a:rPr>
                  <a:t>：显卡厂商</a:t>
                </a:r>
                <a:r>
                  <a:rPr lang="en-US" altLang="zh-CN" sz="1200" b="0">
                    <a:solidFill>
                      <a:srgbClr val="002060"/>
                    </a:solidFill>
                    <a:ea typeface="微软雅黑" panose="020B0503020204020204" pitchFamily="34" charset="-122"/>
                  </a:rPr>
                  <a:t>NVIDIA</a:t>
                </a:r>
                <a:r>
                  <a:rPr lang="zh-CN" altLang="en-US" sz="1200" b="0">
                    <a:solidFill>
                      <a:srgbClr val="002060"/>
                    </a:solidFill>
                    <a:ea typeface="微软雅黑" panose="020B0503020204020204" pitchFamily="34" charset="-122"/>
                  </a:rPr>
                  <a:t>推出的运算平台，通用并行计算架构</a:t>
                </a:r>
                <a:endParaRPr lang="en-US" altLang="zh-CN" sz="1200" b="0">
                  <a:solidFill>
                    <a:srgbClr val="002060"/>
                  </a:solidFill>
                  <a:ea typeface="微软雅黑" panose="020B0503020204020204" pitchFamily="34" charset="-122"/>
                </a:endParaRPr>
              </a:p>
              <a:p>
                <a:pPr marL="0" indent="0">
                  <a:lnSpc>
                    <a:spcPct val="110000"/>
                  </a:lnSpc>
                  <a:buSzPct val="120000"/>
                  <a:buNone/>
                </a:pPr>
                <a:r>
                  <a:rPr lang="zh-CN" altLang="en-US" sz="1200" b="0">
                    <a:solidFill>
                      <a:srgbClr val="002060"/>
                    </a:solidFill>
                    <a:ea typeface="微软雅黑" panose="020B0503020204020204" pitchFamily="34" charset="-122"/>
                  </a:rPr>
                  <a:t>　　　　　     该架构使</a:t>
                </a:r>
                <a:r>
                  <a:rPr lang="en-US" altLang="zh-CN" sz="1200" b="0">
                    <a:solidFill>
                      <a:srgbClr val="002060"/>
                    </a:solidFill>
                    <a:ea typeface="微软雅黑" panose="020B0503020204020204" pitchFamily="34" charset="-122"/>
                  </a:rPr>
                  <a:t>GPU</a:t>
                </a:r>
                <a:r>
                  <a:rPr lang="zh-CN" altLang="en-US" sz="1200" b="0">
                    <a:solidFill>
                      <a:srgbClr val="002060"/>
                    </a:solidFill>
                    <a:ea typeface="微软雅黑" panose="020B0503020204020204" pitchFamily="34" charset="-122"/>
                  </a:rPr>
                  <a:t>能够解决复杂的计算问题</a:t>
                </a:r>
                <a:endParaRPr lang="en-US" altLang="zh-CN" sz="1200" b="0">
                  <a:solidFill>
                    <a:srgbClr val="002060"/>
                  </a:solidFill>
                  <a:ea typeface="微软雅黑" panose="020B0503020204020204" pitchFamily="34" charset="-122"/>
                </a:endParaRPr>
              </a:p>
              <a:p>
                <a:pPr marL="0" indent="0">
                  <a:lnSpc>
                    <a:spcPct val="110000"/>
                  </a:lnSpc>
                  <a:buSzPct val="120000"/>
                  <a:buNone/>
                </a:pPr>
                <a:r>
                  <a:rPr lang="zh-CN" altLang="en-US" sz="1200" b="0">
                    <a:solidFill>
                      <a:srgbClr val="002060"/>
                    </a:solidFill>
                    <a:ea typeface="微软雅黑" panose="020B0503020204020204" pitchFamily="34" charset="-122"/>
                  </a:rPr>
                  <a:t>　　　　　     一句话：提高速度</a:t>
                </a:r>
                <a:endParaRPr lang="en-US" altLang="zh-CN" sz="1200" b="0">
                  <a:solidFill>
                    <a:srgbClr val="002060"/>
                  </a:solidFill>
                  <a:ea typeface="微软雅黑" panose="020B0503020204020204" pitchFamily="34" charset="-122"/>
                </a:endParaRPr>
              </a:p>
              <a:p>
                <a:pPr marL="0" marR="0" lvl="0" indent="0" algn="l" defTabSz="914400" rtl="0" eaLnBrk="0" fontAlgn="base" latinLnBrk="0" hangingPunct="0">
                  <a:lnSpc>
                    <a:spcPct val="110000"/>
                  </a:lnSpc>
                  <a:spcBef>
                    <a:spcPct val="30000"/>
                  </a:spcBef>
                  <a:spcAft>
                    <a:spcPct val="0"/>
                  </a:spcAft>
                  <a:buClrTx/>
                  <a:buSzPct val="120000"/>
                  <a:buFontTx/>
                  <a:buNone/>
                  <a:tabLst/>
                  <a:defRPr/>
                </a:pPr>
                <a:endParaRPr lang="en-US" altLang="zh-CN" sz="1200">
                  <a:solidFill>
                    <a:srgbClr val="002060"/>
                  </a:solidFill>
                  <a:latin typeface="Times New Roman" panose="02020603050405020304" pitchFamily="18" charset="0"/>
                  <a:cs typeface="Times New Roman" panose="02020603050405020304" pitchFamily="18" charset="0"/>
                </a:endParaRPr>
              </a:p>
              <a:p>
                <a:pPr marL="0" indent="0">
                  <a:lnSpc>
                    <a:spcPct val="110000"/>
                  </a:lnSpc>
                  <a:buSzPct val="120000"/>
                  <a:buNone/>
                </a:pPr>
                <a:endParaRPr lang="zh-CN" altLang="en-US" dirty="0"/>
              </a:p>
            </p:txBody>
          </p:sp>
        </mc:Choice>
        <mc:Fallback xmlns="">
          <p:sp>
            <p:nvSpPr>
              <p:cNvPr id="3" name="备注占位符 2"/>
              <p:cNvSpPr>
                <a:spLocks noGrp="1"/>
              </p:cNvSpPr>
              <p:nvPr>
                <p:ph type="body" idx="1"/>
              </p:nvPr>
            </p:nvSpPr>
            <p:spPr/>
            <p:txBody>
              <a:bodyPr/>
              <a:lstStyle/>
              <a:p>
                <a:pPr marL="0" indent="0">
                  <a:buFont typeface="Wingdings" panose="05000000000000000000" pitchFamily="2" charset="2"/>
                  <a:buNone/>
                </a:pPr>
                <a:r>
                  <a:rPr lang="en-US" altLang="zh-CN" sz="1200" b="0" dirty="0">
                    <a:latin typeface="幼圆" panose="02010509060101010101" pitchFamily="49" charset="-122"/>
                    <a:ea typeface="幼圆" panose="02010509060101010101" pitchFamily="49" charset="-122"/>
                  </a:rPr>
                  <a:t>1. </a:t>
                </a:r>
                <a:r>
                  <a:rPr lang="zh-CN" altLang="en-US" sz="1200" b="0" dirty="0">
                    <a:latin typeface="幼圆" panose="02010509060101010101" pitchFamily="49" charset="-122"/>
                    <a:ea typeface="幼圆" panose="02010509060101010101" pitchFamily="49" charset="-122"/>
                  </a:rPr>
                  <a:t>理想激活函数是阶跃函数</a:t>
                </a:r>
                <a:r>
                  <a:rPr lang="en-US" altLang="zh-CN" sz="1200" b="0" dirty="0">
                    <a:latin typeface="幼圆" panose="02010509060101010101" pitchFamily="49" charset="-122"/>
                    <a:ea typeface="幼圆" panose="02010509060101010101" pitchFamily="49" charset="-122"/>
                  </a:rPr>
                  <a:t>, 0</a:t>
                </a:r>
                <a:r>
                  <a:rPr lang="zh-CN" altLang="en-US" sz="1200" b="0" dirty="0">
                    <a:latin typeface="幼圆" panose="02010509060101010101" pitchFamily="49" charset="-122"/>
                    <a:ea typeface="幼圆" panose="02010509060101010101" pitchFamily="49" charset="-122"/>
                  </a:rPr>
                  <a:t>表示抑制神经元而</a:t>
                </a:r>
                <a:r>
                  <a:rPr lang="en-US" altLang="zh-CN" sz="1200" b="0" dirty="0">
                    <a:latin typeface="幼圆" panose="02010509060101010101" pitchFamily="49" charset="-122"/>
                    <a:ea typeface="幼圆" panose="02010509060101010101" pitchFamily="49" charset="-122"/>
                  </a:rPr>
                  <a:t>1</a:t>
                </a:r>
                <a:r>
                  <a:rPr lang="zh-CN" altLang="en-US" sz="1200" b="0" dirty="0">
                    <a:latin typeface="幼圆" panose="02010509060101010101" pitchFamily="49" charset="-122"/>
                    <a:ea typeface="幼圆" panose="02010509060101010101" pitchFamily="49" charset="-122"/>
                  </a:rPr>
                  <a:t>表示激活神经元</a:t>
                </a:r>
                <a:endParaRPr lang="en-US" altLang="zh-CN" sz="1200" b="0" dirty="0">
                  <a:latin typeface="幼圆" panose="02010509060101010101" pitchFamily="49" charset="-122"/>
                  <a:ea typeface="幼圆" panose="02010509060101010101" pitchFamily="49" charset="-122"/>
                </a:endParaRPr>
              </a:p>
              <a:p>
                <a:pPr marL="0" indent="0">
                  <a:buFont typeface="Wingdings" panose="05000000000000000000" pitchFamily="2" charset="2"/>
                  <a:buNone/>
                </a:pPr>
                <a:r>
                  <a:rPr lang="en-US" altLang="zh-CN" sz="1200" b="0" dirty="0">
                    <a:latin typeface="幼圆" panose="02010509060101010101" pitchFamily="49" charset="-122"/>
                    <a:ea typeface="幼圆" panose="02010509060101010101" pitchFamily="49" charset="-122"/>
                  </a:rPr>
                  <a:t>2. </a:t>
                </a:r>
                <a:r>
                  <a:rPr lang="zh-CN" altLang="en-US" sz="1200" b="0" dirty="0">
                    <a:latin typeface="幼圆" panose="02010509060101010101" pitchFamily="49" charset="-122"/>
                    <a:ea typeface="幼圆" panose="02010509060101010101" pitchFamily="49" charset="-122"/>
                  </a:rPr>
                  <a:t>阶跃函数具有不连续、不光滑，数学特性不好</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常用的是 </a:t>
                </a:r>
                <a:r>
                  <a:rPr lang="en-US" altLang="zh-CN" sz="1200" b="0" dirty="0">
                    <a:latin typeface="幼圆" panose="02010509060101010101" pitchFamily="49" charset="-122"/>
                    <a:ea typeface="幼圆" panose="02010509060101010101" pitchFamily="49" charset="-122"/>
                  </a:rPr>
                  <a:t>Sigmoid </a:t>
                </a:r>
                <a:r>
                  <a:rPr lang="zh-CN" altLang="en-US" sz="1200" b="0" dirty="0">
                    <a:latin typeface="幼圆" panose="02010509060101010101" pitchFamily="49" charset="-122"/>
                    <a:ea typeface="幼圆" panose="02010509060101010101" pitchFamily="49" charset="-122"/>
                  </a:rPr>
                  <a:t>函数和</a:t>
                </a:r>
                <a:r>
                  <a:rPr lang="en-US" altLang="zh-CN" sz="1200" b="0" dirty="0">
                    <a:latin typeface="幼圆" panose="02010509060101010101" pitchFamily="49" charset="-122"/>
                    <a:ea typeface="幼圆" panose="02010509060101010101" pitchFamily="49" charset="-122"/>
                  </a:rPr>
                  <a:t>tanh</a:t>
                </a:r>
                <a:r>
                  <a:rPr lang="zh-CN" altLang="en-US" sz="1200" b="0" dirty="0">
                    <a:latin typeface="幼圆" panose="02010509060101010101" pitchFamily="49" charset="-122"/>
                    <a:ea typeface="幼圆" panose="02010509060101010101" pitchFamily="49" charset="-122"/>
                  </a:rPr>
                  <a:t>（双曲正切）等具有较好数学特性的函数。</a:t>
                </a:r>
                <a:endParaRPr lang="en-US" altLang="zh-CN" sz="1200" b="0" dirty="0">
                  <a:latin typeface="幼圆" panose="02010509060101010101" pitchFamily="49" charset="-122"/>
                  <a:ea typeface="幼圆" panose="02010509060101010101" pitchFamily="49" charset="-122"/>
                </a:endParaRPr>
              </a:p>
              <a:p>
                <a:pPr marL="628650" lvl="1" indent="-171450">
                  <a:buFont typeface="Wingdings" panose="05000000000000000000" pitchFamily="2" charset="2"/>
                  <a:buChar char="p"/>
                </a:pPr>
                <a:r>
                  <a:rPr lang="en-US" altLang="zh-CN" sz="1200" b="0" dirty="0">
                    <a:latin typeface="幼圆" panose="02010509060101010101" pitchFamily="49" charset="-122"/>
                    <a:ea typeface="幼圆" panose="02010509060101010101" pitchFamily="49" charset="-122"/>
                  </a:rPr>
                  <a:t>Sigmoid</a:t>
                </a:r>
                <a:r>
                  <a:rPr lang="zh-CN" altLang="en-US" sz="1200" b="0" dirty="0">
                    <a:latin typeface="幼圆" panose="02010509060101010101" pitchFamily="49" charset="-122"/>
                    <a:ea typeface="幼圆" panose="02010509060101010101" pitchFamily="49" charset="-122"/>
                  </a:rPr>
                  <a:t>函数</a:t>
                </a:r>
                <a:r>
                  <a:rPr lang="en-US" altLang="zh-CN" sz="1200" b="0" i="0">
                    <a:latin typeface="Cambria Math" panose="02040503050406030204" pitchFamily="18" charset="0"/>
                    <a:ea typeface="Cambria" panose="02040503050406030204" pitchFamily="18" charset="0"/>
                  </a:rPr>
                  <a:t>g</a:t>
                </a:r>
                <a:r>
                  <a:rPr lang="en-US" altLang="zh-CN" sz="1200" b="0" i="0">
                    <a:latin typeface="Cambria Math" panose="02040503050406030204" pitchFamily="18" charset="0"/>
                    <a:ea typeface="幼圆" panose="02010509060101010101" pitchFamily="49" charset="-122"/>
                  </a:rPr>
                  <a:t>(𝑧)=1/(1+𝑒^(−𝑧) )</a:t>
                </a:r>
                <a:r>
                  <a:rPr lang="zh-CN" altLang="en-US" sz="1200" b="0" dirty="0">
                    <a:latin typeface="幼圆" panose="02010509060101010101" pitchFamily="49" charset="-122"/>
                    <a:ea typeface="幼圆" panose="02010509060101010101" pitchFamily="49" charset="-122"/>
                  </a:rPr>
                  <a:t> </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将</a:t>
                </a:r>
                <a:r>
                  <a:rPr lang="en-US" altLang="zh-CN" sz="1200" b="0" dirty="0">
                    <a:latin typeface="幼圆" panose="02010509060101010101" pitchFamily="49" charset="-122"/>
                    <a:ea typeface="幼圆" panose="02010509060101010101" pitchFamily="49" charset="-122"/>
                  </a:rPr>
                  <a:t>[-</a:t>
                </a:r>
                <a:r>
                  <a:rPr lang="en-US" altLang="zh-CN" sz="1200" b="0" dirty="0">
                    <a:latin typeface="Cambria Math" panose="02040503050406030204" pitchFamily="18" charset="0"/>
                    <a:ea typeface="Cambria Math" panose="02040503050406030204" pitchFamily="18" charset="0"/>
                  </a:rPr>
                  <a: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范围的值映射到</a:t>
                </a:r>
                <a:r>
                  <a:rPr lang="en-US" altLang="zh-CN" sz="1200" b="0" dirty="0">
                    <a:latin typeface="幼圆" panose="02010509060101010101" pitchFamily="49" charset="-122"/>
                    <a:ea typeface="幼圆" panose="02010509060101010101" pitchFamily="49" charset="-122"/>
                  </a:rPr>
                  <a:t>[0,1];</a:t>
                </a:r>
              </a:p>
              <a:p>
                <a:pPr marL="628650" lvl="1" indent="-171450">
                  <a:buFont typeface="Wingdings" panose="05000000000000000000" pitchFamily="2" charset="2"/>
                  <a:buChar char="p"/>
                </a:pPr>
                <a:r>
                  <a:rPr lang="en-US" altLang="zh-CN" sz="1200" b="0" baseline="0" dirty="0" err="1">
                    <a:latin typeface="幼圆" panose="02010509060101010101" pitchFamily="49" charset="-122"/>
                    <a:ea typeface="幼圆" panose="02010509060101010101" pitchFamily="49" charset="-122"/>
                  </a:rPr>
                  <a:t>tanh</a:t>
                </a:r>
                <a:r>
                  <a:rPr lang="zh-CN" altLang="en-US" sz="1200" b="0" baseline="0" dirty="0">
                    <a:latin typeface="幼圆" panose="02010509060101010101" pitchFamily="49" charset="-122"/>
                    <a:ea typeface="幼圆" panose="02010509060101010101" pitchFamily="49" charset="-122"/>
                  </a:rPr>
                  <a:t>函数</a:t>
                </a:r>
                <a:r>
                  <a:rPr lang="en-US" altLang="zh-CN" sz="1200" b="0" i="0">
                    <a:latin typeface="Cambria Math" panose="02040503050406030204" pitchFamily="18" charset="0"/>
                    <a:ea typeface="Cambria" panose="02040503050406030204" pitchFamily="18" charset="0"/>
                  </a:rPr>
                  <a:t>g</a:t>
                </a:r>
                <a:r>
                  <a:rPr lang="en-US" altLang="zh-CN" sz="1200" b="0" i="0">
                    <a:latin typeface="Cambria Math" panose="02040503050406030204" pitchFamily="18" charset="0"/>
                    <a:ea typeface="幼圆" panose="02010509060101010101" pitchFamily="49" charset="-122"/>
                  </a:rPr>
                  <a:t>(𝑧)=(𝑒^𝑧−𝑒^(−𝑧))/(𝑒^𝑧+𝑒^(−𝑧) )</a:t>
                </a:r>
                <a:r>
                  <a:rPr lang="zh-CN" altLang="en-US" sz="1200" b="0" dirty="0">
                    <a:latin typeface="幼圆" panose="02010509060101010101" pitchFamily="49" charset="-122"/>
                    <a:ea typeface="幼圆" panose="02010509060101010101" pitchFamily="49" charset="-122"/>
                  </a:rPr>
                  <a:t> </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将</a:t>
                </a:r>
                <a:r>
                  <a:rPr lang="en-US" altLang="zh-CN" sz="1200" b="0" dirty="0">
                    <a:latin typeface="幼圆" panose="02010509060101010101" pitchFamily="49" charset="-122"/>
                    <a:ea typeface="幼圆" panose="02010509060101010101" pitchFamily="49" charset="-122"/>
                  </a:rPr>
                  <a:t>[-</a:t>
                </a:r>
                <a:r>
                  <a:rPr lang="en-US" altLang="zh-CN" sz="1200" b="0" dirty="0">
                    <a:latin typeface="Cambria Math" panose="02040503050406030204" pitchFamily="18" charset="0"/>
                    <a:ea typeface="Cambria Math" panose="02040503050406030204" pitchFamily="18" charset="0"/>
                  </a:rPr>
                  <a: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范围的值映射到</a:t>
                </a:r>
                <a:r>
                  <a:rPr lang="en-US" altLang="zh-CN" sz="1200" b="0" dirty="0">
                    <a:latin typeface="幼圆" panose="02010509060101010101" pitchFamily="49" charset="-122"/>
                    <a:ea typeface="幼圆" panose="02010509060101010101" pitchFamily="49" charset="-122"/>
                  </a:rPr>
                  <a:t>[-1,1]</a:t>
                </a:r>
                <a:r>
                  <a:rPr lang="zh-CN" altLang="en-US" sz="1200" b="0" dirty="0">
                    <a:latin typeface="幼圆" panose="02010509060101010101" pitchFamily="49" charset="-122"/>
                    <a:ea typeface="幼圆" panose="02010509060101010101" pitchFamily="49" charset="-122"/>
                  </a:rPr>
                  <a:t>。</a:t>
                </a:r>
                <a:endParaRPr lang="en-US" altLang="zh-CN" sz="1200" b="0" dirty="0">
                  <a:latin typeface="幼圆" panose="02010509060101010101" pitchFamily="49" charset="-122"/>
                  <a:ea typeface="幼圆" panose="02010509060101010101" pitchFamily="49" charset="-122"/>
                </a:endParaRPr>
              </a:p>
              <a:p>
                <a:pPr marL="628650" lvl="1" indent="-171450">
                  <a:buFont typeface="Wingdings" panose="05000000000000000000" pitchFamily="2" charset="2"/>
                  <a:buChar char="p"/>
                </a:pPr>
                <a:r>
                  <a:rPr lang="en-US" altLang="zh-CN" sz="1200" b="0" dirty="0" err="1">
                    <a:latin typeface="幼圆" panose="02010509060101010101" pitchFamily="49" charset="-122"/>
                    <a:ea typeface="幼圆" panose="02010509060101010101" pitchFamily="49" charset="-122"/>
                  </a:rPr>
                  <a:t>Relu</a:t>
                </a:r>
                <a:r>
                  <a:rPr lang="en-US" altLang="zh-CN" sz="1200" b="0" dirty="0">
                    <a:latin typeface="幼圆" panose="02010509060101010101" pitchFamily="49" charset="-122"/>
                    <a:ea typeface="幼圆" panose="02010509060101010101" pitchFamily="49" charset="-122"/>
                  </a:rPr>
                  <a:t>(</a:t>
                </a:r>
                <a:r>
                  <a:rPr lang="en-US" altLang="zh-CN" sz="1200" b="0" dirty="0" err="1">
                    <a:latin typeface="幼圆" panose="02010509060101010101" pitchFamily="49" charset="-122"/>
                    <a:ea typeface="幼圆" panose="02010509060101010101" pitchFamily="49" charset="-122"/>
                  </a:rPr>
                  <a:t>Recitified</a:t>
                </a:r>
                <a:r>
                  <a:rPr lang="en-US" altLang="zh-CN" sz="1200" b="0" dirty="0">
                    <a:latin typeface="幼圆" panose="02010509060101010101" pitchFamily="49" charset="-122"/>
                    <a:ea typeface="幼圆" panose="02010509060101010101" pitchFamily="49" charset="-122"/>
                  </a:rPr>
                  <a:t> Linear</a:t>
                </a:r>
                <a:r>
                  <a:rPr lang="en-US" altLang="zh-CN" sz="1200" b="0" baseline="0" dirty="0">
                    <a:latin typeface="幼圆" panose="02010509060101010101" pitchFamily="49" charset="-122"/>
                    <a:ea typeface="幼圆" panose="02010509060101010101" pitchFamily="49" charset="-122"/>
                  </a:rPr>
                  <a:t> Unit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线性整流函数 </a:t>
                </a:r>
                <a:r>
                  <a:rPr lang="en-US" altLang="zh-CN" sz="1200" b="0" i="0">
                    <a:latin typeface="Cambria Math" panose="02040503050406030204" pitchFamily="18" charset="0"/>
                    <a:ea typeface="Cambria" panose="02040503050406030204" pitchFamily="18" charset="0"/>
                  </a:rPr>
                  <a:t>g</a:t>
                </a:r>
                <a:r>
                  <a:rPr lang="en-US" altLang="zh-CN" sz="1200" b="0" i="0">
                    <a:latin typeface="Cambria Math" panose="02040503050406030204" pitchFamily="18" charset="0"/>
                    <a:ea typeface="幼圆" panose="02010509060101010101" pitchFamily="49" charset="-122"/>
                  </a:rPr>
                  <a:t>(𝑧)=</a:t>
                </a:r>
                <a:r>
                  <a:rPr lang="en-US" altLang="zh-CN" dirty="0">
                    <a:effectLst/>
                  </a:rPr>
                  <a:t>max(0, z) </a:t>
                </a:r>
                <a:endParaRPr lang="en-US" altLang="zh-CN" sz="1200" b="0" dirty="0">
                  <a:latin typeface="幼圆" panose="02010509060101010101" pitchFamily="49" charset="-122"/>
                  <a:ea typeface="幼圆" panose="02010509060101010101" pitchFamily="49" charset="-122"/>
                </a:endParaRPr>
              </a:p>
              <a:p>
                <a:pPr marL="457200" lvl="1" indent="0">
                  <a:buFont typeface="Wingdings" panose="05000000000000000000" pitchFamily="2" charset="2"/>
                  <a:buNone/>
                </a:pPr>
                <a:endParaRPr lang="en-US" altLang="zh-CN" sz="1200" b="0" dirty="0">
                  <a:latin typeface="幼圆" panose="02010509060101010101" pitchFamily="49" charset="-122"/>
                  <a:ea typeface="幼圆" panose="02010509060101010101" pitchFamily="49" charset="-122"/>
                </a:endParaRPr>
              </a:p>
              <a:p>
                <a:endParaRPr lang="zh-CN" altLang="en-US" dirty="0"/>
              </a:p>
            </p:txBody>
          </p:sp>
        </mc:Fallback>
      </mc:AlternateContent>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68</a:t>
            </a:fld>
            <a:endParaRPr lang="zh-CN" altLang="en-US"/>
          </a:p>
        </p:txBody>
      </p:sp>
    </p:spTree>
    <p:extLst>
      <p:ext uri="{BB962C8B-B14F-4D97-AF65-F5344CB8AC3E}">
        <p14:creationId xmlns:p14="http://schemas.microsoft.com/office/powerpoint/2010/main" val="28825969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0" fontAlgn="base" latinLnBrk="0" hangingPunct="0">
                  <a:lnSpc>
                    <a:spcPct val="110000"/>
                  </a:lnSpc>
                  <a:spcBef>
                    <a:spcPct val="30000"/>
                  </a:spcBef>
                  <a:spcAft>
                    <a:spcPct val="0"/>
                  </a:spcAft>
                  <a:buClrTx/>
                  <a:buSzPct val="120000"/>
                  <a:buFontTx/>
                  <a:buNone/>
                  <a:tabLst/>
                  <a:defRPr/>
                </a:pPr>
                <a:endParaRPr lang="en-US" altLang="zh-CN" sz="1200">
                  <a:solidFill>
                    <a:srgbClr val="002060"/>
                  </a:solidFill>
                  <a:latin typeface="Times New Roman" panose="02020603050405020304" pitchFamily="18" charset="0"/>
                  <a:cs typeface="Times New Roman" panose="02020603050405020304" pitchFamily="18" charset="0"/>
                </a:endParaRPr>
              </a:p>
              <a:p>
                <a:pPr marL="0" indent="0">
                  <a:lnSpc>
                    <a:spcPct val="110000"/>
                  </a:lnSpc>
                  <a:buSzPct val="120000"/>
                  <a:buNone/>
                </a:pPr>
                <a:endParaRPr lang="zh-CN" altLang="en-US" dirty="0"/>
              </a:p>
            </p:txBody>
          </p:sp>
        </mc:Choice>
        <mc:Fallback xmlns="">
          <p:sp>
            <p:nvSpPr>
              <p:cNvPr id="3" name="备注占位符 2"/>
              <p:cNvSpPr>
                <a:spLocks noGrp="1"/>
              </p:cNvSpPr>
              <p:nvPr>
                <p:ph type="body" idx="1"/>
              </p:nvPr>
            </p:nvSpPr>
            <p:spPr/>
            <p:txBody>
              <a:bodyPr/>
              <a:lstStyle/>
              <a:p>
                <a:pPr marL="0" indent="0">
                  <a:buFont typeface="Wingdings" panose="05000000000000000000" pitchFamily="2" charset="2"/>
                  <a:buNone/>
                </a:pPr>
                <a:r>
                  <a:rPr lang="en-US" altLang="zh-CN" sz="1200" b="0" dirty="0">
                    <a:latin typeface="幼圆" panose="02010509060101010101" pitchFamily="49" charset="-122"/>
                    <a:ea typeface="幼圆" panose="02010509060101010101" pitchFamily="49" charset="-122"/>
                  </a:rPr>
                  <a:t>1. </a:t>
                </a:r>
                <a:r>
                  <a:rPr lang="zh-CN" altLang="en-US" sz="1200" b="0" dirty="0">
                    <a:latin typeface="幼圆" panose="02010509060101010101" pitchFamily="49" charset="-122"/>
                    <a:ea typeface="幼圆" panose="02010509060101010101" pitchFamily="49" charset="-122"/>
                  </a:rPr>
                  <a:t>理想激活函数是阶跃函数</a:t>
                </a:r>
                <a:r>
                  <a:rPr lang="en-US" altLang="zh-CN" sz="1200" b="0" dirty="0">
                    <a:latin typeface="幼圆" panose="02010509060101010101" pitchFamily="49" charset="-122"/>
                    <a:ea typeface="幼圆" panose="02010509060101010101" pitchFamily="49" charset="-122"/>
                  </a:rPr>
                  <a:t>, 0</a:t>
                </a:r>
                <a:r>
                  <a:rPr lang="zh-CN" altLang="en-US" sz="1200" b="0" dirty="0">
                    <a:latin typeface="幼圆" panose="02010509060101010101" pitchFamily="49" charset="-122"/>
                    <a:ea typeface="幼圆" panose="02010509060101010101" pitchFamily="49" charset="-122"/>
                  </a:rPr>
                  <a:t>表示抑制神经元而</a:t>
                </a:r>
                <a:r>
                  <a:rPr lang="en-US" altLang="zh-CN" sz="1200" b="0" dirty="0">
                    <a:latin typeface="幼圆" panose="02010509060101010101" pitchFamily="49" charset="-122"/>
                    <a:ea typeface="幼圆" panose="02010509060101010101" pitchFamily="49" charset="-122"/>
                  </a:rPr>
                  <a:t>1</a:t>
                </a:r>
                <a:r>
                  <a:rPr lang="zh-CN" altLang="en-US" sz="1200" b="0" dirty="0">
                    <a:latin typeface="幼圆" panose="02010509060101010101" pitchFamily="49" charset="-122"/>
                    <a:ea typeface="幼圆" panose="02010509060101010101" pitchFamily="49" charset="-122"/>
                  </a:rPr>
                  <a:t>表示激活神经元</a:t>
                </a:r>
                <a:endParaRPr lang="en-US" altLang="zh-CN" sz="1200" b="0" dirty="0">
                  <a:latin typeface="幼圆" panose="02010509060101010101" pitchFamily="49" charset="-122"/>
                  <a:ea typeface="幼圆" panose="02010509060101010101" pitchFamily="49" charset="-122"/>
                </a:endParaRPr>
              </a:p>
              <a:p>
                <a:pPr marL="0" indent="0">
                  <a:buFont typeface="Wingdings" panose="05000000000000000000" pitchFamily="2" charset="2"/>
                  <a:buNone/>
                </a:pPr>
                <a:r>
                  <a:rPr lang="en-US" altLang="zh-CN" sz="1200" b="0" dirty="0">
                    <a:latin typeface="幼圆" panose="02010509060101010101" pitchFamily="49" charset="-122"/>
                    <a:ea typeface="幼圆" panose="02010509060101010101" pitchFamily="49" charset="-122"/>
                  </a:rPr>
                  <a:t>2. </a:t>
                </a:r>
                <a:r>
                  <a:rPr lang="zh-CN" altLang="en-US" sz="1200" b="0" dirty="0">
                    <a:latin typeface="幼圆" panose="02010509060101010101" pitchFamily="49" charset="-122"/>
                    <a:ea typeface="幼圆" panose="02010509060101010101" pitchFamily="49" charset="-122"/>
                  </a:rPr>
                  <a:t>阶跃函数具有不连续、不光滑，数学特性不好</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常用的是 </a:t>
                </a:r>
                <a:r>
                  <a:rPr lang="en-US" altLang="zh-CN" sz="1200" b="0" dirty="0">
                    <a:latin typeface="幼圆" panose="02010509060101010101" pitchFamily="49" charset="-122"/>
                    <a:ea typeface="幼圆" panose="02010509060101010101" pitchFamily="49" charset="-122"/>
                  </a:rPr>
                  <a:t>Sigmoid </a:t>
                </a:r>
                <a:r>
                  <a:rPr lang="zh-CN" altLang="en-US" sz="1200" b="0" dirty="0">
                    <a:latin typeface="幼圆" panose="02010509060101010101" pitchFamily="49" charset="-122"/>
                    <a:ea typeface="幼圆" panose="02010509060101010101" pitchFamily="49" charset="-122"/>
                  </a:rPr>
                  <a:t>函数和</a:t>
                </a:r>
                <a:r>
                  <a:rPr lang="en-US" altLang="zh-CN" sz="1200" b="0" dirty="0">
                    <a:latin typeface="幼圆" panose="02010509060101010101" pitchFamily="49" charset="-122"/>
                    <a:ea typeface="幼圆" panose="02010509060101010101" pitchFamily="49" charset="-122"/>
                  </a:rPr>
                  <a:t>tanh</a:t>
                </a:r>
                <a:r>
                  <a:rPr lang="zh-CN" altLang="en-US" sz="1200" b="0" dirty="0">
                    <a:latin typeface="幼圆" panose="02010509060101010101" pitchFamily="49" charset="-122"/>
                    <a:ea typeface="幼圆" panose="02010509060101010101" pitchFamily="49" charset="-122"/>
                  </a:rPr>
                  <a:t>（双曲正切）等具有较好数学特性的函数。</a:t>
                </a:r>
                <a:endParaRPr lang="en-US" altLang="zh-CN" sz="1200" b="0" dirty="0">
                  <a:latin typeface="幼圆" panose="02010509060101010101" pitchFamily="49" charset="-122"/>
                  <a:ea typeface="幼圆" panose="02010509060101010101" pitchFamily="49" charset="-122"/>
                </a:endParaRPr>
              </a:p>
              <a:p>
                <a:pPr marL="628650" lvl="1" indent="-171450">
                  <a:buFont typeface="Wingdings" panose="05000000000000000000" pitchFamily="2" charset="2"/>
                  <a:buChar char="p"/>
                </a:pPr>
                <a:r>
                  <a:rPr lang="en-US" altLang="zh-CN" sz="1200" b="0" dirty="0">
                    <a:latin typeface="幼圆" panose="02010509060101010101" pitchFamily="49" charset="-122"/>
                    <a:ea typeface="幼圆" panose="02010509060101010101" pitchFamily="49" charset="-122"/>
                  </a:rPr>
                  <a:t>Sigmoid</a:t>
                </a:r>
                <a:r>
                  <a:rPr lang="zh-CN" altLang="en-US" sz="1200" b="0" dirty="0">
                    <a:latin typeface="幼圆" panose="02010509060101010101" pitchFamily="49" charset="-122"/>
                    <a:ea typeface="幼圆" panose="02010509060101010101" pitchFamily="49" charset="-122"/>
                  </a:rPr>
                  <a:t>函数</a:t>
                </a:r>
                <a:r>
                  <a:rPr lang="en-US" altLang="zh-CN" sz="1200" b="0" i="0">
                    <a:latin typeface="Cambria Math" panose="02040503050406030204" pitchFamily="18" charset="0"/>
                    <a:ea typeface="Cambria" panose="02040503050406030204" pitchFamily="18" charset="0"/>
                  </a:rPr>
                  <a:t>g</a:t>
                </a:r>
                <a:r>
                  <a:rPr lang="en-US" altLang="zh-CN" sz="1200" b="0" i="0">
                    <a:latin typeface="Cambria Math" panose="02040503050406030204" pitchFamily="18" charset="0"/>
                    <a:ea typeface="幼圆" panose="02010509060101010101" pitchFamily="49" charset="-122"/>
                  </a:rPr>
                  <a:t>(𝑧)=1/(1+𝑒^(−𝑧) )</a:t>
                </a:r>
                <a:r>
                  <a:rPr lang="zh-CN" altLang="en-US" sz="1200" b="0" dirty="0">
                    <a:latin typeface="幼圆" panose="02010509060101010101" pitchFamily="49" charset="-122"/>
                    <a:ea typeface="幼圆" panose="02010509060101010101" pitchFamily="49" charset="-122"/>
                  </a:rPr>
                  <a:t> </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将</a:t>
                </a:r>
                <a:r>
                  <a:rPr lang="en-US" altLang="zh-CN" sz="1200" b="0" dirty="0">
                    <a:latin typeface="幼圆" panose="02010509060101010101" pitchFamily="49" charset="-122"/>
                    <a:ea typeface="幼圆" panose="02010509060101010101" pitchFamily="49" charset="-122"/>
                  </a:rPr>
                  <a:t>[-</a:t>
                </a:r>
                <a:r>
                  <a:rPr lang="en-US" altLang="zh-CN" sz="1200" b="0" dirty="0">
                    <a:latin typeface="Cambria Math" panose="02040503050406030204" pitchFamily="18" charset="0"/>
                    <a:ea typeface="Cambria Math" panose="02040503050406030204" pitchFamily="18" charset="0"/>
                  </a:rPr>
                  <a: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范围的值映射到</a:t>
                </a:r>
                <a:r>
                  <a:rPr lang="en-US" altLang="zh-CN" sz="1200" b="0" dirty="0">
                    <a:latin typeface="幼圆" panose="02010509060101010101" pitchFamily="49" charset="-122"/>
                    <a:ea typeface="幼圆" panose="02010509060101010101" pitchFamily="49" charset="-122"/>
                  </a:rPr>
                  <a:t>[0,1];</a:t>
                </a:r>
              </a:p>
              <a:p>
                <a:pPr marL="628650" lvl="1" indent="-171450">
                  <a:buFont typeface="Wingdings" panose="05000000000000000000" pitchFamily="2" charset="2"/>
                  <a:buChar char="p"/>
                </a:pPr>
                <a:r>
                  <a:rPr lang="en-US" altLang="zh-CN" sz="1200" b="0" baseline="0" dirty="0" err="1">
                    <a:latin typeface="幼圆" panose="02010509060101010101" pitchFamily="49" charset="-122"/>
                    <a:ea typeface="幼圆" panose="02010509060101010101" pitchFamily="49" charset="-122"/>
                  </a:rPr>
                  <a:t>tanh</a:t>
                </a:r>
                <a:r>
                  <a:rPr lang="zh-CN" altLang="en-US" sz="1200" b="0" baseline="0" dirty="0">
                    <a:latin typeface="幼圆" panose="02010509060101010101" pitchFamily="49" charset="-122"/>
                    <a:ea typeface="幼圆" panose="02010509060101010101" pitchFamily="49" charset="-122"/>
                  </a:rPr>
                  <a:t>函数</a:t>
                </a:r>
                <a:r>
                  <a:rPr lang="en-US" altLang="zh-CN" sz="1200" b="0" i="0">
                    <a:latin typeface="Cambria Math" panose="02040503050406030204" pitchFamily="18" charset="0"/>
                    <a:ea typeface="Cambria" panose="02040503050406030204" pitchFamily="18" charset="0"/>
                  </a:rPr>
                  <a:t>g</a:t>
                </a:r>
                <a:r>
                  <a:rPr lang="en-US" altLang="zh-CN" sz="1200" b="0" i="0">
                    <a:latin typeface="Cambria Math" panose="02040503050406030204" pitchFamily="18" charset="0"/>
                    <a:ea typeface="幼圆" panose="02010509060101010101" pitchFamily="49" charset="-122"/>
                  </a:rPr>
                  <a:t>(𝑧)=(𝑒^𝑧−𝑒^(−𝑧))/(𝑒^𝑧+𝑒^(−𝑧) )</a:t>
                </a:r>
                <a:r>
                  <a:rPr lang="zh-CN" altLang="en-US" sz="1200" b="0" dirty="0">
                    <a:latin typeface="幼圆" panose="02010509060101010101" pitchFamily="49" charset="-122"/>
                    <a:ea typeface="幼圆" panose="02010509060101010101" pitchFamily="49" charset="-122"/>
                  </a:rPr>
                  <a:t> </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将</a:t>
                </a:r>
                <a:r>
                  <a:rPr lang="en-US" altLang="zh-CN" sz="1200" b="0" dirty="0">
                    <a:latin typeface="幼圆" panose="02010509060101010101" pitchFamily="49" charset="-122"/>
                    <a:ea typeface="幼圆" panose="02010509060101010101" pitchFamily="49" charset="-122"/>
                  </a:rPr>
                  <a:t>[-</a:t>
                </a:r>
                <a:r>
                  <a:rPr lang="en-US" altLang="zh-CN" sz="1200" b="0" dirty="0">
                    <a:latin typeface="Cambria Math" panose="02040503050406030204" pitchFamily="18" charset="0"/>
                    <a:ea typeface="Cambria Math" panose="02040503050406030204" pitchFamily="18" charset="0"/>
                  </a:rPr>
                  <a: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范围的值映射到</a:t>
                </a:r>
                <a:r>
                  <a:rPr lang="en-US" altLang="zh-CN" sz="1200" b="0" dirty="0">
                    <a:latin typeface="幼圆" panose="02010509060101010101" pitchFamily="49" charset="-122"/>
                    <a:ea typeface="幼圆" panose="02010509060101010101" pitchFamily="49" charset="-122"/>
                  </a:rPr>
                  <a:t>[-1,1]</a:t>
                </a:r>
                <a:r>
                  <a:rPr lang="zh-CN" altLang="en-US" sz="1200" b="0" dirty="0">
                    <a:latin typeface="幼圆" panose="02010509060101010101" pitchFamily="49" charset="-122"/>
                    <a:ea typeface="幼圆" panose="02010509060101010101" pitchFamily="49" charset="-122"/>
                  </a:rPr>
                  <a:t>。</a:t>
                </a:r>
                <a:endParaRPr lang="en-US" altLang="zh-CN" sz="1200" b="0" dirty="0">
                  <a:latin typeface="幼圆" panose="02010509060101010101" pitchFamily="49" charset="-122"/>
                  <a:ea typeface="幼圆" panose="02010509060101010101" pitchFamily="49" charset="-122"/>
                </a:endParaRPr>
              </a:p>
              <a:p>
                <a:pPr marL="628650" lvl="1" indent="-171450">
                  <a:buFont typeface="Wingdings" panose="05000000000000000000" pitchFamily="2" charset="2"/>
                  <a:buChar char="p"/>
                </a:pPr>
                <a:r>
                  <a:rPr lang="en-US" altLang="zh-CN" sz="1200" b="0" dirty="0" err="1">
                    <a:latin typeface="幼圆" panose="02010509060101010101" pitchFamily="49" charset="-122"/>
                    <a:ea typeface="幼圆" panose="02010509060101010101" pitchFamily="49" charset="-122"/>
                  </a:rPr>
                  <a:t>Relu</a:t>
                </a:r>
                <a:r>
                  <a:rPr lang="en-US" altLang="zh-CN" sz="1200" b="0" dirty="0">
                    <a:latin typeface="幼圆" panose="02010509060101010101" pitchFamily="49" charset="-122"/>
                    <a:ea typeface="幼圆" panose="02010509060101010101" pitchFamily="49" charset="-122"/>
                  </a:rPr>
                  <a:t>(</a:t>
                </a:r>
                <a:r>
                  <a:rPr lang="en-US" altLang="zh-CN" sz="1200" b="0" dirty="0" err="1">
                    <a:latin typeface="幼圆" panose="02010509060101010101" pitchFamily="49" charset="-122"/>
                    <a:ea typeface="幼圆" panose="02010509060101010101" pitchFamily="49" charset="-122"/>
                  </a:rPr>
                  <a:t>Recitified</a:t>
                </a:r>
                <a:r>
                  <a:rPr lang="en-US" altLang="zh-CN" sz="1200" b="0" dirty="0">
                    <a:latin typeface="幼圆" panose="02010509060101010101" pitchFamily="49" charset="-122"/>
                    <a:ea typeface="幼圆" panose="02010509060101010101" pitchFamily="49" charset="-122"/>
                  </a:rPr>
                  <a:t> Linear</a:t>
                </a:r>
                <a:r>
                  <a:rPr lang="en-US" altLang="zh-CN" sz="1200" b="0" baseline="0" dirty="0">
                    <a:latin typeface="幼圆" panose="02010509060101010101" pitchFamily="49" charset="-122"/>
                    <a:ea typeface="幼圆" panose="02010509060101010101" pitchFamily="49" charset="-122"/>
                  </a:rPr>
                  <a:t> Unit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线性整流函数 </a:t>
                </a:r>
                <a:r>
                  <a:rPr lang="en-US" altLang="zh-CN" sz="1200" b="0" i="0">
                    <a:latin typeface="Cambria Math" panose="02040503050406030204" pitchFamily="18" charset="0"/>
                    <a:ea typeface="Cambria" panose="02040503050406030204" pitchFamily="18" charset="0"/>
                  </a:rPr>
                  <a:t>g</a:t>
                </a:r>
                <a:r>
                  <a:rPr lang="en-US" altLang="zh-CN" sz="1200" b="0" i="0">
                    <a:latin typeface="Cambria Math" panose="02040503050406030204" pitchFamily="18" charset="0"/>
                    <a:ea typeface="幼圆" panose="02010509060101010101" pitchFamily="49" charset="-122"/>
                  </a:rPr>
                  <a:t>(𝑧)=</a:t>
                </a:r>
                <a:r>
                  <a:rPr lang="en-US" altLang="zh-CN" dirty="0">
                    <a:effectLst/>
                  </a:rPr>
                  <a:t>max(0, z) </a:t>
                </a:r>
                <a:endParaRPr lang="en-US" altLang="zh-CN" sz="1200" b="0" dirty="0">
                  <a:latin typeface="幼圆" panose="02010509060101010101" pitchFamily="49" charset="-122"/>
                  <a:ea typeface="幼圆" panose="02010509060101010101" pitchFamily="49" charset="-122"/>
                </a:endParaRPr>
              </a:p>
              <a:p>
                <a:pPr marL="457200" lvl="1" indent="0">
                  <a:buFont typeface="Wingdings" panose="05000000000000000000" pitchFamily="2" charset="2"/>
                  <a:buNone/>
                </a:pPr>
                <a:endParaRPr lang="en-US" altLang="zh-CN" sz="1200" b="0" dirty="0">
                  <a:latin typeface="幼圆" panose="02010509060101010101" pitchFamily="49" charset="-122"/>
                  <a:ea typeface="幼圆" panose="02010509060101010101" pitchFamily="49" charset="-122"/>
                </a:endParaRPr>
              </a:p>
              <a:p>
                <a:endParaRPr lang="zh-CN" altLang="en-US" dirty="0"/>
              </a:p>
            </p:txBody>
          </p:sp>
        </mc:Fallback>
      </mc:AlternateContent>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69</a:t>
            </a:fld>
            <a:endParaRPr lang="zh-CN" altLang="en-US"/>
          </a:p>
        </p:txBody>
      </p:sp>
    </p:spTree>
    <p:extLst>
      <p:ext uri="{BB962C8B-B14F-4D97-AF65-F5344CB8AC3E}">
        <p14:creationId xmlns:p14="http://schemas.microsoft.com/office/powerpoint/2010/main" val="80722174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indent="0">
                  <a:lnSpc>
                    <a:spcPct val="110000"/>
                  </a:lnSpc>
                  <a:buSzPct val="120000"/>
                  <a:buNone/>
                </a:pPr>
                <a:endParaRPr lang="zh-CN" altLang="en-US" dirty="0"/>
              </a:p>
            </p:txBody>
          </p:sp>
        </mc:Choice>
        <mc:Fallback xmlns="">
          <p:sp>
            <p:nvSpPr>
              <p:cNvPr id="3" name="备注占位符 2"/>
              <p:cNvSpPr>
                <a:spLocks noGrp="1"/>
              </p:cNvSpPr>
              <p:nvPr>
                <p:ph type="body" idx="1"/>
              </p:nvPr>
            </p:nvSpPr>
            <p:spPr/>
            <p:txBody>
              <a:bodyPr/>
              <a:lstStyle/>
              <a:p>
                <a:pPr marL="0" indent="0">
                  <a:buFont typeface="Wingdings" panose="05000000000000000000" pitchFamily="2" charset="2"/>
                  <a:buNone/>
                </a:pPr>
                <a:r>
                  <a:rPr lang="en-US" altLang="zh-CN" sz="1200" b="0" dirty="0">
                    <a:latin typeface="幼圆" panose="02010509060101010101" pitchFamily="49" charset="-122"/>
                    <a:ea typeface="幼圆" panose="02010509060101010101" pitchFamily="49" charset="-122"/>
                  </a:rPr>
                  <a:t>1. </a:t>
                </a:r>
                <a:r>
                  <a:rPr lang="zh-CN" altLang="en-US" sz="1200" b="0" dirty="0">
                    <a:latin typeface="幼圆" panose="02010509060101010101" pitchFamily="49" charset="-122"/>
                    <a:ea typeface="幼圆" panose="02010509060101010101" pitchFamily="49" charset="-122"/>
                  </a:rPr>
                  <a:t>理想激活函数是阶跃函数</a:t>
                </a:r>
                <a:r>
                  <a:rPr lang="en-US" altLang="zh-CN" sz="1200" b="0" dirty="0">
                    <a:latin typeface="幼圆" panose="02010509060101010101" pitchFamily="49" charset="-122"/>
                    <a:ea typeface="幼圆" panose="02010509060101010101" pitchFamily="49" charset="-122"/>
                  </a:rPr>
                  <a:t>, 0</a:t>
                </a:r>
                <a:r>
                  <a:rPr lang="zh-CN" altLang="en-US" sz="1200" b="0" dirty="0">
                    <a:latin typeface="幼圆" panose="02010509060101010101" pitchFamily="49" charset="-122"/>
                    <a:ea typeface="幼圆" panose="02010509060101010101" pitchFamily="49" charset="-122"/>
                  </a:rPr>
                  <a:t>表示抑制神经元而</a:t>
                </a:r>
                <a:r>
                  <a:rPr lang="en-US" altLang="zh-CN" sz="1200" b="0" dirty="0">
                    <a:latin typeface="幼圆" panose="02010509060101010101" pitchFamily="49" charset="-122"/>
                    <a:ea typeface="幼圆" panose="02010509060101010101" pitchFamily="49" charset="-122"/>
                  </a:rPr>
                  <a:t>1</a:t>
                </a:r>
                <a:r>
                  <a:rPr lang="zh-CN" altLang="en-US" sz="1200" b="0" dirty="0">
                    <a:latin typeface="幼圆" panose="02010509060101010101" pitchFamily="49" charset="-122"/>
                    <a:ea typeface="幼圆" panose="02010509060101010101" pitchFamily="49" charset="-122"/>
                  </a:rPr>
                  <a:t>表示激活神经元</a:t>
                </a:r>
                <a:endParaRPr lang="en-US" altLang="zh-CN" sz="1200" b="0" dirty="0">
                  <a:latin typeface="幼圆" panose="02010509060101010101" pitchFamily="49" charset="-122"/>
                  <a:ea typeface="幼圆" panose="02010509060101010101" pitchFamily="49" charset="-122"/>
                </a:endParaRPr>
              </a:p>
              <a:p>
                <a:pPr marL="0" indent="0">
                  <a:buFont typeface="Wingdings" panose="05000000000000000000" pitchFamily="2" charset="2"/>
                  <a:buNone/>
                </a:pPr>
                <a:r>
                  <a:rPr lang="en-US" altLang="zh-CN" sz="1200" b="0" dirty="0">
                    <a:latin typeface="幼圆" panose="02010509060101010101" pitchFamily="49" charset="-122"/>
                    <a:ea typeface="幼圆" panose="02010509060101010101" pitchFamily="49" charset="-122"/>
                  </a:rPr>
                  <a:t>2. </a:t>
                </a:r>
                <a:r>
                  <a:rPr lang="zh-CN" altLang="en-US" sz="1200" b="0" dirty="0">
                    <a:latin typeface="幼圆" panose="02010509060101010101" pitchFamily="49" charset="-122"/>
                    <a:ea typeface="幼圆" panose="02010509060101010101" pitchFamily="49" charset="-122"/>
                  </a:rPr>
                  <a:t>阶跃函数具有不连续、不光滑，数学特性不好</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常用的是 </a:t>
                </a:r>
                <a:r>
                  <a:rPr lang="en-US" altLang="zh-CN" sz="1200" b="0" dirty="0">
                    <a:latin typeface="幼圆" panose="02010509060101010101" pitchFamily="49" charset="-122"/>
                    <a:ea typeface="幼圆" panose="02010509060101010101" pitchFamily="49" charset="-122"/>
                  </a:rPr>
                  <a:t>Sigmoid </a:t>
                </a:r>
                <a:r>
                  <a:rPr lang="zh-CN" altLang="en-US" sz="1200" b="0" dirty="0">
                    <a:latin typeface="幼圆" panose="02010509060101010101" pitchFamily="49" charset="-122"/>
                    <a:ea typeface="幼圆" panose="02010509060101010101" pitchFamily="49" charset="-122"/>
                  </a:rPr>
                  <a:t>函数和</a:t>
                </a:r>
                <a:r>
                  <a:rPr lang="en-US" altLang="zh-CN" sz="1200" b="0" dirty="0">
                    <a:latin typeface="幼圆" panose="02010509060101010101" pitchFamily="49" charset="-122"/>
                    <a:ea typeface="幼圆" panose="02010509060101010101" pitchFamily="49" charset="-122"/>
                  </a:rPr>
                  <a:t>tanh</a:t>
                </a:r>
                <a:r>
                  <a:rPr lang="zh-CN" altLang="en-US" sz="1200" b="0" dirty="0">
                    <a:latin typeface="幼圆" panose="02010509060101010101" pitchFamily="49" charset="-122"/>
                    <a:ea typeface="幼圆" panose="02010509060101010101" pitchFamily="49" charset="-122"/>
                  </a:rPr>
                  <a:t>（双曲正切）等具有较好数学特性的函数。</a:t>
                </a:r>
                <a:endParaRPr lang="en-US" altLang="zh-CN" sz="1200" b="0" dirty="0">
                  <a:latin typeface="幼圆" panose="02010509060101010101" pitchFamily="49" charset="-122"/>
                  <a:ea typeface="幼圆" panose="02010509060101010101" pitchFamily="49" charset="-122"/>
                </a:endParaRPr>
              </a:p>
              <a:p>
                <a:pPr marL="628650" lvl="1" indent="-171450">
                  <a:buFont typeface="Wingdings" panose="05000000000000000000" pitchFamily="2" charset="2"/>
                  <a:buChar char="p"/>
                </a:pPr>
                <a:r>
                  <a:rPr lang="en-US" altLang="zh-CN" sz="1200" b="0" dirty="0">
                    <a:latin typeface="幼圆" panose="02010509060101010101" pitchFamily="49" charset="-122"/>
                    <a:ea typeface="幼圆" panose="02010509060101010101" pitchFamily="49" charset="-122"/>
                  </a:rPr>
                  <a:t>Sigmoid</a:t>
                </a:r>
                <a:r>
                  <a:rPr lang="zh-CN" altLang="en-US" sz="1200" b="0" dirty="0">
                    <a:latin typeface="幼圆" panose="02010509060101010101" pitchFamily="49" charset="-122"/>
                    <a:ea typeface="幼圆" panose="02010509060101010101" pitchFamily="49" charset="-122"/>
                  </a:rPr>
                  <a:t>函数</a:t>
                </a:r>
                <a:r>
                  <a:rPr lang="en-US" altLang="zh-CN" sz="1200" b="0" i="0">
                    <a:latin typeface="Cambria Math" panose="02040503050406030204" pitchFamily="18" charset="0"/>
                    <a:ea typeface="Cambria" panose="02040503050406030204" pitchFamily="18" charset="0"/>
                  </a:rPr>
                  <a:t>g</a:t>
                </a:r>
                <a:r>
                  <a:rPr lang="en-US" altLang="zh-CN" sz="1200" b="0" i="0">
                    <a:latin typeface="Cambria Math" panose="02040503050406030204" pitchFamily="18" charset="0"/>
                    <a:ea typeface="幼圆" panose="02010509060101010101" pitchFamily="49" charset="-122"/>
                  </a:rPr>
                  <a:t>(𝑧)=1/(1+𝑒^(−𝑧) )</a:t>
                </a:r>
                <a:r>
                  <a:rPr lang="zh-CN" altLang="en-US" sz="1200" b="0" dirty="0">
                    <a:latin typeface="幼圆" panose="02010509060101010101" pitchFamily="49" charset="-122"/>
                    <a:ea typeface="幼圆" panose="02010509060101010101" pitchFamily="49" charset="-122"/>
                  </a:rPr>
                  <a:t> </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将</a:t>
                </a:r>
                <a:r>
                  <a:rPr lang="en-US" altLang="zh-CN" sz="1200" b="0" dirty="0">
                    <a:latin typeface="幼圆" panose="02010509060101010101" pitchFamily="49" charset="-122"/>
                    <a:ea typeface="幼圆" panose="02010509060101010101" pitchFamily="49" charset="-122"/>
                  </a:rPr>
                  <a:t>[-</a:t>
                </a:r>
                <a:r>
                  <a:rPr lang="en-US" altLang="zh-CN" sz="1200" b="0" dirty="0">
                    <a:latin typeface="Cambria Math" panose="02040503050406030204" pitchFamily="18" charset="0"/>
                    <a:ea typeface="Cambria Math" panose="02040503050406030204" pitchFamily="18" charset="0"/>
                  </a:rPr>
                  <a: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范围的值映射到</a:t>
                </a:r>
                <a:r>
                  <a:rPr lang="en-US" altLang="zh-CN" sz="1200" b="0" dirty="0">
                    <a:latin typeface="幼圆" panose="02010509060101010101" pitchFamily="49" charset="-122"/>
                    <a:ea typeface="幼圆" panose="02010509060101010101" pitchFamily="49" charset="-122"/>
                  </a:rPr>
                  <a:t>[0,1];</a:t>
                </a:r>
              </a:p>
              <a:p>
                <a:pPr marL="628650" lvl="1" indent="-171450">
                  <a:buFont typeface="Wingdings" panose="05000000000000000000" pitchFamily="2" charset="2"/>
                  <a:buChar char="p"/>
                </a:pPr>
                <a:r>
                  <a:rPr lang="en-US" altLang="zh-CN" sz="1200" b="0" baseline="0" dirty="0" err="1">
                    <a:latin typeface="幼圆" panose="02010509060101010101" pitchFamily="49" charset="-122"/>
                    <a:ea typeface="幼圆" panose="02010509060101010101" pitchFamily="49" charset="-122"/>
                  </a:rPr>
                  <a:t>tanh</a:t>
                </a:r>
                <a:r>
                  <a:rPr lang="zh-CN" altLang="en-US" sz="1200" b="0" baseline="0" dirty="0">
                    <a:latin typeface="幼圆" panose="02010509060101010101" pitchFamily="49" charset="-122"/>
                    <a:ea typeface="幼圆" panose="02010509060101010101" pitchFamily="49" charset="-122"/>
                  </a:rPr>
                  <a:t>函数</a:t>
                </a:r>
                <a:r>
                  <a:rPr lang="en-US" altLang="zh-CN" sz="1200" b="0" i="0">
                    <a:latin typeface="Cambria Math" panose="02040503050406030204" pitchFamily="18" charset="0"/>
                    <a:ea typeface="Cambria" panose="02040503050406030204" pitchFamily="18" charset="0"/>
                  </a:rPr>
                  <a:t>g</a:t>
                </a:r>
                <a:r>
                  <a:rPr lang="en-US" altLang="zh-CN" sz="1200" b="0" i="0">
                    <a:latin typeface="Cambria Math" panose="02040503050406030204" pitchFamily="18" charset="0"/>
                    <a:ea typeface="幼圆" panose="02010509060101010101" pitchFamily="49" charset="-122"/>
                  </a:rPr>
                  <a:t>(𝑧)=(𝑒^𝑧−𝑒^(−𝑧))/(𝑒^𝑧+𝑒^(−𝑧) )</a:t>
                </a:r>
                <a:r>
                  <a:rPr lang="zh-CN" altLang="en-US" sz="1200" b="0" dirty="0">
                    <a:latin typeface="幼圆" panose="02010509060101010101" pitchFamily="49" charset="-122"/>
                    <a:ea typeface="幼圆" panose="02010509060101010101" pitchFamily="49" charset="-122"/>
                  </a:rPr>
                  <a:t> </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将</a:t>
                </a:r>
                <a:r>
                  <a:rPr lang="en-US" altLang="zh-CN" sz="1200" b="0" dirty="0">
                    <a:latin typeface="幼圆" panose="02010509060101010101" pitchFamily="49" charset="-122"/>
                    <a:ea typeface="幼圆" panose="02010509060101010101" pitchFamily="49" charset="-122"/>
                  </a:rPr>
                  <a:t>[-</a:t>
                </a:r>
                <a:r>
                  <a:rPr lang="en-US" altLang="zh-CN" sz="1200" b="0" dirty="0">
                    <a:latin typeface="Cambria Math" panose="02040503050406030204" pitchFamily="18" charset="0"/>
                    <a:ea typeface="Cambria Math" panose="02040503050406030204" pitchFamily="18" charset="0"/>
                  </a:rPr>
                  <a: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范围的值映射到</a:t>
                </a:r>
                <a:r>
                  <a:rPr lang="en-US" altLang="zh-CN" sz="1200" b="0" dirty="0">
                    <a:latin typeface="幼圆" panose="02010509060101010101" pitchFamily="49" charset="-122"/>
                    <a:ea typeface="幼圆" panose="02010509060101010101" pitchFamily="49" charset="-122"/>
                  </a:rPr>
                  <a:t>[-1,1]</a:t>
                </a:r>
                <a:r>
                  <a:rPr lang="zh-CN" altLang="en-US" sz="1200" b="0" dirty="0">
                    <a:latin typeface="幼圆" panose="02010509060101010101" pitchFamily="49" charset="-122"/>
                    <a:ea typeface="幼圆" panose="02010509060101010101" pitchFamily="49" charset="-122"/>
                  </a:rPr>
                  <a:t>。</a:t>
                </a:r>
                <a:endParaRPr lang="en-US" altLang="zh-CN" sz="1200" b="0" dirty="0">
                  <a:latin typeface="幼圆" panose="02010509060101010101" pitchFamily="49" charset="-122"/>
                  <a:ea typeface="幼圆" panose="02010509060101010101" pitchFamily="49" charset="-122"/>
                </a:endParaRPr>
              </a:p>
              <a:p>
                <a:pPr marL="628650" lvl="1" indent="-171450">
                  <a:buFont typeface="Wingdings" panose="05000000000000000000" pitchFamily="2" charset="2"/>
                  <a:buChar char="p"/>
                </a:pPr>
                <a:r>
                  <a:rPr lang="en-US" altLang="zh-CN" sz="1200" b="0" dirty="0" err="1">
                    <a:latin typeface="幼圆" panose="02010509060101010101" pitchFamily="49" charset="-122"/>
                    <a:ea typeface="幼圆" panose="02010509060101010101" pitchFamily="49" charset="-122"/>
                  </a:rPr>
                  <a:t>Relu</a:t>
                </a:r>
                <a:r>
                  <a:rPr lang="en-US" altLang="zh-CN" sz="1200" b="0" dirty="0">
                    <a:latin typeface="幼圆" panose="02010509060101010101" pitchFamily="49" charset="-122"/>
                    <a:ea typeface="幼圆" panose="02010509060101010101" pitchFamily="49" charset="-122"/>
                  </a:rPr>
                  <a:t>(</a:t>
                </a:r>
                <a:r>
                  <a:rPr lang="en-US" altLang="zh-CN" sz="1200" b="0" dirty="0" err="1">
                    <a:latin typeface="幼圆" panose="02010509060101010101" pitchFamily="49" charset="-122"/>
                    <a:ea typeface="幼圆" panose="02010509060101010101" pitchFamily="49" charset="-122"/>
                  </a:rPr>
                  <a:t>Recitified</a:t>
                </a:r>
                <a:r>
                  <a:rPr lang="en-US" altLang="zh-CN" sz="1200" b="0" dirty="0">
                    <a:latin typeface="幼圆" panose="02010509060101010101" pitchFamily="49" charset="-122"/>
                    <a:ea typeface="幼圆" panose="02010509060101010101" pitchFamily="49" charset="-122"/>
                  </a:rPr>
                  <a:t> Linear</a:t>
                </a:r>
                <a:r>
                  <a:rPr lang="en-US" altLang="zh-CN" sz="1200" b="0" baseline="0" dirty="0">
                    <a:latin typeface="幼圆" panose="02010509060101010101" pitchFamily="49" charset="-122"/>
                    <a:ea typeface="幼圆" panose="02010509060101010101" pitchFamily="49" charset="-122"/>
                  </a:rPr>
                  <a:t> Unit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线性整流函数 </a:t>
                </a:r>
                <a:r>
                  <a:rPr lang="en-US" altLang="zh-CN" sz="1200" b="0" i="0">
                    <a:latin typeface="Cambria Math" panose="02040503050406030204" pitchFamily="18" charset="0"/>
                    <a:ea typeface="Cambria" panose="02040503050406030204" pitchFamily="18" charset="0"/>
                  </a:rPr>
                  <a:t>g</a:t>
                </a:r>
                <a:r>
                  <a:rPr lang="en-US" altLang="zh-CN" sz="1200" b="0" i="0">
                    <a:latin typeface="Cambria Math" panose="02040503050406030204" pitchFamily="18" charset="0"/>
                    <a:ea typeface="幼圆" panose="02010509060101010101" pitchFamily="49" charset="-122"/>
                  </a:rPr>
                  <a:t>(𝑧)=</a:t>
                </a:r>
                <a:r>
                  <a:rPr lang="en-US" altLang="zh-CN" dirty="0">
                    <a:effectLst/>
                  </a:rPr>
                  <a:t>max(0, z) </a:t>
                </a:r>
                <a:endParaRPr lang="en-US" altLang="zh-CN" sz="1200" b="0" dirty="0">
                  <a:latin typeface="幼圆" panose="02010509060101010101" pitchFamily="49" charset="-122"/>
                  <a:ea typeface="幼圆" panose="02010509060101010101" pitchFamily="49" charset="-122"/>
                </a:endParaRPr>
              </a:p>
              <a:p>
                <a:pPr marL="457200" lvl="1" indent="0">
                  <a:buFont typeface="Wingdings" panose="05000000000000000000" pitchFamily="2" charset="2"/>
                  <a:buNone/>
                </a:pPr>
                <a:endParaRPr lang="en-US" altLang="zh-CN" sz="1200" b="0" dirty="0">
                  <a:latin typeface="幼圆" panose="02010509060101010101" pitchFamily="49" charset="-122"/>
                  <a:ea typeface="幼圆" panose="02010509060101010101" pitchFamily="49" charset="-122"/>
                </a:endParaRPr>
              </a:p>
              <a:p>
                <a:endParaRPr lang="zh-CN" altLang="en-US" dirty="0"/>
              </a:p>
            </p:txBody>
          </p:sp>
        </mc:Fallback>
      </mc:AlternateContent>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70</a:t>
            </a:fld>
            <a:endParaRPr lang="zh-CN" altLang="en-US"/>
          </a:p>
        </p:txBody>
      </p:sp>
    </p:spTree>
    <p:extLst>
      <p:ext uri="{BB962C8B-B14F-4D97-AF65-F5344CB8AC3E}">
        <p14:creationId xmlns:p14="http://schemas.microsoft.com/office/powerpoint/2010/main" val="299415153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indent="0">
                  <a:lnSpc>
                    <a:spcPct val="110000"/>
                  </a:lnSpc>
                  <a:buSzPct val="120000"/>
                  <a:buNone/>
                </a:pPr>
                <a:endParaRPr lang="zh-CN" altLang="en-US" dirty="0"/>
              </a:p>
            </p:txBody>
          </p:sp>
        </mc:Choice>
        <mc:Fallback xmlns="">
          <p:sp>
            <p:nvSpPr>
              <p:cNvPr id="3" name="备注占位符 2"/>
              <p:cNvSpPr>
                <a:spLocks noGrp="1"/>
              </p:cNvSpPr>
              <p:nvPr>
                <p:ph type="body" idx="1"/>
              </p:nvPr>
            </p:nvSpPr>
            <p:spPr/>
            <p:txBody>
              <a:bodyPr/>
              <a:lstStyle/>
              <a:p>
                <a:pPr marL="0" indent="0">
                  <a:buFont typeface="Wingdings" panose="05000000000000000000" pitchFamily="2" charset="2"/>
                  <a:buNone/>
                </a:pPr>
                <a:r>
                  <a:rPr lang="en-US" altLang="zh-CN" sz="1200" b="0" dirty="0">
                    <a:latin typeface="幼圆" panose="02010509060101010101" pitchFamily="49" charset="-122"/>
                    <a:ea typeface="幼圆" panose="02010509060101010101" pitchFamily="49" charset="-122"/>
                  </a:rPr>
                  <a:t>1. </a:t>
                </a:r>
                <a:r>
                  <a:rPr lang="zh-CN" altLang="en-US" sz="1200" b="0" dirty="0">
                    <a:latin typeface="幼圆" panose="02010509060101010101" pitchFamily="49" charset="-122"/>
                    <a:ea typeface="幼圆" panose="02010509060101010101" pitchFamily="49" charset="-122"/>
                  </a:rPr>
                  <a:t>理想激活函数是阶跃函数</a:t>
                </a:r>
                <a:r>
                  <a:rPr lang="en-US" altLang="zh-CN" sz="1200" b="0" dirty="0">
                    <a:latin typeface="幼圆" panose="02010509060101010101" pitchFamily="49" charset="-122"/>
                    <a:ea typeface="幼圆" panose="02010509060101010101" pitchFamily="49" charset="-122"/>
                  </a:rPr>
                  <a:t>, 0</a:t>
                </a:r>
                <a:r>
                  <a:rPr lang="zh-CN" altLang="en-US" sz="1200" b="0" dirty="0">
                    <a:latin typeface="幼圆" panose="02010509060101010101" pitchFamily="49" charset="-122"/>
                    <a:ea typeface="幼圆" panose="02010509060101010101" pitchFamily="49" charset="-122"/>
                  </a:rPr>
                  <a:t>表示抑制神经元而</a:t>
                </a:r>
                <a:r>
                  <a:rPr lang="en-US" altLang="zh-CN" sz="1200" b="0" dirty="0">
                    <a:latin typeface="幼圆" panose="02010509060101010101" pitchFamily="49" charset="-122"/>
                    <a:ea typeface="幼圆" panose="02010509060101010101" pitchFamily="49" charset="-122"/>
                  </a:rPr>
                  <a:t>1</a:t>
                </a:r>
                <a:r>
                  <a:rPr lang="zh-CN" altLang="en-US" sz="1200" b="0" dirty="0">
                    <a:latin typeface="幼圆" panose="02010509060101010101" pitchFamily="49" charset="-122"/>
                    <a:ea typeface="幼圆" panose="02010509060101010101" pitchFamily="49" charset="-122"/>
                  </a:rPr>
                  <a:t>表示激活神经元</a:t>
                </a:r>
                <a:endParaRPr lang="en-US" altLang="zh-CN" sz="1200" b="0" dirty="0">
                  <a:latin typeface="幼圆" panose="02010509060101010101" pitchFamily="49" charset="-122"/>
                  <a:ea typeface="幼圆" panose="02010509060101010101" pitchFamily="49" charset="-122"/>
                </a:endParaRPr>
              </a:p>
              <a:p>
                <a:pPr marL="0" indent="0">
                  <a:buFont typeface="Wingdings" panose="05000000000000000000" pitchFamily="2" charset="2"/>
                  <a:buNone/>
                </a:pPr>
                <a:r>
                  <a:rPr lang="en-US" altLang="zh-CN" sz="1200" b="0" dirty="0">
                    <a:latin typeface="幼圆" panose="02010509060101010101" pitchFamily="49" charset="-122"/>
                    <a:ea typeface="幼圆" panose="02010509060101010101" pitchFamily="49" charset="-122"/>
                  </a:rPr>
                  <a:t>2. </a:t>
                </a:r>
                <a:r>
                  <a:rPr lang="zh-CN" altLang="en-US" sz="1200" b="0" dirty="0">
                    <a:latin typeface="幼圆" panose="02010509060101010101" pitchFamily="49" charset="-122"/>
                    <a:ea typeface="幼圆" panose="02010509060101010101" pitchFamily="49" charset="-122"/>
                  </a:rPr>
                  <a:t>阶跃函数具有不连续、不光滑，数学特性不好</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常用的是 </a:t>
                </a:r>
                <a:r>
                  <a:rPr lang="en-US" altLang="zh-CN" sz="1200" b="0" dirty="0">
                    <a:latin typeface="幼圆" panose="02010509060101010101" pitchFamily="49" charset="-122"/>
                    <a:ea typeface="幼圆" panose="02010509060101010101" pitchFamily="49" charset="-122"/>
                  </a:rPr>
                  <a:t>Sigmoid </a:t>
                </a:r>
                <a:r>
                  <a:rPr lang="zh-CN" altLang="en-US" sz="1200" b="0" dirty="0">
                    <a:latin typeface="幼圆" panose="02010509060101010101" pitchFamily="49" charset="-122"/>
                    <a:ea typeface="幼圆" panose="02010509060101010101" pitchFamily="49" charset="-122"/>
                  </a:rPr>
                  <a:t>函数和</a:t>
                </a:r>
                <a:r>
                  <a:rPr lang="en-US" altLang="zh-CN" sz="1200" b="0" dirty="0">
                    <a:latin typeface="幼圆" panose="02010509060101010101" pitchFamily="49" charset="-122"/>
                    <a:ea typeface="幼圆" panose="02010509060101010101" pitchFamily="49" charset="-122"/>
                  </a:rPr>
                  <a:t>tanh</a:t>
                </a:r>
                <a:r>
                  <a:rPr lang="zh-CN" altLang="en-US" sz="1200" b="0" dirty="0">
                    <a:latin typeface="幼圆" panose="02010509060101010101" pitchFamily="49" charset="-122"/>
                    <a:ea typeface="幼圆" panose="02010509060101010101" pitchFamily="49" charset="-122"/>
                  </a:rPr>
                  <a:t>（双曲正切）等具有较好数学特性的函数。</a:t>
                </a:r>
                <a:endParaRPr lang="en-US" altLang="zh-CN" sz="1200" b="0" dirty="0">
                  <a:latin typeface="幼圆" panose="02010509060101010101" pitchFamily="49" charset="-122"/>
                  <a:ea typeface="幼圆" panose="02010509060101010101" pitchFamily="49" charset="-122"/>
                </a:endParaRPr>
              </a:p>
              <a:p>
                <a:pPr marL="628650" lvl="1" indent="-171450">
                  <a:buFont typeface="Wingdings" panose="05000000000000000000" pitchFamily="2" charset="2"/>
                  <a:buChar char="p"/>
                </a:pPr>
                <a:r>
                  <a:rPr lang="en-US" altLang="zh-CN" sz="1200" b="0" dirty="0">
                    <a:latin typeface="幼圆" panose="02010509060101010101" pitchFamily="49" charset="-122"/>
                    <a:ea typeface="幼圆" panose="02010509060101010101" pitchFamily="49" charset="-122"/>
                  </a:rPr>
                  <a:t>Sigmoid</a:t>
                </a:r>
                <a:r>
                  <a:rPr lang="zh-CN" altLang="en-US" sz="1200" b="0" dirty="0">
                    <a:latin typeface="幼圆" panose="02010509060101010101" pitchFamily="49" charset="-122"/>
                    <a:ea typeface="幼圆" panose="02010509060101010101" pitchFamily="49" charset="-122"/>
                  </a:rPr>
                  <a:t>函数</a:t>
                </a:r>
                <a:r>
                  <a:rPr lang="en-US" altLang="zh-CN" sz="1200" b="0" i="0">
                    <a:latin typeface="Cambria Math" panose="02040503050406030204" pitchFamily="18" charset="0"/>
                    <a:ea typeface="Cambria" panose="02040503050406030204" pitchFamily="18" charset="0"/>
                  </a:rPr>
                  <a:t>g</a:t>
                </a:r>
                <a:r>
                  <a:rPr lang="en-US" altLang="zh-CN" sz="1200" b="0" i="0">
                    <a:latin typeface="Cambria Math" panose="02040503050406030204" pitchFamily="18" charset="0"/>
                    <a:ea typeface="幼圆" panose="02010509060101010101" pitchFamily="49" charset="-122"/>
                  </a:rPr>
                  <a:t>(𝑧)=1/(1+𝑒^(−𝑧) )</a:t>
                </a:r>
                <a:r>
                  <a:rPr lang="zh-CN" altLang="en-US" sz="1200" b="0" dirty="0">
                    <a:latin typeface="幼圆" panose="02010509060101010101" pitchFamily="49" charset="-122"/>
                    <a:ea typeface="幼圆" panose="02010509060101010101" pitchFamily="49" charset="-122"/>
                  </a:rPr>
                  <a:t> </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将</a:t>
                </a:r>
                <a:r>
                  <a:rPr lang="en-US" altLang="zh-CN" sz="1200" b="0" dirty="0">
                    <a:latin typeface="幼圆" panose="02010509060101010101" pitchFamily="49" charset="-122"/>
                    <a:ea typeface="幼圆" panose="02010509060101010101" pitchFamily="49" charset="-122"/>
                  </a:rPr>
                  <a:t>[-</a:t>
                </a:r>
                <a:r>
                  <a:rPr lang="en-US" altLang="zh-CN" sz="1200" b="0" dirty="0">
                    <a:latin typeface="Cambria Math" panose="02040503050406030204" pitchFamily="18" charset="0"/>
                    <a:ea typeface="Cambria Math" panose="02040503050406030204" pitchFamily="18" charset="0"/>
                  </a:rPr>
                  <a: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范围的值映射到</a:t>
                </a:r>
                <a:r>
                  <a:rPr lang="en-US" altLang="zh-CN" sz="1200" b="0" dirty="0">
                    <a:latin typeface="幼圆" panose="02010509060101010101" pitchFamily="49" charset="-122"/>
                    <a:ea typeface="幼圆" panose="02010509060101010101" pitchFamily="49" charset="-122"/>
                  </a:rPr>
                  <a:t>[0,1];</a:t>
                </a:r>
              </a:p>
              <a:p>
                <a:pPr marL="628650" lvl="1" indent="-171450">
                  <a:buFont typeface="Wingdings" panose="05000000000000000000" pitchFamily="2" charset="2"/>
                  <a:buChar char="p"/>
                </a:pPr>
                <a:r>
                  <a:rPr lang="en-US" altLang="zh-CN" sz="1200" b="0" baseline="0" dirty="0" err="1">
                    <a:latin typeface="幼圆" panose="02010509060101010101" pitchFamily="49" charset="-122"/>
                    <a:ea typeface="幼圆" panose="02010509060101010101" pitchFamily="49" charset="-122"/>
                  </a:rPr>
                  <a:t>tanh</a:t>
                </a:r>
                <a:r>
                  <a:rPr lang="zh-CN" altLang="en-US" sz="1200" b="0" baseline="0" dirty="0">
                    <a:latin typeface="幼圆" panose="02010509060101010101" pitchFamily="49" charset="-122"/>
                    <a:ea typeface="幼圆" panose="02010509060101010101" pitchFamily="49" charset="-122"/>
                  </a:rPr>
                  <a:t>函数</a:t>
                </a:r>
                <a:r>
                  <a:rPr lang="en-US" altLang="zh-CN" sz="1200" b="0" i="0">
                    <a:latin typeface="Cambria Math" panose="02040503050406030204" pitchFamily="18" charset="0"/>
                    <a:ea typeface="Cambria" panose="02040503050406030204" pitchFamily="18" charset="0"/>
                  </a:rPr>
                  <a:t>g</a:t>
                </a:r>
                <a:r>
                  <a:rPr lang="en-US" altLang="zh-CN" sz="1200" b="0" i="0">
                    <a:latin typeface="Cambria Math" panose="02040503050406030204" pitchFamily="18" charset="0"/>
                    <a:ea typeface="幼圆" panose="02010509060101010101" pitchFamily="49" charset="-122"/>
                  </a:rPr>
                  <a:t>(𝑧)=(𝑒^𝑧−𝑒^(−𝑧))/(𝑒^𝑧+𝑒^(−𝑧) )</a:t>
                </a:r>
                <a:r>
                  <a:rPr lang="zh-CN" altLang="en-US" sz="1200" b="0" dirty="0">
                    <a:latin typeface="幼圆" panose="02010509060101010101" pitchFamily="49" charset="-122"/>
                    <a:ea typeface="幼圆" panose="02010509060101010101" pitchFamily="49" charset="-122"/>
                  </a:rPr>
                  <a:t> </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将</a:t>
                </a:r>
                <a:r>
                  <a:rPr lang="en-US" altLang="zh-CN" sz="1200" b="0" dirty="0">
                    <a:latin typeface="幼圆" panose="02010509060101010101" pitchFamily="49" charset="-122"/>
                    <a:ea typeface="幼圆" panose="02010509060101010101" pitchFamily="49" charset="-122"/>
                  </a:rPr>
                  <a:t>[-</a:t>
                </a:r>
                <a:r>
                  <a:rPr lang="en-US" altLang="zh-CN" sz="1200" b="0" dirty="0">
                    <a:latin typeface="Cambria Math" panose="02040503050406030204" pitchFamily="18" charset="0"/>
                    <a:ea typeface="Cambria Math" panose="02040503050406030204" pitchFamily="18" charset="0"/>
                  </a:rPr>
                  <a: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范围的值映射到</a:t>
                </a:r>
                <a:r>
                  <a:rPr lang="en-US" altLang="zh-CN" sz="1200" b="0" dirty="0">
                    <a:latin typeface="幼圆" panose="02010509060101010101" pitchFamily="49" charset="-122"/>
                    <a:ea typeface="幼圆" panose="02010509060101010101" pitchFamily="49" charset="-122"/>
                  </a:rPr>
                  <a:t>[-1,1]</a:t>
                </a:r>
                <a:r>
                  <a:rPr lang="zh-CN" altLang="en-US" sz="1200" b="0" dirty="0">
                    <a:latin typeface="幼圆" panose="02010509060101010101" pitchFamily="49" charset="-122"/>
                    <a:ea typeface="幼圆" panose="02010509060101010101" pitchFamily="49" charset="-122"/>
                  </a:rPr>
                  <a:t>。</a:t>
                </a:r>
                <a:endParaRPr lang="en-US" altLang="zh-CN" sz="1200" b="0" dirty="0">
                  <a:latin typeface="幼圆" panose="02010509060101010101" pitchFamily="49" charset="-122"/>
                  <a:ea typeface="幼圆" panose="02010509060101010101" pitchFamily="49" charset="-122"/>
                </a:endParaRPr>
              </a:p>
              <a:p>
                <a:pPr marL="628650" lvl="1" indent="-171450">
                  <a:buFont typeface="Wingdings" panose="05000000000000000000" pitchFamily="2" charset="2"/>
                  <a:buChar char="p"/>
                </a:pPr>
                <a:r>
                  <a:rPr lang="en-US" altLang="zh-CN" sz="1200" b="0" dirty="0" err="1">
                    <a:latin typeface="幼圆" panose="02010509060101010101" pitchFamily="49" charset="-122"/>
                    <a:ea typeface="幼圆" panose="02010509060101010101" pitchFamily="49" charset="-122"/>
                  </a:rPr>
                  <a:t>Relu</a:t>
                </a:r>
                <a:r>
                  <a:rPr lang="en-US" altLang="zh-CN" sz="1200" b="0" dirty="0">
                    <a:latin typeface="幼圆" panose="02010509060101010101" pitchFamily="49" charset="-122"/>
                    <a:ea typeface="幼圆" panose="02010509060101010101" pitchFamily="49" charset="-122"/>
                  </a:rPr>
                  <a:t>(</a:t>
                </a:r>
                <a:r>
                  <a:rPr lang="en-US" altLang="zh-CN" sz="1200" b="0" dirty="0" err="1">
                    <a:latin typeface="幼圆" panose="02010509060101010101" pitchFamily="49" charset="-122"/>
                    <a:ea typeface="幼圆" panose="02010509060101010101" pitchFamily="49" charset="-122"/>
                  </a:rPr>
                  <a:t>Recitified</a:t>
                </a:r>
                <a:r>
                  <a:rPr lang="en-US" altLang="zh-CN" sz="1200" b="0" dirty="0">
                    <a:latin typeface="幼圆" panose="02010509060101010101" pitchFamily="49" charset="-122"/>
                    <a:ea typeface="幼圆" panose="02010509060101010101" pitchFamily="49" charset="-122"/>
                  </a:rPr>
                  <a:t> Linear</a:t>
                </a:r>
                <a:r>
                  <a:rPr lang="en-US" altLang="zh-CN" sz="1200" b="0" baseline="0" dirty="0">
                    <a:latin typeface="幼圆" panose="02010509060101010101" pitchFamily="49" charset="-122"/>
                    <a:ea typeface="幼圆" panose="02010509060101010101" pitchFamily="49" charset="-122"/>
                  </a:rPr>
                  <a:t> Unit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线性整流函数 </a:t>
                </a:r>
                <a:r>
                  <a:rPr lang="en-US" altLang="zh-CN" sz="1200" b="0" i="0">
                    <a:latin typeface="Cambria Math" panose="02040503050406030204" pitchFamily="18" charset="0"/>
                    <a:ea typeface="Cambria" panose="02040503050406030204" pitchFamily="18" charset="0"/>
                  </a:rPr>
                  <a:t>g</a:t>
                </a:r>
                <a:r>
                  <a:rPr lang="en-US" altLang="zh-CN" sz="1200" b="0" i="0">
                    <a:latin typeface="Cambria Math" panose="02040503050406030204" pitchFamily="18" charset="0"/>
                    <a:ea typeface="幼圆" panose="02010509060101010101" pitchFamily="49" charset="-122"/>
                  </a:rPr>
                  <a:t>(𝑧)=</a:t>
                </a:r>
                <a:r>
                  <a:rPr lang="en-US" altLang="zh-CN" dirty="0">
                    <a:effectLst/>
                  </a:rPr>
                  <a:t>max(0, z) </a:t>
                </a:r>
                <a:endParaRPr lang="en-US" altLang="zh-CN" sz="1200" b="0" dirty="0">
                  <a:latin typeface="幼圆" panose="02010509060101010101" pitchFamily="49" charset="-122"/>
                  <a:ea typeface="幼圆" panose="02010509060101010101" pitchFamily="49" charset="-122"/>
                </a:endParaRPr>
              </a:p>
              <a:p>
                <a:pPr marL="457200" lvl="1" indent="0">
                  <a:buFont typeface="Wingdings" panose="05000000000000000000" pitchFamily="2" charset="2"/>
                  <a:buNone/>
                </a:pPr>
                <a:endParaRPr lang="en-US" altLang="zh-CN" sz="1200" b="0" dirty="0">
                  <a:latin typeface="幼圆" panose="02010509060101010101" pitchFamily="49" charset="-122"/>
                  <a:ea typeface="幼圆" panose="02010509060101010101" pitchFamily="49" charset="-122"/>
                </a:endParaRPr>
              </a:p>
              <a:p>
                <a:endParaRPr lang="zh-CN" altLang="en-US" dirty="0"/>
              </a:p>
            </p:txBody>
          </p:sp>
        </mc:Fallback>
      </mc:AlternateContent>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71</a:t>
            </a:fld>
            <a:endParaRPr lang="zh-CN" altLang="en-US"/>
          </a:p>
        </p:txBody>
      </p:sp>
    </p:spTree>
    <p:extLst>
      <p:ext uri="{BB962C8B-B14F-4D97-AF65-F5344CB8AC3E}">
        <p14:creationId xmlns:p14="http://schemas.microsoft.com/office/powerpoint/2010/main" val="307433804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indent="0">
                  <a:lnSpc>
                    <a:spcPct val="110000"/>
                  </a:lnSpc>
                  <a:buSzPct val="120000"/>
                  <a:buNone/>
                </a:pPr>
                <a:endParaRPr lang="zh-CN" altLang="en-US" dirty="0"/>
              </a:p>
            </p:txBody>
          </p:sp>
        </mc:Choice>
        <mc:Fallback xmlns="">
          <p:sp>
            <p:nvSpPr>
              <p:cNvPr id="3" name="备注占位符 2"/>
              <p:cNvSpPr>
                <a:spLocks noGrp="1"/>
              </p:cNvSpPr>
              <p:nvPr>
                <p:ph type="body" idx="1"/>
              </p:nvPr>
            </p:nvSpPr>
            <p:spPr/>
            <p:txBody>
              <a:bodyPr/>
              <a:lstStyle/>
              <a:p>
                <a:pPr marL="0" indent="0">
                  <a:buFont typeface="Wingdings" panose="05000000000000000000" pitchFamily="2" charset="2"/>
                  <a:buNone/>
                </a:pPr>
                <a:r>
                  <a:rPr lang="en-US" altLang="zh-CN" sz="1200" b="0" dirty="0">
                    <a:latin typeface="幼圆" panose="02010509060101010101" pitchFamily="49" charset="-122"/>
                    <a:ea typeface="幼圆" panose="02010509060101010101" pitchFamily="49" charset="-122"/>
                  </a:rPr>
                  <a:t>1. </a:t>
                </a:r>
                <a:r>
                  <a:rPr lang="zh-CN" altLang="en-US" sz="1200" b="0" dirty="0">
                    <a:latin typeface="幼圆" panose="02010509060101010101" pitchFamily="49" charset="-122"/>
                    <a:ea typeface="幼圆" panose="02010509060101010101" pitchFamily="49" charset="-122"/>
                  </a:rPr>
                  <a:t>理想激活函数是阶跃函数</a:t>
                </a:r>
                <a:r>
                  <a:rPr lang="en-US" altLang="zh-CN" sz="1200" b="0" dirty="0">
                    <a:latin typeface="幼圆" panose="02010509060101010101" pitchFamily="49" charset="-122"/>
                    <a:ea typeface="幼圆" panose="02010509060101010101" pitchFamily="49" charset="-122"/>
                  </a:rPr>
                  <a:t>, 0</a:t>
                </a:r>
                <a:r>
                  <a:rPr lang="zh-CN" altLang="en-US" sz="1200" b="0" dirty="0">
                    <a:latin typeface="幼圆" panose="02010509060101010101" pitchFamily="49" charset="-122"/>
                    <a:ea typeface="幼圆" panose="02010509060101010101" pitchFamily="49" charset="-122"/>
                  </a:rPr>
                  <a:t>表示抑制神经元而</a:t>
                </a:r>
                <a:r>
                  <a:rPr lang="en-US" altLang="zh-CN" sz="1200" b="0" dirty="0">
                    <a:latin typeface="幼圆" panose="02010509060101010101" pitchFamily="49" charset="-122"/>
                    <a:ea typeface="幼圆" panose="02010509060101010101" pitchFamily="49" charset="-122"/>
                  </a:rPr>
                  <a:t>1</a:t>
                </a:r>
                <a:r>
                  <a:rPr lang="zh-CN" altLang="en-US" sz="1200" b="0" dirty="0">
                    <a:latin typeface="幼圆" panose="02010509060101010101" pitchFamily="49" charset="-122"/>
                    <a:ea typeface="幼圆" panose="02010509060101010101" pitchFamily="49" charset="-122"/>
                  </a:rPr>
                  <a:t>表示激活神经元</a:t>
                </a:r>
                <a:endParaRPr lang="en-US" altLang="zh-CN" sz="1200" b="0" dirty="0">
                  <a:latin typeface="幼圆" panose="02010509060101010101" pitchFamily="49" charset="-122"/>
                  <a:ea typeface="幼圆" panose="02010509060101010101" pitchFamily="49" charset="-122"/>
                </a:endParaRPr>
              </a:p>
              <a:p>
                <a:pPr marL="0" indent="0">
                  <a:buFont typeface="Wingdings" panose="05000000000000000000" pitchFamily="2" charset="2"/>
                  <a:buNone/>
                </a:pPr>
                <a:r>
                  <a:rPr lang="en-US" altLang="zh-CN" sz="1200" b="0" dirty="0">
                    <a:latin typeface="幼圆" panose="02010509060101010101" pitchFamily="49" charset="-122"/>
                    <a:ea typeface="幼圆" panose="02010509060101010101" pitchFamily="49" charset="-122"/>
                  </a:rPr>
                  <a:t>2. </a:t>
                </a:r>
                <a:r>
                  <a:rPr lang="zh-CN" altLang="en-US" sz="1200" b="0" dirty="0">
                    <a:latin typeface="幼圆" panose="02010509060101010101" pitchFamily="49" charset="-122"/>
                    <a:ea typeface="幼圆" panose="02010509060101010101" pitchFamily="49" charset="-122"/>
                  </a:rPr>
                  <a:t>阶跃函数具有不连续、不光滑，数学特性不好</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常用的是 </a:t>
                </a:r>
                <a:r>
                  <a:rPr lang="en-US" altLang="zh-CN" sz="1200" b="0" dirty="0">
                    <a:latin typeface="幼圆" panose="02010509060101010101" pitchFamily="49" charset="-122"/>
                    <a:ea typeface="幼圆" panose="02010509060101010101" pitchFamily="49" charset="-122"/>
                  </a:rPr>
                  <a:t>Sigmoid </a:t>
                </a:r>
                <a:r>
                  <a:rPr lang="zh-CN" altLang="en-US" sz="1200" b="0" dirty="0">
                    <a:latin typeface="幼圆" panose="02010509060101010101" pitchFamily="49" charset="-122"/>
                    <a:ea typeface="幼圆" panose="02010509060101010101" pitchFamily="49" charset="-122"/>
                  </a:rPr>
                  <a:t>函数和</a:t>
                </a:r>
                <a:r>
                  <a:rPr lang="en-US" altLang="zh-CN" sz="1200" b="0" dirty="0">
                    <a:latin typeface="幼圆" panose="02010509060101010101" pitchFamily="49" charset="-122"/>
                    <a:ea typeface="幼圆" panose="02010509060101010101" pitchFamily="49" charset="-122"/>
                  </a:rPr>
                  <a:t>tanh</a:t>
                </a:r>
                <a:r>
                  <a:rPr lang="zh-CN" altLang="en-US" sz="1200" b="0" dirty="0">
                    <a:latin typeface="幼圆" panose="02010509060101010101" pitchFamily="49" charset="-122"/>
                    <a:ea typeface="幼圆" panose="02010509060101010101" pitchFamily="49" charset="-122"/>
                  </a:rPr>
                  <a:t>（双曲正切）等具有较好数学特性的函数。</a:t>
                </a:r>
                <a:endParaRPr lang="en-US" altLang="zh-CN" sz="1200" b="0" dirty="0">
                  <a:latin typeface="幼圆" panose="02010509060101010101" pitchFamily="49" charset="-122"/>
                  <a:ea typeface="幼圆" panose="02010509060101010101" pitchFamily="49" charset="-122"/>
                </a:endParaRPr>
              </a:p>
              <a:p>
                <a:pPr marL="628650" lvl="1" indent="-171450">
                  <a:buFont typeface="Wingdings" panose="05000000000000000000" pitchFamily="2" charset="2"/>
                  <a:buChar char="p"/>
                </a:pPr>
                <a:r>
                  <a:rPr lang="en-US" altLang="zh-CN" sz="1200" b="0" dirty="0">
                    <a:latin typeface="幼圆" panose="02010509060101010101" pitchFamily="49" charset="-122"/>
                    <a:ea typeface="幼圆" panose="02010509060101010101" pitchFamily="49" charset="-122"/>
                  </a:rPr>
                  <a:t>Sigmoid</a:t>
                </a:r>
                <a:r>
                  <a:rPr lang="zh-CN" altLang="en-US" sz="1200" b="0" dirty="0">
                    <a:latin typeface="幼圆" panose="02010509060101010101" pitchFamily="49" charset="-122"/>
                    <a:ea typeface="幼圆" panose="02010509060101010101" pitchFamily="49" charset="-122"/>
                  </a:rPr>
                  <a:t>函数</a:t>
                </a:r>
                <a:r>
                  <a:rPr lang="en-US" altLang="zh-CN" sz="1200" b="0" i="0">
                    <a:latin typeface="Cambria Math" panose="02040503050406030204" pitchFamily="18" charset="0"/>
                    <a:ea typeface="Cambria" panose="02040503050406030204" pitchFamily="18" charset="0"/>
                  </a:rPr>
                  <a:t>g</a:t>
                </a:r>
                <a:r>
                  <a:rPr lang="en-US" altLang="zh-CN" sz="1200" b="0" i="0">
                    <a:latin typeface="Cambria Math" panose="02040503050406030204" pitchFamily="18" charset="0"/>
                    <a:ea typeface="幼圆" panose="02010509060101010101" pitchFamily="49" charset="-122"/>
                  </a:rPr>
                  <a:t>(𝑧)=1/(1+𝑒^(−𝑧) )</a:t>
                </a:r>
                <a:r>
                  <a:rPr lang="zh-CN" altLang="en-US" sz="1200" b="0" dirty="0">
                    <a:latin typeface="幼圆" panose="02010509060101010101" pitchFamily="49" charset="-122"/>
                    <a:ea typeface="幼圆" panose="02010509060101010101" pitchFamily="49" charset="-122"/>
                  </a:rPr>
                  <a:t> </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将</a:t>
                </a:r>
                <a:r>
                  <a:rPr lang="en-US" altLang="zh-CN" sz="1200" b="0" dirty="0">
                    <a:latin typeface="幼圆" panose="02010509060101010101" pitchFamily="49" charset="-122"/>
                    <a:ea typeface="幼圆" panose="02010509060101010101" pitchFamily="49" charset="-122"/>
                  </a:rPr>
                  <a:t>[-</a:t>
                </a:r>
                <a:r>
                  <a:rPr lang="en-US" altLang="zh-CN" sz="1200" b="0" dirty="0">
                    <a:latin typeface="Cambria Math" panose="02040503050406030204" pitchFamily="18" charset="0"/>
                    <a:ea typeface="Cambria Math" panose="02040503050406030204" pitchFamily="18" charset="0"/>
                  </a:rPr>
                  <a: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范围的值映射到</a:t>
                </a:r>
                <a:r>
                  <a:rPr lang="en-US" altLang="zh-CN" sz="1200" b="0" dirty="0">
                    <a:latin typeface="幼圆" panose="02010509060101010101" pitchFamily="49" charset="-122"/>
                    <a:ea typeface="幼圆" panose="02010509060101010101" pitchFamily="49" charset="-122"/>
                  </a:rPr>
                  <a:t>[0,1];</a:t>
                </a:r>
              </a:p>
              <a:p>
                <a:pPr marL="628650" lvl="1" indent="-171450">
                  <a:buFont typeface="Wingdings" panose="05000000000000000000" pitchFamily="2" charset="2"/>
                  <a:buChar char="p"/>
                </a:pPr>
                <a:r>
                  <a:rPr lang="en-US" altLang="zh-CN" sz="1200" b="0" baseline="0" dirty="0" err="1">
                    <a:latin typeface="幼圆" panose="02010509060101010101" pitchFamily="49" charset="-122"/>
                    <a:ea typeface="幼圆" panose="02010509060101010101" pitchFamily="49" charset="-122"/>
                  </a:rPr>
                  <a:t>tanh</a:t>
                </a:r>
                <a:r>
                  <a:rPr lang="zh-CN" altLang="en-US" sz="1200" b="0" baseline="0" dirty="0">
                    <a:latin typeface="幼圆" panose="02010509060101010101" pitchFamily="49" charset="-122"/>
                    <a:ea typeface="幼圆" panose="02010509060101010101" pitchFamily="49" charset="-122"/>
                  </a:rPr>
                  <a:t>函数</a:t>
                </a:r>
                <a:r>
                  <a:rPr lang="en-US" altLang="zh-CN" sz="1200" b="0" i="0">
                    <a:latin typeface="Cambria Math" panose="02040503050406030204" pitchFamily="18" charset="0"/>
                    <a:ea typeface="Cambria" panose="02040503050406030204" pitchFamily="18" charset="0"/>
                  </a:rPr>
                  <a:t>g</a:t>
                </a:r>
                <a:r>
                  <a:rPr lang="en-US" altLang="zh-CN" sz="1200" b="0" i="0">
                    <a:latin typeface="Cambria Math" panose="02040503050406030204" pitchFamily="18" charset="0"/>
                    <a:ea typeface="幼圆" panose="02010509060101010101" pitchFamily="49" charset="-122"/>
                  </a:rPr>
                  <a:t>(𝑧)=(𝑒^𝑧−𝑒^(−𝑧))/(𝑒^𝑧+𝑒^(−𝑧) )</a:t>
                </a:r>
                <a:r>
                  <a:rPr lang="zh-CN" altLang="en-US" sz="1200" b="0" dirty="0">
                    <a:latin typeface="幼圆" panose="02010509060101010101" pitchFamily="49" charset="-122"/>
                    <a:ea typeface="幼圆" panose="02010509060101010101" pitchFamily="49" charset="-122"/>
                  </a:rPr>
                  <a:t> </a:t>
                </a:r>
                <a:r>
                  <a:rPr lang="en-US" altLang="zh-CN" sz="1200" b="0" dirty="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将</a:t>
                </a:r>
                <a:r>
                  <a:rPr lang="en-US" altLang="zh-CN" sz="1200" b="0" dirty="0">
                    <a:latin typeface="幼圆" panose="02010509060101010101" pitchFamily="49" charset="-122"/>
                    <a:ea typeface="幼圆" panose="02010509060101010101" pitchFamily="49" charset="-122"/>
                  </a:rPr>
                  <a:t>[-</a:t>
                </a:r>
                <a:r>
                  <a:rPr lang="en-US" altLang="zh-CN" sz="1200" b="0" dirty="0">
                    <a:latin typeface="Cambria Math" panose="02040503050406030204" pitchFamily="18" charset="0"/>
                    <a:ea typeface="Cambria Math" panose="02040503050406030204" pitchFamily="18" charset="0"/>
                  </a:rPr>
                  <a: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范围的值映射到</a:t>
                </a:r>
                <a:r>
                  <a:rPr lang="en-US" altLang="zh-CN" sz="1200" b="0" dirty="0">
                    <a:latin typeface="幼圆" panose="02010509060101010101" pitchFamily="49" charset="-122"/>
                    <a:ea typeface="幼圆" panose="02010509060101010101" pitchFamily="49" charset="-122"/>
                  </a:rPr>
                  <a:t>[-1,1]</a:t>
                </a:r>
                <a:r>
                  <a:rPr lang="zh-CN" altLang="en-US" sz="1200" b="0" dirty="0">
                    <a:latin typeface="幼圆" panose="02010509060101010101" pitchFamily="49" charset="-122"/>
                    <a:ea typeface="幼圆" panose="02010509060101010101" pitchFamily="49" charset="-122"/>
                  </a:rPr>
                  <a:t>。</a:t>
                </a:r>
                <a:endParaRPr lang="en-US" altLang="zh-CN" sz="1200" b="0" dirty="0">
                  <a:latin typeface="幼圆" panose="02010509060101010101" pitchFamily="49" charset="-122"/>
                  <a:ea typeface="幼圆" panose="02010509060101010101" pitchFamily="49" charset="-122"/>
                </a:endParaRPr>
              </a:p>
              <a:p>
                <a:pPr marL="628650" lvl="1" indent="-171450">
                  <a:buFont typeface="Wingdings" panose="05000000000000000000" pitchFamily="2" charset="2"/>
                  <a:buChar char="p"/>
                </a:pPr>
                <a:r>
                  <a:rPr lang="en-US" altLang="zh-CN" sz="1200" b="0" dirty="0" err="1">
                    <a:latin typeface="幼圆" panose="02010509060101010101" pitchFamily="49" charset="-122"/>
                    <a:ea typeface="幼圆" panose="02010509060101010101" pitchFamily="49" charset="-122"/>
                  </a:rPr>
                  <a:t>Relu</a:t>
                </a:r>
                <a:r>
                  <a:rPr lang="en-US" altLang="zh-CN" sz="1200" b="0" dirty="0">
                    <a:latin typeface="幼圆" panose="02010509060101010101" pitchFamily="49" charset="-122"/>
                    <a:ea typeface="幼圆" panose="02010509060101010101" pitchFamily="49" charset="-122"/>
                  </a:rPr>
                  <a:t>(</a:t>
                </a:r>
                <a:r>
                  <a:rPr lang="en-US" altLang="zh-CN" sz="1200" b="0" dirty="0" err="1">
                    <a:latin typeface="幼圆" panose="02010509060101010101" pitchFamily="49" charset="-122"/>
                    <a:ea typeface="幼圆" panose="02010509060101010101" pitchFamily="49" charset="-122"/>
                  </a:rPr>
                  <a:t>Recitified</a:t>
                </a:r>
                <a:r>
                  <a:rPr lang="en-US" altLang="zh-CN" sz="1200" b="0" dirty="0">
                    <a:latin typeface="幼圆" panose="02010509060101010101" pitchFamily="49" charset="-122"/>
                    <a:ea typeface="幼圆" panose="02010509060101010101" pitchFamily="49" charset="-122"/>
                  </a:rPr>
                  <a:t> Linear</a:t>
                </a:r>
                <a:r>
                  <a:rPr lang="en-US" altLang="zh-CN" sz="1200" b="0" baseline="0" dirty="0">
                    <a:latin typeface="幼圆" panose="02010509060101010101" pitchFamily="49" charset="-122"/>
                    <a:ea typeface="幼圆" panose="02010509060101010101" pitchFamily="49" charset="-122"/>
                  </a:rPr>
                  <a:t> Unit</a:t>
                </a:r>
                <a:r>
                  <a:rPr lang="en-US" altLang="zh-CN" sz="1200" b="0" dirty="0">
                    <a:latin typeface="幼圆" panose="02010509060101010101" pitchFamily="49" charset="-122"/>
                    <a:ea typeface="幼圆" panose="02010509060101010101" pitchFamily="49" charset="-122"/>
                  </a:rPr>
                  <a:t>)</a:t>
                </a:r>
                <a:r>
                  <a:rPr lang="zh-CN" altLang="en-US" sz="1200" b="0" dirty="0">
                    <a:latin typeface="幼圆" panose="02010509060101010101" pitchFamily="49" charset="-122"/>
                    <a:ea typeface="幼圆" panose="02010509060101010101" pitchFamily="49" charset="-122"/>
                  </a:rPr>
                  <a:t>线性整流函数 </a:t>
                </a:r>
                <a:r>
                  <a:rPr lang="en-US" altLang="zh-CN" sz="1200" b="0" i="0">
                    <a:latin typeface="Cambria Math" panose="02040503050406030204" pitchFamily="18" charset="0"/>
                    <a:ea typeface="Cambria" panose="02040503050406030204" pitchFamily="18" charset="0"/>
                  </a:rPr>
                  <a:t>g</a:t>
                </a:r>
                <a:r>
                  <a:rPr lang="en-US" altLang="zh-CN" sz="1200" b="0" i="0">
                    <a:latin typeface="Cambria Math" panose="02040503050406030204" pitchFamily="18" charset="0"/>
                    <a:ea typeface="幼圆" panose="02010509060101010101" pitchFamily="49" charset="-122"/>
                  </a:rPr>
                  <a:t>(𝑧)=</a:t>
                </a:r>
                <a:r>
                  <a:rPr lang="en-US" altLang="zh-CN" dirty="0">
                    <a:effectLst/>
                  </a:rPr>
                  <a:t>max(0, z) </a:t>
                </a:r>
                <a:endParaRPr lang="en-US" altLang="zh-CN" sz="1200" b="0" dirty="0">
                  <a:latin typeface="幼圆" panose="02010509060101010101" pitchFamily="49" charset="-122"/>
                  <a:ea typeface="幼圆" panose="02010509060101010101" pitchFamily="49" charset="-122"/>
                </a:endParaRPr>
              </a:p>
              <a:p>
                <a:pPr marL="457200" lvl="1" indent="0">
                  <a:buFont typeface="Wingdings" panose="05000000000000000000" pitchFamily="2" charset="2"/>
                  <a:buNone/>
                </a:pPr>
                <a:endParaRPr lang="en-US" altLang="zh-CN" sz="1200" b="0" dirty="0">
                  <a:latin typeface="幼圆" panose="02010509060101010101" pitchFamily="49" charset="-122"/>
                  <a:ea typeface="幼圆" panose="02010509060101010101" pitchFamily="49" charset="-122"/>
                </a:endParaRPr>
              </a:p>
              <a:p>
                <a:endParaRPr lang="zh-CN" altLang="en-US" dirty="0"/>
              </a:p>
            </p:txBody>
          </p:sp>
        </mc:Fallback>
      </mc:AlternateContent>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72</a:t>
            </a:fld>
            <a:endParaRPr lang="zh-CN" altLang="en-US"/>
          </a:p>
        </p:txBody>
      </p:sp>
    </p:spTree>
    <p:extLst>
      <p:ext uri="{BB962C8B-B14F-4D97-AF65-F5344CB8AC3E}">
        <p14:creationId xmlns:p14="http://schemas.microsoft.com/office/powerpoint/2010/main" val="296386762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11BFF4-1710-4AF3-AE92-5EDA45BDA416}"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76353930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74</a:t>
            </a:fld>
            <a:endParaRPr lang="zh-CN" altLang="en-US"/>
          </a:p>
        </p:txBody>
      </p:sp>
    </p:spTree>
    <p:extLst>
      <p:ext uri="{BB962C8B-B14F-4D97-AF65-F5344CB8AC3E}">
        <p14:creationId xmlns:p14="http://schemas.microsoft.com/office/powerpoint/2010/main" val="166549291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75</a:t>
            </a:fld>
            <a:endParaRPr lang="zh-CN" altLang="en-US"/>
          </a:p>
        </p:txBody>
      </p:sp>
    </p:spTree>
    <p:extLst>
      <p:ext uri="{BB962C8B-B14F-4D97-AF65-F5344CB8AC3E}">
        <p14:creationId xmlns:p14="http://schemas.microsoft.com/office/powerpoint/2010/main" val="115064970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r>
                  <a:rPr lang="zh-CN" altLang="en-US" i="0">
                    <a:latin typeface="Cambria Math" panose="02040503050406030204" pitchFamily="18" charset="0"/>
                  </a:rPr>
                  <a:t>"在此处键入公式。"</a:t>
                </a:r>
                <a:endParaRPr lang="zh-CN" altLang="en-US" dirty="0"/>
              </a:p>
            </p:txBody>
          </p:sp>
        </mc:Fallback>
      </mc:AlternateContent>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76</a:t>
            </a:fld>
            <a:endParaRPr lang="zh-CN" altLang="en-US"/>
          </a:p>
        </p:txBody>
      </p:sp>
    </p:spTree>
    <p:extLst>
      <p:ext uri="{BB962C8B-B14F-4D97-AF65-F5344CB8AC3E}">
        <p14:creationId xmlns:p14="http://schemas.microsoft.com/office/powerpoint/2010/main" val="129395455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r>
                  <a:rPr lang="zh-CN" altLang="en-US" i="0">
                    <a:latin typeface="Cambria Math" panose="02040503050406030204" pitchFamily="18" charset="0"/>
                  </a:rPr>
                  <a:t>"在此处键入公式。"</a:t>
                </a:r>
                <a:endParaRPr lang="zh-CN" altLang="en-US" dirty="0"/>
              </a:p>
            </p:txBody>
          </p:sp>
        </mc:Fallback>
      </mc:AlternateContent>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77</a:t>
            </a:fld>
            <a:endParaRPr lang="zh-CN" altLang="en-US"/>
          </a:p>
        </p:txBody>
      </p:sp>
    </p:spTree>
    <p:extLst>
      <p:ext uri="{BB962C8B-B14F-4D97-AF65-F5344CB8AC3E}">
        <p14:creationId xmlns:p14="http://schemas.microsoft.com/office/powerpoint/2010/main" val="89883065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olidFill>
                <a:schemeClr val="accent2">
                  <a:lumMod val="40000"/>
                  <a:lumOff val="60000"/>
                </a:schemeClr>
              </a:solidFill>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11BFF4-1710-4AF3-AE92-5EDA45BDA416}"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93785469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olidFill>
                <a:schemeClr val="accent2">
                  <a:lumMod val="40000"/>
                  <a:lumOff val="60000"/>
                </a:schemeClr>
              </a:solidFill>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11BFF4-1710-4AF3-AE92-5EDA45BDA416}"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01690955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olidFill>
                <a:schemeClr val="accent2">
                  <a:lumMod val="40000"/>
                  <a:lumOff val="60000"/>
                </a:schemeClr>
              </a:solidFill>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11BFF4-1710-4AF3-AE92-5EDA45BDA416}"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28477713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olidFill>
                <a:schemeClr val="accent2">
                  <a:lumMod val="40000"/>
                  <a:lumOff val="60000"/>
                </a:schemeClr>
              </a:solidFill>
            </a:endParaRPr>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81</a:t>
            </a:fld>
            <a:endParaRPr lang="zh-CN" altLang="en-US"/>
          </a:p>
        </p:txBody>
      </p:sp>
    </p:spTree>
    <p:extLst>
      <p:ext uri="{BB962C8B-B14F-4D97-AF65-F5344CB8AC3E}">
        <p14:creationId xmlns:p14="http://schemas.microsoft.com/office/powerpoint/2010/main" val="331529217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olidFill>
                <a:schemeClr val="accent2">
                  <a:lumMod val="40000"/>
                  <a:lumOff val="60000"/>
                </a:schemeClr>
              </a:solidFill>
            </a:endParaRPr>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82</a:t>
            </a:fld>
            <a:endParaRPr lang="zh-CN" altLang="en-US"/>
          </a:p>
        </p:txBody>
      </p:sp>
    </p:spTree>
    <p:extLst>
      <p:ext uri="{BB962C8B-B14F-4D97-AF65-F5344CB8AC3E}">
        <p14:creationId xmlns:p14="http://schemas.microsoft.com/office/powerpoint/2010/main" val="56183471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olidFill>
                <a:schemeClr val="accent2">
                  <a:lumMod val="40000"/>
                  <a:lumOff val="60000"/>
                </a:schemeClr>
              </a:solidFill>
            </a:endParaRPr>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83</a:t>
            </a:fld>
            <a:endParaRPr lang="zh-CN" altLang="en-US"/>
          </a:p>
        </p:txBody>
      </p:sp>
    </p:spTree>
    <p:extLst>
      <p:ext uri="{BB962C8B-B14F-4D97-AF65-F5344CB8AC3E}">
        <p14:creationId xmlns:p14="http://schemas.microsoft.com/office/powerpoint/2010/main" val="140324405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jpe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矩形 6"/>
          <p:cNvSpPr/>
          <p:nvPr/>
        </p:nvSpPr>
        <p:spPr>
          <a:xfrm>
            <a:off x="0" y="4333593"/>
            <a:ext cx="9144000" cy="809907"/>
          </a:xfrm>
          <a:prstGeom prst="rect">
            <a:avLst/>
          </a:prstGeom>
          <a:pattFill prst="trellis">
            <a:fgClr>
              <a:schemeClr val="tx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p>
        </p:txBody>
      </p:sp>
      <p:sp>
        <p:nvSpPr>
          <p:cNvPr id="8" name="矩形 7"/>
          <p:cNvSpPr/>
          <p:nvPr/>
        </p:nvSpPr>
        <p:spPr>
          <a:xfrm>
            <a:off x="1" y="0"/>
            <a:ext cx="7308304" cy="809907"/>
          </a:xfrm>
          <a:prstGeom prst="rect">
            <a:avLst/>
          </a:prstGeom>
          <a:pattFill prst="ltUpDiag">
            <a:fgClr>
              <a:schemeClr val="tx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p>
        </p:txBody>
      </p:sp>
      <p:sp>
        <p:nvSpPr>
          <p:cNvPr id="2" name="标题 1"/>
          <p:cNvSpPr>
            <a:spLocks noGrp="1"/>
          </p:cNvSpPr>
          <p:nvPr>
            <p:ph type="ctrTitle"/>
          </p:nvPr>
        </p:nvSpPr>
        <p:spPr>
          <a:xfrm>
            <a:off x="828675" y="1719071"/>
            <a:ext cx="7572375" cy="1664768"/>
          </a:xfrm>
          <a:noFill/>
        </p:spPr>
        <p:txBody>
          <a:bodyPr rtlCol="0" anchor="ctr">
            <a:normAutofit/>
          </a:bodyPr>
          <a:lstStyle>
            <a:lvl1pPr algn="l" rtl="0">
              <a:defRPr sz="3300" cap="all" baseline="0">
                <a:solidFill>
                  <a:schemeClr val="tx1"/>
                </a:solidFill>
              </a:defRPr>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828674" y="3383838"/>
            <a:ext cx="7572376" cy="716674"/>
          </a:xfrm>
        </p:spPr>
        <p:txBody>
          <a:bodyPr rtlCol="0">
            <a:normAutofit/>
          </a:bodyPr>
          <a:lstStyle>
            <a:lvl1pPr marL="0" indent="0" algn="l" rtl="0">
              <a:spcBef>
                <a:spcPts val="0"/>
              </a:spcBef>
              <a:buNone/>
              <a:defRPr sz="1350"/>
            </a:lvl1pPr>
            <a:lvl2pPr marL="342900" indent="0" algn="ctr" rtl="0">
              <a:buNone/>
              <a:defRPr sz="1500"/>
            </a:lvl2pPr>
            <a:lvl3pPr marL="685800" indent="0" algn="ctr" rtl="0">
              <a:buNone/>
              <a:defRPr sz="1350"/>
            </a:lvl3pPr>
            <a:lvl4pPr marL="1028700" indent="0" algn="ctr" rtl="0">
              <a:buNone/>
              <a:defRPr sz="1200"/>
            </a:lvl4pPr>
            <a:lvl5pPr marL="1371600" indent="0" algn="ctr" rtl="0">
              <a:buNone/>
              <a:defRPr sz="1200"/>
            </a:lvl5pPr>
            <a:lvl6pPr marL="1714500" indent="0" algn="ctr" rtl="0">
              <a:buNone/>
              <a:defRPr sz="1200"/>
            </a:lvl6pPr>
            <a:lvl7pPr marL="2057400" indent="0" algn="ctr" rtl="0">
              <a:buNone/>
              <a:defRPr sz="1200"/>
            </a:lvl7pPr>
            <a:lvl8pPr marL="2400300" indent="0" algn="ctr" rtl="0">
              <a:buNone/>
              <a:defRPr sz="1200"/>
            </a:lvl8pPr>
            <a:lvl9pPr marL="2743200" indent="0" algn="ctr" rtl="0">
              <a:buNone/>
              <a:defRPr sz="1200"/>
            </a:lvl9pPr>
          </a:lstStyle>
          <a:p>
            <a:pPr rtl="0"/>
            <a:r>
              <a:rPr lang="zh-CN" altLang="en-US" noProof="0"/>
              <a:t>单击此处编辑母版副标题样式</a:t>
            </a:r>
            <a:endParaRPr lang="zh-CN" altLang="en-US" noProof="0" dirty="0"/>
          </a:p>
        </p:txBody>
      </p:sp>
      <p:sp>
        <p:nvSpPr>
          <p:cNvPr id="4" name="日期占位符 3"/>
          <p:cNvSpPr>
            <a:spLocks noGrp="1"/>
          </p:cNvSpPr>
          <p:nvPr>
            <p:ph type="dt" sz="half" idx="10"/>
          </p:nvPr>
        </p:nvSpPr>
        <p:spPr/>
        <p:txBody>
          <a:bodyPr rtlCol="0"/>
          <a:lstStyle>
            <a:lvl1pPr>
              <a:defRPr/>
            </a:lvl1pPr>
          </a:lstStyle>
          <a:p>
            <a:pPr>
              <a:defRPr/>
            </a:pPr>
            <a:fld id="{8DDEE976-CBFF-49D3-8E31-CE66B8C964FA}" type="datetimeFigureOut">
              <a:rPr lang="zh-CN" altLang="en-US" smtClean="0"/>
              <a:pPr>
                <a:defRPr/>
              </a:pPr>
              <a:t>2025/12/24</a:t>
            </a:fld>
            <a:endParaRPr lang="zh-CN" altLang="en-US"/>
          </a:p>
        </p:txBody>
      </p:sp>
      <p:sp>
        <p:nvSpPr>
          <p:cNvPr id="5" name="页脚占位符 4"/>
          <p:cNvSpPr>
            <a:spLocks noGrp="1"/>
          </p:cNvSpPr>
          <p:nvPr>
            <p:ph type="ftr" sz="quarter" idx="11"/>
          </p:nvPr>
        </p:nvSpPr>
        <p:spPr/>
        <p:txBody>
          <a:bodyPr rtlCol="0"/>
          <a:lstStyle/>
          <a:p>
            <a:pPr>
              <a:defRPr/>
            </a:pPr>
            <a:endParaRPr lang="zh-CN" altLang="en-US"/>
          </a:p>
        </p:txBody>
      </p:sp>
      <p:sp>
        <p:nvSpPr>
          <p:cNvPr id="6" name="灯片编号占位符 5"/>
          <p:cNvSpPr>
            <a:spLocks noGrp="1"/>
          </p:cNvSpPr>
          <p:nvPr>
            <p:ph type="sldNum" sz="quarter" idx="12"/>
          </p:nvPr>
        </p:nvSpPr>
        <p:spPr/>
        <p:txBody>
          <a:bodyPr rtlCol="0"/>
          <a:lstStyle>
            <a:lvl1pPr algn="r">
              <a:defRPr/>
            </a:lvl1pPr>
          </a:lstStyle>
          <a:p>
            <a:pPr>
              <a:defRPr/>
            </a:pPr>
            <a:fld id="{27566407-BE89-4246-9C3D-F9E99FBFFAEE}" type="slidenum">
              <a:rPr lang="zh-CN" altLang="en-US" smtClean="0"/>
              <a:pPr>
                <a:defRPr/>
              </a:pPr>
              <a:t>‹#›</a:t>
            </a:fld>
            <a:endParaRPr lang="zh-CN" altLang="en-US"/>
          </a:p>
        </p:txBody>
      </p:sp>
      <p:pic>
        <p:nvPicPr>
          <p:cNvPr id="10" name="Picture 2" descr="https://timgsa.baidu.com/timg?image&amp;quality=80&amp;size=b9999_10000&amp;sec=1511172908148&amp;di=6d02f21212d218024932031e15da36ed&amp;imgtype=0&amp;src=http%3A%2F%2Fphotocdn.sohu.com%2F20120523%2FImg343922632.jpg"/>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209932" y="-142607"/>
            <a:ext cx="2066286" cy="20662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3411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pPr>
              <a:defRPr/>
            </a:pPr>
            <a:fld id="{A86003DB-DD92-4BDE-971E-EAFA1A0CB53D}" type="datetimeFigureOut">
              <a:rPr lang="zh-CN" altLang="en-US" smtClean="0"/>
              <a:pPr>
                <a:defRPr/>
              </a:pPr>
              <a:t>2025/12/24</a:t>
            </a:fld>
            <a:endParaRPr lang="zh-CN" altLang="en-US"/>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pPr>
              <a:defRPr/>
            </a:pPr>
            <a:endParaRPr lang="zh-CN" altLang="en-US"/>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pPr>
              <a:defRPr/>
            </a:pPr>
            <a:fld id="{4B4205A9-C0CE-4DC9-9155-50A1457D6FDF}" type="slidenum">
              <a:rPr lang="zh-CN" altLang="en-US" smtClean="0"/>
              <a:pPr>
                <a:defRPr/>
              </a:pPr>
              <a:t>‹#›</a:t>
            </a:fld>
            <a:endParaRPr lang="zh-CN" altLang="en-US"/>
          </a:p>
        </p:txBody>
      </p:sp>
    </p:spTree>
    <p:extLst>
      <p:ext uri="{BB962C8B-B14F-4D97-AF65-F5344CB8AC3E}">
        <p14:creationId xmlns:p14="http://schemas.microsoft.com/office/powerpoint/2010/main" val="3491307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包含图片的标题幻灯片">
    <p:spTree>
      <p:nvGrpSpPr>
        <p:cNvPr id="1" name=""/>
        <p:cNvGrpSpPr/>
        <p:nvPr/>
      </p:nvGrpSpPr>
      <p:grpSpPr>
        <a:xfrm>
          <a:off x="0" y="0"/>
          <a:ext cx="0" cy="0"/>
          <a:chOff x="0" y="0"/>
          <a:chExt cx="0" cy="0"/>
        </a:xfrm>
      </p:grpSpPr>
      <p:grpSp>
        <p:nvGrpSpPr>
          <p:cNvPr id="13" name="组 12"/>
          <p:cNvGrpSpPr/>
          <p:nvPr/>
        </p:nvGrpSpPr>
        <p:grpSpPr>
          <a:xfrm rot="10800000">
            <a:off x="0" y="4234133"/>
            <a:ext cx="9144000" cy="47344"/>
            <a:chOff x="507492" y="1501519"/>
            <a:chExt cx="8129016" cy="63125"/>
          </a:xfrm>
        </p:grpSpPr>
        <p:cxnSp>
          <p:nvCxnSpPr>
            <p:cNvPr id="17" name="直接连接符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14" name="组 13"/>
          <p:cNvGrpSpPr/>
          <p:nvPr/>
        </p:nvGrpSpPr>
        <p:grpSpPr>
          <a:xfrm>
            <a:off x="0" y="911678"/>
            <a:ext cx="9144000" cy="47344"/>
            <a:chOff x="507492" y="1501519"/>
            <a:chExt cx="8129016" cy="63125"/>
          </a:xfrm>
        </p:grpSpPr>
        <p:cxnSp>
          <p:nvCxnSpPr>
            <p:cNvPr id="15" name="直接连接符​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矩形 6"/>
          <p:cNvSpPr/>
          <p:nvPr/>
        </p:nvSpPr>
        <p:spPr>
          <a:xfrm>
            <a:off x="0" y="4333593"/>
            <a:ext cx="9144000" cy="809907"/>
          </a:xfrm>
          <a:prstGeom prst="rect">
            <a:avLst/>
          </a:prstGeom>
          <a:pattFill prst="trellis">
            <a:fgClr>
              <a:schemeClr val="tx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sp>
        <p:nvSpPr>
          <p:cNvPr id="8" name="矩形 7"/>
          <p:cNvSpPr/>
          <p:nvPr/>
        </p:nvSpPr>
        <p:spPr>
          <a:xfrm>
            <a:off x="1" y="0"/>
            <a:ext cx="8131628" cy="887708"/>
          </a:xfrm>
          <a:prstGeom prst="rect">
            <a:avLst/>
          </a:prstGeom>
          <a:pattFill prst="ltUpDiag">
            <a:fgClr>
              <a:srgbClr val="002060"/>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sp>
        <p:nvSpPr>
          <p:cNvPr id="2" name="标题 1"/>
          <p:cNvSpPr>
            <a:spLocks noGrp="1"/>
          </p:cNvSpPr>
          <p:nvPr>
            <p:ph type="ctrTitle"/>
          </p:nvPr>
        </p:nvSpPr>
        <p:spPr>
          <a:xfrm>
            <a:off x="828675" y="1719071"/>
            <a:ext cx="4300538" cy="1664768"/>
          </a:xfrm>
        </p:spPr>
        <p:txBody>
          <a:bodyPr rtlCol="0" anchor="ctr">
            <a:normAutofit/>
          </a:bodyPr>
          <a:lstStyle>
            <a:lvl1pPr algn="l" rtl="0">
              <a:defRPr sz="3300" cap="all" baseline="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828675" y="3383838"/>
            <a:ext cx="4300538" cy="716674"/>
          </a:xfrm>
        </p:spPr>
        <p:txBody>
          <a:bodyPr rtlCol="0">
            <a:normAutofit/>
          </a:bodyPr>
          <a:lstStyle>
            <a:lvl1pPr marL="0" indent="0" algn="l" rtl="0">
              <a:spcBef>
                <a:spcPts val="0"/>
              </a:spcBef>
              <a:buNone/>
              <a:defRPr sz="1350">
                <a:latin typeface="微软雅黑" panose="020B0503020204020204" pitchFamily="34" charset="-122"/>
                <a:ea typeface="微软雅黑" panose="020B0503020204020204" pitchFamily="34" charset="-122"/>
              </a:defRPr>
            </a:lvl1pPr>
            <a:lvl2pPr marL="342900" indent="0" algn="ctr" rtl="0">
              <a:buNone/>
              <a:defRPr sz="1500"/>
            </a:lvl2pPr>
            <a:lvl3pPr marL="685800" indent="0" algn="ctr" rtl="0">
              <a:buNone/>
              <a:defRPr sz="1350"/>
            </a:lvl3pPr>
            <a:lvl4pPr marL="1028700" indent="0" algn="ctr" rtl="0">
              <a:buNone/>
              <a:defRPr sz="1200"/>
            </a:lvl4pPr>
            <a:lvl5pPr marL="1371600" indent="0" algn="ctr" rtl="0">
              <a:buNone/>
              <a:defRPr sz="1200"/>
            </a:lvl5pPr>
            <a:lvl6pPr marL="1714500" indent="0" algn="ctr" rtl="0">
              <a:buNone/>
              <a:defRPr sz="1200"/>
            </a:lvl6pPr>
            <a:lvl7pPr marL="2057400" indent="0" algn="ctr" rtl="0">
              <a:buNone/>
              <a:defRPr sz="1200"/>
            </a:lvl7pPr>
            <a:lvl8pPr marL="2400300" indent="0" algn="ctr" rtl="0">
              <a:buNone/>
              <a:defRPr sz="1200"/>
            </a:lvl8pPr>
            <a:lvl9pPr marL="2743200" indent="0" algn="ctr" rtl="0">
              <a:buNone/>
              <a:defRPr sz="1200"/>
            </a:lvl9pPr>
          </a:lstStyle>
          <a:p>
            <a:pPr rtl="0"/>
            <a:r>
              <a:rPr lang="zh-CN" altLang="en-US" noProof="0"/>
              <a:t>单击此处编辑母版副标题样式</a:t>
            </a:r>
            <a:endParaRPr lang="zh-CN" altLang="en-US" noProof="0" dirty="0"/>
          </a:p>
        </p:txBody>
      </p:sp>
      <p:pic>
        <p:nvPicPr>
          <p:cNvPr id="10" name="图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994410" y="0"/>
            <a:ext cx="1310643" cy="1719071"/>
          </a:xfrm>
          <a:prstGeom prst="rect">
            <a:avLst/>
          </a:prstGeom>
          <a:noFill/>
          <a:ln>
            <a:noFill/>
          </a:ln>
        </p:spPr>
      </p:pic>
      <p:sp>
        <p:nvSpPr>
          <p:cNvPr id="11" name="图片占位符 10"/>
          <p:cNvSpPr>
            <a:spLocks noGrp="1"/>
          </p:cNvSpPr>
          <p:nvPr>
            <p:ph type="pic" sz="quarter" idx="13"/>
          </p:nvPr>
        </p:nvSpPr>
        <p:spPr>
          <a:xfrm>
            <a:off x="5235798" y="982992"/>
            <a:ext cx="3908203" cy="3156453"/>
          </a:xfrm>
          <a:solidFill>
            <a:schemeClr val="tx1">
              <a:lumMod val="20000"/>
              <a:lumOff val="80000"/>
            </a:schemeClr>
          </a:solidFill>
        </p:spPr>
        <p:txBody>
          <a:bodyPr tIns="1005840" rtlCol="0"/>
          <a:lstStyle>
            <a:lvl1pPr marL="0" indent="0" algn="ctr" rtl="0">
              <a:buNone/>
              <a:defRPr>
                <a:latin typeface="微软雅黑" panose="020B0503020204020204" pitchFamily="34" charset="-122"/>
                <a:ea typeface="微软雅黑" panose="020B0503020204020204" pitchFamily="34" charset="-122"/>
              </a:defRPr>
            </a:lvl1pPr>
          </a:lstStyle>
          <a:p>
            <a:pPr rtl="0"/>
            <a:r>
              <a:rPr lang="zh-CN" altLang="en-US" noProof="0"/>
              <a:t>单击图标添加图片</a:t>
            </a:r>
            <a:endParaRPr lang="zh-CN" altLang="en-US" noProof="0" dirty="0"/>
          </a:p>
        </p:txBody>
      </p:sp>
      <p:sp>
        <p:nvSpPr>
          <p:cNvPr id="19" name="说明文字"/>
          <p:cNvSpPr/>
          <p:nvPr/>
        </p:nvSpPr>
        <p:spPr>
          <a:xfrm>
            <a:off x="9258300" y="0"/>
            <a:ext cx="971550" cy="5143500"/>
          </a:xfrm>
          <a:prstGeom prst="roundRect">
            <a:avLst>
              <a:gd name="adj" fmla="val 9717"/>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rtl="0"/>
            <a:r>
              <a:rPr lang="zh-CN" altLang="en-US" sz="900" b="1" i="1" noProof="0" dirty="0">
                <a:latin typeface="微软雅黑" panose="020B0503020204020204" pitchFamily="34" charset="-122"/>
                <a:ea typeface="微软雅黑" panose="020B0503020204020204" pitchFamily="34" charset="-122"/>
                <a:cs typeface="Arial" pitchFamily="34" charset="0"/>
              </a:rPr>
              <a:t>注意：</a:t>
            </a:r>
          </a:p>
          <a:p>
            <a:pPr rtl="0"/>
            <a:r>
              <a:rPr lang="zh-CN" altLang="en-US" sz="900" i="1" noProof="0" dirty="0">
                <a:latin typeface="微软雅黑" panose="020B0503020204020204" pitchFamily="34" charset="-122"/>
                <a:ea typeface="微软雅黑" panose="020B0503020204020204" pitchFamily="34" charset="-122"/>
                <a:cs typeface="Arial" pitchFamily="34" charset="0"/>
              </a:rPr>
              <a:t>若要更改此幻灯片上的图像，请选择该图片，并将其删除。然后单击占位符中的图片图标以插入自己的图像。</a:t>
            </a:r>
          </a:p>
        </p:txBody>
      </p:sp>
      <p:pic>
        <p:nvPicPr>
          <p:cNvPr id="20" name="Picture 2" descr="https://timgsa.baidu.com/timg?image&amp;quality=80&amp;size=b9999_10000&amp;sec=1511172908148&amp;di=6d02f21212d218024932031e15da36ed&amp;imgtype=0&amp;src=http%3A%2F%2Fphotocdn.sohu.com%2F20120523%2FImg343922632.jpg"/>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193771" y="-47709"/>
            <a:ext cx="1002388" cy="1002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0218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grpSp>
        <p:nvGrpSpPr>
          <p:cNvPr id="8" name="组 7"/>
          <p:cNvGrpSpPr/>
          <p:nvPr/>
        </p:nvGrpSpPr>
        <p:grpSpPr>
          <a:xfrm>
            <a:off x="0" y="1885951"/>
            <a:ext cx="9144000" cy="2395526"/>
            <a:chOff x="647402" y="2514600"/>
            <a:chExt cx="10838688" cy="3194035"/>
          </a:xfrm>
          <a:solidFill>
            <a:schemeClr val="tx1">
              <a:lumMod val="65000"/>
              <a:lumOff val="35000"/>
            </a:schemeClr>
          </a:solidFill>
        </p:grpSpPr>
        <p:grpSp>
          <p:nvGrpSpPr>
            <p:cNvPr id="9" name="组 8"/>
            <p:cNvGrpSpPr/>
            <p:nvPr/>
          </p:nvGrpSpPr>
          <p:grpSpPr>
            <a:xfrm>
              <a:off x="647402" y="2514600"/>
              <a:ext cx="10838688" cy="63125"/>
              <a:chOff x="507492" y="1501519"/>
              <a:chExt cx="8129016" cy="63125"/>
            </a:xfrm>
            <a:grpFill/>
          </p:grpSpPr>
          <p:cxnSp>
            <p:nvCxnSpPr>
              <p:cNvPr id="14" name="直接连接符 13"/>
              <p:cNvCxnSpPr/>
              <p:nvPr/>
            </p:nvCxnSpPr>
            <p:spPr>
              <a:xfrm>
                <a:off x="507492" y="1564644"/>
                <a:ext cx="8129016" cy="0"/>
              </a:xfrm>
              <a:prstGeom prst="line">
                <a:avLst/>
              </a:prstGeom>
              <a:grpFill/>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07492" y="1501519"/>
                <a:ext cx="8129016" cy="0"/>
              </a:xfrm>
              <a:prstGeom prst="line">
                <a:avLst/>
              </a:prstGeom>
              <a:grpFill/>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矩形 9"/>
            <p:cNvSpPr/>
            <p:nvPr/>
          </p:nvSpPr>
          <p:spPr>
            <a:xfrm>
              <a:off x="647402" y="2640850"/>
              <a:ext cx="10838688" cy="294153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grpSp>
          <p:nvGrpSpPr>
            <p:cNvPr id="11" name="组 10"/>
            <p:cNvGrpSpPr/>
            <p:nvPr/>
          </p:nvGrpSpPr>
          <p:grpSpPr>
            <a:xfrm rot="10800000">
              <a:off x="647402" y="5645510"/>
              <a:ext cx="10838688" cy="63125"/>
              <a:chOff x="507492" y="1501519"/>
              <a:chExt cx="8129016" cy="63125"/>
            </a:xfrm>
            <a:grpFill/>
          </p:grpSpPr>
          <p:cxnSp>
            <p:nvCxnSpPr>
              <p:cNvPr id="12" name="直接连接符​ 11"/>
              <p:cNvCxnSpPr/>
              <p:nvPr/>
            </p:nvCxnSpPr>
            <p:spPr>
              <a:xfrm>
                <a:off x="507492" y="1564644"/>
                <a:ext cx="8129016" cy="0"/>
              </a:xfrm>
              <a:prstGeom prst="line">
                <a:avLst/>
              </a:prstGeom>
              <a:grpFill/>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07492" y="1501519"/>
                <a:ext cx="8129016" cy="0"/>
              </a:xfrm>
              <a:prstGeom prst="line">
                <a:avLst/>
              </a:prstGeom>
              <a:grpFill/>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title"/>
          </p:nvPr>
        </p:nvSpPr>
        <p:spPr>
          <a:xfrm>
            <a:off x="828675" y="2228854"/>
            <a:ext cx="7553324" cy="1263113"/>
          </a:xfrm>
        </p:spPr>
        <p:txBody>
          <a:bodyPr rtlCol="0" anchor="ctr">
            <a:normAutofit/>
          </a:bodyPr>
          <a:lstStyle>
            <a:lvl1pPr algn="l" rtl="0">
              <a:defRPr sz="3300" cap="all" baseline="0">
                <a:solidFill>
                  <a:schemeClr val="bg1"/>
                </a:solidFill>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828675" y="3491967"/>
            <a:ext cx="7553324" cy="382313"/>
          </a:xfrm>
        </p:spPr>
        <p:txBody>
          <a:bodyPr rtlCol="0">
            <a:normAutofit/>
          </a:bodyPr>
          <a:lstStyle>
            <a:lvl1pPr marL="0" indent="0" algn="l" rtl="0">
              <a:spcBef>
                <a:spcPts val="0"/>
              </a:spcBef>
              <a:buNone/>
              <a:defRPr sz="1200">
                <a:solidFill>
                  <a:schemeClr val="bg1"/>
                </a:solidFill>
                <a:latin typeface="微软雅黑" panose="020B0503020204020204" pitchFamily="34" charset="-122"/>
                <a:ea typeface="微软雅黑" panose="020B0503020204020204" pitchFamily="34" charset="-122"/>
              </a:defRPr>
            </a:lvl1pPr>
            <a:lvl2pPr marL="342900" indent="0" algn="l" rtl="0">
              <a:buNone/>
              <a:defRPr sz="1500">
                <a:solidFill>
                  <a:schemeClr val="tx1">
                    <a:tint val="75000"/>
                  </a:schemeClr>
                </a:solidFill>
              </a:defRPr>
            </a:lvl2pPr>
            <a:lvl3pPr marL="685800" indent="0" algn="l" rtl="0">
              <a:buNone/>
              <a:defRPr sz="1350">
                <a:solidFill>
                  <a:schemeClr val="tx1">
                    <a:tint val="75000"/>
                  </a:schemeClr>
                </a:solidFill>
              </a:defRPr>
            </a:lvl3pPr>
            <a:lvl4pPr marL="1028700" indent="0" algn="l" rtl="0">
              <a:buNone/>
              <a:defRPr sz="1200">
                <a:solidFill>
                  <a:schemeClr val="tx1">
                    <a:tint val="75000"/>
                  </a:schemeClr>
                </a:solidFill>
              </a:defRPr>
            </a:lvl4pPr>
            <a:lvl5pPr marL="1371600" indent="0" algn="l" rtl="0">
              <a:buNone/>
              <a:defRPr sz="1200">
                <a:solidFill>
                  <a:schemeClr val="tx1">
                    <a:tint val="75000"/>
                  </a:schemeClr>
                </a:solidFill>
              </a:defRPr>
            </a:lvl5pPr>
            <a:lvl6pPr marL="1714500" indent="0" algn="l" rtl="0">
              <a:buNone/>
              <a:defRPr sz="1200">
                <a:solidFill>
                  <a:schemeClr val="tx1">
                    <a:tint val="75000"/>
                  </a:schemeClr>
                </a:solidFill>
              </a:defRPr>
            </a:lvl6pPr>
            <a:lvl7pPr marL="2057400" indent="0" algn="l" rtl="0">
              <a:buNone/>
              <a:defRPr sz="1200">
                <a:solidFill>
                  <a:schemeClr val="tx1">
                    <a:tint val="75000"/>
                  </a:schemeClr>
                </a:solidFill>
              </a:defRPr>
            </a:lvl7pPr>
            <a:lvl8pPr marL="2400300" indent="0" algn="l" rtl="0">
              <a:buNone/>
              <a:defRPr sz="1200">
                <a:solidFill>
                  <a:schemeClr val="tx1">
                    <a:tint val="75000"/>
                  </a:schemeClr>
                </a:solidFill>
              </a:defRPr>
            </a:lvl8pPr>
            <a:lvl9pPr marL="2743200" indent="0" algn="l" rtl="0">
              <a:buNone/>
              <a:defRPr sz="1200">
                <a:solidFill>
                  <a:schemeClr val="tx1">
                    <a:tint val="75000"/>
                  </a:schemeClr>
                </a:solidFill>
              </a:defRPr>
            </a:lvl9pPr>
          </a:lstStyle>
          <a:p>
            <a:pPr lvl="0" rtl="0"/>
            <a:r>
              <a:rPr lang="zh-CN" altLang="en-US" noProof="0"/>
              <a:t>单击此处编辑母版文本样式</a:t>
            </a:r>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pPr>
              <a:defRPr/>
            </a:pPr>
            <a:fld id="{602F2924-743E-4ADA-B3BE-10F8DB534DC0}" type="datetimeFigureOut">
              <a:rPr lang="zh-CN" altLang="en-US" smtClean="0"/>
              <a:pPr>
                <a:defRPr/>
              </a:pPr>
              <a:t>2025/12/24</a:t>
            </a:fld>
            <a:endParaRPr lang="zh-CN" altLang="en-US"/>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pPr>
              <a:defRPr/>
            </a:pPr>
            <a:endParaRPr lang="zh-CN" altLang="en-US"/>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pPr>
              <a:defRPr/>
            </a:pPr>
            <a:fld id="{7BE1A241-BED9-42F2-A6A9-D7B384B8D295}" type="slidenum">
              <a:rPr lang="zh-CN" altLang="en-US" smtClean="0"/>
              <a:pPr>
                <a:defRPr/>
              </a:pPr>
              <a:t>‹#›</a:t>
            </a:fld>
            <a:endParaRPr lang="zh-CN" altLang="en-US"/>
          </a:p>
        </p:txBody>
      </p:sp>
      <p:pic>
        <p:nvPicPr>
          <p:cNvPr id="7" name="图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994410" y="0"/>
            <a:ext cx="1337391" cy="2228855"/>
          </a:xfrm>
          <a:prstGeom prst="rect">
            <a:avLst/>
          </a:prstGeom>
        </p:spPr>
      </p:pic>
      <p:pic>
        <p:nvPicPr>
          <p:cNvPr id="16" name="Picture 2" descr="https://timgsa.baidu.com/timg?image&amp;quality=80&amp;size=b9999_10000&amp;sec=1511172908148&amp;di=6d02f21212d218024932031e15da36ed&amp;imgtype=0&amp;src=http%3A%2F%2Fphotocdn.sohu.com%2F20120523%2FImg343922632.jpg"/>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141613" y="-24685"/>
            <a:ext cx="1002388" cy="1002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4912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sz="half" idx="1"/>
          </p:nvPr>
        </p:nvSpPr>
        <p:spPr>
          <a:xfrm>
            <a:off x="828675" y="1200151"/>
            <a:ext cx="3686175" cy="3428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vl9pPr algn="l" rtl="0">
              <a:defRPr/>
            </a:lvl9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内容占位符 3"/>
          <p:cNvSpPr>
            <a:spLocks noGrp="1"/>
          </p:cNvSpPr>
          <p:nvPr>
            <p:ph sz="half" idx="2"/>
          </p:nvPr>
        </p:nvSpPr>
        <p:spPr>
          <a:xfrm>
            <a:off x="4629150" y="1200151"/>
            <a:ext cx="3686175" cy="3428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pPr>
              <a:defRPr/>
            </a:pPr>
            <a:fld id="{084BB1D3-3A81-414D-B0C6-5281BC948F4B}" type="datetimeFigureOut">
              <a:rPr lang="zh-CN" altLang="en-US" smtClean="0"/>
              <a:pPr>
                <a:defRPr/>
              </a:pPr>
              <a:t>2025/12/24</a:t>
            </a:fld>
            <a:endParaRPr lang="zh-CN" altLang="en-US"/>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pPr>
              <a:defRPr/>
            </a:pPr>
            <a:endParaRPr lang="zh-CN" altLang="en-US"/>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pPr>
              <a:defRPr/>
            </a:pPr>
            <a:fld id="{59E8A47D-0AB1-4744-95A8-39E7A180ACC3}" type="slidenum">
              <a:rPr lang="zh-CN" altLang="en-US" smtClean="0"/>
              <a:pPr>
                <a:defRPr/>
              </a:pPr>
              <a:t>‹#›</a:t>
            </a:fld>
            <a:endParaRPr lang="zh-CN" altLang="en-US"/>
          </a:p>
        </p:txBody>
      </p:sp>
    </p:spTree>
    <p:extLst>
      <p:ext uri="{BB962C8B-B14F-4D97-AF65-F5344CB8AC3E}">
        <p14:creationId xmlns:p14="http://schemas.microsoft.com/office/powerpoint/2010/main" val="3965171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828675" y="1200151"/>
            <a:ext cx="3689604" cy="617933"/>
          </a:xfrm>
        </p:spPr>
        <p:txBody>
          <a:bodyPr rtlCol="0" anchor="ctr"/>
          <a:lstStyle>
            <a:lvl1pPr marL="0" indent="0" algn="l" rtl="0">
              <a:spcBef>
                <a:spcPts val="0"/>
              </a:spcBef>
              <a:buNone/>
              <a:defRPr sz="1800" b="1">
                <a:latin typeface="微软雅黑" panose="020B0503020204020204" pitchFamily="34" charset="-122"/>
                <a:ea typeface="微软雅黑" panose="020B0503020204020204" pitchFamily="34" charset="-122"/>
              </a:defRPr>
            </a:lvl1pPr>
            <a:lvl2pPr marL="342900" indent="0" algn="l" rtl="0">
              <a:buNone/>
              <a:defRPr sz="1500" b="1"/>
            </a:lvl2pPr>
            <a:lvl3pPr marL="685800" indent="0" algn="l" rtl="0">
              <a:buNone/>
              <a:defRPr sz="1350" b="1"/>
            </a:lvl3pPr>
            <a:lvl4pPr marL="1028700" indent="0" algn="l" rtl="0">
              <a:buNone/>
              <a:defRPr sz="1200" b="1"/>
            </a:lvl4pPr>
            <a:lvl5pPr marL="1371600" indent="0" algn="l" rtl="0">
              <a:buNone/>
              <a:defRPr sz="1200" b="1"/>
            </a:lvl5pPr>
            <a:lvl6pPr marL="1714500" indent="0" algn="l" rtl="0">
              <a:buNone/>
              <a:defRPr sz="1200" b="1"/>
            </a:lvl6pPr>
            <a:lvl7pPr marL="2057400" indent="0" algn="l" rtl="0">
              <a:buNone/>
              <a:defRPr sz="1200" b="1"/>
            </a:lvl7pPr>
            <a:lvl8pPr marL="2400300" indent="0" algn="l" rtl="0">
              <a:buNone/>
              <a:defRPr sz="1200" b="1"/>
            </a:lvl8pPr>
            <a:lvl9pPr marL="2743200" indent="0" algn="l" rtl="0">
              <a:buNone/>
              <a:defRPr sz="1200" b="1"/>
            </a:lvl9pPr>
          </a:lstStyle>
          <a:p>
            <a:pPr lvl="0" rtl="0"/>
            <a:r>
              <a:rPr lang="zh-CN" altLang="en-US" noProof="0"/>
              <a:t>单击此处编辑母版文本样式</a:t>
            </a:r>
          </a:p>
        </p:txBody>
      </p:sp>
      <p:sp>
        <p:nvSpPr>
          <p:cNvPr id="4" name="内容占位符 3"/>
          <p:cNvSpPr>
            <a:spLocks noGrp="1"/>
          </p:cNvSpPr>
          <p:nvPr>
            <p:ph sz="half" idx="2"/>
          </p:nvPr>
        </p:nvSpPr>
        <p:spPr>
          <a:xfrm>
            <a:off x="828675" y="1818084"/>
            <a:ext cx="3689604" cy="2811066"/>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文本占位符 4"/>
          <p:cNvSpPr>
            <a:spLocks noGrp="1"/>
          </p:cNvSpPr>
          <p:nvPr>
            <p:ph type="body" sz="quarter" idx="3"/>
          </p:nvPr>
        </p:nvSpPr>
        <p:spPr>
          <a:xfrm>
            <a:off x="4624583" y="1200151"/>
            <a:ext cx="3689604" cy="617933"/>
          </a:xfrm>
        </p:spPr>
        <p:txBody>
          <a:bodyPr rtlCol="0" anchor="ctr"/>
          <a:lstStyle>
            <a:lvl1pPr marL="0" indent="0" algn="l" rtl="0">
              <a:spcBef>
                <a:spcPts val="0"/>
              </a:spcBef>
              <a:buNone/>
              <a:defRPr sz="1800" b="1">
                <a:latin typeface="微软雅黑" panose="020B0503020204020204" pitchFamily="34" charset="-122"/>
                <a:ea typeface="微软雅黑" panose="020B0503020204020204" pitchFamily="34" charset="-122"/>
              </a:defRPr>
            </a:lvl1pPr>
            <a:lvl2pPr marL="342900" indent="0" algn="l" rtl="0">
              <a:buNone/>
              <a:defRPr sz="1500" b="1"/>
            </a:lvl2pPr>
            <a:lvl3pPr marL="685800" indent="0" algn="l" rtl="0">
              <a:buNone/>
              <a:defRPr sz="1350" b="1"/>
            </a:lvl3pPr>
            <a:lvl4pPr marL="1028700" indent="0" algn="l" rtl="0">
              <a:buNone/>
              <a:defRPr sz="1200" b="1"/>
            </a:lvl4pPr>
            <a:lvl5pPr marL="1371600" indent="0" algn="l" rtl="0">
              <a:buNone/>
              <a:defRPr sz="1200" b="1"/>
            </a:lvl5pPr>
            <a:lvl6pPr marL="1714500" indent="0" algn="l" rtl="0">
              <a:buNone/>
              <a:defRPr sz="1200" b="1"/>
            </a:lvl6pPr>
            <a:lvl7pPr marL="2057400" indent="0" algn="l" rtl="0">
              <a:buNone/>
              <a:defRPr sz="1200" b="1"/>
            </a:lvl7pPr>
            <a:lvl8pPr marL="2400300" indent="0" algn="l" rtl="0">
              <a:buNone/>
              <a:defRPr sz="1200" b="1"/>
            </a:lvl8pPr>
            <a:lvl9pPr marL="2743200" indent="0" algn="l" rtl="0">
              <a:buNone/>
              <a:defRPr sz="1200" b="1"/>
            </a:lvl9pPr>
          </a:lstStyle>
          <a:p>
            <a:pPr lvl="0" rtl="0"/>
            <a:r>
              <a:rPr lang="zh-CN" altLang="en-US" noProof="0"/>
              <a:t>单击此处编辑母版文本样式</a:t>
            </a:r>
          </a:p>
        </p:txBody>
      </p:sp>
      <p:sp>
        <p:nvSpPr>
          <p:cNvPr id="6" name="内容占位符 5"/>
          <p:cNvSpPr>
            <a:spLocks noGrp="1"/>
          </p:cNvSpPr>
          <p:nvPr>
            <p:ph sz="quarter" idx="4"/>
          </p:nvPr>
        </p:nvSpPr>
        <p:spPr>
          <a:xfrm>
            <a:off x="4624583" y="1818084"/>
            <a:ext cx="3689604" cy="2811066"/>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7" name="日期占位符 6"/>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pPr>
              <a:defRPr/>
            </a:pPr>
            <a:fld id="{4957CC2E-BA7D-44E8-8543-A2388C7C6ED5}" type="datetimeFigureOut">
              <a:rPr lang="zh-CN" altLang="en-US" smtClean="0"/>
              <a:pPr>
                <a:defRPr/>
              </a:pPr>
              <a:t>2025/12/24</a:t>
            </a:fld>
            <a:endParaRPr lang="zh-CN" altLang="en-US"/>
          </a:p>
        </p:txBody>
      </p:sp>
      <p:sp>
        <p:nvSpPr>
          <p:cNvPr id="8" name="页脚占位符 7"/>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pPr>
              <a:defRPr/>
            </a:pPr>
            <a:endParaRPr lang="zh-CN" altLang="en-US"/>
          </a:p>
        </p:txBody>
      </p:sp>
      <p:sp>
        <p:nvSpPr>
          <p:cNvPr id="9" name="灯片编号占位符 8"/>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pPr>
              <a:defRPr/>
            </a:pPr>
            <a:fld id="{6B1D184D-5C9D-41E8-9FD9-B6823935AD2C}" type="slidenum">
              <a:rPr lang="zh-CN" altLang="en-US" smtClean="0"/>
              <a:pPr>
                <a:defRPr/>
              </a:pPr>
              <a:t>‹#›</a:t>
            </a:fld>
            <a:endParaRPr lang="zh-CN" altLang="en-US"/>
          </a:p>
        </p:txBody>
      </p:sp>
    </p:spTree>
    <p:extLst>
      <p:ext uri="{BB962C8B-B14F-4D97-AF65-F5344CB8AC3E}">
        <p14:creationId xmlns:p14="http://schemas.microsoft.com/office/powerpoint/2010/main" val="1165636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日期占位符 2"/>
          <p:cNvSpPr>
            <a:spLocks noGrp="1"/>
          </p:cNvSpPr>
          <p:nvPr>
            <p:ph type="dt" sz="half" idx="10"/>
          </p:nvPr>
        </p:nvSpPr>
        <p:spPr/>
        <p:txBody>
          <a:bodyPr rtlCol="0"/>
          <a:lstStyle>
            <a:lvl1pPr>
              <a:defRPr/>
            </a:lvl1pPr>
          </a:lstStyle>
          <a:p>
            <a:pPr>
              <a:defRPr/>
            </a:pPr>
            <a:fld id="{E9376702-95FB-4BA7-A05A-8C3261398C11}" type="datetimeFigureOut">
              <a:rPr lang="zh-CN" altLang="en-US" smtClean="0"/>
              <a:pPr>
                <a:defRPr/>
              </a:pPr>
              <a:t>2025/12/24</a:t>
            </a:fld>
            <a:endParaRPr lang="zh-CN" altLang="en-US"/>
          </a:p>
        </p:txBody>
      </p:sp>
      <p:sp>
        <p:nvSpPr>
          <p:cNvPr id="4" name="页脚占位符 3"/>
          <p:cNvSpPr>
            <a:spLocks noGrp="1"/>
          </p:cNvSpPr>
          <p:nvPr>
            <p:ph type="ftr" sz="quarter" idx="11"/>
          </p:nvPr>
        </p:nvSpPr>
        <p:spPr/>
        <p:txBody>
          <a:bodyPr rtlCol="0"/>
          <a:lstStyle/>
          <a:p>
            <a:pPr>
              <a:defRPr/>
            </a:pPr>
            <a:endParaRPr lang="zh-CN" altLang="en-US"/>
          </a:p>
        </p:txBody>
      </p:sp>
      <p:sp>
        <p:nvSpPr>
          <p:cNvPr id="5" name="灯片编号占位符 4"/>
          <p:cNvSpPr>
            <a:spLocks noGrp="1"/>
          </p:cNvSpPr>
          <p:nvPr>
            <p:ph type="sldNum" sz="quarter" idx="12"/>
          </p:nvPr>
        </p:nvSpPr>
        <p:spPr/>
        <p:txBody>
          <a:bodyPr rtlCol="0"/>
          <a:lstStyle>
            <a:lvl1pPr algn="r">
              <a:defRPr/>
            </a:lvl1pPr>
          </a:lstStyle>
          <a:p>
            <a:pPr>
              <a:defRPr/>
            </a:pPr>
            <a:fld id="{4B08C6E5-0368-4EF4-A482-B7C01F5ADC89}" type="slidenum">
              <a:rPr lang="zh-CN" altLang="en-US" smtClean="0"/>
              <a:pPr>
                <a:defRPr/>
              </a:pPr>
              <a:t>‹#›</a:t>
            </a:fld>
            <a:endParaRPr lang="zh-CN" altLang="en-US"/>
          </a:p>
        </p:txBody>
      </p:sp>
    </p:spTree>
    <p:extLst>
      <p:ext uri="{BB962C8B-B14F-4D97-AF65-F5344CB8AC3E}">
        <p14:creationId xmlns:p14="http://schemas.microsoft.com/office/powerpoint/2010/main" val="2358857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rtlCol="0"/>
          <a:lstStyle>
            <a:lvl1pPr>
              <a:defRPr/>
            </a:lvl1pPr>
          </a:lstStyle>
          <a:p>
            <a:pPr>
              <a:defRPr/>
            </a:pPr>
            <a:fld id="{8159572A-820F-4ACF-9D42-32F74E11D922}" type="datetimeFigureOut">
              <a:rPr lang="zh-CN" altLang="en-US" smtClean="0"/>
              <a:pPr>
                <a:defRPr/>
              </a:pPr>
              <a:t>2025/12/24</a:t>
            </a:fld>
            <a:endParaRPr lang="zh-CN" altLang="en-US"/>
          </a:p>
        </p:txBody>
      </p:sp>
      <p:sp>
        <p:nvSpPr>
          <p:cNvPr id="3" name="页脚占位符 2"/>
          <p:cNvSpPr>
            <a:spLocks noGrp="1"/>
          </p:cNvSpPr>
          <p:nvPr>
            <p:ph type="ftr" sz="quarter" idx="11"/>
          </p:nvPr>
        </p:nvSpPr>
        <p:spPr/>
        <p:txBody>
          <a:bodyPr rtlCol="0"/>
          <a:lstStyle/>
          <a:p>
            <a:pPr>
              <a:defRPr/>
            </a:pPr>
            <a:endParaRPr lang="zh-CN" altLang="en-US"/>
          </a:p>
        </p:txBody>
      </p:sp>
      <p:sp>
        <p:nvSpPr>
          <p:cNvPr id="4" name="灯片编号占位符 3"/>
          <p:cNvSpPr>
            <a:spLocks noGrp="1"/>
          </p:cNvSpPr>
          <p:nvPr>
            <p:ph type="sldNum" sz="quarter" idx="12"/>
          </p:nvPr>
        </p:nvSpPr>
        <p:spPr/>
        <p:txBody>
          <a:bodyPr rtlCol="0"/>
          <a:lstStyle>
            <a:lvl1pPr algn="r">
              <a:defRPr/>
            </a:lvl1pPr>
          </a:lstStyle>
          <a:p>
            <a:pPr>
              <a:defRPr/>
            </a:pPr>
            <a:fld id="{8E1DCD51-4692-4631-91E0-6E3FCC300059}" type="slidenum">
              <a:rPr lang="zh-CN" altLang="en-US" smtClean="0"/>
              <a:pPr>
                <a:defRPr/>
              </a:pPr>
              <a:t>‹#›</a:t>
            </a:fld>
            <a:endParaRPr lang="zh-CN" altLang="en-US"/>
          </a:p>
        </p:txBody>
      </p:sp>
    </p:spTree>
    <p:extLst>
      <p:ext uri="{BB962C8B-B14F-4D97-AF65-F5344CB8AC3E}">
        <p14:creationId xmlns:p14="http://schemas.microsoft.com/office/powerpoint/2010/main" val="1269636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带题注的内容">
    <p:spTree>
      <p:nvGrpSpPr>
        <p:cNvPr id="1" name=""/>
        <p:cNvGrpSpPr/>
        <p:nvPr/>
      </p:nvGrpSpPr>
      <p:grpSpPr>
        <a:xfrm>
          <a:off x="0" y="0"/>
          <a:ext cx="0" cy="0"/>
          <a:chOff x="0" y="0"/>
          <a:chExt cx="0" cy="0"/>
        </a:xfrm>
      </p:grpSpPr>
      <p:sp>
        <p:nvSpPr>
          <p:cNvPr id="2" name="标题 1"/>
          <p:cNvSpPr>
            <a:spLocks noGrp="1"/>
          </p:cNvSpPr>
          <p:nvPr>
            <p:ph type="title"/>
          </p:nvPr>
        </p:nvSpPr>
        <p:spPr>
          <a:xfrm>
            <a:off x="827532" y="193932"/>
            <a:ext cx="3820668" cy="498022"/>
          </a:xfrm>
        </p:spPr>
        <p:txBody>
          <a:bodyPr rtlCol="0" anchor="b"/>
          <a:lstStyle>
            <a:lvl1pPr algn="l" rtl="0">
              <a:defRPr sz="2400"/>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a:xfrm>
            <a:off x="4231386" y="1200150"/>
            <a:ext cx="4083939" cy="3429001"/>
          </a:xfrm>
        </p:spPr>
        <p:txBody>
          <a:bodyPr rtlCol="0">
            <a:normAutofit/>
          </a:bodyPr>
          <a:lstStyle>
            <a:lvl1pPr algn="l" rtl="0">
              <a:defRPr sz="1500"/>
            </a:lvl1pPr>
            <a:lvl2pPr algn="l" rtl="0">
              <a:defRPr sz="1200"/>
            </a:lvl2pPr>
            <a:lvl3pPr algn="l" rtl="0">
              <a:defRPr sz="1200"/>
            </a:lvl3pPr>
            <a:lvl4pPr algn="l" rtl="0">
              <a:defRPr sz="1050"/>
            </a:lvl4pPr>
            <a:lvl5pPr algn="l" rtl="0">
              <a:defRPr sz="1050"/>
            </a:lvl5pPr>
            <a:lvl6pPr algn="l" rtl="0">
              <a:defRPr sz="1050"/>
            </a:lvl6pPr>
            <a:lvl7pPr algn="l" rtl="0">
              <a:defRPr sz="1050"/>
            </a:lvl7pPr>
            <a:lvl8pPr algn="l" rtl="0">
              <a:defRPr sz="1050"/>
            </a:lvl8pPr>
            <a:lvl9pPr algn="l" rtl="0">
              <a:defRPr sz="1050"/>
            </a:lvl9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文本占位符 3"/>
          <p:cNvSpPr>
            <a:spLocks noGrp="1"/>
          </p:cNvSpPr>
          <p:nvPr>
            <p:ph type="body" sz="half" idx="2"/>
          </p:nvPr>
        </p:nvSpPr>
        <p:spPr>
          <a:xfrm>
            <a:off x="828675" y="1200150"/>
            <a:ext cx="3288411" cy="3429000"/>
          </a:xfrm>
        </p:spPr>
        <p:txBody>
          <a:bodyPr rtlCol="0">
            <a:normAutofit/>
          </a:bodyPr>
          <a:lstStyle>
            <a:lvl1pPr marL="0" indent="0" algn="l" rtl="0">
              <a:spcBef>
                <a:spcPts val="900"/>
              </a:spcBef>
              <a:buNone/>
              <a:defRPr sz="1350"/>
            </a:lvl1pPr>
            <a:lvl2pPr marL="342900" indent="0" algn="l" rtl="0">
              <a:buNone/>
              <a:defRPr sz="1050"/>
            </a:lvl2pPr>
            <a:lvl3pPr marL="685800" indent="0" algn="l" rtl="0">
              <a:buNone/>
              <a:defRPr sz="900"/>
            </a:lvl3pPr>
            <a:lvl4pPr marL="1028700" indent="0" algn="l" rtl="0">
              <a:buNone/>
              <a:defRPr sz="750"/>
            </a:lvl4pPr>
            <a:lvl5pPr marL="1371600" indent="0" algn="l" rtl="0">
              <a:buNone/>
              <a:defRPr sz="750"/>
            </a:lvl5pPr>
            <a:lvl6pPr marL="1714500" indent="0" algn="l" rtl="0">
              <a:buNone/>
              <a:defRPr sz="750"/>
            </a:lvl6pPr>
            <a:lvl7pPr marL="2057400" indent="0" algn="l" rtl="0">
              <a:buNone/>
              <a:defRPr sz="750"/>
            </a:lvl7pPr>
            <a:lvl8pPr marL="2400300" indent="0" algn="l" rtl="0">
              <a:buNone/>
              <a:defRPr sz="750"/>
            </a:lvl8pPr>
            <a:lvl9pPr marL="2743200" indent="0" algn="l" rtl="0">
              <a:buNone/>
              <a:defRPr sz="750"/>
            </a:lvl9pPr>
          </a:lstStyle>
          <a:p>
            <a:pPr lvl="0" rtl="0"/>
            <a:r>
              <a:rPr lang="zh-CN" altLang="en-US" noProof="0"/>
              <a:t>单击此处编辑母版文本样式</a:t>
            </a:r>
          </a:p>
        </p:txBody>
      </p:sp>
      <p:sp>
        <p:nvSpPr>
          <p:cNvPr id="5" name="日期占位符 4"/>
          <p:cNvSpPr>
            <a:spLocks noGrp="1"/>
          </p:cNvSpPr>
          <p:nvPr>
            <p:ph type="dt" sz="half" idx="10"/>
          </p:nvPr>
        </p:nvSpPr>
        <p:spPr/>
        <p:txBody>
          <a:bodyPr rtlCol="0"/>
          <a:lstStyle>
            <a:lvl1pPr>
              <a:defRPr/>
            </a:lvl1pPr>
          </a:lstStyle>
          <a:p>
            <a:pPr>
              <a:defRPr/>
            </a:pPr>
            <a:fld id="{2245BD58-8AB0-492A-ADC0-45D4D042BE64}" type="datetimeFigureOut">
              <a:rPr lang="zh-CN" altLang="en-US" smtClean="0"/>
              <a:pPr>
                <a:defRPr/>
              </a:pPr>
              <a:t>2025/12/24</a:t>
            </a:fld>
            <a:endParaRPr lang="zh-CN" altLang="en-US"/>
          </a:p>
        </p:txBody>
      </p:sp>
      <p:sp>
        <p:nvSpPr>
          <p:cNvPr id="6" name="页脚占位符 5"/>
          <p:cNvSpPr>
            <a:spLocks noGrp="1"/>
          </p:cNvSpPr>
          <p:nvPr>
            <p:ph type="ftr" sz="quarter" idx="11"/>
          </p:nvPr>
        </p:nvSpPr>
        <p:spPr/>
        <p:txBody>
          <a:bodyPr rtlCol="0"/>
          <a:lstStyle/>
          <a:p>
            <a:pPr>
              <a:defRPr/>
            </a:pPr>
            <a:endParaRPr lang="zh-CN" altLang="en-US"/>
          </a:p>
        </p:txBody>
      </p:sp>
      <p:sp>
        <p:nvSpPr>
          <p:cNvPr id="7" name="灯片编号占位符 6"/>
          <p:cNvSpPr>
            <a:spLocks noGrp="1"/>
          </p:cNvSpPr>
          <p:nvPr>
            <p:ph type="sldNum" sz="quarter" idx="12"/>
          </p:nvPr>
        </p:nvSpPr>
        <p:spPr/>
        <p:txBody>
          <a:bodyPr rtlCol="0"/>
          <a:lstStyle>
            <a:lvl1pPr algn="r">
              <a:defRPr/>
            </a:lvl1pPr>
          </a:lstStyle>
          <a:p>
            <a:pPr>
              <a:defRPr/>
            </a:pPr>
            <a:fld id="{DB91A0AD-5401-487A-B4DF-AAE6F99653A6}" type="slidenum">
              <a:rPr lang="zh-CN" altLang="en-US" smtClean="0"/>
              <a:pPr>
                <a:defRPr/>
              </a:pPr>
              <a:t>‹#›</a:t>
            </a:fld>
            <a:endParaRPr lang="zh-CN" altLang="en-US"/>
          </a:p>
        </p:txBody>
      </p:sp>
    </p:spTree>
    <p:extLst>
      <p:ext uri="{BB962C8B-B14F-4D97-AF65-F5344CB8AC3E}">
        <p14:creationId xmlns:p14="http://schemas.microsoft.com/office/powerpoint/2010/main" val="1092829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带题注的图片">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240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图片占位符 2"/>
          <p:cNvSpPr>
            <a:spLocks noGrp="1"/>
          </p:cNvSpPr>
          <p:nvPr>
            <p:ph type="pic" idx="1"/>
          </p:nvPr>
        </p:nvSpPr>
        <p:spPr>
          <a:xfrm>
            <a:off x="3491003" y="1200150"/>
            <a:ext cx="4823184" cy="3429001"/>
          </a:xfrm>
        </p:spPr>
        <p:txBody>
          <a:bodyPr tIns="1188720" rtlCol="0">
            <a:normAutofit/>
          </a:bodyPr>
          <a:lstStyle>
            <a:lvl1pPr marL="0" indent="0" algn="ctr" rtl="0">
              <a:buNone/>
              <a:defRPr sz="1500">
                <a:latin typeface="微软雅黑" panose="020B0503020204020204" pitchFamily="34" charset="-122"/>
                <a:ea typeface="微软雅黑" panose="020B0503020204020204" pitchFamily="34" charset="-122"/>
              </a:defRPr>
            </a:lvl1pPr>
            <a:lvl2pPr marL="342900" indent="0" algn="l" rtl="0">
              <a:buNone/>
              <a:defRPr sz="2100"/>
            </a:lvl2pPr>
            <a:lvl3pPr marL="685800" indent="0" algn="l" rtl="0">
              <a:buNone/>
              <a:defRPr sz="1800"/>
            </a:lvl3pPr>
            <a:lvl4pPr marL="1028700" indent="0" algn="l" rtl="0">
              <a:buNone/>
              <a:defRPr sz="1500"/>
            </a:lvl4pPr>
            <a:lvl5pPr marL="1371600" indent="0" algn="l" rtl="0">
              <a:buNone/>
              <a:defRPr sz="1500"/>
            </a:lvl5pPr>
            <a:lvl6pPr marL="1714500" indent="0" algn="l" rtl="0">
              <a:buNone/>
              <a:defRPr sz="1500"/>
            </a:lvl6pPr>
            <a:lvl7pPr marL="2057400" indent="0" algn="l" rtl="0">
              <a:buNone/>
              <a:defRPr sz="1500"/>
            </a:lvl7pPr>
            <a:lvl8pPr marL="2400300" indent="0" algn="l" rtl="0">
              <a:buNone/>
              <a:defRPr sz="1500"/>
            </a:lvl8pPr>
            <a:lvl9pPr marL="2743200" indent="0" algn="l" rtl="0">
              <a:buNone/>
              <a:defRPr sz="1500"/>
            </a:lvl9pPr>
          </a:lstStyle>
          <a:p>
            <a:pPr rtl="0"/>
            <a:r>
              <a:rPr lang="zh-CN" altLang="en-US" noProof="0"/>
              <a:t>单击图标添加图片</a:t>
            </a:r>
            <a:endParaRPr lang="zh-CN" altLang="en-US" noProof="0" dirty="0"/>
          </a:p>
        </p:txBody>
      </p:sp>
      <p:sp>
        <p:nvSpPr>
          <p:cNvPr id="4" name="文本占位符 3"/>
          <p:cNvSpPr>
            <a:spLocks noGrp="1"/>
          </p:cNvSpPr>
          <p:nvPr>
            <p:ph type="body" sz="half" idx="2"/>
          </p:nvPr>
        </p:nvSpPr>
        <p:spPr>
          <a:xfrm>
            <a:off x="828675" y="1200150"/>
            <a:ext cx="2547747" cy="3429000"/>
          </a:xfrm>
        </p:spPr>
        <p:txBody>
          <a:bodyPr rtlCol="0">
            <a:normAutofit/>
          </a:bodyPr>
          <a:lstStyle>
            <a:lvl1pPr marL="0" indent="0" algn="l" rtl="0">
              <a:spcBef>
                <a:spcPts val="900"/>
              </a:spcBef>
              <a:buNone/>
              <a:defRPr sz="1350">
                <a:latin typeface="微软雅黑" panose="020B0503020204020204" pitchFamily="34" charset="-122"/>
                <a:ea typeface="微软雅黑" panose="020B0503020204020204" pitchFamily="34" charset="-122"/>
              </a:defRPr>
            </a:lvl1pPr>
            <a:lvl2pPr marL="342900" indent="0" algn="l" rtl="0">
              <a:buNone/>
              <a:defRPr sz="1050"/>
            </a:lvl2pPr>
            <a:lvl3pPr marL="685800" indent="0" algn="l" rtl="0">
              <a:buNone/>
              <a:defRPr sz="900"/>
            </a:lvl3pPr>
            <a:lvl4pPr marL="1028700" indent="0" algn="l" rtl="0">
              <a:buNone/>
              <a:defRPr sz="750"/>
            </a:lvl4pPr>
            <a:lvl5pPr marL="1371600" indent="0" algn="l" rtl="0">
              <a:buNone/>
              <a:defRPr sz="750"/>
            </a:lvl5pPr>
            <a:lvl6pPr marL="1714500" indent="0" algn="l" rtl="0">
              <a:buNone/>
              <a:defRPr sz="750"/>
            </a:lvl6pPr>
            <a:lvl7pPr marL="2057400" indent="0" algn="l" rtl="0">
              <a:buNone/>
              <a:defRPr sz="750"/>
            </a:lvl7pPr>
            <a:lvl8pPr marL="2400300" indent="0" algn="l" rtl="0">
              <a:buNone/>
              <a:defRPr sz="750"/>
            </a:lvl8pPr>
            <a:lvl9pPr marL="2743200" indent="0" algn="l" rtl="0">
              <a:buNone/>
              <a:defRPr sz="750"/>
            </a:lvl9pPr>
          </a:lstStyle>
          <a:p>
            <a:pPr lvl="0" rtl="0"/>
            <a:r>
              <a:rPr lang="zh-CN" altLang="en-US" noProof="0"/>
              <a:t>单击此处编辑母版文本样式</a:t>
            </a:r>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pPr>
              <a:defRPr/>
            </a:pPr>
            <a:fld id="{2245BD58-8AB0-492A-ADC0-45D4D042BE64}" type="datetimeFigureOut">
              <a:rPr lang="zh-CN" altLang="en-US" smtClean="0"/>
              <a:pPr>
                <a:defRPr/>
              </a:pPr>
              <a:t>2025/12/24</a:t>
            </a:fld>
            <a:endParaRPr lang="zh-CN" altLang="en-US"/>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pPr>
              <a:defRPr/>
            </a:pPr>
            <a:endParaRPr lang="zh-CN" altLang="en-US"/>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pPr>
              <a:defRPr/>
            </a:pPr>
            <a:fld id="{DB91A0AD-5401-487A-B4DF-AAE6F99653A6}" type="slidenum">
              <a:rPr lang="zh-CN" altLang="en-US" smtClean="0"/>
              <a:pPr>
                <a:defRPr/>
              </a:pPr>
              <a:t>‹#›</a:t>
            </a:fld>
            <a:endParaRPr lang="zh-CN" altLang="en-US"/>
          </a:p>
        </p:txBody>
      </p:sp>
    </p:spTree>
    <p:extLst>
      <p:ext uri="{BB962C8B-B14F-4D97-AF65-F5344CB8AC3E}">
        <p14:creationId xmlns:p14="http://schemas.microsoft.com/office/powerpoint/2010/main" val="2565084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p:txBody>
          <a:bodyPr vert="eaVert" rtlCol="0"/>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pPr>
              <a:defRPr/>
            </a:pPr>
            <a:fld id="{2245BD58-8AB0-492A-ADC0-45D4D042BE64}" type="datetimeFigureOut">
              <a:rPr lang="zh-CN" altLang="en-US" smtClean="0"/>
              <a:pPr>
                <a:defRPr/>
              </a:pPr>
              <a:t>2025/12/24</a:t>
            </a:fld>
            <a:endParaRPr lang="zh-CN" altLang="en-US"/>
          </a:p>
        </p:txBody>
      </p:sp>
      <p:sp>
        <p:nvSpPr>
          <p:cNvPr id="5" name="页脚占位符 4"/>
          <p:cNvSpPr>
            <a:spLocks noGrp="1"/>
          </p:cNvSpPr>
          <p:nvPr>
            <p:ph type="ftr" sz="quarter" idx="11"/>
          </p:nvPr>
        </p:nvSpPr>
        <p:spPr/>
        <p:txBody>
          <a:bodyPr rtlCol="0"/>
          <a:lstStyle/>
          <a:p>
            <a:pPr>
              <a:defRPr/>
            </a:pPr>
            <a:endParaRPr lang="zh-CN" altLang="en-US"/>
          </a:p>
        </p:txBody>
      </p:sp>
      <p:sp>
        <p:nvSpPr>
          <p:cNvPr id="6" name="灯片编号占位符 5"/>
          <p:cNvSpPr>
            <a:spLocks noGrp="1"/>
          </p:cNvSpPr>
          <p:nvPr>
            <p:ph type="sldNum" sz="quarter" idx="12"/>
          </p:nvPr>
        </p:nvSpPr>
        <p:spPr/>
        <p:txBody>
          <a:bodyPr rtlCol="0"/>
          <a:lstStyle>
            <a:lvl1pPr algn="r">
              <a:defRPr/>
            </a:lvl1pPr>
          </a:lstStyle>
          <a:p>
            <a:pPr>
              <a:defRPr/>
            </a:pPr>
            <a:fld id="{DB91A0AD-5401-487A-B4DF-AAE6F99653A6}" type="slidenum">
              <a:rPr lang="zh-CN" altLang="en-US" smtClean="0"/>
              <a:pPr>
                <a:defRPr/>
              </a:pPr>
              <a:t>‹#›</a:t>
            </a:fld>
            <a:endParaRPr lang="zh-CN" altLang="en-US"/>
          </a:p>
        </p:txBody>
      </p:sp>
    </p:spTree>
    <p:extLst>
      <p:ext uri="{BB962C8B-B14F-4D97-AF65-F5344CB8AC3E}">
        <p14:creationId xmlns:p14="http://schemas.microsoft.com/office/powerpoint/2010/main" val="4167131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垂直标题 1"/>
          <p:cNvSpPr>
            <a:spLocks noGrp="1"/>
          </p:cNvSpPr>
          <p:nvPr>
            <p:ph type="title" orient="vert"/>
          </p:nvPr>
        </p:nvSpPr>
        <p:spPr>
          <a:xfrm>
            <a:off x="7029450" y="273844"/>
            <a:ext cx="1285875" cy="4358879"/>
          </a:xfrm>
        </p:spPr>
        <p:txBody>
          <a:bodyPr vert="eaVert"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a:xfrm>
            <a:off x="828675" y="273844"/>
            <a:ext cx="6074172" cy="4358879"/>
          </a:xfrm>
        </p:spPr>
        <p:txBody>
          <a:bodyPr vert="eaVert" rtlCol="0"/>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pPr>
              <a:defRPr/>
            </a:pPr>
            <a:fld id="{C5FB8457-19A9-4A8A-A8FF-B4BB33699748}" type="datetimeFigureOut">
              <a:rPr lang="zh-CN" altLang="en-US" smtClean="0"/>
              <a:pPr>
                <a:defRPr/>
              </a:pPr>
              <a:t>2025/12/24</a:t>
            </a:fld>
            <a:endParaRPr lang="zh-CN" altLang="en-US"/>
          </a:p>
        </p:txBody>
      </p:sp>
      <p:sp>
        <p:nvSpPr>
          <p:cNvPr id="5" name="页脚占位符 4"/>
          <p:cNvSpPr>
            <a:spLocks noGrp="1"/>
          </p:cNvSpPr>
          <p:nvPr>
            <p:ph type="ftr" sz="quarter" idx="11"/>
          </p:nvPr>
        </p:nvSpPr>
        <p:spPr/>
        <p:txBody>
          <a:bodyPr rtlCol="0"/>
          <a:lstStyle/>
          <a:p>
            <a:pPr>
              <a:defRPr/>
            </a:pPr>
            <a:endParaRPr lang="zh-CN" altLang="en-US"/>
          </a:p>
        </p:txBody>
      </p:sp>
      <p:sp>
        <p:nvSpPr>
          <p:cNvPr id="6" name="灯片编号占位符 5"/>
          <p:cNvSpPr>
            <a:spLocks noGrp="1"/>
          </p:cNvSpPr>
          <p:nvPr>
            <p:ph type="sldNum" sz="quarter" idx="12"/>
          </p:nvPr>
        </p:nvSpPr>
        <p:spPr/>
        <p:txBody>
          <a:bodyPr rtlCol="0"/>
          <a:lstStyle>
            <a:lvl1pPr algn="r">
              <a:defRPr/>
            </a:lvl1pPr>
          </a:lstStyle>
          <a:p>
            <a:pPr>
              <a:defRPr/>
            </a:pPr>
            <a:fld id="{50FB4B70-985E-49BB-AC52-476E4B0A2833}" type="slidenum">
              <a:rPr lang="zh-CN" altLang="en-US" smtClean="0"/>
              <a:pPr>
                <a:defRPr/>
              </a:pPr>
              <a:t>‹#›</a:t>
            </a:fld>
            <a:endParaRPr lang="zh-CN" altLang="en-US"/>
          </a:p>
        </p:txBody>
      </p:sp>
      <p:grpSp>
        <p:nvGrpSpPr>
          <p:cNvPr id="7" name="组 6"/>
          <p:cNvGrpSpPr/>
          <p:nvPr/>
        </p:nvGrpSpPr>
        <p:grpSpPr>
          <a:xfrm rot="5400000">
            <a:off x="4885535" y="2421633"/>
            <a:ext cx="4224528" cy="63302"/>
            <a:chOff x="1073150" y="1219201"/>
            <a:chExt cx="10058400" cy="63125"/>
          </a:xfrm>
        </p:grpSpPr>
        <p:cxnSp>
          <p:nvCxnSpPr>
            <p:cNvPr id="8" name="直接连接符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33765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矩形 10"/>
          <p:cNvSpPr/>
          <p:nvPr/>
        </p:nvSpPr>
        <p:spPr>
          <a:xfrm>
            <a:off x="1" y="-1"/>
            <a:ext cx="8141612" cy="914401"/>
          </a:xfrm>
          <a:prstGeom prst="rect">
            <a:avLst/>
          </a:prstGeom>
          <a:pattFill prst="ltUpDiag">
            <a:fgClr>
              <a:schemeClr val="tx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p>
        </p:txBody>
      </p:sp>
      <p:sp>
        <p:nvSpPr>
          <p:cNvPr id="2" name="标题占位符 1"/>
          <p:cNvSpPr>
            <a:spLocks noGrp="1"/>
          </p:cNvSpPr>
          <p:nvPr>
            <p:ph type="title"/>
          </p:nvPr>
        </p:nvSpPr>
        <p:spPr>
          <a:xfrm>
            <a:off x="827532" y="193932"/>
            <a:ext cx="3590925" cy="498022"/>
          </a:xfrm>
          <a:prstGeom prst="rect">
            <a:avLst/>
          </a:prstGeom>
          <a:solidFill>
            <a:srgbClr val="C00000"/>
          </a:solidFill>
        </p:spPr>
        <p:txBody>
          <a:bodyPr vert="horz" lIns="0" tIns="45720" rIns="0" bIns="45720" rtlCol="0" anchor="b">
            <a:normAutofit/>
          </a:bodyPr>
          <a:lstStyle/>
          <a:p>
            <a:pPr rtl="0"/>
            <a:r>
              <a:rPr lang="zh-CN" altLang="en-US" noProof="0" dirty="0"/>
              <a:t>单击此处编辑母版标题样式</a:t>
            </a:r>
          </a:p>
        </p:txBody>
      </p:sp>
      <p:sp>
        <p:nvSpPr>
          <p:cNvPr id="3" name="文本占位符 2"/>
          <p:cNvSpPr>
            <a:spLocks noGrp="1"/>
          </p:cNvSpPr>
          <p:nvPr>
            <p:ph type="body" idx="1"/>
          </p:nvPr>
        </p:nvSpPr>
        <p:spPr>
          <a:xfrm>
            <a:off x="828675" y="1200150"/>
            <a:ext cx="7486650" cy="3429000"/>
          </a:xfrm>
          <a:prstGeom prst="rect">
            <a:avLst/>
          </a:prstGeom>
        </p:spPr>
        <p:txBody>
          <a:bodyPr vert="horz" lIns="0" tIns="45720" rIns="0" bIns="45720" rtlCol="0">
            <a:normAutofit/>
          </a:bodyPr>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a:p>
            <a:pPr lvl="5" rtl="0"/>
            <a:r>
              <a:rPr lang="zh-CN" altLang="en-US" noProof="0" dirty="0"/>
              <a:t>第六级</a:t>
            </a:r>
          </a:p>
          <a:p>
            <a:pPr lvl="6" rtl="0"/>
            <a:r>
              <a:rPr lang="zh-CN" altLang="en-US" noProof="0" dirty="0"/>
              <a:t>第七级</a:t>
            </a:r>
          </a:p>
          <a:p>
            <a:pPr lvl="7" rtl="0"/>
            <a:r>
              <a:rPr lang="zh-CN" altLang="en-US" noProof="0" dirty="0"/>
              <a:t>第八级</a:t>
            </a:r>
          </a:p>
          <a:p>
            <a:pPr lvl="8" rtl="0"/>
            <a:r>
              <a:rPr lang="zh-CN" altLang="en-US" noProof="0" dirty="0"/>
              <a:t>第九级</a:t>
            </a:r>
          </a:p>
        </p:txBody>
      </p:sp>
      <p:sp>
        <p:nvSpPr>
          <p:cNvPr id="4" name="日期占位符 3"/>
          <p:cNvSpPr>
            <a:spLocks noGrp="1"/>
          </p:cNvSpPr>
          <p:nvPr>
            <p:ph type="dt" sz="half" idx="2"/>
          </p:nvPr>
        </p:nvSpPr>
        <p:spPr>
          <a:xfrm>
            <a:off x="828675" y="4767264"/>
            <a:ext cx="1372169" cy="273844"/>
          </a:xfrm>
          <a:prstGeom prst="rect">
            <a:avLst/>
          </a:prstGeom>
        </p:spPr>
        <p:txBody>
          <a:bodyPr vert="horz" lIns="0" tIns="45720" rIns="0" bIns="45720" rtlCol="0" anchor="ctr"/>
          <a:lstStyle>
            <a:lvl1pPr algn="l" rtl="0">
              <a:defRPr sz="900">
                <a:solidFill>
                  <a:schemeClr val="tx1">
                    <a:lumMod val="60000"/>
                    <a:lumOff val="40000"/>
                  </a:schemeClr>
                </a:solidFill>
                <a:latin typeface="微软雅黑" panose="020B0503020204020204" pitchFamily="34" charset="-122"/>
                <a:ea typeface="微软雅黑" panose="020B0503020204020204" pitchFamily="34" charset="-122"/>
              </a:defRPr>
            </a:lvl1pPr>
          </a:lstStyle>
          <a:p>
            <a:pPr>
              <a:defRPr/>
            </a:pPr>
            <a:fld id="{2245BD58-8AB0-492A-ADC0-45D4D042BE64}" type="datetimeFigureOut">
              <a:rPr lang="zh-CN" altLang="en-US" smtClean="0"/>
              <a:pPr>
                <a:defRPr/>
              </a:pPr>
              <a:t>2025/12/24</a:t>
            </a:fld>
            <a:endParaRPr lang="zh-CN" altLang="en-US"/>
          </a:p>
        </p:txBody>
      </p:sp>
      <p:sp>
        <p:nvSpPr>
          <p:cNvPr id="5" name="页脚占位符 4"/>
          <p:cNvSpPr>
            <a:spLocks noGrp="1"/>
          </p:cNvSpPr>
          <p:nvPr>
            <p:ph type="ftr" sz="quarter" idx="3"/>
          </p:nvPr>
        </p:nvSpPr>
        <p:spPr>
          <a:xfrm>
            <a:off x="2200844" y="4767262"/>
            <a:ext cx="4742312" cy="273845"/>
          </a:xfrm>
          <a:prstGeom prst="rect">
            <a:avLst/>
          </a:prstGeom>
        </p:spPr>
        <p:txBody>
          <a:bodyPr vert="horz" lIns="0" tIns="45720" rIns="0" bIns="45720" rtlCol="0" anchor="ctr"/>
          <a:lstStyle>
            <a:lvl1pPr algn="ctr" rtl="0">
              <a:defRPr sz="900">
                <a:solidFill>
                  <a:schemeClr val="tx1">
                    <a:lumMod val="60000"/>
                    <a:lumOff val="40000"/>
                  </a:schemeClr>
                </a:solidFill>
                <a:latin typeface="微软雅黑" panose="020B0503020204020204" pitchFamily="34" charset="-122"/>
                <a:ea typeface="微软雅黑" panose="020B0503020204020204" pitchFamily="34" charset="-122"/>
              </a:defRPr>
            </a:lvl1pPr>
          </a:lstStyle>
          <a:p>
            <a:pPr>
              <a:defRPr/>
            </a:pPr>
            <a:endParaRPr lang="zh-CN" altLang="en-US"/>
          </a:p>
        </p:txBody>
      </p:sp>
      <p:sp>
        <p:nvSpPr>
          <p:cNvPr id="6" name="幻灯片编号占位符 5"/>
          <p:cNvSpPr>
            <a:spLocks noGrp="1"/>
          </p:cNvSpPr>
          <p:nvPr>
            <p:ph type="sldNum" sz="quarter" idx="4"/>
          </p:nvPr>
        </p:nvSpPr>
        <p:spPr>
          <a:xfrm>
            <a:off x="6942587" y="4767264"/>
            <a:ext cx="1371600" cy="273844"/>
          </a:xfrm>
          <a:prstGeom prst="rect">
            <a:avLst/>
          </a:prstGeom>
        </p:spPr>
        <p:txBody>
          <a:bodyPr vert="horz" lIns="0" tIns="45720" rIns="0" bIns="45720" rtlCol="0" anchor="ctr"/>
          <a:lstStyle>
            <a:lvl1pPr algn="l" rtl="0">
              <a:defRPr sz="900">
                <a:solidFill>
                  <a:schemeClr val="tx1">
                    <a:lumMod val="60000"/>
                    <a:lumOff val="40000"/>
                  </a:schemeClr>
                </a:solidFill>
                <a:latin typeface="微软雅黑" panose="020B0503020204020204" pitchFamily="34" charset="-122"/>
                <a:ea typeface="微软雅黑" panose="020B0503020204020204" pitchFamily="34" charset="-122"/>
              </a:defRPr>
            </a:lvl1pPr>
          </a:lstStyle>
          <a:p>
            <a:pPr>
              <a:defRPr/>
            </a:pPr>
            <a:fld id="{DB91A0AD-5401-487A-B4DF-AAE6F99653A6}" type="slidenum">
              <a:rPr lang="zh-CN" altLang="en-US" smtClean="0"/>
              <a:pPr>
                <a:defRPr/>
              </a:pPr>
              <a:t>‹#›</a:t>
            </a:fld>
            <a:endParaRPr lang="zh-CN" altLang="en-US"/>
          </a:p>
        </p:txBody>
      </p:sp>
      <p:grpSp>
        <p:nvGrpSpPr>
          <p:cNvPr id="15" name="组 14"/>
          <p:cNvGrpSpPr/>
          <p:nvPr/>
        </p:nvGrpSpPr>
        <p:grpSpPr>
          <a:xfrm>
            <a:off x="631588" y="914401"/>
            <a:ext cx="7488936" cy="63302"/>
            <a:chOff x="1073150" y="1219201"/>
            <a:chExt cx="10058400" cy="63125"/>
          </a:xfrm>
        </p:grpSpPr>
        <p:cxnSp>
          <p:nvCxnSpPr>
            <p:cNvPr id="13" name="直接连接符​​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26" name="Picture 2" descr="https://timgsa.baidu.com/timg?image&amp;quality=80&amp;size=b9999_10000&amp;sec=1511172908148&amp;di=6d02f21212d218024932031e15da36ed&amp;imgtype=0&amp;src=http%3A%2F%2Fphotocdn.sohu.com%2F20120523%2FImg343922632.jpg"/>
          <p:cNvPicPr>
            <a:picLocks noChangeAspect="1" noChangeArrowheads="1"/>
          </p:cNvPicPr>
          <p:nvPr/>
        </p:nvPicPr>
        <p:blipFill>
          <a:blip r:embed="rId1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141613" y="-24685"/>
            <a:ext cx="1002388" cy="1002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9245882"/>
      </p:ext>
    </p:extLst>
  </p:cSld>
  <p:clrMap bg1="lt1" tx1="dk1" bg2="lt2" tx2="dk2" accent1="accent1" accent2="accent2" accent3="accent3" accent4="accent4" accent5="accent5" accent6="accent6" hlink="hlink" folHlink="folHlink"/>
  <p:sldLayoutIdLst>
    <p:sldLayoutId id="2147485099" r:id="rId1"/>
    <p:sldLayoutId id="2147485100" r:id="rId2"/>
    <p:sldLayoutId id="2147485101" r:id="rId3"/>
    <p:sldLayoutId id="2147485102" r:id="rId4"/>
    <p:sldLayoutId id="2147485103" r:id="rId5"/>
    <p:sldLayoutId id="2147485104" r:id="rId6"/>
    <p:sldLayoutId id="2147485105" r:id="rId7"/>
    <p:sldLayoutId id="2147485106" r:id="rId8"/>
    <p:sldLayoutId id="2147485107" r:id="rId9"/>
    <p:sldLayoutId id="2147485108" r:id="rId10"/>
    <p:sldLayoutId id="2147485109" r:id="rId11"/>
    <p:sldLayoutId id="2147485110"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685800" rtl="0" eaLnBrk="1" latinLnBrk="0" hangingPunct="1">
        <a:lnSpc>
          <a:spcPct val="90000"/>
        </a:lnSpc>
        <a:spcBef>
          <a:spcPct val="0"/>
        </a:spcBef>
        <a:buNone/>
        <a:defRPr sz="2100" kern="1200">
          <a:solidFill>
            <a:schemeClr val="bg1"/>
          </a:solidFill>
          <a:latin typeface="微软雅黑" panose="020B0503020204020204" pitchFamily="34" charset="-122"/>
          <a:ea typeface="微软雅黑" panose="020B0503020204020204" pitchFamily="34" charset="-122"/>
          <a:cs typeface="+mj-cs"/>
        </a:defRPr>
      </a:lvl1pPr>
    </p:titleStyle>
    <p:bodyStyle>
      <a:lvl1pPr marL="171450" indent="-171450" algn="l" defTabSz="685800" rtl="0" eaLnBrk="1" latinLnBrk="0" hangingPunct="1">
        <a:lnSpc>
          <a:spcPct val="90000"/>
        </a:lnSpc>
        <a:spcBef>
          <a:spcPts val="1350"/>
        </a:spcBef>
        <a:buFont typeface="Wingdings" panose="05000000000000000000" pitchFamily="2" charset="2"/>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450"/>
        </a:spcBef>
        <a:buFont typeface="Wingdings" panose="05000000000000000000" pitchFamily="2" charset="2"/>
        <a:buChar char="§"/>
        <a:defRPr sz="12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6pPr>
      <a:lvl7pPr marL="22288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7pPr>
      <a:lvl8pPr marL="25717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8pPr>
      <a:lvl9pPr marL="29146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9pPr>
    </p:bodyStyle>
    <p:otherStyle>
      <a:defPPr>
        <a:defRP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16.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customXml" Target="../ink/ink7.xml"/><Relationship Id="rId3" Type="http://schemas.openxmlformats.org/officeDocument/2006/relationships/image" Target="../media/image19.png"/><Relationship Id="rId7" Type="http://schemas.openxmlformats.org/officeDocument/2006/relationships/image" Target="../media/image21.png"/><Relationship Id="rId12"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customXml" Target="../ink/ink6.xml"/><Relationship Id="rId5" Type="http://schemas.openxmlformats.org/officeDocument/2006/relationships/image" Target="../media/image20.png"/><Relationship Id="rId10" Type="http://schemas.openxmlformats.org/officeDocument/2006/relationships/customXml" Target="../ink/ink5.xml"/><Relationship Id="rId4" Type="http://schemas.openxmlformats.org/officeDocument/2006/relationships/customXml" Target="../ink/ink1.xml"/><Relationship Id="rId9" Type="http://schemas.openxmlformats.org/officeDocument/2006/relationships/customXml" Target="../ink/ink4.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4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59.xml.rels><?xml version="1.0" encoding="UTF-8" standalone="yes"?>
<Relationships xmlns="http://schemas.openxmlformats.org/package/2006/relationships"><Relationship Id="rId3" Type="http://schemas.openxmlformats.org/officeDocument/2006/relationships/image" Target="../media/image46.tmp"/><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520.png"/></Relationships>
</file>

<file path=ppt/slides/_rels/slide60.xml.rels><?xml version="1.0" encoding="UTF-8" standalone="yes"?>
<Relationships xmlns="http://schemas.openxmlformats.org/package/2006/relationships"><Relationship Id="rId3" Type="http://schemas.openxmlformats.org/officeDocument/2006/relationships/image" Target="../media/image47.tmp"/><Relationship Id="rId2" Type="http://schemas.openxmlformats.org/officeDocument/2006/relationships/notesSlide" Target="../notesSlides/notesSlide60.xml"/><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6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560.png"/></Relationships>
</file>

<file path=ppt/slides/_rels/slide62.xml.rels><?xml version="1.0" encoding="UTF-8" standalone="yes"?>
<Relationships xmlns="http://schemas.openxmlformats.org/package/2006/relationships"><Relationship Id="rId3" Type="http://schemas.openxmlformats.org/officeDocument/2006/relationships/image" Target="../media/image51.tmp"/><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image" Target="../media/image600.png"/><Relationship Id="rId5" Type="http://schemas.openxmlformats.org/officeDocument/2006/relationships/image" Target="../media/image380.png"/><Relationship Id="rId4" Type="http://schemas.openxmlformats.org/officeDocument/2006/relationships/image" Target="../media/image53.png"/></Relationships>
</file>

<file path=ppt/slides/_rels/slide64.xml.rels><?xml version="1.0" encoding="UTF-8" standalone="yes"?>
<Relationships xmlns="http://schemas.openxmlformats.org/package/2006/relationships"><Relationship Id="rId3" Type="http://schemas.openxmlformats.org/officeDocument/2006/relationships/image" Target="../media/image54.tmp"/><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4.tmp"/><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74.xml"/><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57.png"/></Relationships>
</file>

<file path=ppt/slides/_rels/slide7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70.png"/><Relationship Id="rId2" Type="http://schemas.openxmlformats.org/officeDocument/2006/relationships/notesSlide" Target="../notesSlides/notesSlide77.xml"/><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381.png"/></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79.xml"/><Relationship Id="rId1" Type="http://schemas.openxmlformats.org/officeDocument/2006/relationships/slideLayout" Target="../slideLayouts/slideLayout2.xml"/><Relationship Id="rId5" Type="http://schemas.openxmlformats.org/officeDocument/2006/relationships/image" Target="../media/image64.png"/><Relationship Id="rId4" Type="http://schemas.openxmlformats.org/officeDocument/2006/relationships/image" Target="../media/image63.png"/></Relationships>
</file>

<file path=ppt/slides/_rels/slide8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80.xml"/><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p:cNvSpPr>
          <p:nvPr/>
        </p:nvSpPr>
        <p:spPr bwMode="auto">
          <a:xfrm>
            <a:off x="1" y="1563638"/>
            <a:ext cx="8964487" cy="720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52438" lvl="1" indent="-58738" algn="ctr" eaLnBrk="0" hangingPunct="0">
              <a:lnSpc>
                <a:spcPct val="80000"/>
              </a:lnSpc>
              <a:spcBef>
                <a:spcPct val="20000"/>
              </a:spcBef>
              <a:buClr>
                <a:schemeClr val="accent1"/>
              </a:buClr>
              <a:buSzPct val="85000"/>
              <a:buFont typeface="Wingdings 2" pitchFamily="18" charset="2"/>
              <a:buNone/>
            </a:pPr>
            <a:endParaRPr lang="zh-CN" altLang="en-US" sz="3600" b="1" dirty="0">
              <a:latin typeface="黑体" pitchFamily="49" charset="-122"/>
              <a:ea typeface="黑体" pitchFamily="49" charset="-122"/>
            </a:endParaRPr>
          </a:p>
        </p:txBody>
      </p:sp>
      <p:sp>
        <p:nvSpPr>
          <p:cNvPr id="2" name="标题 1"/>
          <p:cNvSpPr>
            <a:spLocks noGrp="1"/>
          </p:cNvSpPr>
          <p:nvPr>
            <p:ph type="ctrTitle"/>
          </p:nvPr>
        </p:nvSpPr>
        <p:spPr>
          <a:xfrm>
            <a:off x="899592" y="1203598"/>
            <a:ext cx="6263605" cy="2016224"/>
          </a:xfrm>
          <a:solidFill>
            <a:srgbClr val="C00000"/>
          </a:solidFill>
        </p:spPr>
        <p:txBody>
          <a:bodyPr lIns="288000" tIns="252000">
            <a:noAutofit/>
          </a:bodyPr>
          <a:lstStyle/>
          <a:p>
            <a:pPr lvl="1" algn="l" defTabSz="685800" rtl="0">
              <a:lnSpc>
                <a:spcPct val="150000"/>
              </a:lnSpc>
              <a:spcBef>
                <a:spcPct val="0"/>
              </a:spcBef>
            </a:pPr>
            <a:r>
              <a:rPr lang="zh-CN" altLang="en-US" sz="2800" dirty="0">
                <a:solidFill>
                  <a:srgbClr val="FFFFFF"/>
                </a:solidFill>
                <a:latin typeface="微软雅黑" panose="020B0503020204020204" pitchFamily="34" charset="-122"/>
                <a:ea typeface="微软雅黑" panose="020B0503020204020204" pitchFamily="34" charset="-122"/>
              </a:rPr>
              <a:t>大学计算机</a:t>
            </a:r>
            <a:br>
              <a:rPr lang="en-US" altLang="zh-CN" sz="2800" dirty="0">
                <a:solidFill>
                  <a:srgbClr val="FFFFFF"/>
                </a:solidFill>
                <a:latin typeface="微软雅黑" panose="020B0503020204020204" pitchFamily="34" charset="-122"/>
                <a:ea typeface="微软雅黑" panose="020B0503020204020204" pitchFamily="34" charset="-122"/>
              </a:rPr>
            </a:br>
            <a:r>
              <a:rPr lang="en-US" altLang="zh-CN" sz="2800" dirty="0">
                <a:solidFill>
                  <a:srgbClr val="FFFFFF"/>
                </a:solidFill>
                <a:latin typeface="微软雅黑" panose="020B0503020204020204" pitchFamily="34" charset="-122"/>
                <a:ea typeface="微软雅黑" panose="020B0503020204020204" pitchFamily="34" charset="-122"/>
              </a:rPr>
              <a:t>       ——</a:t>
            </a:r>
            <a:r>
              <a:rPr lang="zh-CN" altLang="en-US" sz="2800" dirty="0">
                <a:solidFill>
                  <a:srgbClr val="FFFFFF"/>
                </a:solidFill>
                <a:latin typeface="微软雅黑" panose="020B0503020204020204" pitchFamily="34" charset="-122"/>
                <a:ea typeface="微软雅黑" panose="020B0503020204020204" pitchFamily="34" charset="-122"/>
              </a:rPr>
              <a:t>人工智能基础</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5123" name="副标题 2"/>
          <p:cNvSpPr>
            <a:spLocks noGrp="1"/>
          </p:cNvSpPr>
          <p:nvPr>
            <p:ph type="subTitle" idx="1"/>
          </p:nvPr>
        </p:nvSpPr>
        <p:spPr>
          <a:xfrm>
            <a:off x="3275856" y="3723878"/>
            <a:ext cx="3888432" cy="432048"/>
          </a:xfrm>
        </p:spPr>
        <p:txBody>
          <a:bodyPr>
            <a:normAutofit/>
          </a:bodyPr>
          <a:lstStyle/>
          <a:p>
            <a:pPr marL="63500" algn="r"/>
            <a:r>
              <a:rPr lang="zh-CN" altLang="en-US" sz="2400" dirty="0">
                <a:solidFill>
                  <a:srgbClr val="000066"/>
                </a:solidFill>
              </a:rPr>
              <a:t>同济大学计算机基础教研室</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a:extLst>
              <a:ext uri="{FF2B5EF4-FFF2-40B4-BE49-F238E27FC236}">
                <a16:creationId xmlns:a16="http://schemas.microsoft.com/office/drawing/2014/main" id="{2C145377-02D1-4B48-83E1-13D085B9A947}"/>
              </a:ext>
            </a:extLst>
          </p:cNvPr>
          <p:cNvSpPr/>
          <p:nvPr/>
        </p:nvSpPr>
        <p:spPr bwMode="gray">
          <a:xfrm>
            <a:off x="6249432" y="996271"/>
            <a:ext cx="2880000" cy="2880000"/>
          </a:xfrm>
          <a:prstGeom prst="ellipse">
            <a:avLst/>
          </a:prstGeom>
          <a:solidFill>
            <a:srgbClr val="307EC9"/>
          </a:solidFill>
          <a:ln w="9525">
            <a:noFill/>
            <a:miter lim="800000"/>
            <a:headEnd/>
            <a:tailEnd/>
          </a:ln>
          <a:effectLst/>
        </p:spPr>
        <p:txBody>
          <a:bodyPr wrap="none" rtlCol="0" anchor="ctr"/>
          <a:lstStyle/>
          <a:p>
            <a:pPr algn="ctr" eaLnBrk="0" hangingPunct="0"/>
            <a:endParaRPr lang="zh-CN" altLang="en-US" sz="1400" b="1" dirty="0">
              <a:solidFill>
                <a:srgbClr val="000066"/>
              </a:solidFill>
              <a:latin typeface="黑体" panose="02010609060101010101" pitchFamily="49" charset="-122"/>
              <a:ea typeface="黑体" panose="02010609060101010101" pitchFamily="49" charset="-122"/>
            </a:endParaRPr>
          </a:p>
        </p:txBody>
      </p:sp>
      <p:sp>
        <p:nvSpPr>
          <p:cNvPr id="5" name="椭圆 4">
            <a:extLst>
              <a:ext uri="{FF2B5EF4-FFF2-40B4-BE49-F238E27FC236}">
                <a16:creationId xmlns:a16="http://schemas.microsoft.com/office/drawing/2014/main" id="{179CABD7-ACA7-42A2-A2B6-92372F5A72DD}"/>
              </a:ext>
            </a:extLst>
          </p:cNvPr>
          <p:cNvSpPr/>
          <p:nvPr/>
        </p:nvSpPr>
        <p:spPr bwMode="gray">
          <a:xfrm>
            <a:off x="6659696" y="1788271"/>
            <a:ext cx="2088000" cy="2088000"/>
          </a:xfrm>
          <a:prstGeom prst="ellipse">
            <a:avLst/>
          </a:prstGeom>
          <a:solidFill>
            <a:srgbClr val="109EDE"/>
          </a:solidFill>
          <a:ln w="9525">
            <a:noFill/>
            <a:miter lim="800000"/>
            <a:headEnd/>
            <a:tailEnd/>
          </a:ln>
          <a:effectLst/>
        </p:spPr>
        <p:txBody>
          <a:bodyPr wrap="none" rtlCol="0" anchor="ctr"/>
          <a:lstStyle/>
          <a:p>
            <a:pPr algn="ctr" eaLnBrk="0" hangingPunct="0"/>
            <a:endParaRPr lang="zh-CN" altLang="en-US" sz="1400" b="1" dirty="0">
              <a:solidFill>
                <a:srgbClr val="000066"/>
              </a:solidFill>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a:xfrm>
            <a:off x="611559" y="986626"/>
            <a:ext cx="6912769" cy="3385324"/>
          </a:xfrm>
        </p:spPr>
        <p:txBody>
          <a:bodyPr>
            <a:noAutofit/>
          </a:bodyPr>
          <a:lstStyle/>
          <a:p>
            <a:pPr marL="0" indent="0">
              <a:lnSpc>
                <a:spcPct val="150000"/>
              </a:lnSpc>
              <a:spcBef>
                <a:spcPts val="0"/>
              </a:spcBef>
              <a:buNone/>
            </a:pPr>
            <a:r>
              <a:rPr lang="zh-CN" altLang="en-US" sz="1800" dirty="0">
                <a:solidFill>
                  <a:srgbClr val="000066"/>
                </a:solidFill>
                <a:latin typeface="Times New Roman" panose="02020603050405020304" pitchFamily="18" charset="0"/>
                <a:cs typeface="Times New Roman" panose="02020603050405020304" pitchFamily="18" charset="0"/>
              </a:rPr>
              <a:t>人工智能：</a:t>
            </a:r>
            <a:r>
              <a:rPr lang="en-US" altLang="zh-CN" sz="1800" dirty="0">
                <a:solidFill>
                  <a:srgbClr val="000066"/>
                </a:solidFill>
                <a:latin typeface="Times New Roman" panose="02020603050405020304" pitchFamily="18" charset="0"/>
                <a:cs typeface="Times New Roman" panose="02020603050405020304" pitchFamily="18" charset="0"/>
              </a:rPr>
              <a:t>Artificial Intelligence</a:t>
            </a:r>
            <a:r>
              <a:rPr lang="zh-CN" altLang="zh-CN"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AI</a:t>
            </a:r>
            <a:br>
              <a:rPr lang="en-US" altLang="zh-CN" sz="1800" dirty="0">
                <a:solidFill>
                  <a:srgbClr val="000066"/>
                </a:solidFill>
                <a:latin typeface="Times New Roman" panose="02020603050405020304" pitchFamily="18" charset="0"/>
                <a:cs typeface="Times New Roman" panose="02020603050405020304" pitchFamily="18" charset="0"/>
              </a:rPr>
            </a:b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zh-CN" sz="1800" dirty="0">
                <a:solidFill>
                  <a:srgbClr val="000066"/>
                </a:solidFill>
                <a:latin typeface="Times New Roman" panose="02020603050405020304" pitchFamily="18" charset="0"/>
                <a:cs typeface="Times New Roman" panose="02020603050405020304" pitchFamily="18" charset="0"/>
              </a:rPr>
              <a:t>用计算机来</a:t>
            </a:r>
            <a:r>
              <a:rPr lang="zh-CN" altLang="en-US" sz="1800" dirty="0">
                <a:solidFill>
                  <a:srgbClr val="000066"/>
                </a:solidFill>
                <a:latin typeface="Times New Roman" panose="02020603050405020304" pitchFamily="18" charset="0"/>
                <a:cs typeface="Times New Roman" panose="02020603050405020304" pitchFamily="18" charset="0"/>
              </a:rPr>
              <a:t>模</a:t>
            </a:r>
            <a:r>
              <a:rPr lang="zh-CN" altLang="zh-CN" sz="1800" dirty="0">
                <a:solidFill>
                  <a:srgbClr val="000066"/>
                </a:solidFill>
                <a:latin typeface="Times New Roman" panose="02020603050405020304" pitchFamily="18" charset="0"/>
                <a:cs typeface="Times New Roman" panose="02020603050405020304" pitchFamily="18" charset="0"/>
              </a:rPr>
              <a:t>拟人类智能</a:t>
            </a:r>
            <a:r>
              <a:rPr lang="zh-CN" altLang="en-US" sz="1800" dirty="0">
                <a:solidFill>
                  <a:srgbClr val="000066"/>
                </a:solidFill>
                <a:latin typeface="Times New Roman" panose="02020603050405020304" pitchFamily="18" charset="0"/>
                <a:cs typeface="Times New Roman" panose="02020603050405020304" pitchFamily="18" charset="0"/>
              </a:rPr>
              <a:t>的学科</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800" dirty="0">
                <a:solidFill>
                  <a:srgbClr val="000066"/>
                </a:solidFill>
                <a:latin typeface="Times New Roman" panose="02020603050405020304" pitchFamily="18" charset="0"/>
                <a:cs typeface="Times New Roman" panose="02020603050405020304" pitchFamily="18" charset="0"/>
              </a:rPr>
              <a:t>机器学习：</a:t>
            </a:r>
            <a:r>
              <a:rPr lang="en-US" altLang="zh-CN" sz="1800" dirty="0">
                <a:solidFill>
                  <a:srgbClr val="000066"/>
                </a:solidFill>
                <a:latin typeface="Times New Roman" panose="02020603050405020304" pitchFamily="18" charset="0"/>
                <a:cs typeface="Times New Roman" panose="02020603050405020304" pitchFamily="18" charset="0"/>
              </a:rPr>
              <a:t>Machine Learning</a:t>
            </a:r>
            <a:r>
              <a:rPr lang="zh-CN" altLang="zh-CN"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ML</a:t>
            </a:r>
            <a:br>
              <a:rPr lang="en-US" altLang="zh-CN" sz="1800" dirty="0">
                <a:solidFill>
                  <a:srgbClr val="000066"/>
                </a:solidFill>
                <a:latin typeface="Times New Roman" panose="02020603050405020304" pitchFamily="18" charset="0"/>
                <a:cs typeface="Times New Roman" panose="02020603050405020304" pitchFamily="18" charset="0"/>
              </a:rPr>
            </a:b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zh-CN" sz="1800" dirty="0">
                <a:solidFill>
                  <a:srgbClr val="000066"/>
                </a:solidFill>
                <a:latin typeface="Times New Roman" panose="02020603050405020304" pitchFamily="18" charset="0"/>
                <a:cs typeface="Times New Roman" panose="02020603050405020304" pitchFamily="18" charset="0"/>
              </a:rPr>
              <a:t>通过让计算机模拟人类的</a:t>
            </a:r>
            <a:r>
              <a:rPr lang="en-US" altLang="zh-CN" sz="1800" dirty="0">
                <a:solidFill>
                  <a:srgbClr val="000066"/>
                </a:solidFill>
                <a:latin typeface="Times New Roman" panose="02020603050405020304" pitchFamily="18" charset="0"/>
                <a:cs typeface="Times New Roman" panose="02020603050405020304" pitchFamily="18" charset="0"/>
              </a:rPr>
              <a:t>学习活动</a:t>
            </a:r>
            <a:r>
              <a:rPr lang="zh-CN" altLang="zh-CN" sz="1800" dirty="0">
                <a:solidFill>
                  <a:srgbClr val="000066"/>
                </a:solidFill>
                <a:latin typeface="Times New Roman" panose="02020603050405020304" pitchFamily="18" charset="0"/>
                <a:cs typeface="Times New Roman" panose="02020603050405020304" pitchFamily="18" charset="0"/>
              </a:rPr>
              <a:t>，自主获取新知识</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zh-CN" sz="1800" dirty="0">
                <a:solidFill>
                  <a:srgbClr val="000066"/>
                </a:solidFill>
                <a:latin typeface="Times New Roman" panose="02020603050405020304" pitchFamily="18" charset="0"/>
                <a:cs typeface="Times New Roman" panose="02020603050405020304" pitchFamily="18" charset="0"/>
              </a:rPr>
              <a:t>实现人工智能的根本途径是机器学习</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800" dirty="0">
                <a:solidFill>
                  <a:srgbClr val="000066"/>
                </a:solidFill>
                <a:latin typeface="Times New Roman" panose="02020603050405020304" pitchFamily="18" charset="0"/>
                <a:cs typeface="Times New Roman" panose="02020603050405020304" pitchFamily="18" charset="0"/>
              </a:rPr>
              <a:t>深度学习：</a:t>
            </a:r>
            <a:r>
              <a:rPr lang="en-US" altLang="zh-CN" sz="1800" dirty="0">
                <a:solidFill>
                  <a:srgbClr val="000066"/>
                </a:solidFill>
                <a:latin typeface="Times New Roman" panose="02020603050405020304" pitchFamily="18" charset="0"/>
                <a:cs typeface="Times New Roman" panose="02020603050405020304" pitchFamily="18" charset="0"/>
              </a:rPr>
              <a:t>Deep Learning</a:t>
            </a: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DL</a:t>
            </a:r>
            <a:br>
              <a:rPr lang="en-US" altLang="zh-CN" sz="1800" dirty="0">
                <a:solidFill>
                  <a:srgbClr val="000066"/>
                </a:solidFill>
                <a:latin typeface="Times New Roman" panose="02020603050405020304" pitchFamily="18" charset="0"/>
                <a:cs typeface="Times New Roman" panose="02020603050405020304" pitchFamily="18" charset="0"/>
              </a:rPr>
            </a:b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机器学习的重要分支</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一种以人工神经网络为架构，对数据进行表征学习的算法</a:t>
            </a:r>
            <a:r>
              <a:rPr lang="en-US" altLang="zh-CN" sz="1800" dirty="0">
                <a:solidFill>
                  <a:srgbClr val="000066"/>
                </a:solidFill>
                <a:latin typeface="Times New Roman" panose="02020603050405020304" pitchFamily="18" charset="0"/>
                <a:cs typeface="Times New Roman" panose="02020603050405020304" pitchFamily="18" charset="0"/>
              </a:rPr>
              <a:t> </a:t>
            </a:r>
          </a:p>
        </p:txBody>
      </p:sp>
      <p:sp>
        <p:nvSpPr>
          <p:cNvPr id="2" name="标题 1"/>
          <p:cNvSpPr>
            <a:spLocks noGrp="1"/>
          </p:cNvSpPr>
          <p:nvPr>
            <p:ph type="title"/>
          </p:nvPr>
        </p:nvSpPr>
        <p:spPr>
          <a:xfrm>
            <a:off x="395536" y="195486"/>
            <a:ext cx="6048724" cy="577618"/>
          </a:xfrm>
        </p:spPr>
        <p:txBody>
          <a:bodyPr>
            <a:noAutofit/>
          </a:bodyPr>
          <a:lstStyle/>
          <a:p>
            <a:pPr algn="ctr"/>
            <a:r>
              <a:rPr lang="zh-CN" altLang="en-US" sz="2400" dirty="0">
                <a:solidFill>
                  <a:srgbClr val="FFFFFF"/>
                </a:solidFill>
              </a:rPr>
              <a:t>人工智能基础</a:t>
            </a:r>
            <a:endParaRPr lang="zh-CN" altLang="en-US" sz="2400" dirty="0"/>
          </a:p>
        </p:txBody>
      </p:sp>
      <p:sp>
        <p:nvSpPr>
          <p:cNvPr id="6" name="椭圆 5">
            <a:extLst>
              <a:ext uri="{FF2B5EF4-FFF2-40B4-BE49-F238E27FC236}">
                <a16:creationId xmlns:a16="http://schemas.microsoft.com/office/drawing/2014/main" id="{AAE13F61-89AE-4DF6-AACD-95EE8E12EED5}"/>
              </a:ext>
            </a:extLst>
          </p:cNvPr>
          <p:cNvSpPr/>
          <p:nvPr/>
        </p:nvSpPr>
        <p:spPr bwMode="gray">
          <a:xfrm>
            <a:off x="7026896" y="2497180"/>
            <a:ext cx="1353600" cy="1353600"/>
          </a:xfrm>
          <a:prstGeom prst="ellipse">
            <a:avLst/>
          </a:prstGeom>
          <a:solidFill>
            <a:srgbClr val="68B2E3"/>
          </a:solidFill>
          <a:ln w="9525">
            <a:noFill/>
            <a:miter lim="800000"/>
            <a:headEnd/>
            <a:tailEnd/>
          </a:ln>
          <a:effectLst/>
        </p:spPr>
        <p:txBody>
          <a:bodyPr wrap="none" rtlCol="0" anchor="ctr"/>
          <a:lstStyle/>
          <a:p>
            <a:pPr algn="ctr" eaLnBrk="0" hangingPunct="0"/>
            <a:endParaRPr lang="zh-CN" altLang="en-US" sz="1400" b="1" dirty="0">
              <a:solidFill>
                <a:srgbClr val="000066"/>
              </a:solidFill>
              <a:latin typeface="黑体" panose="02010609060101010101" pitchFamily="49" charset="-122"/>
              <a:ea typeface="黑体" panose="02010609060101010101" pitchFamily="49" charset="-122"/>
            </a:endParaRPr>
          </a:p>
        </p:txBody>
      </p:sp>
      <p:sp>
        <p:nvSpPr>
          <p:cNvPr id="8" name="文本框 7">
            <a:extLst>
              <a:ext uri="{FF2B5EF4-FFF2-40B4-BE49-F238E27FC236}">
                <a16:creationId xmlns:a16="http://schemas.microsoft.com/office/drawing/2014/main" id="{A0431117-1440-425F-B40C-780B2DE28AD3}"/>
              </a:ext>
            </a:extLst>
          </p:cNvPr>
          <p:cNvSpPr txBox="1"/>
          <p:nvPr/>
        </p:nvSpPr>
        <p:spPr>
          <a:xfrm>
            <a:off x="7135434" y="1229457"/>
            <a:ext cx="1107996" cy="369332"/>
          </a:xfrm>
          <a:prstGeom prst="rect">
            <a:avLst/>
          </a:prstGeom>
          <a:noFill/>
        </p:spPr>
        <p:txBody>
          <a:bodyPr wrap="none" rtlCol="0">
            <a:spAutoFit/>
          </a:bodyPr>
          <a:lstStyle/>
          <a:p>
            <a:r>
              <a:rPr lang="zh-CN" altLang="en-US" dirty="0">
                <a:solidFill>
                  <a:srgbClr val="FFFF00"/>
                </a:solidFill>
                <a:latin typeface="黑体" panose="02010609060101010101" pitchFamily="49" charset="-122"/>
                <a:ea typeface="黑体" panose="02010609060101010101" pitchFamily="49" charset="-122"/>
              </a:rPr>
              <a:t>人工智能</a:t>
            </a:r>
          </a:p>
        </p:txBody>
      </p:sp>
      <p:sp>
        <p:nvSpPr>
          <p:cNvPr id="10" name="文本框 9">
            <a:extLst>
              <a:ext uri="{FF2B5EF4-FFF2-40B4-BE49-F238E27FC236}">
                <a16:creationId xmlns:a16="http://schemas.microsoft.com/office/drawing/2014/main" id="{1AC10A26-191C-4BC6-9DDA-48B4FA51BA6A}"/>
              </a:ext>
            </a:extLst>
          </p:cNvPr>
          <p:cNvSpPr txBox="1"/>
          <p:nvPr/>
        </p:nvSpPr>
        <p:spPr>
          <a:xfrm>
            <a:off x="7145208" y="1979269"/>
            <a:ext cx="1107996" cy="369332"/>
          </a:xfrm>
          <a:prstGeom prst="rect">
            <a:avLst/>
          </a:prstGeom>
          <a:noFill/>
        </p:spPr>
        <p:txBody>
          <a:bodyPr wrap="none" rtlCol="0">
            <a:spAutoFit/>
          </a:bodyPr>
          <a:lstStyle/>
          <a:p>
            <a:r>
              <a:rPr lang="zh-CN" altLang="en-US" dirty="0">
                <a:solidFill>
                  <a:srgbClr val="FFFF00"/>
                </a:solidFill>
                <a:latin typeface="黑体" panose="02010609060101010101" pitchFamily="49" charset="-122"/>
                <a:ea typeface="黑体" panose="02010609060101010101" pitchFamily="49" charset="-122"/>
              </a:rPr>
              <a:t>机器学习</a:t>
            </a:r>
          </a:p>
        </p:txBody>
      </p:sp>
      <p:sp>
        <p:nvSpPr>
          <p:cNvPr id="12" name="文本框 11">
            <a:extLst>
              <a:ext uri="{FF2B5EF4-FFF2-40B4-BE49-F238E27FC236}">
                <a16:creationId xmlns:a16="http://schemas.microsoft.com/office/drawing/2014/main" id="{2BB230EA-BD41-414F-88BE-3FF3A55A5C0C}"/>
              </a:ext>
            </a:extLst>
          </p:cNvPr>
          <p:cNvSpPr txBox="1"/>
          <p:nvPr/>
        </p:nvSpPr>
        <p:spPr>
          <a:xfrm>
            <a:off x="7171918" y="2771269"/>
            <a:ext cx="1107996" cy="369332"/>
          </a:xfrm>
          <a:prstGeom prst="rect">
            <a:avLst/>
          </a:prstGeom>
          <a:noFill/>
        </p:spPr>
        <p:txBody>
          <a:bodyPr wrap="none" rtlCol="0">
            <a:spAutoFit/>
          </a:bodyPr>
          <a:lstStyle/>
          <a:p>
            <a:r>
              <a:rPr lang="zh-CN" altLang="en-US" dirty="0">
                <a:solidFill>
                  <a:srgbClr val="FFFF00"/>
                </a:solidFill>
                <a:latin typeface="黑体" panose="02010609060101010101" pitchFamily="49" charset="-122"/>
                <a:ea typeface="黑体" panose="02010609060101010101" pitchFamily="49" charset="-122"/>
              </a:rPr>
              <a:t>深度学习</a:t>
            </a:r>
          </a:p>
        </p:txBody>
      </p:sp>
    </p:spTree>
    <p:extLst>
      <p:ext uri="{BB962C8B-B14F-4D97-AF65-F5344CB8AC3E}">
        <p14:creationId xmlns:p14="http://schemas.microsoft.com/office/powerpoint/2010/main" val="1941391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一、人工智能简史</a:t>
            </a:r>
            <a:endParaRPr lang="zh-CN" altLang="en-US" sz="2400" dirty="0"/>
          </a:p>
        </p:txBody>
      </p:sp>
      <p:sp>
        <p:nvSpPr>
          <p:cNvPr id="3" name="内容占位符 2"/>
          <p:cNvSpPr>
            <a:spLocks noGrp="1"/>
          </p:cNvSpPr>
          <p:nvPr>
            <p:ph idx="1"/>
          </p:nvPr>
        </p:nvSpPr>
        <p:spPr>
          <a:xfrm>
            <a:off x="611559" y="986626"/>
            <a:ext cx="8532441" cy="3961388"/>
          </a:xfrm>
        </p:spPr>
        <p:txBody>
          <a:bodyPr>
            <a:noAutofit/>
          </a:bodyPr>
          <a:lstStyle/>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1</a:t>
            </a:r>
            <a:r>
              <a:rPr lang="zh-CN"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早期</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latin typeface="Times New Roman" panose="02020603050405020304" pitchFamily="18" charset="0"/>
                <a:cs typeface="Times New Roman" panose="02020603050405020304" pitchFamily="18" charset="0"/>
              </a:rPr>
              <a:t>      ※ 1943</a:t>
            </a:r>
            <a:r>
              <a:rPr lang="zh-CN" altLang="en-US" sz="1800">
                <a:latin typeface="Times New Roman" panose="02020603050405020304" pitchFamily="18" charset="0"/>
                <a:cs typeface="Times New Roman" panose="02020603050405020304" pitchFamily="18" charset="0"/>
              </a:rPr>
              <a:t>年，</a:t>
            </a:r>
            <a:r>
              <a:rPr lang="en-US" altLang="zh-CN" sz="1800">
                <a:latin typeface="Times New Roman" panose="02020603050405020304" pitchFamily="18" charset="0"/>
                <a:cs typeface="Times New Roman" panose="02020603050405020304" pitchFamily="18" charset="0"/>
              </a:rPr>
              <a:t>McCulloch</a:t>
            </a:r>
            <a:r>
              <a:rPr lang="zh-CN" altLang="en-US" sz="1800" dirty="0">
                <a:latin typeface="Times New Roman" panose="02020603050405020304" pitchFamily="18" charset="0"/>
                <a:cs typeface="Times New Roman" panose="02020603050405020304" pitchFamily="18" charset="0"/>
              </a:rPr>
              <a:t>和</a:t>
            </a:r>
            <a:r>
              <a:rPr lang="en-US" altLang="zh-CN" sz="1800" dirty="0">
                <a:latin typeface="Times New Roman" panose="02020603050405020304" pitchFamily="18" charset="0"/>
                <a:cs typeface="Times New Roman" panose="02020603050405020304" pitchFamily="18" charset="0"/>
              </a:rPr>
              <a:t>Pitts </a:t>
            </a:r>
            <a:r>
              <a:rPr lang="zh-CN" altLang="en-US" sz="1800" dirty="0">
                <a:latin typeface="Times New Roman" panose="02020603050405020304" pitchFamily="18" charset="0"/>
                <a:cs typeface="Times New Roman" panose="02020603050405020304" pitchFamily="18" charset="0"/>
              </a:rPr>
              <a:t>提出第一个神经元数学模型</a:t>
            </a:r>
            <a:r>
              <a:rPr lang="en-US" altLang="zh-CN" sz="1800">
                <a:latin typeface="Times New Roman" panose="02020603050405020304" pitchFamily="18" charset="0"/>
                <a:cs typeface="Times New Roman" panose="02020603050405020304" pitchFamily="18" charset="0"/>
              </a:rPr>
              <a:t>——MP</a:t>
            </a:r>
            <a:r>
              <a:rPr lang="zh-CN" altLang="en-US" sz="1800" dirty="0">
                <a:latin typeface="Times New Roman" panose="02020603050405020304" pitchFamily="18" charset="0"/>
                <a:cs typeface="Times New Roman" panose="02020603050405020304" pitchFamily="18" charset="0"/>
              </a:rPr>
              <a:t>模型</a:t>
            </a:r>
            <a:endParaRPr lang="en-US" altLang="zh-CN" sz="1800"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latin typeface="Times New Roman" panose="02020603050405020304" pitchFamily="18" charset="0"/>
                <a:cs typeface="Times New Roman" panose="02020603050405020304" pitchFamily="18" charset="0"/>
              </a:rPr>
              <a:t>      ※ 1950</a:t>
            </a:r>
            <a:r>
              <a:rPr lang="zh-CN" altLang="en-US" sz="1800">
                <a:latin typeface="Times New Roman" panose="02020603050405020304" pitchFamily="18" charset="0"/>
                <a:cs typeface="Times New Roman" panose="02020603050405020304" pitchFamily="18" charset="0"/>
              </a:rPr>
              <a:t>年，</a:t>
            </a:r>
            <a:r>
              <a:rPr lang="en-US" altLang="zh-CN" sz="1800">
                <a:latin typeface="Times New Roman" panose="02020603050405020304" pitchFamily="18" charset="0"/>
                <a:cs typeface="Times New Roman" panose="02020603050405020304" pitchFamily="18" charset="0"/>
              </a:rPr>
              <a:t>Alan Turing</a:t>
            </a:r>
            <a:r>
              <a:rPr lang="zh-CN" altLang="zh-CN" sz="1800">
                <a:latin typeface="Times New Roman" panose="02020603050405020304" pitchFamily="18" charset="0"/>
                <a:cs typeface="Times New Roman" panose="02020603050405020304" pitchFamily="18" charset="0"/>
              </a:rPr>
              <a:t>在《</a:t>
            </a:r>
            <a:r>
              <a:rPr lang="en-US" altLang="zh-CN" sz="1800">
                <a:latin typeface="Times New Roman" panose="02020603050405020304" pitchFamily="18" charset="0"/>
                <a:cs typeface="Times New Roman" panose="02020603050405020304" pitchFamily="18" charset="0"/>
              </a:rPr>
              <a:t>Mind</a:t>
            </a:r>
            <a:r>
              <a:rPr lang="zh-CN" altLang="zh-CN" sz="1800">
                <a:latin typeface="Times New Roman" panose="02020603050405020304" pitchFamily="18" charset="0"/>
                <a:cs typeface="Times New Roman" panose="02020603050405020304" pitchFamily="18" charset="0"/>
              </a:rPr>
              <a:t>》发表“</a:t>
            </a:r>
            <a:r>
              <a:rPr lang="en-US" altLang="zh-CN" sz="1800" dirty="0">
                <a:latin typeface="Times New Roman" panose="02020603050405020304" pitchFamily="18" charset="0"/>
                <a:cs typeface="Times New Roman" panose="02020603050405020304" pitchFamily="18" charset="0"/>
              </a:rPr>
              <a:t>Computing Machinery and </a:t>
            </a:r>
            <a:r>
              <a:rPr lang="en-US" altLang="zh-CN" sz="1800">
                <a:latin typeface="Times New Roman" panose="02020603050405020304" pitchFamily="18" charset="0"/>
                <a:cs typeface="Times New Roman" panose="02020603050405020304" pitchFamily="18" charset="0"/>
              </a:rPr>
              <a:t>Intelligence</a:t>
            </a:r>
            <a:r>
              <a:rPr lang="zh-CN" altLang="zh-CN" sz="1800">
                <a:latin typeface="Times New Roman" panose="02020603050405020304" pitchFamily="18" charset="0"/>
                <a:cs typeface="Times New Roman" panose="02020603050405020304" pitchFamily="18" charset="0"/>
              </a:rPr>
              <a:t>”</a:t>
            </a:r>
            <a:endParaRPr lang="en-US" altLang="zh-CN" sz="1800"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latin typeface="Times New Roman" panose="02020603050405020304" pitchFamily="18" charset="0"/>
                <a:cs typeface="Times New Roman" panose="02020603050405020304" pitchFamily="18" charset="0"/>
              </a:rPr>
              <a:t>                           </a:t>
            </a:r>
            <a:r>
              <a:rPr lang="zh-CN" altLang="en-US" sz="1800">
                <a:latin typeface="Times New Roman" panose="02020603050405020304" pitchFamily="18" charset="0"/>
                <a:cs typeface="Times New Roman" panose="02020603050405020304" pitchFamily="18" charset="0"/>
              </a:rPr>
              <a:t>提出了图灵测试</a:t>
            </a:r>
            <a:endParaRPr lang="en-US" altLang="zh-CN" sz="180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800">
                <a:latin typeface="Times New Roman" panose="02020603050405020304" pitchFamily="18" charset="0"/>
                <a:cs typeface="Times New Roman" panose="02020603050405020304" pitchFamily="18" charset="0"/>
              </a:rPr>
              <a:t>           为纪念图灵，美国计算机协会于</a:t>
            </a:r>
            <a:r>
              <a:rPr lang="en-US" altLang="zh-CN" sz="1800">
                <a:latin typeface="Times New Roman" panose="02020603050405020304" pitchFamily="18" charset="0"/>
                <a:cs typeface="Times New Roman" panose="02020603050405020304" pitchFamily="18" charset="0"/>
              </a:rPr>
              <a:t>1966</a:t>
            </a:r>
            <a:r>
              <a:rPr lang="zh-CN" altLang="en-US" sz="1800">
                <a:latin typeface="Times New Roman" panose="02020603050405020304" pitchFamily="18" charset="0"/>
                <a:cs typeface="Times New Roman" panose="02020603050405020304" pitchFamily="18" charset="0"/>
              </a:rPr>
              <a:t>年设立了图灵奖</a:t>
            </a:r>
            <a:endParaRPr lang="en-US" altLang="zh-CN" sz="180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latin typeface="Times New Roman" panose="02020603050405020304" pitchFamily="18" charset="0"/>
                <a:cs typeface="Times New Roman" panose="02020603050405020304" pitchFamily="18" charset="0"/>
              </a:rPr>
              <a:t>      ※ 1951 </a:t>
            </a:r>
            <a:r>
              <a:rPr lang="zh-CN" altLang="en-US" sz="1800">
                <a:latin typeface="Times New Roman" panose="02020603050405020304" pitchFamily="18" charset="0"/>
                <a:cs typeface="Times New Roman" panose="02020603050405020304" pitchFamily="18" charset="0"/>
              </a:rPr>
              <a:t>年，西洋跳棋程序和国际象棋程序相继诞生</a:t>
            </a:r>
            <a:endParaRPr lang="en-US" altLang="zh-C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3370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一、人工智能简史</a:t>
            </a:r>
            <a:endParaRPr lang="zh-CN" altLang="en-US" sz="2400" dirty="0"/>
          </a:p>
        </p:txBody>
      </p:sp>
      <p:sp>
        <p:nvSpPr>
          <p:cNvPr id="3" name="内容占位符 2"/>
          <p:cNvSpPr>
            <a:spLocks noGrp="1"/>
          </p:cNvSpPr>
          <p:nvPr>
            <p:ph idx="1"/>
          </p:nvPr>
        </p:nvSpPr>
        <p:spPr>
          <a:xfrm>
            <a:off x="611559" y="986626"/>
            <a:ext cx="8424937" cy="3961388"/>
          </a:xfrm>
        </p:spPr>
        <p:txBody>
          <a:bodyPr>
            <a:noAutofit/>
          </a:bodyPr>
          <a:lstStyle/>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2</a:t>
            </a:r>
            <a:r>
              <a:rPr lang="zh-CN" altLang="zh-CN" sz="1800">
                <a:solidFill>
                  <a:srgbClr val="000066"/>
                </a:solidFill>
                <a:latin typeface="Times New Roman" panose="02020603050405020304" pitchFamily="18" charset="0"/>
                <a:cs typeface="Times New Roman" panose="02020603050405020304" pitchFamily="18" charset="0"/>
              </a:rPr>
              <a:t>．</a:t>
            </a:r>
            <a:r>
              <a:rPr lang="zh-CN" altLang="en-US" sz="1800">
                <a:solidFill>
                  <a:srgbClr val="000066"/>
                </a:solidFill>
                <a:latin typeface="Times New Roman" panose="02020603050405020304" pitchFamily="18" charset="0"/>
                <a:cs typeface="Times New Roman" panose="02020603050405020304" pitchFamily="18" charset="0"/>
              </a:rPr>
              <a:t>第一次浪潮（</a:t>
            </a:r>
            <a:r>
              <a:rPr lang="en-US" altLang="zh-CN" sz="1800">
                <a:solidFill>
                  <a:srgbClr val="000066"/>
                </a:solidFill>
                <a:latin typeface="Times New Roman" panose="02020603050405020304" pitchFamily="18" charset="0"/>
                <a:cs typeface="Times New Roman" panose="02020603050405020304" pitchFamily="18" charset="0"/>
              </a:rPr>
              <a:t>1956~1974</a:t>
            </a:r>
            <a:r>
              <a:rPr lang="zh-CN" altLang="en-US" sz="1800">
                <a:solidFill>
                  <a:srgbClr val="000066"/>
                </a:solidFill>
                <a:latin typeface="Times New Roman" panose="02020603050405020304" pitchFamily="18" charset="0"/>
                <a:cs typeface="Times New Roman" panose="02020603050405020304" pitchFamily="18" charset="0"/>
              </a:rPr>
              <a:t>年）</a:t>
            </a:r>
            <a:endParaRPr lang="en-US" altLang="zh-CN" sz="180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latin typeface="Times New Roman" panose="02020603050405020304" pitchFamily="18" charset="0"/>
                <a:cs typeface="Times New Roman" panose="02020603050405020304" pitchFamily="18" charset="0"/>
              </a:rPr>
              <a:t>       ※ </a:t>
            </a:r>
            <a:r>
              <a:rPr lang="zh-CN" altLang="en-US" sz="1800">
                <a:latin typeface="Times New Roman" panose="02020603050405020304" pitchFamily="18" charset="0"/>
                <a:cs typeface="Times New Roman" panose="02020603050405020304" pitchFamily="18" charset="0"/>
              </a:rPr>
              <a:t>标志性事件</a:t>
            </a:r>
            <a:endParaRPr lang="en-US" altLang="zh-CN" sz="180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latin typeface="Times New Roman" panose="02020603050405020304" pitchFamily="18" charset="0"/>
                <a:cs typeface="Times New Roman" panose="02020603050405020304" pitchFamily="18" charset="0"/>
              </a:rPr>
              <a:t>            ① 1956 </a:t>
            </a:r>
            <a:r>
              <a:rPr lang="zh-CN" altLang="en-US" sz="1800">
                <a:latin typeface="Times New Roman" panose="02020603050405020304" pitchFamily="18" charset="0"/>
                <a:cs typeface="Times New Roman" panose="02020603050405020304" pitchFamily="18" charset="0"/>
              </a:rPr>
              <a:t>年，</a:t>
            </a:r>
            <a:r>
              <a:rPr lang="en-US" altLang="zh-CN" sz="1800">
                <a:latin typeface="Times New Roman" panose="02020603050405020304" pitchFamily="18" charset="0"/>
                <a:cs typeface="Times New Roman" panose="02020603050405020304" pitchFamily="18" charset="0"/>
              </a:rPr>
              <a:t> John McCarthy </a:t>
            </a:r>
            <a:r>
              <a:rPr lang="zh-CN" altLang="en-US" sz="1800">
                <a:latin typeface="Times New Roman" panose="02020603050405020304" pitchFamily="18" charset="0"/>
                <a:cs typeface="Times New Roman" panose="02020603050405020304" pitchFamily="18" charset="0"/>
              </a:rPr>
              <a:t>在</a:t>
            </a:r>
            <a:r>
              <a:rPr lang="en-US" altLang="zh-CN" sz="1800">
                <a:latin typeface="Times New Roman" panose="02020603050405020304" pitchFamily="18" charset="0"/>
                <a:cs typeface="Times New Roman" panose="02020603050405020304" pitchFamily="18" charset="0"/>
              </a:rPr>
              <a:t>Dartmouth</a:t>
            </a:r>
            <a:r>
              <a:rPr lang="zh-CN" altLang="en-US" sz="1800">
                <a:latin typeface="Times New Roman" panose="02020603050405020304" pitchFamily="18" charset="0"/>
                <a:cs typeface="Times New Roman" panose="02020603050405020304" pitchFamily="18" charset="0"/>
              </a:rPr>
              <a:t>会上提出</a:t>
            </a:r>
            <a:r>
              <a:rPr lang="en-US" altLang="zh-CN" sz="1800">
                <a:latin typeface="Times New Roman" panose="02020603050405020304" pitchFamily="18" charset="0"/>
                <a:cs typeface="Times New Roman" panose="02020603050405020304" pitchFamily="18" charset="0"/>
              </a:rPr>
              <a:t>Artificial Intelligence</a:t>
            </a:r>
          </a:p>
          <a:p>
            <a:pPr marL="0" indent="0">
              <a:lnSpc>
                <a:spcPct val="150000"/>
              </a:lnSpc>
              <a:spcBef>
                <a:spcPts val="0"/>
              </a:spcBef>
              <a:buNone/>
            </a:pPr>
            <a:r>
              <a:rPr lang="en-US" altLang="zh-CN" sz="1800">
                <a:cs typeface="Times New Roman" panose="02020603050405020304" pitchFamily="18" charset="0"/>
              </a:rPr>
              <a:t>          ② </a:t>
            </a:r>
            <a:r>
              <a:rPr lang="en-US" altLang="zh-CN" sz="1800">
                <a:latin typeface="Times New Roman" panose="02020603050405020304" pitchFamily="18" charset="0"/>
                <a:cs typeface="Times New Roman" panose="02020603050405020304" pitchFamily="18" charset="0"/>
              </a:rPr>
              <a:t>1964~1966</a:t>
            </a:r>
            <a:r>
              <a:rPr lang="zh-CN" altLang="en-US" sz="1800">
                <a:latin typeface="Times New Roman" panose="02020603050405020304" pitchFamily="18" charset="0"/>
                <a:cs typeface="Times New Roman" panose="02020603050405020304" pitchFamily="18" charset="0"/>
              </a:rPr>
              <a:t>年，</a:t>
            </a:r>
            <a:r>
              <a:rPr lang="en-US" altLang="zh-CN" sz="1800">
                <a:latin typeface="Times New Roman" panose="02020603050405020304" pitchFamily="18" charset="0"/>
                <a:cs typeface="Times New Roman" panose="02020603050405020304" pitchFamily="18" charset="0"/>
              </a:rPr>
              <a:t>Joseph Weizenbaum</a:t>
            </a:r>
            <a:r>
              <a:rPr lang="zh-CN" altLang="en-US" sz="1800">
                <a:latin typeface="Times New Roman" panose="02020603050405020304" pitchFamily="18" charset="0"/>
                <a:cs typeface="Times New Roman" panose="02020603050405020304" pitchFamily="18" charset="0"/>
              </a:rPr>
              <a:t>建立聊天机器人</a:t>
            </a:r>
            <a:r>
              <a:rPr lang="en-US" altLang="zh-CN" sz="1800">
                <a:latin typeface="Times New Roman" panose="02020603050405020304" pitchFamily="18" charset="0"/>
                <a:cs typeface="Times New Roman" panose="02020603050405020304" pitchFamily="18" charset="0"/>
              </a:rPr>
              <a:t>ELIZA</a:t>
            </a:r>
            <a:r>
              <a:rPr lang="zh-CN" altLang="en-US" sz="1800">
                <a:latin typeface="Times New Roman" panose="02020603050405020304" pitchFamily="18" charset="0"/>
                <a:cs typeface="Times New Roman" panose="02020603050405020304" pitchFamily="18" charset="0"/>
              </a:rPr>
              <a:t>，</a:t>
            </a:r>
            <a:endParaRPr lang="en-US" altLang="zh-CN" sz="180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latin typeface="Times New Roman" panose="02020603050405020304" pitchFamily="18" charset="0"/>
                <a:cs typeface="Times New Roman" panose="02020603050405020304" pitchFamily="18" charset="0"/>
              </a:rPr>
              <a:t>                                           </a:t>
            </a:r>
            <a:r>
              <a:rPr lang="zh-CN" altLang="en-US" sz="1800">
                <a:latin typeface="Times New Roman" panose="02020603050405020304" pitchFamily="18" charset="0"/>
                <a:cs typeface="Times New Roman" panose="02020603050405020304" pitchFamily="18" charset="0"/>
              </a:rPr>
              <a:t>实现了通过文本进行交流。</a:t>
            </a:r>
            <a:endParaRPr lang="en-US" altLang="zh-CN" sz="180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latin typeface="Times New Roman" panose="02020603050405020304" pitchFamily="18" charset="0"/>
                <a:cs typeface="Times New Roman" panose="02020603050405020304" pitchFamily="18" charset="0"/>
              </a:rPr>
              <a:t>            </a:t>
            </a:r>
            <a:r>
              <a:rPr lang="zh-CN" altLang="zh-CN" sz="1800">
                <a:latin typeface="Times New Roman" panose="02020603050405020304" pitchFamily="18" charset="0"/>
                <a:cs typeface="Times New Roman" panose="02020603050405020304" pitchFamily="18" charset="0"/>
              </a:rPr>
              <a:t>③</a:t>
            </a:r>
            <a:r>
              <a:rPr lang="en-US" altLang="zh-CN" sz="1800">
                <a:latin typeface="Times New Roman" panose="02020603050405020304" pitchFamily="18" charset="0"/>
                <a:cs typeface="Times New Roman" panose="02020603050405020304" pitchFamily="18" charset="0"/>
              </a:rPr>
              <a:t> 1967~1972</a:t>
            </a:r>
            <a:r>
              <a:rPr lang="zh-CN" altLang="en-US" sz="1800">
                <a:latin typeface="Times New Roman" panose="02020603050405020304" pitchFamily="18" charset="0"/>
                <a:cs typeface="Times New Roman" panose="02020603050405020304" pitchFamily="18" charset="0"/>
              </a:rPr>
              <a:t>年，日本早稻田大学发明了人形机器人</a:t>
            </a:r>
            <a:endParaRPr lang="en-US" altLang="zh-CN" sz="180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latin typeface="Times New Roman" panose="02020603050405020304" pitchFamily="18" charset="0"/>
                <a:cs typeface="Times New Roman" panose="02020603050405020304" pitchFamily="18" charset="0"/>
              </a:rPr>
              <a:t>	</a:t>
            </a:r>
            <a:r>
              <a:rPr lang="zh-CN" altLang="en-US" sz="1800">
                <a:latin typeface="Times New Roman" panose="02020603050405020304" pitchFamily="18" charset="0"/>
                <a:cs typeface="Times New Roman" panose="02020603050405020304" pitchFamily="18" charset="0"/>
              </a:rPr>
              <a:t>期望越大，失望越大，</a:t>
            </a:r>
            <a:r>
              <a:rPr lang="en-US" altLang="zh-CN" sz="1800">
                <a:latin typeface="Times New Roman" panose="02020603050405020304" pitchFamily="18" charset="0"/>
                <a:cs typeface="Times New Roman" panose="02020603050405020304" pitchFamily="18" charset="0"/>
              </a:rPr>
              <a:t>AI</a:t>
            </a:r>
            <a:r>
              <a:rPr lang="zh-CN" altLang="en-US" sz="1800">
                <a:latin typeface="Times New Roman" panose="02020603050405020304" pitchFamily="18" charset="0"/>
                <a:cs typeface="Times New Roman" panose="02020603050405020304" pitchFamily="18" charset="0"/>
              </a:rPr>
              <a:t>进入了第一个冬天</a:t>
            </a:r>
            <a:endParaRPr lang="en-US" altLang="zh-CN" sz="180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600">
                <a:solidFill>
                  <a:srgbClr val="000066"/>
                </a:solidFill>
                <a:latin typeface="Times New Roman" panose="02020603050405020304" pitchFamily="18" charset="0"/>
                <a:cs typeface="Times New Roman" panose="02020603050405020304" pitchFamily="18" charset="0"/>
              </a:rPr>
              <a:t> </a:t>
            </a:r>
            <a:endParaRPr lang="en-US" altLang="zh-CN" sz="1800" dirty="0">
              <a:solidFill>
                <a:srgbClr val="00006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1195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一、人工智能简史</a:t>
            </a:r>
            <a:endParaRPr lang="zh-CN" altLang="en-US" sz="2400" dirty="0"/>
          </a:p>
        </p:txBody>
      </p:sp>
      <p:sp>
        <p:nvSpPr>
          <p:cNvPr id="3" name="内容占位符 2"/>
          <p:cNvSpPr>
            <a:spLocks noGrp="1"/>
          </p:cNvSpPr>
          <p:nvPr>
            <p:ph idx="1"/>
          </p:nvPr>
        </p:nvSpPr>
        <p:spPr>
          <a:xfrm>
            <a:off x="611559" y="986626"/>
            <a:ext cx="8532441" cy="4156874"/>
          </a:xfrm>
        </p:spPr>
        <p:txBody>
          <a:bodyPr>
            <a:noAutofit/>
          </a:bodyPr>
          <a:lstStyle/>
          <a:p>
            <a:pPr marL="0" indent="0">
              <a:lnSpc>
                <a:spcPct val="150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3</a:t>
            </a:r>
            <a:r>
              <a:rPr lang="zh-CN" altLang="zh-CN" sz="180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第二</a:t>
            </a:r>
            <a:r>
              <a:rPr lang="zh-CN" altLang="en-US" sz="1800">
                <a:solidFill>
                  <a:srgbClr val="000066"/>
                </a:solidFill>
                <a:latin typeface="Times New Roman" panose="02020603050405020304" pitchFamily="18" charset="0"/>
                <a:cs typeface="Times New Roman" panose="02020603050405020304" pitchFamily="18" charset="0"/>
              </a:rPr>
              <a:t>次浪潮（</a:t>
            </a:r>
            <a:r>
              <a:rPr lang="en-US" altLang="zh-CN" sz="1800">
                <a:latin typeface="Times New Roman" panose="02020603050405020304" pitchFamily="18" charset="0"/>
                <a:cs typeface="Times New Roman" panose="02020603050405020304" pitchFamily="18" charset="0"/>
              </a:rPr>
              <a:t> 1980~1987</a:t>
            </a:r>
            <a:r>
              <a:rPr lang="zh-CN" altLang="en-US" sz="1800">
                <a:latin typeface="Times New Roman" panose="02020603050405020304" pitchFamily="18" charset="0"/>
                <a:cs typeface="Times New Roman" panose="02020603050405020304" pitchFamily="18" charset="0"/>
              </a:rPr>
              <a:t>年</a:t>
            </a:r>
            <a:r>
              <a:rPr lang="zh-CN" altLang="en-US" sz="1800">
                <a:solidFill>
                  <a:srgbClr val="000066"/>
                </a:solidFill>
                <a:latin typeface="Times New Roman" panose="02020603050405020304" pitchFamily="18" charset="0"/>
                <a:cs typeface="Times New Roman" panose="02020603050405020304" pitchFamily="18" charset="0"/>
              </a:rPr>
              <a:t>）</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latin typeface="Times New Roman" panose="02020603050405020304" pitchFamily="18" charset="0"/>
                <a:cs typeface="Times New Roman" panose="02020603050405020304" pitchFamily="18" charset="0"/>
              </a:rPr>
              <a:t>       ※ </a:t>
            </a:r>
            <a:r>
              <a:rPr lang="zh-CN" altLang="en-US" sz="1800">
                <a:latin typeface="Times New Roman" panose="02020603050405020304" pitchFamily="18" charset="0"/>
                <a:cs typeface="Times New Roman" panose="02020603050405020304" pitchFamily="18" charset="0"/>
              </a:rPr>
              <a:t>标志性事件</a:t>
            </a:r>
            <a:endParaRPr lang="en-US" altLang="zh-CN" sz="180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cs typeface="Times New Roman" panose="02020603050405020304" pitchFamily="18" charset="0"/>
              </a:rPr>
              <a:t>           ① </a:t>
            </a:r>
            <a:r>
              <a:rPr lang="en-US" altLang="zh-CN" sz="1800">
                <a:latin typeface="Times New Roman" panose="02020603050405020304" pitchFamily="18" charset="0"/>
                <a:cs typeface="Times New Roman" panose="02020603050405020304" pitchFamily="18" charset="0"/>
              </a:rPr>
              <a:t>1980</a:t>
            </a:r>
            <a:r>
              <a:rPr lang="zh-CN" altLang="en-US" sz="1800">
                <a:latin typeface="Times New Roman" panose="02020603050405020304" pitchFamily="18" charset="0"/>
                <a:cs typeface="Times New Roman" panose="02020603050405020304" pitchFamily="18" charset="0"/>
              </a:rPr>
              <a:t>年，卡内基梅隆大学为</a:t>
            </a:r>
            <a:r>
              <a:rPr lang="en-US" altLang="zh-CN" sz="1800">
                <a:latin typeface="Times New Roman" panose="02020603050405020304" pitchFamily="18" charset="0"/>
                <a:cs typeface="Times New Roman" panose="02020603050405020304" pitchFamily="18" charset="0"/>
              </a:rPr>
              <a:t>DEC</a:t>
            </a:r>
            <a:r>
              <a:rPr lang="zh-CN" altLang="en-US" sz="1800">
                <a:latin typeface="Times New Roman" panose="02020603050405020304" pitchFamily="18" charset="0"/>
                <a:cs typeface="Times New Roman" panose="02020603050405020304" pitchFamily="18" charset="0"/>
              </a:rPr>
              <a:t>公司开发了</a:t>
            </a:r>
            <a:r>
              <a:rPr lang="en-US" altLang="zh-CN" sz="1800">
                <a:latin typeface="Times New Roman" panose="02020603050405020304" pitchFamily="18" charset="0"/>
                <a:cs typeface="Times New Roman" panose="02020603050405020304" pitchFamily="18" charset="0"/>
              </a:rPr>
              <a:t>XCON</a:t>
            </a:r>
            <a:r>
              <a:rPr lang="zh-CN" altLang="en-US" sz="1800">
                <a:latin typeface="Times New Roman" panose="02020603050405020304" pitchFamily="18" charset="0"/>
                <a:cs typeface="Times New Roman" panose="02020603050405020304" pitchFamily="18" charset="0"/>
              </a:rPr>
              <a:t>专家系统</a:t>
            </a:r>
            <a:endParaRPr lang="en-US" altLang="zh-CN" sz="180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latin typeface="Times New Roman" panose="02020603050405020304" pitchFamily="18" charset="0"/>
                <a:cs typeface="Times New Roman" panose="02020603050405020304" pitchFamily="18" charset="0"/>
              </a:rPr>
              <a:t>                                   </a:t>
            </a:r>
            <a:r>
              <a:rPr lang="zh-CN" altLang="en-US" sz="1800">
                <a:latin typeface="Times New Roman" panose="02020603050405020304" pitchFamily="18" charset="0"/>
                <a:cs typeface="Times New Roman" panose="02020603050405020304" pitchFamily="18" charset="0"/>
              </a:rPr>
              <a:t>帮助公司根据客户需求自动选择计算机部件的组合</a:t>
            </a:r>
            <a:endParaRPr lang="en-US" altLang="zh-CN" sz="180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latin typeface="Times New Roman" panose="02020603050405020304" pitchFamily="18" charset="0"/>
                <a:cs typeface="Times New Roman" panose="02020603050405020304" pitchFamily="18" charset="0"/>
              </a:rPr>
              <a:t>             </a:t>
            </a:r>
            <a:r>
              <a:rPr lang="zh-CN" altLang="zh-CN" sz="1800">
                <a:latin typeface="Times New Roman" panose="02020603050405020304" pitchFamily="18" charset="0"/>
                <a:cs typeface="Times New Roman" panose="02020603050405020304" pitchFamily="18" charset="0"/>
              </a:rPr>
              <a:t>②</a:t>
            </a:r>
            <a:r>
              <a:rPr lang="en-US" altLang="zh-CN" sz="1800">
                <a:latin typeface="Times New Roman" panose="02020603050405020304" pitchFamily="18" charset="0"/>
                <a:cs typeface="Times New Roman" panose="02020603050405020304" pitchFamily="18" charset="0"/>
              </a:rPr>
              <a:t> 1982</a:t>
            </a:r>
            <a:r>
              <a:rPr lang="zh-CN" altLang="en-US" sz="1800">
                <a:latin typeface="Times New Roman" panose="02020603050405020304" pitchFamily="18" charset="0"/>
                <a:cs typeface="Times New Roman" panose="02020603050405020304" pitchFamily="18" charset="0"/>
              </a:rPr>
              <a:t>年，</a:t>
            </a:r>
            <a:r>
              <a:rPr lang="en-US" altLang="zh-CN" sz="1800">
                <a:latin typeface="Times New Roman" panose="02020603050405020304" pitchFamily="18" charset="0"/>
                <a:cs typeface="Times New Roman" panose="02020603050405020304" pitchFamily="18" charset="0"/>
              </a:rPr>
              <a:t> John Hopfield</a:t>
            </a:r>
            <a:r>
              <a:rPr lang="zh-CN" altLang="en-US" sz="1800">
                <a:latin typeface="Times New Roman" panose="02020603050405020304" pitchFamily="18" charset="0"/>
                <a:cs typeface="Times New Roman" panose="02020603050405020304" pitchFamily="18" charset="0"/>
              </a:rPr>
              <a:t>提出了人工神经网络（</a:t>
            </a:r>
            <a:r>
              <a:rPr lang="en-US" altLang="zh-CN" sz="1800">
                <a:latin typeface="Times New Roman" panose="02020603050405020304" pitchFamily="18" charset="0"/>
                <a:cs typeface="Times New Roman" panose="02020603050405020304" pitchFamily="18" charset="0"/>
              </a:rPr>
              <a:t>ANN</a:t>
            </a:r>
            <a:r>
              <a:rPr lang="zh-CN" altLang="en-US" sz="1800">
                <a:latin typeface="Times New Roman" panose="02020603050405020304" pitchFamily="18" charset="0"/>
                <a:cs typeface="Times New Roman" panose="02020603050405020304" pitchFamily="18" charset="0"/>
              </a:rPr>
              <a:t>）</a:t>
            </a:r>
            <a:endParaRPr lang="en-US" altLang="zh-CN" sz="180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latin typeface="Times New Roman" panose="02020603050405020304" pitchFamily="18" charset="0"/>
                <a:cs typeface="Times New Roman" panose="02020603050405020304" pitchFamily="18" charset="0"/>
              </a:rPr>
              <a:t>                  1986</a:t>
            </a:r>
            <a:r>
              <a:rPr lang="zh-CN" altLang="en-US" sz="1800">
                <a:latin typeface="Times New Roman" panose="02020603050405020304" pitchFamily="18" charset="0"/>
                <a:cs typeface="Times New Roman" panose="02020603050405020304" pitchFamily="18" charset="0"/>
              </a:rPr>
              <a:t>年，</a:t>
            </a:r>
            <a:r>
              <a:rPr lang="de-DE" altLang="zh-CN" sz="1800">
                <a:latin typeface="Times New Roman" panose="02020603050405020304" pitchFamily="18" charset="0"/>
                <a:cs typeface="Times New Roman" panose="02020603050405020304" pitchFamily="18" charset="0"/>
              </a:rPr>
              <a:t>David Rumelhart</a:t>
            </a:r>
            <a:r>
              <a:rPr lang="zh-CN" altLang="en-US" sz="1800">
                <a:latin typeface="Times New Roman" panose="02020603050405020304" pitchFamily="18" charset="0"/>
                <a:cs typeface="Times New Roman" panose="02020603050405020304" pitchFamily="18" charset="0"/>
              </a:rPr>
              <a:t>、</a:t>
            </a:r>
            <a:r>
              <a:rPr lang="en-US" altLang="zh-CN" sz="1800">
                <a:latin typeface="Times New Roman" panose="02020603050405020304" pitchFamily="18" charset="0"/>
                <a:cs typeface="Times New Roman" panose="02020603050405020304" pitchFamily="18" charset="0"/>
              </a:rPr>
              <a:t>Geoffrey</a:t>
            </a:r>
            <a:r>
              <a:rPr lang="de-DE" altLang="zh-CN" sz="1800">
                <a:latin typeface="Times New Roman" panose="02020603050405020304" pitchFamily="18" charset="0"/>
                <a:cs typeface="Times New Roman" panose="02020603050405020304" pitchFamily="18" charset="0"/>
              </a:rPr>
              <a:t> Hinton</a:t>
            </a:r>
            <a:r>
              <a:rPr lang="zh-CN" altLang="en-US" sz="1800">
                <a:latin typeface="Times New Roman" panose="02020603050405020304" pitchFamily="18" charset="0"/>
                <a:cs typeface="Times New Roman" panose="02020603050405020304" pitchFamily="18" charset="0"/>
              </a:rPr>
              <a:t>、</a:t>
            </a:r>
            <a:r>
              <a:rPr lang="de-DE" altLang="zh-CN" sz="1800">
                <a:latin typeface="Times New Roman" panose="02020603050405020304" pitchFamily="18" charset="0"/>
                <a:cs typeface="Times New Roman" panose="02020603050405020304" pitchFamily="18" charset="0"/>
              </a:rPr>
              <a:t>Ronald Williams</a:t>
            </a:r>
            <a:r>
              <a:rPr lang="zh-CN" altLang="en-US" sz="1800">
                <a:latin typeface="Times New Roman" panose="02020603050405020304" pitchFamily="18" charset="0"/>
                <a:cs typeface="Times New Roman" panose="02020603050405020304" pitchFamily="18" charset="0"/>
              </a:rPr>
              <a:t>发表</a:t>
            </a:r>
            <a:endParaRPr lang="en-US" altLang="zh-CN" sz="180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latin typeface="Times New Roman" panose="02020603050405020304" pitchFamily="18" charset="0"/>
                <a:cs typeface="Times New Roman" panose="02020603050405020304" pitchFamily="18" charset="0"/>
              </a:rPr>
              <a:t>                                 《Learning representations by back-propagating errors》</a:t>
            </a:r>
          </a:p>
          <a:p>
            <a:pPr marL="0" indent="0">
              <a:lnSpc>
                <a:spcPct val="150000"/>
              </a:lnSpc>
              <a:spcBef>
                <a:spcPts val="0"/>
              </a:spcBef>
              <a:buNone/>
            </a:pPr>
            <a:r>
              <a:rPr lang="en-US" altLang="zh-CN" sz="1800">
                <a:latin typeface="Times New Roman" panose="02020603050405020304" pitchFamily="18" charset="0"/>
                <a:cs typeface="Times New Roman" panose="02020603050405020304" pitchFamily="18" charset="0"/>
              </a:rPr>
              <a:t>                                  </a:t>
            </a:r>
            <a:r>
              <a:rPr lang="zh-CN" altLang="en-US" sz="1800">
                <a:latin typeface="Times New Roman" panose="02020603050405020304" pitchFamily="18" charset="0"/>
                <a:cs typeface="Times New Roman" panose="02020603050405020304" pitchFamily="18" charset="0"/>
              </a:rPr>
              <a:t>提出了著名的</a:t>
            </a:r>
            <a:r>
              <a:rPr lang="en-US" altLang="zh-CN" sz="1800">
                <a:latin typeface="Times New Roman" panose="02020603050405020304" pitchFamily="18" charset="0"/>
                <a:cs typeface="Times New Roman" panose="02020603050405020304" pitchFamily="18" charset="0"/>
              </a:rPr>
              <a:t>BP</a:t>
            </a:r>
            <a:r>
              <a:rPr lang="zh-CN" altLang="en-US" sz="1800">
                <a:latin typeface="Times New Roman" panose="02020603050405020304" pitchFamily="18" charset="0"/>
                <a:cs typeface="Times New Roman" panose="02020603050405020304" pitchFamily="18" charset="0"/>
              </a:rPr>
              <a:t>算法</a:t>
            </a:r>
            <a:endParaRPr lang="en-US" altLang="zh-CN" sz="180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latin typeface="Times New Roman" panose="02020603050405020304" pitchFamily="18" charset="0"/>
                <a:cs typeface="Times New Roman" panose="02020603050405020304" pitchFamily="18" charset="0"/>
              </a:rPr>
              <a:t>             </a:t>
            </a:r>
            <a:r>
              <a:rPr lang="zh-CN" altLang="zh-CN" sz="1800">
                <a:latin typeface="Times New Roman" panose="02020603050405020304" pitchFamily="18" charset="0"/>
                <a:cs typeface="Times New Roman" panose="02020603050405020304" pitchFamily="18" charset="0"/>
              </a:rPr>
              <a:t>③</a:t>
            </a:r>
            <a:r>
              <a:rPr lang="en-US" altLang="zh-CN" sz="1800">
                <a:latin typeface="Times New Roman" panose="02020603050405020304" pitchFamily="18" charset="0"/>
                <a:cs typeface="Times New Roman" panose="02020603050405020304" pitchFamily="18" charset="0"/>
              </a:rPr>
              <a:t> 1982</a:t>
            </a:r>
            <a:r>
              <a:rPr lang="zh-CN" altLang="en-US" sz="1800">
                <a:latin typeface="Times New Roman" panose="02020603050405020304" pitchFamily="18" charset="0"/>
                <a:cs typeface="Times New Roman" panose="02020603050405020304" pitchFamily="18" charset="0"/>
              </a:rPr>
              <a:t>年，日本提出“第五代计算机”计划</a:t>
            </a:r>
            <a:endParaRPr lang="en-US" altLang="zh-CN" sz="180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latin typeface="Times New Roman" panose="02020603050405020304" pitchFamily="18" charset="0"/>
                <a:cs typeface="Times New Roman" panose="02020603050405020304" pitchFamily="18" charset="0"/>
              </a:rPr>
              <a:t>             </a:t>
            </a:r>
            <a:r>
              <a:rPr lang="zh-CN" altLang="en-US" sz="1800">
                <a:latin typeface="Times New Roman" panose="02020603050405020304" pitchFamily="18" charset="0"/>
                <a:cs typeface="Times New Roman" panose="02020603050405020304" pitchFamily="18" charset="0"/>
              </a:rPr>
              <a:t>许多项目没有达成预期的目标，</a:t>
            </a:r>
            <a:r>
              <a:rPr lang="en-US" altLang="zh-CN" sz="1800">
                <a:latin typeface="Times New Roman" panose="02020603050405020304" pitchFamily="18" charset="0"/>
                <a:cs typeface="Times New Roman" panose="02020603050405020304" pitchFamily="18" charset="0"/>
              </a:rPr>
              <a:t>AI</a:t>
            </a:r>
            <a:r>
              <a:rPr lang="zh-CN" altLang="en-US" sz="1800">
                <a:latin typeface="Times New Roman" panose="02020603050405020304" pitchFamily="18" charset="0"/>
                <a:cs typeface="Times New Roman" panose="02020603050405020304" pitchFamily="18" charset="0"/>
              </a:rPr>
              <a:t>进入第二次冬天</a:t>
            </a:r>
            <a:r>
              <a:rPr lang="en-US" altLang="zh-CN" sz="180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784241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一、人工智能简史</a:t>
            </a:r>
            <a:endParaRPr lang="zh-CN" altLang="en-US" sz="2400" dirty="0"/>
          </a:p>
        </p:txBody>
      </p:sp>
      <p:sp>
        <p:nvSpPr>
          <p:cNvPr id="3" name="内容占位符 2"/>
          <p:cNvSpPr>
            <a:spLocks noGrp="1"/>
          </p:cNvSpPr>
          <p:nvPr>
            <p:ph idx="1"/>
          </p:nvPr>
        </p:nvSpPr>
        <p:spPr>
          <a:xfrm>
            <a:off x="611559" y="986626"/>
            <a:ext cx="8424937" cy="3961388"/>
          </a:xfrm>
        </p:spPr>
        <p:txBody>
          <a:bodyPr>
            <a:noAutofit/>
          </a:bodyPr>
          <a:lstStyle/>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4</a:t>
            </a:r>
            <a:r>
              <a:rPr lang="zh-CN"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第三</a:t>
            </a:r>
            <a:r>
              <a:rPr lang="zh-CN" altLang="en-US" sz="1800">
                <a:solidFill>
                  <a:srgbClr val="000066"/>
                </a:solidFill>
                <a:latin typeface="Times New Roman" panose="02020603050405020304" pitchFamily="18" charset="0"/>
                <a:cs typeface="Times New Roman" panose="02020603050405020304" pitchFamily="18" charset="0"/>
              </a:rPr>
              <a:t>次浪潮</a:t>
            </a:r>
            <a:endParaRPr lang="en-US" altLang="zh-CN" sz="180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latin typeface="Times New Roman" panose="02020603050405020304" pitchFamily="18" charset="0"/>
                <a:cs typeface="Times New Roman" panose="02020603050405020304" pitchFamily="18" charset="0"/>
              </a:rPr>
              <a:t>      ※  2011</a:t>
            </a:r>
            <a:r>
              <a:rPr lang="zh-CN" altLang="en-US" sz="1800">
                <a:latin typeface="Times New Roman" panose="02020603050405020304" pitchFamily="18" charset="0"/>
                <a:cs typeface="Times New Roman" panose="02020603050405020304" pitchFamily="18" charset="0"/>
              </a:rPr>
              <a:t>年至今</a:t>
            </a:r>
            <a:endParaRPr lang="en-US" altLang="zh-CN" sz="1800"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dirty="0">
                <a:latin typeface="Times New Roman" panose="02020603050405020304" pitchFamily="18" charset="0"/>
                <a:cs typeface="Times New Roman" panose="02020603050405020304" pitchFamily="18" charset="0"/>
              </a:rPr>
              <a:t>      ※ </a:t>
            </a:r>
            <a:r>
              <a:rPr lang="zh-CN" altLang="en-US" sz="1800" dirty="0">
                <a:latin typeface="Times New Roman" panose="02020603050405020304" pitchFamily="18" charset="0"/>
                <a:cs typeface="Times New Roman" panose="02020603050405020304" pitchFamily="18" charset="0"/>
              </a:rPr>
              <a:t>数据、算力指数式增长</a:t>
            </a:r>
            <a:r>
              <a:rPr lang="zh-CN" altLang="en-US" sz="1800">
                <a:latin typeface="Times New Roman" panose="02020603050405020304" pitchFamily="18" charset="0"/>
                <a:cs typeface="Times New Roman" panose="02020603050405020304" pitchFamily="18" charset="0"/>
              </a:rPr>
              <a:t>，算法取得重大突破</a:t>
            </a:r>
            <a:endParaRPr lang="en-US" altLang="zh-CN" sz="180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latin typeface="Times New Roman" panose="02020603050405020304" pitchFamily="18" charset="0"/>
                <a:cs typeface="Times New Roman" panose="02020603050405020304" pitchFamily="18" charset="0"/>
              </a:rPr>
              <a:t>      ※ </a:t>
            </a:r>
            <a:r>
              <a:rPr lang="zh-CN" altLang="en-US" sz="1800">
                <a:latin typeface="Times New Roman" panose="02020603050405020304" pitchFamily="18" charset="0"/>
                <a:cs typeface="Times New Roman" panose="02020603050405020304" pitchFamily="18" charset="0"/>
              </a:rPr>
              <a:t>标志性事件 </a:t>
            </a:r>
            <a:endParaRPr lang="en-US" altLang="zh-CN" sz="180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latin typeface="Times New Roman" panose="02020603050405020304" pitchFamily="18" charset="0"/>
                <a:cs typeface="Times New Roman" panose="02020603050405020304" pitchFamily="18" charset="0"/>
              </a:rPr>
              <a:t>           </a:t>
            </a:r>
            <a:r>
              <a:rPr lang="en-US" altLang="zh-CN" sz="1800">
                <a:cs typeface="Times New Roman" panose="02020603050405020304" pitchFamily="18" charset="0"/>
              </a:rPr>
              <a:t>① </a:t>
            </a:r>
            <a:r>
              <a:rPr lang="en-US" altLang="zh-CN" sz="1800">
                <a:latin typeface="Times New Roman" panose="02020603050405020304" pitchFamily="18" charset="0"/>
                <a:cs typeface="Times New Roman" panose="02020603050405020304" pitchFamily="18" charset="0"/>
              </a:rPr>
              <a:t>2012</a:t>
            </a:r>
            <a:r>
              <a:rPr lang="zh-CN" altLang="en-US" sz="1800">
                <a:latin typeface="Times New Roman" panose="02020603050405020304" pitchFamily="18" charset="0"/>
                <a:cs typeface="Times New Roman" panose="02020603050405020304" pitchFamily="18" charset="0"/>
              </a:rPr>
              <a:t>年，</a:t>
            </a:r>
            <a:r>
              <a:rPr lang="en-US" altLang="zh-CN" sz="1800">
                <a:latin typeface="Times New Roman" panose="02020603050405020304" pitchFamily="18" charset="0"/>
                <a:cs typeface="Times New Roman" panose="02020603050405020304" pitchFamily="18" charset="0"/>
              </a:rPr>
              <a:t>Image Net</a:t>
            </a:r>
            <a:r>
              <a:rPr lang="zh-CN" altLang="en-US" sz="1800">
                <a:latin typeface="Times New Roman" panose="02020603050405020304" pitchFamily="18" charset="0"/>
                <a:cs typeface="Times New Roman" panose="02020603050405020304" pitchFamily="18" charset="0"/>
              </a:rPr>
              <a:t>挑战赛中</a:t>
            </a:r>
            <a:r>
              <a:rPr lang="en-US" altLang="zh-CN" sz="1800">
                <a:latin typeface="Times New Roman" panose="02020603050405020304" pitchFamily="18" charset="0"/>
                <a:cs typeface="Times New Roman" panose="02020603050405020304" pitchFamily="18" charset="0"/>
              </a:rPr>
              <a:t>AlexNet</a:t>
            </a:r>
            <a:r>
              <a:rPr lang="zh-CN" altLang="en-US" sz="1800">
                <a:latin typeface="Times New Roman" panose="02020603050405020304" pitchFamily="18" charset="0"/>
                <a:cs typeface="Times New Roman" panose="02020603050405020304" pitchFamily="18" charset="0"/>
              </a:rPr>
              <a:t>超越了传统机器学习算法</a:t>
            </a:r>
            <a:endParaRPr lang="en-US" altLang="zh-CN" sz="1800"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latin typeface="Times New Roman" panose="02020603050405020304" pitchFamily="18" charset="0"/>
                <a:cs typeface="Times New Roman" panose="02020603050405020304" pitchFamily="18" charset="0"/>
              </a:rPr>
              <a:t>           </a:t>
            </a:r>
            <a:r>
              <a:rPr lang="en-US" altLang="zh-CN" sz="1800">
                <a:cs typeface="Times New Roman" panose="02020603050405020304" pitchFamily="18" charset="0"/>
              </a:rPr>
              <a:t>②</a:t>
            </a:r>
            <a:r>
              <a:rPr lang="en-US" altLang="zh-CN" sz="1800">
                <a:latin typeface="Times New Roman" panose="02020603050405020304" pitchFamily="18" charset="0"/>
                <a:cs typeface="Times New Roman" panose="02020603050405020304" pitchFamily="18" charset="0"/>
              </a:rPr>
              <a:t> 2016</a:t>
            </a:r>
            <a:r>
              <a:rPr lang="zh-CN" altLang="en-US" sz="1800">
                <a:latin typeface="Times New Roman" panose="02020603050405020304" pitchFamily="18" charset="0"/>
                <a:cs typeface="Times New Roman" panose="02020603050405020304" pitchFamily="18" charset="0"/>
              </a:rPr>
              <a:t>年，谷歌（</a:t>
            </a:r>
            <a:r>
              <a:rPr lang="en-US" altLang="zh-CN" sz="1800">
                <a:latin typeface="Times New Roman" panose="02020603050405020304" pitchFamily="18" charset="0"/>
                <a:cs typeface="Times New Roman" panose="02020603050405020304" pitchFamily="18" charset="0"/>
              </a:rPr>
              <a:t> Google </a:t>
            </a:r>
            <a:r>
              <a:rPr lang="zh-CN" altLang="en-US" sz="1800">
                <a:latin typeface="Times New Roman" panose="02020603050405020304" pitchFamily="18" charset="0"/>
                <a:cs typeface="Times New Roman" panose="02020603050405020304" pitchFamily="18" charset="0"/>
              </a:rPr>
              <a:t>）的</a:t>
            </a:r>
            <a:r>
              <a:rPr lang="en-US" altLang="zh-CN" sz="1800">
                <a:latin typeface="Times New Roman" panose="02020603050405020304" pitchFamily="18" charset="0"/>
                <a:cs typeface="Times New Roman" panose="02020603050405020304" pitchFamily="18" charset="0"/>
              </a:rPr>
              <a:t>AlphaGo4:1</a:t>
            </a:r>
            <a:r>
              <a:rPr lang="zh-CN" altLang="en-US" sz="1800" dirty="0">
                <a:latin typeface="Times New Roman" panose="02020603050405020304" pitchFamily="18" charset="0"/>
                <a:cs typeface="Times New Roman" panose="02020603050405020304" pitchFamily="18" charset="0"/>
              </a:rPr>
              <a:t>战胜韩国</a:t>
            </a:r>
            <a:r>
              <a:rPr lang="zh-CN" altLang="en-US" sz="1800">
                <a:latin typeface="Times New Roman" panose="02020603050405020304" pitchFamily="18" charset="0"/>
                <a:cs typeface="Times New Roman" panose="02020603050405020304" pitchFamily="18" charset="0"/>
              </a:rPr>
              <a:t>棋手</a:t>
            </a:r>
            <a:r>
              <a:rPr lang="zh-CN" altLang="zh-CN" sz="1800">
                <a:latin typeface="Times New Roman" panose="02020603050405020304" pitchFamily="18" charset="0"/>
                <a:cs typeface="Times New Roman" panose="02020603050405020304" pitchFamily="18" charset="0"/>
              </a:rPr>
              <a:t>李世石</a:t>
            </a:r>
            <a:endParaRPr lang="en-US" altLang="zh-CN" sz="180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latin typeface="Times New Roman" panose="02020603050405020304" pitchFamily="18" charset="0"/>
                <a:cs typeface="Times New Roman" panose="02020603050405020304" pitchFamily="18" charset="0"/>
              </a:rPr>
              <a:t>                2017</a:t>
            </a:r>
            <a:r>
              <a:rPr lang="zh-CN" altLang="zh-CN" sz="1800">
                <a:latin typeface="Times New Roman" panose="02020603050405020304" pitchFamily="18" charset="0"/>
                <a:cs typeface="Times New Roman" panose="02020603050405020304" pitchFamily="18" charset="0"/>
              </a:rPr>
              <a:t>年</a:t>
            </a:r>
            <a:r>
              <a:rPr lang="zh-CN" altLang="en-US" sz="1800">
                <a:latin typeface="Times New Roman" panose="02020603050405020304" pitchFamily="18" charset="0"/>
                <a:cs typeface="Times New Roman" panose="02020603050405020304" pitchFamily="18" charset="0"/>
              </a:rPr>
              <a:t>，</a:t>
            </a:r>
            <a:r>
              <a:rPr lang="en-US" altLang="zh-CN" sz="1800">
                <a:latin typeface="Times New Roman" panose="02020603050405020304" pitchFamily="18" charset="0"/>
                <a:cs typeface="Times New Roman" panose="02020603050405020304" pitchFamily="18" charset="0"/>
              </a:rPr>
              <a:t>3:0</a:t>
            </a:r>
            <a:r>
              <a:rPr lang="zh-CN" altLang="en-US" sz="1800" dirty="0">
                <a:latin typeface="Times New Roman" panose="02020603050405020304" pitchFamily="18" charset="0"/>
                <a:cs typeface="Times New Roman" panose="02020603050405020304" pitchFamily="18" charset="0"/>
              </a:rPr>
              <a:t>战胜中国</a:t>
            </a:r>
            <a:r>
              <a:rPr lang="zh-CN" altLang="en-US" sz="1800">
                <a:latin typeface="Times New Roman" panose="02020603050405020304" pitchFamily="18" charset="0"/>
                <a:cs typeface="Times New Roman" panose="02020603050405020304" pitchFamily="18" charset="0"/>
              </a:rPr>
              <a:t>棋手柯洁</a:t>
            </a:r>
            <a:endParaRPr lang="en-US" altLang="zh-CN" sz="180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latin typeface="Times New Roman" panose="02020603050405020304" pitchFamily="18" charset="0"/>
                <a:cs typeface="Times New Roman" panose="02020603050405020304" pitchFamily="18" charset="0"/>
              </a:rPr>
              <a:t>           </a:t>
            </a:r>
            <a:r>
              <a:rPr lang="zh-CN" altLang="zh-CN" sz="1800">
                <a:latin typeface="Times New Roman" panose="02020603050405020304" pitchFamily="18" charset="0"/>
                <a:cs typeface="Times New Roman" panose="02020603050405020304" pitchFamily="18" charset="0"/>
              </a:rPr>
              <a:t>③</a:t>
            </a:r>
            <a:r>
              <a:rPr lang="en-US" altLang="zh-CN" sz="1800">
                <a:latin typeface="Times New Roman" panose="02020603050405020304" pitchFamily="18" charset="0"/>
                <a:cs typeface="Times New Roman" panose="02020603050405020304" pitchFamily="18" charset="0"/>
              </a:rPr>
              <a:t> </a:t>
            </a:r>
            <a:r>
              <a:rPr lang="zh-CN" altLang="en-US" sz="1800">
                <a:latin typeface="Times New Roman" panose="02020603050405020304" pitchFamily="18" charset="0"/>
                <a:cs typeface="Times New Roman" panose="02020603050405020304" pitchFamily="18" charset="0"/>
              </a:rPr>
              <a:t>人工智能进入日常生活：车牌识别、人脸识别、指纹识别</a:t>
            </a:r>
            <a:endParaRPr lang="en-US" altLang="zh-CN" sz="180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latin typeface="Times New Roman" panose="02020603050405020304" pitchFamily="18" charset="0"/>
                <a:cs typeface="Times New Roman" panose="02020603050405020304" pitchFamily="18" charset="0"/>
              </a:rPr>
              <a:t>       </a:t>
            </a:r>
            <a:r>
              <a:rPr lang="zh-CN" altLang="en-US" sz="1800">
                <a:latin typeface="Times New Roman" panose="02020603050405020304" pitchFamily="18" charset="0"/>
                <a:cs typeface="Times New Roman" panose="02020603050405020304" pitchFamily="18" charset="0"/>
              </a:rPr>
              <a:t>掀起了第三起浪潮</a:t>
            </a:r>
            <a:endParaRPr lang="en-US" altLang="zh-CN" sz="1800">
              <a:latin typeface="Times New Roman" panose="02020603050405020304" pitchFamily="18" charset="0"/>
              <a:cs typeface="Times New Roman" panose="02020603050405020304" pitchFamily="18" charset="0"/>
            </a:endParaRPr>
          </a:p>
          <a:p>
            <a:pPr marL="0" indent="0">
              <a:lnSpc>
                <a:spcPct val="150000"/>
              </a:lnSpc>
              <a:spcBef>
                <a:spcPts val="0"/>
              </a:spcBef>
              <a:buNone/>
            </a:pP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endParaRPr lang="zh-CN" altLang="zh-CN" sz="1600" dirty="0"/>
          </a:p>
        </p:txBody>
      </p:sp>
    </p:spTree>
    <p:extLst>
      <p:ext uri="{BB962C8B-B14F-4D97-AF65-F5344CB8AC3E}">
        <p14:creationId xmlns:p14="http://schemas.microsoft.com/office/powerpoint/2010/main" val="3270951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二、人工智能研究内容</a:t>
            </a:r>
            <a:endParaRPr lang="zh-CN" altLang="en-US" sz="2400" dirty="0"/>
          </a:p>
        </p:txBody>
      </p:sp>
      <p:sp>
        <p:nvSpPr>
          <p:cNvPr id="3" name="内容占位符 2"/>
          <p:cNvSpPr>
            <a:spLocks noGrp="1"/>
          </p:cNvSpPr>
          <p:nvPr>
            <p:ph idx="1"/>
          </p:nvPr>
        </p:nvSpPr>
        <p:spPr>
          <a:xfrm>
            <a:off x="611559" y="986626"/>
            <a:ext cx="8352929" cy="4156874"/>
          </a:xfrm>
        </p:spPr>
        <p:txBody>
          <a:bodyPr>
            <a:noAutofit/>
          </a:bodyPr>
          <a:lstStyle/>
          <a:p>
            <a:pPr marL="0" indent="0">
              <a:lnSpc>
                <a:spcPct val="150000"/>
              </a:lnSpc>
              <a:spcBef>
                <a:spcPts val="0"/>
              </a:spcBef>
              <a:buNone/>
            </a:pPr>
            <a:r>
              <a:rPr lang="en-US" altLang="zh-CN" sz="1800">
                <a:latin typeface="Times New Roman" panose="02020603050405020304" pitchFamily="18" charset="0"/>
                <a:cs typeface="Times New Roman" panose="02020603050405020304" pitchFamily="18" charset="0"/>
              </a:rPr>
              <a:t>1</a:t>
            </a:r>
            <a:r>
              <a:rPr lang="zh-CN" altLang="zh-CN" sz="1800">
                <a:latin typeface="Times New Roman" panose="02020603050405020304" pitchFamily="18" charset="0"/>
                <a:cs typeface="Times New Roman" panose="02020603050405020304" pitchFamily="18" charset="0"/>
              </a:rPr>
              <a:t>．知识工程</a:t>
            </a:r>
            <a:r>
              <a:rPr lang="en-US" altLang="zh-CN" sz="1800">
                <a:latin typeface="Times New Roman" panose="02020603050405020304" pitchFamily="18" charset="0"/>
                <a:cs typeface="Times New Roman" panose="02020603050405020304" pitchFamily="18" charset="0"/>
              </a:rPr>
              <a:t>    </a:t>
            </a:r>
            <a:r>
              <a:rPr lang="zh-CN" altLang="zh-CN" sz="1800">
                <a:latin typeface="Times New Roman" panose="02020603050405020304" pitchFamily="18" charset="0"/>
                <a:cs typeface="Times New Roman" panose="02020603050405020304" pitchFamily="18" charset="0"/>
              </a:rPr>
              <a:t>建立专家系统</a:t>
            </a:r>
            <a:endParaRPr lang="en-US" altLang="zh-CN" sz="180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latin typeface="Times New Roman" panose="02020603050405020304" pitchFamily="18" charset="0"/>
                <a:cs typeface="Times New Roman" panose="02020603050405020304" pitchFamily="18" charset="0"/>
              </a:rPr>
              <a:t>                          </a:t>
            </a:r>
            <a:r>
              <a:rPr lang="zh-CN" altLang="en-US" sz="1800">
                <a:latin typeface="Times New Roman" panose="02020603050405020304" pitchFamily="18" charset="0"/>
                <a:cs typeface="Times New Roman" panose="02020603050405020304" pitchFamily="18" charset="0"/>
              </a:rPr>
              <a:t>包括：</a:t>
            </a:r>
            <a:r>
              <a:rPr lang="zh-CN" altLang="zh-CN" sz="1800">
                <a:latin typeface="Times New Roman" panose="02020603050405020304" pitchFamily="18" charset="0"/>
                <a:cs typeface="Times New Roman" panose="02020603050405020304" pitchFamily="18" charset="0"/>
              </a:rPr>
              <a:t>知识表示、知识获取、知识推理、知识集成和知识存储</a:t>
            </a:r>
            <a:r>
              <a:rPr lang="zh-CN" altLang="en-US" sz="1800">
                <a:latin typeface="Times New Roman" panose="02020603050405020304" pitchFamily="18" charset="0"/>
                <a:cs typeface="Times New Roman" panose="02020603050405020304" pitchFamily="18" charset="0"/>
              </a:rPr>
              <a:t>等</a:t>
            </a:r>
            <a:endParaRPr lang="en-US" altLang="zh-CN" sz="180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latin typeface="Times New Roman" panose="02020603050405020304" pitchFamily="18" charset="0"/>
                <a:cs typeface="Times New Roman" panose="02020603050405020304" pitchFamily="18" charset="0"/>
              </a:rPr>
              <a:t>2</a:t>
            </a:r>
            <a:r>
              <a:rPr lang="zh-CN" altLang="zh-CN" sz="1800">
                <a:latin typeface="Times New Roman" panose="02020603050405020304" pitchFamily="18" charset="0"/>
                <a:cs typeface="Times New Roman" panose="02020603050405020304" pitchFamily="18" charset="0"/>
              </a:rPr>
              <a:t>．</a:t>
            </a:r>
            <a:r>
              <a:rPr lang="zh-CN" altLang="en-US" sz="1800">
                <a:latin typeface="Times New Roman" panose="02020603050405020304" pitchFamily="18" charset="0"/>
                <a:cs typeface="Times New Roman" panose="02020603050405020304" pitchFamily="18" charset="0"/>
              </a:rPr>
              <a:t>机器感知    模拟人的</a:t>
            </a:r>
            <a:r>
              <a:rPr lang="zh-CN" altLang="zh-CN" sz="1800">
                <a:latin typeface="Times New Roman" panose="02020603050405020304" pitchFamily="18" charset="0"/>
                <a:cs typeface="Times New Roman" panose="02020603050405020304" pitchFamily="18" charset="0"/>
              </a:rPr>
              <a:t>感知能力</a:t>
            </a:r>
            <a:endParaRPr lang="en-US" altLang="zh-CN" sz="180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latin typeface="Times New Roman" panose="02020603050405020304" pitchFamily="18" charset="0"/>
                <a:cs typeface="Times New Roman" panose="02020603050405020304" pitchFamily="18" charset="0"/>
              </a:rPr>
              <a:t>                          </a:t>
            </a:r>
            <a:r>
              <a:rPr lang="zh-CN" altLang="en-US" sz="1800">
                <a:latin typeface="Times New Roman" panose="02020603050405020304" pitchFamily="18" charset="0"/>
                <a:cs typeface="Times New Roman" panose="02020603050405020304" pitchFamily="18" charset="0"/>
              </a:rPr>
              <a:t>主要是</a:t>
            </a:r>
            <a:r>
              <a:rPr lang="zh-CN" altLang="zh-CN" sz="1800">
                <a:latin typeface="Times New Roman" panose="02020603050405020304" pitchFamily="18" charset="0"/>
                <a:cs typeface="Times New Roman" panose="02020603050405020304" pitchFamily="18" charset="0"/>
              </a:rPr>
              <a:t>机器视觉、机器听觉</a:t>
            </a:r>
            <a:r>
              <a:rPr lang="zh-CN" altLang="en-US" sz="1800">
                <a:latin typeface="Times New Roman" panose="02020603050405020304" pitchFamily="18" charset="0"/>
                <a:cs typeface="Times New Roman" panose="02020603050405020304" pitchFamily="18" charset="0"/>
              </a:rPr>
              <a:t>。</a:t>
            </a:r>
            <a:endParaRPr lang="en-US" altLang="zh-CN" sz="180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latin typeface="Times New Roman" panose="02020603050405020304" pitchFamily="18" charset="0"/>
                <a:cs typeface="Times New Roman" panose="02020603050405020304" pitchFamily="18" charset="0"/>
              </a:rPr>
              <a:t>3</a:t>
            </a:r>
            <a:r>
              <a:rPr lang="zh-CN" altLang="zh-CN" sz="1800">
                <a:latin typeface="Times New Roman" panose="02020603050405020304" pitchFamily="18" charset="0"/>
                <a:cs typeface="Times New Roman" panose="02020603050405020304" pitchFamily="18" charset="0"/>
              </a:rPr>
              <a:t>．机器思维</a:t>
            </a:r>
            <a:r>
              <a:rPr lang="en-US" altLang="zh-CN" sz="1800">
                <a:latin typeface="Times New Roman" panose="02020603050405020304" pitchFamily="18" charset="0"/>
                <a:cs typeface="Times New Roman" panose="02020603050405020304" pitchFamily="18" charset="0"/>
              </a:rPr>
              <a:t>    </a:t>
            </a:r>
            <a:r>
              <a:rPr lang="zh-CN" altLang="en-US" sz="1800">
                <a:latin typeface="Times New Roman" panose="02020603050405020304" pitchFamily="18" charset="0"/>
                <a:cs typeface="Times New Roman" panose="02020603050405020304" pitchFamily="18" charset="0"/>
              </a:rPr>
              <a:t>模拟人的思维活动</a:t>
            </a:r>
            <a:endParaRPr lang="en-US" altLang="zh-CN" sz="180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latin typeface="Times New Roman" panose="02020603050405020304" pitchFamily="18" charset="0"/>
                <a:cs typeface="Times New Roman" panose="02020603050405020304" pitchFamily="18" charset="0"/>
              </a:rPr>
              <a:t>                          </a:t>
            </a:r>
            <a:r>
              <a:rPr lang="zh-CN" altLang="en-US" sz="1800">
                <a:latin typeface="Times New Roman" panose="02020603050405020304" pitchFamily="18" charset="0"/>
                <a:cs typeface="Times New Roman" panose="02020603050405020304" pitchFamily="18" charset="0"/>
              </a:rPr>
              <a:t>机器智能也主要通过机器思维实现</a:t>
            </a:r>
            <a:endParaRPr lang="en-US" altLang="zh-CN" sz="180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latin typeface="Times New Roman" panose="02020603050405020304" pitchFamily="18" charset="0"/>
                <a:cs typeface="Times New Roman" panose="02020603050405020304" pitchFamily="18" charset="0"/>
              </a:rPr>
              <a:t>4</a:t>
            </a:r>
            <a:r>
              <a:rPr lang="zh-CN" altLang="zh-CN" sz="1800">
                <a:latin typeface="Times New Roman" panose="02020603050405020304" pitchFamily="18" charset="0"/>
                <a:cs typeface="Times New Roman" panose="02020603050405020304" pitchFamily="18" charset="0"/>
              </a:rPr>
              <a:t>．</a:t>
            </a:r>
            <a:r>
              <a:rPr lang="zh-CN" altLang="en-US" sz="1800">
                <a:latin typeface="Times New Roman" panose="02020603050405020304" pitchFamily="18" charset="0"/>
                <a:cs typeface="Times New Roman" panose="02020603050405020304" pitchFamily="18" charset="0"/>
              </a:rPr>
              <a:t>机器学习    模拟人的学习能力</a:t>
            </a:r>
            <a:endParaRPr lang="en-US" altLang="zh-CN" sz="180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800">
                <a:latin typeface="Times New Roman" panose="02020603050405020304" pitchFamily="18" charset="0"/>
                <a:cs typeface="Times New Roman" panose="02020603050405020304" pitchFamily="18" charset="0"/>
              </a:rPr>
              <a:t>                          深度学习是机器学习的一个重要分支</a:t>
            </a:r>
            <a:endParaRPr lang="en-US" altLang="zh-CN" sz="180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latin typeface="Times New Roman" panose="02020603050405020304" pitchFamily="18" charset="0"/>
                <a:cs typeface="Times New Roman" panose="02020603050405020304" pitchFamily="18" charset="0"/>
              </a:rPr>
              <a:t>5</a:t>
            </a:r>
            <a:r>
              <a:rPr lang="zh-CN" altLang="zh-CN" sz="1800">
                <a:latin typeface="Times New Roman" panose="02020603050405020304" pitchFamily="18" charset="0"/>
                <a:cs typeface="Times New Roman" panose="02020603050405020304" pitchFamily="18" charset="0"/>
              </a:rPr>
              <a:t>．</a:t>
            </a:r>
            <a:r>
              <a:rPr lang="zh-CN" altLang="en-US" sz="1800">
                <a:latin typeface="Times New Roman" panose="02020603050405020304" pitchFamily="18" charset="0"/>
                <a:cs typeface="Times New Roman" panose="02020603050405020304" pitchFamily="18" charset="0"/>
              </a:rPr>
              <a:t>机器行为</a:t>
            </a:r>
            <a:r>
              <a:rPr lang="en-US" altLang="zh-CN" sz="1800">
                <a:latin typeface="Times New Roman" panose="02020603050405020304" pitchFamily="18" charset="0"/>
                <a:cs typeface="Times New Roman" panose="02020603050405020304" pitchFamily="18" charset="0"/>
              </a:rPr>
              <a:t>    </a:t>
            </a:r>
            <a:r>
              <a:rPr lang="zh-CN" altLang="en-US" sz="1800">
                <a:latin typeface="Times New Roman" panose="02020603050405020304" pitchFamily="18" charset="0"/>
                <a:cs typeface="Times New Roman" panose="02020603050405020304" pitchFamily="18" charset="0"/>
              </a:rPr>
              <a:t>模拟人的行为</a:t>
            </a:r>
            <a:endParaRPr lang="en-US" altLang="zh-CN" sz="180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latin typeface="Times New Roman" panose="02020603050405020304" pitchFamily="18" charset="0"/>
                <a:cs typeface="Times New Roman" panose="02020603050405020304" pitchFamily="18" charset="0"/>
              </a:rPr>
              <a:t>                         </a:t>
            </a:r>
            <a:r>
              <a:rPr lang="zh-CN" altLang="en-US" sz="1800">
                <a:latin typeface="Times New Roman" panose="02020603050405020304" pitchFamily="18" charset="0"/>
                <a:cs typeface="Times New Roman" panose="02020603050405020304" pitchFamily="18" charset="0"/>
              </a:rPr>
              <a:t>“说”“写”等行为，智能机器人还应具有四肢行为：走路，取物等</a:t>
            </a:r>
            <a:endParaRPr lang="en-US" altLang="zh-CN" sz="1800">
              <a:latin typeface="Times New Roman" panose="02020603050405020304" pitchFamily="18" charset="0"/>
              <a:cs typeface="Times New Roman" panose="02020603050405020304" pitchFamily="18" charset="0"/>
            </a:endParaRPr>
          </a:p>
          <a:p>
            <a:pPr marL="0" indent="0">
              <a:lnSpc>
                <a:spcPct val="150000"/>
              </a:lnSpc>
              <a:spcBef>
                <a:spcPts val="0"/>
              </a:spcBef>
              <a:buNone/>
            </a:pPr>
            <a:endParaRPr lang="zh-CN" altLang="zh-CN" sz="1800">
              <a:latin typeface="Times New Roman" panose="02020603050405020304" pitchFamily="18" charset="0"/>
              <a:cs typeface="Times New Roman" panose="02020603050405020304" pitchFamily="18" charset="0"/>
            </a:endParaRPr>
          </a:p>
          <a:p>
            <a:pPr marL="0" indent="0">
              <a:lnSpc>
                <a:spcPct val="150000"/>
              </a:lnSpc>
              <a:spcBef>
                <a:spcPts val="0"/>
              </a:spcBef>
              <a:buNone/>
            </a:pPr>
            <a:endParaRPr lang="en-US" altLang="zh-CN" sz="1800"/>
          </a:p>
          <a:p>
            <a:pPr marL="0" indent="0">
              <a:lnSpc>
                <a:spcPct val="150000"/>
              </a:lnSpc>
              <a:spcBef>
                <a:spcPts val="0"/>
              </a:spcBef>
              <a:buNone/>
            </a:pPr>
            <a:endParaRPr lang="en-US" altLang="zh-CN" sz="1800"/>
          </a:p>
          <a:p>
            <a:pPr marL="0" indent="0">
              <a:lnSpc>
                <a:spcPct val="150000"/>
              </a:lnSpc>
              <a:spcBef>
                <a:spcPts val="0"/>
              </a:spcBef>
              <a:buNone/>
            </a:pPr>
            <a:endParaRPr lang="en-US" altLang="zh-CN" sz="180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endParaRPr lang="en-US" altLang="zh-CN" sz="180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endParaRPr lang="en-US" altLang="zh-CN" sz="180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endParaRPr lang="zh-CN" altLang="zh-CN" sz="1600" dirty="0"/>
          </a:p>
        </p:txBody>
      </p:sp>
    </p:spTree>
    <p:extLst>
      <p:ext uri="{BB962C8B-B14F-4D97-AF65-F5344CB8AC3E}">
        <p14:creationId xmlns:p14="http://schemas.microsoft.com/office/powerpoint/2010/main" val="4114323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二、人工智能研究内容</a:t>
            </a:r>
            <a:endParaRPr lang="zh-CN" altLang="en-US" sz="2400" dirty="0"/>
          </a:p>
        </p:txBody>
      </p:sp>
      <p:sp>
        <p:nvSpPr>
          <p:cNvPr id="3" name="内容占位符 2"/>
          <p:cNvSpPr>
            <a:spLocks noGrp="1"/>
          </p:cNvSpPr>
          <p:nvPr>
            <p:ph idx="1"/>
          </p:nvPr>
        </p:nvSpPr>
        <p:spPr>
          <a:xfrm>
            <a:off x="611559" y="986626"/>
            <a:ext cx="8424937" cy="3961388"/>
          </a:xfrm>
        </p:spPr>
        <p:txBody>
          <a:bodyPr>
            <a:noAutofit/>
          </a:bodyPr>
          <a:lstStyle/>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1</a:t>
            </a:r>
            <a:r>
              <a:rPr lang="zh-CN" altLang="zh-CN" sz="1800" dirty="0">
                <a:solidFill>
                  <a:srgbClr val="000066"/>
                </a:solidFill>
                <a:latin typeface="Times New Roman" panose="02020603050405020304" pitchFamily="18" charset="0"/>
                <a:cs typeface="Times New Roman" panose="02020603050405020304" pitchFamily="18" charset="0"/>
              </a:rPr>
              <a:t>．知识工程</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600" dirty="0">
                <a:latin typeface="Times New Roman" panose="02020603050405020304" pitchFamily="18" charset="0"/>
                <a:cs typeface="Times New Roman" panose="02020603050405020304" pitchFamily="18" charset="0"/>
              </a:rPr>
              <a:t>      ※ Knowledge Engineering</a:t>
            </a:r>
          </a:p>
          <a:p>
            <a:pPr marL="0" indent="0">
              <a:lnSpc>
                <a:spcPct val="150000"/>
              </a:lnSpc>
              <a:spcBef>
                <a:spcPts val="0"/>
              </a:spcBef>
              <a:buNone/>
            </a:pPr>
            <a:r>
              <a:rPr lang="en-US" altLang="zh-CN" sz="1600" dirty="0">
                <a:latin typeface="Times New Roman" panose="02020603050405020304" pitchFamily="18" charset="0"/>
                <a:cs typeface="Times New Roman" panose="02020603050405020304" pitchFamily="18" charset="0"/>
              </a:rPr>
              <a:t>      ※ </a:t>
            </a:r>
            <a:r>
              <a:rPr lang="zh-CN" altLang="zh-CN" sz="1600" dirty="0"/>
              <a:t>在计算机上建立专家系统的技术</a:t>
            </a:r>
            <a:endParaRPr lang="en-US" altLang="zh-CN" sz="1600"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600" dirty="0">
                <a:latin typeface="Times New Roman" panose="02020603050405020304" pitchFamily="18" charset="0"/>
                <a:cs typeface="Times New Roman" panose="02020603050405020304" pitchFamily="18" charset="0"/>
              </a:rPr>
              <a:t>      ※ Feigenbaum</a:t>
            </a:r>
            <a:r>
              <a:rPr lang="zh-CN" altLang="en-US" sz="1600" dirty="0">
                <a:latin typeface="Times New Roman" panose="02020603050405020304" pitchFamily="18" charset="0"/>
                <a:cs typeface="Times New Roman" panose="02020603050405020304" pitchFamily="18" charset="0"/>
              </a:rPr>
              <a:t>的</a:t>
            </a:r>
            <a:r>
              <a:rPr lang="zh-CN" altLang="zh-CN" sz="1600" dirty="0">
                <a:latin typeface="Times New Roman" panose="02020603050405020304" pitchFamily="18" charset="0"/>
                <a:cs typeface="Times New Roman" panose="02020603050405020304" pitchFamily="18" charset="0"/>
              </a:rPr>
              <a:t>定义：</a:t>
            </a:r>
            <a:endParaRPr lang="en-US" altLang="zh-CN" sz="1600"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将知识集成到计算机系统从而完成只有特定领域专家才能完成的复杂任务。</a:t>
            </a:r>
            <a:endParaRPr lang="en-US" altLang="zh-CN" sz="1600"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知识工程包括了知识表示、知识获取、知识推理、知识集成和知识存储等。</a:t>
            </a:r>
            <a:endParaRPr lang="en-US" altLang="zh-CN" sz="1600"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600" dirty="0">
                <a:latin typeface="Times New Roman" panose="02020603050405020304" pitchFamily="18" charset="0"/>
                <a:cs typeface="Times New Roman" panose="02020603050405020304" pitchFamily="18" charset="0"/>
              </a:rPr>
              <a:t>      </a:t>
            </a:r>
            <a:endParaRPr lang="zh-CN" altLang="zh-CN" sz="1600" dirty="0"/>
          </a:p>
        </p:txBody>
      </p:sp>
      <p:pic>
        <p:nvPicPr>
          <p:cNvPr id="5" name="图片 4">
            <a:extLst>
              <a:ext uri="{FF2B5EF4-FFF2-40B4-BE49-F238E27FC236}">
                <a16:creationId xmlns:a16="http://schemas.microsoft.com/office/drawing/2014/main" id="{B4039826-2A2A-4027-A766-0691478BFE0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18943" y="3360428"/>
            <a:ext cx="2889626" cy="1634779"/>
          </a:xfrm>
          <a:prstGeom prst="rect">
            <a:avLst/>
          </a:prstGeom>
        </p:spPr>
      </p:pic>
      <p:pic>
        <p:nvPicPr>
          <p:cNvPr id="1026" name="Picture 2" descr="http://mp.ofweek.com/Upload/News/Img/member32672/202005/wx_article_20200505161244_AfEsPt.jpg">
            <a:extLst>
              <a:ext uri="{FF2B5EF4-FFF2-40B4-BE49-F238E27FC236}">
                <a16:creationId xmlns:a16="http://schemas.microsoft.com/office/drawing/2014/main" id="{FC559F26-FB9D-423F-972B-F79A15A4919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63688" y="3287092"/>
            <a:ext cx="2181675" cy="1755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4742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二、人工智能研究内容</a:t>
            </a:r>
            <a:endParaRPr lang="zh-CN" altLang="en-US" sz="2400" dirty="0"/>
          </a:p>
        </p:txBody>
      </p:sp>
      <p:sp>
        <p:nvSpPr>
          <p:cNvPr id="3" name="内容占位符 2"/>
          <p:cNvSpPr>
            <a:spLocks noGrp="1"/>
          </p:cNvSpPr>
          <p:nvPr>
            <p:ph idx="1"/>
          </p:nvPr>
        </p:nvSpPr>
        <p:spPr>
          <a:xfrm>
            <a:off x="611559" y="986626"/>
            <a:ext cx="8424937" cy="3170248"/>
          </a:xfrm>
        </p:spPr>
        <p:txBody>
          <a:bodyPr>
            <a:noAutofit/>
          </a:bodyPr>
          <a:lstStyle/>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2</a:t>
            </a:r>
            <a:r>
              <a:rPr lang="zh-CN"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机器感知</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600" dirty="0">
                <a:latin typeface="Times New Roman" panose="02020603050405020304" pitchFamily="18" charset="0"/>
                <a:cs typeface="Times New Roman" panose="02020603050405020304" pitchFamily="18" charset="0"/>
              </a:rPr>
              <a:t>      ※ Machine Cognition</a:t>
            </a:r>
          </a:p>
          <a:p>
            <a:pPr marL="0" indent="0">
              <a:lnSpc>
                <a:spcPct val="150000"/>
              </a:lnSpc>
              <a:spcBef>
                <a:spcPts val="0"/>
              </a:spcBef>
              <a:buNone/>
            </a:pPr>
            <a:r>
              <a:rPr lang="en-US" altLang="zh-CN" sz="1600" dirty="0">
                <a:latin typeface="Times New Roman" panose="02020603050405020304" pitchFamily="18" charset="0"/>
                <a:cs typeface="Times New Roman" panose="02020603050405020304" pitchFamily="18" charset="0"/>
              </a:rPr>
              <a:t>      ※ </a:t>
            </a:r>
            <a:r>
              <a:rPr lang="zh-CN" altLang="zh-CN" sz="1600" dirty="0"/>
              <a:t>使机器具有类似</a:t>
            </a:r>
            <a:r>
              <a:rPr lang="zh-CN" altLang="en-US" sz="1600" dirty="0"/>
              <a:t>于</a:t>
            </a:r>
            <a:r>
              <a:rPr lang="zh-CN" altLang="zh-CN" sz="1600" dirty="0"/>
              <a:t>人的感知能力，其中以机器视觉、机器听觉为主</a:t>
            </a:r>
            <a:r>
              <a:rPr lang="zh-CN" altLang="en-US" sz="1600" dirty="0"/>
              <a:t>。</a:t>
            </a:r>
            <a:endParaRPr lang="en-US" altLang="zh-CN" sz="1600" dirty="0"/>
          </a:p>
          <a:p>
            <a:pPr marL="0" indent="0">
              <a:lnSpc>
                <a:spcPct val="150000"/>
              </a:lnSpc>
              <a:spcBef>
                <a:spcPts val="0"/>
              </a:spcBef>
              <a:buNone/>
            </a:pPr>
            <a:r>
              <a:rPr lang="en-US" altLang="zh-CN" sz="1600" dirty="0"/>
              <a:t>         </a:t>
            </a:r>
            <a:r>
              <a:rPr lang="zh-CN" altLang="en-US" sz="1600" dirty="0"/>
              <a:t>机器视觉：让机器识别并理解文字 、图像等</a:t>
            </a:r>
            <a:endParaRPr lang="en-US" altLang="zh-CN" sz="1600" dirty="0"/>
          </a:p>
          <a:p>
            <a:pPr marL="0" indent="0">
              <a:lnSpc>
                <a:spcPct val="150000"/>
              </a:lnSpc>
              <a:spcBef>
                <a:spcPts val="0"/>
              </a:spcBef>
              <a:buNone/>
            </a:pPr>
            <a:r>
              <a:rPr lang="en-US" altLang="zh-CN" sz="1600" dirty="0"/>
              <a:t>         </a:t>
            </a:r>
            <a:r>
              <a:rPr lang="zh-CN" altLang="en-US" sz="1600" dirty="0"/>
              <a:t>机器听觉：识别并理解语言、声音等</a:t>
            </a:r>
            <a:endParaRPr lang="en-US" altLang="zh-CN" sz="1600" dirty="0"/>
          </a:p>
          <a:p>
            <a:pPr marL="0" indent="0">
              <a:lnSpc>
                <a:spcPct val="150000"/>
              </a:lnSpc>
              <a:spcBef>
                <a:spcPts val="0"/>
              </a:spcBef>
              <a:buNone/>
            </a:pPr>
            <a:r>
              <a:rPr lang="en-US" altLang="zh-CN" sz="1600" dirty="0">
                <a:latin typeface="Times New Roman" panose="02020603050405020304" pitchFamily="18" charset="0"/>
                <a:cs typeface="Times New Roman" panose="02020603050405020304" pitchFamily="18" charset="0"/>
              </a:rPr>
              <a:t>      ※ </a:t>
            </a:r>
            <a:r>
              <a:rPr lang="zh-CN" altLang="en-US" sz="1600" dirty="0">
                <a:latin typeface="Times New Roman" panose="02020603050405020304" pitchFamily="18" charset="0"/>
                <a:cs typeface="Times New Roman" panose="02020603050405020304" pitchFamily="18" charset="0"/>
              </a:rPr>
              <a:t>人的智能离不开感知</a:t>
            </a:r>
            <a:endParaRPr lang="en-US" altLang="zh-CN" sz="1600"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机器感知是机器获取外部信息的基本途径，是机器智能化不可缺少的组成部分。</a:t>
            </a:r>
            <a:endParaRPr lang="en-US" altLang="zh-CN" sz="1600" dirty="0">
              <a:latin typeface="Times New Roman" panose="02020603050405020304" pitchFamily="18" charset="0"/>
              <a:cs typeface="Times New Roman" panose="02020603050405020304" pitchFamily="18" charset="0"/>
            </a:endParaRPr>
          </a:p>
          <a:p>
            <a:pPr marL="0" indent="0">
              <a:lnSpc>
                <a:spcPct val="150000"/>
              </a:lnSpc>
              <a:spcBef>
                <a:spcPts val="0"/>
              </a:spcBef>
              <a:buNone/>
            </a:pPr>
            <a:endParaRPr lang="zh-CN" altLang="zh-CN" sz="1600" dirty="0"/>
          </a:p>
        </p:txBody>
      </p:sp>
      <p:pic>
        <p:nvPicPr>
          <p:cNvPr id="6" name="图片 5">
            <a:extLst>
              <a:ext uri="{FF2B5EF4-FFF2-40B4-BE49-F238E27FC236}">
                <a16:creationId xmlns:a16="http://schemas.microsoft.com/office/drawing/2014/main" id="{80C94C17-1D6A-467C-8280-6B294C38373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89432" y="3631948"/>
            <a:ext cx="2565135" cy="1476896"/>
          </a:xfrm>
          <a:prstGeom prst="rect">
            <a:avLst/>
          </a:prstGeom>
        </p:spPr>
      </p:pic>
    </p:spTree>
    <p:extLst>
      <p:ext uri="{BB962C8B-B14F-4D97-AF65-F5344CB8AC3E}">
        <p14:creationId xmlns:p14="http://schemas.microsoft.com/office/powerpoint/2010/main" val="2614050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二、人工智能研究内容</a:t>
            </a:r>
            <a:endParaRPr lang="zh-CN" altLang="en-US" sz="2400" dirty="0"/>
          </a:p>
        </p:txBody>
      </p:sp>
      <p:sp>
        <p:nvSpPr>
          <p:cNvPr id="3" name="内容占位符 2"/>
          <p:cNvSpPr>
            <a:spLocks noGrp="1"/>
          </p:cNvSpPr>
          <p:nvPr>
            <p:ph idx="1"/>
          </p:nvPr>
        </p:nvSpPr>
        <p:spPr>
          <a:xfrm>
            <a:off x="611559" y="986626"/>
            <a:ext cx="8424937" cy="3961388"/>
          </a:xfrm>
        </p:spPr>
        <p:txBody>
          <a:bodyPr>
            <a:noAutofit/>
          </a:bodyPr>
          <a:lstStyle/>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3</a:t>
            </a:r>
            <a:r>
              <a:rPr lang="zh-CN" altLang="zh-CN" sz="1800" dirty="0">
                <a:solidFill>
                  <a:srgbClr val="000066"/>
                </a:solidFill>
                <a:latin typeface="Times New Roman" panose="02020603050405020304" pitchFamily="18" charset="0"/>
                <a:cs typeface="Times New Roman" panose="02020603050405020304" pitchFamily="18" charset="0"/>
              </a:rPr>
              <a:t>．机器思维</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600" dirty="0">
                <a:latin typeface="Times New Roman" panose="02020603050405020304" pitchFamily="18" charset="0"/>
                <a:cs typeface="Times New Roman" panose="02020603050405020304" pitchFamily="18" charset="0"/>
              </a:rPr>
              <a:t>      ※ Machine Thinking</a:t>
            </a:r>
          </a:p>
          <a:p>
            <a:pPr marL="0" indent="0">
              <a:lnSpc>
                <a:spcPct val="150000"/>
              </a:lnSpc>
              <a:spcBef>
                <a:spcPts val="0"/>
              </a:spcBef>
              <a:buNone/>
            </a:pPr>
            <a:r>
              <a:rPr lang="en-US" altLang="zh-CN" sz="1600" dirty="0">
                <a:latin typeface="Times New Roman" panose="02020603050405020304" pitchFamily="18" charset="0"/>
                <a:cs typeface="Times New Roman" panose="02020603050405020304" pitchFamily="18" charset="0"/>
              </a:rPr>
              <a:t>      ※ </a:t>
            </a:r>
            <a:r>
              <a:rPr lang="zh-CN" altLang="en-US" sz="1600" dirty="0">
                <a:latin typeface="Times New Roman" panose="02020603050405020304" pitchFamily="18" charset="0"/>
                <a:cs typeface="Times New Roman" panose="02020603050405020304" pitchFamily="18" charset="0"/>
              </a:rPr>
              <a:t>人的智能来自大脑的思维活动，机器智能也主要通过机器思维实现</a:t>
            </a:r>
            <a:endParaRPr lang="en-US" altLang="zh-CN" sz="1600"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机器思维是指对通过</a:t>
            </a:r>
            <a:r>
              <a:rPr lang="zh-CN" altLang="zh-CN" sz="1600" dirty="0">
                <a:latin typeface="Times New Roman" panose="02020603050405020304" pitchFamily="18" charset="0"/>
                <a:cs typeface="Times New Roman" panose="02020603050405020304" pitchFamily="18" charset="0"/>
              </a:rPr>
              <a:t>感知得来的外部信息</a:t>
            </a:r>
            <a:r>
              <a:rPr lang="zh-CN" altLang="en-US" sz="1600" dirty="0">
                <a:latin typeface="Times New Roman" panose="02020603050405020304" pitchFamily="18" charset="0"/>
                <a:cs typeface="Times New Roman" panose="02020603050405020304" pitchFamily="18" charset="0"/>
              </a:rPr>
              <a:t>及机器内部的各种工作信息进行有目的的处理</a:t>
            </a:r>
            <a:endParaRPr lang="zh-CN" altLang="zh-CN" sz="1600" dirty="0">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FF71D58A-C5C8-4BF8-99F1-B44A9A51952B}"/>
              </a:ext>
            </a:extLst>
          </p:cNvPr>
          <p:cNvPicPr>
            <a:picLocks noChangeAspect="1"/>
          </p:cNvPicPr>
          <p:nvPr/>
        </p:nvPicPr>
        <p:blipFill>
          <a:blip r:embed="rId3"/>
          <a:stretch>
            <a:fillRect/>
          </a:stretch>
        </p:blipFill>
        <p:spPr>
          <a:xfrm>
            <a:off x="1547664" y="2754839"/>
            <a:ext cx="2304256" cy="2388661"/>
          </a:xfrm>
          <a:prstGeom prst="rect">
            <a:avLst/>
          </a:prstGeom>
        </p:spPr>
      </p:pic>
      <p:pic>
        <p:nvPicPr>
          <p:cNvPr id="6" name="图片 5">
            <a:extLst>
              <a:ext uri="{FF2B5EF4-FFF2-40B4-BE49-F238E27FC236}">
                <a16:creationId xmlns:a16="http://schemas.microsoft.com/office/drawing/2014/main" id="{48C732B7-23CA-490F-89E0-846F461B91D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27984" y="2787774"/>
            <a:ext cx="3017962" cy="2263471"/>
          </a:xfrm>
          <a:prstGeom prst="rect">
            <a:avLst/>
          </a:prstGeom>
        </p:spPr>
      </p:pic>
    </p:spTree>
    <p:extLst>
      <p:ext uri="{BB962C8B-B14F-4D97-AF65-F5344CB8AC3E}">
        <p14:creationId xmlns:p14="http://schemas.microsoft.com/office/powerpoint/2010/main" val="2467839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二、人工智能研究内容</a:t>
            </a:r>
            <a:endParaRPr lang="zh-CN" altLang="en-US" sz="2400" dirty="0"/>
          </a:p>
        </p:txBody>
      </p:sp>
      <p:sp>
        <p:nvSpPr>
          <p:cNvPr id="3" name="内容占位符 2"/>
          <p:cNvSpPr>
            <a:spLocks noGrp="1"/>
          </p:cNvSpPr>
          <p:nvPr>
            <p:ph idx="1"/>
          </p:nvPr>
        </p:nvSpPr>
        <p:spPr>
          <a:xfrm>
            <a:off x="611559" y="986626"/>
            <a:ext cx="8424937" cy="3961388"/>
          </a:xfrm>
        </p:spPr>
        <p:txBody>
          <a:bodyPr>
            <a:noAutofit/>
          </a:bodyPr>
          <a:lstStyle/>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4</a:t>
            </a:r>
            <a:r>
              <a:rPr lang="zh-CN"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机器学习</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600" dirty="0">
                <a:latin typeface="Times New Roman" panose="02020603050405020304" pitchFamily="18" charset="0"/>
                <a:cs typeface="Times New Roman" panose="02020603050405020304" pitchFamily="18" charset="0"/>
              </a:rPr>
              <a:t>       ※ Machine Learning</a:t>
            </a:r>
          </a:p>
          <a:p>
            <a:pPr marL="0" indent="0">
              <a:lnSpc>
                <a:spcPct val="150000"/>
              </a:lnSpc>
              <a:spcBef>
                <a:spcPts val="0"/>
              </a:spcBef>
              <a:buNone/>
            </a:pPr>
            <a:r>
              <a:rPr lang="en-US" altLang="zh-CN" sz="1600" dirty="0">
                <a:latin typeface="Times New Roman" panose="02020603050405020304" pitchFamily="18" charset="0"/>
                <a:cs typeface="Times New Roman" panose="02020603050405020304" pitchFamily="18" charset="0"/>
              </a:rPr>
              <a:t>       ※ </a:t>
            </a:r>
            <a:r>
              <a:rPr lang="zh-CN" altLang="en-US" sz="1600" dirty="0">
                <a:latin typeface="Times New Roman" panose="02020603050405020304" pitchFamily="18" charset="0"/>
                <a:cs typeface="Times New Roman" panose="02020603050405020304" pitchFamily="18" charset="0"/>
              </a:rPr>
              <a:t>知识是智能的基础。要使计算机具有真正的智能，就必须使它有知识。</a:t>
            </a:r>
            <a:endParaRPr lang="en-US" altLang="zh-CN" sz="1600"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为了使计算机有知识，必须使它像人类那样，具有获得新知识、学习新技巧并在实践中</a:t>
            </a:r>
            <a:endParaRPr lang="en-US" altLang="zh-CN" sz="1600"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600" dirty="0">
                <a:latin typeface="Times New Roman" panose="02020603050405020304" pitchFamily="18" charset="0"/>
                <a:cs typeface="Times New Roman" panose="02020603050405020304" pitchFamily="18" charset="0"/>
              </a:rPr>
              <a:t>            不断完善、改进的能力，实现自我完善。</a:t>
            </a:r>
            <a:endParaRPr lang="en-US" altLang="zh-CN" sz="1600"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600" dirty="0">
                <a:latin typeface="Times New Roman" panose="02020603050405020304" pitchFamily="18" charset="0"/>
                <a:cs typeface="Times New Roman" panose="02020603050405020304" pitchFamily="18" charset="0"/>
              </a:rPr>
              <a:t>       ※ </a:t>
            </a:r>
            <a:r>
              <a:rPr lang="zh-CN" altLang="en-US" sz="1600" dirty="0">
                <a:latin typeface="Times New Roman" panose="02020603050405020304" pitchFamily="18" charset="0"/>
                <a:cs typeface="Times New Roman" panose="02020603050405020304" pitchFamily="18" charset="0"/>
              </a:rPr>
              <a:t>深度学习是机器学习的一个重要分支</a:t>
            </a:r>
            <a:endParaRPr lang="en-US" altLang="zh-CN" sz="1600"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600" dirty="0">
                <a:latin typeface="Times New Roman" panose="02020603050405020304" pitchFamily="18" charset="0"/>
                <a:cs typeface="Times New Roman" panose="02020603050405020304" pitchFamily="18" charset="0"/>
              </a:rPr>
              <a:t>       </a:t>
            </a:r>
            <a:endParaRPr lang="zh-CN" altLang="zh-CN" sz="1600" dirty="0">
              <a:latin typeface="Times New Roman" panose="02020603050405020304" pitchFamily="18" charset="0"/>
              <a:cs typeface="Times New Roman" panose="02020603050405020304" pitchFamily="18" charset="0"/>
            </a:endParaRPr>
          </a:p>
        </p:txBody>
      </p:sp>
      <p:pic>
        <p:nvPicPr>
          <p:cNvPr id="6" name="图片 5">
            <a:extLst>
              <a:ext uri="{FF2B5EF4-FFF2-40B4-BE49-F238E27FC236}">
                <a16:creationId xmlns:a16="http://schemas.microsoft.com/office/drawing/2014/main" id="{02E0A1D3-1174-4242-A4D0-3E150F8AC88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24027" y="2643758"/>
            <a:ext cx="3502374" cy="2376264"/>
          </a:xfrm>
          <a:prstGeom prst="rect">
            <a:avLst/>
          </a:prstGeom>
        </p:spPr>
      </p:pic>
    </p:spTree>
    <p:extLst>
      <p:ext uri="{BB962C8B-B14F-4D97-AF65-F5344CB8AC3E}">
        <p14:creationId xmlns:p14="http://schemas.microsoft.com/office/powerpoint/2010/main" val="4020183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二、人工智能研究内容</a:t>
            </a:r>
            <a:endParaRPr lang="zh-CN" altLang="en-US" sz="2400" dirty="0"/>
          </a:p>
        </p:txBody>
      </p:sp>
      <p:sp>
        <p:nvSpPr>
          <p:cNvPr id="3" name="内容占位符 2"/>
          <p:cNvSpPr>
            <a:spLocks noGrp="1"/>
          </p:cNvSpPr>
          <p:nvPr>
            <p:ph idx="1"/>
          </p:nvPr>
        </p:nvSpPr>
        <p:spPr>
          <a:xfrm>
            <a:off x="611559" y="986626"/>
            <a:ext cx="8064897" cy="1441108"/>
          </a:xfrm>
        </p:spPr>
        <p:txBody>
          <a:bodyPr>
            <a:noAutofit/>
          </a:bodyPr>
          <a:lstStyle/>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5</a:t>
            </a:r>
            <a:r>
              <a:rPr lang="zh-CN"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机器行为</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600" dirty="0">
                <a:latin typeface="Times New Roman" panose="02020603050405020304" pitchFamily="18" charset="0"/>
                <a:cs typeface="Times New Roman" panose="02020603050405020304" pitchFamily="18" charset="0"/>
              </a:rPr>
              <a:t>       ※ Machine Behavior</a:t>
            </a:r>
          </a:p>
          <a:p>
            <a:pPr marL="0" indent="0">
              <a:lnSpc>
                <a:spcPct val="150000"/>
              </a:lnSpc>
              <a:spcBef>
                <a:spcPts val="0"/>
              </a:spcBef>
              <a:buNone/>
            </a:pPr>
            <a:r>
              <a:rPr lang="en-US" altLang="zh-CN" sz="1600" dirty="0">
                <a:latin typeface="Times New Roman" panose="02020603050405020304" pitchFamily="18" charset="0"/>
                <a:cs typeface="Times New Roman" panose="02020603050405020304" pitchFamily="18" charset="0"/>
              </a:rPr>
              <a:t>       ※ </a:t>
            </a:r>
            <a:r>
              <a:rPr lang="zh-CN" altLang="en-US" sz="1600" dirty="0">
                <a:latin typeface="Times New Roman" panose="02020603050405020304" pitchFamily="18" charset="0"/>
                <a:cs typeface="Times New Roman" panose="02020603050405020304" pitchFamily="18" charset="0"/>
              </a:rPr>
              <a:t>与人的行为能力对应，机器行为主要是指计算机的表达能力，如“说”“写”等</a:t>
            </a:r>
            <a:endParaRPr lang="en-US" altLang="zh-CN" sz="1600"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智能机器人还应具有人的四肢功能，如走路，取物等</a:t>
            </a:r>
            <a:endParaRPr lang="zh-CN" altLang="zh-CN" sz="1600" dirty="0"/>
          </a:p>
        </p:txBody>
      </p:sp>
      <p:pic>
        <p:nvPicPr>
          <p:cNvPr id="6" name="图片 5">
            <a:extLst>
              <a:ext uri="{FF2B5EF4-FFF2-40B4-BE49-F238E27FC236}">
                <a16:creationId xmlns:a16="http://schemas.microsoft.com/office/drawing/2014/main" id="{CD492D83-DB3C-4093-86B0-3CC17937D1D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91680" y="2544508"/>
            <a:ext cx="2403506" cy="2403506"/>
          </a:xfrm>
          <a:prstGeom prst="rect">
            <a:avLst/>
          </a:prstGeom>
        </p:spPr>
      </p:pic>
      <p:pic>
        <p:nvPicPr>
          <p:cNvPr id="8" name="图片 7">
            <a:extLst>
              <a:ext uri="{FF2B5EF4-FFF2-40B4-BE49-F238E27FC236}">
                <a16:creationId xmlns:a16="http://schemas.microsoft.com/office/drawing/2014/main" id="{7003F812-7E7F-47EC-9054-2FDCBACC37E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72000" y="2544508"/>
            <a:ext cx="3523053" cy="2403506"/>
          </a:xfrm>
          <a:prstGeom prst="rect">
            <a:avLst/>
          </a:prstGeom>
        </p:spPr>
      </p:pic>
    </p:spTree>
    <p:extLst>
      <p:ext uri="{BB962C8B-B14F-4D97-AF65-F5344CB8AC3E}">
        <p14:creationId xmlns:p14="http://schemas.microsoft.com/office/powerpoint/2010/main" val="4230276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59" y="986626"/>
            <a:ext cx="8424937" cy="4156874"/>
          </a:xfrm>
        </p:spPr>
        <p:txBody>
          <a:bodyPr>
            <a:noAutofit/>
          </a:bodyPr>
          <a:lstStyle/>
          <a:p>
            <a:pPr marL="0" indent="0">
              <a:lnSpc>
                <a:spcPct val="135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1</a:t>
            </a:r>
            <a:r>
              <a:rPr lang="zh-CN" altLang="zh-CN" sz="1800">
                <a:solidFill>
                  <a:srgbClr val="000066"/>
                </a:solidFill>
                <a:latin typeface="Times New Roman" panose="02020603050405020304" pitchFamily="18" charset="0"/>
                <a:cs typeface="Times New Roman" panose="02020603050405020304" pitchFamily="18" charset="0"/>
              </a:rPr>
              <a:t>．</a:t>
            </a:r>
            <a:r>
              <a:rPr lang="zh-CN" altLang="en-US" sz="1800">
                <a:solidFill>
                  <a:srgbClr val="000066"/>
                </a:solidFill>
                <a:latin typeface="Times New Roman" panose="02020603050405020304" pitchFamily="18" charset="0"/>
                <a:cs typeface="Times New Roman" panose="02020603050405020304" pitchFamily="18" charset="0"/>
              </a:rPr>
              <a:t>模式识别           识别车牌，识别花、猫等</a:t>
            </a:r>
            <a:endParaRPr lang="en-US" altLang="zh-CN" sz="1800">
              <a:solidFill>
                <a:srgbClr val="000066"/>
              </a:solidFill>
              <a:latin typeface="Times New Roman" panose="02020603050405020304" pitchFamily="18" charset="0"/>
              <a:cs typeface="Times New Roman" panose="02020603050405020304" pitchFamily="18" charset="0"/>
            </a:endParaRPr>
          </a:p>
          <a:p>
            <a:pPr marL="0" indent="0">
              <a:lnSpc>
                <a:spcPct val="135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2</a:t>
            </a:r>
            <a:r>
              <a:rPr lang="zh-CN" altLang="zh-CN" sz="1800">
                <a:solidFill>
                  <a:srgbClr val="000066"/>
                </a:solidFill>
                <a:latin typeface="Times New Roman" panose="02020603050405020304" pitchFamily="18" charset="0"/>
                <a:cs typeface="Times New Roman" panose="02020603050405020304" pitchFamily="18" charset="0"/>
              </a:rPr>
              <a:t>．计算机视觉</a:t>
            </a:r>
            <a:r>
              <a:rPr lang="en-US" altLang="zh-CN" sz="1800">
                <a:solidFill>
                  <a:srgbClr val="000066"/>
                </a:solidFill>
                <a:latin typeface="Times New Roman" panose="02020603050405020304" pitchFamily="18" charset="0"/>
                <a:cs typeface="Times New Roman" panose="02020603050405020304" pitchFamily="18" charset="0"/>
              </a:rPr>
              <a:t>       </a:t>
            </a:r>
            <a:r>
              <a:rPr lang="zh-CN" altLang="en-US" sz="1800">
                <a:solidFill>
                  <a:srgbClr val="000066"/>
                </a:solidFill>
                <a:latin typeface="Times New Roman" panose="02020603050405020304" pitchFamily="18" charset="0"/>
                <a:cs typeface="Times New Roman" panose="02020603050405020304" pitchFamily="18" charset="0"/>
              </a:rPr>
              <a:t>让</a:t>
            </a:r>
            <a:r>
              <a:rPr lang="zh-CN" altLang="zh-CN" sz="1800"/>
              <a:t>机器</a:t>
            </a:r>
            <a:r>
              <a:rPr lang="zh-CN" altLang="en-US" sz="1800"/>
              <a:t>具有“看”的能力，例如自动驾驶中</a:t>
            </a:r>
            <a:endParaRPr lang="en-US" altLang="zh-CN" sz="1800">
              <a:solidFill>
                <a:srgbClr val="000066"/>
              </a:solidFill>
              <a:latin typeface="Times New Roman" panose="02020603050405020304" pitchFamily="18" charset="0"/>
              <a:cs typeface="Times New Roman" panose="02020603050405020304" pitchFamily="18" charset="0"/>
            </a:endParaRPr>
          </a:p>
          <a:p>
            <a:pPr marL="0" indent="0">
              <a:lnSpc>
                <a:spcPct val="135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3</a:t>
            </a:r>
            <a:r>
              <a:rPr lang="zh-CN" altLang="zh-CN" sz="1800">
                <a:solidFill>
                  <a:srgbClr val="000066"/>
                </a:solidFill>
                <a:latin typeface="Times New Roman" panose="02020603050405020304" pitchFamily="18" charset="0"/>
                <a:cs typeface="Times New Roman" panose="02020603050405020304" pitchFamily="18" charset="0"/>
              </a:rPr>
              <a:t>．自然语言处理</a:t>
            </a:r>
            <a:r>
              <a:rPr lang="en-US" altLang="zh-CN" sz="1800">
                <a:solidFill>
                  <a:srgbClr val="000066"/>
                </a:solidFill>
                <a:latin typeface="Times New Roman" panose="02020603050405020304" pitchFamily="18" charset="0"/>
                <a:cs typeface="Times New Roman" panose="02020603050405020304" pitchFamily="18" charset="0"/>
              </a:rPr>
              <a:t>   </a:t>
            </a:r>
            <a:r>
              <a:rPr lang="zh-CN" altLang="zh-CN" sz="1800"/>
              <a:t>让</a:t>
            </a:r>
            <a:r>
              <a:rPr lang="zh-CN" altLang="en-US" sz="1800"/>
              <a:t>机器</a:t>
            </a:r>
            <a:r>
              <a:rPr lang="zh-CN" altLang="zh-CN" sz="1800"/>
              <a:t>能“听懂”和“看懂”人类</a:t>
            </a:r>
            <a:r>
              <a:rPr lang="zh-CN" altLang="en-US" sz="1800"/>
              <a:t>的自然</a:t>
            </a:r>
            <a:r>
              <a:rPr lang="zh-CN" altLang="zh-CN" sz="1800"/>
              <a:t>语言（如汉语、英语等</a:t>
            </a:r>
            <a:r>
              <a:rPr lang="zh-CN" altLang="en-US" sz="1800"/>
              <a:t>）</a:t>
            </a:r>
            <a:endParaRPr lang="en-US" altLang="zh-CN" sz="1800">
              <a:solidFill>
                <a:srgbClr val="000066"/>
              </a:solidFill>
              <a:latin typeface="Times New Roman" panose="02020603050405020304" pitchFamily="18" charset="0"/>
              <a:cs typeface="Times New Roman" panose="02020603050405020304" pitchFamily="18" charset="0"/>
            </a:endParaRPr>
          </a:p>
          <a:p>
            <a:pPr marL="0" indent="0">
              <a:lnSpc>
                <a:spcPct val="135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4</a:t>
            </a:r>
            <a:r>
              <a:rPr lang="zh-CN" altLang="zh-CN" sz="1800">
                <a:solidFill>
                  <a:srgbClr val="000066"/>
                </a:solidFill>
                <a:latin typeface="Times New Roman" panose="02020603050405020304" pitchFamily="18" charset="0"/>
                <a:cs typeface="Times New Roman" panose="02020603050405020304" pitchFamily="18" charset="0"/>
              </a:rPr>
              <a:t>．搜索技术</a:t>
            </a:r>
            <a:r>
              <a:rPr lang="en-US" altLang="zh-CN" sz="1800"/>
              <a:t>         </a:t>
            </a:r>
            <a:r>
              <a:rPr lang="zh-CN" altLang="en-US" sz="1800"/>
              <a:t>通过搜索解决问题，</a:t>
            </a:r>
            <a:r>
              <a:rPr lang="en-US" altLang="zh-CN" sz="1800">
                <a:latin typeface="Times New Roman" panose="02020603050405020304" pitchFamily="18" charset="0"/>
                <a:cs typeface="Times New Roman" panose="02020603050405020304" pitchFamily="18" charset="0"/>
              </a:rPr>
              <a:t>AlphaGo</a:t>
            </a:r>
            <a:r>
              <a:rPr lang="zh-CN" altLang="en-US" sz="1800">
                <a:latin typeface="Times New Roman" panose="02020603050405020304" pitchFamily="18" charset="0"/>
                <a:cs typeface="Times New Roman" panose="02020603050405020304" pitchFamily="18" charset="0"/>
              </a:rPr>
              <a:t>用</a:t>
            </a:r>
            <a:r>
              <a:rPr lang="zh-CN" altLang="en-US" sz="1800"/>
              <a:t>到搜索技术</a:t>
            </a:r>
            <a:endParaRPr lang="en-US" altLang="zh-CN" sz="1800">
              <a:solidFill>
                <a:srgbClr val="000066"/>
              </a:solidFill>
              <a:latin typeface="Times New Roman" panose="02020603050405020304" pitchFamily="18" charset="0"/>
              <a:cs typeface="Times New Roman" panose="02020603050405020304" pitchFamily="18" charset="0"/>
            </a:endParaRPr>
          </a:p>
          <a:p>
            <a:pPr marL="0" indent="0">
              <a:lnSpc>
                <a:spcPct val="135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5</a:t>
            </a:r>
            <a:r>
              <a:rPr lang="zh-CN" altLang="zh-CN" sz="1800">
                <a:solidFill>
                  <a:srgbClr val="000066"/>
                </a:solidFill>
                <a:latin typeface="Times New Roman" panose="02020603050405020304" pitchFamily="18" charset="0"/>
                <a:cs typeface="Times New Roman" panose="02020603050405020304" pitchFamily="18" charset="0"/>
              </a:rPr>
              <a:t>．</a:t>
            </a:r>
            <a:r>
              <a:rPr lang="zh-CN" altLang="en-US" sz="1800">
                <a:solidFill>
                  <a:srgbClr val="000066"/>
                </a:solidFill>
                <a:latin typeface="Times New Roman" panose="02020603050405020304" pitchFamily="18" charset="0"/>
                <a:cs typeface="Times New Roman" panose="02020603050405020304" pitchFamily="18" charset="0"/>
              </a:rPr>
              <a:t>专家系统           </a:t>
            </a:r>
            <a:r>
              <a:rPr lang="zh-CN" altLang="en-US" sz="1800"/>
              <a:t>具有专门知识和经验的计算机智能程序系统</a:t>
            </a:r>
            <a:endParaRPr lang="en-US" altLang="zh-CN" sz="1800">
              <a:solidFill>
                <a:srgbClr val="000066"/>
              </a:solidFill>
              <a:latin typeface="Times New Roman" panose="02020603050405020304" pitchFamily="18" charset="0"/>
              <a:cs typeface="Times New Roman" panose="02020603050405020304" pitchFamily="18" charset="0"/>
            </a:endParaRPr>
          </a:p>
          <a:p>
            <a:pPr marL="0" indent="0">
              <a:lnSpc>
                <a:spcPct val="135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6</a:t>
            </a:r>
            <a:r>
              <a:rPr lang="zh-CN" altLang="zh-CN" sz="1800">
                <a:solidFill>
                  <a:srgbClr val="000066"/>
                </a:solidFill>
                <a:latin typeface="Times New Roman" panose="02020603050405020304" pitchFamily="18" charset="0"/>
                <a:cs typeface="Times New Roman" panose="02020603050405020304" pitchFamily="18" charset="0"/>
              </a:rPr>
              <a:t>．人工神经网络</a:t>
            </a:r>
            <a:r>
              <a:rPr lang="en-US" altLang="zh-CN" sz="1800">
                <a:solidFill>
                  <a:srgbClr val="000066"/>
                </a:solidFill>
                <a:latin typeface="Times New Roman" panose="02020603050405020304" pitchFamily="18" charset="0"/>
                <a:cs typeface="Times New Roman" panose="02020603050405020304" pitchFamily="18" charset="0"/>
              </a:rPr>
              <a:t>   </a:t>
            </a:r>
            <a:r>
              <a:rPr lang="zh-CN" altLang="en-US" sz="1800"/>
              <a:t>模仿人脑神经网络的计算系统</a:t>
            </a:r>
            <a:endParaRPr lang="en-US" altLang="zh-CN" sz="1800">
              <a:solidFill>
                <a:srgbClr val="000066"/>
              </a:solidFill>
              <a:latin typeface="Times New Roman" panose="02020603050405020304" pitchFamily="18" charset="0"/>
              <a:cs typeface="Times New Roman" panose="02020603050405020304" pitchFamily="18" charset="0"/>
            </a:endParaRPr>
          </a:p>
          <a:p>
            <a:pPr marL="0" indent="0">
              <a:lnSpc>
                <a:spcPct val="135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7</a:t>
            </a:r>
            <a:r>
              <a:rPr lang="zh-CN" altLang="zh-CN" sz="1800">
                <a:solidFill>
                  <a:srgbClr val="000066"/>
                </a:solidFill>
                <a:latin typeface="Times New Roman" panose="02020603050405020304" pitchFamily="18" charset="0"/>
                <a:cs typeface="Times New Roman" panose="02020603050405020304" pitchFamily="18" charset="0"/>
              </a:rPr>
              <a:t>．</a:t>
            </a:r>
            <a:r>
              <a:rPr lang="zh-CN" altLang="en-US" sz="1800">
                <a:solidFill>
                  <a:srgbClr val="000066"/>
                </a:solidFill>
                <a:latin typeface="Times New Roman" panose="02020603050405020304" pitchFamily="18" charset="0"/>
                <a:cs typeface="Times New Roman" panose="02020603050405020304" pitchFamily="18" charset="0"/>
              </a:rPr>
              <a:t>数据挖掘           </a:t>
            </a:r>
            <a:r>
              <a:rPr lang="zh-CN" altLang="en-US" sz="1800">
                <a:latin typeface="Times New Roman" panose="02020603050405020304" pitchFamily="18" charset="0"/>
                <a:cs typeface="Times New Roman" panose="02020603050405020304" pitchFamily="18" charset="0"/>
              </a:rPr>
              <a:t>从大量的数据中通过算法搜索隐藏于其中信息的过程</a:t>
            </a:r>
            <a:endParaRPr lang="en-US" altLang="zh-CN" sz="1800">
              <a:solidFill>
                <a:srgbClr val="000066"/>
              </a:solidFill>
              <a:latin typeface="Times New Roman" panose="02020603050405020304" pitchFamily="18" charset="0"/>
              <a:cs typeface="Times New Roman" panose="02020603050405020304" pitchFamily="18" charset="0"/>
            </a:endParaRPr>
          </a:p>
          <a:p>
            <a:pPr marL="0" indent="0">
              <a:lnSpc>
                <a:spcPct val="135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8</a:t>
            </a:r>
            <a:r>
              <a:rPr lang="zh-CN" altLang="zh-CN" sz="1800">
                <a:solidFill>
                  <a:srgbClr val="000066"/>
                </a:solidFill>
                <a:latin typeface="Times New Roman" panose="02020603050405020304" pitchFamily="18" charset="0"/>
                <a:cs typeface="Times New Roman" panose="02020603050405020304" pitchFamily="18" charset="0"/>
              </a:rPr>
              <a:t>．智能控制</a:t>
            </a:r>
            <a:r>
              <a:rPr lang="en-US" altLang="zh-CN" sz="1800">
                <a:solidFill>
                  <a:srgbClr val="000066"/>
                </a:solidFill>
                <a:latin typeface="Times New Roman" panose="02020603050405020304" pitchFamily="18" charset="0"/>
                <a:cs typeface="Times New Roman" panose="02020603050405020304" pitchFamily="18" charset="0"/>
              </a:rPr>
              <a:t>           </a:t>
            </a:r>
            <a:r>
              <a:rPr lang="zh-CN" altLang="en-US" sz="1800">
                <a:latin typeface="Times New Roman" panose="02020603050405020304" pitchFamily="18" charset="0"/>
                <a:cs typeface="Times New Roman" panose="02020603050405020304" pitchFamily="18" charset="0"/>
              </a:rPr>
              <a:t>人工智能引入控制领域</a:t>
            </a:r>
            <a:endParaRPr lang="en-US" altLang="zh-CN" sz="1800">
              <a:solidFill>
                <a:srgbClr val="000066"/>
              </a:solidFill>
              <a:latin typeface="Times New Roman" panose="02020603050405020304" pitchFamily="18" charset="0"/>
              <a:cs typeface="Times New Roman" panose="02020603050405020304" pitchFamily="18" charset="0"/>
            </a:endParaRPr>
          </a:p>
          <a:p>
            <a:pPr marL="0" indent="0">
              <a:lnSpc>
                <a:spcPct val="135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9</a:t>
            </a:r>
            <a:r>
              <a:rPr lang="zh-CN" altLang="zh-CN" sz="1800">
                <a:solidFill>
                  <a:srgbClr val="000066"/>
                </a:solidFill>
                <a:latin typeface="Times New Roman" panose="02020603050405020304" pitchFamily="18" charset="0"/>
                <a:cs typeface="Times New Roman" panose="02020603050405020304" pitchFamily="18" charset="0"/>
              </a:rPr>
              <a:t>．智能机器人</a:t>
            </a:r>
            <a:r>
              <a:rPr lang="en-US" altLang="zh-CN" sz="1800">
                <a:solidFill>
                  <a:srgbClr val="000066"/>
                </a:solidFill>
                <a:latin typeface="Times New Roman" panose="02020603050405020304" pitchFamily="18" charset="0"/>
                <a:cs typeface="Times New Roman" panose="02020603050405020304" pitchFamily="18" charset="0"/>
              </a:rPr>
              <a:t>       </a:t>
            </a:r>
            <a:r>
              <a:rPr lang="zh-CN" altLang="zh-CN" sz="1800"/>
              <a:t>具有人类特有的某种智能、能模拟人类行为的机器</a:t>
            </a:r>
            <a:r>
              <a:rPr lang="zh-CN" altLang="en-US" sz="1800"/>
              <a:t>人</a:t>
            </a:r>
            <a:endParaRPr lang="en-US" altLang="zh-CN" sz="1800">
              <a:solidFill>
                <a:srgbClr val="000066"/>
              </a:solidFill>
              <a:latin typeface="Times New Roman" panose="02020603050405020304" pitchFamily="18" charset="0"/>
              <a:cs typeface="Times New Roman" panose="02020603050405020304" pitchFamily="18" charset="0"/>
            </a:endParaRPr>
          </a:p>
          <a:p>
            <a:pPr marL="0" indent="0">
              <a:lnSpc>
                <a:spcPct val="135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10</a:t>
            </a:r>
            <a:r>
              <a:rPr lang="zh-CN" altLang="zh-CN" sz="1800">
                <a:solidFill>
                  <a:srgbClr val="000066"/>
                </a:solidFill>
                <a:latin typeface="Times New Roman" panose="02020603050405020304" pitchFamily="18" charset="0"/>
                <a:cs typeface="Times New Roman" panose="02020603050405020304" pitchFamily="18" charset="0"/>
              </a:rPr>
              <a:t>．组合优化</a:t>
            </a:r>
            <a:r>
              <a:rPr lang="en-US" altLang="zh-CN" sz="1800">
                <a:solidFill>
                  <a:srgbClr val="000066"/>
                </a:solidFill>
                <a:latin typeface="Times New Roman" panose="02020603050405020304" pitchFamily="18" charset="0"/>
                <a:cs typeface="Times New Roman" panose="02020603050405020304" pitchFamily="18" charset="0"/>
              </a:rPr>
              <a:t>            </a:t>
            </a:r>
            <a:r>
              <a:rPr lang="zh-CN" altLang="en-US" sz="1800"/>
              <a:t>如旅行商问题，使用遗传算法</a:t>
            </a:r>
            <a:endParaRPr lang="en-US" altLang="zh-CN" sz="1800">
              <a:solidFill>
                <a:srgbClr val="000066"/>
              </a:solidFill>
              <a:latin typeface="Times New Roman" panose="02020603050405020304" pitchFamily="18" charset="0"/>
              <a:cs typeface="Times New Roman" panose="02020603050405020304" pitchFamily="18" charset="0"/>
            </a:endParaRPr>
          </a:p>
          <a:p>
            <a:pPr marL="0" indent="0">
              <a:lnSpc>
                <a:spcPct val="135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11</a:t>
            </a:r>
            <a:r>
              <a:rPr lang="zh-CN" altLang="zh-CN" sz="1800">
                <a:solidFill>
                  <a:srgbClr val="000066"/>
                </a:solidFill>
                <a:latin typeface="Times New Roman" panose="02020603050405020304" pitchFamily="18" charset="0"/>
                <a:cs typeface="Times New Roman" panose="02020603050405020304" pitchFamily="18" charset="0"/>
              </a:rPr>
              <a:t>．</a:t>
            </a:r>
            <a:r>
              <a:rPr lang="zh-CN" altLang="en-US" sz="1800">
                <a:solidFill>
                  <a:srgbClr val="000066"/>
                </a:solidFill>
                <a:latin typeface="Times New Roman" panose="02020603050405020304" pitchFamily="18" charset="0"/>
                <a:cs typeface="Times New Roman" panose="02020603050405020304" pitchFamily="18" charset="0"/>
              </a:rPr>
              <a:t>云端人工智能    </a:t>
            </a:r>
            <a:r>
              <a:rPr lang="zh-CN" altLang="en-US" sz="1800"/>
              <a:t>人工智能各种工具集中在</a:t>
            </a:r>
            <a:r>
              <a:rPr lang="zh-CN" altLang="zh-CN" sz="1800"/>
              <a:t>云端</a:t>
            </a:r>
            <a:r>
              <a:rPr lang="zh-CN" altLang="en-US" sz="1800"/>
              <a:t>供大家共享和使用</a:t>
            </a:r>
            <a:endParaRPr lang="zh-CN" altLang="zh-CN" sz="1800" dirty="0"/>
          </a:p>
        </p:txBody>
      </p:sp>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三、人工智能技术与应用</a:t>
            </a:r>
            <a:endParaRPr lang="zh-CN" altLang="en-US" sz="2400" dirty="0"/>
          </a:p>
        </p:txBody>
      </p:sp>
    </p:spTree>
    <p:extLst>
      <p:ext uri="{BB962C8B-B14F-4D97-AF65-F5344CB8AC3E}">
        <p14:creationId xmlns:p14="http://schemas.microsoft.com/office/powerpoint/2010/main" val="1873578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59" y="986626"/>
            <a:ext cx="8424937" cy="3961388"/>
          </a:xfrm>
        </p:spPr>
        <p:txBody>
          <a:bodyPr>
            <a:noAutofit/>
          </a:bodyPr>
          <a:lstStyle/>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1</a:t>
            </a:r>
            <a:r>
              <a:rPr lang="zh-CN"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模式识别</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600" dirty="0">
                <a:latin typeface="Times New Roman" panose="02020603050405020304" pitchFamily="18" charset="0"/>
                <a:cs typeface="Times New Roman" panose="02020603050405020304" pitchFamily="18" charset="0"/>
              </a:rPr>
              <a:t>      ※ Pattern Recognition</a:t>
            </a:r>
          </a:p>
          <a:p>
            <a:pPr marL="0" indent="0">
              <a:lnSpc>
                <a:spcPct val="150000"/>
              </a:lnSpc>
              <a:spcBef>
                <a:spcPts val="0"/>
              </a:spcBef>
              <a:buNone/>
            </a:pPr>
            <a:r>
              <a:rPr lang="en-US" altLang="zh-CN" sz="1600" dirty="0">
                <a:latin typeface="Times New Roman" panose="02020603050405020304" pitchFamily="18" charset="0"/>
                <a:cs typeface="Times New Roman" panose="02020603050405020304" pitchFamily="18" charset="0"/>
              </a:rPr>
              <a:t>      ※ </a:t>
            </a:r>
            <a:r>
              <a:rPr lang="zh-CN" altLang="en-US" sz="1600" dirty="0">
                <a:latin typeface="Times New Roman" panose="02020603050405020304" pitchFamily="18" charset="0"/>
                <a:cs typeface="Times New Roman" panose="02020603050405020304" pitchFamily="18" charset="0"/>
              </a:rPr>
              <a:t>用计算的方法根据样本的特征将样本划分到一定的类别中</a:t>
            </a:r>
            <a:endParaRPr lang="en-US" altLang="zh-CN" sz="1600"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600" dirty="0">
                <a:latin typeface="Times New Roman" panose="02020603050405020304" pitchFamily="18" charset="0"/>
                <a:cs typeface="Times New Roman" panose="02020603050405020304" pitchFamily="18" charset="0"/>
              </a:rPr>
              <a:t>      ※ </a:t>
            </a:r>
            <a:r>
              <a:rPr lang="zh-CN" altLang="en-US" sz="1600" dirty="0">
                <a:latin typeface="Times New Roman" panose="02020603050405020304" pitchFamily="18" charset="0"/>
                <a:cs typeface="Times New Roman" panose="02020603050405020304" pitchFamily="18" charset="0"/>
              </a:rPr>
              <a:t>模式：模式是存在于时间和空间中可观察的物体，如果可以区分相同或者相似的</a:t>
            </a:r>
            <a:endParaRPr lang="en-US" altLang="zh-CN" sz="1600"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物体类别，可区分的物体称之为模式。</a:t>
            </a:r>
            <a:endParaRPr lang="en-US" altLang="zh-CN" sz="1600"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en-US" sz="1600" dirty="0">
                <a:solidFill>
                  <a:srgbClr val="C00000"/>
                </a:solidFill>
                <a:latin typeface="Times New Roman" panose="02020603050405020304" pitchFamily="18" charset="0"/>
                <a:cs typeface="Times New Roman" panose="02020603050405020304" pitchFamily="18" charset="0"/>
              </a:rPr>
              <a:t>模式不是指具体的物体，而是抽象的类别</a:t>
            </a:r>
            <a:endParaRPr lang="en-US" altLang="zh-CN" sz="1600" dirty="0">
              <a:solidFill>
                <a:srgbClr val="C0000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600" dirty="0">
                <a:latin typeface="Times New Roman" panose="02020603050405020304" pitchFamily="18" charset="0"/>
                <a:cs typeface="Times New Roman" panose="02020603050405020304" pitchFamily="18" charset="0"/>
              </a:rPr>
              <a:t>                       在识别猫狗的任务中，“猫”和“狗”是两种模式。</a:t>
            </a:r>
          </a:p>
          <a:p>
            <a:pPr marL="0" indent="0">
              <a:lnSpc>
                <a:spcPct val="150000"/>
              </a:lnSpc>
              <a:spcBef>
                <a:spcPts val="0"/>
              </a:spcBef>
              <a:buNone/>
            </a:pPr>
            <a:r>
              <a:rPr lang="en-US" altLang="zh-CN" sz="1600" dirty="0">
                <a:latin typeface="Times New Roman" panose="02020603050405020304" pitchFamily="18" charset="0"/>
                <a:cs typeface="Times New Roman" panose="02020603050405020304" pitchFamily="18" charset="0"/>
              </a:rPr>
              <a:t>      ※ </a:t>
            </a:r>
            <a:r>
              <a:rPr lang="zh-CN" altLang="en-US" sz="1600" dirty="0">
                <a:latin typeface="Times New Roman" panose="02020603050405020304" pitchFamily="18" charset="0"/>
                <a:cs typeface="Times New Roman" panose="02020603050405020304" pitchFamily="18" charset="0"/>
              </a:rPr>
              <a:t>语音识别、图像识别等</a:t>
            </a:r>
            <a:endParaRPr lang="en-US" altLang="zh-CN" sz="1600"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600" dirty="0">
                <a:latin typeface="Times New Roman" panose="02020603050405020304" pitchFamily="18" charset="0"/>
                <a:cs typeface="Times New Roman" panose="02020603050405020304" pitchFamily="18" charset="0"/>
              </a:rPr>
              <a:t>      </a:t>
            </a:r>
            <a:endParaRPr lang="zh-CN" altLang="zh-CN" sz="1600" dirty="0"/>
          </a:p>
        </p:txBody>
      </p:sp>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三、人工智能技术与应用</a:t>
            </a:r>
            <a:endParaRPr lang="zh-CN" altLang="en-US" sz="2400" dirty="0"/>
          </a:p>
        </p:txBody>
      </p:sp>
      <p:sp>
        <p:nvSpPr>
          <p:cNvPr id="5" name="流程图: 接点 4">
            <a:extLst>
              <a:ext uri="{FF2B5EF4-FFF2-40B4-BE49-F238E27FC236}">
                <a16:creationId xmlns:a16="http://schemas.microsoft.com/office/drawing/2014/main" id="{DBD82710-8DDE-4C06-BEAF-38AD15846631}"/>
              </a:ext>
            </a:extLst>
          </p:cNvPr>
          <p:cNvSpPr/>
          <p:nvPr/>
        </p:nvSpPr>
        <p:spPr bwMode="gray">
          <a:xfrm>
            <a:off x="6228184" y="2571750"/>
            <a:ext cx="2520000" cy="2520000"/>
          </a:xfrm>
          <a:prstGeom prst="flowChartConnector">
            <a:avLst/>
          </a:prstGeom>
          <a:noFill/>
          <a:ln w="9525">
            <a:solidFill>
              <a:srgbClr val="000078"/>
            </a:solidFill>
            <a:miter lim="800000"/>
            <a:headEnd/>
            <a:tailEnd/>
          </a:ln>
          <a:effectLst/>
        </p:spPr>
        <p:txBody>
          <a:bodyPr wrap="none" rtlCol="0" anchor="ctr"/>
          <a:lstStyle/>
          <a:p>
            <a:pPr algn="ctr" eaLnBrk="0" hangingPunct="0"/>
            <a:endParaRPr lang="zh-CN" altLang="en-US" sz="1400" b="1" dirty="0">
              <a:latin typeface="黑体" panose="02010609060101010101" pitchFamily="49" charset="-122"/>
              <a:ea typeface="黑体" panose="02010609060101010101" pitchFamily="49" charset="-122"/>
            </a:endParaRPr>
          </a:p>
        </p:txBody>
      </p:sp>
      <p:pic>
        <p:nvPicPr>
          <p:cNvPr id="2050" name="Picture 2" descr="https://gimg2.baidu.com/image_search/src=http%3A%2F%2Fnimg.ws.126.net%2F%3Furl%3Dhttp%3A%2F%2Fdingyue.ws.126.net%2F2021%2F0406%2F61ba31a0j00qr5elb00gjc0039a0267c.jpg%26thumbnail%3D650x2147483647%26quality%3D80%26type%3Djpg&amp;refer=http%3A%2F%2Fnimg.ws.126.net&amp;app=2002&amp;size=f9999,10000&amp;q=a80&amp;n=0&amp;g=0n&amp;fmt=auto?sec=1663144756&amp;t=27f87b976338065929ec2540eaa5720f">
            <a:extLst>
              <a:ext uri="{FF2B5EF4-FFF2-40B4-BE49-F238E27FC236}">
                <a16:creationId xmlns:a16="http://schemas.microsoft.com/office/drawing/2014/main" id="{DB6EF05C-37C6-4BFC-BE0B-F05CE125396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32239" y="2931790"/>
            <a:ext cx="862769" cy="57606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s://gimg2.baidu.com/image_search/src=http%3A%2F%2Fhbimg.b0.upaiyun.com%2Ff3f20ef19cb84bf5a144fbc5349b06c1b8a841ee1bfb6-nzAzHl_fw658&amp;refer=http%3A%2F%2Fhbimg.b0.upaiyun.com&amp;app=2002&amp;size=f9999,10000&amp;q=a80&amp;n=0&amp;g=0n&amp;fmt=auto?sec=1663144798&amp;t=9ea959a07c9f510025392d1a70a66e1d">
            <a:extLst>
              <a:ext uri="{FF2B5EF4-FFF2-40B4-BE49-F238E27FC236}">
                <a16:creationId xmlns:a16="http://schemas.microsoft.com/office/drawing/2014/main" id="{D3980A56-8F3F-42B6-88A7-8A1D742EA9B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99920" y="3363838"/>
            <a:ext cx="943351" cy="58923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https://gimg2.baidu.com/image_search/src=http%3A%2F%2Fbkimg.cdn.bcebos.com%2Fpic%2Fb2de9c82d158ccbf8ee447ca19d8bc3eb03541e2&amp;refer=http%3A%2F%2Fbkimg.cdn.bcebos.com&amp;app=2002&amp;size=f9999,10000&amp;q=a80&amp;n=0&amp;g=0n&amp;fmt=auto?sec=1663144850&amp;t=13fac1c212bbc6075cfdef9851a16e23">
            <a:extLst>
              <a:ext uri="{FF2B5EF4-FFF2-40B4-BE49-F238E27FC236}">
                <a16:creationId xmlns:a16="http://schemas.microsoft.com/office/drawing/2014/main" id="{5771A3F4-6D50-450A-9650-39C2AF5861BB}"/>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57637" y="3714623"/>
            <a:ext cx="830022" cy="589236"/>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https://gimg2.baidu.com/image_search/src=http%3A%2F%2Fimg.pconline.com.cn%2Fimages%2Fphotoblog%2F7%2F4%2F1%2F7%2F7417976%2F20095%2F15%2F1242316814818.jpg&amp;refer=http%3A%2F%2Fimg.pconline.com.cn&amp;app=2002&amp;size=f9999,10000&amp;q=a80&amp;n=0&amp;g=0n&amp;fmt=auto?sec=1663144874&amp;t=2c7a095372a30cec2be2e718359beab0">
            <a:extLst>
              <a:ext uri="{FF2B5EF4-FFF2-40B4-BE49-F238E27FC236}">
                <a16:creationId xmlns:a16="http://schemas.microsoft.com/office/drawing/2014/main" id="{AC63F164-4DDB-4EF9-B8B0-97109724A0B4}"/>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flipH="1">
            <a:off x="7554981" y="4130348"/>
            <a:ext cx="616613" cy="555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6106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三、人工智能技术与应用</a:t>
            </a:r>
            <a:endParaRPr lang="zh-CN" altLang="en-US" sz="2400" dirty="0"/>
          </a:p>
        </p:txBody>
      </p:sp>
      <p:sp>
        <p:nvSpPr>
          <p:cNvPr id="3" name="内容占位符 2"/>
          <p:cNvSpPr>
            <a:spLocks noGrp="1"/>
          </p:cNvSpPr>
          <p:nvPr>
            <p:ph idx="1"/>
          </p:nvPr>
        </p:nvSpPr>
        <p:spPr>
          <a:xfrm>
            <a:off x="611559" y="986626"/>
            <a:ext cx="8424937" cy="3961388"/>
          </a:xfrm>
        </p:spPr>
        <p:txBody>
          <a:bodyPr>
            <a:noAutofit/>
          </a:bodyPr>
          <a:lstStyle/>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2</a:t>
            </a:r>
            <a:r>
              <a:rPr lang="zh-CN" altLang="zh-CN" sz="1800" dirty="0">
                <a:solidFill>
                  <a:srgbClr val="000066"/>
                </a:solidFill>
                <a:latin typeface="Times New Roman" panose="02020603050405020304" pitchFamily="18" charset="0"/>
                <a:cs typeface="Times New Roman" panose="02020603050405020304" pitchFamily="18" charset="0"/>
              </a:rPr>
              <a:t>．计算机视觉</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600" dirty="0">
                <a:latin typeface="Times New Roman" panose="02020603050405020304" pitchFamily="18" charset="0"/>
                <a:cs typeface="Times New Roman" panose="02020603050405020304" pitchFamily="18" charset="0"/>
              </a:rPr>
              <a:t>      ※ Pattern Recognition</a:t>
            </a: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PR</a:t>
            </a:r>
          </a:p>
          <a:p>
            <a:pPr marL="0" indent="0">
              <a:lnSpc>
                <a:spcPct val="150000"/>
              </a:lnSpc>
              <a:spcBef>
                <a:spcPts val="0"/>
              </a:spcBef>
              <a:buNone/>
            </a:pPr>
            <a:r>
              <a:rPr lang="en-US" altLang="zh-CN" sz="1600" dirty="0">
                <a:latin typeface="Times New Roman" panose="02020603050405020304" pitchFamily="18" charset="0"/>
                <a:cs typeface="Times New Roman" panose="02020603050405020304" pitchFamily="18" charset="0"/>
              </a:rPr>
              <a:t>      ※ </a:t>
            </a:r>
            <a:r>
              <a:rPr lang="zh-CN" altLang="zh-CN" sz="1600" dirty="0"/>
              <a:t>用机器代替人眼进行测量</a:t>
            </a:r>
            <a:r>
              <a:rPr lang="zh-CN" altLang="en-US" sz="1600" dirty="0"/>
              <a:t>和判断，是模式误别的一个重要分支</a:t>
            </a:r>
            <a:endParaRPr lang="en-US" altLang="zh-CN" sz="1600" dirty="0"/>
          </a:p>
          <a:p>
            <a:pPr marL="0" indent="0">
              <a:lnSpc>
                <a:spcPct val="150000"/>
              </a:lnSpc>
              <a:spcBef>
                <a:spcPts val="0"/>
              </a:spcBef>
              <a:buNone/>
            </a:pPr>
            <a:r>
              <a:rPr lang="en-US" altLang="zh-CN" sz="1600" dirty="0"/>
              <a:t>     </a:t>
            </a:r>
            <a:endParaRPr lang="zh-CN" altLang="zh-CN" sz="1600" dirty="0"/>
          </a:p>
        </p:txBody>
      </p:sp>
      <p:pic>
        <p:nvPicPr>
          <p:cNvPr id="6" name="图片 5">
            <a:extLst>
              <a:ext uri="{FF2B5EF4-FFF2-40B4-BE49-F238E27FC236}">
                <a16:creationId xmlns:a16="http://schemas.microsoft.com/office/drawing/2014/main" id="{69E7AD7C-7AD9-4B97-9A2A-276EFC5EFD0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55976" y="2356105"/>
            <a:ext cx="3316799" cy="2209817"/>
          </a:xfrm>
          <a:prstGeom prst="rect">
            <a:avLst/>
          </a:prstGeom>
        </p:spPr>
      </p:pic>
      <p:pic>
        <p:nvPicPr>
          <p:cNvPr id="8" name="图片 7">
            <a:extLst>
              <a:ext uri="{FF2B5EF4-FFF2-40B4-BE49-F238E27FC236}">
                <a16:creationId xmlns:a16="http://schemas.microsoft.com/office/drawing/2014/main" id="{9781677B-03F6-4032-B717-F538E79E605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9567" y="2353942"/>
            <a:ext cx="2949307" cy="2211980"/>
          </a:xfrm>
          <a:prstGeom prst="rect">
            <a:avLst/>
          </a:prstGeom>
        </p:spPr>
      </p:pic>
    </p:spTree>
    <p:extLst>
      <p:ext uri="{BB962C8B-B14F-4D97-AF65-F5344CB8AC3E}">
        <p14:creationId xmlns:p14="http://schemas.microsoft.com/office/powerpoint/2010/main" val="2381124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三、人工智能技术与应用</a:t>
            </a:r>
            <a:endParaRPr lang="zh-CN" altLang="en-US" sz="2400" dirty="0"/>
          </a:p>
        </p:txBody>
      </p:sp>
      <p:sp>
        <p:nvSpPr>
          <p:cNvPr id="3" name="内容占位符 2"/>
          <p:cNvSpPr>
            <a:spLocks noGrp="1"/>
          </p:cNvSpPr>
          <p:nvPr>
            <p:ph idx="1"/>
          </p:nvPr>
        </p:nvSpPr>
        <p:spPr>
          <a:xfrm>
            <a:off x="611559" y="986626"/>
            <a:ext cx="8424937" cy="3961388"/>
          </a:xfrm>
        </p:spPr>
        <p:txBody>
          <a:bodyPr>
            <a:noAutofit/>
          </a:bodyPr>
          <a:lstStyle/>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3</a:t>
            </a:r>
            <a:r>
              <a:rPr lang="zh-CN" altLang="zh-CN" sz="1800" dirty="0">
                <a:solidFill>
                  <a:srgbClr val="000066"/>
                </a:solidFill>
                <a:latin typeface="Times New Roman" panose="02020603050405020304" pitchFamily="18" charset="0"/>
                <a:cs typeface="Times New Roman" panose="02020603050405020304" pitchFamily="18" charset="0"/>
              </a:rPr>
              <a:t>．自然语言处理</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en-US" altLang="zh-CN" sz="1800">
                <a:latin typeface="Times New Roman" panose="02020603050405020304" pitchFamily="18" charset="0"/>
                <a:cs typeface="Times New Roman" panose="02020603050405020304" pitchFamily="18" charset="0"/>
              </a:rPr>
              <a:t>※ Natural Language Processing, NLP</a:t>
            </a:r>
            <a:endParaRPr lang="en-US" altLang="zh-CN" sz="1800"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latin typeface="Times New Roman" panose="02020603050405020304" pitchFamily="18" charset="0"/>
                <a:cs typeface="Times New Roman" panose="02020603050405020304" pitchFamily="18" charset="0"/>
              </a:rPr>
              <a:t>      ※ </a:t>
            </a:r>
            <a:r>
              <a:rPr lang="zh-CN" altLang="en-US" sz="1800">
                <a:latin typeface="Times New Roman" panose="02020603050405020304" pitchFamily="18" charset="0"/>
                <a:cs typeface="Times New Roman" panose="02020603050405020304" pitchFamily="18" charset="0"/>
              </a:rPr>
              <a:t>研究能实现人与计算机之间用自然语言进行有效通信的各种理论和方法</a:t>
            </a:r>
            <a:endParaRPr lang="en-US" altLang="zh-CN" sz="180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t>         </a:t>
            </a:r>
            <a:r>
              <a:rPr lang="zh-CN" altLang="zh-CN" sz="1800"/>
              <a:t>让计算机能“听懂”和“看懂”人类语言（如汉语、英语等</a:t>
            </a:r>
            <a:r>
              <a:rPr lang="zh-CN" altLang="en-US" sz="1800"/>
              <a:t>）</a:t>
            </a:r>
            <a:endParaRPr lang="zh-CN" altLang="en-US" sz="1800" dirty="0">
              <a:latin typeface="Times New Roman" panose="02020603050405020304" pitchFamily="18" charset="0"/>
              <a:cs typeface="Times New Roman" panose="02020603050405020304" pitchFamily="18" charset="0"/>
            </a:endParaRPr>
          </a:p>
          <a:p>
            <a:pPr marL="0" indent="0">
              <a:lnSpc>
                <a:spcPct val="150000"/>
              </a:lnSpc>
              <a:spcBef>
                <a:spcPts val="0"/>
              </a:spcBef>
              <a:buNone/>
            </a:pPr>
            <a:endParaRPr lang="zh-CN" altLang="zh-CN" sz="1600" dirty="0"/>
          </a:p>
        </p:txBody>
      </p:sp>
      <p:pic>
        <p:nvPicPr>
          <p:cNvPr id="5" name="图片 4">
            <a:extLst>
              <a:ext uri="{FF2B5EF4-FFF2-40B4-BE49-F238E27FC236}">
                <a16:creationId xmlns:a16="http://schemas.microsoft.com/office/drawing/2014/main" id="{7749F7CB-DEE5-4135-B51B-20FA08495766}"/>
              </a:ext>
            </a:extLst>
          </p:cNvPr>
          <p:cNvPicPr>
            <a:picLocks noChangeAspect="1"/>
          </p:cNvPicPr>
          <p:nvPr/>
        </p:nvPicPr>
        <p:blipFill>
          <a:blip r:embed="rId3"/>
          <a:stretch>
            <a:fillRect/>
          </a:stretch>
        </p:blipFill>
        <p:spPr>
          <a:xfrm>
            <a:off x="1237845" y="2664296"/>
            <a:ext cx="3550179" cy="2355726"/>
          </a:xfrm>
          <a:prstGeom prst="rect">
            <a:avLst/>
          </a:prstGeom>
        </p:spPr>
      </p:pic>
      <mc:AlternateContent xmlns:mc="http://schemas.openxmlformats.org/markup-compatibility/2006" xmlns:p14="http://schemas.microsoft.com/office/powerpoint/2010/main">
        <mc:Choice Requires="p14">
          <p:contentPart p14:bwMode="auto" r:id="rId4">
            <p14:nvContentPartPr>
              <p14:cNvPr id="4" name="墨迹 3">
                <a:extLst>
                  <a:ext uri="{FF2B5EF4-FFF2-40B4-BE49-F238E27FC236}">
                    <a16:creationId xmlns:a16="http://schemas.microsoft.com/office/drawing/2014/main" id="{88542D71-0F6C-4480-B48F-150B4A8F81FD}"/>
                  </a:ext>
                </a:extLst>
              </p14:cNvPr>
              <p14:cNvContentPartPr/>
              <p14:nvPr/>
            </p14:nvContentPartPr>
            <p14:xfrm>
              <a:off x="1880205" y="1557537"/>
              <a:ext cx="360" cy="3600"/>
            </p14:xfrm>
          </p:contentPart>
        </mc:Choice>
        <mc:Fallback xmlns="">
          <p:pic>
            <p:nvPicPr>
              <p:cNvPr id="4" name="墨迹 3">
                <a:extLst>
                  <a:ext uri="{FF2B5EF4-FFF2-40B4-BE49-F238E27FC236}">
                    <a16:creationId xmlns:a16="http://schemas.microsoft.com/office/drawing/2014/main" id="{88542D71-0F6C-4480-B48F-150B4A8F81FD}"/>
                  </a:ext>
                </a:extLst>
              </p:cNvPr>
              <p:cNvPicPr/>
              <p:nvPr/>
            </p:nvPicPr>
            <p:blipFill>
              <a:blip r:embed="rId5"/>
              <a:stretch>
                <a:fillRect/>
              </a:stretch>
            </p:blipFill>
            <p:spPr>
              <a:xfrm>
                <a:off x="1871565" y="1548537"/>
                <a:ext cx="1800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墨迹 5">
                <a:extLst>
                  <a:ext uri="{FF2B5EF4-FFF2-40B4-BE49-F238E27FC236}">
                    <a16:creationId xmlns:a16="http://schemas.microsoft.com/office/drawing/2014/main" id="{63F339BF-DDFD-40AD-BCA5-C48EB9A6B013}"/>
                  </a:ext>
                </a:extLst>
              </p14:cNvPr>
              <p14:cNvContentPartPr/>
              <p14:nvPr/>
            </p14:nvContentPartPr>
            <p14:xfrm>
              <a:off x="1336965" y="1657617"/>
              <a:ext cx="360" cy="15840"/>
            </p14:xfrm>
          </p:contentPart>
        </mc:Choice>
        <mc:Fallback xmlns="">
          <p:pic>
            <p:nvPicPr>
              <p:cNvPr id="6" name="墨迹 5">
                <a:extLst>
                  <a:ext uri="{FF2B5EF4-FFF2-40B4-BE49-F238E27FC236}">
                    <a16:creationId xmlns:a16="http://schemas.microsoft.com/office/drawing/2014/main" id="{63F339BF-DDFD-40AD-BCA5-C48EB9A6B013}"/>
                  </a:ext>
                </a:extLst>
              </p:cNvPr>
              <p:cNvPicPr/>
              <p:nvPr/>
            </p:nvPicPr>
            <p:blipFill>
              <a:blip r:embed="rId7"/>
              <a:stretch>
                <a:fillRect/>
              </a:stretch>
            </p:blipFill>
            <p:spPr>
              <a:xfrm>
                <a:off x="1328325" y="1648977"/>
                <a:ext cx="1800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墨迹 6">
                <a:extLst>
                  <a:ext uri="{FF2B5EF4-FFF2-40B4-BE49-F238E27FC236}">
                    <a16:creationId xmlns:a16="http://schemas.microsoft.com/office/drawing/2014/main" id="{9306AFFD-D2D5-4C39-B649-68EBEAAAD589}"/>
                  </a:ext>
                </a:extLst>
              </p14:cNvPr>
              <p14:cNvContentPartPr/>
              <p14:nvPr/>
            </p14:nvContentPartPr>
            <p14:xfrm>
              <a:off x="1655925" y="1643937"/>
              <a:ext cx="360" cy="3960"/>
            </p14:xfrm>
          </p:contentPart>
        </mc:Choice>
        <mc:Fallback xmlns="">
          <p:pic>
            <p:nvPicPr>
              <p:cNvPr id="7" name="墨迹 6">
                <a:extLst>
                  <a:ext uri="{FF2B5EF4-FFF2-40B4-BE49-F238E27FC236}">
                    <a16:creationId xmlns:a16="http://schemas.microsoft.com/office/drawing/2014/main" id="{9306AFFD-D2D5-4C39-B649-68EBEAAAD589}"/>
                  </a:ext>
                </a:extLst>
              </p:cNvPr>
              <p:cNvPicPr/>
              <p:nvPr/>
            </p:nvPicPr>
            <p:blipFill>
              <a:blip r:embed="rId5"/>
              <a:stretch>
                <a:fillRect/>
              </a:stretch>
            </p:blipFill>
            <p:spPr>
              <a:xfrm>
                <a:off x="1646925" y="1634937"/>
                <a:ext cx="1800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墨迹 7">
                <a:extLst>
                  <a:ext uri="{FF2B5EF4-FFF2-40B4-BE49-F238E27FC236}">
                    <a16:creationId xmlns:a16="http://schemas.microsoft.com/office/drawing/2014/main" id="{497E670A-7062-4D9A-9717-B8B31FE5F5B3}"/>
                  </a:ext>
                </a:extLst>
              </p14:cNvPr>
              <p14:cNvContentPartPr/>
              <p14:nvPr/>
            </p14:nvContentPartPr>
            <p14:xfrm>
              <a:off x="1785525" y="1220937"/>
              <a:ext cx="360" cy="3600"/>
            </p14:xfrm>
          </p:contentPart>
        </mc:Choice>
        <mc:Fallback xmlns="">
          <p:pic>
            <p:nvPicPr>
              <p:cNvPr id="8" name="墨迹 7">
                <a:extLst>
                  <a:ext uri="{FF2B5EF4-FFF2-40B4-BE49-F238E27FC236}">
                    <a16:creationId xmlns:a16="http://schemas.microsoft.com/office/drawing/2014/main" id="{497E670A-7062-4D9A-9717-B8B31FE5F5B3}"/>
                  </a:ext>
                </a:extLst>
              </p:cNvPr>
              <p:cNvPicPr/>
              <p:nvPr/>
            </p:nvPicPr>
            <p:blipFill>
              <a:blip r:embed="rId5"/>
              <a:stretch>
                <a:fillRect/>
              </a:stretch>
            </p:blipFill>
            <p:spPr>
              <a:xfrm>
                <a:off x="1776525" y="1212297"/>
                <a:ext cx="1800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墨迹 8">
                <a:extLst>
                  <a:ext uri="{FF2B5EF4-FFF2-40B4-BE49-F238E27FC236}">
                    <a16:creationId xmlns:a16="http://schemas.microsoft.com/office/drawing/2014/main" id="{9EE0DA18-FEFE-4EBB-A729-A28F1DBA3C84}"/>
                  </a:ext>
                </a:extLst>
              </p14:cNvPr>
              <p14:cNvContentPartPr/>
              <p14:nvPr/>
            </p14:nvContentPartPr>
            <p14:xfrm>
              <a:off x="2251005" y="2169897"/>
              <a:ext cx="360" cy="3960"/>
            </p14:xfrm>
          </p:contentPart>
        </mc:Choice>
        <mc:Fallback xmlns="">
          <p:pic>
            <p:nvPicPr>
              <p:cNvPr id="9" name="墨迹 8">
                <a:extLst>
                  <a:ext uri="{FF2B5EF4-FFF2-40B4-BE49-F238E27FC236}">
                    <a16:creationId xmlns:a16="http://schemas.microsoft.com/office/drawing/2014/main" id="{9EE0DA18-FEFE-4EBB-A729-A28F1DBA3C84}"/>
                  </a:ext>
                </a:extLst>
              </p:cNvPr>
              <p:cNvPicPr/>
              <p:nvPr/>
            </p:nvPicPr>
            <p:blipFill>
              <a:blip r:embed="rId5"/>
              <a:stretch>
                <a:fillRect/>
              </a:stretch>
            </p:blipFill>
            <p:spPr>
              <a:xfrm>
                <a:off x="2242365" y="2161257"/>
                <a:ext cx="1800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 name="墨迹 9">
                <a:extLst>
                  <a:ext uri="{FF2B5EF4-FFF2-40B4-BE49-F238E27FC236}">
                    <a16:creationId xmlns:a16="http://schemas.microsoft.com/office/drawing/2014/main" id="{8B2432DD-1B4B-4C8B-8BC9-68FBFC48C4F3}"/>
                  </a:ext>
                </a:extLst>
              </p14:cNvPr>
              <p14:cNvContentPartPr/>
              <p14:nvPr/>
            </p14:nvContentPartPr>
            <p14:xfrm>
              <a:off x="2234085" y="1992057"/>
              <a:ext cx="360" cy="360"/>
            </p14:xfrm>
          </p:contentPart>
        </mc:Choice>
        <mc:Fallback xmlns="">
          <p:pic>
            <p:nvPicPr>
              <p:cNvPr id="10" name="墨迹 9">
                <a:extLst>
                  <a:ext uri="{FF2B5EF4-FFF2-40B4-BE49-F238E27FC236}">
                    <a16:creationId xmlns:a16="http://schemas.microsoft.com/office/drawing/2014/main" id="{8B2432DD-1B4B-4C8B-8BC9-68FBFC48C4F3}"/>
                  </a:ext>
                </a:extLst>
              </p:cNvPr>
              <p:cNvPicPr/>
              <p:nvPr/>
            </p:nvPicPr>
            <p:blipFill>
              <a:blip r:embed="rId12"/>
              <a:stretch>
                <a:fillRect/>
              </a:stretch>
            </p:blipFill>
            <p:spPr>
              <a:xfrm>
                <a:off x="2225085" y="1983417"/>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1" name="墨迹 10">
                <a:extLst>
                  <a:ext uri="{FF2B5EF4-FFF2-40B4-BE49-F238E27FC236}">
                    <a16:creationId xmlns:a16="http://schemas.microsoft.com/office/drawing/2014/main" id="{E312C00D-A35B-4580-97B7-5EE770C9D066}"/>
                  </a:ext>
                </a:extLst>
              </p14:cNvPr>
              <p14:cNvContentPartPr/>
              <p14:nvPr/>
            </p14:nvContentPartPr>
            <p14:xfrm>
              <a:off x="5089605" y="2302737"/>
              <a:ext cx="360" cy="360"/>
            </p14:xfrm>
          </p:contentPart>
        </mc:Choice>
        <mc:Fallback xmlns="">
          <p:pic>
            <p:nvPicPr>
              <p:cNvPr id="11" name="墨迹 10">
                <a:extLst>
                  <a:ext uri="{FF2B5EF4-FFF2-40B4-BE49-F238E27FC236}">
                    <a16:creationId xmlns:a16="http://schemas.microsoft.com/office/drawing/2014/main" id="{E312C00D-A35B-4580-97B7-5EE770C9D066}"/>
                  </a:ext>
                </a:extLst>
              </p:cNvPr>
              <p:cNvPicPr/>
              <p:nvPr/>
            </p:nvPicPr>
            <p:blipFill>
              <a:blip r:embed="rId12"/>
              <a:stretch>
                <a:fillRect/>
              </a:stretch>
            </p:blipFill>
            <p:spPr>
              <a:xfrm>
                <a:off x="5080605" y="2293737"/>
                <a:ext cx="18000" cy="18000"/>
              </a:xfrm>
              <a:prstGeom prst="rect">
                <a:avLst/>
              </a:prstGeom>
            </p:spPr>
          </p:pic>
        </mc:Fallback>
      </mc:AlternateContent>
    </p:spTree>
    <p:extLst>
      <p:ext uri="{BB962C8B-B14F-4D97-AF65-F5344CB8AC3E}">
        <p14:creationId xmlns:p14="http://schemas.microsoft.com/office/powerpoint/2010/main" val="2300594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三、人工智能技术与应用</a:t>
            </a:r>
            <a:endParaRPr lang="zh-CN" altLang="en-US" sz="2400" dirty="0"/>
          </a:p>
        </p:txBody>
      </p:sp>
      <p:sp>
        <p:nvSpPr>
          <p:cNvPr id="3" name="内容占位符 2"/>
          <p:cNvSpPr>
            <a:spLocks noGrp="1"/>
          </p:cNvSpPr>
          <p:nvPr>
            <p:ph idx="1"/>
          </p:nvPr>
        </p:nvSpPr>
        <p:spPr>
          <a:xfrm>
            <a:off x="611559" y="986626"/>
            <a:ext cx="8424937" cy="1801148"/>
          </a:xfrm>
        </p:spPr>
        <p:txBody>
          <a:bodyPr>
            <a:noAutofit/>
          </a:bodyPr>
          <a:lstStyle/>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4</a:t>
            </a:r>
            <a:r>
              <a:rPr lang="zh-CN" altLang="zh-CN" sz="1800" dirty="0">
                <a:solidFill>
                  <a:srgbClr val="000066"/>
                </a:solidFill>
                <a:latin typeface="Times New Roman" panose="02020603050405020304" pitchFamily="18" charset="0"/>
                <a:cs typeface="Times New Roman" panose="02020603050405020304" pitchFamily="18" charset="0"/>
              </a:rPr>
              <a:t>．</a:t>
            </a:r>
            <a:r>
              <a:rPr lang="zh-CN" altLang="zh-CN" sz="1800" dirty="0"/>
              <a:t>搜索技术</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en-US" altLang="zh-CN" sz="1800">
                <a:latin typeface="Times New Roman" panose="02020603050405020304" pitchFamily="18" charset="0"/>
                <a:cs typeface="Times New Roman" panose="02020603050405020304" pitchFamily="18" charset="0"/>
              </a:rPr>
              <a:t>※ Search Technique</a:t>
            </a:r>
            <a:endParaRPr lang="en-US" altLang="zh-CN" sz="1800"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latin typeface="Times New Roman" panose="02020603050405020304" pitchFamily="18" charset="0"/>
                <a:cs typeface="Times New Roman" panose="02020603050405020304" pitchFamily="18" charset="0"/>
              </a:rPr>
              <a:t>      ※ </a:t>
            </a:r>
            <a:r>
              <a:rPr lang="zh-CN" altLang="zh-CN" sz="1800"/>
              <a:t>用搜索方法寻求问题解答的技术，其根据问题的实际情况不断寻找可利用的</a:t>
            </a:r>
            <a:endParaRPr lang="en-US" altLang="zh-CN" sz="1800"/>
          </a:p>
          <a:p>
            <a:pPr marL="0" indent="0">
              <a:lnSpc>
                <a:spcPct val="150000"/>
              </a:lnSpc>
              <a:spcBef>
                <a:spcPts val="0"/>
              </a:spcBef>
              <a:buNone/>
            </a:pPr>
            <a:r>
              <a:rPr lang="en-US" altLang="zh-CN" sz="1800"/>
              <a:t>         </a:t>
            </a:r>
            <a:r>
              <a:rPr lang="zh-CN" altLang="zh-CN" sz="1800"/>
              <a:t>知识，构造出一条代价较少的推理路线，使问题得到圆满解决</a:t>
            </a:r>
            <a:endParaRPr lang="zh-CN" altLang="zh-CN" sz="1800" dirty="0"/>
          </a:p>
        </p:txBody>
      </p:sp>
      <p:pic>
        <p:nvPicPr>
          <p:cNvPr id="5" name="图片 4">
            <a:extLst>
              <a:ext uri="{FF2B5EF4-FFF2-40B4-BE49-F238E27FC236}">
                <a16:creationId xmlns:a16="http://schemas.microsoft.com/office/drawing/2014/main" id="{14578144-87B4-4E06-AEAD-CDEE56429C4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59632" y="2679310"/>
            <a:ext cx="4240448" cy="2412720"/>
          </a:xfrm>
          <a:prstGeom prst="rect">
            <a:avLst/>
          </a:prstGeom>
        </p:spPr>
      </p:pic>
      <p:sp>
        <p:nvSpPr>
          <p:cNvPr id="6" name="矩形 5">
            <a:extLst>
              <a:ext uri="{FF2B5EF4-FFF2-40B4-BE49-F238E27FC236}">
                <a16:creationId xmlns:a16="http://schemas.microsoft.com/office/drawing/2014/main" id="{428533EB-805D-4A36-8D3F-0E412F7237EA}"/>
              </a:ext>
            </a:extLst>
          </p:cNvPr>
          <p:cNvSpPr/>
          <p:nvPr/>
        </p:nvSpPr>
        <p:spPr>
          <a:xfrm>
            <a:off x="5507129" y="3061651"/>
            <a:ext cx="2722220" cy="1477328"/>
          </a:xfrm>
          <a:prstGeom prst="rect">
            <a:avLst/>
          </a:prstGeom>
        </p:spPr>
        <p:txBody>
          <a:bodyPr wrap="none">
            <a:spAutoFit/>
          </a:bodyPr>
          <a:lstStyle/>
          <a:p>
            <a:r>
              <a:rPr lang="en-US" altLang="zh-CN">
                <a:latin typeface="Times New Roman" panose="02020603050405020304" pitchFamily="18" charset="0"/>
                <a:ea typeface="微软雅黑" panose="020B0503020204020204" pitchFamily="34" charset="-122"/>
                <a:cs typeface="Times New Roman" panose="02020603050405020304" pitchFamily="18" charset="0"/>
              </a:rPr>
              <a:t>AlphaGo</a:t>
            </a:r>
            <a:r>
              <a:rPr lang="zh-CN" altLang="en-US">
                <a:latin typeface="Times New Roman" panose="02020603050405020304" pitchFamily="18" charset="0"/>
                <a:ea typeface="微软雅黑" panose="020B0503020204020204" pitchFamily="34" charset="-122"/>
                <a:cs typeface="Times New Roman" panose="02020603050405020304" pitchFamily="18" charset="0"/>
              </a:rPr>
              <a:t>所用技术：</a:t>
            </a:r>
            <a:endParaRPr lang="en-US" altLang="zh-CN">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a:latin typeface="Times New Roman" panose="02020603050405020304" pitchFamily="18" charset="0"/>
                <a:ea typeface="微软雅黑" panose="020B0503020204020204" pitchFamily="34" charset="-122"/>
                <a:cs typeface="Times New Roman" panose="02020603050405020304" pitchFamily="18" charset="0"/>
              </a:rPr>
              <a:t>◆ CNN</a:t>
            </a:r>
            <a:r>
              <a:rPr lang="zh-CN" altLang="en-US">
                <a:latin typeface="Times New Roman" panose="02020603050405020304" pitchFamily="18" charset="0"/>
                <a:ea typeface="微软雅黑" panose="020B0503020204020204" pitchFamily="34" charset="-122"/>
                <a:cs typeface="Times New Roman" panose="02020603050405020304" pitchFamily="18" charset="0"/>
              </a:rPr>
              <a:t>   卷积神经网络</a:t>
            </a:r>
            <a:endParaRPr lang="en-US" altLang="zh-CN">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a:latin typeface="Times New Roman" panose="02020603050405020304" pitchFamily="18" charset="0"/>
                <a:ea typeface="微软雅黑" panose="020B0503020204020204" pitchFamily="34" charset="-122"/>
                <a:cs typeface="Times New Roman" panose="02020603050405020304" pitchFamily="18" charset="0"/>
              </a:rPr>
              <a:t>◆ RL       </a:t>
            </a:r>
            <a:r>
              <a:rPr lang="zh-CN" altLang="en-US">
                <a:latin typeface="Times New Roman" panose="02020603050405020304" pitchFamily="18" charset="0"/>
                <a:ea typeface="微软雅黑" panose="020B0503020204020204" pitchFamily="34" charset="-122"/>
                <a:cs typeface="Times New Roman" panose="02020603050405020304" pitchFamily="18" charset="0"/>
              </a:rPr>
              <a:t>强化学习</a:t>
            </a:r>
            <a:endParaRPr lang="en-US" altLang="zh-CN">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a:latin typeface="Times New Roman" panose="02020603050405020304" pitchFamily="18" charset="0"/>
                <a:ea typeface="微软雅黑" panose="020B0503020204020204" pitchFamily="34" charset="-122"/>
                <a:cs typeface="Times New Roman" panose="02020603050405020304" pitchFamily="18" charset="0"/>
              </a:rPr>
              <a:t>◆ MCTS </a:t>
            </a:r>
            <a:r>
              <a:rPr lang="zh-CN" altLang="en-US">
                <a:latin typeface="Times New Roman" panose="02020603050405020304" pitchFamily="18" charset="0"/>
                <a:ea typeface="微软雅黑" panose="020B0503020204020204" pitchFamily="34" charset="-122"/>
                <a:cs typeface="Times New Roman" panose="02020603050405020304" pitchFamily="18" charset="0"/>
              </a:rPr>
              <a:t>蒙特卡洛树搜索</a:t>
            </a:r>
          </a:p>
          <a:p>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306753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三、人工智能技术与应用</a:t>
            </a:r>
            <a:endParaRPr lang="zh-CN" altLang="en-US" sz="2400" dirty="0"/>
          </a:p>
        </p:txBody>
      </p:sp>
      <p:sp>
        <p:nvSpPr>
          <p:cNvPr id="3" name="内容占位符 2"/>
          <p:cNvSpPr>
            <a:spLocks noGrp="1"/>
          </p:cNvSpPr>
          <p:nvPr>
            <p:ph idx="1"/>
          </p:nvPr>
        </p:nvSpPr>
        <p:spPr>
          <a:xfrm>
            <a:off x="611559" y="986626"/>
            <a:ext cx="8532441" cy="4105404"/>
          </a:xfrm>
        </p:spPr>
        <p:txBody>
          <a:bodyPr>
            <a:noAutofit/>
          </a:bodyPr>
          <a:lstStyle/>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5</a:t>
            </a:r>
            <a:r>
              <a:rPr lang="zh-CN"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专家系统</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600" dirty="0">
                <a:latin typeface="Times New Roman" panose="02020603050405020304" pitchFamily="18" charset="0"/>
                <a:cs typeface="Times New Roman" panose="02020603050405020304" pitchFamily="18" charset="0"/>
              </a:rPr>
              <a:t>       ※ </a:t>
            </a:r>
            <a:r>
              <a:rPr lang="zh-CN" altLang="en-US" sz="1600" dirty="0">
                <a:latin typeface="Times New Roman" panose="02020603050405020304" pitchFamily="18" charset="0"/>
                <a:cs typeface="Times New Roman" panose="02020603050405020304" pitchFamily="18" charset="0"/>
              </a:rPr>
              <a:t>早期人工智能的一个重要分支</a:t>
            </a:r>
            <a:endParaRPr lang="en-US" altLang="zh-CN" sz="1600"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600" dirty="0">
                <a:latin typeface="Times New Roman" panose="02020603050405020304" pitchFamily="18" charset="0"/>
                <a:cs typeface="Times New Roman" panose="02020603050405020304" pitchFamily="18" charset="0"/>
              </a:rPr>
              <a:t>       ※ </a:t>
            </a:r>
            <a:r>
              <a:rPr lang="zh-CN" altLang="en-US" sz="1600" dirty="0">
                <a:latin typeface="Times New Roman" panose="02020603050405020304" pitchFamily="18" charset="0"/>
                <a:cs typeface="Times New Roman" panose="02020603050405020304" pitchFamily="18" charset="0"/>
              </a:rPr>
              <a:t>一类具有专门知识和经验的计算机智能程序系统，一般采用人工智能中的知识表示和</a:t>
            </a:r>
            <a:endParaRPr lang="en-US" altLang="zh-CN" sz="1600"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知识推理技术来模拟通常由领域专家才能解决的复杂问题</a:t>
            </a:r>
            <a:endParaRPr lang="en-US" altLang="zh-CN" sz="1600"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600" dirty="0">
                <a:latin typeface="Times New Roman" panose="02020603050405020304" pitchFamily="18" charset="0"/>
                <a:cs typeface="Times New Roman" panose="02020603050405020304" pitchFamily="18" charset="0"/>
              </a:rPr>
              <a:t>       ※ </a:t>
            </a:r>
            <a:r>
              <a:rPr lang="zh-CN" altLang="en-US" sz="1600" dirty="0">
                <a:latin typeface="Times New Roman" panose="02020603050405020304" pitchFamily="18" charset="0"/>
                <a:cs typeface="Times New Roman" panose="02020603050405020304" pitchFamily="18" charset="0"/>
              </a:rPr>
              <a:t>一般来说，专家系统</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知识库</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推理机</a:t>
            </a:r>
            <a:endParaRPr lang="en-US" altLang="zh-CN" sz="1600"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600" dirty="0">
                <a:latin typeface="Times New Roman" panose="02020603050405020304" pitchFamily="18" charset="0"/>
                <a:cs typeface="Times New Roman" panose="02020603050405020304" pitchFamily="18" charset="0"/>
              </a:rPr>
              <a:t>       ※ </a:t>
            </a:r>
            <a:r>
              <a:rPr lang="zh-CN" altLang="en-US" sz="1600" dirty="0">
                <a:latin typeface="Times New Roman" panose="02020603050405020304" pitchFamily="18" charset="0"/>
                <a:cs typeface="Times New Roman" panose="02020603050405020304" pitchFamily="18" charset="0"/>
              </a:rPr>
              <a:t>专家系统必须具备三要素：</a:t>
            </a:r>
            <a:endParaRPr lang="en-US" altLang="zh-CN" sz="1600"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600" dirty="0">
                <a:latin typeface="Times New Roman" panose="02020603050405020304" pitchFamily="18" charset="0"/>
                <a:cs typeface="Times New Roman" panose="02020603050405020304" pitchFamily="18" charset="0"/>
              </a:rPr>
              <a:t>          ① </a:t>
            </a:r>
            <a:r>
              <a:rPr lang="zh-CN" altLang="en-US" sz="1600" dirty="0">
                <a:latin typeface="Times New Roman" panose="02020603050405020304" pitchFamily="18" charset="0"/>
                <a:cs typeface="Times New Roman" panose="02020603050405020304" pitchFamily="18" charset="0"/>
              </a:rPr>
              <a:t>领域专家级知识</a:t>
            </a:r>
            <a:br>
              <a:rPr lang="zh-CN" altLang="en-US" sz="1600" dirty="0">
                <a:latin typeface="Times New Roman" panose="02020603050405020304" pitchFamily="18" charset="0"/>
                <a:cs typeface="Times New Roman" panose="02020603050405020304" pitchFamily="18" charset="0"/>
              </a:rPr>
            </a:br>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② </a:t>
            </a:r>
            <a:r>
              <a:rPr lang="zh-CN" altLang="en-US" sz="1600" dirty="0">
                <a:latin typeface="Times New Roman" panose="02020603050405020304" pitchFamily="18" charset="0"/>
                <a:cs typeface="Times New Roman" panose="02020603050405020304" pitchFamily="18" charset="0"/>
              </a:rPr>
              <a:t>模拟专家思维</a:t>
            </a:r>
            <a:br>
              <a:rPr lang="zh-CN" altLang="en-US" sz="1600" dirty="0">
                <a:latin typeface="Times New Roman" panose="02020603050405020304" pitchFamily="18" charset="0"/>
                <a:cs typeface="Times New Roman" panose="02020603050405020304" pitchFamily="18" charset="0"/>
              </a:rPr>
            </a:br>
            <a:r>
              <a:rPr lang="en-US" altLang="zh-CN" sz="1600" dirty="0">
                <a:latin typeface="Times New Roman" panose="02020603050405020304" pitchFamily="18" charset="0"/>
                <a:cs typeface="Times New Roman" panose="02020603050405020304" pitchFamily="18" charset="0"/>
              </a:rPr>
              <a:t>          ③ </a:t>
            </a:r>
            <a:r>
              <a:rPr lang="zh-CN" altLang="en-US" sz="1600" dirty="0">
                <a:latin typeface="Times New Roman" panose="02020603050405020304" pitchFamily="18" charset="0"/>
                <a:cs typeface="Times New Roman" panose="02020603050405020304" pitchFamily="18" charset="0"/>
              </a:rPr>
              <a:t>达到专家级的水平</a:t>
            </a:r>
            <a:endParaRPr lang="en-US" altLang="zh-CN" sz="1600"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600">
                <a:latin typeface="Times New Roman" panose="02020603050405020304" pitchFamily="18" charset="0"/>
                <a:cs typeface="Times New Roman" panose="02020603050405020304" pitchFamily="18" charset="0"/>
              </a:rPr>
              <a:t>       ※ MYCIN</a:t>
            </a:r>
            <a:r>
              <a:rPr lang="zh-CN" altLang="en-US" sz="1600">
                <a:latin typeface="Times New Roman" panose="02020603050405020304" pitchFamily="18" charset="0"/>
                <a:cs typeface="Times New Roman" panose="02020603050405020304" pitchFamily="18" charset="0"/>
              </a:rPr>
              <a:t>：诊疗感染性疾病的专家系统</a:t>
            </a:r>
            <a:endParaRPr lang="en-US" altLang="zh-CN" sz="160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600">
                <a:latin typeface="Times New Roman" panose="02020603050405020304" pitchFamily="18" charset="0"/>
                <a:cs typeface="Times New Roman" panose="02020603050405020304" pitchFamily="18" charset="0"/>
              </a:rPr>
              <a:t>            PROSPECTOR</a:t>
            </a:r>
            <a:r>
              <a:rPr lang="zh-CN" altLang="en-US" sz="1600">
                <a:latin typeface="Times New Roman" panose="02020603050405020304" pitchFamily="18" charset="0"/>
                <a:cs typeface="Times New Roman" panose="02020603050405020304" pitchFamily="18" charset="0"/>
              </a:rPr>
              <a:t>：</a:t>
            </a:r>
            <a:r>
              <a:rPr lang="zh-CN" altLang="en-US" sz="1600"/>
              <a:t>探矿专家系统</a:t>
            </a:r>
            <a:endParaRPr lang="zh-CN" altLang="zh-CN" sz="1600" dirty="0">
              <a:latin typeface="Times New Roman" panose="02020603050405020304" pitchFamily="18" charset="0"/>
              <a:cs typeface="Times New Roman" panose="02020603050405020304" pitchFamily="18" charset="0"/>
            </a:endParaRPr>
          </a:p>
        </p:txBody>
      </p:sp>
      <p:pic>
        <p:nvPicPr>
          <p:cNvPr id="6" name="图片 5">
            <a:extLst>
              <a:ext uri="{FF2B5EF4-FFF2-40B4-BE49-F238E27FC236}">
                <a16:creationId xmlns:a16="http://schemas.microsoft.com/office/drawing/2014/main" id="{B2028374-8B92-4871-9FE3-0F267E8BFC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92080" y="2652000"/>
            <a:ext cx="3437147" cy="2296014"/>
          </a:xfrm>
          <a:prstGeom prst="rect">
            <a:avLst/>
          </a:prstGeom>
        </p:spPr>
      </p:pic>
    </p:spTree>
    <p:extLst>
      <p:ext uri="{BB962C8B-B14F-4D97-AF65-F5344CB8AC3E}">
        <p14:creationId xmlns:p14="http://schemas.microsoft.com/office/powerpoint/2010/main" val="887831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三、人工智能技术与应用</a:t>
            </a:r>
            <a:endParaRPr lang="zh-CN" altLang="en-US" sz="2400" dirty="0"/>
          </a:p>
        </p:txBody>
      </p:sp>
      <p:sp>
        <p:nvSpPr>
          <p:cNvPr id="3" name="内容占位符 2"/>
          <p:cNvSpPr>
            <a:spLocks noGrp="1"/>
          </p:cNvSpPr>
          <p:nvPr>
            <p:ph idx="1"/>
          </p:nvPr>
        </p:nvSpPr>
        <p:spPr>
          <a:xfrm>
            <a:off x="611559" y="986626"/>
            <a:ext cx="7416825" cy="2377212"/>
          </a:xfrm>
        </p:spPr>
        <p:txBody>
          <a:bodyPr>
            <a:noAutofit/>
          </a:bodyPr>
          <a:lstStyle/>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6</a:t>
            </a:r>
            <a:r>
              <a:rPr lang="zh-CN" altLang="zh-CN" sz="1800" dirty="0">
                <a:solidFill>
                  <a:srgbClr val="000066"/>
                </a:solidFill>
                <a:latin typeface="Times New Roman" panose="02020603050405020304" pitchFamily="18" charset="0"/>
                <a:cs typeface="Times New Roman" panose="02020603050405020304" pitchFamily="18" charset="0"/>
              </a:rPr>
              <a:t>．人工神经网络</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dirty="0">
                <a:latin typeface="Times New Roman" panose="02020603050405020304" pitchFamily="18" charset="0"/>
                <a:cs typeface="Times New Roman" panose="02020603050405020304" pitchFamily="18" charset="0"/>
              </a:rPr>
              <a:t>      ※ Artificial Neural Networks</a:t>
            </a: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 ANN</a:t>
            </a:r>
          </a:p>
          <a:p>
            <a:pPr marL="0" indent="0">
              <a:lnSpc>
                <a:spcPct val="150000"/>
              </a:lnSpc>
              <a:spcBef>
                <a:spcPts val="0"/>
              </a:spcBef>
              <a:buNone/>
            </a:pPr>
            <a:r>
              <a:rPr lang="en-US" altLang="zh-CN" sz="1800">
                <a:latin typeface="Times New Roman" panose="02020603050405020304" pitchFamily="18" charset="0"/>
                <a:cs typeface="Times New Roman" panose="02020603050405020304" pitchFamily="18" charset="0"/>
              </a:rPr>
              <a:t>      ※ </a:t>
            </a:r>
            <a:r>
              <a:rPr lang="zh-CN" altLang="en-US" sz="1800"/>
              <a:t>一种模仿人脑神经网络的计算系统</a:t>
            </a:r>
            <a:endParaRPr lang="zh-CN" altLang="zh-CN" sz="1800" dirty="0"/>
          </a:p>
        </p:txBody>
      </p:sp>
      <p:pic>
        <p:nvPicPr>
          <p:cNvPr id="4" name="图片 3">
            <a:extLst>
              <a:ext uri="{FF2B5EF4-FFF2-40B4-BE49-F238E27FC236}">
                <a16:creationId xmlns:a16="http://schemas.microsoft.com/office/drawing/2014/main" id="{5A5A0F1D-63AA-42CB-B96B-3CFD3498B0A5}"/>
              </a:ext>
            </a:extLst>
          </p:cNvPr>
          <p:cNvPicPr>
            <a:picLocks noChangeAspect="1"/>
          </p:cNvPicPr>
          <p:nvPr/>
        </p:nvPicPr>
        <p:blipFill>
          <a:blip r:embed="rId3"/>
          <a:stretch>
            <a:fillRect/>
          </a:stretch>
        </p:blipFill>
        <p:spPr>
          <a:xfrm>
            <a:off x="2619375" y="2302825"/>
            <a:ext cx="3905250" cy="2828925"/>
          </a:xfrm>
          <a:prstGeom prst="rect">
            <a:avLst/>
          </a:prstGeom>
        </p:spPr>
      </p:pic>
    </p:spTree>
    <p:extLst>
      <p:ext uri="{BB962C8B-B14F-4D97-AF65-F5344CB8AC3E}">
        <p14:creationId xmlns:p14="http://schemas.microsoft.com/office/powerpoint/2010/main" val="2046153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三、人工智能技术与应用</a:t>
            </a:r>
            <a:endParaRPr lang="zh-CN" altLang="en-US" sz="2400" dirty="0"/>
          </a:p>
        </p:txBody>
      </p:sp>
      <p:sp>
        <p:nvSpPr>
          <p:cNvPr id="3" name="内容占位符 2"/>
          <p:cNvSpPr>
            <a:spLocks noGrp="1"/>
          </p:cNvSpPr>
          <p:nvPr>
            <p:ph idx="1"/>
          </p:nvPr>
        </p:nvSpPr>
        <p:spPr>
          <a:xfrm>
            <a:off x="611559" y="986626"/>
            <a:ext cx="7704857" cy="1369100"/>
          </a:xfrm>
        </p:spPr>
        <p:txBody>
          <a:bodyPr>
            <a:noAutofit/>
          </a:bodyPr>
          <a:lstStyle/>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7</a:t>
            </a:r>
            <a:r>
              <a:rPr lang="zh-CN"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数据挖掘</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600" dirty="0">
                <a:solidFill>
                  <a:srgbClr val="000066"/>
                </a:solidFill>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 ※ Data Mining</a:t>
            </a:r>
          </a:p>
          <a:p>
            <a:pPr marL="0" indent="0">
              <a:lnSpc>
                <a:spcPct val="150000"/>
              </a:lnSpc>
              <a:spcBef>
                <a:spcPts val="0"/>
              </a:spcBef>
              <a:buNone/>
            </a:pPr>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数据挖掘是指从大量的数据中通过算法搜索隐藏于其中信息的过程</a:t>
            </a:r>
            <a:endParaRPr lang="en-US" altLang="zh-CN" sz="1600" dirty="0">
              <a:latin typeface="Times New Roman" panose="02020603050405020304" pitchFamily="18" charset="0"/>
              <a:cs typeface="Times New Roman" panose="02020603050405020304" pitchFamily="18" charset="0"/>
            </a:endParaRPr>
          </a:p>
        </p:txBody>
      </p:sp>
      <p:sp>
        <p:nvSpPr>
          <p:cNvPr id="5" name="矩形 4">
            <a:extLst>
              <a:ext uri="{FF2B5EF4-FFF2-40B4-BE49-F238E27FC236}">
                <a16:creationId xmlns:a16="http://schemas.microsoft.com/office/drawing/2014/main" id="{1843E4BB-4BD8-412C-8957-0ECACDD2864A}"/>
              </a:ext>
            </a:extLst>
          </p:cNvPr>
          <p:cNvSpPr/>
          <p:nvPr/>
        </p:nvSpPr>
        <p:spPr bwMode="gray">
          <a:xfrm>
            <a:off x="2339752" y="2602477"/>
            <a:ext cx="1440160" cy="504056"/>
          </a:xfrm>
          <a:prstGeom prst="rect">
            <a:avLst/>
          </a:prstGeom>
          <a:noFill/>
          <a:ln w="15875">
            <a:solidFill>
              <a:srgbClr val="000066"/>
            </a:solidFill>
            <a:miter lim="800000"/>
            <a:headEnd/>
            <a:tailEnd/>
          </a:ln>
          <a:effectLst/>
        </p:spPr>
        <p:txBody>
          <a:bodyPr wrap="none" rtlCol="0" anchor="ctr"/>
          <a:lstStyle/>
          <a:p>
            <a:pPr algn="ctr" eaLnBrk="0" hangingPunct="0"/>
            <a:r>
              <a:rPr lang="zh-CN" altLang="en-US" sz="1600" dirty="0">
                <a:solidFill>
                  <a:srgbClr val="000078"/>
                </a:solidFill>
                <a:latin typeface="微软雅黑" panose="020B0503020204020204" pitchFamily="34" charset="-122"/>
                <a:ea typeface="微软雅黑" panose="020B0503020204020204" pitchFamily="34" charset="-122"/>
                <a:cs typeface="Times New Roman" panose="02020603050405020304" pitchFamily="18" charset="0"/>
              </a:rPr>
              <a:t>数据挖掘</a:t>
            </a:r>
          </a:p>
        </p:txBody>
      </p:sp>
      <p:sp>
        <p:nvSpPr>
          <p:cNvPr id="7" name="矩形 6">
            <a:extLst>
              <a:ext uri="{FF2B5EF4-FFF2-40B4-BE49-F238E27FC236}">
                <a16:creationId xmlns:a16="http://schemas.microsoft.com/office/drawing/2014/main" id="{40092596-A260-46D7-9114-6993B13ED6E0}"/>
              </a:ext>
            </a:extLst>
          </p:cNvPr>
          <p:cNvSpPr/>
          <p:nvPr/>
        </p:nvSpPr>
        <p:spPr bwMode="gray">
          <a:xfrm>
            <a:off x="1430283" y="3674175"/>
            <a:ext cx="1440160" cy="504056"/>
          </a:xfrm>
          <a:prstGeom prst="rect">
            <a:avLst/>
          </a:prstGeom>
          <a:noFill/>
          <a:ln w="15875">
            <a:solidFill>
              <a:srgbClr val="000066"/>
            </a:solidFill>
            <a:miter lim="800000"/>
            <a:headEnd/>
            <a:tailEnd/>
          </a:ln>
          <a:effectLst/>
        </p:spPr>
        <p:txBody>
          <a:bodyPr wrap="none" rtlCol="0" anchor="ctr"/>
          <a:lstStyle/>
          <a:p>
            <a:pPr algn="ctr" eaLnBrk="0" hangingPunct="0"/>
            <a:r>
              <a:rPr lang="zh-CN" altLang="en-US" sz="1600" dirty="0">
                <a:solidFill>
                  <a:srgbClr val="000078"/>
                </a:solidFill>
                <a:latin typeface="微软雅黑" panose="020B0503020204020204" pitchFamily="34" charset="-122"/>
                <a:ea typeface="微软雅黑" panose="020B0503020204020204" pitchFamily="34" charset="-122"/>
                <a:cs typeface="Times New Roman" panose="02020603050405020304" pitchFamily="18" charset="0"/>
              </a:rPr>
              <a:t>机器学习</a:t>
            </a:r>
          </a:p>
        </p:txBody>
      </p:sp>
      <p:sp>
        <p:nvSpPr>
          <p:cNvPr id="8" name="矩形 7">
            <a:extLst>
              <a:ext uri="{FF2B5EF4-FFF2-40B4-BE49-F238E27FC236}">
                <a16:creationId xmlns:a16="http://schemas.microsoft.com/office/drawing/2014/main" id="{10F71852-1C11-4843-A5C6-EE385EA1AB7F}"/>
              </a:ext>
            </a:extLst>
          </p:cNvPr>
          <p:cNvSpPr/>
          <p:nvPr/>
        </p:nvSpPr>
        <p:spPr bwMode="gray">
          <a:xfrm>
            <a:off x="3347864" y="3671102"/>
            <a:ext cx="1440160" cy="504056"/>
          </a:xfrm>
          <a:prstGeom prst="rect">
            <a:avLst/>
          </a:prstGeom>
          <a:noFill/>
          <a:ln w="15875">
            <a:solidFill>
              <a:srgbClr val="000066"/>
            </a:solidFill>
            <a:miter lim="800000"/>
            <a:headEnd/>
            <a:tailEnd/>
          </a:ln>
          <a:effectLst/>
        </p:spPr>
        <p:txBody>
          <a:bodyPr wrap="none" rtlCol="0" anchor="ctr"/>
          <a:lstStyle/>
          <a:p>
            <a:pPr algn="ctr" eaLnBrk="0" hangingPunct="0"/>
            <a:r>
              <a:rPr lang="zh-CN" altLang="en-US" sz="1600" dirty="0">
                <a:solidFill>
                  <a:srgbClr val="000078"/>
                </a:solidFill>
                <a:latin typeface="微软雅黑" panose="020B0503020204020204" pitchFamily="34" charset="-122"/>
                <a:ea typeface="微软雅黑" panose="020B0503020204020204" pitchFamily="34" charset="-122"/>
                <a:cs typeface="Times New Roman" panose="02020603050405020304" pitchFamily="18" charset="0"/>
              </a:rPr>
              <a:t>数据库</a:t>
            </a:r>
          </a:p>
        </p:txBody>
      </p:sp>
      <p:cxnSp>
        <p:nvCxnSpPr>
          <p:cNvPr id="10" name="直接箭头连接符 9">
            <a:extLst>
              <a:ext uri="{FF2B5EF4-FFF2-40B4-BE49-F238E27FC236}">
                <a16:creationId xmlns:a16="http://schemas.microsoft.com/office/drawing/2014/main" id="{CCC05ECA-4D2E-4B58-B687-B3355AAB4B8D}"/>
              </a:ext>
            </a:extLst>
          </p:cNvPr>
          <p:cNvCxnSpPr/>
          <p:nvPr/>
        </p:nvCxnSpPr>
        <p:spPr>
          <a:xfrm flipV="1">
            <a:off x="3563888" y="3106533"/>
            <a:ext cx="0" cy="558764"/>
          </a:xfrm>
          <a:prstGeom prst="straightConnector1">
            <a:avLst/>
          </a:prstGeom>
          <a:ln w="31750" cmpd="dbl">
            <a:solidFill>
              <a:srgbClr val="000078"/>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722476AB-00B5-4617-A858-B73232BBE880}"/>
              </a:ext>
            </a:extLst>
          </p:cNvPr>
          <p:cNvCxnSpPr/>
          <p:nvPr/>
        </p:nvCxnSpPr>
        <p:spPr>
          <a:xfrm flipV="1">
            <a:off x="2699792" y="3106533"/>
            <a:ext cx="0" cy="558764"/>
          </a:xfrm>
          <a:prstGeom prst="straightConnector1">
            <a:avLst/>
          </a:prstGeom>
          <a:ln w="31750" cmpd="dbl">
            <a:solidFill>
              <a:srgbClr val="000078"/>
            </a:solidFill>
            <a:tailEnd type="triangle"/>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B7236424-FE88-44C4-AA10-F3C421C97A7C}"/>
              </a:ext>
            </a:extLst>
          </p:cNvPr>
          <p:cNvSpPr/>
          <p:nvPr/>
        </p:nvSpPr>
        <p:spPr bwMode="gray">
          <a:xfrm>
            <a:off x="3438124" y="3239054"/>
            <a:ext cx="1440160" cy="504056"/>
          </a:xfrm>
          <a:prstGeom prst="rect">
            <a:avLst/>
          </a:prstGeom>
          <a:noFill/>
          <a:ln w="15875">
            <a:noFill/>
            <a:miter lim="800000"/>
            <a:headEnd/>
            <a:tailEnd/>
          </a:ln>
          <a:effectLst/>
        </p:spPr>
        <p:txBody>
          <a:bodyPr wrap="none" rtlCol="0" anchor="ctr"/>
          <a:lstStyle/>
          <a:p>
            <a:pPr algn="ctr" eaLnBrk="0" hangingPunct="0"/>
            <a:r>
              <a:rPr lang="zh-CN" altLang="en-US" sz="1400" dirty="0">
                <a:solidFill>
                  <a:srgbClr val="C00000"/>
                </a:solidFill>
                <a:latin typeface="黑体" panose="02010609060101010101" pitchFamily="49" charset="-122"/>
                <a:ea typeface="黑体" panose="02010609060101010101" pitchFamily="49" charset="-122"/>
                <a:cs typeface="Times New Roman" panose="02020603050405020304" pitchFamily="18" charset="0"/>
              </a:rPr>
              <a:t>数据管理技术</a:t>
            </a:r>
          </a:p>
        </p:txBody>
      </p:sp>
      <p:sp>
        <p:nvSpPr>
          <p:cNvPr id="13" name="矩形 12">
            <a:extLst>
              <a:ext uri="{FF2B5EF4-FFF2-40B4-BE49-F238E27FC236}">
                <a16:creationId xmlns:a16="http://schemas.microsoft.com/office/drawing/2014/main" id="{869B0AC5-A81B-45FC-8FDC-4509647E8579}"/>
              </a:ext>
            </a:extLst>
          </p:cNvPr>
          <p:cNvSpPr/>
          <p:nvPr/>
        </p:nvSpPr>
        <p:spPr bwMode="gray">
          <a:xfrm>
            <a:off x="1403648" y="3239054"/>
            <a:ext cx="1440160" cy="504056"/>
          </a:xfrm>
          <a:prstGeom prst="rect">
            <a:avLst/>
          </a:prstGeom>
          <a:noFill/>
          <a:ln w="15875">
            <a:noFill/>
            <a:miter lim="800000"/>
            <a:headEnd/>
            <a:tailEnd/>
          </a:ln>
          <a:effectLst/>
        </p:spPr>
        <p:txBody>
          <a:bodyPr wrap="none" rtlCol="0" anchor="ctr"/>
          <a:lstStyle/>
          <a:p>
            <a:pPr algn="ctr" eaLnBrk="0" hangingPunct="0"/>
            <a:r>
              <a:rPr lang="zh-CN" altLang="en-US" sz="1400" dirty="0">
                <a:solidFill>
                  <a:srgbClr val="C00000"/>
                </a:solidFill>
                <a:latin typeface="黑体" panose="02010609060101010101" pitchFamily="49" charset="-122"/>
                <a:ea typeface="黑体" panose="02010609060101010101" pitchFamily="49" charset="-122"/>
                <a:cs typeface="Times New Roman" panose="02020603050405020304" pitchFamily="18" charset="0"/>
              </a:rPr>
              <a:t>数据分析技术</a:t>
            </a:r>
          </a:p>
        </p:txBody>
      </p:sp>
    </p:spTree>
    <p:extLst>
      <p:ext uri="{BB962C8B-B14F-4D97-AF65-F5344CB8AC3E}">
        <p14:creationId xmlns:p14="http://schemas.microsoft.com/office/powerpoint/2010/main" val="1559470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三、人工智能技术与应用</a:t>
            </a:r>
            <a:endParaRPr lang="zh-CN" altLang="en-US" sz="2400" dirty="0"/>
          </a:p>
        </p:txBody>
      </p:sp>
      <p:sp>
        <p:nvSpPr>
          <p:cNvPr id="3" name="内容占位符 2"/>
          <p:cNvSpPr>
            <a:spLocks noGrp="1"/>
          </p:cNvSpPr>
          <p:nvPr>
            <p:ph idx="1"/>
          </p:nvPr>
        </p:nvSpPr>
        <p:spPr>
          <a:xfrm>
            <a:off x="611559" y="986626"/>
            <a:ext cx="7416825" cy="2377212"/>
          </a:xfrm>
        </p:spPr>
        <p:txBody>
          <a:bodyPr>
            <a:noAutofit/>
          </a:bodyPr>
          <a:lstStyle/>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8</a:t>
            </a:r>
            <a:r>
              <a:rPr lang="zh-CN" altLang="zh-CN" sz="1800" dirty="0">
                <a:solidFill>
                  <a:srgbClr val="000066"/>
                </a:solidFill>
                <a:latin typeface="Times New Roman" panose="02020603050405020304" pitchFamily="18" charset="0"/>
                <a:cs typeface="Times New Roman" panose="02020603050405020304" pitchFamily="18" charset="0"/>
              </a:rPr>
              <a:t>．智能控制</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600" dirty="0">
                <a:latin typeface="Times New Roman" panose="02020603050405020304" pitchFamily="18" charset="0"/>
                <a:cs typeface="Times New Roman" panose="02020603050405020304" pitchFamily="18" charset="0"/>
              </a:rPr>
              <a:t>      ※ Intelligent Controls</a:t>
            </a:r>
          </a:p>
          <a:p>
            <a:pPr marL="0" indent="0">
              <a:lnSpc>
                <a:spcPct val="150000"/>
              </a:lnSpc>
              <a:spcBef>
                <a:spcPts val="0"/>
              </a:spcBef>
              <a:buNone/>
            </a:pPr>
            <a:r>
              <a:rPr lang="en-US" altLang="zh-CN" sz="1600" dirty="0">
                <a:latin typeface="Times New Roman" panose="02020603050405020304" pitchFamily="18" charset="0"/>
                <a:cs typeface="Times New Roman" panose="02020603050405020304" pitchFamily="18" charset="0"/>
              </a:rPr>
              <a:t>      ※ </a:t>
            </a:r>
            <a:r>
              <a:rPr lang="zh-CN" altLang="en-US" sz="1600" dirty="0">
                <a:latin typeface="Times New Roman" panose="02020603050405020304" pitchFamily="18" charset="0"/>
                <a:cs typeface="Times New Roman" panose="02020603050405020304" pitchFamily="18" charset="0"/>
              </a:rPr>
              <a:t>把</a:t>
            </a:r>
            <a:r>
              <a:rPr lang="zh-CN" altLang="en-US" sz="1600">
                <a:latin typeface="Times New Roman" panose="02020603050405020304" pitchFamily="18" charset="0"/>
                <a:cs typeface="Times New Roman" panose="02020603050405020304" pitchFamily="18" charset="0"/>
              </a:rPr>
              <a:t>人工智能引入控制</a:t>
            </a:r>
            <a:r>
              <a:rPr lang="zh-CN" altLang="en-US" sz="1600" dirty="0">
                <a:latin typeface="Times New Roman" panose="02020603050405020304" pitchFamily="18" charset="0"/>
                <a:cs typeface="Times New Roman" panose="02020603050405020304" pitchFamily="18" charset="0"/>
              </a:rPr>
              <a:t>领域，建立智能控制系统</a:t>
            </a:r>
            <a:endParaRPr lang="zh-CN" altLang="zh-CN" sz="1600" dirty="0"/>
          </a:p>
        </p:txBody>
      </p:sp>
      <p:pic>
        <p:nvPicPr>
          <p:cNvPr id="6" name="图片 5">
            <a:extLst>
              <a:ext uri="{FF2B5EF4-FFF2-40B4-BE49-F238E27FC236}">
                <a16:creationId xmlns:a16="http://schemas.microsoft.com/office/drawing/2014/main" id="{C8CC3D17-7234-4600-99D5-1EDF57469C7C}"/>
              </a:ext>
            </a:extLst>
          </p:cNvPr>
          <p:cNvPicPr>
            <a:picLocks noChangeAspect="1"/>
          </p:cNvPicPr>
          <p:nvPr/>
        </p:nvPicPr>
        <p:blipFill>
          <a:blip r:embed="rId3"/>
          <a:stretch>
            <a:fillRect/>
          </a:stretch>
        </p:blipFill>
        <p:spPr>
          <a:xfrm>
            <a:off x="1187624" y="2183276"/>
            <a:ext cx="3816424" cy="2867521"/>
          </a:xfrm>
          <a:prstGeom prst="rect">
            <a:avLst/>
          </a:prstGeom>
        </p:spPr>
      </p:pic>
    </p:spTree>
    <p:extLst>
      <p:ext uri="{BB962C8B-B14F-4D97-AF65-F5344CB8AC3E}">
        <p14:creationId xmlns:p14="http://schemas.microsoft.com/office/powerpoint/2010/main" val="2069487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三、人工智能技术与应用</a:t>
            </a:r>
            <a:endParaRPr lang="zh-CN" altLang="en-US" sz="2400" dirty="0"/>
          </a:p>
        </p:txBody>
      </p:sp>
      <p:sp>
        <p:nvSpPr>
          <p:cNvPr id="3" name="内容占位符 2"/>
          <p:cNvSpPr>
            <a:spLocks noGrp="1"/>
          </p:cNvSpPr>
          <p:nvPr>
            <p:ph idx="1"/>
          </p:nvPr>
        </p:nvSpPr>
        <p:spPr>
          <a:xfrm>
            <a:off x="611559" y="986626"/>
            <a:ext cx="8424937" cy="2737252"/>
          </a:xfrm>
        </p:spPr>
        <p:txBody>
          <a:bodyPr>
            <a:noAutofit/>
          </a:bodyPr>
          <a:lstStyle/>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9</a:t>
            </a:r>
            <a:r>
              <a:rPr lang="zh-CN" altLang="zh-CN" sz="1800" dirty="0">
                <a:solidFill>
                  <a:srgbClr val="000066"/>
                </a:solidFill>
                <a:latin typeface="Times New Roman" panose="02020603050405020304" pitchFamily="18" charset="0"/>
                <a:cs typeface="Times New Roman" panose="02020603050405020304" pitchFamily="18" charset="0"/>
              </a:rPr>
              <a:t>．智能机器人（</a:t>
            </a:r>
            <a:r>
              <a:rPr lang="en-US" altLang="zh-CN" sz="1800" dirty="0">
                <a:solidFill>
                  <a:srgbClr val="000066"/>
                </a:solidFill>
                <a:latin typeface="Times New Roman" panose="02020603050405020304" pitchFamily="18" charset="0"/>
                <a:cs typeface="Times New Roman" panose="02020603050405020304" pitchFamily="18" charset="0"/>
              </a:rPr>
              <a:t>Intelligent Robot</a:t>
            </a:r>
            <a:r>
              <a:rPr lang="zh-CN" altLang="zh-CN" sz="1800" dirty="0">
                <a:solidFill>
                  <a:srgbClr val="000066"/>
                </a:solidFill>
                <a:latin typeface="Times New Roman" panose="02020603050405020304" pitchFamily="18" charset="0"/>
                <a:cs typeface="Times New Roman" panose="02020603050405020304" pitchFamily="18" charset="0"/>
              </a:rPr>
              <a:t>）</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600" dirty="0"/>
              <a:t>       ※ </a:t>
            </a:r>
            <a:r>
              <a:rPr lang="zh-CN" altLang="zh-CN" sz="1600" dirty="0"/>
              <a:t>具有人类特有的某种智能、能模拟人类行为的机器</a:t>
            </a:r>
            <a:endParaRPr lang="en-US" altLang="zh-CN" sz="1600" dirty="0"/>
          </a:p>
          <a:p>
            <a:pPr marL="0" indent="0">
              <a:lnSpc>
                <a:spcPct val="150000"/>
              </a:lnSpc>
              <a:spcBef>
                <a:spcPts val="0"/>
              </a:spcBef>
              <a:buNone/>
            </a:pPr>
            <a:r>
              <a:rPr lang="en-US" altLang="zh-CN" sz="1600" dirty="0"/>
              <a:t>       ※ </a:t>
            </a:r>
            <a:r>
              <a:rPr lang="zh-CN" altLang="en-US" sz="1600" dirty="0"/>
              <a:t>机器人经历了三代的发展历程</a:t>
            </a:r>
            <a:endParaRPr lang="en-US" altLang="zh-CN" sz="1600" dirty="0"/>
          </a:p>
          <a:p>
            <a:pPr marL="0" indent="0">
              <a:lnSpc>
                <a:spcPct val="150000"/>
              </a:lnSpc>
              <a:spcBef>
                <a:spcPts val="0"/>
              </a:spcBef>
              <a:buNone/>
            </a:pPr>
            <a:r>
              <a:rPr lang="en-US" altLang="zh-CN" sz="1600" dirty="0"/>
              <a:t>           ① </a:t>
            </a:r>
            <a:r>
              <a:rPr lang="zh-CN" altLang="en-US" sz="1600" dirty="0"/>
              <a:t>程序控制机器人</a:t>
            </a:r>
            <a:endParaRPr lang="en-US" altLang="zh-CN" sz="1600" dirty="0"/>
          </a:p>
          <a:p>
            <a:pPr marL="0" indent="0">
              <a:lnSpc>
                <a:spcPct val="150000"/>
              </a:lnSpc>
              <a:spcBef>
                <a:spcPts val="0"/>
              </a:spcBef>
              <a:buNone/>
            </a:pPr>
            <a:r>
              <a:rPr lang="en-US" altLang="zh-CN" sz="1600" dirty="0"/>
              <a:t>           ② </a:t>
            </a:r>
            <a:r>
              <a:rPr lang="zh-CN" altLang="en-US" sz="1600" dirty="0"/>
              <a:t>自适应机器人</a:t>
            </a:r>
            <a:endParaRPr lang="en-US" altLang="zh-CN" sz="1600" dirty="0"/>
          </a:p>
          <a:p>
            <a:pPr marL="0" indent="0">
              <a:lnSpc>
                <a:spcPct val="150000"/>
              </a:lnSpc>
              <a:spcBef>
                <a:spcPts val="0"/>
              </a:spcBef>
              <a:buNone/>
            </a:pPr>
            <a:r>
              <a:rPr lang="en-US" altLang="zh-CN" sz="1600" dirty="0"/>
              <a:t>           ③ </a:t>
            </a:r>
            <a:r>
              <a:rPr lang="zh-CN" altLang="en-US" sz="1600" dirty="0"/>
              <a:t>智能机器人</a:t>
            </a:r>
            <a:endParaRPr lang="zh-CN" altLang="zh-CN" sz="1600" dirty="0"/>
          </a:p>
        </p:txBody>
      </p:sp>
      <p:pic>
        <p:nvPicPr>
          <p:cNvPr id="4100" name="Picture 4" descr="http://5b0988e595225.cdn.sohucs.com/images/20181018/817ea3fb3f5a4dc8acb52e8e32e19c60.jpeg">
            <a:extLst>
              <a:ext uri="{FF2B5EF4-FFF2-40B4-BE49-F238E27FC236}">
                <a16:creationId xmlns:a16="http://schemas.microsoft.com/office/drawing/2014/main" id="{9B014301-235C-4345-A924-D325B9D1279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77586" y="3289441"/>
            <a:ext cx="2357782" cy="1523880"/>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51891426-7559-4190-983E-2193BD004A17}"/>
              </a:ext>
            </a:extLst>
          </p:cNvPr>
          <p:cNvSpPr txBox="1"/>
          <p:nvPr/>
        </p:nvSpPr>
        <p:spPr>
          <a:xfrm>
            <a:off x="5077586" y="4811813"/>
            <a:ext cx="2441694"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自动驾驶也是一种机器人</a:t>
            </a:r>
          </a:p>
        </p:txBody>
      </p:sp>
      <p:pic>
        <p:nvPicPr>
          <p:cNvPr id="7" name="图片 6">
            <a:extLst>
              <a:ext uri="{FF2B5EF4-FFF2-40B4-BE49-F238E27FC236}">
                <a16:creationId xmlns:a16="http://schemas.microsoft.com/office/drawing/2014/main" id="{3BF88AB4-C65F-4DF8-9CE1-74841C729F8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45635" y="3289441"/>
            <a:ext cx="2563996" cy="1522372"/>
          </a:xfrm>
          <a:prstGeom prst="rect">
            <a:avLst/>
          </a:prstGeom>
        </p:spPr>
      </p:pic>
      <p:sp>
        <p:nvSpPr>
          <p:cNvPr id="10" name="文本框 9">
            <a:extLst>
              <a:ext uri="{FF2B5EF4-FFF2-40B4-BE49-F238E27FC236}">
                <a16:creationId xmlns:a16="http://schemas.microsoft.com/office/drawing/2014/main" id="{5256C9F1-1983-4D97-A61F-3A38DA451EC5}"/>
              </a:ext>
            </a:extLst>
          </p:cNvPr>
          <p:cNvSpPr txBox="1"/>
          <p:nvPr/>
        </p:nvSpPr>
        <p:spPr>
          <a:xfrm>
            <a:off x="2239279" y="4811813"/>
            <a:ext cx="1210588"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工业机器人</a:t>
            </a:r>
          </a:p>
        </p:txBody>
      </p:sp>
    </p:spTree>
    <p:extLst>
      <p:ext uri="{BB962C8B-B14F-4D97-AF65-F5344CB8AC3E}">
        <p14:creationId xmlns:p14="http://schemas.microsoft.com/office/powerpoint/2010/main" val="4248887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 name="图片 53">
            <a:extLst>
              <a:ext uri="{FF2B5EF4-FFF2-40B4-BE49-F238E27FC236}">
                <a16:creationId xmlns:a16="http://schemas.microsoft.com/office/drawing/2014/main" id="{0EB15D0F-13A8-4167-B217-454E592BE6A6}"/>
              </a:ext>
            </a:extLst>
          </p:cNvPr>
          <p:cNvPicPr>
            <a:picLocks noChangeAspect="1"/>
          </p:cNvPicPr>
          <p:nvPr/>
        </p:nvPicPr>
        <p:blipFill>
          <a:blip r:embed="rId3"/>
          <a:stretch>
            <a:fillRect/>
          </a:stretch>
        </p:blipFill>
        <p:spPr>
          <a:xfrm>
            <a:off x="387878" y="2253047"/>
            <a:ext cx="2087229" cy="2038688"/>
          </a:xfrm>
          <a:prstGeom prst="rect">
            <a:avLst/>
          </a:prstGeom>
        </p:spPr>
      </p:pic>
      <p:sp>
        <p:nvSpPr>
          <p:cNvPr id="24" name="内容占位符 2"/>
          <p:cNvSpPr txBox="1">
            <a:spLocks/>
          </p:cNvSpPr>
          <p:nvPr/>
        </p:nvSpPr>
        <p:spPr>
          <a:xfrm>
            <a:off x="406800" y="1069232"/>
            <a:ext cx="8701704" cy="2664296"/>
          </a:xfrm>
          <a:prstGeom prst="rect">
            <a:avLst/>
          </a:prstGeom>
        </p:spPr>
        <p:txBody>
          <a:bodyP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722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3012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302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655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50000"/>
              </a:lnSpc>
              <a:spcBef>
                <a:spcPts val="0"/>
              </a:spcBef>
              <a:buNone/>
            </a:pPr>
            <a:r>
              <a:rPr lang="en-US" altLang="zh-CN"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什么</a:t>
            </a:r>
            <a:r>
              <a:rPr lang="zh-CN" altLang="en-US" sz="1800" dirty="0">
                <a:solidFill>
                  <a:srgbClr val="000066"/>
                </a:solidFill>
                <a:latin typeface="微软雅黑" panose="020B0503020204020204" pitchFamily="34" charset="-122"/>
                <a:ea typeface="微软雅黑" panose="020B0503020204020204" pitchFamily="34" charset="-122"/>
                <a:cs typeface="Times New Roman" panose="02020603050405020304" pitchFamily="18" charset="0"/>
              </a:rPr>
              <a:t>是机器学习</a:t>
            </a:r>
            <a:endParaRPr lang="en-US" altLang="zh-CN" sz="1800" dirty="0">
              <a:solidFill>
                <a:srgbClr val="000066"/>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a:lnSpc>
                <a:spcPct val="150000"/>
              </a:lnSpc>
              <a:spcBef>
                <a:spcPts val="0"/>
              </a:spcBef>
              <a:buNone/>
            </a:pPr>
            <a:r>
              <a:rPr lang="en-US" altLang="zh-CN" sz="1600" dirty="0">
                <a:solidFill>
                  <a:srgbClr val="000066"/>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600" dirty="0">
                <a:solidFill>
                  <a:srgbClr val="000066"/>
                </a:solidFill>
                <a:latin typeface="微软雅黑" panose="020B0503020204020204" pitchFamily="34" charset="-122"/>
                <a:ea typeface="微软雅黑" panose="020B0503020204020204" pitchFamily="34" charset="-122"/>
                <a:cs typeface="Times New Roman" panose="02020603050405020304" pitchFamily="18" charset="0"/>
              </a:rPr>
              <a:t>一门研究如何让计算机模拟人类学习行为以自主获取知识和技能，从而改善系统性能的学科</a:t>
            </a:r>
            <a:endParaRPr lang="en-US" altLang="zh-CN" sz="1600" dirty="0">
              <a:solidFill>
                <a:srgbClr val="000066"/>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a:lnSpc>
                <a:spcPct val="150000"/>
              </a:lnSpc>
              <a:spcBef>
                <a:spcPts val="0"/>
              </a:spcBef>
              <a:buNone/>
            </a:pPr>
            <a:r>
              <a:rPr lang="en-US" altLang="zh-CN" sz="1600" dirty="0">
                <a:solidFill>
                  <a:srgbClr val="000066"/>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600" dirty="0">
                <a:solidFill>
                  <a:srgbClr val="000066"/>
                </a:solidFill>
                <a:latin typeface="微软雅黑" panose="020B0503020204020204" pitchFamily="34" charset="-122"/>
                <a:ea typeface="微软雅黑" panose="020B0503020204020204" pitchFamily="34" charset="-122"/>
                <a:cs typeface="Times New Roman" panose="02020603050405020304" pitchFamily="18" charset="0"/>
              </a:rPr>
              <a:t>通过输入数据集建立模型，然后利用模型进行结果预测的过程</a:t>
            </a:r>
            <a:endParaRPr lang="en-US" altLang="zh-CN" sz="1600" dirty="0">
              <a:solidFill>
                <a:srgbClr val="000066"/>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a:lnSpc>
                <a:spcPct val="150000"/>
              </a:lnSpc>
              <a:spcBef>
                <a:spcPts val="0"/>
              </a:spcBef>
              <a:buNone/>
            </a:pPr>
            <a:endParaRPr lang="en-US" altLang="zh-CN" sz="1800" dirty="0">
              <a:solidFill>
                <a:srgbClr val="002060"/>
              </a:solidFill>
              <a:latin typeface="黑体" panose="02010609060101010101" pitchFamily="49" charset="-122"/>
              <a:ea typeface="黑体" panose="02010609060101010101" pitchFamily="49" charset="-122"/>
              <a:cs typeface="Times New Roman" panose="02020603050405020304" pitchFamily="18" charset="0"/>
            </a:endParaRPr>
          </a:p>
          <a:p>
            <a:pPr marL="0" indent="0">
              <a:lnSpc>
                <a:spcPct val="150000"/>
              </a:lnSpc>
              <a:spcBef>
                <a:spcPts val="0"/>
              </a:spcBef>
              <a:buNone/>
            </a:pPr>
            <a:r>
              <a:rPr lang="en-US" altLang="zh-CN" sz="1800" dirty="0">
                <a:solidFill>
                  <a:srgbClr val="002060"/>
                </a:solidFill>
                <a:latin typeface="黑体" panose="02010609060101010101" pitchFamily="49" charset="-122"/>
                <a:ea typeface="黑体" panose="02010609060101010101" pitchFamily="49" charset="-122"/>
                <a:cs typeface="Times New Roman" panose="02020603050405020304" pitchFamily="18" charset="0"/>
              </a:rPr>
              <a:t>   </a:t>
            </a:r>
            <a:endParaRPr lang="en-US" altLang="zh-CN" sz="1600" dirty="0">
              <a:latin typeface="Times New Roman" panose="02020603050405020304" pitchFamily="18" charset="0"/>
              <a:cs typeface="Times New Roman" panose="02020603050405020304" pitchFamily="18" charset="0"/>
            </a:endParaRPr>
          </a:p>
          <a:p>
            <a:pPr marL="0" indent="0">
              <a:lnSpc>
                <a:spcPct val="150000"/>
              </a:lnSpc>
              <a:spcBef>
                <a:spcPts val="0"/>
              </a:spcBef>
              <a:buFont typeface="Arial" panose="020B0604020202020204" pitchFamily="34" charset="0"/>
              <a:buNone/>
            </a:pPr>
            <a:endParaRPr lang="zh-CN" altLang="zh-CN" sz="1600" dirty="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四</a:t>
            </a:r>
            <a:r>
              <a:rPr lang="zh-CN" altLang="en-US" sz="2400">
                <a:solidFill>
                  <a:srgbClr val="FFFFFF"/>
                </a:solidFill>
              </a:rPr>
              <a:t>、机器学习基本知识</a:t>
            </a:r>
            <a:endParaRPr lang="zh-CN" altLang="en-US" sz="2400" dirty="0"/>
          </a:p>
        </p:txBody>
      </p:sp>
      <p:sp>
        <p:nvSpPr>
          <p:cNvPr id="30" name="矩形 29">
            <a:extLst>
              <a:ext uri="{FF2B5EF4-FFF2-40B4-BE49-F238E27FC236}">
                <a16:creationId xmlns:a16="http://schemas.microsoft.com/office/drawing/2014/main" id="{DDC236D7-43EB-44AC-A30D-2B3335721A07}"/>
              </a:ext>
            </a:extLst>
          </p:cNvPr>
          <p:cNvSpPr/>
          <p:nvPr/>
        </p:nvSpPr>
        <p:spPr bwMode="gray">
          <a:xfrm>
            <a:off x="4234316" y="3939902"/>
            <a:ext cx="1440160" cy="504056"/>
          </a:xfrm>
          <a:prstGeom prst="rect">
            <a:avLst/>
          </a:prstGeom>
          <a:noFill/>
          <a:ln w="15875">
            <a:solidFill>
              <a:srgbClr val="000066"/>
            </a:solidFill>
            <a:miter lim="800000"/>
            <a:headEnd/>
            <a:tailEnd/>
          </a:ln>
          <a:effectLst/>
        </p:spPr>
        <p:txBody>
          <a:bodyPr wrap="none"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600" b="0" i="0" u="none" strike="noStrike" kern="1200" cap="none" spc="0" normalizeH="0" baseline="0" noProof="0">
                <a:ln>
                  <a:noFill/>
                </a:ln>
                <a:solidFill>
                  <a:srgbClr val="000078"/>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模型</a:t>
            </a:r>
            <a:endParaRPr kumimoji="0" lang="zh-CN" altLang="en-US" sz="1600" b="0" i="0" u="none" strike="noStrike" kern="1200" cap="none" spc="0" normalizeH="0" baseline="0" noProof="0" dirty="0">
              <a:ln>
                <a:noFill/>
              </a:ln>
              <a:solidFill>
                <a:srgbClr val="000078"/>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31" name="直接箭头连接符 30">
            <a:extLst>
              <a:ext uri="{FF2B5EF4-FFF2-40B4-BE49-F238E27FC236}">
                <a16:creationId xmlns:a16="http://schemas.microsoft.com/office/drawing/2014/main" id="{D8FA08FE-4754-4FB1-A956-CD5367067E1E}"/>
              </a:ext>
            </a:extLst>
          </p:cNvPr>
          <p:cNvCxnSpPr>
            <a:cxnSpLocks/>
          </p:cNvCxnSpPr>
          <p:nvPr/>
        </p:nvCxnSpPr>
        <p:spPr>
          <a:xfrm>
            <a:off x="3658252" y="4228740"/>
            <a:ext cx="576064" cy="0"/>
          </a:xfrm>
          <a:prstGeom prst="straightConnector1">
            <a:avLst/>
          </a:prstGeom>
          <a:ln w="15875">
            <a:solidFill>
              <a:srgbClr val="000078"/>
            </a:solidFill>
            <a:tailEnd type="triangle"/>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58FDD0E8-0E7E-4626-99ED-3691D9D0802F}"/>
              </a:ext>
            </a:extLst>
          </p:cNvPr>
          <p:cNvSpPr txBox="1"/>
          <p:nvPr/>
        </p:nvSpPr>
        <p:spPr>
          <a:xfrm>
            <a:off x="3067155" y="4034201"/>
            <a:ext cx="595035" cy="338554"/>
          </a:xfrm>
          <a:prstGeom prst="rect">
            <a:avLst/>
          </a:prstGeom>
          <a:noFill/>
          <a:ln>
            <a:noFill/>
          </a:ln>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a:ln>
                  <a:noFill/>
                </a:ln>
                <a:solidFill>
                  <a:srgbClr val="000078"/>
                </a:solidFill>
                <a:effectLst/>
                <a:uLnTx/>
                <a:uFillTx/>
                <a:latin typeface="微软雅黑" panose="020B0503020204020204" pitchFamily="34" charset="-122"/>
                <a:ea typeface="微软雅黑" panose="020B0503020204020204" pitchFamily="34" charset="-122"/>
                <a:cs typeface="+mn-cs"/>
              </a:rPr>
              <a:t>数据</a:t>
            </a:r>
            <a:endParaRPr kumimoji="0" lang="zh-CN" altLang="en-US" sz="1600" b="0" i="0" u="none" strike="noStrike" kern="1200" cap="none" spc="0" normalizeH="0" baseline="0" noProof="0" dirty="0">
              <a:ln>
                <a:noFill/>
              </a:ln>
              <a:solidFill>
                <a:srgbClr val="000078"/>
              </a:solidFill>
              <a:effectLst/>
              <a:uLnTx/>
              <a:uFillTx/>
              <a:latin typeface="微软雅黑" panose="020B0503020204020204" pitchFamily="34" charset="-122"/>
              <a:ea typeface="微软雅黑" panose="020B0503020204020204" pitchFamily="34" charset="-122"/>
              <a:cs typeface="+mn-cs"/>
            </a:endParaRPr>
          </a:p>
        </p:txBody>
      </p:sp>
      <p:cxnSp>
        <p:nvCxnSpPr>
          <p:cNvPr id="33" name="直接箭头连接符 32">
            <a:extLst>
              <a:ext uri="{FF2B5EF4-FFF2-40B4-BE49-F238E27FC236}">
                <a16:creationId xmlns:a16="http://schemas.microsoft.com/office/drawing/2014/main" id="{D8324150-B1BA-44A3-94B0-5C7E2AB6E255}"/>
              </a:ext>
            </a:extLst>
          </p:cNvPr>
          <p:cNvCxnSpPr>
            <a:cxnSpLocks/>
          </p:cNvCxnSpPr>
          <p:nvPr/>
        </p:nvCxnSpPr>
        <p:spPr>
          <a:xfrm flipV="1">
            <a:off x="5670538" y="4193103"/>
            <a:ext cx="576064" cy="1890"/>
          </a:xfrm>
          <a:prstGeom prst="straightConnector1">
            <a:avLst/>
          </a:prstGeom>
          <a:ln w="15875">
            <a:solidFill>
              <a:srgbClr val="000078"/>
            </a:solidFill>
            <a:tailEnd type="triangle"/>
          </a:ln>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DDF84D2D-D6EA-4E47-9C61-A5187ACAA0F7}"/>
              </a:ext>
            </a:extLst>
          </p:cNvPr>
          <p:cNvSpPr txBox="1"/>
          <p:nvPr/>
        </p:nvSpPr>
        <p:spPr>
          <a:xfrm>
            <a:off x="6217003" y="4009408"/>
            <a:ext cx="1005403" cy="338554"/>
          </a:xfrm>
          <a:prstGeom prst="rect">
            <a:avLst/>
          </a:prstGeom>
          <a:noFill/>
          <a:ln>
            <a:noFill/>
          </a:ln>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000078"/>
                </a:solidFill>
                <a:effectLst/>
                <a:uLnTx/>
                <a:uFillTx/>
                <a:latin typeface="微软雅黑" panose="020B0503020204020204" pitchFamily="34" charset="-122"/>
                <a:ea typeface="微软雅黑" panose="020B0503020204020204" pitchFamily="34" charset="-122"/>
                <a:cs typeface="+mn-cs"/>
              </a:rPr>
              <a:t>预测结果</a:t>
            </a:r>
          </a:p>
        </p:txBody>
      </p:sp>
      <p:sp>
        <p:nvSpPr>
          <p:cNvPr id="35" name="矩形 34">
            <a:extLst>
              <a:ext uri="{FF2B5EF4-FFF2-40B4-BE49-F238E27FC236}">
                <a16:creationId xmlns:a16="http://schemas.microsoft.com/office/drawing/2014/main" id="{81C6E5B2-5CAA-4569-85EA-E8397C4D05F6}"/>
              </a:ext>
            </a:extLst>
          </p:cNvPr>
          <p:cNvSpPr/>
          <p:nvPr/>
        </p:nvSpPr>
        <p:spPr bwMode="gray">
          <a:xfrm>
            <a:off x="4234316" y="3092749"/>
            <a:ext cx="1440160" cy="504056"/>
          </a:xfrm>
          <a:prstGeom prst="rect">
            <a:avLst/>
          </a:prstGeom>
          <a:noFill/>
          <a:ln w="15875">
            <a:solidFill>
              <a:srgbClr val="000066"/>
            </a:solidFill>
            <a:miter lim="800000"/>
            <a:headEnd/>
            <a:tailEnd/>
          </a:ln>
          <a:effectLst/>
        </p:spPr>
        <p:txBody>
          <a:bodyPr wrap="none"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600" b="0" i="0" u="none" strike="noStrike" kern="1200" cap="none" spc="0" normalizeH="0" baseline="0" noProof="0">
                <a:ln>
                  <a:noFill/>
                </a:ln>
                <a:solidFill>
                  <a:srgbClr val="000078"/>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训练</a:t>
            </a:r>
            <a:endParaRPr kumimoji="0" lang="zh-CN" altLang="en-US" sz="1600" b="0" i="0" u="none" strike="noStrike" kern="1200" cap="none" spc="0" normalizeH="0" baseline="0" noProof="0" dirty="0">
              <a:ln>
                <a:noFill/>
              </a:ln>
              <a:solidFill>
                <a:srgbClr val="000078"/>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36" name="直接箭头连接符 35">
            <a:extLst>
              <a:ext uri="{FF2B5EF4-FFF2-40B4-BE49-F238E27FC236}">
                <a16:creationId xmlns:a16="http://schemas.microsoft.com/office/drawing/2014/main" id="{869FB435-8C72-4A4A-A60C-5A194773B2F4}"/>
              </a:ext>
            </a:extLst>
          </p:cNvPr>
          <p:cNvCxnSpPr>
            <a:cxnSpLocks/>
          </p:cNvCxnSpPr>
          <p:nvPr/>
        </p:nvCxnSpPr>
        <p:spPr>
          <a:xfrm>
            <a:off x="3658252" y="3164757"/>
            <a:ext cx="576064" cy="0"/>
          </a:xfrm>
          <a:prstGeom prst="straightConnector1">
            <a:avLst/>
          </a:prstGeom>
          <a:ln w="15875">
            <a:solidFill>
              <a:srgbClr val="000078"/>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C9FB6BA4-4E73-403D-9B9E-0A313997F8C3}"/>
              </a:ext>
            </a:extLst>
          </p:cNvPr>
          <p:cNvCxnSpPr>
            <a:cxnSpLocks/>
          </p:cNvCxnSpPr>
          <p:nvPr/>
        </p:nvCxnSpPr>
        <p:spPr>
          <a:xfrm flipV="1">
            <a:off x="3658252" y="3524797"/>
            <a:ext cx="576064" cy="1890"/>
          </a:xfrm>
          <a:prstGeom prst="straightConnector1">
            <a:avLst/>
          </a:prstGeom>
          <a:ln w="15875">
            <a:solidFill>
              <a:srgbClr val="000078"/>
            </a:solidFill>
            <a:tailEnd type="triangle"/>
          </a:ln>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E00E40F4-1761-4597-856F-DFBBD3CDE0AE}"/>
              </a:ext>
            </a:extLst>
          </p:cNvPr>
          <p:cNvSpPr txBox="1"/>
          <p:nvPr/>
        </p:nvSpPr>
        <p:spPr>
          <a:xfrm>
            <a:off x="3063217" y="2970218"/>
            <a:ext cx="595035" cy="338554"/>
          </a:xfrm>
          <a:prstGeom prst="rect">
            <a:avLst/>
          </a:prstGeom>
          <a:noFill/>
          <a:ln>
            <a:noFill/>
          </a:ln>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a:ln>
                  <a:noFill/>
                </a:ln>
                <a:solidFill>
                  <a:srgbClr val="000078"/>
                </a:solidFill>
                <a:effectLst/>
                <a:uLnTx/>
                <a:uFillTx/>
                <a:latin typeface="微软雅黑" panose="020B0503020204020204" pitchFamily="34" charset="-122"/>
                <a:ea typeface="微软雅黑" panose="020B0503020204020204" pitchFamily="34" charset="-122"/>
                <a:cs typeface="+mn-cs"/>
              </a:rPr>
              <a:t>数据</a:t>
            </a:r>
            <a:endParaRPr kumimoji="0" lang="zh-CN" altLang="en-US" sz="1600" b="0" i="0" u="none" strike="noStrike" kern="1200" cap="none" spc="0" normalizeH="0" baseline="0" noProof="0" dirty="0">
              <a:ln>
                <a:noFill/>
              </a:ln>
              <a:solidFill>
                <a:srgbClr val="000078"/>
              </a:solidFill>
              <a:effectLst/>
              <a:uLnTx/>
              <a:uFillTx/>
              <a:latin typeface="微软雅黑" panose="020B0503020204020204" pitchFamily="34" charset="-122"/>
              <a:ea typeface="微软雅黑" panose="020B0503020204020204" pitchFamily="34" charset="-122"/>
              <a:cs typeface="+mn-cs"/>
            </a:endParaRPr>
          </a:p>
        </p:txBody>
      </p:sp>
      <p:cxnSp>
        <p:nvCxnSpPr>
          <p:cNvPr id="39" name="直接箭头连接符 38">
            <a:extLst>
              <a:ext uri="{FF2B5EF4-FFF2-40B4-BE49-F238E27FC236}">
                <a16:creationId xmlns:a16="http://schemas.microsoft.com/office/drawing/2014/main" id="{1921E646-A87B-4551-B5DE-078BAA1F4942}"/>
              </a:ext>
            </a:extLst>
          </p:cNvPr>
          <p:cNvCxnSpPr>
            <a:cxnSpLocks/>
          </p:cNvCxnSpPr>
          <p:nvPr/>
        </p:nvCxnSpPr>
        <p:spPr>
          <a:xfrm flipV="1">
            <a:off x="5670538" y="3345950"/>
            <a:ext cx="576064" cy="1890"/>
          </a:xfrm>
          <a:prstGeom prst="straightConnector1">
            <a:avLst/>
          </a:prstGeom>
          <a:ln w="15875">
            <a:solidFill>
              <a:srgbClr val="000078"/>
            </a:solidFill>
            <a:tailEnd type="triangle"/>
          </a:ln>
        </p:spPr>
        <p:style>
          <a:lnRef idx="1">
            <a:schemeClr val="accent1"/>
          </a:lnRef>
          <a:fillRef idx="0">
            <a:schemeClr val="accent1"/>
          </a:fillRef>
          <a:effectRef idx="0">
            <a:schemeClr val="accent1"/>
          </a:effectRef>
          <a:fontRef idx="minor">
            <a:schemeClr val="tx1"/>
          </a:fontRef>
        </p:style>
      </p:cxnSp>
      <p:sp>
        <p:nvSpPr>
          <p:cNvPr id="40" name="文本框 39">
            <a:extLst>
              <a:ext uri="{FF2B5EF4-FFF2-40B4-BE49-F238E27FC236}">
                <a16:creationId xmlns:a16="http://schemas.microsoft.com/office/drawing/2014/main" id="{9B634732-49A0-465A-840C-539322D59CFD}"/>
              </a:ext>
            </a:extLst>
          </p:cNvPr>
          <p:cNvSpPr txBox="1"/>
          <p:nvPr/>
        </p:nvSpPr>
        <p:spPr>
          <a:xfrm>
            <a:off x="6019950" y="3159981"/>
            <a:ext cx="797849" cy="338554"/>
          </a:xfrm>
          <a:prstGeom prst="rect">
            <a:avLst/>
          </a:prstGeom>
          <a:noFill/>
          <a:ln>
            <a:noFill/>
          </a:ln>
        </p:spPr>
        <p:txBody>
          <a:bodyPr wrap="square" lIns="0" rIns="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a:ln>
                  <a:noFill/>
                </a:ln>
                <a:solidFill>
                  <a:srgbClr val="000078"/>
                </a:solidFill>
                <a:effectLst/>
                <a:uLnTx/>
                <a:uFillTx/>
                <a:latin typeface="微软雅黑" panose="020B0503020204020204" pitchFamily="34" charset="-122"/>
                <a:ea typeface="微软雅黑" panose="020B0503020204020204" pitchFamily="34" charset="-122"/>
                <a:cs typeface="+mn-cs"/>
              </a:rPr>
              <a:t>  模型</a:t>
            </a:r>
            <a:endParaRPr kumimoji="0" lang="zh-CN" altLang="en-US" sz="1600" b="0" i="0" u="none" strike="noStrike" kern="1200" cap="none" spc="0" normalizeH="0" baseline="0" noProof="0" dirty="0">
              <a:ln>
                <a:noFill/>
              </a:ln>
              <a:solidFill>
                <a:srgbClr val="000078"/>
              </a:solidFill>
              <a:effectLst/>
              <a:uLnTx/>
              <a:uFillTx/>
              <a:latin typeface="微软雅黑" panose="020B0503020204020204" pitchFamily="34" charset="-122"/>
              <a:ea typeface="微软雅黑" panose="020B0503020204020204" pitchFamily="34" charset="-122"/>
              <a:cs typeface="+mn-cs"/>
            </a:endParaRPr>
          </a:p>
        </p:txBody>
      </p:sp>
      <p:sp>
        <p:nvSpPr>
          <p:cNvPr id="41" name="文本框 40">
            <a:extLst>
              <a:ext uri="{FF2B5EF4-FFF2-40B4-BE49-F238E27FC236}">
                <a16:creationId xmlns:a16="http://schemas.microsoft.com/office/drawing/2014/main" id="{7083BB50-4BCB-4E6E-B148-20CBE90637A7}"/>
              </a:ext>
            </a:extLst>
          </p:cNvPr>
          <p:cNvSpPr txBox="1"/>
          <p:nvPr/>
        </p:nvSpPr>
        <p:spPr>
          <a:xfrm>
            <a:off x="3070500" y="3350356"/>
            <a:ext cx="595035" cy="338554"/>
          </a:xfrm>
          <a:prstGeom prst="rect">
            <a:avLst/>
          </a:prstGeom>
          <a:noFill/>
          <a:ln>
            <a:noFill/>
          </a:ln>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000078"/>
                </a:solidFill>
                <a:effectLst/>
                <a:uLnTx/>
                <a:uFillTx/>
                <a:latin typeface="微软雅黑" panose="020B0503020204020204" pitchFamily="34" charset="-122"/>
                <a:ea typeface="微软雅黑" panose="020B0503020204020204" pitchFamily="34" charset="-122"/>
                <a:cs typeface="+mn-cs"/>
              </a:rPr>
              <a:t>结果</a:t>
            </a:r>
          </a:p>
        </p:txBody>
      </p:sp>
      <p:sp>
        <p:nvSpPr>
          <p:cNvPr id="42" name="文本框 41">
            <a:extLst>
              <a:ext uri="{FF2B5EF4-FFF2-40B4-BE49-F238E27FC236}">
                <a16:creationId xmlns:a16="http://schemas.microsoft.com/office/drawing/2014/main" id="{084D111F-A225-41FF-84E9-4F77BC77A2CD}"/>
              </a:ext>
            </a:extLst>
          </p:cNvPr>
          <p:cNvSpPr txBox="1"/>
          <p:nvPr/>
        </p:nvSpPr>
        <p:spPr>
          <a:xfrm>
            <a:off x="4495976" y="3588907"/>
            <a:ext cx="1005403" cy="338554"/>
          </a:xfrm>
          <a:prstGeom prst="rect">
            <a:avLst/>
          </a:prstGeom>
          <a:noFill/>
          <a:ln>
            <a:noFill/>
          </a:ln>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C00000"/>
                </a:solidFill>
                <a:effectLst/>
                <a:uLnTx/>
                <a:uFillTx/>
                <a:latin typeface="黑体" panose="02010609060101010101" pitchFamily="49" charset="-122"/>
                <a:ea typeface="黑体" panose="02010609060101010101" pitchFamily="49" charset="-122"/>
                <a:cs typeface="+mn-cs"/>
              </a:rPr>
              <a:t>机器学习</a:t>
            </a:r>
          </a:p>
        </p:txBody>
      </p:sp>
      <p:sp>
        <p:nvSpPr>
          <p:cNvPr id="43" name="文本框 42">
            <a:extLst>
              <a:ext uri="{FF2B5EF4-FFF2-40B4-BE49-F238E27FC236}">
                <a16:creationId xmlns:a16="http://schemas.microsoft.com/office/drawing/2014/main" id="{33C18B86-54C1-4CFA-87F8-2926C7D8BCF8}"/>
              </a:ext>
            </a:extLst>
          </p:cNvPr>
          <p:cNvSpPr txBox="1"/>
          <p:nvPr/>
        </p:nvSpPr>
        <p:spPr>
          <a:xfrm>
            <a:off x="7584079" y="2216396"/>
            <a:ext cx="1019746" cy="363600"/>
          </a:xfrm>
          <a:prstGeom prst="rect">
            <a:avLst/>
          </a:prstGeom>
          <a:solidFill>
            <a:schemeClr val="bg1"/>
          </a:solidFill>
          <a:ln w="19050">
            <a:solidFill>
              <a:srgbClr val="000066"/>
            </a:solidFill>
          </a:ln>
        </p:spPr>
        <p:txBody>
          <a:bodyPr wrap="square" tIns="72000" rtlCol="0">
            <a:noAutofit/>
          </a:bodyPr>
          <a:lstStyle/>
          <a:p>
            <a:pPr marL="0" marR="0" lvl="0" indent="0" algn="ctr" defTabSz="914400" rtl="0" eaLnBrk="1" fontAlgn="base" latinLnBrk="0" hangingPunct="1">
              <a:lnSpc>
                <a:spcPct val="100000"/>
              </a:lnSpc>
              <a:spcBef>
                <a:spcPts val="600"/>
              </a:spcBef>
              <a:spcAft>
                <a:spcPct val="0"/>
              </a:spcAft>
              <a:buClrTx/>
              <a:buSzTx/>
              <a:buFontTx/>
              <a:buNone/>
              <a:tabLst/>
              <a:defRPr/>
            </a:pPr>
            <a:r>
              <a:rPr kumimoji="0" lang="zh-CN" altLang="en-US" sz="1600" b="0" i="0" u="none" strike="noStrike" kern="1200" cap="none" spc="0" normalizeH="0" baseline="0" noProof="0">
                <a:ln>
                  <a:noFill/>
                </a:ln>
                <a:solidFill>
                  <a:srgbClr val="000066"/>
                </a:solidFill>
                <a:effectLst/>
                <a:uLnTx/>
                <a:uFillTx/>
                <a:latin typeface="微软雅黑" panose="020B0503020204020204" pitchFamily="34" charset="-122"/>
                <a:ea typeface="微软雅黑" panose="020B0503020204020204" pitchFamily="34" charset="-122"/>
                <a:cs typeface="+mn-cs"/>
              </a:rPr>
              <a:t>整理数据</a:t>
            </a:r>
          </a:p>
        </p:txBody>
      </p:sp>
      <p:cxnSp>
        <p:nvCxnSpPr>
          <p:cNvPr id="44" name="直接箭头连接符 43">
            <a:extLst>
              <a:ext uri="{FF2B5EF4-FFF2-40B4-BE49-F238E27FC236}">
                <a16:creationId xmlns:a16="http://schemas.microsoft.com/office/drawing/2014/main" id="{A546229A-7132-465C-98C1-EA1002573EB0}"/>
              </a:ext>
            </a:extLst>
          </p:cNvPr>
          <p:cNvCxnSpPr>
            <a:cxnSpLocks/>
          </p:cNvCxnSpPr>
          <p:nvPr/>
        </p:nvCxnSpPr>
        <p:spPr>
          <a:xfrm flipH="1">
            <a:off x="8065132" y="1923678"/>
            <a:ext cx="1" cy="28808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5" name="文本框 44">
            <a:extLst>
              <a:ext uri="{FF2B5EF4-FFF2-40B4-BE49-F238E27FC236}">
                <a16:creationId xmlns:a16="http://schemas.microsoft.com/office/drawing/2014/main" id="{6D37309F-7DA3-4262-A75D-C854A3718309}"/>
              </a:ext>
            </a:extLst>
          </p:cNvPr>
          <p:cNvSpPr txBox="1"/>
          <p:nvPr/>
        </p:nvSpPr>
        <p:spPr>
          <a:xfrm>
            <a:off x="7574928" y="4204938"/>
            <a:ext cx="1005403" cy="365091"/>
          </a:xfrm>
          <a:prstGeom prst="rect">
            <a:avLst/>
          </a:prstGeom>
          <a:noFill/>
          <a:ln w="19050">
            <a:solidFill>
              <a:srgbClr val="000066"/>
            </a:solidFill>
          </a:ln>
        </p:spPr>
        <p:txBody>
          <a:bodyPr wrap="none" tIns="72000"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a:ln>
                  <a:noFill/>
                </a:ln>
                <a:solidFill>
                  <a:srgbClr val="000066"/>
                </a:solidFill>
                <a:effectLst/>
                <a:uLnTx/>
                <a:uFillTx/>
                <a:latin typeface="微软雅黑" panose="020B0503020204020204" pitchFamily="34" charset="-122"/>
                <a:ea typeface="微软雅黑" panose="020B0503020204020204" pitchFamily="34" charset="-122"/>
                <a:cs typeface="+mn-cs"/>
              </a:rPr>
              <a:t>进行预测</a:t>
            </a:r>
          </a:p>
        </p:txBody>
      </p:sp>
      <p:cxnSp>
        <p:nvCxnSpPr>
          <p:cNvPr id="46" name="直接箭头连接符 45">
            <a:extLst>
              <a:ext uri="{FF2B5EF4-FFF2-40B4-BE49-F238E27FC236}">
                <a16:creationId xmlns:a16="http://schemas.microsoft.com/office/drawing/2014/main" id="{11B865D2-9D2D-499C-B7BC-DB843089B047}"/>
              </a:ext>
            </a:extLst>
          </p:cNvPr>
          <p:cNvCxnSpPr>
            <a:cxnSpLocks/>
          </p:cNvCxnSpPr>
          <p:nvPr/>
        </p:nvCxnSpPr>
        <p:spPr>
          <a:xfrm flipH="1">
            <a:off x="8051165" y="2578419"/>
            <a:ext cx="1" cy="28808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BC02BBB5-2733-4B57-826F-90F3D6FBCE7D}"/>
              </a:ext>
            </a:extLst>
          </p:cNvPr>
          <p:cNvCxnSpPr>
            <a:cxnSpLocks/>
          </p:cNvCxnSpPr>
          <p:nvPr/>
        </p:nvCxnSpPr>
        <p:spPr>
          <a:xfrm flipH="1">
            <a:off x="8038208" y="4546790"/>
            <a:ext cx="1" cy="28808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8" name="文本框 47">
            <a:extLst>
              <a:ext uri="{FF2B5EF4-FFF2-40B4-BE49-F238E27FC236}">
                <a16:creationId xmlns:a16="http://schemas.microsoft.com/office/drawing/2014/main" id="{C9A676EF-C3DA-464B-B9D8-EACB4CC359F4}"/>
              </a:ext>
            </a:extLst>
          </p:cNvPr>
          <p:cNvSpPr txBox="1"/>
          <p:nvPr/>
        </p:nvSpPr>
        <p:spPr>
          <a:xfrm>
            <a:off x="7578580" y="2881165"/>
            <a:ext cx="1005403" cy="365091"/>
          </a:xfrm>
          <a:prstGeom prst="rect">
            <a:avLst/>
          </a:prstGeom>
          <a:noFill/>
          <a:ln w="19050">
            <a:solidFill>
              <a:srgbClr val="000066"/>
            </a:solidFill>
          </a:ln>
        </p:spPr>
        <p:txBody>
          <a:bodyPr wrap="none" tIns="72000"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a:ln>
                  <a:noFill/>
                </a:ln>
                <a:solidFill>
                  <a:srgbClr val="000066"/>
                </a:solidFill>
                <a:effectLst/>
                <a:uLnTx/>
                <a:uFillTx/>
                <a:latin typeface="微软雅黑" panose="020B0503020204020204" pitchFamily="34" charset="-122"/>
                <a:ea typeface="微软雅黑" panose="020B0503020204020204" pitchFamily="34" charset="-122"/>
                <a:cs typeface="+mn-cs"/>
              </a:rPr>
              <a:t>训练模型</a:t>
            </a:r>
          </a:p>
        </p:txBody>
      </p:sp>
      <p:sp>
        <p:nvSpPr>
          <p:cNvPr id="49" name="文本框 48">
            <a:extLst>
              <a:ext uri="{FF2B5EF4-FFF2-40B4-BE49-F238E27FC236}">
                <a16:creationId xmlns:a16="http://schemas.microsoft.com/office/drawing/2014/main" id="{095F31A5-05AF-470F-83FC-92F1DC6D8FE8}"/>
              </a:ext>
            </a:extLst>
          </p:cNvPr>
          <p:cNvSpPr txBox="1"/>
          <p:nvPr/>
        </p:nvSpPr>
        <p:spPr>
          <a:xfrm>
            <a:off x="7574928" y="3538678"/>
            <a:ext cx="1005403" cy="365091"/>
          </a:xfrm>
          <a:prstGeom prst="rect">
            <a:avLst/>
          </a:prstGeom>
          <a:solidFill>
            <a:schemeClr val="bg1"/>
          </a:solidFill>
          <a:ln w="19050">
            <a:solidFill>
              <a:srgbClr val="000066"/>
            </a:solidFill>
          </a:ln>
        </p:spPr>
        <p:txBody>
          <a:bodyPr wrap="none" tIns="72000"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a:ln>
                  <a:noFill/>
                </a:ln>
                <a:solidFill>
                  <a:srgbClr val="000066"/>
                </a:solidFill>
                <a:effectLst/>
                <a:uLnTx/>
                <a:uFillTx/>
                <a:latin typeface="微软雅黑" panose="020B0503020204020204" pitchFamily="34" charset="-122"/>
                <a:ea typeface="微软雅黑" panose="020B0503020204020204" pitchFamily="34" charset="-122"/>
                <a:cs typeface="+mn-cs"/>
              </a:rPr>
              <a:t>测试模型</a:t>
            </a:r>
          </a:p>
        </p:txBody>
      </p:sp>
      <p:cxnSp>
        <p:nvCxnSpPr>
          <p:cNvPr id="50" name="直接箭头连接符 49">
            <a:extLst>
              <a:ext uri="{FF2B5EF4-FFF2-40B4-BE49-F238E27FC236}">
                <a16:creationId xmlns:a16="http://schemas.microsoft.com/office/drawing/2014/main" id="{985F2907-E67B-483D-BB41-AD0ABD1F0F3B}"/>
              </a:ext>
            </a:extLst>
          </p:cNvPr>
          <p:cNvCxnSpPr>
            <a:cxnSpLocks/>
          </p:cNvCxnSpPr>
          <p:nvPr/>
        </p:nvCxnSpPr>
        <p:spPr>
          <a:xfrm flipH="1">
            <a:off x="8043409" y="3242246"/>
            <a:ext cx="1" cy="28808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D8B61106-CD00-4C3E-87B0-CF2871C03C98}"/>
              </a:ext>
            </a:extLst>
          </p:cNvPr>
          <p:cNvCxnSpPr>
            <a:cxnSpLocks/>
          </p:cNvCxnSpPr>
          <p:nvPr/>
        </p:nvCxnSpPr>
        <p:spPr>
          <a:xfrm flipH="1">
            <a:off x="8038208" y="3898718"/>
            <a:ext cx="1" cy="28808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52" name="文本框 51">
            <a:extLst>
              <a:ext uri="{FF2B5EF4-FFF2-40B4-BE49-F238E27FC236}">
                <a16:creationId xmlns:a16="http://schemas.microsoft.com/office/drawing/2014/main" id="{66936AAF-3A6C-4B41-ABD0-5AA3382C0500}"/>
              </a:ext>
            </a:extLst>
          </p:cNvPr>
          <p:cNvSpPr txBox="1"/>
          <p:nvPr/>
        </p:nvSpPr>
        <p:spPr>
          <a:xfrm>
            <a:off x="4132429" y="4733849"/>
            <a:ext cx="1826141" cy="418063"/>
          </a:xfrm>
          <a:prstGeom prst="rect">
            <a:avLst/>
          </a:prstGeom>
          <a:noFill/>
        </p:spPr>
        <p:txBody>
          <a:bodyPr wrap="none" rtlCol="0">
            <a:spAutoFit/>
          </a:bodyPr>
          <a:lstStyle/>
          <a:p>
            <a:pPr>
              <a:lnSpc>
                <a:spcPct val="150000"/>
              </a:lnSpc>
            </a:pPr>
            <a:r>
              <a:rPr lang="zh-CN" altLang="en-US" sz="1600">
                <a:latin typeface="Times New Roman" panose="02020603050405020304" pitchFamily="18" charset="0"/>
                <a:ea typeface="微软雅黑" panose="020B0503020204020204" pitchFamily="34" charset="-122"/>
                <a:cs typeface="Times New Roman" panose="02020603050405020304" pitchFamily="18" charset="0"/>
              </a:rPr>
              <a:t>什么是机器学习？</a:t>
            </a:r>
          </a:p>
        </p:txBody>
      </p:sp>
      <p:sp>
        <p:nvSpPr>
          <p:cNvPr id="53" name="文本框 52">
            <a:extLst>
              <a:ext uri="{FF2B5EF4-FFF2-40B4-BE49-F238E27FC236}">
                <a16:creationId xmlns:a16="http://schemas.microsoft.com/office/drawing/2014/main" id="{F3F34719-CBA7-46D2-81FD-08B593054912}"/>
              </a:ext>
            </a:extLst>
          </p:cNvPr>
          <p:cNvSpPr txBox="1"/>
          <p:nvPr/>
        </p:nvSpPr>
        <p:spPr>
          <a:xfrm>
            <a:off x="7091403" y="4722646"/>
            <a:ext cx="2236510" cy="418063"/>
          </a:xfrm>
          <a:prstGeom prst="rect">
            <a:avLst/>
          </a:prstGeom>
          <a:noFill/>
        </p:spPr>
        <p:txBody>
          <a:bodyPr wrap="none" rtlCol="0">
            <a:spAutoFit/>
          </a:bodyPr>
          <a:lstStyle/>
          <a:p>
            <a:pPr>
              <a:lnSpc>
                <a:spcPct val="150000"/>
              </a:lnSpc>
            </a:pPr>
            <a:r>
              <a:rPr lang="zh-CN" altLang="en-US" sz="1600">
                <a:latin typeface="Times New Roman" panose="02020603050405020304" pitchFamily="18" charset="0"/>
                <a:ea typeface="微软雅黑" panose="020B0503020204020204" pitchFamily="34" charset="-122"/>
                <a:cs typeface="Times New Roman" panose="02020603050405020304" pitchFamily="18" charset="0"/>
              </a:rPr>
              <a:t>机器学习的一般过程？</a:t>
            </a:r>
            <a:endParaRPr lang="en-US" altLang="zh-CN" sz="160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5" name="矩形 54">
            <a:extLst>
              <a:ext uri="{FF2B5EF4-FFF2-40B4-BE49-F238E27FC236}">
                <a16:creationId xmlns:a16="http://schemas.microsoft.com/office/drawing/2014/main" id="{887491CA-B204-49F4-B7AE-72485DBC1F87}"/>
              </a:ext>
            </a:extLst>
          </p:cNvPr>
          <p:cNvSpPr/>
          <p:nvPr/>
        </p:nvSpPr>
        <p:spPr bwMode="gray">
          <a:xfrm>
            <a:off x="4234316" y="2427734"/>
            <a:ext cx="1440160" cy="504056"/>
          </a:xfrm>
          <a:prstGeom prst="rect">
            <a:avLst/>
          </a:prstGeom>
          <a:noFill/>
          <a:ln w="15875">
            <a:solidFill>
              <a:srgbClr val="000066"/>
            </a:solidFill>
            <a:miter lim="800000"/>
            <a:headEnd/>
            <a:tailEnd/>
          </a:ln>
          <a:effectLst/>
        </p:spPr>
        <p:txBody>
          <a:bodyPr wrap="none"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600" b="0" i="0" u="none" strike="noStrike" kern="1200" cap="none" spc="0" normalizeH="0" baseline="0" noProof="0">
                <a:ln>
                  <a:noFill/>
                </a:ln>
                <a:solidFill>
                  <a:srgbClr val="000078"/>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训练</a:t>
            </a:r>
            <a:endParaRPr kumimoji="0" lang="zh-CN" altLang="en-US" sz="1600" b="0" i="0" u="none" strike="noStrike" kern="1200" cap="none" spc="0" normalizeH="0" baseline="0" noProof="0" dirty="0">
              <a:ln>
                <a:noFill/>
              </a:ln>
              <a:solidFill>
                <a:srgbClr val="000078"/>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56" name="直接箭头连接符 55">
            <a:extLst>
              <a:ext uri="{FF2B5EF4-FFF2-40B4-BE49-F238E27FC236}">
                <a16:creationId xmlns:a16="http://schemas.microsoft.com/office/drawing/2014/main" id="{A291F4AC-70C9-4F69-BA47-F92EE63C646B}"/>
              </a:ext>
            </a:extLst>
          </p:cNvPr>
          <p:cNvCxnSpPr>
            <a:cxnSpLocks/>
          </p:cNvCxnSpPr>
          <p:nvPr/>
        </p:nvCxnSpPr>
        <p:spPr>
          <a:xfrm>
            <a:off x="3654521" y="2680483"/>
            <a:ext cx="576064" cy="0"/>
          </a:xfrm>
          <a:prstGeom prst="straightConnector1">
            <a:avLst/>
          </a:prstGeom>
          <a:ln w="15875">
            <a:solidFill>
              <a:srgbClr val="000078"/>
            </a:solidFill>
            <a:tailEnd type="triangle"/>
          </a:ln>
        </p:spPr>
        <p:style>
          <a:lnRef idx="1">
            <a:schemeClr val="accent1"/>
          </a:lnRef>
          <a:fillRef idx="0">
            <a:schemeClr val="accent1"/>
          </a:fillRef>
          <a:effectRef idx="0">
            <a:schemeClr val="accent1"/>
          </a:effectRef>
          <a:fontRef idx="minor">
            <a:schemeClr val="tx1"/>
          </a:fontRef>
        </p:style>
      </p:cxnSp>
      <p:sp>
        <p:nvSpPr>
          <p:cNvPr id="57" name="文本框 56">
            <a:extLst>
              <a:ext uri="{FF2B5EF4-FFF2-40B4-BE49-F238E27FC236}">
                <a16:creationId xmlns:a16="http://schemas.microsoft.com/office/drawing/2014/main" id="{50696A0C-6DF7-45B1-B5C3-3CE0E9EF27A3}"/>
              </a:ext>
            </a:extLst>
          </p:cNvPr>
          <p:cNvSpPr txBox="1"/>
          <p:nvPr/>
        </p:nvSpPr>
        <p:spPr>
          <a:xfrm>
            <a:off x="2867513" y="2518563"/>
            <a:ext cx="800219" cy="338554"/>
          </a:xfrm>
          <a:prstGeom prst="rect">
            <a:avLst/>
          </a:prstGeom>
          <a:noFill/>
          <a:ln>
            <a:noFill/>
          </a:ln>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000078"/>
                </a:solidFill>
                <a:effectLst/>
                <a:uLnTx/>
                <a:uFillTx/>
                <a:latin typeface="微软雅黑" panose="020B0503020204020204" pitchFamily="34" charset="-122"/>
                <a:ea typeface="微软雅黑" panose="020B0503020204020204" pitchFamily="34" charset="-122"/>
                <a:cs typeface="+mn-cs"/>
              </a:rPr>
              <a:t>数据集</a:t>
            </a:r>
          </a:p>
        </p:txBody>
      </p:sp>
      <p:cxnSp>
        <p:nvCxnSpPr>
          <p:cNvPr id="58" name="直接箭头连接符 57">
            <a:extLst>
              <a:ext uri="{FF2B5EF4-FFF2-40B4-BE49-F238E27FC236}">
                <a16:creationId xmlns:a16="http://schemas.microsoft.com/office/drawing/2014/main" id="{84224DF8-F717-454F-AFD6-7CD058433657}"/>
              </a:ext>
            </a:extLst>
          </p:cNvPr>
          <p:cNvCxnSpPr>
            <a:cxnSpLocks/>
          </p:cNvCxnSpPr>
          <p:nvPr/>
        </p:nvCxnSpPr>
        <p:spPr>
          <a:xfrm flipV="1">
            <a:off x="5670538" y="2680935"/>
            <a:ext cx="576064" cy="1890"/>
          </a:xfrm>
          <a:prstGeom prst="straightConnector1">
            <a:avLst/>
          </a:prstGeom>
          <a:ln w="15875">
            <a:solidFill>
              <a:srgbClr val="000078"/>
            </a:solidFill>
            <a:tailEnd type="triangle"/>
          </a:ln>
        </p:spPr>
        <p:style>
          <a:lnRef idx="1">
            <a:schemeClr val="accent1"/>
          </a:lnRef>
          <a:fillRef idx="0">
            <a:schemeClr val="accent1"/>
          </a:fillRef>
          <a:effectRef idx="0">
            <a:schemeClr val="accent1"/>
          </a:effectRef>
          <a:fontRef idx="minor">
            <a:schemeClr val="tx1"/>
          </a:fontRef>
        </p:style>
      </p:cxnSp>
      <p:sp>
        <p:nvSpPr>
          <p:cNvPr id="59" name="文本框 58">
            <a:extLst>
              <a:ext uri="{FF2B5EF4-FFF2-40B4-BE49-F238E27FC236}">
                <a16:creationId xmlns:a16="http://schemas.microsoft.com/office/drawing/2014/main" id="{D88D00C6-3561-4C8B-B0F7-27CC73581ECA}"/>
              </a:ext>
            </a:extLst>
          </p:cNvPr>
          <p:cNvSpPr txBox="1"/>
          <p:nvPr/>
        </p:nvSpPr>
        <p:spPr>
          <a:xfrm>
            <a:off x="6019950" y="2494966"/>
            <a:ext cx="797849" cy="338554"/>
          </a:xfrm>
          <a:prstGeom prst="rect">
            <a:avLst/>
          </a:prstGeom>
          <a:noFill/>
          <a:ln>
            <a:noFill/>
          </a:ln>
        </p:spPr>
        <p:txBody>
          <a:bodyPr wrap="square" lIns="0" rIns="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a:ln>
                  <a:noFill/>
                </a:ln>
                <a:solidFill>
                  <a:srgbClr val="000078"/>
                </a:solidFill>
                <a:effectLst/>
                <a:uLnTx/>
                <a:uFillTx/>
                <a:latin typeface="微软雅黑" panose="020B0503020204020204" pitchFamily="34" charset="-122"/>
                <a:ea typeface="微软雅黑" panose="020B0503020204020204" pitchFamily="34" charset="-122"/>
                <a:cs typeface="+mn-cs"/>
              </a:rPr>
              <a:t>  模型</a:t>
            </a:r>
            <a:endParaRPr kumimoji="0" lang="zh-CN" altLang="en-US" sz="1600" b="0" i="0" u="none" strike="noStrike" kern="1200" cap="none" spc="0" normalizeH="0" baseline="0" noProof="0" dirty="0">
              <a:ln>
                <a:noFill/>
              </a:ln>
              <a:solidFill>
                <a:srgbClr val="000078"/>
              </a:solidFill>
              <a:effectLst/>
              <a:uLnTx/>
              <a:uFillTx/>
              <a:latin typeface="微软雅黑" panose="020B0503020204020204" pitchFamily="34" charset="-122"/>
              <a:ea typeface="微软雅黑" panose="020B0503020204020204" pitchFamily="34" charset="-122"/>
              <a:cs typeface="+mn-cs"/>
            </a:endParaRPr>
          </a:p>
        </p:txBody>
      </p:sp>
      <p:sp>
        <p:nvSpPr>
          <p:cNvPr id="5" name="矩形 4"/>
          <p:cNvSpPr/>
          <p:nvPr/>
        </p:nvSpPr>
        <p:spPr>
          <a:xfrm>
            <a:off x="-46487" y="4291735"/>
            <a:ext cx="3738276" cy="830997"/>
          </a:xfrm>
          <a:prstGeom prst="rect">
            <a:avLst/>
          </a:prstGeom>
        </p:spPr>
        <p:txBody>
          <a:bodyPr wrap="square">
            <a:spAutoFit/>
          </a:bodyPr>
          <a:lstStyle/>
          <a:p>
            <a:r>
              <a:rPr lang="zh-CN" altLang="zh-CN" sz="1600" dirty="0">
                <a:solidFill>
                  <a:srgbClr val="000066"/>
                </a:solidFill>
                <a:latin typeface="微软雅黑" panose="020B0503020204020204" pitchFamily="34" charset="-122"/>
                <a:ea typeface="微软雅黑" panose="020B0503020204020204" pitchFamily="34" charset="-122"/>
                <a:cs typeface="Times New Roman" panose="02020603050405020304" pitchFamily="18" charset="0"/>
              </a:rPr>
              <a:t>机器学习是人工智能最重要的研究领域</a:t>
            </a:r>
            <a:endParaRPr lang="en-US" altLang="zh-CN" sz="1600" dirty="0">
              <a:solidFill>
                <a:srgbClr val="000066"/>
              </a:solidFill>
              <a:latin typeface="微软雅黑" panose="020B0503020204020204" pitchFamily="34" charset="-122"/>
              <a:ea typeface="微软雅黑" panose="020B0503020204020204" pitchFamily="34" charset="-122"/>
              <a:cs typeface="Times New Roman" panose="02020603050405020304" pitchFamily="18" charset="0"/>
            </a:endParaRPr>
          </a:p>
          <a:p>
            <a:r>
              <a:rPr lang="zh-CN" altLang="zh-CN" sz="1600" dirty="0">
                <a:solidFill>
                  <a:srgbClr val="000066"/>
                </a:solidFill>
                <a:latin typeface="微软雅黑" panose="020B0503020204020204" pitchFamily="34" charset="-122"/>
                <a:ea typeface="微软雅黑" panose="020B0503020204020204" pitchFamily="34" charset="-122"/>
                <a:cs typeface="Times New Roman" panose="02020603050405020304" pitchFamily="18" charset="0"/>
              </a:rPr>
              <a:t>机器学习是实现人工智能的根本途径</a:t>
            </a:r>
            <a:endParaRPr lang="en-US" altLang="zh-CN" sz="1600" dirty="0">
              <a:solidFill>
                <a:srgbClr val="000066"/>
              </a:solidFill>
              <a:latin typeface="微软雅黑" panose="020B0503020204020204" pitchFamily="34" charset="-122"/>
              <a:ea typeface="微软雅黑" panose="020B0503020204020204" pitchFamily="34" charset="-122"/>
              <a:cs typeface="Times New Roman" panose="02020603050405020304" pitchFamily="18" charset="0"/>
            </a:endParaRPr>
          </a:p>
          <a:p>
            <a:r>
              <a:rPr lang="zh-CN" altLang="zh-CN" sz="1600" dirty="0">
                <a:solidFill>
                  <a:srgbClr val="000066"/>
                </a:solidFill>
                <a:latin typeface="微软雅黑" panose="020B0503020204020204" pitchFamily="34" charset="-122"/>
                <a:ea typeface="微软雅黑" panose="020B0503020204020204" pitchFamily="34" charset="-122"/>
                <a:cs typeface="Times New Roman" panose="02020603050405020304" pitchFamily="18" charset="0"/>
              </a:rPr>
              <a:t>深度学习是机器学习的重要分支</a:t>
            </a:r>
            <a:endParaRPr lang="zh-CN" altLang="en-US" sz="1600" dirty="0">
              <a:solidFill>
                <a:srgbClr val="000066"/>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701910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内容占位符 2"/>
          <p:cNvSpPr txBox="1">
            <a:spLocks/>
          </p:cNvSpPr>
          <p:nvPr/>
        </p:nvSpPr>
        <p:spPr>
          <a:xfrm>
            <a:off x="406800" y="1069232"/>
            <a:ext cx="8701704" cy="566414"/>
          </a:xfrm>
          <a:prstGeom prst="rect">
            <a:avLst/>
          </a:prstGeom>
        </p:spPr>
        <p:txBody>
          <a:bodyP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722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3012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302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655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50000"/>
              </a:lnSpc>
              <a:spcBef>
                <a:spcPts val="0"/>
              </a:spcBef>
              <a:buNone/>
            </a:pPr>
            <a:r>
              <a:rPr lang="en-US" altLang="zh-CN"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zh-CN"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传统</a:t>
            </a:r>
            <a:r>
              <a:rPr lang="zh-CN" altLang="en-US" sz="1800" dirty="0">
                <a:solidFill>
                  <a:srgbClr val="000066"/>
                </a:solidFill>
                <a:latin typeface="微软雅黑" panose="020B0503020204020204" pitchFamily="34" charset="-122"/>
                <a:ea typeface="微软雅黑" panose="020B0503020204020204" pitchFamily="34" charset="-122"/>
                <a:cs typeface="Times New Roman" panose="02020603050405020304" pitchFamily="18" charset="0"/>
              </a:rPr>
              <a:t>编程与机器学习的区别</a:t>
            </a:r>
            <a:endParaRPr lang="zh-CN" altLang="zh-CN" sz="1600" dirty="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四</a:t>
            </a:r>
            <a:r>
              <a:rPr lang="zh-CN" altLang="en-US" sz="2400">
                <a:solidFill>
                  <a:srgbClr val="FFFFFF"/>
                </a:solidFill>
              </a:rPr>
              <a:t>、机器学习基本知识</a:t>
            </a:r>
            <a:endParaRPr lang="zh-CN" altLang="en-US" sz="2400" dirty="0"/>
          </a:p>
        </p:txBody>
      </p:sp>
      <p:cxnSp>
        <p:nvCxnSpPr>
          <p:cNvPr id="44" name="直接箭头连接符 43">
            <a:extLst>
              <a:ext uri="{FF2B5EF4-FFF2-40B4-BE49-F238E27FC236}">
                <a16:creationId xmlns:a16="http://schemas.microsoft.com/office/drawing/2014/main" id="{A546229A-7132-465C-98C1-EA1002573EB0}"/>
              </a:ext>
            </a:extLst>
          </p:cNvPr>
          <p:cNvCxnSpPr>
            <a:cxnSpLocks/>
          </p:cNvCxnSpPr>
          <p:nvPr/>
        </p:nvCxnSpPr>
        <p:spPr>
          <a:xfrm flipH="1">
            <a:off x="8065132" y="1923678"/>
            <a:ext cx="1" cy="28808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0" name="矩形 59">
            <a:extLst>
              <a:ext uri="{FF2B5EF4-FFF2-40B4-BE49-F238E27FC236}">
                <a16:creationId xmlns:a16="http://schemas.microsoft.com/office/drawing/2014/main" id="{DDC236D7-43EB-44AC-A30D-2B3335721A07}"/>
              </a:ext>
            </a:extLst>
          </p:cNvPr>
          <p:cNvSpPr/>
          <p:nvPr/>
        </p:nvSpPr>
        <p:spPr bwMode="gray">
          <a:xfrm>
            <a:off x="2420565" y="1758177"/>
            <a:ext cx="1440160" cy="504056"/>
          </a:xfrm>
          <a:prstGeom prst="rect">
            <a:avLst/>
          </a:prstGeom>
          <a:noFill/>
          <a:ln w="15875">
            <a:solidFill>
              <a:srgbClr val="000066"/>
            </a:solidFill>
            <a:miter lim="800000"/>
            <a:headEnd/>
            <a:tailEnd/>
          </a:ln>
          <a:effectLst/>
        </p:spPr>
        <p:txBody>
          <a:bodyPr wrap="none" rtlCol="0" anchor="ctr"/>
          <a:lstStyle/>
          <a:p>
            <a:pPr algn="ctr" eaLnBrk="0" hangingPunct="0"/>
            <a:r>
              <a:rPr lang="zh-CN" altLang="en-US" sz="1600" dirty="0">
                <a:solidFill>
                  <a:srgbClr val="000078"/>
                </a:solidFill>
                <a:latin typeface="微软雅黑" panose="020B0503020204020204" pitchFamily="34" charset="-122"/>
                <a:ea typeface="微软雅黑" panose="020B0503020204020204" pitchFamily="34" charset="-122"/>
                <a:cs typeface="Times New Roman" panose="02020603050405020304" pitchFamily="18" charset="0"/>
              </a:rPr>
              <a:t>计算</a:t>
            </a:r>
          </a:p>
        </p:txBody>
      </p:sp>
      <p:cxnSp>
        <p:nvCxnSpPr>
          <p:cNvPr id="61" name="直接箭头连接符 60">
            <a:extLst>
              <a:ext uri="{FF2B5EF4-FFF2-40B4-BE49-F238E27FC236}">
                <a16:creationId xmlns:a16="http://schemas.microsoft.com/office/drawing/2014/main" id="{D8FA08FE-4754-4FB1-A956-CD5367067E1E}"/>
              </a:ext>
            </a:extLst>
          </p:cNvPr>
          <p:cNvCxnSpPr>
            <a:cxnSpLocks/>
          </p:cNvCxnSpPr>
          <p:nvPr/>
        </p:nvCxnSpPr>
        <p:spPr>
          <a:xfrm>
            <a:off x="1844501" y="1830185"/>
            <a:ext cx="576064" cy="0"/>
          </a:xfrm>
          <a:prstGeom prst="straightConnector1">
            <a:avLst/>
          </a:prstGeom>
          <a:ln w="15875">
            <a:solidFill>
              <a:srgbClr val="000078"/>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a:extLst>
              <a:ext uri="{FF2B5EF4-FFF2-40B4-BE49-F238E27FC236}">
                <a16:creationId xmlns:a16="http://schemas.microsoft.com/office/drawing/2014/main" id="{2C87B6C5-6C58-427A-B9E4-7617F6442E43}"/>
              </a:ext>
            </a:extLst>
          </p:cNvPr>
          <p:cNvCxnSpPr>
            <a:cxnSpLocks/>
          </p:cNvCxnSpPr>
          <p:nvPr/>
        </p:nvCxnSpPr>
        <p:spPr>
          <a:xfrm flipV="1">
            <a:off x="1844501" y="2190225"/>
            <a:ext cx="576064" cy="1890"/>
          </a:xfrm>
          <a:prstGeom prst="straightConnector1">
            <a:avLst/>
          </a:prstGeom>
          <a:ln w="15875">
            <a:solidFill>
              <a:srgbClr val="000078"/>
            </a:solidFill>
            <a:tailEnd type="triangle"/>
          </a:ln>
        </p:spPr>
        <p:style>
          <a:lnRef idx="1">
            <a:schemeClr val="accent1"/>
          </a:lnRef>
          <a:fillRef idx="0">
            <a:schemeClr val="accent1"/>
          </a:fillRef>
          <a:effectRef idx="0">
            <a:schemeClr val="accent1"/>
          </a:effectRef>
          <a:fontRef idx="minor">
            <a:schemeClr val="tx1"/>
          </a:fontRef>
        </p:style>
      </p:cxnSp>
      <p:sp>
        <p:nvSpPr>
          <p:cNvPr id="63" name="文本框 62">
            <a:extLst>
              <a:ext uri="{FF2B5EF4-FFF2-40B4-BE49-F238E27FC236}">
                <a16:creationId xmlns:a16="http://schemas.microsoft.com/office/drawing/2014/main" id="{58FDD0E8-0E7E-4626-99ED-3691D9D0802F}"/>
              </a:ext>
            </a:extLst>
          </p:cNvPr>
          <p:cNvSpPr txBox="1"/>
          <p:nvPr/>
        </p:nvSpPr>
        <p:spPr>
          <a:xfrm>
            <a:off x="1253404" y="1635646"/>
            <a:ext cx="595035" cy="338554"/>
          </a:xfrm>
          <a:prstGeom prst="rect">
            <a:avLst/>
          </a:prstGeom>
          <a:noFill/>
          <a:ln>
            <a:noFill/>
          </a:ln>
        </p:spPr>
        <p:txBody>
          <a:bodyPr wrap="none" rtlCol="0">
            <a:spAutoFit/>
          </a:bodyPr>
          <a:lstStyle/>
          <a:p>
            <a:r>
              <a:rPr lang="zh-CN" altLang="en-US" sz="1600">
                <a:solidFill>
                  <a:srgbClr val="000078"/>
                </a:solidFill>
                <a:latin typeface="微软雅黑" panose="020B0503020204020204" pitchFamily="34" charset="-122"/>
                <a:ea typeface="微软雅黑" panose="020B0503020204020204" pitchFamily="34" charset="-122"/>
              </a:rPr>
              <a:t>数据</a:t>
            </a:r>
            <a:endParaRPr lang="zh-CN" altLang="en-US" sz="1600" dirty="0">
              <a:solidFill>
                <a:srgbClr val="000078"/>
              </a:solidFill>
              <a:latin typeface="微软雅黑" panose="020B0503020204020204" pitchFamily="34" charset="-122"/>
              <a:ea typeface="微软雅黑" panose="020B0503020204020204" pitchFamily="34" charset="-122"/>
            </a:endParaRPr>
          </a:p>
        </p:txBody>
      </p:sp>
      <p:sp>
        <p:nvSpPr>
          <p:cNvPr id="64" name="文本框 63">
            <a:extLst>
              <a:ext uri="{FF2B5EF4-FFF2-40B4-BE49-F238E27FC236}">
                <a16:creationId xmlns:a16="http://schemas.microsoft.com/office/drawing/2014/main" id="{D5E3BD26-1646-477F-996A-60E1913D8C9F}"/>
              </a:ext>
            </a:extLst>
          </p:cNvPr>
          <p:cNvSpPr txBox="1"/>
          <p:nvPr/>
        </p:nvSpPr>
        <p:spPr>
          <a:xfrm>
            <a:off x="1253404" y="1999462"/>
            <a:ext cx="595035" cy="338554"/>
          </a:xfrm>
          <a:prstGeom prst="rect">
            <a:avLst/>
          </a:prstGeom>
          <a:noFill/>
          <a:ln>
            <a:noFill/>
          </a:ln>
        </p:spPr>
        <p:txBody>
          <a:bodyPr wrap="none" rtlCol="0">
            <a:spAutoFit/>
          </a:bodyPr>
          <a:lstStyle/>
          <a:p>
            <a:r>
              <a:rPr lang="zh-CN" altLang="en-US" sz="1600">
                <a:solidFill>
                  <a:srgbClr val="000078"/>
                </a:solidFill>
                <a:latin typeface="微软雅黑" panose="020B0503020204020204" pitchFamily="34" charset="-122"/>
                <a:ea typeface="微软雅黑" panose="020B0503020204020204" pitchFamily="34" charset="-122"/>
              </a:rPr>
              <a:t>程序</a:t>
            </a:r>
            <a:endParaRPr lang="zh-CN" altLang="en-US" sz="1600" dirty="0">
              <a:solidFill>
                <a:srgbClr val="000078"/>
              </a:solidFill>
              <a:latin typeface="微软雅黑" panose="020B0503020204020204" pitchFamily="34" charset="-122"/>
              <a:ea typeface="微软雅黑" panose="020B0503020204020204" pitchFamily="34" charset="-122"/>
            </a:endParaRPr>
          </a:p>
        </p:txBody>
      </p:sp>
      <p:cxnSp>
        <p:nvCxnSpPr>
          <p:cNvPr id="65" name="直接箭头连接符 64">
            <a:extLst>
              <a:ext uri="{FF2B5EF4-FFF2-40B4-BE49-F238E27FC236}">
                <a16:creationId xmlns:a16="http://schemas.microsoft.com/office/drawing/2014/main" id="{D8324150-B1BA-44A3-94B0-5C7E2AB6E255}"/>
              </a:ext>
            </a:extLst>
          </p:cNvPr>
          <p:cNvCxnSpPr>
            <a:cxnSpLocks/>
          </p:cNvCxnSpPr>
          <p:nvPr/>
        </p:nvCxnSpPr>
        <p:spPr>
          <a:xfrm flipV="1">
            <a:off x="3856787" y="2011378"/>
            <a:ext cx="576064" cy="1890"/>
          </a:xfrm>
          <a:prstGeom prst="straightConnector1">
            <a:avLst/>
          </a:prstGeom>
          <a:ln w="15875">
            <a:solidFill>
              <a:srgbClr val="000078"/>
            </a:solidFill>
            <a:tailEnd type="triangle"/>
          </a:ln>
        </p:spPr>
        <p:style>
          <a:lnRef idx="1">
            <a:schemeClr val="accent1"/>
          </a:lnRef>
          <a:fillRef idx="0">
            <a:schemeClr val="accent1"/>
          </a:fillRef>
          <a:effectRef idx="0">
            <a:schemeClr val="accent1"/>
          </a:effectRef>
          <a:fontRef idx="minor">
            <a:schemeClr val="tx1"/>
          </a:fontRef>
        </p:style>
      </p:cxnSp>
      <p:sp>
        <p:nvSpPr>
          <p:cNvPr id="66" name="文本框 65">
            <a:extLst>
              <a:ext uri="{FF2B5EF4-FFF2-40B4-BE49-F238E27FC236}">
                <a16:creationId xmlns:a16="http://schemas.microsoft.com/office/drawing/2014/main" id="{DDF84D2D-D6EA-4E47-9C61-A5187ACAA0F7}"/>
              </a:ext>
            </a:extLst>
          </p:cNvPr>
          <p:cNvSpPr txBox="1"/>
          <p:nvPr/>
        </p:nvSpPr>
        <p:spPr>
          <a:xfrm>
            <a:off x="4403252" y="1827683"/>
            <a:ext cx="595035" cy="338554"/>
          </a:xfrm>
          <a:prstGeom prst="rect">
            <a:avLst/>
          </a:prstGeom>
          <a:noFill/>
          <a:ln>
            <a:noFill/>
          </a:ln>
        </p:spPr>
        <p:txBody>
          <a:bodyPr wrap="none" rtlCol="0">
            <a:spAutoFit/>
          </a:bodyPr>
          <a:lstStyle/>
          <a:p>
            <a:r>
              <a:rPr lang="zh-CN" altLang="en-US" sz="1600" dirty="0">
                <a:solidFill>
                  <a:srgbClr val="000078"/>
                </a:solidFill>
                <a:latin typeface="微软雅黑" panose="020B0503020204020204" pitchFamily="34" charset="-122"/>
                <a:ea typeface="微软雅黑" panose="020B0503020204020204" pitchFamily="34" charset="-122"/>
              </a:rPr>
              <a:t>结果</a:t>
            </a:r>
          </a:p>
        </p:txBody>
      </p:sp>
      <p:sp>
        <p:nvSpPr>
          <p:cNvPr id="67" name="矩形 66">
            <a:extLst>
              <a:ext uri="{FF2B5EF4-FFF2-40B4-BE49-F238E27FC236}">
                <a16:creationId xmlns:a16="http://schemas.microsoft.com/office/drawing/2014/main" id="{81C6E5B2-5CAA-4569-85EA-E8397C4D05F6}"/>
              </a:ext>
            </a:extLst>
          </p:cNvPr>
          <p:cNvSpPr/>
          <p:nvPr/>
        </p:nvSpPr>
        <p:spPr bwMode="gray">
          <a:xfrm>
            <a:off x="2420565" y="2767677"/>
            <a:ext cx="1440160" cy="504056"/>
          </a:xfrm>
          <a:prstGeom prst="rect">
            <a:avLst/>
          </a:prstGeom>
          <a:noFill/>
          <a:ln w="15875">
            <a:solidFill>
              <a:srgbClr val="000066"/>
            </a:solidFill>
            <a:miter lim="800000"/>
            <a:headEnd/>
            <a:tailEnd/>
          </a:ln>
          <a:effectLst/>
        </p:spPr>
        <p:txBody>
          <a:bodyPr wrap="none" rtlCol="0" anchor="ctr"/>
          <a:lstStyle/>
          <a:p>
            <a:pPr algn="ctr" eaLnBrk="0" hangingPunct="0"/>
            <a:r>
              <a:rPr lang="zh-CN" altLang="en-US" sz="1600">
                <a:solidFill>
                  <a:srgbClr val="000078"/>
                </a:solidFill>
                <a:latin typeface="微软雅黑" panose="020B0503020204020204" pitchFamily="34" charset="-122"/>
                <a:ea typeface="微软雅黑" panose="020B0503020204020204" pitchFamily="34" charset="-122"/>
                <a:cs typeface="Times New Roman" panose="02020603050405020304" pitchFamily="18" charset="0"/>
              </a:rPr>
              <a:t>训练</a:t>
            </a:r>
            <a:endParaRPr lang="zh-CN" altLang="en-US" sz="1600" dirty="0">
              <a:solidFill>
                <a:srgbClr val="000078"/>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68" name="直接箭头连接符 67">
            <a:extLst>
              <a:ext uri="{FF2B5EF4-FFF2-40B4-BE49-F238E27FC236}">
                <a16:creationId xmlns:a16="http://schemas.microsoft.com/office/drawing/2014/main" id="{869FB435-8C72-4A4A-A60C-5A194773B2F4}"/>
              </a:ext>
            </a:extLst>
          </p:cNvPr>
          <p:cNvCxnSpPr>
            <a:cxnSpLocks/>
          </p:cNvCxnSpPr>
          <p:nvPr/>
        </p:nvCxnSpPr>
        <p:spPr>
          <a:xfrm>
            <a:off x="1844501" y="2839685"/>
            <a:ext cx="576064" cy="0"/>
          </a:xfrm>
          <a:prstGeom prst="straightConnector1">
            <a:avLst/>
          </a:prstGeom>
          <a:ln w="15875">
            <a:solidFill>
              <a:srgbClr val="000078"/>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接箭头连接符 68">
            <a:extLst>
              <a:ext uri="{FF2B5EF4-FFF2-40B4-BE49-F238E27FC236}">
                <a16:creationId xmlns:a16="http://schemas.microsoft.com/office/drawing/2014/main" id="{C9FB6BA4-4E73-403D-9B9E-0A313997F8C3}"/>
              </a:ext>
            </a:extLst>
          </p:cNvPr>
          <p:cNvCxnSpPr>
            <a:cxnSpLocks/>
          </p:cNvCxnSpPr>
          <p:nvPr/>
        </p:nvCxnSpPr>
        <p:spPr>
          <a:xfrm flipV="1">
            <a:off x="1844501" y="3199725"/>
            <a:ext cx="576064" cy="1890"/>
          </a:xfrm>
          <a:prstGeom prst="straightConnector1">
            <a:avLst/>
          </a:prstGeom>
          <a:ln w="15875">
            <a:solidFill>
              <a:srgbClr val="000078"/>
            </a:solidFill>
            <a:tailEnd type="triangle"/>
          </a:ln>
        </p:spPr>
        <p:style>
          <a:lnRef idx="1">
            <a:schemeClr val="accent1"/>
          </a:lnRef>
          <a:fillRef idx="0">
            <a:schemeClr val="accent1"/>
          </a:fillRef>
          <a:effectRef idx="0">
            <a:schemeClr val="accent1"/>
          </a:effectRef>
          <a:fontRef idx="minor">
            <a:schemeClr val="tx1"/>
          </a:fontRef>
        </p:style>
      </p:cxnSp>
      <p:sp>
        <p:nvSpPr>
          <p:cNvPr id="70" name="文本框 69">
            <a:extLst>
              <a:ext uri="{FF2B5EF4-FFF2-40B4-BE49-F238E27FC236}">
                <a16:creationId xmlns:a16="http://schemas.microsoft.com/office/drawing/2014/main" id="{E00E40F4-1761-4597-856F-DFBBD3CDE0AE}"/>
              </a:ext>
            </a:extLst>
          </p:cNvPr>
          <p:cNvSpPr txBox="1"/>
          <p:nvPr/>
        </p:nvSpPr>
        <p:spPr>
          <a:xfrm>
            <a:off x="1249466" y="2645146"/>
            <a:ext cx="595035" cy="338554"/>
          </a:xfrm>
          <a:prstGeom prst="rect">
            <a:avLst/>
          </a:prstGeom>
          <a:noFill/>
          <a:ln>
            <a:noFill/>
          </a:ln>
        </p:spPr>
        <p:txBody>
          <a:bodyPr wrap="none" rtlCol="0">
            <a:spAutoFit/>
          </a:bodyPr>
          <a:lstStyle/>
          <a:p>
            <a:r>
              <a:rPr lang="zh-CN" altLang="en-US" sz="1600">
                <a:solidFill>
                  <a:srgbClr val="000078"/>
                </a:solidFill>
                <a:latin typeface="微软雅黑" panose="020B0503020204020204" pitchFamily="34" charset="-122"/>
                <a:ea typeface="微软雅黑" panose="020B0503020204020204" pitchFamily="34" charset="-122"/>
              </a:rPr>
              <a:t>数据</a:t>
            </a:r>
            <a:endParaRPr lang="zh-CN" altLang="en-US" sz="1600" dirty="0">
              <a:solidFill>
                <a:srgbClr val="000078"/>
              </a:solidFill>
              <a:latin typeface="微软雅黑" panose="020B0503020204020204" pitchFamily="34" charset="-122"/>
              <a:ea typeface="微软雅黑" panose="020B0503020204020204" pitchFamily="34" charset="-122"/>
            </a:endParaRPr>
          </a:p>
        </p:txBody>
      </p:sp>
      <p:cxnSp>
        <p:nvCxnSpPr>
          <p:cNvPr id="71" name="直接箭头连接符 70">
            <a:extLst>
              <a:ext uri="{FF2B5EF4-FFF2-40B4-BE49-F238E27FC236}">
                <a16:creationId xmlns:a16="http://schemas.microsoft.com/office/drawing/2014/main" id="{1921E646-A87B-4551-B5DE-078BAA1F4942}"/>
              </a:ext>
            </a:extLst>
          </p:cNvPr>
          <p:cNvCxnSpPr>
            <a:cxnSpLocks/>
          </p:cNvCxnSpPr>
          <p:nvPr/>
        </p:nvCxnSpPr>
        <p:spPr>
          <a:xfrm flipV="1">
            <a:off x="3856787" y="3020878"/>
            <a:ext cx="576064" cy="1890"/>
          </a:xfrm>
          <a:prstGeom prst="straightConnector1">
            <a:avLst/>
          </a:prstGeom>
          <a:ln w="15875">
            <a:solidFill>
              <a:srgbClr val="000078"/>
            </a:solidFill>
            <a:tailEnd type="triangle"/>
          </a:ln>
        </p:spPr>
        <p:style>
          <a:lnRef idx="1">
            <a:schemeClr val="accent1"/>
          </a:lnRef>
          <a:fillRef idx="0">
            <a:schemeClr val="accent1"/>
          </a:fillRef>
          <a:effectRef idx="0">
            <a:schemeClr val="accent1"/>
          </a:effectRef>
          <a:fontRef idx="minor">
            <a:schemeClr val="tx1"/>
          </a:fontRef>
        </p:style>
      </p:cxnSp>
      <p:sp>
        <p:nvSpPr>
          <p:cNvPr id="72" name="文本框 71">
            <a:extLst>
              <a:ext uri="{FF2B5EF4-FFF2-40B4-BE49-F238E27FC236}">
                <a16:creationId xmlns:a16="http://schemas.microsoft.com/office/drawing/2014/main" id="{9B634732-49A0-465A-840C-539322D59CFD}"/>
              </a:ext>
            </a:extLst>
          </p:cNvPr>
          <p:cNvSpPr txBox="1"/>
          <p:nvPr/>
        </p:nvSpPr>
        <p:spPr>
          <a:xfrm>
            <a:off x="4206199" y="2834909"/>
            <a:ext cx="797849" cy="338554"/>
          </a:xfrm>
          <a:prstGeom prst="rect">
            <a:avLst/>
          </a:prstGeom>
          <a:noFill/>
          <a:ln>
            <a:noFill/>
          </a:ln>
        </p:spPr>
        <p:txBody>
          <a:bodyPr wrap="square" lIns="0" rIns="0" rtlCol="0">
            <a:spAutoFit/>
          </a:bodyPr>
          <a:lstStyle/>
          <a:p>
            <a:pPr algn="ctr"/>
            <a:r>
              <a:rPr lang="zh-CN" altLang="en-US" sz="1600">
                <a:solidFill>
                  <a:srgbClr val="000078"/>
                </a:solidFill>
                <a:latin typeface="微软雅黑" panose="020B0503020204020204" pitchFamily="34" charset="-122"/>
                <a:ea typeface="微软雅黑" panose="020B0503020204020204" pitchFamily="34" charset="-122"/>
              </a:rPr>
              <a:t>  模型</a:t>
            </a:r>
            <a:endParaRPr lang="zh-CN" altLang="en-US" sz="1600" dirty="0">
              <a:solidFill>
                <a:srgbClr val="000078"/>
              </a:solidFill>
              <a:latin typeface="微软雅黑" panose="020B0503020204020204" pitchFamily="34" charset="-122"/>
              <a:ea typeface="微软雅黑" panose="020B0503020204020204" pitchFamily="34" charset="-122"/>
            </a:endParaRPr>
          </a:p>
        </p:txBody>
      </p:sp>
      <p:sp>
        <p:nvSpPr>
          <p:cNvPr id="73" name="文本框 72">
            <a:extLst>
              <a:ext uri="{FF2B5EF4-FFF2-40B4-BE49-F238E27FC236}">
                <a16:creationId xmlns:a16="http://schemas.microsoft.com/office/drawing/2014/main" id="{7083BB50-4BCB-4E6E-B148-20CBE90637A7}"/>
              </a:ext>
            </a:extLst>
          </p:cNvPr>
          <p:cNvSpPr txBox="1"/>
          <p:nvPr/>
        </p:nvSpPr>
        <p:spPr>
          <a:xfrm>
            <a:off x="1256749" y="3025284"/>
            <a:ext cx="595035" cy="338554"/>
          </a:xfrm>
          <a:prstGeom prst="rect">
            <a:avLst/>
          </a:prstGeom>
          <a:noFill/>
          <a:ln>
            <a:noFill/>
          </a:ln>
        </p:spPr>
        <p:txBody>
          <a:bodyPr wrap="none" rtlCol="0">
            <a:spAutoFit/>
          </a:bodyPr>
          <a:lstStyle/>
          <a:p>
            <a:r>
              <a:rPr lang="zh-CN" altLang="en-US" sz="1600" dirty="0">
                <a:solidFill>
                  <a:srgbClr val="000078"/>
                </a:solidFill>
                <a:latin typeface="微软雅黑" panose="020B0503020204020204" pitchFamily="34" charset="-122"/>
                <a:ea typeface="微软雅黑" panose="020B0503020204020204" pitchFamily="34" charset="-122"/>
              </a:rPr>
              <a:t>结果</a:t>
            </a:r>
          </a:p>
        </p:txBody>
      </p:sp>
      <p:sp>
        <p:nvSpPr>
          <p:cNvPr id="74" name="文本框 73">
            <a:extLst>
              <a:ext uri="{FF2B5EF4-FFF2-40B4-BE49-F238E27FC236}">
                <a16:creationId xmlns:a16="http://schemas.microsoft.com/office/drawing/2014/main" id="{E8401B01-6ADA-4F81-9F28-766D31C0C8C3}"/>
              </a:ext>
            </a:extLst>
          </p:cNvPr>
          <p:cNvSpPr txBox="1"/>
          <p:nvPr/>
        </p:nvSpPr>
        <p:spPr>
          <a:xfrm>
            <a:off x="2637943" y="2262233"/>
            <a:ext cx="1005403" cy="338554"/>
          </a:xfrm>
          <a:prstGeom prst="rect">
            <a:avLst/>
          </a:prstGeom>
          <a:noFill/>
          <a:ln>
            <a:noFill/>
          </a:ln>
        </p:spPr>
        <p:txBody>
          <a:bodyPr wrap="none" rtlCol="0">
            <a:spAutoFit/>
          </a:bodyPr>
          <a:lstStyle/>
          <a:p>
            <a:r>
              <a:rPr lang="zh-CN" altLang="en-US" sz="1600" dirty="0">
                <a:solidFill>
                  <a:srgbClr val="C00000"/>
                </a:solidFill>
                <a:latin typeface="黑体" panose="02010609060101010101" pitchFamily="49" charset="-122"/>
                <a:ea typeface="黑体" panose="02010609060101010101" pitchFamily="49" charset="-122"/>
              </a:rPr>
              <a:t>传统编程</a:t>
            </a:r>
          </a:p>
        </p:txBody>
      </p:sp>
      <p:sp>
        <p:nvSpPr>
          <p:cNvPr id="75" name="文本框 74">
            <a:extLst>
              <a:ext uri="{FF2B5EF4-FFF2-40B4-BE49-F238E27FC236}">
                <a16:creationId xmlns:a16="http://schemas.microsoft.com/office/drawing/2014/main" id="{084D111F-A225-41FF-84E9-4F77BC77A2CD}"/>
              </a:ext>
            </a:extLst>
          </p:cNvPr>
          <p:cNvSpPr txBox="1"/>
          <p:nvPr/>
        </p:nvSpPr>
        <p:spPr>
          <a:xfrm>
            <a:off x="2637943" y="3250248"/>
            <a:ext cx="1005403" cy="338554"/>
          </a:xfrm>
          <a:prstGeom prst="rect">
            <a:avLst/>
          </a:prstGeom>
          <a:noFill/>
          <a:ln>
            <a:noFill/>
          </a:ln>
        </p:spPr>
        <p:txBody>
          <a:bodyPr wrap="none" rtlCol="0">
            <a:spAutoFit/>
          </a:bodyPr>
          <a:lstStyle/>
          <a:p>
            <a:r>
              <a:rPr lang="zh-CN" altLang="en-US" sz="1600" dirty="0">
                <a:solidFill>
                  <a:srgbClr val="C00000"/>
                </a:solidFill>
                <a:latin typeface="黑体" panose="02010609060101010101" pitchFamily="49" charset="-122"/>
                <a:ea typeface="黑体" panose="02010609060101010101" pitchFamily="49" charset="-122"/>
              </a:rPr>
              <a:t>机器学习</a:t>
            </a:r>
          </a:p>
        </p:txBody>
      </p:sp>
    </p:spTree>
    <p:extLst>
      <p:ext uri="{BB962C8B-B14F-4D97-AF65-F5344CB8AC3E}">
        <p14:creationId xmlns:p14="http://schemas.microsoft.com/office/powerpoint/2010/main" val="3917007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59" y="986626"/>
            <a:ext cx="6264697" cy="721028"/>
          </a:xfrm>
        </p:spPr>
        <p:txBody>
          <a:bodyPr>
            <a:noAutofit/>
          </a:bodyPr>
          <a:lstStyle/>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3</a:t>
            </a:r>
            <a:r>
              <a:rPr lang="zh-CN" altLang="zh-CN" sz="180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机器学习分类</a:t>
            </a:r>
            <a:endParaRPr lang="en-US" altLang="zh-CN" sz="1600" dirty="0"/>
          </a:p>
        </p:txBody>
      </p:sp>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四</a:t>
            </a:r>
            <a:r>
              <a:rPr lang="zh-CN" altLang="en-US" sz="2400">
                <a:solidFill>
                  <a:srgbClr val="FFFFFF"/>
                </a:solidFill>
              </a:rPr>
              <a:t>、机器学习基本知识</a:t>
            </a:r>
            <a:endParaRPr lang="zh-CN" altLang="en-US" sz="2400" dirty="0"/>
          </a:p>
        </p:txBody>
      </p:sp>
      <p:sp>
        <p:nvSpPr>
          <p:cNvPr id="4" name="矩形: 圆角 3">
            <a:extLst>
              <a:ext uri="{FF2B5EF4-FFF2-40B4-BE49-F238E27FC236}">
                <a16:creationId xmlns:a16="http://schemas.microsoft.com/office/drawing/2014/main" id="{63529B44-1543-48D1-AA5C-D50FE065D881}"/>
              </a:ext>
            </a:extLst>
          </p:cNvPr>
          <p:cNvSpPr/>
          <p:nvPr/>
        </p:nvSpPr>
        <p:spPr bwMode="gray">
          <a:xfrm>
            <a:off x="4095865" y="1601505"/>
            <a:ext cx="1368152" cy="432048"/>
          </a:xfrm>
          <a:prstGeom prst="roundRect">
            <a:avLst/>
          </a:prstGeom>
          <a:noFill/>
          <a:ln w="19050">
            <a:solidFill>
              <a:srgbClr val="000078"/>
            </a:solidFill>
            <a:miter lim="800000"/>
            <a:headEnd/>
            <a:tailEnd/>
          </a:ln>
          <a:effectLst/>
        </p:spPr>
        <p:txBody>
          <a:bodyPr wrap="none" rtlCol="0" anchor="ctr"/>
          <a:lstStyle/>
          <a:p>
            <a:pPr algn="ctr" eaLnBrk="0" hangingPunct="0"/>
            <a:r>
              <a:rPr lang="zh-CN" altLang="en-US" sz="1600">
                <a:solidFill>
                  <a:srgbClr val="000078"/>
                </a:solidFill>
                <a:latin typeface="Times New Roman" panose="02020603050405020304" pitchFamily="18" charset="0"/>
                <a:ea typeface="微软雅黑" panose="020B0503020204020204" pitchFamily="34" charset="-122"/>
                <a:cs typeface="Times New Roman" panose="02020603050405020304" pitchFamily="18" charset="0"/>
              </a:rPr>
              <a:t>机器学习</a:t>
            </a:r>
            <a:endParaRPr lang="zh-CN" altLang="en-US" sz="1600" dirty="0">
              <a:solidFill>
                <a:srgbClr val="000078"/>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圆角 4">
            <a:extLst>
              <a:ext uri="{FF2B5EF4-FFF2-40B4-BE49-F238E27FC236}">
                <a16:creationId xmlns:a16="http://schemas.microsoft.com/office/drawing/2014/main" id="{3D14567A-6394-46E0-B36E-591155E27DD3}"/>
              </a:ext>
            </a:extLst>
          </p:cNvPr>
          <p:cNvSpPr/>
          <p:nvPr/>
        </p:nvSpPr>
        <p:spPr bwMode="gray">
          <a:xfrm>
            <a:off x="1027562" y="2628862"/>
            <a:ext cx="1368152" cy="432048"/>
          </a:xfrm>
          <a:prstGeom prst="roundRect">
            <a:avLst/>
          </a:prstGeom>
          <a:noFill/>
          <a:ln w="19050">
            <a:solidFill>
              <a:srgbClr val="000078"/>
            </a:solidFill>
            <a:miter lim="800000"/>
            <a:headEnd/>
            <a:tailEnd/>
          </a:ln>
          <a:effectLst/>
        </p:spPr>
        <p:txBody>
          <a:bodyPr wrap="none" rtlCol="0" anchor="ctr"/>
          <a:lstStyle/>
          <a:p>
            <a:pPr algn="ctr" eaLnBrk="0" hangingPunct="0"/>
            <a:r>
              <a:rPr lang="zh-CN" altLang="en-US" sz="1600">
                <a:solidFill>
                  <a:srgbClr val="000078"/>
                </a:solidFill>
                <a:latin typeface="Times New Roman" panose="02020603050405020304" pitchFamily="18" charset="0"/>
                <a:ea typeface="微软雅黑" panose="020B0503020204020204" pitchFamily="34" charset="-122"/>
                <a:cs typeface="Times New Roman" panose="02020603050405020304" pitchFamily="18" charset="0"/>
              </a:rPr>
              <a:t>监督学习</a:t>
            </a:r>
            <a:endParaRPr lang="zh-CN" altLang="en-US" sz="1600" dirty="0">
              <a:solidFill>
                <a:srgbClr val="000078"/>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矩形: 圆角 5">
            <a:extLst>
              <a:ext uri="{FF2B5EF4-FFF2-40B4-BE49-F238E27FC236}">
                <a16:creationId xmlns:a16="http://schemas.microsoft.com/office/drawing/2014/main" id="{EFA8100D-E2EE-4FDD-B924-1E7A9A78E1CD}"/>
              </a:ext>
            </a:extLst>
          </p:cNvPr>
          <p:cNvSpPr/>
          <p:nvPr/>
        </p:nvSpPr>
        <p:spPr bwMode="gray">
          <a:xfrm>
            <a:off x="3203848" y="2648432"/>
            <a:ext cx="1368152" cy="432048"/>
          </a:xfrm>
          <a:prstGeom prst="roundRect">
            <a:avLst/>
          </a:prstGeom>
          <a:noFill/>
          <a:ln w="19050">
            <a:solidFill>
              <a:srgbClr val="000078"/>
            </a:solidFill>
            <a:miter lim="800000"/>
            <a:headEnd/>
            <a:tailEnd/>
          </a:ln>
          <a:effectLst/>
        </p:spPr>
        <p:txBody>
          <a:bodyPr wrap="none" rtlCol="0" anchor="ctr"/>
          <a:lstStyle/>
          <a:p>
            <a:pPr algn="ctr" eaLnBrk="0" hangingPunct="0"/>
            <a:r>
              <a:rPr lang="zh-CN" altLang="en-US" sz="1600">
                <a:solidFill>
                  <a:srgbClr val="000078"/>
                </a:solidFill>
                <a:latin typeface="Times New Roman" panose="02020603050405020304" pitchFamily="18" charset="0"/>
                <a:ea typeface="微软雅黑" panose="020B0503020204020204" pitchFamily="34" charset="-122"/>
                <a:cs typeface="Times New Roman" panose="02020603050405020304" pitchFamily="18" charset="0"/>
              </a:rPr>
              <a:t>无监督学习</a:t>
            </a:r>
            <a:endParaRPr lang="zh-CN" altLang="en-US" sz="1600" dirty="0">
              <a:solidFill>
                <a:srgbClr val="000078"/>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矩形: 圆角 6">
            <a:extLst>
              <a:ext uri="{FF2B5EF4-FFF2-40B4-BE49-F238E27FC236}">
                <a16:creationId xmlns:a16="http://schemas.microsoft.com/office/drawing/2014/main" id="{355CF759-DC58-41DC-BFDC-0204E6203BB0}"/>
              </a:ext>
            </a:extLst>
          </p:cNvPr>
          <p:cNvSpPr/>
          <p:nvPr/>
        </p:nvSpPr>
        <p:spPr bwMode="gray">
          <a:xfrm>
            <a:off x="7308304" y="2654634"/>
            <a:ext cx="1368152" cy="432048"/>
          </a:xfrm>
          <a:prstGeom prst="roundRect">
            <a:avLst/>
          </a:prstGeom>
          <a:noFill/>
          <a:ln w="19050">
            <a:solidFill>
              <a:srgbClr val="000078"/>
            </a:solidFill>
            <a:miter lim="800000"/>
            <a:headEnd/>
            <a:tailEnd/>
          </a:ln>
          <a:effectLst/>
        </p:spPr>
        <p:txBody>
          <a:bodyPr wrap="none" rtlCol="0" anchor="ctr"/>
          <a:lstStyle/>
          <a:p>
            <a:pPr algn="ctr" eaLnBrk="0" hangingPunct="0"/>
            <a:r>
              <a:rPr lang="zh-CN" altLang="en-US" sz="1600">
                <a:solidFill>
                  <a:srgbClr val="000078"/>
                </a:solidFill>
                <a:latin typeface="Times New Roman" panose="02020603050405020304" pitchFamily="18" charset="0"/>
                <a:ea typeface="微软雅黑" panose="020B0503020204020204" pitchFamily="34" charset="-122"/>
                <a:cs typeface="Times New Roman" panose="02020603050405020304" pitchFamily="18" charset="0"/>
              </a:rPr>
              <a:t>强化学习</a:t>
            </a:r>
            <a:endParaRPr lang="zh-CN" altLang="en-US" sz="1600" dirty="0">
              <a:solidFill>
                <a:srgbClr val="000078"/>
              </a:solidFill>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9" name="直接箭头连接符 8">
            <a:extLst>
              <a:ext uri="{FF2B5EF4-FFF2-40B4-BE49-F238E27FC236}">
                <a16:creationId xmlns:a16="http://schemas.microsoft.com/office/drawing/2014/main" id="{E39FAD19-1DAE-4BE0-8511-2586D38C6E5C}"/>
              </a:ext>
            </a:extLst>
          </p:cNvPr>
          <p:cNvCxnSpPr>
            <a:cxnSpLocks/>
          </p:cNvCxnSpPr>
          <p:nvPr/>
        </p:nvCxnSpPr>
        <p:spPr>
          <a:xfrm>
            <a:off x="4779941" y="2033553"/>
            <a:ext cx="0" cy="288000"/>
          </a:xfrm>
          <a:prstGeom prst="straightConnector1">
            <a:avLst/>
          </a:prstGeom>
          <a:ln w="19050">
            <a:solidFill>
              <a:srgbClr val="000078"/>
            </a:solidFill>
            <a:tailEnd type="non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7B3802E5-503F-4E59-A4C0-613FE815853B}"/>
              </a:ext>
            </a:extLst>
          </p:cNvPr>
          <p:cNvCxnSpPr>
            <a:cxnSpLocks/>
          </p:cNvCxnSpPr>
          <p:nvPr/>
        </p:nvCxnSpPr>
        <p:spPr>
          <a:xfrm flipV="1">
            <a:off x="1717897" y="2340862"/>
            <a:ext cx="6265889" cy="5891"/>
          </a:xfrm>
          <a:prstGeom prst="straightConnector1">
            <a:avLst/>
          </a:prstGeom>
          <a:ln w="19050">
            <a:solidFill>
              <a:srgbClr val="000078"/>
            </a:solidFill>
            <a:tailEnd type="non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8966BAA1-F328-4F79-A254-F8625DE3756F}"/>
              </a:ext>
            </a:extLst>
          </p:cNvPr>
          <p:cNvCxnSpPr>
            <a:cxnSpLocks/>
          </p:cNvCxnSpPr>
          <p:nvPr/>
        </p:nvCxnSpPr>
        <p:spPr>
          <a:xfrm>
            <a:off x="1704991" y="2346753"/>
            <a:ext cx="0" cy="288000"/>
          </a:xfrm>
          <a:prstGeom prst="straightConnector1">
            <a:avLst/>
          </a:prstGeom>
          <a:ln w="19050">
            <a:solidFill>
              <a:srgbClr val="000078"/>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7170CCA5-7319-4483-9049-DB38C22E74AD}"/>
              </a:ext>
            </a:extLst>
          </p:cNvPr>
          <p:cNvCxnSpPr>
            <a:cxnSpLocks/>
          </p:cNvCxnSpPr>
          <p:nvPr/>
        </p:nvCxnSpPr>
        <p:spPr>
          <a:xfrm>
            <a:off x="3887924" y="2360432"/>
            <a:ext cx="0" cy="288000"/>
          </a:xfrm>
          <a:prstGeom prst="straightConnector1">
            <a:avLst/>
          </a:prstGeom>
          <a:ln w="19050">
            <a:solidFill>
              <a:srgbClr val="000078"/>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C922B823-F8FF-4A36-BB10-97FF1CB40D5B}"/>
              </a:ext>
            </a:extLst>
          </p:cNvPr>
          <p:cNvCxnSpPr>
            <a:cxnSpLocks/>
          </p:cNvCxnSpPr>
          <p:nvPr/>
        </p:nvCxnSpPr>
        <p:spPr>
          <a:xfrm>
            <a:off x="3887924" y="3110384"/>
            <a:ext cx="0" cy="547090"/>
          </a:xfrm>
          <a:prstGeom prst="straightConnector1">
            <a:avLst/>
          </a:prstGeom>
          <a:ln w="19050">
            <a:solidFill>
              <a:srgbClr val="000078"/>
            </a:solidFill>
            <a:tailEnd type="triangle"/>
          </a:ln>
        </p:spPr>
        <p:style>
          <a:lnRef idx="1">
            <a:schemeClr val="accent1"/>
          </a:lnRef>
          <a:fillRef idx="0">
            <a:schemeClr val="accent1"/>
          </a:fillRef>
          <a:effectRef idx="0">
            <a:schemeClr val="accent1"/>
          </a:effectRef>
          <a:fontRef idx="minor">
            <a:schemeClr val="tx1"/>
          </a:fontRef>
        </p:style>
      </p:cxnSp>
      <p:sp>
        <p:nvSpPr>
          <p:cNvPr id="18" name="矩形: 圆角 17">
            <a:extLst>
              <a:ext uri="{FF2B5EF4-FFF2-40B4-BE49-F238E27FC236}">
                <a16:creationId xmlns:a16="http://schemas.microsoft.com/office/drawing/2014/main" id="{6BEA9828-D6E6-43F8-A830-AFD0F0E2D8C4}"/>
              </a:ext>
            </a:extLst>
          </p:cNvPr>
          <p:cNvSpPr/>
          <p:nvPr/>
        </p:nvSpPr>
        <p:spPr bwMode="gray">
          <a:xfrm>
            <a:off x="495465" y="3646716"/>
            <a:ext cx="1008000" cy="432048"/>
          </a:xfrm>
          <a:prstGeom prst="roundRect">
            <a:avLst/>
          </a:prstGeom>
          <a:noFill/>
          <a:ln w="19050">
            <a:solidFill>
              <a:srgbClr val="000078"/>
            </a:solidFill>
            <a:miter lim="800000"/>
            <a:headEnd/>
            <a:tailEnd/>
          </a:ln>
          <a:effectLst/>
        </p:spPr>
        <p:txBody>
          <a:bodyPr wrap="none" rtlCol="0" anchor="ctr"/>
          <a:lstStyle/>
          <a:p>
            <a:pPr algn="ctr" eaLnBrk="0" hangingPunct="0"/>
            <a:r>
              <a:rPr lang="zh-CN" altLang="en-US" sz="1600">
                <a:solidFill>
                  <a:srgbClr val="000078"/>
                </a:solidFill>
                <a:latin typeface="Times New Roman" panose="02020603050405020304" pitchFamily="18" charset="0"/>
                <a:ea typeface="微软雅黑" panose="020B0503020204020204" pitchFamily="34" charset="-122"/>
                <a:cs typeface="Times New Roman" panose="02020603050405020304" pitchFamily="18" charset="0"/>
              </a:rPr>
              <a:t>分类</a:t>
            </a:r>
            <a:endParaRPr lang="zh-CN" altLang="en-US" sz="1600" dirty="0">
              <a:solidFill>
                <a:srgbClr val="000078"/>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矩形: 圆角 18">
            <a:extLst>
              <a:ext uri="{FF2B5EF4-FFF2-40B4-BE49-F238E27FC236}">
                <a16:creationId xmlns:a16="http://schemas.microsoft.com/office/drawing/2014/main" id="{26DAFE90-5DFF-4F4B-855A-CC9C41E74A27}"/>
              </a:ext>
            </a:extLst>
          </p:cNvPr>
          <p:cNvSpPr/>
          <p:nvPr/>
        </p:nvSpPr>
        <p:spPr bwMode="gray">
          <a:xfrm>
            <a:off x="1935567" y="3646716"/>
            <a:ext cx="1008000" cy="432048"/>
          </a:xfrm>
          <a:prstGeom prst="roundRect">
            <a:avLst/>
          </a:prstGeom>
          <a:noFill/>
          <a:ln w="19050">
            <a:solidFill>
              <a:srgbClr val="000078"/>
            </a:solidFill>
            <a:miter lim="800000"/>
            <a:headEnd/>
            <a:tailEnd/>
          </a:ln>
          <a:effectLst/>
        </p:spPr>
        <p:txBody>
          <a:bodyPr wrap="none" rtlCol="0" anchor="ctr"/>
          <a:lstStyle/>
          <a:p>
            <a:pPr algn="ctr" eaLnBrk="0" hangingPunct="0"/>
            <a:r>
              <a:rPr lang="zh-CN" altLang="en-US" sz="1600">
                <a:solidFill>
                  <a:srgbClr val="000078"/>
                </a:solidFill>
                <a:latin typeface="Times New Roman" panose="02020603050405020304" pitchFamily="18" charset="0"/>
                <a:ea typeface="微软雅黑" panose="020B0503020204020204" pitchFamily="34" charset="-122"/>
                <a:cs typeface="Times New Roman" panose="02020603050405020304" pitchFamily="18" charset="0"/>
              </a:rPr>
              <a:t>回归</a:t>
            </a:r>
            <a:endParaRPr lang="zh-CN" altLang="en-US" sz="1600" dirty="0">
              <a:solidFill>
                <a:srgbClr val="000078"/>
              </a:solidFill>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21" name="直接箭头连接符 20">
            <a:extLst>
              <a:ext uri="{FF2B5EF4-FFF2-40B4-BE49-F238E27FC236}">
                <a16:creationId xmlns:a16="http://schemas.microsoft.com/office/drawing/2014/main" id="{25C101F7-6BC2-4960-B510-292FD00BA06F}"/>
              </a:ext>
            </a:extLst>
          </p:cNvPr>
          <p:cNvCxnSpPr>
            <a:cxnSpLocks/>
          </p:cNvCxnSpPr>
          <p:nvPr/>
        </p:nvCxnSpPr>
        <p:spPr>
          <a:xfrm>
            <a:off x="1711638" y="3066801"/>
            <a:ext cx="0" cy="288000"/>
          </a:xfrm>
          <a:prstGeom prst="straightConnector1">
            <a:avLst/>
          </a:prstGeom>
          <a:ln w="19050">
            <a:solidFill>
              <a:srgbClr val="000078"/>
            </a:solidFill>
            <a:tailEnd type="none"/>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6BFBD718-DA42-4622-84DF-D455CDA57213}"/>
              </a:ext>
            </a:extLst>
          </p:cNvPr>
          <p:cNvCxnSpPr>
            <a:cxnSpLocks/>
          </p:cNvCxnSpPr>
          <p:nvPr/>
        </p:nvCxnSpPr>
        <p:spPr>
          <a:xfrm flipV="1">
            <a:off x="983710" y="3360692"/>
            <a:ext cx="1455857" cy="3146"/>
          </a:xfrm>
          <a:prstGeom prst="line">
            <a:avLst/>
          </a:prstGeom>
          <a:ln w="19050">
            <a:solidFill>
              <a:srgbClr val="000078"/>
            </a:solidFill>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D77B22B5-EFA5-4418-8515-5C2CE2D4B611}"/>
              </a:ext>
            </a:extLst>
          </p:cNvPr>
          <p:cNvCxnSpPr>
            <a:cxnSpLocks/>
          </p:cNvCxnSpPr>
          <p:nvPr/>
        </p:nvCxnSpPr>
        <p:spPr>
          <a:xfrm>
            <a:off x="983710" y="3357947"/>
            <a:ext cx="0" cy="288000"/>
          </a:xfrm>
          <a:prstGeom prst="straightConnector1">
            <a:avLst/>
          </a:prstGeom>
          <a:ln w="19050">
            <a:solidFill>
              <a:srgbClr val="000078"/>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551E3E51-D907-45C7-9E1E-AAEB531C5939}"/>
              </a:ext>
            </a:extLst>
          </p:cNvPr>
          <p:cNvCxnSpPr>
            <a:cxnSpLocks/>
          </p:cNvCxnSpPr>
          <p:nvPr/>
        </p:nvCxnSpPr>
        <p:spPr>
          <a:xfrm>
            <a:off x="2439567" y="3369474"/>
            <a:ext cx="0" cy="288000"/>
          </a:xfrm>
          <a:prstGeom prst="straightConnector1">
            <a:avLst/>
          </a:prstGeom>
          <a:ln w="19050">
            <a:solidFill>
              <a:srgbClr val="000078"/>
            </a:solidFill>
            <a:tailEnd type="triangle"/>
          </a:ln>
        </p:spPr>
        <p:style>
          <a:lnRef idx="1">
            <a:schemeClr val="accent1"/>
          </a:lnRef>
          <a:fillRef idx="0">
            <a:schemeClr val="accent1"/>
          </a:fillRef>
          <a:effectRef idx="0">
            <a:schemeClr val="accent1"/>
          </a:effectRef>
          <a:fontRef idx="minor">
            <a:schemeClr val="tx1"/>
          </a:fontRef>
        </p:style>
      </p:cxnSp>
      <p:sp>
        <p:nvSpPr>
          <p:cNvPr id="28" name="矩形: 圆角 27">
            <a:extLst>
              <a:ext uri="{FF2B5EF4-FFF2-40B4-BE49-F238E27FC236}">
                <a16:creationId xmlns:a16="http://schemas.microsoft.com/office/drawing/2014/main" id="{7D50D19D-3346-4B10-A60B-DEB84BA3501A}"/>
              </a:ext>
            </a:extLst>
          </p:cNvPr>
          <p:cNvSpPr/>
          <p:nvPr/>
        </p:nvSpPr>
        <p:spPr bwMode="gray">
          <a:xfrm>
            <a:off x="3408077" y="3657474"/>
            <a:ext cx="1008000" cy="432048"/>
          </a:xfrm>
          <a:prstGeom prst="roundRect">
            <a:avLst/>
          </a:prstGeom>
          <a:noFill/>
          <a:ln w="19050">
            <a:solidFill>
              <a:srgbClr val="000078"/>
            </a:solidFill>
            <a:miter lim="800000"/>
            <a:headEnd/>
            <a:tailEnd/>
          </a:ln>
          <a:effectLst/>
        </p:spPr>
        <p:txBody>
          <a:bodyPr wrap="none" rtlCol="0" anchor="ctr"/>
          <a:lstStyle/>
          <a:p>
            <a:pPr algn="ctr" eaLnBrk="0" hangingPunct="0"/>
            <a:r>
              <a:rPr lang="zh-CN" altLang="en-US" sz="1600">
                <a:solidFill>
                  <a:srgbClr val="000078"/>
                </a:solidFill>
                <a:latin typeface="Times New Roman" panose="02020603050405020304" pitchFamily="18" charset="0"/>
                <a:ea typeface="微软雅黑" panose="020B0503020204020204" pitchFamily="34" charset="-122"/>
                <a:cs typeface="Times New Roman" panose="02020603050405020304" pitchFamily="18" charset="0"/>
              </a:rPr>
              <a:t>聚类</a:t>
            </a:r>
            <a:endParaRPr lang="zh-CN" altLang="en-US" sz="1600" dirty="0">
              <a:solidFill>
                <a:srgbClr val="000078"/>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8" name="矩形: 圆角 37">
            <a:extLst>
              <a:ext uri="{FF2B5EF4-FFF2-40B4-BE49-F238E27FC236}">
                <a16:creationId xmlns:a16="http://schemas.microsoft.com/office/drawing/2014/main" id="{91FFA4A8-75D9-4CC4-A2D9-EC28C8CE4315}"/>
              </a:ext>
            </a:extLst>
          </p:cNvPr>
          <p:cNvSpPr/>
          <p:nvPr/>
        </p:nvSpPr>
        <p:spPr bwMode="gray">
          <a:xfrm>
            <a:off x="5256076" y="2648432"/>
            <a:ext cx="1368152" cy="432048"/>
          </a:xfrm>
          <a:prstGeom prst="roundRect">
            <a:avLst/>
          </a:prstGeom>
          <a:noFill/>
          <a:ln w="19050">
            <a:solidFill>
              <a:srgbClr val="000078"/>
            </a:solidFill>
            <a:miter lim="800000"/>
            <a:headEnd/>
            <a:tailEnd/>
          </a:ln>
          <a:effectLst/>
        </p:spPr>
        <p:txBody>
          <a:bodyPr wrap="none" rtlCol="0" anchor="ctr"/>
          <a:lstStyle/>
          <a:p>
            <a:pPr algn="ctr" eaLnBrk="0" hangingPunct="0"/>
            <a:r>
              <a:rPr lang="zh-CN" altLang="en-US" sz="1600">
                <a:solidFill>
                  <a:srgbClr val="000078"/>
                </a:solidFill>
                <a:latin typeface="Times New Roman" panose="02020603050405020304" pitchFamily="18" charset="0"/>
                <a:ea typeface="微软雅黑" panose="020B0503020204020204" pitchFamily="34" charset="-122"/>
                <a:cs typeface="Times New Roman" panose="02020603050405020304" pitchFamily="18" charset="0"/>
              </a:rPr>
              <a:t>半监督学习</a:t>
            </a:r>
            <a:endParaRPr lang="zh-CN" altLang="en-US" sz="1600" dirty="0">
              <a:solidFill>
                <a:srgbClr val="000078"/>
              </a:solidFill>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39" name="直接箭头连接符 38">
            <a:extLst>
              <a:ext uri="{FF2B5EF4-FFF2-40B4-BE49-F238E27FC236}">
                <a16:creationId xmlns:a16="http://schemas.microsoft.com/office/drawing/2014/main" id="{D317C5BC-B369-402D-9E03-A04AA2F32A4A}"/>
              </a:ext>
            </a:extLst>
          </p:cNvPr>
          <p:cNvCxnSpPr>
            <a:cxnSpLocks/>
          </p:cNvCxnSpPr>
          <p:nvPr/>
        </p:nvCxnSpPr>
        <p:spPr>
          <a:xfrm>
            <a:off x="5940152" y="2340862"/>
            <a:ext cx="0" cy="288000"/>
          </a:xfrm>
          <a:prstGeom prst="straightConnector1">
            <a:avLst/>
          </a:prstGeom>
          <a:ln w="19050">
            <a:solidFill>
              <a:srgbClr val="000078"/>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2B4122F9-F679-4AE1-A767-8640A1D23B42}"/>
              </a:ext>
            </a:extLst>
          </p:cNvPr>
          <p:cNvCxnSpPr>
            <a:cxnSpLocks/>
          </p:cNvCxnSpPr>
          <p:nvPr/>
        </p:nvCxnSpPr>
        <p:spPr>
          <a:xfrm>
            <a:off x="7983786" y="2360432"/>
            <a:ext cx="0" cy="288000"/>
          </a:xfrm>
          <a:prstGeom prst="straightConnector1">
            <a:avLst/>
          </a:prstGeom>
          <a:ln w="19050">
            <a:solidFill>
              <a:srgbClr val="000078"/>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7503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59" y="986626"/>
            <a:ext cx="8424937" cy="2161188"/>
          </a:xfrm>
        </p:spPr>
        <p:txBody>
          <a:bodyPr>
            <a:noAutofit/>
          </a:bodyPr>
          <a:lstStyle/>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3</a:t>
            </a:r>
            <a:r>
              <a:rPr lang="zh-CN"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机器学习分类</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1</a:t>
            </a:r>
            <a:r>
              <a:rPr lang="zh-CN" altLang="en-US" sz="1800" dirty="0">
                <a:solidFill>
                  <a:srgbClr val="000066"/>
                </a:solidFill>
                <a:latin typeface="Times New Roman" panose="02020603050405020304" pitchFamily="18" charset="0"/>
                <a:cs typeface="Times New Roman" panose="02020603050405020304" pitchFamily="18" charset="0"/>
              </a:rPr>
              <a:t>）监督学习</a:t>
            </a: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 监督学习是分类的代名词</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800" dirty="0">
                <a:solidFill>
                  <a:srgbClr val="000066"/>
                </a:solidFill>
                <a:cs typeface="Times New Roman" panose="02020603050405020304" pitchFamily="18" charset="0"/>
              </a:rPr>
              <a:t>         </a:t>
            </a:r>
            <a:r>
              <a:rPr lang="zh-CN" altLang="zh-CN" sz="1800" dirty="0">
                <a:solidFill>
                  <a:srgbClr val="000066"/>
                </a:solidFill>
                <a:cs typeface="Times New Roman" panose="02020603050405020304" pitchFamily="18" charset="0"/>
              </a:rPr>
              <a:t>一类从带有标签的训练集中进行学习的算法</a:t>
            </a:r>
            <a:r>
              <a:rPr lang="zh-CN" altLang="en-US" sz="1800" dirty="0">
                <a:solidFill>
                  <a:srgbClr val="000066"/>
                </a:solidFill>
                <a:cs typeface="Times New Roman" panose="02020603050405020304" pitchFamily="18" charset="0"/>
              </a:rPr>
              <a:t>，</a:t>
            </a:r>
            <a:endParaRPr lang="en-US" altLang="zh-CN" sz="1800" dirty="0">
              <a:solidFill>
                <a:srgbClr val="000066"/>
              </a:solidFill>
              <a:cs typeface="Times New Roman" panose="02020603050405020304" pitchFamily="18" charset="0"/>
            </a:endParaRPr>
          </a:p>
          <a:p>
            <a:pPr marL="0" indent="0">
              <a:lnSpc>
                <a:spcPct val="150000"/>
              </a:lnSpc>
              <a:spcBef>
                <a:spcPts val="0"/>
              </a:spcBef>
              <a:buNone/>
            </a:pPr>
            <a:r>
              <a:rPr lang="en-US" altLang="zh-CN" sz="1800" dirty="0">
                <a:solidFill>
                  <a:srgbClr val="000066"/>
                </a:solidFill>
                <a:cs typeface="Times New Roman" panose="02020603050405020304" pitchFamily="18" charset="0"/>
              </a:rPr>
              <a:t>        </a:t>
            </a:r>
            <a:r>
              <a:rPr lang="zh-CN" altLang="zh-CN" sz="1800" dirty="0">
                <a:solidFill>
                  <a:srgbClr val="000066"/>
                </a:solidFill>
                <a:cs typeface="Times New Roman" panose="02020603050405020304" pitchFamily="18" charset="0"/>
              </a:rPr>
              <a:t>通过自动分析，找到特征和标签之间的关系，从而建立模型。</a:t>
            </a:r>
            <a:endParaRPr lang="en-US" altLang="zh-CN" sz="1800" dirty="0">
              <a:solidFill>
                <a:srgbClr val="000066"/>
              </a:solidFill>
              <a:cs typeface="Times New Roman" panose="02020603050405020304" pitchFamily="18" charset="0"/>
            </a:endParaRPr>
          </a:p>
          <a:p>
            <a:pPr marL="0" indent="0">
              <a:lnSpc>
                <a:spcPct val="150000"/>
              </a:lnSpc>
              <a:spcBef>
                <a:spcPts val="0"/>
              </a:spcBef>
              <a:buNone/>
            </a:pPr>
            <a:r>
              <a:rPr lang="en-US" altLang="zh-CN" sz="1800" dirty="0">
                <a:solidFill>
                  <a:srgbClr val="000066"/>
                </a:solidFill>
                <a:cs typeface="Times New Roman" panose="02020603050405020304" pitchFamily="18" charset="0"/>
              </a:rPr>
              <a:t>        </a:t>
            </a:r>
            <a:r>
              <a:rPr lang="zh-CN" altLang="zh-CN" sz="1800" dirty="0">
                <a:solidFill>
                  <a:srgbClr val="000066"/>
                </a:solidFill>
                <a:cs typeface="Times New Roman" panose="02020603050405020304" pitchFamily="18" charset="0"/>
              </a:rPr>
              <a:t>训练好的模型能够对新样本进行判别，给出标签</a:t>
            </a:r>
            <a:endParaRPr lang="en-US" altLang="zh-CN" sz="1600" dirty="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四</a:t>
            </a:r>
            <a:r>
              <a:rPr lang="zh-CN" altLang="en-US" sz="2400">
                <a:solidFill>
                  <a:srgbClr val="FFFFFF"/>
                </a:solidFill>
              </a:rPr>
              <a:t>、机器学习基本知识</a:t>
            </a:r>
            <a:endParaRPr lang="zh-CN" altLang="en-US" sz="2400" dirty="0"/>
          </a:p>
        </p:txBody>
      </p:sp>
      <p:pic>
        <p:nvPicPr>
          <p:cNvPr id="7" name="图片 6">
            <a:extLst>
              <a:ext uri="{FF2B5EF4-FFF2-40B4-BE49-F238E27FC236}">
                <a16:creationId xmlns:a16="http://schemas.microsoft.com/office/drawing/2014/main" id="{1190F315-F6DA-4B6F-B48B-570F2AE9E7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7624" y="3067785"/>
            <a:ext cx="4680520" cy="2096253"/>
          </a:xfrm>
          <a:prstGeom prst="rect">
            <a:avLst/>
          </a:prstGeom>
        </p:spPr>
      </p:pic>
      <p:sp>
        <p:nvSpPr>
          <p:cNvPr id="9" name="文本框 8">
            <a:extLst>
              <a:ext uri="{FF2B5EF4-FFF2-40B4-BE49-F238E27FC236}">
                <a16:creationId xmlns:a16="http://schemas.microsoft.com/office/drawing/2014/main" id="{0E494213-ACCE-4A2E-AA6C-2760A4B58D02}"/>
              </a:ext>
            </a:extLst>
          </p:cNvPr>
          <p:cNvSpPr txBox="1"/>
          <p:nvPr/>
        </p:nvSpPr>
        <p:spPr>
          <a:xfrm>
            <a:off x="5868144" y="3232931"/>
            <a:ext cx="3243196" cy="1859099"/>
          </a:xfrm>
          <a:prstGeom prst="rect">
            <a:avLst/>
          </a:prstGeom>
          <a:noFill/>
        </p:spPr>
        <p:txBody>
          <a:bodyPr wrap="square" rtlCol="0">
            <a:spAutoFit/>
          </a:bodyPr>
          <a:lstStyle/>
          <a:p>
            <a:pPr>
              <a:lnSpc>
                <a:spcPct val="150000"/>
              </a:lnSpc>
              <a:spcBef>
                <a:spcPts val="0"/>
              </a:spcBef>
            </a:pPr>
            <a:r>
              <a:rPr lang="zh-CN" altLang="en-US"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有</a:t>
            </a:r>
            <a:r>
              <a:rPr lang="en-US" altLang="zh-CN"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6</a:t>
            </a:r>
            <a:r>
              <a:rPr lang="zh-CN" altLang="en-US"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个点，属于</a:t>
            </a:r>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蓝色三角</a:t>
            </a:r>
            <a:endPar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spcBef>
                <a:spcPts val="0"/>
              </a:spcBef>
            </a:pPr>
            <a:r>
              <a:rPr lang="en-US" altLang="zh-CN"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5</a:t>
            </a:r>
            <a:r>
              <a:rPr lang="zh-CN" altLang="en-US"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个点，属于</a:t>
            </a:r>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红色圆圈</a:t>
            </a:r>
            <a:endPar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spcBef>
                <a:spcPts val="0"/>
              </a:spcBef>
            </a:pPr>
            <a:r>
              <a:rPr lang="zh-CN" altLang="en-US"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那个黄色方块属于哪个？</a:t>
            </a:r>
            <a:endParaRPr lang="en-US" altLang="zh-CN"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spcBef>
                <a:spcPts val="1200"/>
              </a:spcBef>
            </a:pPr>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算法思想：近朱者赤</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近墨者黑</a:t>
            </a:r>
            <a:endParaRPr lang="zh-CN" altLang="en-US"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464998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四</a:t>
            </a:r>
            <a:r>
              <a:rPr lang="zh-CN" altLang="en-US" sz="2400">
                <a:solidFill>
                  <a:srgbClr val="FFFFFF"/>
                </a:solidFill>
              </a:rPr>
              <a:t>、机器学习基本知识</a:t>
            </a:r>
            <a:endParaRPr lang="zh-CN" altLang="en-US" sz="2400" dirty="0"/>
          </a:p>
        </p:txBody>
      </p:sp>
      <p:sp>
        <p:nvSpPr>
          <p:cNvPr id="4" name="矩形 3">
            <a:extLst>
              <a:ext uri="{FF2B5EF4-FFF2-40B4-BE49-F238E27FC236}">
                <a16:creationId xmlns:a16="http://schemas.microsoft.com/office/drawing/2014/main" id="{4B7E2BCF-6330-46C0-862E-495AD216251A}"/>
              </a:ext>
            </a:extLst>
          </p:cNvPr>
          <p:cNvSpPr/>
          <p:nvPr/>
        </p:nvSpPr>
        <p:spPr>
          <a:xfrm>
            <a:off x="7605" y="987574"/>
            <a:ext cx="5904656" cy="4031873"/>
          </a:xfrm>
          <a:prstGeom prst="rect">
            <a:avLst/>
          </a:prstGeom>
        </p:spPr>
        <p:txBody>
          <a:bodyPr wrap="square">
            <a:spAutoFit/>
          </a:bodyPr>
          <a:lstStyle/>
          <a:p>
            <a:r>
              <a:rPr lang="en-US" altLang="zh-CN" sz="1600" b="1">
                <a:solidFill>
                  <a:srgbClr val="000066"/>
                </a:solidFill>
                <a:latin typeface="Times New Roman" panose="02020603050405020304" pitchFamily="18" charset="0"/>
                <a:cs typeface="Times New Roman" panose="02020603050405020304" pitchFamily="18" charset="0"/>
              </a:rPr>
              <a:t>s</a:t>
            </a:r>
            <a:r>
              <a:rPr lang="zh-CN" altLang="en-US" sz="1600" b="1">
                <a:solidFill>
                  <a:srgbClr val="000066"/>
                </a:solidFill>
                <a:latin typeface="Times New Roman" panose="02020603050405020304" pitchFamily="18" charset="0"/>
                <a:cs typeface="Times New Roman" panose="02020603050405020304" pitchFamily="18" charset="0"/>
              </a:rPr>
              <a:t>epal_</a:t>
            </a:r>
            <a:r>
              <a:rPr lang="en-US" altLang="zh-CN" sz="1600" b="1">
                <a:solidFill>
                  <a:srgbClr val="000066"/>
                </a:solidFill>
                <a:latin typeface="Times New Roman" panose="02020603050405020304" pitchFamily="18" charset="0"/>
                <a:cs typeface="Times New Roman" panose="02020603050405020304" pitchFamily="18" charset="0"/>
              </a:rPr>
              <a:t>l</a:t>
            </a:r>
            <a:r>
              <a:rPr lang="zh-CN" altLang="en-US" sz="1600" b="1">
                <a:solidFill>
                  <a:srgbClr val="000066"/>
                </a:solidFill>
                <a:latin typeface="Times New Roman" panose="02020603050405020304" pitchFamily="18" charset="0"/>
                <a:cs typeface="Times New Roman" panose="02020603050405020304" pitchFamily="18" charset="0"/>
              </a:rPr>
              <a:t>ength    </a:t>
            </a:r>
            <a:r>
              <a:rPr lang="en-US" altLang="zh-CN" sz="1600" b="1">
                <a:solidFill>
                  <a:srgbClr val="000066"/>
                </a:solidFill>
                <a:latin typeface="Times New Roman" panose="02020603050405020304" pitchFamily="18" charset="0"/>
                <a:cs typeface="Times New Roman" panose="02020603050405020304" pitchFamily="18" charset="0"/>
              </a:rPr>
              <a:t>s</a:t>
            </a:r>
            <a:r>
              <a:rPr lang="zh-CN" altLang="en-US" sz="1600" b="1">
                <a:solidFill>
                  <a:srgbClr val="000066"/>
                </a:solidFill>
                <a:latin typeface="Times New Roman" panose="02020603050405020304" pitchFamily="18" charset="0"/>
                <a:cs typeface="Times New Roman" panose="02020603050405020304" pitchFamily="18" charset="0"/>
              </a:rPr>
              <a:t>epal_</a:t>
            </a:r>
            <a:r>
              <a:rPr lang="en-US" altLang="zh-CN" sz="1600" b="1">
                <a:solidFill>
                  <a:srgbClr val="000066"/>
                </a:solidFill>
                <a:latin typeface="Times New Roman" panose="02020603050405020304" pitchFamily="18" charset="0"/>
                <a:cs typeface="Times New Roman" panose="02020603050405020304" pitchFamily="18" charset="0"/>
              </a:rPr>
              <a:t>w</a:t>
            </a:r>
            <a:r>
              <a:rPr lang="zh-CN" altLang="en-US" sz="1600" b="1">
                <a:solidFill>
                  <a:srgbClr val="000066"/>
                </a:solidFill>
                <a:latin typeface="Times New Roman" panose="02020603050405020304" pitchFamily="18" charset="0"/>
                <a:cs typeface="Times New Roman" panose="02020603050405020304" pitchFamily="18" charset="0"/>
              </a:rPr>
              <a:t>idth    </a:t>
            </a:r>
            <a:r>
              <a:rPr lang="en-US" altLang="zh-CN" sz="1600" b="1">
                <a:solidFill>
                  <a:srgbClr val="000066"/>
                </a:solidFill>
                <a:latin typeface="Times New Roman" panose="02020603050405020304" pitchFamily="18" charset="0"/>
                <a:cs typeface="Times New Roman" panose="02020603050405020304" pitchFamily="18" charset="0"/>
              </a:rPr>
              <a:t>p</a:t>
            </a:r>
            <a:r>
              <a:rPr lang="zh-CN" altLang="en-US" sz="1600" b="1">
                <a:solidFill>
                  <a:srgbClr val="000066"/>
                </a:solidFill>
                <a:latin typeface="Times New Roman" panose="02020603050405020304" pitchFamily="18" charset="0"/>
                <a:cs typeface="Times New Roman" panose="02020603050405020304" pitchFamily="18" charset="0"/>
              </a:rPr>
              <a:t>etal_Length    </a:t>
            </a:r>
            <a:r>
              <a:rPr lang="en-US" altLang="zh-CN" sz="1600" b="1">
                <a:solidFill>
                  <a:srgbClr val="000066"/>
                </a:solidFill>
                <a:latin typeface="Times New Roman" panose="02020603050405020304" pitchFamily="18" charset="0"/>
                <a:cs typeface="Times New Roman" panose="02020603050405020304" pitchFamily="18" charset="0"/>
              </a:rPr>
              <a:t>p</a:t>
            </a:r>
            <a:r>
              <a:rPr lang="zh-CN" altLang="en-US" sz="1600" b="1">
                <a:solidFill>
                  <a:srgbClr val="000066"/>
                </a:solidFill>
                <a:latin typeface="Times New Roman" panose="02020603050405020304" pitchFamily="18" charset="0"/>
                <a:cs typeface="Times New Roman" panose="02020603050405020304" pitchFamily="18" charset="0"/>
              </a:rPr>
              <a:t>etal_</a:t>
            </a:r>
            <a:r>
              <a:rPr lang="en-US" altLang="zh-CN" sz="1600" b="1">
                <a:solidFill>
                  <a:srgbClr val="000066"/>
                </a:solidFill>
                <a:latin typeface="Times New Roman" panose="02020603050405020304" pitchFamily="18" charset="0"/>
                <a:cs typeface="Times New Roman" panose="02020603050405020304" pitchFamily="18" charset="0"/>
              </a:rPr>
              <a:t>w</a:t>
            </a:r>
            <a:r>
              <a:rPr lang="zh-CN" altLang="en-US" sz="1600" b="1">
                <a:solidFill>
                  <a:srgbClr val="000066"/>
                </a:solidFill>
                <a:latin typeface="Times New Roman" panose="02020603050405020304" pitchFamily="18" charset="0"/>
                <a:cs typeface="Times New Roman" panose="02020603050405020304" pitchFamily="18" charset="0"/>
              </a:rPr>
              <a:t>idth    </a:t>
            </a:r>
            <a:r>
              <a:rPr lang="en-US" altLang="zh-CN" sz="1600" b="1">
                <a:solidFill>
                  <a:srgbClr val="000066"/>
                </a:solidFill>
                <a:latin typeface="Times New Roman" panose="02020603050405020304" pitchFamily="18" charset="0"/>
                <a:cs typeface="Times New Roman" panose="02020603050405020304" pitchFamily="18" charset="0"/>
              </a:rPr>
              <a:t>species</a:t>
            </a:r>
          </a:p>
          <a:p>
            <a:pPr marL="360000"/>
            <a:r>
              <a:rPr lang="zh-CN" altLang="en-US" sz="1600" b="1">
                <a:solidFill>
                  <a:srgbClr val="000066"/>
                </a:solidFill>
                <a:latin typeface="Times New Roman" panose="02020603050405020304" pitchFamily="18" charset="0"/>
                <a:cs typeface="Times New Roman" panose="02020603050405020304" pitchFamily="18" charset="0"/>
              </a:rPr>
              <a:t>5.1 	   </a:t>
            </a:r>
            <a:r>
              <a:rPr lang="en-US" altLang="zh-CN" sz="1600" b="1">
                <a:solidFill>
                  <a:srgbClr val="000066"/>
                </a:solidFill>
                <a:latin typeface="Times New Roman" panose="02020603050405020304" pitchFamily="18" charset="0"/>
                <a:cs typeface="Times New Roman" panose="02020603050405020304" pitchFamily="18" charset="0"/>
              </a:rPr>
              <a:t>           </a:t>
            </a:r>
            <a:r>
              <a:rPr lang="zh-CN" altLang="en-US" sz="1600" b="1">
                <a:solidFill>
                  <a:srgbClr val="000066"/>
                </a:solidFill>
                <a:latin typeface="Times New Roman" panose="02020603050405020304" pitchFamily="18" charset="0"/>
                <a:cs typeface="Times New Roman" panose="02020603050405020304" pitchFamily="18" charset="0"/>
              </a:rPr>
              <a:t> 3.5 	   1.4 	            0.2	               0          </a:t>
            </a:r>
          </a:p>
          <a:p>
            <a:pPr marL="360000"/>
            <a:r>
              <a:rPr lang="zh-CN" altLang="en-US" sz="1600" b="1">
                <a:solidFill>
                  <a:srgbClr val="000066"/>
                </a:solidFill>
                <a:latin typeface="Times New Roman" panose="02020603050405020304" pitchFamily="18" charset="0"/>
                <a:cs typeface="Times New Roman" panose="02020603050405020304" pitchFamily="18" charset="0"/>
              </a:rPr>
              <a:t>4.9 	               3.0 	   1.4 	            0.2	               0</a:t>
            </a:r>
          </a:p>
          <a:p>
            <a:pPr marL="360000"/>
            <a:r>
              <a:rPr lang="zh-CN" altLang="en-US" sz="1600" b="1">
                <a:solidFill>
                  <a:srgbClr val="000066"/>
                </a:solidFill>
                <a:latin typeface="Times New Roman" panose="02020603050405020304" pitchFamily="18" charset="0"/>
                <a:cs typeface="Times New Roman" panose="02020603050405020304" pitchFamily="18" charset="0"/>
              </a:rPr>
              <a:t>4.7 	               3.2 	   1.3 	            0.2	               0</a:t>
            </a:r>
          </a:p>
          <a:p>
            <a:pPr marL="360000"/>
            <a:r>
              <a:rPr lang="zh-CN" altLang="en-US" sz="1600" b="1">
                <a:solidFill>
                  <a:srgbClr val="000066"/>
                </a:solidFill>
                <a:latin typeface="Times New Roman" panose="02020603050405020304" pitchFamily="18" charset="0"/>
                <a:cs typeface="Times New Roman" panose="02020603050405020304" pitchFamily="18" charset="0"/>
              </a:rPr>
              <a:t>4.6 	               3.1 	   1.5 	            0.2	               0</a:t>
            </a:r>
          </a:p>
          <a:p>
            <a:pPr marL="360000"/>
            <a:r>
              <a:rPr lang="zh-CN" altLang="en-US" sz="1600" b="1">
                <a:solidFill>
                  <a:srgbClr val="000066"/>
                </a:solidFill>
                <a:latin typeface="Times New Roman" panose="02020603050405020304" pitchFamily="18" charset="0"/>
                <a:cs typeface="Times New Roman" panose="02020603050405020304" pitchFamily="18" charset="0"/>
              </a:rPr>
              <a:t>5.0 	               3.6 	   1.4 	            0.2	               0</a:t>
            </a:r>
          </a:p>
          <a:p>
            <a:pPr marL="360000"/>
            <a:r>
              <a:rPr lang="zh-CN" altLang="en-US" sz="1600" b="1">
                <a:solidFill>
                  <a:srgbClr val="000066"/>
                </a:solidFill>
                <a:latin typeface="Times New Roman" panose="02020603050405020304" pitchFamily="18" charset="0"/>
                <a:cs typeface="Times New Roman" panose="02020603050405020304" pitchFamily="18" charset="0"/>
              </a:rPr>
              <a:t>7.0 	               3.2 	   4.7 	            1.4	               1</a:t>
            </a:r>
          </a:p>
          <a:p>
            <a:pPr marL="360000"/>
            <a:r>
              <a:rPr lang="zh-CN" altLang="en-US" sz="1600" b="1">
                <a:solidFill>
                  <a:srgbClr val="000066"/>
                </a:solidFill>
                <a:latin typeface="Times New Roman" panose="02020603050405020304" pitchFamily="18" charset="0"/>
                <a:cs typeface="Times New Roman" panose="02020603050405020304" pitchFamily="18" charset="0"/>
              </a:rPr>
              <a:t>6.4 	               3.2	   4.5 	            1.5	               1</a:t>
            </a:r>
          </a:p>
          <a:p>
            <a:pPr marL="360000"/>
            <a:r>
              <a:rPr lang="zh-CN" altLang="en-US" sz="1600" b="1">
                <a:solidFill>
                  <a:srgbClr val="000066"/>
                </a:solidFill>
                <a:latin typeface="Times New Roman" panose="02020603050405020304" pitchFamily="18" charset="0"/>
                <a:cs typeface="Times New Roman" panose="02020603050405020304" pitchFamily="18" charset="0"/>
              </a:rPr>
              <a:t>6.9 	               3.1 	   4.9 	            1.5	               1</a:t>
            </a:r>
          </a:p>
          <a:p>
            <a:pPr marL="360000"/>
            <a:r>
              <a:rPr lang="zh-CN" altLang="en-US" sz="1600" b="1">
                <a:solidFill>
                  <a:srgbClr val="000066"/>
                </a:solidFill>
                <a:latin typeface="Times New Roman" panose="02020603050405020304" pitchFamily="18" charset="0"/>
                <a:cs typeface="Times New Roman" panose="02020603050405020304" pitchFamily="18" charset="0"/>
              </a:rPr>
              <a:t>5.5 	               2.3 	   4.0 	            1.3	               1</a:t>
            </a:r>
          </a:p>
          <a:p>
            <a:pPr marL="360000"/>
            <a:r>
              <a:rPr lang="zh-CN" altLang="en-US" sz="1600" b="1">
                <a:solidFill>
                  <a:srgbClr val="000066"/>
                </a:solidFill>
                <a:latin typeface="Times New Roman" panose="02020603050405020304" pitchFamily="18" charset="0"/>
                <a:cs typeface="Times New Roman" panose="02020603050405020304" pitchFamily="18" charset="0"/>
              </a:rPr>
              <a:t>6.5 	               2.8 	   4.6 	            1.5	               1</a:t>
            </a:r>
          </a:p>
          <a:p>
            <a:pPr marL="360000"/>
            <a:r>
              <a:rPr lang="zh-CN" altLang="en-US" sz="1600" b="1">
                <a:solidFill>
                  <a:srgbClr val="000066"/>
                </a:solidFill>
                <a:latin typeface="Times New Roman" panose="02020603050405020304" pitchFamily="18" charset="0"/>
                <a:cs typeface="Times New Roman" panose="02020603050405020304" pitchFamily="18" charset="0"/>
              </a:rPr>
              <a:t>6.3 	               3.3 	   6.0 	            2.5	               2</a:t>
            </a:r>
          </a:p>
          <a:p>
            <a:pPr marL="360000"/>
            <a:r>
              <a:rPr lang="zh-CN" altLang="en-US" sz="1600" b="1">
                <a:solidFill>
                  <a:srgbClr val="000066"/>
                </a:solidFill>
                <a:latin typeface="Times New Roman" panose="02020603050405020304" pitchFamily="18" charset="0"/>
                <a:cs typeface="Times New Roman" panose="02020603050405020304" pitchFamily="18" charset="0"/>
              </a:rPr>
              <a:t>5.8 	               2.7 	   5.1 	            1.9	               2</a:t>
            </a:r>
          </a:p>
          <a:p>
            <a:pPr marL="360000"/>
            <a:r>
              <a:rPr lang="zh-CN" altLang="en-US" sz="1600" b="1">
                <a:solidFill>
                  <a:srgbClr val="000066"/>
                </a:solidFill>
                <a:latin typeface="Times New Roman" panose="02020603050405020304" pitchFamily="18" charset="0"/>
                <a:cs typeface="Times New Roman" panose="02020603050405020304" pitchFamily="18" charset="0"/>
              </a:rPr>
              <a:t>7.1 	               3.0 	   5.9 	            2.1	               2</a:t>
            </a:r>
          </a:p>
          <a:p>
            <a:pPr marL="360000"/>
            <a:r>
              <a:rPr lang="zh-CN" altLang="en-US" sz="1600" b="1">
                <a:solidFill>
                  <a:srgbClr val="000066"/>
                </a:solidFill>
                <a:latin typeface="Times New Roman" panose="02020603050405020304" pitchFamily="18" charset="0"/>
                <a:cs typeface="Times New Roman" panose="02020603050405020304" pitchFamily="18" charset="0"/>
              </a:rPr>
              <a:t>6.3 	               2.9 	   5.6 	            1.8	               2</a:t>
            </a:r>
          </a:p>
          <a:p>
            <a:pPr marL="360000"/>
            <a:r>
              <a:rPr lang="zh-CN" altLang="en-US" sz="1600" b="1">
                <a:solidFill>
                  <a:srgbClr val="000066"/>
                </a:solidFill>
                <a:latin typeface="Times New Roman" panose="02020603050405020304" pitchFamily="18" charset="0"/>
                <a:cs typeface="Times New Roman" panose="02020603050405020304" pitchFamily="18" charset="0"/>
              </a:rPr>
              <a:t>6.5 	               3.0 	   5.8 	            2.2	               2</a:t>
            </a:r>
            <a:endParaRPr lang="zh-CN" altLang="en-US" b="1">
              <a:solidFill>
                <a:srgbClr val="000066"/>
              </a:solidFill>
              <a:latin typeface="Times New Roman" panose="02020603050405020304" pitchFamily="18" charset="0"/>
              <a:cs typeface="Times New Roman" panose="02020603050405020304" pitchFamily="18" charset="0"/>
            </a:endParaRPr>
          </a:p>
        </p:txBody>
      </p:sp>
      <p:sp>
        <p:nvSpPr>
          <p:cNvPr id="6" name="矩形 5">
            <a:extLst>
              <a:ext uri="{FF2B5EF4-FFF2-40B4-BE49-F238E27FC236}">
                <a16:creationId xmlns:a16="http://schemas.microsoft.com/office/drawing/2014/main" id="{D61BF17D-EC55-4072-82C9-337E8BB453FC}"/>
              </a:ext>
            </a:extLst>
          </p:cNvPr>
          <p:cNvSpPr/>
          <p:nvPr/>
        </p:nvSpPr>
        <p:spPr>
          <a:xfrm>
            <a:off x="5652120" y="1278741"/>
            <a:ext cx="3348880" cy="3741281"/>
          </a:xfrm>
          <a:prstGeom prst="rect">
            <a:avLst/>
          </a:prstGeom>
          <a:ln w="19050">
            <a:solidFill>
              <a:srgbClr val="000066"/>
            </a:solidFill>
          </a:ln>
        </p:spPr>
        <p:txBody>
          <a:bodyPr wrap="square">
            <a:spAutoFit/>
          </a:bodyPr>
          <a:lstStyle/>
          <a:p>
            <a:pPr marL="0" indent="0">
              <a:lnSpc>
                <a:spcPct val="150000"/>
              </a:lnSpc>
              <a:spcBef>
                <a:spcPts val="0"/>
              </a:spcBef>
              <a:buNone/>
            </a:pPr>
            <a:r>
              <a:rPr lang="zh-CN" altLang="en-US">
                <a:solidFill>
                  <a:srgbClr val="000066"/>
                </a:solidFill>
                <a:latin typeface="微软雅黑" panose="020B0503020204020204" pitchFamily="34" charset="-122"/>
                <a:ea typeface="微软雅黑" panose="020B0503020204020204" pitchFamily="34" charset="-122"/>
                <a:cs typeface="Times New Roman" panose="02020603050405020304" pitchFamily="18" charset="0"/>
              </a:rPr>
              <a:t>给你</a:t>
            </a:r>
            <a:r>
              <a:rPr lang="en-US" altLang="zh-CN">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15</a:t>
            </a:r>
            <a:r>
              <a:rPr lang="zh-CN" altLang="en-US">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朵鸢尾花的特征和类别</a:t>
            </a:r>
            <a:endParaRPr lang="en-US" altLang="zh-CN">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0">
              <a:lnSpc>
                <a:spcPct val="150000"/>
              </a:lnSpc>
              <a:spcBef>
                <a:spcPts val="0"/>
              </a:spcBef>
              <a:buNone/>
            </a:pPr>
            <a:r>
              <a:rPr lang="zh-CN" altLang="en-US">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预测</a:t>
            </a:r>
            <a:r>
              <a:rPr lang="en-US" altLang="zh-CN">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[4, 3, 5, 3]</a:t>
            </a:r>
            <a:r>
              <a:rPr lang="zh-CN" altLang="en-US">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属于哪个类别</a:t>
            </a:r>
            <a:endParaRPr lang="en-US" altLang="zh-CN">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14000"/>
              </a:lnSpc>
              <a:spcBef>
                <a:spcPts val="0"/>
              </a:spcBef>
              <a:buNone/>
            </a:pPr>
            <a:r>
              <a:rPr lang="zh-CN" altLang="en-US">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特征：</a:t>
            </a:r>
            <a:endParaRPr lang="en-US" altLang="zh-CN">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14000"/>
              </a:lnSpc>
              <a:spcBef>
                <a:spcPts val="0"/>
              </a:spcBef>
            </a:pPr>
            <a:r>
              <a:rPr lang="en-US" altLang="zh-CN">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s</a:t>
            </a:r>
            <a:r>
              <a:rPr lang="zh-CN" altLang="en-US">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epal_</a:t>
            </a:r>
            <a:r>
              <a:rPr lang="en-US" altLang="zh-CN">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l</a:t>
            </a:r>
            <a:r>
              <a:rPr lang="zh-CN" altLang="en-US">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ength：花萼长度</a:t>
            </a:r>
            <a:endParaRPr lang="en-US" altLang="zh-CN">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14000"/>
              </a:lnSpc>
              <a:spcBef>
                <a:spcPts val="0"/>
              </a:spcBef>
            </a:pPr>
            <a:r>
              <a:rPr lang="en-US" altLang="zh-CN">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s</a:t>
            </a:r>
            <a:r>
              <a:rPr lang="zh-CN" altLang="en-US">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epal_</a:t>
            </a:r>
            <a:r>
              <a:rPr lang="en-US" altLang="zh-CN">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w</a:t>
            </a:r>
            <a:r>
              <a:rPr lang="zh-CN" altLang="en-US">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idth：花萼宽度</a:t>
            </a:r>
            <a:endParaRPr lang="en-US" altLang="zh-CN">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14000"/>
              </a:lnSpc>
              <a:spcBef>
                <a:spcPts val="0"/>
              </a:spcBef>
            </a:pPr>
            <a:r>
              <a:rPr lang="en-US" altLang="zh-CN">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p</a:t>
            </a:r>
            <a:r>
              <a:rPr lang="zh-CN" altLang="en-US">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etal_Length：花瓣长度</a:t>
            </a:r>
            <a:endParaRPr lang="en-US" altLang="zh-CN">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14000"/>
              </a:lnSpc>
              <a:spcBef>
                <a:spcPts val="0"/>
              </a:spcBef>
            </a:pPr>
            <a:r>
              <a:rPr lang="en-US" altLang="zh-CN">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p</a:t>
            </a:r>
            <a:r>
              <a:rPr lang="zh-CN" altLang="en-US">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etal_</a:t>
            </a:r>
            <a:r>
              <a:rPr lang="en-US" altLang="zh-CN">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w</a:t>
            </a:r>
            <a:r>
              <a:rPr lang="zh-CN" altLang="en-US">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idth：花瓣宽度</a:t>
            </a:r>
            <a:endParaRPr lang="en-US" altLang="zh-CN">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14000"/>
              </a:lnSpc>
              <a:spcBef>
                <a:spcPts val="0"/>
              </a:spcBef>
              <a:buNone/>
            </a:pPr>
            <a:r>
              <a:rPr lang="en-US" altLang="zh-CN" b="1">
                <a:latin typeface="Times New Roman" panose="02020603050405020304" pitchFamily="18" charset="0"/>
                <a:cs typeface="Times New Roman" panose="02020603050405020304" pitchFamily="18" charset="0"/>
              </a:rPr>
              <a:t>species</a:t>
            </a:r>
            <a:r>
              <a:rPr lang="zh-CN" altLang="en-US" b="1">
                <a:latin typeface="Times New Roman" panose="02020603050405020304" pitchFamily="18" charset="0"/>
                <a:cs typeface="Times New Roman" panose="02020603050405020304" pitchFamily="18" charset="0"/>
              </a:rPr>
              <a:t>：</a:t>
            </a:r>
            <a:r>
              <a:rPr lang="zh-CN" altLang="en-US">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类别</a:t>
            </a:r>
            <a:endParaRPr lang="en-US" altLang="zh-CN">
              <a:solidFill>
                <a:srgbClr val="A50021"/>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14000"/>
              </a:lnSpc>
              <a:spcBef>
                <a:spcPts val="0"/>
              </a:spcBef>
              <a:buNone/>
            </a:pPr>
            <a:r>
              <a:rPr lang="en-US" altLang="zh-CN">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       0</a:t>
            </a:r>
            <a:r>
              <a:rPr lang="zh-CN" altLang="en-US">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：山鸢尾  </a:t>
            </a:r>
            <a:r>
              <a:rPr lang="en-US" altLang="zh-CN">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Setosa</a:t>
            </a:r>
          </a:p>
          <a:p>
            <a:pPr>
              <a:lnSpc>
                <a:spcPct val="114000"/>
              </a:lnSpc>
              <a:spcBef>
                <a:spcPts val="0"/>
              </a:spcBef>
              <a:buNone/>
            </a:pPr>
            <a:r>
              <a:rPr lang="en-US" altLang="zh-CN">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       1</a:t>
            </a:r>
            <a:r>
              <a:rPr lang="zh-CN" altLang="en-US">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：变色鸢尾  </a:t>
            </a:r>
            <a:r>
              <a:rPr lang="en-US" altLang="zh-CN">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Versicolor</a:t>
            </a:r>
          </a:p>
          <a:p>
            <a:pPr>
              <a:lnSpc>
                <a:spcPct val="114000"/>
              </a:lnSpc>
              <a:spcBef>
                <a:spcPts val="0"/>
              </a:spcBef>
              <a:buNone/>
            </a:pPr>
            <a:r>
              <a:rPr lang="en-US" altLang="zh-CN">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       2</a:t>
            </a:r>
            <a:r>
              <a:rPr lang="zh-CN" altLang="en-US">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：维吉尼亚鸢尾  </a:t>
            </a:r>
            <a:r>
              <a:rPr lang="en-US" altLang="zh-CN">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Virginical</a:t>
            </a:r>
          </a:p>
        </p:txBody>
      </p:sp>
    </p:spTree>
    <p:extLst>
      <p:ext uri="{BB962C8B-B14F-4D97-AF65-F5344CB8AC3E}">
        <p14:creationId xmlns:p14="http://schemas.microsoft.com/office/powerpoint/2010/main" val="3512220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四</a:t>
            </a:r>
            <a:r>
              <a:rPr lang="zh-CN" altLang="en-US" sz="2400">
                <a:solidFill>
                  <a:srgbClr val="FFFFFF"/>
                </a:solidFill>
              </a:rPr>
              <a:t>、机器学习基本知识</a:t>
            </a:r>
            <a:endParaRPr lang="zh-CN" altLang="en-US" sz="2400" dirty="0"/>
          </a:p>
        </p:txBody>
      </p:sp>
      <p:pic>
        <p:nvPicPr>
          <p:cNvPr id="5" name="图片 4">
            <a:extLst>
              <a:ext uri="{FF2B5EF4-FFF2-40B4-BE49-F238E27FC236}">
                <a16:creationId xmlns:a16="http://schemas.microsoft.com/office/drawing/2014/main" id="{871E1A61-C3D0-4A2E-B6A5-6AE0F169F0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9852" y="944225"/>
            <a:ext cx="2664296" cy="1987565"/>
          </a:xfrm>
          <a:prstGeom prst="rect">
            <a:avLst/>
          </a:prstGeom>
        </p:spPr>
      </p:pic>
      <p:pic>
        <p:nvPicPr>
          <p:cNvPr id="7" name="图片 6">
            <a:extLst>
              <a:ext uri="{FF2B5EF4-FFF2-40B4-BE49-F238E27FC236}">
                <a16:creationId xmlns:a16="http://schemas.microsoft.com/office/drawing/2014/main" id="{69F66267-9008-4C11-B8B4-B71C1E6193EA}"/>
              </a:ext>
            </a:extLst>
          </p:cNvPr>
          <p:cNvPicPr>
            <a:picLocks noChangeAspect="1"/>
          </p:cNvPicPr>
          <p:nvPr/>
        </p:nvPicPr>
        <p:blipFill>
          <a:blip r:embed="rId4"/>
          <a:stretch>
            <a:fillRect/>
          </a:stretch>
        </p:blipFill>
        <p:spPr>
          <a:xfrm>
            <a:off x="1186371" y="2931790"/>
            <a:ext cx="6491993" cy="1944216"/>
          </a:xfrm>
          <a:prstGeom prst="rect">
            <a:avLst/>
          </a:prstGeom>
        </p:spPr>
      </p:pic>
      <p:sp>
        <p:nvSpPr>
          <p:cNvPr id="8" name="矩形 7">
            <a:extLst>
              <a:ext uri="{FF2B5EF4-FFF2-40B4-BE49-F238E27FC236}">
                <a16:creationId xmlns:a16="http://schemas.microsoft.com/office/drawing/2014/main" id="{98723798-40CC-41CA-A8B7-0194DDDCAC59}"/>
              </a:ext>
            </a:extLst>
          </p:cNvPr>
          <p:cNvSpPr/>
          <p:nvPr/>
        </p:nvSpPr>
        <p:spPr>
          <a:xfrm>
            <a:off x="1547664" y="4845001"/>
            <a:ext cx="6480720" cy="338554"/>
          </a:xfrm>
          <a:prstGeom prst="rect">
            <a:avLst/>
          </a:prstGeom>
        </p:spPr>
        <p:txBody>
          <a:bodyPr wrap="square">
            <a:spAutoFit/>
          </a:bodyPr>
          <a:lstStyle/>
          <a:p>
            <a:r>
              <a:rPr lang="zh-CN" altLang="en-US"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山鸢尾</a:t>
            </a:r>
            <a:r>
              <a:rPr lang="en-US" altLang="zh-CN"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Iris </a:t>
            </a:r>
            <a:r>
              <a:rPr lang="en-US" altLang="zh-CN" sz="1600" err="1">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Setosa</a:t>
            </a:r>
            <a:r>
              <a:rPr lang="en-US" altLang="zh-CN" sz="160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60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变色</a:t>
            </a:r>
            <a:r>
              <a:rPr lang="zh-CN" altLang="en-US"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鸢尾</a:t>
            </a:r>
            <a:r>
              <a:rPr lang="en-US" altLang="zh-CN"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Iris </a:t>
            </a:r>
            <a:r>
              <a:rPr lang="en-US" altLang="zh-CN" sz="160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Versicolor  </a:t>
            </a:r>
            <a:r>
              <a:rPr lang="zh-CN" altLang="en-US" sz="160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维吉尼亚</a:t>
            </a:r>
            <a:r>
              <a:rPr lang="zh-CN" altLang="en-US"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鸢尾</a:t>
            </a:r>
            <a:r>
              <a:rPr lang="en-US" altLang="zh-CN"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Iris Virginica</a:t>
            </a:r>
            <a:endParaRPr lang="zh-CN" altLang="en-US"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006059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59" y="986626"/>
            <a:ext cx="8424937" cy="1778748"/>
          </a:xfrm>
        </p:spPr>
        <p:txBody>
          <a:bodyPr>
            <a:noAutofit/>
          </a:bodyPr>
          <a:lstStyle/>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3</a:t>
            </a:r>
            <a:r>
              <a:rPr lang="zh-CN"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机器学习分类</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2</a:t>
            </a:r>
            <a:r>
              <a:rPr lang="zh-CN" altLang="en-US" sz="1800" dirty="0">
                <a:solidFill>
                  <a:srgbClr val="000066"/>
                </a:solidFill>
                <a:latin typeface="Times New Roman" panose="02020603050405020304" pitchFamily="18" charset="0"/>
                <a:cs typeface="Times New Roman" panose="02020603050405020304" pitchFamily="18" charset="0"/>
              </a:rPr>
              <a:t>）无监督学习</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zh-CN" sz="1800" dirty="0">
                <a:solidFill>
                  <a:srgbClr val="000066"/>
                </a:solidFill>
                <a:latin typeface="Times New Roman" panose="02020603050405020304" pitchFamily="18" charset="0"/>
                <a:cs typeface="Times New Roman" panose="02020603050405020304" pitchFamily="18" charset="0"/>
              </a:rPr>
              <a:t>一类从无标签的训练集中进行学习的算法</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zh-CN" sz="1800" dirty="0">
                <a:solidFill>
                  <a:srgbClr val="000066"/>
                </a:solidFill>
                <a:latin typeface="Times New Roman" panose="02020603050405020304" pitchFamily="18" charset="0"/>
                <a:cs typeface="Times New Roman" panose="02020603050405020304" pitchFamily="18" charset="0"/>
              </a:rPr>
              <a:t>需要自己通过算法来挖掘数据之间的结构和关系，而不是已经知道数据的标签</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          </a:t>
            </a:r>
            <a:endParaRPr lang="en-US" altLang="zh-CN" sz="1600" dirty="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四</a:t>
            </a:r>
            <a:r>
              <a:rPr lang="zh-CN" altLang="en-US" sz="2400">
                <a:solidFill>
                  <a:srgbClr val="FFFFFF"/>
                </a:solidFill>
              </a:rPr>
              <a:t>、机器学习基本知识</a:t>
            </a:r>
            <a:endParaRPr lang="zh-CN" altLang="en-US" sz="2400" dirty="0"/>
          </a:p>
        </p:txBody>
      </p:sp>
      <p:pic>
        <p:nvPicPr>
          <p:cNvPr id="6" name="图片 5">
            <a:extLst>
              <a:ext uri="{FF2B5EF4-FFF2-40B4-BE49-F238E27FC236}">
                <a16:creationId xmlns:a16="http://schemas.microsoft.com/office/drawing/2014/main" id="{6BF53C40-B92D-4E16-90BC-477651C4E9CC}"/>
              </a:ext>
            </a:extLst>
          </p:cNvPr>
          <p:cNvPicPr>
            <a:picLocks noChangeAspect="1"/>
          </p:cNvPicPr>
          <p:nvPr/>
        </p:nvPicPr>
        <p:blipFill>
          <a:blip r:embed="rId3"/>
          <a:stretch>
            <a:fillRect/>
          </a:stretch>
        </p:blipFill>
        <p:spPr>
          <a:xfrm>
            <a:off x="1619672" y="2859782"/>
            <a:ext cx="2269541" cy="2022082"/>
          </a:xfrm>
          <a:prstGeom prst="rect">
            <a:avLst/>
          </a:prstGeom>
        </p:spPr>
      </p:pic>
      <p:pic>
        <p:nvPicPr>
          <p:cNvPr id="8" name="图片 7">
            <a:extLst>
              <a:ext uri="{FF2B5EF4-FFF2-40B4-BE49-F238E27FC236}">
                <a16:creationId xmlns:a16="http://schemas.microsoft.com/office/drawing/2014/main" id="{D2884413-0752-4D05-97A4-BF8EC90B1322}"/>
              </a:ext>
            </a:extLst>
          </p:cNvPr>
          <p:cNvPicPr>
            <a:picLocks noChangeAspect="1"/>
          </p:cNvPicPr>
          <p:nvPr/>
        </p:nvPicPr>
        <p:blipFill>
          <a:blip r:embed="rId4"/>
          <a:stretch>
            <a:fillRect/>
          </a:stretch>
        </p:blipFill>
        <p:spPr>
          <a:xfrm>
            <a:off x="5364786" y="2842685"/>
            <a:ext cx="2262790" cy="2016068"/>
          </a:xfrm>
          <a:prstGeom prst="rect">
            <a:avLst/>
          </a:prstGeom>
        </p:spPr>
      </p:pic>
      <p:cxnSp>
        <p:nvCxnSpPr>
          <p:cNvPr id="10" name="直接箭头连接符 9">
            <a:extLst>
              <a:ext uri="{FF2B5EF4-FFF2-40B4-BE49-F238E27FC236}">
                <a16:creationId xmlns:a16="http://schemas.microsoft.com/office/drawing/2014/main" id="{29B1C47C-4EC7-470E-98FF-AA3C64F6D7FC}"/>
              </a:ext>
            </a:extLst>
          </p:cNvPr>
          <p:cNvCxnSpPr>
            <a:cxnSpLocks/>
          </p:cNvCxnSpPr>
          <p:nvPr/>
        </p:nvCxnSpPr>
        <p:spPr>
          <a:xfrm>
            <a:off x="3905055" y="3805179"/>
            <a:ext cx="1443892" cy="0"/>
          </a:xfrm>
          <a:prstGeom prst="straightConnector1">
            <a:avLst/>
          </a:prstGeom>
          <a:ln w="19050" cmpd="dbl">
            <a:solidFill>
              <a:srgbClr val="000066"/>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B0F64621-DD8D-45D8-9593-47F18AA868F0}"/>
              </a:ext>
            </a:extLst>
          </p:cNvPr>
          <p:cNvSpPr txBox="1"/>
          <p:nvPr/>
        </p:nvSpPr>
        <p:spPr>
          <a:xfrm>
            <a:off x="4239715" y="3435846"/>
            <a:ext cx="774571" cy="369332"/>
          </a:xfrm>
          <a:prstGeom prst="rect">
            <a:avLst/>
          </a:prstGeom>
          <a:noFill/>
        </p:spPr>
        <p:txBody>
          <a:bodyPr wrap="none" rtlCol="0">
            <a:spAutoFit/>
          </a:bodyPr>
          <a:lstStyle/>
          <a:p>
            <a:r>
              <a:rPr lang="zh-CN" altLang="en-US">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分</a:t>
            </a:r>
            <a:r>
              <a:rPr lang="en-US" altLang="zh-CN">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类</a:t>
            </a:r>
          </a:p>
        </p:txBody>
      </p:sp>
      <p:sp>
        <p:nvSpPr>
          <p:cNvPr id="12" name="文本框 11">
            <a:extLst>
              <a:ext uri="{FF2B5EF4-FFF2-40B4-BE49-F238E27FC236}">
                <a16:creationId xmlns:a16="http://schemas.microsoft.com/office/drawing/2014/main" id="{504F25A5-3437-4D22-9CF8-9EE01E6DA39E}"/>
              </a:ext>
            </a:extLst>
          </p:cNvPr>
          <p:cNvSpPr txBox="1"/>
          <p:nvPr/>
        </p:nvSpPr>
        <p:spPr>
          <a:xfrm>
            <a:off x="4124298" y="3826452"/>
            <a:ext cx="1005403" cy="830997"/>
          </a:xfrm>
          <a:prstGeom prst="rect">
            <a:avLst/>
          </a:prstGeom>
          <a:noFill/>
        </p:spPr>
        <p:txBody>
          <a:bodyPr wrap="none" rtlCol="0">
            <a:spAutoFit/>
          </a:bodyPr>
          <a:lstStyle/>
          <a:p>
            <a:pPr algn="ctr"/>
            <a:r>
              <a:rPr lang="zh-CN" altLang="en-US"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有</a:t>
            </a:r>
            <a:r>
              <a:rPr lang="en-US" altLang="zh-CN"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30</a:t>
            </a:r>
            <a:r>
              <a:rPr lang="zh-CN" altLang="en-US"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个点</a:t>
            </a:r>
            <a:endParaRPr lang="en-US" altLang="zh-CN"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没有类别</a:t>
            </a:r>
            <a:endParaRPr lang="en-US" altLang="zh-CN"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如何分类</a:t>
            </a:r>
          </a:p>
        </p:txBody>
      </p:sp>
    </p:spTree>
    <p:extLst>
      <p:ext uri="{BB962C8B-B14F-4D97-AF65-F5344CB8AC3E}">
        <p14:creationId xmlns:p14="http://schemas.microsoft.com/office/powerpoint/2010/main" val="975847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59" y="986626"/>
            <a:ext cx="8424937" cy="1778748"/>
          </a:xfrm>
        </p:spPr>
        <p:txBody>
          <a:bodyPr>
            <a:noAutofit/>
          </a:bodyPr>
          <a:lstStyle/>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3</a:t>
            </a:r>
            <a:r>
              <a:rPr lang="zh-CN"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机器学习分类</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2</a:t>
            </a:r>
            <a:r>
              <a:rPr lang="zh-CN" altLang="en-US" sz="1800" dirty="0">
                <a:solidFill>
                  <a:srgbClr val="000066"/>
                </a:solidFill>
                <a:latin typeface="Times New Roman" panose="02020603050405020304" pitchFamily="18" charset="0"/>
                <a:cs typeface="Times New Roman" panose="02020603050405020304" pitchFamily="18" charset="0"/>
              </a:rPr>
              <a:t>）无监督学习</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          </a:t>
            </a:r>
            <a:endParaRPr lang="en-US" altLang="zh-CN" sz="1600" dirty="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四</a:t>
            </a:r>
            <a:r>
              <a:rPr lang="zh-CN" altLang="en-US" sz="2400">
                <a:solidFill>
                  <a:srgbClr val="FFFFFF"/>
                </a:solidFill>
              </a:rPr>
              <a:t>、机器学习基本知识</a:t>
            </a:r>
            <a:endParaRPr lang="zh-CN" altLang="en-US" sz="2400" dirty="0"/>
          </a:p>
        </p:txBody>
      </p:sp>
      <p:pic>
        <p:nvPicPr>
          <p:cNvPr id="4" name="图片 3"/>
          <p:cNvPicPr>
            <a:picLocks noChangeAspect="1"/>
          </p:cNvPicPr>
          <p:nvPr/>
        </p:nvPicPr>
        <p:blipFill>
          <a:blip r:embed="rId3"/>
          <a:stretch>
            <a:fillRect/>
          </a:stretch>
        </p:blipFill>
        <p:spPr>
          <a:xfrm>
            <a:off x="1115616" y="1851670"/>
            <a:ext cx="6552728" cy="1803401"/>
          </a:xfrm>
          <a:prstGeom prst="rect">
            <a:avLst/>
          </a:prstGeom>
        </p:spPr>
      </p:pic>
      <p:cxnSp>
        <p:nvCxnSpPr>
          <p:cNvPr id="7" name="直接箭头连接符 6"/>
          <p:cNvCxnSpPr/>
          <p:nvPr/>
        </p:nvCxnSpPr>
        <p:spPr>
          <a:xfrm>
            <a:off x="3635896" y="2787774"/>
            <a:ext cx="864096" cy="0"/>
          </a:xfrm>
          <a:prstGeom prst="straightConnector1">
            <a:avLst/>
          </a:prstGeom>
          <a:ln w="19050" cmpd="dbl">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845584" y="3685840"/>
            <a:ext cx="7956885" cy="1338828"/>
          </a:xfrm>
          <a:prstGeom prst="rect">
            <a:avLst/>
          </a:prstGeom>
        </p:spPr>
        <p:txBody>
          <a:bodyPr wrap="square">
            <a:spAutoFit/>
          </a:bodyPr>
          <a:lstStyle/>
          <a:p>
            <a:pPr indent="266700">
              <a:lnSpc>
                <a:spcPct val="150000"/>
              </a:lnSpc>
              <a:spcAft>
                <a:spcPts val="0"/>
              </a:spcAft>
            </a:pPr>
            <a:r>
              <a:rPr lang="zh-CN" altLang="zh-CN"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最重要的算法是聚类，无监督学习本质上就是“聚类”的近义词。</a:t>
            </a:r>
            <a:endParaRPr lang="en-US" altLang="zh-CN"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indent="266700">
              <a:lnSpc>
                <a:spcPct val="150000"/>
              </a:lnSpc>
              <a:spcAft>
                <a:spcPts val="0"/>
              </a:spcAft>
            </a:pPr>
            <a:r>
              <a:rPr lang="zh-CN" altLang="en-US"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聚类：</a:t>
            </a:r>
            <a:r>
              <a:rPr lang="zh-CN" altLang="zh-CN"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“物以类聚，人以群分”，</a:t>
            </a:r>
            <a:endParaRPr lang="en-US" altLang="zh-CN"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indent="266700">
              <a:lnSpc>
                <a:spcPct val="150000"/>
              </a:lnSpc>
              <a:spcAft>
                <a:spcPts val="0"/>
              </a:spcAft>
            </a:pPr>
            <a:r>
              <a:rPr lang="en-US" altLang="zh-CN"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将物理或抽象对象的集合分成由类似的对象，组成的多个类的过程</a:t>
            </a:r>
          </a:p>
        </p:txBody>
      </p:sp>
    </p:spTree>
    <p:extLst>
      <p:ext uri="{BB962C8B-B14F-4D97-AF65-F5344CB8AC3E}">
        <p14:creationId xmlns:p14="http://schemas.microsoft.com/office/powerpoint/2010/main" val="2693919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59" y="986626"/>
            <a:ext cx="6264697" cy="1369100"/>
          </a:xfrm>
        </p:spPr>
        <p:txBody>
          <a:bodyPr>
            <a:noAutofit/>
          </a:bodyPr>
          <a:lstStyle/>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3</a:t>
            </a:r>
            <a:r>
              <a:rPr lang="zh-CN" altLang="zh-CN" sz="180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机器学习分类</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3</a:t>
            </a:r>
            <a:r>
              <a:rPr lang="zh-CN" altLang="en-US" sz="1800" dirty="0">
                <a:solidFill>
                  <a:srgbClr val="000066"/>
                </a:solidFill>
                <a:latin typeface="Times New Roman" panose="02020603050405020304" pitchFamily="18" charset="0"/>
                <a:cs typeface="Times New Roman" panose="02020603050405020304" pitchFamily="18" charset="0"/>
              </a:rPr>
              <a:t>）半监督学习</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        既用到了标签数据，又用到了非标签数据</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endParaRPr lang="en-US" altLang="zh-CN" sz="1600" dirty="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四</a:t>
            </a:r>
            <a:r>
              <a:rPr lang="zh-CN" altLang="en-US" sz="2400">
                <a:solidFill>
                  <a:srgbClr val="FFFFFF"/>
                </a:solidFill>
              </a:rPr>
              <a:t>、机器学习基本知识</a:t>
            </a:r>
            <a:endParaRPr lang="zh-CN" altLang="en-US" sz="2400" dirty="0"/>
          </a:p>
        </p:txBody>
      </p:sp>
      <p:sp>
        <p:nvSpPr>
          <p:cNvPr id="85" name="流程图: 接点 84">
            <a:extLst>
              <a:ext uri="{FF2B5EF4-FFF2-40B4-BE49-F238E27FC236}">
                <a16:creationId xmlns:a16="http://schemas.microsoft.com/office/drawing/2014/main" id="{5B147730-7D6E-477B-B358-4E1F7FDCCFDB}"/>
              </a:ext>
            </a:extLst>
          </p:cNvPr>
          <p:cNvSpPr/>
          <p:nvPr/>
        </p:nvSpPr>
        <p:spPr bwMode="gray">
          <a:xfrm>
            <a:off x="1259632" y="2753963"/>
            <a:ext cx="1656184" cy="1656000"/>
          </a:xfrm>
          <a:prstGeom prst="flowChartConnector">
            <a:avLst/>
          </a:prstGeom>
          <a:noFill/>
          <a:ln w="9525">
            <a:solidFill>
              <a:srgbClr val="000078"/>
            </a:solidFill>
            <a:miter lim="800000"/>
            <a:headEnd/>
            <a:tailEnd/>
          </a:ln>
          <a:effectLst/>
        </p:spPr>
        <p:txBody>
          <a:bodyPr wrap="none" rtlCol="0" anchor="ctr"/>
          <a:lstStyle/>
          <a:p>
            <a:pPr algn="ctr" eaLnBrk="0" hangingPunct="0"/>
            <a:endParaRPr lang="zh-CN" altLang="en-US" sz="1400" b="1" dirty="0">
              <a:latin typeface="黑体" panose="02010609060101010101" pitchFamily="49" charset="-122"/>
              <a:ea typeface="黑体" panose="02010609060101010101" pitchFamily="49" charset="-122"/>
            </a:endParaRPr>
          </a:p>
        </p:txBody>
      </p:sp>
      <p:sp>
        <p:nvSpPr>
          <p:cNvPr id="86" name="流程图: 接点 85">
            <a:extLst>
              <a:ext uri="{FF2B5EF4-FFF2-40B4-BE49-F238E27FC236}">
                <a16:creationId xmlns:a16="http://schemas.microsoft.com/office/drawing/2014/main" id="{275D919A-EE64-4A60-AC71-25588F424DE8}"/>
              </a:ext>
            </a:extLst>
          </p:cNvPr>
          <p:cNvSpPr/>
          <p:nvPr/>
        </p:nvSpPr>
        <p:spPr bwMode="gray">
          <a:xfrm>
            <a:off x="3755019" y="2441561"/>
            <a:ext cx="2160000" cy="2160000"/>
          </a:xfrm>
          <a:prstGeom prst="flowChartConnector">
            <a:avLst/>
          </a:prstGeom>
          <a:noFill/>
          <a:ln w="9525">
            <a:solidFill>
              <a:srgbClr val="000078"/>
            </a:solidFill>
            <a:miter lim="800000"/>
            <a:headEnd/>
            <a:tailEnd/>
          </a:ln>
          <a:effectLst/>
        </p:spPr>
        <p:txBody>
          <a:bodyPr wrap="none" rtlCol="0" anchor="ctr"/>
          <a:lstStyle/>
          <a:p>
            <a:pPr algn="ctr" eaLnBrk="0" hangingPunct="0"/>
            <a:endParaRPr lang="zh-CN" altLang="en-US" sz="1400" b="1" dirty="0">
              <a:latin typeface="黑体" panose="02010609060101010101" pitchFamily="49" charset="-122"/>
              <a:ea typeface="黑体" panose="02010609060101010101" pitchFamily="49" charset="-122"/>
            </a:endParaRPr>
          </a:p>
        </p:txBody>
      </p:sp>
      <p:sp>
        <p:nvSpPr>
          <p:cNvPr id="88" name="流程图: 接点 87">
            <a:extLst>
              <a:ext uri="{FF2B5EF4-FFF2-40B4-BE49-F238E27FC236}">
                <a16:creationId xmlns:a16="http://schemas.microsoft.com/office/drawing/2014/main" id="{B68E0B6D-D288-401E-8D5A-B79A90D3B3DC}"/>
              </a:ext>
            </a:extLst>
          </p:cNvPr>
          <p:cNvSpPr/>
          <p:nvPr/>
        </p:nvSpPr>
        <p:spPr bwMode="gray">
          <a:xfrm>
            <a:off x="1622900" y="2982529"/>
            <a:ext cx="288000" cy="288000"/>
          </a:xfrm>
          <a:prstGeom prst="flowChartConnector">
            <a:avLst/>
          </a:prstGeom>
          <a:noFill/>
          <a:ln w="9525">
            <a:solidFill>
              <a:srgbClr val="000078"/>
            </a:solidFill>
            <a:miter lim="800000"/>
            <a:headEnd/>
            <a:tailEnd/>
          </a:ln>
          <a:effectLst/>
        </p:spPr>
        <p:txBody>
          <a:bodyPr wrap="none" rtlCol="0" anchor="ctr"/>
          <a:lstStyle/>
          <a:p>
            <a:pPr algn="ctr" eaLnBrk="0" hangingPunct="0"/>
            <a:r>
              <a:rPr lang="en-US" altLang="zh-CN" sz="1400" b="1" dirty="0" err="1">
                <a:latin typeface="Times New Roman" panose="02020603050405020304" pitchFamily="18" charset="0"/>
                <a:ea typeface="黑体" panose="02010609060101010101" pitchFamily="49" charset="-122"/>
                <a:cs typeface="Times New Roman" panose="02020603050405020304" pitchFamily="18" charset="0"/>
              </a:rPr>
              <a:t>C1</a:t>
            </a:r>
            <a:endParaRPr lang="zh-CN" altLang="en-US" sz="1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9" name="流程图: 接点 88">
            <a:extLst>
              <a:ext uri="{FF2B5EF4-FFF2-40B4-BE49-F238E27FC236}">
                <a16:creationId xmlns:a16="http://schemas.microsoft.com/office/drawing/2014/main" id="{92AA9691-5C74-401A-AFCA-5C01A636C7FB}"/>
              </a:ext>
            </a:extLst>
          </p:cNvPr>
          <p:cNvSpPr/>
          <p:nvPr/>
        </p:nvSpPr>
        <p:spPr bwMode="gray">
          <a:xfrm>
            <a:off x="2100833" y="2927533"/>
            <a:ext cx="288000" cy="288000"/>
          </a:xfrm>
          <a:prstGeom prst="flowChartConnector">
            <a:avLst/>
          </a:prstGeom>
          <a:noFill/>
          <a:ln w="9525">
            <a:solidFill>
              <a:srgbClr val="000078"/>
            </a:solidFill>
            <a:miter lim="800000"/>
            <a:headEnd/>
            <a:tailEnd/>
          </a:ln>
          <a:effectLst/>
        </p:spPr>
        <p:txBody>
          <a:bodyPr wrap="none" rtlCol="0" anchor="ctr"/>
          <a:lstStyle/>
          <a:p>
            <a:pPr algn="ctr" eaLnBrk="0" hangingPunct="0"/>
            <a:r>
              <a:rPr lang="en-US" altLang="zh-CN" sz="1400" b="1" dirty="0" err="1">
                <a:latin typeface="Times New Roman" panose="02020603050405020304" pitchFamily="18" charset="0"/>
                <a:ea typeface="黑体" panose="02010609060101010101" pitchFamily="49" charset="-122"/>
                <a:cs typeface="Times New Roman" panose="02020603050405020304" pitchFamily="18" charset="0"/>
              </a:rPr>
              <a:t>C2</a:t>
            </a:r>
            <a:endParaRPr lang="zh-CN" altLang="en-US" sz="1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0" name="流程图: 接点 89">
            <a:extLst>
              <a:ext uri="{FF2B5EF4-FFF2-40B4-BE49-F238E27FC236}">
                <a16:creationId xmlns:a16="http://schemas.microsoft.com/office/drawing/2014/main" id="{1F587199-E52B-4510-88E0-FEC7DF7D1AFD}"/>
              </a:ext>
            </a:extLst>
          </p:cNvPr>
          <p:cNvSpPr/>
          <p:nvPr/>
        </p:nvSpPr>
        <p:spPr bwMode="gray">
          <a:xfrm>
            <a:off x="2242851" y="3487683"/>
            <a:ext cx="288000" cy="288000"/>
          </a:xfrm>
          <a:prstGeom prst="flowChartConnector">
            <a:avLst/>
          </a:prstGeom>
          <a:noFill/>
          <a:ln w="9525">
            <a:solidFill>
              <a:srgbClr val="000078"/>
            </a:solidFill>
            <a:miter lim="800000"/>
            <a:headEnd/>
            <a:tailEnd/>
          </a:ln>
          <a:effectLst/>
        </p:spPr>
        <p:txBody>
          <a:bodyPr wrap="none" rtlCol="0" anchor="ctr"/>
          <a:lstStyle/>
          <a:p>
            <a:pPr algn="ctr" eaLnBrk="0" hangingPunct="0"/>
            <a:r>
              <a:rPr lang="en-US" altLang="zh-CN" sz="1400" b="1" dirty="0" err="1">
                <a:latin typeface="Times New Roman" panose="02020603050405020304" pitchFamily="18" charset="0"/>
                <a:ea typeface="黑体" panose="02010609060101010101" pitchFamily="49" charset="-122"/>
                <a:cs typeface="Times New Roman" panose="02020603050405020304" pitchFamily="18" charset="0"/>
              </a:rPr>
              <a:t>C2</a:t>
            </a:r>
            <a:endParaRPr lang="zh-CN" altLang="en-US" sz="1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1" name="流程图: 接点 90">
            <a:extLst>
              <a:ext uri="{FF2B5EF4-FFF2-40B4-BE49-F238E27FC236}">
                <a16:creationId xmlns:a16="http://schemas.microsoft.com/office/drawing/2014/main" id="{E313A211-10D6-4FD1-A267-0A16BAB41BFB}"/>
              </a:ext>
            </a:extLst>
          </p:cNvPr>
          <p:cNvSpPr/>
          <p:nvPr/>
        </p:nvSpPr>
        <p:spPr bwMode="gray">
          <a:xfrm>
            <a:off x="1876310" y="3699471"/>
            <a:ext cx="288000" cy="288000"/>
          </a:xfrm>
          <a:prstGeom prst="flowChartConnector">
            <a:avLst/>
          </a:prstGeom>
          <a:noFill/>
          <a:ln w="9525">
            <a:solidFill>
              <a:srgbClr val="000078"/>
            </a:solidFill>
            <a:miter lim="800000"/>
            <a:headEnd/>
            <a:tailEnd/>
          </a:ln>
          <a:effectLst/>
        </p:spPr>
        <p:txBody>
          <a:bodyPr wrap="none" rtlCol="0" anchor="ctr"/>
          <a:lstStyle/>
          <a:p>
            <a:pPr algn="ctr" eaLnBrk="0" hangingPunct="0"/>
            <a:r>
              <a:rPr lang="en-US" altLang="zh-CN" sz="1400" b="1" dirty="0" err="1">
                <a:latin typeface="Times New Roman" panose="02020603050405020304" pitchFamily="18" charset="0"/>
                <a:ea typeface="黑体" panose="02010609060101010101" pitchFamily="49" charset="-122"/>
                <a:cs typeface="Times New Roman" panose="02020603050405020304" pitchFamily="18" charset="0"/>
              </a:rPr>
              <a:t>C3</a:t>
            </a:r>
            <a:endParaRPr lang="zh-CN" altLang="en-US" sz="1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2" name="流程图: 接点 91">
            <a:extLst>
              <a:ext uri="{FF2B5EF4-FFF2-40B4-BE49-F238E27FC236}">
                <a16:creationId xmlns:a16="http://schemas.microsoft.com/office/drawing/2014/main" id="{8FDE1CEA-FAD2-42E4-8787-F6D680E648AD}"/>
              </a:ext>
            </a:extLst>
          </p:cNvPr>
          <p:cNvSpPr/>
          <p:nvPr/>
        </p:nvSpPr>
        <p:spPr bwMode="gray">
          <a:xfrm>
            <a:off x="1415192" y="3377561"/>
            <a:ext cx="288000" cy="288000"/>
          </a:xfrm>
          <a:prstGeom prst="flowChartConnector">
            <a:avLst/>
          </a:prstGeom>
          <a:noFill/>
          <a:ln w="9525">
            <a:solidFill>
              <a:srgbClr val="000078"/>
            </a:solidFill>
            <a:miter lim="800000"/>
            <a:headEnd/>
            <a:tailEnd/>
          </a:ln>
          <a:effectLst/>
        </p:spPr>
        <p:txBody>
          <a:bodyPr wrap="none" rtlCol="0" anchor="ctr"/>
          <a:lstStyle/>
          <a:p>
            <a:pPr algn="ctr" eaLnBrk="0" hangingPunct="0"/>
            <a:r>
              <a:rPr lang="en-US" altLang="zh-CN" sz="1400" b="1" dirty="0" err="1">
                <a:latin typeface="Times New Roman" panose="02020603050405020304" pitchFamily="18" charset="0"/>
                <a:ea typeface="黑体" panose="02010609060101010101" pitchFamily="49" charset="-122"/>
                <a:cs typeface="Times New Roman" panose="02020603050405020304" pitchFamily="18" charset="0"/>
              </a:rPr>
              <a:t>C1</a:t>
            </a:r>
            <a:endParaRPr lang="zh-CN" altLang="en-US" sz="1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3" name="流程图: 接点 92">
            <a:extLst>
              <a:ext uri="{FF2B5EF4-FFF2-40B4-BE49-F238E27FC236}">
                <a16:creationId xmlns:a16="http://schemas.microsoft.com/office/drawing/2014/main" id="{D86E2E70-F4DE-4F58-A9EC-93F73D94C020}"/>
              </a:ext>
            </a:extLst>
          </p:cNvPr>
          <p:cNvSpPr/>
          <p:nvPr/>
        </p:nvSpPr>
        <p:spPr bwMode="gray">
          <a:xfrm>
            <a:off x="1894675" y="3288861"/>
            <a:ext cx="288000" cy="288000"/>
          </a:xfrm>
          <a:prstGeom prst="flowChartConnector">
            <a:avLst/>
          </a:prstGeom>
          <a:noFill/>
          <a:ln w="9525">
            <a:solidFill>
              <a:srgbClr val="000078"/>
            </a:solidFill>
            <a:miter lim="800000"/>
            <a:headEnd/>
            <a:tailEnd/>
          </a:ln>
          <a:effectLst/>
        </p:spPr>
        <p:txBody>
          <a:bodyPr wrap="none" rtlCol="0" anchor="ctr"/>
          <a:lstStyle/>
          <a:p>
            <a:pPr algn="ctr" eaLnBrk="0" hangingPunct="0"/>
            <a:r>
              <a:rPr lang="en-US" altLang="zh-CN" sz="1400" b="1" dirty="0" err="1">
                <a:latin typeface="Times New Roman" panose="02020603050405020304" pitchFamily="18" charset="0"/>
                <a:ea typeface="黑体" panose="02010609060101010101" pitchFamily="49" charset="-122"/>
                <a:cs typeface="Times New Roman" panose="02020603050405020304" pitchFamily="18" charset="0"/>
              </a:rPr>
              <a:t>C3</a:t>
            </a:r>
            <a:endParaRPr lang="zh-CN" altLang="en-US" sz="1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4" name="流程图: 接点 93">
            <a:extLst>
              <a:ext uri="{FF2B5EF4-FFF2-40B4-BE49-F238E27FC236}">
                <a16:creationId xmlns:a16="http://schemas.microsoft.com/office/drawing/2014/main" id="{FAD95CC6-0D89-445D-B727-A29FF0A69DF5}"/>
              </a:ext>
            </a:extLst>
          </p:cNvPr>
          <p:cNvSpPr/>
          <p:nvPr/>
        </p:nvSpPr>
        <p:spPr bwMode="gray">
          <a:xfrm>
            <a:off x="2483800" y="3180257"/>
            <a:ext cx="288000" cy="288000"/>
          </a:xfrm>
          <a:prstGeom prst="flowChartConnector">
            <a:avLst/>
          </a:prstGeom>
          <a:noFill/>
          <a:ln w="9525">
            <a:solidFill>
              <a:srgbClr val="000078"/>
            </a:solidFill>
            <a:miter lim="800000"/>
            <a:headEnd/>
            <a:tailEnd/>
          </a:ln>
          <a:effectLst/>
        </p:spPr>
        <p:txBody>
          <a:bodyPr wrap="none" rtlCol="0" anchor="ctr"/>
          <a:lstStyle/>
          <a:p>
            <a:pPr algn="ctr" eaLnBrk="0" hangingPunct="0"/>
            <a:r>
              <a:rPr lang="en-US" altLang="zh-CN" sz="1400" b="1" dirty="0" err="1">
                <a:latin typeface="Times New Roman" panose="02020603050405020304" pitchFamily="18" charset="0"/>
                <a:ea typeface="黑体" panose="02010609060101010101" pitchFamily="49" charset="-122"/>
                <a:cs typeface="Times New Roman" panose="02020603050405020304" pitchFamily="18" charset="0"/>
              </a:rPr>
              <a:t>C1</a:t>
            </a:r>
            <a:endParaRPr lang="zh-CN" altLang="en-US" sz="1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5" name="流程图: 接点 94">
            <a:extLst>
              <a:ext uri="{FF2B5EF4-FFF2-40B4-BE49-F238E27FC236}">
                <a16:creationId xmlns:a16="http://schemas.microsoft.com/office/drawing/2014/main" id="{55AA10D1-ED8D-481E-BB6B-6F46C85E14E6}"/>
              </a:ext>
            </a:extLst>
          </p:cNvPr>
          <p:cNvSpPr/>
          <p:nvPr/>
        </p:nvSpPr>
        <p:spPr bwMode="gray">
          <a:xfrm>
            <a:off x="1509368" y="3834115"/>
            <a:ext cx="288000" cy="288000"/>
          </a:xfrm>
          <a:prstGeom prst="flowChartConnector">
            <a:avLst/>
          </a:prstGeom>
          <a:noFill/>
          <a:ln w="9525">
            <a:solidFill>
              <a:srgbClr val="000078"/>
            </a:solidFill>
            <a:miter lim="800000"/>
            <a:headEnd/>
            <a:tailEnd/>
          </a:ln>
          <a:effectLst/>
        </p:spPr>
        <p:txBody>
          <a:bodyPr wrap="none" rtlCol="0" anchor="ctr"/>
          <a:lstStyle/>
          <a:p>
            <a:pPr algn="ctr" eaLnBrk="0" hangingPunct="0"/>
            <a:r>
              <a:rPr lang="en-US" altLang="zh-CN" sz="1400" b="1" dirty="0" err="1">
                <a:latin typeface="Times New Roman" panose="02020603050405020304" pitchFamily="18" charset="0"/>
                <a:ea typeface="黑体" panose="02010609060101010101" pitchFamily="49" charset="-122"/>
                <a:cs typeface="Times New Roman" panose="02020603050405020304" pitchFamily="18" charset="0"/>
              </a:rPr>
              <a:t>C3</a:t>
            </a:r>
            <a:endParaRPr lang="zh-CN" altLang="en-US" sz="1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6" name="流程图: 接点 95">
            <a:extLst>
              <a:ext uri="{FF2B5EF4-FFF2-40B4-BE49-F238E27FC236}">
                <a16:creationId xmlns:a16="http://schemas.microsoft.com/office/drawing/2014/main" id="{B9642BEB-6403-4A68-9A9B-5F96C27B7684}"/>
              </a:ext>
            </a:extLst>
          </p:cNvPr>
          <p:cNvSpPr/>
          <p:nvPr/>
        </p:nvSpPr>
        <p:spPr bwMode="gray">
          <a:xfrm>
            <a:off x="2472252" y="3795110"/>
            <a:ext cx="288000" cy="288000"/>
          </a:xfrm>
          <a:prstGeom prst="flowChartConnector">
            <a:avLst/>
          </a:prstGeom>
          <a:noFill/>
          <a:ln w="9525">
            <a:solidFill>
              <a:srgbClr val="000078"/>
            </a:solidFill>
            <a:miter lim="800000"/>
            <a:headEnd/>
            <a:tailEnd/>
          </a:ln>
          <a:effectLst/>
        </p:spPr>
        <p:txBody>
          <a:bodyPr wrap="none" rtlCol="0" anchor="ctr"/>
          <a:lstStyle/>
          <a:p>
            <a:pPr algn="ctr" eaLnBrk="0" hangingPunct="0"/>
            <a:r>
              <a:rPr lang="en-US" altLang="zh-CN" sz="1400" b="1" dirty="0" err="1">
                <a:latin typeface="Times New Roman" panose="02020603050405020304" pitchFamily="18" charset="0"/>
                <a:ea typeface="黑体" panose="02010609060101010101" pitchFamily="49" charset="-122"/>
                <a:cs typeface="Times New Roman" panose="02020603050405020304" pitchFamily="18" charset="0"/>
              </a:rPr>
              <a:t>C2</a:t>
            </a:r>
            <a:endParaRPr lang="zh-CN" altLang="en-US" sz="1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7" name="流程图: 接点 96">
            <a:extLst>
              <a:ext uri="{FF2B5EF4-FFF2-40B4-BE49-F238E27FC236}">
                <a16:creationId xmlns:a16="http://schemas.microsoft.com/office/drawing/2014/main" id="{AFE45C61-75EF-4641-B1F0-7E774E70D43C}"/>
              </a:ext>
            </a:extLst>
          </p:cNvPr>
          <p:cNvSpPr/>
          <p:nvPr/>
        </p:nvSpPr>
        <p:spPr bwMode="gray">
          <a:xfrm>
            <a:off x="2032617" y="4026520"/>
            <a:ext cx="288000" cy="288000"/>
          </a:xfrm>
          <a:prstGeom prst="flowChartConnector">
            <a:avLst/>
          </a:prstGeom>
          <a:noFill/>
          <a:ln w="9525">
            <a:solidFill>
              <a:srgbClr val="000078"/>
            </a:solidFill>
            <a:miter lim="800000"/>
            <a:headEnd/>
            <a:tailEnd/>
          </a:ln>
          <a:effectLst/>
        </p:spPr>
        <p:txBody>
          <a:bodyPr wrap="none" rtlCol="0" anchor="ctr"/>
          <a:lstStyle/>
          <a:p>
            <a:pPr algn="ctr" eaLnBrk="0" hangingPunct="0"/>
            <a:r>
              <a:rPr lang="en-US" altLang="zh-CN" sz="1400" b="1" dirty="0" err="1">
                <a:latin typeface="Times New Roman" panose="02020603050405020304" pitchFamily="18" charset="0"/>
                <a:ea typeface="黑体" panose="02010609060101010101" pitchFamily="49" charset="-122"/>
                <a:cs typeface="Times New Roman" panose="02020603050405020304" pitchFamily="18" charset="0"/>
              </a:rPr>
              <a:t>C3</a:t>
            </a:r>
            <a:endParaRPr lang="zh-CN" altLang="en-US" sz="1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8" name="流程图: 接点 97">
            <a:extLst>
              <a:ext uri="{FF2B5EF4-FFF2-40B4-BE49-F238E27FC236}">
                <a16:creationId xmlns:a16="http://schemas.microsoft.com/office/drawing/2014/main" id="{D6A3F739-103E-4060-B886-0466DF0BC2C5}"/>
              </a:ext>
            </a:extLst>
          </p:cNvPr>
          <p:cNvSpPr/>
          <p:nvPr/>
        </p:nvSpPr>
        <p:spPr bwMode="gray">
          <a:xfrm>
            <a:off x="4284000" y="2722817"/>
            <a:ext cx="288000" cy="288000"/>
          </a:xfrm>
          <a:prstGeom prst="flowChartConnector">
            <a:avLst/>
          </a:prstGeom>
          <a:solidFill>
            <a:srgbClr val="50DFFC"/>
          </a:solidFill>
          <a:ln w="9525">
            <a:solidFill>
              <a:srgbClr val="000078"/>
            </a:solidFill>
            <a:miter lim="800000"/>
            <a:headEnd/>
            <a:tailEnd/>
          </a:ln>
          <a:effectLst/>
        </p:spPr>
        <p:txBody>
          <a:bodyPr wrap="none" rtlCol="0" anchor="ctr"/>
          <a:lstStyle/>
          <a:p>
            <a:pPr algn="ctr" eaLnBrk="0" hangingPunct="0"/>
            <a:endParaRPr lang="zh-CN" altLang="en-US" sz="1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9" name="流程图: 接点 98">
            <a:extLst>
              <a:ext uri="{FF2B5EF4-FFF2-40B4-BE49-F238E27FC236}">
                <a16:creationId xmlns:a16="http://schemas.microsoft.com/office/drawing/2014/main" id="{EC8A18D1-C778-4D9A-B059-C27A47379037}"/>
              </a:ext>
            </a:extLst>
          </p:cNvPr>
          <p:cNvSpPr/>
          <p:nvPr/>
        </p:nvSpPr>
        <p:spPr bwMode="gray">
          <a:xfrm>
            <a:off x="4667693" y="2544271"/>
            <a:ext cx="288000" cy="288000"/>
          </a:xfrm>
          <a:prstGeom prst="flowChartConnector">
            <a:avLst/>
          </a:prstGeom>
          <a:solidFill>
            <a:srgbClr val="50DFFC"/>
          </a:solidFill>
          <a:ln w="9525">
            <a:solidFill>
              <a:srgbClr val="000078"/>
            </a:solidFill>
            <a:miter lim="800000"/>
            <a:headEnd/>
            <a:tailEnd/>
          </a:ln>
          <a:effectLst/>
        </p:spPr>
        <p:txBody>
          <a:bodyPr wrap="none" rtlCol="0" anchor="ctr"/>
          <a:lstStyle/>
          <a:p>
            <a:pPr algn="ctr" eaLnBrk="0" hangingPunct="0"/>
            <a:endParaRPr lang="zh-CN" altLang="en-US" sz="1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0" name="流程图: 接点 99">
            <a:extLst>
              <a:ext uri="{FF2B5EF4-FFF2-40B4-BE49-F238E27FC236}">
                <a16:creationId xmlns:a16="http://schemas.microsoft.com/office/drawing/2014/main" id="{97A6D696-BC22-4625-A896-4A54DBDEF113}"/>
              </a:ext>
            </a:extLst>
          </p:cNvPr>
          <p:cNvSpPr/>
          <p:nvPr/>
        </p:nvSpPr>
        <p:spPr bwMode="gray">
          <a:xfrm>
            <a:off x="5175066" y="2712891"/>
            <a:ext cx="288000" cy="288000"/>
          </a:xfrm>
          <a:prstGeom prst="flowChartConnector">
            <a:avLst/>
          </a:prstGeom>
          <a:solidFill>
            <a:srgbClr val="50DFFC"/>
          </a:solidFill>
          <a:ln w="9525">
            <a:solidFill>
              <a:srgbClr val="000078"/>
            </a:solidFill>
            <a:miter lim="800000"/>
            <a:headEnd/>
            <a:tailEnd/>
          </a:ln>
          <a:effectLst/>
        </p:spPr>
        <p:txBody>
          <a:bodyPr wrap="none" rtlCol="0" anchor="ctr"/>
          <a:lstStyle/>
          <a:p>
            <a:pPr algn="ctr" eaLnBrk="0" hangingPunct="0"/>
            <a:endParaRPr lang="zh-CN" altLang="en-US" sz="1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1" name="流程图: 接点 100">
            <a:extLst>
              <a:ext uri="{FF2B5EF4-FFF2-40B4-BE49-F238E27FC236}">
                <a16:creationId xmlns:a16="http://schemas.microsoft.com/office/drawing/2014/main" id="{401EBE0A-E6C7-4060-855E-004C17A2B4BB}"/>
              </a:ext>
            </a:extLst>
          </p:cNvPr>
          <p:cNvSpPr/>
          <p:nvPr/>
        </p:nvSpPr>
        <p:spPr bwMode="gray">
          <a:xfrm>
            <a:off x="5372159" y="3288861"/>
            <a:ext cx="288000" cy="288000"/>
          </a:xfrm>
          <a:prstGeom prst="flowChartConnector">
            <a:avLst/>
          </a:prstGeom>
          <a:solidFill>
            <a:srgbClr val="50DFFC"/>
          </a:solidFill>
          <a:ln w="9525">
            <a:solidFill>
              <a:srgbClr val="000078"/>
            </a:solidFill>
            <a:miter lim="800000"/>
            <a:headEnd/>
            <a:tailEnd/>
          </a:ln>
          <a:effectLst/>
        </p:spPr>
        <p:txBody>
          <a:bodyPr wrap="none" rtlCol="0" anchor="ctr"/>
          <a:lstStyle/>
          <a:p>
            <a:pPr algn="ctr" eaLnBrk="0" hangingPunct="0"/>
            <a:endParaRPr lang="zh-CN" altLang="en-US" sz="1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2" name="流程图: 接点 101">
            <a:extLst>
              <a:ext uri="{FF2B5EF4-FFF2-40B4-BE49-F238E27FC236}">
                <a16:creationId xmlns:a16="http://schemas.microsoft.com/office/drawing/2014/main" id="{7CAF2CC5-31AF-43F9-9268-7E72A590765A}"/>
              </a:ext>
            </a:extLst>
          </p:cNvPr>
          <p:cNvSpPr/>
          <p:nvPr/>
        </p:nvSpPr>
        <p:spPr bwMode="gray">
          <a:xfrm>
            <a:off x="5483275" y="3669429"/>
            <a:ext cx="288000" cy="288000"/>
          </a:xfrm>
          <a:prstGeom prst="flowChartConnector">
            <a:avLst/>
          </a:prstGeom>
          <a:solidFill>
            <a:srgbClr val="50DFFC"/>
          </a:solidFill>
          <a:ln w="9525">
            <a:solidFill>
              <a:srgbClr val="000078"/>
            </a:solidFill>
            <a:miter lim="800000"/>
            <a:headEnd/>
            <a:tailEnd/>
          </a:ln>
          <a:effectLst/>
        </p:spPr>
        <p:txBody>
          <a:bodyPr wrap="none" rtlCol="0" anchor="ctr"/>
          <a:lstStyle/>
          <a:p>
            <a:pPr algn="ctr" eaLnBrk="0" hangingPunct="0"/>
            <a:endParaRPr lang="zh-CN" altLang="en-US" sz="1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3" name="流程图: 接点 102">
            <a:extLst>
              <a:ext uri="{FF2B5EF4-FFF2-40B4-BE49-F238E27FC236}">
                <a16:creationId xmlns:a16="http://schemas.microsoft.com/office/drawing/2014/main" id="{6C44FE4B-129E-4EAA-99E3-48D008758721}"/>
              </a:ext>
            </a:extLst>
          </p:cNvPr>
          <p:cNvSpPr/>
          <p:nvPr/>
        </p:nvSpPr>
        <p:spPr bwMode="gray">
          <a:xfrm>
            <a:off x="5210281" y="3966309"/>
            <a:ext cx="288000" cy="288000"/>
          </a:xfrm>
          <a:prstGeom prst="flowChartConnector">
            <a:avLst/>
          </a:prstGeom>
          <a:solidFill>
            <a:srgbClr val="50DFFC"/>
          </a:solidFill>
          <a:ln w="9525">
            <a:solidFill>
              <a:srgbClr val="000078"/>
            </a:solidFill>
            <a:miter lim="800000"/>
            <a:headEnd/>
            <a:tailEnd/>
          </a:ln>
          <a:effectLst/>
        </p:spPr>
        <p:txBody>
          <a:bodyPr wrap="none" rtlCol="0" anchor="ctr"/>
          <a:lstStyle/>
          <a:p>
            <a:pPr algn="ctr" eaLnBrk="0" hangingPunct="0"/>
            <a:endParaRPr lang="zh-CN" altLang="en-US" sz="1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4" name="流程图: 接点 103">
            <a:extLst>
              <a:ext uri="{FF2B5EF4-FFF2-40B4-BE49-F238E27FC236}">
                <a16:creationId xmlns:a16="http://schemas.microsoft.com/office/drawing/2014/main" id="{E7590D4B-473B-46E1-B5B9-7E9C78A538F0}"/>
              </a:ext>
            </a:extLst>
          </p:cNvPr>
          <p:cNvSpPr/>
          <p:nvPr/>
        </p:nvSpPr>
        <p:spPr bwMode="gray">
          <a:xfrm>
            <a:off x="4641656" y="3605472"/>
            <a:ext cx="288000" cy="288000"/>
          </a:xfrm>
          <a:prstGeom prst="flowChartConnector">
            <a:avLst/>
          </a:prstGeom>
          <a:solidFill>
            <a:srgbClr val="50DFFC"/>
          </a:solidFill>
          <a:ln w="9525">
            <a:solidFill>
              <a:srgbClr val="000078"/>
            </a:solidFill>
            <a:miter lim="800000"/>
            <a:headEnd/>
            <a:tailEnd/>
          </a:ln>
          <a:effectLst/>
        </p:spPr>
        <p:txBody>
          <a:bodyPr wrap="none" rtlCol="0" anchor="ctr"/>
          <a:lstStyle/>
          <a:p>
            <a:pPr algn="ctr" eaLnBrk="0" hangingPunct="0"/>
            <a:endParaRPr lang="zh-CN" altLang="en-US" sz="1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5" name="流程图: 接点 104">
            <a:extLst>
              <a:ext uri="{FF2B5EF4-FFF2-40B4-BE49-F238E27FC236}">
                <a16:creationId xmlns:a16="http://schemas.microsoft.com/office/drawing/2014/main" id="{3918288B-57DB-4D84-8FEA-D605010BE424}"/>
              </a:ext>
            </a:extLst>
          </p:cNvPr>
          <p:cNvSpPr/>
          <p:nvPr/>
        </p:nvSpPr>
        <p:spPr bwMode="gray">
          <a:xfrm>
            <a:off x="4462948" y="4102954"/>
            <a:ext cx="288000" cy="288000"/>
          </a:xfrm>
          <a:prstGeom prst="flowChartConnector">
            <a:avLst/>
          </a:prstGeom>
          <a:solidFill>
            <a:srgbClr val="50DFFC"/>
          </a:solidFill>
          <a:ln w="9525">
            <a:solidFill>
              <a:srgbClr val="000078"/>
            </a:solidFill>
            <a:miter lim="800000"/>
            <a:headEnd/>
            <a:tailEnd/>
          </a:ln>
          <a:effectLst/>
        </p:spPr>
        <p:txBody>
          <a:bodyPr wrap="none" rtlCol="0" anchor="ctr"/>
          <a:lstStyle/>
          <a:p>
            <a:pPr algn="ctr" eaLnBrk="0" hangingPunct="0"/>
            <a:endParaRPr lang="zh-CN" altLang="en-US" sz="1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6" name="流程图: 接点 105">
            <a:extLst>
              <a:ext uri="{FF2B5EF4-FFF2-40B4-BE49-F238E27FC236}">
                <a16:creationId xmlns:a16="http://schemas.microsoft.com/office/drawing/2014/main" id="{3844D5AA-2E90-4BEB-AAE5-D80AF5049346}"/>
              </a:ext>
            </a:extLst>
          </p:cNvPr>
          <p:cNvSpPr/>
          <p:nvPr/>
        </p:nvSpPr>
        <p:spPr bwMode="gray">
          <a:xfrm>
            <a:off x="3915727" y="3369031"/>
            <a:ext cx="288000" cy="288000"/>
          </a:xfrm>
          <a:prstGeom prst="flowChartConnector">
            <a:avLst/>
          </a:prstGeom>
          <a:solidFill>
            <a:srgbClr val="50DFFC"/>
          </a:solidFill>
          <a:ln w="9525">
            <a:solidFill>
              <a:srgbClr val="000078"/>
            </a:solidFill>
            <a:miter lim="800000"/>
            <a:headEnd/>
            <a:tailEnd/>
          </a:ln>
          <a:effectLst/>
        </p:spPr>
        <p:txBody>
          <a:bodyPr wrap="none" rtlCol="0" anchor="ctr"/>
          <a:lstStyle/>
          <a:p>
            <a:pPr algn="ctr" eaLnBrk="0" hangingPunct="0"/>
            <a:endParaRPr lang="zh-CN" altLang="en-US" sz="1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7" name="流程图: 接点 106">
            <a:extLst>
              <a:ext uri="{FF2B5EF4-FFF2-40B4-BE49-F238E27FC236}">
                <a16:creationId xmlns:a16="http://schemas.microsoft.com/office/drawing/2014/main" id="{35981470-D20C-43E8-B108-014E260B97C3}"/>
              </a:ext>
            </a:extLst>
          </p:cNvPr>
          <p:cNvSpPr/>
          <p:nvPr/>
        </p:nvSpPr>
        <p:spPr bwMode="gray">
          <a:xfrm>
            <a:off x="4395334" y="3273377"/>
            <a:ext cx="288000" cy="288000"/>
          </a:xfrm>
          <a:prstGeom prst="flowChartConnector">
            <a:avLst/>
          </a:prstGeom>
          <a:solidFill>
            <a:srgbClr val="50DFFC"/>
          </a:solidFill>
          <a:ln w="9525">
            <a:solidFill>
              <a:srgbClr val="000078"/>
            </a:solidFill>
            <a:miter lim="800000"/>
            <a:headEnd/>
            <a:tailEnd/>
          </a:ln>
          <a:effectLst/>
        </p:spPr>
        <p:txBody>
          <a:bodyPr wrap="none" rtlCol="0" anchor="ctr"/>
          <a:lstStyle/>
          <a:p>
            <a:pPr algn="ctr" eaLnBrk="0" hangingPunct="0"/>
            <a:endParaRPr lang="zh-CN" altLang="en-US" sz="1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8" name="流程图: 接点 107">
            <a:extLst>
              <a:ext uri="{FF2B5EF4-FFF2-40B4-BE49-F238E27FC236}">
                <a16:creationId xmlns:a16="http://schemas.microsoft.com/office/drawing/2014/main" id="{AE6D0E1C-216C-4F86-90AF-05C218AA094F}"/>
              </a:ext>
            </a:extLst>
          </p:cNvPr>
          <p:cNvSpPr/>
          <p:nvPr/>
        </p:nvSpPr>
        <p:spPr bwMode="gray">
          <a:xfrm>
            <a:off x="4777380" y="2937636"/>
            <a:ext cx="288000" cy="288000"/>
          </a:xfrm>
          <a:prstGeom prst="flowChartConnector">
            <a:avLst/>
          </a:prstGeom>
          <a:solidFill>
            <a:srgbClr val="50DFFC"/>
          </a:solidFill>
          <a:ln w="9525">
            <a:solidFill>
              <a:srgbClr val="000078"/>
            </a:solidFill>
            <a:miter lim="800000"/>
            <a:headEnd/>
            <a:tailEnd/>
          </a:ln>
          <a:effectLst/>
        </p:spPr>
        <p:txBody>
          <a:bodyPr wrap="none" rtlCol="0" anchor="ctr"/>
          <a:lstStyle/>
          <a:p>
            <a:pPr algn="ctr" eaLnBrk="0" hangingPunct="0"/>
            <a:endParaRPr lang="zh-CN" altLang="en-US" sz="1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0" name="流程图: 接点 109">
            <a:extLst>
              <a:ext uri="{FF2B5EF4-FFF2-40B4-BE49-F238E27FC236}">
                <a16:creationId xmlns:a16="http://schemas.microsoft.com/office/drawing/2014/main" id="{6940EF88-5B3F-447E-AF42-F44C86594842}"/>
              </a:ext>
            </a:extLst>
          </p:cNvPr>
          <p:cNvSpPr/>
          <p:nvPr/>
        </p:nvSpPr>
        <p:spPr bwMode="gray">
          <a:xfrm>
            <a:off x="4073032" y="3814467"/>
            <a:ext cx="288000" cy="288000"/>
          </a:xfrm>
          <a:prstGeom prst="flowChartConnector">
            <a:avLst/>
          </a:prstGeom>
          <a:solidFill>
            <a:srgbClr val="50DFFC"/>
          </a:solidFill>
          <a:ln w="9525">
            <a:solidFill>
              <a:srgbClr val="000078"/>
            </a:solidFill>
            <a:miter lim="800000"/>
            <a:headEnd/>
            <a:tailEnd/>
          </a:ln>
          <a:effectLst/>
        </p:spPr>
        <p:txBody>
          <a:bodyPr wrap="none" rtlCol="0" anchor="ctr"/>
          <a:lstStyle/>
          <a:p>
            <a:pPr algn="ctr" eaLnBrk="0" hangingPunct="0"/>
            <a:endParaRPr lang="zh-CN" altLang="en-US" sz="1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2" name="流程图: 接点 111">
            <a:extLst>
              <a:ext uri="{FF2B5EF4-FFF2-40B4-BE49-F238E27FC236}">
                <a16:creationId xmlns:a16="http://schemas.microsoft.com/office/drawing/2014/main" id="{9BF52347-19B3-40AD-A6E7-11054466C5F3}"/>
              </a:ext>
            </a:extLst>
          </p:cNvPr>
          <p:cNvSpPr/>
          <p:nvPr/>
        </p:nvSpPr>
        <p:spPr bwMode="gray">
          <a:xfrm>
            <a:off x="3978409" y="3016612"/>
            <a:ext cx="288000" cy="288000"/>
          </a:xfrm>
          <a:prstGeom prst="flowChartConnector">
            <a:avLst/>
          </a:prstGeom>
          <a:solidFill>
            <a:srgbClr val="50DFFC"/>
          </a:solidFill>
          <a:ln w="9525">
            <a:solidFill>
              <a:srgbClr val="000078"/>
            </a:solidFill>
            <a:miter lim="800000"/>
            <a:headEnd/>
            <a:tailEnd/>
          </a:ln>
          <a:effectLst/>
        </p:spPr>
        <p:txBody>
          <a:bodyPr wrap="none" rtlCol="0" anchor="ctr"/>
          <a:lstStyle/>
          <a:p>
            <a:pPr algn="ctr" eaLnBrk="0" hangingPunct="0"/>
            <a:endParaRPr lang="zh-CN" altLang="en-US" sz="1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3" name="流程图: 接点 112">
            <a:extLst>
              <a:ext uri="{FF2B5EF4-FFF2-40B4-BE49-F238E27FC236}">
                <a16:creationId xmlns:a16="http://schemas.microsoft.com/office/drawing/2014/main" id="{FD169051-0F96-4326-AEFF-D44C0BC036C8}"/>
              </a:ext>
            </a:extLst>
          </p:cNvPr>
          <p:cNvSpPr/>
          <p:nvPr/>
        </p:nvSpPr>
        <p:spPr bwMode="gray">
          <a:xfrm>
            <a:off x="5461334" y="2899718"/>
            <a:ext cx="288000" cy="288000"/>
          </a:xfrm>
          <a:prstGeom prst="flowChartConnector">
            <a:avLst/>
          </a:prstGeom>
          <a:solidFill>
            <a:srgbClr val="50DFFC"/>
          </a:solidFill>
          <a:ln w="9525">
            <a:solidFill>
              <a:srgbClr val="000078"/>
            </a:solidFill>
            <a:miter lim="800000"/>
            <a:headEnd/>
            <a:tailEnd/>
          </a:ln>
          <a:effectLst/>
        </p:spPr>
        <p:txBody>
          <a:bodyPr wrap="none" rtlCol="0" anchor="ctr"/>
          <a:lstStyle/>
          <a:p>
            <a:pPr algn="ctr" eaLnBrk="0" hangingPunct="0"/>
            <a:endParaRPr lang="zh-CN" altLang="en-US" sz="1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4" name="流程图: 接点 113">
            <a:extLst>
              <a:ext uri="{FF2B5EF4-FFF2-40B4-BE49-F238E27FC236}">
                <a16:creationId xmlns:a16="http://schemas.microsoft.com/office/drawing/2014/main" id="{278E64FE-1B18-427A-9800-2279ABB08ABB}"/>
              </a:ext>
            </a:extLst>
          </p:cNvPr>
          <p:cNvSpPr/>
          <p:nvPr/>
        </p:nvSpPr>
        <p:spPr bwMode="gray">
          <a:xfrm>
            <a:off x="4992022" y="3250256"/>
            <a:ext cx="288000" cy="288000"/>
          </a:xfrm>
          <a:prstGeom prst="flowChartConnector">
            <a:avLst/>
          </a:prstGeom>
          <a:solidFill>
            <a:srgbClr val="50DFFC"/>
          </a:solidFill>
          <a:ln w="9525">
            <a:solidFill>
              <a:srgbClr val="000078"/>
            </a:solidFill>
            <a:miter lim="800000"/>
            <a:headEnd/>
            <a:tailEnd/>
          </a:ln>
          <a:effectLst/>
        </p:spPr>
        <p:txBody>
          <a:bodyPr wrap="none" rtlCol="0" anchor="ctr"/>
          <a:lstStyle/>
          <a:p>
            <a:pPr algn="ctr" eaLnBrk="0" hangingPunct="0"/>
            <a:endParaRPr lang="zh-CN" altLang="en-US" sz="1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5" name="流程图: 接点 114">
            <a:extLst>
              <a:ext uri="{FF2B5EF4-FFF2-40B4-BE49-F238E27FC236}">
                <a16:creationId xmlns:a16="http://schemas.microsoft.com/office/drawing/2014/main" id="{FB201BB2-24FC-4679-96B9-9FFB46E1D760}"/>
              </a:ext>
            </a:extLst>
          </p:cNvPr>
          <p:cNvSpPr/>
          <p:nvPr/>
        </p:nvSpPr>
        <p:spPr bwMode="gray">
          <a:xfrm>
            <a:off x="5040522" y="3649219"/>
            <a:ext cx="288000" cy="288000"/>
          </a:xfrm>
          <a:prstGeom prst="flowChartConnector">
            <a:avLst/>
          </a:prstGeom>
          <a:solidFill>
            <a:srgbClr val="50DFFC"/>
          </a:solidFill>
          <a:ln w="9525">
            <a:solidFill>
              <a:srgbClr val="000078"/>
            </a:solidFill>
            <a:miter lim="800000"/>
            <a:headEnd/>
            <a:tailEnd/>
          </a:ln>
          <a:effectLst/>
        </p:spPr>
        <p:txBody>
          <a:bodyPr wrap="none" rtlCol="0" anchor="ctr"/>
          <a:lstStyle/>
          <a:p>
            <a:pPr algn="ctr" eaLnBrk="0" hangingPunct="0"/>
            <a:endParaRPr lang="zh-CN" altLang="en-US" sz="1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7" name="流程图: 接点 116">
            <a:extLst>
              <a:ext uri="{FF2B5EF4-FFF2-40B4-BE49-F238E27FC236}">
                <a16:creationId xmlns:a16="http://schemas.microsoft.com/office/drawing/2014/main" id="{84645C5E-BCF7-4316-976A-377F79DD8E8F}"/>
              </a:ext>
            </a:extLst>
          </p:cNvPr>
          <p:cNvSpPr/>
          <p:nvPr/>
        </p:nvSpPr>
        <p:spPr bwMode="gray">
          <a:xfrm>
            <a:off x="4823735" y="3937219"/>
            <a:ext cx="288000" cy="288000"/>
          </a:xfrm>
          <a:prstGeom prst="flowChartConnector">
            <a:avLst/>
          </a:prstGeom>
          <a:solidFill>
            <a:srgbClr val="50DFFC"/>
          </a:solidFill>
          <a:ln w="9525">
            <a:solidFill>
              <a:srgbClr val="000078"/>
            </a:solidFill>
            <a:miter lim="800000"/>
            <a:headEnd/>
            <a:tailEnd/>
          </a:ln>
          <a:effectLst/>
        </p:spPr>
        <p:txBody>
          <a:bodyPr wrap="none" rtlCol="0" anchor="ctr"/>
          <a:lstStyle/>
          <a:p>
            <a:pPr algn="ctr" eaLnBrk="0" hangingPunct="0"/>
            <a:endParaRPr lang="zh-CN" altLang="en-US" sz="1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 name="文本框 117">
            <a:extLst>
              <a:ext uri="{FF2B5EF4-FFF2-40B4-BE49-F238E27FC236}">
                <a16:creationId xmlns:a16="http://schemas.microsoft.com/office/drawing/2014/main" id="{43B55C22-6A79-42A7-A9E9-5FDC05AC59D8}"/>
              </a:ext>
            </a:extLst>
          </p:cNvPr>
          <p:cNvSpPr txBox="1"/>
          <p:nvPr/>
        </p:nvSpPr>
        <p:spPr>
          <a:xfrm>
            <a:off x="3176044" y="3341460"/>
            <a:ext cx="268775" cy="400110"/>
          </a:xfrm>
          <a:prstGeom prst="rect">
            <a:avLst/>
          </a:prstGeom>
          <a:noFill/>
        </p:spPr>
        <p:txBody>
          <a:bodyPr wrap="square" rtlCol="0">
            <a:spAutoFit/>
          </a:bodyPr>
          <a:lstStyle/>
          <a:p>
            <a:r>
              <a:rPr lang="en-US" altLang="zh-CN" sz="2000" dirty="0">
                <a:solidFill>
                  <a:srgbClr val="000078"/>
                </a:solidFill>
                <a:latin typeface="黑体" panose="02010609060101010101" pitchFamily="49" charset="-122"/>
                <a:ea typeface="黑体" panose="02010609060101010101" pitchFamily="49" charset="-122"/>
                <a:cs typeface="Times New Roman" panose="02020603050405020304" pitchFamily="18" charset="0"/>
              </a:rPr>
              <a:t>+</a:t>
            </a:r>
            <a:endParaRPr lang="zh-CN" altLang="en-US" sz="2000" dirty="0">
              <a:solidFill>
                <a:srgbClr val="000078"/>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119" name="文本框 118">
            <a:extLst>
              <a:ext uri="{FF2B5EF4-FFF2-40B4-BE49-F238E27FC236}">
                <a16:creationId xmlns:a16="http://schemas.microsoft.com/office/drawing/2014/main" id="{8B93E451-C1F6-4AAF-89ED-0C8FC7F8CC72}"/>
              </a:ext>
            </a:extLst>
          </p:cNvPr>
          <p:cNvSpPr txBox="1"/>
          <p:nvPr/>
        </p:nvSpPr>
        <p:spPr>
          <a:xfrm>
            <a:off x="6195643" y="3350310"/>
            <a:ext cx="1688725" cy="400110"/>
          </a:xfrm>
          <a:prstGeom prst="rect">
            <a:avLst/>
          </a:prstGeom>
          <a:noFill/>
        </p:spPr>
        <p:txBody>
          <a:bodyPr wrap="square" rtlCol="0">
            <a:spAutoFit/>
          </a:bodyPr>
          <a:lstStyle/>
          <a:p>
            <a:r>
              <a:rPr lang="en-US" altLang="zh-CN" sz="2000">
                <a:solidFill>
                  <a:srgbClr val="000078"/>
                </a:solidFill>
                <a:latin typeface="黑体" panose="02010609060101010101" pitchFamily="49" charset="-122"/>
                <a:ea typeface="黑体" panose="02010609060101010101" pitchFamily="49" charset="-122"/>
                <a:cs typeface="Times New Roman" panose="02020603050405020304" pitchFamily="18" charset="0"/>
              </a:rPr>
              <a:t>= </a:t>
            </a:r>
            <a:r>
              <a:rPr lang="zh-CN" altLang="en-US" sz="2000">
                <a:solidFill>
                  <a:srgbClr val="000078"/>
                </a:solidFill>
                <a:latin typeface="黑体" panose="02010609060101010101" pitchFamily="49" charset="-122"/>
                <a:ea typeface="黑体" panose="02010609060101010101" pitchFamily="49" charset="-122"/>
                <a:cs typeface="Times New Roman" panose="02020603050405020304" pitchFamily="18" charset="0"/>
              </a:rPr>
              <a:t>模型</a:t>
            </a:r>
            <a:endParaRPr lang="zh-CN" altLang="en-US" sz="2000" dirty="0">
              <a:solidFill>
                <a:srgbClr val="000078"/>
              </a:solidFill>
              <a:latin typeface="黑体" panose="02010609060101010101" pitchFamily="49" charset="-122"/>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985481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59" y="986626"/>
            <a:ext cx="8496945" cy="1697142"/>
          </a:xfrm>
        </p:spPr>
        <p:txBody>
          <a:bodyPr>
            <a:noAutofit/>
          </a:bodyPr>
          <a:lstStyle/>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3</a:t>
            </a:r>
            <a:r>
              <a:rPr lang="zh-CN"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机器学习分类</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4</a:t>
            </a:r>
            <a:r>
              <a:rPr lang="zh-CN" altLang="en-US" sz="1800" dirty="0">
                <a:solidFill>
                  <a:srgbClr val="000066"/>
                </a:solidFill>
                <a:latin typeface="Times New Roman" panose="02020603050405020304" pitchFamily="18" charset="0"/>
                <a:cs typeface="Times New Roman" panose="02020603050405020304" pitchFamily="18" charset="0"/>
              </a:rPr>
              <a:t>）强化学习</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zh-CN" sz="1800" dirty="0">
                <a:solidFill>
                  <a:srgbClr val="000066"/>
                </a:solidFill>
                <a:latin typeface="Times New Roman" panose="02020603050405020304" pitchFamily="18" charset="0"/>
                <a:cs typeface="Times New Roman" panose="02020603050405020304" pitchFamily="18" charset="0"/>
              </a:rPr>
              <a:t>让智能体</a:t>
            </a:r>
            <a:r>
              <a:rPr lang="en-US" altLang="zh-CN" sz="1800" dirty="0">
                <a:solidFill>
                  <a:srgbClr val="000066"/>
                </a:solidFill>
                <a:latin typeface="Times New Roman" panose="02020603050405020304" pitchFamily="18" charset="0"/>
                <a:cs typeface="Times New Roman" panose="02020603050405020304" pitchFamily="18" charset="0"/>
              </a:rPr>
              <a:t>(Agent)</a:t>
            </a:r>
            <a:r>
              <a:rPr lang="zh-CN" altLang="zh-CN" sz="1800" dirty="0">
                <a:solidFill>
                  <a:srgbClr val="000066"/>
                </a:solidFill>
                <a:latin typeface="Times New Roman" panose="02020603050405020304" pitchFamily="18" charset="0"/>
                <a:cs typeface="Times New Roman" panose="02020603050405020304" pitchFamily="18" charset="0"/>
              </a:rPr>
              <a:t>能够通过与环境交互来学习，最终采取最优行为策略，</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zh-CN" sz="1800" dirty="0">
                <a:solidFill>
                  <a:srgbClr val="000066"/>
                </a:solidFill>
                <a:latin typeface="Times New Roman" panose="02020603050405020304" pitchFamily="18" charset="0"/>
                <a:cs typeface="Times New Roman" panose="02020603050405020304" pitchFamily="18" charset="0"/>
              </a:rPr>
              <a:t>从而获得最好的结果。</a:t>
            </a:r>
          </a:p>
          <a:p>
            <a:pPr marL="0" indent="0">
              <a:lnSpc>
                <a:spcPct val="150000"/>
              </a:lnSpc>
              <a:spcBef>
                <a:spcPts val="0"/>
              </a:spcBef>
              <a:buNone/>
            </a:pP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endParaRPr lang="en-US" altLang="zh-CN" sz="1600" dirty="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四</a:t>
            </a:r>
            <a:r>
              <a:rPr lang="zh-CN" altLang="en-US" sz="2400">
                <a:solidFill>
                  <a:srgbClr val="FFFFFF"/>
                </a:solidFill>
              </a:rPr>
              <a:t>、机器学习基本知识</a:t>
            </a:r>
            <a:endParaRPr lang="zh-CN" altLang="en-US" sz="2400" dirty="0"/>
          </a:p>
        </p:txBody>
      </p:sp>
      <p:pic>
        <p:nvPicPr>
          <p:cNvPr id="4" name="图片 3"/>
          <p:cNvPicPr>
            <a:picLocks noChangeAspect="1"/>
          </p:cNvPicPr>
          <p:nvPr/>
        </p:nvPicPr>
        <p:blipFill>
          <a:blip r:embed="rId3"/>
          <a:stretch>
            <a:fillRect/>
          </a:stretch>
        </p:blipFill>
        <p:spPr>
          <a:xfrm>
            <a:off x="323528" y="2681263"/>
            <a:ext cx="3073481" cy="2122735"/>
          </a:xfrm>
          <a:prstGeom prst="rect">
            <a:avLst/>
          </a:prstGeom>
        </p:spPr>
      </p:pic>
      <p:sp>
        <p:nvSpPr>
          <p:cNvPr id="5" name="矩形 4"/>
          <p:cNvSpPr/>
          <p:nvPr/>
        </p:nvSpPr>
        <p:spPr>
          <a:xfrm>
            <a:off x="3599384" y="2643758"/>
            <a:ext cx="5544616" cy="2031325"/>
          </a:xfrm>
          <a:prstGeom prst="rect">
            <a:avLst/>
          </a:prstGeom>
        </p:spPr>
        <p:txBody>
          <a:bodyPr wrap="square">
            <a:spAutoFit/>
          </a:bodyPr>
          <a:lstStyle/>
          <a:p>
            <a:pPr>
              <a:lnSpc>
                <a:spcPct val="150000"/>
              </a:lnSpc>
              <a:spcAft>
                <a:spcPts val="0"/>
              </a:spcAft>
            </a:pPr>
            <a:r>
              <a:rPr lang="zh-CN" altLang="zh-CN" sz="14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① 智能体：执行行动并进行学习的实体。</a:t>
            </a:r>
          </a:p>
          <a:p>
            <a:pPr>
              <a:lnSpc>
                <a:spcPct val="150000"/>
              </a:lnSpc>
              <a:spcAft>
                <a:spcPts val="0"/>
              </a:spcAft>
            </a:pPr>
            <a:r>
              <a:rPr lang="zh-CN" altLang="zh-CN" sz="14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② 环境：智能体所处的外部条件或情境。</a:t>
            </a:r>
            <a:endParaRPr lang="en-US" altLang="zh-CN" sz="14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spcAft>
                <a:spcPts val="0"/>
              </a:spcAft>
            </a:pPr>
            <a:r>
              <a:rPr lang="en-US" altLang="zh-CN" sz="14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4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环境的状态可能因智能体的行为而改变。</a:t>
            </a:r>
          </a:p>
          <a:p>
            <a:pPr>
              <a:lnSpc>
                <a:spcPct val="150000"/>
              </a:lnSpc>
              <a:spcAft>
                <a:spcPts val="0"/>
              </a:spcAft>
            </a:pPr>
            <a:r>
              <a:rPr lang="zh-CN" altLang="zh-CN" sz="14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③ 状态：环境的当前情况。智能体的行为通常会根据当前状态产生。</a:t>
            </a:r>
          </a:p>
          <a:p>
            <a:pPr>
              <a:lnSpc>
                <a:spcPct val="150000"/>
              </a:lnSpc>
              <a:spcAft>
                <a:spcPts val="0"/>
              </a:spcAft>
            </a:pPr>
            <a:r>
              <a:rPr lang="zh-CN" altLang="zh-CN" sz="14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④ 行动：智能体决定采取的行动，行动的结果会改变环境的状态。</a:t>
            </a:r>
          </a:p>
          <a:p>
            <a:pPr>
              <a:lnSpc>
                <a:spcPct val="150000"/>
              </a:lnSpc>
              <a:spcAft>
                <a:spcPts val="0"/>
              </a:spcAft>
            </a:pPr>
            <a:r>
              <a:rPr lang="zh-CN" altLang="zh-CN" sz="14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⑤ 奖励：对智能体行动的反馈，用于指导智能体的学习。</a:t>
            </a:r>
          </a:p>
        </p:txBody>
      </p:sp>
      <p:sp>
        <p:nvSpPr>
          <p:cNvPr id="6" name="矩形 5"/>
          <p:cNvSpPr/>
          <p:nvPr/>
        </p:nvSpPr>
        <p:spPr>
          <a:xfrm>
            <a:off x="683568" y="4771369"/>
            <a:ext cx="2262158" cy="369332"/>
          </a:xfrm>
          <a:prstGeom prst="rect">
            <a:avLst/>
          </a:prstGeom>
        </p:spPr>
        <p:txBody>
          <a:bodyPr wrap="none">
            <a:spAutoFit/>
          </a:bodyPr>
          <a:lstStyle/>
          <a:p>
            <a:r>
              <a:rPr lang="zh-CN" altLang="zh-CN" dirty="0">
                <a:solidFill>
                  <a:srgbClr val="000066"/>
                </a:solidFill>
                <a:latin typeface="楷体" panose="02010609060101010101" pitchFamily="49" charset="-122"/>
                <a:ea typeface="楷体" panose="02010609060101010101" pitchFamily="49" charset="-122"/>
                <a:cs typeface="Times New Roman" panose="02020603050405020304" pitchFamily="18" charset="0"/>
              </a:rPr>
              <a:t>强化学习模型结构图</a:t>
            </a:r>
            <a:endParaRPr lang="zh-CN" altLang="en-US" dirty="0">
              <a:latin typeface="楷体" panose="02010609060101010101" pitchFamily="49" charset="-122"/>
              <a:ea typeface="楷体" panose="02010609060101010101" pitchFamily="49" charset="-122"/>
            </a:endParaRPr>
          </a:p>
        </p:txBody>
      </p:sp>
      <p:sp>
        <p:nvSpPr>
          <p:cNvPr id="7" name="矩形 6"/>
          <p:cNvSpPr/>
          <p:nvPr/>
        </p:nvSpPr>
        <p:spPr>
          <a:xfrm>
            <a:off x="4067944" y="4690422"/>
            <a:ext cx="4439290" cy="369332"/>
          </a:xfrm>
          <a:prstGeom prst="rect">
            <a:avLst/>
          </a:prstGeom>
        </p:spPr>
        <p:txBody>
          <a:bodyPr wrap="square">
            <a:spAutoFit/>
          </a:bodyPr>
          <a:lstStyle/>
          <a:p>
            <a:pPr algn="ctr"/>
            <a:r>
              <a:rPr lang="en-US" altLang="zh-CN" dirty="0" err="1">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AlphaGo</a:t>
            </a:r>
            <a:r>
              <a:rPr lang="zh-CN" altLang="zh-CN"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的三个关键技术之一</a:t>
            </a:r>
            <a:r>
              <a:rPr lang="zh-CN" altLang="en-US"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强化学习</a:t>
            </a:r>
            <a:endParaRPr lang="zh-CN" altLang="en-US"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4164045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360F3E5C-F5B5-4BF1-8970-8229668731AD}"/>
              </a:ext>
            </a:extLst>
          </p:cNvPr>
          <p:cNvSpPr/>
          <p:nvPr/>
        </p:nvSpPr>
        <p:spPr>
          <a:xfrm>
            <a:off x="3202820" y="986626"/>
            <a:ext cx="5904656" cy="4031873"/>
          </a:xfrm>
          <a:prstGeom prst="rect">
            <a:avLst/>
          </a:prstGeom>
        </p:spPr>
        <p:txBody>
          <a:bodyPr wrap="square">
            <a:spAutoFit/>
          </a:bodyPr>
          <a:lstStyle/>
          <a:p>
            <a:r>
              <a:rPr lang="en-US" altLang="zh-CN" sz="1600" b="1">
                <a:solidFill>
                  <a:srgbClr val="000066"/>
                </a:solidFill>
                <a:latin typeface="Times New Roman" panose="02020603050405020304" pitchFamily="18" charset="0"/>
                <a:cs typeface="Times New Roman" panose="02020603050405020304" pitchFamily="18" charset="0"/>
              </a:rPr>
              <a:t>s</a:t>
            </a:r>
            <a:r>
              <a:rPr lang="zh-CN" altLang="en-US" sz="1600" b="1">
                <a:solidFill>
                  <a:srgbClr val="000066"/>
                </a:solidFill>
                <a:latin typeface="Times New Roman" panose="02020603050405020304" pitchFamily="18" charset="0"/>
                <a:cs typeface="Times New Roman" panose="02020603050405020304" pitchFamily="18" charset="0"/>
              </a:rPr>
              <a:t>epal_</a:t>
            </a:r>
            <a:r>
              <a:rPr lang="en-US" altLang="zh-CN" sz="1600" b="1">
                <a:solidFill>
                  <a:srgbClr val="000066"/>
                </a:solidFill>
                <a:latin typeface="Times New Roman" panose="02020603050405020304" pitchFamily="18" charset="0"/>
                <a:cs typeface="Times New Roman" panose="02020603050405020304" pitchFamily="18" charset="0"/>
              </a:rPr>
              <a:t>l</a:t>
            </a:r>
            <a:r>
              <a:rPr lang="zh-CN" altLang="en-US" sz="1600" b="1">
                <a:solidFill>
                  <a:srgbClr val="000066"/>
                </a:solidFill>
                <a:latin typeface="Times New Roman" panose="02020603050405020304" pitchFamily="18" charset="0"/>
                <a:cs typeface="Times New Roman" panose="02020603050405020304" pitchFamily="18" charset="0"/>
              </a:rPr>
              <a:t>ength    </a:t>
            </a:r>
            <a:r>
              <a:rPr lang="en-US" altLang="zh-CN" sz="1600" b="1">
                <a:solidFill>
                  <a:srgbClr val="000066"/>
                </a:solidFill>
                <a:latin typeface="Times New Roman" panose="02020603050405020304" pitchFamily="18" charset="0"/>
                <a:cs typeface="Times New Roman" panose="02020603050405020304" pitchFamily="18" charset="0"/>
              </a:rPr>
              <a:t>s</a:t>
            </a:r>
            <a:r>
              <a:rPr lang="zh-CN" altLang="en-US" sz="1600" b="1">
                <a:solidFill>
                  <a:srgbClr val="000066"/>
                </a:solidFill>
                <a:latin typeface="Times New Roman" panose="02020603050405020304" pitchFamily="18" charset="0"/>
                <a:cs typeface="Times New Roman" panose="02020603050405020304" pitchFamily="18" charset="0"/>
              </a:rPr>
              <a:t>epal_</a:t>
            </a:r>
            <a:r>
              <a:rPr lang="en-US" altLang="zh-CN" sz="1600" b="1">
                <a:solidFill>
                  <a:srgbClr val="000066"/>
                </a:solidFill>
                <a:latin typeface="Times New Roman" panose="02020603050405020304" pitchFamily="18" charset="0"/>
                <a:cs typeface="Times New Roman" panose="02020603050405020304" pitchFamily="18" charset="0"/>
              </a:rPr>
              <a:t>w</a:t>
            </a:r>
            <a:r>
              <a:rPr lang="zh-CN" altLang="en-US" sz="1600" b="1">
                <a:solidFill>
                  <a:srgbClr val="000066"/>
                </a:solidFill>
                <a:latin typeface="Times New Roman" panose="02020603050405020304" pitchFamily="18" charset="0"/>
                <a:cs typeface="Times New Roman" panose="02020603050405020304" pitchFamily="18" charset="0"/>
              </a:rPr>
              <a:t>idth    </a:t>
            </a:r>
            <a:r>
              <a:rPr lang="en-US" altLang="zh-CN" sz="1600" b="1">
                <a:solidFill>
                  <a:srgbClr val="000066"/>
                </a:solidFill>
                <a:latin typeface="Times New Roman" panose="02020603050405020304" pitchFamily="18" charset="0"/>
                <a:cs typeface="Times New Roman" panose="02020603050405020304" pitchFamily="18" charset="0"/>
              </a:rPr>
              <a:t>p</a:t>
            </a:r>
            <a:r>
              <a:rPr lang="zh-CN" altLang="en-US" sz="1600" b="1">
                <a:solidFill>
                  <a:srgbClr val="000066"/>
                </a:solidFill>
                <a:latin typeface="Times New Roman" panose="02020603050405020304" pitchFamily="18" charset="0"/>
                <a:cs typeface="Times New Roman" panose="02020603050405020304" pitchFamily="18" charset="0"/>
              </a:rPr>
              <a:t>etal_Length    </a:t>
            </a:r>
            <a:r>
              <a:rPr lang="en-US" altLang="zh-CN" sz="1600" b="1">
                <a:solidFill>
                  <a:srgbClr val="000066"/>
                </a:solidFill>
                <a:latin typeface="Times New Roman" panose="02020603050405020304" pitchFamily="18" charset="0"/>
                <a:cs typeface="Times New Roman" panose="02020603050405020304" pitchFamily="18" charset="0"/>
              </a:rPr>
              <a:t>p</a:t>
            </a:r>
            <a:r>
              <a:rPr lang="zh-CN" altLang="en-US" sz="1600" b="1">
                <a:solidFill>
                  <a:srgbClr val="000066"/>
                </a:solidFill>
                <a:latin typeface="Times New Roman" panose="02020603050405020304" pitchFamily="18" charset="0"/>
                <a:cs typeface="Times New Roman" panose="02020603050405020304" pitchFamily="18" charset="0"/>
              </a:rPr>
              <a:t>etal_</a:t>
            </a:r>
            <a:r>
              <a:rPr lang="en-US" altLang="zh-CN" sz="1600" b="1">
                <a:solidFill>
                  <a:srgbClr val="000066"/>
                </a:solidFill>
                <a:latin typeface="Times New Roman" panose="02020603050405020304" pitchFamily="18" charset="0"/>
                <a:cs typeface="Times New Roman" panose="02020603050405020304" pitchFamily="18" charset="0"/>
              </a:rPr>
              <a:t>w</a:t>
            </a:r>
            <a:r>
              <a:rPr lang="zh-CN" altLang="en-US" sz="1600" b="1">
                <a:solidFill>
                  <a:srgbClr val="000066"/>
                </a:solidFill>
                <a:latin typeface="Times New Roman" panose="02020603050405020304" pitchFamily="18" charset="0"/>
                <a:cs typeface="Times New Roman" panose="02020603050405020304" pitchFamily="18" charset="0"/>
              </a:rPr>
              <a:t>idth    </a:t>
            </a:r>
            <a:r>
              <a:rPr lang="en-US" altLang="zh-CN" sz="1600" b="1">
                <a:solidFill>
                  <a:srgbClr val="000066"/>
                </a:solidFill>
                <a:latin typeface="Times New Roman" panose="02020603050405020304" pitchFamily="18" charset="0"/>
                <a:cs typeface="Times New Roman" panose="02020603050405020304" pitchFamily="18" charset="0"/>
              </a:rPr>
              <a:t>species</a:t>
            </a:r>
          </a:p>
          <a:p>
            <a:pPr marL="360000"/>
            <a:r>
              <a:rPr lang="zh-CN" altLang="en-US" sz="1600" b="1">
                <a:solidFill>
                  <a:srgbClr val="000066"/>
                </a:solidFill>
                <a:latin typeface="Times New Roman" panose="02020603050405020304" pitchFamily="18" charset="0"/>
                <a:cs typeface="Times New Roman" panose="02020603050405020304" pitchFamily="18" charset="0"/>
              </a:rPr>
              <a:t>5.1 	   </a:t>
            </a:r>
            <a:r>
              <a:rPr lang="en-US" altLang="zh-CN" sz="1600" b="1">
                <a:solidFill>
                  <a:srgbClr val="000066"/>
                </a:solidFill>
                <a:latin typeface="Times New Roman" panose="02020603050405020304" pitchFamily="18" charset="0"/>
                <a:cs typeface="Times New Roman" panose="02020603050405020304" pitchFamily="18" charset="0"/>
              </a:rPr>
              <a:t>           </a:t>
            </a:r>
            <a:r>
              <a:rPr lang="zh-CN" altLang="en-US" sz="1600" b="1">
                <a:solidFill>
                  <a:srgbClr val="000066"/>
                </a:solidFill>
                <a:latin typeface="Times New Roman" panose="02020603050405020304" pitchFamily="18" charset="0"/>
                <a:cs typeface="Times New Roman" panose="02020603050405020304" pitchFamily="18" charset="0"/>
              </a:rPr>
              <a:t> 3.5 	   1.4 	            0.2	               0          </a:t>
            </a:r>
          </a:p>
          <a:p>
            <a:pPr marL="360000"/>
            <a:r>
              <a:rPr lang="zh-CN" altLang="en-US" sz="1600" b="1">
                <a:solidFill>
                  <a:srgbClr val="000066"/>
                </a:solidFill>
                <a:latin typeface="Times New Roman" panose="02020603050405020304" pitchFamily="18" charset="0"/>
                <a:cs typeface="Times New Roman" panose="02020603050405020304" pitchFamily="18" charset="0"/>
              </a:rPr>
              <a:t>4.9 	               3.0 	   1.4 	            0.2	               0</a:t>
            </a:r>
          </a:p>
          <a:p>
            <a:pPr marL="360000"/>
            <a:r>
              <a:rPr lang="zh-CN" altLang="en-US" sz="1600" b="1">
                <a:solidFill>
                  <a:srgbClr val="000066"/>
                </a:solidFill>
                <a:latin typeface="Times New Roman" panose="02020603050405020304" pitchFamily="18" charset="0"/>
                <a:cs typeface="Times New Roman" panose="02020603050405020304" pitchFamily="18" charset="0"/>
              </a:rPr>
              <a:t>4.7 	               3.2 	   1.3 	            0.2	               0</a:t>
            </a:r>
          </a:p>
          <a:p>
            <a:pPr marL="360000"/>
            <a:r>
              <a:rPr lang="zh-CN" altLang="en-US" sz="1600" b="1">
                <a:solidFill>
                  <a:srgbClr val="000066"/>
                </a:solidFill>
                <a:latin typeface="Times New Roman" panose="02020603050405020304" pitchFamily="18" charset="0"/>
                <a:cs typeface="Times New Roman" panose="02020603050405020304" pitchFamily="18" charset="0"/>
              </a:rPr>
              <a:t>4.6 	               3.1 	   1.5 	            0.2	               0</a:t>
            </a:r>
          </a:p>
          <a:p>
            <a:pPr marL="360000"/>
            <a:r>
              <a:rPr lang="zh-CN" altLang="en-US" sz="1600" b="1">
                <a:solidFill>
                  <a:srgbClr val="000066"/>
                </a:solidFill>
                <a:latin typeface="Times New Roman" panose="02020603050405020304" pitchFamily="18" charset="0"/>
                <a:cs typeface="Times New Roman" panose="02020603050405020304" pitchFamily="18" charset="0"/>
              </a:rPr>
              <a:t>5.0 	               3.6 	   1.4 	            0.2	               0</a:t>
            </a:r>
          </a:p>
          <a:p>
            <a:pPr marL="360000"/>
            <a:r>
              <a:rPr lang="zh-CN" altLang="en-US" sz="1600" b="1">
                <a:solidFill>
                  <a:srgbClr val="000066"/>
                </a:solidFill>
                <a:latin typeface="Times New Roman" panose="02020603050405020304" pitchFamily="18" charset="0"/>
                <a:cs typeface="Times New Roman" panose="02020603050405020304" pitchFamily="18" charset="0"/>
              </a:rPr>
              <a:t>7.0 	               3.2 	   4.7 	            1.4	               1</a:t>
            </a:r>
          </a:p>
          <a:p>
            <a:pPr marL="360000"/>
            <a:r>
              <a:rPr lang="zh-CN" altLang="en-US" sz="1600" b="1">
                <a:solidFill>
                  <a:srgbClr val="000066"/>
                </a:solidFill>
                <a:latin typeface="Times New Roman" panose="02020603050405020304" pitchFamily="18" charset="0"/>
                <a:cs typeface="Times New Roman" panose="02020603050405020304" pitchFamily="18" charset="0"/>
              </a:rPr>
              <a:t>6.4 	               3.2	   4.5 	            1.5	               1</a:t>
            </a:r>
          </a:p>
          <a:p>
            <a:pPr marL="360000"/>
            <a:r>
              <a:rPr lang="zh-CN" altLang="en-US" sz="1600" b="1">
                <a:solidFill>
                  <a:srgbClr val="000066"/>
                </a:solidFill>
                <a:latin typeface="Times New Roman" panose="02020603050405020304" pitchFamily="18" charset="0"/>
                <a:cs typeface="Times New Roman" panose="02020603050405020304" pitchFamily="18" charset="0"/>
              </a:rPr>
              <a:t>6.9 	               3.1 	   4.9 	            1.5	               1</a:t>
            </a:r>
          </a:p>
          <a:p>
            <a:pPr marL="360000"/>
            <a:r>
              <a:rPr lang="zh-CN" altLang="en-US" sz="1600" b="1">
                <a:solidFill>
                  <a:srgbClr val="000066"/>
                </a:solidFill>
                <a:latin typeface="Times New Roman" panose="02020603050405020304" pitchFamily="18" charset="0"/>
                <a:cs typeface="Times New Roman" panose="02020603050405020304" pitchFamily="18" charset="0"/>
              </a:rPr>
              <a:t>5.5 	               2.3 	   4.0 	            1.3	               1</a:t>
            </a:r>
          </a:p>
          <a:p>
            <a:pPr marL="360000"/>
            <a:r>
              <a:rPr lang="zh-CN" altLang="en-US" sz="1600" b="1">
                <a:solidFill>
                  <a:srgbClr val="000066"/>
                </a:solidFill>
                <a:latin typeface="Times New Roman" panose="02020603050405020304" pitchFamily="18" charset="0"/>
                <a:cs typeface="Times New Roman" panose="02020603050405020304" pitchFamily="18" charset="0"/>
              </a:rPr>
              <a:t>6.5 	               2.8 	   4.6 	            1.5	               1</a:t>
            </a:r>
          </a:p>
          <a:p>
            <a:pPr marL="360000"/>
            <a:r>
              <a:rPr lang="zh-CN" altLang="en-US" sz="1600" b="1">
                <a:solidFill>
                  <a:srgbClr val="000066"/>
                </a:solidFill>
                <a:latin typeface="Times New Roman" panose="02020603050405020304" pitchFamily="18" charset="0"/>
                <a:cs typeface="Times New Roman" panose="02020603050405020304" pitchFamily="18" charset="0"/>
              </a:rPr>
              <a:t>6.3 	               3.3 	   6.0 	            2.5	               2</a:t>
            </a:r>
          </a:p>
          <a:p>
            <a:pPr marL="360000"/>
            <a:r>
              <a:rPr lang="zh-CN" altLang="en-US" sz="1600" b="1">
                <a:solidFill>
                  <a:srgbClr val="000066"/>
                </a:solidFill>
                <a:latin typeface="Times New Roman" panose="02020603050405020304" pitchFamily="18" charset="0"/>
                <a:cs typeface="Times New Roman" panose="02020603050405020304" pitchFamily="18" charset="0"/>
              </a:rPr>
              <a:t>5.8 	               2.7 	   5.1 	            1.9	               2</a:t>
            </a:r>
          </a:p>
          <a:p>
            <a:pPr marL="360000"/>
            <a:r>
              <a:rPr lang="zh-CN" altLang="en-US" sz="1600" b="1">
                <a:solidFill>
                  <a:srgbClr val="000066"/>
                </a:solidFill>
                <a:latin typeface="Times New Roman" panose="02020603050405020304" pitchFamily="18" charset="0"/>
                <a:cs typeface="Times New Roman" panose="02020603050405020304" pitchFamily="18" charset="0"/>
              </a:rPr>
              <a:t>7.1 	               3.0 	   5.9 	            2.1	               2</a:t>
            </a:r>
          </a:p>
          <a:p>
            <a:pPr marL="360000"/>
            <a:r>
              <a:rPr lang="zh-CN" altLang="en-US" sz="1600" b="1">
                <a:solidFill>
                  <a:srgbClr val="000066"/>
                </a:solidFill>
                <a:latin typeface="Times New Roman" panose="02020603050405020304" pitchFamily="18" charset="0"/>
                <a:cs typeface="Times New Roman" panose="02020603050405020304" pitchFamily="18" charset="0"/>
              </a:rPr>
              <a:t>6.3 	               2.9 	   5.6 	            1.8	               2</a:t>
            </a:r>
          </a:p>
          <a:p>
            <a:pPr marL="360000"/>
            <a:r>
              <a:rPr lang="zh-CN" altLang="en-US" sz="1600" b="1">
                <a:solidFill>
                  <a:srgbClr val="000066"/>
                </a:solidFill>
                <a:latin typeface="Times New Roman" panose="02020603050405020304" pitchFamily="18" charset="0"/>
                <a:cs typeface="Times New Roman" panose="02020603050405020304" pitchFamily="18" charset="0"/>
              </a:rPr>
              <a:t>6.5 	               3.0 	   5.8 	            2.2	               2</a:t>
            </a:r>
            <a:endParaRPr lang="zh-CN" altLang="en-US" b="1">
              <a:solidFill>
                <a:srgbClr val="000066"/>
              </a:solidFill>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a:xfrm>
            <a:off x="611559" y="986626"/>
            <a:ext cx="3240361" cy="3961388"/>
          </a:xfrm>
        </p:spPr>
        <p:txBody>
          <a:bodyPr>
            <a:noAutofit/>
          </a:bodyPr>
          <a:lstStyle/>
          <a:p>
            <a:pPr marL="0" indent="0">
              <a:lnSpc>
                <a:spcPct val="150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4</a:t>
            </a:r>
            <a:r>
              <a:rPr lang="zh-CN" altLang="zh-CN" sz="1800">
                <a:solidFill>
                  <a:srgbClr val="000066"/>
                </a:solidFill>
                <a:latin typeface="Times New Roman" panose="02020603050405020304" pitchFamily="18" charset="0"/>
                <a:cs typeface="Times New Roman" panose="02020603050405020304" pitchFamily="18" charset="0"/>
              </a:rPr>
              <a:t>．</a:t>
            </a:r>
            <a:r>
              <a:rPr lang="zh-CN" altLang="en-US" sz="1800">
                <a:solidFill>
                  <a:srgbClr val="000066"/>
                </a:solidFill>
                <a:latin typeface="Times New Roman" panose="02020603050405020304" pitchFamily="18" charset="0"/>
                <a:cs typeface="Times New Roman" panose="02020603050405020304" pitchFamily="18" charset="0"/>
              </a:rPr>
              <a:t>重要概念</a:t>
            </a:r>
            <a:endParaRPr lang="en-US" altLang="zh-CN" sz="1800">
              <a:solidFill>
                <a:srgbClr val="000066"/>
              </a:solidFill>
              <a:latin typeface="Times New Roman" panose="02020603050405020304" pitchFamily="18" charset="0"/>
              <a:cs typeface="Times New Roman" panose="02020603050405020304" pitchFamily="18" charset="0"/>
            </a:endParaRPr>
          </a:p>
          <a:p>
            <a:pPr marL="0" indent="0">
              <a:lnSpc>
                <a:spcPct val="125000"/>
              </a:lnSpc>
              <a:spcBef>
                <a:spcPts val="0"/>
              </a:spcBef>
              <a:buNone/>
            </a:pPr>
            <a:r>
              <a:rPr lang="zh-CN" altLang="en-US" sz="1800">
                <a:solidFill>
                  <a:srgbClr val="000066"/>
                </a:solidFill>
                <a:latin typeface="Times New Roman" panose="02020603050405020304" pitchFamily="18" charset="0"/>
                <a:cs typeface="Times New Roman" panose="02020603050405020304" pitchFamily="18" charset="0"/>
              </a:rPr>
              <a:t>① 数据集</a:t>
            </a:r>
            <a:endParaRPr lang="en-US" altLang="zh-CN" sz="1800">
              <a:solidFill>
                <a:srgbClr val="000066"/>
              </a:solidFill>
              <a:latin typeface="Times New Roman" panose="02020603050405020304" pitchFamily="18" charset="0"/>
              <a:cs typeface="Times New Roman" panose="02020603050405020304" pitchFamily="18" charset="0"/>
            </a:endParaRPr>
          </a:p>
          <a:p>
            <a:pPr marL="0" indent="0">
              <a:lnSpc>
                <a:spcPct val="125000"/>
              </a:lnSpc>
              <a:spcBef>
                <a:spcPts val="0"/>
              </a:spcBef>
              <a:buNone/>
            </a:pPr>
            <a:r>
              <a:rPr lang="zh-CN" altLang="en-US" sz="1800">
                <a:solidFill>
                  <a:srgbClr val="000066"/>
                </a:solidFill>
                <a:cs typeface="Times New Roman" panose="02020603050405020304" pitchFamily="18" charset="0"/>
              </a:rPr>
              <a:t>     一个数据的集合</a:t>
            </a:r>
            <a:endParaRPr lang="en-US" altLang="zh-CN" sz="1800">
              <a:solidFill>
                <a:srgbClr val="000066"/>
              </a:solidFill>
              <a:cs typeface="Times New Roman" panose="02020603050405020304" pitchFamily="18" charset="0"/>
            </a:endParaRPr>
          </a:p>
          <a:p>
            <a:pPr marL="0" indent="0">
              <a:lnSpc>
                <a:spcPct val="125000"/>
              </a:lnSpc>
              <a:spcBef>
                <a:spcPts val="0"/>
              </a:spcBef>
              <a:buNone/>
            </a:pPr>
            <a:r>
              <a:rPr lang="en-US" altLang="zh-CN" sz="1800">
                <a:solidFill>
                  <a:srgbClr val="000066"/>
                </a:solidFill>
                <a:cs typeface="Times New Roman" panose="02020603050405020304" pitchFamily="18" charset="0"/>
              </a:rPr>
              <a:t>     </a:t>
            </a:r>
            <a:r>
              <a:rPr lang="zh-CN" altLang="en-US" sz="1800">
                <a:solidFill>
                  <a:srgbClr val="000066"/>
                </a:solidFill>
                <a:cs typeface="Times New Roman" panose="02020603050405020304" pitchFamily="18" charset="0"/>
              </a:rPr>
              <a:t>通常以表格形式出现</a:t>
            </a:r>
            <a:endParaRPr lang="en-US" altLang="zh-CN" sz="1800">
              <a:solidFill>
                <a:srgbClr val="000066"/>
              </a:solidFill>
              <a:cs typeface="Times New Roman" panose="02020603050405020304" pitchFamily="18" charset="0"/>
            </a:endParaRPr>
          </a:p>
          <a:p>
            <a:pPr marL="0" indent="0">
              <a:lnSpc>
                <a:spcPct val="150000"/>
              </a:lnSpc>
              <a:spcBef>
                <a:spcPts val="0"/>
              </a:spcBef>
              <a:buNone/>
            </a:pPr>
            <a:r>
              <a:rPr lang="en-US" altLang="zh-CN" sz="1600">
                <a:solidFill>
                  <a:srgbClr val="C00000"/>
                </a:solidFill>
                <a:cs typeface="Times New Roman" panose="02020603050405020304" pitchFamily="18" charset="0"/>
              </a:rPr>
              <a:t>      </a:t>
            </a:r>
            <a:r>
              <a:rPr lang="en-US" altLang="zh-CN" sz="1600">
                <a:solidFill>
                  <a:srgbClr val="C00000"/>
                </a:solidFill>
                <a:latin typeface="Times New Roman" panose="02020603050405020304" pitchFamily="18" charset="0"/>
                <a:cs typeface="Times New Roman" panose="02020603050405020304" pitchFamily="18" charset="0"/>
              </a:rPr>
              <a:t>Iris</a:t>
            </a:r>
            <a:r>
              <a:rPr lang="zh-CN" altLang="en-US" sz="1600">
                <a:solidFill>
                  <a:srgbClr val="C00000"/>
                </a:solidFill>
                <a:latin typeface="Times New Roman" panose="02020603050405020304" pitchFamily="18" charset="0"/>
                <a:cs typeface="Times New Roman" panose="02020603050405020304" pitchFamily="18" charset="0"/>
              </a:rPr>
              <a:t>数据集由生物学家</a:t>
            </a:r>
            <a:r>
              <a:rPr lang="en-US" altLang="zh-CN" sz="1600">
                <a:solidFill>
                  <a:srgbClr val="C00000"/>
                </a:solidFill>
                <a:latin typeface="Times New Roman" panose="02020603050405020304" pitchFamily="18" charset="0"/>
                <a:cs typeface="Times New Roman" panose="02020603050405020304" pitchFamily="18" charset="0"/>
              </a:rPr>
              <a:t>Fisher</a:t>
            </a:r>
          </a:p>
          <a:p>
            <a:pPr marL="0" indent="0">
              <a:lnSpc>
                <a:spcPct val="150000"/>
              </a:lnSpc>
              <a:spcBef>
                <a:spcPts val="0"/>
              </a:spcBef>
              <a:buNone/>
            </a:pPr>
            <a:r>
              <a:rPr lang="en-US" altLang="zh-CN" sz="1600">
                <a:solidFill>
                  <a:srgbClr val="C00000"/>
                </a:solidFill>
                <a:latin typeface="Times New Roman" panose="02020603050405020304" pitchFamily="18" charset="0"/>
                <a:cs typeface="Times New Roman" panose="02020603050405020304" pitchFamily="18" charset="0"/>
              </a:rPr>
              <a:t> </a:t>
            </a:r>
            <a:r>
              <a:rPr lang="zh-CN" altLang="en-US" sz="1600">
                <a:solidFill>
                  <a:srgbClr val="C00000"/>
                </a:solidFill>
                <a:latin typeface="Times New Roman" panose="02020603050405020304" pitchFamily="18" charset="0"/>
                <a:cs typeface="Times New Roman" panose="02020603050405020304" pitchFamily="18" charset="0"/>
              </a:rPr>
              <a:t>在</a:t>
            </a:r>
            <a:r>
              <a:rPr lang="en-US" altLang="zh-CN" sz="1600">
                <a:solidFill>
                  <a:srgbClr val="C00000"/>
                </a:solidFill>
                <a:latin typeface="Times New Roman" panose="02020603050405020304" pitchFamily="18" charset="0"/>
                <a:cs typeface="Times New Roman" panose="02020603050405020304" pitchFamily="18" charset="0"/>
              </a:rPr>
              <a:t>1936</a:t>
            </a:r>
            <a:r>
              <a:rPr lang="zh-CN" altLang="en-US" sz="1600">
                <a:solidFill>
                  <a:srgbClr val="C00000"/>
                </a:solidFill>
                <a:latin typeface="Times New Roman" panose="02020603050405020304" pitchFamily="18" charset="0"/>
                <a:cs typeface="Times New Roman" panose="02020603050405020304" pitchFamily="18" charset="0"/>
              </a:rPr>
              <a:t>收集、整理、测量了</a:t>
            </a:r>
            <a:r>
              <a:rPr lang="en-US" altLang="zh-CN" sz="1600">
                <a:solidFill>
                  <a:srgbClr val="C00000"/>
                </a:solidFill>
                <a:latin typeface="Times New Roman" panose="02020603050405020304" pitchFamily="18" charset="0"/>
                <a:cs typeface="Times New Roman" panose="02020603050405020304" pitchFamily="18" charset="0"/>
              </a:rPr>
              <a:t>3</a:t>
            </a:r>
            <a:r>
              <a:rPr lang="zh-CN" altLang="en-US" sz="1600">
                <a:solidFill>
                  <a:srgbClr val="C00000"/>
                </a:solidFill>
                <a:latin typeface="Times New Roman" panose="02020603050405020304" pitchFamily="18" charset="0"/>
                <a:cs typeface="Times New Roman" panose="02020603050405020304" pitchFamily="18" charset="0"/>
              </a:rPr>
              <a:t>类</a:t>
            </a:r>
            <a:endParaRPr lang="en-US" altLang="zh-CN" sz="1600">
              <a:solidFill>
                <a:srgbClr val="C0000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600">
                <a:solidFill>
                  <a:srgbClr val="C00000"/>
                </a:solidFill>
                <a:latin typeface="Times New Roman" panose="02020603050405020304" pitchFamily="18" charset="0"/>
                <a:cs typeface="Times New Roman" panose="02020603050405020304" pitchFamily="18" charset="0"/>
              </a:rPr>
              <a:t>150</a:t>
            </a:r>
            <a:r>
              <a:rPr lang="zh-CN" altLang="en-US" sz="1600">
                <a:solidFill>
                  <a:srgbClr val="C00000"/>
                </a:solidFill>
                <a:latin typeface="Times New Roman" panose="02020603050405020304" pitchFamily="18" charset="0"/>
                <a:cs typeface="Times New Roman" panose="02020603050405020304" pitchFamily="18" charset="0"/>
              </a:rPr>
              <a:t>朵</a:t>
            </a:r>
            <a:r>
              <a:rPr lang="en-US" altLang="zh-CN" sz="1600">
                <a:solidFill>
                  <a:srgbClr val="C00000"/>
                </a:solidFill>
                <a:latin typeface="Times New Roman" panose="02020603050405020304" pitchFamily="18" charset="0"/>
                <a:cs typeface="Times New Roman" panose="02020603050405020304" pitchFamily="18" charset="0"/>
              </a:rPr>
              <a:t>Iris</a:t>
            </a:r>
            <a:r>
              <a:rPr lang="zh-CN" altLang="en-US" sz="1600">
                <a:solidFill>
                  <a:srgbClr val="C00000"/>
                </a:solidFill>
                <a:latin typeface="Times New Roman" panose="02020603050405020304" pitchFamily="18" charset="0"/>
                <a:cs typeface="Times New Roman" panose="02020603050405020304" pitchFamily="18" charset="0"/>
              </a:rPr>
              <a:t>得到的一个数据集</a:t>
            </a:r>
            <a:r>
              <a:rPr lang="zh-CN" altLang="en-US" sz="1800">
                <a:solidFill>
                  <a:srgbClr val="000066"/>
                </a:solidFill>
                <a:latin typeface="Times New Roman" panose="02020603050405020304" pitchFamily="18" charset="0"/>
                <a:cs typeface="Times New Roman" panose="02020603050405020304" pitchFamily="18" charset="0"/>
              </a:rPr>
              <a:t>。</a:t>
            </a:r>
            <a:endParaRPr lang="en-US" altLang="zh-CN" sz="1800">
              <a:solidFill>
                <a:srgbClr val="000066"/>
              </a:solidFill>
              <a:latin typeface="Times New Roman" panose="02020603050405020304" pitchFamily="18" charset="0"/>
              <a:cs typeface="Times New Roman" panose="02020603050405020304" pitchFamily="18" charset="0"/>
            </a:endParaRPr>
          </a:p>
          <a:p>
            <a:pPr marL="0" indent="0">
              <a:lnSpc>
                <a:spcPct val="125000"/>
              </a:lnSpc>
              <a:spcBef>
                <a:spcPts val="0"/>
              </a:spcBef>
              <a:buNone/>
            </a:pPr>
            <a:r>
              <a:rPr lang="en-US" altLang="zh-CN" sz="1800">
                <a:solidFill>
                  <a:srgbClr val="000066"/>
                </a:solidFill>
                <a:cs typeface="Times New Roman" panose="02020603050405020304" pitchFamily="18" charset="0"/>
              </a:rPr>
              <a:t>    </a:t>
            </a:r>
          </a:p>
          <a:p>
            <a:pPr marL="0" indent="0">
              <a:lnSpc>
                <a:spcPct val="125000"/>
              </a:lnSpc>
              <a:spcBef>
                <a:spcPts val="0"/>
              </a:spcBef>
              <a:buNone/>
            </a:pPr>
            <a:endParaRPr lang="en-US" altLang="zh-CN" sz="1600" dirty="0">
              <a:solidFill>
                <a:srgbClr val="000066"/>
              </a:solidFill>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四</a:t>
            </a:r>
            <a:r>
              <a:rPr lang="zh-CN" altLang="en-US" sz="2400">
                <a:solidFill>
                  <a:srgbClr val="FFFFFF"/>
                </a:solidFill>
              </a:rPr>
              <a:t>、机器学习基本知识</a:t>
            </a:r>
            <a:endParaRPr lang="zh-CN" altLang="en-US" sz="2400" dirty="0"/>
          </a:p>
        </p:txBody>
      </p:sp>
    </p:spTree>
    <p:extLst>
      <p:ext uri="{BB962C8B-B14F-4D97-AF65-F5344CB8AC3E}">
        <p14:creationId xmlns:p14="http://schemas.microsoft.com/office/powerpoint/2010/main" val="1871378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F18444AA-058A-416E-A77E-1F9344648BCC}"/>
              </a:ext>
            </a:extLst>
          </p:cNvPr>
          <p:cNvPicPr>
            <a:picLocks noChangeAspect="1"/>
          </p:cNvPicPr>
          <p:nvPr/>
        </p:nvPicPr>
        <p:blipFill>
          <a:blip r:embed="rId3"/>
          <a:stretch>
            <a:fillRect/>
          </a:stretch>
        </p:blipFill>
        <p:spPr>
          <a:xfrm>
            <a:off x="4145979" y="1094717"/>
            <a:ext cx="4962525" cy="2724150"/>
          </a:xfrm>
          <a:prstGeom prst="rect">
            <a:avLst/>
          </a:prstGeom>
        </p:spPr>
      </p:pic>
      <p:sp>
        <p:nvSpPr>
          <p:cNvPr id="3" name="内容占位符 2"/>
          <p:cNvSpPr>
            <a:spLocks noGrp="1"/>
          </p:cNvSpPr>
          <p:nvPr>
            <p:ph idx="1"/>
          </p:nvPr>
        </p:nvSpPr>
        <p:spPr>
          <a:xfrm>
            <a:off x="611559" y="986626"/>
            <a:ext cx="3528393" cy="4021906"/>
          </a:xfrm>
        </p:spPr>
        <p:txBody>
          <a:bodyPr>
            <a:noAutofit/>
          </a:bodyPr>
          <a:lstStyle/>
          <a:p>
            <a:pPr marL="0" indent="0">
              <a:lnSpc>
                <a:spcPct val="150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4</a:t>
            </a:r>
            <a:r>
              <a:rPr lang="zh-CN" altLang="zh-CN" sz="1800">
                <a:solidFill>
                  <a:srgbClr val="000066"/>
                </a:solidFill>
                <a:latin typeface="Times New Roman" panose="02020603050405020304" pitchFamily="18" charset="0"/>
                <a:cs typeface="Times New Roman" panose="02020603050405020304" pitchFamily="18" charset="0"/>
              </a:rPr>
              <a:t>．</a:t>
            </a:r>
            <a:r>
              <a:rPr lang="zh-CN" altLang="en-US" sz="1800">
                <a:solidFill>
                  <a:srgbClr val="000066"/>
                </a:solidFill>
                <a:latin typeface="Times New Roman" panose="02020603050405020304" pitchFamily="18" charset="0"/>
                <a:cs typeface="Times New Roman" panose="02020603050405020304" pitchFamily="18" charset="0"/>
              </a:rPr>
              <a:t>重要概念</a:t>
            </a:r>
            <a:endParaRPr lang="en-US" altLang="zh-CN" sz="1800">
              <a:solidFill>
                <a:srgbClr val="000066"/>
              </a:solidFill>
              <a:latin typeface="Times New Roman" panose="02020603050405020304" pitchFamily="18" charset="0"/>
              <a:cs typeface="Times New Roman" panose="02020603050405020304" pitchFamily="18" charset="0"/>
            </a:endParaRPr>
          </a:p>
          <a:p>
            <a:pPr marL="0" indent="0">
              <a:lnSpc>
                <a:spcPct val="125000"/>
              </a:lnSpc>
              <a:spcBef>
                <a:spcPts val="0"/>
              </a:spcBef>
              <a:buNone/>
            </a:pPr>
            <a:r>
              <a:rPr lang="zh-CN" altLang="en-US" sz="1800">
                <a:solidFill>
                  <a:srgbClr val="000066"/>
                </a:solidFill>
                <a:latin typeface="Times New Roman" panose="02020603050405020304" pitchFamily="18" charset="0"/>
                <a:cs typeface="Times New Roman" panose="02020603050405020304" pitchFamily="18" charset="0"/>
              </a:rPr>
              <a:t>② 训练集、测试集</a:t>
            </a:r>
            <a:endParaRPr lang="en-US" altLang="zh-CN" sz="1800">
              <a:solidFill>
                <a:srgbClr val="000066"/>
              </a:solidFill>
              <a:latin typeface="Times New Roman" panose="02020603050405020304" pitchFamily="18" charset="0"/>
              <a:cs typeface="Times New Roman" panose="02020603050405020304" pitchFamily="18" charset="0"/>
            </a:endParaRPr>
          </a:p>
          <a:p>
            <a:pPr marL="0" indent="0">
              <a:lnSpc>
                <a:spcPct val="125000"/>
              </a:lnSpc>
              <a:spcBef>
                <a:spcPts val="0"/>
              </a:spcBef>
              <a:buNone/>
            </a:pPr>
            <a:r>
              <a:rPr lang="zh-CN" altLang="en-US" sz="1800">
                <a:solidFill>
                  <a:srgbClr val="000066"/>
                </a:solidFill>
                <a:latin typeface="Times New Roman" panose="02020603050405020304" pitchFamily="18" charset="0"/>
                <a:cs typeface="Times New Roman" panose="02020603050405020304" pitchFamily="18" charset="0"/>
              </a:rPr>
              <a:t>     训练集：用于训练模型</a:t>
            </a:r>
            <a:endParaRPr lang="en-US" altLang="zh-CN" sz="1800">
              <a:solidFill>
                <a:srgbClr val="000066"/>
              </a:solidFill>
              <a:latin typeface="Times New Roman" panose="02020603050405020304" pitchFamily="18" charset="0"/>
              <a:cs typeface="Times New Roman" panose="02020603050405020304" pitchFamily="18" charset="0"/>
            </a:endParaRPr>
          </a:p>
          <a:p>
            <a:pPr marL="0" indent="0">
              <a:lnSpc>
                <a:spcPct val="125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     </a:t>
            </a:r>
            <a:r>
              <a:rPr lang="zh-CN" altLang="en-US" sz="1800">
                <a:solidFill>
                  <a:srgbClr val="000066"/>
                </a:solidFill>
                <a:latin typeface="Times New Roman" panose="02020603050405020304" pitchFamily="18" charset="0"/>
                <a:cs typeface="Times New Roman" panose="02020603050405020304" pitchFamily="18" charset="0"/>
              </a:rPr>
              <a:t>测试集：用于测试模型</a:t>
            </a:r>
            <a:endParaRPr lang="en-US" altLang="zh-CN" sz="1800">
              <a:solidFill>
                <a:srgbClr val="000066"/>
              </a:solidFill>
              <a:latin typeface="Times New Roman" panose="02020603050405020304" pitchFamily="18" charset="0"/>
              <a:cs typeface="Times New Roman" panose="02020603050405020304" pitchFamily="18" charset="0"/>
            </a:endParaRPr>
          </a:p>
          <a:p>
            <a:pPr marL="0" indent="0">
              <a:lnSpc>
                <a:spcPct val="125000"/>
              </a:lnSpc>
              <a:spcBef>
                <a:spcPts val="1200"/>
              </a:spcBef>
              <a:buNone/>
            </a:pPr>
            <a:r>
              <a:rPr lang="en-US" altLang="zh-CN" sz="1600">
                <a:solidFill>
                  <a:srgbClr val="C00000"/>
                </a:solidFill>
                <a:latin typeface="Times New Roman" panose="02020603050405020304" pitchFamily="18" charset="0"/>
                <a:cs typeface="Times New Roman" panose="02020603050405020304" pitchFamily="18" charset="0"/>
              </a:rPr>
              <a:t>     </a:t>
            </a:r>
            <a:r>
              <a:rPr lang="zh-CN" altLang="en-US" sz="1600">
                <a:solidFill>
                  <a:srgbClr val="C00000"/>
                </a:solidFill>
                <a:latin typeface="Times New Roman" panose="02020603050405020304" pitchFamily="18" charset="0"/>
                <a:cs typeface="Times New Roman" panose="02020603050405020304" pitchFamily="18" charset="0"/>
              </a:rPr>
              <a:t>小规模数据集</a:t>
            </a:r>
            <a:endParaRPr lang="en-US" altLang="zh-CN" sz="1600">
              <a:solidFill>
                <a:srgbClr val="C00000"/>
              </a:solidFill>
              <a:latin typeface="Times New Roman" panose="02020603050405020304" pitchFamily="18" charset="0"/>
              <a:cs typeface="Times New Roman" panose="02020603050405020304" pitchFamily="18" charset="0"/>
            </a:endParaRPr>
          </a:p>
          <a:p>
            <a:pPr marL="0" indent="0">
              <a:lnSpc>
                <a:spcPct val="125000"/>
              </a:lnSpc>
              <a:spcBef>
                <a:spcPts val="0"/>
              </a:spcBef>
              <a:buNone/>
            </a:pPr>
            <a:r>
              <a:rPr lang="en-US" altLang="zh-CN" sz="1600">
                <a:solidFill>
                  <a:srgbClr val="C00000"/>
                </a:solidFill>
                <a:latin typeface="Times New Roman" panose="02020603050405020304" pitchFamily="18" charset="0"/>
                <a:cs typeface="Times New Roman" panose="02020603050405020304" pitchFamily="18" charset="0"/>
              </a:rPr>
              <a:t>             </a:t>
            </a:r>
            <a:r>
              <a:rPr lang="zh-CN" altLang="en-US" sz="1600">
                <a:solidFill>
                  <a:srgbClr val="C00000"/>
                </a:solidFill>
                <a:latin typeface="Times New Roman" panose="02020603050405020304" pitchFamily="18" charset="0"/>
                <a:cs typeface="Times New Roman" panose="02020603050405020304" pitchFamily="18" charset="0"/>
              </a:rPr>
              <a:t>训练集</a:t>
            </a:r>
            <a:r>
              <a:rPr lang="en-US" altLang="zh-CN" sz="1600">
                <a:solidFill>
                  <a:srgbClr val="C00000"/>
                </a:solidFill>
                <a:latin typeface="Times New Roman" panose="02020603050405020304" pitchFamily="18" charset="0"/>
                <a:cs typeface="Times New Roman" panose="02020603050405020304" pitchFamily="18" charset="0"/>
              </a:rPr>
              <a:t>:</a:t>
            </a:r>
            <a:r>
              <a:rPr lang="zh-CN" altLang="en-US" sz="1600">
                <a:solidFill>
                  <a:srgbClr val="C00000"/>
                </a:solidFill>
                <a:latin typeface="Times New Roman" panose="02020603050405020304" pitchFamily="18" charset="0"/>
                <a:cs typeface="Times New Roman" panose="02020603050405020304" pitchFamily="18" charset="0"/>
              </a:rPr>
              <a:t>测试集</a:t>
            </a:r>
            <a:r>
              <a:rPr lang="en-US" altLang="zh-CN" sz="1600">
                <a:solidFill>
                  <a:srgbClr val="C00000"/>
                </a:solidFill>
                <a:latin typeface="Times New Roman" panose="02020603050405020304" pitchFamily="18" charset="0"/>
                <a:cs typeface="Times New Roman" panose="02020603050405020304" pitchFamily="18" charset="0"/>
              </a:rPr>
              <a:t>=7:3</a:t>
            </a:r>
            <a:r>
              <a:rPr lang="zh-CN" altLang="en-US" sz="1600">
                <a:solidFill>
                  <a:srgbClr val="C00000"/>
                </a:solidFill>
                <a:latin typeface="Times New Roman" panose="02020603050405020304" pitchFamily="18" charset="0"/>
                <a:cs typeface="Times New Roman" panose="02020603050405020304" pitchFamily="18" charset="0"/>
              </a:rPr>
              <a:t>或</a:t>
            </a:r>
            <a:r>
              <a:rPr lang="en-US" altLang="zh-CN" sz="1600">
                <a:solidFill>
                  <a:srgbClr val="C00000"/>
                </a:solidFill>
                <a:latin typeface="Times New Roman" panose="02020603050405020304" pitchFamily="18" charset="0"/>
                <a:cs typeface="Times New Roman" panose="02020603050405020304" pitchFamily="18" charset="0"/>
              </a:rPr>
              <a:t>8:2</a:t>
            </a:r>
          </a:p>
          <a:p>
            <a:pPr marL="0" indent="0">
              <a:lnSpc>
                <a:spcPct val="125000"/>
              </a:lnSpc>
              <a:spcBef>
                <a:spcPts val="0"/>
              </a:spcBef>
              <a:buNone/>
            </a:pPr>
            <a:r>
              <a:rPr lang="en-US" altLang="zh-CN" sz="1600">
                <a:solidFill>
                  <a:srgbClr val="C00000"/>
                </a:solidFill>
                <a:latin typeface="Times New Roman" panose="02020603050405020304" pitchFamily="18" charset="0"/>
                <a:cs typeface="Times New Roman" panose="02020603050405020304" pitchFamily="18" charset="0"/>
              </a:rPr>
              <a:t>     </a:t>
            </a:r>
            <a:r>
              <a:rPr lang="zh-CN" altLang="en-US" sz="1600">
                <a:solidFill>
                  <a:srgbClr val="C00000"/>
                </a:solidFill>
                <a:latin typeface="Times New Roman" panose="02020603050405020304" pitchFamily="18" charset="0"/>
                <a:cs typeface="Times New Roman" panose="02020603050405020304" pitchFamily="18" charset="0"/>
              </a:rPr>
              <a:t>大规模数据集</a:t>
            </a:r>
            <a:endParaRPr lang="en-US" altLang="zh-CN" sz="1600">
              <a:solidFill>
                <a:srgbClr val="C00000"/>
              </a:solidFill>
              <a:latin typeface="Times New Roman" panose="02020603050405020304" pitchFamily="18" charset="0"/>
              <a:cs typeface="Times New Roman" panose="02020603050405020304" pitchFamily="18" charset="0"/>
            </a:endParaRPr>
          </a:p>
          <a:p>
            <a:pPr marL="0" indent="0">
              <a:lnSpc>
                <a:spcPct val="125000"/>
              </a:lnSpc>
              <a:spcBef>
                <a:spcPts val="0"/>
              </a:spcBef>
              <a:buNone/>
            </a:pPr>
            <a:r>
              <a:rPr lang="zh-CN" altLang="en-US" sz="1600">
                <a:solidFill>
                  <a:srgbClr val="C00000"/>
                </a:solidFill>
                <a:latin typeface="Times New Roman" panose="02020603050405020304" pitchFamily="18" charset="0"/>
                <a:cs typeface="Times New Roman" panose="02020603050405020304" pitchFamily="18" charset="0"/>
              </a:rPr>
              <a:t>             训练集</a:t>
            </a:r>
            <a:r>
              <a:rPr lang="en-US" altLang="zh-CN" sz="1600">
                <a:solidFill>
                  <a:srgbClr val="C00000"/>
                </a:solidFill>
                <a:latin typeface="Times New Roman" panose="02020603050405020304" pitchFamily="18" charset="0"/>
                <a:cs typeface="Times New Roman" panose="02020603050405020304" pitchFamily="18" charset="0"/>
              </a:rPr>
              <a:t>:</a:t>
            </a:r>
            <a:r>
              <a:rPr lang="zh-CN" altLang="en-US" sz="1600">
                <a:solidFill>
                  <a:srgbClr val="C00000"/>
                </a:solidFill>
                <a:latin typeface="Times New Roman" panose="02020603050405020304" pitchFamily="18" charset="0"/>
                <a:cs typeface="Times New Roman" panose="02020603050405020304" pitchFamily="18" charset="0"/>
              </a:rPr>
              <a:t>测试集</a:t>
            </a:r>
            <a:r>
              <a:rPr lang="en-US" altLang="zh-CN" sz="1600">
                <a:solidFill>
                  <a:srgbClr val="C00000"/>
                </a:solidFill>
                <a:latin typeface="Times New Roman" panose="02020603050405020304" pitchFamily="18" charset="0"/>
                <a:cs typeface="Times New Roman" panose="02020603050405020304" pitchFamily="18" charset="0"/>
              </a:rPr>
              <a:t>=9:1</a:t>
            </a:r>
            <a:r>
              <a:rPr lang="zh-CN" altLang="en-US" sz="1600">
                <a:solidFill>
                  <a:srgbClr val="C00000"/>
                </a:solidFill>
                <a:latin typeface="Times New Roman" panose="02020603050405020304" pitchFamily="18" charset="0"/>
                <a:cs typeface="Times New Roman" panose="02020603050405020304" pitchFamily="18" charset="0"/>
              </a:rPr>
              <a:t>或</a:t>
            </a:r>
            <a:r>
              <a:rPr lang="en-US" altLang="zh-CN" sz="1600">
                <a:solidFill>
                  <a:srgbClr val="C00000"/>
                </a:solidFill>
                <a:latin typeface="Times New Roman" panose="02020603050405020304" pitchFamily="18" charset="0"/>
                <a:cs typeface="Times New Roman" panose="02020603050405020304" pitchFamily="18" charset="0"/>
              </a:rPr>
              <a:t>99:1</a:t>
            </a:r>
          </a:p>
          <a:p>
            <a:pPr marL="0" indent="0">
              <a:lnSpc>
                <a:spcPct val="125000"/>
              </a:lnSpc>
              <a:spcBef>
                <a:spcPts val="1200"/>
              </a:spcBef>
              <a:buNone/>
            </a:pPr>
            <a:r>
              <a:rPr lang="en-US" altLang="zh-CN" sz="1800">
                <a:solidFill>
                  <a:srgbClr val="000066"/>
                </a:solidFill>
                <a:latin typeface="Times New Roman" panose="02020603050405020304" pitchFamily="18" charset="0"/>
                <a:cs typeface="Times New Roman" panose="02020603050405020304" pitchFamily="18" charset="0"/>
              </a:rPr>
              <a:t>    </a:t>
            </a:r>
            <a:r>
              <a:rPr lang="zh-CN" altLang="en-US" sz="1800">
                <a:solidFill>
                  <a:srgbClr val="000066"/>
                </a:solidFill>
                <a:latin typeface="Times New Roman" panose="02020603050405020304" pitchFamily="18" charset="0"/>
                <a:cs typeface="Times New Roman" panose="02020603050405020304" pitchFamily="18" charset="0"/>
              </a:rPr>
              <a:t>右边：</a:t>
            </a:r>
            <a:r>
              <a:rPr lang="en-US" altLang="zh-CN" sz="1800">
                <a:solidFill>
                  <a:srgbClr val="000066"/>
                </a:solidFill>
                <a:latin typeface="Times New Roman" panose="02020603050405020304" pitchFamily="18" charset="0"/>
                <a:cs typeface="Times New Roman" panose="02020603050405020304" pitchFamily="18" charset="0"/>
              </a:rPr>
              <a:t>15</a:t>
            </a:r>
            <a:r>
              <a:rPr lang="zh-CN" altLang="en-US" sz="1800">
                <a:solidFill>
                  <a:srgbClr val="000066"/>
                </a:solidFill>
                <a:latin typeface="Times New Roman" panose="02020603050405020304" pitchFamily="18" charset="0"/>
                <a:cs typeface="Times New Roman" panose="02020603050405020304" pitchFamily="18" charset="0"/>
              </a:rPr>
              <a:t>个样本一分成二：</a:t>
            </a:r>
            <a:endParaRPr lang="en-US" altLang="zh-CN" sz="1800">
              <a:solidFill>
                <a:srgbClr val="000066"/>
              </a:solidFill>
              <a:latin typeface="Times New Roman" panose="02020603050405020304" pitchFamily="18" charset="0"/>
              <a:cs typeface="Times New Roman" panose="02020603050405020304" pitchFamily="18" charset="0"/>
            </a:endParaRPr>
          </a:p>
          <a:p>
            <a:pPr marL="0" indent="0">
              <a:lnSpc>
                <a:spcPct val="125000"/>
              </a:lnSpc>
              <a:spcBef>
                <a:spcPts val="0"/>
              </a:spcBef>
              <a:buNone/>
            </a:pPr>
            <a:r>
              <a:rPr lang="en-US" altLang="zh-CN" sz="1600">
                <a:solidFill>
                  <a:srgbClr val="C00000"/>
                </a:solidFill>
                <a:latin typeface="Times New Roman" panose="02020603050405020304" pitchFamily="18" charset="0"/>
                <a:cs typeface="Times New Roman" panose="02020603050405020304" pitchFamily="18" charset="0"/>
              </a:rPr>
              <a:t>                           12</a:t>
            </a:r>
            <a:r>
              <a:rPr lang="zh-CN" altLang="en-US" sz="1600">
                <a:solidFill>
                  <a:srgbClr val="C00000"/>
                </a:solidFill>
                <a:latin typeface="Times New Roman" panose="02020603050405020304" pitchFamily="18" charset="0"/>
                <a:cs typeface="Times New Roman" panose="02020603050405020304" pitchFamily="18" charset="0"/>
              </a:rPr>
              <a:t>个作训练集</a:t>
            </a:r>
            <a:endParaRPr lang="en-US" altLang="zh-CN" sz="1600">
              <a:solidFill>
                <a:srgbClr val="C00000"/>
              </a:solidFill>
              <a:latin typeface="Times New Roman" panose="02020603050405020304" pitchFamily="18" charset="0"/>
              <a:cs typeface="Times New Roman" panose="02020603050405020304" pitchFamily="18" charset="0"/>
            </a:endParaRPr>
          </a:p>
          <a:p>
            <a:pPr marL="0" indent="0">
              <a:lnSpc>
                <a:spcPct val="125000"/>
              </a:lnSpc>
              <a:spcBef>
                <a:spcPts val="0"/>
              </a:spcBef>
              <a:buNone/>
            </a:pPr>
            <a:r>
              <a:rPr lang="en-US" altLang="zh-CN" sz="1600">
                <a:solidFill>
                  <a:srgbClr val="C00000"/>
                </a:solidFill>
                <a:latin typeface="Times New Roman" panose="02020603050405020304" pitchFamily="18" charset="0"/>
                <a:cs typeface="Times New Roman" panose="02020603050405020304" pitchFamily="18" charset="0"/>
              </a:rPr>
              <a:t>                             3</a:t>
            </a:r>
            <a:r>
              <a:rPr lang="zh-CN" altLang="en-US" sz="1600">
                <a:solidFill>
                  <a:srgbClr val="C00000"/>
                </a:solidFill>
                <a:latin typeface="Times New Roman" panose="02020603050405020304" pitchFamily="18" charset="0"/>
                <a:cs typeface="Times New Roman" panose="02020603050405020304" pitchFamily="18" charset="0"/>
              </a:rPr>
              <a:t>个作测试集</a:t>
            </a:r>
            <a:endParaRPr lang="en-US" altLang="zh-CN" sz="1600">
              <a:solidFill>
                <a:srgbClr val="C00000"/>
              </a:solidFill>
              <a:latin typeface="Times New Roman" panose="02020603050405020304" pitchFamily="18" charset="0"/>
              <a:cs typeface="Times New Roman" panose="02020603050405020304" pitchFamily="18" charset="0"/>
            </a:endParaRPr>
          </a:p>
          <a:p>
            <a:pPr marL="0" indent="0">
              <a:lnSpc>
                <a:spcPct val="125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 </a:t>
            </a:r>
          </a:p>
          <a:p>
            <a:pPr marL="0" indent="0">
              <a:lnSpc>
                <a:spcPct val="125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 </a:t>
            </a:r>
          </a:p>
          <a:p>
            <a:pPr marL="0" indent="0">
              <a:lnSpc>
                <a:spcPct val="125000"/>
              </a:lnSpc>
              <a:spcBef>
                <a:spcPts val="0"/>
              </a:spcBef>
              <a:buNone/>
            </a:pPr>
            <a:endParaRPr lang="en-US" altLang="zh-CN" sz="1600" dirty="0">
              <a:solidFill>
                <a:srgbClr val="000066"/>
              </a:solidFill>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四</a:t>
            </a:r>
            <a:r>
              <a:rPr lang="zh-CN" altLang="en-US" sz="2400">
                <a:solidFill>
                  <a:srgbClr val="FFFFFF"/>
                </a:solidFill>
              </a:rPr>
              <a:t>、机器学习基本知识</a:t>
            </a:r>
            <a:endParaRPr lang="zh-CN" altLang="en-US" sz="2400" dirty="0"/>
          </a:p>
        </p:txBody>
      </p:sp>
      <p:pic>
        <p:nvPicPr>
          <p:cNvPr id="7" name="图片 6">
            <a:extLst>
              <a:ext uri="{FF2B5EF4-FFF2-40B4-BE49-F238E27FC236}">
                <a16:creationId xmlns:a16="http://schemas.microsoft.com/office/drawing/2014/main" id="{660576EF-D952-40E5-92BD-1824761468D2}"/>
              </a:ext>
            </a:extLst>
          </p:cNvPr>
          <p:cNvPicPr>
            <a:picLocks noChangeAspect="1"/>
          </p:cNvPicPr>
          <p:nvPr/>
        </p:nvPicPr>
        <p:blipFill>
          <a:blip r:embed="rId4"/>
          <a:stretch>
            <a:fillRect/>
          </a:stretch>
        </p:blipFill>
        <p:spPr>
          <a:xfrm>
            <a:off x="4116453" y="3939902"/>
            <a:ext cx="4962525" cy="801983"/>
          </a:xfrm>
          <a:prstGeom prst="rect">
            <a:avLst/>
          </a:prstGeom>
        </p:spPr>
      </p:pic>
      <p:sp>
        <p:nvSpPr>
          <p:cNvPr id="8" name="文本框 7">
            <a:extLst>
              <a:ext uri="{FF2B5EF4-FFF2-40B4-BE49-F238E27FC236}">
                <a16:creationId xmlns:a16="http://schemas.microsoft.com/office/drawing/2014/main" id="{CA2BB344-4EED-4817-BECE-7D04C3746C9C}"/>
              </a:ext>
            </a:extLst>
          </p:cNvPr>
          <p:cNvSpPr txBox="1"/>
          <p:nvPr/>
        </p:nvSpPr>
        <p:spPr>
          <a:xfrm>
            <a:off x="4067944" y="1936615"/>
            <a:ext cx="393081" cy="923330"/>
          </a:xfrm>
          <a:prstGeom prst="rect">
            <a:avLst/>
          </a:prstGeom>
          <a:noFill/>
        </p:spPr>
        <p:txBody>
          <a:bodyPr wrap="square" rtlCol="0">
            <a:spAutoFit/>
          </a:bodyPr>
          <a:lstStyle/>
          <a:p>
            <a:r>
              <a:rPr lang="zh-CN" altLang="en-US">
                <a:solidFill>
                  <a:srgbClr val="C00000"/>
                </a:solidFill>
                <a:latin typeface="黑体" panose="02010609060101010101" pitchFamily="49" charset="-122"/>
                <a:ea typeface="黑体" panose="02010609060101010101" pitchFamily="49" charset="-122"/>
                <a:cs typeface="Times New Roman" panose="02020603050405020304" pitchFamily="18" charset="0"/>
              </a:rPr>
              <a:t>训练集</a:t>
            </a:r>
            <a:endParaRPr lang="zh-CN" altLang="en-US">
              <a:solidFill>
                <a:srgbClr val="C00000"/>
              </a:solidFill>
              <a:latin typeface="黑体" panose="02010609060101010101" pitchFamily="49" charset="-122"/>
              <a:ea typeface="黑体" panose="02010609060101010101" pitchFamily="49" charset="-122"/>
            </a:endParaRPr>
          </a:p>
        </p:txBody>
      </p:sp>
      <p:sp>
        <p:nvSpPr>
          <p:cNvPr id="10" name="文本框 9">
            <a:extLst>
              <a:ext uri="{FF2B5EF4-FFF2-40B4-BE49-F238E27FC236}">
                <a16:creationId xmlns:a16="http://schemas.microsoft.com/office/drawing/2014/main" id="{E6F9A77A-C259-49E8-AED2-21097E617EBD}"/>
              </a:ext>
            </a:extLst>
          </p:cNvPr>
          <p:cNvSpPr txBox="1"/>
          <p:nvPr/>
        </p:nvSpPr>
        <p:spPr>
          <a:xfrm>
            <a:off x="4067944" y="4085202"/>
            <a:ext cx="393081" cy="923330"/>
          </a:xfrm>
          <a:prstGeom prst="rect">
            <a:avLst/>
          </a:prstGeom>
          <a:noFill/>
        </p:spPr>
        <p:txBody>
          <a:bodyPr wrap="square" rtlCol="0">
            <a:spAutoFit/>
          </a:bodyPr>
          <a:lstStyle/>
          <a:p>
            <a:r>
              <a:rPr lang="zh-CN" altLang="en-US">
                <a:solidFill>
                  <a:srgbClr val="C00000"/>
                </a:solidFill>
                <a:latin typeface="黑体" panose="02010609060101010101" pitchFamily="49" charset="-122"/>
                <a:ea typeface="黑体" panose="02010609060101010101" pitchFamily="49" charset="-122"/>
                <a:cs typeface="Times New Roman" panose="02020603050405020304" pitchFamily="18" charset="0"/>
              </a:rPr>
              <a:t>测试集</a:t>
            </a:r>
            <a:endParaRPr lang="zh-CN" altLang="en-US">
              <a:solidFill>
                <a:srgbClr val="C0000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040824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360F3E5C-F5B5-4BF1-8970-8229668731AD}"/>
              </a:ext>
            </a:extLst>
          </p:cNvPr>
          <p:cNvSpPr/>
          <p:nvPr/>
        </p:nvSpPr>
        <p:spPr>
          <a:xfrm>
            <a:off x="3202820" y="986626"/>
            <a:ext cx="5904656" cy="4031873"/>
          </a:xfrm>
          <a:prstGeom prst="rect">
            <a:avLst/>
          </a:prstGeom>
        </p:spPr>
        <p:txBody>
          <a:bodyPr wrap="square">
            <a:spAutoFit/>
          </a:bodyPr>
          <a:lstStyle/>
          <a:p>
            <a:r>
              <a:rPr lang="en-US" altLang="zh-CN" sz="1600" b="1">
                <a:solidFill>
                  <a:srgbClr val="000066"/>
                </a:solidFill>
                <a:latin typeface="Times New Roman" panose="02020603050405020304" pitchFamily="18" charset="0"/>
                <a:cs typeface="Times New Roman" panose="02020603050405020304" pitchFamily="18" charset="0"/>
              </a:rPr>
              <a:t>s</a:t>
            </a:r>
            <a:r>
              <a:rPr lang="zh-CN" altLang="en-US" sz="1600" b="1">
                <a:solidFill>
                  <a:srgbClr val="000066"/>
                </a:solidFill>
                <a:latin typeface="Times New Roman" panose="02020603050405020304" pitchFamily="18" charset="0"/>
                <a:cs typeface="Times New Roman" panose="02020603050405020304" pitchFamily="18" charset="0"/>
              </a:rPr>
              <a:t>epal_</a:t>
            </a:r>
            <a:r>
              <a:rPr lang="en-US" altLang="zh-CN" sz="1600" b="1">
                <a:solidFill>
                  <a:srgbClr val="000066"/>
                </a:solidFill>
                <a:latin typeface="Times New Roman" panose="02020603050405020304" pitchFamily="18" charset="0"/>
                <a:cs typeface="Times New Roman" panose="02020603050405020304" pitchFamily="18" charset="0"/>
              </a:rPr>
              <a:t>l</a:t>
            </a:r>
            <a:r>
              <a:rPr lang="zh-CN" altLang="en-US" sz="1600" b="1">
                <a:solidFill>
                  <a:srgbClr val="000066"/>
                </a:solidFill>
                <a:latin typeface="Times New Roman" panose="02020603050405020304" pitchFamily="18" charset="0"/>
                <a:cs typeface="Times New Roman" panose="02020603050405020304" pitchFamily="18" charset="0"/>
              </a:rPr>
              <a:t>ength    </a:t>
            </a:r>
            <a:r>
              <a:rPr lang="en-US" altLang="zh-CN" sz="1600" b="1">
                <a:solidFill>
                  <a:srgbClr val="000066"/>
                </a:solidFill>
                <a:latin typeface="Times New Roman" panose="02020603050405020304" pitchFamily="18" charset="0"/>
                <a:cs typeface="Times New Roman" panose="02020603050405020304" pitchFamily="18" charset="0"/>
              </a:rPr>
              <a:t>s</a:t>
            </a:r>
            <a:r>
              <a:rPr lang="zh-CN" altLang="en-US" sz="1600" b="1">
                <a:solidFill>
                  <a:srgbClr val="000066"/>
                </a:solidFill>
                <a:latin typeface="Times New Roman" panose="02020603050405020304" pitchFamily="18" charset="0"/>
                <a:cs typeface="Times New Roman" panose="02020603050405020304" pitchFamily="18" charset="0"/>
              </a:rPr>
              <a:t>epal_</a:t>
            </a:r>
            <a:r>
              <a:rPr lang="en-US" altLang="zh-CN" sz="1600" b="1">
                <a:solidFill>
                  <a:srgbClr val="000066"/>
                </a:solidFill>
                <a:latin typeface="Times New Roman" panose="02020603050405020304" pitchFamily="18" charset="0"/>
                <a:cs typeface="Times New Roman" panose="02020603050405020304" pitchFamily="18" charset="0"/>
              </a:rPr>
              <a:t>w</a:t>
            </a:r>
            <a:r>
              <a:rPr lang="zh-CN" altLang="en-US" sz="1600" b="1">
                <a:solidFill>
                  <a:srgbClr val="000066"/>
                </a:solidFill>
                <a:latin typeface="Times New Roman" panose="02020603050405020304" pitchFamily="18" charset="0"/>
                <a:cs typeface="Times New Roman" panose="02020603050405020304" pitchFamily="18" charset="0"/>
              </a:rPr>
              <a:t>idth    </a:t>
            </a:r>
            <a:r>
              <a:rPr lang="en-US" altLang="zh-CN" sz="1600" b="1">
                <a:solidFill>
                  <a:srgbClr val="000066"/>
                </a:solidFill>
                <a:latin typeface="Times New Roman" panose="02020603050405020304" pitchFamily="18" charset="0"/>
                <a:cs typeface="Times New Roman" panose="02020603050405020304" pitchFamily="18" charset="0"/>
              </a:rPr>
              <a:t>p</a:t>
            </a:r>
            <a:r>
              <a:rPr lang="zh-CN" altLang="en-US" sz="1600" b="1">
                <a:solidFill>
                  <a:srgbClr val="000066"/>
                </a:solidFill>
                <a:latin typeface="Times New Roman" panose="02020603050405020304" pitchFamily="18" charset="0"/>
                <a:cs typeface="Times New Roman" panose="02020603050405020304" pitchFamily="18" charset="0"/>
              </a:rPr>
              <a:t>etal_Length    </a:t>
            </a:r>
            <a:r>
              <a:rPr lang="en-US" altLang="zh-CN" sz="1600" b="1">
                <a:solidFill>
                  <a:srgbClr val="000066"/>
                </a:solidFill>
                <a:latin typeface="Times New Roman" panose="02020603050405020304" pitchFamily="18" charset="0"/>
                <a:cs typeface="Times New Roman" panose="02020603050405020304" pitchFamily="18" charset="0"/>
              </a:rPr>
              <a:t>p</a:t>
            </a:r>
            <a:r>
              <a:rPr lang="zh-CN" altLang="en-US" sz="1600" b="1">
                <a:solidFill>
                  <a:srgbClr val="000066"/>
                </a:solidFill>
                <a:latin typeface="Times New Roman" panose="02020603050405020304" pitchFamily="18" charset="0"/>
                <a:cs typeface="Times New Roman" panose="02020603050405020304" pitchFamily="18" charset="0"/>
              </a:rPr>
              <a:t>etal_</a:t>
            </a:r>
            <a:r>
              <a:rPr lang="en-US" altLang="zh-CN" sz="1600" b="1">
                <a:solidFill>
                  <a:srgbClr val="000066"/>
                </a:solidFill>
                <a:latin typeface="Times New Roman" panose="02020603050405020304" pitchFamily="18" charset="0"/>
                <a:cs typeface="Times New Roman" panose="02020603050405020304" pitchFamily="18" charset="0"/>
              </a:rPr>
              <a:t>w</a:t>
            </a:r>
            <a:r>
              <a:rPr lang="zh-CN" altLang="en-US" sz="1600" b="1">
                <a:solidFill>
                  <a:srgbClr val="000066"/>
                </a:solidFill>
                <a:latin typeface="Times New Roman" panose="02020603050405020304" pitchFamily="18" charset="0"/>
                <a:cs typeface="Times New Roman" panose="02020603050405020304" pitchFamily="18" charset="0"/>
              </a:rPr>
              <a:t>idth    </a:t>
            </a:r>
            <a:r>
              <a:rPr lang="en-US" altLang="zh-CN" sz="1600" b="1">
                <a:solidFill>
                  <a:srgbClr val="000066"/>
                </a:solidFill>
                <a:latin typeface="Times New Roman" panose="02020603050405020304" pitchFamily="18" charset="0"/>
                <a:cs typeface="Times New Roman" panose="02020603050405020304" pitchFamily="18" charset="0"/>
              </a:rPr>
              <a:t>species</a:t>
            </a:r>
          </a:p>
          <a:p>
            <a:pPr marL="360000"/>
            <a:r>
              <a:rPr lang="zh-CN" altLang="en-US" sz="1600" b="1">
                <a:solidFill>
                  <a:srgbClr val="000066"/>
                </a:solidFill>
                <a:latin typeface="Times New Roman" panose="02020603050405020304" pitchFamily="18" charset="0"/>
                <a:cs typeface="Times New Roman" panose="02020603050405020304" pitchFamily="18" charset="0"/>
              </a:rPr>
              <a:t>5.1 	   </a:t>
            </a:r>
            <a:r>
              <a:rPr lang="en-US" altLang="zh-CN" sz="1600" b="1">
                <a:solidFill>
                  <a:srgbClr val="000066"/>
                </a:solidFill>
                <a:latin typeface="Times New Roman" panose="02020603050405020304" pitchFamily="18" charset="0"/>
                <a:cs typeface="Times New Roman" panose="02020603050405020304" pitchFamily="18" charset="0"/>
              </a:rPr>
              <a:t>           </a:t>
            </a:r>
            <a:r>
              <a:rPr lang="zh-CN" altLang="en-US" sz="1600" b="1">
                <a:solidFill>
                  <a:srgbClr val="000066"/>
                </a:solidFill>
                <a:latin typeface="Times New Roman" panose="02020603050405020304" pitchFamily="18" charset="0"/>
                <a:cs typeface="Times New Roman" panose="02020603050405020304" pitchFamily="18" charset="0"/>
              </a:rPr>
              <a:t> 3.5 	   1.4 	            0.2	               0          </a:t>
            </a:r>
          </a:p>
          <a:p>
            <a:pPr marL="360000"/>
            <a:r>
              <a:rPr lang="zh-CN" altLang="en-US" sz="1600" b="1">
                <a:solidFill>
                  <a:srgbClr val="000066"/>
                </a:solidFill>
                <a:latin typeface="Times New Roman" panose="02020603050405020304" pitchFamily="18" charset="0"/>
                <a:cs typeface="Times New Roman" panose="02020603050405020304" pitchFamily="18" charset="0"/>
              </a:rPr>
              <a:t>4.9 	               3.0 	   1.4 	            0.2	               0</a:t>
            </a:r>
          </a:p>
          <a:p>
            <a:pPr marL="360000"/>
            <a:r>
              <a:rPr lang="zh-CN" altLang="en-US" sz="1600" b="1">
                <a:solidFill>
                  <a:srgbClr val="000066"/>
                </a:solidFill>
                <a:latin typeface="Times New Roman" panose="02020603050405020304" pitchFamily="18" charset="0"/>
                <a:cs typeface="Times New Roman" panose="02020603050405020304" pitchFamily="18" charset="0"/>
              </a:rPr>
              <a:t>4.7 	               3.2 	   1.3 	            0.2	               0</a:t>
            </a:r>
          </a:p>
          <a:p>
            <a:pPr marL="360000"/>
            <a:r>
              <a:rPr lang="zh-CN" altLang="en-US" sz="1600" b="1">
                <a:solidFill>
                  <a:srgbClr val="000066"/>
                </a:solidFill>
                <a:latin typeface="Times New Roman" panose="02020603050405020304" pitchFamily="18" charset="0"/>
                <a:cs typeface="Times New Roman" panose="02020603050405020304" pitchFamily="18" charset="0"/>
              </a:rPr>
              <a:t>4.6 	               3.1 	   1.5 	            0.2	               0</a:t>
            </a:r>
          </a:p>
          <a:p>
            <a:pPr marL="360000"/>
            <a:r>
              <a:rPr lang="zh-CN" altLang="en-US" sz="1600" b="1">
                <a:solidFill>
                  <a:srgbClr val="000066"/>
                </a:solidFill>
                <a:latin typeface="Times New Roman" panose="02020603050405020304" pitchFamily="18" charset="0"/>
                <a:cs typeface="Times New Roman" panose="02020603050405020304" pitchFamily="18" charset="0"/>
              </a:rPr>
              <a:t>5.0 	               3.6 	   1.4 	            0.2	               0</a:t>
            </a:r>
          </a:p>
          <a:p>
            <a:pPr marL="360000"/>
            <a:r>
              <a:rPr lang="zh-CN" altLang="en-US" sz="1600" b="1">
                <a:solidFill>
                  <a:srgbClr val="000066"/>
                </a:solidFill>
                <a:latin typeface="Times New Roman" panose="02020603050405020304" pitchFamily="18" charset="0"/>
                <a:cs typeface="Times New Roman" panose="02020603050405020304" pitchFamily="18" charset="0"/>
              </a:rPr>
              <a:t>7.0 	               3.2 	   4.7 	            1.4	               1</a:t>
            </a:r>
          </a:p>
          <a:p>
            <a:pPr marL="360000"/>
            <a:r>
              <a:rPr lang="zh-CN" altLang="en-US" sz="1600" b="1">
                <a:solidFill>
                  <a:srgbClr val="000066"/>
                </a:solidFill>
                <a:latin typeface="Times New Roman" panose="02020603050405020304" pitchFamily="18" charset="0"/>
                <a:cs typeface="Times New Roman" panose="02020603050405020304" pitchFamily="18" charset="0"/>
              </a:rPr>
              <a:t>6.4 	               3.2	   4.5 	            1.5	               1</a:t>
            </a:r>
          </a:p>
          <a:p>
            <a:pPr marL="360000"/>
            <a:r>
              <a:rPr lang="zh-CN" altLang="en-US" sz="1600" b="1">
                <a:solidFill>
                  <a:srgbClr val="000066"/>
                </a:solidFill>
                <a:latin typeface="Times New Roman" panose="02020603050405020304" pitchFamily="18" charset="0"/>
                <a:cs typeface="Times New Roman" panose="02020603050405020304" pitchFamily="18" charset="0"/>
              </a:rPr>
              <a:t>6.9 	               3.1 	   4.9 	            1.5	               1</a:t>
            </a:r>
          </a:p>
          <a:p>
            <a:pPr marL="360000"/>
            <a:r>
              <a:rPr lang="zh-CN" altLang="en-US" sz="1600" b="1">
                <a:solidFill>
                  <a:srgbClr val="000066"/>
                </a:solidFill>
                <a:latin typeface="Times New Roman" panose="02020603050405020304" pitchFamily="18" charset="0"/>
                <a:cs typeface="Times New Roman" panose="02020603050405020304" pitchFamily="18" charset="0"/>
              </a:rPr>
              <a:t>5.5 	               2.3 	   4.0 	            1.3	               1</a:t>
            </a:r>
          </a:p>
          <a:p>
            <a:pPr marL="360000"/>
            <a:r>
              <a:rPr lang="zh-CN" altLang="en-US" sz="1600" b="1">
                <a:solidFill>
                  <a:srgbClr val="000066"/>
                </a:solidFill>
                <a:latin typeface="Times New Roman" panose="02020603050405020304" pitchFamily="18" charset="0"/>
                <a:cs typeface="Times New Roman" panose="02020603050405020304" pitchFamily="18" charset="0"/>
              </a:rPr>
              <a:t>6.5 	               2.8 	   4.6 	            1.5	               1</a:t>
            </a:r>
          </a:p>
          <a:p>
            <a:pPr marL="360000"/>
            <a:r>
              <a:rPr lang="zh-CN" altLang="en-US" sz="1600" b="1">
                <a:solidFill>
                  <a:srgbClr val="000066"/>
                </a:solidFill>
                <a:latin typeface="Times New Roman" panose="02020603050405020304" pitchFamily="18" charset="0"/>
                <a:cs typeface="Times New Roman" panose="02020603050405020304" pitchFamily="18" charset="0"/>
              </a:rPr>
              <a:t>6.3 	               3.3 	   6.0 	            2.5	               2</a:t>
            </a:r>
          </a:p>
          <a:p>
            <a:pPr marL="360000"/>
            <a:r>
              <a:rPr lang="zh-CN" altLang="en-US" sz="1600" b="1">
                <a:solidFill>
                  <a:srgbClr val="000066"/>
                </a:solidFill>
                <a:latin typeface="Times New Roman" panose="02020603050405020304" pitchFamily="18" charset="0"/>
                <a:cs typeface="Times New Roman" panose="02020603050405020304" pitchFamily="18" charset="0"/>
              </a:rPr>
              <a:t>5.8 	               2.7 	   5.1 	            1.9	               2</a:t>
            </a:r>
          </a:p>
          <a:p>
            <a:pPr marL="360000"/>
            <a:r>
              <a:rPr lang="zh-CN" altLang="en-US" sz="1600" b="1">
                <a:solidFill>
                  <a:srgbClr val="000066"/>
                </a:solidFill>
                <a:latin typeface="Times New Roman" panose="02020603050405020304" pitchFamily="18" charset="0"/>
                <a:cs typeface="Times New Roman" panose="02020603050405020304" pitchFamily="18" charset="0"/>
              </a:rPr>
              <a:t>7.1 	               3.0 	   5.9 	            2.1	               2</a:t>
            </a:r>
          </a:p>
          <a:p>
            <a:pPr marL="360000"/>
            <a:r>
              <a:rPr lang="zh-CN" altLang="en-US" sz="1600" b="1">
                <a:solidFill>
                  <a:srgbClr val="000066"/>
                </a:solidFill>
                <a:latin typeface="Times New Roman" panose="02020603050405020304" pitchFamily="18" charset="0"/>
                <a:cs typeface="Times New Roman" panose="02020603050405020304" pitchFamily="18" charset="0"/>
              </a:rPr>
              <a:t>6.3 	               2.9 	   5.6 	            1.8	               2</a:t>
            </a:r>
          </a:p>
          <a:p>
            <a:pPr marL="360000"/>
            <a:r>
              <a:rPr lang="zh-CN" altLang="en-US" sz="1600" b="1">
                <a:solidFill>
                  <a:srgbClr val="000066"/>
                </a:solidFill>
                <a:latin typeface="Times New Roman" panose="02020603050405020304" pitchFamily="18" charset="0"/>
                <a:cs typeface="Times New Roman" panose="02020603050405020304" pitchFamily="18" charset="0"/>
              </a:rPr>
              <a:t>6.5 	               3.0 	   5.8 	            2.2	               2</a:t>
            </a:r>
            <a:endParaRPr lang="zh-CN" altLang="en-US" b="1">
              <a:solidFill>
                <a:srgbClr val="000066"/>
              </a:solidFill>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a:xfrm>
            <a:off x="611559" y="986626"/>
            <a:ext cx="3240361" cy="3961388"/>
          </a:xfrm>
        </p:spPr>
        <p:txBody>
          <a:bodyPr>
            <a:noAutofit/>
          </a:bodyPr>
          <a:lstStyle/>
          <a:p>
            <a:pPr marL="0" indent="0">
              <a:lnSpc>
                <a:spcPct val="150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4</a:t>
            </a:r>
            <a:r>
              <a:rPr lang="zh-CN" altLang="zh-CN" sz="1800">
                <a:solidFill>
                  <a:srgbClr val="000066"/>
                </a:solidFill>
                <a:latin typeface="Times New Roman" panose="02020603050405020304" pitchFamily="18" charset="0"/>
                <a:cs typeface="Times New Roman" panose="02020603050405020304" pitchFamily="18" charset="0"/>
              </a:rPr>
              <a:t>．</a:t>
            </a:r>
            <a:r>
              <a:rPr lang="zh-CN" altLang="en-US" sz="1800">
                <a:solidFill>
                  <a:srgbClr val="000066"/>
                </a:solidFill>
                <a:latin typeface="Times New Roman" panose="02020603050405020304" pitchFamily="18" charset="0"/>
                <a:cs typeface="Times New Roman" panose="02020603050405020304" pitchFamily="18" charset="0"/>
              </a:rPr>
              <a:t>重要概念</a:t>
            </a:r>
            <a:endParaRPr lang="en-US" altLang="zh-CN" sz="180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800">
                <a:solidFill>
                  <a:srgbClr val="000066"/>
                </a:solidFill>
                <a:latin typeface="Times New Roman" panose="02020603050405020304" pitchFamily="18" charset="0"/>
                <a:cs typeface="Times New Roman" panose="02020603050405020304" pitchFamily="18" charset="0"/>
              </a:rPr>
              <a:t>③ 样本</a:t>
            </a:r>
            <a:endParaRPr lang="en-US" altLang="zh-CN" sz="180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800">
                <a:solidFill>
                  <a:srgbClr val="000066"/>
                </a:solidFill>
                <a:latin typeface="Times New Roman" panose="02020603050405020304" pitchFamily="18" charset="0"/>
                <a:cs typeface="Times New Roman" panose="02020603050405020304" pitchFamily="18" charset="0"/>
              </a:rPr>
              <a:t>     一个个具体的实例 </a:t>
            </a:r>
            <a:endParaRPr lang="en-US" altLang="zh-CN" sz="180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     </a:t>
            </a:r>
            <a:r>
              <a:rPr lang="zh-CN" altLang="en-US" sz="1800">
                <a:solidFill>
                  <a:srgbClr val="000066"/>
                </a:solidFill>
                <a:highlight>
                  <a:srgbClr val="FFFF00"/>
                </a:highlight>
                <a:latin typeface="Times New Roman" panose="02020603050405020304" pitchFamily="18" charset="0"/>
                <a:cs typeface="Times New Roman" panose="02020603050405020304" pitchFamily="18" charset="0"/>
              </a:rPr>
              <a:t>数据集上的</a:t>
            </a:r>
            <a:r>
              <a:rPr lang="en-US" altLang="zh-CN" sz="1800">
                <a:solidFill>
                  <a:srgbClr val="000066"/>
                </a:solidFill>
                <a:highlight>
                  <a:srgbClr val="FFFF00"/>
                </a:highlight>
                <a:latin typeface="Times New Roman" panose="02020603050405020304" pitchFamily="18" charset="0"/>
                <a:cs typeface="Times New Roman" panose="02020603050405020304" pitchFamily="18" charset="0"/>
              </a:rPr>
              <a:t>1</a:t>
            </a:r>
            <a:r>
              <a:rPr lang="zh-CN" altLang="en-US" sz="1800">
                <a:solidFill>
                  <a:srgbClr val="000066"/>
                </a:solidFill>
                <a:highlight>
                  <a:srgbClr val="FFFF00"/>
                </a:highlight>
                <a:latin typeface="Times New Roman" panose="02020603050405020304" pitchFamily="18" charset="0"/>
                <a:cs typeface="Times New Roman" panose="02020603050405020304" pitchFamily="18" charset="0"/>
              </a:rPr>
              <a:t>行就</a:t>
            </a:r>
            <a:r>
              <a:rPr lang="en-US" altLang="zh-CN" sz="1800">
                <a:solidFill>
                  <a:srgbClr val="000066"/>
                </a:solidFill>
                <a:highlight>
                  <a:srgbClr val="FFFF00"/>
                </a:highlight>
                <a:latin typeface="Times New Roman" panose="02020603050405020304" pitchFamily="18" charset="0"/>
                <a:cs typeface="Times New Roman" panose="02020603050405020304" pitchFamily="18" charset="0"/>
              </a:rPr>
              <a:t>1</a:t>
            </a:r>
            <a:r>
              <a:rPr lang="zh-CN" altLang="en-US" sz="1800">
                <a:solidFill>
                  <a:srgbClr val="000066"/>
                </a:solidFill>
                <a:highlight>
                  <a:srgbClr val="FFFF00"/>
                </a:highlight>
                <a:latin typeface="Times New Roman" panose="02020603050405020304" pitchFamily="18" charset="0"/>
                <a:cs typeface="Times New Roman" panose="02020603050405020304" pitchFamily="18" charset="0"/>
              </a:rPr>
              <a:t>个样本</a:t>
            </a:r>
            <a:endParaRPr lang="en-US" altLang="zh-CN" sz="1800">
              <a:solidFill>
                <a:srgbClr val="000066"/>
              </a:solidFill>
              <a:highlight>
                <a:srgbClr val="FFFF00"/>
              </a:highlight>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    1</a:t>
            </a:r>
            <a:r>
              <a:rPr lang="zh-CN" altLang="en-US" sz="1800">
                <a:solidFill>
                  <a:srgbClr val="000066"/>
                </a:solidFill>
                <a:latin typeface="Times New Roman" panose="02020603050405020304" pitchFamily="18" charset="0"/>
                <a:cs typeface="Times New Roman" panose="02020603050405020304" pitchFamily="18" charset="0"/>
              </a:rPr>
              <a:t>行</a:t>
            </a:r>
            <a:r>
              <a:rPr lang="en-US" altLang="zh-CN" sz="1800">
                <a:solidFill>
                  <a:srgbClr val="000066"/>
                </a:solidFill>
                <a:latin typeface="Times New Roman" panose="02020603050405020304" pitchFamily="18" charset="0"/>
                <a:cs typeface="Times New Roman" panose="02020603050405020304" pitchFamily="18" charset="0"/>
              </a:rPr>
              <a:t>=1</a:t>
            </a:r>
            <a:r>
              <a:rPr lang="zh-CN" altLang="en-US" sz="1800">
                <a:solidFill>
                  <a:srgbClr val="000066"/>
                </a:solidFill>
                <a:latin typeface="Times New Roman" panose="02020603050405020304" pitchFamily="18" charset="0"/>
                <a:cs typeface="Times New Roman" panose="02020603050405020304" pitchFamily="18" charset="0"/>
              </a:rPr>
              <a:t>朵鸢尾花</a:t>
            </a:r>
            <a:r>
              <a:rPr lang="en-US" altLang="zh-CN" sz="1800">
                <a:solidFill>
                  <a:srgbClr val="000066"/>
                </a:solidFill>
                <a:latin typeface="Times New Roman" panose="02020603050405020304" pitchFamily="18" charset="0"/>
                <a:cs typeface="Times New Roman" panose="02020603050405020304" pitchFamily="18" charset="0"/>
              </a:rPr>
              <a:t>=1</a:t>
            </a:r>
            <a:r>
              <a:rPr lang="zh-CN" altLang="en-US" sz="1800">
                <a:solidFill>
                  <a:srgbClr val="000066"/>
                </a:solidFill>
                <a:latin typeface="Times New Roman" panose="02020603050405020304" pitchFamily="18" charset="0"/>
                <a:cs typeface="Times New Roman" panose="02020603050405020304" pitchFamily="18" charset="0"/>
              </a:rPr>
              <a:t>个样本</a:t>
            </a:r>
            <a:endParaRPr lang="en-US" altLang="zh-CN" sz="1800">
              <a:solidFill>
                <a:srgbClr val="000066"/>
              </a:solidFill>
              <a:latin typeface="Times New Roman" panose="02020603050405020304" pitchFamily="18" charset="0"/>
              <a:cs typeface="Times New Roman" panose="02020603050405020304" pitchFamily="18" charset="0"/>
            </a:endParaRPr>
          </a:p>
          <a:p>
            <a:pPr marL="0" indent="0">
              <a:lnSpc>
                <a:spcPct val="125000"/>
              </a:lnSpc>
              <a:spcBef>
                <a:spcPts val="0"/>
              </a:spcBef>
              <a:buNone/>
            </a:pPr>
            <a:endParaRPr lang="en-US" altLang="zh-CN" sz="1600" dirty="0">
              <a:solidFill>
                <a:srgbClr val="000066"/>
              </a:solidFill>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四</a:t>
            </a:r>
            <a:r>
              <a:rPr lang="zh-CN" altLang="en-US" sz="2400">
                <a:solidFill>
                  <a:srgbClr val="FFFFFF"/>
                </a:solidFill>
              </a:rPr>
              <a:t>、机器学习基本知识</a:t>
            </a:r>
            <a:endParaRPr lang="zh-CN" altLang="en-US" sz="2400" dirty="0"/>
          </a:p>
        </p:txBody>
      </p:sp>
    </p:spTree>
    <p:extLst>
      <p:ext uri="{BB962C8B-B14F-4D97-AF65-F5344CB8AC3E}">
        <p14:creationId xmlns:p14="http://schemas.microsoft.com/office/powerpoint/2010/main" val="224599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58" y="986626"/>
            <a:ext cx="6696745" cy="4156874"/>
          </a:xfrm>
        </p:spPr>
        <p:txBody>
          <a:bodyPr>
            <a:noAutofit/>
          </a:bodyPr>
          <a:lstStyle/>
          <a:p>
            <a:pPr marL="0" indent="0">
              <a:lnSpc>
                <a:spcPct val="150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4</a:t>
            </a:r>
            <a:r>
              <a:rPr lang="zh-CN" altLang="zh-CN" sz="1800">
                <a:solidFill>
                  <a:srgbClr val="000066"/>
                </a:solidFill>
                <a:latin typeface="Times New Roman" panose="02020603050405020304" pitchFamily="18" charset="0"/>
                <a:cs typeface="Times New Roman" panose="02020603050405020304" pitchFamily="18" charset="0"/>
              </a:rPr>
              <a:t>．</a:t>
            </a:r>
            <a:r>
              <a:rPr lang="zh-CN" altLang="en-US" sz="1800">
                <a:solidFill>
                  <a:srgbClr val="000066"/>
                </a:solidFill>
                <a:latin typeface="Times New Roman" panose="02020603050405020304" pitchFamily="18" charset="0"/>
                <a:cs typeface="Times New Roman" panose="02020603050405020304" pitchFamily="18" charset="0"/>
              </a:rPr>
              <a:t>重要概念</a:t>
            </a:r>
            <a:endParaRPr lang="en-US" altLang="zh-CN" sz="180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800">
                <a:solidFill>
                  <a:srgbClr val="000066"/>
                </a:solidFill>
                <a:cs typeface="Times New Roman" panose="02020603050405020304" pitchFamily="18" charset="0"/>
              </a:rPr>
              <a:t>④</a:t>
            </a:r>
            <a:r>
              <a:rPr lang="en-US" altLang="zh-CN" sz="1800">
                <a:solidFill>
                  <a:srgbClr val="000066"/>
                </a:solidFill>
                <a:cs typeface="Times New Roman" panose="02020603050405020304" pitchFamily="18" charset="0"/>
              </a:rPr>
              <a:t> </a:t>
            </a:r>
            <a:r>
              <a:rPr lang="zh-CN" altLang="en-US" sz="1800">
                <a:solidFill>
                  <a:srgbClr val="000066"/>
                </a:solidFill>
                <a:latin typeface="Times New Roman" panose="02020603050405020304" pitchFamily="18" charset="0"/>
                <a:cs typeface="Times New Roman" panose="02020603050405020304" pitchFamily="18" charset="0"/>
              </a:rPr>
              <a:t>特征</a:t>
            </a:r>
            <a:endParaRPr lang="en-US" altLang="zh-CN" sz="180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800">
                <a:solidFill>
                  <a:srgbClr val="000066"/>
                </a:solidFill>
                <a:latin typeface="Times New Roman" panose="02020603050405020304" pitchFamily="18" charset="0"/>
                <a:cs typeface="Times New Roman" panose="02020603050405020304" pitchFamily="18" charset="0"/>
              </a:rPr>
              <a:t>     一个具体事物的属性描述</a:t>
            </a:r>
            <a:endParaRPr lang="en-US" altLang="zh-CN" sz="1800">
              <a:solidFill>
                <a:srgbClr val="000066"/>
              </a:solidFill>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      s</a:t>
            </a:r>
            <a:r>
              <a:rPr lang="zh-CN" altLang="en-US" sz="1800">
                <a:solidFill>
                  <a:srgbClr val="000066"/>
                </a:solidFill>
                <a:latin typeface="Times New Roman" panose="02020603050405020304" pitchFamily="18" charset="0"/>
                <a:cs typeface="Times New Roman" panose="02020603050405020304" pitchFamily="18" charset="0"/>
              </a:rPr>
              <a:t>epal_</a:t>
            </a:r>
            <a:r>
              <a:rPr lang="en-US" altLang="zh-CN" sz="1800">
                <a:solidFill>
                  <a:srgbClr val="000066"/>
                </a:solidFill>
                <a:latin typeface="Times New Roman" panose="02020603050405020304" pitchFamily="18" charset="0"/>
                <a:cs typeface="Times New Roman" panose="02020603050405020304" pitchFamily="18" charset="0"/>
              </a:rPr>
              <a:t>l</a:t>
            </a:r>
            <a:r>
              <a:rPr lang="zh-CN" altLang="en-US" sz="1800">
                <a:solidFill>
                  <a:srgbClr val="000066"/>
                </a:solidFill>
                <a:latin typeface="Times New Roman" panose="02020603050405020304" pitchFamily="18" charset="0"/>
                <a:cs typeface="Times New Roman" panose="02020603050405020304" pitchFamily="18" charset="0"/>
              </a:rPr>
              <a:t>ength：花萼长度</a:t>
            </a:r>
            <a:endParaRPr lang="en-US" altLang="zh-CN" sz="1800">
              <a:solidFill>
                <a:srgbClr val="000066"/>
              </a:solidFill>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      s</a:t>
            </a:r>
            <a:r>
              <a:rPr lang="zh-CN" altLang="en-US" sz="1800">
                <a:solidFill>
                  <a:srgbClr val="000066"/>
                </a:solidFill>
                <a:latin typeface="Times New Roman" panose="02020603050405020304" pitchFamily="18" charset="0"/>
                <a:cs typeface="Times New Roman" panose="02020603050405020304" pitchFamily="18" charset="0"/>
              </a:rPr>
              <a:t>epal_</a:t>
            </a:r>
            <a:r>
              <a:rPr lang="en-US" altLang="zh-CN" sz="1800">
                <a:solidFill>
                  <a:srgbClr val="000066"/>
                </a:solidFill>
                <a:latin typeface="Times New Roman" panose="02020603050405020304" pitchFamily="18" charset="0"/>
                <a:cs typeface="Times New Roman" panose="02020603050405020304" pitchFamily="18" charset="0"/>
              </a:rPr>
              <a:t>w</a:t>
            </a:r>
            <a:r>
              <a:rPr lang="zh-CN" altLang="en-US" sz="1800">
                <a:solidFill>
                  <a:srgbClr val="000066"/>
                </a:solidFill>
                <a:latin typeface="Times New Roman" panose="02020603050405020304" pitchFamily="18" charset="0"/>
                <a:cs typeface="Times New Roman" panose="02020603050405020304" pitchFamily="18" charset="0"/>
              </a:rPr>
              <a:t>idth：花萼宽度</a:t>
            </a:r>
            <a:endParaRPr lang="en-US" altLang="zh-CN" sz="1800">
              <a:solidFill>
                <a:srgbClr val="000066"/>
              </a:solidFill>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      p</a:t>
            </a:r>
            <a:r>
              <a:rPr lang="zh-CN" altLang="en-US" sz="1800">
                <a:solidFill>
                  <a:srgbClr val="000066"/>
                </a:solidFill>
                <a:latin typeface="Times New Roman" panose="02020603050405020304" pitchFamily="18" charset="0"/>
                <a:cs typeface="Times New Roman" panose="02020603050405020304" pitchFamily="18" charset="0"/>
              </a:rPr>
              <a:t>etal_Length：花瓣长度</a:t>
            </a:r>
            <a:endParaRPr lang="en-US" altLang="zh-CN" sz="1800">
              <a:solidFill>
                <a:srgbClr val="000066"/>
              </a:solidFill>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      p</a:t>
            </a:r>
            <a:r>
              <a:rPr lang="zh-CN" altLang="en-US" sz="1800">
                <a:solidFill>
                  <a:srgbClr val="000066"/>
                </a:solidFill>
                <a:latin typeface="Times New Roman" panose="02020603050405020304" pitchFamily="18" charset="0"/>
                <a:cs typeface="Times New Roman" panose="02020603050405020304" pitchFamily="18" charset="0"/>
              </a:rPr>
              <a:t>etal_</a:t>
            </a:r>
            <a:r>
              <a:rPr lang="en-US" altLang="zh-CN" sz="1800">
                <a:solidFill>
                  <a:srgbClr val="000066"/>
                </a:solidFill>
                <a:latin typeface="Times New Roman" panose="02020603050405020304" pitchFamily="18" charset="0"/>
                <a:cs typeface="Times New Roman" panose="02020603050405020304" pitchFamily="18" charset="0"/>
              </a:rPr>
              <a:t>w</a:t>
            </a:r>
            <a:r>
              <a:rPr lang="zh-CN" altLang="en-US" sz="1800">
                <a:solidFill>
                  <a:srgbClr val="000066"/>
                </a:solidFill>
                <a:latin typeface="Times New Roman" panose="02020603050405020304" pitchFamily="18" charset="0"/>
                <a:cs typeface="Times New Roman" panose="02020603050405020304" pitchFamily="18" charset="0"/>
              </a:rPr>
              <a:t>idth：花瓣宽度</a:t>
            </a:r>
            <a:endParaRPr lang="en-US" altLang="zh-CN" sz="180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solidFill>
                  <a:srgbClr val="000066"/>
                </a:solidFill>
                <a:cs typeface="Times New Roman" panose="02020603050405020304" pitchFamily="18" charset="0"/>
              </a:rPr>
              <a:t>     </a:t>
            </a:r>
            <a:r>
              <a:rPr lang="zh-CN" altLang="en-US" sz="1800">
                <a:solidFill>
                  <a:srgbClr val="000066"/>
                </a:solidFill>
                <a:cs typeface="Times New Roman" panose="02020603050405020304" pitchFamily="18" charset="0"/>
              </a:rPr>
              <a:t>一个样本的特征构成</a:t>
            </a:r>
            <a:r>
              <a:rPr lang="zh-CN" altLang="en-US" sz="1800">
                <a:solidFill>
                  <a:srgbClr val="C00000"/>
                </a:solidFill>
                <a:cs typeface="Times New Roman" panose="02020603050405020304" pitchFamily="18" charset="0"/>
              </a:rPr>
              <a:t>特征向量</a:t>
            </a:r>
            <a:r>
              <a:rPr lang="zh-CN" altLang="en-US" sz="1800">
                <a:solidFill>
                  <a:srgbClr val="000066"/>
                </a:solidFill>
                <a:cs typeface="Times New Roman" panose="02020603050405020304" pitchFamily="18" charset="0"/>
              </a:rPr>
              <a:t>             </a:t>
            </a:r>
            <a:endParaRPr lang="en-US" altLang="zh-CN" sz="1800">
              <a:solidFill>
                <a:srgbClr val="000066"/>
              </a:solidFill>
              <a:cs typeface="Times New Roman" panose="02020603050405020304" pitchFamily="18" charset="0"/>
            </a:endParaRPr>
          </a:p>
          <a:p>
            <a:pPr marL="0" indent="0">
              <a:lnSpc>
                <a:spcPct val="100000"/>
              </a:lnSpc>
              <a:spcBef>
                <a:spcPts val="0"/>
              </a:spcBef>
              <a:buNone/>
            </a:pPr>
            <a:r>
              <a:rPr lang="en-US" altLang="zh-CN" sz="1800" b="1">
                <a:solidFill>
                  <a:srgbClr val="000066"/>
                </a:solidFill>
                <a:latin typeface="Times New Roman" panose="02020603050405020304" pitchFamily="18" charset="0"/>
                <a:cs typeface="Times New Roman" panose="02020603050405020304" pitchFamily="18" charset="0"/>
              </a:rPr>
              <a:t>            </a:t>
            </a:r>
            <a:r>
              <a:rPr lang="en-US" altLang="zh-CN" sz="1800" b="1">
                <a:solidFill>
                  <a:srgbClr val="C00000"/>
                </a:solidFill>
                <a:latin typeface="Times New Roman" panose="02020603050405020304" pitchFamily="18" charset="0"/>
                <a:cs typeface="Times New Roman" panose="02020603050405020304" pitchFamily="18" charset="0"/>
              </a:rPr>
              <a:t>(</a:t>
            </a:r>
            <a:r>
              <a:rPr lang="zh-CN" altLang="en-US" sz="1800" b="1">
                <a:solidFill>
                  <a:srgbClr val="C00000"/>
                </a:solidFill>
                <a:latin typeface="Times New Roman" panose="02020603050405020304" pitchFamily="18" charset="0"/>
                <a:cs typeface="Times New Roman" panose="02020603050405020304" pitchFamily="18" charset="0"/>
              </a:rPr>
              <a:t>5.1</a:t>
            </a:r>
            <a:r>
              <a:rPr lang="en-US" altLang="zh-CN" sz="1800" b="1">
                <a:solidFill>
                  <a:srgbClr val="C00000"/>
                </a:solidFill>
                <a:latin typeface="Times New Roman" panose="02020603050405020304" pitchFamily="18" charset="0"/>
                <a:cs typeface="Times New Roman" panose="02020603050405020304" pitchFamily="18" charset="0"/>
              </a:rPr>
              <a:t>, </a:t>
            </a:r>
            <a:r>
              <a:rPr lang="zh-CN" altLang="en-US" sz="1800" b="1">
                <a:solidFill>
                  <a:srgbClr val="C00000"/>
                </a:solidFill>
                <a:latin typeface="Times New Roman" panose="02020603050405020304" pitchFamily="18" charset="0"/>
                <a:cs typeface="Times New Roman" panose="02020603050405020304" pitchFamily="18" charset="0"/>
              </a:rPr>
              <a:t>3.5</a:t>
            </a:r>
            <a:r>
              <a:rPr lang="en-US" altLang="zh-CN" sz="1800" b="1">
                <a:solidFill>
                  <a:srgbClr val="C00000"/>
                </a:solidFill>
                <a:latin typeface="Times New Roman" panose="02020603050405020304" pitchFamily="18" charset="0"/>
                <a:cs typeface="Times New Roman" panose="02020603050405020304" pitchFamily="18" charset="0"/>
              </a:rPr>
              <a:t>, </a:t>
            </a:r>
            <a:r>
              <a:rPr lang="zh-CN" altLang="en-US" sz="1800" b="1">
                <a:solidFill>
                  <a:srgbClr val="C00000"/>
                </a:solidFill>
                <a:latin typeface="Times New Roman" panose="02020603050405020304" pitchFamily="18" charset="0"/>
                <a:cs typeface="Times New Roman" panose="02020603050405020304" pitchFamily="18" charset="0"/>
              </a:rPr>
              <a:t>1.4</a:t>
            </a:r>
            <a:r>
              <a:rPr lang="en-US" altLang="zh-CN" sz="1800" b="1">
                <a:solidFill>
                  <a:srgbClr val="C00000"/>
                </a:solidFill>
                <a:latin typeface="Times New Roman" panose="02020603050405020304" pitchFamily="18" charset="0"/>
                <a:cs typeface="Times New Roman" panose="02020603050405020304" pitchFamily="18" charset="0"/>
              </a:rPr>
              <a:t>,</a:t>
            </a:r>
            <a:r>
              <a:rPr lang="zh-CN" altLang="en-US" sz="1800" b="1">
                <a:solidFill>
                  <a:srgbClr val="C00000"/>
                </a:solidFill>
                <a:latin typeface="Times New Roman" panose="02020603050405020304" pitchFamily="18" charset="0"/>
                <a:cs typeface="Times New Roman" panose="02020603050405020304" pitchFamily="18" charset="0"/>
              </a:rPr>
              <a:t> 0.2</a:t>
            </a:r>
            <a:r>
              <a:rPr lang="en-US" altLang="zh-CN" sz="1800" b="1">
                <a:solidFill>
                  <a:srgbClr val="C00000"/>
                </a:solidFill>
                <a:latin typeface="Times New Roman" panose="02020603050405020304" pitchFamily="18" charset="0"/>
                <a:cs typeface="Times New Roman" panose="02020603050405020304" pitchFamily="18" charset="0"/>
              </a:rPr>
              <a:t>)</a:t>
            </a:r>
            <a:endParaRPr lang="en-US" altLang="zh-CN" sz="1800">
              <a:solidFill>
                <a:srgbClr val="C00000"/>
              </a:solidFill>
              <a:cs typeface="Times New Roman" panose="02020603050405020304" pitchFamily="18" charset="0"/>
            </a:endParaRPr>
          </a:p>
          <a:p>
            <a:pPr marL="0" indent="0">
              <a:lnSpc>
                <a:spcPct val="150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 </a:t>
            </a:r>
            <a:r>
              <a:rPr lang="en-US" altLang="zh-CN" sz="1800">
                <a:solidFill>
                  <a:srgbClr val="000066"/>
                </a:solidFill>
                <a:cs typeface="Times New Roman" panose="02020603050405020304" pitchFamily="18" charset="0"/>
              </a:rPr>
              <a:t>⑤</a:t>
            </a:r>
            <a:r>
              <a:rPr lang="en-US" altLang="zh-CN" sz="1800">
                <a:solidFill>
                  <a:srgbClr val="000066"/>
                </a:solidFill>
                <a:latin typeface="Times New Roman" panose="02020603050405020304" pitchFamily="18" charset="0"/>
                <a:cs typeface="Times New Roman" panose="02020603050405020304" pitchFamily="18" charset="0"/>
              </a:rPr>
              <a:t> </a:t>
            </a:r>
            <a:r>
              <a:rPr lang="zh-CN" altLang="en-US" sz="1800">
                <a:solidFill>
                  <a:srgbClr val="000066"/>
                </a:solidFill>
                <a:latin typeface="Times New Roman" panose="02020603050405020304" pitchFamily="18" charset="0"/>
                <a:cs typeface="Times New Roman" panose="02020603050405020304" pitchFamily="18" charset="0"/>
              </a:rPr>
              <a:t>标签</a:t>
            </a:r>
            <a:endParaRPr lang="en-US" altLang="zh-CN" sz="180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     </a:t>
            </a:r>
            <a:r>
              <a:rPr lang="zh-CN" altLang="en-US" sz="1800">
                <a:solidFill>
                  <a:srgbClr val="000066"/>
                </a:solidFill>
                <a:latin typeface="Times New Roman" panose="02020603050405020304" pitchFamily="18" charset="0"/>
                <a:cs typeface="Times New Roman" panose="02020603050405020304" pitchFamily="18" charset="0"/>
              </a:rPr>
              <a:t> 预测的信息</a:t>
            </a:r>
            <a:endParaRPr lang="en-US" altLang="zh-CN" sz="1800">
              <a:solidFill>
                <a:srgbClr val="000066"/>
              </a:solidFill>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      </a:t>
            </a:r>
            <a:r>
              <a:rPr lang="zh-CN" altLang="en-US" sz="1800">
                <a:solidFill>
                  <a:srgbClr val="000066"/>
                </a:solidFill>
                <a:latin typeface="Times New Roman" panose="02020603050405020304" pitchFamily="18" charset="0"/>
                <a:cs typeface="Times New Roman" panose="02020603050405020304" pitchFamily="18" charset="0"/>
              </a:rPr>
              <a:t>样本可以带标签，也可以不带打标签         打标签：人工贴标签          </a:t>
            </a:r>
            <a:endParaRPr lang="en-US" altLang="zh-CN" sz="1600">
              <a:solidFill>
                <a:srgbClr val="000066"/>
              </a:solidFill>
              <a:latin typeface="Times New Roman" panose="02020603050405020304" pitchFamily="18" charset="0"/>
              <a:cs typeface="Times New Roman" panose="02020603050405020304" pitchFamily="18" charset="0"/>
            </a:endParaRPr>
          </a:p>
          <a:p>
            <a:pPr marL="0" indent="0">
              <a:lnSpc>
                <a:spcPct val="125000"/>
              </a:lnSpc>
              <a:spcBef>
                <a:spcPts val="0"/>
              </a:spcBef>
              <a:buNone/>
            </a:pPr>
            <a:endParaRPr lang="en-US" altLang="zh-CN" sz="1600" dirty="0">
              <a:solidFill>
                <a:srgbClr val="000066"/>
              </a:solidFill>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四</a:t>
            </a:r>
            <a:r>
              <a:rPr lang="zh-CN" altLang="en-US" sz="2400">
                <a:solidFill>
                  <a:srgbClr val="FFFFFF"/>
                </a:solidFill>
              </a:rPr>
              <a:t>、机器学习基本知识</a:t>
            </a:r>
            <a:endParaRPr lang="zh-CN" altLang="en-US" sz="2400" dirty="0"/>
          </a:p>
        </p:txBody>
      </p:sp>
      <p:pic>
        <p:nvPicPr>
          <p:cNvPr id="24" name="图片 23">
            <a:extLst>
              <a:ext uri="{FF2B5EF4-FFF2-40B4-BE49-F238E27FC236}">
                <a16:creationId xmlns:a16="http://schemas.microsoft.com/office/drawing/2014/main" id="{108B01F1-FF49-4F54-9392-2C2CE41D0C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68768" y="1252769"/>
            <a:ext cx="2335907" cy="1742587"/>
          </a:xfrm>
          <a:prstGeom prst="rect">
            <a:avLst/>
          </a:prstGeom>
        </p:spPr>
      </p:pic>
      <p:pic>
        <p:nvPicPr>
          <p:cNvPr id="26" name="图片 25">
            <a:extLst>
              <a:ext uri="{FF2B5EF4-FFF2-40B4-BE49-F238E27FC236}">
                <a16:creationId xmlns:a16="http://schemas.microsoft.com/office/drawing/2014/main" id="{51457FD1-DE69-4A15-8D0A-CD7F3B7F6C6E}"/>
              </a:ext>
            </a:extLst>
          </p:cNvPr>
          <p:cNvPicPr>
            <a:picLocks noChangeAspect="1"/>
          </p:cNvPicPr>
          <p:nvPr/>
        </p:nvPicPr>
        <p:blipFill>
          <a:blip r:embed="rId4"/>
          <a:stretch>
            <a:fillRect/>
          </a:stretch>
        </p:blipFill>
        <p:spPr>
          <a:xfrm>
            <a:off x="3968376" y="3028408"/>
            <a:ext cx="5144867" cy="1540780"/>
          </a:xfrm>
          <a:prstGeom prst="rect">
            <a:avLst/>
          </a:prstGeom>
        </p:spPr>
      </p:pic>
      <p:sp>
        <p:nvSpPr>
          <p:cNvPr id="27" name="矩形 26">
            <a:extLst>
              <a:ext uri="{FF2B5EF4-FFF2-40B4-BE49-F238E27FC236}">
                <a16:creationId xmlns:a16="http://schemas.microsoft.com/office/drawing/2014/main" id="{A7EF63E8-6AD1-4ED9-B5E8-4C9FF28A272C}"/>
              </a:ext>
            </a:extLst>
          </p:cNvPr>
          <p:cNvSpPr/>
          <p:nvPr/>
        </p:nvSpPr>
        <p:spPr>
          <a:xfrm>
            <a:off x="3804518" y="4569188"/>
            <a:ext cx="5472582" cy="312722"/>
          </a:xfrm>
          <a:prstGeom prst="rect">
            <a:avLst/>
          </a:prstGeom>
        </p:spPr>
        <p:txBody>
          <a:bodyPr wrap="square">
            <a:spAutoFit/>
          </a:bodyPr>
          <a:lstStyle/>
          <a:p>
            <a:r>
              <a:rPr lang="zh-CN" altLang="en-US" sz="14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山鸢尾</a:t>
            </a:r>
            <a:r>
              <a:rPr lang="en-US" altLang="zh-CN" sz="14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Iris </a:t>
            </a:r>
            <a:r>
              <a:rPr lang="en-US" altLang="zh-CN" sz="1400" err="1">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Setosa</a:t>
            </a:r>
            <a:r>
              <a:rPr lang="en-US" altLang="zh-CN" sz="140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变色</a:t>
            </a:r>
            <a:r>
              <a:rPr lang="zh-CN" altLang="en-US" sz="14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鸢尾</a:t>
            </a:r>
            <a:r>
              <a:rPr lang="en-US" altLang="zh-CN" sz="14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Iris Versicolor </a:t>
            </a:r>
            <a:r>
              <a:rPr lang="zh-CN" altLang="en-US" sz="14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维吉尼亚鸢尾</a:t>
            </a:r>
            <a:r>
              <a:rPr lang="en-US" altLang="zh-CN" sz="14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Iris Virginica</a:t>
            </a:r>
            <a:endParaRPr lang="zh-CN" altLang="en-US" sz="14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5" name="内容占位符 2">
            <a:extLst>
              <a:ext uri="{FF2B5EF4-FFF2-40B4-BE49-F238E27FC236}">
                <a16:creationId xmlns:a16="http://schemas.microsoft.com/office/drawing/2014/main" id="{3CE479E2-5BDD-420D-B81F-398E0DF4C937}"/>
              </a:ext>
            </a:extLst>
          </p:cNvPr>
          <p:cNvSpPr txBox="1">
            <a:spLocks/>
          </p:cNvSpPr>
          <p:nvPr/>
        </p:nvSpPr>
        <p:spPr>
          <a:xfrm>
            <a:off x="2411760" y="1045187"/>
            <a:ext cx="8424936" cy="1873156"/>
          </a:xfrm>
          <a:prstGeom prst="rect">
            <a:avLst/>
          </a:prstGeom>
        </p:spPr>
        <p:txBody>
          <a:bodyPr vert="horz" lIns="0" tIns="45720" rIns="0" bIns="45720" rtlCol="0">
            <a:noAutofit/>
          </a:bodyPr>
          <a:lstStyle>
            <a:lvl1pPr marL="171450" indent="-171450" algn="l" defTabSz="685800" rtl="0" eaLnBrk="1" latinLnBrk="0" hangingPunct="1">
              <a:lnSpc>
                <a:spcPct val="90000"/>
              </a:lnSpc>
              <a:spcBef>
                <a:spcPts val="1350"/>
              </a:spcBef>
              <a:buFont typeface="Wingdings" panose="05000000000000000000" pitchFamily="2" charset="2"/>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450"/>
              </a:spcBef>
              <a:buFont typeface="Wingdings" panose="05000000000000000000" pitchFamily="2" charset="2"/>
              <a:buChar char="§"/>
              <a:defRPr sz="12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6pPr>
            <a:lvl7pPr marL="22288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7pPr>
            <a:lvl8pPr marL="25717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8pPr>
            <a:lvl9pPr marL="29146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9pPr>
          </a:lstStyle>
          <a:p>
            <a:pPr marL="623888" lvl="1" indent="-623888" fontAlgn="auto">
              <a:lnSpc>
                <a:spcPct val="150000"/>
              </a:lnSpc>
              <a:spcBef>
                <a:spcPts val="0"/>
              </a:spcBef>
              <a:spcAft>
                <a:spcPts val="0"/>
              </a:spcAft>
              <a:buFont typeface="Wingdings" panose="05000000000000000000" pitchFamily="2" charset="2"/>
              <a:buNone/>
            </a:pPr>
            <a:r>
              <a:rPr lang="en-US" altLang="zh-CN" sz="180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1800">
              <a:solidFill>
                <a:srgbClr val="002060"/>
              </a:solidFill>
              <a:latin typeface="Times New Roman" panose="02020603050405020304" pitchFamily="18" charset="0"/>
              <a:ea typeface="黑体" panose="02010609060101010101" pitchFamily="49" charset="-122"/>
              <a:cs typeface="Times New Roman" panose="02020603050405020304" pitchFamily="18" charset="0"/>
            </a:endParaRPr>
          </a:p>
          <a:p>
            <a:pPr marL="0" indent="0" fontAlgn="auto">
              <a:lnSpc>
                <a:spcPct val="150000"/>
              </a:lnSpc>
              <a:spcBef>
                <a:spcPts val="0"/>
              </a:spcBef>
              <a:spcAft>
                <a:spcPts val="0"/>
              </a:spcAft>
              <a:buFont typeface="Wingdings" panose="05000000000000000000" pitchFamily="2" charset="2"/>
              <a:buNone/>
            </a:pPr>
            <a:r>
              <a:rPr lang="zh-CN" altLang="en-US" sz="180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1800">
              <a:solidFill>
                <a:srgbClr val="000066"/>
              </a:solidFill>
              <a:latin typeface="Times New Roman" panose="02020603050405020304" pitchFamily="18" charset="0"/>
              <a:cs typeface="Times New Roman" panose="02020603050405020304" pitchFamily="18" charset="0"/>
            </a:endParaRPr>
          </a:p>
          <a:p>
            <a:pPr marL="0" indent="0" fontAlgn="auto">
              <a:lnSpc>
                <a:spcPct val="150000"/>
              </a:lnSpc>
              <a:spcBef>
                <a:spcPts val="0"/>
              </a:spcBef>
              <a:spcAft>
                <a:spcPts val="0"/>
              </a:spcAft>
              <a:buFont typeface="Wingdings" panose="05000000000000000000" pitchFamily="2" charset="2"/>
              <a:buNone/>
            </a:pPr>
            <a:endParaRPr lang="en-US" altLang="zh-CN" sz="1800" dirty="0">
              <a:solidFill>
                <a:srgbClr val="00006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8045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4E1C1E00-F25C-420C-8973-92D064A50054}"/>
              </a:ext>
            </a:extLst>
          </p:cNvPr>
          <p:cNvPicPr>
            <a:picLocks noChangeAspect="1"/>
          </p:cNvPicPr>
          <p:nvPr/>
        </p:nvPicPr>
        <p:blipFill rotWithShape="1">
          <a:blip r:embed="rId3"/>
          <a:srcRect l="86348" t="7098" b="-7098"/>
          <a:stretch/>
        </p:blipFill>
        <p:spPr>
          <a:xfrm>
            <a:off x="4748482" y="2283718"/>
            <a:ext cx="607105" cy="3024000"/>
          </a:xfrm>
          <a:prstGeom prst="rect">
            <a:avLst/>
          </a:prstGeom>
        </p:spPr>
      </p:pic>
      <p:pic>
        <p:nvPicPr>
          <p:cNvPr id="4" name="图片 3">
            <a:extLst>
              <a:ext uri="{FF2B5EF4-FFF2-40B4-BE49-F238E27FC236}">
                <a16:creationId xmlns:a16="http://schemas.microsoft.com/office/drawing/2014/main" id="{D503917A-A7AF-4D0D-ADB2-564014361B6B}"/>
              </a:ext>
            </a:extLst>
          </p:cNvPr>
          <p:cNvPicPr>
            <a:picLocks noChangeAspect="1"/>
          </p:cNvPicPr>
          <p:nvPr/>
        </p:nvPicPr>
        <p:blipFill rotWithShape="1">
          <a:blip r:embed="rId3"/>
          <a:srcRect t="6169" r="13561" b="-761"/>
          <a:stretch/>
        </p:blipFill>
        <p:spPr>
          <a:xfrm>
            <a:off x="1118024" y="2255964"/>
            <a:ext cx="3824094" cy="2845594"/>
          </a:xfrm>
          <a:prstGeom prst="rect">
            <a:avLst/>
          </a:prstGeom>
        </p:spPr>
      </p:pic>
      <p:sp>
        <p:nvSpPr>
          <p:cNvPr id="3" name="内容占位符 2"/>
          <p:cNvSpPr>
            <a:spLocks noGrp="1"/>
          </p:cNvSpPr>
          <p:nvPr>
            <p:ph idx="1"/>
          </p:nvPr>
        </p:nvSpPr>
        <p:spPr>
          <a:xfrm>
            <a:off x="611559" y="986626"/>
            <a:ext cx="7632849" cy="1369100"/>
          </a:xfrm>
        </p:spPr>
        <p:txBody>
          <a:bodyPr>
            <a:noAutofit/>
          </a:bodyPr>
          <a:lstStyle/>
          <a:p>
            <a:pPr marL="0" indent="0">
              <a:lnSpc>
                <a:spcPct val="150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4</a:t>
            </a:r>
            <a:r>
              <a:rPr lang="zh-CN" altLang="zh-CN" sz="1800">
                <a:solidFill>
                  <a:srgbClr val="000066"/>
                </a:solidFill>
                <a:latin typeface="Times New Roman" panose="02020603050405020304" pitchFamily="18" charset="0"/>
                <a:cs typeface="Times New Roman" panose="02020603050405020304" pitchFamily="18" charset="0"/>
              </a:rPr>
              <a:t>．</a:t>
            </a:r>
            <a:r>
              <a:rPr lang="zh-CN" altLang="en-US" sz="1800">
                <a:solidFill>
                  <a:srgbClr val="000066"/>
                </a:solidFill>
                <a:latin typeface="Times New Roman" panose="02020603050405020304" pitchFamily="18" charset="0"/>
                <a:cs typeface="Times New Roman" panose="02020603050405020304" pitchFamily="18" charset="0"/>
              </a:rPr>
              <a:t>重要概念</a:t>
            </a:r>
            <a:endParaRPr lang="en-US" altLang="zh-CN" sz="180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800">
                <a:solidFill>
                  <a:srgbClr val="000066"/>
                </a:solidFill>
                <a:latin typeface="Times New Roman" panose="02020603050405020304" pitchFamily="18" charset="0"/>
                <a:cs typeface="Times New Roman" panose="02020603050405020304" pitchFamily="18" charset="0"/>
              </a:rPr>
              <a:t>⑥</a:t>
            </a:r>
            <a:r>
              <a:rPr lang="en-US" altLang="zh-CN" sz="1800">
                <a:solidFill>
                  <a:srgbClr val="000066"/>
                </a:solidFill>
                <a:latin typeface="Times New Roman" panose="02020603050405020304" pitchFamily="18" charset="0"/>
                <a:cs typeface="Times New Roman" panose="02020603050405020304" pitchFamily="18" charset="0"/>
              </a:rPr>
              <a:t> </a:t>
            </a:r>
            <a:r>
              <a:rPr lang="zh-CN" altLang="en-US" sz="1800">
                <a:solidFill>
                  <a:srgbClr val="000066"/>
                </a:solidFill>
                <a:latin typeface="Times New Roman" panose="02020603050405020304" pitchFamily="18" charset="0"/>
                <a:cs typeface="Times New Roman" panose="02020603050405020304" pitchFamily="18" charset="0"/>
              </a:rPr>
              <a:t>特征矩阵和目标数组</a:t>
            </a:r>
            <a:endParaRPr lang="en-US" altLang="zh-CN" sz="180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800">
                <a:solidFill>
                  <a:srgbClr val="000066"/>
                </a:solidFill>
                <a:latin typeface="Georgia" panose="02040502050405020303" pitchFamily="18" charset="0"/>
                <a:ea typeface="楷体" panose="02010609060101010101" pitchFamily="49" charset="-122"/>
                <a:cs typeface="Times New Roman" panose="02020603050405020304" pitchFamily="18" charset="0"/>
              </a:rPr>
              <a:t>     </a:t>
            </a:r>
            <a:r>
              <a:rPr lang="zh-CN" altLang="en-US" sz="1800">
                <a:solidFill>
                  <a:srgbClr val="000066"/>
                </a:solidFill>
                <a:latin typeface="Times New Roman" panose="02020603050405020304" pitchFamily="18" charset="0"/>
                <a:cs typeface="Times New Roman" panose="02020603050405020304" pitchFamily="18" charset="0"/>
              </a:rPr>
              <a:t>数据集拆分成两部分：特征矩阵</a:t>
            </a:r>
            <a:r>
              <a:rPr lang="en-US" altLang="zh-CN" sz="1800">
                <a:solidFill>
                  <a:srgbClr val="000066"/>
                </a:solidFill>
                <a:latin typeface="Times New Roman" panose="02020603050405020304" pitchFamily="18" charset="0"/>
                <a:cs typeface="Times New Roman" panose="02020603050405020304" pitchFamily="18" charset="0"/>
              </a:rPr>
              <a:t>X</a:t>
            </a:r>
            <a:r>
              <a:rPr lang="zh-CN" altLang="en-US" sz="1800">
                <a:solidFill>
                  <a:srgbClr val="000066"/>
                </a:solidFill>
                <a:latin typeface="Times New Roman" panose="02020603050405020304" pitchFamily="18" charset="0"/>
                <a:cs typeface="Times New Roman" panose="02020603050405020304" pitchFamily="18" charset="0"/>
              </a:rPr>
              <a:t>、目标数组</a:t>
            </a:r>
            <a:r>
              <a:rPr lang="en-US" altLang="zh-CN" sz="1800">
                <a:solidFill>
                  <a:srgbClr val="000066"/>
                </a:solidFill>
                <a:latin typeface="Times New Roman" panose="02020603050405020304" pitchFamily="18" charset="0"/>
                <a:cs typeface="Times New Roman" panose="02020603050405020304" pitchFamily="18" charset="0"/>
              </a:rPr>
              <a:t>y</a:t>
            </a:r>
          </a:p>
          <a:p>
            <a:pPr>
              <a:lnSpc>
                <a:spcPct val="114000"/>
              </a:lnSpc>
              <a:spcBef>
                <a:spcPts val="0"/>
              </a:spcBef>
              <a:buNone/>
            </a:pPr>
            <a:endParaRPr lang="en-US" altLang="zh-CN" sz="1800">
              <a:solidFill>
                <a:srgbClr val="000066"/>
              </a:solidFill>
              <a:latin typeface="Times New Roman" panose="02020603050405020304" pitchFamily="18" charset="0"/>
              <a:cs typeface="Times New Roman" panose="02020603050405020304" pitchFamily="18" charset="0"/>
            </a:endParaRPr>
          </a:p>
          <a:p>
            <a:pPr marL="0" indent="0">
              <a:lnSpc>
                <a:spcPct val="125000"/>
              </a:lnSpc>
              <a:spcBef>
                <a:spcPts val="0"/>
              </a:spcBef>
              <a:buNone/>
            </a:pPr>
            <a:endParaRPr lang="en-US" altLang="zh-CN" sz="1600" dirty="0">
              <a:solidFill>
                <a:srgbClr val="000066"/>
              </a:solidFill>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四</a:t>
            </a:r>
            <a:r>
              <a:rPr lang="zh-CN" altLang="en-US" sz="2400">
                <a:solidFill>
                  <a:srgbClr val="FFFFFF"/>
                </a:solidFill>
              </a:rPr>
              <a:t>、机器学习基本知识</a:t>
            </a:r>
            <a:endParaRPr lang="zh-CN" altLang="en-US" sz="2400" dirty="0"/>
          </a:p>
        </p:txBody>
      </p:sp>
      <p:sp>
        <p:nvSpPr>
          <p:cNvPr id="7" name="左中括号 6">
            <a:extLst>
              <a:ext uri="{FF2B5EF4-FFF2-40B4-BE49-F238E27FC236}">
                <a16:creationId xmlns:a16="http://schemas.microsoft.com/office/drawing/2014/main" id="{8D2E3B88-CF87-4E6E-BAF6-36A440B35ED4}"/>
              </a:ext>
            </a:extLst>
          </p:cNvPr>
          <p:cNvSpPr/>
          <p:nvPr/>
        </p:nvSpPr>
        <p:spPr>
          <a:xfrm>
            <a:off x="1231419" y="2228401"/>
            <a:ext cx="172229" cy="2813778"/>
          </a:xfrm>
          <a:prstGeom prst="leftBracket">
            <a:avLst/>
          </a:prstGeom>
          <a:ln w="19050">
            <a:solidFill>
              <a:srgbClr val="00006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右中括号 8">
            <a:extLst>
              <a:ext uri="{FF2B5EF4-FFF2-40B4-BE49-F238E27FC236}">
                <a16:creationId xmlns:a16="http://schemas.microsoft.com/office/drawing/2014/main" id="{7ABE26DB-E301-4B6C-BAA9-26EB7AD5508A}"/>
              </a:ext>
            </a:extLst>
          </p:cNvPr>
          <p:cNvSpPr/>
          <p:nvPr/>
        </p:nvSpPr>
        <p:spPr>
          <a:xfrm>
            <a:off x="4641807" y="2263459"/>
            <a:ext cx="102673" cy="2778720"/>
          </a:xfrm>
          <a:prstGeom prst="rightBracket">
            <a:avLst/>
          </a:prstGeom>
          <a:ln w="19050">
            <a:solidFill>
              <a:srgbClr val="00006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左中括号 13">
            <a:extLst>
              <a:ext uri="{FF2B5EF4-FFF2-40B4-BE49-F238E27FC236}">
                <a16:creationId xmlns:a16="http://schemas.microsoft.com/office/drawing/2014/main" id="{22B553EB-B336-4D9F-B2F4-9732C7630339}"/>
              </a:ext>
            </a:extLst>
          </p:cNvPr>
          <p:cNvSpPr/>
          <p:nvPr/>
        </p:nvSpPr>
        <p:spPr>
          <a:xfrm>
            <a:off x="4854691" y="2214851"/>
            <a:ext cx="61340" cy="2845594"/>
          </a:xfrm>
          <a:prstGeom prst="leftBracket">
            <a:avLst/>
          </a:prstGeom>
          <a:ln w="19050">
            <a:solidFill>
              <a:srgbClr val="00006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 name="右中括号 14">
            <a:extLst>
              <a:ext uri="{FF2B5EF4-FFF2-40B4-BE49-F238E27FC236}">
                <a16:creationId xmlns:a16="http://schemas.microsoft.com/office/drawing/2014/main" id="{75896018-945E-4CDE-8FA9-3807C9773006}"/>
              </a:ext>
            </a:extLst>
          </p:cNvPr>
          <p:cNvSpPr/>
          <p:nvPr/>
        </p:nvSpPr>
        <p:spPr>
          <a:xfrm>
            <a:off x="5113669" y="2211710"/>
            <a:ext cx="151464" cy="2830469"/>
          </a:xfrm>
          <a:prstGeom prst="rightBracket">
            <a:avLst/>
          </a:prstGeom>
          <a:ln w="19050">
            <a:solidFill>
              <a:srgbClr val="00006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95C64579-0294-43AF-9266-8536B83CC7DA}"/>
              </a:ext>
            </a:extLst>
          </p:cNvPr>
          <p:cNvSpPr/>
          <p:nvPr/>
        </p:nvSpPr>
        <p:spPr>
          <a:xfrm>
            <a:off x="485026" y="3138522"/>
            <a:ext cx="875772" cy="369332"/>
          </a:xfrm>
          <a:prstGeom prst="rect">
            <a:avLst/>
          </a:prstGeom>
        </p:spPr>
        <p:txBody>
          <a:bodyPr wrap="square">
            <a:spAutoFit/>
          </a:bodyPr>
          <a:lstStyle/>
          <a:p>
            <a:r>
              <a:rPr lang="en-US" altLang="zh-CN">
                <a:solidFill>
                  <a:srgbClr val="000066"/>
                </a:solidFill>
                <a:latin typeface="Times New Roman" panose="02020603050405020304" pitchFamily="18" charset="0"/>
                <a:cs typeface="Times New Roman" panose="02020603050405020304" pitchFamily="18" charset="0"/>
              </a:rPr>
              <a:t>X</a:t>
            </a:r>
            <a:endParaRPr lang="zh-CN" altLang="en-US"/>
          </a:p>
        </p:txBody>
      </p:sp>
      <p:sp>
        <p:nvSpPr>
          <p:cNvPr id="11" name="矩形 10">
            <a:extLst>
              <a:ext uri="{FF2B5EF4-FFF2-40B4-BE49-F238E27FC236}">
                <a16:creationId xmlns:a16="http://schemas.microsoft.com/office/drawing/2014/main" id="{9093FE4C-6DDF-44CA-B48B-72402ECAACE7}"/>
              </a:ext>
            </a:extLst>
          </p:cNvPr>
          <p:cNvSpPr/>
          <p:nvPr/>
        </p:nvSpPr>
        <p:spPr>
          <a:xfrm>
            <a:off x="5355587" y="3154503"/>
            <a:ext cx="300082" cy="458074"/>
          </a:xfrm>
          <a:prstGeom prst="rect">
            <a:avLst/>
          </a:prstGeom>
        </p:spPr>
        <p:txBody>
          <a:bodyPr wrap="none">
            <a:spAutoFit/>
          </a:bodyPr>
          <a:lstStyle/>
          <a:p>
            <a:pPr marL="0" indent="0">
              <a:lnSpc>
                <a:spcPct val="150000"/>
              </a:lnSpc>
              <a:spcBef>
                <a:spcPts val="0"/>
              </a:spcBef>
              <a:buNone/>
            </a:pPr>
            <a:r>
              <a:rPr lang="en-US" altLang="zh-CN">
                <a:solidFill>
                  <a:srgbClr val="000066"/>
                </a:solidFill>
                <a:latin typeface="Times New Roman" panose="02020603050405020304" pitchFamily="18" charset="0"/>
                <a:cs typeface="Times New Roman" panose="02020603050405020304" pitchFamily="18" charset="0"/>
              </a:rPr>
              <a:t>y</a:t>
            </a:r>
          </a:p>
        </p:txBody>
      </p:sp>
      <p:sp>
        <p:nvSpPr>
          <p:cNvPr id="18" name="文本框 17">
            <a:extLst>
              <a:ext uri="{FF2B5EF4-FFF2-40B4-BE49-F238E27FC236}">
                <a16:creationId xmlns:a16="http://schemas.microsoft.com/office/drawing/2014/main" id="{41BDB17A-A8C1-486C-8A77-E3F891936487}"/>
              </a:ext>
            </a:extLst>
          </p:cNvPr>
          <p:cNvSpPr txBox="1"/>
          <p:nvPr/>
        </p:nvSpPr>
        <p:spPr>
          <a:xfrm>
            <a:off x="102023" y="3403541"/>
            <a:ext cx="1209639" cy="369332"/>
          </a:xfrm>
          <a:prstGeom prst="rect">
            <a:avLst/>
          </a:prstGeom>
          <a:noFill/>
        </p:spPr>
        <p:txBody>
          <a:bodyPr wrap="square" rtlCol="0">
            <a:spAutoFit/>
          </a:bodyPr>
          <a:lstStyle/>
          <a:p>
            <a:r>
              <a:rPr lang="zh-CN" altLang="en-US">
                <a:solidFill>
                  <a:srgbClr val="C00000"/>
                </a:solidFill>
                <a:latin typeface="黑体" panose="02010609060101010101" pitchFamily="49" charset="-122"/>
                <a:ea typeface="黑体" panose="02010609060101010101" pitchFamily="49" charset="-122"/>
                <a:cs typeface="Times New Roman" panose="02020603050405020304" pitchFamily="18" charset="0"/>
              </a:rPr>
              <a:t>二维矩阵</a:t>
            </a:r>
            <a:endParaRPr lang="zh-CN" altLang="en-US">
              <a:solidFill>
                <a:srgbClr val="C00000"/>
              </a:solidFill>
              <a:latin typeface="黑体" panose="02010609060101010101" pitchFamily="49" charset="-122"/>
              <a:ea typeface="黑体" panose="02010609060101010101" pitchFamily="49" charset="-122"/>
            </a:endParaRPr>
          </a:p>
        </p:txBody>
      </p:sp>
      <p:sp>
        <p:nvSpPr>
          <p:cNvPr id="19" name="文本框 18">
            <a:extLst>
              <a:ext uri="{FF2B5EF4-FFF2-40B4-BE49-F238E27FC236}">
                <a16:creationId xmlns:a16="http://schemas.microsoft.com/office/drawing/2014/main" id="{F109217C-9997-4A86-9627-E9405DB4F701}"/>
              </a:ext>
            </a:extLst>
          </p:cNvPr>
          <p:cNvSpPr txBox="1"/>
          <p:nvPr/>
        </p:nvSpPr>
        <p:spPr>
          <a:xfrm>
            <a:off x="5225751" y="3543976"/>
            <a:ext cx="1464735" cy="369332"/>
          </a:xfrm>
          <a:prstGeom prst="rect">
            <a:avLst/>
          </a:prstGeom>
          <a:noFill/>
        </p:spPr>
        <p:txBody>
          <a:bodyPr wrap="square" rtlCol="0">
            <a:spAutoFit/>
          </a:bodyPr>
          <a:lstStyle/>
          <a:p>
            <a:r>
              <a:rPr lang="zh-CN" altLang="en-US">
                <a:solidFill>
                  <a:srgbClr val="C00000"/>
                </a:solidFill>
                <a:latin typeface="黑体" panose="02010609060101010101" pitchFamily="49" charset="-122"/>
                <a:ea typeface="黑体" panose="02010609060101010101" pitchFamily="49" charset="-122"/>
              </a:rPr>
              <a:t>向量，一维</a:t>
            </a:r>
          </a:p>
        </p:txBody>
      </p:sp>
    </p:spTree>
    <p:extLst>
      <p:ext uri="{BB962C8B-B14F-4D97-AF65-F5344CB8AC3E}">
        <p14:creationId xmlns:p14="http://schemas.microsoft.com/office/powerpoint/2010/main" val="1371654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59" y="986626"/>
            <a:ext cx="7632849" cy="1801148"/>
          </a:xfrm>
        </p:spPr>
        <p:txBody>
          <a:bodyPr>
            <a:noAutofit/>
          </a:bodyPr>
          <a:lstStyle/>
          <a:p>
            <a:pPr marL="0" indent="0">
              <a:lnSpc>
                <a:spcPct val="150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5</a:t>
            </a:r>
            <a:r>
              <a:rPr lang="zh-CN" altLang="zh-CN" sz="1800">
                <a:solidFill>
                  <a:srgbClr val="000066"/>
                </a:solidFill>
                <a:latin typeface="Times New Roman" panose="02020603050405020304" pitchFamily="18" charset="0"/>
                <a:cs typeface="Times New Roman" panose="02020603050405020304" pitchFamily="18" charset="0"/>
              </a:rPr>
              <a:t>．</a:t>
            </a:r>
            <a:r>
              <a:rPr lang="zh-CN" altLang="en-US" sz="1800">
                <a:solidFill>
                  <a:srgbClr val="000066"/>
                </a:solidFill>
                <a:latin typeface="Times New Roman" panose="02020603050405020304" pitchFamily="18" charset="0"/>
                <a:cs typeface="Times New Roman" panose="02020603050405020304" pitchFamily="18" charset="0"/>
              </a:rPr>
              <a:t>机器学习库</a:t>
            </a:r>
            <a:endParaRPr lang="en-US" altLang="zh-CN" sz="180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      Scikit-learn</a:t>
            </a:r>
            <a:r>
              <a:rPr lang="zh-CN" altLang="en-US" sz="1800">
                <a:solidFill>
                  <a:srgbClr val="000066"/>
                </a:solidFill>
                <a:latin typeface="Times New Roman" panose="02020603050405020304" pitchFamily="18" charset="0"/>
                <a:cs typeface="Times New Roman" panose="02020603050405020304" pitchFamily="18" charset="0"/>
              </a:rPr>
              <a:t>是</a:t>
            </a:r>
            <a:r>
              <a:rPr lang="en-US" altLang="zh-CN" sz="1800">
                <a:solidFill>
                  <a:srgbClr val="000066"/>
                </a:solidFill>
                <a:latin typeface="Times New Roman" panose="02020603050405020304" pitchFamily="18" charset="0"/>
                <a:cs typeface="Times New Roman" panose="02020603050405020304" pitchFamily="18" charset="0"/>
              </a:rPr>
              <a:t>Python</a:t>
            </a:r>
            <a:r>
              <a:rPr lang="zh-CN" altLang="en-US" sz="1800">
                <a:solidFill>
                  <a:srgbClr val="000066"/>
                </a:solidFill>
                <a:latin typeface="Times New Roman" panose="02020603050405020304" pitchFamily="18" charset="0"/>
                <a:cs typeface="Times New Roman" panose="02020603050405020304" pitchFamily="18" charset="0"/>
              </a:rPr>
              <a:t>开发环境下最常用的机器学习库</a:t>
            </a:r>
            <a:endParaRPr lang="en-US" altLang="zh-CN" sz="180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      ※ </a:t>
            </a:r>
            <a:r>
              <a:rPr lang="zh-CN" altLang="en-US" sz="1800">
                <a:solidFill>
                  <a:srgbClr val="000066"/>
                </a:solidFill>
                <a:latin typeface="Times New Roman" panose="02020603050405020304" pitchFamily="18" charset="0"/>
                <a:cs typeface="Times New Roman" panose="02020603050405020304" pitchFamily="18" charset="0"/>
              </a:rPr>
              <a:t>安装：</a:t>
            </a:r>
            <a:r>
              <a:rPr lang="en-US" altLang="zh-CN" sz="1800">
                <a:solidFill>
                  <a:srgbClr val="000066"/>
                </a:solidFill>
                <a:latin typeface="Times New Roman" panose="02020603050405020304" pitchFamily="18" charset="0"/>
                <a:cs typeface="Times New Roman" panose="02020603050405020304" pitchFamily="18" charset="0"/>
              </a:rPr>
              <a:t>pip install sklearn</a:t>
            </a:r>
          </a:p>
          <a:p>
            <a:pPr marL="0" indent="0">
              <a:lnSpc>
                <a:spcPct val="150000"/>
              </a:lnSpc>
              <a:spcBef>
                <a:spcPts val="0"/>
              </a:spcBef>
              <a:buNone/>
            </a:pPr>
            <a:r>
              <a:rPr lang="zh-CN" altLang="en-US" sz="1800">
                <a:solidFill>
                  <a:srgbClr val="000066"/>
                </a:solidFill>
                <a:latin typeface="Times New Roman" panose="02020603050405020304" pitchFamily="18" charset="0"/>
                <a:cs typeface="Times New Roman" panose="02020603050405020304" pitchFamily="18" charset="0"/>
              </a:rPr>
              <a:t>      </a:t>
            </a:r>
            <a:r>
              <a:rPr lang="en-US" altLang="zh-CN" sz="1800">
                <a:solidFill>
                  <a:srgbClr val="000066"/>
                </a:solidFill>
                <a:latin typeface="Times New Roman" panose="02020603050405020304" pitchFamily="18" charset="0"/>
                <a:cs typeface="Times New Roman" panose="02020603050405020304" pitchFamily="18" charset="0"/>
              </a:rPr>
              <a:t>※ </a:t>
            </a:r>
            <a:r>
              <a:rPr lang="zh-CN" altLang="en-US" sz="1800">
                <a:solidFill>
                  <a:srgbClr val="000066"/>
                </a:solidFill>
                <a:latin typeface="Times New Roman" panose="02020603050405020304" pitchFamily="18" charset="0"/>
                <a:cs typeface="Times New Roman" panose="02020603050405020304" pitchFamily="18" charset="0"/>
              </a:rPr>
              <a:t>本</a:t>
            </a:r>
            <a:r>
              <a:rPr lang="en-US" altLang="zh-CN" sz="1800">
                <a:solidFill>
                  <a:srgbClr val="000066"/>
                </a:solidFill>
                <a:latin typeface="Times New Roman" panose="02020603050405020304" pitchFamily="18" charset="0"/>
                <a:cs typeface="Times New Roman" panose="02020603050405020304" pitchFamily="18" charset="0"/>
              </a:rPr>
              <a:t>PPT</a:t>
            </a:r>
            <a:r>
              <a:rPr lang="zh-CN" altLang="en-US" sz="1800">
                <a:solidFill>
                  <a:srgbClr val="000066"/>
                </a:solidFill>
                <a:latin typeface="Times New Roman" panose="02020603050405020304" pitchFamily="18" charset="0"/>
                <a:cs typeface="Times New Roman" panose="02020603050405020304" pitchFamily="18" charset="0"/>
              </a:rPr>
              <a:t>所用模块</a:t>
            </a:r>
            <a:endParaRPr lang="en-US" altLang="zh-CN" sz="1800" dirty="0">
              <a:solidFill>
                <a:srgbClr val="000066"/>
              </a:solidFill>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四</a:t>
            </a:r>
            <a:r>
              <a:rPr lang="zh-CN" altLang="en-US" sz="2400">
                <a:solidFill>
                  <a:srgbClr val="FFFFFF"/>
                </a:solidFill>
              </a:rPr>
              <a:t>、机器学习基本知识</a:t>
            </a:r>
            <a:endParaRPr lang="zh-CN" altLang="en-US" sz="2400" dirty="0"/>
          </a:p>
        </p:txBody>
      </p:sp>
      <p:sp>
        <p:nvSpPr>
          <p:cNvPr id="5" name="文本框 4">
            <a:extLst>
              <a:ext uri="{FF2B5EF4-FFF2-40B4-BE49-F238E27FC236}">
                <a16:creationId xmlns:a16="http://schemas.microsoft.com/office/drawing/2014/main" id="{8105108F-982B-456D-9F47-31F5178FD866}"/>
              </a:ext>
            </a:extLst>
          </p:cNvPr>
          <p:cNvSpPr txBox="1"/>
          <p:nvPr/>
        </p:nvSpPr>
        <p:spPr>
          <a:xfrm>
            <a:off x="1203858" y="3711447"/>
            <a:ext cx="851515" cy="369332"/>
          </a:xfrm>
          <a:prstGeom prst="rect">
            <a:avLst/>
          </a:prstGeom>
          <a:noFill/>
          <a:ln>
            <a:solidFill>
              <a:schemeClr val="accent1"/>
            </a:solidFill>
          </a:ln>
        </p:spPr>
        <p:txBody>
          <a:bodyPr wrap="none" rtlCol="0">
            <a:spAutoFit/>
          </a:bodyPr>
          <a:lstStyle/>
          <a:p>
            <a:r>
              <a:rPr lang="en-US" altLang="zh-CN">
                <a:solidFill>
                  <a:srgbClr val="000066"/>
                </a:solidFill>
                <a:latin typeface="Times New Roman" panose="02020603050405020304" pitchFamily="18" charset="0"/>
                <a:cs typeface="Times New Roman" panose="02020603050405020304" pitchFamily="18" charset="0"/>
              </a:rPr>
              <a:t>sklearn</a:t>
            </a:r>
            <a:endParaRPr lang="zh-CN" altLang="en-US"/>
          </a:p>
        </p:txBody>
      </p:sp>
      <p:sp>
        <p:nvSpPr>
          <p:cNvPr id="7" name="左大括号 6">
            <a:extLst>
              <a:ext uri="{FF2B5EF4-FFF2-40B4-BE49-F238E27FC236}">
                <a16:creationId xmlns:a16="http://schemas.microsoft.com/office/drawing/2014/main" id="{8A7DBD7A-BA8B-415D-9D96-8F6C0AF1B880}"/>
              </a:ext>
            </a:extLst>
          </p:cNvPr>
          <p:cNvSpPr/>
          <p:nvPr/>
        </p:nvSpPr>
        <p:spPr>
          <a:xfrm>
            <a:off x="2091377" y="3090573"/>
            <a:ext cx="228605" cy="1633522"/>
          </a:xfrm>
          <a:prstGeom prst="leftBrace">
            <a:avLst/>
          </a:prstGeom>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0F4FD2E4-96A8-4AEC-979A-2AC374E2CA9E}"/>
              </a:ext>
            </a:extLst>
          </p:cNvPr>
          <p:cNvSpPr txBox="1"/>
          <p:nvPr/>
        </p:nvSpPr>
        <p:spPr>
          <a:xfrm>
            <a:off x="2308780" y="3502654"/>
            <a:ext cx="1402948" cy="369332"/>
          </a:xfrm>
          <a:prstGeom prst="rect">
            <a:avLst/>
          </a:prstGeom>
          <a:noFill/>
        </p:spPr>
        <p:txBody>
          <a:bodyPr wrap="none" rtlCol="0">
            <a:spAutoFit/>
          </a:bodyPr>
          <a:lstStyle/>
          <a:p>
            <a:pPr indent="0">
              <a:spcBef>
                <a:spcPts val="0"/>
              </a:spcBef>
              <a:buNone/>
            </a:pPr>
            <a:r>
              <a:rPr lang="en-US" altLang="zh-CN">
                <a:solidFill>
                  <a:srgbClr val="000066"/>
                </a:solidFill>
                <a:latin typeface="Times New Roman" panose="02020603050405020304" pitchFamily="18" charset="0"/>
                <a:cs typeface="Times New Roman" panose="02020603050405020304" pitchFamily="18" charset="0"/>
              </a:rPr>
              <a:t>linear_model</a:t>
            </a:r>
          </a:p>
        </p:txBody>
      </p:sp>
      <p:sp>
        <p:nvSpPr>
          <p:cNvPr id="9" name="文本框 8">
            <a:extLst>
              <a:ext uri="{FF2B5EF4-FFF2-40B4-BE49-F238E27FC236}">
                <a16:creationId xmlns:a16="http://schemas.microsoft.com/office/drawing/2014/main" id="{01F4F60B-86F3-4EED-92E9-F3BC54F00502}"/>
              </a:ext>
            </a:extLst>
          </p:cNvPr>
          <p:cNvSpPr txBox="1"/>
          <p:nvPr/>
        </p:nvSpPr>
        <p:spPr>
          <a:xfrm>
            <a:off x="2308780" y="3969751"/>
            <a:ext cx="1095172" cy="369332"/>
          </a:xfrm>
          <a:prstGeom prst="rect">
            <a:avLst/>
          </a:prstGeom>
          <a:noFill/>
        </p:spPr>
        <p:txBody>
          <a:bodyPr wrap="none" rtlCol="0">
            <a:spAutoFit/>
          </a:bodyPr>
          <a:lstStyle/>
          <a:p>
            <a:r>
              <a:rPr lang="en-US" altLang="zh-CN">
                <a:solidFill>
                  <a:srgbClr val="000066"/>
                </a:solidFill>
                <a:latin typeface="Times New Roman" panose="02020603050405020304" pitchFamily="18" charset="0"/>
                <a:cs typeface="Times New Roman" panose="02020603050405020304" pitchFamily="18" charset="0"/>
              </a:rPr>
              <a:t>neighbors</a:t>
            </a:r>
            <a:endParaRPr lang="zh-CN" altLang="en-US"/>
          </a:p>
        </p:txBody>
      </p:sp>
      <p:sp>
        <p:nvSpPr>
          <p:cNvPr id="10" name="文本框 9">
            <a:extLst>
              <a:ext uri="{FF2B5EF4-FFF2-40B4-BE49-F238E27FC236}">
                <a16:creationId xmlns:a16="http://schemas.microsoft.com/office/drawing/2014/main" id="{13F920C3-3B6A-4D10-B738-132D3A6CFFE0}"/>
              </a:ext>
            </a:extLst>
          </p:cNvPr>
          <p:cNvSpPr txBox="1"/>
          <p:nvPr/>
        </p:nvSpPr>
        <p:spPr>
          <a:xfrm>
            <a:off x="2308780" y="4506674"/>
            <a:ext cx="851515" cy="369332"/>
          </a:xfrm>
          <a:prstGeom prst="rect">
            <a:avLst/>
          </a:prstGeom>
          <a:noFill/>
        </p:spPr>
        <p:txBody>
          <a:bodyPr wrap="none" rtlCol="0">
            <a:spAutoFit/>
          </a:bodyPr>
          <a:lstStyle/>
          <a:p>
            <a:r>
              <a:rPr lang="en-US" altLang="zh-CN">
                <a:solidFill>
                  <a:srgbClr val="000066"/>
                </a:solidFill>
                <a:latin typeface="Times New Roman" panose="02020603050405020304" pitchFamily="18" charset="0"/>
                <a:cs typeface="Times New Roman" panose="02020603050405020304" pitchFamily="18" charset="0"/>
              </a:rPr>
              <a:t>cluster </a:t>
            </a:r>
            <a:endParaRPr lang="zh-CN" altLang="en-US"/>
          </a:p>
        </p:txBody>
      </p:sp>
      <p:sp>
        <p:nvSpPr>
          <p:cNvPr id="11" name="文本框 10">
            <a:extLst>
              <a:ext uri="{FF2B5EF4-FFF2-40B4-BE49-F238E27FC236}">
                <a16:creationId xmlns:a16="http://schemas.microsoft.com/office/drawing/2014/main" id="{7D0B6E06-C0CC-4E71-A71B-49C2EAF5B143}"/>
              </a:ext>
            </a:extLst>
          </p:cNvPr>
          <p:cNvSpPr txBox="1"/>
          <p:nvPr/>
        </p:nvSpPr>
        <p:spPr>
          <a:xfrm>
            <a:off x="3951535" y="3489936"/>
            <a:ext cx="3025187" cy="403957"/>
          </a:xfrm>
          <a:prstGeom prst="rect">
            <a:avLst/>
          </a:prstGeom>
          <a:noFill/>
        </p:spPr>
        <p:txBody>
          <a:bodyPr wrap="none" rtlCol="0">
            <a:spAutoFit/>
          </a:bodyPr>
          <a:lstStyle/>
          <a:p>
            <a:pPr indent="0">
              <a:lnSpc>
                <a:spcPct val="125000"/>
              </a:lnSpc>
              <a:spcBef>
                <a:spcPts val="0"/>
              </a:spcBef>
              <a:buNone/>
            </a:pPr>
            <a:r>
              <a:rPr lang="en-US" altLang="zh-CN">
                <a:solidFill>
                  <a:srgbClr val="000066"/>
                </a:solidFill>
                <a:latin typeface="Times New Roman" panose="02020603050405020304" pitchFamily="18" charset="0"/>
                <a:cs typeface="Times New Roman" panose="02020603050405020304" pitchFamily="18" charset="0"/>
              </a:rPr>
              <a:t>LinearRegression</a:t>
            </a:r>
            <a:r>
              <a:rPr lang="zh-CN" altLang="en-US">
                <a:solidFill>
                  <a:srgbClr val="002060"/>
                </a:solidFill>
                <a:latin typeface="Times New Roman" panose="02020603050405020304" pitchFamily="18" charset="0"/>
                <a:cs typeface="Times New Roman" panose="02020603050405020304" pitchFamily="18" charset="0"/>
              </a:rPr>
              <a:t> ：</a:t>
            </a:r>
            <a:r>
              <a:rPr lang="zh-CN" altLang="en-US">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线性回归</a:t>
            </a:r>
            <a:endParaRPr lang="en-US" altLang="zh-CN">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13" name="直接箭头连接符 12">
            <a:extLst>
              <a:ext uri="{FF2B5EF4-FFF2-40B4-BE49-F238E27FC236}">
                <a16:creationId xmlns:a16="http://schemas.microsoft.com/office/drawing/2014/main" id="{F535D954-8E0D-4F04-8445-644EDB3DEC0E}"/>
              </a:ext>
            </a:extLst>
          </p:cNvPr>
          <p:cNvCxnSpPr>
            <a:cxnSpLocks/>
          </p:cNvCxnSpPr>
          <p:nvPr/>
        </p:nvCxnSpPr>
        <p:spPr>
          <a:xfrm>
            <a:off x="3616126" y="3731557"/>
            <a:ext cx="396044"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29858624-0E5B-4F3C-A618-F2E02F63A8DE}"/>
              </a:ext>
            </a:extLst>
          </p:cNvPr>
          <p:cNvSpPr txBox="1"/>
          <p:nvPr/>
        </p:nvSpPr>
        <p:spPr>
          <a:xfrm>
            <a:off x="3958138" y="3995620"/>
            <a:ext cx="3114955" cy="403957"/>
          </a:xfrm>
          <a:prstGeom prst="rect">
            <a:avLst/>
          </a:prstGeom>
          <a:noFill/>
        </p:spPr>
        <p:txBody>
          <a:bodyPr wrap="none" rtlCol="0">
            <a:spAutoFit/>
          </a:bodyPr>
          <a:lstStyle/>
          <a:p>
            <a:pPr indent="0">
              <a:lnSpc>
                <a:spcPct val="125000"/>
              </a:lnSpc>
              <a:spcBef>
                <a:spcPts val="0"/>
              </a:spcBef>
              <a:buNone/>
            </a:pPr>
            <a:r>
              <a:rPr lang="en-US" altLang="zh-CN">
                <a:solidFill>
                  <a:srgbClr val="000066"/>
                </a:solidFill>
                <a:latin typeface="Times New Roman" panose="02020603050405020304" pitchFamily="18" charset="0"/>
                <a:cs typeface="Times New Roman" panose="02020603050405020304" pitchFamily="18" charset="0"/>
              </a:rPr>
              <a:t>KNeighborsClassifier</a:t>
            </a:r>
            <a:r>
              <a:rPr lang="zh-CN" altLang="en-US">
                <a:solidFill>
                  <a:srgbClr val="002060"/>
                </a:solidFill>
                <a:latin typeface="Times New Roman" panose="02020603050405020304" pitchFamily="18" charset="0"/>
                <a:cs typeface="Times New Roman" panose="02020603050405020304" pitchFamily="18" charset="0"/>
              </a:rPr>
              <a:t> ：</a:t>
            </a:r>
            <a:r>
              <a:rPr lang="en-US" altLang="zh-CN">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en-US">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近邻</a:t>
            </a:r>
            <a:endParaRPr lang="en-US" altLang="zh-CN">
              <a:solidFill>
                <a:srgbClr val="000066"/>
              </a:solidFill>
              <a:latin typeface="Times New Roman" panose="02020603050405020304" pitchFamily="18" charset="0"/>
              <a:cs typeface="Times New Roman" panose="02020603050405020304" pitchFamily="18" charset="0"/>
            </a:endParaRPr>
          </a:p>
        </p:txBody>
      </p:sp>
      <p:cxnSp>
        <p:nvCxnSpPr>
          <p:cNvPr id="18" name="直接箭头连接符 17">
            <a:extLst>
              <a:ext uri="{FF2B5EF4-FFF2-40B4-BE49-F238E27FC236}">
                <a16:creationId xmlns:a16="http://schemas.microsoft.com/office/drawing/2014/main" id="{5B21D1DB-5744-4AC5-A27D-DFD4BAC1F3A3}"/>
              </a:ext>
            </a:extLst>
          </p:cNvPr>
          <p:cNvCxnSpPr>
            <a:cxnSpLocks/>
          </p:cNvCxnSpPr>
          <p:nvPr/>
        </p:nvCxnSpPr>
        <p:spPr>
          <a:xfrm>
            <a:off x="3367748" y="4227934"/>
            <a:ext cx="644422"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D4DA6E7E-2A5C-43CD-85CC-062BDA618311}"/>
              </a:ext>
            </a:extLst>
          </p:cNvPr>
          <p:cNvSpPr txBox="1"/>
          <p:nvPr/>
        </p:nvSpPr>
        <p:spPr>
          <a:xfrm>
            <a:off x="3958138" y="4461732"/>
            <a:ext cx="1800493" cy="403316"/>
          </a:xfrm>
          <a:prstGeom prst="rect">
            <a:avLst/>
          </a:prstGeom>
          <a:noFill/>
        </p:spPr>
        <p:txBody>
          <a:bodyPr wrap="none" rtlCol="0">
            <a:spAutoFit/>
          </a:bodyPr>
          <a:lstStyle/>
          <a:p>
            <a:pPr indent="0">
              <a:lnSpc>
                <a:spcPct val="125000"/>
              </a:lnSpc>
              <a:spcBef>
                <a:spcPts val="0"/>
              </a:spcBef>
              <a:buNone/>
            </a:pPr>
            <a:r>
              <a:rPr lang="en-US" altLang="zh-CN">
                <a:solidFill>
                  <a:srgbClr val="000066"/>
                </a:solidFill>
                <a:latin typeface="Times New Roman" panose="02020603050405020304" pitchFamily="18" charset="0"/>
                <a:cs typeface="Times New Roman" panose="02020603050405020304" pitchFamily="18" charset="0"/>
              </a:rPr>
              <a:t>Kmeans</a:t>
            </a:r>
            <a:r>
              <a:rPr lang="zh-CN" altLang="en-US">
                <a:solidFill>
                  <a:srgbClr val="000066"/>
                </a:solidFill>
                <a:latin typeface="Times New Roman" panose="02020603050405020304" pitchFamily="18" charset="0"/>
                <a:cs typeface="Times New Roman" panose="02020603050405020304" pitchFamily="18" charset="0"/>
              </a:rPr>
              <a:t>：</a:t>
            </a:r>
            <a:r>
              <a:rPr lang="en-US" altLang="zh-CN">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en-US">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均值</a:t>
            </a:r>
            <a:endParaRPr lang="en-US" altLang="zh-CN">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21" name="直接箭头连接符 20">
            <a:extLst>
              <a:ext uri="{FF2B5EF4-FFF2-40B4-BE49-F238E27FC236}">
                <a16:creationId xmlns:a16="http://schemas.microsoft.com/office/drawing/2014/main" id="{F574BC0F-ED37-4A48-BE9A-E8FF277F11E1}"/>
              </a:ext>
            </a:extLst>
          </p:cNvPr>
          <p:cNvCxnSpPr>
            <a:cxnSpLocks/>
          </p:cNvCxnSpPr>
          <p:nvPr/>
        </p:nvCxnSpPr>
        <p:spPr>
          <a:xfrm>
            <a:off x="3083219" y="4707555"/>
            <a:ext cx="928951"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E6EE94D0-B635-44A9-BB64-B9FB48624D1A}"/>
              </a:ext>
            </a:extLst>
          </p:cNvPr>
          <p:cNvSpPr txBox="1"/>
          <p:nvPr/>
        </p:nvSpPr>
        <p:spPr>
          <a:xfrm>
            <a:off x="2308780" y="2867477"/>
            <a:ext cx="915635" cy="369332"/>
          </a:xfrm>
          <a:prstGeom prst="rect">
            <a:avLst/>
          </a:prstGeom>
          <a:noFill/>
        </p:spPr>
        <p:txBody>
          <a:bodyPr wrap="none" rtlCol="0">
            <a:spAutoFit/>
          </a:bodyPr>
          <a:lstStyle/>
          <a:p>
            <a:pPr indent="0">
              <a:spcBef>
                <a:spcPts val="0"/>
              </a:spcBef>
              <a:buNone/>
            </a:pPr>
            <a:r>
              <a:rPr lang="zh-CN" altLang="en-US">
                <a:solidFill>
                  <a:srgbClr val="000066"/>
                </a:solidFill>
                <a:latin typeface="Times New Roman" panose="02020603050405020304" pitchFamily="18" charset="0"/>
                <a:cs typeface="Times New Roman" panose="02020603050405020304" pitchFamily="18" charset="0"/>
              </a:rPr>
              <a:t>datasets</a:t>
            </a:r>
            <a:endParaRPr lang="en-US" altLang="zh-CN">
              <a:solidFill>
                <a:srgbClr val="000066"/>
              </a:solidFill>
              <a:latin typeface="Times New Roman" panose="02020603050405020304" pitchFamily="18" charset="0"/>
              <a:cs typeface="Times New Roman" panose="02020603050405020304" pitchFamily="18" charset="0"/>
            </a:endParaRPr>
          </a:p>
        </p:txBody>
      </p:sp>
      <p:sp>
        <p:nvSpPr>
          <p:cNvPr id="26" name="文本框 25">
            <a:extLst>
              <a:ext uri="{FF2B5EF4-FFF2-40B4-BE49-F238E27FC236}">
                <a16:creationId xmlns:a16="http://schemas.microsoft.com/office/drawing/2014/main" id="{7D930AE5-FF6E-4DE9-B12E-56C349B77771}"/>
              </a:ext>
            </a:extLst>
          </p:cNvPr>
          <p:cNvSpPr txBox="1"/>
          <p:nvPr/>
        </p:nvSpPr>
        <p:spPr>
          <a:xfrm>
            <a:off x="3883420" y="2440767"/>
            <a:ext cx="3223959" cy="403957"/>
          </a:xfrm>
          <a:prstGeom prst="rect">
            <a:avLst/>
          </a:prstGeom>
          <a:noFill/>
        </p:spPr>
        <p:txBody>
          <a:bodyPr wrap="none" rtlCol="0">
            <a:spAutoFit/>
          </a:bodyPr>
          <a:lstStyle/>
          <a:p>
            <a:pPr indent="0">
              <a:lnSpc>
                <a:spcPct val="125000"/>
              </a:lnSpc>
              <a:spcBef>
                <a:spcPts val="0"/>
              </a:spcBef>
              <a:buNone/>
            </a:pPr>
            <a:r>
              <a:rPr lang="en-US" altLang="zh-CN">
                <a:solidFill>
                  <a:srgbClr val="002060"/>
                </a:solidFill>
                <a:latin typeface="Times New Roman" panose="02020603050405020304" pitchFamily="18" charset="0"/>
                <a:cs typeface="Times New Roman" panose="02020603050405020304" pitchFamily="18" charset="0"/>
              </a:rPr>
              <a:t>load_iris()</a:t>
            </a:r>
            <a:r>
              <a:rPr lang="zh-CN" altLang="en-US">
                <a:solidFill>
                  <a:srgbClr val="002060"/>
                </a:solidFill>
                <a:latin typeface="Times New Roman" panose="02020603050405020304" pitchFamily="18" charset="0"/>
                <a:cs typeface="Times New Roman" panose="02020603050405020304" pitchFamily="18" charset="0"/>
              </a:rPr>
              <a:t>：</a:t>
            </a:r>
            <a:r>
              <a:rPr lang="zh-CN" altLang="en-US">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加载鸢尾花数据集</a:t>
            </a:r>
            <a:endParaRPr lang="en-US" altLang="zh-CN">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27" name="直接箭头连接符 26">
            <a:extLst>
              <a:ext uri="{FF2B5EF4-FFF2-40B4-BE49-F238E27FC236}">
                <a16:creationId xmlns:a16="http://schemas.microsoft.com/office/drawing/2014/main" id="{5DFFA1C7-EA76-4C5D-8AE7-A71F81C93B6E}"/>
              </a:ext>
            </a:extLst>
          </p:cNvPr>
          <p:cNvCxnSpPr>
            <a:cxnSpLocks/>
          </p:cNvCxnSpPr>
          <p:nvPr/>
        </p:nvCxnSpPr>
        <p:spPr>
          <a:xfrm flipV="1">
            <a:off x="3133757" y="2685966"/>
            <a:ext cx="779800" cy="392083"/>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5F25A5AA-D01E-420C-8D2B-1E26F0700A18}"/>
              </a:ext>
            </a:extLst>
          </p:cNvPr>
          <p:cNvCxnSpPr>
            <a:cxnSpLocks/>
          </p:cNvCxnSpPr>
          <p:nvPr/>
        </p:nvCxnSpPr>
        <p:spPr>
          <a:xfrm>
            <a:off x="3138230" y="3074121"/>
            <a:ext cx="818927" cy="201316"/>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07816B8A-9A1B-4D82-9DCB-87693B7F64F5}"/>
              </a:ext>
            </a:extLst>
          </p:cNvPr>
          <p:cNvSpPr txBox="1"/>
          <p:nvPr/>
        </p:nvSpPr>
        <p:spPr>
          <a:xfrm>
            <a:off x="3924105" y="3008015"/>
            <a:ext cx="3820277" cy="403957"/>
          </a:xfrm>
          <a:prstGeom prst="rect">
            <a:avLst/>
          </a:prstGeom>
          <a:noFill/>
        </p:spPr>
        <p:txBody>
          <a:bodyPr wrap="none" rtlCol="0">
            <a:spAutoFit/>
          </a:bodyPr>
          <a:lstStyle/>
          <a:p>
            <a:pPr indent="0">
              <a:lnSpc>
                <a:spcPct val="125000"/>
              </a:lnSpc>
              <a:spcBef>
                <a:spcPts val="0"/>
              </a:spcBef>
              <a:buNone/>
            </a:pPr>
            <a:r>
              <a:rPr lang="zh-CN" altLang="en-US">
                <a:solidFill>
                  <a:srgbClr val="000066"/>
                </a:solidFill>
                <a:latin typeface="Times New Roman" panose="02020603050405020304" pitchFamily="18" charset="0"/>
                <a:cs typeface="Times New Roman" panose="02020603050405020304" pitchFamily="18" charset="0"/>
              </a:rPr>
              <a:t>make_blobs</a:t>
            </a:r>
            <a:r>
              <a:rPr lang="en-US" altLang="zh-CN">
                <a:solidFill>
                  <a:srgbClr val="000066"/>
                </a:solidFill>
                <a:latin typeface="Times New Roman" panose="02020603050405020304" pitchFamily="18" charset="0"/>
                <a:cs typeface="Times New Roman" panose="02020603050405020304" pitchFamily="18" charset="0"/>
              </a:rPr>
              <a:t>()</a:t>
            </a:r>
            <a:r>
              <a:rPr lang="zh-CN" altLang="en-US">
                <a:solidFill>
                  <a:srgbClr val="002060"/>
                </a:solidFill>
                <a:latin typeface="Times New Roman" panose="02020603050405020304" pitchFamily="18" charset="0"/>
                <a:cs typeface="Times New Roman" panose="02020603050405020304" pitchFamily="18" charset="0"/>
              </a:rPr>
              <a:t> ：</a:t>
            </a:r>
            <a:r>
              <a:rPr lang="zh-CN" altLang="en-US">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随机生成聚类数据集</a:t>
            </a:r>
            <a:endParaRPr lang="en-US" altLang="zh-CN">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375552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五、机器学习的经典算法</a:t>
            </a:r>
            <a:endParaRPr lang="zh-CN" altLang="en-US" sz="2400" dirty="0"/>
          </a:p>
        </p:txBody>
      </p:sp>
      <p:sp>
        <p:nvSpPr>
          <p:cNvPr id="3" name="内容占位符 2"/>
          <p:cNvSpPr>
            <a:spLocks noGrp="1"/>
          </p:cNvSpPr>
          <p:nvPr>
            <p:ph idx="1"/>
          </p:nvPr>
        </p:nvSpPr>
        <p:spPr>
          <a:xfrm>
            <a:off x="611559" y="986626"/>
            <a:ext cx="8424937" cy="1585124"/>
          </a:xfrm>
        </p:spPr>
        <p:txBody>
          <a:bodyPr>
            <a:noAutofit/>
          </a:bodyPr>
          <a:lstStyle/>
          <a:p>
            <a:pPr marL="0" indent="0">
              <a:lnSpc>
                <a:spcPct val="150000"/>
              </a:lnSpc>
              <a:spcBef>
                <a:spcPts val="0"/>
              </a:spcBef>
              <a:buNone/>
            </a:pPr>
            <a:r>
              <a:rPr lang="zh-CN" altLang="en-US" sz="1800" dirty="0">
                <a:solidFill>
                  <a:srgbClr val="000066"/>
                </a:solidFill>
                <a:latin typeface="Times New Roman" panose="02020603050405020304" pitchFamily="18" charset="0"/>
                <a:cs typeface="Times New Roman" panose="02020603050405020304" pitchFamily="18" charset="0"/>
              </a:rPr>
              <a:t>一、线性回归</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dirty="0">
                <a:latin typeface="Times New Roman" panose="02020603050405020304" pitchFamily="18" charset="0"/>
                <a:cs typeface="Times New Roman" panose="02020603050405020304" pitchFamily="18" charset="0"/>
              </a:rPr>
              <a:t>        ※ </a:t>
            </a:r>
            <a:r>
              <a:rPr lang="zh-CN" altLang="en-US" sz="1800" dirty="0">
                <a:latin typeface="Times New Roman" panose="02020603050405020304" pitchFamily="18" charset="0"/>
                <a:cs typeface="Times New Roman" panose="02020603050405020304" pitchFamily="18" charset="0"/>
              </a:rPr>
              <a:t>线性回归是最简单的线性模型之一。有人认为，线性回归是一切模型之母。</a:t>
            </a:r>
            <a:endParaRPr lang="en-US" altLang="zh-CN" sz="1800"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dirty="0">
                <a:latin typeface="Times New Roman" panose="02020603050405020304" pitchFamily="18" charset="0"/>
                <a:cs typeface="Times New Roman" panose="02020603050405020304" pitchFamily="18" charset="0"/>
              </a:rPr>
              <a:t>        ※ </a:t>
            </a:r>
            <a:r>
              <a:rPr lang="zh-CN" altLang="en-US" sz="1800" dirty="0">
                <a:latin typeface="Times New Roman" panose="02020603050405020304" pitchFamily="18" charset="0"/>
                <a:cs typeface="Times New Roman" panose="02020603050405020304" pitchFamily="18" charset="0"/>
              </a:rPr>
              <a:t>线性回归是利用数理统计中回归分析，</a:t>
            </a:r>
            <a:endParaRPr lang="en-US" altLang="zh-CN" sz="1800"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来确定两种或两种以上变量间相互依赖的定量关系的一种统计分析方法。</a:t>
            </a:r>
            <a:endParaRPr lang="en-US" altLang="zh-CN" sz="1800"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600" dirty="0">
                <a:latin typeface="Times New Roman" panose="02020603050405020304" pitchFamily="18" charset="0"/>
                <a:cs typeface="Times New Roman" panose="02020603050405020304" pitchFamily="18" charset="0"/>
              </a:rPr>
              <a:t>   </a:t>
            </a:r>
            <a:endParaRPr lang="zh-CN" altLang="zh-CN" sz="1600" dirty="0"/>
          </a:p>
        </p:txBody>
      </p:sp>
      <p:cxnSp>
        <p:nvCxnSpPr>
          <p:cNvPr id="5" name="直接箭头连接符 4">
            <a:extLst>
              <a:ext uri="{FF2B5EF4-FFF2-40B4-BE49-F238E27FC236}">
                <a16:creationId xmlns:a16="http://schemas.microsoft.com/office/drawing/2014/main" id="{D31AB7B5-5120-4B4E-98AA-85132E0B0DDD}"/>
              </a:ext>
            </a:extLst>
          </p:cNvPr>
          <p:cNvCxnSpPr>
            <a:cxnSpLocks/>
          </p:cNvCxnSpPr>
          <p:nvPr/>
        </p:nvCxnSpPr>
        <p:spPr>
          <a:xfrm>
            <a:off x="3131840" y="4166419"/>
            <a:ext cx="3168352" cy="0"/>
          </a:xfrm>
          <a:prstGeom prst="straightConnector1">
            <a:avLst/>
          </a:prstGeom>
          <a:ln w="12700">
            <a:solidFill>
              <a:srgbClr val="000066"/>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86D03DE6-8936-4EF7-BBF1-052027D27688}"/>
              </a:ext>
            </a:extLst>
          </p:cNvPr>
          <p:cNvCxnSpPr>
            <a:cxnSpLocks/>
          </p:cNvCxnSpPr>
          <p:nvPr/>
        </p:nvCxnSpPr>
        <p:spPr>
          <a:xfrm flipV="1">
            <a:off x="3131840" y="2946852"/>
            <a:ext cx="0" cy="1224136"/>
          </a:xfrm>
          <a:prstGeom prst="straightConnector1">
            <a:avLst/>
          </a:prstGeom>
          <a:ln w="12700">
            <a:solidFill>
              <a:srgbClr val="000066"/>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58207FEA-1189-4A43-AEA7-4F3E9EEEC363}"/>
              </a:ext>
            </a:extLst>
          </p:cNvPr>
          <p:cNvCxnSpPr>
            <a:cxnSpLocks/>
          </p:cNvCxnSpPr>
          <p:nvPr/>
        </p:nvCxnSpPr>
        <p:spPr>
          <a:xfrm flipV="1">
            <a:off x="2555776" y="2952741"/>
            <a:ext cx="3770729" cy="1209110"/>
          </a:xfrm>
          <a:prstGeom prst="line">
            <a:avLst/>
          </a:prstGeom>
          <a:ln w="19050">
            <a:solidFill>
              <a:srgbClr val="A50021"/>
            </a:solidFill>
          </a:ln>
        </p:spPr>
        <p:style>
          <a:lnRef idx="1">
            <a:schemeClr val="accent1"/>
          </a:lnRef>
          <a:fillRef idx="0">
            <a:schemeClr val="accent1"/>
          </a:fillRef>
          <a:effectRef idx="0">
            <a:schemeClr val="accent1"/>
          </a:effectRef>
          <a:fontRef idx="minor">
            <a:schemeClr val="tx1"/>
          </a:fontRef>
        </p:style>
      </p:cxnSp>
      <p:sp>
        <p:nvSpPr>
          <p:cNvPr id="20" name="流程图: 接点 19">
            <a:extLst>
              <a:ext uri="{FF2B5EF4-FFF2-40B4-BE49-F238E27FC236}">
                <a16:creationId xmlns:a16="http://schemas.microsoft.com/office/drawing/2014/main" id="{2A8D4A31-298C-4E47-8829-A4EF45047C3B}"/>
              </a:ext>
            </a:extLst>
          </p:cNvPr>
          <p:cNvSpPr/>
          <p:nvPr/>
        </p:nvSpPr>
        <p:spPr bwMode="gray">
          <a:xfrm>
            <a:off x="3599905" y="3630940"/>
            <a:ext cx="108000" cy="108000"/>
          </a:xfrm>
          <a:prstGeom prst="flowChartConnector">
            <a:avLst/>
          </a:prstGeom>
          <a:solidFill>
            <a:srgbClr val="A50021"/>
          </a:solidFill>
          <a:ln w="9525">
            <a:noFill/>
            <a:miter lim="800000"/>
            <a:headEnd/>
            <a:tailEnd/>
          </a:ln>
          <a:effectLst/>
        </p:spPr>
        <p:txBody>
          <a:bodyPr wrap="none" rtlCol="0" anchor="ctr"/>
          <a:lstStyle/>
          <a:p>
            <a:pPr algn="ctr" eaLnBrk="0" hangingPunct="0"/>
            <a:endParaRPr lang="zh-CN" altLang="en-US" sz="1400" b="1" dirty="0">
              <a:latin typeface="黑体" panose="02010609060101010101" pitchFamily="49" charset="-122"/>
              <a:ea typeface="黑体" panose="02010609060101010101" pitchFamily="49" charset="-122"/>
            </a:endParaRPr>
          </a:p>
        </p:txBody>
      </p:sp>
      <p:sp>
        <p:nvSpPr>
          <p:cNvPr id="21" name="流程图: 接点 20">
            <a:extLst>
              <a:ext uri="{FF2B5EF4-FFF2-40B4-BE49-F238E27FC236}">
                <a16:creationId xmlns:a16="http://schemas.microsoft.com/office/drawing/2014/main" id="{A3DDFA02-5732-4224-B9C7-54A7D67555C5}"/>
              </a:ext>
            </a:extLst>
          </p:cNvPr>
          <p:cNvSpPr/>
          <p:nvPr/>
        </p:nvSpPr>
        <p:spPr bwMode="gray">
          <a:xfrm>
            <a:off x="4121969" y="3738940"/>
            <a:ext cx="108000" cy="108000"/>
          </a:xfrm>
          <a:prstGeom prst="flowChartConnector">
            <a:avLst/>
          </a:prstGeom>
          <a:solidFill>
            <a:srgbClr val="A50021"/>
          </a:solidFill>
          <a:ln w="9525">
            <a:noFill/>
            <a:miter lim="800000"/>
            <a:headEnd/>
            <a:tailEnd/>
          </a:ln>
          <a:effectLst/>
        </p:spPr>
        <p:txBody>
          <a:bodyPr wrap="none" rtlCol="0" anchor="ctr"/>
          <a:lstStyle/>
          <a:p>
            <a:pPr algn="ctr" eaLnBrk="0" hangingPunct="0"/>
            <a:endParaRPr lang="zh-CN" altLang="en-US" sz="1400" b="1" dirty="0">
              <a:latin typeface="黑体" panose="02010609060101010101" pitchFamily="49" charset="-122"/>
              <a:ea typeface="黑体" panose="02010609060101010101" pitchFamily="49" charset="-122"/>
            </a:endParaRPr>
          </a:p>
        </p:txBody>
      </p:sp>
      <p:sp>
        <p:nvSpPr>
          <p:cNvPr id="22" name="流程图: 接点 21">
            <a:extLst>
              <a:ext uri="{FF2B5EF4-FFF2-40B4-BE49-F238E27FC236}">
                <a16:creationId xmlns:a16="http://schemas.microsoft.com/office/drawing/2014/main" id="{879E6699-445A-45C1-872B-31E46C4751E9}"/>
              </a:ext>
            </a:extLst>
          </p:cNvPr>
          <p:cNvSpPr/>
          <p:nvPr/>
        </p:nvSpPr>
        <p:spPr bwMode="gray">
          <a:xfrm>
            <a:off x="4860032" y="3503296"/>
            <a:ext cx="108000" cy="108000"/>
          </a:xfrm>
          <a:prstGeom prst="flowChartConnector">
            <a:avLst/>
          </a:prstGeom>
          <a:solidFill>
            <a:srgbClr val="A50021"/>
          </a:solidFill>
          <a:ln w="9525">
            <a:noFill/>
            <a:miter lim="800000"/>
            <a:headEnd/>
            <a:tailEnd/>
          </a:ln>
          <a:effectLst/>
        </p:spPr>
        <p:txBody>
          <a:bodyPr wrap="none" rtlCol="0" anchor="ctr"/>
          <a:lstStyle/>
          <a:p>
            <a:pPr algn="ctr" eaLnBrk="0" hangingPunct="0"/>
            <a:endParaRPr lang="zh-CN" altLang="en-US" sz="1400" b="1" dirty="0">
              <a:latin typeface="黑体" panose="02010609060101010101" pitchFamily="49" charset="-122"/>
              <a:ea typeface="黑体" panose="02010609060101010101" pitchFamily="49" charset="-122"/>
            </a:endParaRPr>
          </a:p>
        </p:txBody>
      </p:sp>
      <p:sp>
        <p:nvSpPr>
          <p:cNvPr id="23" name="流程图: 接点 22">
            <a:extLst>
              <a:ext uri="{FF2B5EF4-FFF2-40B4-BE49-F238E27FC236}">
                <a16:creationId xmlns:a16="http://schemas.microsoft.com/office/drawing/2014/main" id="{E352513F-2598-4998-BE29-D6FCF71C952A}"/>
              </a:ext>
            </a:extLst>
          </p:cNvPr>
          <p:cNvSpPr/>
          <p:nvPr/>
        </p:nvSpPr>
        <p:spPr bwMode="gray">
          <a:xfrm>
            <a:off x="5796136" y="3162876"/>
            <a:ext cx="108000" cy="108000"/>
          </a:xfrm>
          <a:prstGeom prst="flowChartConnector">
            <a:avLst/>
          </a:prstGeom>
          <a:solidFill>
            <a:srgbClr val="A50021"/>
          </a:solidFill>
          <a:ln w="9525">
            <a:noFill/>
            <a:miter lim="800000"/>
            <a:headEnd/>
            <a:tailEnd/>
          </a:ln>
          <a:effectLst/>
        </p:spPr>
        <p:txBody>
          <a:bodyPr wrap="none" rtlCol="0" anchor="ctr"/>
          <a:lstStyle/>
          <a:p>
            <a:pPr algn="ctr" eaLnBrk="0" hangingPunct="0"/>
            <a:endParaRPr lang="zh-CN" altLang="en-US" sz="1400" b="1" dirty="0">
              <a:latin typeface="黑体" panose="02010609060101010101" pitchFamily="49" charset="-122"/>
              <a:ea typeface="黑体" panose="02010609060101010101" pitchFamily="49" charset="-122"/>
            </a:endParaRPr>
          </a:p>
        </p:txBody>
      </p:sp>
      <p:sp>
        <p:nvSpPr>
          <p:cNvPr id="24" name="流程图: 接点 23">
            <a:extLst>
              <a:ext uri="{FF2B5EF4-FFF2-40B4-BE49-F238E27FC236}">
                <a16:creationId xmlns:a16="http://schemas.microsoft.com/office/drawing/2014/main" id="{3CA7D824-AD47-4FDD-B80F-EFC80EF4B358}"/>
              </a:ext>
            </a:extLst>
          </p:cNvPr>
          <p:cNvSpPr/>
          <p:nvPr/>
        </p:nvSpPr>
        <p:spPr bwMode="gray">
          <a:xfrm>
            <a:off x="5223858" y="3158017"/>
            <a:ext cx="108000" cy="108000"/>
          </a:xfrm>
          <a:prstGeom prst="flowChartConnector">
            <a:avLst/>
          </a:prstGeom>
          <a:solidFill>
            <a:srgbClr val="A50021"/>
          </a:solidFill>
          <a:ln w="9525">
            <a:noFill/>
            <a:miter lim="800000"/>
            <a:headEnd/>
            <a:tailEnd/>
          </a:ln>
          <a:effectLst/>
        </p:spPr>
        <p:txBody>
          <a:bodyPr wrap="none" rtlCol="0" anchor="ctr"/>
          <a:lstStyle/>
          <a:p>
            <a:pPr algn="ctr" eaLnBrk="0" hangingPunct="0"/>
            <a:endParaRPr lang="zh-CN" altLang="en-US" sz="1400" b="1" dirty="0">
              <a:latin typeface="黑体" panose="02010609060101010101" pitchFamily="49" charset="-122"/>
              <a:ea typeface="黑体" panose="02010609060101010101" pitchFamily="49" charset="-122"/>
            </a:endParaRPr>
          </a:p>
        </p:txBody>
      </p:sp>
      <p:sp>
        <p:nvSpPr>
          <p:cNvPr id="25" name="文本框 24">
            <a:extLst>
              <a:ext uri="{FF2B5EF4-FFF2-40B4-BE49-F238E27FC236}">
                <a16:creationId xmlns:a16="http://schemas.microsoft.com/office/drawing/2014/main" id="{86A41434-A01E-485F-AB72-5EC94049431E}"/>
              </a:ext>
            </a:extLst>
          </p:cNvPr>
          <p:cNvSpPr txBox="1"/>
          <p:nvPr/>
        </p:nvSpPr>
        <p:spPr>
          <a:xfrm>
            <a:off x="2987824" y="4289495"/>
            <a:ext cx="2316660" cy="753027"/>
          </a:xfrm>
          <a:prstGeom prst="rect">
            <a:avLst/>
          </a:prstGeom>
          <a:noFill/>
        </p:spPr>
        <p:txBody>
          <a:bodyPr wrap="none" rtlCol="0">
            <a:spAutoFit/>
          </a:bodyPr>
          <a:lstStyle/>
          <a:p>
            <a:pPr>
              <a:lnSpc>
                <a:spcPct val="125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一元线性回归</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5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找到</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baseline="-25000" dirty="0" err="1">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baseline="-25000" dirty="0" err="1">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y=</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baseline="-25000" dirty="0" err="1">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baseline="-25000" dirty="0" err="1">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x</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文本框 3">
            <a:extLst>
              <a:ext uri="{FF2B5EF4-FFF2-40B4-BE49-F238E27FC236}">
                <a16:creationId xmlns:a16="http://schemas.microsoft.com/office/drawing/2014/main" id="{EC08AF66-6604-4922-B4F8-99F9CCA3EB8C}"/>
              </a:ext>
            </a:extLst>
          </p:cNvPr>
          <p:cNvSpPr txBox="1"/>
          <p:nvPr/>
        </p:nvSpPr>
        <p:spPr>
          <a:xfrm>
            <a:off x="6439185" y="2814442"/>
            <a:ext cx="1338828" cy="369332"/>
          </a:xfrm>
          <a:prstGeom prst="rect">
            <a:avLst/>
          </a:prstGeom>
          <a:noFill/>
        </p:spPr>
        <p:txBody>
          <a:bodyPr wrap="none" rtlCol="0">
            <a:spAutoFit/>
          </a:bodyPr>
          <a:lstStyle/>
          <a:p>
            <a:r>
              <a:rPr lang="zh-CN" altLang="en-US">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误差最小的</a:t>
            </a:r>
          </a:p>
        </p:txBody>
      </p:sp>
    </p:spTree>
    <p:extLst>
      <p:ext uri="{BB962C8B-B14F-4D97-AF65-F5344CB8AC3E}">
        <p14:creationId xmlns:p14="http://schemas.microsoft.com/office/powerpoint/2010/main" val="199191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五、机器学习的经典算法</a:t>
            </a:r>
            <a:endParaRPr lang="zh-CN" altLang="en-US" sz="2400" dirty="0"/>
          </a:p>
        </p:txBody>
      </p:sp>
      <p:sp>
        <p:nvSpPr>
          <p:cNvPr id="3" name="内容占位符 2"/>
          <p:cNvSpPr>
            <a:spLocks noGrp="1"/>
          </p:cNvSpPr>
          <p:nvPr>
            <p:ph idx="1"/>
          </p:nvPr>
        </p:nvSpPr>
        <p:spPr>
          <a:xfrm>
            <a:off x="611559" y="986626"/>
            <a:ext cx="8424937" cy="577618"/>
          </a:xfrm>
        </p:spPr>
        <p:txBody>
          <a:bodyPr>
            <a:noAutofit/>
          </a:bodyPr>
          <a:lstStyle/>
          <a:p>
            <a:pPr marL="0" indent="0">
              <a:lnSpc>
                <a:spcPct val="150000"/>
              </a:lnSpc>
              <a:spcBef>
                <a:spcPts val="0"/>
              </a:spcBef>
              <a:buNone/>
            </a:pPr>
            <a:r>
              <a:rPr lang="zh-CN" altLang="en-US" sz="1800" dirty="0">
                <a:solidFill>
                  <a:srgbClr val="000066"/>
                </a:solidFill>
                <a:latin typeface="Times New Roman" panose="02020603050405020304" pitchFamily="18" charset="0"/>
                <a:cs typeface="Times New Roman" panose="02020603050405020304" pitchFamily="18" charset="0"/>
              </a:rPr>
              <a:t>一、线性回归</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dirty="0">
                <a:latin typeface="Times New Roman" panose="02020603050405020304" pitchFamily="18" charset="0"/>
                <a:cs typeface="Times New Roman" panose="02020603050405020304" pitchFamily="18" charset="0"/>
              </a:rPr>
              <a:t>        </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   </a:t>
            </a:r>
            <a:endParaRPr lang="zh-CN" altLang="zh-CN" sz="1600" dirty="0"/>
          </a:p>
        </p:txBody>
      </p:sp>
      <p:sp>
        <p:nvSpPr>
          <p:cNvPr id="6" name="文本框 5">
            <a:extLst>
              <a:ext uri="{FF2B5EF4-FFF2-40B4-BE49-F238E27FC236}">
                <a16:creationId xmlns:a16="http://schemas.microsoft.com/office/drawing/2014/main" id="{3C6F4D58-04B0-4667-935E-BFFD62B85DD0}"/>
              </a:ext>
            </a:extLst>
          </p:cNvPr>
          <p:cNvSpPr txBox="1"/>
          <p:nvPr/>
        </p:nvSpPr>
        <p:spPr>
          <a:xfrm>
            <a:off x="997968" y="2415922"/>
            <a:ext cx="1193736" cy="369332"/>
          </a:xfrm>
          <a:prstGeom prst="rect">
            <a:avLst/>
          </a:prstGeom>
          <a:noFill/>
        </p:spPr>
        <p:txBody>
          <a:bodyPr wrap="square" rtlCol="0">
            <a:spAutoFit/>
          </a:bodyPr>
          <a:lstStyle/>
          <a:p>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线性回归</a:t>
            </a:r>
          </a:p>
        </p:txBody>
      </p:sp>
      <p:sp>
        <p:nvSpPr>
          <p:cNvPr id="8" name="左大括号 7">
            <a:extLst>
              <a:ext uri="{FF2B5EF4-FFF2-40B4-BE49-F238E27FC236}">
                <a16:creationId xmlns:a16="http://schemas.microsoft.com/office/drawing/2014/main" id="{C01ADCAF-52FC-430A-949A-9CDAE2313D9A}"/>
              </a:ext>
            </a:extLst>
          </p:cNvPr>
          <p:cNvSpPr/>
          <p:nvPr/>
        </p:nvSpPr>
        <p:spPr>
          <a:xfrm>
            <a:off x="2051720" y="1704124"/>
            <a:ext cx="314888" cy="1764217"/>
          </a:xfrm>
          <a:prstGeom prst="leftBrace">
            <a:avLst/>
          </a:prstGeom>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67B580F8-2D8D-452F-8556-2D8095FFE415}"/>
              </a:ext>
            </a:extLst>
          </p:cNvPr>
          <p:cNvSpPr txBox="1"/>
          <p:nvPr/>
        </p:nvSpPr>
        <p:spPr>
          <a:xfrm>
            <a:off x="2366608" y="1556334"/>
            <a:ext cx="1574480" cy="369332"/>
          </a:xfrm>
          <a:prstGeom prst="rect">
            <a:avLst/>
          </a:prstGeom>
          <a:noFill/>
        </p:spPr>
        <p:txBody>
          <a:bodyPr wrap="square" rtlCol="0">
            <a:spAutoFit/>
          </a:bodyPr>
          <a:lstStyle/>
          <a:p>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一元线性回归：</a:t>
            </a:r>
          </a:p>
        </p:txBody>
      </p:sp>
      <p:sp>
        <p:nvSpPr>
          <p:cNvPr id="10" name="文本框 9">
            <a:extLst>
              <a:ext uri="{FF2B5EF4-FFF2-40B4-BE49-F238E27FC236}">
                <a16:creationId xmlns:a16="http://schemas.microsoft.com/office/drawing/2014/main" id="{7F9A5E45-21F7-4147-B019-00AD0E604161}"/>
              </a:ext>
            </a:extLst>
          </p:cNvPr>
          <p:cNvSpPr txBox="1"/>
          <p:nvPr/>
        </p:nvSpPr>
        <p:spPr>
          <a:xfrm>
            <a:off x="2356912" y="3188062"/>
            <a:ext cx="1584176" cy="369332"/>
          </a:xfrm>
          <a:prstGeom prst="rect">
            <a:avLst/>
          </a:prstGeom>
          <a:noFill/>
        </p:spPr>
        <p:txBody>
          <a:bodyPr wrap="square" rtlCol="0">
            <a:spAutoFit/>
          </a:bodyPr>
          <a:lstStyle/>
          <a:p>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多元线性回归</a:t>
            </a:r>
          </a:p>
        </p:txBody>
      </p:sp>
      <p:sp>
        <p:nvSpPr>
          <p:cNvPr id="11" name="文本框 10">
            <a:extLst>
              <a:ext uri="{FF2B5EF4-FFF2-40B4-BE49-F238E27FC236}">
                <a16:creationId xmlns:a16="http://schemas.microsoft.com/office/drawing/2014/main" id="{2E8C50B1-8637-4EA0-8E46-C2C3B3E7D081}"/>
              </a:ext>
            </a:extLst>
          </p:cNvPr>
          <p:cNvSpPr txBox="1"/>
          <p:nvPr/>
        </p:nvSpPr>
        <p:spPr>
          <a:xfrm>
            <a:off x="3977052" y="1452722"/>
            <a:ext cx="3960440" cy="1704569"/>
          </a:xfrm>
          <a:prstGeom prst="rect">
            <a:avLst/>
          </a:prstGeom>
          <a:noFill/>
        </p:spPr>
        <p:txBody>
          <a:bodyPr wrap="square" rtlCol="0">
            <a:spAutoFit/>
          </a:bodyPr>
          <a:lstStyle/>
          <a:p>
            <a:pPr>
              <a:lnSpc>
                <a:spcPct val="150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一个自变量和一个因变量，</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且二者的关系可用一条直线近似表示</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例如：</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y=a</a:t>
            </a:r>
            <a:r>
              <a:rPr lang="en-US" altLang="zh-CN" baseline="-25000" dirty="0">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x</a:t>
            </a:r>
          </a:p>
          <a:p>
            <a:pPr>
              <a:lnSpc>
                <a:spcPct val="150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           给出一组</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x,y</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，求</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baseline="-25000" dirty="0">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文本框 11">
            <a:extLst>
              <a:ext uri="{FF2B5EF4-FFF2-40B4-BE49-F238E27FC236}">
                <a16:creationId xmlns:a16="http://schemas.microsoft.com/office/drawing/2014/main" id="{B8505B0E-D343-450E-8945-A76A01B9B8F8}"/>
              </a:ext>
            </a:extLst>
          </p:cNvPr>
          <p:cNvSpPr txBox="1"/>
          <p:nvPr/>
        </p:nvSpPr>
        <p:spPr>
          <a:xfrm>
            <a:off x="3981616" y="3098788"/>
            <a:ext cx="4361656" cy="1705210"/>
          </a:xfrm>
          <a:prstGeom prst="rect">
            <a:avLst/>
          </a:prstGeom>
          <a:noFill/>
        </p:spPr>
        <p:txBody>
          <a:bodyPr wrap="square" rtlCol="0">
            <a:spAutoFit/>
          </a:bodyPr>
          <a:lstStyle/>
          <a:p>
            <a:pPr>
              <a:lnSpc>
                <a:spcPct val="150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两个或两个以上自变量，</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且因变量和自变量之间的关系是线性关系</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例如：</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y=a</a:t>
            </a:r>
            <a:r>
              <a:rPr lang="en-US" altLang="zh-CN" baseline="-25000" dirty="0">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aseline="-25000" dirty="0">
                <a:latin typeface="Times New Roman" panose="02020603050405020304" pitchFamily="18" charset="0"/>
                <a:ea typeface="微软雅黑" panose="020B0503020204020204" pitchFamily="34" charset="-122"/>
                <a:cs typeface="Times New Roman" panose="02020603050405020304" pitchFamily="18" charset="0"/>
              </a:rPr>
              <a:t>2</a:t>
            </a:r>
          </a:p>
          <a:p>
            <a:pPr>
              <a:lnSpc>
                <a:spcPct val="150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           给出一组</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,y)</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，求</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baseline="-25000" dirty="0">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baseline="-250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4047841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五、经典机器学习算法</a:t>
            </a:r>
            <a:endParaRPr lang="zh-CN" altLang="en-US" sz="2400" dirty="0"/>
          </a:p>
        </p:txBody>
      </p:sp>
      <p:sp>
        <p:nvSpPr>
          <p:cNvPr id="6" name="内容占位符 2"/>
          <p:cNvSpPr txBox="1">
            <a:spLocks/>
          </p:cNvSpPr>
          <p:nvPr/>
        </p:nvSpPr>
        <p:spPr>
          <a:xfrm>
            <a:off x="323526" y="1015831"/>
            <a:ext cx="8820474" cy="2852063"/>
          </a:xfrm>
          <a:prstGeom prst="rect">
            <a:avLst/>
          </a:prstGeom>
        </p:spPr>
        <p:txBody>
          <a:bodyP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722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3012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302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655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50000"/>
              </a:lnSpc>
              <a:spcBef>
                <a:spcPts val="0"/>
              </a:spcBef>
              <a:buFont typeface="Arial" panose="020B0604020202020204" pitchFamily="34" charset="0"/>
              <a:buNone/>
            </a:pPr>
            <a:r>
              <a:rPr lang="en-US" altLang="zh-CN"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案例</a:t>
            </a:r>
            <a:r>
              <a:rPr lang="en-US" altLang="zh-CN"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：已知</a:t>
            </a:r>
            <a:r>
              <a:rPr lang="zh-CN" altLang="zh-CN"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某班</a:t>
            </a:r>
            <a:r>
              <a:rPr lang="en-US" altLang="zh-CN"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10</a:t>
            </a:r>
            <a:r>
              <a:rPr lang="zh-CN" altLang="zh-CN"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位同学的数学和物理成绩，建立物理</a:t>
            </a:r>
            <a:r>
              <a:rPr lang="zh-CN" altLang="en-US"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成绩</a:t>
            </a:r>
            <a:r>
              <a:rPr lang="en-US" altLang="zh-CN"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y</a:t>
            </a:r>
            <a:r>
              <a:rPr lang="zh-CN" altLang="en-US"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与</a:t>
            </a:r>
            <a:r>
              <a:rPr lang="zh-CN" altLang="zh-CN"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数学成绩</a:t>
            </a:r>
            <a:r>
              <a:rPr lang="en-US" altLang="zh-CN"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x</a:t>
            </a:r>
            <a:r>
              <a:rPr lang="zh-CN" altLang="zh-CN"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之间的</a:t>
            </a:r>
            <a:endParaRPr lang="en-US" altLang="zh-CN"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0">
              <a:lnSpc>
                <a:spcPct val="150000"/>
              </a:lnSpc>
              <a:spcBef>
                <a:spcPts val="0"/>
              </a:spcBef>
              <a:buFont typeface="Arial" panose="020B0604020202020204" pitchFamily="34" charset="0"/>
              <a:buNone/>
            </a:pPr>
            <a:r>
              <a:rPr lang="en-US" altLang="zh-CN"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线性关系</a:t>
            </a:r>
            <a:r>
              <a:rPr lang="zh-CN" altLang="en-US"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y=a</a:t>
            </a:r>
            <a:r>
              <a:rPr lang="en-US" altLang="zh-CN" sz="1800" baseline="-250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1800" baseline="-250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，估计数学成绩为</a:t>
            </a:r>
            <a:r>
              <a:rPr lang="en-US" altLang="zh-CN"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100</a:t>
            </a:r>
            <a:r>
              <a:rPr lang="zh-CN" altLang="en-US"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110</a:t>
            </a:r>
            <a:r>
              <a:rPr lang="zh-CN" altLang="en-US"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两位同学的物理成绩。</a:t>
            </a:r>
            <a:endParaRPr lang="en-US" altLang="zh-CN"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0">
              <a:lnSpc>
                <a:spcPct val="150000"/>
              </a:lnSpc>
              <a:spcBef>
                <a:spcPts val="0"/>
              </a:spcBef>
              <a:buFont typeface="Arial" panose="020B0604020202020204" pitchFamily="34" charset="0"/>
              <a:buNone/>
            </a:pPr>
            <a:endParaRPr lang="en-US" altLang="zh-CN" sz="1800" dirty="0">
              <a:solidFill>
                <a:srgbClr val="C00000"/>
              </a:solidFill>
              <a:latin typeface="Times New Roman" panose="02020603050405020304" pitchFamily="18" charset="0"/>
              <a:cs typeface="Times New Roman" panose="02020603050405020304" pitchFamily="18" charset="0"/>
            </a:endParaRPr>
          </a:p>
          <a:p>
            <a:pPr marL="0" indent="0">
              <a:lnSpc>
                <a:spcPct val="150000"/>
              </a:lnSpc>
              <a:spcBef>
                <a:spcPts val="0"/>
              </a:spcBef>
              <a:buFont typeface="Arial" panose="020B0604020202020204" pitchFamily="34" charset="0"/>
              <a:buNone/>
            </a:pPr>
            <a:endParaRPr lang="en-US" altLang="zh-CN" sz="1800" dirty="0">
              <a:solidFill>
                <a:srgbClr val="C00000"/>
              </a:solidFill>
              <a:latin typeface="Times New Roman" panose="02020603050405020304" pitchFamily="18" charset="0"/>
              <a:cs typeface="Times New Roman" panose="02020603050405020304" pitchFamily="18" charset="0"/>
            </a:endParaRPr>
          </a:p>
          <a:p>
            <a:pPr marL="0" indent="0">
              <a:lnSpc>
                <a:spcPct val="150000"/>
              </a:lnSpc>
              <a:spcBef>
                <a:spcPts val="600"/>
              </a:spcBef>
              <a:buFont typeface="Arial" panose="020B0604020202020204" pitchFamily="34" charset="0"/>
              <a:buNone/>
            </a:pPr>
            <a:r>
              <a:rPr lang="en-US" altLang="zh-CN" sz="1800" dirty="0">
                <a:solidFill>
                  <a:srgbClr val="C00000"/>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问题：</a:t>
            </a:r>
            <a:r>
              <a:rPr lang="en-US" altLang="zh-CN"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建模：</a:t>
            </a:r>
            <a:r>
              <a:rPr lang="en-US" altLang="zh-CN"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y=a</a:t>
            </a:r>
            <a:r>
              <a:rPr lang="en-US" altLang="zh-CN" sz="1800" baseline="-250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1800" baseline="-250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x 		</a:t>
            </a:r>
          </a:p>
          <a:p>
            <a:pPr marL="0" indent="0">
              <a:lnSpc>
                <a:spcPct val="150000"/>
              </a:lnSpc>
              <a:spcBef>
                <a:spcPts val="0"/>
              </a:spcBef>
              <a:buClr>
                <a:srgbClr val="BF311A"/>
              </a:buClr>
              <a:buFont typeface="Arial" panose="020B0604020202020204" pitchFamily="34" charset="0"/>
              <a:buNone/>
            </a:pPr>
            <a:r>
              <a:rPr lang="zh-CN" altLang="en-US"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预测：给定数学成绩，估计物理成绩</a:t>
            </a:r>
            <a:endParaRPr lang="zh-CN" altLang="zh-CN"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7" name="表格 6">
            <a:extLst>
              <a:ext uri="{FF2B5EF4-FFF2-40B4-BE49-F238E27FC236}">
                <a16:creationId xmlns:a16="http://schemas.microsoft.com/office/drawing/2014/main" id="{C794CF85-7842-44DF-8428-825929D21B00}"/>
              </a:ext>
            </a:extLst>
          </p:cNvPr>
          <p:cNvGraphicFramePr>
            <a:graphicFrameLocks noGrp="1"/>
          </p:cNvGraphicFramePr>
          <p:nvPr>
            <p:extLst>
              <p:ext uri="{D42A27DB-BD31-4B8C-83A1-F6EECF244321}">
                <p14:modId xmlns:p14="http://schemas.microsoft.com/office/powerpoint/2010/main" val="1211713906"/>
              </p:ext>
            </p:extLst>
          </p:nvPr>
        </p:nvGraphicFramePr>
        <p:xfrm>
          <a:off x="1611309" y="1937989"/>
          <a:ext cx="6368820" cy="864096"/>
        </p:xfrm>
        <a:graphic>
          <a:graphicData uri="http://schemas.openxmlformats.org/drawingml/2006/table">
            <a:tbl>
              <a:tblPr firstRow="1" firstCol="1" bandRow="1">
                <a:tableStyleId>{5C22544A-7EE6-4342-B048-85BDC9FD1C3A}</a:tableStyleId>
              </a:tblPr>
              <a:tblGrid>
                <a:gridCol w="864096">
                  <a:extLst>
                    <a:ext uri="{9D8B030D-6E8A-4147-A177-3AD203B41FA5}">
                      <a16:colId xmlns:a16="http://schemas.microsoft.com/office/drawing/2014/main" val="1428706462"/>
                    </a:ext>
                  </a:extLst>
                </a:gridCol>
                <a:gridCol w="576064">
                  <a:extLst>
                    <a:ext uri="{9D8B030D-6E8A-4147-A177-3AD203B41FA5}">
                      <a16:colId xmlns:a16="http://schemas.microsoft.com/office/drawing/2014/main" val="1164716010"/>
                    </a:ext>
                  </a:extLst>
                </a:gridCol>
                <a:gridCol w="504056">
                  <a:extLst>
                    <a:ext uri="{9D8B030D-6E8A-4147-A177-3AD203B41FA5}">
                      <a16:colId xmlns:a16="http://schemas.microsoft.com/office/drawing/2014/main" val="1265982323"/>
                    </a:ext>
                  </a:extLst>
                </a:gridCol>
                <a:gridCol w="504056">
                  <a:extLst>
                    <a:ext uri="{9D8B030D-6E8A-4147-A177-3AD203B41FA5}">
                      <a16:colId xmlns:a16="http://schemas.microsoft.com/office/drawing/2014/main" val="773014963"/>
                    </a:ext>
                  </a:extLst>
                </a:gridCol>
                <a:gridCol w="563742">
                  <a:extLst>
                    <a:ext uri="{9D8B030D-6E8A-4147-A177-3AD203B41FA5}">
                      <a16:colId xmlns:a16="http://schemas.microsoft.com/office/drawing/2014/main" val="1094779745"/>
                    </a:ext>
                  </a:extLst>
                </a:gridCol>
                <a:gridCol w="559198">
                  <a:extLst>
                    <a:ext uri="{9D8B030D-6E8A-4147-A177-3AD203B41FA5}">
                      <a16:colId xmlns:a16="http://schemas.microsoft.com/office/drawing/2014/main" val="742089028"/>
                    </a:ext>
                  </a:extLst>
                </a:gridCol>
                <a:gridCol w="559198">
                  <a:extLst>
                    <a:ext uri="{9D8B030D-6E8A-4147-A177-3AD203B41FA5}">
                      <a16:colId xmlns:a16="http://schemas.microsoft.com/office/drawing/2014/main" val="3686457019"/>
                    </a:ext>
                  </a:extLst>
                </a:gridCol>
                <a:gridCol w="559198">
                  <a:extLst>
                    <a:ext uri="{9D8B030D-6E8A-4147-A177-3AD203B41FA5}">
                      <a16:colId xmlns:a16="http://schemas.microsoft.com/office/drawing/2014/main" val="913870794"/>
                    </a:ext>
                  </a:extLst>
                </a:gridCol>
                <a:gridCol w="559198">
                  <a:extLst>
                    <a:ext uri="{9D8B030D-6E8A-4147-A177-3AD203B41FA5}">
                      <a16:colId xmlns:a16="http://schemas.microsoft.com/office/drawing/2014/main" val="2114175208"/>
                    </a:ext>
                  </a:extLst>
                </a:gridCol>
                <a:gridCol w="560007">
                  <a:extLst>
                    <a:ext uri="{9D8B030D-6E8A-4147-A177-3AD203B41FA5}">
                      <a16:colId xmlns:a16="http://schemas.microsoft.com/office/drawing/2014/main" val="125939626"/>
                    </a:ext>
                  </a:extLst>
                </a:gridCol>
                <a:gridCol w="560007">
                  <a:extLst>
                    <a:ext uri="{9D8B030D-6E8A-4147-A177-3AD203B41FA5}">
                      <a16:colId xmlns:a16="http://schemas.microsoft.com/office/drawing/2014/main" val="1360152767"/>
                    </a:ext>
                  </a:extLst>
                </a:gridCol>
              </a:tblGrid>
              <a:tr h="432048">
                <a:tc>
                  <a:txBody>
                    <a:bodyPr/>
                    <a:lstStyle/>
                    <a:p>
                      <a:pPr algn="ctr">
                        <a:spcAft>
                          <a:spcPts val="0"/>
                        </a:spcAft>
                      </a:pPr>
                      <a:r>
                        <a:rPr lang="zh-CN" alt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数学</a:t>
                      </a:r>
                      <a:r>
                        <a:rPr lang="en-US" alt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x</a:t>
                      </a:r>
                      <a:endParaRPr lang="zh-CN" altLang="en-US"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136</a:t>
                      </a:r>
                      <a:endParaRPr lang="zh-CN" altLang="en-US"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mn-ea"/>
                          <a:cs typeface="Times New Roman" panose="02020603050405020304" pitchFamily="18" charset="0"/>
                        </a:rPr>
                        <a:t>125</a:t>
                      </a:r>
                      <a:endParaRPr lang="zh-CN" altLang="en-US" sz="1600" b="0" kern="100" dirty="0">
                        <a:solidFill>
                          <a:srgbClr val="000066"/>
                        </a:solidFill>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mn-ea"/>
                          <a:cs typeface="Times New Roman" panose="02020603050405020304" pitchFamily="18" charset="0"/>
                        </a:rPr>
                        <a:t>122</a:t>
                      </a:r>
                      <a:endParaRPr lang="zh-CN" altLang="en-US" sz="1600" b="0" kern="100" dirty="0">
                        <a:solidFill>
                          <a:srgbClr val="000066"/>
                        </a:solidFill>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mn-ea"/>
                          <a:cs typeface="Times New Roman" panose="02020603050405020304" pitchFamily="18" charset="0"/>
                        </a:rPr>
                        <a:t>87</a:t>
                      </a:r>
                      <a:endParaRPr lang="zh-CN" altLang="en-US" sz="1600" b="0" kern="100" dirty="0">
                        <a:solidFill>
                          <a:srgbClr val="000066"/>
                        </a:solidFill>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mn-ea"/>
                          <a:cs typeface="Times New Roman" panose="02020603050405020304" pitchFamily="18" charset="0"/>
                        </a:rPr>
                        <a:t>108</a:t>
                      </a:r>
                      <a:endParaRPr lang="zh-CN" altLang="en-US" sz="1600" b="0" kern="100" dirty="0">
                        <a:solidFill>
                          <a:srgbClr val="000066"/>
                        </a:solidFill>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mn-ea"/>
                          <a:cs typeface="Times New Roman" panose="02020603050405020304" pitchFamily="18" charset="0"/>
                        </a:rPr>
                        <a:t>113</a:t>
                      </a:r>
                      <a:endParaRPr lang="zh-CN" altLang="en-US" sz="1600" b="0" kern="100" dirty="0">
                        <a:solidFill>
                          <a:srgbClr val="000066"/>
                        </a:solidFill>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mn-ea"/>
                          <a:cs typeface="Times New Roman" panose="02020603050405020304" pitchFamily="18" charset="0"/>
                        </a:rPr>
                        <a:t>111</a:t>
                      </a:r>
                      <a:endParaRPr lang="zh-CN" altLang="en-US" sz="1600" b="0" kern="100" dirty="0">
                        <a:solidFill>
                          <a:srgbClr val="000066"/>
                        </a:solidFill>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mn-ea"/>
                          <a:cs typeface="Times New Roman" panose="02020603050405020304" pitchFamily="18" charset="0"/>
                        </a:rPr>
                        <a:t>70</a:t>
                      </a:r>
                      <a:endParaRPr lang="zh-CN" altLang="en-US" sz="1600" b="0" kern="100" dirty="0">
                        <a:solidFill>
                          <a:srgbClr val="000066"/>
                        </a:solidFill>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mn-ea"/>
                          <a:cs typeface="Times New Roman" panose="02020603050405020304" pitchFamily="18" charset="0"/>
                        </a:rPr>
                        <a:t>94</a:t>
                      </a:r>
                      <a:endParaRPr lang="zh-CN" altLang="en-US" sz="1600" b="0" kern="100" dirty="0">
                        <a:solidFill>
                          <a:srgbClr val="000066"/>
                        </a:solidFill>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mn-ea"/>
                          <a:cs typeface="Times New Roman" panose="02020603050405020304" pitchFamily="18" charset="0"/>
                        </a:rPr>
                        <a:t>74</a:t>
                      </a:r>
                      <a:endParaRPr lang="zh-CN" altLang="en-US" sz="1600" b="0" kern="100" dirty="0">
                        <a:solidFill>
                          <a:srgbClr val="000066"/>
                        </a:solidFill>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29100761"/>
                  </a:ext>
                </a:extLst>
              </a:tr>
              <a:tr h="432048">
                <a:tc>
                  <a:txBody>
                    <a:bodyPr/>
                    <a:lstStyle/>
                    <a:p>
                      <a:pPr algn="ctr">
                        <a:spcAft>
                          <a:spcPts val="0"/>
                        </a:spcAft>
                      </a:pPr>
                      <a:r>
                        <a:rPr lang="zh-CN" alt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物理</a:t>
                      </a:r>
                      <a:r>
                        <a:rPr lang="en-US" alt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y</a:t>
                      </a:r>
                      <a:endParaRPr lang="zh-CN" altLang="en-US"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97</a:t>
                      </a:r>
                      <a:endParaRPr lang="zh-CN" altLang="en-US"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mn-ea"/>
                          <a:cs typeface="Times New Roman" panose="02020603050405020304" pitchFamily="18" charset="0"/>
                        </a:rPr>
                        <a:t>91</a:t>
                      </a:r>
                      <a:endParaRPr lang="zh-CN" altLang="en-US" sz="1600" b="0" kern="100" dirty="0">
                        <a:solidFill>
                          <a:srgbClr val="000066"/>
                        </a:solidFill>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ea typeface="+mn-ea"/>
                          <a:cs typeface="Times New Roman" panose="02020603050405020304" pitchFamily="18" charset="0"/>
                        </a:rPr>
                        <a:t>92</a:t>
                      </a:r>
                      <a:endParaRPr lang="zh-CN" altLang="en-US" sz="1600" b="0" kern="100">
                        <a:solidFill>
                          <a:srgbClr val="000066"/>
                        </a:solidFill>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mn-ea"/>
                          <a:cs typeface="Times New Roman" panose="02020603050405020304" pitchFamily="18" charset="0"/>
                        </a:rPr>
                        <a:t>76</a:t>
                      </a:r>
                      <a:endParaRPr lang="zh-CN" altLang="en-US" sz="1600" b="0" kern="100" dirty="0">
                        <a:solidFill>
                          <a:srgbClr val="000066"/>
                        </a:solidFill>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mn-ea"/>
                          <a:cs typeface="Times New Roman" panose="02020603050405020304" pitchFamily="18" charset="0"/>
                        </a:rPr>
                        <a:t>93</a:t>
                      </a:r>
                      <a:endParaRPr lang="zh-CN" altLang="en-US" sz="1600" b="0" kern="100" dirty="0">
                        <a:solidFill>
                          <a:srgbClr val="000066"/>
                        </a:solidFill>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mn-ea"/>
                          <a:cs typeface="Times New Roman" panose="02020603050405020304" pitchFamily="18" charset="0"/>
                        </a:rPr>
                        <a:t>85</a:t>
                      </a:r>
                      <a:endParaRPr lang="zh-CN" altLang="en-US" sz="1600" b="0" kern="100" dirty="0">
                        <a:solidFill>
                          <a:srgbClr val="000066"/>
                        </a:solidFill>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mn-ea"/>
                          <a:cs typeface="Times New Roman" panose="02020603050405020304" pitchFamily="18" charset="0"/>
                        </a:rPr>
                        <a:t>82</a:t>
                      </a:r>
                      <a:endParaRPr lang="zh-CN" altLang="en-US" sz="1600" b="0" kern="100" dirty="0">
                        <a:solidFill>
                          <a:srgbClr val="000066"/>
                        </a:solidFill>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mn-ea"/>
                          <a:cs typeface="Times New Roman" panose="02020603050405020304" pitchFamily="18" charset="0"/>
                        </a:rPr>
                        <a:t>78</a:t>
                      </a:r>
                      <a:endParaRPr lang="zh-CN" altLang="en-US" sz="1600" b="0" kern="100" dirty="0">
                        <a:solidFill>
                          <a:srgbClr val="000066"/>
                        </a:solidFill>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mn-ea"/>
                          <a:cs typeface="Times New Roman" panose="02020603050405020304" pitchFamily="18" charset="0"/>
                        </a:rPr>
                        <a:t>78</a:t>
                      </a:r>
                      <a:endParaRPr lang="zh-CN" altLang="en-US" sz="1600" b="0" kern="100" dirty="0">
                        <a:solidFill>
                          <a:srgbClr val="000066"/>
                        </a:solidFill>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mn-ea"/>
                          <a:cs typeface="Times New Roman" panose="02020603050405020304" pitchFamily="18" charset="0"/>
                        </a:rPr>
                        <a:t>73</a:t>
                      </a:r>
                      <a:endParaRPr lang="zh-CN" altLang="en-US" sz="1600" b="0" kern="100" dirty="0">
                        <a:solidFill>
                          <a:srgbClr val="000066"/>
                        </a:solidFill>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38410309"/>
                  </a:ext>
                </a:extLst>
              </a:tr>
            </a:tbl>
          </a:graphicData>
        </a:graphic>
      </p:graphicFrame>
    </p:spTree>
    <p:extLst>
      <p:ext uri="{BB962C8B-B14F-4D97-AF65-F5344CB8AC3E}">
        <p14:creationId xmlns:p14="http://schemas.microsoft.com/office/powerpoint/2010/main" val="520571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五、经典机器学习算法</a:t>
            </a:r>
            <a:endParaRPr lang="zh-CN" altLang="en-US" sz="2400" dirty="0"/>
          </a:p>
        </p:txBody>
      </p:sp>
      <p:sp>
        <p:nvSpPr>
          <p:cNvPr id="18" name="文本框 17">
            <a:extLst>
              <a:ext uri="{FF2B5EF4-FFF2-40B4-BE49-F238E27FC236}">
                <a16:creationId xmlns:a16="http://schemas.microsoft.com/office/drawing/2014/main" id="{B1BE63F3-EF79-47D6-98B9-936261A7001A}"/>
              </a:ext>
            </a:extLst>
          </p:cNvPr>
          <p:cNvSpPr txBox="1"/>
          <p:nvPr/>
        </p:nvSpPr>
        <p:spPr>
          <a:xfrm>
            <a:off x="239675" y="2389419"/>
            <a:ext cx="1276494" cy="1408861"/>
          </a:xfrm>
          <a:prstGeom prst="rect">
            <a:avLst/>
          </a:prstGeom>
          <a:solidFill>
            <a:schemeClr val="bg1"/>
          </a:solidFill>
          <a:ln w="19050">
            <a:solidFill>
              <a:schemeClr val="bg1"/>
            </a:solidFill>
          </a:ln>
        </p:spPr>
        <p:txBody>
          <a:bodyPr wrap="square" tIns="72000" rtlCol="0">
            <a:noAutofit/>
          </a:bodyPr>
          <a:lstStyle/>
          <a:p>
            <a:pPr marL="0" marR="0" lvl="0" indent="0" defTabSz="914400" rtl="0" eaLnBrk="1" fontAlgn="base" latinLnBrk="0" hangingPunct="1">
              <a:lnSpc>
                <a:spcPct val="100000"/>
              </a:lnSpc>
              <a:spcBef>
                <a:spcPts val="0"/>
              </a:spcBef>
              <a:spcAft>
                <a:spcPct val="0"/>
              </a:spcAft>
              <a:buClrTx/>
              <a:buSzTx/>
              <a:buFontTx/>
              <a:buNone/>
              <a:tabLst/>
              <a:defRPr/>
            </a:pPr>
            <a:r>
              <a:rPr lang="zh-CN" altLang="en-US" sz="14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数据：</a:t>
            </a:r>
            <a:r>
              <a:rPr lang="en-US" altLang="zh-CN" sz="14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X</a:t>
            </a:r>
          </a:p>
          <a:p>
            <a:pPr marL="0" marR="0" lvl="0" indent="0" defTabSz="914400" rtl="0" eaLnBrk="1" fontAlgn="base" latinLnBrk="0" hangingPunct="1">
              <a:lnSpc>
                <a:spcPct val="100000"/>
              </a:lnSpc>
              <a:spcBef>
                <a:spcPts val="0"/>
              </a:spcBef>
              <a:spcAft>
                <a:spcPct val="0"/>
              </a:spcAft>
              <a:buClrTx/>
              <a:buSzTx/>
              <a:buFontTx/>
              <a:buNone/>
              <a:tabLst/>
              <a:defRPr/>
            </a:pPr>
            <a:r>
              <a:rPr lang="zh-CN" altLang="en-US" sz="14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结果：</a:t>
            </a:r>
            <a:r>
              <a:rPr lang="en-US" altLang="zh-CN" sz="14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y</a:t>
            </a:r>
            <a:br>
              <a:rPr lang="en-US" altLang="zh-CN" sz="14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br>
            <a:r>
              <a:rPr lang="zh-CN" altLang="en-US" sz="14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模型：</a:t>
            </a:r>
            <a:r>
              <a:rPr lang="en-US" altLang="zh-CN" sz="14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l</a:t>
            </a:r>
            <a:r>
              <a:rPr kumimoji="0" lang="en-US" altLang="zh-CN" sz="1400" b="0"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r</a:t>
            </a:r>
          </a:p>
          <a:p>
            <a:pPr marL="0" marR="0" lvl="0" indent="0" defTabSz="914400" rtl="0" eaLnBrk="1" fontAlgn="base" latinLnBrk="0" hangingPunct="1">
              <a:lnSpc>
                <a:spcPct val="100000"/>
              </a:lnSpc>
              <a:spcBef>
                <a:spcPts val="0"/>
              </a:spcBef>
              <a:spcAft>
                <a:spcPct val="0"/>
              </a:spcAft>
              <a:buClrTx/>
              <a:buSzTx/>
              <a:buFontTx/>
              <a:buNone/>
              <a:tabLst/>
              <a:defRPr/>
            </a:pPr>
            <a:r>
              <a:rPr kumimoji="0" lang="zh-CN" altLang="en-US" sz="1400" b="0"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训练：</a:t>
            </a:r>
            <a:r>
              <a:rPr kumimoji="0" lang="en-US" altLang="zh-CN" sz="1400" b="0"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fit</a:t>
            </a:r>
          </a:p>
          <a:p>
            <a:pPr marL="0" marR="0" lvl="0" indent="0" defTabSz="914400" rtl="0" eaLnBrk="1" fontAlgn="base" latinLnBrk="0" hangingPunct="1">
              <a:lnSpc>
                <a:spcPct val="100000"/>
              </a:lnSpc>
              <a:spcBef>
                <a:spcPts val="0"/>
              </a:spcBef>
              <a:spcAft>
                <a:spcPct val="0"/>
              </a:spcAft>
              <a:buClrTx/>
              <a:buSzTx/>
              <a:buFontTx/>
              <a:buNone/>
              <a:tabLst/>
              <a:defRPr/>
            </a:pPr>
            <a:r>
              <a:rPr kumimoji="0" lang="zh-CN" altLang="en-US" sz="1400" b="0"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训练后体现：</a:t>
            </a:r>
            <a:endParaRPr kumimoji="0" lang="en-US" altLang="zh-CN" sz="1400" b="0"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lvl="0">
              <a:spcBef>
                <a:spcPts val="0"/>
              </a:spcBef>
            </a:pPr>
            <a:r>
              <a:rPr lang="en-US" altLang="zh-CN" sz="1400" dirty="0">
                <a:solidFill>
                  <a:srgbClr val="000066"/>
                </a:solidFill>
                <a:latin typeface="Times New Roman" panose="02020603050405020304" pitchFamily="18" charset="0"/>
                <a:cs typeface="Times New Roman" panose="02020603050405020304" pitchFamily="18" charset="0"/>
              </a:rPr>
              <a:t>     </a:t>
            </a:r>
            <a:r>
              <a:rPr lang="en-US" altLang="zh-CN" sz="1400" dirty="0" err="1">
                <a:solidFill>
                  <a:srgbClr val="000066"/>
                </a:solidFill>
                <a:latin typeface="Times New Roman" panose="02020603050405020304" pitchFamily="18" charset="0"/>
                <a:cs typeface="Times New Roman" panose="02020603050405020304" pitchFamily="18" charset="0"/>
              </a:rPr>
              <a:t>lr.intercept</a:t>
            </a:r>
            <a:r>
              <a:rPr lang="en-US" altLang="zh-CN" sz="1400" dirty="0">
                <a:solidFill>
                  <a:srgbClr val="000066"/>
                </a:solidFill>
                <a:latin typeface="Times New Roman" panose="02020603050405020304" pitchFamily="18" charset="0"/>
                <a:cs typeface="Times New Roman" panose="02020603050405020304" pitchFamily="18" charset="0"/>
              </a:rPr>
              <a:t>_,</a:t>
            </a:r>
          </a:p>
          <a:p>
            <a:pPr lvl="0">
              <a:spcBef>
                <a:spcPts val="0"/>
              </a:spcBef>
            </a:pPr>
            <a:r>
              <a:rPr lang="en-US" altLang="zh-CN" sz="1400" dirty="0">
                <a:solidFill>
                  <a:srgbClr val="000066"/>
                </a:solidFill>
                <a:latin typeface="Times New Roman" panose="02020603050405020304" pitchFamily="18" charset="0"/>
                <a:cs typeface="Times New Roman" panose="02020603050405020304" pitchFamily="18" charset="0"/>
              </a:rPr>
              <a:t>     </a:t>
            </a:r>
            <a:r>
              <a:rPr lang="en-US" altLang="zh-CN" sz="1400" dirty="0" err="1">
                <a:solidFill>
                  <a:srgbClr val="000066"/>
                </a:solidFill>
                <a:latin typeface="Times New Roman" panose="02020603050405020304" pitchFamily="18" charset="0"/>
                <a:cs typeface="Times New Roman" panose="02020603050405020304" pitchFamily="18" charset="0"/>
              </a:rPr>
              <a:t>lr.coef</a:t>
            </a:r>
            <a:r>
              <a:rPr lang="en-US" altLang="zh-CN" sz="1400" dirty="0">
                <a:solidFill>
                  <a:srgbClr val="000066"/>
                </a:solidFill>
                <a:latin typeface="Times New Roman" panose="02020603050405020304" pitchFamily="18" charset="0"/>
                <a:cs typeface="Times New Roman" panose="02020603050405020304" pitchFamily="18" charset="0"/>
              </a:rPr>
              <a:t>_</a:t>
            </a:r>
          </a:p>
          <a:p>
            <a:pPr lvl="0">
              <a:spcBef>
                <a:spcPts val="0"/>
              </a:spcBef>
            </a:pPr>
            <a:r>
              <a:rPr kumimoji="0" lang="zh-CN" altLang="en-US" sz="1400" b="0"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预测</a:t>
            </a:r>
            <a:r>
              <a:rPr lang="zh-CN" altLang="en-US" sz="14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predict</a:t>
            </a:r>
          </a:p>
          <a:p>
            <a:pPr marL="0" marR="0" lvl="0" indent="0" algn="ctr" defTabSz="914400" rtl="0" eaLnBrk="1" fontAlgn="base" latinLnBrk="0" hangingPunct="1">
              <a:lnSpc>
                <a:spcPct val="100000"/>
              </a:lnSpc>
              <a:spcBef>
                <a:spcPts val="600"/>
              </a:spcBef>
              <a:spcAft>
                <a:spcPct val="0"/>
              </a:spcAft>
              <a:buClrTx/>
              <a:buSzTx/>
              <a:buFontTx/>
              <a:buNone/>
              <a:tabLst/>
              <a:defRPr/>
            </a:pPr>
            <a:endParaRPr kumimoji="0" lang="zh-CN" altLang="en-US" sz="1400" b="0"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矩形 18">
            <a:extLst>
              <a:ext uri="{FF2B5EF4-FFF2-40B4-BE49-F238E27FC236}">
                <a16:creationId xmlns:a16="http://schemas.microsoft.com/office/drawing/2014/main" id="{A678529F-0A07-4B89-B53C-541C28CA90EB}"/>
              </a:ext>
            </a:extLst>
          </p:cNvPr>
          <p:cNvSpPr/>
          <p:nvPr/>
        </p:nvSpPr>
        <p:spPr bwMode="gray">
          <a:xfrm>
            <a:off x="1444643" y="1860356"/>
            <a:ext cx="5543831" cy="856358"/>
          </a:xfrm>
          <a:prstGeom prst="rect">
            <a:avLst/>
          </a:prstGeom>
          <a:solidFill>
            <a:schemeClr val="bg1">
              <a:lumMod val="85000"/>
            </a:schemeClr>
          </a:solidFill>
          <a:ln w="9525">
            <a:noFill/>
            <a:miter lim="800000"/>
            <a:headEnd/>
            <a:tailEnd/>
          </a:ln>
          <a:effectLst/>
        </p:spPr>
        <p:txBody>
          <a:bodyPr wrap="none"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400" b="1"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endParaRPr>
          </a:p>
        </p:txBody>
      </p:sp>
      <p:sp>
        <p:nvSpPr>
          <p:cNvPr id="20" name="文本框 19">
            <a:extLst>
              <a:ext uri="{FF2B5EF4-FFF2-40B4-BE49-F238E27FC236}">
                <a16:creationId xmlns:a16="http://schemas.microsoft.com/office/drawing/2014/main" id="{A1F15C88-D61E-4239-A4F6-166373915FBF}"/>
              </a:ext>
            </a:extLst>
          </p:cNvPr>
          <p:cNvSpPr txBox="1"/>
          <p:nvPr/>
        </p:nvSpPr>
        <p:spPr>
          <a:xfrm>
            <a:off x="7290297" y="2149028"/>
            <a:ext cx="1800493" cy="432000"/>
          </a:xfrm>
          <a:prstGeom prst="rect">
            <a:avLst/>
          </a:prstGeom>
          <a:solidFill>
            <a:schemeClr val="bg1"/>
          </a:solidFill>
          <a:ln w="19050">
            <a:solidFill>
              <a:srgbClr val="000066"/>
            </a:solidFill>
          </a:ln>
        </p:spPr>
        <p:txBody>
          <a:bodyPr wrap="square" tIns="72000" rtlCol="0">
            <a:noAutofit/>
          </a:bodyPr>
          <a:lstStyle/>
          <a:p>
            <a:pPr marL="0" marR="0" lvl="0" indent="0" algn="ctr" defTabSz="914400" rtl="0" eaLnBrk="1" fontAlgn="base" latinLnBrk="0" hangingPunct="1">
              <a:lnSpc>
                <a:spcPct val="100000"/>
              </a:lnSpc>
              <a:spcBef>
                <a:spcPts val="600"/>
              </a:spcBef>
              <a:spcAft>
                <a:spcPct val="0"/>
              </a:spcAft>
              <a:buClrTx/>
              <a:buSzTx/>
              <a:buFontTx/>
              <a:buNone/>
              <a:tabLst/>
              <a:defRPr/>
            </a:pPr>
            <a:r>
              <a:rPr kumimoji="0" lang="zh-CN" altLang="en-US" sz="1800" b="0"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rPr>
              <a:t>整理数据</a:t>
            </a:r>
          </a:p>
        </p:txBody>
      </p:sp>
      <p:cxnSp>
        <p:nvCxnSpPr>
          <p:cNvPr id="21" name="直接箭头连接符 20">
            <a:extLst>
              <a:ext uri="{FF2B5EF4-FFF2-40B4-BE49-F238E27FC236}">
                <a16:creationId xmlns:a16="http://schemas.microsoft.com/office/drawing/2014/main" id="{792969ED-3CAF-4F0A-999F-CF6BF850609A}"/>
              </a:ext>
            </a:extLst>
          </p:cNvPr>
          <p:cNvCxnSpPr>
            <a:cxnSpLocks/>
            <a:endCxn id="20" idx="0"/>
          </p:cNvCxnSpPr>
          <p:nvPr/>
        </p:nvCxnSpPr>
        <p:spPr>
          <a:xfrm>
            <a:off x="8190544" y="1644972"/>
            <a:ext cx="0" cy="504056"/>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CAE7C48F-7020-432A-829A-68F6D11B7083}"/>
              </a:ext>
            </a:extLst>
          </p:cNvPr>
          <p:cNvSpPr txBox="1"/>
          <p:nvPr/>
        </p:nvSpPr>
        <p:spPr>
          <a:xfrm>
            <a:off x="7290296" y="3022415"/>
            <a:ext cx="1800491" cy="395869"/>
          </a:xfrm>
          <a:prstGeom prst="rect">
            <a:avLst/>
          </a:prstGeom>
          <a:noFill/>
          <a:ln w="19050">
            <a:solidFill>
              <a:srgbClr val="000066"/>
            </a:solidFill>
          </a:ln>
        </p:spPr>
        <p:txBody>
          <a:bodyPr wrap="square" tIns="7200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800" b="0"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rPr>
              <a:t>训练模型</a:t>
            </a:r>
          </a:p>
        </p:txBody>
      </p:sp>
      <p:cxnSp>
        <p:nvCxnSpPr>
          <p:cNvPr id="26" name="直接箭头连接符 25">
            <a:extLst>
              <a:ext uri="{FF2B5EF4-FFF2-40B4-BE49-F238E27FC236}">
                <a16:creationId xmlns:a16="http://schemas.microsoft.com/office/drawing/2014/main" id="{989BC21A-7D95-4B03-A544-37F1673D34EB}"/>
              </a:ext>
            </a:extLst>
          </p:cNvPr>
          <p:cNvCxnSpPr>
            <a:cxnSpLocks/>
            <a:stCxn id="20" idx="2"/>
            <a:endCxn id="22" idx="0"/>
          </p:cNvCxnSpPr>
          <p:nvPr/>
        </p:nvCxnSpPr>
        <p:spPr>
          <a:xfrm flipH="1">
            <a:off x="8190542" y="2581028"/>
            <a:ext cx="2" cy="441387"/>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2D27C537-6C4C-4130-97FA-BB3E88311F98}"/>
              </a:ext>
            </a:extLst>
          </p:cNvPr>
          <p:cNvSpPr txBox="1"/>
          <p:nvPr/>
        </p:nvSpPr>
        <p:spPr>
          <a:xfrm>
            <a:off x="7290297" y="3919038"/>
            <a:ext cx="1800493" cy="395869"/>
          </a:xfrm>
          <a:prstGeom prst="rect">
            <a:avLst/>
          </a:prstGeom>
          <a:noFill/>
          <a:ln w="19050">
            <a:solidFill>
              <a:srgbClr val="000066"/>
            </a:solidFill>
          </a:ln>
        </p:spPr>
        <p:txBody>
          <a:bodyPr wrap="square" tIns="7200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800" b="0"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rPr>
              <a:t>进行预测</a:t>
            </a:r>
          </a:p>
        </p:txBody>
      </p:sp>
      <p:cxnSp>
        <p:nvCxnSpPr>
          <p:cNvPr id="28" name="直接箭头连接符 27">
            <a:extLst>
              <a:ext uri="{FF2B5EF4-FFF2-40B4-BE49-F238E27FC236}">
                <a16:creationId xmlns:a16="http://schemas.microsoft.com/office/drawing/2014/main" id="{3338B662-EACF-499B-974D-8E7EC84DE1CC}"/>
              </a:ext>
            </a:extLst>
          </p:cNvPr>
          <p:cNvCxnSpPr>
            <a:cxnSpLocks/>
          </p:cNvCxnSpPr>
          <p:nvPr/>
        </p:nvCxnSpPr>
        <p:spPr>
          <a:xfrm>
            <a:off x="8190544" y="3445172"/>
            <a:ext cx="0" cy="504056"/>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9" name="矩形 28">
            <a:extLst>
              <a:ext uri="{FF2B5EF4-FFF2-40B4-BE49-F238E27FC236}">
                <a16:creationId xmlns:a16="http://schemas.microsoft.com/office/drawing/2014/main" id="{540C0141-4E86-488E-A724-83D0A2341219}"/>
              </a:ext>
            </a:extLst>
          </p:cNvPr>
          <p:cNvSpPr/>
          <p:nvPr/>
        </p:nvSpPr>
        <p:spPr bwMode="gray">
          <a:xfrm>
            <a:off x="1447069" y="2760088"/>
            <a:ext cx="5543831" cy="850692"/>
          </a:xfrm>
          <a:prstGeom prst="rect">
            <a:avLst/>
          </a:prstGeom>
          <a:solidFill>
            <a:srgbClr val="CCFFCC"/>
          </a:solidFill>
          <a:ln w="9525">
            <a:noFill/>
            <a:miter lim="800000"/>
            <a:headEnd/>
            <a:tailEnd/>
          </a:ln>
          <a:effectLst/>
        </p:spPr>
        <p:txBody>
          <a:bodyPr wrap="none"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400" b="1"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endParaRPr>
          </a:p>
        </p:txBody>
      </p:sp>
      <p:sp>
        <p:nvSpPr>
          <p:cNvPr id="30" name="矩形 29">
            <a:extLst>
              <a:ext uri="{FF2B5EF4-FFF2-40B4-BE49-F238E27FC236}">
                <a16:creationId xmlns:a16="http://schemas.microsoft.com/office/drawing/2014/main" id="{4E01B080-6357-4C3D-B295-A82CEB0A4E06}"/>
              </a:ext>
            </a:extLst>
          </p:cNvPr>
          <p:cNvSpPr/>
          <p:nvPr/>
        </p:nvSpPr>
        <p:spPr bwMode="gray">
          <a:xfrm>
            <a:off x="1444643" y="3987916"/>
            <a:ext cx="5543831" cy="850692"/>
          </a:xfrm>
          <a:prstGeom prst="rect">
            <a:avLst/>
          </a:prstGeom>
          <a:solidFill>
            <a:srgbClr val="CCECFF"/>
          </a:solidFill>
          <a:ln w="9525">
            <a:noFill/>
            <a:miter lim="800000"/>
            <a:headEnd/>
            <a:tailEnd/>
          </a:ln>
          <a:effectLst/>
        </p:spPr>
        <p:txBody>
          <a:bodyPr wrap="none"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400" b="1"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endParaRPr>
          </a:p>
        </p:txBody>
      </p:sp>
      <p:cxnSp>
        <p:nvCxnSpPr>
          <p:cNvPr id="31" name="直接箭头连接符 30">
            <a:extLst>
              <a:ext uri="{FF2B5EF4-FFF2-40B4-BE49-F238E27FC236}">
                <a16:creationId xmlns:a16="http://schemas.microsoft.com/office/drawing/2014/main" id="{4B95B77B-BE53-4684-A300-46C7E9D3F9F5}"/>
              </a:ext>
            </a:extLst>
          </p:cNvPr>
          <p:cNvCxnSpPr>
            <a:cxnSpLocks/>
          </p:cNvCxnSpPr>
          <p:nvPr/>
        </p:nvCxnSpPr>
        <p:spPr>
          <a:xfrm>
            <a:off x="8193756" y="4309268"/>
            <a:ext cx="0" cy="504056"/>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2" name="内容占位符 2"/>
          <p:cNvSpPr txBox="1">
            <a:spLocks/>
          </p:cNvSpPr>
          <p:nvPr/>
        </p:nvSpPr>
        <p:spPr>
          <a:xfrm>
            <a:off x="867793" y="1059582"/>
            <a:ext cx="8136905" cy="3529340"/>
          </a:xfrm>
          <a:prstGeom prst="rect">
            <a:avLst/>
          </a:prstGeom>
        </p:spPr>
        <p:txBody>
          <a:bodyP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722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3012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302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655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50000"/>
              </a:lnSpc>
              <a:spcBef>
                <a:spcPts val="0"/>
              </a:spcBef>
              <a:buFont typeface="Arial" panose="020B0604020202020204" pitchFamily="34" charset="0"/>
              <a:buNone/>
            </a:pPr>
            <a:r>
              <a:rPr lang="zh-CN" altLang="en-US"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使用</a:t>
            </a:r>
            <a:r>
              <a:rPr lang="en-US" altLang="zh-CN" sz="1800" dirty="0" err="1">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sklearn</a:t>
            </a:r>
            <a:r>
              <a:rPr lang="zh-CN" altLang="en-US"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实现线性回归</a:t>
            </a:r>
            <a:endParaRPr lang="en-US" altLang="zh-CN"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marL="576000" indent="0">
              <a:lnSpc>
                <a:spcPct val="125000"/>
              </a:lnSpc>
              <a:spcBef>
                <a:spcPts val="0"/>
              </a:spcBef>
              <a:buFont typeface="Arial" panose="020B0604020202020204" pitchFamily="34" charset="0"/>
              <a:buNone/>
            </a:pPr>
            <a:r>
              <a:rPr lang="en-US" altLang="zh-CN" sz="1600" dirty="0">
                <a:solidFill>
                  <a:srgbClr val="000066"/>
                </a:solidFill>
                <a:latin typeface="Times New Roman" panose="02020603050405020304" pitchFamily="18" charset="0"/>
                <a:cs typeface="Times New Roman" panose="02020603050405020304" pitchFamily="18" charset="0"/>
              </a:rPr>
              <a:t>import </a:t>
            </a:r>
            <a:r>
              <a:rPr lang="en-US" altLang="zh-CN" sz="1600" dirty="0" err="1">
                <a:solidFill>
                  <a:srgbClr val="000066"/>
                </a:solidFill>
                <a:latin typeface="Times New Roman" panose="02020603050405020304" pitchFamily="18" charset="0"/>
                <a:cs typeface="Times New Roman" panose="02020603050405020304" pitchFamily="18" charset="0"/>
              </a:rPr>
              <a:t>numpy</a:t>
            </a:r>
            <a:r>
              <a:rPr lang="en-US" altLang="zh-CN" sz="1600" dirty="0">
                <a:solidFill>
                  <a:srgbClr val="000066"/>
                </a:solidFill>
                <a:latin typeface="Times New Roman" panose="02020603050405020304" pitchFamily="18" charset="0"/>
                <a:cs typeface="Times New Roman" panose="02020603050405020304" pitchFamily="18" charset="0"/>
              </a:rPr>
              <a:t> as np</a:t>
            </a:r>
          </a:p>
          <a:p>
            <a:pPr marL="576000" indent="0">
              <a:lnSpc>
                <a:spcPct val="125000"/>
              </a:lnSpc>
              <a:spcBef>
                <a:spcPts val="0"/>
              </a:spcBef>
              <a:buFont typeface="Arial" panose="020B0604020202020204" pitchFamily="34" charset="0"/>
              <a:buNone/>
            </a:pPr>
            <a:r>
              <a:rPr lang="en-US" altLang="zh-CN" sz="1600" dirty="0">
                <a:solidFill>
                  <a:srgbClr val="000066"/>
                </a:solidFill>
                <a:latin typeface="Times New Roman" panose="02020603050405020304" pitchFamily="18" charset="0"/>
                <a:cs typeface="Times New Roman" panose="02020603050405020304" pitchFamily="18" charset="0"/>
              </a:rPr>
              <a:t>X=</a:t>
            </a:r>
            <a:r>
              <a:rPr lang="en-US" altLang="zh-CN" sz="1600" dirty="0" err="1">
                <a:solidFill>
                  <a:srgbClr val="000066"/>
                </a:solidFill>
                <a:latin typeface="Times New Roman" panose="02020603050405020304" pitchFamily="18" charset="0"/>
                <a:cs typeface="Times New Roman" panose="02020603050405020304" pitchFamily="18" charset="0"/>
              </a:rPr>
              <a:t>np.array</a:t>
            </a:r>
            <a:r>
              <a:rPr lang="en-US" altLang="zh-CN" sz="1600" dirty="0">
                <a:solidFill>
                  <a:srgbClr val="000066"/>
                </a:solidFill>
                <a:latin typeface="Times New Roman" panose="02020603050405020304" pitchFamily="18" charset="0"/>
                <a:cs typeface="Times New Roman" panose="02020603050405020304" pitchFamily="18" charset="0"/>
              </a:rPr>
              <a:t>([136, 125, 122, 87, 108, 113, 111, 70, 94, 74])</a:t>
            </a:r>
          </a:p>
          <a:p>
            <a:pPr marL="576000" indent="0">
              <a:lnSpc>
                <a:spcPct val="125000"/>
              </a:lnSpc>
              <a:spcBef>
                <a:spcPts val="0"/>
              </a:spcBef>
              <a:buFont typeface="Arial" panose="020B0604020202020204" pitchFamily="34" charset="0"/>
              <a:buNone/>
            </a:pPr>
            <a:r>
              <a:rPr lang="en-US" altLang="zh-CN" sz="1600" dirty="0">
                <a:solidFill>
                  <a:srgbClr val="000066"/>
                </a:solidFill>
                <a:latin typeface="Times New Roman" panose="02020603050405020304" pitchFamily="18" charset="0"/>
                <a:cs typeface="Times New Roman" panose="02020603050405020304" pitchFamily="18" charset="0"/>
              </a:rPr>
              <a:t>X=</a:t>
            </a:r>
            <a:r>
              <a:rPr lang="en-US" altLang="zh-CN" sz="1600" dirty="0" err="1">
                <a:solidFill>
                  <a:srgbClr val="000066"/>
                </a:solidFill>
                <a:latin typeface="Times New Roman" panose="02020603050405020304" pitchFamily="18" charset="0"/>
                <a:cs typeface="Times New Roman" panose="02020603050405020304" pitchFamily="18" charset="0"/>
              </a:rPr>
              <a:t>X.reshape</a:t>
            </a:r>
            <a:r>
              <a:rPr lang="en-US" altLang="zh-CN" sz="1600" dirty="0">
                <a:solidFill>
                  <a:srgbClr val="000066"/>
                </a:solidFill>
                <a:latin typeface="Times New Roman" panose="02020603050405020304" pitchFamily="18" charset="0"/>
                <a:cs typeface="Times New Roman" panose="02020603050405020304" pitchFamily="18" charset="0"/>
              </a:rPr>
              <a:t>(-1,1)</a:t>
            </a:r>
          </a:p>
          <a:p>
            <a:pPr marL="576000" indent="0">
              <a:lnSpc>
                <a:spcPct val="125000"/>
              </a:lnSpc>
              <a:spcBef>
                <a:spcPts val="0"/>
              </a:spcBef>
              <a:buFont typeface="Arial" panose="020B0604020202020204" pitchFamily="34" charset="0"/>
              <a:buNone/>
            </a:pPr>
            <a:r>
              <a:rPr lang="en-US" altLang="zh-CN" sz="1600" dirty="0">
                <a:solidFill>
                  <a:srgbClr val="000066"/>
                </a:solidFill>
                <a:latin typeface="Times New Roman" panose="02020603050405020304" pitchFamily="18" charset="0"/>
                <a:cs typeface="Times New Roman" panose="02020603050405020304" pitchFamily="18" charset="0"/>
              </a:rPr>
              <a:t>y=</a:t>
            </a:r>
            <a:r>
              <a:rPr lang="en-US" altLang="zh-CN" sz="1600" dirty="0" err="1">
                <a:solidFill>
                  <a:srgbClr val="000066"/>
                </a:solidFill>
                <a:latin typeface="Times New Roman" panose="02020603050405020304" pitchFamily="18" charset="0"/>
                <a:cs typeface="Times New Roman" panose="02020603050405020304" pitchFamily="18" charset="0"/>
              </a:rPr>
              <a:t>np.array</a:t>
            </a:r>
            <a:r>
              <a:rPr lang="en-US" altLang="zh-CN" sz="1600" dirty="0">
                <a:solidFill>
                  <a:srgbClr val="000066"/>
                </a:solidFill>
                <a:latin typeface="Times New Roman" panose="02020603050405020304" pitchFamily="18" charset="0"/>
                <a:cs typeface="Times New Roman" panose="02020603050405020304" pitchFamily="18" charset="0"/>
              </a:rPr>
              <a:t>([97, 91, 92, 76, 93, 85, 82, 78, 78, 73])</a:t>
            </a:r>
          </a:p>
          <a:p>
            <a:pPr marL="576000" indent="0">
              <a:lnSpc>
                <a:spcPct val="125000"/>
              </a:lnSpc>
              <a:spcBef>
                <a:spcPts val="0"/>
              </a:spcBef>
              <a:buFont typeface="Arial" panose="020B0604020202020204" pitchFamily="34" charset="0"/>
              <a:buNone/>
            </a:pPr>
            <a:r>
              <a:rPr lang="en-US" altLang="zh-CN" sz="1600" dirty="0">
                <a:solidFill>
                  <a:srgbClr val="000066"/>
                </a:solidFill>
                <a:latin typeface="Times New Roman" panose="02020603050405020304" pitchFamily="18" charset="0"/>
                <a:cs typeface="Times New Roman" panose="02020603050405020304" pitchFamily="18" charset="0"/>
              </a:rPr>
              <a:t>from </a:t>
            </a:r>
            <a:r>
              <a:rPr lang="en-US" altLang="zh-CN" sz="1600" dirty="0" err="1">
                <a:solidFill>
                  <a:srgbClr val="000066"/>
                </a:solidFill>
                <a:latin typeface="Times New Roman" panose="02020603050405020304" pitchFamily="18" charset="0"/>
                <a:cs typeface="Times New Roman" panose="02020603050405020304" pitchFamily="18" charset="0"/>
              </a:rPr>
              <a:t>sklearn.linear_model</a:t>
            </a:r>
            <a:r>
              <a:rPr lang="en-US" altLang="zh-CN" sz="1600" dirty="0">
                <a:solidFill>
                  <a:srgbClr val="000066"/>
                </a:solidFill>
                <a:latin typeface="Times New Roman" panose="02020603050405020304" pitchFamily="18" charset="0"/>
                <a:cs typeface="Times New Roman" panose="02020603050405020304" pitchFamily="18" charset="0"/>
              </a:rPr>
              <a:t> import </a:t>
            </a:r>
            <a:r>
              <a:rPr lang="en-US" altLang="zh-CN" sz="1600" dirty="0" err="1">
                <a:solidFill>
                  <a:srgbClr val="000066"/>
                </a:solidFill>
                <a:latin typeface="Times New Roman" panose="02020603050405020304" pitchFamily="18" charset="0"/>
                <a:cs typeface="Times New Roman" panose="02020603050405020304" pitchFamily="18" charset="0"/>
              </a:rPr>
              <a:t>LinearRegression</a:t>
            </a:r>
            <a:endParaRPr lang="en-US" altLang="zh-CN" sz="1600" dirty="0">
              <a:solidFill>
                <a:srgbClr val="000066"/>
              </a:solidFill>
              <a:latin typeface="Times New Roman" panose="02020603050405020304" pitchFamily="18" charset="0"/>
              <a:cs typeface="Times New Roman" panose="02020603050405020304" pitchFamily="18" charset="0"/>
            </a:endParaRPr>
          </a:p>
          <a:p>
            <a:pPr marL="576000" indent="0">
              <a:lnSpc>
                <a:spcPct val="125000"/>
              </a:lnSpc>
              <a:spcBef>
                <a:spcPts val="0"/>
              </a:spcBef>
              <a:buFont typeface="Arial" panose="020B0604020202020204" pitchFamily="34" charset="0"/>
              <a:buNone/>
            </a:pPr>
            <a:r>
              <a:rPr lang="en-US" altLang="zh-CN" sz="1600" dirty="0" err="1">
                <a:solidFill>
                  <a:srgbClr val="000066"/>
                </a:solidFill>
                <a:latin typeface="Times New Roman" panose="02020603050405020304" pitchFamily="18" charset="0"/>
                <a:cs typeface="Times New Roman" panose="02020603050405020304" pitchFamily="18" charset="0"/>
              </a:rPr>
              <a:t>lr</a:t>
            </a:r>
            <a:r>
              <a:rPr lang="en-US" altLang="zh-CN" sz="1600" dirty="0">
                <a:solidFill>
                  <a:srgbClr val="000066"/>
                </a:solidFill>
                <a:latin typeface="Times New Roman" panose="02020603050405020304" pitchFamily="18" charset="0"/>
                <a:cs typeface="Times New Roman" panose="02020603050405020304" pitchFamily="18" charset="0"/>
              </a:rPr>
              <a:t>=</a:t>
            </a:r>
            <a:r>
              <a:rPr lang="en-US" altLang="zh-CN" sz="1600" dirty="0" err="1">
                <a:solidFill>
                  <a:srgbClr val="000066"/>
                </a:solidFill>
                <a:latin typeface="Times New Roman" panose="02020603050405020304" pitchFamily="18" charset="0"/>
                <a:cs typeface="Times New Roman" panose="02020603050405020304" pitchFamily="18" charset="0"/>
              </a:rPr>
              <a:t>LinearRegression</a:t>
            </a:r>
            <a:r>
              <a:rPr lang="en-US" altLang="zh-CN" sz="1600" dirty="0">
                <a:solidFill>
                  <a:srgbClr val="000066"/>
                </a:solidFill>
                <a:latin typeface="Times New Roman" panose="02020603050405020304" pitchFamily="18" charset="0"/>
                <a:cs typeface="Times New Roman" panose="02020603050405020304" pitchFamily="18" charset="0"/>
              </a:rPr>
              <a:t>()</a:t>
            </a:r>
          </a:p>
          <a:p>
            <a:pPr marL="576000" indent="0">
              <a:lnSpc>
                <a:spcPct val="125000"/>
              </a:lnSpc>
              <a:spcBef>
                <a:spcPts val="0"/>
              </a:spcBef>
              <a:buFont typeface="Arial" panose="020B0604020202020204" pitchFamily="34" charset="0"/>
              <a:buNone/>
            </a:pPr>
            <a:r>
              <a:rPr lang="en-US" altLang="zh-CN" sz="1600" dirty="0" err="1">
                <a:solidFill>
                  <a:srgbClr val="000066"/>
                </a:solidFill>
                <a:latin typeface="Times New Roman" panose="02020603050405020304" pitchFamily="18" charset="0"/>
                <a:cs typeface="Times New Roman" panose="02020603050405020304" pitchFamily="18" charset="0"/>
              </a:rPr>
              <a:t>lr.fit</a:t>
            </a:r>
            <a:r>
              <a:rPr lang="en-US" altLang="zh-CN" sz="1600" dirty="0">
                <a:solidFill>
                  <a:srgbClr val="000066"/>
                </a:solidFill>
                <a:latin typeface="Times New Roman" panose="02020603050405020304" pitchFamily="18" charset="0"/>
                <a:cs typeface="Times New Roman" panose="02020603050405020304" pitchFamily="18" charset="0"/>
              </a:rPr>
              <a:t>(</a:t>
            </a:r>
            <a:r>
              <a:rPr lang="en-US" altLang="zh-CN" sz="1600" dirty="0" err="1">
                <a:solidFill>
                  <a:srgbClr val="000066"/>
                </a:solidFill>
                <a:latin typeface="Times New Roman" panose="02020603050405020304" pitchFamily="18" charset="0"/>
                <a:cs typeface="Times New Roman" panose="02020603050405020304" pitchFamily="18" charset="0"/>
              </a:rPr>
              <a:t>X,y</a:t>
            </a:r>
            <a:r>
              <a:rPr lang="en-US" altLang="zh-CN" sz="1600" dirty="0">
                <a:solidFill>
                  <a:srgbClr val="000066"/>
                </a:solidFill>
                <a:latin typeface="Times New Roman" panose="02020603050405020304" pitchFamily="18" charset="0"/>
                <a:cs typeface="Times New Roman" panose="02020603050405020304" pitchFamily="18" charset="0"/>
              </a:rPr>
              <a:t>)  </a:t>
            </a:r>
          </a:p>
          <a:p>
            <a:pPr marL="576000" indent="0">
              <a:lnSpc>
                <a:spcPct val="125000"/>
              </a:lnSpc>
              <a:spcBef>
                <a:spcPts val="0"/>
              </a:spcBef>
              <a:buFont typeface="Arial" panose="020B0604020202020204" pitchFamily="34" charset="0"/>
              <a:buNone/>
            </a:pPr>
            <a:r>
              <a:rPr lang="en-US" altLang="zh-CN" sz="1600" dirty="0">
                <a:solidFill>
                  <a:srgbClr val="000066"/>
                </a:solidFill>
                <a:latin typeface="Times New Roman" panose="02020603050405020304" pitchFamily="18" charset="0"/>
                <a:cs typeface="Times New Roman" panose="02020603050405020304" pitchFamily="18" charset="0"/>
              </a:rPr>
              <a:t>print(lr.intercept_,</a:t>
            </a:r>
            <a:r>
              <a:rPr lang="en-US" altLang="zh-CN" sz="1600" dirty="0" err="1">
                <a:solidFill>
                  <a:srgbClr val="000066"/>
                </a:solidFill>
                <a:latin typeface="Times New Roman" panose="02020603050405020304" pitchFamily="18" charset="0"/>
                <a:cs typeface="Times New Roman" panose="02020603050405020304" pitchFamily="18" charset="0"/>
              </a:rPr>
              <a:t>lr.coef</a:t>
            </a:r>
            <a:r>
              <a:rPr lang="en-US" altLang="zh-CN" sz="1600" dirty="0">
                <a:solidFill>
                  <a:srgbClr val="000066"/>
                </a:solidFill>
                <a:latin typeface="Times New Roman" panose="02020603050405020304" pitchFamily="18" charset="0"/>
                <a:cs typeface="Times New Roman" panose="02020603050405020304" pitchFamily="18" charset="0"/>
              </a:rPr>
              <a:t>_)      	#</a:t>
            </a:r>
            <a:r>
              <a:rPr lang="zh-CN" altLang="en-US" sz="1600" dirty="0">
                <a:solidFill>
                  <a:srgbClr val="000066"/>
                </a:solidFill>
                <a:latin typeface="Times New Roman" panose="02020603050405020304" pitchFamily="18" charset="0"/>
                <a:cs typeface="Times New Roman" panose="02020603050405020304" pitchFamily="18" charset="0"/>
              </a:rPr>
              <a:t>输出截距和权重系数</a:t>
            </a:r>
          </a:p>
          <a:p>
            <a:pPr marL="576000" indent="0">
              <a:lnSpc>
                <a:spcPct val="125000"/>
              </a:lnSpc>
              <a:spcBef>
                <a:spcPts val="0"/>
              </a:spcBef>
              <a:buFont typeface="Arial" panose="020B0604020202020204" pitchFamily="34" charset="0"/>
              <a:buNone/>
            </a:pPr>
            <a:r>
              <a:rPr lang="en-US" altLang="zh-CN" sz="1600" dirty="0" err="1">
                <a:solidFill>
                  <a:srgbClr val="000066"/>
                </a:solidFill>
                <a:latin typeface="Times New Roman" panose="02020603050405020304" pitchFamily="18" charset="0"/>
                <a:cs typeface="Times New Roman" panose="02020603050405020304" pitchFamily="18" charset="0"/>
              </a:rPr>
              <a:t>new_X</a:t>
            </a:r>
            <a:r>
              <a:rPr lang="en-US" altLang="zh-CN" sz="1600" dirty="0">
                <a:solidFill>
                  <a:srgbClr val="000066"/>
                </a:solidFill>
                <a:latin typeface="Times New Roman" panose="02020603050405020304" pitchFamily="18" charset="0"/>
                <a:cs typeface="Times New Roman" panose="02020603050405020304" pitchFamily="18" charset="0"/>
              </a:rPr>
              <a:t>=</a:t>
            </a:r>
            <a:r>
              <a:rPr lang="en-US" altLang="zh-CN" sz="1600" dirty="0" err="1">
                <a:solidFill>
                  <a:srgbClr val="000066"/>
                </a:solidFill>
                <a:latin typeface="Times New Roman" panose="02020603050405020304" pitchFamily="18" charset="0"/>
                <a:cs typeface="Times New Roman" panose="02020603050405020304" pitchFamily="18" charset="0"/>
              </a:rPr>
              <a:t>np.array</a:t>
            </a:r>
            <a:r>
              <a:rPr lang="en-US" altLang="zh-CN" sz="1600" dirty="0">
                <a:solidFill>
                  <a:srgbClr val="000066"/>
                </a:solidFill>
                <a:latin typeface="Times New Roman" panose="02020603050405020304" pitchFamily="18" charset="0"/>
                <a:cs typeface="Times New Roman" panose="02020603050405020304" pitchFamily="18" charset="0"/>
              </a:rPr>
              <a:t>([100, 110])</a:t>
            </a:r>
          </a:p>
          <a:p>
            <a:pPr marL="576000" indent="0">
              <a:lnSpc>
                <a:spcPct val="125000"/>
              </a:lnSpc>
              <a:spcBef>
                <a:spcPts val="0"/>
              </a:spcBef>
              <a:buFont typeface="Arial" panose="020B0604020202020204" pitchFamily="34" charset="0"/>
              <a:buNone/>
            </a:pPr>
            <a:r>
              <a:rPr lang="en-US" altLang="zh-CN" sz="1600" dirty="0" err="1">
                <a:solidFill>
                  <a:srgbClr val="000066"/>
                </a:solidFill>
                <a:latin typeface="Times New Roman" panose="02020603050405020304" pitchFamily="18" charset="0"/>
                <a:cs typeface="Times New Roman" panose="02020603050405020304" pitchFamily="18" charset="0"/>
              </a:rPr>
              <a:t>new_X</a:t>
            </a:r>
            <a:r>
              <a:rPr lang="en-US" altLang="zh-CN" sz="1600" dirty="0">
                <a:solidFill>
                  <a:srgbClr val="000066"/>
                </a:solidFill>
                <a:latin typeface="Times New Roman" panose="02020603050405020304" pitchFamily="18" charset="0"/>
                <a:cs typeface="Times New Roman" panose="02020603050405020304" pitchFamily="18" charset="0"/>
              </a:rPr>
              <a:t>=</a:t>
            </a:r>
            <a:r>
              <a:rPr lang="en-US" altLang="zh-CN" sz="1600" dirty="0" err="1">
                <a:solidFill>
                  <a:srgbClr val="000066"/>
                </a:solidFill>
                <a:latin typeface="Times New Roman" panose="02020603050405020304" pitchFamily="18" charset="0"/>
                <a:cs typeface="Times New Roman" panose="02020603050405020304" pitchFamily="18" charset="0"/>
              </a:rPr>
              <a:t>new_X.reshape</a:t>
            </a:r>
            <a:r>
              <a:rPr lang="en-US" altLang="zh-CN" sz="1600" dirty="0">
                <a:solidFill>
                  <a:srgbClr val="000066"/>
                </a:solidFill>
                <a:latin typeface="Times New Roman" panose="02020603050405020304" pitchFamily="18" charset="0"/>
                <a:cs typeface="Times New Roman" panose="02020603050405020304" pitchFamily="18" charset="0"/>
              </a:rPr>
              <a:t>(-1,1)</a:t>
            </a:r>
          </a:p>
          <a:p>
            <a:pPr marL="576000" indent="0">
              <a:lnSpc>
                <a:spcPct val="125000"/>
              </a:lnSpc>
              <a:spcBef>
                <a:spcPts val="0"/>
              </a:spcBef>
              <a:buFont typeface="Arial" panose="020B0604020202020204" pitchFamily="34" charset="0"/>
              <a:buNone/>
            </a:pPr>
            <a:r>
              <a:rPr lang="en-US" altLang="zh-CN" sz="1600" dirty="0">
                <a:solidFill>
                  <a:srgbClr val="000066"/>
                </a:solidFill>
                <a:latin typeface="Times New Roman" panose="02020603050405020304" pitchFamily="18" charset="0"/>
                <a:cs typeface="Times New Roman" panose="02020603050405020304" pitchFamily="18" charset="0"/>
              </a:rPr>
              <a:t>print("</a:t>
            </a:r>
            <a:r>
              <a:rPr lang="zh-CN" altLang="en-US" sz="1600" dirty="0">
                <a:solidFill>
                  <a:srgbClr val="000066"/>
                </a:solidFill>
                <a:latin typeface="Times New Roman" panose="02020603050405020304" pitchFamily="18" charset="0"/>
                <a:cs typeface="Times New Roman" panose="02020603050405020304" pitchFamily="18" charset="0"/>
              </a:rPr>
              <a:t>两位同学物理成绩的估计值</a:t>
            </a:r>
            <a:r>
              <a:rPr lang="en-US" altLang="zh-CN" sz="1600" dirty="0">
                <a:solidFill>
                  <a:srgbClr val="000066"/>
                </a:solidFill>
                <a:latin typeface="Times New Roman" panose="02020603050405020304" pitchFamily="18" charset="0"/>
                <a:cs typeface="Times New Roman" panose="02020603050405020304" pitchFamily="18" charset="0"/>
              </a:rPr>
              <a:t>:",</a:t>
            </a:r>
            <a:r>
              <a:rPr lang="en-US" altLang="zh-CN" sz="1600" dirty="0" err="1">
                <a:solidFill>
                  <a:srgbClr val="000066"/>
                </a:solidFill>
                <a:latin typeface="Times New Roman" panose="02020603050405020304" pitchFamily="18" charset="0"/>
                <a:cs typeface="Times New Roman" panose="02020603050405020304" pitchFamily="18" charset="0"/>
              </a:rPr>
              <a:t>lr.predict</a:t>
            </a:r>
            <a:r>
              <a:rPr lang="en-US" altLang="zh-CN" sz="1600" dirty="0">
                <a:solidFill>
                  <a:srgbClr val="000066"/>
                </a:solidFill>
                <a:latin typeface="Times New Roman" panose="02020603050405020304" pitchFamily="18" charset="0"/>
                <a:cs typeface="Times New Roman" panose="02020603050405020304" pitchFamily="18" charset="0"/>
              </a:rPr>
              <a:t>(</a:t>
            </a:r>
            <a:r>
              <a:rPr lang="en-US" altLang="zh-CN" sz="1600" dirty="0" err="1">
                <a:solidFill>
                  <a:srgbClr val="000066"/>
                </a:solidFill>
                <a:latin typeface="Times New Roman" panose="02020603050405020304" pitchFamily="18" charset="0"/>
                <a:cs typeface="Times New Roman" panose="02020603050405020304" pitchFamily="18" charset="0"/>
              </a:rPr>
              <a:t>new_X</a:t>
            </a:r>
            <a:r>
              <a:rPr lang="en-US" altLang="zh-CN" sz="1600" dirty="0">
                <a:solidFill>
                  <a:srgbClr val="000066"/>
                </a:solidFill>
                <a:latin typeface="Times New Roman" panose="02020603050405020304" pitchFamily="18" charset="0"/>
                <a:cs typeface="Times New Roman" panose="02020603050405020304" pitchFamily="18" charset="0"/>
              </a:rPr>
              <a:t>))</a:t>
            </a:r>
            <a:endParaRPr lang="zh-CN" altLang="zh-CN" sz="1800" dirty="0">
              <a:solidFill>
                <a:srgbClr val="C00000"/>
              </a:solidFill>
            </a:endParaRPr>
          </a:p>
        </p:txBody>
      </p:sp>
      <p:pic>
        <p:nvPicPr>
          <p:cNvPr id="33" name="图片 32">
            <a:extLst>
              <a:ext uri="{FF2B5EF4-FFF2-40B4-BE49-F238E27FC236}">
                <a16:creationId xmlns:a16="http://schemas.microsoft.com/office/drawing/2014/main" id="{1437D8EE-60AC-46BF-AA10-03FA977C3870}"/>
              </a:ext>
            </a:extLst>
          </p:cNvPr>
          <p:cNvPicPr>
            <a:picLocks noChangeAspect="1"/>
          </p:cNvPicPr>
          <p:nvPr/>
        </p:nvPicPr>
        <p:blipFill>
          <a:blip r:embed="rId3"/>
          <a:stretch>
            <a:fillRect/>
          </a:stretch>
        </p:blipFill>
        <p:spPr>
          <a:xfrm>
            <a:off x="3651363" y="1192006"/>
            <a:ext cx="5451811" cy="480767"/>
          </a:xfrm>
          <a:prstGeom prst="rect">
            <a:avLst/>
          </a:prstGeom>
        </p:spPr>
      </p:pic>
    </p:spTree>
    <p:extLst>
      <p:ext uri="{BB962C8B-B14F-4D97-AF65-F5344CB8AC3E}">
        <p14:creationId xmlns:p14="http://schemas.microsoft.com/office/powerpoint/2010/main" val="1617633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五、经典机器学习算法</a:t>
            </a:r>
            <a:endParaRPr lang="zh-CN" altLang="en-US" sz="2400" dirty="0"/>
          </a:p>
        </p:txBody>
      </p:sp>
      <p:sp>
        <p:nvSpPr>
          <p:cNvPr id="12" name="内容占位符 2"/>
          <p:cNvSpPr txBox="1">
            <a:spLocks/>
          </p:cNvSpPr>
          <p:nvPr/>
        </p:nvSpPr>
        <p:spPr>
          <a:xfrm>
            <a:off x="340254" y="1059582"/>
            <a:ext cx="8136905" cy="2344685"/>
          </a:xfrm>
          <a:prstGeom prst="rect">
            <a:avLst/>
          </a:prstGeom>
        </p:spPr>
        <p:txBody>
          <a:bodyP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722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3012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302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655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576000" indent="0">
              <a:lnSpc>
                <a:spcPct val="125000"/>
              </a:lnSpc>
              <a:spcBef>
                <a:spcPts val="0"/>
              </a:spcBef>
              <a:buFont typeface="Arial" panose="020B0604020202020204" pitchFamily="34" charset="0"/>
              <a:buNone/>
            </a:pPr>
            <a:r>
              <a:rPr lang="zh-CN" altLang="en-US"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列       表：</a:t>
            </a:r>
            <a:r>
              <a:rPr lang="en-US" altLang="zh-CN"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[136, 125, 122, 87, 108, 113, 111, 70, 94, 74]</a:t>
            </a:r>
          </a:p>
          <a:p>
            <a:pPr marL="576000" indent="0">
              <a:lnSpc>
                <a:spcPct val="125000"/>
              </a:lnSpc>
              <a:spcBef>
                <a:spcPts val="0"/>
              </a:spcBef>
              <a:buFont typeface="Arial" panose="020B0604020202020204" pitchFamily="34" charset="0"/>
              <a:buNone/>
            </a:pPr>
            <a:endParaRPr lang="en-US" altLang="zh-CN"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marL="576000" indent="0">
              <a:lnSpc>
                <a:spcPct val="125000"/>
              </a:lnSpc>
              <a:spcBef>
                <a:spcPts val="0"/>
              </a:spcBef>
              <a:buFont typeface="Arial" panose="020B0604020202020204" pitchFamily="34" charset="0"/>
              <a:buNone/>
            </a:pPr>
            <a:endParaRPr lang="en-US" altLang="zh-CN"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marL="576000" indent="0">
              <a:lnSpc>
                <a:spcPct val="125000"/>
              </a:lnSpc>
              <a:spcBef>
                <a:spcPts val="0"/>
              </a:spcBef>
              <a:buFont typeface="Arial" panose="020B0604020202020204" pitchFamily="34" charset="0"/>
              <a:buNone/>
            </a:pPr>
            <a:r>
              <a:rPr lang="zh-CN" altLang="en-US"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一维数组：</a:t>
            </a:r>
            <a:r>
              <a:rPr lang="en-US" altLang="zh-CN"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[136, 125, 122, 87, 108, 113, 111, 70, 94, 74]</a:t>
            </a:r>
          </a:p>
          <a:p>
            <a:pPr marL="576000" indent="0">
              <a:lnSpc>
                <a:spcPct val="125000"/>
              </a:lnSpc>
              <a:spcBef>
                <a:spcPts val="0"/>
              </a:spcBef>
              <a:buFont typeface="Arial" panose="020B0604020202020204" pitchFamily="34" charset="0"/>
              <a:buNone/>
            </a:pPr>
            <a:r>
              <a:rPr lang="zh-CN" altLang="en-US"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向量</a:t>
            </a:r>
            <a:endParaRPr lang="en-US" altLang="zh-CN"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576000" indent="0">
              <a:lnSpc>
                <a:spcPct val="125000"/>
              </a:lnSpc>
              <a:spcBef>
                <a:spcPts val="0"/>
              </a:spcBef>
              <a:buFont typeface="Arial" panose="020B0604020202020204" pitchFamily="34" charset="0"/>
              <a:buNone/>
            </a:pPr>
            <a:endParaRPr lang="en-US" altLang="zh-CN"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marL="576000" indent="0">
              <a:lnSpc>
                <a:spcPct val="125000"/>
              </a:lnSpc>
              <a:spcBef>
                <a:spcPts val="0"/>
              </a:spcBef>
              <a:buFont typeface="Arial" panose="020B0604020202020204" pitchFamily="34" charset="0"/>
              <a:buNone/>
            </a:pPr>
            <a:r>
              <a:rPr lang="zh-CN" altLang="en-US"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二维数组：</a:t>
            </a:r>
            <a:r>
              <a:rPr lang="en-US" altLang="zh-CN"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10</a:t>
            </a:r>
            <a:r>
              <a:rPr lang="zh-CN" altLang="en-US"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1</a:t>
            </a:r>
          </a:p>
          <a:p>
            <a:pPr marL="576000" indent="0">
              <a:lnSpc>
                <a:spcPct val="125000"/>
              </a:lnSpc>
              <a:spcBef>
                <a:spcPts val="0"/>
              </a:spcBef>
              <a:buFont typeface="Arial" panose="020B0604020202020204" pitchFamily="34" charset="0"/>
              <a:buNone/>
            </a:pPr>
            <a:endParaRPr lang="en-US" altLang="zh-CN"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13" name="直接箭头连接符 12">
            <a:extLst>
              <a:ext uri="{FF2B5EF4-FFF2-40B4-BE49-F238E27FC236}">
                <a16:creationId xmlns:a16="http://schemas.microsoft.com/office/drawing/2014/main" id="{C383B7FE-ECAB-4A12-9E44-F71BC1CA7918}"/>
              </a:ext>
            </a:extLst>
          </p:cNvPr>
          <p:cNvCxnSpPr/>
          <p:nvPr/>
        </p:nvCxnSpPr>
        <p:spPr>
          <a:xfrm>
            <a:off x="3148567" y="1380858"/>
            <a:ext cx="0" cy="678358"/>
          </a:xfrm>
          <a:prstGeom prst="straightConnector1">
            <a:avLst/>
          </a:prstGeom>
          <a:ln w="38100" cmpd="dbl">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27B440B5-47E6-4C78-B152-2DEDDE062FE8}"/>
              </a:ext>
            </a:extLst>
          </p:cNvPr>
          <p:cNvSpPr txBox="1"/>
          <p:nvPr/>
        </p:nvSpPr>
        <p:spPr>
          <a:xfrm>
            <a:off x="3148567" y="1505219"/>
            <a:ext cx="1101584" cy="369332"/>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a:ln>
                  <a:noFill/>
                </a:ln>
                <a:solidFill>
                  <a:srgbClr val="000066"/>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np.array()</a:t>
            </a:r>
            <a:endParaRPr kumimoji="0" lang="zh-CN" altLang="en-US" sz="18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15" name="直接箭头连接符 14">
            <a:extLst>
              <a:ext uri="{FF2B5EF4-FFF2-40B4-BE49-F238E27FC236}">
                <a16:creationId xmlns:a16="http://schemas.microsoft.com/office/drawing/2014/main" id="{1214E8F8-1CC3-4E42-B9C6-6DCE1C99A3FB}"/>
              </a:ext>
            </a:extLst>
          </p:cNvPr>
          <p:cNvCxnSpPr/>
          <p:nvPr/>
        </p:nvCxnSpPr>
        <p:spPr>
          <a:xfrm>
            <a:off x="3148567" y="2254381"/>
            <a:ext cx="0" cy="678358"/>
          </a:xfrm>
          <a:prstGeom prst="straightConnector1">
            <a:avLst/>
          </a:prstGeom>
          <a:ln w="38100" cmpd="dbl">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1BCA9158-0D8F-4984-8DF8-763AD0FC101C}"/>
              </a:ext>
            </a:extLst>
          </p:cNvPr>
          <p:cNvSpPr txBox="1"/>
          <p:nvPr/>
        </p:nvSpPr>
        <p:spPr>
          <a:xfrm>
            <a:off x="3148567" y="2378742"/>
            <a:ext cx="1633781" cy="438582"/>
          </a:xfrm>
          <a:prstGeom prst="rect">
            <a:avLst/>
          </a:prstGeom>
          <a:noFill/>
        </p:spPr>
        <p:txBody>
          <a:bodyPr wrap="none" rtlCol="0">
            <a:spAutoFit/>
          </a:bodyPr>
          <a:lstStyle/>
          <a:p>
            <a:pPr marL="0" marR="0" lvl="0" indent="0" algn="l" defTabSz="914400" rtl="0" eaLnBrk="1" fontAlgn="base" latinLnBrk="0" hangingPunct="1">
              <a:lnSpc>
                <a:spcPct val="125000"/>
              </a:lnSpc>
              <a:spcBef>
                <a:spcPts val="0"/>
              </a:spcBef>
              <a:spcAft>
                <a:spcPct val="0"/>
              </a:spcAft>
              <a:buClrTx/>
              <a:buSzTx/>
              <a:buFontTx/>
              <a:buNone/>
              <a:tabLst/>
              <a:defRPr/>
            </a:pPr>
            <a:r>
              <a:rPr kumimoji="0" lang="en-US" altLang="zh-CN" sz="1800" b="0" i="0" u="none" strike="noStrike" kern="1200" cap="none" spc="0" normalizeH="0" baseline="0" noProof="0">
                <a:ln>
                  <a:noFill/>
                </a:ln>
                <a:solidFill>
                  <a:srgbClr val="000066"/>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X.reshape(-1,1)</a:t>
            </a:r>
          </a:p>
        </p:txBody>
      </p:sp>
      <p:graphicFrame>
        <p:nvGraphicFramePr>
          <p:cNvPr id="17" name="表格 16">
            <a:extLst>
              <a:ext uri="{FF2B5EF4-FFF2-40B4-BE49-F238E27FC236}">
                <a16:creationId xmlns:a16="http://schemas.microsoft.com/office/drawing/2014/main" id="{621B0D8C-D074-49F9-88AB-DCFE845A7154}"/>
              </a:ext>
            </a:extLst>
          </p:cNvPr>
          <p:cNvGraphicFramePr>
            <a:graphicFrameLocks noGrp="1"/>
          </p:cNvGraphicFramePr>
          <p:nvPr>
            <p:extLst>
              <p:ext uri="{D42A27DB-BD31-4B8C-83A1-F6EECF244321}">
                <p14:modId xmlns:p14="http://schemas.microsoft.com/office/powerpoint/2010/main" val="298303791"/>
              </p:ext>
            </p:extLst>
          </p:nvPr>
        </p:nvGraphicFramePr>
        <p:xfrm>
          <a:off x="2797954" y="2932739"/>
          <a:ext cx="660400" cy="2063115"/>
        </p:xfrm>
        <a:graphic>
          <a:graphicData uri="http://schemas.openxmlformats.org/drawingml/2006/table">
            <a:tbl>
              <a:tblPr>
                <a:tableStyleId>{5C22544A-7EE6-4342-B048-85BDC9FD1C3A}</a:tableStyleId>
              </a:tblPr>
              <a:tblGrid>
                <a:gridCol w="660400">
                  <a:extLst>
                    <a:ext uri="{9D8B030D-6E8A-4147-A177-3AD203B41FA5}">
                      <a16:colId xmlns:a16="http://schemas.microsoft.com/office/drawing/2014/main" val="1291833883"/>
                    </a:ext>
                  </a:extLst>
                </a:gridCol>
              </a:tblGrid>
              <a:tr h="184150">
                <a:tc>
                  <a:txBody>
                    <a:bodyPr/>
                    <a:lstStyle/>
                    <a:p>
                      <a:pPr algn="ctr" fontAlgn="ctr">
                        <a:lnSpc>
                          <a:spcPts val="1700"/>
                        </a:lnSpc>
                      </a:pPr>
                      <a:r>
                        <a:rPr lang="en-US" altLang="zh-CN" sz="1600" b="0" u="none" strike="noStrike" dirty="0">
                          <a:solidFill>
                            <a:srgbClr val="000066"/>
                          </a:solidFill>
                          <a:effectLst/>
                          <a:latin typeface="Times New Roman" panose="02020603050405020304" pitchFamily="18" charset="0"/>
                          <a:cs typeface="Times New Roman" panose="02020603050405020304" pitchFamily="18" charset="0"/>
                        </a:rPr>
                        <a:t>136</a:t>
                      </a:r>
                      <a:endParaRPr lang="en-US" altLang="zh-CN" sz="1600" b="0" i="0" u="none" strike="noStrike" dirty="0">
                        <a:solidFill>
                          <a:srgbClr val="00006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350" marR="6350" marT="6350" marB="0" anchor="ctr">
                    <a:solidFill>
                      <a:schemeClr val="bg1"/>
                    </a:solidFill>
                  </a:tcPr>
                </a:tc>
                <a:extLst>
                  <a:ext uri="{0D108BD9-81ED-4DB2-BD59-A6C34878D82A}">
                    <a16:rowId xmlns:a16="http://schemas.microsoft.com/office/drawing/2014/main" val="738816174"/>
                  </a:ext>
                </a:extLst>
              </a:tr>
              <a:tr h="184150">
                <a:tc>
                  <a:txBody>
                    <a:bodyPr/>
                    <a:lstStyle/>
                    <a:p>
                      <a:pPr algn="ctr" fontAlgn="ctr">
                        <a:lnSpc>
                          <a:spcPts val="1700"/>
                        </a:lnSpc>
                      </a:pPr>
                      <a:r>
                        <a:rPr lang="en-US" altLang="zh-CN" sz="1600" b="0" u="none" strike="noStrike" dirty="0">
                          <a:solidFill>
                            <a:srgbClr val="000066"/>
                          </a:solidFill>
                          <a:effectLst/>
                          <a:latin typeface="Times New Roman" panose="02020603050405020304" pitchFamily="18" charset="0"/>
                          <a:cs typeface="Times New Roman" panose="02020603050405020304" pitchFamily="18" charset="0"/>
                        </a:rPr>
                        <a:t>125</a:t>
                      </a:r>
                      <a:endParaRPr lang="en-US" altLang="zh-CN" sz="1600" b="0" i="0" u="none" strike="noStrike" dirty="0">
                        <a:solidFill>
                          <a:srgbClr val="00006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350" marR="6350" marT="6350" marB="0" anchor="ctr">
                    <a:solidFill>
                      <a:schemeClr val="bg1"/>
                    </a:solidFill>
                  </a:tcPr>
                </a:tc>
                <a:extLst>
                  <a:ext uri="{0D108BD9-81ED-4DB2-BD59-A6C34878D82A}">
                    <a16:rowId xmlns:a16="http://schemas.microsoft.com/office/drawing/2014/main" val="2567927776"/>
                  </a:ext>
                </a:extLst>
              </a:tr>
              <a:tr h="184150">
                <a:tc>
                  <a:txBody>
                    <a:bodyPr/>
                    <a:lstStyle/>
                    <a:p>
                      <a:pPr algn="ctr" fontAlgn="ctr">
                        <a:lnSpc>
                          <a:spcPts val="1700"/>
                        </a:lnSpc>
                      </a:pPr>
                      <a:r>
                        <a:rPr lang="en-US" altLang="zh-CN" sz="1600" b="0" u="none" strike="noStrike" dirty="0">
                          <a:solidFill>
                            <a:srgbClr val="000066"/>
                          </a:solidFill>
                          <a:effectLst/>
                          <a:latin typeface="Times New Roman" panose="02020603050405020304" pitchFamily="18" charset="0"/>
                          <a:cs typeface="Times New Roman" panose="02020603050405020304" pitchFamily="18" charset="0"/>
                        </a:rPr>
                        <a:t>122</a:t>
                      </a:r>
                      <a:endParaRPr lang="en-US" altLang="zh-CN" sz="1600" b="0" i="0" u="none" strike="noStrike" dirty="0">
                        <a:solidFill>
                          <a:srgbClr val="00006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350" marR="6350" marT="6350" marB="0" anchor="ctr">
                    <a:solidFill>
                      <a:schemeClr val="bg1"/>
                    </a:solidFill>
                  </a:tcPr>
                </a:tc>
                <a:extLst>
                  <a:ext uri="{0D108BD9-81ED-4DB2-BD59-A6C34878D82A}">
                    <a16:rowId xmlns:a16="http://schemas.microsoft.com/office/drawing/2014/main" val="2661597137"/>
                  </a:ext>
                </a:extLst>
              </a:tr>
              <a:tr h="184150">
                <a:tc>
                  <a:txBody>
                    <a:bodyPr/>
                    <a:lstStyle/>
                    <a:p>
                      <a:pPr algn="ctr" fontAlgn="ctr">
                        <a:lnSpc>
                          <a:spcPts val="1700"/>
                        </a:lnSpc>
                      </a:pPr>
                      <a:r>
                        <a:rPr lang="en-US" altLang="zh-CN" sz="1600" b="0" i="0" u="none" strike="noStrike" dirty="0">
                          <a:solidFill>
                            <a:srgbClr val="000066"/>
                          </a:solidFill>
                          <a:effectLst/>
                          <a:latin typeface="Times New Roman" panose="02020603050405020304" pitchFamily="18" charset="0"/>
                          <a:ea typeface="等线" panose="02010600030101010101" pitchFamily="2" charset="-122"/>
                          <a:cs typeface="Times New Roman" panose="02020603050405020304" pitchFamily="18" charset="0"/>
                        </a:rPr>
                        <a:t> 87</a:t>
                      </a:r>
                    </a:p>
                  </a:txBody>
                  <a:tcPr marL="6350" marR="6350" marT="6350" marB="0" anchor="ctr">
                    <a:solidFill>
                      <a:schemeClr val="bg1"/>
                    </a:solidFill>
                  </a:tcPr>
                </a:tc>
                <a:extLst>
                  <a:ext uri="{0D108BD9-81ED-4DB2-BD59-A6C34878D82A}">
                    <a16:rowId xmlns:a16="http://schemas.microsoft.com/office/drawing/2014/main" val="2612950753"/>
                  </a:ext>
                </a:extLst>
              </a:tr>
              <a:tr h="184150">
                <a:tc>
                  <a:txBody>
                    <a:bodyPr/>
                    <a:lstStyle/>
                    <a:p>
                      <a:pPr algn="ctr" fontAlgn="ctr">
                        <a:lnSpc>
                          <a:spcPts val="1700"/>
                        </a:lnSpc>
                      </a:pPr>
                      <a:r>
                        <a:rPr lang="en-US" altLang="zh-CN" sz="1600" b="0" u="none" strike="noStrike" dirty="0">
                          <a:solidFill>
                            <a:srgbClr val="000066"/>
                          </a:solidFill>
                          <a:effectLst/>
                          <a:latin typeface="Times New Roman" panose="02020603050405020304" pitchFamily="18" charset="0"/>
                          <a:cs typeface="Times New Roman" panose="02020603050405020304" pitchFamily="18" charset="0"/>
                        </a:rPr>
                        <a:t>113</a:t>
                      </a:r>
                      <a:endParaRPr lang="en-US" altLang="zh-CN" sz="1600" b="0" i="0" u="none" strike="noStrike" dirty="0">
                        <a:solidFill>
                          <a:srgbClr val="00006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350" marR="6350" marT="6350" marB="0" anchor="ctr">
                    <a:solidFill>
                      <a:schemeClr val="bg1"/>
                    </a:solidFill>
                  </a:tcPr>
                </a:tc>
                <a:extLst>
                  <a:ext uri="{0D108BD9-81ED-4DB2-BD59-A6C34878D82A}">
                    <a16:rowId xmlns:a16="http://schemas.microsoft.com/office/drawing/2014/main" val="3082527734"/>
                  </a:ext>
                </a:extLst>
              </a:tr>
              <a:tr h="184150">
                <a:tc>
                  <a:txBody>
                    <a:bodyPr/>
                    <a:lstStyle/>
                    <a:p>
                      <a:pPr algn="ctr" fontAlgn="ctr">
                        <a:lnSpc>
                          <a:spcPts val="1700"/>
                        </a:lnSpc>
                      </a:pPr>
                      <a:r>
                        <a:rPr lang="en-US" altLang="zh-CN" sz="1600" b="0" i="0" u="none" strike="noStrike" dirty="0">
                          <a:solidFill>
                            <a:srgbClr val="000066"/>
                          </a:solidFill>
                          <a:effectLst/>
                          <a:latin typeface="Times New Roman" panose="02020603050405020304" pitchFamily="18" charset="0"/>
                          <a:ea typeface="等线" panose="02010600030101010101" pitchFamily="2" charset="-122"/>
                          <a:cs typeface="Times New Roman" panose="02020603050405020304" pitchFamily="18" charset="0"/>
                        </a:rPr>
                        <a:t>111</a:t>
                      </a:r>
                    </a:p>
                  </a:txBody>
                  <a:tcPr marL="6350" marR="6350" marT="6350" marB="0" anchor="ctr">
                    <a:solidFill>
                      <a:schemeClr val="bg1"/>
                    </a:solidFill>
                  </a:tcPr>
                </a:tc>
                <a:extLst>
                  <a:ext uri="{0D108BD9-81ED-4DB2-BD59-A6C34878D82A}">
                    <a16:rowId xmlns:a16="http://schemas.microsoft.com/office/drawing/2014/main" val="2564311076"/>
                  </a:ext>
                </a:extLst>
              </a:tr>
              <a:tr h="184150">
                <a:tc>
                  <a:txBody>
                    <a:bodyPr/>
                    <a:lstStyle/>
                    <a:p>
                      <a:pPr algn="ctr" fontAlgn="ctr">
                        <a:lnSpc>
                          <a:spcPts val="1700"/>
                        </a:lnSpc>
                      </a:pPr>
                      <a:r>
                        <a:rPr lang="en-US" altLang="zh-CN" sz="1600" b="0" i="0" u="none" strike="noStrike" dirty="0">
                          <a:solidFill>
                            <a:srgbClr val="000066"/>
                          </a:solidFill>
                          <a:effectLst/>
                          <a:latin typeface="Times New Roman" panose="02020603050405020304" pitchFamily="18" charset="0"/>
                          <a:ea typeface="等线" panose="02010600030101010101" pitchFamily="2" charset="-122"/>
                          <a:cs typeface="Times New Roman" panose="02020603050405020304" pitchFamily="18" charset="0"/>
                        </a:rPr>
                        <a:t> 70</a:t>
                      </a:r>
                    </a:p>
                  </a:txBody>
                  <a:tcPr marL="6350" marR="6350" marT="6350" marB="0" anchor="ctr">
                    <a:solidFill>
                      <a:schemeClr val="bg1"/>
                    </a:solidFill>
                  </a:tcPr>
                </a:tc>
                <a:extLst>
                  <a:ext uri="{0D108BD9-81ED-4DB2-BD59-A6C34878D82A}">
                    <a16:rowId xmlns:a16="http://schemas.microsoft.com/office/drawing/2014/main" val="124344787"/>
                  </a:ext>
                </a:extLst>
              </a:tr>
              <a:tr h="184150">
                <a:tc>
                  <a:txBody>
                    <a:bodyPr/>
                    <a:lstStyle/>
                    <a:p>
                      <a:pPr algn="ctr" fontAlgn="ctr">
                        <a:lnSpc>
                          <a:spcPts val="1700"/>
                        </a:lnSpc>
                      </a:pPr>
                      <a:r>
                        <a:rPr lang="en-US" altLang="zh-CN" sz="1600" b="0" u="none" strike="noStrike" dirty="0">
                          <a:solidFill>
                            <a:srgbClr val="000066"/>
                          </a:solidFill>
                          <a:effectLst/>
                          <a:latin typeface="Times New Roman" panose="02020603050405020304" pitchFamily="18" charset="0"/>
                          <a:cs typeface="Times New Roman" panose="02020603050405020304" pitchFamily="18" charset="0"/>
                        </a:rPr>
                        <a:t>94</a:t>
                      </a:r>
                      <a:endParaRPr lang="en-US" altLang="zh-CN" sz="1600" b="0" i="0" u="none" strike="noStrike" dirty="0">
                        <a:solidFill>
                          <a:srgbClr val="00006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350" marR="6350" marT="6350" marB="0" anchor="ctr">
                    <a:solidFill>
                      <a:schemeClr val="bg1"/>
                    </a:solidFill>
                  </a:tcPr>
                </a:tc>
                <a:extLst>
                  <a:ext uri="{0D108BD9-81ED-4DB2-BD59-A6C34878D82A}">
                    <a16:rowId xmlns:a16="http://schemas.microsoft.com/office/drawing/2014/main" val="2129572168"/>
                  </a:ext>
                </a:extLst>
              </a:tr>
              <a:tr h="184150">
                <a:tc>
                  <a:txBody>
                    <a:bodyPr/>
                    <a:lstStyle/>
                    <a:p>
                      <a:pPr algn="ctr" fontAlgn="ctr">
                        <a:lnSpc>
                          <a:spcPts val="1700"/>
                        </a:lnSpc>
                      </a:pPr>
                      <a:r>
                        <a:rPr lang="en-US" altLang="zh-CN" sz="1600" b="0" i="0" u="none" strike="noStrike" dirty="0">
                          <a:solidFill>
                            <a:srgbClr val="000066"/>
                          </a:solidFill>
                          <a:effectLst/>
                          <a:latin typeface="Times New Roman" panose="02020603050405020304" pitchFamily="18" charset="0"/>
                          <a:ea typeface="等线" panose="02010600030101010101" pitchFamily="2" charset="-122"/>
                          <a:cs typeface="Times New Roman" panose="02020603050405020304" pitchFamily="18" charset="0"/>
                        </a:rPr>
                        <a:t>74</a:t>
                      </a:r>
                    </a:p>
                  </a:txBody>
                  <a:tcPr marL="6350" marR="6350" marT="6350" marB="0" anchor="ctr">
                    <a:solidFill>
                      <a:schemeClr val="bg1"/>
                    </a:solidFill>
                  </a:tcPr>
                </a:tc>
                <a:extLst>
                  <a:ext uri="{0D108BD9-81ED-4DB2-BD59-A6C34878D82A}">
                    <a16:rowId xmlns:a16="http://schemas.microsoft.com/office/drawing/2014/main" val="1744684458"/>
                  </a:ext>
                </a:extLst>
              </a:tr>
            </a:tbl>
          </a:graphicData>
        </a:graphic>
      </p:graphicFrame>
      <p:sp>
        <p:nvSpPr>
          <p:cNvPr id="18" name="双大括号 17">
            <a:extLst>
              <a:ext uri="{FF2B5EF4-FFF2-40B4-BE49-F238E27FC236}">
                <a16:creationId xmlns:a16="http://schemas.microsoft.com/office/drawing/2014/main" id="{67D6944D-88F3-43D6-A093-65CCE9558F5B}"/>
              </a:ext>
            </a:extLst>
          </p:cNvPr>
          <p:cNvSpPr/>
          <p:nvPr/>
        </p:nvSpPr>
        <p:spPr>
          <a:xfrm>
            <a:off x="2819658" y="2960265"/>
            <a:ext cx="638696" cy="2035589"/>
          </a:xfrm>
          <a:prstGeom prst="bracePair">
            <a:avLst/>
          </a:prstGeom>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矩形 18">
            <a:extLst>
              <a:ext uri="{FF2B5EF4-FFF2-40B4-BE49-F238E27FC236}">
                <a16:creationId xmlns:a16="http://schemas.microsoft.com/office/drawing/2014/main" id="{93785411-DF7C-4C56-8076-2D0AED9D41C4}"/>
              </a:ext>
            </a:extLst>
          </p:cNvPr>
          <p:cNvSpPr/>
          <p:nvPr/>
        </p:nvSpPr>
        <p:spPr>
          <a:xfrm>
            <a:off x="3580615" y="2998399"/>
            <a:ext cx="4918248" cy="1289712"/>
          </a:xfrm>
          <a:prstGeom prst="rect">
            <a:avLst/>
          </a:prstGeom>
        </p:spPr>
        <p:txBody>
          <a:bodyPr wrap="square">
            <a:spAutoFit/>
          </a:bodyPr>
          <a:lstStyle/>
          <a:p>
            <a:pPr marL="0" marR="0" lvl="0" indent="0" algn="l" defTabSz="914400" rtl="0" eaLnBrk="1" fontAlgn="base" latinLnBrk="0" hangingPunct="1">
              <a:lnSpc>
                <a:spcPct val="150000"/>
              </a:lnSpc>
              <a:spcBef>
                <a:spcPct val="0"/>
              </a:spcBef>
              <a:spcAft>
                <a:spcPct val="0"/>
              </a:spcAft>
              <a:buClrTx/>
              <a:buSzTx/>
              <a:buFontTx/>
              <a:buNone/>
              <a:tabLst/>
              <a:defRPr/>
            </a:pPr>
            <a:r>
              <a:rPr kumimoji="0" lang="zh-CN" altLang="en-US" sz="1800" b="0"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注：（</a:t>
            </a:r>
            <a:r>
              <a:rPr kumimoji="0" lang="en-US" altLang="zh-CN" sz="1800" b="0"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1800" b="0"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800" b="0" i="0" u="none" strike="noStrike" kern="1200" cap="none" spc="0" normalizeH="0" baseline="0" noProof="0" dirty="0" err="1">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lr.fit</a:t>
            </a:r>
            <a:r>
              <a:rPr kumimoji="0" lang="en-US" altLang="zh-CN" sz="1800" b="0"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800" b="0" i="0" u="none" strike="noStrike" kern="1200" cap="none" spc="0" normalizeH="0" baseline="0" noProof="0" dirty="0" err="1">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X,y</a:t>
            </a:r>
            <a:r>
              <a:rPr kumimoji="0" lang="en-US" altLang="zh-CN" sz="1800" b="0"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p>
          <a:p>
            <a:pPr marL="0" marR="0" lvl="0" indent="0" algn="l" defTabSz="914400" rtl="0" eaLnBrk="1" fontAlgn="base" latinLnBrk="0" hangingPunct="1">
              <a:lnSpc>
                <a:spcPct val="15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X</a:t>
            </a:r>
            <a:r>
              <a:rPr kumimoji="0" lang="zh-CN" altLang="en-US" sz="1800" b="0"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要求是二维数组</a:t>
            </a:r>
            <a:r>
              <a:rPr kumimoji="0" lang="en-US" altLang="zh-CN" sz="1800" b="0"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p>
          <a:p>
            <a:pPr marL="0" marR="0" lvl="0" indent="0" algn="l" defTabSz="914400" rtl="0" eaLnBrk="1" fontAlgn="base" latinLnBrk="0" hangingPunct="1">
              <a:lnSpc>
                <a:spcPct val="15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1800" b="0"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800" b="0"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a:t>
            </a:r>
            <a:r>
              <a:rPr kumimoji="0" lang="zh-CN" altLang="en-US" sz="1800" b="0"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800" b="0"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y</a:t>
            </a:r>
            <a:r>
              <a:rPr kumimoji="0" lang="zh-CN" altLang="en-US" sz="1800" b="0"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是目标数组，要求一维，向量</a:t>
            </a:r>
          </a:p>
        </p:txBody>
      </p:sp>
    </p:spTree>
    <p:extLst>
      <p:ext uri="{BB962C8B-B14F-4D97-AF65-F5344CB8AC3E}">
        <p14:creationId xmlns:p14="http://schemas.microsoft.com/office/powerpoint/2010/main" val="652289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59" y="986625"/>
            <a:ext cx="8136905" cy="2881269"/>
          </a:xfrm>
        </p:spPr>
        <p:txBody>
          <a:bodyPr>
            <a:noAutofit/>
          </a:bodyPr>
          <a:lstStyle/>
          <a:p>
            <a:pPr marL="576000" indent="0">
              <a:lnSpc>
                <a:spcPct val="150000"/>
              </a:lnSpc>
              <a:spcBef>
                <a:spcPts val="0"/>
              </a:spcBef>
              <a:buNone/>
            </a:pPr>
            <a:r>
              <a:rPr lang="zh-CN" altLang="en-US" sz="1800">
                <a:solidFill>
                  <a:srgbClr val="000066"/>
                </a:solidFill>
                <a:latin typeface="Times New Roman" panose="02020603050405020304" pitchFamily="18" charset="0"/>
                <a:cs typeface="Times New Roman" panose="02020603050405020304" pitchFamily="18" charset="0"/>
              </a:rPr>
              <a:t>导入库：</a:t>
            </a:r>
            <a:r>
              <a:rPr lang="en-US" altLang="zh-CN" sz="1800">
                <a:solidFill>
                  <a:srgbClr val="000066"/>
                </a:solidFill>
                <a:latin typeface="Times New Roman" panose="02020603050405020304" pitchFamily="18" charset="0"/>
                <a:cs typeface="Times New Roman" panose="02020603050405020304" pitchFamily="18" charset="0"/>
              </a:rPr>
              <a:t>from sklearn.linear_model import LinearRegression</a:t>
            </a:r>
          </a:p>
          <a:p>
            <a:pPr marL="576000" indent="0">
              <a:lnSpc>
                <a:spcPct val="150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                </a:t>
            </a:r>
            <a:r>
              <a:rPr lang="zh-CN" altLang="en-US" sz="1800">
                <a:solidFill>
                  <a:srgbClr val="000066"/>
                </a:solidFill>
                <a:latin typeface="Times New Roman" panose="02020603050405020304" pitchFamily="18" charset="0"/>
                <a:cs typeface="Times New Roman" panose="02020603050405020304" pitchFamily="18" charset="0"/>
              </a:rPr>
              <a:t>从</a:t>
            </a:r>
            <a:r>
              <a:rPr lang="en-US" altLang="zh-CN" sz="1800">
                <a:solidFill>
                  <a:srgbClr val="000066"/>
                </a:solidFill>
                <a:latin typeface="Times New Roman" panose="02020603050405020304" pitchFamily="18" charset="0"/>
                <a:cs typeface="Times New Roman" panose="02020603050405020304" pitchFamily="18" charset="0"/>
              </a:rPr>
              <a:t>sklearn</a:t>
            </a:r>
            <a:r>
              <a:rPr lang="zh-CN" altLang="en-US" sz="1800">
                <a:solidFill>
                  <a:srgbClr val="000066"/>
                </a:solidFill>
                <a:latin typeface="Times New Roman" panose="02020603050405020304" pitchFamily="18" charset="0"/>
                <a:cs typeface="Times New Roman" panose="02020603050405020304" pitchFamily="18" charset="0"/>
              </a:rPr>
              <a:t>库中</a:t>
            </a:r>
            <a:r>
              <a:rPr lang="en-US" altLang="zh-CN" sz="1800">
                <a:solidFill>
                  <a:srgbClr val="000066"/>
                </a:solidFill>
                <a:latin typeface="Times New Roman" panose="02020603050405020304" pitchFamily="18" charset="0"/>
                <a:cs typeface="Times New Roman" panose="02020603050405020304" pitchFamily="18" charset="0"/>
              </a:rPr>
              <a:t>linear_model</a:t>
            </a:r>
            <a:r>
              <a:rPr lang="zh-CN" altLang="en-US" sz="1800">
                <a:solidFill>
                  <a:srgbClr val="000066"/>
                </a:solidFill>
                <a:latin typeface="Times New Roman" panose="02020603050405020304" pitchFamily="18" charset="0"/>
                <a:cs typeface="Times New Roman" panose="02020603050405020304" pitchFamily="18" charset="0"/>
              </a:rPr>
              <a:t>模块导入</a:t>
            </a:r>
            <a:r>
              <a:rPr lang="en-US" altLang="zh-CN" sz="1800">
                <a:solidFill>
                  <a:srgbClr val="000066"/>
                </a:solidFill>
                <a:latin typeface="Times New Roman" panose="02020603050405020304" pitchFamily="18" charset="0"/>
                <a:cs typeface="Times New Roman" panose="02020603050405020304" pitchFamily="18" charset="0"/>
              </a:rPr>
              <a:t>LinearRegression</a:t>
            </a:r>
            <a:r>
              <a:rPr lang="zh-CN" altLang="en-US" sz="1800">
                <a:solidFill>
                  <a:srgbClr val="000066"/>
                </a:solidFill>
                <a:latin typeface="Times New Roman" panose="02020603050405020304" pitchFamily="18" charset="0"/>
                <a:cs typeface="Times New Roman" panose="02020603050405020304" pitchFamily="18" charset="0"/>
              </a:rPr>
              <a:t>类</a:t>
            </a:r>
            <a:endParaRPr lang="en-US" altLang="zh-CN" sz="1800">
              <a:solidFill>
                <a:srgbClr val="000066"/>
              </a:solidFill>
              <a:latin typeface="Times New Roman" panose="02020603050405020304" pitchFamily="18" charset="0"/>
              <a:cs typeface="Times New Roman" panose="02020603050405020304" pitchFamily="18" charset="0"/>
            </a:endParaRPr>
          </a:p>
          <a:p>
            <a:pPr marL="576000" indent="0">
              <a:lnSpc>
                <a:spcPct val="150000"/>
              </a:lnSpc>
              <a:spcBef>
                <a:spcPts val="0"/>
              </a:spcBef>
              <a:buNone/>
            </a:pPr>
            <a:r>
              <a:rPr lang="zh-CN" altLang="en-US" sz="1800">
                <a:solidFill>
                  <a:srgbClr val="000066"/>
                </a:solidFill>
                <a:latin typeface="Times New Roman" panose="02020603050405020304" pitchFamily="18" charset="0"/>
                <a:cs typeface="Times New Roman" panose="02020603050405020304" pitchFamily="18" charset="0"/>
              </a:rPr>
              <a:t>初始化：</a:t>
            </a:r>
            <a:r>
              <a:rPr lang="en-US" altLang="zh-CN" sz="1800">
                <a:solidFill>
                  <a:srgbClr val="000066"/>
                </a:solidFill>
                <a:latin typeface="Times New Roman" panose="02020603050405020304" pitchFamily="18" charset="0"/>
                <a:cs typeface="Times New Roman" panose="02020603050405020304" pitchFamily="18" charset="0"/>
              </a:rPr>
              <a:t>lr=LinearRegression()</a:t>
            </a:r>
          </a:p>
          <a:p>
            <a:pPr marL="576000" indent="0">
              <a:lnSpc>
                <a:spcPct val="150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                </a:t>
            </a:r>
            <a:r>
              <a:rPr lang="zh-CN" altLang="en-US" sz="1800">
                <a:solidFill>
                  <a:srgbClr val="000066"/>
                </a:solidFill>
                <a:latin typeface="Times New Roman" panose="02020603050405020304" pitchFamily="18" charset="0"/>
                <a:cs typeface="Times New Roman" panose="02020603050405020304" pitchFamily="18" charset="0"/>
              </a:rPr>
              <a:t>创建一个模型实例</a:t>
            </a:r>
            <a:endParaRPr lang="en-US" altLang="zh-CN" sz="1800">
              <a:solidFill>
                <a:srgbClr val="000066"/>
              </a:solidFill>
              <a:latin typeface="Times New Roman" panose="02020603050405020304" pitchFamily="18" charset="0"/>
              <a:cs typeface="Times New Roman" panose="02020603050405020304" pitchFamily="18" charset="0"/>
            </a:endParaRPr>
          </a:p>
          <a:p>
            <a:pPr marL="576000" indent="0">
              <a:lnSpc>
                <a:spcPct val="150000"/>
              </a:lnSpc>
              <a:spcBef>
                <a:spcPts val="0"/>
              </a:spcBef>
              <a:buNone/>
            </a:pPr>
            <a:r>
              <a:rPr lang="zh-CN" altLang="en-US" sz="1800">
                <a:solidFill>
                  <a:srgbClr val="000066"/>
                </a:solidFill>
                <a:latin typeface="Times New Roman" panose="02020603050405020304" pitchFamily="18" charset="0"/>
                <a:cs typeface="Times New Roman" panose="02020603050405020304" pitchFamily="18" charset="0"/>
              </a:rPr>
              <a:t>训练模型：</a:t>
            </a:r>
            <a:r>
              <a:rPr lang="en-US" altLang="zh-CN" sz="1800">
                <a:solidFill>
                  <a:srgbClr val="000066"/>
                </a:solidFill>
                <a:latin typeface="Times New Roman" panose="02020603050405020304" pitchFamily="18" charset="0"/>
                <a:cs typeface="Times New Roman" panose="02020603050405020304" pitchFamily="18" charset="0"/>
              </a:rPr>
              <a:t>lr.fit(X,y)</a:t>
            </a:r>
          </a:p>
          <a:p>
            <a:pPr marL="576000" indent="0">
              <a:lnSpc>
                <a:spcPct val="150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                   </a:t>
            </a:r>
            <a:r>
              <a:rPr lang="zh-CN" altLang="en-US" sz="1800">
                <a:solidFill>
                  <a:srgbClr val="000066"/>
                </a:solidFill>
                <a:latin typeface="Times New Roman" panose="02020603050405020304" pitchFamily="18" charset="0"/>
                <a:cs typeface="Times New Roman" panose="02020603050405020304" pitchFamily="18" charset="0"/>
              </a:rPr>
              <a:t>用</a:t>
            </a:r>
            <a:r>
              <a:rPr lang="en-US" altLang="zh-CN" sz="1800">
                <a:solidFill>
                  <a:srgbClr val="000066"/>
                </a:solidFill>
                <a:latin typeface="Times New Roman" panose="02020603050405020304" pitchFamily="18" charset="0"/>
                <a:cs typeface="Times New Roman" panose="02020603050405020304" pitchFamily="18" charset="0"/>
              </a:rPr>
              <a:t>X</a:t>
            </a:r>
            <a:r>
              <a:rPr lang="zh-CN" altLang="en-US" sz="1800">
                <a:solidFill>
                  <a:srgbClr val="000066"/>
                </a:solidFill>
                <a:latin typeface="Times New Roman" panose="02020603050405020304" pitchFamily="18" charset="0"/>
                <a:cs typeface="Times New Roman" panose="02020603050405020304" pitchFamily="18" charset="0"/>
              </a:rPr>
              <a:t>和</a:t>
            </a:r>
            <a:r>
              <a:rPr lang="en-US" altLang="zh-CN" sz="1800">
                <a:solidFill>
                  <a:srgbClr val="000066"/>
                </a:solidFill>
                <a:latin typeface="Times New Roman" panose="02020603050405020304" pitchFamily="18" charset="0"/>
                <a:cs typeface="Times New Roman" panose="02020603050405020304" pitchFamily="18" charset="0"/>
              </a:rPr>
              <a:t>y</a:t>
            </a:r>
            <a:r>
              <a:rPr lang="zh-CN" altLang="en-US" sz="1800">
                <a:solidFill>
                  <a:srgbClr val="000066"/>
                </a:solidFill>
                <a:latin typeface="Times New Roman" panose="02020603050405020304" pitchFamily="18" charset="0"/>
                <a:cs typeface="Times New Roman" panose="02020603050405020304" pitchFamily="18" charset="0"/>
              </a:rPr>
              <a:t>训练模型</a:t>
            </a:r>
            <a:endParaRPr lang="en-US" altLang="zh-CN" sz="1800">
              <a:solidFill>
                <a:srgbClr val="000066"/>
              </a:solidFill>
              <a:latin typeface="Times New Roman" panose="02020603050405020304" pitchFamily="18" charset="0"/>
              <a:cs typeface="Times New Roman" panose="02020603050405020304" pitchFamily="18" charset="0"/>
            </a:endParaRPr>
          </a:p>
          <a:p>
            <a:pPr marL="576000" indent="0">
              <a:lnSpc>
                <a:spcPct val="125000"/>
              </a:lnSpc>
              <a:spcBef>
                <a:spcPts val="0"/>
              </a:spcBef>
              <a:buNone/>
            </a:pPr>
            <a:endParaRPr lang="en-US" altLang="zh-CN" sz="1800">
              <a:solidFill>
                <a:srgbClr val="000066"/>
              </a:solidFill>
              <a:latin typeface="Times New Roman" panose="02020603050405020304" pitchFamily="18" charset="0"/>
              <a:cs typeface="Times New Roman" panose="02020603050405020304" pitchFamily="18" charset="0"/>
            </a:endParaRPr>
          </a:p>
          <a:p>
            <a:pPr marL="576000" indent="0">
              <a:lnSpc>
                <a:spcPct val="125000"/>
              </a:lnSpc>
              <a:spcBef>
                <a:spcPts val="0"/>
              </a:spcBef>
              <a:buNone/>
            </a:pPr>
            <a:endParaRPr lang="en-US" altLang="zh-CN" sz="1600">
              <a:solidFill>
                <a:srgbClr val="000066"/>
              </a:solidFill>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五、经典机器学习算法</a:t>
            </a:r>
            <a:endParaRPr lang="zh-CN" altLang="en-US" sz="2400" dirty="0"/>
          </a:p>
        </p:txBody>
      </p:sp>
    </p:spTree>
    <p:extLst>
      <p:ext uri="{BB962C8B-B14F-4D97-AF65-F5344CB8AC3E}">
        <p14:creationId xmlns:p14="http://schemas.microsoft.com/office/powerpoint/2010/main" val="1706739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59" y="986625"/>
            <a:ext cx="7560841" cy="1729141"/>
          </a:xfrm>
        </p:spPr>
        <p:txBody>
          <a:bodyPr>
            <a:noAutofit/>
          </a:bodyPr>
          <a:lstStyle/>
          <a:p>
            <a:pPr marL="576000" indent="0">
              <a:lnSpc>
                <a:spcPct val="125000"/>
              </a:lnSpc>
              <a:spcBef>
                <a:spcPts val="0"/>
              </a:spcBef>
              <a:buNone/>
            </a:pPr>
            <a:r>
              <a:rPr lang="zh-CN" altLang="en-US" sz="1800" dirty="0">
                <a:solidFill>
                  <a:srgbClr val="000066"/>
                </a:solidFill>
                <a:latin typeface="Times New Roman" panose="02020603050405020304" pitchFamily="18" charset="0"/>
                <a:cs typeface="Times New Roman" panose="02020603050405020304" pitchFamily="18" charset="0"/>
              </a:rPr>
              <a:t>准备预测数据：</a:t>
            </a:r>
            <a:r>
              <a:rPr lang="en-US" altLang="zh-CN" sz="1800" dirty="0" err="1">
                <a:solidFill>
                  <a:srgbClr val="000066"/>
                </a:solidFill>
                <a:latin typeface="Times New Roman" panose="02020603050405020304" pitchFamily="18" charset="0"/>
                <a:cs typeface="Times New Roman" panose="02020603050405020304" pitchFamily="18" charset="0"/>
              </a:rPr>
              <a:t>new_X</a:t>
            </a:r>
            <a:r>
              <a:rPr lang="en-US" altLang="zh-CN" sz="1800" dirty="0">
                <a:solidFill>
                  <a:srgbClr val="000066"/>
                </a:solidFill>
                <a:latin typeface="Times New Roman" panose="02020603050405020304" pitchFamily="18" charset="0"/>
                <a:cs typeface="Times New Roman" panose="02020603050405020304" pitchFamily="18" charset="0"/>
              </a:rPr>
              <a:t>=</a:t>
            </a:r>
            <a:r>
              <a:rPr lang="en-US" altLang="zh-CN" sz="1800" dirty="0" err="1">
                <a:solidFill>
                  <a:srgbClr val="000066"/>
                </a:solidFill>
                <a:latin typeface="Times New Roman" panose="02020603050405020304" pitchFamily="18" charset="0"/>
                <a:cs typeface="Times New Roman" panose="02020603050405020304" pitchFamily="18" charset="0"/>
              </a:rPr>
              <a:t>np.array</a:t>
            </a:r>
            <a:r>
              <a:rPr lang="en-US" altLang="zh-CN" sz="1800" dirty="0">
                <a:solidFill>
                  <a:srgbClr val="000066"/>
                </a:solidFill>
                <a:latin typeface="Times New Roman" panose="02020603050405020304" pitchFamily="18" charset="0"/>
                <a:cs typeface="Times New Roman" panose="02020603050405020304" pitchFamily="18" charset="0"/>
              </a:rPr>
              <a:t>([100,110])</a:t>
            </a:r>
          </a:p>
          <a:p>
            <a:pPr marL="576000" indent="0">
              <a:lnSpc>
                <a:spcPct val="125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                            </a:t>
            </a:r>
            <a:r>
              <a:rPr lang="en-US" altLang="zh-CN" sz="1800" dirty="0" err="1">
                <a:solidFill>
                  <a:srgbClr val="000066"/>
                </a:solidFill>
                <a:latin typeface="Times New Roman" panose="02020603050405020304" pitchFamily="18" charset="0"/>
                <a:cs typeface="Times New Roman" panose="02020603050405020304" pitchFamily="18" charset="0"/>
              </a:rPr>
              <a:t>new_X</a:t>
            </a:r>
            <a:r>
              <a:rPr lang="en-US" altLang="zh-CN" sz="1800" dirty="0">
                <a:solidFill>
                  <a:srgbClr val="000066"/>
                </a:solidFill>
                <a:latin typeface="Times New Roman" panose="02020603050405020304" pitchFamily="18" charset="0"/>
                <a:cs typeface="Times New Roman" panose="02020603050405020304" pitchFamily="18" charset="0"/>
              </a:rPr>
              <a:t>=</a:t>
            </a:r>
            <a:r>
              <a:rPr lang="en-US" altLang="zh-CN" sz="1800" dirty="0" err="1">
                <a:solidFill>
                  <a:srgbClr val="000066"/>
                </a:solidFill>
                <a:latin typeface="Times New Roman" panose="02020603050405020304" pitchFamily="18" charset="0"/>
                <a:cs typeface="Times New Roman" panose="02020603050405020304" pitchFamily="18" charset="0"/>
              </a:rPr>
              <a:t>new_X.reshape</a:t>
            </a:r>
            <a:r>
              <a:rPr lang="en-US" altLang="zh-CN" sz="1800" dirty="0">
                <a:solidFill>
                  <a:srgbClr val="000066"/>
                </a:solidFill>
                <a:latin typeface="Times New Roman" panose="02020603050405020304" pitchFamily="18" charset="0"/>
                <a:cs typeface="Times New Roman" panose="02020603050405020304" pitchFamily="18" charset="0"/>
              </a:rPr>
              <a:t>(-1,1)</a:t>
            </a:r>
          </a:p>
          <a:p>
            <a:pPr marL="576000" indent="0">
              <a:lnSpc>
                <a:spcPct val="150000"/>
              </a:lnSpc>
              <a:spcBef>
                <a:spcPts val="0"/>
              </a:spcBef>
              <a:buNone/>
            </a:pPr>
            <a:r>
              <a:rPr lang="zh-CN" altLang="en-US" sz="1800" dirty="0">
                <a:solidFill>
                  <a:srgbClr val="000066"/>
                </a:solidFill>
                <a:latin typeface="Times New Roman" panose="02020603050405020304" pitchFamily="18" charset="0"/>
                <a:cs typeface="Times New Roman" panose="02020603050405020304" pitchFamily="18" charset="0"/>
              </a:rPr>
              <a:t>进   行  预   测：</a:t>
            </a:r>
            <a:r>
              <a:rPr lang="en-US" altLang="zh-CN" sz="1800" dirty="0" err="1">
                <a:solidFill>
                  <a:srgbClr val="000066"/>
                </a:solidFill>
                <a:latin typeface="Times New Roman" panose="02020603050405020304" pitchFamily="18" charset="0"/>
                <a:cs typeface="Times New Roman" panose="02020603050405020304" pitchFamily="18" charset="0"/>
              </a:rPr>
              <a:t>lr.predict</a:t>
            </a:r>
            <a:r>
              <a:rPr lang="en-US" altLang="zh-CN" sz="1800" dirty="0">
                <a:solidFill>
                  <a:srgbClr val="000066"/>
                </a:solidFill>
                <a:latin typeface="Times New Roman" panose="02020603050405020304" pitchFamily="18" charset="0"/>
                <a:cs typeface="Times New Roman" panose="02020603050405020304" pitchFamily="18" charset="0"/>
              </a:rPr>
              <a:t>(</a:t>
            </a:r>
            <a:r>
              <a:rPr lang="en-US" altLang="zh-CN" sz="1800" dirty="0" err="1">
                <a:solidFill>
                  <a:srgbClr val="000066"/>
                </a:solidFill>
                <a:latin typeface="Times New Roman" panose="02020603050405020304" pitchFamily="18" charset="0"/>
                <a:cs typeface="Times New Roman" panose="02020603050405020304" pitchFamily="18" charset="0"/>
              </a:rPr>
              <a:t>new_X</a:t>
            </a:r>
            <a:r>
              <a:rPr lang="en-US" altLang="zh-CN" sz="1800" dirty="0">
                <a:solidFill>
                  <a:srgbClr val="000066"/>
                </a:solidFill>
                <a:latin typeface="Times New Roman" panose="02020603050405020304" pitchFamily="18" charset="0"/>
                <a:cs typeface="Times New Roman" panose="02020603050405020304" pitchFamily="18" charset="0"/>
              </a:rPr>
              <a:t>))</a:t>
            </a:r>
          </a:p>
          <a:p>
            <a:pPr marL="57600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利用</a:t>
            </a:r>
            <a:r>
              <a:rPr lang="en-US" altLang="zh-CN" sz="1800" dirty="0" err="1">
                <a:solidFill>
                  <a:srgbClr val="000066"/>
                </a:solidFill>
                <a:latin typeface="Times New Roman" panose="02020603050405020304" pitchFamily="18" charset="0"/>
                <a:cs typeface="Times New Roman" panose="02020603050405020304" pitchFamily="18" charset="0"/>
              </a:rPr>
              <a:t>lr</a:t>
            </a:r>
            <a:r>
              <a:rPr lang="zh-CN" altLang="en-US" sz="1800" dirty="0">
                <a:solidFill>
                  <a:srgbClr val="000066"/>
                </a:solidFill>
                <a:latin typeface="Times New Roman" panose="02020603050405020304" pitchFamily="18" charset="0"/>
                <a:cs typeface="Times New Roman" panose="02020603050405020304" pitchFamily="18" charset="0"/>
              </a:rPr>
              <a:t>模型的</a:t>
            </a:r>
            <a:r>
              <a:rPr lang="en-US" altLang="zh-CN" sz="1800" dirty="0">
                <a:solidFill>
                  <a:srgbClr val="000066"/>
                </a:solidFill>
                <a:latin typeface="Times New Roman" panose="02020603050405020304" pitchFamily="18" charset="0"/>
                <a:cs typeface="Times New Roman" panose="02020603050405020304" pitchFamily="18" charset="0"/>
              </a:rPr>
              <a:t>predict</a:t>
            </a:r>
            <a:r>
              <a:rPr lang="zh-CN" altLang="en-US" sz="1800" dirty="0">
                <a:solidFill>
                  <a:srgbClr val="000066"/>
                </a:solidFill>
                <a:latin typeface="Times New Roman" panose="02020603050405020304" pitchFamily="18" charset="0"/>
                <a:cs typeface="Times New Roman" panose="02020603050405020304" pitchFamily="18" charset="0"/>
              </a:rPr>
              <a:t>方法预测，返回值就是结果</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576000" indent="0">
              <a:lnSpc>
                <a:spcPct val="125000"/>
              </a:lnSpc>
              <a:spcBef>
                <a:spcPts val="0"/>
              </a:spcBef>
              <a:buNone/>
            </a:pPr>
            <a:endParaRPr lang="en-US" altLang="zh-CN" sz="1600" dirty="0">
              <a:solidFill>
                <a:srgbClr val="000066"/>
              </a:solidFill>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五、经典机器学习算法</a:t>
            </a:r>
            <a:endParaRPr lang="zh-CN" altLang="en-US" sz="2400" dirty="0"/>
          </a:p>
        </p:txBody>
      </p:sp>
    </p:spTree>
    <p:extLst>
      <p:ext uri="{BB962C8B-B14F-4D97-AF65-F5344CB8AC3E}">
        <p14:creationId xmlns:p14="http://schemas.microsoft.com/office/powerpoint/2010/main" val="2317675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五、经典机器学习算法</a:t>
            </a:r>
            <a:endParaRPr lang="zh-CN" altLang="en-US" sz="2400" dirty="0"/>
          </a:p>
        </p:txBody>
      </p:sp>
      <p:sp>
        <p:nvSpPr>
          <p:cNvPr id="3" name="内容占位符 2"/>
          <p:cNvSpPr>
            <a:spLocks noGrp="1"/>
          </p:cNvSpPr>
          <p:nvPr>
            <p:ph idx="1"/>
          </p:nvPr>
        </p:nvSpPr>
        <p:spPr>
          <a:xfrm>
            <a:off x="611559" y="986626"/>
            <a:ext cx="8532441" cy="1801148"/>
          </a:xfrm>
        </p:spPr>
        <p:txBody>
          <a:bodyPr>
            <a:noAutofit/>
          </a:bodyPr>
          <a:lstStyle/>
          <a:p>
            <a:pPr marL="0" indent="0">
              <a:lnSpc>
                <a:spcPct val="150000"/>
              </a:lnSpc>
              <a:spcBef>
                <a:spcPts val="0"/>
              </a:spcBef>
              <a:buNone/>
            </a:pPr>
            <a:r>
              <a:rPr lang="zh-CN" altLang="en-US" sz="1800" dirty="0">
                <a:solidFill>
                  <a:srgbClr val="000066"/>
                </a:solidFill>
                <a:latin typeface="Times New Roman" panose="02020603050405020304" pitchFamily="18" charset="0"/>
                <a:cs typeface="Times New Roman" panose="02020603050405020304" pitchFamily="18" charset="0"/>
              </a:rPr>
              <a:t>二、</a:t>
            </a:r>
            <a:r>
              <a:rPr lang="en-US" altLang="zh-CN" sz="1800" dirty="0">
                <a:solidFill>
                  <a:srgbClr val="000066"/>
                </a:solidFill>
                <a:latin typeface="Times New Roman" panose="02020603050405020304" pitchFamily="18" charset="0"/>
                <a:cs typeface="Times New Roman" panose="02020603050405020304" pitchFamily="18" charset="0"/>
              </a:rPr>
              <a:t>k-</a:t>
            </a:r>
            <a:r>
              <a:rPr lang="zh-CN" altLang="en-US" sz="1800" dirty="0">
                <a:solidFill>
                  <a:srgbClr val="000066"/>
                </a:solidFill>
                <a:latin typeface="Times New Roman" panose="02020603050405020304" pitchFamily="18" charset="0"/>
                <a:cs typeface="Times New Roman" panose="02020603050405020304" pitchFamily="18" charset="0"/>
              </a:rPr>
              <a:t>近邻算法（</a:t>
            </a:r>
            <a:r>
              <a:rPr lang="en-US" altLang="zh-CN" sz="18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K Nearest Neighbors</a:t>
            </a:r>
            <a:r>
              <a:rPr lang="zh-CN" altLang="en-US" sz="18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1800"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KNN</a:t>
            </a:r>
            <a:r>
              <a:rPr lang="zh-CN" altLang="en-US" sz="1800" dirty="0">
                <a:solidFill>
                  <a:srgbClr val="000066"/>
                </a:solidFill>
                <a:latin typeface="Times New Roman" panose="02020603050405020304" pitchFamily="18" charset="0"/>
                <a:cs typeface="Times New Roman" panose="02020603050405020304" pitchFamily="18" charset="0"/>
              </a:rPr>
              <a:t>）</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latin typeface="Times New Roman" panose="02020603050405020304" pitchFamily="18" charset="0"/>
                <a:cs typeface="Times New Roman" panose="02020603050405020304" pitchFamily="18" charset="0"/>
              </a:rPr>
              <a:t>        ※ </a:t>
            </a:r>
            <a:r>
              <a:rPr lang="zh-CN" altLang="en-US" sz="1800">
                <a:solidFill>
                  <a:srgbClr val="000066"/>
                </a:solidFill>
                <a:latin typeface="Times New Roman" panose="02020603050405020304" pitchFamily="18" charset="0"/>
                <a:cs typeface="Times New Roman" panose="02020603050405020304" pitchFamily="18" charset="0"/>
              </a:rPr>
              <a:t>经典</a:t>
            </a:r>
            <a:r>
              <a:rPr lang="zh-CN" altLang="en-US" sz="1800" dirty="0">
                <a:solidFill>
                  <a:srgbClr val="000066"/>
                </a:solidFill>
                <a:latin typeface="Times New Roman" panose="02020603050405020304" pitchFamily="18" charset="0"/>
                <a:cs typeface="Times New Roman" panose="02020603050405020304" pitchFamily="18" charset="0"/>
              </a:rPr>
              <a:t>的监督学习算法，最简单、最常用</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80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180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1800">
                <a:solidFill>
                  <a:srgbClr val="002060"/>
                </a:solidFill>
                <a:latin typeface="Times New Roman" panose="02020603050405020304" pitchFamily="18" charset="0"/>
                <a:cs typeface="Times New Roman" panose="02020603050405020304" pitchFamily="18" charset="0"/>
              </a:rPr>
              <a:t>判断</a:t>
            </a:r>
            <a:r>
              <a:rPr lang="en-US" altLang="zh-CN" sz="1800" dirty="0">
                <a:solidFill>
                  <a:srgbClr val="002060"/>
                </a:solidFill>
                <a:latin typeface="Times New Roman" panose="02020603050405020304" pitchFamily="18" charset="0"/>
                <a:cs typeface="Times New Roman" panose="02020603050405020304" pitchFamily="18" charset="0"/>
              </a:rPr>
              <a:t>x</a:t>
            </a:r>
            <a:r>
              <a:rPr lang="zh-CN" altLang="en-US" sz="1800" dirty="0">
                <a:solidFill>
                  <a:srgbClr val="002060"/>
                </a:solidFill>
                <a:latin typeface="Times New Roman" panose="02020603050405020304" pitchFamily="18" charset="0"/>
                <a:cs typeface="Times New Roman" panose="02020603050405020304" pitchFamily="18" charset="0"/>
              </a:rPr>
              <a:t>属于哪个类别：找出距离</a:t>
            </a:r>
            <a:r>
              <a:rPr lang="en-US" altLang="zh-CN" sz="1800" dirty="0">
                <a:solidFill>
                  <a:srgbClr val="002060"/>
                </a:solidFill>
                <a:latin typeface="Times New Roman" panose="02020603050405020304" pitchFamily="18" charset="0"/>
                <a:cs typeface="Times New Roman" panose="02020603050405020304" pitchFamily="18" charset="0"/>
              </a:rPr>
              <a:t>x</a:t>
            </a:r>
            <a:r>
              <a:rPr lang="zh-CN" altLang="en-US" sz="1800" dirty="0">
                <a:solidFill>
                  <a:srgbClr val="002060"/>
                </a:solidFill>
                <a:latin typeface="Times New Roman" panose="02020603050405020304" pitchFamily="18" charset="0"/>
                <a:cs typeface="Times New Roman" panose="02020603050405020304" pitchFamily="18" charset="0"/>
              </a:rPr>
              <a:t>最近</a:t>
            </a:r>
            <a:r>
              <a:rPr lang="en-US" altLang="zh-CN" sz="1800" dirty="0">
                <a:solidFill>
                  <a:srgbClr val="002060"/>
                </a:solidFill>
                <a:latin typeface="Times New Roman" panose="02020603050405020304" pitchFamily="18" charset="0"/>
                <a:cs typeface="Times New Roman" panose="02020603050405020304" pitchFamily="18" charset="0"/>
              </a:rPr>
              <a:t>K</a:t>
            </a:r>
            <a:r>
              <a:rPr lang="zh-CN" altLang="en-US" sz="1800" dirty="0">
                <a:solidFill>
                  <a:srgbClr val="002060"/>
                </a:solidFill>
                <a:latin typeface="Times New Roman" panose="02020603050405020304" pitchFamily="18" charset="0"/>
                <a:cs typeface="Times New Roman" panose="02020603050405020304" pitchFamily="18" charset="0"/>
              </a:rPr>
              <a:t>个邻居</a:t>
            </a:r>
            <a:endParaRPr lang="en-US" altLang="zh-CN" sz="1800" dirty="0">
              <a:solidFill>
                <a:srgbClr val="00206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800">
                <a:solidFill>
                  <a:srgbClr val="002060"/>
                </a:solidFill>
                <a:latin typeface="Times New Roman" panose="02020603050405020304" pitchFamily="18" charset="0"/>
                <a:cs typeface="Times New Roman" panose="02020603050405020304" pitchFamily="18" charset="0"/>
              </a:rPr>
              <a:t>                                                   看</a:t>
            </a:r>
            <a:r>
              <a:rPr lang="en-US" altLang="zh-CN" sz="1800" dirty="0">
                <a:solidFill>
                  <a:srgbClr val="002060"/>
                </a:solidFill>
                <a:latin typeface="Times New Roman" panose="02020603050405020304" pitchFamily="18" charset="0"/>
                <a:cs typeface="Times New Roman" panose="02020603050405020304" pitchFamily="18" charset="0"/>
              </a:rPr>
              <a:t>K</a:t>
            </a:r>
            <a:r>
              <a:rPr lang="zh-CN" altLang="en-US" sz="1800" dirty="0">
                <a:solidFill>
                  <a:srgbClr val="002060"/>
                </a:solidFill>
                <a:latin typeface="Times New Roman" panose="02020603050405020304" pitchFamily="18" charset="0"/>
                <a:cs typeface="Times New Roman" panose="02020603050405020304" pitchFamily="18" charset="0"/>
              </a:rPr>
              <a:t>个邻居分别属于哪个</a:t>
            </a:r>
            <a:r>
              <a:rPr lang="zh-CN" altLang="en-US" sz="1800">
                <a:solidFill>
                  <a:srgbClr val="002060"/>
                </a:solidFill>
                <a:latin typeface="Times New Roman" panose="02020603050405020304" pitchFamily="18" charset="0"/>
                <a:cs typeface="Times New Roman" panose="02020603050405020304" pitchFamily="18" charset="0"/>
              </a:rPr>
              <a:t>类别，类别最多的就是</a:t>
            </a:r>
            <a:r>
              <a:rPr lang="en-US" altLang="zh-CN" sz="1800" dirty="0">
                <a:solidFill>
                  <a:srgbClr val="002060"/>
                </a:solidFill>
                <a:latin typeface="Times New Roman" panose="02020603050405020304" pitchFamily="18" charset="0"/>
                <a:cs typeface="Times New Roman" panose="02020603050405020304" pitchFamily="18" charset="0"/>
              </a:rPr>
              <a:t>x</a:t>
            </a:r>
            <a:r>
              <a:rPr lang="zh-CN" altLang="en-US" sz="1800" dirty="0">
                <a:solidFill>
                  <a:srgbClr val="002060"/>
                </a:solidFill>
                <a:latin typeface="Times New Roman" panose="02020603050405020304" pitchFamily="18" charset="0"/>
                <a:cs typeface="Times New Roman" panose="02020603050405020304" pitchFamily="18" charset="0"/>
              </a:rPr>
              <a:t>的类别</a:t>
            </a:r>
            <a:br>
              <a:rPr lang="en-US" altLang="zh-CN" sz="1800" dirty="0">
                <a:solidFill>
                  <a:srgbClr val="002060"/>
                </a:solidFill>
                <a:latin typeface="Times New Roman" panose="02020603050405020304" pitchFamily="18" charset="0"/>
                <a:cs typeface="Times New Roman" panose="02020603050405020304" pitchFamily="18" charset="0"/>
              </a:rPr>
            </a:br>
            <a:endParaRPr lang="en-US" altLang="zh-CN" sz="1800" dirty="0">
              <a:solidFill>
                <a:srgbClr val="000066"/>
              </a:solidFill>
              <a:latin typeface="Times New Roman" panose="02020603050405020304" pitchFamily="18" charset="0"/>
              <a:cs typeface="Times New Roman" panose="02020603050405020304" pitchFamily="18" charset="0"/>
            </a:endParaRPr>
          </a:p>
        </p:txBody>
      </p:sp>
      <p:pic>
        <p:nvPicPr>
          <p:cNvPr id="13" name="图片 12">
            <a:extLst>
              <a:ext uri="{FF2B5EF4-FFF2-40B4-BE49-F238E27FC236}">
                <a16:creationId xmlns:a16="http://schemas.microsoft.com/office/drawing/2014/main" id="{445E13FF-3BEC-4202-8427-8DF6764326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9712" y="2760919"/>
            <a:ext cx="5044132" cy="2259103"/>
          </a:xfrm>
          <a:prstGeom prst="rect">
            <a:avLst/>
          </a:prstGeom>
        </p:spPr>
      </p:pic>
    </p:spTree>
    <p:extLst>
      <p:ext uri="{BB962C8B-B14F-4D97-AF65-F5344CB8AC3E}">
        <p14:creationId xmlns:p14="http://schemas.microsoft.com/office/powerpoint/2010/main" val="1054266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1234D407-1DAB-451E-BF1C-2697B16464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56992" y="3016567"/>
            <a:ext cx="3551512" cy="1650018"/>
          </a:xfrm>
          <a:prstGeom prst="rect">
            <a:avLst/>
          </a:prstGeom>
        </p:spPr>
      </p:pic>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五、经典机器学习算法</a:t>
            </a:r>
            <a:endParaRPr lang="zh-CN" altLang="en-US" sz="2400" dirty="0"/>
          </a:p>
        </p:txBody>
      </p:sp>
      <p:sp>
        <p:nvSpPr>
          <p:cNvPr id="3" name="内容占位符 2"/>
          <p:cNvSpPr>
            <a:spLocks noGrp="1"/>
          </p:cNvSpPr>
          <p:nvPr>
            <p:ph idx="1"/>
          </p:nvPr>
        </p:nvSpPr>
        <p:spPr>
          <a:xfrm>
            <a:off x="611559" y="986626"/>
            <a:ext cx="7344817" cy="1801148"/>
          </a:xfrm>
        </p:spPr>
        <p:txBody>
          <a:bodyPr>
            <a:noAutofit/>
          </a:bodyPr>
          <a:lstStyle/>
          <a:p>
            <a:pPr marL="0" indent="0">
              <a:lnSpc>
                <a:spcPct val="150000"/>
              </a:lnSpc>
              <a:spcBef>
                <a:spcPts val="0"/>
              </a:spcBef>
              <a:buNone/>
            </a:pPr>
            <a:r>
              <a:rPr lang="zh-CN" altLang="en-US" sz="1800" dirty="0">
                <a:solidFill>
                  <a:srgbClr val="000066"/>
                </a:solidFill>
                <a:latin typeface="Times New Roman" panose="02020603050405020304" pitchFamily="18" charset="0"/>
                <a:cs typeface="Times New Roman" panose="02020603050405020304" pitchFamily="18" charset="0"/>
              </a:rPr>
              <a:t>二、</a:t>
            </a:r>
            <a:r>
              <a:rPr lang="en-US" altLang="zh-CN" sz="1800" dirty="0">
                <a:solidFill>
                  <a:srgbClr val="000066"/>
                </a:solidFill>
                <a:latin typeface="Times New Roman" panose="02020603050405020304" pitchFamily="18" charset="0"/>
                <a:cs typeface="Times New Roman" panose="02020603050405020304" pitchFamily="18" charset="0"/>
              </a:rPr>
              <a:t>k-</a:t>
            </a:r>
            <a:r>
              <a:rPr lang="zh-CN" altLang="en-US" sz="1800" dirty="0">
                <a:solidFill>
                  <a:srgbClr val="000066"/>
                </a:solidFill>
                <a:latin typeface="Times New Roman" panose="02020603050405020304" pitchFamily="18" charset="0"/>
                <a:cs typeface="Times New Roman" panose="02020603050405020304" pitchFamily="18" charset="0"/>
              </a:rPr>
              <a:t>近邻算法（</a:t>
            </a:r>
            <a:r>
              <a:rPr lang="en-US" altLang="zh-CN" sz="1800" dirty="0">
                <a:solidFill>
                  <a:srgbClr val="000066"/>
                </a:solidFill>
                <a:latin typeface="Times New Roman" panose="02020603050405020304" pitchFamily="18" charset="0"/>
                <a:cs typeface="Times New Roman" panose="02020603050405020304" pitchFamily="18" charset="0"/>
              </a:rPr>
              <a:t>K</a:t>
            </a:r>
            <a:r>
              <a:rPr lang="en-US" altLang="zh-CN" sz="1800" dirty="0">
                <a:solidFill>
                  <a:srgbClr val="002060"/>
                </a:solidFill>
                <a:latin typeface="Times New Roman" panose="02020603050405020304" pitchFamily="18" charset="0"/>
                <a:cs typeface="Times New Roman" panose="02020603050405020304" pitchFamily="18" charset="0"/>
              </a:rPr>
              <a:t> Nearest Neighbors</a:t>
            </a:r>
            <a:r>
              <a:rPr lang="zh-CN" altLang="en-US" sz="1800" dirty="0">
                <a:solidFill>
                  <a:srgbClr val="002060"/>
                </a:solidFill>
                <a:latin typeface="Times New Roman" panose="02020603050405020304" pitchFamily="18" charset="0"/>
                <a:cs typeface="Times New Roman" panose="02020603050405020304" pitchFamily="18" charset="0"/>
              </a:rPr>
              <a:t>，</a:t>
            </a:r>
            <a:r>
              <a:rPr lang="en-US" altLang="zh-CN" sz="1800" dirty="0" err="1">
                <a:solidFill>
                  <a:srgbClr val="002060"/>
                </a:solidFill>
                <a:latin typeface="Times New Roman" panose="02020603050405020304" pitchFamily="18" charset="0"/>
                <a:cs typeface="Times New Roman" panose="02020603050405020304" pitchFamily="18" charset="0"/>
              </a:rPr>
              <a:t>KNN</a:t>
            </a:r>
            <a:r>
              <a:rPr lang="zh-CN" altLang="en-US" sz="1800" dirty="0">
                <a:solidFill>
                  <a:srgbClr val="000066"/>
                </a:solidFill>
                <a:latin typeface="Times New Roman" panose="02020603050405020304" pitchFamily="18" charset="0"/>
                <a:cs typeface="Times New Roman" panose="02020603050405020304" pitchFamily="18" charset="0"/>
              </a:rPr>
              <a:t>）</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800">
                <a:solidFill>
                  <a:srgbClr val="002060"/>
                </a:solidFill>
                <a:latin typeface="Times New Roman" panose="02020603050405020304" pitchFamily="18" charset="0"/>
                <a:cs typeface="Times New Roman" panose="02020603050405020304" pitchFamily="18" charset="0"/>
              </a:rPr>
              <a:t>        </a:t>
            </a:r>
            <a:r>
              <a:rPr lang="en-US" altLang="zh-CN" sz="180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1800">
                <a:solidFill>
                  <a:srgbClr val="000066"/>
                </a:solidFill>
                <a:latin typeface="Times New Roman" panose="02020603050405020304" pitchFamily="18" charset="0"/>
                <a:cs typeface="Times New Roman" panose="02020603050405020304" pitchFamily="18" charset="0"/>
              </a:rPr>
              <a:t>关键</a:t>
            </a:r>
            <a:r>
              <a:rPr lang="zh-CN" altLang="en-US" sz="1800" dirty="0">
                <a:solidFill>
                  <a:srgbClr val="000066"/>
                </a:solidFill>
                <a:latin typeface="Times New Roman" panose="02020603050405020304" pitchFamily="18" charset="0"/>
                <a:cs typeface="Times New Roman" panose="02020603050405020304" pitchFamily="18" charset="0"/>
              </a:rPr>
              <a:t>参数：</a:t>
            </a:r>
            <a:r>
              <a:rPr lang="en-US" altLang="zh-CN" sz="1800" dirty="0">
                <a:solidFill>
                  <a:srgbClr val="000066"/>
                </a:solidFill>
                <a:latin typeface="Times New Roman" panose="02020603050405020304" pitchFamily="18" charset="0"/>
                <a:cs typeface="Times New Roman" panose="02020603050405020304" pitchFamily="18" charset="0"/>
              </a:rPr>
              <a:t>K</a:t>
            </a:r>
            <a:r>
              <a:rPr lang="zh-CN" altLang="en-US" sz="1800" dirty="0">
                <a:solidFill>
                  <a:srgbClr val="000066"/>
                </a:solidFill>
                <a:latin typeface="Times New Roman" panose="02020603050405020304" pitchFamily="18" charset="0"/>
                <a:cs typeface="Times New Roman" panose="02020603050405020304" pitchFamily="18" charset="0"/>
              </a:rPr>
              <a:t>值、距离</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        </a:t>
            </a:r>
            <a:r>
              <a:rPr lang="en-US" altLang="zh-CN" sz="1800">
                <a:solidFill>
                  <a:srgbClr val="000066"/>
                </a:solidFill>
                <a:cs typeface="Times New Roman" panose="02020603050405020304" pitchFamily="18" charset="0"/>
              </a:rPr>
              <a:t>①</a:t>
            </a:r>
            <a:r>
              <a:rPr lang="en-US" altLang="zh-CN" sz="1800">
                <a:solidFill>
                  <a:srgbClr val="000066"/>
                </a:solidFill>
                <a:latin typeface="Times New Roman" panose="02020603050405020304" pitchFamily="18" charset="0"/>
                <a:cs typeface="Times New Roman" panose="02020603050405020304" pitchFamily="18" charset="0"/>
              </a:rPr>
              <a:t> </a:t>
            </a:r>
            <a:r>
              <a:rPr lang="en-US" altLang="zh-CN" sz="1800" dirty="0">
                <a:solidFill>
                  <a:srgbClr val="000066"/>
                </a:solidFill>
                <a:latin typeface="Times New Roman" panose="02020603050405020304" pitchFamily="18" charset="0"/>
                <a:cs typeface="Times New Roman" panose="02020603050405020304" pitchFamily="18" charset="0"/>
              </a:rPr>
              <a:t>K</a:t>
            </a:r>
            <a:r>
              <a:rPr lang="zh-CN" altLang="en-US" sz="1800">
                <a:solidFill>
                  <a:srgbClr val="000066"/>
                </a:solidFill>
                <a:latin typeface="Times New Roman" panose="02020603050405020304" pitchFamily="18" charset="0"/>
                <a:cs typeface="Times New Roman" panose="02020603050405020304" pitchFamily="18" charset="0"/>
              </a:rPr>
              <a:t>值：</a:t>
            </a:r>
            <a:r>
              <a:rPr lang="zh-CN" altLang="en-US" sz="1800">
                <a:solidFill>
                  <a:srgbClr val="002060"/>
                </a:solidFill>
                <a:latin typeface="Times New Roman" panose="02020603050405020304" pitchFamily="18" charset="0"/>
                <a:cs typeface="Times New Roman" panose="02020603050405020304" pitchFamily="18" charset="0"/>
              </a:rPr>
              <a:t>影响</a:t>
            </a:r>
            <a:r>
              <a:rPr lang="zh-CN" altLang="en-US" sz="1800" dirty="0">
                <a:solidFill>
                  <a:srgbClr val="002060"/>
                </a:solidFill>
                <a:latin typeface="Times New Roman" panose="02020603050405020304" pitchFamily="18" charset="0"/>
                <a:cs typeface="Times New Roman" panose="02020603050405020304" pitchFamily="18" charset="0"/>
              </a:rPr>
              <a:t>模型的性能</a:t>
            </a:r>
            <a:endParaRPr lang="en-US" altLang="zh-CN" sz="1800" dirty="0">
              <a:solidFill>
                <a:srgbClr val="00206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800">
                <a:solidFill>
                  <a:srgbClr val="002060"/>
                </a:solidFill>
                <a:latin typeface="Times New Roman" panose="02020603050405020304" pitchFamily="18" charset="0"/>
                <a:cs typeface="Times New Roman" panose="02020603050405020304" pitchFamily="18" charset="0"/>
              </a:rPr>
              <a:t>             通过</a:t>
            </a:r>
            <a:r>
              <a:rPr lang="zh-CN" altLang="en-US" sz="1800" dirty="0">
                <a:solidFill>
                  <a:srgbClr val="002060"/>
                </a:solidFill>
                <a:latin typeface="Times New Roman" panose="02020603050405020304" pitchFamily="18" charset="0"/>
                <a:cs typeface="Times New Roman" panose="02020603050405020304" pitchFamily="18" charset="0"/>
              </a:rPr>
              <a:t>枚举，可以找到一个合适的</a:t>
            </a:r>
            <a:r>
              <a:rPr lang="en-US" altLang="zh-CN" sz="1800" dirty="0">
                <a:solidFill>
                  <a:srgbClr val="002060"/>
                </a:solidFill>
                <a:latin typeface="Times New Roman" panose="02020603050405020304" pitchFamily="18" charset="0"/>
                <a:cs typeface="Times New Roman" panose="02020603050405020304" pitchFamily="18" charset="0"/>
              </a:rPr>
              <a:t>K</a:t>
            </a:r>
            <a:r>
              <a:rPr lang="zh-CN" altLang="en-US" sz="1800" dirty="0">
                <a:solidFill>
                  <a:srgbClr val="002060"/>
                </a:solidFill>
                <a:latin typeface="Times New Roman" panose="02020603050405020304" pitchFamily="18" charset="0"/>
                <a:cs typeface="Times New Roman" panose="02020603050405020304" pitchFamily="18" charset="0"/>
              </a:rPr>
              <a:t>值</a:t>
            </a:r>
            <a:endParaRPr lang="zh-CN" altLang="en-US" sz="1800" dirty="0">
              <a:latin typeface="Times New Roman" panose="02020603050405020304" pitchFamily="18" charset="0"/>
              <a:cs typeface="Times New Roman" panose="02020603050405020304" pitchFamily="18" charset="0"/>
            </a:endParaRPr>
          </a:p>
          <a:p>
            <a:pPr marL="0" indent="0">
              <a:lnSpc>
                <a:spcPct val="150000"/>
              </a:lnSpc>
              <a:spcBef>
                <a:spcPts val="0"/>
              </a:spcBef>
              <a:buNone/>
            </a:pP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endParaRPr lang="en-US" altLang="zh-CN" sz="1800" dirty="0">
              <a:solidFill>
                <a:srgbClr val="000066"/>
              </a:solidFill>
              <a:latin typeface="Times New Roman" panose="02020603050405020304" pitchFamily="18" charset="0"/>
              <a:cs typeface="Times New Roman" panose="02020603050405020304" pitchFamily="18" charset="0"/>
            </a:endParaRPr>
          </a:p>
        </p:txBody>
      </p:sp>
      <p:pic>
        <p:nvPicPr>
          <p:cNvPr id="14" name="图片 13">
            <a:extLst>
              <a:ext uri="{FF2B5EF4-FFF2-40B4-BE49-F238E27FC236}">
                <a16:creationId xmlns:a16="http://schemas.microsoft.com/office/drawing/2014/main" id="{EE8C9B73-9B1E-47E7-A99D-243B3261EC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642810"/>
            <a:ext cx="5574955" cy="2305204"/>
          </a:xfrm>
          <a:prstGeom prst="rect">
            <a:avLst/>
          </a:prstGeom>
        </p:spPr>
      </p:pic>
    </p:spTree>
    <p:extLst>
      <p:ext uri="{BB962C8B-B14F-4D97-AF65-F5344CB8AC3E}">
        <p14:creationId xmlns:p14="http://schemas.microsoft.com/office/powerpoint/2010/main" val="117856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五、经典机器学习算法</a:t>
            </a:r>
            <a:endParaRPr lang="zh-CN" altLang="en-US" sz="2400" dirty="0"/>
          </a:p>
        </p:txBody>
      </p:sp>
      <p:sp>
        <p:nvSpPr>
          <p:cNvPr id="3" name="内容占位符 2"/>
          <p:cNvSpPr>
            <a:spLocks noGrp="1"/>
          </p:cNvSpPr>
          <p:nvPr>
            <p:ph idx="1"/>
          </p:nvPr>
        </p:nvSpPr>
        <p:spPr>
          <a:xfrm>
            <a:off x="611559" y="986626"/>
            <a:ext cx="7992889" cy="3385324"/>
          </a:xfrm>
        </p:spPr>
        <p:txBody>
          <a:bodyPr>
            <a:noAutofit/>
          </a:bodyPr>
          <a:lstStyle/>
          <a:p>
            <a:pPr marL="0" indent="0">
              <a:lnSpc>
                <a:spcPct val="150000"/>
              </a:lnSpc>
              <a:spcBef>
                <a:spcPts val="0"/>
              </a:spcBef>
              <a:buNone/>
            </a:pPr>
            <a:r>
              <a:rPr lang="zh-CN" altLang="en-US" sz="1800" dirty="0">
                <a:solidFill>
                  <a:srgbClr val="000066"/>
                </a:solidFill>
                <a:latin typeface="Times New Roman" panose="02020603050405020304" pitchFamily="18" charset="0"/>
                <a:cs typeface="Times New Roman" panose="02020603050405020304" pitchFamily="18" charset="0"/>
              </a:rPr>
              <a:t>二、</a:t>
            </a:r>
            <a:r>
              <a:rPr lang="en-US" altLang="zh-CN" sz="1800" dirty="0">
                <a:solidFill>
                  <a:srgbClr val="000066"/>
                </a:solidFill>
                <a:latin typeface="Times New Roman" panose="02020603050405020304" pitchFamily="18" charset="0"/>
                <a:cs typeface="Times New Roman" panose="02020603050405020304" pitchFamily="18" charset="0"/>
              </a:rPr>
              <a:t>k-</a:t>
            </a:r>
            <a:r>
              <a:rPr lang="zh-CN" altLang="en-US" sz="1800" dirty="0">
                <a:solidFill>
                  <a:srgbClr val="000066"/>
                </a:solidFill>
                <a:latin typeface="Times New Roman" panose="02020603050405020304" pitchFamily="18" charset="0"/>
                <a:cs typeface="Times New Roman" panose="02020603050405020304" pitchFamily="18" charset="0"/>
              </a:rPr>
              <a:t>近邻算法（</a:t>
            </a:r>
            <a:r>
              <a:rPr lang="en-US" altLang="zh-CN" sz="1800" dirty="0">
                <a:solidFill>
                  <a:srgbClr val="000066"/>
                </a:solidFill>
                <a:latin typeface="Times New Roman" panose="02020603050405020304" pitchFamily="18" charset="0"/>
                <a:cs typeface="Times New Roman" panose="02020603050405020304" pitchFamily="18" charset="0"/>
              </a:rPr>
              <a:t>K</a:t>
            </a:r>
            <a:r>
              <a:rPr lang="en-US" altLang="zh-CN" sz="18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Nearest Neighbors</a:t>
            </a:r>
            <a:r>
              <a:rPr lang="zh-CN" altLang="en-US" sz="18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1800"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KNN</a:t>
            </a:r>
            <a:r>
              <a:rPr lang="zh-CN" altLang="en-US" sz="1800" dirty="0">
                <a:solidFill>
                  <a:srgbClr val="000066"/>
                </a:solidFill>
                <a:latin typeface="Times New Roman" panose="02020603050405020304" pitchFamily="18" charset="0"/>
                <a:cs typeface="Times New Roman" panose="02020603050405020304" pitchFamily="18" charset="0"/>
              </a:rPr>
              <a:t>）</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80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1800">
                <a:solidFill>
                  <a:srgbClr val="000066"/>
                </a:solidFill>
                <a:latin typeface="Times New Roman" panose="02020603050405020304" pitchFamily="18" charset="0"/>
                <a:cs typeface="Times New Roman" panose="02020603050405020304" pitchFamily="18" charset="0"/>
              </a:rPr>
              <a:t>※ </a:t>
            </a:r>
            <a:r>
              <a:rPr lang="zh-CN" altLang="en-US" sz="1800">
                <a:solidFill>
                  <a:srgbClr val="000066"/>
                </a:solidFill>
                <a:latin typeface="Times New Roman" panose="02020603050405020304" pitchFamily="18" charset="0"/>
                <a:cs typeface="Times New Roman" panose="02020603050405020304" pitchFamily="18" charset="0"/>
              </a:rPr>
              <a:t>关键</a:t>
            </a:r>
            <a:r>
              <a:rPr lang="zh-CN" altLang="en-US" sz="1800" dirty="0">
                <a:solidFill>
                  <a:srgbClr val="000066"/>
                </a:solidFill>
                <a:latin typeface="Times New Roman" panose="02020603050405020304" pitchFamily="18" charset="0"/>
                <a:cs typeface="Times New Roman" panose="02020603050405020304" pitchFamily="18" charset="0"/>
              </a:rPr>
              <a:t>参数：</a:t>
            </a:r>
            <a:r>
              <a:rPr lang="en-US" altLang="zh-CN" sz="1800" dirty="0">
                <a:solidFill>
                  <a:srgbClr val="000066"/>
                </a:solidFill>
                <a:latin typeface="Times New Roman" panose="02020603050405020304" pitchFamily="18" charset="0"/>
                <a:cs typeface="Times New Roman" panose="02020603050405020304" pitchFamily="18" charset="0"/>
              </a:rPr>
              <a:t>K</a:t>
            </a:r>
            <a:r>
              <a:rPr lang="zh-CN" altLang="en-US" sz="1800" dirty="0">
                <a:solidFill>
                  <a:srgbClr val="000066"/>
                </a:solidFill>
                <a:latin typeface="Times New Roman" panose="02020603050405020304" pitchFamily="18" charset="0"/>
                <a:cs typeface="Times New Roman" panose="02020603050405020304" pitchFamily="18" charset="0"/>
              </a:rPr>
              <a:t>值、距离</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        </a:t>
            </a:r>
            <a:r>
              <a:rPr lang="en-US" altLang="zh-CN" sz="1800">
                <a:solidFill>
                  <a:srgbClr val="000066"/>
                </a:solidFill>
                <a:cs typeface="Times New Roman" panose="02020603050405020304" pitchFamily="18" charset="0"/>
              </a:rPr>
              <a:t>②</a:t>
            </a:r>
            <a:r>
              <a:rPr lang="en-US" altLang="zh-CN" sz="180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距离</a:t>
            </a:r>
            <a:r>
              <a:rPr lang="zh-CN" altLang="en-US" sz="18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18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endParaRPr>
          </a:p>
          <a:p>
            <a:pPr marL="0" indent="0">
              <a:lnSpc>
                <a:spcPct val="150000"/>
              </a:lnSpc>
              <a:spcBef>
                <a:spcPts val="0"/>
              </a:spcBef>
              <a:buNone/>
            </a:pPr>
            <a:endParaRPr lang="en-US" altLang="zh-CN" sz="18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endParaRPr>
          </a:p>
          <a:p>
            <a:pPr marL="0" indent="0">
              <a:lnSpc>
                <a:spcPct val="150000"/>
              </a:lnSpc>
              <a:spcBef>
                <a:spcPts val="0"/>
              </a:spcBef>
              <a:buNone/>
            </a:pPr>
            <a:endParaRPr lang="en-US" altLang="zh-CN" sz="18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endParaRPr>
          </a:p>
          <a:p>
            <a:pPr marL="0" indent="0">
              <a:lnSpc>
                <a:spcPct val="150000"/>
              </a:lnSpc>
              <a:spcBef>
                <a:spcPts val="0"/>
              </a:spcBef>
              <a:buNone/>
            </a:pPr>
            <a:r>
              <a:rPr lang="zh-CN" altLang="en-US" sz="180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1800">
                <a:solidFill>
                  <a:srgbClr val="002060"/>
                </a:solidFill>
                <a:latin typeface="Times New Roman" panose="02020603050405020304" pitchFamily="18" charset="0"/>
                <a:cs typeface="Times New Roman" panose="02020603050405020304" pitchFamily="18" charset="0"/>
              </a:rPr>
              <a:t>最</a:t>
            </a:r>
            <a:r>
              <a:rPr lang="zh-CN" altLang="en-US" sz="1800" dirty="0">
                <a:solidFill>
                  <a:srgbClr val="002060"/>
                </a:solidFill>
                <a:latin typeface="Times New Roman" panose="02020603050405020304" pitchFamily="18" charset="0"/>
                <a:cs typeface="Times New Roman" panose="02020603050405020304" pitchFamily="18" charset="0"/>
              </a:rPr>
              <a:t>笨的方法，计算</a:t>
            </a:r>
            <a:r>
              <a:rPr lang="en-US" altLang="zh-CN" sz="1800" dirty="0">
                <a:solidFill>
                  <a:srgbClr val="002060"/>
                </a:solidFill>
                <a:latin typeface="Times New Roman" panose="02020603050405020304" pitchFamily="18" charset="0"/>
                <a:cs typeface="Times New Roman" panose="02020603050405020304" pitchFamily="18" charset="0"/>
              </a:rPr>
              <a:t>x</a:t>
            </a:r>
            <a:r>
              <a:rPr lang="zh-CN" altLang="en-US" sz="1800" dirty="0">
                <a:solidFill>
                  <a:srgbClr val="002060"/>
                </a:solidFill>
                <a:latin typeface="Times New Roman" panose="02020603050405020304" pitchFamily="18" charset="0"/>
                <a:cs typeface="Times New Roman" panose="02020603050405020304" pitchFamily="18" charset="0"/>
              </a:rPr>
              <a:t>与所有点的距离，找最小的</a:t>
            </a:r>
            <a:r>
              <a:rPr lang="en-US" altLang="zh-CN" sz="1800" dirty="0">
                <a:solidFill>
                  <a:srgbClr val="002060"/>
                </a:solidFill>
                <a:latin typeface="Times New Roman" panose="02020603050405020304" pitchFamily="18" charset="0"/>
                <a:cs typeface="Times New Roman" panose="02020603050405020304" pitchFamily="18" charset="0"/>
              </a:rPr>
              <a:t>K</a:t>
            </a:r>
            <a:r>
              <a:rPr lang="zh-CN" altLang="en-US" sz="1800" dirty="0">
                <a:solidFill>
                  <a:srgbClr val="002060"/>
                </a:solidFill>
                <a:latin typeface="Times New Roman" panose="02020603050405020304" pitchFamily="18" charset="0"/>
                <a:cs typeface="Times New Roman" panose="02020603050405020304" pitchFamily="18" charset="0"/>
              </a:rPr>
              <a:t>个点</a:t>
            </a:r>
            <a:endParaRPr lang="en-US" altLang="zh-CN" sz="1800" dirty="0">
              <a:solidFill>
                <a:srgbClr val="00206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8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endParaRPr lang="en-US" altLang="zh-CN" sz="1800" dirty="0">
              <a:solidFill>
                <a:srgbClr val="000066"/>
              </a:solidFill>
              <a:latin typeface="Times New Roman" panose="02020603050405020304" pitchFamily="18" charset="0"/>
              <a:cs typeface="Times New Roman" panose="02020603050405020304" pitchFamily="18" charset="0"/>
            </a:endParaRPr>
          </a:p>
        </p:txBody>
      </p:sp>
      <p:pic>
        <p:nvPicPr>
          <p:cNvPr id="7" name="图片 6">
            <a:extLst>
              <a:ext uri="{FF2B5EF4-FFF2-40B4-BE49-F238E27FC236}">
                <a16:creationId xmlns:a16="http://schemas.microsoft.com/office/drawing/2014/main" id="{52ED74C9-9C3D-4C1F-8530-50DBCF5D66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63688" y="2351796"/>
            <a:ext cx="5725865" cy="683685"/>
          </a:xfrm>
          <a:prstGeom prst="rect">
            <a:avLst/>
          </a:prstGeom>
        </p:spPr>
      </p:pic>
    </p:spTree>
    <p:extLst>
      <p:ext uri="{BB962C8B-B14F-4D97-AF65-F5344CB8AC3E}">
        <p14:creationId xmlns:p14="http://schemas.microsoft.com/office/powerpoint/2010/main" val="2012700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五、经典机器学习算法</a:t>
            </a:r>
            <a:endParaRPr lang="zh-CN" altLang="en-US" sz="2400" dirty="0"/>
          </a:p>
        </p:txBody>
      </p:sp>
      <p:sp>
        <p:nvSpPr>
          <p:cNvPr id="3" name="内容占位符 2"/>
          <p:cNvSpPr>
            <a:spLocks noGrp="1"/>
          </p:cNvSpPr>
          <p:nvPr>
            <p:ph idx="1"/>
          </p:nvPr>
        </p:nvSpPr>
        <p:spPr>
          <a:xfrm>
            <a:off x="611559" y="986626"/>
            <a:ext cx="7560841" cy="2881268"/>
          </a:xfrm>
        </p:spPr>
        <p:txBody>
          <a:bodyPr>
            <a:noAutofit/>
          </a:bodyPr>
          <a:lstStyle/>
          <a:p>
            <a:pPr marL="0" indent="0">
              <a:lnSpc>
                <a:spcPct val="150000"/>
              </a:lnSpc>
              <a:spcBef>
                <a:spcPts val="0"/>
              </a:spcBef>
              <a:buNone/>
            </a:pPr>
            <a:r>
              <a:rPr lang="zh-CN" altLang="en-US" sz="1800" dirty="0">
                <a:solidFill>
                  <a:srgbClr val="000066"/>
                </a:solidFill>
                <a:latin typeface="Times New Roman" panose="02020603050405020304" pitchFamily="18" charset="0"/>
                <a:cs typeface="Times New Roman" panose="02020603050405020304" pitchFamily="18" charset="0"/>
              </a:rPr>
              <a:t>二、</a:t>
            </a:r>
            <a:r>
              <a:rPr lang="en-US" altLang="zh-CN" sz="1800" dirty="0">
                <a:solidFill>
                  <a:srgbClr val="000066"/>
                </a:solidFill>
                <a:latin typeface="Times New Roman" panose="02020603050405020304" pitchFamily="18" charset="0"/>
                <a:cs typeface="Times New Roman" panose="02020603050405020304" pitchFamily="18" charset="0"/>
              </a:rPr>
              <a:t>k-</a:t>
            </a:r>
            <a:r>
              <a:rPr lang="zh-CN" altLang="en-US" sz="1800" dirty="0">
                <a:solidFill>
                  <a:srgbClr val="000066"/>
                </a:solidFill>
                <a:latin typeface="Times New Roman" panose="02020603050405020304" pitchFamily="18" charset="0"/>
                <a:cs typeface="Times New Roman" panose="02020603050405020304" pitchFamily="18" charset="0"/>
              </a:rPr>
              <a:t>近邻算法（</a:t>
            </a:r>
            <a:r>
              <a:rPr lang="en-US" altLang="zh-CN" sz="1800" dirty="0">
                <a:solidFill>
                  <a:srgbClr val="000066"/>
                </a:solidFill>
                <a:latin typeface="Times New Roman" panose="02020603050405020304" pitchFamily="18" charset="0"/>
                <a:cs typeface="Times New Roman" panose="02020603050405020304" pitchFamily="18" charset="0"/>
              </a:rPr>
              <a:t>K</a:t>
            </a:r>
            <a:r>
              <a:rPr lang="en-US" altLang="zh-CN" sz="18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Nearest Neighbors</a:t>
            </a:r>
            <a:r>
              <a:rPr lang="zh-CN" altLang="en-US" sz="18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1800"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KNN</a:t>
            </a:r>
            <a:r>
              <a:rPr lang="zh-CN" altLang="en-US" sz="1800" dirty="0">
                <a:solidFill>
                  <a:srgbClr val="000066"/>
                </a:solidFill>
                <a:latin typeface="Times New Roman" panose="02020603050405020304" pitchFamily="18" charset="0"/>
                <a:cs typeface="Times New Roman" panose="02020603050405020304" pitchFamily="18" charset="0"/>
              </a:rPr>
              <a:t>）</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623888" lvl="1" indent="-623888">
              <a:lnSpc>
                <a:spcPct val="150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        </a:t>
            </a:r>
            <a:r>
              <a:rPr lang="zh-CN" altLang="en-US" sz="1800">
                <a:solidFill>
                  <a:srgbClr val="000066"/>
                </a:solidFill>
                <a:latin typeface="Times New Roman" panose="02020603050405020304" pitchFamily="18" charset="0"/>
                <a:cs typeface="Times New Roman" panose="02020603050405020304" pitchFamily="18" charset="0"/>
              </a:rPr>
              <a:t>例</a:t>
            </a:r>
            <a:r>
              <a:rPr lang="en-US" altLang="zh-CN" sz="18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sz="18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800">
                <a:solidFill>
                  <a:srgbClr val="000066"/>
                </a:solidFill>
                <a:latin typeface="Times New Roman" panose="02020603050405020304" pitchFamily="18" charset="0"/>
                <a:cs typeface="Times New Roman" panose="02020603050405020304" pitchFamily="18" charset="0"/>
              </a:rPr>
              <a:t>鸢尾花分类</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623888" lvl="1" indent="-623888">
              <a:lnSpc>
                <a:spcPct val="150000"/>
              </a:lnSpc>
              <a:spcBef>
                <a:spcPts val="0"/>
              </a:spcBef>
              <a:buNone/>
            </a:pPr>
            <a:r>
              <a:rPr lang="zh-CN" altLang="en-US" sz="1800">
                <a:solidFill>
                  <a:srgbClr val="000066"/>
                </a:solidFill>
                <a:latin typeface="Times New Roman" panose="02020603050405020304" pitchFamily="18" charset="0"/>
                <a:cs typeface="Times New Roman" panose="02020603050405020304" pitchFamily="18" charset="0"/>
              </a:rPr>
              <a:t>                  ① 导入鸢尾花数据集，并且拆分成训练集和测试集</a:t>
            </a:r>
            <a:endParaRPr lang="en-US" altLang="zh-CN" sz="1800">
              <a:solidFill>
                <a:srgbClr val="000066"/>
              </a:solidFill>
              <a:latin typeface="Times New Roman" panose="02020603050405020304" pitchFamily="18" charset="0"/>
              <a:cs typeface="Times New Roman" panose="02020603050405020304" pitchFamily="18" charset="0"/>
            </a:endParaRPr>
          </a:p>
          <a:p>
            <a:pPr marL="623888" lvl="1" indent="-623888">
              <a:lnSpc>
                <a:spcPct val="150000"/>
              </a:lnSpc>
              <a:spcBef>
                <a:spcPts val="0"/>
              </a:spcBef>
              <a:buNone/>
            </a:pPr>
            <a:r>
              <a:rPr lang="zh-CN" altLang="en-US" sz="1800">
                <a:solidFill>
                  <a:srgbClr val="000066"/>
                </a:solidFill>
                <a:latin typeface="Times New Roman" panose="02020603050405020304" pitchFamily="18" charset="0"/>
                <a:cs typeface="Times New Roman" panose="02020603050405020304" pitchFamily="18" charset="0"/>
              </a:rPr>
              <a:t>                  </a:t>
            </a:r>
            <a:r>
              <a:rPr lang="zh-CN" altLang="en-US" sz="1800">
                <a:solidFill>
                  <a:srgbClr val="000066"/>
                </a:solidFill>
                <a:cs typeface="Times New Roman" panose="02020603050405020304" pitchFamily="18" charset="0"/>
              </a:rPr>
              <a:t>②</a:t>
            </a:r>
            <a:r>
              <a:rPr lang="zh-CN" altLang="en-US" sz="1800">
                <a:solidFill>
                  <a:srgbClr val="000066"/>
                </a:solidFill>
                <a:latin typeface="Times New Roman" panose="02020603050405020304" pitchFamily="18" charset="0"/>
                <a:cs typeface="Times New Roman" panose="02020603050405020304" pitchFamily="18" charset="0"/>
              </a:rPr>
              <a:t> 使用训练集训练</a:t>
            </a:r>
            <a:r>
              <a:rPr lang="en-US" altLang="zh-CN" sz="1800">
                <a:solidFill>
                  <a:srgbClr val="000066"/>
                </a:solidFill>
                <a:latin typeface="Times New Roman" panose="02020603050405020304" pitchFamily="18" charset="0"/>
                <a:cs typeface="Times New Roman" panose="02020603050405020304" pitchFamily="18" charset="0"/>
              </a:rPr>
              <a:t>K</a:t>
            </a:r>
            <a:r>
              <a:rPr lang="zh-CN" altLang="en-US" sz="1800">
                <a:solidFill>
                  <a:srgbClr val="000066"/>
                </a:solidFill>
                <a:latin typeface="Times New Roman" panose="02020603050405020304" pitchFamily="18" charset="0"/>
                <a:cs typeface="Times New Roman" panose="02020603050405020304" pitchFamily="18" charset="0"/>
              </a:rPr>
              <a:t>近邻模型</a:t>
            </a:r>
            <a:endParaRPr lang="en-US" altLang="zh-CN" sz="1800">
              <a:solidFill>
                <a:srgbClr val="000066"/>
              </a:solidFill>
              <a:latin typeface="Times New Roman" panose="02020603050405020304" pitchFamily="18" charset="0"/>
              <a:cs typeface="Times New Roman" panose="02020603050405020304" pitchFamily="18" charset="0"/>
            </a:endParaRPr>
          </a:p>
          <a:p>
            <a:pPr marL="623888" lvl="1" indent="-623888">
              <a:lnSpc>
                <a:spcPct val="150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                  </a:t>
            </a:r>
            <a:r>
              <a:rPr lang="en-US" altLang="zh-CN" sz="1800">
                <a:solidFill>
                  <a:srgbClr val="000066"/>
                </a:solidFill>
                <a:cs typeface="Times New Roman" panose="02020603050405020304" pitchFamily="18" charset="0"/>
              </a:rPr>
              <a:t>③</a:t>
            </a:r>
            <a:r>
              <a:rPr lang="en-US" altLang="zh-CN" sz="1800">
                <a:solidFill>
                  <a:srgbClr val="000066"/>
                </a:solidFill>
                <a:latin typeface="Times New Roman" panose="02020603050405020304" pitchFamily="18" charset="0"/>
                <a:cs typeface="Times New Roman" panose="02020603050405020304" pitchFamily="18" charset="0"/>
              </a:rPr>
              <a:t> </a:t>
            </a:r>
            <a:r>
              <a:rPr lang="zh-CN" altLang="en-US" sz="1800">
                <a:solidFill>
                  <a:srgbClr val="000066"/>
                </a:solidFill>
                <a:latin typeface="Times New Roman" panose="02020603050405020304" pitchFamily="18" charset="0"/>
                <a:cs typeface="Times New Roman" panose="02020603050405020304" pitchFamily="18" charset="0"/>
              </a:rPr>
              <a:t>利用测试集测试模型</a:t>
            </a:r>
            <a:endParaRPr lang="en-US" altLang="zh-CN" sz="1800">
              <a:solidFill>
                <a:srgbClr val="000066"/>
              </a:solidFill>
              <a:latin typeface="Times New Roman" panose="02020603050405020304" pitchFamily="18" charset="0"/>
              <a:cs typeface="Times New Roman" panose="02020603050405020304" pitchFamily="18" charset="0"/>
            </a:endParaRPr>
          </a:p>
          <a:p>
            <a:pPr marL="623888" lvl="1" indent="-623888">
              <a:lnSpc>
                <a:spcPct val="150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                  </a:t>
            </a:r>
            <a:r>
              <a:rPr lang="en-US" altLang="zh-CN" sz="1800">
                <a:solidFill>
                  <a:srgbClr val="000066"/>
                </a:solidFill>
                <a:cs typeface="Times New Roman" panose="02020603050405020304" pitchFamily="18" charset="0"/>
              </a:rPr>
              <a:t>④</a:t>
            </a:r>
            <a:r>
              <a:rPr lang="en-US" altLang="zh-CN" sz="1800">
                <a:solidFill>
                  <a:srgbClr val="000066"/>
                </a:solidFill>
                <a:latin typeface="Times New Roman" panose="02020603050405020304" pitchFamily="18" charset="0"/>
                <a:cs typeface="Times New Roman" panose="02020603050405020304" pitchFamily="18" charset="0"/>
              </a:rPr>
              <a:t> </a:t>
            </a:r>
            <a:r>
              <a:rPr lang="zh-CN" altLang="en-US" sz="1800">
                <a:solidFill>
                  <a:srgbClr val="000066"/>
                </a:solidFill>
                <a:latin typeface="Times New Roman" panose="02020603050405020304" pitchFamily="18" charset="0"/>
                <a:cs typeface="Times New Roman" panose="02020603050405020304" pitchFamily="18" charset="0"/>
              </a:rPr>
              <a:t>输入</a:t>
            </a:r>
            <a:r>
              <a:rPr lang="zh-CN" altLang="en-US" sz="1800" dirty="0">
                <a:solidFill>
                  <a:srgbClr val="000066"/>
                </a:solidFill>
                <a:latin typeface="Times New Roman" panose="02020603050405020304" pitchFamily="18" charset="0"/>
                <a:cs typeface="Times New Roman" panose="02020603050405020304" pitchFamily="18" charset="0"/>
              </a:rPr>
              <a:t>一朵鸢尾</a:t>
            </a:r>
            <a:r>
              <a:rPr lang="zh-CN" altLang="en-US" sz="1800">
                <a:solidFill>
                  <a:srgbClr val="000066"/>
                </a:solidFill>
                <a:latin typeface="Times New Roman" panose="02020603050405020304" pitchFamily="18" charset="0"/>
                <a:cs typeface="Times New Roman" panose="02020603050405020304" pitchFamily="18" charset="0"/>
              </a:rPr>
              <a:t>花的数据，判断其类别         </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endParaRPr lang="en-US" altLang="zh-CN" sz="1800" dirty="0">
              <a:solidFill>
                <a:srgbClr val="00006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3838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3AE7D6CB-56A3-4DF3-87C3-EFDC8ADCB55C}"/>
              </a:ext>
            </a:extLst>
          </p:cNvPr>
          <p:cNvSpPr/>
          <p:nvPr/>
        </p:nvSpPr>
        <p:spPr bwMode="gray">
          <a:xfrm>
            <a:off x="1097806" y="3641999"/>
            <a:ext cx="7214958" cy="512422"/>
          </a:xfrm>
          <a:prstGeom prst="rect">
            <a:avLst/>
          </a:prstGeom>
          <a:solidFill>
            <a:srgbClr val="66CCFF"/>
          </a:solidFill>
          <a:ln w="9525">
            <a:noFill/>
            <a:miter lim="800000"/>
            <a:headEnd/>
            <a:tailEnd/>
          </a:ln>
          <a:effectLst/>
        </p:spPr>
        <p:txBody>
          <a:bodyPr wrap="none" rtlCol="0" anchor="ctr"/>
          <a:lstStyle/>
          <a:p>
            <a:pPr algn="ctr" eaLnBrk="0" hangingPunct="0"/>
            <a:endParaRPr lang="zh-CN" altLang="en-US" sz="1400" b="1" dirty="0">
              <a:latin typeface="黑体" panose="02010609060101010101" pitchFamily="49" charset="-122"/>
              <a:ea typeface="黑体" panose="02010609060101010101" pitchFamily="49" charset="-122"/>
            </a:endParaRPr>
          </a:p>
        </p:txBody>
      </p:sp>
      <p:sp>
        <p:nvSpPr>
          <p:cNvPr id="7" name="矩形 6">
            <a:extLst>
              <a:ext uri="{FF2B5EF4-FFF2-40B4-BE49-F238E27FC236}">
                <a16:creationId xmlns:a16="http://schemas.microsoft.com/office/drawing/2014/main" id="{96C0F6CF-D043-4103-80A0-B3157CC324C2}"/>
              </a:ext>
            </a:extLst>
          </p:cNvPr>
          <p:cNvSpPr/>
          <p:nvPr/>
        </p:nvSpPr>
        <p:spPr bwMode="gray">
          <a:xfrm>
            <a:off x="1101458" y="3113756"/>
            <a:ext cx="7214958" cy="528243"/>
          </a:xfrm>
          <a:prstGeom prst="rect">
            <a:avLst/>
          </a:prstGeom>
          <a:solidFill>
            <a:srgbClr val="CCECFF"/>
          </a:solidFill>
          <a:ln w="9525">
            <a:noFill/>
            <a:miter lim="800000"/>
            <a:headEnd/>
            <a:tailEnd/>
          </a:ln>
          <a:effectLst/>
        </p:spPr>
        <p:txBody>
          <a:bodyPr wrap="none" rtlCol="0" anchor="ctr"/>
          <a:lstStyle/>
          <a:p>
            <a:pPr algn="ctr" eaLnBrk="0" hangingPunct="0"/>
            <a:endParaRPr lang="zh-CN" altLang="en-US" sz="1400" b="1" dirty="0">
              <a:latin typeface="黑体" panose="02010609060101010101" pitchFamily="49" charset="-122"/>
              <a:ea typeface="黑体" panose="02010609060101010101" pitchFamily="49" charset="-122"/>
            </a:endParaRPr>
          </a:p>
        </p:txBody>
      </p:sp>
      <p:sp>
        <p:nvSpPr>
          <p:cNvPr id="6" name="矩形 5">
            <a:extLst>
              <a:ext uri="{FF2B5EF4-FFF2-40B4-BE49-F238E27FC236}">
                <a16:creationId xmlns:a16="http://schemas.microsoft.com/office/drawing/2014/main" id="{0B58F18A-C493-4629-B826-A12688A83B9A}"/>
              </a:ext>
            </a:extLst>
          </p:cNvPr>
          <p:cNvSpPr/>
          <p:nvPr/>
        </p:nvSpPr>
        <p:spPr bwMode="gray">
          <a:xfrm>
            <a:off x="1097806" y="4146547"/>
            <a:ext cx="7214957" cy="510234"/>
          </a:xfrm>
          <a:prstGeom prst="rect">
            <a:avLst/>
          </a:prstGeom>
          <a:solidFill>
            <a:srgbClr val="CCFFCC"/>
          </a:solidFill>
          <a:ln w="9525">
            <a:noFill/>
            <a:miter lim="800000"/>
            <a:headEnd/>
            <a:tailEnd/>
          </a:ln>
          <a:effectLst/>
        </p:spPr>
        <p:txBody>
          <a:bodyPr wrap="none" rtlCol="0" anchor="ctr"/>
          <a:lstStyle/>
          <a:p>
            <a:pPr algn="ctr" eaLnBrk="0" hangingPunct="0"/>
            <a:endParaRPr lang="zh-CN" altLang="en-US" sz="1400" b="1" dirty="0">
              <a:latin typeface="黑体" panose="02010609060101010101" pitchFamily="49" charset="-122"/>
              <a:ea typeface="黑体" panose="02010609060101010101" pitchFamily="49" charset="-122"/>
            </a:endParaRPr>
          </a:p>
        </p:txBody>
      </p:sp>
      <p:sp>
        <p:nvSpPr>
          <p:cNvPr id="5" name="矩形 4">
            <a:extLst>
              <a:ext uri="{FF2B5EF4-FFF2-40B4-BE49-F238E27FC236}">
                <a16:creationId xmlns:a16="http://schemas.microsoft.com/office/drawing/2014/main" id="{2C10C811-434D-4EE8-9845-A1BE678B55AA}"/>
              </a:ext>
            </a:extLst>
          </p:cNvPr>
          <p:cNvSpPr/>
          <p:nvPr/>
        </p:nvSpPr>
        <p:spPr bwMode="gray">
          <a:xfrm>
            <a:off x="1101442" y="2178601"/>
            <a:ext cx="7214974" cy="961038"/>
          </a:xfrm>
          <a:prstGeom prst="rect">
            <a:avLst/>
          </a:prstGeom>
          <a:solidFill>
            <a:schemeClr val="bg1">
              <a:lumMod val="85000"/>
            </a:schemeClr>
          </a:solidFill>
          <a:ln w="9525">
            <a:noFill/>
            <a:miter lim="800000"/>
            <a:headEnd/>
            <a:tailEnd/>
          </a:ln>
          <a:effectLst/>
        </p:spPr>
        <p:txBody>
          <a:bodyPr wrap="none" rtlCol="0" anchor="ctr"/>
          <a:lstStyle/>
          <a:p>
            <a:pPr algn="ctr" eaLnBrk="0" hangingPunct="0"/>
            <a:endParaRPr lang="zh-CN" altLang="en-US" sz="1400" b="1" dirty="0">
              <a:latin typeface="黑体" panose="02010609060101010101" pitchFamily="49" charset="-122"/>
              <a:ea typeface="黑体" panose="02010609060101010101" pitchFamily="49" charset="-122"/>
            </a:endParaRPr>
          </a:p>
        </p:txBody>
      </p:sp>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五、经典机器学习算法</a:t>
            </a:r>
            <a:endParaRPr lang="zh-CN" altLang="en-US" sz="2400" dirty="0"/>
          </a:p>
        </p:txBody>
      </p:sp>
      <p:sp>
        <p:nvSpPr>
          <p:cNvPr id="11" name="文本框 10">
            <a:extLst>
              <a:ext uri="{FF2B5EF4-FFF2-40B4-BE49-F238E27FC236}">
                <a16:creationId xmlns:a16="http://schemas.microsoft.com/office/drawing/2014/main" id="{D7536314-8F1A-45DB-9B9B-537FEA31AFCD}"/>
              </a:ext>
            </a:extLst>
          </p:cNvPr>
          <p:cNvSpPr txBox="1"/>
          <p:nvPr/>
        </p:nvSpPr>
        <p:spPr>
          <a:xfrm>
            <a:off x="45679" y="2499777"/>
            <a:ext cx="1019746" cy="363600"/>
          </a:xfrm>
          <a:prstGeom prst="rect">
            <a:avLst/>
          </a:prstGeom>
          <a:solidFill>
            <a:schemeClr val="bg1"/>
          </a:solidFill>
          <a:ln w="19050">
            <a:solidFill>
              <a:srgbClr val="000066"/>
            </a:solidFill>
          </a:ln>
        </p:spPr>
        <p:txBody>
          <a:bodyPr wrap="square" tIns="72000" rtlCol="0">
            <a:noAutofit/>
          </a:bodyPr>
          <a:lstStyle/>
          <a:p>
            <a:pPr algn="ctr">
              <a:spcBef>
                <a:spcPts val="600"/>
              </a:spcBef>
            </a:pPr>
            <a:r>
              <a:rPr lang="zh-CN" altLang="en-US" sz="1600">
                <a:solidFill>
                  <a:srgbClr val="000066"/>
                </a:solidFill>
                <a:latin typeface="微软雅黑" panose="020B0503020204020204" pitchFamily="34" charset="-122"/>
                <a:ea typeface="微软雅黑" panose="020B0503020204020204" pitchFamily="34" charset="-122"/>
              </a:rPr>
              <a:t>整理数据</a:t>
            </a:r>
          </a:p>
        </p:txBody>
      </p:sp>
      <p:cxnSp>
        <p:nvCxnSpPr>
          <p:cNvPr id="23" name="直接箭头连接符 22">
            <a:extLst>
              <a:ext uri="{FF2B5EF4-FFF2-40B4-BE49-F238E27FC236}">
                <a16:creationId xmlns:a16="http://schemas.microsoft.com/office/drawing/2014/main" id="{6E5052A0-54A6-4F34-8637-82952557D715}"/>
              </a:ext>
            </a:extLst>
          </p:cNvPr>
          <p:cNvCxnSpPr>
            <a:cxnSpLocks/>
          </p:cNvCxnSpPr>
          <p:nvPr/>
        </p:nvCxnSpPr>
        <p:spPr>
          <a:xfrm flipH="1">
            <a:off x="526732" y="2181936"/>
            <a:ext cx="1" cy="28808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4DE59B32-7503-4DA8-9091-4B9DCB862110}"/>
              </a:ext>
            </a:extLst>
          </p:cNvPr>
          <p:cNvCxnSpPr>
            <a:cxnSpLocks/>
          </p:cNvCxnSpPr>
          <p:nvPr/>
        </p:nvCxnSpPr>
        <p:spPr>
          <a:xfrm flipH="1">
            <a:off x="499807" y="3427604"/>
            <a:ext cx="1" cy="28808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1ADF7414-5409-473F-BB1D-FE9F2F505567}"/>
              </a:ext>
            </a:extLst>
          </p:cNvPr>
          <p:cNvCxnSpPr>
            <a:cxnSpLocks/>
          </p:cNvCxnSpPr>
          <p:nvPr/>
        </p:nvCxnSpPr>
        <p:spPr>
          <a:xfrm flipH="1">
            <a:off x="499808" y="3939902"/>
            <a:ext cx="1" cy="28808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B33D6455-909F-4677-B345-8119F4B29B25}"/>
              </a:ext>
            </a:extLst>
          </p:cNvPr>
          <p:cNvSpPr txBox="1"/>
          <p:nvPr/>
        </p:nvSpPr>
        <p:spPr>
          <a:xfrm>
            <a:off x="24033" y="4227934"/>
            <a:ext cx="1005403" cy="365091"/>
          </a:xfrm>
          <a:prstGeom prst="rect">
            <a:avLst/>
          </a:prstGeom>
          <a:noFill/>
          <a:ln w="19050">
            <a:solidFill>
              <a:srgbClr val="000066"/>
            </a:solidFill>
          </a:ln>
        </p:spPr>
        <p:txBody>
          <a:bodyPr wrap="none" tIns="72000" rtlCol="0">
            <a:spAutoFit/>
          </a:bodyPr>
          <a:lstStyle/>
          <a:p>
            <a:r>
              <a:rPr lang="zh-CN" altLang="en-US" sz="1600">
                <a:solidFill>
                  <a:srgbClr val="000066"/>
                </a:solidFill>
                <a:latin typeface="微软雅黑" panose="020B0503020204020204" pitchFamily="34" charset="-122"/>
                <a:ea typeface="微软雅黑" panose="020B0503020204020204" pitchFamily="34" charset="-122"/>
              </a:rPr>
              <a:t>进行预测</a:t>
            </a:r>
          </a:p>
        </p:txBody>
      </p:sp>
      <p:cxnSp>
        <p:nvCxnSpPr>
          <p:cNvPr id="29" name="直接箭头连接符 28">
            <a:extLst>
              <a:ext uri="{FF2B5EF4-FFF2-40B4-BE49-F238E27FC236}">
                <a16:creationId xmlns:a16="http://schemas.microsoft.com/office/drawing/2014/main" id="{E4913D4C-3A66-418E-8754-DB117108F1B8}"/>
              </a:ext>
            </a:extLst>
          </p:cNvPr>
          <p:cNvCxnSpPr>
            <a:cxnSpLocks/>
          </p:cNvCxnSpPr>
          <p:nvPr/>
        </p:nvCxnSpPr>
        <p:spPr>
          <a:xfrm flipH="1">
            <a:off x="512765" y="2861800"/>
            <a:ext cx="1" cy="28808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A4AC3373-D1A0-412B-BB98-768D2AD4BDDF}"/>
              </a:ext>
            </a:extLst>
          </p:cNvPr>
          <p:cNvCxnSpPr>
            <a:cxnSpLocks/>
          </p:cNvCxnSpPr>
          <p:nvPr/>
        </p:nvCxnSpPr>
        <p:spPr>
          <a:xfrm flipH="1">
            <a:off x="499808" y="4587974"/>
            <a:ext cx="1" cy="28808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 name="内容占位符 2"/>
          <p:cNvSpPr>
            <a:spLocks noGrp="1"/>
          </p:cNvSpPr>
          <p:nvPr>
            <p:ph idx="1"/>
          </p:nvPr>
        </p:nvSpPr>
        <p:spPr>
          <a:xfrm>
            <a:off x="611559" y="986626"/>
            <a:ext cx="8032630" cy="3745364"/>
          </a:xfrm>
        </p:spPr>
        <p:txBody>
          <a:bodyPr>
            <a:noAutofit/>
          </a:bodyPr>
          <a:lstStyle/>
          <a:p>
            <a:pPr marL="0" indent="0">
              <a:lnSpc>
                <a:spcPct val="150000"/>
              </a:lnSpc>
              <a:spcBef>
                <a:spcPts val="0"/>
              </a:spcBef>
              <a:buNone/>
            </a:pPr>
            <a:r>
              <a:rPr lang="zh-CN" altLang="en-US" sz="1800" dirty="0">
                <a:solidFill>
                  <a:srgbClr val="000066"/>
                </a:solidFill>
                <a:latin typeface="Times New Roman" panose="02020603050405020304" pitchFamily="18" charset="0"/>
                <a:cs typeface="Times New Roman" panose="02020603050405020304" pitchFamily="18" charset="0"/>
              </a:rPr>
              <a:t>数据来自</a:t>
            </a:r>
            <a:r>
              <a:rPr lang="en-US" altLang="zh-CN" sz="1800" dirty="0" err="1">
                <a:solidFill>
                  <a:srgbClr val="002060"/>
                </a:solidFill>
                <a:latin typeface="Times New Roman" panose="02020603050405020304" pitchFamily="18" charset="0"/>
                <a:cs typeface="Times New Roman" panose="02020603050405020304" pitchFamily="18" charset="0"/>
              </a:rPr>
              <a:t>sklearn</a:t>
            </a:r>
            <a:r>
              <a:rPr lang="zh-CN" altLang="en-US" sz="1800" dirty="0">
                <a:solidFill>
                  <a:srgbClr val="002060"/>
                </a:solidFill>
                <a:latin typeface="Times New Roman" panose="02020603050405020304" pitchFamily="18" charset="0"/>
                <a:cs typeface="Times New Roman" panose="02020603050405020304" pitchFamily="18" charset="0"/>
              </a:rPr>
              <a:t>中的</a:t>
            </a:r>
            <a:r>
              <a:rPr lang="en-US" altLang="zh-CN" sz="1800" dirty="0">
                <a:solidFill>
                  <a:srgbClr val="002060"/>
                </a:solidFill>
                <a:latin typeface="Times New Roman" panose="02020603050405020304" pitchFamily="18" charset="0"/>
                <a:cs typeface="Times New Roman" panose="02020603050405020304" pitchFamily="18" charset="0"/>
              </a:rPr>
              <a:t>datasets</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486000" lvl="2" indent="0">
              <a:lnSpc>
                <a:spcPct val="1000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from </a:t>
            </a:r>
            <a:r>
              <a:rPr lang="en-US" altLang="zh-CN" sz="1600" dirty="0" err="1">
                <a:solidFill>
                  <a:srgbClr val="002060"/>
                </a:solidFill>
                <a:latin typeface="Times New Roman" panose="02020603050405020304" pitchFamily="18" charset="0"/>
                <a:cs typeface="Times New Roman" panose="02020603050405020304" pitchFamily="18" charset="0"/>
              </a:rPr>
              <a:t>sklearn</a:t>
            </a:r>
            <a:r>
              <a:rPr lang="en-US" altLang="zh-CN" sz="1600" dirty="0">
                <a:solidFill>
                  <a:srgbClr val="002060"/>
                </a:solidFill>
                <a:latin typeface="Times New Roman" panose="02020603050405020304" pitchFamily="18" charset="0"/>
                <a:cs typeface="Times New Roman" panose="02020603050405020304" pitchFamily="18" charset="0"/>
              </a:rPr>
              <a:t> import datasets</a:t>
            </a:r>
          </a:p>
          <a:p>
            <a:pPr marL="486000" lvl="2" indent="0">
              <a:lnSpc>
                <a:spcPct val="1000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from </a:t>
            </a:r>
            <a:r>
              <a:rPr lang="en-US" altLang="zh-CN" sz="1600" dirty="0" err="1">
                <a:solidFill>
                  <a:srgbClr val="002060"/>
                </a:solidFill>
                <a:latin typeface="Times New Roman" panose="02020603050405020304" pitchFamily="18" charset="0"/>
                <a:cs typeface="Times New Roman" panose="02020603050405020304" pitchFamily="18" charset="0"/>
              </a:rPr>
              <a:t>sklearn.model_selection</a:t>
            </a:r>
            <a:r>
              <a:rPr lang="en-US" altLang="zh-CN" sz="1600" dirty="0">
                <a:solidFill>
                  <a:srgbClr val="002060"/>
                </a:solidFill>
                <a:latin typeface="Times New Roman" panose="02020603050405020304" pitchFamily="18" charset="0"/>
                <a:cs typeface="Times New Roman" panose="02020603050405020304" pitchFamily="18" charset="0"/>
              </a:rPr>
              <a:t> import </a:t>
            </a:r>
            <a:r>
              <a:rPr lang="en-US" altLang="zh-CN" sz="1600" dirty="0" err="1">
                <a:solidFill>
                  <a:srgbClr val="002060"/>
                </a:solidFill>
                <a:latin typeface="Times New Roman" panose="02020603050405020304" pitchFamily="18" charset="0"/>
                <a:cs typeface="Times New Roman" panose="02020603050405020304" pitchFamily="18" charset="0"/>
              </a:rPr>
              <a:t>train_test_split</a:t>
            </a:r>
            <a:endParaRPr lang="en-US" altLang="zh-CN" sz="1600" dirty="0">
              <a:solidFill>
                <a:srgbClr val="002060"/>
              </a:solidFill>
              <a:latin typeface="Times New Roman" panose="02020603050405020304" pitchFamily="18" charset="0"/>
              <a:cs typeface="Times New Roman" panose="02020603050405020304" pitchFamily="18" charset="0"/>
            </a:endParaRPr>
          </a:p>
          <a:p>
            <a:pPr marL="486000" lvl="2" indent="0">
              <a:lnSpc>
                <a:spcPct val="1000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from </a:t>
            </a:r>
            <a:r>
              <a:rPr lang="en-US" altLang="zh-CN" sz="1600" dirty="0" err="1">
                <a:solidFill>
                  <a:srgbClr val="002060"/>
                </a:solidFill>
                <a:latin typeface="Times New Roman" panose="02020603050405020304" pitchFamily="18" charset="0"/>
                <a:cs typeface="Times New Roman" panose="02020603050405020304" pitchFamily="18" charset="0"/>
              </a:rPr>
              <a:t>sklearn.neighbors</a:t>
            </a:r>
            <a:r>
              <a:rPr lang="en-US" altLang="zh-CN" sz="1600" dirty="0">
                <a:solidFill>
                  <a:srgbClr val="002060"/>
                </a:solidFill>
                <a:latin typeface="Times New Roman" panose="02020603050405020304" pitchFamily="18" charset="0"/>
                <a:cs typeface="Times New Roman" panose="02020603050405020304" pitchFamily="18" charset="0"/>
              </a:rPr>
              <a:t> import </a:t>
            </a:r>
            <a:r>
              <a:rPr lang="en-US" altLang="zh-CN" sz="1600" dirty="0" err="1">
                <a:solidFill>
                  <a:srgbClr val="002060"/>
                </a:solidFill>
                <a:latin typeface="Times New Roman" panose="02020603050405020304" pitchFamily="18" charset="0"/>
                <a:cs typeface="Times New Roman" panose="02020603050405020304" pitchFamily="18" charset="0"/>
              </a:rPr>
              <a:t>KNeighborsClassifier</a:t>
            </a:r>
            <a:endParaRPr lang="en-US" altLang="zh-CN" sz="1600" dirty="0">
              <a:solidFill>
                <a:srgbClr val="002060"/>
              </a:solidFill>
              <a:latin typeface="Times New Roman" panose="02020603050405020304" pitchFamily="18" charset="0"/>
              <a:cs typeface="Times New Roman" panose="02020603050405020304" pitchFamily="18" charset="0"/>
            </a:endParaRPr>
          </a:p>
          <a:p>
            <a:pPr marL="486000" lvl="2" indent="0">
              <a:lnSpc>
                <a:spcPct val="1000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iris=</a:t>
            </a:r>
            <a:r>
              <a:rPr lang="en-US" altLang="zh-CN" sz="1600" dirty="0" err="1">
                <a:solidFill>
                  <a:srgbClr val="002060"/>
                </a:solidFill>
                <a:latin typeface="Times New Roman" panose="02020603050405020304" pitchFamily="18" charset="0"/>
                <a:cs typeface="Times New Roman" panose="02020603050405020304" pitchFamily="18" charset="0"/>
              </a:rPr>
              <a:t>datasets.load_iris</a:t>
            </a:r>
            <a:r>
              <a:rPr lang="en-US" altLang="zh-CN" sz="1600" dirty="0">
                <a:solidFill>
                  <a:srgbClr val="002060"/>
                </a:solidFill>
                <a:latin typeface="Times New Roman" panose="02020603050405020304" pitchFamily="18" charset="0"/>
                <a:cs typeface="Times New Roman" panose="02020603050405020304" pitchFamily="18" charset="0"/>
              </a:rPr>
              <a:t>() 			    # </a:t>
            </a:r>
            <a:r>
              <a:rPr lang="zh-CN" altLang="en-US" sz="1600" dirty="0">
                <a:solidFill>
                  <a:srgbClr val="002060"/>
                </a:solidFill>
                <a:latin typeface="Times New Roman" panose="02020603050405020304" pitchFamily="18" charset="0"/>
                <a:cs typeface="Times New Roman" panose="02020603050405020304" pitchFamily="18" charset="0"/>
              </a:rPr>
              <a:t>获取鸢尾花数据集</a:t>
            </a:r>
          </a:p>
          <a:p>
            <a:pPr marL="486000" lvl="2" indent="0">
              <a:lnSpc>
                <a:spcPct val="1000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X=</a:t>
            </a:r>
            <a:r>
              <a:rPr lang="en-US" altLang="zh-CN" sz="1600" dirty="0" err="1">
                <a:solidFill>
                  <a:srgbClr val="002060"/>
                </a:solidFill>
                <a:latin typeface="Times New Roman" panose="02020603050405020304" pitchFamily="18" charset="0"/>
                <a:cs typeface="Times New Roman" panose="02020603050405020304" pitchFamily="18" charset="0"/>
              </a:rPr>
              <a:t>iris.data</a:t>
            </a:r>
            <a:r>
              <a:rPr lang="en-US" altLang="zh-CN" sz="1600" dirty="0">
                <a:solidFill>
                  <a:srgbClr val="002060"/>
                </a:solidFill>
                <a:latin typeface="Times New Roman" panose="02020603050405020304" pitchFamily="18" charset="0"/>
                <a:cs typeface="Times New Roman" panose="02020603050405020304" pitchFamily="18" charset="0"/>
              </a:rPr>
              <a:t> 				    # </a:t>
            </a:r>
            <a:r>
              <a:rPr lang="zh-CN" altLang="en-US" sz="1600" dirty="0">
                <a:solidFill>
                  <a:srgbClr val="002060"/>
                </a:solidFill>
                <a:latin typeface="Times New Roman" panose="02020603050405020304" pitchFamily="18" charset="0"/>
                <a:cs typeface="Times New Roman" panose="02020603050405020304" pitchFamily="18" charset="0"/>
              </a:rPr>
              <a:t>获取鸢尾花特征矩阵</a:t>
            </a:r>
          </a:p>
          <a:p>
            <a:pPr marL="486000" lvl="2" indent="0">
              <a:lnSpc>
                <a:spcPct val="1000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y=</a:t>
            </a:r>
            <a:r>
              <a:rPr lang="en-US" altLang="zh-CN" sz="1600" dirty="0" err="1">
                <a:solidFill>
                  <a:srgbClr val="002060"/>
                </a:solidFill>
                <a:latin typeface="Times New Roman" panose="02020603050405020304" pitchFamily="18" charset="0"/>
                <a:cs typeface="Times New Roman" panose="02020603050405020304" pitchFamily="18" charset="0"/>
              </a:rPr>
              <a:t>iris.target</a:t>
            </a:r>
            <a:r>
              <a:rPr lang="en-US" altLang="zh-CN" sz="1600" dirty="0">
                <a:solidFill>
                  <a:srgbClr val="002060"/>
                </a:solidFill>
                <a:latin typeface="Times New Roman" panose="02020603050405020304" pitchFamily="18" charset="0"/>
                <a:cs typeface="Times New Roman" panose="02020603050405020304" pitchFamily="18" charset="0"/>
              </a:rPr>
              <a:t>  				    # </a:t>
            </a:r>
            <a:r>
              <a:rPr lang="zh-CN" altLang="en-US" sz="1600" dirty="0">
                <a:solidFill>
                  <a:srgbClr val="002060"/>
                </a:solidFill>
                <a:latin typeface="Times New Roman" panose="02020603050405020304" pitchFamily="18" charset="0"/>
                <a:cs typeface="Times New Roman" panose="02020603050405020304" pitchFamily="18" charset="0"/>
              </a:rPr>
              <a:t>获取鸢尾花目标数组</a:t>
            </a:r>
          </a:p>
          <a:p>
            <a:pPr marL="486000" lvl="2" indent="0">
              <a:lnSpc>
                <a:spcPct val="100000"/>
              </a:lnSpc>
              <a:spcBef>
                <a:spcPts val="0"/>
              </a:spcBef>
              <a:buNone/>
            </a:pPr>
            <a:r>
              <a:rPr lang="en-US" altLang="zh-CN" sz="1600" dirty="0" err="1">
                <a:solidFill>
                  <a:srgbClr val="002060"/>
                </a:solidFill>
                <a:latin typeface="Times New Roman" panose="02020603050405020304" pitchFamily="18" charset="0"/>
                <a:cs typeface="Times New Roman" panose="02020603050405020304" pitchFamily="18" charset="0"/>
              </a:rPr>
              <a:t>Xtrain,Xtest,ytrain,ytest</a:t>
            </a:r>
            <a:r>
              <a:rPr lang="en-US"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err="1">
                <a:solidFill>
                  <a:srgbClr val="002060"/>
                </a:solidFill>
                <a:latin typeface="Times New Roman" panose="02020603050405020304" pitchFamily="18" charset="0"/>
                <a:cs typeface="Times New Roman" panose="02020603050405020304" pitchFamily="18" charset="0"/>
              </a:rPr>
              <a:t>train_test_split</a:t>
            </a:r>
            <a:r>
              <a:rPr lang="en-US"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err="1">
                <a:solidFill>
                  <a:srgbClr val="002060"/>
                </a:solidFill>
                <a:latin typeface="Times New Roman" panose="02020603050405020304" pitchFamily="18" charset="0"/>
                <a:cs typeface="Times New Roman" panose="02020603050405020304" pitchFamily="18" charset="0"/>
              </a:rPr>
              <a:t>X,y,random_state</a:t>
            </a:r>
            <a:r>
              <a:rPr lang="en-US" altLang="zh-CN" sz="1600" dirty="0">
                <a:solidFill>
                  <a:srgbClr val="002060"/>
                </a:solidFill>
                <a:latin typeface="Times New Roman" panose="02020603050405020304" pitchFamily="18" charset="0"/>
                <a:cs typeface="Times New Roman" panose="02020603050405020304" pitchFamily="18" charset="0"/>
              </a:rPr>
              <a:t>=0)  # </a:t>
            </a:r>
            <a:r>
              <a:rPr lang="zh-CN" altLang="en-US" sz="1600" dirty="0">
                <a:solidFill>
                  <a:srgbClr val="002060"/>
                </a:solidFill>
                <a:latin typeface="Times New Roman" panose="02020603050405020304" pitchFamily="18" charset="0"/>
                <a:cs typeface="Times New Roman" panose="02020603050405020304" pitchFamily="18" charset="0"/>
              </a:rPr>
              <a:t>分成训练集和测试集</a:t>
            </a:r>
            <a:endParaRPr lang="en-US" altLang="zh-CN" sz="1600" dirty="0">
              <a:solidFill>
                <a:srgbClr val="002060"/>
              </a:solidFill>
              <a:latin typeface="Times New Roman" panose="02020603050405020304" pitchFamily="18" charset="0"/>
              <a:cs typeface="Times New Roman" panose="02020603050405020304" pitchFamily="18" charset="0"/>
            </a:endParaRPr>
          </a:p>
          <a:p>
            <a:pPr marL="486000" lvl="2" indent="0">
              <a:lnSpc>
                <a:spcPct val="100000"/>
              </a:lnSpc>
              <a:spcBef>
                <a:spcPts val="0"/>
              </a:spcBef>
              <a:buNone/>
            </a:pPr>
            <a:r>
              <a:rPr lang="en-US" altLang="zh-CN" sz="1600" dirty="0" err="1">
                <a:solidFill>
                  <a:srgbClr val="002060"/>
                </a:solidFill>
                <a:latin typeface="Times New Roman" panose="02020603050405020304" pitchFamily="18" charset="0"/>
                <a:cs typeface="Times New Roman" panose="02020603050405020304" pitchFamily="18" charset="0"/>
              </a:rPr>
              <a:t>knn</a:t>
            </a:r>
            <a:r>
              <a:rPr lang="en-US" altLang="zh-CN" sz="1600" dirty="0">
                <a:solidFill>
                  <a:srgbClr val="002060"/>
                </a:solidFill>
                <a:latin typeface="Times New Roman" panose="02020603050405020304" pitchFamily="18" charset="0"/>
                <a:cs typeface="Times New Roman" panose="02020603050405020304" pitchFamily="18" charset="0"/>
              </a:rPr>
              <a:t> = </a:t>
            </a:r>
            <a:r>
              <a:rPr lang="en-US" altLang="zh-CN" sz="1600" dirty="0" err="1">
                <a:solidFill>
                  <a:srgbClr val="002060"/>
                </a:solidFill>
                <a:latin typeface="Times New Roman" panose="02020603050405020304" pitchFamily="18" charset="0"/>
                <a:cs typeface="Times New Roman" panose="02020603050405020304" pitchFamily="18" charset="0"/>
              </a:rPr>
              <a:t>KNeighborsClassifier</a:t>
            </a:r>
            <a:r>
              <a:rPr lang="en-US"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err="1">
                <a:solidFill>
                  <a:srgbClr val="002060"/>
                </a:solidFill>
                <a:latin typeface="Times New Roman" panose="02020603050405020304" pitchFamily="18" charset="0"/>
                <a:cs typeface="Times New Roman" panose="02020603050405020304" pitchFamily="18" charset="0"/>
              </a:rPr>
              <a:t>n_neighbors</a:t>
            </a:r>
            <a:r>
              <a:rPr lang="en-US" altLang="zh-CN" sz="1600" dirty="0">
                <a:solidFill>
                  <a:srgbClr val="002060"/>
                </a:solidFill>
                <a:latin typeface="Times New Roman" panose="02020603050405020304" pitchFamily="18" charset="0"/>
                <a:cs typeface="Times New Roman" panose="02020603050405020304" pitchFamily="18" charset="0"/>
              </a:rPr>
              <a:t>=3)   # </a:t>
            </a:r>
            <a:r>
              <a:rPr lang="zh-CN" altLang="en-US" sz="1600" dirty="0">
                <a:solidFill>
                  <a:srgbClr val="002060"/>
                </a:solidFill>
                <a:latin typeface="Times New Roman" panose="02020603050405020304" pitchFamily="18" charset="0"/>
                <a:cs typeface="Times New Roman" panose="02020603050405020304" pitchFamily="18" charset="0"/>
              </a:rPr>
              <a:t>初始化模型</a:t>
            </a:r>
          </a:p>
          <a:p>
            <a:pPr marL="486000" lvl="2" indent="0">
              <a:lnSpc>
                <a:spcPct val="100000"/>
              </a:lnSpc>
              <a:spcBef>
                <a:spcPts val="0"/>
              </a:spcBef>
              <a:buNone/>
            </a:pPr>
            <a:r>
              <a:rPr lang="en-US" altLang="zh-CN" sz="1600" dirty="0" err="1">
                <a:solidFill>
                  <a:srgbClr val="002060"/>
                </a:solidFill>
                <a:latin typeface="Times New Roman" panose="02020603050405020304" pitchFamily="18" charset="0"/>
                <a:cs typeface="Times New Roman" panose="02020603050405020304" pitchFamily="18" charset="0"/>
              </a:rPr>
              <a:t>knn.fit</a:t>
            </a:r>
            <a:r>
              <a:rPr lang="en-US"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err="1">
                <a:solidFill>
                  <a:srgbClr val="002060"/>
                </a:solidFill>
                <a:latin typeface="Times New Roman" panose="02020603050405020304" pitchFamily="18" charset="0"/>
                <a:cs typeface="Times New Roman" panose="02020603050405020304" pitchFamily="18" charset="0"/>
              </a:rPr>
              <a:t>Xtrain,ytrain</a:t>
            </a:r>
            <a:r>
              <a:rPr lang="en-US" altLang="zh-CN" sz="1600" dirty="0">
                <a:solidFill>
                  <a:srgbClr val="002060"/>
                </a:solidFill>
                <a:latin typeface="Times New Roman" panose="02020603050405020304" pitchFamily="18" charset="0"/>
                <a:cs typeface="Times New Roman" panose="02020603050405020304" pitchFamily="18" charset="0"/>
              </a:rPr>
              <a:t>)   </a:t>
            </a:r>
          </a:p>
          <a:p>
            <a:pPr marL="486000" lvl="2" indent="0">
              <a:lnSpc>
                <a:spcPct val="1000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score=</a:t>
            </a:r>
            <a:r>
              <a:rPr lang="en-US" altLang="zh-CN" sz="1600" dirty="0" err="1">
                <a:solidFill>
                  <a:srgbClr val="002060"/>
                </a:solidFill>
                <a:latin typeface="Times New Roman" panose="02020603050405020304" pitchFamily="18" charset="0"/>
                <a:cs typeface="Times New Roman" panose="02020603050405020304" pitchFamily="18" charset="0"/>
              </a:rPr>
              <a:t>knn.score</a:t>
            </a:r>
            <a:r>
              <a:rPr lang="en-US"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err="1">
                <a:solidFill>
                  <a:srgbClr val="002060"/>
                </a:solidFill>
                <a:latin typeface="Times New Roman" panose="02020603050405020304" pitchFamily="18" charset="0"/>
                <a:cs typeface="Times New Roman" panose="02020603050405020304" pitchFamily="18" charset="0"/>
              </a:rPr>
              <a:t>Xtest,ytest</a:t>
            </a:r>
            <a:r>
              <a:rPr lang="en-US" altLang="zh-CN" sz="1600" dirty="0">
                <a:solidFill>
                  <a:srgbClr val="002060"/>
                </a:solidFill>
                <a:latin typeface="Times New Roman" panose="02020603050405020304" pitchFamily="18" charset="0"/>
                <a:cs typeface="Times New Roman" panose="02020603050405020304" pitchFamily="18" charset="0"/>
              </a:rPr>
              <a:t>)	                 # </a:t>
            </a:r>
            <a:r>
              <a:rPr lang="zh-CN" altLang="en-US" sz="1600" dirty="0">
                <a:solidFill>
                  <a:srgbClr val="002060"/>
                </a:solidFill>
                <a:latin typeface="Times New Roman" panose="02020603050405020304" pitchFamily="18" charset="0"/>
                <a:cs typeface="Times New Roman" panose="02020603050405020304" pitchFamily="18" charset="0"/>
              </a:rPr>
              <a:t>测试模型</a:t>
            </a:r>
          </a:p>
          <a:p>
            <a:pPr marL="486000" lvl="2" indent="0">
              <a:lnSpc>
                <a:spcPct val="1000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print("</a:t>
            </a:r>
            <a:r>
              <a:rPr lang="zh-CN" altLang="en-US" sz="1600" dirty="0">
                <a:solidFill>
                  <a:srgbClr val="002060"/>
                </a:solidFill>
                <a:latin typeface="Times New Roman" panose="02020603050405020304" pitchFamily="18" charset="0"/>
                <a:cs typeface="Times New Roman" panose="02020603050405020304" pitchFamily="18" charset="0"/>
              </a:rPr>
              <a:t>准确率：</a:t>
            </a:r>
            <a:r>
              <a:rPr lang="en-US" altLang="zh-CN" sz="1600" dirty="0">
                <a:solidFill>
                  <a:srgbClr val="002060"/>
                </a:solidFill>
                <a:latin typeface="Times New Roman" panose="02020603050405020304" pitchFamily="18" charset="0"/>
                <a:cs typeface="Times New Roman" panose="02020603050405020304" pitchFamily="18" charset="0"/>
              </a:rPr>
              <a:t>",score)				</a:t>
            </a:r>
          </a:p>
          <a:p>
            <a:pPr marL="486000" lvl="2" indent="0">
              <a:lnSpc>
                <a:spcPct val="100000"/>
              </a:lnSpc>
              <a:spcBef>
                <a:spcPts val="0"/>
              </a:spcBef>
              <a:buNone/>
            </a:pPr>
            <a:r>
              <a:rPr lang="en-US" altLang="zh-CN" sz="1600" dirty="0" err="1">
                <a:solidFill>
                  <a:srgbClr val="002060"/>
                </a:solidFill>
                <a:latin typeface="Times New Roman" panose="02020603050405020304" pitchFamily="18" charset="0"/>
                <a:cs typeface="Times New Roman" panose="02020603050405020304" pitchFamily="18" charset="0"/>
              </a:rPr>
              <a:t>y_sample</a:t>
            </a:r>
            <a:r>
              <a:rPr lang="en-US"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err="1">
                <a:solidFill>
                  <a:srgbClr val="002060"/>
                </a:solidFill>
                <a:latin typeface="Times New Roman" panose="02020603050405020304" pitchFamily="18" charset="0"/>
                <a:cs typeface="Times New Roman" panose="02020603050405020304" pitchFamily="18" charset="0"/>
              </a:rPr>
              <a:t>knn.predict</a:t>
            </a:r>
            <a:r>
              <a:rPr lang="en-US" altLang="zh-CN" sz="1600" dirty="0">
                <a:solidFill>
                  <a:srgbClr val="002060"/>
                </a:solidFill>
                <a:latin typeface="Times New Roman" panose="02020603050405020304" pitchFamily="18" charset="0"/>
                <a:cs typeface="Times New Roman" panose="02020603050405020304" pitchFamily="18" charset="0"/>
              </a:rPr>
              <a:t>([[4,3,5,3]])		    # </a:t>
            </a:r>
            <a:r>
              <a:rPr lang="zh-CN" altLang="en-US" sz="1600" dirty="0">
                <a:solidFill>
                  <a:srgbClr val="002060"/>
                </a:solidFill>
                <a:latin typeface="Times New Roman" panose="02020603050405020304" pitchFamily="18" charset="0"/>
                <a:cs typeface="Times New Roman" panose="02020603050405020304" pitchFamily="18" charset="0"/>
              </a:rPr>
              <a:t>进行预测</a:t>
            </a:r>
          </a:p>
          <a:p>
            <a:pPr marL="486000" lvl="2" indent="0">
              <a:lnSpc>
                <a:spcPct val="1000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print("</a:t>
            </a:r>
            <a:r>
              <a:rPr lang="zh-CN" altLang="en-US" sz="1600" dirty="0">
                <a:solidFill>
                  <a:srgbClr val="002060"/>
                </a:solidFill>
                <a:latin typeface="Times New Roman" panose="02020603050405020304" pitchFamily="18" charset="0"/>
                <a:cs typeface="Times New Roman" panose="02020603050405020304" pitchFamily="18" charset="0"/>
              </a:rPr>
              <a:t>预测结果：</a:t>
            </a:r>
            <a:r>
              <a:rPr lang="en-US"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err="1">
                <a:solidFill>
                  <a:srgbClr val="002060"/>
                </a:solidFill>
                <a:latin typeface="Times New Roman" panose="02020603050405020304" pitchFamily="18" charset="0"/>
                <a:cs typeface="Times New Roman" panose="02020603050405020304" pitchFamily="18" charset="0"/>
              </a:rPr>
              <a:t>y_sample</a:t>
            </a:r>
            <a:r>
              <a:rPr lang="en-US" altLang="zh-CN" sz="1600" dirty="0">
                <a:solidFill>
                  <a:srgbClr val="002060"/>
                </a:solidFill>
                <a:latin typeface="Times New Roman" panose="02020603050405020304" pitchFamily="18" charset="0"/>
                <a:cs typeface="Times New Roman" panose="02020603050405020304" pitchFamily="18" charset="0"/>
              </a:rPr>
              <a:t>)</a:t>
            </a:r>
            <a:r>
              <a:rPr lang="zh-CN" altLang="en-US" sz="18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18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endParaRPr>
          </a:p>
          <a:p>
            <a:pPr marL="0" indent="0">
              <a:lnSpc>
                <a:spcPct val="150000"/>
              </a:lnSpc>
              <a:spcBef>
                <a:spcPts val="0"/>
              </a:spcBef>
              <a:buNone/>
            </a:pPr>
            <a:r>
              <a:rPr lang="en-US" altLang="zh-CN" sz="18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1800" dirty="0">
              <a:solidFill>
                <a:srgbClr val="000066"/>
              </a:solidFill>
              <a:latin typeface="Times New Roman" panose="02020603050405020304" pitchFamily="18" charset="0"/>
              <a:cs typeface="Times New Roman" panose="02020603050405020304" pitchFamily="18" charset="0"/>
            </a:endParaRPr>
          </a:p>
        </p:txBody>
      </p:sp>
      <p:sp>
        <p:nvSpPr>
          <p:cNvPr id="13" name="文本框 12">
            <a:extLst>
              <a:ext uri="{FF2B5EF4-FFF2-40B4-BE49-F238E27FC236}">
                <a16:creationId xmlns:a16="http://schemas.microsoft.com/office/drawing/2014/main" id="{955BF2F7-0B59-468C-AD09-6B7E91632214}"/>
              </a:ext>
            </a:extLst>
          </p:cNvPr>
          <p:cNvSpPr txBox="1"/>
          <p:nvPr/>
        </p:nvSpPr>
        <p:spPr>
          <a:xfrm>
            <a:off x="40180" y="3164546"/>
            <a:ext cx="1005403" cy="365091"/>
          </a:xfrm>
          <a:prstGeom prst="rect">
            <a:avLst/>
          </a:prstGeom>
          <a:noFill/>
          <a:ln w="19050">
            <a:solidFill>
              <a:srgbClr val="000066"/>
            </a:solidFill>
          </a:ln>
        </p:spPr>
        <p:txBody>
          <a:bodyPr wrap="none" tIns="72000" rtlCol="0">
            <a:spAutoFit/>
          </a:bodyPr>
          <a:lstStyle/>
          <a:p>
            <a:r>
              <a:rPr lang="zh-CN" altLang="en-US" sz="1600">
                <a:solidFill>
                  <a:srgbClr val="000066"/>
                </a:solidFill>
                <a:latin typeface="微软雅黑" panose="020B0503020204020204" pitchFamily="34" charset="-122"/>
                <a:ea typeface="微软雅黑" panose="020B0503020204020204" pitchFamily="34" charset="-122"/>
              </a:rPr>
              <a:t>训练模型</a:t>
            </a:r>
          </a:p>
        </p:txBody>
      </p:sp>
      <p:sp>
        <p:nvSpPr>
          <p:cNvPr id="25" name="文本框 24">
            <a:extLst>
              <a:ext uri="{FF2B5EF4-FFF2-40B4-BE49-F238E27FC236}">
                <a16:creationId xmlns:a16="http://schemas.microsoft.com/office/drawing/2014/main" id="{D0B6DB1B-8F18-4441-876B-181CE8503FF7}"/>
              </a:ext>
            </a:extLst>
          </p:cNvPr>
          <p:cNvSpPr txBox="1"/>
          <p:nvPr/>
        </p:nvSpPr>
        <p:spPr>
          <a:xfrm>
            <a:off x="36528" y="3703704"/>
            <a:ext cx="1005403" cy="365091"/>
          </a:xfrm>
          <a:prstGeom prst="rect">
            <a:avLst/>
          </a:prstGeom>
          <a:solidFill>
            <a:schemeClr val="bg1"/>
          </a:solidFill>
          <a:ln w="19050">
            <a:solidFill>
              <a:srgbClr val="000066"/>
            </a:solidFill>
          </a:ln>
        </p:spPr>
        <p:txBody>
          <a:bodyPr wrap="none" tIns="72000" rtlCol="0">
            <a:spAutoFit/>
          </a:bodyPr>
          <a:lstStyle/>
          <a:p>
            <a:r>
              <a:rPr lang="zh-CN" altLang="en-US" sz="1600">
                <a:solidFill>
                  <a:srgbClr val="000066"/>
                </a:solidFill>
                <a:latin typeface="微软雅黑" panose="020B0503020204020204" pitchFamily="34" charset="-122"/>
                <a:ea typeface="微软雅黑" panose="020B0503020204020204" pitchFamily="34" charset="-122"/>
              </a:rPr>
              <a:t>测试模型</a:t>
            </a:r>
          </a:p>
        </p:txBody>
      </p:sp>
      <p:pic>
        <p:nvPicPr>
          <p:cNvPr id="4" name="图片 3">
            <a:extLst>
              <a:ext uri="{FF2B5EF4-FFF2-40B4-BE49-F238E27FC236}">
                <a16:creationId xmlns:a16="http://schemas.microsoft.com/office/drawing/2014/main" id="{A6A98CF5-8456-4D38-BD90-1E54D738B2C3}"/>
              </a:ext>
            </a:extLst>
          </p:cNvPr>
          <p:cNvPicPr>
            <a:picLocks noChangeAspect="1"/>
          </p:cNvPicPr>
          <p:nvPr/>
        </p:nvPicPr>
        <p:blipFill>
          <a:blip r:embed="rId3"/>
          <a:stretch>
            <a:fillRect/>
          </a:stretch>
        </p:blipFill>
        <p:spPr>
          <a:xfrm>
            <a:off x="1097805" y="4656781"/>
            <a:ext cx="2484570" cy="471979"/>
          </a:xfrm>
          <a:prstGeom prst="rect">
            <a:avLst/>
          </a:prstGeom>
        </p:spPr>
      </p:pic>
    </p:spTree>
    <p:extLst>
      <p:ext uri="{BB962C8B-B14F-4D97-AF65-F5344CB8AC3E}">
        <p14:creationId xmlns:p14="http://schemas.microsoft.com/office/powerpoint/2010/main" val="837819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58" y="986625"/>
            <a:ext cx="8136906" cy="4156875"/>
          </a:xfrm>
        </p:spPr>
        <p:txBody>
          <a:bodyPr>
            <a:noAutofit/>
          </a:bodyPr>
          <a:lstStyle/>
          <a:p>
            <a:pPr marL="486000" lvl="2" indent="0">
              <a:lnSpc>
                <a:spcPct val="125000"/>
              </a:lnSpc>
              <a:spcBef>
                <a:spcPts val="0"/>
              </a:spcBef>
              <a:buNone/>
            </a:pPr>
            <a:r>
              <a:rPr lang="zh-CN" altLang="en-US" sz="1800">
                <a:solidFill>
                  <a:srgbClr val="000066"/>
                </a:solidFill>
                <a:latin typeface="Times New Roman" panose="02020603050405020304" pitchFamily="18" charset="0"/>
                <a:cs typeface="Times New Roman" panose="02020603050405020304" pitchFamily="18" charset="0"/>
              </a:rPr>
              <a:t>导  </a:t>
            </a:r>
            <a:r>
              <a:rPr lang="zh-CN" altLang="en-US" sz="1800">
                <a:solidFill>
                  <a:srgbClr val="002060"/>
                </a:solidFill>
                <a:latin typeface="Times New Roman" panose="02020603050405020304" pitchFamily="18" charset="0"/>
                <a:cs typeface="Times New Roman" panose="02020603050405020304" pitchFamily="18" charset="0"/>
              </a:rPr>
              <a:t>入  库：</a:t>
            </a:r>
            <a:r>
              <a:rPr lang="en-US" altLang="zh-CN" sz="1800">
                <a:solidFill>
                  <a:srgbClr val="002060"/>
                </a:solidFill>
                <a:latin typeface="Times New Roman" panose="02020603050405020304" pitchFamily="18" charset="0"/>
                <a:cs typeface="Times New Roman" panose="02020603050405020304" pitchFamily="18" charset="0"/>
              </a:rPr>
              <a:t>from sklearn import datasets</a:t>
            </a:r>
          </a:p>
          <a:p>
            <a:pPr marL="486000" lvl="2" indent="0">
              <a:lnSpc>
                <a:spcPct val="125000"/>
              </a:lnSpc>
              <a:spcBef>
                <a:spcPts val="0"/>
              </a:spcBef>
              <a:buNone/>
            </a:pPr>
            <a:r>
              <a:rPr lang="en-US" altLang="zh-CN" sz="1800">
                <a:solidFill>
                  <a:srgbClr val="002060"/>
                </a:solidFill>
                <a:latin typeface="Times New Roman" panose="02020603050405020304" pitchFamily="18" charset="0"/>
                <a:cs typeface="Times New Roman" panose="02020603050405020304" pitchFamily="18" charset="0"/>
              </a:rPr>
              <a:t>                         </a:t>
            </a:r>
            <a:r>
              <a:rPr lang="zh-CN" altLang="en-US" sz="1800">
                <a:solidFill>
                  <a:srgbClr val="002060"/>
                </a:solidFill>
                <a:latin typeface="Times New Roman" panose="02020603050405020304" pitchFamily="18" charset="0"/>
                <a:cs typeface="Times New Roman" panose="02020603050405020304" pitchFamily="18" charset="0"/>
              </a:rPr>
              <a:t>从</a:t>
            </a:r>
            <a:r>
              <a:rPr lang="en-US" altLang="zh-CN" sz="1800">
                <a:solidFill>
                  <a:srgbClr val="002060"/>
                </a:solidFill>
                <a:latin typeface="Times New Roman" panose="02020603050405020304" pitchFamily="18" charset="0"/>
                <a:cs typeface="Times New Roman" panose="02020603050405020304" pitchFamily="18" charset="0"/>
              </a:rPr>
              <a:t>sklearn</a:t>
            </a:r>
            <a:r>
              <a:rPr lang="zh-CN" altLang="en-US" sz="1800">
                <a:solidFill>
                  <a:srgbClr val="002060"/>
                </a:solidFill>
                <a:latin typeface="Times New Roman" panose="02020603050405020304" pitchFamily="18" charset="0"/>
                <a:cs typeface="Times New Roman" panose="02020603050405020304" pitchFamily="18" charset="0"/>
              </a:rPr>
              <a:t>导入数据集</a:t>
            </a:r>
            <a:endParaRPr lang="en-US" altLang="zh-CN" sz="1800">
              <a:solidFill>
                <a:srgbClr val="002060"/>
              </a:solidFill>
              <a:latin typeface="Times New Roman" panose="02020603050405020304" pitchFamily="18" charset="0"/>
              <a:cs typeface="Times New Roman" panose="02020603050405020304" pitchFamily="18" charset="0"/>
            </a:endParaRPr>
          </a:p>
          <a:p>
            <a:pPr marL="486000" lvl="2" indent="0">
              <a:lnSpc>
                <a:spcPct val="125000"/>
              </a:lnSpc>
              <a:spcBef>
                <a:spcPts val="0"/>
              </a:spcBef>
              <a:buNone/>
            </a:pPr>
            <a:r>
              <a:rPr lang="en-US" altLang="zh-CN" sz="1800">
                <a:solidFill>
                  <a:srgbClr val="002060"/>
                </a:solidFill>
                <a:latin typeface="Times New Roman" panose="02020603050405020304" pitchFamily="18" charset="0"/>
                <a:cs typeface="Times New Roman" panose="02020603050405020304" pitchFamily="18" charset="0"/>
              </a:rPr>
              <a:t>                    from sklearn.model_selection import train_test_split</a:t>
            </a:r>
          </a:p>
          <a:p>
            <a:pPr marL="486000" lvl="2" indent="0">
              <a:lnSpc>
                <a:spcPct val="125000"/>
              </a:lnSpc>
              <a:spcBef>
                <a:spcPts val="0"/>
              </a:spcBef>
              <a:buNone/>
            </a:pPr>
            <a:r>
              <a:rPr lang="zh-CN" altLang="en-US" sz="1800">
                <a:solidFill>
                  <a:srgbClr val="002060"/>
                </a:solidFill>
                <a:latin typeface="Times New Roman" panose="02020603050405020304" pitchFamily="18" charset="0"/>
                <a:cs typeface="Times New Roman" panose="02020603050405020304" pitchFamily="18" charset="0"/>
              </a:rPr>
              <a:t>                         从</a:t>
            </a:r>
            <a:r>
              <a:rPr lang="en-US" altLang="zh-CN" sz="1800">
                <a:solidFill>
                  <a:srgbClr val="002060"/>
                </a:solidFill>
                <a:latin typeface="Times New Roman" panose="02020603050405020304" pitchFamily="18" charset="0"/>
                <a:cs typeface="Times New Roman" panose="02020603050405020304" pitchFamily="18" charset="0"/>
              </a:rPr>
              <a:t>sklearn</a:t>
            </a:r>
            <a:r>
              <a:rPr lang="zh-CN" altLang="en-US" sz="1800">
                <a:solidFill>
                  <a:srgbClr val="002060"/>
                </a:solidFill>
                <a:latin typeface="Times New Roman" panose="02020603050405020304" pitchFamily="18" charset="0"/>
                <a:cs typeface="Times New Roman" panose="02020603050405020304" pitchFamily="18" charset="0"/>
              </a:rPr>
              <a:t>中的</a:t>
            </a:r>
            <a:r>
              <a:rPr lang="en-US" altLang="zh-CN" sz="1800">
                <a:solidFill>
                  <a:srgbClr val="002060"/>
                </a:solidFill>
                <a:latin typeface="Times New Roman" panose="02020603050405020304" pitchFamily="18" charset="0"/>
                <a:cs typeface="Times New Roman" panose="02020603050405020304" pitchFamily="18" charset="0"/>
              </a:rPr>
              <a:t>model_selection</a:t>
            </a:r>
            <a:r>
              <a:rPr lang="zh-CN" altLang="en-US" sz="1800">
                <a:solidFill>
                  <a:srgbClr val="002060"/>
                </a:solidFill>
                <a:latin typeface="Times New Roman" panose="02020603050405020304" pitchFamily="18" charset="0"/>
                <a:cs typeface="Times New Roman" panose="02020603050405020304" pitchFamily="18" charset="0"/>
              </a:rPr>
              <a:t>模块导入</a:t>
            </a:r>
            <a:r>
              <a:rPr lang="en-US" altLang="zh-CN" sz="1800">
                <a:solidFill>
                  <a:srgbClr val="002060"/>
                </a:solidFill>
                <a:latin typeface="Times New Roman" panose="02020603050405020304" pitchFamily="18" charset="0"/>
                <a:cs typeface="Times New Roman" panose="02020603050405020304" pitchFamily="18" charset="0"/>
              </a:rPr>
              <a:t>train_test_split </a:t>
            </a:r>
          </a:p>
          <a:p>
            <a:pPr marL="486000" lvl="2" indent="0">
              <a:lnSpc>
                <a:spcPct val="125000"/>
              </a:lnSpc>
              <a:spcBef>
                <a:spcPts val="0"/>
              </a:spcBef>
              <a:buNone/>
            </a:pPr>
            <a:r>
              <a:rPr lang="en-US" altLang="zh-CN" sz="1800">
                <a:solidFill>
                  <a:srgbClr val="002060"/>
                </a:solidFill>
                <a:latin typeface="Times New Roman" panose="02020603050405020304" pitchFamily="18" charset="0"/>
                <a:cs typeface="Times New Roman" panose="02020603050405020304" pitchFamily="18" charset="0"/>
              </a:rPr>
              <a:t>                    from sklearn.neighbors import KNeighborsClassifier</a:t>
            </a:r>
          </a:p>
          <a:p>
            <a:pPr marL="486000" lvl="2" indent="0">
              <a:lnSpc>
                <a:spcPct val="125000"/>
              </a:lnSpc>
              <a:spcBef>
                <a:spcPts val="0"/>
              </a:spcBef>
              <a:buNone/>
            </a:pPr>
            <a:r>
              <a:rPr lang="en-US" altLang="zh-CN" sz="1800">
                <a:solidFill>
                  <a:srgbClr val="002060"/>
                </a:solidFill>
                <a:latin typeface="Times New Roman" panose="02020603050405020304" pitchFamily="18" charset="0"/>
                <a:cs typeface="Times New Roman" panose="02020603050405020304" pitchFamily="18" charset="0"/>
              </a:rPr>
              <a:t>                         </a:t>
            </a:r>
            <a:r>
              <a:rPr lang="zh-CN" altLang="en-US" sz="1800">
                <a:solidFill>
                  <a:srgbClr val="002060"/>
                </a:solidFill>
                <a:latin typeface="Times New Roman" panose="02020603050405020304" pitchFamily="18" charset="0"/>
                <a:cs typeface="Times New Roman" panose="02020603050405020304" pitchFamily="18" charset="0"/>
              </a:rPr>
              <a:t>从</a:t>
            </a:r>
            <a:r>
              <a:rPr lang="en-US" altLang="zh-CN" sz="1800">
                <a:solidFill>
                  <a:srgbClr val="002060"/>
                </a:solidFill>
                <a:latin typeface="Times New Roman" panose="02020603050405020304" pitchFamily="18" charset="0"/>
                <a:cs typeface="Times New Roman" panose="02020603050405020304" pitchFamily="18" charset="0"/>
              </a:rPr>
              <a:t>sklearn.neighbors</a:t>
            </a:r>
            <a:r>
              <a:rPr lang="zh-CN" altLang="en-US" sz="1800">
                <a:solidFill>
                  <a:srgbClr val="002060"/>
                </a:solidFill>
                <a:latin typeface="Times New Roman" panose="02020603050405020304" pitchFamily="18" charset="0"/>
                <a:cs typeface="Times New Roman" panose="02020603050405020304" pitchFamily="18" charset="0"/>
              </a:rPr>
              <a:t>模块导入</a:t>
            </a:r>
            <a:r>
              <a:rPr lang="en-US" altLang="zh-CN" sz="1800">
                <a:solidFill>
                  <a:srgbClr val="002060"/>
                </a:solidFill>
                <a:latin typeface="Times New Roman" panose="02020603050405020304" pitchFamily="18" charset="0"/>
                <a:cs typeface="Times New Roman" panose="02020603050405020304" pitchFamily="18" charset="0"/>
              </a:rPr>
              <a:t>KNeighborsClassifier</a:t>
            </a:r>
            <a:r>
              <a:rPr lang="zh-CN" altLang="en-US" sz="1800">
                <a:solidFill>
                  <a:srgbClr val="002060"/>
                </a:solidFill>
                <a:latin typeface="Times New Roman" panose="02020603050405020304" pitchFamily="18" charset="0"/>
                <a:cs typeface="Times New Roman" panose="02020603050405020304" pitchFamily="18" charset="0"/>
              </a:rPr>
              <a:t>库</a:t>
            </a:r>
            <a:endParaRPr lang="en-US" altLang="zh-CN" sz="1800">
              <a:solidFill>
                <a:srgbClr val="002060"/>
              </a:solidFill>
              <a:latin typeface="Times New Roman" panose="02020603050405020304" pitchFamily="18" charset="0"/>
              <a:cs typeface="Times New Roman" panose="02020603050405020304" pitchFamily="18" charset="0"/>
            </a:endParaRPr>
          </a:p>
          <a:p>
            <a:pPr marL="486000" lvl="2" indent="0">
              <a:lnSpc>
                <a:spcPct val="125000"/>
              </a:lnSpc>
              <a:spcBef>
                <a:spcPts val="0"/>
              </a:spcBef>
              <a:buNone/>
            </a:pPr>
            <a:r>
              <a:rPr lang="zh-CN" altLang="en-US" sz="1800">
                <a:solidFill>
                  <a:srgbClr val="002060"/>
                </a:solidFill>
                <a:latin typeface="Times New Roman" panose="02020603050405020304" pitchFamily="18" charset="0"/>
                <a:cs typeface="Times New Roman" panose="02020603050405020304" pitchFamily="18" charset="0"/>
              </a:rPr>
              <a:t>整理数据：</a:t>
            </a:r>
            <a:r>
              <a:rPr lang="en-US" altLang="zh-CN" sz="1800">
                <a:solidFill>
                  <a:srgbClr val="002060"/>
                </a:solidFill>
                <a:latin typeface="Times New Roman" panose="02020603050405020304" pitchFamily="18" charset="0"/>
                <a:cs typeface="Times New Roman" panose="02020603050405020304" pitchFamily="18" charset="0"/>
              </a:rPr>
              <a:t>iris=datasets.load_iris()    	         </a:t>
            </a:r>
            <a:r>
              <a:rPr lang="zh-CN" altLang="en-US" sz="1800">
                <a:solidFill>
                  <a:srgbClr val="002060"/>
                </a:solidFill>
                <a:latin typeface="Times New Roman" panose="02020603050405020304" pitchFamily="18" charset="0"/>
                <a:cs typeface="Times New Roman" panose="02020603050405020304" pitchFamily="18" charset="0"/>
              </a:rPr>
              <a:t>加载鸢尾花数据集</a:t>
            </a:r>
          </a:p>
          <a:p>
            <a:pPr marL="486000" lvl="2" indent="0">
              <a:lnSpc>
                <a:spcPct val="125000"/>
              </a:lnSpc>
              <a:spcBef>
                <a:spcPts val="0"/>
              </a:spcBef>
              <a:buNone/>
            </a:pPr>
            <a:r>
              <a:rPr lang="en-US" altLang="zh-CN" sz="1800">
                <a:solidFill>
                  <a:srgbClr val="002060"/>
                </a:solidFill>
                <a:latin typeface="Times New Roman" panose="02020603050405020304" pitchFamily="18" charset="0"/>
                <a:cs typeface="Times New Roman" panose="02020603050405020304" pitchFamily="18" charset="0"/>
              </a:rPr>
              <a:t>                    X=iris.data 			         </a:t>
            </a:r>
            <a:r>
              <a:rPr lang="zh-CN" altLang="en-US" sz="1800">
                <a:solidFill>
                  <a:srgbClr val="002060"/>
                </a:solidFill>
                <a:latin typeface="Times New Roman" panose="02020603050405020304" pitchFamily="18" charset="0"/>
                <a:cs typeface="Times New Roman" panose="02020603050405020304" pitchFamily="18" charset="0"/>
              </a:rPr>
              <a:t>获取鸢尾花特征矩阵</a:t>
            </a:r>
          </a:p>
          <a:p>
            <a:pPr marL="486000" lvl="2" indent="0">
              <a:lnSpc>
                <a:spcPct val="125000"/>
              </a:lnSpc>
              <a:spcBef>
                <a:spcPts val="0"/>
              </a:spcBef>
              <a:buNone/>
            </a:pPr>
            <a:r>
              <a:rPr lang="en-US" altLang="zh-CN" sz="1800">
                <a:solidFill>
                  <a:srgbClr val="002060"/>
                </a:solidFill>
                <a:latin typeface="Times New Roman" panose="02020603050405020304" pitchFamily="18" charset="0"/>
                <a:cs typeface="Times New Roman" panose="02020603050405020304" pitchFamily="18" charset="0"/>
              </a:rPr>
              <a:t>		     y=iris.target        </a:t>
            </a:r>
            <a:r>
              <a:rPr lang="zh-CN" altLang="en-US" sz="1800">
                <a:solidFill>
                  <a:srgbClr val="002060"/>
                </a:solidFill>
                <a:latin typeface="Times New Roman" panose="02020603050405020304" pitchFamily="18" charset="0"/>
                <a:cs typeface="Times New Roman" panose="02020603050405020304" pitchFamily="18" charset="0"/>
              </a:rPr>
              <a:t>                         获取鸢尾花特征矩阵</a:t>
            </a:r>
            <a:endParaRPr lang="en-US" altLang="zh-CN" sz="1800">
              <a:solidFill>
                <a:srgbClr val="002060"/>
              </a:solidFill>
              <a:latin typeface="Times New Roman" panose="02020603050405020304" pitchFamily="18" charset="0"/>
              <a:cs typeface="Times New Roman" panose="02020603050405020304" pitchFamily="18" charset="0"/>
            </a:endParaRPr>
          </a:p>
          <a:p>
            <a:pPr marL="486000" lvl="2" indent="0">
              <a:lnSpc>
                <a:spcPct val="125000"/>
              </a:lnSpc>
              <a:spcBef>
                <a:spcPts val="0"/>
              </a:spcBef>
              <a:buNone/>
            </a:pPr>
            <a:r>
              <a:rPr lang="en-US" altLang="zh-CN" sz="1800">
                <a:solidFill>
                  <a:srgbClr val="002060"/>
                </a:solidFill>
                <a:latin typeface="Times New Roman" panose="02020603050405020304" pitchFamily="18" charset="0"/>
                <a:cs typeface="Times New Roman" panose="02020603050405020304" pitchFamily="18" charset="0"/>
              </a:rPr>
              <a:t>                    Xtrain, Xtest,  ytrain,  ytest=train_test_split(</a:t>
            </a:r>
            <a:r>
              <a:rPr lang="en-US" altLang="zh-CN" sz="1800" u="sng">
                <a:solidFill>
                  <a:srgbClr val="C00000"/>
                </a:solidFill>
                <a:latin typeface="Times New Roman" panose="02020603050405020304" pitchFamily="18" charset="0"/>
                <a:cs typeface="Times New Roman" panose="02020603050405020304" pitchFamily="18" charset="0"/>
              </a:rPr>
              <a:t>X,y</a:t>
            </a:r>
            <a:r>
              <a:rPr lang="en-US" altLang="zh-CN" sz="1800">
                <a:solidFill>
                  <a:srgbClr val="002060"/>
                </a:solidFill>
                <a:latin typeface="Times New Roman" panose="02020603050405020304" pitchFamily="18" charset="0"/>
                <a:cs typeface="Times New Roman" panose="02020603050405020304" pitchFamily="18" charset="0"/>
              </a:rPr>
              <a:t>,random_state=0)</a:t>
            </a:r>
          </a:p>
          <a:p>
            <a:pPr marL="486000" lvl="2" indent="0">
              <a:lnSpc>
                <a:spcPts val="1800"/>
              </a:lnSpc>
              <a:spcBef>
                <a:spcPts val="0"/>
              </a:spcBef>
              <a:buNone/>
            </a:pPr>
            <a:r>
              <a:rPr lang="zh-CN" altLang="en-US" sz="1400">
                <a:solidFill>
                  <a:srgbClr val="C00000"/>
                </a:solidFill>
                <a:latin typeface="Times New Roman" panose="02020603050405020304" pitchFamily="18" charset="0"/>
                <a:cs typeface="Times New Roman" panose="02020603050405020304" pitchFamily="18" charset="0"/>
              </a:rPr>
              <a:t>                          训练集   测试集   训练集    测试集           把</a:t>
            </a:r>
            <a:r>
              <a:rPr lang="en-US" altLang="zh-CN" sz="1400">
                <a:solidFill>
                  <a:srgbClr val="C00000"/>
                </a:solidFill>
                <a:latin typeface="Times New Roman" panose="02020603050405020304" pitchFamily="18" charset="0"/>
                <a:cs typeface="Times New Roman" panose="02020603050405020304" pitchFamily="18" charset="0"/>
              </a:rPr>
              <a:t>(X,y)</a:t>
            </a:r>
            <a:r>
              <a:rPr lang="zh-CN" altLang="en-US" sz="1400">
                <a:solidFill>
                  <a:srgbClr val="C00000"/>
                </a:solidFill>
                <a:latin typeface="Times New Roman" panose="02020603050405020304" pitchFamily="18" charset="0"/>
                <a:cs typeface="Times New Roman" panose="02020603050405020304" pitchFamily="18" charset="0"/>
              </a:rPr>
              <a:t>切分成训练集和测试集体</a:t>
            </a:r>
            <a:endParaRPr lang="en-US" altLang="zh-CN" sz="1400">
              <a:solidFill>
                <a:srgbClr val="C00000"/>
              </a:solidFill>
              <a:latin typeface="Times New Roman" panose="02020603050405020304" pitchFamily="18" charset="0"/>
              <a:cs typeface="Times New Roman" panose="02020603050405020304" pitchFamily="18" charset="0"/>
            </a:endParaRPr>
          </a:p>
          <a:p>
            <a:pPr marL="486000" lvl="2" indent="0">
              <a:lnSpc>
                <a:spcPts val="1800"/>
              </a:lnSpc>
              <a:spcBef>
                <a:spcPts val="0"/>
              </a:spcBef>
              <a:buNone/>
            </a:pPr>
            <a:r>
              <a:rPr lang="en-US" altLang="zh-CN" sz="1400">
                <a:solidFill>
                  <a:srgbClr val="C00000"/>
                </a:solidFill>
                <a:latin typeface="Times New Roman" panose="02020603050405020304" pitchFamily="18" charset="0"/>
                <a:cs typeface="Times New Roman" panose="02020603050405020304" pitchFamily="18" charset="0"/>
              </a:rPr>
              <a:t>                          X</a:t>
            </a:r>
            <a:r>
              <a:rPr lang="zh-CN" altLang="en-US" sz="1400">
                <a:solidFill>
                  <a:srgbClr val="C00000"/>
                </a:solidFill>
                <a:latin typeface="Times New Roman" panose="02020603050405020304" pitchFamily="18" charset="0"/>
                <a:cs typeface="Times New Roman" panose="02020603050405020304" pitchFamily="18" charset="0"/>
              </a:rPr>
              <a:t>矩阵</a:t>
            </a:r>
            <a:r>
              <a:rPr lang="en-US" altLang="zh-CN" sz="1400">
                <a:solidFill>
                  <a:srgbClr val="C00000"/>
                </a:solidFill>
                <a:latin typeface="Times New Roman" panose="02020603050405020304" pitchFamily="18" charset="0"/>
                <a:cs typeface="Times New Roman" panose="02020603050405020304" pitchFamily="18" charset="0"/>
              </a:rPr>
              <a:t>     X</a:t>
            </a:r>
            <a:r>
              <a:rPr lang="zh-CN" altLang="en-US" sz="1400">
                <a:solidFill>
                  <a:srgbClr val="C00000"/>
                </a:solidFill>
                <a:latin typeface="Times New Roman" panose="02020603050405020304" pitchFamily="18" charset="0"/>
                <a:cs typeface="Times New Roman" panose="02020603050405020304" pitchFamily="18" charset="0"/>
              </a:rPr>
              <a:t>矩阵 目标数组 目标数组                    </a:t>
            </a:r>
            <a:r>
              <a:rPr lang="zh-CN" altLang="en-US" sz="1400">
                <a:solidFill>
                  <a:srgbClr val="000066"/>
                </a:solidFill>
                <a:latin typeface="Times New Roman" panose="02020603050405020304" pitchFamily="18" charset="0"/>
                <a:cs typeface="Times New Roman" panose="02020603050405020304" pitchFamily="18" charset="0"/>
              </a:rPr>
              <a:t>按默认比例</a:t>
            </a:r>
            <a:r>
              <a:rPr lang="en-US" altLang="zh-CN" sz="1400">
                <a:solidFill>
                  <a:srgbClr val="000066"/>
                </a:solidFill>
                <a:latin typeface="Times New Roman" panose="02020603050405020304" pitchFamily="18" charset="0"/>
                <a:cs typeface="Times New Roman" panose="02020603050405020304" pitchFamily="18" charset="0"/>
              </a:rPr>
              <a:t>75:25</a:t>
            </a:r>
            <a:endParaRPr lang="zh-CN" altLang="en-US" sz="1400">
              <a:solidFill>
                <a:srgbClr val="000066"/>
              </a:solidFill>
              <a:latin typeface="Times New Roman" panose="02020603050405020304" pitchFamily="18" charset="0"/>
              <a:cs typeface="Times New Roman" panose="02020603050405020304" pitchFamily="18" charset="0"/>
            </a:endParaRPr>
          </a:p>
          <a:p>
            <a:pPr marL="486000" lvl="2" indent="0">
              <a:lnSpc>
                <a:spcPct val="125000"/>
              </a:lnSpc>
              <a:spcBef>
                <a:spcPts val="0"/>
              </a:spcBef>
              <a:buNone/>
            </a:pPr>
            <a:endParaRPr lang="en-US" altLang="zh-CN" sz="1800">
              <a:solidFill>
                <a:srgbClr val="002060"/>
              </a:solidFill>
              <a:latin typeface="Times New Roman" panose="02020603050405020304" pitchFamily="18" charset="0"/>
              <a:cs typeface="Times New Roman" panose="02020603050405020304" pitchFamily="18" charset="0"/>
            </a:endParaRPr>
          </a:p>
          <a:p>
            <a:pPr marL="486000" lvl="2" indent="0">
              <a:lnSpc>
                <a:spcPct val="100000"/>
              </a:lnSpc>
              <a:spcBef>
                <a:spcPts val="0"/>
              </a:spcBef>
              <a:buNone/>
            </a:pPr>
            <a:r>
              <a:rPr lang="en-US" altLang="zh-CN" sz="1600">
                <a:solidFill>
                  <a:srgbClr val="002060"/>
                </a:solidFill>
                <a:latin typeface="Times New Roman" panose="02020603050405020304" pitchFamily="18" charset="0"/>
                <a:cs typeface="Times New Roman" panose="02020603050405020304" pitchFamily="18" charset="0"/>
              </a:rPr>
              <a:t>               </a:t>
            </a:r>
            <a:endParaRPr lang="en-US" altLang="zh-CN" sz="1800" dirty="0">
              <a:solidFill>
                <a:srgbClr val="000066"/>
              </a:solidFill>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五、经典机器学习算法</a:t>
            </a:r>
            <a:endParaRPr lang="zh-CN" altLang="en-US" sz="2400" dirty="0"/>
          </a:p>
        </p:txBody>
      </p:sp>
      <p:sp>
        <p:nvSpPr>
          <p:cNvPr id="32" name="内容占位符 2">
            <a:extLst>
              <a:ext uri="{FF2B5EF4-FFF2-40B4-BE49-F238E27FC236}">
                <a16:creationId xmlns:a16="http://schemas.microsoft.com/office/drawing/2014/main" id="{BCABE5CE-16BA-41A7-95E3-581946CA7EE9}"/>
              </a:ext>
            </a:extLst>
          </p:cNvPr>
          <p:cNvSpPr txBox="1">
            <a:spLocks/>
          </p:cNvSpPr>
          <p:nvPr/>
        </p:nvSpPr>
        <p:spPr>
          <a:xfrm>
            <a:off x="611559" y="986625"/>
            <a:ext cx="7560841" cy="3817373"/>
          </a:xfrm>
          <a:prstGeom prst="rect">
            <a:avLst/>
          </a:prstGeom>
        </p:spPr>
        <p:txBody>
          <a:bodyPr vert="horz" lIns="0" tIns="45720" rIns="0" bIns="45720" rtlCol="0">
            <a:noAutofit/>
          </a:bodyPr>
          <a:lstStyle>
            <a:lvl1pPr marL="171450" indent="-171450" algn="l" defTabSz="685800" rtl="0" eaLnBrk="1" latinLnBrk="0" hangingPunct="1">
              <a:lnSpc>
                <a:spcPct val="90000"/>
              </a:lnSpc>
              <a:spcBef>
                <a:spcPts val="1350"/>
              </a:spcBef>
              <a:buFont typeface="Wingdings" panose="05000000000000000000" pitchFamily="2" charset="2"/>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450"/>
              </a:spcBef>
              <a:buFont typeface="Wingdings" panose="05000000000000000000" pitchFamily="2" charset="2"/>
              <a:buChar char="§"/>
              <a:defRPr sz="12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6pPr>
            <a:lvl7pPr marL="22288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7pPr>
            <a:lvl8pPr marL="25717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8pPr>
            <a:lvl9pPr marL="29146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9pPr>
          </a:lstStyle>
          <a:p>
            <a:pPr marL="576000" indent="0" fontAlgn="auto">
              <a:lnSpc>
                <a:spcPct val="125000"/>
              </a:lnSpc>
              <a:spcBef>
                <a:spcPts val="0"/>
              </a:spcBef>
              <a:spcAft>
                <a:spcPts val="0"/>
              </a:spcAft>
              <a:buFont typeface="Wingdings" panose="05000000000000000000" pitchFamily="2" charset="2"/>
              <a:buNone/>
            </a:pPr>
            <a:endParaRPr lang="en-US" altLang="zh-CN" sz="1800">
              <a:solidFill>
                <a:srgbClr val="002060"/>
              </a:solidFill>
              <a:latin typeface="Times New Roman" panose="02020603050405020304" pitchFamily="18" charset="0"/>
              <a:cs typeface="Times New Roman" panose="02020603050405020304" pitchFamily="18" charset="0"/>
            </a:endParaRPr>
          </a:p>
        </p:txBody>
      </p:sp>
      <p:sp>
        <p:nvSpPr>
          <p:cNvPr id="5" name="椭圆 4">
            <a:extLst>
              <a:ext uri="{FF2B5EF4-FFF2-40B4-BE49-F238E27FC236}">
                <a16:creationId xmlns:a16="http://schemas.microsoft.com/office/drawing/2014/main" id="{7A718963-D4FA-4EBD-96C2-8F948413DE01}"/>
              </a:ext>
            </a:extLst>
          </p:cNvPr>
          <p:cNvSpPr/>
          <p:nvPr/>
        </p:nvSpPr>
        <p:spPr bwMode="gray">
          <a:xfrm>
            <a:off x="6660282" y="4134543"/>
            <a:ext cx="1512118" cy="343920"/>
          </a:xfrm>
          <a:prstGeom prst="ellipse">
            <a:avLst/>
          </a:prstGeom>
          <a:noFill/>
          <a:ln w="9525">
            <a:noFill/>
            <a:miter lim="800000"/>
            <a:headEnd/>
            <a:tailEnd/>
          </a:ln>
          <a:effectLst/>
        </p:spPr>
        <p:txBody>
          <a:bodyPr wrap="none" rtlCol="0" anchor="ctr"/>
          <a:lstStyle/>
          <a:p>
            <a:pPr algn="ctr" eaLnBrk="0" hangingPunct="0"/>
            <a:endParaRPr lang="zh-CN" altLang="en-US" sz="1400" b="1" dirty="0">
              <a:latin typeface="黑体" panose="02010609060101010101" pitchFamily="49" charset="-122"/>
              <a:ea typeface="黑体" panose="02010609060101010101" pitchFamily="49" charset="-122"/>
            </a:endParaRPr>
          </a:p>
        </p:txBody>
      </p:sp>
      <p:sp>
        <p:nvSpPr>
          <p:cNvPr id="6" name="矩形 5">
            <a:extLst>
              <a:ext uri="{FF2B5EF4-FFF2-40B4-BE49-F238E27FC236}">
                <a16:creationId xmlns:a16="http://schemas.microsoft.com/office/drawing/2014/main" id="{ED1F7B87-7A83-4263-B6CB-B0A1874BF466}"/>
              </a:ext>
            </a:extLst>
          </p:cNvPr>
          <p:cNvSpPr/>
          <p:nvPr/>
        </p:nvSpPr>
        <p:spPr bwMode="gray">
          <a:xfrm>
            <a:off x="6660280" y="4184108"/>
            <a:ext cx="1512117" cy="259850"/>
          </a:xfrm>
          <a:prstGeom prst="rect">
            <a:avLst/>
          </a:prstGeom>
          <a:noFill/>
          <a:ln w="19050">
            <a:solidFill>
              <a:srgbClr val="000066"/>
            </a:solidFill>
            <a:miter lim="800000"/>
            <a:headEnd/>
            <a:tailEnd/>
          </a:ln>
          <a:effectLst/>
        </p:spPr>
        <p:txBody>
          <a:bodyPr wrap="none" rtlCol="0" anchor="ctr"/>
          <a:lstStyle/>
          <a:p>
            <a:pPr algn="ctr" eaLnBrk="0" hangingPunct="0"/>
            <a:endParaRPr lang="zh-CN" altLang="en-US" sz="1400" b="1" dirty="0">
              <a:latin typeface="黑体" panose="02010609060101010101" pitchFamily="49" charset="-122"/>
              <a:ea typeface="黑体" panose="02010609060101010101" pitchFamily="49" charset="-122"/>
            </a:endParaRPr>
          </a:p>
        </p:txBody>
      </p:sp>
      <p:sp>
        <p:nvSpPr>
          <p:cNvPr id="7" name="标注: 线形(带边框和强调线) 6">
            <a:extLst>
              <a:ext uri="{FF2B5EF4-FFF2-40B4-BE49-F238E27FC236}">
                <a16:creationId xmlns:a16="http://schemas.microsoft.com/office/drawing/2014/main" id="{093422BD-AB35-4B26-B06E-58756744A954}"/>
              </a:ext>
            </a:extLst>
          </p:cNvPr>
          <p:cNvSpPr/>
          <p:nvPr/>
        </p:nvSpPr>
        <p:spPr bwMode="gray">
          <a:xfrm>
            <a:off x="7812360" y="3487653"/>
            <a:ext cx="1178387" cy="378312"/>
          </a:xfrm>
          <a:prstGeom prst="accentBorderCallout1">
            <a:avLst>
              <a:gd name="adj1" fmla="val 18750"/>
              <a:gd name="adj2" fmla="val -8333"/>
              <a:gd name="adj3" fmla="val 183355"/>
              <a:gd name="adj4" fmla="val -35924"/>
            </a:avLst>
          </a:prstGeom>
          <a:noFill/>
          <a:ln w="9525">
            <a:solidFill>
              <a:srgbClr val="000066"/>
            </a:solidFill>
            <a:miter lim="800000"/>
            <a:headEnd/>
            <a:tailEnd/>
          </a:ln>
          <a:effectLst/>
        </p:spPr>
        <p:txBody>
          <a:bodyPr wrap="none" rtlCol="0" anchor="ctr"/>
          <a:lstStyle/>
          <a:p>
            <a:pPr algn="ctr" eaLnBrk="0" hangingPunct="0"/>
            <a:r>
              <a:rPr lang="zh-CN" altLang="en-US" sz="160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随机种子为</a:t>
            </a:r>
            <a:r>
              <a:rPr lang="en-US" altLang="zh-CN" sz="160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0</a:t>
            </a:r>
            <a:endParaRPr lang="zh-CN" altLang="en-US" sz="16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241206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59" y="986626"/>
            <a:ext cx="8352929" cy="3313316"/>
          </a:xfrm>
        </p:spPr>
        <p:txBody>
          <a:bodyPr>
            <a:noAutofit/>
          </a:bodyPr>
          <a:lstStyle/>
          <a:p>
            <a:pPr marL="486000" lvl="2" indent="0">
              <a:lnSpc>
                <a:spcPct val="125000"/>
              </a:lnSpc>
              <a:spcBef>
                <a:spcPts val="0"/>
              </a:spcBef>
              <a:buNone/>
            </a:pPr>
            <a:r>
              <a:rPr lang="zh-CN" altLang="en-US" sz="1800">
                <a:solidFill>
                  <a:srgbClr val="000066"/>
                </a:solidFill>
                <a:latin typeface="Times New Roman" panose="02020603050405020304" pitchFamily="18" charset="0"/>
                <a:cs typeface="Times New Roman" panose="02020603050405020304" pitchFamily="18" charset="0"/>
              </a:rPr>
              <a:t>训练模型</a:t>
            </a:r>
            <a:r>
              <a:rPr lang="zh-CN" altLang="en-US" sz="1800">
                <a:solidFill>
                  <a:srgbClr val="002060"/>
                </a:solidFill>
                <a:latin typeface="Times New Roman" panose="02020603050405020304" pitchFamily="18" charset="0"/>
                <a:cs typeface="Times New Roman" panose="02020603050405020304" pitchFamily="18" charset="0"/>
              </a:rPr>
              <a:t>：</a:t>
            </a:r>
            <a:r>
              <a:rPr lang="en-US" altLang="zh-CN" sz="1800">
                <a:solidFill>
                  <a:srgbClr val="002060"/>
                </a:solidFill>
                <a:latin typeface="Times New Roman" panose="02020603050405020304" pitchFamily="18" charset="0"/>
                <a:cs typeface="Times New Roman" panose="02020603050405020304" pitchFamily="18" charset="0"/>
              </a:rPr>
              <a:t>knn = KNeighborsClassifier(n_neighbors=3)    </a:t>
            </a:r>
          </a:p>
          <a:p>
            <a:pPr marL="486000" lvl="2" indent="0">
              <a:lnSpc>
                <a:spcPct val="125000"/>
              </a:lnSpc>
              <a:spcBef>
                <a:spcPts val="0"/>
              </a:spcBef>
              <a:buNone/>
            </a:pPr>
            <a:r>
              <a:rPr lang="en-US" altLang="zh-CN" sz="1800">
                <a:solidFill>
                  <a:srgbClr val="002060"/>
                </a:solidFill>
                <a:latin typeface="Times New Roman" panose="02020603050405020304" pitchFamily="18" charset="0"/>
                <a:cs typeface="Times New Roman" panose="02020603050405020304" pitchFamily="18" charset="0"/>
              </a:rPr>
              <a:t>                              </a:t>
            </a:r>
            <a:r>
              <a:rPr lang="zh-CN" altLang="en-US" sz="1800">
                <a:solidFill>
                  <a:srgbClr val="002060"/>
                </a:solidFill>
                <a:latin typeface="Times New Roman" panose="02020603050405020304" pitchFamily="18" charset="0"/>
                <a:cs typeface="Times New Roman" panose="02020603050405020304" pitchFamily="18" charset="0"/>
              </a:rPr>
              <a:t>创建</a:t>
            </a:r>
            <a:r>
              <a:rPr lang="en-US" altLang="zh-CN" sz="1800">
                <a:solidFill>
                  <a:srgbClr val="002060"/>
                </a:solidFill>
                <a:latin typeface="Times New Roman" panose="02020603050405020304" pitchFamily="18" charset="0"/>
                <a:cs typeface="Times New Roman" panose="02020603050405020304" pitchFamily="18" charset="0"/>
              </a:rPr>
              <a:t>k</a:t>
            </a:r>
            <a:r>
              <a:rPr lang="zh-CN" altLang="en-US" sz="1800">
                <a:solidFill>
                  <a:srgbClr val="002060"/>
                </a:solidFill>
                <a:latin typeface="Times New Roman" panose="02020603050405020304" pitchFamily="18" charset="0"/>
                <a:cs typeface="Times New Roman" panose="02020603050405020304" pitchFamily="18" charset="0"/>
              </a:rPr>
              <a:t>为</a:t>
            </a:r>
            <a:r>
              <a:rPr lang="en-US" altLang="zh-CN" sz="1800">
                <a:solidFill>
                  <a:srgbClr val="002060"/>
                </a:solidFill>
                <a:latin typeface="Times New Roman" panose="02020603050405020304" pitchFamily="18" charset="0"/>
                <a:cs typeface="Times New Roman" panose="02020603050405020304" pitchFamily="18" charset="0"/>
              </a:rPr>
              <a:t>3</a:t>
            </a:r>
            <a:r>
              <a:rPr lang="zh-CN" altLang="en-US" sz="1800">
                <a:solidFill>
                  <a:srgbClr val="002060"/>
                </a:solidFill>
                <a:latin typeface="Times New Roman" panose="02020603050405020304" pitchFamily="18" charset="0"/>
                <a:cs typeface="Times New Roman" panose="02020603050405020304" pitchFamily="18" charset="0"/>
              </a:rPr>
              <a:t>的</a:t>
            </a:r>
            <a:r>
              <a:rPr lang="en-US" altLang="zh-CN" sz="1800">
                <a:solidFill>
                  <a:srgbClr val="002060"/>
                </a:solidFill>
                <a:latin typeface="Times New Roman" panose="02020603050405020304" pitchFamily="18" charset="0"/>
                <a:cs typeface="Times New Roman" panose="02020603050405020304" pitchFamily="18" charset="0"/>
              </a:rPr>
              <a:t>k</a:t>
            </a:r>
            <a:r>
              <a:rPr lang="zh-CN" altLang="en-US" sz="1800">
                <a:solidFill>
                  <a:srgbClr val="002060"/>
                </a:solidFill>
                <a:latin typeface="Times New Roman" panose="02020603050405020304" pitchFamily="18" charset="0"/>
                <a:cs typeface="Times New Roman" panose="02020603050405020304" pitchFamily="18" charset="0"/>
              </a:rPr>
              <a:t>近邻模型实例</a:t>
            </a:r>
            <a:endParaRPr lang="en-US" altLang="zh-CN" sz="1800">
              <a:solidFill>
                <a:srgbClr val="002060"/>
              </a:solidFill>
              <a:latin typeface="Times New Roman" panose="02020603050405020304" pitchFamily="18" charset="0"/>
              <a:cs typeface="Times New Roman" panose="02020603050405020304" pitchFamily="18" charset="0"/>
            </a:endParaRPr>
          </a:p>
          <a:p>
            <a:pPr marL="486000" lvl="2" indent="0">
              <a:lnSpc>
                <a:spcPct val="125000"/>
              </a:lnSpc>
              <a:spcBef>
                <a:spcPts val="0"/>
              </a:spcBef>
              <a:buNone/>
            </a:pPr>
            <a:r>
              <a:rPr lang="en-US" altLang="zh-CN" sz="1800">
                <a:solidFill>
                  <a:srgbClr val="002060"/>
                </a:solidFill>
                <a:latin typeface="Times New Roman" panose="02020603050405020304" pitchFamily="18" charset="0"/>
                <a:cs typeface="Times New Roman" panose="02020603050405020304" pitchFamily="18" charset="0"/>
              </a:rPr>
              <a:t>                    knn.fit(Xtrain,ytrain)   </a:t>
            </a:r>
          </a:p>
          <a:p>
            <a:pPr marL="486000" lvl="2" indent="0">
              <a:lnSpc>
                <a:spcPct val="125000"/>
              </a:lnSpc>
              <a:spcBef>
                <a:spcPts val="0"/>
              </a:spcBef>
              <a:buNone/>
            </a:pPr>
            <a:r>
              <a:rPr lang="en-US" altLang="zh-CN" sz="1800">
                <a:solidFill>
                  <a:srgbClr val="002060"/>
                </a:solidFill>
                <a:latin typeface="Times New Roman" panose="02020603050405020304" pitchFamily="18" charset="0"/>
                <a:cs typeface="Times New Roman" panose="02020603050405020304" pitchFamily="18" charset="0"/>
              </a:rPr>
              <a:t>                              </a:t>
            </a:r>
            <a:r>
              <a:rPr lang="zh-CN" altLang="en-US" sz="1800">
                <a:solidFill>
                  <a:srgbClr val="002060"/>
                </a:solidFill>
                <a:latin typeface="Times New Roman" panose="02020603050405020304" pitchFamily="18" charset="0"/>
                <a:cs typeface="Times New Roman" panose="02020603050405020304" pitchFamily="18" charset="0"/>
              </a:rPr>
              <a:t>用训练集训练模型</a:t>
            </a:r>
            <a:endParaRPr lang="en-US" altLang="zh-CN" sz="1800">
              <a:solidFill>
                <a:srgbClr val="002060"/>
              </a:solidFill>
              <a:latin typeface="Times New Roman" panose="02020603050405020304" pitchFamily="18" charset="0"/>
              <a:cs typeface="Times New Roman" panose="02020603050405020304" pitchFamily="18" charset="0"/>
            </a:endParaRPr>
          </a:p>
          <a:p>
            <a:pPr marL="486000" lvl="2" indent="0">
              <a:lnSpc>
                <a:spcPct val="125000"/>
              </a:lnSpc>
              <a:spcBef>
                <a:spcPts val="0"/>
              </a:spcBef>
              <a:buNone/>
            </a:pPr>
            <a:r>
              <a:rPr lang="zh-CN" altLang="en-US" sz="1800">
                <a:solidFill>
                  <a:srgbClr val="002060"/>
                </a:solidFill>
                <a:latin typeface="Times New Roman" panose="02020603050405020304" pitchFamily="18" charset="0"/>
                <a:cs typeface="Times New Roman" panose="02020603050405020304" pitchFamily="18" charset="0"/>
              </a:rPr>
              <a:t>测试模型：</a:t>
            </a:r>
            <a:r>
              <a:rPr lang="en-US" altLang="zh-CN" sz="1800">
                <a:solidFill>
                  <a:srgbClr val="002060"/>
                </a:solidFill>
                <a:latin typeface="Times New Roman" panose="02020603050405020304" pitchFamily="18" charset="0"/>
                <a:cs typeface="Times New Roman" panose="02020603050405020304" pitchFamily="18" charset="0"/>
              </a:rPr>
              <a:t>score=knn.score(Xtest,ytest)		# </a:t>
            </a:r>
            <a:r>
              <a:rPr lang="zh-CN" altLang="en-US" sz="1800">
                <a:solidFill>
                  <a:srgbClr val="002060"/>
                </a:solidFill>
                <a:latin typeface="Times New Roman" panose="02020603050405020304" pitchFamily="18" charset="0"/>
                <a:cs typeface="Times New Roman" panose="02020603050405020304" pitchFamily="18" charset="0"/>
              </a:rPr>
              <a:t>测试模型</a:t>
            </a:r>
            <a:endParaRPr lang="en-US" altLang="zh-CN" sz="1800">
              <a:solidFill>
                <a:srgbClr val="002060"/>
              </a:solidFill>
              <a:latin typeface="Times New Roman" panose="02020603050405020304" pitchFamily="18" charset="0"/>
              <a:cs typeface="Times New Roman" panose="02020603050405020304" pitchFamily="18" charset="0"/>
            </a:endParaRPr>
          </a:p>
          <a:p>
            <a:pPr marL="486000" lvl="2" indent="0">
              <a:lnSpc>
                <a:spcPct val="125000"/>
              </a:lnSpc>
              <a:spcBef>
                <a:spcPts val="0"/>
              </a:spcBef>
              <a:buNone/>
            </a:pPr>
            <a:r>
              <a:rPr lang="en-US" altLang="zh-CN" sz="1800">
                <a:solidFill>
                  <a:srgbClr val="002060"/>
                </a:solidFill>
                <a:latin typeface="Times New Roman" panose="02020603050405020304" pitchFamily="18" charset="0"/>
                <a:cs typeface="Times New Roman" panose="02020603050405020304" pitchFamily="18" charset="0"/>
              </a:rPr>
              <a:t>                    print("</a:t>
            </a:r>
            <a:r>
              <a:rPr lang="zh-CN" altLang="en-US" sz="1800">
                <a:solidFill>
                  <a:srgbClr val="002060"/>
                </a:solidFill>
                <a:latin typeface="Times New Roman" panose="02020603050405020304" pitchFamily="18" charset="0"/>
                <a:cs typeface="Times New Roman" panose="02020603050405020304" pitchFamily="18" charset="0"/>
              </a:rPr>
              <a:t>准确率：</a:t>
            </a:r>
            <a:r>
              <a:rPr lang="en-US" altLang="zh-CN" sz="1800">
                <a:solidFill>
                  <a:srgbClr val="002060"/>
                </a:solidFill>
                <a:latin typeface="Times New Roman" panose="02020603050405020304" pitchFamily="18" charset="0"/>
                <a:cs typeface="Times New Roman" panose="02020603050405020304" pitchFamily="18" charset="0"/>
              </a:rPr>
              <a:t>",score) 	            	# </a:t>
            </a:r>
            <a:r>
              <a:rPr lang="zh-CN" altLang="en-US" sz="1800">
                <a:solidFill>
                  <a:srgbClr val="002060"/>
                </a:solidFill>
                <a:latin typeface="Times New Roman" panose="02020603050405020304" pitchFamily="18" charset="0"/>
                <a:cs typeface="Times New Roman" panose="02020603050405020304" pitchFamily="18" charset="0"/>
              </a:rPr>
              <a:t>输出准确率</a:t>
            </a:r>
            <a:r>
              <a:rPr lang="en-US" altLang="zh-CN" sz="1800">
                <a:solidFill>
                  <a:srgbClr val="002060"/>
                </a:solidFill>
                <a:latin typeface="Times New Roman" panose="02020603050405020304" pitchFamily="18" charset="0"/>
                <a:cs typeface="Times New Roman" panose="02020603050405020304" pitchFamily="18" charset="0"/>
              </a:rPr>
              <a:t>	  	</a:t>
            </a:r>
          </a:p>
          <a:p>
            <a:pPr marL="486000" lvl="2" indent="0">
              <a:lnSpc>
                <a:spcPct val="125000"/>
              </a:lnSpc>
              <a:spcBef>
                <a:spcPts val="0"/>
              </a:spcBef>
              <a:buNone/>
            </a:pPr>
            <a:r>
              <a:rPr lang="zh-CN" altLang="en-US" sz="1800">
                <a:solidFill>
                  <a:srgbClr val="002060"/>
                </a:solidFill>
                <a:latin typeface="Times New Roman" panose="02020603050405020304" pitchFamily="18" charset="0"/>
                <a:cs typeface="Times New Roman" panose="02020603050405020304" pitchFamily="18" charset="0"/>
              </a:rPr>
              <a:t>进行预测：</a:t>
            </a:r>
            <a:r>
              <a:rPr lang="en-US" altLang="zh-CN" sz="1800">
                <a:solidFill>
                  <a:srgbClr val="002060"/>
                </a:solidFill>
                <a:latin typeface="Times New Roman" panose="02020603050405020304" pitchFamily="18" charset="0"/>
                <a:cs typeface="Times New Roman" panose="02020603050405020304" pitchFamily="18" charset="0"/>
              </a:rPr>
              <a:t>y_sample=knn.predict([[4,3,5,3]])		# </a:t>
            </a:r>
            <a:r>
              <a:rPr lang="zh-CN" altLang="en-US" sz="1800">
                <a:solidFill>
                  <a:srgbClr val="002060"/>
                </a:solidFill>
                <a:latin typeface="Times New Roman" panose="02020603050405020304" pitchFamily="18" charset="0"/>
                <a:cs typeface="Times New Roman" panose="02020603050405020304" pitchFamily="18" charset="0"/>
              </a:rPr>
              <a:t>预测数据</a:t>
            </a:r>
            <a:endParaRPr lang="en-US" altLang="zh-CN" sz="1800">
              <a:solidFill>
                <a:srgbClr val="002060"/>
              </a:solidFill>
              <a:latin typeface="Times New Roman" panose="02020603050405020304" pitchFamily="18" charset="0"/>
              <a:cs typeface="Times New Roman" panose="02020603050405020304" pitchFamily="18" charset="0"/>
            </a:endParaRPr>
          </a:p>
          <a:p>
            <a:pPr marL="486000" lvl="2" indent="0">
              <a:lnSpc>
                <a:spcPct val="125000"/>
              </a:lnSpc>
              <a:spcBef>
                <a:spcPts val="0"/>
              </a:spcBef>
              <a:buNone/>
            </a:pPr>
            <a:r>
              <a:rPr lang="en-US" altLang="zh-CN" sz="1800">
                <a:solidFill>
                  <a:srgbClr val="002060"/>
                </a:solidFill>
                <a:latin typeface="Times New Roman" panose="02020603050405020304" pitchFamily="18" charset="0"/>
                <a:cs typeface="Times New Roman" panose="02020603050405020304" pitchFamily="18" charset="0"/>
              </a:rPr>
              <a:t>                    print("</a:t>
            </a:r>
            <a:r>
              <a:rPr lang="zh-CN" altLang="en-US" sz="1800">
                <a:solidFill>
                  <a:srgbClr val="002060"/>
                </a:solidFill>
                <a:latin typeface="Times New Roman" panose="02020603050405020304" pitchFamily="18" charset="0"/>
                <a:cs typeface="Times New Roman" panose="02020603050405020304" pitchFamily="18" charset="0"/>
              </a:rPr>
              <a:t>预测结果：</a:t>
            </a:r>
            <a:r>
              <a:rPr lang="en-US" altLang="zh-CN" sz="1800">
                <a:solidFill>
                  <a:srgbClr val="002060"/>
                </a:solidFill>
                <a:latin typeface="Times New Roman" panose="02020603050405020304" pitchFamily="18" charset="0"/>
                <a:cs typeface="Times New Roman" panose="02020603050405020304" pitchFamily="18" charset="0"/>
              </a:rPr>
              <a:t>",y_sample) </a:t>
            </a:r>
          </a:p>
          <a:p>
            <a:pPr marL="0" indent="0">
              <a:lnSpc>
                <a:spcPct val="150000"/>
              </a:lnSpc>
              <a:spcBef>
                <a:spcPts val="0"/>
              </a:spcBef>
              <a:buNone/>
            </a:pPr>
            <a:r>
              <a:rPr lang="zh-CN" altLang="en-US" sz="180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1600">
                <a:solidFill>
                  <a:srgbClr val="002060"/>
                </a:solidFill>
                <a:latin typeface="Times New Roman" panose="02020603050405020304" pitchFamily="18" charset="0"/>
                <a:cs typeface="Times New Roman" panose="02020603050405020304" pitchFamily="18" charset="0"/>
              </a:rPr>
              <a:t>                      </a:t>
            </a:r>
            <a:r>
              <a:rPr lang="zh-CN" altLang="en-US" sz="1600">
                <a:solidFill>
                  <a:srgbClr val="002060"/>
                </a:solidFill>
                <a:latin typeface="Times New Roman" panose="02020603050405020304" pitchFamily="18" charset="0"/>
                <a:cs typeface="Times New Roman" panose="02020603050405020304" pitchFamily="18" charset="0"/>
              </a:rPr>
              <a:t>注：</a:t>
            </a:r>
            <a:r>
              <a:rPr lang="en-US" altLang="zh-CN" sz="1800">
                <a:solidFill>
                  <a:srgbClr val="002060"/>
                </a:solidFill>
                <a:latin typeface="Times New Roman" panose="02020603050405020304" pitchFamily="18" charset="0"/>
                <a:cs typeface="Times New Roman" panose="02020603050405020304" pitchFamily="18" charset="0"/>
              </a:rPr>
              <a:t>[[4,3,5,3]]</a:t>
            </a:r>
            <a:r>
              <a:rPr lang="zh-CN" altLang="en-US" sz="1800">
                <a:solidFill>
                  <a:srgbClr val="002060"/>
                </a:solidFill>
                <a:latin typeface="Times New Roman" panose="02020603050405020304" pitchFamily="18" charset="0"/>
                <a:cs typeface="Times New Roman" panose="02020603050405020304" pitchFamily="18" charset="0"/>
              </a:rPr>
              <a:t>是二维列表，</a:t>
            </a:r>
            <a:r>
              <a:rPr lang="en-US" altLang="zh-CN" sz="1800">
                <a:solidFill>
                  <a:srgbClr val="002060"/>
                </a:solidFill>
                <a:latin typeface="Times New Roman" panose="02020603050405020304" pitchFamily="18" charset="0"/>
                <a:cs typeface="Times New Roman" panose="02020603050405020304" pitchFamily="18" charset="0"/>
              </a:rPr>
              <a:t>1</a:t>
            </a:r>
            <a:r>
              <a:rPr lang="zh-CN" altLang="en-US" sz="1800">
                <a:solidFill>
                  <a:srgbClr val="002060"/>
                </a:solidFill>
                <a:latin typeface="Times New Roman" panose="02020603050405020304" pitchFamily="18" charset="0"/>
                <a:cs typeface="Times New Roman" panose="02020603050405020304" pitchFamily="18" charset="0"/>
              </a:rPr>
              <a:t>*</a:t>
            </a:r>
            <a:r>
              <a:rPr lang="en-US" altLang="zh-CN" sz="1800">
                <a:solidFill>
                  <a:srgbClr val="002060"/>
                </a:solidFill>
                <a:latin typeface="Times New Roman" panose="02020603050405020304" pitchFamily="18" charset="0"/>
                <a:cs typeface="Times New Roman" panose="02020603050405020304" pitchFamily="18" charset="0"/>
              </a:rPr>
              <a:t>4</a:t>
            </a:r>
            <a:r>
              <a:rPr lang="zh-CN" altLang="en-US" sz="1800">
                <a:solidFill>
                  <a:srgbClr val="002060"/>
                </a:solidFill>
                <a:latin typeface="Times New Roman" panose="02020603050405020304" pitchFamily="18" charset="0"/>
                <a:cs typeface="Times New Roman" panose="02020603050405020304" pitchFamily="18" charset="0"/>
              </a:rPr>
              <a:t>的二维矩阵</a:t>
            </a:r>
            <a:endParaRPr lang="en-US" altLang="zh-CN" sz="1800">
              <a:solidFill>
                <a:srgbClr val="00206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solidFill>
                  <a:srgbClr val="002060"/>
                </a:solidFill>
                <a:latin typeface="Times New Roman" panose="02020603050405020304" pitchFamily="18" charset="0"/>
                <a:cs typeface="Times New Roman" panose="02020603050405020304" pitchFamily="18" charset="0"/>
              </a:rPr>
              <a:t>                            </a:t>
            </a:r>
            <a:endParaRPr lang="en-US" altLang="zh-CN" sz="1800" dirty="0">
              <a:solidFill>
                <a:srgbClr val="000066"/>
              </a:solidFill>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五、经典机器学习算法</a:t>
            </a:r>
            <a:endParaRPr lang="zh-CN" altLang="en-US" sz="2400" dirty="0"/>
          </a:p>
        </p:txBody>
      </p:sp>
      <p:sp>
        <p:nvSpPr>
          <p:cNvPr id="37" name="双大括号 36">
            <a:extLst>
              <a:ext uri="{FF2B5EF4-FFF2-40B4-BE49-F238E27FC236}">
                <a16:creationId xmlns:a16="http://schemas.microsoft.com/office/drawing/2014/main" id="{3A2FA845-E44B-4AE5-8FF2-CFC2BF1869FB}"/>
              </a:ext>
            </a:extLst>
          </p:cNvPr>
          <p:cNvSpPr/>
          <p:nvPr/>
        </p:nvSpPr>
        <p:spPr>
          <a:xfrm>
            <a:off x="2555776" y="4299942"/>
            <a:ext cx="1230924" cy="467668"/>
          </a:xfrm>
          <a:prstGeom prst="bracePair">
            <a:avLst/>
          </a:prstGeom>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90FE0D23-6B02-4A34-B643-C73EC4CCB9E0}"/>
              </a:ext>
            </a:extLst>
          </p:cNvPr>
          <p:cNvSpPr/>
          <p:nvPr/>
        </p:nvSpPr>
        <p:spPr>
          <a:xfrm>
            <a:off x="2620996" y="4362658"/>
            <a:ext cx="1165704" cy="369332"/>
          </a:xfrm>
          <a:prstGeom prst="rect">
            <a:avLst/>
          </a:prstGeom>
        </p:spPr>
        <p:txBody>
          <a:bodyPr wrap="none">
            <a:spAutoFit/>
          </a:bodyPr>
          <a:lstStyle/>
          <a:p>
            <a:r>
              <a:rPr lang="en-US" altLang="zh-CN">
                <a:solidFill>
                  <a:srgbClr val="002060"/>
                </a:solidFill>
                <a:latin typeface="Times New Roman" panose="02020603050405020304" pitchFamily="18" charset="0"/>
                <a:cs typeface="Times New Roman" panose="02020603050405020304" pitchFamily="18" charset="0"/>
              </a:rPr>
              <a:t>4   3   5   3</a:t>
            </a:r>
            <a:endParaRPr lang="zh-CN" altLang="en-US"/>
          </a:p>
        </p:txBody>
      </p:sp>
    </p:spTree>
    <p:extLst>
      <p:ext uri="{BB962C8B-B14F-4D97-AF65-F5344CB8AC3E}">
        <p14:creationId xmlns:p14="http://schemas.microsoft.com/office/powerpoint/2010/main" val="3239299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五、经典机器学习算法</a:t>
            </a:r>
            <a:endParaRPr lang="zh-CN" altLang="en-US" sz="2400" dirty="0"/>
          </a:p>
        </p:txBody>
      </p:sp>
      <p:sp>
        <p:nvSpPr>
          <p:cNvPr id="3" name="内容占位符 2"/>
          <p:cNvSpPr>
            <a:spLocks noGrp="1"/>
          </p:cNvSpPr>
          <p:nvPr>
            <p:ph idx="1"/>
          </p:nvPr>
        </p:nvSpPr>
        <p:spPr>
          <a:xfrm>
            <a:off x="611559" y="986626"/>
            <a:ext cx="8496945" cy="3385324"/>
          </a:xfrm>
        </p:spPr>
        <p:txBody>
          <a:bodyPr>
            <a:noAutofit/>
          </a:bodyPr>
          <a:lstStyle/>
          <a:p>
            <a:pPr marL="0" indent="0">
              <a:lnSpc>
                <a:spcPct val="150000"/>
              </a:lnSpc>
              <a:spcBef>
                <a:spcPts val="0"/>
              </a:spcBef>
              <a:buNone/>
            </a:pPr>
            <a:r>
              <a:rPr lang="zh-CN" altLang="en-US" sz="1800" dirty="0">
                <a:solidFill>
                  <a:srgbClr val="000066"/>
                </a:solidFill>
                <a:latin typeface="Times New Roman" panose="02020603050405020304" pitchFamily="18" charset="0"/>
                <a:cs typeface="Times New Roman" panose="02020603050405020304" pitchFamily="18" charset="0"/>
              </a:rPr>
              <a:t>三、</a:t>
            </a:r>
            <a:r>
              <a:rPr lang="en-US" altLang="zh-CN" sz="1800" dirty="0">
                <a:solidFill>
                  <a:srgbClr val="000066"/>
                </a:solidFill>
                <a:latin typeface="Times New Roman" panose="02020603050405020304" pitchFamily="18" charset="0"/>
                <a:cs typeface="Times New Roman" panose="02020603050405020304" pitchFamily="18" charset="0"/>
              </a:rPr>
              <a:t>k</a:t>
            </a:r>
            <a:r>
              <a:rPr lang="zh-CN" altLang="en-US" sz="1800" dirty="0">
                <a:solidFill>
                  <a:srgbClr val="000066"/>
                </a:solidFill>
                <a:latin typeface="Times New Roman" panose="02020603050405020304" pitchFamily="18" charset="0"/>
                <a:cs typeface="Times New Roman" panose="02020603050405020304" pitchFamily="18" charset="0"/>
              </a:rPr>
              <a:t>均值聚类</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latin typeface="Times New Roman" panose="02020603050405020304" pitchFamily="18" charset="0"/>
                <a:cs typeface="Times New Roman" panose="02020603050405020304" pitchFamily="18" charset="0"/>
              </a:rPr>
              <a:t>        ※ </a:t>
            </a:r>
            <a:r>
              <a:rPr lang="zh-CN" altLang="en-US" sz="1800">
                <a:latin typeface="Times New Roman" panose="02020603050405020304" pitchFamily="18" charset="0"/>
                <a:cs typeface="Times New Roman" panose="02020603050405020304" pitchFamily="18" charset="0"/>
              </a:rPr>
              <a:t>聚类</a:t>
            </a:r>
            <a:r>
              <a:rPr lang="zh-CN" altLang="en-US" sz="1800" dirty="0">
                <a:latin typeface="Times New Roman" panose="02020603050405020304" pitchFamily="18" charset="0"/>
                <a:cs typeface="Times New Roman" panose="02020603050405020304" pitchFamily="18" charset="0"/>
              </a:rPr>
              <a:t>是</a:t>
            </a:r>
            <a:r>
              <a:rPr lang="zh-CN" altLang="en-US" sz="1800">
                <a:latin typeface="Times New Roman" panose="02020603050405020304" pitchFamily="18" charset="0"/>
                <a:cs typeface="Times New Roman" panose="02020603050405020304" pitchFamily="18" charset="0"/>
              </a:rPr>
              <a:t>指将样本的</a:t>
            </a:r>
            <a:r>
              <a:rPr lang="zh-CN" altLang="en-US" sz="1800" dirty="0">
                <a:latin typeface="Times New Roman" panose="02020603050405020304" pitchFamily="18" charset="0"/>
                <a:cs typeface="Times New Roman" panose="02020603050405020304" pitchFamily="18" charset="0"/>
              </a:rPr>
              <a:t>集合</a:t>
            </a:r>
            <a:r>
              <a:rPr lang="zh-CN" altLang="en-US" sz="1800">
                <a:latin typeface="Times New Roman" panose="02020603050405020304" pitchFamily="18" charset="0"/>
                <a:cs typeface="Times New Roman" panose="02020603050405020304" pitchFamily="18" charset="0"/>
              </a:rPr>
              <a:t>分成由相似样本所组成</a:t>
            </a:r>
            <a:r>
              <a:rPr lang="zh-CN" altLang="en-US" sz="1800" dirty="0">
                <a:latin typeface="Times New Roman" panose="02020603050405020304" pitchFamily="18" charset="0"/>
                <a:cs typeface="Times New Roman" panose="02020603050405020304" pitchFamily="18" charset="0"/>
              </a:rPr>
              <a:t>的</a:t>
            </a:r>
            <a:r>
              <a:rPr lang="zh-CN" altLang="en-US" sz="1800">
                <a:latin typeface="Times New Roman" panose="02020603050405020304" pitchFamily="18" charset="0"/>
                <a:cs typeface="Times New Roman" panose="02020603050405020304" pitchFamily="18" charset="0"/>
              </a:rPr>
              <a:t>多个子集（类，簇）的</a:t>
            </a:r>
            <a:r>
              <a:rPr lang="zh-CN" altLang="en-US" sz="1800" dirty="0">
                <a:latin typeface="Times New Roman" panose="02020603050405020304" pitchFamily="18" charset="0"/>
                <a:cs typeface="Times New Roman" panose="02020603050405020304" pitchFamily="18" charset="0"/>
              </a:rPr>
              <a:t>过程。</a:t>
            </a:r>
            <a:br>
              <a:rPr lang="en-US" altLang="zh-CN" sz="1800" dirty="0">
                <a:latin typeface="Times New Roman" panose="02020603050405020304" pitchFamily="18" charset="0"/>
                <a:cs typeface="Times New Roman" panose="02020603050405020304" pitchFamily="18" charset="0"/>
              </a:rPr>
            </a:br>
            <a:r>
              <a:rPr lang="en-US" altLang="zh-CN" sz="1800">
                <a:latin typeface="Times New Roman" panose="02020603050405020304" pitchFamily="18" charset="0"/>
                <a:cs typeface="Times New Roman" panose="02020603050405020304" pitchFamily="18" charset="0"/>
              </a:rPr>
              <a:t>             </a:t>
            </a:r>
            <a:r>
              <a:rPr lang="zh-CN" altLang="en-US" sz="1800">
                <a:latin typeface="Times New Roman" panose="02020603050405020304" pitchFamily="18" charset="0"/>
                <a:cs typeface="Times New Roman" panose="02020603050405020304" pitchFamily="18" charset="0"/>
              </a:rPr>
              <a:t>聚类的结果是一个个子集，</a:t>
            </a:r>
            <a:r>
              <a:rPr lang="zh-CN" altLang="en-US" sz="1800" dirty="0">
                <a:latin typeface="Times New Roman" panose="02020603050405020304" pitchFamily="18" charset="0"/>
                <a:cs typeface="Times New Roman" panose="02020603050405020304" pitchFamily="18" charset="0"/>
              </a:rPr>
              <a:t>同</a:t>
            </a:r>
            <a:r>
              <a:rPr lang="zh-CN" altLang="en-US" sz="1800">
                <a:latin typeface="Times New Roman" panose="02020603050405020304" pitchFamily="18" charset="0"/>
                <a:cs typeface="Times New Roman" panose="02020603050405020304" pitchFamily="18" charset="0"/>
              </a:rPr>
              <a:t>一个子集体中的样本彼此相似</a:t>
            </a:r>
            <a:endParaRPr lang="en-US" altLang="zh-CN" sz="1800"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latin typeface="Times New Roman" panose="02020603050405020304" pitchFamily="18" charset="0"/>
                <a:cs typeface="Times New Roman" panose="02020603050405020304" pitchFamily="18" charset="0"/>
              </a:rPr>
              <a:t>        ※ </a:t>
            </a:r>
            <a:r>
              <a:rPr lang="zh-CN" altLang="en-US" sz="1800">
                <a:latin typeface="Times New Roman" panose="02020603050405020304" pitchFamily="18" charset="0"/>
                <a:cs typeface="Times New Roman" panose="02020603050405020304" pitchFamily="18" charset="0"/>
              </a:rPr>
              <a:t>相似性</a:t>
            </a:r>
            <a:r>
              <a:rPr lang="zh-CN" altLang="en-US" sz="1800" dirty="0">
                <a:latin typeface="Times New Roman" panose="02020603050405020304" pitchFamily="18" charset="0"/>
                <a:cs typeface="Times New Roman" panose="02020603050405020304" pitchFamily="18" charset="0"/>
              </a:rPr>
              <a:t>的度量指标：距离、</a:t>
            </a:r>
            <a:r>
              <a:rPr lang="zh-CN" altLang="en-US" sz="1800">
                <a:latin typeface="Times New Roman" panose="02020603050405020304" pitchFamily="18" charset="0"/>
                <a:cs typeface="Times New Roman" panose="02020603050405020304" pitchFamily="18" charset="0"/>
              </a:rPr>
              <a:t>密度等</a:t>
            </a:r>
            <a:endParaRPr lang="en-US" altLang="zh-CN" sz="180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latin typeface="Times New Roman" panose="02020603050405020304" pitchFamily="18" charset="0"/>
                <a:cs typeface="Times New Roman" panose="02020603050405020304" pitchFamily="18" charset="0"/>
              </a:rPr>
              <a:t>        ※ </a:t>
            </a:r>
            <a:r>
              <a:rPr lang="en-US" altLang="zh-CN" sz="1800">
                <a:solidFill>
                  <a:srgbClr val="C00000"/>
                </a:solidFill>
                <a:latin typeface="Times New Roman" panose="02020603050405020304" pitchFamily="18" charset="0"/>
                <a:cs typeface="Times New Roman" panose="02020603050405020304" pitchFamily="18" charset="0"/>
              </a:rPr>
              <a:t>K</a:t>
            </a:r>
            <a:r>
              <a:rPr lang="zh-CN" altLang="en-US" sz="1800">
                <a:solidFill>
                  <a:srgbClr val="C00000"/>
                </a:solidFill>
                <a:latin typeface="Times New Roman" panose="02020603050405020304" pitchFamily="18" charset="0"/>
                <a:cs typeface="Times New Roman" panose="02020603050405020304" pitchFamily="18" charset="0"/>
              </a:rPr>
              <a:t>均值聚类将样本集合划分为</a:t>
            </a:r>
            <a:r>
              <a:rPr lang="en-US" altLang="zh-CN" sz="1800">
                <a:solidFill>
                  <a:srgbClr val="C00000"/>
                </a:solidFill>
                <a:latin typeface="Times New Roman" panose="02020603050405020304" pitchFamily="18" charset="0"/>
                <a:cs typeface="Times New Roman" panose="02020603050405020304" pitchFamily="18" charset="0"/>
              </a:rPr>
              <a:t>k</a:t>
            </a:r>
            <a:r>
              <a:rPr lang="zh-CN" altLang="en-US" sz="1800">
                <a:solidFill>
                  <a:srgbClr val="C00000"/>
                </a:solidFill>
                <a:latin typeface="Times New Roman" panose="02020603050405020304" pitchFamily="18" charset="0"/>
                <a:cs typeface="Times New Roman" panose="02020603050405020304" pitchFamily="18" charset="0"/>
              </a:rPr>
              <a:t>个子集，构成</a:t>
            </a:r>
            <a:r>
              <a:rPr lang="en-US" altLang="zh-CN" sz="1800">
                <a:solidFill>
                  <a:srgbClr val="C00000"/>
                </a:solidFill>
                <a:latin typeface="Times New Roman" panose="02020603050405020304" pitchFamily="18" charset="0"/>
                <a:cs typeface="Times New Roman" panose="02020603050405020304" pitchFamily="18" charset="0"/>
              </a:rPr>
              <a:t>k</a:t>
            </a:r>
            <a:r>
              <a:rPr lang="zh-CN" altLang="en-US" sz="1800">
                <a:solidFill>
                  <a:srgbClr val="C00000"/>
                </a:solidFill>
                <a:latin typeface="Times New Roman" panose="02020603050405020304" pitchFamily="18" charset="0"/>
                <a:cs typeface="Times New Roman" panose="02020603050405020304" pitchFamily="18" charset="0"/>
              </a:rPr>
              <a:t>个类，即将</a:t>
            </a:r>
            <a:r>
              <a:rPr lang="en-US" altLang="zh-CN" sz="1800">
                <a:solidFill>
                  <a:srgbClr val="C00000"/>
                </a:solidFill>
                <a:latin typeface="Times New Roman" panose="02020603050405020304" pitchFamily="18" charset="0"/>
                <a:cs typeface="Times New Roman" panose="02020603050405020304" pitchFamily="18" charset="0"/>
              </a:rPr>
              <a:t>n</a:t>
            </a:r>
            <a:r>
              <a:rPr lang="zh-CN" altLang="en-US" sz="1800">
                <a:solidFill>
                  <a:srgbClr val="C00000"/>
                </a:solidFill>
                <a:latin typeface="Times New Roman" panose="02020603050405020304" pitchFamily="18" charset="0"/>
                <a:cs typeface="Times New Roman" panose="02020603050405020304" pitchFamily="18" charset="0"/>
              </a:rPr>
              <a:t>个样本分到</a:t>
            </a:r>
            <a:r>
              <a:rPr lang="en-US" altLang="zh-CN" sz="1800">
                <a:solidFill>
                  <a:srgbClr val="C00000"/>
                </a:solidFill>
                <a:latin typeface="Times New Roman" panose="02020603050405020304" pitchFamily="18" charset="0"/>
                <a:cs typeface="Times New Roman" panose="02020603050405020304" pitchFamily="18" charset="0"/>
              </a:rPr>
              <a:t>k</a:t>
            </a:r>
            <a:r>
              <a:rPr lang="zh-CN" altLang="en-US" sz="1800">
                <a:solidFill>
                  <a:srgbClr val="C00000"/>
                </a:solidFill>
                <a:latin typeface="Times New Roman" panose="02020603050405020304" pitchFamily="18" charset="0"/>
                <a:cs typeface="Times New Roman" panose="02020603050405020304" pitchFamily="18" charset="0"/>
              </a:rPr>
              <a:t>个类中            </a:t>
            </a:r>
            <a:endParaRPr lang="en-US" altLang="zh-CN" sz="1800">
              <a:solidFill>
                <a:srgbClr val="C0000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solidFill>
                  <a:srgbClr val="C00000"/>
                </a:solidFill>
                <a:latin typeface="Times New Roman" panose="02020603050405020304" pitchFamily="18" charset="0"/>
                <a:cs typeface="Times New Roman" panose="02020603050405020304" pitchFamily="18" charset="0"/>
              </a:rPr>
              <a:t>             </a:t>
            </a:r>
            <a:r>
              <a:rPr lang="zh-CN" altLang="en-US" sz="1800">
                <a:solidFill>
                  <a:srgbClr val="C00000"/>
                </a:solidFill>
                <a:latin typeface="Times New Roman" panose="02020603050405020304" pitchFamily="18" charset="0"/>
                <a:cs typeface="Times New Roman" panose="02020603050405020304" pitchFamily="18" charset="0"/>
              </a:rPr>
              <a:t>若相似度是距离，则每个样本到其所属的类中心距离最小，</a:t>
            </a:r>
            <a:endParaRPr lang="en-US" altLang="zh-CN" sz="1800">
              <a:solidFill>
                <a:srgbClr val="C0000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solidFill>
                  <a:srgbClr val="C00000"/>
                </a:solidFill>
                <a:latin typeface="Times New Roman" panose="02020603050405020304" pitchFamily="18" charset="0"/>
                <a:cs typeface="Times New Roman" panose="02020603050405020304" pitchFamily="18" charset="0"/>
              </a:rPr>
              <a:t>                                                 </a:t>
            </a:r>
            <a:r>
              <a:rPr lang="zh-CN" altLang="en-US" sz="1800">
                <a:solidFill>
                  <a:srgbClr val="C00000"/>
                </a:solidFill>
                <a:latin typeface="Times New Roman" panose="02020603050405020304" pitchFamily="18" charset="0"/>
                <a:cs typeface="Times New Roman" panose="02020603050405020304" pitchFamily="18" charset="0"/>
              </a:rPr>
              <a:t>且每个样本仅属于一个类。</a:t>
            </a:r>
          </a:p>
          <a:p>
            <a:pPr marL="0" indent="0">
              <a:lnSpc>
                <a:spcPct val="150000"/>
              </a:lnSpc>
              <a:spcBef>
                <a:spcPts val="0"/>
              </a:spcBef>
              <a:buNone/>
            </a:pPr>
            <a:endParaRPr lang="en-US" altLang="zh-CN" sz="1800" dirty="0">
              <a:latin typeface="Times New Roman" panose="02020603050405020304" pitchFamily="18" charset="0"/>
              <a:cs typeface="Times New Roman" panose="02020603050405020304" pitchFamily="18" charset="0"/>
            </a:endParaRPr>
          </a:p>
          <a:p>
            <a:pPr marL="0" indent="0">
              <a:lnSpc>
                <a:spcPct val="150000"/>
              </a:lnSpc>
              <a:spcBef>
                <a:spcPts val="0"/>
              </a:spcBef>
              <a:buNone/>
            </a:pPr>
            <a:endParaRPr lang="zh-CN" altLang="zh-C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7618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五、经典机器学习算法</a:t>
            </a:r>
            <a:endParaRPr lang="zh-CN" altLang="en-US" sz="2400" dirty="0"/>
          </a:p>
        </p:txBody>
      </p:sp>
      <p:sp>
        <p:nvSpPr>
          <p:cNvPr id="3" name="内容占位符 2"/>
          <p:cNvSpPr>
            <a:spLocks noGrp="1"/>
          </p:cNvSpPr>
          <p:nvPr>
            <p:ph idx="1"/>
          </p:nvPr>
        </p:nvSpPr>
        <p:spPr>
          <a:xfrm>
            <a:off x="611559" y="986626"/>
            <a:ext cx="8424937" cy="1729140"/>
          </a:xfrm>
        </p:spPr>
        <p:txBody>
          <a:bodyPr>
            <a:noAutofit/>
          </a:bodyPr>
          <a:lstStyle/>
          <a:p>
            <a:pPr marL="0" indent="0">
              <a:lnSpc>
                <a:spcPct val="150000"/>
              </a:lnSpc>
              <a:spcBef>
                <a:spcPts val="0"/>
              </a:spcBef>
              <a:buNone/>
            </a:pPr>
            <a:r>
              <a:rPr lang="zh-CN" altLang="en-US" sz="1800" dirty="0">
                <a:solidFill>
                  <a:srgbClr val="000066"/>
                </a:solidFill>
                <a:latin typeface="Times New Roman" panose="02020603050405020304" pitchFamily="18" charset="0"/>
                <a:cs typeface="Times New Roman" panose="02020603050405020304" pitchFamily="18" charset="0"/>
              </a:rPr>
              <a:t>三、</a:t>
            </a:r>
            <a:r>
              <a:rPr lang="en-US" altLang="zh-CN" sz="1800" dirty="0">
                <a:solidFill>
                  <a:srgbClr val="000066"/>
                </a:solidFill>
                <a:latin typeface="Times New Roman" panose="02020603050405020304" pitchFamily="18" charset="0"/>
                <a:cs typeface="Times New Roman" panose="02020603050405020304" pitchFamily="18" charset="0"/>
              </a:rPr>
              <a:t>k</a:t>
            </a:r>
            <a:r>
              <a:rPr lang="zh-CN" altLang="en-US" sz="1800" dirty="0">
                <a:solidFill>
                  <a:srgbClr val="000066"/>
                </a:solidFill>
                <a:latin typeface="Times New Roman" panose="02020603050405020304" pitchFamily="18" charset="0"/>
                <a:cs typeface="Times New Roman" panose="02020603050405020304" pitchFamily="18" charset="0"/>
              </a:rPr>
              <a:t>均值聚类</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latin typeface="Times New Roman" panose="02020603050405020304" pitchFamily="18" charset="0"/>
                <a:cs typeface="Times New Roman" panose="02020603050405020304" pitchFamily="18" charset="0"/>
              </a:rPr>
              <a:t>        ※ </a:t>
            </a:r>
            <a:r>
              <a:rPr lang="zh-CN" altLang="en-US" sz="1800">
                <a:latin typeface="Times New Roman" panose="02020603050405020304" pitchFamily="18" charset="0"/>
                <a:cs typeface="Times New Roman" panose="02020603050405020304" pitchFamily="18" charset="0"/>
              </a:rPr>
              <a:t>算法思想</a:t>
            </a:r>
            <a:endParaRPr lang="zh-CN" altLang="zh-CN" sz="1800" dirty="0">
              <a:solidFill>
                <a:srgbClr val="C00000"/>
              </a:solidFill>
              <a:latin typeface="Times New Roman" panose="02020603050405020304" pitchFamily="18" charset="0"/>
              <a:cs typeface="Times New Roman" panose="02020603050405020304" pitchFamily="18" charset="0"/>
            </a:endParaRPr>
          </a:p>
        </p:txBody>
      </p:sp>
      <p:sp>
        <p:nvSpPr>
          <p:cNvPr id="5" name="矩形 4">
            <a:extLst>
              <a:ext uri="{FF2B5EF4-FFF2-40B4-BE49-F238E27FC236}">
                <a16:creationId xmlns:a16="http://schemas.microsoft.com/office/drawing/2014/main" id="{B85C768C-C933-425F-9C5B-1F7CA78B1695}"/>
              </a:ext>
            </a:extLst>
          </p:cNvPr>
          <p:cNvSpPr/>
          <p:nvPr/>
        </p:nvSpPr>
        <p:spPr bwMode="gray">
          <a:xfrm>
            <a:off x="3834358" y="1564903"/>
            <a:ext cx="2593287" cy="523220"/>
          </a:xfrm>
          <a:prstGeom prst="rect">
            <a:avLst/>
          </a:prstGeom>
          <a:ln w="9525">
            <a:solidFill>
              <a:srgbClr val="000078"/>
            </a:solidFill>
            <a:headEnd/>
            <a:tailEnd/>
          </a:ln>
        </p:spPr>
        <p:style>
          <a:lnRef idx="2">
            <a:schemeClr val="dk1"/>
          </a:lnRef>
          <a:fillRef idx="1">
            <a:schemeClr val="lt1"/>
          </a:fillRef>
          <a:effectRef idx="0">
            <a:schemeClr val="dk1"/>
          </a:effectRef>
          <a:fontRef idx="minor">
            <a:schemeClr val="dk1"/>
          </a:fontRef>
        </p:style>
        <p:txBody>
          <a:bodyPr wrap="square" rtlCol="0" anchor="ctr">
            <a:spAutoFit/>
          </a:bodyPr>
          <a:lstStyle/>
          <a:p>
            <a:pPr lvl="0" algn="ctr" eaLnBrk="0" hangingPunct="0"/>
            <a:r>
              <a:rPr lang="zh-CN" altLang="en-US" sz="140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初始化：随机选择</a:t>
            </a:r>
            <a:r>
              <a:rPr lang="en-US" altLang="zh-CN" sz="14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en-US" sz="14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个</a:t>
            </a:r>
            <a:r>
              <a:rPr lang="zh-CN" altLang="en-US" sz="140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样本作为   </a:t>
            </a:r>
            <a:endParaRPr lang="en-US" altLang="zh-CN" sz="140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lvl="0" algn="ctr" eaLnBrk="0" hangingPunct="0"/>
            <a:r>
              <a:rPr lang="en-US" altLang="zh-CN" sz="140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初始</a:t>
            </a:r>
            <a:r>
              <a:rPr lang="zh-CN" altLang="en-US" sz="14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聚类的中心</a:t>
            </a:r>
            <a:r>
              <a:rPr lang="zh-CN" altLang="en-US" sz="140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（质心</a:t>
            </a:r>
            <a:r>
              <a:rPr lang="en-US" altLang="zh-CN" sz="14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4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矩形 5">
            <a:extLst>
              <a:ext uri="{FF2B5EF4-FFF2-40B4-BE49-F238E27FC236}">
                <a16:creationId xmlns:a16="http://schemas.microsoft.com/office/drawing/2014/main" id="{96F83F04-4570-483B-BB13-7549507FD71A}"/>
              </a:ext>
            </a:extLst>
          </p:cNvPr>
          <p:cNvSpPr/>
          <p:nvPr/>
        </p:nvSpPr>
        <p:spPr bwMode="gray">
          <a:xfrm>
            <a:off x="3846550" y="2246355"/>
            <a:ext cx="2593287" cy="523220"/>
          </a:xfrm>
          <a:prstGeom prst="rect">
            <a:avLst/>
          </a:prstGeom>
          <a:ln w="9525">
            <a:solidFill>
              <a:srgbClr val="000078"/>
            </a:solidFill>
            <a:headEnd/>
            <a:tailEnd/>
          </a:ln>
        </p:spPr>
        <p:style>
          <a:lnRef idx="2">
            <a:schemeClr val="dk1"/>
          </a:lnRef>
          <a:fillRef idx="1">
            <a:schemeClr val="lt1"/>
          </a:fillRef>
          <a:effectRef idx="0">
            <a:schemeClr val="dk1"/>
          </a:effectRef>
          <a:fontRef idx="minor">
            <a:schemeClr val="dk1"/>
          </a:fontRef>
        </p:style>
        <p:txBody>
          <a:bodyPr wrap="square" rtlCol="0" anchor="ctr">
            <a:spAutoFit/>
          </a:bodyPr>
          <a:lstStyle/>
          <a:p>
            <a:pPr lvl="0" algn="ctr"/>
            <a:r>
              <a:rPr lang="zh-CN" altLang="en-US" sz="140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对每个样本，</a:t>
            </a:r>
            <a:endParaRPr lang="en-US" altLang="zh-CN" sz="140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lvl="0" algn="ctr"/>
            <a:r>
              <a:rPr lang="zh-CN" altLang="en-US" sz="140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计算到</a:t>
            </a:r>
            <a:r>
              <a:rPr lang="en-US" altLang="zh-CN" sz="140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en-US" sz="140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个质心</a:t>
            </a:r>
            <a:r>
              <a:rPr lang="zh-CN" altLang="en-US" sz="14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的距离</a:t>
            </a:r>
          </a:p>
        </p:txBody>
      </p:sp>
      <p:sp>
        <p:nvSpPr>
          <p:cNvPr id="7" name="矩形 6">
            <a:extLst>
              <a:ext uri="{FF2B5EF4-FFF2-40B4-BE49-F238E27FC236}">
                <a16:creationId xmlns:a16="http://schemas.microsoft.com/office/drawing/2014/main" id="{4657391E-A12E-4D65-8460-9FDEB04D3427}"/>
              </a:ext>
            </a:extLst>
          </p:cNvPr>
          <p:cNvSpPr/>
          <p:nvPr/>
        </p:nvSpPr>
        <p:spPr bwMode="gray">
          <a:xfrm>
            <a:off x="3850973" y="2983186"/>
            <a:ext cx="2593287" cy="523220"/>
          </a:xfrm>
          <a:prstGeom prst="rect">
            <a:avLst/>
          </a:prstGeom>
          <a:ln w="9525">
            <a:solidFill>
              <a:srgbClr val="000078"/>
            </a:solidFill>
            <a:headEnd/>
            <a:tailEnd/>
          </a:ln>
        </p:spPr>
        <p:style>
          <a:lnRef idx="2">
            <a:schemeClr val="dk1"/>
          </a:lnRef>
          <a:fillRef idx="1">
            <a:schemeClr val="lt1"/>
          </a:fillRef>
          <a:effectRef idx="0">
            <a:schemeClr val="dk1"/>
          </a:effectRef>
          <a:fontRef idx="minor">
            <a:schemeClr val="dk1"/>
          </a:fontRef>
        </p:style>
        <p:txBody>
          <a:bodyPr wrap="square" rtlCol="0" anchor="ctr">
            <a:spAutoFit/>
          </a:bodyPr>
          <a:lstStyle/>
          <a:p>
            <a:pPr lvl="0" algn="ctr"/>
            <a:r>
              <a:rPr lang="zh-CN" altLang="en-US" sz="14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选择距离最短的质心为一类，构成聚类结果</a:t>
            </a:r>
          </a:p>
        </p:txBody>
      </p:sp>
      <p:sp>
        <p:nvSpPr>
          <p:cNvPr id="8" name="矩形 7">
            <a:extLst>
              <a:ext uri="{FF2B5EF4-FFF2-40B4-BE49-F238E27FC236}">
                <a16:creationId xmlns:a16="http://schemas.microsoft.com/office/drawing/2014/main" id="{E137D6DB-74E7-4331-BDF2-97CD1744CEB7}"/>
              </a:ext>
            </a:extLst>
          </p:cNvPr>
          <p:cNvSpPr/>
          <p:nvPr/>
        </p:nvSpPr>
        <p:spPr bwMode="gray">
          <a:xfrm>
            <a:off x="3854086" y="3715906"/>
            <a:ext cx="2593287" cy="307777"/>
          </a:xfrm>
          <a:prstGeom prst="rect">
            <a:avLst/>
          </a:prstGeom>
          <a:ln w="9525">
            <a:solidFill>
              <a:srgbClr val="000078"/>
            </a:solidFill>
            <a:headEnd/>
            <a:tailEnd/>
          </a:ln>
        </p:spPr>
        <p:style>
          <a:lnRef idx="2">
            <a:schemeClr val="dk1"/>
          </a:lnRef>
          <a:fillRef idx="1">
            <a:schemeClr val="lt1"/>
          </a:fillRef>
          <a:effectRef idx="0">
            <a:schemeClr val="dk1"/>
          </a:effectRef>
          <a:fontRef idx="minor">
            <a:schemeClr val="dk1"/>
          </a:fontRef>
        </p:style>
        <p:txBody>
          <a:bodyPr wrap="square" rtlCol="0" anchor="ctr">
            <a:spAutoFit/>
          </a:bodyPr>
          <a:lstStyle/>
          <a:p>
            <a:pPr lvl="0" algn="ctr"/>
            <a:r>
              <a:rPr lang="zh-CN" altLang="en-US" sz="14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计算新聚类结果中每类的质心</a:t>
            </a:r>
          </a:p>
        </p:txBody>
      </p:sp>
      <p:sp>
        <p:nvSpPr>
          <p:cNvPr id="10" name="圆角矩形 12">
            <a:extLst>
              <a:ext uri="{FF2B5EF4-FFF2-40B4-BE49-F238E27FC236}">
                <a16:creationId xmlns:a16="http://schemas.microsoft.com/office/drawing/2014/main" id="{003F6536-A378-4D35-9EC8-D4950BC0508C}"/>
              </a:ext>
            </a:extLst>
          </p:cNvPr>
          <p:cNvSpPr/>
          <p:nvPr/>
        </p:nvSpPr>
        <p:spPr bwMode="gray">
          <a:xfrm>
            <a:off x="7020272" y="4528318"/>
            <a:ext cx="1152128" cy="338261"/>
          </a:xfrm>
          <a:prstGeom prst="roundRect">
            <a:avLst/>
          </a:prstGeom>
          <a:ln w="9525">
            <a:solidFill>
              <a:srgbClr val="000078"/>
            </a:solidFill>
            <a:headEnd/>
            <a:tailEnd/>
          </a:ln>
        </p:spPr>
        <p:style>
          <a:lnRef idx="2">
            <a:schemeClr val="dk1"/>
          </a:lnRef>
          <a:fillRef idx="1">
            <a:schemeClr val="lt1"/>
          </a:fillRef>
          <a:effectRef idx="0">
            <a:schemeClr val="dk1"/>
          </a:effectRef>
          <a:fontRef idx="minor">
            <a:schemeClr val="dk1"/>
          </a:fontRef>
        </p:style>
        <p:txBody>
          <a:bodyPr wrap="square" lIns="0" rIns="0" rtlCol="0" anchor="ctr">
            <a:spAutoFit/>
          </a:bodyPr>
          <a:lstStyle/>
          <a:p>
            <a:pPr lvl="0"/>
            <a:r>
              <a:rPr lang="zh-CN" altLang="en-US" sz="14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输出聚类结果</a:t>
            </a:r>
          </a:p>
        </p:txBody>
      </p:sp>
      <p:sp>
        <p:nvSpPr>
          <p:cNvPr id="11" name="文本框 10">
            <a:extLst>
              <a:ext uri="{FF2B5EF4-FFF2-40B4-BE49-F238E27FC236}">
                <a16:creationId xmlns:a16="http://schemas.microsoft.com/office/drawing/2014/main" id="{CE614471-B5F5-4660-8CDE-27E8E867D11A}"/>
              </a:ext>
            </a:extLst>
          </p:cNvPr>
          <p:cNvSpPr txBox="1"/>
          <p:nvPr/>
        </p:nvSpPr>
        <p:spPr>
          <a:xfrm>
            <a:off x="3654061" y="4434416"/>
            <a:ext cx="505055" cy="307777"/>
          </a:xfrm>
          <a:prstGeom prst="rect">
            <a:avLst/>
          </a:prstGeom>
          <a:noFill/>
        </p:spPr>
        <p:txBody>
          <a:bodyPr wrap="square" rtlCol="0">
            <a:spAutoFit/>
          </a:bodyPr>
          <a:lstStyle/>
          <a:p>
            <a:r>
              <a:rPr lang="en-US" altLang="zh-CN" sz="14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T</a:t>
            </a:r>
            <a:endParaRPr lang="zh-CN" altLang="en-US" sz="14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文本框 11">
            <a:extLst>
              <a:ext uri="{FF2B5EF4-FFF2-40B4-BE49-F238E27FC236}">
                <a16:creationId xmlns:a16="http://schemas.microsoft.com/office/drawing/2014/main" id="{0C99EA5A-EA3B-42D8-8928-6DA6CC4B4638}"/>
              </a:ext>
            </a:extLst>
          </p:cNvPr>
          <p:cNvSpPr txBox="1"/>
          <p:nvPr/>
        </p:nvSpPr>
        <p:spPr>
          <a:xfrm>
            <a:off x="6587225" y="4452494"/>
            <a:ext cx="505055" cy="307777"/>
          </a:xfrm>
          <a:prstGeom prst="rect">
            <a:avLst/>
          </a:prstGeom>
          <a:noFill/>
        </p:spPr>
        <p:txBody>
          <a:bodyPr wrap="square" rtlCol="0">
            <a:spAutoFit/>
          </a:bodyPr>
          <a:lstStyle/>
          <a:p>
            <a:r>
              <a:rPr lang="en-US" altLang="zh-CN" sz="1400" dirty="0">
                <a:latin typeface="Times New Roman" panose="02020603050405020304" pitchFamily="18" charset="0"/>
                <a:cs typeface="Times New Roman" panose="02020603050405020304" pitchFamily="18" charset="0"/>
              </a:rPr>
              <a:t>F</a:t>
            </a:r>
            <a:endParaRPr lang="zh-CN" altLang="en-US" sz="1400" dirty="0">
              <a:latin typeface="Times New Roman" panose="02020603050405020304" pitchFamily="18" charset="0"/>
              <a:cs typeface="Times New Roman" panose="02020603050405020304" pitchFamily="18" charset="0"/>
            </a:endParaRPr>
          </a:p>
        </p:txBody>
      </p:sp>
      <p:sp>
        <p:nvSpPr>
          <p:cNvPr id="13" name="流程图: 可选过程 12">
            <a:extLst>
              <a:ext uri="{FF2B5EF4-FFF2-40B4-BE49-F238E27FC236}">
                <a16:creationId xmlns:a16="http://schemas.microsoft.com/office/drawing/2014/main" id="{79556FA3-6F73-4165-B87B-9ADBF727AF3B}"/>
              </a:ext>
            </a:extLst>
          </p:cNvPr>
          <p:cNvSpPr/>
          <p:nvPr/>
        </p:nvSpPr>
        <p:spPr bwMode="gray">
          <a:xfrm>
            <a:off x="3872940" y="999226"/>
            <a:ext cx="2518114" cy="340519"/>
          </a:xfrm>
          <a:prstGeom prst="flowChartAlternateProcess">
            <a:avLst/>
          </a:prstGeom>
          <a:ln w="9525">
            <a:solidFill>
              <a:srgbClr val="000078"/>
            </a:solidFill>
            <a:headEnd/>
            <a:tailEnd/>
          </a:ln>
        </p:spPr>
        <p:style>
          <a:lnRef idx="2">
            <a:schemeClr val="dk1"/>
          </a:lnRef>
          <a:fillRef idx="1">
            <a:schemeClr val="lt1"/>
          </a:fillRef>
          <a:effectRef idx="0">
            <a:schemeClr val="dk1"/>
          </a:effectRef>
          <a:fontRef idx="minor">
            <a:schemeClr val="dk1"/>
          </a:fontRef>
        </p:style>
        <p:txBody>
          <a:bodyPr wrap="square" lIns="0" rIns="0" rtlCol="0" anchor="ctr">
            <a:spAutoFit/>
          </a:bodyPr>
          <a:lstStyle/>
          <a:p>
            <a:pPr lvl="0" algn="ctr"/>
            <a:r>
              <a:rPr lang="zh-CN" altLang="en-US" sz="1400" dirty="0">
                <a:solidFill>
                  <a:srgbClr val="000066"/>
                </a:solidFill>
                <a:latin typeface="微软雅黑" panose="020B0503020204020204" pitchFamily="34" charset="-122"/>
                <a:ea typeface="微软雅黑" panose="020B0503020204020204" pitchFamily="34" charset="-122"/>
              </a:rPr>
              <a:t>输入样本集合</a:t>
            </a:r>
          </a:p>
        </p:txBody>
      </p:sp>
      <p:cxnSp>
        <p:nvCxnSpPr>
          <p:cNvPr id="15" name="直接箭头连接符 14">
            <a:extLst>
              <a:ext uri="{FF2B5EF4-FFF2-40B4-BE49-F238E27FC236}">
                <a16:creationId xmlns:a16="http://schemas.microsoft.com/office/drawing/2014/main" id="{30A687E0-660B-4053-AC67-63F8796388F0}"/>
              </a:ext>
            </a:extLst>
          </p:cNvPr>
          <p:cNvCxnSpPr>
            <a:cxnSpLocks/>
            <a:stCxn id="13" idx="2"/>
            <a:endCxn id="5" idx="0"/>
          </p:cNvCxnSpPr>
          <p:nvPr/>
        </p:nvCxnSpPr>
        <p:spPr>
          <a:xfrm flipH="1">
            <a:off x="5131002" y="1339745"/>
            <a:ext cx="995" cy="22515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57DE0FB5-E32A-42AB-B7C2-472E591CB5E4}"/>
              </a:ext>
            </a:extLst>
          </p:cNvPr>
          <p:cNvCxnSpPr>
            <a:stCxn id="5" idx="2"/>
            <a:endCxn id="6" idx="0"/>
          </p:cNvCxnSpPr>
          <p:nvPr/>
        </p:nvCxnSpPr>
        <p:spPr>
          <a:xfrm>
            <a:off x="5131002" y="2088123"/>
            <a:ext cx="12192" cy="158232"/>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8BB040A2-AFF6-42BA-8064-D0C6B1A876BD}"/>
              </a:ext>
            </a:extLst>
          </p:cNvPr>
          <p:cNvCxnSpPr>
            <a:stCxn id="6" idx="2"/>
            <a:endCxn id="7" idx="0"/>
          </p:cNvCxnSpPr>
          <p:nvPr/>
        </p:nvCxnSpPr>
        <p:spPr>
          <a:xfrm>
            <a:off x="5143194" y="2769575"/>
            <a:ext cx="4423" cy="213611"/>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29A92923-DEBF-40C3-90A7-288E5E4A7B23}"/>
              </a:ext>
            </a:extLst>
          </p:cNvPr>
          <p:cNvCxnSpPr>
            <a:stCxn id="7" idx="2"/>
            <a:endCxn id="8" idx="0"/>
          </p:cNvCxnSpPr>
          <p:nvPr/>
        </p:nvCxnSpPr>
        <p:spPr>
          <a:xfrm>
            <a:off x="5147617" y="3506406"/>
            <a:ext cx="3113" cy="20950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0D11C421-885C-4386-A10E-A22B1FBE83C5}"/>
              </a:ext>
            </a:extLst>
          </p:cNvPr>
          <p:cNvCxnSpPr>
            <a:cxnSpLocks/>
            <a:stCxn id="8" idx="2"/>
            <a:endCxn id="9" idx="0"/>
          </p:cNvCxnSpPr>
          <p:nvPr/>
        </p:nvCxnSpPr>
        <p:spPr>
          <a:xfrm flipH="1">
            <a:off x="5143806" y="4023683"/>
            <a:ext cx="6924" cy="246925"/>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46568143-9C94-45B3-8730-93AEF40C27C5}"/>
              </a:ext>
            </a:extLst>
          </p:cNvPr>
          <p:cNvCxnSpPr>
            <a:cxnSpLocks/>
            <a:stCxn id="9" idx="3"/>
            <a:endCxn id="10" idx="1"/>
          </p:cNvCxnSpPr>
          <p:nvPr/>
        </p:nvCxnSpPr>
        <p:spPr>
          <a:xfrm flipV="1">
            <a:off x="6395664" y="4697449"/>
            <a:ext cx="624608" cy="1129"/>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肘形连接符 34">
            <a:extLst>
              <a:ext uri="{FF2B5EF4-FFF2-40B4-BE49-F238E27FC236}">
                <a16:creationId xmlns:a16="http://schemas.microsoft.com/office/drawing/2014/main" id="{47FBE2CA-B265-4601-85ED-62D7EBE7D8EE}"/>
              </a:ext>
            </a:extLst>
          </p:cNvPr>
          <p:cNvCxnSpPr>
            <a:cxnSpLocks/>
          </p:cNvCxnSpPr>
          <p:nvPr/>
        </p:nvCxnSpPr>
        <p:spPr>
          <a:xfrm rot="5400000" flipH="1" flipV="1">
            <a:off x="3359478" y="3082862"/>
            <a:ext cx="2587777" cy="979656"/>
          </a:xfrm>
          <a:prstGeom prst="bentConnector5">
            <a:avLst>
              <a:gd name="adj1" fmla="val 6766"/>
              <a:gd name="adj2" fmla="val -54013"/>
              <a:gd name="adj3" fmla="val 104594"/>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 name="流程图: 决策 8">
            <a:extLst>
              <a:ext uri="{FF2B5EF4-FFF2-40B4-BE49-F238E27FC236}">
                <a16:creationId xmlns:a16="http://schemas.microsoft.com/office/drawing/2014/main" id="{7D4B5297-B969-4612-9734-C7EA2F521F31}"/>
              </a:ext>
            </a:extLst>
          </p:cNvPr>
          <p:cNvSpPr/>
          <p:nvPr/>
        </p:nvSpPr>
        <p:spPr bwMode="gray">
          <a:xfrm>
            <a:off x="3891947" y="4270608"/>
            <a:ext cx="2503717" cy="855940"/>
          </a:xfrm>
          <a:prstGeom prst="flowChartDecision">
            <a:avLst/>
          </a:prstGeom>
          <a:ln w="9525">
            <a:solidFill>
              <a:srgbClr val="000078"/>
            </a:solidFill>
            <a:headEnd/>
            <a:tailEn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gn="r"/>
            <a:r>
              <a:rPr lang="zh-CN" altLang="en-US" sz="14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与上一次聚类结果是否发生改变？</a:t>
            </a:r>
          </a:p>
        </p:txBody>
      </p:sp>
    </p:spTree>
    <p:extLst>
      <p:ext uri="{BB962C8B-B14F-4D97-AF65-F5344CB8AC3E}">
        <p14:creationId xmlns:p14="http://schemas.microsoft.com/office/powerpoint/2010/main" val="214286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五、经典机器学习算法</a:t>
            </a:r>
            <a:endParaRPr lang="zh-CN" altLang="en-US" sz="2400" dirty="0"/>
          </a:p>
        </p:txBody>
      </p:sp>
      <p:sp>
        <p:nvSpPr>
          <p:cNvPr id="3" name="内容占位符 2"/>
          <p:cNvSpPr>
            <a:spLocks noGrp="1"/>
          </p:cNvSpPr>
          <p:nvPr>
            <p:ph idx="1"/>
          </p:nvPr>
        </p:nvSpPr>
        <p:spPr>
          <a:xfrm>
            <a:off x="611559" y="986626"/>
            <a:ext cx="7704857" cy="432996"/>
          </a:xfrm>
        </p:spPr>
        <p:txBody>
          <a:bodyPr>
            <a:noAutofit/>
          </a:bodyPr>
          <a:lstStyle/>
          <a:p>
            <a:pPr marL="0" indent="0">
              <a:lnSpc>
                <a:spcPct val="150000"/>
              </a:lnSpc>
              <a:spcBef>
                <a:spcPts val="0"/>
              </a:spcBef>
              <a:buNone/>
            </a:pPr>
            <a:r>
              <a:rPr lang="zh-CN" altLang="en-US" sz="1800" dirty="0">
                <a:solidFill>
                  <a:srgbClr val="000066"/>
                </a:solidFill>
                <a:latin typeface="Times New Roman" panose="02020603050405020304" pitchFamily="18" charset="0"/>
                <a:cs typeface="Times New Roman" panose="02020603050405020304" pitchFamily="18" charset="0"/>
              </a:rPr>
              <a:t>三、</a:t>
            </a:r>
            <a:r>
              <a:rPr lang="en-US" altLang="zh-CN" sz="1800" dirty="0">
                <a:solidFill>
                  <a:srgbClr val="000066"/>
                </a:solidFill>
                <a:latin typeface="Times New Roman" panose="02020603050405020304" pitchFamily="18" charset="0"/>
                <a:cs typeface="Times New Roman" panose="02020603050405020304" pitchFamily="18" charset="0"/>
              </a:rPr>
              <a:t>k</a:t>
            </a:r>
            <a:r>
              <a:rPr lang="zh-CN" altLang="en-US" sz="1800" dirty="0">
                <a:solidFill>
                  <a:srgbClr val="000066"/>
                </a:solidFill>
                <a:latin typeface="Times New Roman" panose="02020603050405020304" pitchFamily="18" charset="0"/>
                <a:cs typeface="Times New Roman" panose="02020603050405020304" pitchFamily="18" charset="0"/>
              </a:rPr>
              <a:t>均值聚类</a:t>
            </a:r>
            <a:endParaRPr lang="zh-CN" altLang="zh-CN" sz="1800" dirty="0">
              <a:latin typeface="Times New Roman" panose="02020603050405020304" pitchFamily="18" charset="0"/>
              <a:cs typeface="Times New Roman" panose="02020603050405020304" pitchFamily="18" charset="0"/>
            </a:endParaRPr>
          </a:p>
        </p:txBody>
      </p:sp>
      <p:sp>
        <p:nvSpPr>
          <p:cNvPr id="16" name="文本框 15">
            <a:extLst>
              <a:ext uri="{FF2B5EF4-FFF2-40B4-BE49-F238E27FC236}">
                <a16:creationId xmlns:a16="http://schemas.microsoft.com/office/drawing/2014/main" id="{63D60F5A-2001-4EC7-B2E2-3C894B318E19}"/>
              </a:ext>
            </a:extLst>
          </p:cNvPr>
          <p:cNvSpPr txBox="1"/>
          <p:nvPr/>
        </p:nvSpPr>
        <p:spPr>
          <a:xfrm>
            <a:off x="6271767" y="4199065"/>
            <a:ext cx="987149" cy="363600"/>
          </a:xfrm>
          <a:prstGeom prst="rect">
            <a:avLst/>
          </a:prstGeom>
          <a:noFill/>
          <a:ln w="19050">
            <a:noFill/>
          </a:ln>
        </p:spPr>
        <p:txBody>
          <a:bodyPr wrap="square" tIns="72000" rtlCol="0">
            <a:noAutofit/>
          </a:bodyPr>
          <a:lstStyle/>
          <a:p>
            <a:pPr marL="0" marR="0" lvl="0" indent="0" algn="ctr" defTabSz="914400" rtl="0" eaLnBrk="1" fontAlgn="base" latinLnBrk="0" hangingPunct="1">
              <a:lnSpc>
                <a:spcPct val="100000"/>
              </a:lnSpc>
              <a:spcBef>
                <a:spcPts val="600"/>
              </a:spcBef>
              <a:spcAft>
                <a:spcPct val="0"/>
              </a:spcAft>
              <a:buClrTx/>
              <a:buSzTx/>
              <a:buFontTx/>
              <a:buNone/>
              <a:tabLst/>
              <a:defRPr/>
            </a:pPr>
            <a:r>
              <a:rPr kumimoji="0" lang="zh-CN" altLang="en-US" sz="1600" b="0" i="0" u="none" strike="noStrike" kern="1200" cap="none" spc="0" normalizeH="0" baseline="0" noProof="0" dirty="0">
                <a:ln>
                  <a:noFill/>
                </a:ln>
                <a:solidFill>
                  <a:srgbClr val="000066"/>
                </a:solidFill>
                <a:effectLst/>
                <a:uLnTx/>
                <a:uFillTx/>
                <a:latin typeface="微软雅黑" panose="020B0503020204020204" pitchFamily="34" charset="-122"/>
                <a:ea typeface="微软雅黑" panose="020B0503020204020204" pitchFamily="34" charset="-122"/>
                <a:cs typeface="+mn-cs"/>
              </a:rPr>
              <a:t>爱情片</a:t>
            </a:r>
          </a:p>
        </p:txBody>
      </p:sp>
      <p:sp>
        <p:nvSpPr>
          <p:cNvPr id="17" name="文本框 16">
            <a:extLst>
              <a:ext uri="{FF2B5EF4-FFF2-40B4-BE49-F238E27FC236}">
                <a16:creationId xmlns:a16="http://schemas.microsoft.com/office/drawing/2014/main" id="{0BB11FB9-FB54-4706-BE5D-E4CE3F911BF9}"/>
              </a:ext>
            </a:extLst>
          </p:cNvPr>
          <p:cNvSpPr txBox="1"/>
          <p:nvPr/>
        </p:nvSpPr>
        <p:spPr>
          <a:xfrm>
            <a:off x="6276595" y="3229211"/>
            <a:ext cx="987149" cy="363600"/>
          </a:xfrm>
          <a:prstGeom prst="rect">
            <a:avLst/>
          </a:prstGeom>
          <a:solidFill>
            <a:schemeClr val="bg1"/>
          </a:solidFill>
          <a:ln w="19050">
            <a:noFill/>
          </a:ln>
        </p:spPr>
        <p:txBody>
          <a:bodyPr wrap="square" tIns="72000" rtlCol="0">
            <a:noAutofit/>
          </a:bodyPr>
          <a:lstStyle/>
          <a:p>
            <a:pPr marL="0" marR="0" lvl="0" indent="0" algn="ctr" defTabSz="914400" rtl="0" eaLnBrk="1" fontAlgn="base" latinLnBrk="0" hangingPunct="1">
              <a:lnSpc>
                <a:spcPct val="100000"/>
              </a:lnSpc>
              <a:spcBef>
                <a:spcPts val="600"/>
              </a:spcBef>
              <a:spcAft>
                <a:spcPct val="0"/>
              </a:spcAft>
              <a:buClrTx/>
              <a:buSzTx/>
              <a:buFontTx/>
              <a:buNone/>
              <a:tabLst/>
              <a:defRPr/>
            </a:pPr>
            <a:r>
              <a:rPr kumimoji="0" lang="zh-CN" altLang="en-US" sz="1600" b="0" i="0" u="none" strike="noStrike" kern="1200" cap="none" spc="0" normalizeH="0" baseline="0" noProof="0" dirty="0">
                <a:ln>
                  <a:noFill/>
                </a:ln>
                <a:solidFill>
                  <a:srgbClr val="000066"/>
                </a:solidFill>
                <a:effectLst/>
                <a:uLnTx/>
                <a:uFillTx/>
                <a:latin typeface="微软雅黑" panose="020B0503020204020204" pitchFamily="34" charset="-122"/>
                <a:ea typeface="微软雅黑" panose="020B0503020204020204" pitchFamily="34" charset="-122"/>
                <a:cs typeface="+mn-cs"/>
              </a:rPr>
              <a:t>动作片</a:t>
            </a:r>
          </a:p>
        </p:txBody>
      </p:sp>
      <p:sp>
        <p:nvSpPr>
          <p:cNvPr id="18" name="内容占位符 2"/>
          <p:cNvSpPr txBox="1">
            <a:spLocks/>
          </p:cNvSpPr>
          <p:nvPr/>
        </p:nvSpPr>
        <p:spPr>
          <a:xfrm>
            <a:off x="842672" y="1347614"/>
            <a:ext cx="8155627" cy="1009060"/>
          </a:xfrm>
          <a:prstGeom prst="rect">
            <a:avLst/>
          </a:prstGeom>
        </p:spPr>
        <p:txBody>
          <a:bodyP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722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3012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302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655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50000"/>
              </a:lnSpc>
              <a:spcBef>
                <a:spcPts val="0"/>
              </a:spcBef>
              <a:buFont typeface="Arial" panose="020B0604020202020204" pitchFamily="34" charset="0"/>
              <a:buNone/>
            </a:pPr>
            <a:r>
              <a:rPr lang="zh-CN" altLang="en-US"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案例</a:t>
            </a:r>
            <a:r>
              <a:rPr lang="en-US" altLang="zh-CN"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已知《战狼》《红海</a:t>
            </a:r>
            <a:r>
              <a:rPr lang="zh-CN" altLang="en-US"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行</a:t>
            </a:r>
            <a:r>
              <a:rPr lang="zh-CN" altLang="zh-CN"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动》《碟中谍</a:t>
            </a:r>
            <a:r>
              <a:rPr lang="en-US" altLang="zh-CN"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6</a:t>
            </a:r>
            <a:r>
              <a:rPr lang="zh-CN" altLang="zh-CN"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》《前任</a:t>
            </a:r>
            <a:r>
              <a:rPr lang="en-US" altLang="zh-CN"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zh-CN"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》《春娇与志明》</a:t>
            </a:r>
            <a:endParaRPr lang="en-US" altLang="zh-CN"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0">
              <a:lnSpc>
                <a:spcPct val="150000"/>
              </a:lnSpc>
              <a:spcBef>
                <a:spcPts val="0"/>
              </a:spcBef>
              <a:buFont typeface="Arial" panose="020B0604020202020204" pitchFamily="34" charset="0"/>
              <a:buNone/>
            </a:pPr>
            <a:r>
              <a:rPr lang="en-US" altLang="zh-CN"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《泰坦尼克号》六部电影的有关数据</a:t>
            </a:r>
            <a:r>
              <a:rPr lang="zh-CN" altLang="en-US"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，用</a:t>
            </a:r>
            <a:r>
              <a:rPr lang="en-US" altLang="zh-CN"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en-US"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均值进行聚类，输出聚类结果</a:t>
            </a:r>
            <a:r>
              <a:rPr lang="zh-CN" altLang="zh-CN"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a:t>
            </a:r>
          </a:p>
        </p:txBody>
      </p:sp>
      <p:graphicFrame>
        <p:nvGraphicFramePr>
          <p:cNvPr id="19" name="表格 18">
            <a:extLst>
              <a:ext uri="{FF2B5EF4-FFF2-40B4-BE49-F238E27FC236}">
                <a16:creationId xmlns:a16="http://schemas.microsoft.com/office/drawing/2014/main" id="{FDC2A369-787D-46C7-8AB4-5D3A90B332EE}"/>
              </a:ext>
            </a:extLst>
          </p:cNvPr>
          <p:cNvGraphicFramePr>
            <a:graphicFrameLocks noGrp="1"/>
          </p:cNvGraphicFramePr>
          <p:nvPr>
            <p:extLst>
              <p:ext uri="{D42A27DB-BD31-4B8C-83A1-F6EECF244321}">
                <p14:modId xmlns:p14="http://schemas.microsoft.com/office/powerpoint/2010/main" val="2456395809"/>
              </p:ext>
            </p:extLst>
          </p:nvPr>
        </p:nvGraphicFramePr>
        <p:xfrm>
          <a:off x="2197357" y="2462181"/>
          <a:ext cx="4019302" cy="2440662"/>
        </p:xfrm>
        <a:graphic>
          <a:graphicData uri="http://schemas.openxmlformats.org/drawingml/2006/table">
            <a:tbl>
              <a:tblPr firstRow="1" firstCol="1" bandRow="1">
                <a:tableStyleId>{5C22544A-7EE6-4342-B048-85BDC9FD1C3A}</a:tableStyleId>
              </a:tblPr>
              <a:tblGrid>
                <a:gridCol w="1695525">
                  <a:extLst>
                    <a:ext uri="{9D8B030D-6E8A-4147-A177-3AD203B41FA5}">
                      <a16:colId xmlns:a16="http://schemas.microsoft.com/office/drawing/2014/main" val="3433675817"/>
                    </a:ext>
                  </a:extLst>
                </a:gridCol>
                <a:gridCol w="1116472">
                  <a:extLst>
                    <a:ext uri="{9D8B030D-6E8A-4147-A177-3AD203B41FA5}">
                      <a16:colId xmlns:a16="http://schemas.microsoft.com/office/drawing/2014/main" val="3648509367"/>
                    </a:ext>
                  </a:extLst>
                </a:gridCol>
                <a:gridCol w="1207305">
                  <a:extLst>
                    <a:ext uri="{9D8B030D-6E8A-4147-A177-3AD203B41FA5}">
                      <a16:colId xmlns:a16="http://schemas.microsoft.com/office/drawing/2014/main" val="2536044266"/>
                    </a:ext>
                  </a:extLst>
                </a:gridCol>
              </a:tblGrid>
              <a:tr h="489438">
                <a:tc>
                  <a:txBody>
                    <a:bodyPr/>
                    <a:lstStyle/>
                    <a:p>
                      <a:pPr algn="ctr">
                        <a:spcAft>
                          <a:spcPts val="0"/>
                        </a:spcAft>
                      </a:pPr>
                      <a:r>
                        <a:rPr lang="zh-CN" sz="1600" b="0" kern="100" dirty="0">
                          <a:solidFill>
                            <a:srgbClr val="000066"/>
                          </a:solidFill>
                          <a:effectLst/>
                          <a:latin typeface="Times New Roman" panose="02020603050405020304" pitchFamily="18" charset="0"/>
                          <a:ea typeface="黑体" panose="02010609060101010101" pitchFamily="49" charset="-122"/>
                          <a:cs typeface="Times New Roman" panose="02020603050405020304" pitchFamily="18" charset="0"/>
                        </a:rPr>
                        <a:t>电影名称</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altLang="en-US" sz="1600" b="0" kern="100" dirty="0">
                          <a:solidFill>
                            <a:srgbClr val="000066"/>
                          </a:solidFill>
                          <a:effectLst/>
                          <a:latin typeface="Times New Roman" panose="02020603050405020304" pitchFamily="18" charset="0"/>
                          <a:ea typeface="黑体" panose="02010609060101010101" pitchFamily="49" charset="-122"/>
                          <a:cs typeface="Times New Roman" panose="02020603050405020304" pitchFamily="18" charset="0"/>
                        </a:rPr>
                        <a:t>动作</a:t>
                      </a:r>
                      <a:r>
                        <a:rPr lang="en-US" altLang="zh-CN" sz="1600" b="0" kern="100" dirty="0">
                          <a:solidFill>
                            <a:srgbClr val="000066"/>
                          </a:solidFill>
                          <a:effectLst/>
                          <a:latin typeface="Times New Roman" panose="02020603050405020304" pitchFamily="18" charset="0"/>
                          <a:ea typeface="黑体" panose="02010609060101010101" pitchFamily="49" charset="-122"/>
                          <a:cs typeface="Times New Roman" panose="02020603050405020304" pitchFamily="18" charset="0"/>
                        </a:rPr>
                        <a:t>A</a:t>
                      </a:r>
                      <a:r>
                        <a:rPr lang="zh-CN" sz="1600" b="0" kern="100" dirty="0">
                          <a:solidFill>
                            <a:srgbClr val="000066"/>
                          </a:solidFill>
                          <a:effectLst/>
                          <a:latin typeface="Times New Roman" panose="02020603050405020304" pitchFamily="18" charset="0"/>
                          <a:ea typeface="黑体" panose="02010609060101010101" pitchFamily="49" charset="-122"/>
                          <a:cs typeface="Times New Roman" panose="02020603050405020304" pitchFamily="18" charset="0"/>
                        </a:rPr>
                        <a:t>次数</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altLang="en-US" sz="1600" b="0" kern="100" dirty="0">
                          <a:solidFill>
                            <a:srgbClr val="000066"/>
                          </a:solidFill>
                          <a:effectLst/>
                          <a:latin typeface="Times New Roman" panose="02020603050405020304" pitchFamily="18" charset="0"/>
                          <a:ea typeface="黑体" panose="02010609060101010101" pitchFamily="49" charset="-122"/>
                          <a:cs typeface="Times New Roman" panose="02020603050405020304" pitchFamily="18" charset="0"/>
                        </a:rPr>
                        <a:t>动作</a:t>
                      </a:r>
                      <a:r>
                        <a:rPr lang="en-US" altLang="zh-CN" sz="1600" b="0" kern="100" dirty="0">
                          <a:solidFill>
                            <a:srgbClr val="000066"/>
                          </a:solidFill>
                          <a:effectLst/>
                          <a:latin typeface="Times New Roman" panose="02020603050405020304" pitchFamily="18" charset="0"/>
                          <a:ea typeface="黑体" panose="02010609060101010101" pitchFamily="49" charset="-122"/>
                          <a:cs typeface="Times New Roman" panose="02020603050405020304" pitchFamily="18" charset="0"/>
                        </a:rPr>
                        <a:t>B</a:t>
                      </a:r>
                      <a:r>
                        <a:rPr lang="zh-CN" altLang="en-US" sz="1600" b="0" kern="100" dirty="0">
                          <a:solidFill>
                            <a:srgbClr val="000066"/>
                          </a:solidFill>
                          <a:effectLst/>
                          <a:latin typeface="Times New Roman" panose="02020603050405020304" pitchFamily="18" charset="0"/>
                          <a:ea typeface="黑体" panose="02010609060101010101" pitchFamily="49" charset="-122"/>
                          <a:cs typeface="Times New Roman" panose="02020603050405020304" pitchFamily="18" charset="0"/>
                        </a:rPr>
                        <a:t>次</a:t>
                      </a:r>
                      <a:r>
                        <a:rPr lang="zh-CN" sz="1600" b="0" kern="100" dirty="0">
                          <a:solidFill>
                            <a:srgbClr val="000066"/>
                          </a:solidFill>
                          <a:effectLst/>
                          <a:latin typeface="Times New Roman" panose="02020603050405020304" pitchFamily="18" charset="0"/>
                          <a:ea typeface="黑体" panose="02010609060101010101" pitchFamily="49" charset="-122"/>
                          <a:cs typeface="Times New Roman" panose="02020603050405020304" pitchFamily="18" charset="0"/>
                        </a:rPr>
                        <a:t>数</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42634401"/>
                  </a:ext>
                </a:extLst>
              </a:tr>
              <a:tr h="325204">
                <a:tc>
                  <a:txBody>
                    <a:bodyPr/>
                    <a:lstStyle/>
                    <a:p>
                      <a:pPr algn="ctr">
                        <a:spcAft>
                          <a:spcPts val="0"/>
                        </a:spcAft>
                      </a:pPr>
                      <a:r>
                        <a:rPr lang="zh-CN" sz="1600" b="0" kern="100" dirty="0">
                          <a:solidFill>
                            <a:srgbClr val="000066"/>
                          </a:solidFill>
                          <a:effectLst/>
                          <a:latin typeface="Times New Roman" panose="02020603050405020304" pitchFamily="18" charset="0"/>
                          <a:ea typeface="黑体" panose="02010609060101010101" pitchFamily="49" charset="-122"/>
                          <a:cs typeface="Times New Roman" panose="02020603050405020304" pitchFamily="18" charset="0"/>
                        </a:rPr>
                        <a:t>《战狼》</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黑体" panose="02010609060101010101" pitchFamily="49" charset="-122"/>
                          <a:cs typeface="Times New Roman" panose="02020603050405020304" pitchFamily="18" charset="0"/>
                        </a:rPr>
                        <a:t>100</a:t>
                      </a:r>
                      <a:endParaRPr lang="zh-CN" sz="1600" b="0" kern="100" dirty="0">
                        <a:solidFill>
                          <a:srgbClr val="000066"/>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ea typeface="黑体" panose="02010609060101010101" pitchFamily="49" charset="-122"/>
                          <a:cs typeface="Times New Roman" panose="02020603050405020304" pitchFamily="18" charset="0"/>
                        </a:rPr>
                        <a:t>5</a:t>
                      </a:r>
                      <a:endParaRPr lang="zh-CN" sz="1600" b="0" kern="100">
                        <a:solidFill>
                          <a:srgbClr val="000066"/>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69853562"/>
                  </a:ext>
                </a:extLst>
              </a:tr>
              <a:tr h="325204">
                <a:tc>
                  <a:txBody>
                    <a:bodyPr/>
                    <a:lstStyle/>
                    <a:p>
                      <a:pPr algn="ctr">
                        <a:spcAft>
                          <a:spcPts val="0"/>
                        </a:spcAft>
                      </a:pPr>
                      <a:r>
                        <a:rPr lang="zh-CN" sz="1600" b="0" kern="100" dirty="0">
                          <a:solidFill>
                            <a:srgbClr val="000066"/>
                          </a:solidFill>
                          <a:effectLst/>
                          <a:latin typeface="Times New Roman" panose="02020603050405020304" pitchFamily="18" charset="0"/>
                          <a:ea typeface="黑体" panose="02010609060101010101" pitchFamily="49" charset="-122"/>
                          <a:cs typeface="Times New Roman" panose="02020603050405020304" pitchFamily="18" charset="0"/>
                        </a:rPr>
                        <a:t>《红海行动》</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黑体" panose="02010609060101010101" pitchFamily="49" charset="-122"/>
                          <a:cs typeface="Times New Roman" panose="02020603050405020304" pitchFamily="18" charset="0"/>
                        </a:rPr>
                        <a:t>95</a:t>
                      </a:r>
                      <a:endParaRPr lang="zh-CN" sz="1600" b="0" kern="100" dirty="0">
                        <a:solidFill>
                          <a:srgbClr val="000066"/>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ea typeface="黑体" panose="02010609060101010101" pitchFamily="49" charset="-122"/>
                          <a:cs typeface="Times New Roman" panose="02020603050405020304" pitchFamily="18" charset="0"/>
                        </a:rPr>
                        <a:t>3</a:t>
                      </a:r>
                      <a:endParaRPr lang="zh-CN" sz="1600" b="0" kern="100">
                        <a:solidFill>
                          <a:srgbClr val="000066"/>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30108867"/>
                  </a:ext>
                </a:extLst>
              </a:tr>
              <a:tr h="325204">
                <a:tc>
                  <a:txBody>
                    <a:bodyPr/>
                    <a:lstStyle/>
                    <a:p>
                      <a:pPr algn="ctr">
                        <a:spcAft>
                          <a:spcPts val="0"/>
                        </a:spcAft>
                      </a:pPr>
                      <a:r>
                        <a:rPr lang="zh-CN" sz="1600" b="0" kern="100">
                          <a:solidFill>
                            <a:srgbClr val="000066"/>
                          </a:solidFill>
                          <a:effectLst/>
                          <a:latin typeface="Times New Roman" panose="02020603050405020304" pitchFamily="18" charset="0"/>
                          <a:ea typeface="黑体" panose="02010609060101010101" pitchFamily="49" charset="-122"/>
                          <a:cs typeface="Times New Roman" panose="02020603050405020304" pitchFamily="18" charset="0"/>
                        </a:rPr>
                        <a:t>《碟中谍</a:t>
                      </a:r>
                      <a:r>
                        <a:rPr lang="en-US" sz="1600" b="0" kern="100">
                          <a:solidFill>
                            <a:srgbClr val="000066"/>
                          </a:solidFill>
                          <a:effectLst/>
                          <a:latin typeface="Times New Roman" panose="02020603050405020304" pitchFamily="18" charset="0"/>
                          <a:ea typeface="黑体" panose="02010609060101010101" pitchFamily="49" charset="-122"/>
                          <a:cs typeface="Times New Roman" panose="02020603050405020304" pitchFamily="18" charset="0"/>
                        </a:rPr>
                        <a:t>6</a:t>
                      </a:r>
                      <a:r>
                        <a:rPr lang="zh-CN" sz="1600" b="0" kern="100">
                          <a:solidFill>
                            <a:srgbClr val="000066"/>
                          </a:solidFill>
                          <a:effectLst/>
                          <a:latin typeface="Times New Roman" panose="02020603050405020304" pitchFamily="18" charset="0"/>
                          <a:ea typeface="黑体" panose="02010609060101010101" pitchFamily="49" charset="-122"/>
                          <a:cs typeface="Times New Roman" panose="02020603050405020304" pitchFamily="18"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黑体" panose="02010609060101010101" pitchFamily="49" charset="-122"/>
                          <a:cs typeface="Times New Roman" panose="02020603050405020304" pitchFamily="18" charset="0"/>
                        </a:rPr>
                        <a:t>105</a:t>
                      </a:r>
                      <a:endParaRPr lang="zh-CN" sz="1600" b="0" kern="100" dirty="0">
                        <a:solidFill>
                          <a:srgbClr val="000066"/>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黑体" panose="02010609060101010101" pitchFamily="49" charset="-122"/>
                          <a:cs typeface="Times New Roman" panose="02020603050405020304" pitchFamily="18" charset="0"/>
                        </a:rPr>
                        <a:t>31</a:t>
                      </a:r>
                      <a:endParaRPr lang="zh-CN" sz="1600" b="0" kern="100" dirty="0">
                        <a:solidFill>
                          <a:srgbClr val="000066"/>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29633655"/>
                  </a:ext>
                </a:extLst>
              </a:tr>
              <a:tr h="325204">
                <a:tc>
                  <a:txBody>
                    <a:bodyPr/>
                    <a:lstStyle/>
                    <a:p>
                      <a:pPr algn="ctr">
                        <a:spcAft>
                          <a:spcPts val="0"/>
                        </a:spcAft>
                      </a:pPr>
                      <a:r>
                        <a:rPr lang="zh-CN" sz="1600" b="0" kern="100">
                          <a:solidFill>
                            <a:srgbClr val="000066"/>
                          </a:solidFill>
                          <a:effectLst/>
                          <a:latin typeface="Times New Roman" panose="02020603050405020304" pitchFamily="18" charset="0"/>
                          <a:ea typeface="黑体" panose="02010609060101010101" pitchFamily="49" charset="-122"/>
                          <a:cs typeface="Times New Roman" panose="02020603050405020304" pitchFamily="18" charset="0"/>
                        </a:rPr>
                        <a:t>《前任</a:t>
                      </a:r>
                      <a:r>
                        <a:rPr lang="en-US" sz="1600" b="0" kern="100">
                          <a:solidFill>
                            <a:srgbClr val="000066"/>
                          </a:solidFill>
                          <a:effectLst/>
                          <a:latin typeface="Times New Roman" panose="02020603050405020304" pitchFamily="18" charset="0"/>
                          <a:ea typeface="黑体" panose="02010609060101010101" pitchFamily="49" charset="-122"/>
                          <a:cs typeface="Times New Roman" panose="02020603050405020304" pitchFamily="18" charset="0"/>
                        </a:rPr>
                        <a:t>3</a:t>
                      </a:r>
                      <a:r>
                        <a:rPr lang="zh-CN" sz="1600" b="0" kern="100">
                          <a:solidFill>
                            <a:srgbClr val="000066"/>
                          </a:solidFill>
                          <a:effectLst/>
                          <a:latin typeface="Times New Roman" panose="02020603050405020304" pitchFamily="18" charset="0"/>
                          <a:ea typeface="黑体" panose="02010609060101010101" pitchFamily="49" charset="-122"/>
                          <a:cs typeface="Times New Roman" panose="02020603050405020304" pitchFamily="18"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黑体" panose="02010609060101010101" pitchFamily="49" charset="-122"/>
                          <a:cs typeface="Times New Roman" panose="02020603050405020304" pitchFamily="18" charset="0"/>
                        </a:rPr>
                        <a:t>2</a:t>
                      </a:r>
                      <a:endParaRPr lang="zh-CN" sz="1600" b="0" kern="100" dirty="0">
                        <a:solidFill>
                          <a:srgbClr val="000066"/>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黑体" panose="02010609060101010101" pitchFamily="49" charset="-122"/>
                          <a:cs typeface="Times New Roman" panose="02020603050405020304" pitchFamily="18" charset="0"/>
                        </a:rPr>
                        <a:t>59</a:t>
                      </a:r>
                      <a:endParaRPr lang="zh-CN" sz="1600" b="0" kern="100" dirty="0">
                        <a:solidFill>
                          <a:srgbClr val="000066"/>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41528066"/>
                  </a:ext>
                </a:extLst>
              </a:tr>
              <a:tr h="325204">
                <a:tc>
                  <a:txBody>
                    <a:bodyPr/>
                    <a:lstStyle/>
                    <a:p>
                      <a:pPr algn="ctr">
                        <a:spcAft>
                          <a:spcPts val="0"/>
                        </a:spcAft>
                      </a:pPr>
                      <a:r>
                        <a:rPr lang="zh-CN" sz="1600" b="0" kern="100">
                          <a:solidFill>
                            <a:srgbClr val="000066"/>
                          </a:solidFill>
                          <a:effectLst/>
                          <a:latin typeface="Times New Roman" panose="02020603050405020304" pitchFamily="18" charset="0"/>
                          <a:ea typeface="黑体" panose="02010609060101010101" pitchFamily="49" charset="-122"/>
                          <a:cs typeface="Times New Roman" panose="02020603050405020304" pitchFamily="18" charset="0"/>
                        </a:rPr>
                        <a:t>《春娇与志明》</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黑体" panose="02010609060101010101" pitchFamily="49" charset="-122"/>
                          <a:cs typeface="Times New Roman" panose="02020603050405020304" pitchFamily="18" charset="0"/>
                        </a:rPr>
                        <a:t>3</a:t>
                      </a:r>
                      <a:endParaRPr lang="zh-CN" sz="1600" b="0" kern="100" dirty="0">
                        <a:solidFill>
                          <a:srgbClr val="000066"/>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黑体" panose="02010609060101010101" pitchFamily="49" charset="-122"/>
                          <a:cs typeface="Times New Roman" panose="02020603050405020304" pitchFamily="18" charset="0"/>
                        </a:rPr>
                        <a:t>60</a:t>
                      </a:r>
                      <a:endParaRPr lang="zh-CN" sz="1600" b="0" kern="100" dirty="0">
                        <a:solidFill>
                          <a:srgbClr val="000066"/>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96133393"/>
                  </a:ext>
                </a:extLst>
              </a:tr>
              <a:tr h="325204">
                <a:tc>
                  <a:txBody>
                    <a:bodyPr/>
                    <a:lstStyle/>
                    <a:p>
                      <a:pPr algn="ctr">
                        <a:spcAft>
                          <a:spcPts val="0"/>
                        </a:spcAft>
                      </a:pPr>
                      <a:r>
                        <a:rPr lang="zh-CN" sz="1600" b="0" kern="100">
                          <a:solidFill>
                            <a:srgbClr val="000066"/>
                          </a:solidFill>
                          <a:effectLst/>
                          <a:latin typeface="Times New Roman" panose="02020603050405020304" pitchFamily="18" charset="0"/>
                          <a:ea typeface="黑体" panose="02010609060101010101" pitchFamily="49" charset="-122"/>
                          <a:cs typeface="Times New Roman" panose="02020603050405020304" pitchFamily="18" charset="0"/>
                        </a:rPr>
                        <a:t>《泰坦尼克号》</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ea typeface="黑体" panose="02010609060101010101" pitchFamily="49" charset="-122"/>
                          <a:cs typeface="Times New Roman" panose="02020603050405020304" pitchFamily="18" charset="0"/>
                        </a:rPr>
                        <a:t>10</a:t>
                      </a:r>
                      <a:endParaRPr lang="zh-CN" sz="1600" b="0" kern="100">
                        <a:solidFill>
                          <a:srgbClr val="000066"/>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黑体" panose="02010609060101010101" pitchFamily="49" charset="-122"/>
                          <a:cs typeface="Times New Roman" panose="02020603050405020304" pitchFamily="18" charset="0"/>
                        </a:rPr>
                        <a:t>80</a:t>
                      </a:r>
                      <a:endParaRPr lang="zh-CN" sz="1600" b="0" kern="100" dirty="0">
                        <a:solidFill>
                          <a:srgbClr val="000066"/>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622859"/>
                  </a:ext>
                </a:extLst>
              </a:tr>
            </a:tbl>
          </a:graphicData>
        </a:graphic>
      </p:graphicFrame>
      <p:sp>
        <p:nvSpPr>
          <p:cNvPr id="20" name="右大括号 19">
            <a:extLst>
              <a:ext uri="{FF2B5EF4-FFF2-40B4-BE49-F238E27FC236}">
                <a16:creationId xmlns:a16="http://schemas.microsoft.com/office/drawing/2014/main" id="{A670A6C8-185F-4F9B-A14A-3CF729935A15}"/>
              </a:ext>
            </a:extLst>
          </p:cNvPr>
          <p:cNvSpPr/>
          <p:nvPr/>
        </p:nvSpPr>
        <p:spPr>
          <a:xfrm>
            <a:off x="6266899" y="3968864"/>
            <a:ext cx="82431" cy="922345"/>
          </a:xfrm>
          <a:prstGeom prst="rightBrace">
            <a:avLst/>
          </a:prstGeom>
          <a:ln w="15875">
            <a:solidFill>
              <a:srgbClr val="00006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右大括号 20">
            <a:extLst>
              <a:ext uri="{FF2B5EF4-FFF2-40B4-BE49-F238E27FC236}">
                <a16:creationId xmlns:a16="http://schemas.microsoft.com/office/drawing/2014/main" id="{7F1A4DC1-4A0D-442B-895C-C3C633C4B41D}"/>
              </a:ext>
            </a:extLst>
          </p:cNvPr>
          <p:cNvSpPr/>
          <p:nvPr/>
        </p:nvSpPr>
        <p:spPr>
          <a:xfrm>
            <a:off x="6266899" y="2973593"/>
            <a:ext cx="82431" cy="922345"/>
          </a:xfrm>
          <a:prstGeom prst="rightBrace">
            <a:avLst/>
          </a:prstGeom>
          <a:ln w="15875">
            <a:solidFill>
              <a:srgbClr val="00006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3387560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五、经典机器学习算法</a:t>
            </a:r>
            <a:endParaRPr lang="zh-CN" altLang="en-US" sz="2400" dirty="0"/>
          </a:p>
        </p:txBody>
      </p:sp>
      <p:sp>
        <p:nvSpPr>
          <p:cNvPr id="3" name="内容占位符 2"/>
          <p:cNvSpPr>
            <a:spLocks noGrp="1"/>
          </p:cNvSpPr>
          <p:nvPr>
            <p:ph idx="1"/>
          </p:nvPr>
        </p:nvSpPr>
        <p:spPr>
          <a:xfrm>
            <a:off x="611559" y="986626"/>
            <a:ext cx="7704857" cy="432996"/>
          </a:xfrm>
        </p:spPr>
        <p:txBody>
          <a:bodyPr>
            <a:noAutofit/>
          </a:bodyPr>
          <a:lstStyle/>
          <a:p>
            <a:pPr marL="0" indent="0">
              <a:lnSpc>
                <a:spcPct val="150000"/>
              </a:lnSpc>
              <a:spcBef>
                <a:spcPts val="0"/>
              </a:spcBef>
              <a:buNone/>
            </a:pPr>
            <a:r>
              <a:rPr lang="zh-CN" altLang="en-US" sz="1800" dirty="0">
                <a:solidFill>
                  <a:srgbClr val="000066"/>
                </a:solidFill>
                <a:latin typeface="Times New Roman" panose="02020603050405020304" pitchFamily="18" charset="0"/>
                <a:cs typeface="Times New Roman" panose="02020603050405020304" pitchFamily="18" charset="0"/>
              </a:rPr>
              <a:t>三、</a:t>
            </a:r>
            <a:r>
              <a:rPr lang="en-US" altLang="zh-CN" sz="1800" dirty="0">
                <a:solidFill>
                  <a:srgbClr val="000066"/>
                </a:solidFill>
                <a:latin typeface="Times New Roman" panose="02020603050405020304" pitchFamily="18" charset="0"/>
                <a:cs typeface="Times New Roman" panose="02020603050405020304" pitchFamily="18" charset="0"/>
              </a:rPr>
              <a:t>k</a:t>
            </a:r>
            <a:r>
              <a:rPr lang="zh-CN" altLang="en-US" sz="1800" dirty="0">
                <a:solidFill>
                  <a:srgbClr val="000066"/>
                </a:solidFill>
                <a:latin typeface="Times New Roman" panose="02020603050405020304" pitchFamily="18" charset="0"/>
                <a:cs typeface="Times New Roman" panose="02020603050405020304" pitchFamily="18" charset="0"/>
              </a:rPr>
              <a:t>均值聚类</a:t>
            </a:r>
            <a:endParaRPr lang="zh-CN" altLang="zh-CN" sz="1800" dirty="0">
              <a:latin typeface="Times New Roman" panose="02020603050405020304" pitchFamily="18" charset="0"/>
              <a:cs typeface="Times New Roman" panose="02020603050405020304" pitchFamily="18" charset="0"/>
            </a:endParaRPr>
          </a:p>
        </p:txBody>
      </p:sp>
      <p:sp>
        <p:nvSpPr>
          <p:cNvPr id="22" name="矩形: 单圆角 14">
            <a:extLst>
              <a:ext uri="{FF2B5EF4-FFF2-40B4-BE49-F238E27FC236}">
                <a16:creationId xmlns:a16="http://schemas.microsoft.com/office/drawing/2014/main" id="{E4BF6F32-9D8F-4E71-8051-895F162C90DC}"/>
              </a:ext>
            </a:extLst>
          </p:cNvPr>
          <p:cNvSpPr/>
          <p:nvPr/>
        </p:nvSpPr>
        <p:spPr bwMode="gray">
          <a:xfrm>
            <a:off x="1665483" y="4464634"/>
            <a:ext cx="4063975" cy="468000"/>
          </a:xfrm>
          <a:prstGeom prst="round1Rect">
            <a:avLst/>
          </a:prstGeom>
          <a:solidFill>
            <a:schemeClr val="tx2">
              <a:lumMod val="40000"/>
              <a:lumOff val="60000"/>
            </a:schemeClr>
          </a:solidFill>
          <a:ln w="9525">
            <a:noFill/>
            <a:miter lim="800000"/>
            <a:headEnd/>
            <a:tailEnd/>
          </a:ln>
          <a:effectLst/>
        </p:spPr>
        <p:txBody>
          <a:bodyPr wrap="none"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400" b="1"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endParaRPr>
          </a:p>
        </p:txBody>
      </p:sp>
      <p:sp>
        <p:nvSpPr>
          <p:cNvPr id="23" name="矩形: 单圆角 13">
            <a:extLst>
              <a:ext uri="{FF2B5EF4-FFF2-40B4-BE49-F238E27FC236}">
                <a16:creationId xmlns:a16="http://schemas.microsoft.com/office/drawing/2014/main" id="{113FA89A-7A0B-4F5A-AF88-D60AD62EF6EA}"/>
              </a:ext>
            </a:extLst>
          </p:cNvPr>
          <p:cNvSpPr/>
          <p:nvPr/>
        </p:nvSpPr>
        <p:spPr bwMode="gray">
          <a:xfrm>
            <a:off x="1675969" y="3976951"/>
            <a:ext cx="4063976" cy="468000"/>
          </a:xfrm>
          <a:prstGeom prst="round1Rect">
            <a:avLst/>
          </a:prstGeom>
          <a:solidFill>
            <a:srgbClr val="CCFFCC"/>
          </a:solidFill>
          <a:ln w="9525">
            <a:noFill/>
            <a:miter lim="800000"/>
            <a:headEnd/>
            <a:tailEnd/>
          </a:ln>
          <a:effectLst/>
        </p:spPr>
        <p:txBody>
          <a:bodyPr wrap="none"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400" b="1"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endParaRPr>
          </a:p>
        </p:txBody>
      </p:sp>
      <p:sp>
        <p:nvSpPr>
          <p:cNvPr id="24" name="矩形: 单圆角 12">
            <a:extLst>
              <a:ext uri="{FF2B5EF4-FFF2-40B4-BE49-F238E27FC236}">
                <a16:creationId xmlns:a16="http://schemas.microsoft.com/office/drawing/2014/main" id="{3750444E-7B23-44CC-A277-162F80C0E61B}"/>
              </a:ext>
            </a:extLst>
          </p:cNvPr>
          <p:cNvSpPr/>
          <p:nvPr/>
        </p:nvSpPr>
        <p:spPr bwMode="gray">
          <a:xfrm>
            <a:off x="1675968" y="2500690"/>
            <a:ext cx="4063977" cy="1457436"/>
          </a:xfrm>
          <a:prstGeom prst="round1Rect">
            <a:avLst/>
          </a:prstGeom>
          <a:solidFill>
            <a:srgbClr val="66CCFF"/>
          </a:solidFill>
          <a:ln w="9525">
            <a:noFill/>
            <a:miter lim="800000"/>
            <a:headEnd/>
            <a:tailEnd/>
          </a:ln>
          <a:effectLst/>
        </p:spPr>
        <p:txBody>
          <a:bodyPr wrap="none"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400" b="1"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endParaRPr>
          </a:p>
        </p:txBody>
      </p:sp>
      <p:sp>
        <p:nvSpPr>
          <p:cNvPr id="25" name="内容占位符 2"/>
          <p:cNvSpPr txBox="1">
            <a:spLocks/>
          </p:cNvSpPr>
          <p:nvPr/>
        </p:nvSpPr>
        <p:spPr>
          <a:xfrm>
            <a:off x="955888" y="1275606"/>
            <a:ext cx="7732662" cy="4033396"/>
          </a:xfrm>
          <a:prstGeom prst="rect">
            <a:avLst/>
          </a:prstGeom>
        </p:spPr>
        <p:txBody>
          <a:bodyP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722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3012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302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655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50000"/>
              </a:lnSpc>
              <a:spcBef>
                <a:spcPts val="0"/>
              </a:spcBef>
              <a:buFont typeface="Arial" panose="020B0604020202020204" pitchFamily="34" charset="0"/>
              <a:buNone/>
            </a:pPr>
            <a:r>
              <a:rPr lang="zh-CN" altLang="en-US"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用</a:t>
            </a:r>
            <a:r>
              <a:rPr lang="en-US" altLang="zh-CN"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en-US"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均值聚两类</a:t>
            </a:r>
            <a:endParaRPr lang="en-US" altLang="zh-CN"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marL="720000" indent="0">
              <a:lnSpc>
                <a:spcPct val="100000"/>
              </a:lnSpc>
              <a:spcBef>
                <a:spcPts val="0"/>
              </a:spcBef>
              <a:buFont typeface="Arial" panose="020B0604020202020204" pitchFamily="34" charset="0"/>
              <a:buNone/>
            </a:pPr>
            <a:r>
              <a:rPr lang="en-US" altLang="zh-CN" sz="1600" dirty="0">
                <a:solidFill>
                  <a:srgbClr val="002060"/>
                </a:solidFill>
                <a:latin typeface="Times New Roman" panose="02020603050405020304" pitchFamily="18" charset="0"/>
                <a:cs typeface="Times New Roman" panose="02020603050405020304" pitchFamily="18" charset="0"/>
              </a:rPr>
              <a:t>import </a:t>
            </a:r>
            <a:r>
              <a:rPr lang="en-US" altLang="zh-CN" sz="1600" dirty="0" err="1">
                <a:solidFill>
                  <a:srgbClr val="002060"/>
                </a:solidFill>
                <a:latin typeface="Times New Roman" panose="02020603050405020304" pitchFamily="18" charset="0"/>
                <a:cs typeface="Times New Roman" panose="02020603050405020304" pitchFamily="18" charset="0"/>
              </a:rPr>
              <a:t>numpy</a:t>
            </a:r>
            <a:r>
              <a:rPr lang="en-US" altLang="zh-CN" sz="1600" dirty="0">
                <a:solidFill>
                  <a:srgbClr val="002060"/>
                </a:solidFill>
                <a:latin typeface="Times New Roman" panose="02020603050405020304" pitchFamily="18" charset="0"/>
                <a:cs typeface="Times New Roman" panose="02020603050405020304" pitchFamily="18" charset="0"/>
              </a:rPr>
              <a:t> as np</a:t>
            </a:r>
          </a:p>
          <a:p>
            <a:pPr marL="720000" indent="0">
              <a:lnSpc>
                <a:spcPct val="100000"/>
              </a:lnSpc>
              <a:spcBef>
                <a:spcPts val="0"/>
              </a:spcBef>
              <a:buFont typeface="Arial" panose="020B0604020202020204" pitchFamily="34" charset="0"/>
              <a:buNone/>
            </a:pPr>
            <a:r>
              <a:rPr lang="en-US" altLang="zh-CN" sz="1600" dirty="0">
                <a:solidFill>
                  <a:srgbClr val="002060"/>
                </a:solidFill>
                <a:latin typeface="Times New Roman" panose="02020603050405020304" pitchFamily="18" charset="0"/>
                <a:cs typeface="Times New Roman" panose="02020603050405020304" pitchFamily="18" charset="0"/>
              </a:rPr>
              <a:t>import </a:t>
            </a:r>
            <a:r>
              <a:rPr lang="en-US" altLang="zh-CN" sz="1600" dirty="0" err="1">
                <a:solidFill>
                  <a:srgbClr val="002060"/>
                </a:solidFill>
                <a:latin typeface="Times New Roman" panose="02020603050405020304" pitchFamily="18" charset="0"/>
                <a:cs typeface="Times New Roman" panose="02020603050405020304" pitchFamily="18" charset="0"/>
              </a:rPr>
              <a:t>matplotlib.pyplot</a:t>
            </a:r>
            <a:r>
              <a:rPr lang="en-US" altLang="zh-CN" sz="1600" dirty="0">
                <a:solidFill>
                  <a:srgbClr val="002060"/>
                </a:solidFill>
                <a:latin typeface="Times New Roman" panose="02020603050405020304" pitchFamily="18" charset="0"/>
                <a:cs typeface="Times New Roman" panose="02020603050405020304" pitchFamily="18" charset="0"/>
              </a:rPr>
              <a:t> as </a:t>
            </a:r>
            <a:r>
              <a:rPr lang="en-US" altLang="zh-CN" sz="1600" dirty="0" err="1">
                <a:solidFill>
                  <a:srgbClr val="002060"/>
                </a:solidFill>
                <a:latin typeface="Times New Roman" panose="02020603050405020304" pitchFamily="18" charset="0"/>
                <a:cs typeface="Times New Roman" panose="02020603050405020304" pitchFamily="18" charset="0"/>
              </a:rPr>
              <a:t>plt</a:t>
            </a:r>
            <a:endParaRPr lang="en-US" altLang="zh-CN" sz="1600" dirty="0">
              <a:solidFill>
                <a:srgbClr val="002060"/>
              </a:solidFill>
              <a:latin typeface="Times New Roman" panose="02020603050405020304" pitchFamily="18" charset="0"/>
              <a:cs typeface="Times New Roman" panose="02020603050405020304" pitchFamily="18" charset="0"/>
            </a:endParaRPr>
          </a:p>
          <a:p>
            <a:pPr marL="720000" indent="0">
              <a:lnSpc>
                <a:spcPct val="100000"/>
              </a:lnSpc>
              <a:spcBef>
                <a:spcPts val="0"/>
              </a:spcBef>
              <a:buFont typeface="Arial" panose="020B0604020202020204" pitchFamily="34" charset="0"/>
              <a:buNone/>
            </a:pPr>
            <a:r>
              <a:rPr lang="en-US" altLang="zh-CN" sz="1600" dirty="0">
                <a:solidFill>
                  <a:srgbClr val="002060"/>
                </a:solidFill>
                <a:latin typeface="Times New Roman" panose="02020603050405020304" pitchFamily="18" charset="0"/>
                <a:cs typeface="Times New Roman" panose="02020603050405020304" pitchFamily="18" charset="0"/>
              </a:rPr>
              <a:t>from </a:t>
            </a:r>
            <a:r>
              <a:rPr lang="en-US" altLang="zh-CN" sz="1600" dirty="0" err="1">
                <a:solidFill>
                  <a:srgbClr val="002060"/>
                </a:solidFill>
                <a:latin typeface="Times New Roman" panose="02020603050405020304" pitchFamily="18" charset="0"/>
                <a:cs typeface="Times New Roman" panose="02020603050405020304" pitchFamily="18" charset="0"/>
              </a:rPr>
              <a:t>sklearn.cluster</a:t>
            </a:r>
            <a:r>
              <a:rPr lang="en-US" altLang="zh-CN" sz="1600" dirty="0">
                <a:solidFill>
                  <a:srgbClr val="002060"/>
                </a:solidFill>
                <a:latin typeface="Times New Roman" panose="02020603050405020304" pitchFamily="18" charset="0"/>
                <a:cs typeface="Times New Roman" panose="02020603050405020304" pitchFamily="18" charset="0"/>
              </a:rPr>
              <a:t> import </a:t>
            </a:r>
            <a:r>
              <a:rPr lang="en-US" altLang="zh-CN" sz="1600" dirty="0" err="1">
                <a:solidFill>
                  <a:srgbClr val="002060"/>
                </a:solidFill>
                <a:latin typeface="Times New Roman" panose="02020603050405020304" pitchFamily="18" charset="0"/>
                <a:cs typeface="Times New Roman" panose="02020603050405020304" pitchFamily="18" charset="0"/>
              </a:rPr>
              <a:t>KMeans</a:t>
            </a:r>
            <a:endParaRPr lang="en-US" altLang="zh-CN" sz="1600" dirty="0">
              <a:solidFill>
                <a:srgbClr val="002060"/>
              </a:solidFill>
              <a:latin typeface="Times New Roman" panose="02020603050405020304" pitchFamily="18" charset="0"/>
              <a:cs typeface="Times New Roman" panose="02020603050405020304" pitchFamily="18" charset="0"/>
            </a:endParaRPr>
          </a:p>
          <a:p>
            <a:pPr marL="720000" indent="0">
              <a:lnSpc>
                <a:spcPct val="100000"/>
              </a:lnSpc>
              <a:spcBef>
                <a:spcPts val="0"/>
              </a:spcBef>
              <a:buFont typeface="Arial" panose="020B0604020202020204" pitchFamily="34" charset="0"/>
              <a:buNone/>
            </a:pPr>
            <a:r>
              <a:rPr lang="en-US" altLang="zh-CN" sz="1600" dirty="0">
                <a:solidFill>
                  <a:srgbClr val="002060"/>
                </a:solidFill>
                <a:latin typeface="Times New Roman" panose="02020603050405020304" pitchFamily="18" charset="0"/>
                <a:cs typeface="Times New Roman" panose="02020603050405020304" pitchFamily="18" charset="0"/>
              </a:rPr>
              <a:t>X=</a:t>
            </a:r>
            <a:r>
              <a:rPr lang="en-US" altLang="zh-CN" sz="1600" dirty="0" err="1">
                <a:solidFill>
                  <a:srgbClr val="002060"/>
                </a:solidFill>
                <a:latin typeface="Times New Roman" panose="02020603050405020304" pitchFamily="18" charset="0"/>
                <a:cs typeface="Times New Roman" panose="02020603050405020304" pitchFamily="18" charset="0"/>
              </a:rPr>
              <a:t>np.array</a:t>
            </a:r>
            <a:r>
              <a:rPr lang="en-US" altLang="zh-CN" sz="1600" dirty="0">
                <a:solidFill>
                  <a:srgbClr val="002060"/>
                </a:solidFill>
                <a:latin typeface="Times New Roman" panose="02020603050405020304" pitchFamily="18" charset="0"/>
                <a:cs typeface="Times New Roman" panose="02020603050405020304" pitchFamily="18" charset="0"/>
              </a:rPr>
              <a:t>([[100, 25],</a:t>
            </a:r>
          </a:p>
          <a:p>
            <a:pPr marL="720000" indent="0">
              <a:lnSpc>
                <a:spcPct val="100000"/>
              </a:lnSpc>
              <a:spcBef>
                <a:spcPts val="0"/>
              </a:spcBef>
              <a:buFont typeface="Arial" panose="020B0604020202020204" pitchFamily="34" charset="0"/>
              <a:buNone/>
            </a:pPr>
            <a:r>
              <a:rPr lang="en-US" altLang="zh-CN" sz="1600" dirty="0">
                <a:solidFill>
                  <a:srgbClr val="002060"/>
                </a:solidFill>
                <a:latin typeface="Times New Roman" panose="02020603050405020304" pitchFamily="18" charset="0"/>
                <a:cs typeface="Times New Roman" panose="02020603050405020304" pitchFamily="18" charset="0"/>
              </a:rPr>
              <a:t>                     [  95, 43],</a:t>
            </a:r>
          </a:p>
          <a:p>
            <a:pPr marL="720000" indent="0">
              <a:lnSpc>
                <a:spcPct val="100000"/>
              </a:lnSpc>
              <a:spcBef>
                <a:spcPts val="0"/>
              </a:spcBef>
              <a:buFont typeface="Arial" panose="020B0604020202020204" pitchFamily="34" charset="0"/>
              <a:buNone/>
            </a:pPr>
            <a:r>
              <a:rPr lang="en-US" altLang="zh-CN" sz="1600" dirty="0">
                <a:solidFill>
                  <a:srgbClr val="002060"/>
                </a:solidFill>
                <a:latin typeface="Times New Roman" panose="02020603050405020304" pitchFamily="18" charset="0"/>
                <a:cs typeface="Times New Roman" panose="02020603050405020304" pitchFamily="18" charset="0"/>
              </a:rPr>
              <a:t>                     [105, 31],</a:t>
            </a:r>
          </a:p>
          <a:p>
            <a:pPr marL="720000" indent="0">
              <a:lnSpc>
                <a:spcPct val="100000"/>
              </a:lnSpc>
              <a:spcBef>
                <a:spcPts val="0"/>
              </a:spcBef>
              <a:buFont typeface="Arial" panose="020B0604020202020204" pitchFamily="34" charset="0"/>
              <a:buNone/>
            </a:pPr>
            <a:r>
              <a:rPr lang="en-US" altLang="zh-CN" sz="1600" dirty="0">
                <a:solidFill>
                  <a:srgbClr val="002060"/>
                </a:solidFill>
                <a:latin typeface="Times New Roman" panose="02020603050405020304" pitchFamily="18" charset="0"/>
                <a:cs typeface="Times New Roman" panose="02020603050405020304" pitchFamily="18" charset="0"/>
              </a:rPr>
              <a:t>                     [  26, 60],</a:t>
            </a:r>
          </a:p>
          <a:p>
            <a:pPr marL="720000" indent="0">
              <a:lnSpc>
                <a:spcPct val="100000"/>
              </a:lnSpc>
              <a:spcBef>
                <a:spcPts val="0"/>
              </a:spcBef>
              <a:buFont typeface="Arial" panose="020B0604020202020204" pitchFamily="34" charset="0"/>
              <a:buNone/>
            </a:pPr>
            <a:r>
              <a:rPr lang="en-US" altLang="zh-CN" sz="1600" dirty="0">
                <a:solidFill>
                  <a:srgbClr val="002060"/>
                </a:solidFill>
                <a:latin typeface="Times New Roman" panose="02020603050405020304" pitchFamily="18" charset="0"/>
                <a:cs typeface="Times New Roman" panose="02020603050405020304" pitchFamily="18" charset="0"/>
              </a:rPr>
              <a:t>                     [  33, 70],</a:t>
            </a:r>
          </a:p>
          <a:p>
            <a:pPr marL="720000" indent="0">
              <a:lnSpc>
                <a:spcPct val="100000"/>
              </a:lnSpc>
              <a:spcBef>
                <a:spcPts val="0"/>
              </a:spcBef>
              <a:buFont typeface="Arial" panose="020B0604020202020204" pitchFamily="34" charset="0"/>
              <a:buNone/>
            </a:pPr>
            <a:r>
              <a:rPr lang="en-US" altLang="zh-CN" sz="1600" dirty="0">
                <a:solidFill>
                  <a:srgbClr val="002060"/>
                </a:solidFill>
                <a:latin typeface="Times New Roman" panose="02020603050405020304" pitchFamily="18" charset="0"/>
                <a:cs typeface="Times New Roman" panose="02020603050405020304" pitchFamily="18" charset="0"/>
              </a:rPr>
              <a:t>                     [ 10,  80]])</a:t>
            </a:r>
          </a:p>
          <a:p>
            <a:pPr marL="720000" indent="0">
              <a:lnSpc>
                <a:spcPct val="100000"/>
              </a:lnSpc>
              <a:spcBef>
                <a:spcPts val="0"/>
              </a:spcBef>
              <a:buFont typeface="Arial" panose="020B0604020202020204" pitchFamily="34" charset="0"/>
              <a:buNone/>
            </a:pPr>
            <a:r>
              <a:rPr lang="en-US" altLang="zh-CN" sz="1600" dirty="0" err="1">
                <a:solidFill>
                  <a:srgbClr val="002060"/>
                </a:solidFill>
                <a:latin typeface="Times New Roman" panose="02020603050405020304" pitchFamily="18" charset="0"/>
                <a:cs typeface="Times New Roman" panose="02020603050405020304" pitchFamily="18" charset="0"/>
              </a:rPr>
              <a:t>kmeans</a:t>
            </a:r>
            <a:r>
              <a:rPr lang="en-US" altLang="zh-CN" sz="1600" dirty="0">
                <a:solidFill>
                  <a:srgbClr val="002060"/>
                </a:solidFill>
                <a:latin typeface="Times New Roman" panose="02020603050405020304" pitchFamily="18" charset="0"/>
                <a:cs typeface="Times New Roman" panose="02020603050405020304" pitchFamily="18" charset="0"/>
              </a:rPr>
              <a:t> = </a:t>
            </a:r>
            <a:r>
              <a:rPr lang="en-US" altLang="zh-CN" sz="1600" dirty="0" err="1">
                <a:solidFill>
                  <a:srgbClr val="002060"/>
                </a:solidFill>
                <a:latin typeface="Times New Roman" panose="02020603050405020304" pitchFamily="18" charset="0"/>
                <a:cs typeface="Times New Roman" panose="02020603050405020304" pitchFamily="18" charset="0"/>
              </a:rPr>
              <a:t>KMeans</a:t>
            </a:r>
            <a:r>
              <a:rPr lang="en-US"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err="1">
                <a:solidFill>
                  <a:srgbClr val="002060"/>
                </a:solidFill>
                <a:latin typeface="Times New Roman" panose="02020603050405020304" pitchFamily="18" charset="0"/>
                <a:cs typeface="Times New Roman" panose="02020603050405020304" pitchFamily="18" charset="0"/>
              </a:rPr>
              <a:t>n_clusters</a:t>
            </a:r>
            <a:r>
              <a:rPr lang="en-US" altLang="zh-CN" sz="1600" dirty="0">
                <a:solidFill>
                  <a:srgbClr val="002060"/>
                </a:solidFill>
                <a:latin typeface="Times New Roman" panose="02020603050405020304" pitchFamily="18" charset="0"/>
                <a:cs typeface="Times New Roman" panose="02020603050405020304" pitchFamily="18" charset="0"/>
              </a:rPr>
              <a:t>=2)</a:t>
            </a:r>
          </a:p>
          <a:p>
            <a:pPr marL="720000" indent="0">
              <a:lnSpc>
                <a:spcPct val="100000"/>
              </a:lnSpc>
              <a:spcBef>
                <a:spcPts val="0"/>
              </a:spcBef>
              <a:buFont typeface="Arial" panose="020B0604020202020204" pitchFamily="34" charset="0"/>
              <a:buNone/>
            </a:pPr>
            <a:r>
              <a:rPr lang="en-US" altLang="zh-CN" sz="1600" dirty="0" err="1">
                <a:solidFill>
                  <a:srgbClr val="002060"/>
                </a:solidFill>
                <a:latin typeface="Times New Roman" panose="02020603050405020304" pitchFamily="18" charset="0"/>
                <a:cs typeface="Times New Roman" panose="02020603050405020304" pitchFamily="18" charset="0"/>
              </a:rPr>
              <a:t>kmeans.fit</a:t>
            </a:r>
            <a:r>
              <a:rPr lang="en-US" altLang="zh-CN" sz="1600" dirty="0">
                <a:solidFill>
                  <a:srgbClr val="002060"/>
                </a:solidFill>
                <a:latin typeface="Times New Roman" panose="02020603050405020304" pitchFamily="18" charset="0"/>
                <a:cs typeface="Times New Roman" panose="02020603050405020304" pitchFamily="18" charset="0"/>
              </a:rPr>
              <a:t>(X)</a:t>
            </a:r>
          </a:p>
          <a:p>
            <a:pPr marL="720000" indent="0">
              <a:lnSpc>
                <a:spcPct val="100000"/>
              </a:lnSpc>
              <a:spcBef>
                <a:spcPts val="0"/>
              </a:spcBef>
              <a:buFont typeface="Arial" panose="020B0604020202020204" pitchFamily="34" charset="0"/>
              <a:buNone/>
            </a:pPr>
            <a:r>
              <a:rPr lang="en-US" altLang="zh-CN" sz="1600" dirty="0" err="1">
                <a:solidFill>
                  <a:srgbClr val="002060"/>
                </a:solidFill>
                <a:latin typeface="Times New Roman" panose="02020603050405020304" pitchFamily="18" charset="0"/>
                <a:cs typeface="Times New Roman" panose="02020603050405020304" pitchFamily="18" charset="0"/>
              </a:rPr>
              <a:t>y_pred</a:t>
            </a:r>
            <a:r>
              <a:rPr lang="en-US"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err="1">
                <a:solidFill>
                  <a:srgbClr val="002060"/>
                </a:solidFill>
                <a:latin typeface="Times New Roman" panose="02020603050405020304" pitchFamily="18" charset="0"/>
                <a:cs typeface="Times New Roman" panose="02020603050405020304" pitchFamily="18" charset="0"/>
              </a:rPr>
              <a:t>kmeans.predict</a:t>
            </a:r>
            <a:r>
              <a:rPr lang="en-US" altLang="zh-CN" sz="1600" dirty="0">
                <a:solidFill>
                  <a:srgbClr val="002060"/>
                </a:solidFill>
                <a:latin typeface="Times New Roman" panose="02020603050405020304" pitchFamily="18" charset="0"/>
                <a:cs typeface="Times New Roman" panose="02020603050405020304" pitchFamily="18" charset="0"/>
              </a:rPr>
              <a:t>(X)</a:t>
            </a:r>
          </a:p>
          <a:p>
            <a:pPr marL="720000" indent="0">
              <a:lnSpc>
                <a:spcPct val="100000"/>
              </a:lnSpc>
              <a:spcBef>
                <a:spcPts val="0"/>
              </a:spcBef>
              <a:buFont typeface="Arial" panose="020B0604020202020204" pitchFamily="34" charset="0"/>
              <a:buNone/>
            </a:pPr>
            <a:r>
              <a:rPr lang="en-US" altLang="zh-CN" sz="1600" dirty="0" err="1">
                <a:solidFill>
                  <a:srgbClr val="002060"/>
                </a:solidFill>
                <a:latin typeface="Times New Roman" panose="02020603050405020304" pitchFamily="18" charset="0"/>
                <a:cs typeface="Times New Roman" panose="02020603050405020304" pitchFamily="18" charset="0"/>
              </a:rPr>
              <a:t>plt.scatter</a:t>
            </a:r>
            <a:r>
              <a:rPr lang="en-US" altLang="zh-CN" sz="1600" dirty="0">
                <a:solidFill>
                  <a:srgbClr val="002060"/>
                </a:solidFill>
                <a:latin typeface="Times New Roman" panose="02020603050405020304" pitchFamily="18" charset="0"/>
                <a:cs typeface="Times New Roman" panose="02020603050405020304" pitchFamily="18" charset="0"/>
              </a:rPr>
              <a:t>(X[:,0],X[:,1],c=</a:t>
            </a:r>
            <a:r>
              <a:rPr lang="en-US" altLang="zh-CN" sz="1600" dirty="0" err="1">
                <a:solidFill>
                  <a:srgbClr val="002060"/>
                </a:solidFill>
                <a:latin typeface="Times New Roman" panose="02020603050405020304" pitchFamily="18" charset="0"/>
                <a:cs typeface="Times New Roman" panose="02020603050405020304" pitchFamily="18" charset="0"/>
              </a:rPr>
              <a:t>y_pred,cmap</a:t>
            </a:r>
            <a:r>
              <a:rPr lang="en-US"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err="1">
                <a:solidFill>
                  <a:srgbClr val="002060"/>
                </a:solidFill>
                <a:latin typeface="Times New Roman" panose="02020603050405020304" pitchFamily="18" charset="0"/>
                <a:cs typeface="Times New Roman" panose="02020603050405020304" pitchFamily="18" charset="0"/>
              </a:rPr>
              <a:t>viridis</a:t>
            </a:r>
            <a:r>
              <a:rPr lang="en-US" altLang="zh-CN" sz="1600" dirty="0">
                <a:solidFill>
                  <a:srgbClr val="002060"/>
                </a:solidFill>
                <a:latin typeface="Times New Roman" panose="02020603050405020304" pitchFamily="18" charset="0"/>
                <a:cs typeface="Times New Roman" panose="02020603050405020304" pitchFamily="18" charset="0"/>
              </a:rPr>
              <a:t>')</a:t>
            </a:r>
            <a:endParaRPr lang="zh-CN" altLang="zh-CN" sz="1600" dirty="0">
              <a:solidFill>
                <a:srgbClr val="002060"/>
              </a:solidFill>
              <a:latin typeface="Times New Roman" panose="02020603050405020304" pitchFamily="18" charset="0"/>
              <a:cs typeface="Times New Roman" panose="02020603050405020304" pitchFamily="18" charset="0"/>
            </a:endParaRPr>
          </a:p>
        </p:txBody>
      </p:sp>
      <p:cxnSp>
        <p:nvCxnSpPr>
          <p:cNvPr id="26" name="直接箭头连接符 25">
            <a:extLst>
              <a:ext uri="{FF2B5EF4-FFF2-40B4-BE49-F238E27FC236}">
                <a16:creationId xmlns:a16="http://schemas.microsoft.com/office/drawing/2014/main" id="{57C65070-0E03-4924-8DAC-588D886B0F5E}"/>
              </a:ext>
            </a:extLst>
          </p:cNvPr>
          <p:cNvCxnSpPr>
            <a:cxnSpLocks/>
          </p:cNvCxnSpPr>
          <p:nvPr/>
        </p:nvCxnSpPr>
        <p:spPr>
          <a:xfrm flipH="1">
            <a:off x="1144107" y="2969516"/>
            <a:ext cx="1" cy="28808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9F143478-921B-4247-A0B2-A7E56C378CF8}"/>
              </a:ext>
            </a:extLst>
          </p:cNvPr>
          <p:cNvCxnSpPr>
            <a:cxnSpLocks/>
          </p:cNvCxnSpPr>
          <p:nvPr/>
        </p:nvCxnSpPr>
        <p:spPr>
          <a:xfrm flipH="1">
            <a:off x="1144108" y="4193604"/>
            <a:ext cx="1" cy="28808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7D4128D9-7561-4C50-91BF-754F8E8D2191}"/>
              </a:ext>
            </a:extLst>
          </p:cNvPr>
          <p:cNvSpPr txBox="1"/>
          <p:nvPr/>
        </p:nvSpPr>
        <p:spPr>
          <a:xfrm>
            <a:off x="692703" y="4482444"/>
            <a:ext cx="902811" cy="334313"/>
          </a:xfrm>
          <a:prstGeom prst="rect">
            <a:avLst/>
          </a:prstGeom>
          <a:noFill/>
          <a:ln w="19050">
            <a:solidFill>
              <a:srgbClr val="000066"/>
            </a:solidFill>
          </a:ln>
        </p:spPr>
        <p:txBody>
          <a:bodyPr wrap="none" tIns="7200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zh-CN" altLang="en-US" sz="1400" dirty="0">
                <a:solidFill>
                  <a:srgbClr val="000066"/>
                </a:solidFill>
                <a:latin typeface="微软雅黑" panose="020B0503020204020204" pitchFamily="34" charset="-122"/>
                <a:ea typeface="微软雅黑" panose="020B0503020204020204" pitchFamily="34" charset="-122"/>
              </a:rPr>
              <a:t>进行预测</a:t>
            </a:r>
            <a:endParaRPr kumimoji="0" lang="zh-CN" altLang="en-US" sz="1400" b="0" i="0" u="none" strike="noStrike" kern="1200" cap="none" spc="0" normalizeH="0" baseline="0" noProof="0" dirty="0">
              <a:ln>
                <a:noFill/>
              </a:ln>
              <a:solidFill>
                <a:srgbClr val="000066"/>
              </a:solidFill>
              <a:effectLst/>
              <a:uLnTx/>
              <a:uFillTx/>
              <a:latin typeface="微软雅黑" panose="020B0503020204020204" pitchFamily="34" charset="-122"/>
              <a:ea typeface="微软雅黑" panose="020B0503020204020204" pitchFamily="34" charset="-122"/>
              <a:cs typeface="+mn-cs"/>
            </a:endParaRPr>
          </a:p>
        </p:txBody>
      </p:sp>
      <p:cxnSp>
        <p:nvCxnSpPr>
          <p:cNvPr id="29" name="直接箭头连接符 28">
            <a:extLst>
              <a:ext uri="{FF2B5EF4-FFF2-40B4-BE49-F238E27FC236}">
                <a16:creationId xmlns:a16="http://schemas.microsoft.com/office/drawing/2014/main" id="{070CA85C-62D4-4543-A04F-84C67DEB5148}"/>
              </a:ext>
            </a:extLst>
          </p:cNvPr>
          <p:cNvCxnSpPr>
            <a:cxnSpLocks/>
          </p:cNvCxnSpPr>
          <p:nvPr/>
        </p:nvCxnSpPr>
        <p:spPr>
          <a:xfrm flipH="1">
            <a:off x="1144108" y="4716562"/>
            <a:ext cx="1" cy="28808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53145C88-B673-4A42-B1FA-EAF6B37FFEE2}"/>
              </a:ext>
            </a:extLst>
          </p:cNvPr>
          <p:cNvCxnSpPr>
            <a:cxnSpLocks/>
            <a:endCxn id="31" idx="0"/>
          </p:cNvCxnSpPr>
          <p:nvPr/>
        </p:nvCxnSpPr>
        <p:spPr>
          <a:xfrm flipH="1">
            <a:off x="1144107" y="3545532"/>
            <a:ext cx="4" cy="448424"/>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1BB54772-A10D-4713-85D0-A72867983185}"/>
              </a:ext>
            </a:extLst>
          </p:cNvPr>
          <p:cNvSpPr txBox="1"/>
          <p:nvPr/>
        </p:nvSpPr>
        <p:spPr>
          <a:xfrm>
            <a:off x="692701" y="3993956"/>
            <a:ext cx="902811" cy="334313"/>
          </a:xfrm>
          <a:prstGeom prst="rect">
            <a:avLst/>
          </a:prstGeom>
          <a:solidFill>
            <a:schemeClr val="bg1"/>
          </a:solidFill>
          <a:ln w="19050">
            <a:solidFill>
              <a:srgbClr val="000066"/>
            </a:solidFill>
          </a:ln>
        </p:spPr>
        <p:txBody>
          <a:bodyPr wrap="none" tIns="7200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400" b="0" i="0" u="none" strike="noStrike" kern="1200" cap="none" spc="0" normalizeH="0" baseline="0" noProof="0">
                <a:ln>
                  <a:noFill/>
                </a:ln>
                <a:solidFill>
                  <a:srgbClr val="000066"/>
                </a:solidFill>
                <a:effectLst/>
                <a:uLnTx/>
                <a:uFillTx/>
                <a:latin typeface="微软雅黑" panose="020B0503020204020204" pitchFamily="34" charset="-122"/>
                <a:ea typeface="微软雅黑" panose="020B0503020204020204" pitchFamily="34" charset="-122"/>
                <a:cs typeface="+mn-cs"/>
              </a:rPr>
              <a:t>训练模型</a:t>
            </a:r>
          </a:p>
        </p:txBody>
      </p:sp>
      <p:sp>
        <p:nvSpPr>
          <p:cNvPr id="32" name="文本框 31">
            <a:extLst>
              <a:ext uri="{FF2B5EF4-FFF2-40B4-BE49-F238E27FC236}">
                <a16:creationId xmlns:a16="http://schemas.microsoft.com/office/drawing/2014/main" id="{B821D62B-2929-4491-BAC0-199FFE5CA882}"/>
              </a:ext>
            </a:extLst>
          </p:cNvPr>
          <p:cNvSpPr txBox="1"/>
          <p:nvPr/>
        </p:nvSpPr>
        <p:spPr>
          <a:xfrm>
            <a:off x="683568" y="3283278"/>
            <a:ext cx="921086" cy="334313"/>
          </a:xfrm>
          <a:prstGeom prst="rect">
            <a:avLst/>
          </a:prstGeom>
          <a:solidFill>
            <a:schemeClr val="bg1"/>
          </a:solidFill>
          <a:ln w="19050">
            <a:solidFill>
              <a:srgbClr val="000066"/>
            </a:solidFill>
          </a:ln>
        </p:spPr>
        <p:txBody>
          <a:bodyPr wrap="none" tIns="7200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400" b="0" i="0" u="none" strike="noStrike" kern="1200" cap="none" spc="0" normalizeH="0" baseline="0" noProof="0" dirty="0">
                <a:ln>
                  <a:noFill/>
                </a:ln>
                <a:solidFill>
                  <a:srgbClr val="000066"/>
                </a:solidFill>
                <a:effectLst/>
                <a:uLnTx/>
                <a:uFillTx/>
                <a:latin typeface="微软雅黑" panose="020B0503020204020204" pitchFamily="34" charset="-122"/>
                <a:ea typeface="微软雅黑" panose="020B0503020204020204" pitchFamily="34" charset="-122"/>
                <a:cs typeface="+mn-cs"/>
              </a:rPr>
              <a:t>整理数据</a:t>
            </a:r>
          </a:p>
        </p:txBody>
      </p:sp>
      <p:sp>
        <p:nvSpPr>
          <p:cNvPr id="33" name="文本框 32">
            <a:extLst>
              <a:ext uri="{FF2B5EF4-FFF2-40B4-BE49-F238E27FC236}">
                <a16:creationId xmlns:a16="http://schemas.microsoft.com/office/drawing/2014/main" id="{AAE33B13-2341-431F-97F6-564D83ACC2F0}"/>
              </a:ext>
            </a:extLst>
          </p:cNvPr>
          <p:cNvSpPr txBox="1"/>
          <p:nvPr/>
        </p:nvSpPr>
        <p:spPr>
          <a:xfrm>
            <a:off x="5992643" y="3863229"/>
            <a:ext cx="1690555" cy="1207539"/>
          </a:xfrm>
          <a:prstGeom prst="rect">
            <a:avLst/>
          </a:prstGeom>
          <a:solidFill>
            <a:schemeClr val="bg1"/>
          </a:solidFill>
          <a:ln w="19050">
            <a:solidFill>
              <a:schemeClr val="bg1"/>
            </a:solidFill>
          </a:ln>
        </p:spPr>
        <p:txBody>
          <a:bodyPr wrap="square" tIns="72000" rtlCol="0">
            <a:noAutofit/>
          </a:bodyPr>
          <a:lstStyle/>
          <a:p>
            <a:pPr marL="0" marR="0" lvl="0" indent="0" defTabSz="914400" rtl="0" eaLnBrk="1" fontAlgn="base" latinLnBrk="0" hangingPunct="1">
              <a:lnSpc>
                <a:spcPct val="100000"/>
              </a:lnSpc>
              <a:spcBef>
                <a:spcPts val="0"/>
              </a:spcBef>
              <a:spcAft>
                <a:spcPct val="0"/>
              </a:spcAft>
              <a:buClrTx/>
              <a:buSzTx/>
              <a:buFontTx/>
              <a:buNone/>
              <a:tabLst/>
              <a:defRPr/>
            </a:pPr>
            <a:r>
              <a:rPr lang="zh-CN" altLang="en-US" sz="14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数据：</a:t>
            </a:r>
            <a:r>
              <a:rPr lang="en-US" altLang="zh-CN" sz="14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X</a:t>
            </a:r>
            <a:br>
              <a:rPr lang="en-US" altLang="zh-CN" sz="14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br>
            <a:r>
              <a:rPr lang="zh-CN" altLang="en-US" sz="14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模型：</a:t>
            </a:r>
            <a:r>
              <a:rPr lang="en-US" altLang="zh-CN" sz="14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l</a:t>
            </a:r>
            <a:r>
              <a:rPr kumimoji="0" lang="en-US" altLang="zh-CN" sz="1400" b="0"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r</a:t>
            </a:r>
          </a:p>
          <a:p>
            <a:pPr marL="0" marR="0" lvl="0" indent="0" defTabSz="914400" rtl="0" eaLnBrk="1" fontAlgn="base" latinLnBrk="0" hangingPunct="1">
              <a:lnSpc>
                <a:spcPct val="100000"/>
              </a:lnSpc>
              <a:spcBef>
                <a:spcPts val="0"/>
              </a:spcBef>
              <a:spcAft>
                <a:spcPct val="0"/>
              </a:spcAft>
              <a:buClrTx/>
              <a:buSzTx/>
              <a:buFontTx/>
              <a:buNone/>
              <a:tabLst/>
              <a:defRPr/>
            </a:pPr>
            <a:r>
              <a:rPr kumimoji="0" lang="zh-CN" altLang="en-US" sz="1400" b="0"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训练：</a:t>
            </a:r>
            <a:r>
              <a:rPr kumimoji="0" lang="en-US" altLang="zh-CN" sz="1400" b="0"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fit</a:t>
            </a:r>
          </a:p>
          <a:p>
            <a:pPr lvl="0">
              <a:spcBef>
                <a:spcPts val="0"/>
              </a:spcBef>
            </a:pPr>
            <a:r>
              <a:rPr kumimoji="0" lang="zh-CN" altLang="en-US" sz="1400" b="0"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预测</a:t>
            </a:r>
            <a:r>
              <a:rPr lang="zh-CN" altLang="en-US" sz="14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predict</a:t>
            </a:r>
          </a:p>
          <a:p>
            <a:pPr lvl="0">
              <a:spcBef>
                <a:spcPts val="0"/>
              </a:spcBef>
            </a:pPr>
            <a:r>
              <a:rPr lang="zh-CN" altLang="en-US" sz="1400"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没有标签</a:t>
            </a:r>
            <a:endParaRPr lang="en-US" altLang="zh-CN" sz="1400"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ctr" defTabSz="914400" rtl="0" eaLnBrk="1" fontAlgn="base" latinLnBrk="0" hangingPunct="1">
              <a:lnSpc>
                <a:spcPct val="100000"/>
              </a:lnSpc>
              <a:spcBef>
                <a:spcPts val="600"/>
              </a:spcBef>
              <a:spcAft>
                <a:spcPct val="0"/>
              </a:spcAft>
              <a:buClrTx/>
              <a:buSzTx/>
              <a:buFontTx/>
              <a:buNone/>
              <a:tabLst/>
              <a:defRPr/>
            </a:pPr>
            <a:endParaRPr kumimoji="0" lang="zh-CN" altLang="en-US" sz="1400" b="0"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34" name="图片 33">
            <a:extLst>
              <a:ext uri="{FF2B5EF4-FFF2-40B4-BE49-F238E27FC236}">
                <a16:creationId xmlns:a16="http://schemas.microsoft.com/office/drawing/2014/main" id="{F6E4A538-F47C-4031-9499-E9E78CD821B2}"/>
              </a:ext>
            </a:extLst>
          </p:cNvPr>
          <p:cNvPicPr>
            <a:picLocks noChangeAspect="1"/>
          </p:cNvPicPr>
          <p:nvPr/>
        </p:nvPicPr>
        <p:blipFill>
          <a:blip r:embed="rId3"/>
          <a:stretch>
            <a:fillRect/>
          </a:stretch>
        </p:blipFill>
        <p:spPr>
          <a:xfrm>
            <a:off x="6033326" y="1484634"/>
            <a:ext cx="2446915" cy="2355726"/>
          </a:xfrm>
          <a:prstGeom prst="rect">
            <a:avLst/>
          </a:prstGeom>
        </p:spPr>
      </p:pic>
    </p:spTree>
    <p:extLst>
      <p:ext uri="{BB962C8B-B14F-4D97-AF65-F5344CB8AC3E}">
        <p14:creationId xmlns:p14="http://schemas.microsoft.com/office/powerpoint/2010/main" val="154636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六、人工神经网络</a:t>
            </a:r>
            <a:endParaRPr lang="zh-CN" altLang="en-US" sz="2400" dirty="0"/>
          </a:p>
        </p:txBody>
      </p:sp>
      <p:sp>
        <p:nvSpPr>
          <p:cNvPr id="3" name="内容占位符 2"/>
          <p:cNvSpPr>
            <a:spLocks noGrp="1"/>
          </p:cNvSpPr>
          <p:nvPr>
            <p:ph idx="1"/>
          </p:nvPr>
        </p:nvSpPr>
        <p:spPr>
          <a:xfrm>
            <a:off x="611559" y="986626"/>
            <a:ext cx="7488833" cy="3169300"/>
          </a:xfrm>
        </p:spPr>
        <p:txBody>
          <a:bodyPr>
            <a:noAutofit/>
          </a:bodyPr>
          <a:lstStyle/>
          <a:p>
            <a:pPr marL="0" indent="0">
              <a:lnSpc>
                <a:spcPct val="150000"/>
              </a:lnSpc>
              <a:spcBef>
                <a:spcPts val="0"/>
              </a:spcBef>
              <a:buNone/>
            </a:pPr>
            <a:r>
              <a:rPr lang="en-US" altLang="zh-CN" sz="1800" dirty="0">
                <a:solidFill>
                  <a:srgbClr val="002060"/>
                </a:solidFill>
              </a:rPr>
              <a:t>※ </a:t>
            </a:r>
            <a:r>
              <a:rPr lang="zh-CN" altLang="en-US" sz="1800" dirty="0">
                <a:solidFill>
                  <a:srgbClr val="002060"/>
                </a:solidFill>
                <a:latin typeface="Times New Roman" panose="02020603050405020304" pitchFamily="18" charset="0"/>
                <a:cs typeface="Times New Roman" panose="02020603050405020304" pitchFamily="18" charset="0"/>
              </a:rPr>
              <a:t>人工智能：用计算机模拟人类的智能</a:t>
            </a:r>
            <a:br>
              <a:rPr lang="en-US" altLang="zh-CN" sz="1800" dirty="0">
                <a:solidFill>
                  <a:srgbClr val="002060"/>
                </a:solidFill>
                <a:latin typeface="Times New Roman" panose="02020603050405020304" pitchFamily="18" charset="0"/>
                <a:cs typeface="Times New Roman" panose="02020603050405020304" pitchFamily="18" charset="0"/>
              </a:rPr>
            </a:br>
            <a:r>
              <a:rPr lang="en-US" altLang="zh-CN" sz="1800">
                <a:solidFill>
                  <a:srgbClr val="002060"/>
                </a:solidFill>
              </a:rPr>
              <a:t>※ </a:t>
            </a:r>
            <a:r>
              <a:rPr lang="zh-CN" altLang="en-US" sz="1800">
                <a:solidFill>
                  <a:srgbClr val="002060"/>
                </a:solidFill>
              </a:rPr>
              <a:t>什么机器学习</a:t>
            </a:r>
            <a:r>
              <a:rPr lang="zh-CN" altLang="en-US" sz="1800">
                <a:solidFill>
                  <a:srgbClr val="002060"/>
                </a:solidFill>
                <a:latin typeface="Times New Roman" panose="02020603050405020304" pitchFamily="18" charset="0"/>
                <a:cs typeface="Times New Roman" panose="02020603050405020304" pitchFamily="18" charset="0"/>
              </a:rPr>
              <a:t>：</a:t>
            </a:r>
            <a:r>
              <a:rPr lang="zh-CN" altLang="en-US" sz="1800" dirty="0">
                <a:solidFill>
                  <a:srgbClr val="002060"/>
                </a:solidFill>
                <a:latin typeface="Times New Roman" panose="02020603050405020304" pitchFamily="18" charset="0"/>
                <a:cs typeface="Times New Roman" panose="02020603050405020304" pitchFamily="18" charset="0"/>
              </a:rPr>
              <a:t>是用计算机的方法实现人脑的功能</a:t>
            </a:r>
            <a:endParaRPr lang="en-US" altLang="zh-CN" sz="1800" dirty="0">
              <a:solidFill>
                <a:srgbClr val="00206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800">
                <a:solidFill>
                  <a:srgbClr val="002060"/>
                </a:solidFill>
                <a:latin typeface="Times New Roman" panose="02020603050405020304" pitchFamily="18" charset="0"/>
                <a:cs typeface="Times New Roman" panose="02020603050405020304" pitchFamily="18" charset="0"/>
              </a:rPr>
              <a:t>                                 实际上不是模拟，是实现</a:t>
            </a:r>
            <a:endParaRPr lang="en-US" altLang="zh-CN" sz="1800" dirty="0">
              <a:solidFill>
                <a:srgbClr val="00206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endParaRPr lang="en-US" altLang="zh-CN" sz="1800" dirty="0">
              <a:solidFill>
                <a:srgbClr val="00206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dirty="0">
                <a:solidFill>
                  <a:srgbClr val="002060"/>
                </a:solidFill>
              </a:rPr>
              <a:t>※ </a:t>
            </a:r>
            <a:r>
              <a:rPr lang="zh-CN" altLang="en-US" sz="1800" dirty="0">
                <a:solidFill>
                  <a:srgbClr val="002060"/>
                </a:solidFill>
                <a:latin typeface="Times New Roman" panose="02020603050405020304" pitchFamily="18" charset="0"/>
                <a:cs typeface="Times New Roman" panose="02020603050405020304" pitchFamily="18" charset="0"/>
              </a:rPr>
              <a:t>人脑是如何工作的？</a:t>
            </a:r>
            <a:endParaRPr lang="zh-CN" altLang="zh-CN" sz="18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357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六、人工神经网络</a:t>
            </a:r>
            <a:endParaRPr lang="zh-CN" altLang="en-US" sz="2400" dirty="0"/>
          </a:p>
        </p:txBody>
      </p:sp>
      <p:sp>
        <p:nvSpPr>
          <p:cNvPr id="3" name="内容占位符 2"/>
          <p:cNvSpPr>
            <a:spLocks noGrp="1"/>
          </p:cNvSpPr>
          <p:nvPr>
            <p:ph idx="1"/>
          </p:nvPr>
        </p:nvSpPr>
        <p:spPr>
          <a:xfrm>
            <a:off x="611559" y="986626"/>
            <a:ext cx="8532441" cy="1081068"/>
          </a:xfrm>
        </p:spPr>
        <p:txBody>
          <a:bodyPr>
            <a:noAutofit/>
          </a:bodyPr>
          <a:lstStyle/>
          <a:p>
            <a:pPr marL="0" indent="0">
              <a:lnSpc>
                <a:spcPct val="1500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1</a:t>
            </a:r>
            <a:r>
              <a:rPr lang="zh-CN" altLang="zh-CN" sz="1800" dirty="0">
                <a:solidFill>
                  <a:srgbClr val="002060"/>
                </a:solidFill>
                <a:latin typeface="Times New Roman" panose="02020603050405020304" pitchFamily="18" charset="0"/>
                <a:cs typeface="Times New Roman" panose="02020603050405020304" pitchFamily="18" charset="0"/>
              </a:rPr>
              <a:t>．</a:t>
            </a:r>
            <a:r>
              <a:rPr lang="zh-CN" altLang="en-US" sz="1800" dirty="0">
                <a:solidFill>
                  <a:srgbClr val="002060"/>
                </a:solidFill>
                <a:latin typeface="Times New Roman" panose="02020603050405020304" pitchFamily="18" charset="0"/>
                <a:cs typeface="Times New Roman" panose="02020603050405020304" pitchFamily="18" charset="0"/>
              </a:rPr>
              <a:t>神经元</a:t>
            </a:r>
            <a:endParaRPr lang="en-US" altLang="zh-CN" sz="1800" dirty="0">
              <a:solidFill>
                <a:srgbClr val="00206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dirty="0">
                <a:solidFill>
                  <a:srgbClr val="002060"/>
                </a:solidFill>
              </a:rPr>
              <a:t>     </a:t>
            </a:r>
            <a:r>
              <a:rPr lang="zh-CN" altLang="en-US" sz="1800" dirty="0">
                <a:solidFill>
                  <a:srgbClr val="002060"/>
                </a:solidFill>
              </a:rPr>
              <a:t>人脑是由许许多多的神经元组成的，许许多多的神经元构成神经元网络</a:t>
            </a:r>
            <a:endParaRPr lang="zh-CN" altLang="zh-CN" sz="1600" dirty="0">
              <a:latin typeface="Times New Roman" panose="02020603050405020304" pitchFamily="18" charset="0"/>
              <a:cs typeface="Times New Roman" panose="02020603050405020304" pitchFamily="18" charset="0"/>
            </a:endParaRPr>
          </a:p>
        </p:txBody>
      </p:sp>
      <p:pic>
        <p:nvPicPr>
          <p:cNvPr id="16" name="图片 15">
            <a:extLst>
              <a:ext uri="{FF2B5EF4-FFF2-40B4-BE49-F238E27FC236}">
                <a16:creationId xmlns:a16="http://schemas.microsoft.com/office/drawing/2014/main" id="{946E66CE-1522-4594-BCD7-83349BC20B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4088" y="1841513"/>
            <a:ext cx="2778787" cy="2084090"/>
          </a:xfrm>
          <a:prstGeom prst="rect">
            <a:avLst/>
          </a:prstGeom>
        </p:spPr>
      </p:pic>
      <p:sp>
        <p:nvSpPr>
          <p:cNvPr id="18" name="内容占位符 2">
            <a:extLst>
              <a:ext uri="{FF2B5EF4-FFF2-40B4-BE49-F238E27FC236}">
                <a16:creationId xmlns:a16="http://schemas.microsoft.com/office/drawing/2014/main" id="{652FF0B7-AF2B-4BC2-BA19-FCF91289F3EC}"/>
              </a:ext>
            </a:extLst>
          </p:cNvPr>
          <p:cNvSpPr txBox="1">
            <a:spLocks/>
          </p:cNvSpPr>
          <p:nvPr/>
        </p:nvSpPr>
        <p:spPr>
          <a:xfrm>
            <a:off x="611559" y="3867894"/>
            <a:ext cx="8424937" cy="1275606"/>
          </a:xfrm>
          <a:prstGeom prst="rect">
            <a:avLst/>
          </a:prstGeom>
        </p:spPr>
        <p:txBody>
          <a:bodyPr vert="horz" lIns="0" tIns="45720" rIns="0" bIns="45720" rtlCol="0">
            <a:noAutofit/>
          </a:bodyPr>
          <a:lstStyle>
            <a:lvl1pPr marL="171450" indent="-171450" algn="l" defTabSz="685800" rtl="0" eaLnBrk="1" latinLnBrk="0" hangingPunct="1">
              <a:lnSpc>
                <a:spcPct val="90000"/>
              </a:lnSpc>
              <a:spcBef>
                <a:spcPts val="1350"/>
              </a:spcBef>
              <a:buFont typeface="Wingdings" panose="05000000000000000000" pitchFamily="2" charset="2"/>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450"/>
              </a:spcBef>
              <a:buFont typeface="Wingdings" panose="05000000000000000000" pitchFamily="2" charset="2"/>
              <a:buChar char="§"/>
              <a:defRPr sz="12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6pPr>
            <a:lvl7pPr marL="22288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7pPr>
            <a:lvl8pPr marL="25717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8pPr>
            <a:lvl9pPr marL="29146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9pPr>
          </a:lstStyle>
          <a:p>
            <a:pPr marL="0" indent="0" fontAlgn="auto">
              <a:lnSpc>
                <a:spcPct val="150000"/>
              </a:lnSpc>
              <a:spcBef>
                <a:spcPts val="0"/>
              </a:spcBef>
              <a:spcAft>
                <a:spcPts val="0"/>
              </a:spcAft>
              <a:buNone/>
            </a:pPr>
            <a:r>
              <a:rPr lang="en-US" altLang="zh-CN" sz="1800" dirty="0">
                <a:solidFill>
                  <a:srgbClr val="002060"/>
                </a:solidFill>
              </a:rPr>
              <a:t>      </a:t>
            </a:r>
            <a:r>
              <a:rPr lang="en-US" altLang="zh-CN" sz="1700" dirty="0">
                <a:solidFill>
                  <a:srgbClr val="002060"/>
                </a:solidFill>
                <a:latin typeface="Times New Roman" panose="02020603050405020304" pitchFamily="18" charset="0"/>
                <a:cs typeface="Times New Roman" panose="02020603050405020304" pitchFamily="18" charset="0"/>
              </a:rPr>
              <a:t>※ </a:t>
            </a:r>
            <a:r>
              <a:rPr lang="zh-CN" altLang="en-US" sz="1700" dirty="0">
                <a:solidFill>
                  <a:srgbClr val="002060"/>
                </a:solidFill>
                <a:latin typeface="Times New Roman" panose="02020603050405020304" pitchFamily="18" charset="0"/>
                <a:cs typeface="Times New Roman" panose="02020603050405020304" pitchFamily="18" charset="0"/>
              </a:rPr>
              <a:t>每一个神经元都是通过许多突触与其他神经元相连</a:t>
            </a:r>
            <a:endParaRPr lang="en-US" altLang="zh-CN" sz="1700" dirty="0">
              <a:solidFill>
                <a:srgbClr val="002060"/>
              </a:solidFill>
              <a:latin typeface="Times New Roman" panose="02020603050405020304" pitchFamily="18" charset="0"/>
              <a:cs typeface="Times New Roman" panose="02020603050405020304" pitchFamily="18" charset="0"/>
            </a:endParaRPr>
          </a:p>
          <a:p>
            <a:pPr marL="0" indent="0" fontAlgn="auto">
              <a:lnSpc>
                <a:spcPct val="150000"/>
              </a:lnSpc>
              <a:spcBef>
                <a:spcPts val="0"/>
              </a:spcBef>
              <a:spcAft>
                <a:spcPts val="0"/>
              </a:spcAft>
              <a:buNone/>
            </a:pPr>
            <a:r>
              <a:rPr lang="en-US" altLang="zh-CN" sz="1700" dirty="0">
                <a:solidFill>
                  <a:srgbClr val="002060"/>
                </a:solidFill>
                <a:latin typeface="Times New Roman" panose="02020603050405020304" pitchFamily="18" charset="0"/>
                <a:cs typeface="Times New Roman" panose="02020603050405020304" pitchFamily="18" charset="0"/>
              </a:rPr>
              <a:t>       ※ </a:t>
            </a:r>
            <a:r>
              <a:rPr lang="zh-CN" altLang="en-US" sz="1700" dirty="0">
                <a:solidFill>
                  <a:srgbClr val="002060"/>
                </a:solidFill>
                <a:latin typeface="Times New Roman" panose="02020603050405020304" pitchFamily="18" charset="0"/>
                <a:cs typeface="Times New Roman" panose="02020603050405020304" pitchFamily="18" charset="0"/>
              </a:rPr>
              <a:t>某一个神经元接收到其他神经元发送过来的化学物质，会改变自己的电位</a:t>
            </a:r>
            <a:endParaRPr lang="en-US" altLang="zh-CN" sz="1700" dirty="0">
              <a:solidFill>
                <a:srgbClr val="002060"/>
              </a:solidFill>
              <a:latin typeface="Times New Roman" panose="02020603050405020304" pitchFamily="18" charset="0"/>
              <a:cs typeface="Times New Roman" panose="02020603050405020304" pitchFamily="18" charset="0"/>
            </a:endParaRPr>
          </a:p>
          <a:p>
            <a:pPr marL="0" indent="0" fontAlgn="auto">
              <a:lnSpc>
                <a:spcPct val="150000"/>
              </a:lnSpc>
              <a:spcBef>
                <a:spcPts val="0"/>
              </a:spcBef>
              <a:spcAft>
                <a:spcPts val="0"/>
              </a:spcAft>
              <a:buNone/>
            </a:pPr>
            <a:r>
              <a:rPr lang="zh-CN" altLang="en-US" sz="1700" dirty="0">
                <a:solidFill>
                  <a:srgbClr val="002060"/>
                </a:solidFill>
              </a:rPr>
              <a:t>          当电位超过一个“阈值”</a:t>
            </a:r>
            <a:r>
              <a:rPr lang="en-US" altLang="zh-CN" sz="1700" dirty="0">
                <a:solidFill>
                  <a:srgbClr val="002060"/>
                </a:solidFill>
              </a:rPr>
              <a:t>, </a:t>
            </a:r>
            <a:r>
              <a:rPr lang="zh-CN" altLang="en-US" sz="1700" dirty="0">
                <a:solidFill>
                  <a:srgbClr val="002060"/>
                </a:solidFill>
              </a:rPr>
              <a:t>就被激活</a:t>
            </a:r>
            <a:r>
              <a:rPr lang="en-US" altLang="zh-CN" sz="1700" dirty="0">
                <a:solidFill>
                  <a:srgbClr val="002060"/>
                </a:solidFill>
              </a:rPr>
              <a:t>, </a:t>
            </a:r>
            <a:r>
              <a:rPr lang="zh-CN" altLang="en-US" sz="1700" dirty="0">
                <a:solidFill>
                  <a:srgbClr val="002060"/>
                </a:solidFill>
              </a:rPr>
              <a:t>即“兴奋”起来</a:t>
            </a:r>
            <a:r>
              <a:rPr lang="en-US" altLang="zh-CN" sz="1700" dirty="0">
                <a:solidFill>
                  <a:srgbClr val="002060"/>
                </a:solidFill>
              </a:rPr>
              <a:t>, </a:t>
            </a:r>
            <a:r>
              <a:rPr lang="zh-CN" altLang="en-US" sz="1700" dirty="0">
                <a:solidFill>
                  <a:srgbClr val="002060"/>
                </a:solidFill>
              </a:rPr>
              <a:t>向其它神经元发送化学物质</a:t>
            </a:r>
            <a:r>
              <a:rPr lang="en-US" altLang="zh-CN" sz="1700" dirty="0">
                <a:solidFill>
                  <a:srgbClr val="002060"/>
                </a:solidFill>
                <a:latin typeface="Times New Roman" panose="02020603050405020304" pitchFamily="18" charset="0"/>
                <a:cs typeface="Times New Roman" panose="02020603050405020304" pitchFamily="18" charset="0"/>
              </a:rPr>
              <a:t>       </a:t>
            </a:r>
            <a:endParaRPr lang="zh-CN" altLang="zh-CN" sz="1700" dirty="0">
              <a:solidFill>
                <a:srgbClr val="002060"/>
              </a:solidFill>
            </a:endParaRPr>
          </a:p>
        </p:txBody>
      </p:sp>
      <p:pic>
        <p:nvPicPr>
          <p:cNvPr id="15" name="图片 14">
            <a:extLst>
              <a:ext uri="{FF2B5EF4-FFF2-40B4-BE49-F238E27FC236}">
                <a16:creationId xmlns:a16="http://schemas.microsoft.com/office/drawing/2014/main" id="{EFBB2A01-2875-40E0-ABD7-4203AE4CA660}"/>
              </a:ext>
            </a:extLst>
          </p:cNvPr>
          <p:cNvPicPr>
            <a:picLocks noChangeAspect="1"/>
          </p:cNvPicPr>
          <p:nvPr/>
        </p:nvPicPr>
        <p:blipFill>
          <a:blip r:embed="rId4"/>
          <a:stretch>
            <a:fillRect/>
          </a:stretch>
        </p:blipFill>
        <p:spPr>
          <a:xfrm>
            <a:off x="984410" y="1841513"/>
            <a:ext cx="3714836" cy="1971640"/>
          </a:xfrm>
          <a:prstGeom prst="rect">
            <a:avLst/>
          </a:prstGeom>
        </p:spPr>
      </p:pic>
    </p:spTree>
    <p:extLst>
      <p:ext uri="{BB962C8B-B14F-4D97-AF65-F5344CB8AC3E}">
        <p14:creationId xmlns:p14="http://schemas.microsoft.com/office/powerpoint/2010/main" val="2689578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r>
              <a:rPr lang="zh-CN" altLang="en-US" sz="2400" dirty="0">
                <a:solidFill>
                  <a:srgbClr val="FFFFFF"/>
                </a:solidFill>
              </a:rPr>
              <a:t>六、人工神经网络</a:t>
            </a:r>
            <a:endParaRPr lang="zh-CN" altLang="en-US" sz="2400" dirty="0"/>
          </a:p>
        </p:txBody>
      </p:sp>
      <p:sp>
        <p:nvSpPr>
          <p:cNvPr id="3" name="内容占位符 2"/>
          <p:cNvSpPr>
            <a:spLocks noGrp="1"/>
          </p:cNvSpPr>
          <p:nvPr>
            <p:ph idx="1"/>
          </p:nvPr>
        </p:nvSpPr>
        <p:spPr>
          <a:xfrm>
            <a:off x="611559" y="986626"/>
            <a:ext cx="8280921" cy="982156"/>
          </a:xfrm>
        </p:spPr>
        <p:txBody>
          <a:bodyPr>
            <a:noAutofit/>
          </a:bodyPr>
          <a:lstStyle/>
          <a:p>
            <a:pPr marL="0" indent="0">
              <a:lnSpc>
                <a:spcPct val="1500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2</a:t>
            </a:r>
            <a:r>
              <a:rPr lang="zh-CN" altLang="zh-CN" sz="1800" dirty="0">
                <a:solidFill>
                  <a:srgbClr val="002060"/>
                </a:solidFill>
                <a:latin typeface="Times New Roman" panose="02020603050405020304" pitchFamily="18" charset="0"/>
                <a:cs typeface="Times New Roman" panose="02020603050405020304" pitchFamily="18" charset="0"/>
              </a:rPr>
              <a:t>．</a:t>
            </a:r>
            <a:r>
              <a:rPr lang="zh-CN" altLang="en-US" sz="1800" dirty="0">
                <a:solidFill>
                  <a:srgbClr val="002060"/>
                </a:solidFill>
                <a:latin typeface="Times New Roman" panose="02020603050405020304" pitchFamily="18" charset="0"/>
                <a:cs typeface="Times New Roman" panose="02020603050405020304" pitchFamily="18" charset="0"/>
              </a:rPr>
              <a:t>神经元模型</a:t>
            </a:r>
            <a:r>
              <a:rPr lang="en-US" altLang="zh-CN" sz="1800" dirty="0">
                <a:solidFill>
                  <a:srgbClr val="002060"/>
                </a:solidFill>
                <a:cs typeface="Times New Roman" panose="02020603050405020304" pitchFamily="18" charset="0"/>
              </a:rPr>
              <a:t>——</a:t>
            </a:r>
            <a:r>
              <a:rPr lang="en-US" altLang="zh-CN" sz="1800" dirty="0">
                <a:solidFill>
                  <a:srgbClr val="002060"/>
                </a:solidFill>
                <a:latin typeface="Times New Roman" panose="02020603050405020304" pitchFamily="18" charset="0"/>
                <a:cs typeface="Times New Roman" panose="02020603050405020304" pitchFamily="18" charset="0"/>
              </a:rPr>
              <a:t>MP</a:t>
            </a:r>
            <a:r>
              <a:rPr lang="zh-CN" altLang="en-US" sz="1800" dirty="0">
                <a:solidFill>
                  <a:srgbClr val="002060"/>
                </a:solidFill>
                <a:latin typeface="Times New Roman" panose="02020603050405020304" pitchFamily="18" charset="0"/>
                <a:cs typeface="Times New Roman" panose="02020603050405020304" pitchFamily="18" charset="0"/>
              </a:rPr>
              <a:t>模型</a:t>
            </a:r>
            <a:endParaRPr lang="en-US" altLang="zh-CN" sz="1800" dirty="0">
              <a:solidFill>
                <a:srgbClr val="00206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1943</a:t>
            </a:r>
            <a:r>
              <a:rPr lang="zh-CN" altLang="en-US" sz="1800" dirty="0">
                <a:solidFill>
                  <a:srgbClr val="002060"/>
                </a:solidFill>
                <a:latin typeface="Times New Roman" panose="02020603050405020304" pitchFamily="18" charset="0"/>
                <a:cs typeface="Times New Roman" panose="02020603050405020304" pitchFamily="18" charset="0"/>
              </a:rPr>
              <a:t>年</a:t>
            </a:r>
            <a:r>
              <a:rPr lang="en-US" altLang="zh-CN" sz="1800" dirty="0">
                <a:solidFill>
                  <a:srgbClr val="002060"/>
                </a:solidFill>
                <a:latin typeface="Times New Roman" panose="02020603050405020304" pitchFamily="18" charset="0"/>
                <a:cs typeface="Times New Roman" panose="02020603050405020304" pitchFamily="18" charset="0"/>
              </a:rPr>
              <a:t>, McCulloch</a:t>
            </a:r>
            <a:r>
              <a:rPr lang="zh-CN" altLang="en-US" sz="1800" dirty="0">
                <a:solidFill>
                  <a:srgbClr val="002060"/>
                </a:solidFill>
                <a:latin typeface="Times New Roman" panose="02020603050405020304" pitchFamily="18" charset="0"/>
                <a:cs typeface="Times New Roman" panose="02020603050405020304" pitchFamily="18" charset="0"/>
              </a:rPr>
              <a:t>和</a:t>
            </a:r>
            <a:r>
              <a:rPr lang="en-US" altLang="zh-CN" sz="1800" dirty="0">
                <a:solidFill>
                  <a:srgbClr val="002060"/>
                </a:solidFill>
                <a:latin typeface="Times New Roman" panose="02020603050405020304" pitchFamily="18" charset="0"/>
                <a:cs typeface="Times New Roman" panose="02020603050405020304" pitchFamily="18" charset="0"/>
              </a:rPr>
              <a:t>Pitts </a:t>
            </a:r>
            <a:r>
              <a:rPr lang="zh-CN" altLang="en-US" sz="1800" dirty="0">
                <a:solidFill>
                  <a:srgbClr val="002060"/>
                </a:solidFill>
                <a:latin typeface="Times New Roman" panose="02020603050405020304" pitchFamily="18" charset="0"/>
                <a:cs typeface="Times New Roman" panose="02020603050405020304" pitchFamily="18" charset="0"/>
              </a:rPr>
              <a:t>提出了第一个神经元数学模型</a:t>
            </a:r>
            <a:endParaRPr lang="zh-CN" altLang="zh-CN" sz="1600" dirty="0">
              <a:solidFill>
                <a:srgbClr val="002060"/>
              </a:solidFill>
              <a:latin typeface="Times New Roman" panose="02020603050405020304" pitchFamily="18" charset="0"/>
              <a:cs typeface="Times New Roman" panose="02020603050405020304" pitchFamily="18" charset="0"/>
            </a:endParaRPr>
          </a:p>
        </p:txBody>
      </p:sp>
      <p:pic>
        <p:nvPicPr>
          <p:cNvPr id="20" name="内容占位符 6" descr="屏幕剪辑">
            <a:extLst>
              <a:ext uri="{FF2B5EF4-FFF2-40B4-BE49-F238E27FC236}">
                <a16:creationId xmlns:a16="http://schemas.microsoft.com/office/drawing/2014/main" id="{5CBEC689-881F-4366-B341-9836D08921B8}"/>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4184" b="16519"/>
          <a:stretch/>
        </p:blipFill>
        <p:spPr>
          <a:xfrm>
            <a:off x="1043608" y="1854811"/>
            <a:ext cx="3960440" cy="1911030"/>
          </a:xfrm>
          <a:prstGeom prst="rect">
            <a:avLst/>
          </a:prstGeom>
          <a:ln>
            <a:solidFill>
              <a:schemeClr val="accent3">
                <a:lumMod val="75000"/>
              </a:schemeClr>
            </a:solidFill>
          </a:ln>
        </p:spPr>
      </p:pic>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D80980E7-6F67-4F99-8A63-9F3CE74043B9}"/>
                  </a:ext>
                </a:extLst>
              </p:cNvPr>
              <p:cNvSpPr txBox="1"/>
              <p:nvPr/>
            </p:nvSpPr>
            <p:spPr>
              <a:xfrm>
                <a:off x="5292080" y="1897066"/>
                <a:ext cx="2036135" cy="7562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i="1" smtClean="0">
                          <a:solidFill>
                            <a:srgbClr val="000066"/>
                          </a:solidFill>
                          <a:latin typeface="Cambria Math" panose="02040503050406030204" pitchFamily="18" charset="0"/>
                        </a:rPr>
                        <m:t>y</m:t>
                      </m:r>
                      <m:r>
                        <a:rPr lang="en-US" altLang="zh-CN" b="0" i="1" smtClean="0">
                          <a:solidFill>
                            <a:srgbClr val="000066"/>
                          </a:solidFill>
                          <a:latin typeface="Cambria Math" panose="02040503050406030204" pitchFamily="18" charset="0"/>
                        </a:rPr>
                        <m:t>=</m:t>
                      </m:r>
                      <m:r>
                        <a:rPr lang="en-US" altLang="zh-CN" b="0" i="1" smtClean="0">
                          <a:solidFill>
                            <a:srgbClr val="000066"/>
                          </a:solidFill>
                          <a:latin typeface="Cambria Math" panose="02040503050406030204" pitchFamily="18" charset="0"/>
                        </a:rPr>
                        <m:t>𝑓</m:t>
                      </m:r>
                      <m:r>
                        <a:rPr lang="en-US" altLang="zh-CN" b="0" i="1" smtClean="0">
                          <a:solidFill>
                            <a:srgbClr val="000066"/>
                          </a:solidFill>
                          <a:latin typeface="Cambria Math" panose="02040503050406030204" pitchFamily="18" charset="0"/>
                        </a:rPr>
                        <m:t>(</m:t>
                      </m:r>
                      <m:nary>
                        <m:naryPr>
                          <m:chr m:val="∑"/>
                          <m:ctrlPr>
                            <a:rPr lang="en-US" altLang="zh-CN" b="0" i="1" smtClean="0">
                              <a:solidFill>
                                <a:srgbClr val="000066"/>
                              </a:solidFill>
                              <a:latin typeface="Cambria Math" panose="02040503050406030204" pitchFamily="18" charset="0"/>
                            </a:rPr>
                          </m:ctrlPr>
                        </m:naryPr>
                        <m:sub>
                          <m:r>
                            <m:rPr>
                              <m:brk m:alnAt="23"/>
                            </m:rPr>
                            <a:rPr lang="en-US" altLang="zh-CN" b="0" i="1" smtClean="0">
                              <a:solidFill>
                                <a:srgbClr val="000066"/>
                              </a:solidFill>
                              <a:latin typeface="Cambria Math" panose="02040503050406030204" pitchFamily="18" charset="0"/>
                            </a:rPr>
                            <m:t>𝑖</m:t>
                          </m:r>
                          <m:r>
                            <a:rPr lang="en-US" altLang="zh-CN" b="0" i="1" smtClean="0">
                              <a:solidFill>
                                <a:srgbClr val="000066"/>
                              </a:solidFill>
                              <a:latin typeface="Cambria Math" panose="02040503050406030204" pitchFamily="18" charset="0"/>
                            </a:rPr>
                            <m:t>=1</m:t>
                          </m:r>
                        </m:sub>
                        <m:sup>
                          <m:r>
                            <a:rPr lang="en-US" altLang="zh-CN" b="0" i="1" smtClean="0">
                              <a:solidFill>
                                <a:srgbClr val="000066"/>
                              </a:solidFill>
                              <a:latin typeface="Cambria Math" panose="02040503050406030204" pitchFamily="18" charset="0"/>
                            </a:rPr>
                            <m:t>𝑛</m:t>
                          </m:r>
                        </m:sup>
                        <m:e>
                          <m:sSub>
                            <m:sSubPr>
                              <m:ctrlPr>
                                <a:rPr lang="en-US" altLang="zh-CN" b="0" i="1" smtClean="0">
                                  <a:solidFill>
                                    <a:srgbClr val="000066"/>
                                  </a:solidFill>
                                  <a:latin typeface="Cambria Math" panose="02040503050406030204" pitchFamily="18" charset="0"/>
                                </a:rPr>
                              </m:ctrlPr>
                            </m:sSubPr>
                            <m:e>
                              <m:r>
                                <a:rPr lang="en-US" altLang="zh-CN" b="0" i="1" smtClean="0">
                                  <a:solidFill>
                                    <a:srgbClr val="000066"/>
                                  </a:solidFill>
                                  <a:latin typeface="Cambria Math" panose="02040503050406030204" pitchFamily="18" charset="0"/>
                                </a:rPr>
                                <m:t>𝑤</m:t>
                              </m:r>
                            </m:e>
                            <m:sub>
                              <m:r>
                                <a:rPr lang="en-US" altLang="zh-CN" b="0" i="1" smtClean="0">
                                  <a:solidFill>
                                    <a:srgbClr val="000066"/>
                                  </a:solidFill>
                                  <a:latin typeface="Cambria Math" panose="02040503050406030204" pitchFamily="18" charset="0"/>
                                </a:rPr>
                                <m:t>𝑖</m:t>
                              </m:r>
                            </m:sub>
                          </m:sSub>
                        </m:e>
                      </m:nary>
                      <m:sSub>
                        <m:sSubPr>
                          <m:ctrlPr>
                            <a:rPr lang="en-US" altLang="zh-CN" b="0" i="1" smtClean="0">
                              <a:solidFill>
                                <a:srgbClr val="000066"/>
                              </a:solidFill>
                              <a:latin typeface="Cambria Math" panose="02040503050406030204" pitchFamily="18" charset="0"/>
                            </a:rPr>
                          </m:ctrlPr>
                        </m:sSubPr>
                        <m:e>
                          <m:r>
                            <a:rPr lang="en-US" altLang="zh-CN" b="0" i="1" smtClean="0">
                              <a:solidFill>
                                <a:srgbClr val="000066"/>
                              </a:solidFill>
                              <a:latin typeface="Cambria Math" panose="02040503050406030204" pitchFamily="18" charset="0"/>
                            </a:rPr>
                            <m:t>𝑥</m:t>
                          </m:r>
                        </m:e>
                        <m:sub>
                          <m:r>
                            <a:rPr lang="en-US" altLang="zh-CN" b="0" i="1" smtClean="0">
                              <a:solidFill>
                                <a:srgbClr val="000066"/>
                              </a:solidFill>
                              <a:latin typeface="Cambria Math" panose="02040503050406030204" pitchFamily="18" charset="0"/>
                            </a:rPr>
                            <m:t>𝑖</m:t>
                          </m:r>
                        </m:sub>
                      </m:sSub>
                      <m:r>
                        <a:rPr lang="en-US" altLang="zh-CN" b="0" i="1" smtClean="0">
                          <a:solidFill>
                            <a:srgbClr val="000066"/>
                          </a:solidFill>
                          <a:latin typeface="Cambria Math" panose="02040503050406030204" pitchFamily="18" charset="0"/>
                        </a:rPr>
                        <m:t>−</m:t>
                      </m:r>
                      <m:r>
                        <a:rPr lang="zh-CN" altLang="en-US" b="0" i="1" smtClean="0">
                          <a:solidFill>
                            <a:srgbClr val="000066"/>
                          </a:solidFill>
                          <a:latin typeface="Cambria Math" panose="02040503050406030204" pitchFamily="18" charset="0"/>
                        </a:rPr>
                        <m:t>𝜃</m:t>
                      </m:r>
                      <m:r>
                        <a:rPr lang="en-US" altLang="zh-CN" b="0" i="1" smtClean="0">
                          <a:solidFill>
                            <a:srgbClr val="000066"/>
                          </a:solidFill>
                          <a:latin typeface="Cambria Math" panose="02040503050406030204" pitchFamily="18" charset="0"/>
                        </a:rPr>
                        <m:t>)</m:t>
                      </m:r>
                    </m:oMath>
                  </m:oMathPara>
                </a14:m>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4" name="文本框 3">
                <a:extLst>
                  <a:ext uri="{FF2B5EF4-FFF2-40B4-BE49-F238E27FC236}">
                    <a16:creationId xmlns:a16="http://schemas.microsoft.com/office/drawing/2014/main" id="{D80980E7-6F67-4F99-8A63-9F3CE74043B9}"/>
                  </a:ext>
                </a:extLst>
              </p:cNvPr>
              <p:cNvSpPr txBox="1">
                <a:spLocks noRot="1" noChangeAspect="1" noMove="1" noResize="1" noEditPoints="1" noAdjustHandles="1" noChangeArrowheads="1" noChangeShapeType="1" noTextEdit="1"/>
              </p:cNvSpPr>
              <p:nvPr/>
            </p:nvSpPr>
            <p:spPr>
              <a:xfrm>
                <a:off x="5292080" y="1897066"/>
                <a:ext cx="2036135" cy="756233"/>
              </a:xfrm>
              <a:prstGeom prst="rect">
                <a:avLst/>
              </a:prstGeom>
              <a:blipFill>
                <a:blip r:embed="rId4"/>
                <a:stretch>
                  <a:fillRect/>
                </a:stretch>
              </a:blipFill>
            </p:spPr>
            <p:txBody>
              <a:bodyPr/>
              <a:lstStyle/>
              <a:p>
                <a:r>
                  <a:rPr lang="zh-CN" altLang="en-US">
                    <a:noFill/>
                  </a:rPr>
                  <a:t> </a:t>
                </a:r>
              </a:p>
            </p:txBody>
          </p:sp>
        </mc:Fallback>
      </mc:AlternateContent>
      <p:sp>
        <p:nvSpPr>
          <p:cNvPr id="21" name="文本框 20">
            <a:extLst>
              <a:ext uri="{FF2B5EF4-FFF2-40B4-BE49-F238E27FC236}">
                <a16:creationId xmlns:a16="http://schemas.microsoft.com/office/drawing/2014/main" id="{820A2454-4F67-403D-A59C-9180F6A53F7E}"/>
              </a:ext>
            </a:extLst>
          </p:cNvPr>
          <p:cNvSpPr txBox="1"/>
          <p:nvPr/>
        </p:nvSpPr>
        <p:spPr>
          <a:xfrm>
            <a:off x="5292080" y="2778609"/>
            <a:ext cx="1432491" cy="276999"/>
          </a:xfrm>
          <a:prstGeom prst="rect">
            <a:avLst/>
          </a:prstGeom>
          <a:noFill/>
        </p:spPr>
        <p:txBody>
          <a:bodyPr wrap="square" lIns="0" tIns="0" rIns="0" bIns="0" rtlCol="0">
            <a:spAutoFit/>
          </a:bodyPr>
          <a:lstStyle/>
          <a:p>
            <a:r>
              <a:rPr lang="en-US" altLang="zh-CN"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f</a:t>
            </a:r>
            <a:r>
              <a:rPr lang="zh-CN" altLang="en-US"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：激活函数</a:t>
            </a:r>
          </a:p>
        </p:txBody>
      </p:sp>
      <p:sp>
        <p:nvSpPr>
          <p:cNvPr id="7" name="内容占位符 2">
            <a:extLst>
              <a:ext uri="{FF2B5EF4-FFF2-40B4-BE49-F238E27FC236}">
                <a16:creationId xmlns:a16="http://schemas.microsoft.com/office/drawing/2014/main" id="{A5D4B683-512F-4A92-A118-006BE2B886B5}"/>
              </a:ext>
            </a:extLst>
          </p:cNvPr>
          <p:cNvSpPr txBox="1">
            <a:spLocks/>
          </p:cNvSpPr>
          <p:nvPr/>
        </p:nvSpPr>
        <p:spPr>
          <a:xfrm>
            <a:off x="971600" y="3786379"/>
            <a:ext cx="6840760" cy="1161635"/>
          </a:xfrm>
          <a:prstGeom prst="rect">
            <a:avLst/>
          </a:prstGeom>
        </p:spPr>
        <p:txBody>
          <a:bodyPr vert="horz" lIns="0" tIns="45720" rIns="0" bIns="45720" rtlCol="0">
            <a:noAutofit/>
          </a:bodyPr>
          <a:lstStyle>
            <a:lvl1pPr marL="171450" indent="-171450" algn="l" defTabSz="685800" rtl="0" eaLnBrk="1" latinLnBrk="0" hangingPunct="1">
              <a:lnSpc>
                <a:spcPct val="90000"/>
              </a:lnSpc>
              <a:spcBef>
                <a:spcPts val="1350"/>
              </a:spcBef>
              <a:buFont typeface="Wingdings" panose="05000000000000000000" pitchFamily="2" charset="2"/>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450"/>
              </a:spcBef>
              <a:buFont typeface="Wingdings" panose="05000000000000000000" pitchFamily="2" charset="2"/>
              <a:buChar char="§"/>
              <a:defRPr sz="12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6pPr>
            <a:lvl7pPr marL="22288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7pPr>
            <a:lvl8pPr marL="25717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8pPr>
            <a:lvl9pPr marL="29146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9pPr>
          </a:lstStyle>
          <a:p>
            <a:pPr marL="0" indent="0" fontAlgn="auto">
              <a:lnSpc>
                <a:spcPct val="150000"/>
              </a:lnSpc>
              <a:spcBef>
                <a:spcPts val="0"/>
              </a:spcBef>
              <a:spcAft>
                <a:spcPts val="0"/>
              </a:spcAft>
              <a:buFont typeface="Wingdings" panose="05000000000000000000" pitchFamily="2" charset="2"/>
              <a:buNone/>
            </a:pPr>
            <a:r>
              <a:rPr lang="zh-CN" altLang="en-US" sz="1800" dirty="0">
                <a:solidFill>
                  <a:srgbClr val="002060"/>
                </a:solidFill>
                <a:latin typeface="Times New Roman" panose="02020603050405020304" pitchFamily="18" charset="0"/>
                <a:cs typeface="Times New Roman" panose="02020603050405020304" pitchFamily="18" charset="0"/>
              </a:rPr>
              <a:t>※ 输入：</a:t>
            </a:r>
            <a:r>
              <a:rPr lang="en-US" altLang="zh-CN" sz="1800" dirty="0">
                <a:solidFill>
                  <a:srgbClr val="002060"/>
                </a:solidFill>
                <a:latin typeface="Times New Roman" panose="02020603050405020304" pitchFamily="18" charset="0"/>
                <a:cs typeface="Times New Roman" panose="02020603050405020304" pitchFamily="18" charset="0"/>
              </a:rPr>
              <a:t>n</a:t>
            </a:r>
            <a:r>
              <a:rPr lang="zh-CN" altLang="en-US" sz="1800" dirty="0">
                <a:solidFill>
                  <a:srgbClr val="002060"/>
                </a:solidFill>
                <a:latin typeface="Times New Roman" panose="02020603050405020304" pitchFamily="18" charset="0"/>
                <a:cs typeface="Times New Roman" panose="02020603050405020304" pitchFamily="18" charset="0"/>
              </a:rPr>
              <a:t>个输入，来自其他</a:t>
            </a:r>
            <a:r>
              <a:rPr lang="en-US" altLang="zh-CN" sz="1800" dirty="0">
                <a:solidFill>
                  <a:srgbClr val="002060"/>
                </a:solidFill>
                <a:latin typeface="Times New Roman" panose="02020603050405020304" pitchFamily="18" charset="0"/>
                <a:cs typeface="Times New Roman" panose="02020603050405020304" pitchFamily="18" charset="0"/>
              </a:rPr>
              <a:t>n</a:t>
            </a:r>
            <a:r>
              <a:rPr lang="zh-CN" altLang="en-US" sz="1800" dirty="0">
                <a:solidFill>
                  <a:srgbClr val="002060"/>
                </a:solidFill>
                <a:latin typeface="Times New Roman" panose="02020603050405020304" pitchFamily="18" charset="0"/>
                <a:cs typeface="Times New Roman" panose="02020603050405020304" pitchFamily="18" charset="0"/>
              </a:rPr>
              <a:t>个神经元传递过来的输入信号</a:t>
            </a:r>
            <a:endParaRPr lang="en-US" altLang="zh-CN" sz="1800" dirty="0">
              <a:solidFill>
                <a:srgbClr val="002060"/>
              </a:solidFill>
              <a:latin typeface="Times New Roman" panose="02020603050405020304" pitchFamily="18" charset="0"/>
              <a:cs typeface="Times New Roman" panose="02020603050405020304" pitchFamily="18" charset="0"/>
            </a:endParaRPr>
          </a:p>
          <a:p>
            <a:pPr marL="0" indent="0" fontAlgn="auto">
              <a:lnSpc>
                <a:spcPct val="150000"/>
              </a:lnSpc>
              <a:spcBef>
                <a:spcPts val="0"/>
              </a:spcBef>
              <a:spcAft>
                <a:spcPts val="0"/>
              </a:spcAft>
              <a:buNone/>
            </a:pPr>
            <a:r>
              <a:rPr lang="zh-CN" altLang="en-US" sz="1800" dirty="0">
                <a:solidFill>
                  <a:srgbClr val="002060"/>
                </a:solidFill>
                <a:latin typeface="Times New Roman" panose="02020603050405020304" pitchFamily="18" charset="0"/>
                <a:cs typeface="Times New Roman" panose="02020603050405020304" pitchFamily="18" charset="0"/>
              </a:rPr>
              <a:t>※ 处理：对</a:t>
            </a:r>
            <a:r>
              <a:rPr lang="en-US" altLang="zh-CN" sz="1800" dirty="0">
                <a:solidFill>
                  <a:srgbClr val="002060"/>
                </a:solidFill>
                <a:latin typeface="Times New Roman" panose="02020603050405020304" pitchFamily="18" charset="0"/>
                <a:cs typeface="Times New Roman" panose="02020603050405020304" pitchFamily="18" charset="0"/>
              </a:rPr>
              <a:t>n</a:t>
            </a:r>
            <a:r>
              <a:rPr lang="zh-CN" altLang="en-US" sz="1800" dirty="0">
                <a:solidFill>
                  <a:srgbClr val="002060"/>
                </a:solidFill>
                <a:latin typeface="Times New Roman" panose="02020603050405020304" pitchFamily="18" charset="0"/>
                <a:cs typeface="Times New Roman" panose="02020603050405020304" pitchFamily="18" charset="0"/>
              </a:rPr>
              <a:t>个输入进行加权求和，再减去一个</a:t>
            </a:r>
            <a:r>
              <a:rPr lang="zh-CN" altLang="en-US" sz="1800" dirty="0">
                <a:solidFill>
                  <a:srgbClr val="C00000"/>
                </a:solidFill>
                <a:latin typeface="Times New Roman" panose="02020603050405020304" pitchFamily="18" charset="0"/>
                <a:cs typeface="Times New Roman" panose="02020603050405020304" pitchFamily="18" charset="0"/>
              </a:rPr>
              <a:t>阈值</a:t>
            </a:r>
            <a:endParaRPr lang="en-US" altLang="zh-CN" sz="1800" dirty="0">
              <a:solidFill>
                <a:srgbClr val="002060"/>
              </a:solidFill>
              <a:latin typeface="Times New Roman" panose="02020603050405020304" pitchFamily="18" charset="0"/>
              <a:cs typeface="Times New Roman" panose="02020603050405020304" pitchFamily="18" charset="0"/>
            </a:endParaRPr>
          </a:p>
          <a:p>
            <a:pPr marL="0" indent="0" fontAlgn="auto">
              <a:lnSpc>
                <a:spcPct val="150000"/>
              </a:lnSpc>
              <a:spcBef>
                <a:spcPts val="0"/>
              </a:spcBef>
              <a:spcAft>
                <a:spcPts val="0"/>
              </a:spcAft>
              <a:buNone/>
            </a:pPr>
            <a:r>
              <a:rPr lang="zh-CN" altLang="en-US" sz="1800" dirty="0">
                <a:solidFill>
                  <a:srgbClr val="002060"/>
                </a:solidFill>
                <a:latin typeface="Times New Roman" panose="02020603050405020304" pitchFamily="18" charset="0"/>
                <a:cs typeface="Times New Roman" panose="02020603050405020304" pitchFamily="18" charset="0"/>
              </a:rPr>
              <a:t>※ 输出：用</a:t>
            </a:r>
            <a:r>
              <a:rPr lang="zh-CN" altLang="en-US" sz="1800" dirty="0">
                <a:solidFill>
                  <a:srgbClr val="C00000"/>
                </a:solidFill>
                <a:latin typeface="Times New Roman" panose="02020603050405020304" pitchFamily="18" charset="0"/>
                <a:cs typeface="Times New Roman" panose="02020603050405020304" pitchFamily="18" charset="0"/>
              </a:rPr>
              <a:t>激活函数</a:t>
            </a:r>
            <a:r>
              <a:rPr lang="zh-CN" altLang="en-US" sz="1800" dirty="0">
                <a:solidFill>
                  <a:srgbClr val="002060"/>
                </a:solidFill>
                <a:latin typeface="Times New Roman" panose="02020603050405020304" pitchFamily="18" charset="0"/>
                <a:cs typeface="Times New Roman" panose="02020603050405020304" pitchFamily="18" charset="0"/>
              </a:rPr>
              <a:t>的处理，以得到输出</a:t>
            </a:r>
            <a:endParaRPr lang="zh-CN" altLang="zh-CN" sz="18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1564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r>
              <a:rPr lang="zh-CN" altLang="en-US" sz="2400">
                <a:solidFill>
                  <a:srgbClr val="FFFFFF"/>
                </a:solidFill>
              </a:rPr>
              <a:t>六、人工神经网络</a:t>
            </a:r>
            <a:endParaRPr lang="zh-CN" altLang="en-US" sz="2400" dirty="0"/>
          </a:p>
        </p:txBody>
      </p:sp>
      <p:sp>
        <p:nvSpPr>
          <p:cNvPr id="3" name="内容占位符 2"/>
          <p:cNvSpPr>
            <a:spLocks noGrp="1"/>
          </p:cNvSpPr>
          <p:nvPr>
            <p:ph idx="1"/>
          </p:nvPr>
        </p:nvSpPr>
        <p:spPr>
          <a:xfrm>
            <a:off x="4376854" y="4155926"/>
            <a:ext cx="1152128" cy="504056"/>
          </a:xfrm>
        </p:spPr>
        <p:txBody>
          <a:bodyPr>
            <a:noAutofit/>
          </a:bodyPr>
          <a:lstStyle/>
          <a:p>
            <a:pPr marL="0" indent="0">
              <a:lnSpc>
                <a:spcPct val="150000"/>
              </a:lnSpc>
              <a:spcBef>
                <a:spcPts val="0"/>
              </a:spcBef>
              <a:buNone/>
            </a:pPr>
            <a:r>
              <a:rPr lang="zh-CN" altLang="en-US" sz="1800" dirty="0">
                <a:solidFill>
                  <a:srgbClr val="C00000"/>
                </a:solidFill>
                <a:latin typeface="Times New Roman" panose="02020603050405020304" pitchFamily="18" charset="0"/>
                <a:cs typeface="Times New Roman" panose="02020603050405020304" pitchFamily="18" charset="0"/>
              </a:rPr>
              <a:t>激活函数</a:t>
            </a:r>
            <a:endParaRPr lang="zh-CN" altLang="zh-CN" sz="1600" dirty="0">
              <a:solidFill>
                <a:srgbClr val="C00000"/>
              </a:solidFill>
              <a:latin typeface="Times New Roman" panose="02020603050405020304" pitchFamily="18" charset="0"/>
              <a:cs typeface="Times New Roman" panose="02020603050405020304" pitchFamily="18" charset="0"/>
            </a:endParaRPr>
          </a:p>
        </p:txBody>
      </p:sp>
      <p:pic>
        <p:nvPicPr>
          <p:cNvPr id="22" name="内容占位符 6" descr="屏幕剪辑">
            <a:extLst>
              <a:ext uri="{FF2B5EF4-FFF2-40B4-BE49-F238E27FC236}">
                <a16:creationId xmlns:a16="http://schemas.microsoft.com/office/drawing/2014/main" id="{390A705E-BECA-4727-904F-B9113E58C68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50291" t="3246" r="2749" b="11219"/>
          <a:stretch/>
        </p:blipFill>
        <p:spPr>
          <a:xfrm>
            <a:off x="3597988" y="1635646"/>
            <a:ext cx="2478289" cy="2428974"/>
          </a:xfrm>
          <a:prstGeom prst="round2DiagRect">
            <a:avLst>
              <a:gd name="adj1" fmla="val 16667"/>
              <a:gd name="adj2" fmla="val 0"/>
            </a:avLst>
          </a:prstGeom>
          <a:ln w="88900" cap="sq">
            <a:noFill/>
            <a:miter lim="800000"/>
          </a:ln>
          <a:effectLst>
            <a:outerShdw blurRad="254000" algn="tl" rotWithShape="0">
              <a:srgbClr val="000000">
                <a:alpha val="43000"/>
              </a:srgbClr>
            </a:outerShdw>
          </a:effectLst>
        </p:spPr>
      </p:pic>
      <p:pic>
        <p:nvPicPr>
          <p:cNvPr id="24" name="图片 23">
            <a:extLst>
              <a:ext uri="{FF2B5EF4-FFF2-40B4-BE49-F238E27FC236}">
                <a16:creationId xmlns:a16="http://schemas.microsoft.com/office/drawing/2014/main" id="{D80C6240-51BB-4E58-A2E8-8A44C757941F}"/>
              </a:ext>
            </a:extLst>
          </p:cNvPr>
          <p:cNvPicPr>
            <a:picLocks noChangeAspect="1"/>
          </p:cNvPicPr>
          <p:nvPr/>
        </p:nvPicPr>
        <p:blipFill>
          <a:blip r:embed="rId4"/>
          <a:stretch>
            <a:fillRect/>
          </a:stretch>
        </p:blipFill>
        <p:spPr>
          <a:xfrm>
            <a:off x="6306538" y="1635646"/>
            <a:ext cx="2756168" cy="2232249"/>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4" name="图片 3">
            <a:extLst>
              <a:ext uri="{FF2B5EF4-FFF2-40B4-BE49-F238E27FC236}">
                <a16:creationId xmlns:a16="http://schemas.microsoft.com/office/drawing/2014/main" id="{1EC39197-4E72-4EDE-9005-1A5FA7CB2EFF}"/>
              </a:ext>
            </a:extLst>
          </p:cNvPr>
          <p:cNvPicPr>
            <a:picLocks noChangeAspect="1"/>
          </p:cNvPicPr>
          <p:nvPr/>
        </p:nvPicPr>
        <p:blipFill>
          <a:blip r:embed="rId5"/>
          <a:stretch>
            <a:fillRect/>
          </a:stretch>
        </p:blipFill>
        <p:spPr>
          <a:xfrm>
            <a:off x="597613" y="1397570"/>
            <a:ext cx="3000375" cy="2905125"/>
          </a:xfrm>
          <a:prstGeom prst="rect">
            <a:avLst/>
          </a:prstGeom>
        </p:spPr>
      </p:pic>
    </p:spTree>
    <p:extLst>
      <p:ext uri="{BB962C8B-B14F-4D97-AF65-F5344CB8AC3E}">
        <p14:creationId xmlns:p14="http://schemas.microsoft.com/office/powerpoint/2010/main" val="2612834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a:extLst>
              <a:ext uri="{FF2B5EF4-FFF2-40B4-BE49-F238E27FC236}">
                <a16:creationId xmlns:a16="http://schemas.microsoft.com/office/drawing/2014/main" id="{BB02D8E9-410A-4148-B89A-21BAB3FD91B1}"/>
              </a:ext>
            </a:extLst>
          </p:cNvPr>
          <p:cNvPicPr>
            <a:picLocks noChangeAspect="1"/>
          </p:cNvPicPr>
          <p:nvPr/>
        </p:nvPicPr>
        <p:blipFill rotWithShape="1">
          <a:blip r:embed="rId3"/>
          <a:srcRect l="4397" t="5381" r="4279"/>
          <a:stretch/>
        </p:blipFill>
        <p:spPr>
          <a:xfrm>
            <a:off x="1818516" y="1851670"/>
            <a:ext cx="2753484" cy="1944216"/>
          </a:xfrm>
          <a:prstGeom prst="rect">
            <a:avLst/>
          </a:prstGeom>
        </p:spPr>
      </p:pic>
      <p:sp>
        <p:nvSpPr>
          <p:cNvPr id="3" name="内容占位符 2"/>
          <p:cNvSpPr>
            <a:spLocks noGrp="1"/>
          </p:cNvSpPr>
          <p:nvPr>
            <p:ph idx="1"/>
          </p:nvPr>
        </p:nvSpPr>
        <p:spPr>
          <a:xfrm>
            <a:off x="611559" y="986626"/>
            <a:ext cx="8568953" cy="1369100"/>
          </a:xfrm>
        </p:spPr>
        <p:txBody>
          <a:bodyPr>
            <a:noAutofit/>
          </a:bodyPr>
          <a:lstStyle/>
          <a:p>
            <a:pPr marL="0" indent="0">
              <a:lnSpc>
                <a:spcPct val="1500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3</a:t>
            </a:r>
            <a:r>
              <a:rPr lang="zh-CN" altLang="zh-CN" sz="1800" dirty="0">
                <a:solidFill>
                  <a:srgbClr val="002060"/>
                </a:solidFill>
                <a:latin typeface="Times New Roman" panose="02020603050405020304" pitchFamily="18" charset="0"/>
                <a:cs typeface="Times New Roman" panose="02020603050405020304" pitchFamily="18" charset="0"/>
              </a:rPr>
              <a:t>．</a:t>
            </a:r>
            <a:r>
              <a:rPr lang="zh-CN" altLang="en-US" sz="1800" dirty="0">
                <a:solidFill>
                  <a:srgbClr val="002060"/>
                </a:solidFill>
                <a:latin typeface="Times New Roman" panose="02020603050405020304" pitchFamily="18" charset="0"/>
                <a:cs typeface="Times New Roman" panose="02020603050405020304" pitchFamily="18" charset="0"/>
              </a:rPr>
              <a:t>感知机</a:t>
            </a:r>
            <a:endParaRPr lang="en-US" altLang="zh-CN" sz="1800" dirty="0">
              <a:solidFill>
                <a:srgbClr val="00206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800" dirty="0">
                <a:solidFill>
                  <a:srgbClr val="002060"/>
                </a:solidFill>
                <a:latin typeface="Times New Roman" panose="02020603050405020304" pitchFamily="18" charset="0"/>
                <a:cs typeface="Times New Roman" panose="02020603050405020304" pitchFamily="18" charset="0"/>
              </a:rPr>
              <a:t>      由</a:t>
            </a:r>
            <a:r>
              <a:rPr lang="zh-CN" altLang="en-US" sz="1800">
                <a:solidFill>
                  <a:srgbClr val="002060"/>
                </a:solidFill>
                <a:latin typeface="Times New Roman" panose="02020603050405020304" pitchFamily="18" charset="0"/>
                <a:cs typeface="Times New Roman" panose="02020603050405020304" pitchFamily="18" charset="0"/>
              </a:rPr>
              <a:t>两层组成</a:t>
            </a:r>
            <a:r>
              <a:rPr lang="zh-CN" altLang="en-US" sz="1800" dirty="0">
                <a:solidFill>
                  <a:srgbClr val="002060"/>
                </a:solidFill>
                <a:latin typeface="Times New Roman" panose="02020603050405020304" pitchFamily="18" charset="0"/>
                <a:cs typeface="Times New Roman" panose="02020603050405020304" pitchFamily="18" charset="0"/>
              </a:rPr>
              <a:t>：输入层接受外界输入信号，传递给输出层</a:t>
            </a:r>
            <a:r>
              <a:rPr lang="en-US" altLang="zh-CN" sz="1800" dirty="0">
                <a:solidFill>
                  <a:srgbClr val="002060"/>
                </a:solidFill>
                <a:latin typeface="Times New Roman" panose="02020603050405020304" pitchFamily="18" charset="0"/>
                <a:cs typeface="Times New Roman" panose="02020603050405020304" pitchFamily="18" charset="0"/>
              </a:rPr>
              <a:t>, </a:t>
            </a:r>
          </a:p>
          <a:p>
            <a:pPr marL="0" indent="0">
              <a:lnSpc>
                <a:spcPct val="1500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zh-CN" altLang="en-US" sz="1800" dirty="0">
                <a:solidFill>
                  <a:srgbClr val="002060"/>
                </a:solidFill>
                <a:latin typeface="Times New Roman" panose="02020603050405020304" pitchFamily="18" charset="0"/>
                <a:cs typeface="Times New Roman" panose="02020603050405020304" pitchFamily="18" charset="0"/>
              </a:rPr>
              <a:t>输出层是</a:t>
            </a:r>
            <a:r>
              <a:rPr lang="en-US" altLang="zh-CN" sz="1800" dirty="0">
                <a:solidFill>
                  <a:srgbClr val="002060"/>
                </a:solidFill>
                <a:latin typeface="Times New Roman" panose="02020603050405020304" pitchFamily="18" charset="0"/>
                <a:cs typeface="Times New Roman" panose="02020603050405020304" pitchFamily="18" charset="0"/>
              </a:rPr>
              <a:t>MP</a:t>
            </a:r>
            <a:r>
              <a:rPr lang="zh-CN" altLang="en-US" sz="1800" dirty="0">
                <a:solidFill>
                  <a:srgbClr val="002060"/>
                </a:solidFill>
                <a:latin typeface="Times New Roman" panose="02020603050405020304" pitchFamily="18" charset="0"/>
                <a:cs typeface="Times New Roman" panose="02020603050405020304" pitchFamily="18" charset="0"/>
              </a:rPr>
              <a:t>神经元</a:t>
            </a:r>
            <a:endParaRPr lang="zh-CN" altLang="zh-CN" sz="1800" dirty="0">
              <a:solidFill>
                <a:srgbClr val="00206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DA2B65CC-14EB-4F3A-979E-9E8EB61C234B}"/>
                  </a:ext>
                </a:extLst>
              </p:cNvPr>
              <p:cNvSpPr/>
              <p:nvPr/>
            </p:nvSpPr>
            <p:spPr>
              <a:xfrm>
                <a:off x="791606" y="3795886"/>
                <a:ext cx="7560788" cy="1289071"/>
              </a:xfrm>
              <a:prstGeom prst="rect">
                <a:avLst/>
              </a:prstGeom>
            </p:spPr>
            <p:txBody>
              <a:bodyPr wrap="square">
                <a:spAutoFit/>
              </a:bodyPr>
              <a:lstStyle/>
              <a:p>
                <a:pPr>
                  <a:lnSpc>
                    <a:spcPct val="150000"/>
                  </a:lnSpc>
                  <a:spcBef>
                    <a:spcPts val="0"/>
                  </a:spcBef>
                </a:pPr>
                <a:r>
                  <a:rPr lang="zh-CN" altLang="en-US"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 给定训练数据集，权重</a:t>
                </a:r>
                <a14:m>
                  <m:oMath xmlns:m="http://schemas.openxmlformats.org/officeDocument/2006/math">
                    <m:sSub>
                      <m:sSubPr>
                        <m:ctrlPr>
                          <a:rPr lang="en-US" altLang="zh-CN" i="1">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𝒘</m:t>
                        </m:r>
                      </m:e>
                      <m:sub>
                        <m:r>
                          <a:rPr lang="en-US" altLang="zh-CN">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𝑖</m:t>
                        </m:r>
                      </m:sub>
                    </m:sSub>
                  </m:oMath>
                </a14:m>
                <a:r>
                  <a:rPr lang="en-US" altLang="zh-CN"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r>
                      <a:rPr lang="en-US" altLang="zh-CN" dirty="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𝑖</m:t>
                    </m:r>
                    <m:r>
                      <a:rPr lang="en-US" altLang="zh-CN" dirty="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=1,2,…,</m:t>
                    </m:r>
                    <m:r>
                      <a:rPr lang="en-US" altLang="zh-CN" dirty="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𝑛</m:t>
                    </m:r>
                  </m:oMath>
                </a14:m>
                <a:r>
                  <a:rPr lang="en-US" altLang="zh-CN"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 与阈值</a:t>
                </a:r>
                <a14:m>
                  <m:oMath xmlns:m="http://schemas.openxmlformats.org/officeDocument/2006/math">
                    <m:r>
                      <a:rPr lang="zh-CN" altLang="en-US">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𝜽</m:t>
                    </m:r>
                  </m:oMath>
                </a14:m>
                <a:r>
                  <a:rPr lang="zh-CN" altLang="en-US">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可以通过</a:t>
                </a:r>
                <a:r>
                  <a:rPr lang="zh-CN" altLang="en-US"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学习得到。</a:t>
                </a:r>
                <a:endParaRPr lang="en-US" altLang="zh-CN"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spcBef>
                    <a:spcPts val="0"/>
                  </a:spcBef>
                </a:pPr>
                <a:r>
                  <a:rPr lang="zh-CN" altLang="en-US"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 两层感知机可以解决两类模式线性</a:t>
                </a:r>
                <a:r>
                  <a:rPr lang="zh-CN" altLang="en-US">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可分</a:t>
                </a:r>
                <a:endParaRPr lang="en-US" altLang="zh-CN">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spcBef>
                    <a:spcPts val="0"/>
                  </a:spcBef>
                </a:pPr>
                <a:r>
                  <a:rPr lang="zh-CN" altLang="en-US">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什么是学习？得到：</a:t>
                </a:r>
                <a:r>
                  <a:rPr lang="zh-CN" altLang="en-US">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权重</a:t>
                </a:r>
                <a14:m>
                  <m:oMath xmlns:m="http://schemas.openxmlformats.org/officeDocument/2006/math">
                    <m:sSub>
                      <m:sSubPr>
                        <m:ctrlPr>
                          <a:rPr lang="en-US" altLang="zh-CN" i="1">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𝒘</m:t>
                        </m:r>
                      </m:e>
                      <m:sub>
                        <m:r>
                          <a:rPr lang="en-US" altLang="zh-CN">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𝑖</m:t>
                        </m:r>
                      </m:sub>
                    </m:sSub>
                  </m:oMath>
                </a14:m>
                <a:r>
                  <a:rPr lang="en-US" altLang="zh-CN"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r>
                      <a:rPr lang="en-US" altLang="zh-CN" dirty="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𝑖</m:t>
                    </m:r>
                    <m:r>
                      <a:rPr lang="en-US" altLang="zh-CN" dirty="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=1,2,…,</m:t>
                    </m:r>
                    <m:r>
                      <a:rPr lang="en-US" altLang="zh-CN" dirty="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𝑛</m:t>
                    </m:r>
                  </m:oMath>
                </a14:m>
                <a:r>
                  <a:rPr lang="en-US" altLang="zh-CN"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 与阈值</a:t>
                </a:r>
                <a14:m>
                  <m:oMath xmlns:m="http://schemas.openxmlformats.org/officeDocument/2006/math">
                    <m:r>
                      <a:rPr lang="zh-CN" altLang="en-US">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𝜽</m:t>
                    </m:r>
                  </m:oMath>
                </a14:m>
                <a:endParaRPr lang="en-US" altLang="zh-CN"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5" name="矩形 4">
                <a:extLst>
                  <a:ext uri="{FF2B5EF4-FFF2-40B4-BE49-F238E27FC236}">
                    <a16:creationId xmlns:a16="http://schemas.microsoft.com/office/drawing/2014/main" id="{DA2B65CC-14EB-4F3A-979E-9E8EB61C234B}"/>
                  </a:ext>
                </a:extLst>
              </p:cNvPr>
              <p:cNvSpPr>
                <a:spLocks noRot="1" noChangeAspect="1" noMove="1" noResize="1" noEditPoints="1" noAdjustHandles="1" noChangeArrowheads="1" noChangeShapeType="1" noTextEdit="1"/>
              </p:cNvSpPr>
              <p:nvPr/>
            </p:nvSpPr>
            <p:spPr>
              <a:xfrm>
                <a:off x="791606" y="3795886"/>
                <a:ext cx="7560788" cy="1289071"/>
              </a:xfrm>
              <a:prstGeom prst="rect">
                <a:avLst/>
              </a:prstGeom>
              <a:blipFill>
                <a:blip r:embed="rId4"/>
                <a:stretch>
                  <a:fillRect l="-726" b="-7109"/>
                </a:stretch>
              </a:blipFill>
            </p:spPr>
            <p:txBody>
              <a:bodyPr/>
              <a:lstStyle/>
              <a:p>
                <a:r>
                  <a:rPr lang="zh-CN" altLang="en-US">
                    <a:noFill/>
                  </a:rPr>
                  <a:t> </a:t>
                </a:r>
              </a:p>
            </p:txBody>
          </p:sp>
        </mc:Fallback>
      </mc:AlternateContent>
      <p:sp>
        <p:nvSpPr>
          <p:cNvPr id="8" name="标题 1">
            <a:extLst>
              <a:ext uri="{FF2B5EF4-FFF2-40B4-BE49-F238E27FC236}">
                <a16:creationId xmlns:a16="http://schemas.microsoft.com/office/drawing/2014/main" id="{5E255EB2-F164-434D-B9E4-3F1F6A5E568E}"/>
              </a:ext>
            </a:extLst>
          </p:cNvPr>
          <p:cNvSpPr>
            <a:spLocks noGrp="1"/>
          </p:cNvSpPr>
          <p:nvPr>
            <p:ph type="title"/>
          </p:nvPr>
        </p:nvSpPr>
        <p:spPr>
          <a:xfrm>
            <a:off x="395536" y="195486"/>
            <a:ext cx="6048724" cy="577618"/>
          </a:xfrm>
        </p:spPr>
        <p:txBody>
          <a:bodyPr>
            <a:noAutofit/>
          </a:bodyPr>
          <a:lstStyle/>
          <a:p>
            <a:r>
              <a:rPr lang="zh-CN" altLang="en-US" sz="2400">
                <a:solidFill>
                  <a:srgbClr val="FFFFFF"/>
                </a:solidFill>
              </a:rPr>
              <a:t>六、人工神经网络</a:t>
            </a:r>
            <a:endParaRPr lang="zh-CN" altLang="en-US" sz="2400" dirty="0"/>
          </a:p>
        </p:txBody>
      </p:sp>
    </p:spTree>
    <p:extLst>
      <p:ext uri="{BB962C8B-B14F-4D97-AF65-F5344CB8AC3E}">
        <p14:creationId xmlns:p14="http://schemas.microsoft.com/office/powerpoint/2010/main" val="1385530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图片 25" descr="屏幕剪辑">
            <a:extLst>
              <a:ext uri="{FF2B5EF4-FFF2-40B4-BE49-F238E27FC236}">
                <a16:creationId xmlns:a16="http://schemas.microsoft.com/office/drawing/2014/main" id="{E294BABE-1D93-4801-B6D9-21223F67248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8346" b="16430"/>
          <a:stretch/>
        </p:blipFill>
        <p:spPr>
          <a:xfrm>
            <a:off x="1115616" y="1851670"/>
            <a:ext cx="4968552" cy="2069033"/>
          </a:xfrm>
          <a:prstGeom prst="rect">
            <a:avLst/>
          </a:prstGeom>
        </p:spPr>
      </p:pic>
      <p:sp>
        <p:nvSpPr>
          <p:cNvPr id="2" name="标题 1"/>
          <p:cNvSpPr>
            <a:spLocks noGrp="1"/>
          </p:cNvSpPr>
          <p:nvPr>
            <p:ph type="title"/>
          </p:nvPr>
        </p:nvSpPr>
        <p:spPr>
          <a:xfrm>
            <a:off x="395536" y="195486"/>
            <a:ext cx="6048724" cy="577618"/>
          </a:xfrm>
        </p:spPr>
        <p:txBody>
          <a:bodyPr>
            <a:noAutofit/>
          </a:bodyPr>
          <a:lstStyle/>
          <a:p>
            <a:r>
              <a:rPr lang="zh-CN" altLang="en-US" sz="2400">
                <a:solidFill>
                  <a:srgbClr val="FFFFFF"/>
                </a:solidFill>
              </a:rPr>
              <a:t>六、人工神经网络</a:t>
            </a:r>
            <a:endParaRPr lang="zh-CN" altLang="en-US" sz="2400" dirty="0"/>
          </a:p>
        </p:txBody>
      </p:sp>
      <p:sp>
        <p:nvSpPr>
          <p:cNvPr id="3" name="内容占位符 2"/>
          <p:cNvSpPr>
            <a:spLocks noGrp="1"/>
          </p:cNvSpPr>
          <p:nvPr>
            <p:ph idx="1"/>
          </p:nvPr>
        </p:nvSpPr>
        <p:spPr>
          <a:xfrm>
            <a:off x="611559" y="986626"/>
            <a:ext cx="6696745" cy="4156874"/>
          </a:xfrm>
        </p:spPr>
        <p:txBody>
          <a:bodyPr>
            <a:noAutofit/>
          </a:bodyPr>
          <a:lstStyle/>
          <a:p>
            <a:pPr marL="0" indent="0">
              <a:lnSpc>
                <a:spcPct val="150000"/>
              </a:lnSpc>
              <a:spcBef>
                <a:spcPts val="0"/>
              </a:spcBef>
              <a:buNone/>
            </a:pPr>
            <a:r>
              <a:rPr lang="en-US" altLang="zh-CN" sz="1800">
                <a:solidFill>
                  <a:srgbClr val="002060"/>
                </a:solidFill>
                <a:latin typeface="Times New Roman" panose="02020603050405020304" pitchFamily="18" charset="0"/>
                <a:cs typeface="Times New Roman" panose="02020603050405020304" pitchFamily="18" charset="0"/>
              </a:rPr>
              <a:t>4</a:t>
            </a:r>
            <a:r>
              <a:rPr lang="zh-CN" altLang="zh-CN" sz="1800">
                <a:solidFill>
                  <a:srgbClr val="002060"/>
                </a:solidFill>
                <a:latin typeface="Times New Roman" panose="02020603050405020304" pitchFamily="18" charset="0"/>
                <a:cs typeface="Times New Roman" panose="02020603050405020304" pitchFamily="18" charset="0"/>
              </a:rPr>
              <a:t>．</a:t>
            </a:r>
            <a:r>
              <a:rPr lang="zh-CN" altLang="en-US" sz="1800" dirty="0">
                <a:solidFill>
                  <a:srgbClr val="002060"/>
                </a:solidFill>
                <a:latin typeface="Times New Roman" panose="02020603050405020304" pitchFamily="18" charset="0"/>
                <a:cs typeface="Times New Roman" panose="02020603050405020304" pitchFamily="18" charset="0"/>
              </a:rPr>
              <a:t>多层感知机（</a:t>
            </a:r>
            <a:r>
              <a:rPr lang="en-US" altLang="zh-CN" sz="1800" dirty="0" err="1">
                <a:solidFill>
                  <a:srgbClr val="002060"/>
                </a:solidFill>
                <a:latin typeface="Times New Roman" panose="02020603050405020304" pitchFamily="18" charset="0"/>
                <a:cs typeface="Times New Roman" panose="02020603050405020304" pitchFamily="18" charset="0"/>
              </a:rPr>
              <a:t>MLP</a:t>
            </a:r>
            <a:r>
              <a:rPr lang="zh-CN" altLang="en-US" sz="1800" dirty="0">
                <a:solidFill>
                  <a:srgbClr val="002060"/>
                </a:solidFill>
                <a:latin typeface="Times New Roman" panose="02020603050405020304" pitchFamily="18" charset="0"/>
                <a:cs typeface="Times New Roman" panose="02020603050405020304" pitchFamily="18" charset="0"/>
              </a:rPr>
              <a:t>）</a:t>
            </a:r>
            <a:endParaRPr lang="en-US" altLang="zh-CN" sz="1800" dirty="0">
              <a:solidFill>
                <a:srgbClr val="00206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800" dirty="0">
                <a:solidFill>
                  <a:srgbClr val="002060"/>
                </a:solidFill>
                <a:latin typeface="Times New Roman" panose="02020603050405020304" pitchFamily="18" charset="0"/>
                <a:cs typeface="Times New Roman" panose="02020603050405020304" pitchFamily="18" charset="0"/>
              </a:rPr>
              <a:t>      （</a:t>
            </a:r>
            <a:r>
              <a:rPr lang="en-US" altLang="zh-CN" sz="1800" dirty="0">
                <a:solidFill>
                  <a:srgbClr val="002060"/>
                </a:solidFill>
                <a:latin typeface="Times New Roman" panose="02020603050405020304" pitchFamily="18" charset="0"/>
                <a:cs typeface="Times New Roman" panose="02020603050405020304" pitchFamily="18" charset="0"/>
              </a:rPr>
              <a:t>1</a:t>
            </a:r>
            <a:r>
              <a:rPr lang="zh-CN" altLang="en-US" sz="1800" dirty="0">
                <a:solidFill>
                  <a:srgbClr val="002060"/>
                </a:solidFill>
                <a:latin typeface="Times New Roman" panose="02020603050405020304" pitchFamily="18" charset="0"/>
                <a:cs typeface="Times New Roman" panose="02020603050405020304" pitchFamily="18" charset="0"/>
              </a:rPr>
              <a:t>）解决异或</a:t>
            </a:r>
            <a:r>
              <a:rPr lang="zh-CN" altLang="en-US" sz="1800">
                <a:solidFill>
                  <a:srgbClr val="002060"/>
                </a:solidFill>
                <a:latin typeface="Times New Roman" panose="02020603050405020304" pitchFamily="18" charset="0"/>
                <a:cs typeface="Times New Roman" panose="02020603050405020304" pitchFamily="18" charset="0"/>
              </a:rPr>
              <a:t>问题的多层</a:t>
            </a:r>
            <a:r>
              <a:rPr lang="zh-CN" altLang="en-US" sz="1800" dirty="0">
                <a:solidFill>
                  <a:srgbClr val="002060"/>
                </a:solidFill>
                <a:latin typeface="Times New Roman" panose="02020603050405020304" pitchFamily="18" charset="0"/>
                <a:cs typeface="Times New Roman" panose="02020603050405020304" pitchFamily="18" charset="0"/>
              </a:rPr>
              <a:t>感知机</a:t>
            </a:r>
            <a:endParaRPr lang="en-US" altLang="zh-CN" sz="1800" dirty="0">
              <a:solidFill>
                <a:srgbClr val="00206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endParaRPr lang="en-US" altLang="zh-CN" sz="1800" dirty="0">
              <a:solidFill>
                <a:srgbClr val="00206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endParaRPr lang="en-US" altLang="zh-CN" sz="1800" dirty="0">
              <a:solidFill>
                <a:srgbClr val="00206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endParaRPr lang="en-US" altLang="zh-CN" sz="1800" dirty="0">
              <a:solidFill>
                <a:srgbClr val="00206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endParaRPr lang="en-US" altLang="zh-CN" sz="1800" dirty="0">
              <a:solidFill>
                <a:srgbClr val="00206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endParaRPr lang="en-US" altLang="zh-CN" sz="1800" dirty="0">
              <a:solidFill>
                <a:srgbClr val="002060"/>
              </a:solidFill>
              <a:latin typeface="Times New Roman" panose="02020603050405020304" pitchFamily="18" charset="0"/>
              <a:cs typeface="Times New Roman" panose="02020603050405020304" pitchFamily="18" charset="0"/>
            </a:endParaRPr>
          </a:p>
          <a:p>
            <a:pPr marL="342900" lvl="1" indent="0">
              <a:lnSpc>
                <a:spcPct val="110000"/>
              </a:lnSpc>
              <a:spcBef>
                <a:spcPts val="60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zh-CN" altLang="en-US" sz="1800" dirty="0">
                <a:solidFill>
                  <a:srgbClr val="002060"/>
                </a:solidFill>
                <a:latin typeface="Times New Roman" panose="02020603050405020304" pitchFamily="18" charset="0"/>
                <a:cs typeface="Times New Roman" panose="02020603050405020304" pitchFamily="18" charset="0"/>
              </a:rPr>
              <a:t>输出层与输入层之间的一层神经元，被称之为隐层或隐含层，</a:t>
            </a:r>
            <a:endParaRPr lang="en-US" altLang="zh-CN" sz="1800" dirty="0">
              <a:solidFill>
                <a:srgbClr val="002060"/>
              </a:solidFill>
              <a:latin typeface="Times New Roman" panose="02020603050405020304" pitchFamily="18" charset="0"/>
              <a:cs typeface="Times New Roman" panose="02020603050405020304" pitchFamily="18" charset="0"/>
            </a:endParaRPr>
          </a:p>
          <a:p>
            <a:pPr marL="342900" lvl="1" indent="0">
              <a:lnSpc>
                <a:spcPct val="110000"/>
              </a:lnSpc>
              <a:spcBef>
                <a:spcPts val="60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zh-CN" altLang="en-US" sz="1800" dirty="0">
                <a:solidFill>
                  <a:srgbClr val="002060"/>
                </a:solidFill>
                <a:latin typeface="Times New Roman" panose="02020603050405020304" pitchFamily="18" charset="0"/>
                <a:cs typeface="Times New Roman" panose="02020603050405020304" pitchFamily="18" charset="0"/>
              </a:rPr>
              <a:t>隐含层和输出层神经元的都是具有激活函数的功能神经元。</a:t>
            </a:r>
            <a:endParaRPr lang="en-US" altLang="zh-CN" sz="1800" dirty="0">
              <a:solidFill>
                <a:srgbClr val="002060"/>
              </a:solidFill>
              <a:latin typeface="Times New Roman" panose="02020603050405020304" pitchFamily="18" charset="0"/>
              <a:cs typeface="Times New Roman" panose="02020603050405020304" pitchFamily="18" charset="0"/>
            </a:endParaRPr>
          </a:p>
          <a:p>
            <a:pPr marL="342900" lvl="1" indent="0">
              <a:lnSpc>
                <a:spcPct val="110000"/>
              </a:lnSpc>
              <a:spcBef>
                <a:spcPts val="60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zh-CN" altLang="en-US" sz="1800" dirty="0">
                <a:solidFill>
                  <a:srgbClr val="002060"/>
                </a:solidFill>
                <a:latin typeface="Times New Roman" panose="02020603050405020304" pitchFamily="18" charset="0"/>
                <a:cs typeface="Times New Roman" panose="02020603050405020304" pitchFamily="18" charset="0"/>
              </a:rPr>
              <a:t>多层网络：包含隐层的网络。</a:t>
            </a:r>
            <a:endParaRPr lang="en-US" altLang="zh-CN" sz="1800" dirty="0">
              <a:solidFill>
                <a:srgbClr val="00206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endParaRPr lang="zh-CN" altLang="zh-CN" sz="18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8801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59" y="986626"/>
            <a:ext cx="5832701" cy="937052"/>
          </a:xfrm>
        </p:spPr>
        <p:txBody>
          <a:bodyPr>
            <a:noAutofit/>
          </a:bodyPr>
          <a:lstStyle/>
          <a:p>
            <a:pPr marL="0" indent="0">
              <a:lnSpc>
                <a:spcPct val="150000"/>
              </a:lnSpc>
              <a:spcBef>
                <a:spcPts val="0"/>
              </a:spcBef>
              <a:buNone/>
            </a:pPr>
            <a:r>
              <a:rPr lang="en-US" altLang="zh-CN" sz="1800">
                <a:solidFill>
                  <a:srgbClr val="002060"/>
                </a:solidFill>
                <a:latin typeface="Times New Roman" panose="02020603050405020304" pitchFamily="18" charset="0"/>
                <a:cs typeface="Times New Roman" panose="02020603050405020304" pitchFamily="18" charset="0"/>
              </a:rPr>
              <a:t>4</a:t>
            </a:r>
            <a:r>
              <a:rPr lang="zh-CN" altLang="zh-CN" sz="1800">
                <a:solidFill>
                  <a:srgbClr val="002060"/>
                </a:solidFill>
                <a:latin typeface="Times New Roman" panose="02020603050405020304" pitchFamily="18" charset="0"/>
                <a:cs typeface="Times New Roman" panose="02020603050405020304" pitchFamily="18" charset="0"/>
              </a:rPr>
              <a:t>．</a:t>
            </a:r>
            <a:r>
              <a:rPr lang="zh-CN" altLang="en-US" sz="1800" dirty="0">
                <a:solidFill>
                  <a:srgbClr val="002060"/>
                </a:solidFill>
                <a:latin typeface="Times New Roman" panose="02020603050405020304" pitchFamily="18" charset="0"/>
                <a:cs typeface="Times New Roman" panose="02020603050405020304" pitchFamily="18" charset="0"/>
              </a:rPr>
              <a:t>多层感知机（</a:t>
            </a:r>
            <a:r>
              <a:rPr lang="en-US" altLang="zh-CN" sz="1800" dirty="0" err="1">
                <a:solidFill>
                  <a:srgbClr val="002060"/>
                </a:solidFill>
                <a:latin typeface="Times New Roman" panose="02020603050405020304" pitchFamily="18" charset="0"/>
                <a:cs typeface="Times New Roman" panose="02020603050405020304" pitchFamily="18" charset="0"/>
              </a:rPr>
              <a:t>MLP</a:t>
            </a:r>
            <a:r>
              <a:rPr lang="zh-CN" altLang="en-US" sz="1800" dirty="0">
                <a:solidFill>
                  <a:srgbClr val="002060"/>
                </a:solidFill>
                <a:latin typeface="Times New Roman" panose="02020603050405020304" pitchFamily="18" charset="0"/>
                <a:cs typeface="Times New Roman" panose="02020603050405020304" pitchFamily="18" charset="0"/>
              </a:rPr>
              <a:t>）</a:t>
            </a:r>
            <a:endParaRPr lang="en-US" altLang="zh-CN" sz="1800" dirty="0">
              <a:solidFill>
                <a:srgbClr val="00206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800" dirty="0">
                <a:solidFill>
                  <a:srgbClr val="002060"/>
                </a:solidFill>
                <a:latin typeface="Times New Roman" panose="02020603050405020304" pitchFamily="18" charset="0"/>
                <a:cs typeface="Times New Roman" panose="02020603050405020304" pitchFamily="18" charset="0"/>
              </a:rPr>
              <a:t>      （</a:t>
            </a:r>
            <a:r>
              <a:rPr lang="en-US" altLang="zh-CN" sz="1800" dirty="0">
                <a:solidFill>
                  <a:srgbClr val="002060"/>
                </a:solidFill>
                <a:latin typeface="Times New Roman" panose="02020603050405020304" pitchFamily="18" charset="0"/>
                <a:cs typeface="Times New Roman" panose="02020603050405020304" pitchFamily="18" charset="0"/>
              </a:rPr>
              <a:t>2</a:t>
            </a:r>
            <a:r>
              <a:rPr lang="zh-CN" altLang="en-US" sz="1800" dirty="0">
                <a:solidFill>
                  <a:srgbClr val="002060"/>
                </a:solidFill>
                <a:latin typeface="Times New Roman" panose="02020603050405020304" pitchFamily="18" charset="0"/>
                <a:cs typeface="Times New Roman" panose="02020603050405020304" pitchFamily="18" charset="0"/>
              </a:rPr>
              <a:t>）感知机与多层感知机</a:t>
            </a:r>
            <a:endParaRPr lang="zh-CN" altLang="zh-CN" sz="1800" dirty="0">
              <a:solidFill>
                <a:srgbClr val="002060"/>
              </a:solidFill>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a:xfrm>
            <a:off x="395536" y="195486"/>
            <a:ext cx="6048724" cy="577618"/>
          </a:xfrm>
        </p:spPr>
        <p:txBody>
          <a:bodyPr>
            <a:noAutofit/>
          </a:bodyPr>
          <a:lstStyle/>
          <a:p>
            <a:r>
              <a:rPr lang="zh-CN" altLang="en-US" sz="2400">
                <a:solidFill>
                  <a:srgbClr val="FFFFFF"/>
                </a:solidFill>
              </a:rPr>
              <a:t>六、人工神经网络</a:t>
            </a:r>
            <a:endParaRPr lang="zh-CN" altLang="en-US" sz="2400" dirty="0"/>
          </a:p>
        </p:txBody>
      </p:sp>
      <p:pic>
        <p:nvPicPr>
          <p:cNvPr id="29" name="图片 28">
            <a:extLst>
              <a:ext uri="{FF2B5EF4-FFF2-40B4-BE49-F238E27FC236}">
                <a16:creationId xmlns:a16="http://schemas.microsoft.com/office/drawing/2014/main" id="{F77DE3A4-0549-45EB-B3EF-916804799FE9}"/>
              </a:ext>
            </a:extLst>
          </p:cNvPr>
          <p:cNvPicPr>
            <a:picLocks noChangeAspect="1"/>
          </p:cNvPicPr>
          <p:nvPr/>
        </p:nvPicPr>
        <p:blipFill>
          <a:blip r:embed="rId3"/>
          <a:stretch>
            <a:fillRect/>
          </a:stretch>
        </p:blipFill>
        <p:spPr>
          <a:xfrm>
            <a:off x="1408662" y="1851670"/>
            <a:ext cx="1712874" cy="2466538"/>
          </a:xfrm>
          <a:prstGeom prst="rect">
            <a:avLst/>
          </a:prstGeom>
        </p:spPr>
      </p:pic>
      <p:pic>
        <p:nvPicPr>
          <p:cNvPr id="30" name="图片 29">
            <a:extLst>
              <a:ext uri="{FF2B5EF4-FFF2-40B4-BE49-F238E27FC236}">
                <a16:creationId xmlns:a16="http://schemas.microsoft.com/office/drawing/2014/main" id="{2A356C0A-488D-424B-A126-6474619942A1}"/>
              </a:ext>
            </a:extLst>
          </p:cNvPr>
          <p:cNvPicPr>
            <a:picLocks noChangeAspect="1"/>
          </p:cNvPicPr>
          <p:nvPr/>
        </p:nvPicPr>
        <p:blipFill>
          <a:blip r:embed="rId4"/>
          <a:stretch>
            <a:fillRect/>
          </a:stretch>
        </p:blipFill>
        <p:spPr>
          <a:xfrm>
            <a:off x="5474738" y="1852573"/>
            <a:ext cx="2260600" cy="2350070"/>
          </a:xfrm>
          <a:prstGeom prst="rect">
            <a:avLst/>
          </a:prstGeom>
        </p:spPr>
      </p:pic>
      <mc:AlternateContent xmlns:mc="http://schemas.openxmlformats.org/markup-compatibility/2006" xmlns:a14="http://schemas.microsoft.com/office/drawing/2010/main">
        <mc:Choice Requires="a14">
          <p:sp>
            <p:nvSpPr>
              <p:cNvPr id="31" name="矩形 30">
                <a:extLst>
                  <a:ext uri="{FF2B5EF4-FFF2-40B4-BE49-F238E27FC236}">
                    <a16:creationId xmlns:a16="http://schemas.microsoft.com/office/drawing/2014/main" id="{F6D8BC75-86DB-427B-A7C3-5E73309894E4}"/>
                  </a:ext>
                </a:extLst>
              </p:cNvPr>
              <p:cNvSpPr/>
              <p:nvPr/>
            </p:nvSpPr>
            <p:spPr>
              <a:xfrm>
                <a:off x="0" y="4273748"/>
                <a:ext cx="4488813" cy="276999"/>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n-US" altLang="zh-CN" sz="12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𝑦</m:t>
                      </m:r>
                      <m:r>
                        <a:rPr lang="en-US" altLang="zh-CN" sz="12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2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𝑤</m:t>
                      </m:r>
                      <m:d>
                        <m:dPr>
                          <m:begChr m:val="["/>
                          <m:endChr m:val="]"/>
                          <m:ctrlPr>
                            <a:rPr lang="en-US" altLang="zh-CN" sz="1200" i="1">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2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0</m:t>
                          </m:r>
                        </m:e>
                      </m:d>
                      <m:r>
                        <a:rPr lang="en-US" altLang="zh-CN" sz="12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2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𝑥</m:t>
                      </m:r>
                      <m:d>
                        <m:dPr>
                          <m:begChr m:val="["/>
                          <m:endChr m:val="]"/>
                          <m:ctrlPr>
                            <a:rPr lang="en-US" altLang="zh-CN" sz="1200" i="1">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2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0</m:t>
                          </m:r>
                        </m:e>
                      </m:d>
                      <m:r>
                        <a:rPr lang="en-US" altLang="zh-CN" sz="12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2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𝑤</m:t>
                      </m:r>
                      <m:d>
                        <m:dPr>
                          <m:begChr m:val="["/>
                          <m:endChr m:val="]"/>
                          <m:ctrlPr>
                            <a:rPr lang="en-US" altLang="zh-CN" sz="1200" i="1">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2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1</m:t>
                          </m:r>
                        </m:e>
                      </m:d>
                      <m:r>
                        <a:rPr lang="en-US" altLang="zh-CN" sz="12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2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𝑥</m:t>
                      </m:r>
                      <m:d>
                        <m:dPr>
                          <m:begChr m:val="["/>
                          <m:endChr m:val="]"/>
                          <m:ctrlPr>
                            <a:rPr lang="en-US" altLang="zh-CN" sz="1200" i="1">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2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1</m:t>
                          </m:r>
                        </m:e>
                      </m:d>
                      <m:r>
                        <a:rPr lang="en-US" altLang="zh-CN" sz="12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2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𝑤</m:t>
                      </m:r>
                      <m:d>
                        <m:dPr>
                          <m:begChr m:val="["/>
                          <m:endChr m:val="]"/>
                          <m:ctrlPr>
                            <a:rPr lang="en-US" altLang="zh-CN" sz="1200" i="1">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2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2</m:t>
                          </m:r>
                        </m:e>
                      </m:d>
                      <m:r>
                        <a:rPr lang="en-US" altLang="zh-CN" sz="12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2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𝑥</m:t>
                      </m:r>
                      <m:d>
                        <m:dPr>
                          <m:begChr m:val="["/>
                          <m:endChr m:val="]"/>
                          <m:ctrlPr>
                            <a:rPr lang="en-US" altLang="zh-CN" sz="1200" i="1">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2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2</m:t>
                          </m:r>
                        </m:e>
                      </m:d>
                      <m:r>
                        <a:rPr lang="en-US" altLang="zh-CN" sz="12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2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𝑤</m:t>
                      </m:r>
                      <m:d>
                        <m:dPr>
                          <m:begChr m:val="["/>
                          <m:endChr m:val="]"/>
                          <m:ctrlPr>
                            <a:rPr lang="en-US" altLang="zh-CN" sz="1200" i="1">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2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3</m:t>
                          </m:r>
                        </m:e>
                      </m:d>
                      <m:r>
                        <a:rPr lang="en-US" altLang="zh-CN" sz="12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2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𝑥</m:t>
                      </m:r>
                      <m:d>
                        <m:dPr>
                          <m:begChr m:val="["/>
                          <m:endChr m:val="]"/>
                          <m:ctrlPr>
                            <a:rPr lang="en-US" altLang="zh-CN" sz="1200" i="1">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2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3</m:t>
                          </m:r>
                        </m:e>
                      </m:d>
                      <m:r>
                        <a:rPr lang="en-US" altLang="zh-CN" sz="12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2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𝑏</m:t>
                      </m:r>
                    </m:oMath>
                  </m:oMathPara>
                </a14:m>
                <a:endParaRPr lang="zh-CN" altLang="en-US" sz="1200"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31" name="矩形 30">
                <a:extLst>
                  <a:ext uri="{FF2B5EF4-FFF2-40B4-BE49-F238E27FC236}">
                    <a16:creationId xmlns:a16="http://schemas.microsoft.com/office/drawing/2014/main" id="{F6D8BC75-86DB-427B-A7C3-5E73309894E4}"/>
                  </a:ext>
                </a:extLst>
              </p:cNvPr>
              <p:cNvSpPr>
                <a:spLocks noRot="1" noChangeAspect="1" noMove="1" noResize="1" noEditPoints="1" noAdjustHandles="1" noChangeArrowheads="1" noChangeShapeType="1" noTextEdit="1"/>
              </p:cNvSpPr>
              <p:nvPr/>
            </p:nvSpPr>
            <p:spPr>
              <a:xfrm>
                <a:off x="0" y="4273748"/>
                <a:ext cx="4488813" cy="276999"/>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A00196B5-DAF0-4B58-AE2F-FF18B614CACC}"/>
                  </a:ext>
                </a:extLst>
              </p:cNvPr>
              <p:cNvSpPr/>
              <p:nvPr/>
            </p:nvSpPr>
            <p:spPr>
              <a:xfrm>
                <a:off x="4211960" y="4151659"/>
                <a:ext cx="5040559" cy="769441"/>
              </a:xfrm>
              <a:prstGeom prst="rect">
                <a:avLst/>
              </a:prstGeom>
            </p:spPr>
            <p:txBody>
              <a:bodyPr wrap="none" lIns="0" rIns="0">
                <a:spAutoFit/>
              </a:bodyPr>
              <a:lstStyle/>
              <a:p>
                <a:pPr/>
                <a14:m>
                  <m:oMathPara xmlns:m="http://schemas.openxmlformats.org/officeDocument/2006/math">
                    <m:oMathParaPr>
                      <m:jc m:val="centerGroup"/>
                    </m:oMathParaPr>
                    <m:oMath xmlns:m="http://schemas.openxmlformats.org/officeDocument/2006/math">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h</m:t>
                      </m:r>
                      <m:d>
                        <m:dPr>
                          <m:begChr m:val="["/>
                          <m:endChr m:val="]"/>
                          <m:ctrlPr>
                            <a:rPr lang="en-US" altLang="zh-CN" sz="1100" i="1">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0</m:t>
                          </m:r>
                        </m:e>
                      </m:d>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tanh</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𝑤</m:t>
                      </m:r>
                      <m:d>
                        <m:dPr>
                          <m:begChr m:val="["/>
                          <m:endChr m:val="]"/>
                          <m:ctrlPr>
                            <a:rPr lang="en-US" altLang="zh-CN" sz="1100" i="1">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0,0</m:t>
                          </m:r>
                        </m:e>
                      </m:d>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𝑥</m:t>
                      </m:r>
                      <m:d>
                        <m:dPr>
                          <m:begChr m:val="["/>
                          <m:endChr m:val="]"/>
                          <m:ctrlPr>
                            <a:rPr lang="en-US" altLang="zh-CN" sz="1100" i="1">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0</m:t>
                          </m:r>
                        </m:e>
                      </m:d>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𝑤</m:t>
                      </m:r>
                      <m:d>
                        <m:dPr>
                          <m:begChr m:val="["/>
                          <m:endChr m:val="]"/>
                          <m:ctrlPr>
                            <a:rPr lang="en-US" altLang="zh-CN" sz="1100" i="1">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1,0</m:t>
                          </m:r>
                        </m:e>
                      </m:d>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𝑥</m:t>
                      </m:r>
                      <m:d>
                        <m:dPr>
                          <m:begChr m:val="["/>
                          <m:endChr m:val="]"/>
                          <m:ctrlPr>
                            <a:rPr lang="en-US" altLang="zh-CN" sz="1100" i="1">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1</m:t>
                          </m:r>
                        </m:e>
                      </m:d>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𝑤</m:t>
                      </m:r>
                      <m:d>
                        <m:dPr>
                          <m:begChr m:val="["/>
                          <m:endChr m:val="]"/>
                          <m:ctrlPr>
                            <a:rPr lang="en-US" altLang="zh-CN" sz="1100" i="1">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2,0</m:t>
                          </m:r>
                        </m:e>
                      </m:d>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𝑥</m:t>
                      </m:r>
                      <m:d>
                        <m:dPr>
                          <m:begChr m:val="["/>
                          <m:endChr m:val="]"/>
                          <m:ctrlPr>
                            <a:rPr lang="en-US" altLang="zh-CN" sz="1100" i="1">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2</m:t>
                          </m:r>
                        </m:e>
                      </m:d>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𝑤</m:t>
                      </m:r>
                      <m:d>
                        <m:dPr>
                          <m:begChr m:val="["/>
                          <m:endChr m:val="]"/>
                          <m:ctrlPr>
                            <a:rPr lang="en-US" altLang="zh-CN" sz="1100" i="1">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3,0</m:t>
                          </m:r>
                        </m:e>
                      </m:d>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𝑥</m:t>
                      </m:r>
                      <m:d>
                        <m:dPr>
                          <m:begChr m:val="["/>
                          <m:endChr m:val="]"/>
                          <m:ctrlPr>
                            <a:rPr lang="en-US" altLang="zh-CN" sz="1100" i="1">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3</m:t>
                          </m:r>
                        </m:e>
                      </m:d>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𝑏</m:t>
                      </m:r>
                      <m:r>
                        <a:rPr lang="en-US" altLang="zh-CN" sz="1100" smtClean="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0</m:t>
                      </m:r>
                      <m:r>
                        <a:rPr lang="en-US" altLang="zh-CN" sz="1100" smtClean="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oMath>
                  </m:oMathPara>
                </a14:m>
                <a:endParaRPr lang="en-US" altLang="zh-CN" sz="1100"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h</m:t>
                      </m:r>
                      <m:d>
                        <m:dPr>
                          <m:begChr m:val="["/>
                          <m:endChr m:val="]"/>
                          <m:ctrlPr>
                            <a:rPr lang="en-US" altLang="zh-CN" sz="1100" i="1">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1</m:t>
                          </m:r>
                        </m:e>
                      </m:d>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tanh</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𝑤</m:t>
                      </m:r>
                      <m:d>
                        <m:dPr>
                          <m:begChr m:val="["/>
                          <m:endChr m:val="]"/>
                          <m:ctrlPr>
                            <a:rPr lang="en-US" altLang="zh-CN" sz="1100" i="1">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0,1</m:t>
                          </m:r>
                        </m:e>
                      </m:d>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𝑥</m:t>
                      </m:r>
                      <m:d>
                        <m:dPr>
                          <m:begChr m:val="["/>
                          <m:endChr m:val="]"/>
                          <m:ctrlPr>
                            <a:rPr lang="en-US" altLang="zh-CN" sz="1100" i="1">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0</m:t>
                          </m:r>
                        </m:e>
                      </m:d>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𝑤</m:t>
                      </m:r>
                      <m:d>
                        <m:dPr>
                          <m:begChr m:val="["/>
                          <m:endChr m:val="]"/>
                          <m:ctrlPr>
                            <a:rPr lang="en-US" altLang="zh-CN" sz="1100" i="1">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1,1</m:t>
                          </m:r>
                        </m:e>
                      </m:d>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𝑥</m:t>
                      </m:r>
                      <m:d>
                        <m:dPr>
                          <m:begChr m:val="["/>
                          <m:endChr m:val="]"/>
                          <m:ctrlPr>
                            <a:rPr lang="en-US" altLang="zh-CN" sz="1100" i="1">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1</m:t>
                          </m:r>
                        </m:e>
                      </m:d>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𝑤</m:t>
                      </m:r>
                      <m:d>
                        <m:dPr>
                          <m:begChr m:val="["/>
                          <m:endChr m:val="]"/>
                          <m:ctrlPr>
                            <a:rPr lang="en-US" altLang="zh-CN" sz="1100" i="1">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2,1</m:t>
                          </m:r>
                        </m:e>
                      </m:d>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𝑥</m:t>
                      </m:r>
                      <m:d>
                        <m:dPr>
                          <m:begChr m:val="["/>
                          <m:endChr m:val="]"/>
                          <m:ctrlPr>
                            <a:rPr lang="en-US" altLang="zh-CN" sz="1100" i="1">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2</m:t>
                          </m:r>
                        </m:e>
                      </m:d>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𝑤</m:t>
                      </m:r>
                      <m:d>
                        <m:dPr>
                          <m:begChr m:val="["/>
                          <m:endChr m:val="]"/>
                          <m:ctrlPr>
                            <a:rPr lang="en-US" altLang="zh-CN" sz="1100" i="1">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3,1</m:t>
                          </m:r>
                        </m:e>
                      </m:d>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𝑥</m:t>
                      </m:r>
                      <m:d>
                        <m:dPr>
                          <m:begChr m:val="["/>
                          <m:endChr m:val="]"/>
                          <m:ctrlPr>
                            <a:rPr lang="en-US" altLang="zh-CN" sz="1100" i="1">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3</m:t>
                          </m:r>
                        </m:e>
                      </m:d>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𝑏</m:t>
                      </m:r>
                      <m:r>
                        <a:rPr lang="en-US" altLang="zh-CN" sz="1100" smtClean="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1</m:t>
                      </m:r>
                      <m:r>
                        <a:rPr lang="en-US" altLang="zh-CN" sz="1100" smtClean="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oMath>
                  </m:oMathPara>
                </a14:m>
                <a:endParaRPr lang="en-US" altLang="zh-CN" sz="1100"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h</m:t>
                      </m:r>
                      <m:d>
                        <m:dPr>
                          <m:begChr m:val="["/>
                          <m:endChr m:val="]"/>
                          <m:ctrlPr>
                            <a:rPr lang="en-US" altLang="zh-CN" sz="1100" i="1">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2</m:t>
                          </m:r>
                        </m:e>
                      </m:d>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tanh</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𝑤</m:t>
                      </m:r>
                      <m:d>
                        <m:dPr>
                          <m:begChr m:val="["/>
                          <m:endChr m:val="]"/>
                          <m:ctrlPr>
                            <a:rPr lang="en-US" altLang="zh-CN" sz="1100" i="1">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0,2</m:t>
                          </m:r>
                        </m:e>
                      </m:d>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𝑥</m:t>
                      </m:r>
                      <m:d>
                        <m:dPr>
                          <m:begChr m:val="["/>
                          <m:endChr m:val="]"/>
                          <m:ctrlPr>
                            <a:rPr lang="en-US" altLang="zh-CN" sz="1100" i="1">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0</m:t>
                          </m:r>
                        </m:e>
                      </m:d>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𝑤</m:t>
                      </m:r>
                      <m:d>
                        <m:dPr>
                          <m:begChr m:val="["/>
                          <m:endChr m:val="]"/>
                          <m:ctrlPr>
                            <a:rPr lang="en-US" altLang="zh-CN" sz="1100" i="1">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1,2</m:t>
                          </m:r>
                        </m:e>
                      </m:d>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𝑥</m:t>
                      </m:r>
                      <m:d>
                        <m:dPr>
                          <m:begChr m:val="["/>
                          <m:endChr m:val="]"/>
                          <m:ctrlPr>
                            <a:rPr lang="en-US" altLang="zh-CN" sz="1100" i="1">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1</m:t>
                          </m:r>
                        </m:e>
                      </m:d>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𝑤</m:t>
                      </m:r>
                      <m:d>
                        <m:dPr>
                          <m:begChr m:val="["/>
                          <m:endChr m:val="]"/>
                          <m:ctrlPr>
                            <a:rPr lang="en-US" altLang="zh-CN" sz="1100" i="1">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2,2</m:t>
                          </m:r>
                        </m:e>
                      </m:d>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𝑥</m:t>
                      </m:r>
                      <m:d>
                        <m:dPr>
                          <m:begChr m:val="["/>
                          <m:endChr m:val="]"/>
                          <m:ctrlPr>
                            <a:rPr lang="en-US" altLang="zh-CN" sz="1100" i="1">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2</m:t>
                          </m:r>
                        </m:e>
                      </m:d>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𝑤</m:t>
                      </m:r>
                      <m:d>
                        <m:dPr>
                          <m:begChr m:val="["/>
                          <m:endChr m:val="]"/>
                          <m:ctrlPr>
                            <a:rPr lang="en-US" altLang="zh-CN" sz="1100" i="1">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3,2</m:t>
                          </m:r>
                        </m:e>
                      </m:d>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𝑥</m:t>
                      </m:r>
                      <m:d>
                        <m:dPr>
                          <m:begChr m:val="["/>
                          <m:endChr m:val="]"/>
                          <m:ctrlPr>
                            <a:rPr lang="en-US" altLang="zh-CN" sz="1100" i="1">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3</m:t>
                          </m:r>
                        </m:e>
                      </m:d>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𝑏</m:t>
                      </m:r>
                      <m:r>
                        <a:rPr lang="en-US" altLang="zh-CN" sz="1100" smtClean="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2</m:t>
                      </m:r>
                      <m:r>
                        <a:rPr lang="en-US" altLang="zh-CN" sz="1100" smtClean="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oMath>
                  </m:oMathPara>
                </a14:m>
                <a:endParaRPr lang="en-US" altLang="zh-CN" sz="1100"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100">
                    <a:solidFill>
                      <a:srgbClr val="002060"/>
                    </a:solidFill>
                    <a:ea typeface="微软雅黑" panose="020B0503020204020204" pitchFamily="34" charset="-122"/>
                    <a:cs typeface="Times New Roman" panose="02020603050405020304" pitchFamily="18" charset="0"/>
                  </a:rPr>
                  <a:t>   </a:t>
                </a:r>
                <a14:m>
                  <m:oMath xmlns:m="http://schemas.openxmlformats.org/officeDocument/2006/math">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𝑦</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𝑟𝑒𝑙𝑢</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𝑣</m:t>
                    </m:r>
                    <m:d>
                      <m:dPr>
                        <m:begChr m:val="["/>
                        <m:endChr m:val="]"/>
                        <m:ctrlPr>
                          <a:rPr lang="en-US" altLang="zh-CN" sz="1100" i="1">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0</m:t>
                        </m:r>
                      </m:e>
                    </m:d>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h</m:t>
                    </m:r>
                    <m:d>
                      <m:dPr>
                        <m:begChr m:val="["/>
                        <m:endChr m:val="]"/>
                        <m:ctrlPr>
                          <a:rPr lang="en-US" altLang="zh-CN" sz="1100" i="1">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0</m:t>
                        </m:r>
                      </m:e>
                    </m:d>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𝑣</m:t>
                    </m:r>
                    <m:d>
                      <m:dPr>
                        <m:begChr m:val="["/>
                        <m:endChr m:val="]"/>
                        <m:ctrlPr>
                          <a:rPr lang="en-US" altLang="zh-CN" sz="1100" i="1">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1</m:t>
                        </m:r>
                      </m:e>
                    </m:d>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h</m:t>
                    </m:r>
                    <m:d>
                      <m:dPr>
                        <m:begChr m:val="["/>
                        <m:endChr m:val="]"/>
                        <m:ctrlPr>
                          <a:rPr lang="en-US" altLang="zh-CN" sz="1100" i="1">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1</m:t>
                        </m:r>
                      </m:e>
                    </m:d>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𝑣</m:t>
                    </m:r>
                    <m:d>
                      <m:dPr>
                        <m:begChr m:val="["/>
                        <m:endChr m:val="]"/>
                        <m:ctrlPr>
                          <a:rPr lang="en-US" altLang="zh-CN" sz="1100" i="1">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2</m:t>
                        </m:r>
                      </m:e>
                    </m:d>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h</m:t>
                    </m:r>
                    <m:d>
                      <m:dPr>
                        <m:begChr m:val="["/>
                        <m:endChr m:val="]"/>
                        <m:ctrlPr>
                          <a:rPr lang="en-US" altLang="zh-CN" sz="1100" i="1">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2</m:t>
                        </m:r>
                      </m:e>
                    </m:d>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𝑏</m:t>
                    </m:r>
                    <m:r>
                      <a:rPr lang="en-US" altLang="zh-CN" sz="1100">
                        <a:solidFill>
                          <a:srgbClr val="002060"/>
                        </a:solidFill>
                        <a:latin typeface="Cambria Math" panose="02040503050406030204" pitchFamily="18" charset="0"/>
                        <a:ea typeface="微软雅黑" panose="020B0503020204020204" pitchFamily="34" charset="-122"/>
                        <a:cs typeface="Times New Roman" panose="02020603050405020304" pitchFamily="18" charset="0"/>
                      </a:rPr>
                      <m:t>)</m:t>
                    </m:r>
                  </m:oMath>
                </a14:m>
                <a:endParaRPr lang="en-US" altLang="zh-CN" sz="1400"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7" name="矩形 6">
                <a:extLst>
                  <a:ext uri="{FF2B5EF4-FFF2-40B4-BE49-F238E27FC236}">
                    <a16:creationId xmlns:a16="http://schemas.microsoft.com/office/drawing/2014/main" id="{A00196B5-DAF0-4B58-AE2F-FF18B614CACC}"/>
                  </a:ext>
                </a:extLst>
              </p:cNvPr>
              <p:cNvSpPr>
                <a:spLocks noRot="1" noChangeAspect="1" noMove="1" noResize="1" noEditPoints="1" noAdjustHandles="1" noChangeArrowheads="1" noChangeShapeType="1" noTextEdit="1"/>
              </p:cNvSpPr>
              <p:nvPr/>
            </p:nvSpPr>
            <p:spPr>
              <a:xfrm>
                <a:off x="4211960" y="4151659"/>
                <a:ext cx="5040559" cy="769441"/>
              </a:xfrm>
              <a:prstGeom prst="rect">
                <a:avLst/>
              </a:prstGeom>
              <a:blipFill>
                <a:blip r:embed="rId6"/>
                <a:stretch>
                  <a:fillRect b="-238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57814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59" y="986626"/>
            <a:ext cx="8532441" cy="2233196"/>
          </a:xfrm>
        </p:spPr>
        <p:txBody>
          <a:bodyPr>
            <a:noAutofit/>
          </a:bodyPr>
          <a:lstStyle/>
          <a:p>
            <a:pPr marL="0" indent="0">
              <a:lnSpc>
                <a:spcPct val="150000"/>
              </a:lnSpc>
              <a:spcBef>
                <a:spcPts val="0"/>
              </a:spcBef>
              <a:buNone/>
            </a:pPr>
            <a:r>
              <a:rPr lang="en-US" altLang="zh-CN" sz="1800">
                <a:solidFill>
                  <a:srgbClr val="002060"/>
                </a:solidFill>
                <a:latin typeface="Times New Roman" panose="02020603050405020304" pitchFamily="18" charset="0"/>
                <a:cs typeface="Times New Roman" panose="02020603050405020304" pitchFamily="18" charset="0"/>
              </a:rPr>
              <a:t>4</a:t>
            </a:r>
            <a:r>
              <a:rPr lang="zh-CN" altLang="zh-CN" sz="1800">
                <a:solidFill>
                  <a:srgbClr val="002060"/>
                </a:solidFill>
                <a:latin typeface="Times New Roman" panose="02020603050405020304" pitchFamily="18" charset="0"/>
                <a:cs typeface="Times New Roman" panose="02020603050405020304" pitchFamily="18" charset="0"/>
              </a:rPr>
              <a:t>．</a:t>
            </a:r>
            <a:r>
              <a:rPr lang="zh-CN" altLang="en-US" sz="1800" dirty="0">
                <a:solidFill>
                  <a:srgbClr val="002060"/>
                </a:solidFill>
                <a:latin typeface="Times New Roman" panose="02020603050405020304" pitchFamily="18" charset="0"/>
                <a:cs typeface="Times New Roman" panose="02020603050405020304" pitchFamily="18" charset="0"/>
              </a:rPr>
              <a:t>多层感知机（</a:t>
            </a:r>
            <a:r>
              <a:rPr lang="en-US" altLang="zh-CN" sz="1800" dirty="0" err="1">
                <a:solidFill>
                  <a:srgbClr val="002060"/>
                </a:solidFill>
                <a:latin typeface="Times New Roman" panose="02020603050405020304" pitchFamily="18" charset="0"/>
                <a:cs typeface="Times New Roman" panose="02020603050405020304" pitchFamily="18" charset="0"/>
              </a:rPr>
              <a:t>MLP</a:t>
            </a:r>
            <a:r>
              <a:rPr lang="zh-CN" altLang="en-US" sz="1800" dirty="0">
                <a:solidFill>
                  <a:srgbClr val="002060"/>
                </a:solidFill>
                <a:latin typeface="Times New Roman" panose="02020603050405020304" pitchFamily="18" charset="0"/>
                <a:cs typeface="Times New Roman" panose="02020603050405020304" pitchFamily="18" charset="0"/>
              </a:rPr>
              <a:t>）</a:t>
            </a:r>
            <a:endParaRPr lang="en-US" altLang="zh-CN" sz="1800" dirty="0">
              <a:solidFill>
                <a:srgbClr val="00206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800">
                <a:solidFill>
                  <a:srgbClr val="002060"/>
                </a:solidFill>
                <a:latin typeface="Times New Roman" panose="02020603050405020304" pitchFamily="18" charset="0"/>
                <a:cs typeface="Times New Roman" panose="02020603050405020304" pitchFamily="18" charset="0"/>
              </a:rPr>
              <a:t>（</a:t>
            </a:r>
            <a:r>
              <a:rPr lang="en-US" altLang="zh-CN" sz="1800">
                <a:solidFill>
                  <a:srgbClr val="002060"/>
                </a:solidFill>
                <a:latin typeface="Times New Roman" panose="02020603050405020304" pitchFamily="18" charset="0"/>
                <a:cs typeface="Times New Roman" panose="02020603050405020304" pitchFamily="18" charset="0"/>
              </a:rPr>
              <a:t>3</a:t>
            </a:r>
            <a:r>
              <a:rPr lang="zh-CN" altLang="en-US" sz="1800">
                <a:solidFill>
                  <a:srgbClr val="002060"/>
                </a:solidFill>
                <a:latin typeface="Times New Roman" panose="02020603050405020304" pitchFamily="18" charset="0"/>
                <a:cs typeface="Times New Roman" panose="02020603050405020304" pitchFamily="18" charset="0"/>
              </a:rPr>
              <a:t>）多</a:t>
            </a:r>
            <a:r>
              <a:rPr lang="zh-CN" altLang="en-US" sz="1800" dirty="0">
                <a:solidFill>
                  <a:srgbClr val="002060"/>
                </a:solidFill>
                <a:latin typeface="Times New Roman" panose="02020603050405020304" pitchFamily="18" charset="0"/>
                <a:cs typeface="Times New Roman" panose="02020603050405020304" pitchFamily="18" charset="0"/>
              </a:rPr>
              <a:t>层前馈网络：</a:t>
            </a:r>
            <a:endParaRPr lang="en-US" altLang="zh-CN" sz="1800" dirty="0">
              <a:solidFill>
                <a:srgbClr val="002060"/>
              </a:solidFill>
              <a:latin typeface="Times New Roman" panose="02020603050405020304" pitchFamily="18" charset="0"/>
              <a:cs typeface="Times New Roman" panose="02020603050405020304" pitchFamily="18" charset="0"/>
            </a:endParaRPr>
          </a:p>
          <a:p>
            <a:pPr marL="0" indent="0">
              <a:lnSpc>
                <a:spcPct val="120000"/>
              </a:lnSpc>
              <a:spcBef>
                <a:spcPts val="600"/>
              </a:spcBef>
              <a:buNone/>
            </a:pPr>
            <a:r>
              <a:rPr lang="zh-CN" altLang="en-US" sz="1800">
                <a:solidFill>
                  <a:srgbClr val="002060"/>
                </a:solidFill>
                <a:latin typeface="Times New Roman" panose="02020603050405020304" pitchFamily="18" charset="0"/>
                <a:cs typeface="Times New Roman" panose="02020603050405020304" pitchFamily="18" charset="0"/>
              </a:rPr>
              <a:t>         </a:t>
            </a:r>
            <a:r>
              <a:rPr lang="en-US" altLang="zh-CN" sz="1800">
                <a:solidFill>
                  <a:srgbClr val="002060"/>
                </a:solidFill>
                <a:latin typeface="Times New Roman" panose="02020603050405020304" pitchFamily="18" charset="0"/>
                <a:cs typeface="Times New Roman" panose="02020603050405020304" pitchFamily="18" charset="0"/>
              </a:rPr>
              <a:t> </a:t>
            </a:r>
            <a:r>
              <a:rPr lang="zh-CN" altLang="en-US" sz="1800">
                <a:solidFill>
                  <a:srgbClr val="002060"/>
                </a:solidFill>
                <a:latin typeface="Times New Roman" panose="02020603050405020304" pitchFamily="18" charset="0"/>
                <a:cs typeface="Times New Roman" panose="02020603050405020304" pitchFamily="18" charset="0"/>
              </a:rPr>
              <a:t>每</a:t>
            </a:r>
            <a:r>
              <a:rPr lang="zh-CN" altLang="en-US" sz="1800" dirty="0">
                <a:solidFill>
                  <a:srgbClr val="002060"/>
                </a:solidFill>
                <a:latin typeface="Times New Roman" panose="02020603050405020304" pitchFamily="18" charset="0"/>
                <a:cs typeface="Times New Roman" panose="02020603050405020304" pitchFamily="18" charset="0"/>
              </a:rPr>
              <a:t>层神经元与下一层神经元全</a:t>
            </a:r>
            <a:r>
              <a:rPr lang="zh-CN" altLang="en-US" sz="1800">
                <a:solidFill>
                  <a:srgbClr val="002060"/>
                </a:solidFill>
                <a:latin typeface="Times New Roman" panose="02020603050405020304" pitchFamily="18" charset="0"/>
                <a:cs typeface="Times New Roman" panose="02020603050405020304" pitchFamily="18" charset="0"/>
              </a:rPr>
              <a:t>连接，同</a:t>
            </a:r>
            <a:r>
              <a:rPr lang="zh-CN" altLang="en-US" sz="1800" dirty="0">
                <a:solidFill>
                  <a:srgbClr val="002060"/>
                </a:solidFill>
                <a:latin typeface="Times New Roman" panose="02020603050405020304" pitchFamily="18" charset="0"/>
                <a:cs typeface="Times New Roman" panose="02020603050405020304" pitchFamily="18" charset="0"/>
              </a:rPr>
              <a:t>层神经元之间不连接，</a:t>
            </a:r>
            <a:endParaRPr lang="en-US" altLang="zh-CN" sz="1800" dirty="0">
              <a:solidFill>
                <a:srgbClr val="002060"/>
              </a:solidFill>
              <a:latin typeface="Times New Roman" panose="02020603050405020304" pitchFamily="18" charset="0"/>
              <a:cs typeface="Times New Roman" panose="02020603050405020304" pitchFamily="18" charset="0"/>
            </a:endParaRPr>
          </a:p>
          <a:p>
            <a:pPr marL="0" indent="0">
              <a:lnSpc>
                <a:spcPct val="120000"/>
              </a:lnSpc>
              <a:spcBef>
                <a:spcPts val="600"/>
              </a:spcBef>
              <a:buNone/>
            </a:pPr>
            <a:r>
              <a:rPr lang="en-US" altLang="zh-CN" sz="1800">
                <a:solidFill>
                  <a:srgbClr val="002060"/>
                </a:solidFill>
                <a:latin typeface="Times New Roman" panose="02020603050405020304" pitchFamily="18" charset="0"/>
                <a:cs typeface="Times New Roman" panose="02020603050405020304" pitchFamily="18" charset="0"/>
              </a:rPr>
              <a:t>          </a:t>
            </a:r>
            <a:r>
              <a:rPr lang="zh-CN" altLang="en-US" sz="1800">
                <a:solidFill>
                  <a:srgbClr val="002060"/>
                </a:solidFill>
                <a:latin typeface="Times New Roman" panose="02020603050405020304" pitchFamily="18" charset="0"/>
                <a:cs typeface="Times New Roman" panose="02020603050405020304" pitchFamily="18" charset="0"/>
              </a:rPr>
              <a:t>不</a:t>
            </a:r>
            <a:r>
              <a:rPr lang="zh-CN" altLang="en-US" sz="1800" dirty="0">
                <a:solidFill>
                  <a:srgbClr val="002060"/>
                </a:solidFill>
                <a:latin typeface="Times New Roman" panose="02020603050405020304" pitchFamily="18" charset="0"/>
                <a:cs typeface="Times New Roman" panose="02020603050405020304" pitchFamily="18" charset="0"/>
              </a:rPr>
              <a:t>存在跨层神经元连接。这样的结构称为“多层前馈神经网络”。</a:t>
            </a:r>
          </a:p>
          <a:p>
            <a:pPr marL="0" indent="0">
              <a:lnSpc>
                <a:spcPct val="120000"/>
              </a:lnSpc>
              <a:spcBef>
                <a:spcPts val="600"/>
              </a:spcBef>
              <a:buNone/>
            </a:pPr>
            <a:r>
              <a:rPr lang="en-US" altLang="zh-CN" sz="1800">
                <a:solidFill>
                  <a:srgbClr val="002060"/>
                </a:solidFill>
                <a:latin typeface="Times New Roman" panose="02020603050405020304" pitchFamily="18" charset="0"/>
                <a:cs typeface="Times New Roman" panose="02020603050405020304" pitchFamily="18" charset="0"/>
              </a:rPr>
              <a:t>      </a:t>
            </a:r>
            <a:endParaRPr lang="zh-CN" altLang="zh-CN" sz="1800" dirty="0">
              <a:solidFill>
                <a:srgbClr val="002060"/>
              </a:solidFill>
              <a:latin typeface="Times New Roman" panose="02020603050405020304" pitchFamily="18" charset="0"/>
              <a:cs typeface="Times New Roman" panose="02020603050405020304" pitchFamily="18" charset="0"/>
            </a:endParaRPr>
          </a:p>
        </p:txBody>
      </p:sp>
      <p:pic>
        <p:nvPicPr>
          <p:cNvPr id="32" name="图片 31" descr="屏幕剪辑">
            <a:extLst>
              <a:ext uri="{FF2B5EF4-FFF2-40B4-BE49-F238E27FC236}">
                <a16:creationId xmlns:a16="http://schemas.microsoft.com/office/drawing/2014/main" id="{B31A93A7-8C02-4D89-9F4E-209857C8A5E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30437" y="2780913"/>
            <a:ext cx="3913823" cy="2359291"/>
          </a:xfrm>
          <a:prstGeom prst="rect">
            <a:avLst/>
          </a:prstGeom>
        </p:spPr>
      </p:pic>
      <p:sp>
        <p:nvSpPr>
          <p:cNvPr id="2" name="标题 1"/>
          <p:cNvSpPr>
            <a:spLocks noGrp="1"/>
          </p:cNvSpPr>
          <p:nvPr>
            <p:ph type="title"/>
          </p:nvPr>
        </p:nvSpPr>
        <p:spPr>
          <a:xfrm>
            <a:off x="395536" y="195486"/>
            <a:ext cx="6048724" cy="577618"/>
          </a:xfrm>
        </p:spPr>
        <p:txBody>
          <a:bodyPr>
            <a:noAutofit/>
          </a:bodyPr>
          <a:lstStyle/>
          <a:p>
            <a:r>
              <a:rPr lang="zh-CN" altLang="en-US" sz="2400">
                <a:solidFill>
                  <a:srgbClr val="FFFFFF"/>
                </a:solidFill>
              </a:rPr>
              <a:t>六、人工神经网络</a:t>
            </a:r>
            <a:endParaRPr lang="zh-CN" altLang="en-US" sz="2400" dirty="0"/>
          </a:p>
        </p:txBody>
      </p:sp>
    </p:spTree>
    <p:extLst>
      <p:ext uri="{BB962C8B-B14F-4D97-AF65-F5344CB8AC3E}">
        <p14:creationId xmlns:p14="http://schemas.microsoft.com/office/powerpoint/2010/main" val="99040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descr="屏幕剪辑">
            <a:extLst>
              <a:ext uri="{FF2B5EF4-FFF2-40B4-BE49-F238E27FC236}">
                <a16:creationId xmlns:a16="http://schemas.microsoft.com/office/drawing/2014/main" id="{B31A93A7-8C02-4D89-9F4E-209857C8A5E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59872" y="3160642"/>
            <a:ext cx="3262019" cy="1966377"/>
          </a:xfrm>
          <a:prstGeom prst="rect">
            <a:avLst/>
          </a:prstGeom>
        </p:spPr>
      </p:pic>
      <p:sp>
        <p:nvSpPr>
          <p:cNvPr id="3" name="内容占位符 2"/>
          <p:cNvSpPr>
            <a:spLocks noGrp="1"/>
          </p:cNvSpPr>
          <p:nvPr>
            <p:ph idx="1"/>
          </p:nvPr>
        </p:nvSpPr>
        <p:spPr>
          <a:xfrm>
            <a:off x="611559" y="986626"/>
            <a:ext cx="7920881" cy="3745364"/>
          </a:xfrm>
        </p:spPr>
        <p:txBody>
          <a:bodyPr>
            <a:noAutofit/>
          </a:bodyPr>
          <a:lstStyle/>
          <a:p>
            <a:pPr marL="0" indent="0">
              <a:lnSpc>
                <a:spcPct val="150000"/>
              </a:lnSpc>
              <a:spcBef>
                <a:spcPts val="0"/>
              </a:spcBef>
              <a:buNone/>
            </a:pPr>
            <a:r>
              <a:rPr lang="en-US" altLang="zh-CN" sz="1800">
                <a:solidFill>
                  <a:srgbClr val="002060"/>
                </a:solidFill>
                <a:latin typeface="Times New Roman" panose="02020603050405020304" pitchFamily="18" charset="0"/>
                <a:cs typeface="Times New Roman" panose="02020603050405020304" pitchFamily="18" charset="0"/>
              </a:rPr>
              <a:t>4</a:t>
            </a:r>
            <a:r>
              <a:rPr lang="zh-CN" altLang="zh-CN" sz="1800">
                <a:solidFill>
                  <a:srgbClr val="002060"/>
                </a:solidFill>
                <a:latin typeface="Times New Roman" panose="02020603050405020304" pitchFamily="18" charset="0"/>
                <a:cs typeface="Times New Roman" panose="02020603050405020304" pitchFamily="18" charset="0"/>
              </a:rPr>
              <a:t>．</a:t>
            </a:r>
            <a:r>
              <a:rPr lang="zh-CN" altLang="en-US" sz="1800" dirty="0">
                <a:solidFill>
                  <a:srgbClr val="002060"/>
                </a:solidFill>
                <a:latin typeface="Times New Roman" panose="02020603050405020304" pitchFamily="18" charset="0"/>
                <a:cs typeface="Times New Roman" panose="02020603050405020304" pitchFamily="18" charset="0"/>
              </a:rPr>
              <a:t>多层感知机（</a:t>
            </a:r>
            <a:r>
              <a:rPr lang="en-US" altLang="zh-CN" sz="1800" dirty="0" err="1">
                <a:solidFill>
                  <a:srgbClr val="002060"/>
                </a:solidFill>
                <a:latin typeface="Times New Roman" panose="02020603050405020304" pitchFamily="18" charset="0"/>
                <a:cs typeface="Times New Roman" panose="02020603050405020304" pitchFamily="18" charset="0"/>
              </a:rPr>
              <a:t>MLP</a:t>
            </a:r>
            <a:r>
              <a:rPr lang="zh-CN" altLang="en-US" sz="1800" dirty="0">
                <a:solidFill>
                  <a:srgbClr val="002060"/>
                </a:solidFill>
                <a:latin typeface="Times New Roman" panose="02020603050405020304" pitchFamily="18" charset="0"/>
                <a:cs typeface="Times New Roman" panose="02020603050405020304" pitchFamily="18" charset="0"/>
              </a:rPr>
              <a:t>）</a:t>
            </a:r>
            <a:endParaRPr lang="en-US" altLang="zh-CN" sz="1800" dirty="0">
              <a:solidFill>
                <a:srgbClr val="00206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800">
                <a:solidFill>
                  <a:srgbClr val="002060"/>
                </a:solidFill>
                <a:latin typeface="Times New Roman" panose="02020603050405020304" pitchFamily="18" charset="0"/>
                <a:cs typeface="Times New Roman" panose="02020603050405020304" pitchFamily="18" charset="0"/>
              </a:rPr>
              <a:t>（</a:t>
            </a:r>
            <a:r>
              <a:rPr lang="en-US" altLang="zh-CN" sz="1800">
                <a:solidFill>
                  <a:srgbClr val="002060"/>
                </a:solidFill>
                <a:latin typeface="Times New Roman" panose="02020603050405020304" pitchFamily="18" charset="0"/>
                <a:cs typeface="Times New Roman" panose="02020603050405020304" pitchFamily="18" charset="0"/>
              </a:rPr>
              <a:t>3</a:t>
            </a:r>
            <a:r>
              <a:rPr lang="zh-CN" altLang="en-US" sz="1800">
                <a:solidFill>
                  <a:srgbClr val="002060"/>
                </a:solidFill>
                <a:latin typeface="Times New Roman" panose="02020603050405020304" pitchFamily="18" charset="0"/>
                <a:cs typeface="Times New Roman" panose="02020603050405020304" pitchFamily="18" charset="0"/>
              </a:rPr>
              <a:t>）多</a:t>
            </a:r>
            <a:r>
              <a:rPr lang="zh-CN" altLang="en-US" sz="1800" dirty="0">
                <a:solidFill>
                  <a:srgbClr val="002060"/>
                </a:solidFill>
                <a:latin typeface="Times New Roman" panose="02020603050405020304" pitchFamily="18" charset="0"/>
                <a:cs typeface="Times New Roman" panose="02020603050405020304" pitchFamily="18" charset="0"/>
              </a:rPr>
              <a:t>层前馈网络：</a:t>
            </a:r>
            <a:endParaRPr lang="en-US" altLang="zh-CN" sz="1800" dirty="0">
              <a:solidFill>
                <a:srgbClr val="002060"/>
              </a:solidFill>
              <a:latin typeface="Times New Roman" panose="02020603050405020304" pitchFamily="18" charset="0"/>
              <a:cs typeface="Times New Roman" panose="02020603050405020304" pitchFamily="18" charset="0"/>
            </a:endParaRPr>
          </a:p>
          <a:p>
            <a:pPr marL="0" indent="0">
              <a:lnSpc>
                <a:spcPct val="120000"/>
              </a:lnSpc>
              <a:spcBef>
                <a:spcPts val="600"/>
              </a:spcBef>
              <a:buNone/>
            </a:pPr>
            <a:r>
              <a:rPr lang="zh-CN" altLang="en-US" sz="1800">
                <a:solidFill>
                  <a:srgbClr val="002060"/>
                </a:solidFill>
                <a:latin typeface="Times New Roman" panose="02020603050405020304" pitchFamily="18" charset="0"/>
                <a:cs typeface="Times New Roman" panose="02020603050405020304" pitchFamily="18" charset="0"/>
              </a:rPr>
              <a:t>         </a:t>
            </a:r>
            <a:r>
              <a:rPr lang="en-US" altLang="zh-CN" sz="1800">
                <a:solidFill>
                  <a:srgbClr val="002060"/>
                </a:solidFill>
                <a:latin typeface="Times New Roman" panose="02020603050405020304" pitchFamily="18" charset="0"/>
                <a:cs typeface="Times New Roman" panose="02020603050405020304" pitchFamily="18" charset="0"/>
              </a:rPr>
              <a:t> ※ </a:t>
            </a:r>
            <a:r>
              <a:rPr lang="zh-CN" altLang="en-US" sz="1800" dirty="0">
                <a:solidFill>
                  <a:srgbClr val="002060"/>
                </a:solidFill>
                <a:latin typeface="Times New Roman" panose="02020603050405020304" pitchFamily="18" charset="0"/>
                <a:cs typeface="Times New Roman" panose="02020603050405020304" pitchFamily="18" charset="0"/>
              </a:rPr>
              <a:t>前馈：输入层接受外界输入</a:t>
            </a:r>
            <a:r>
              <a:rPr lang="en-US" altLang="zh-CN" sz="1800" dirty="0">
                <a:solidFill>
                  <a:srgbClr val="002060"/>
                </a:solidFill>
                <a:latin typeface="Times New Roman" panose="02020603050405020304" pitchFamily="18" charset="0"/>
                <a:cs typeface="Times New Roman" panose="02020603050405020304" pitchFamily="18" charset="0"/>
              </a:rPr>
              <a:t>, </a:t>
            </a:r>
            <a:r>
              <a:rPr lang="zh-CN" altLang="en-US" sz="1800" dirty="0">
                <a:solidFill>
                  <a:srgbClr val="002060"/>
                </a:solidFill>
                <a:latin typeface="Times New Roman" panose="02020603050405020304" pitchFamily="18" charset="0"/>
                <a:cs typeface="Times New Roman" panose="02020603050405020304" pitchFamily="18" charset="0"/>
              </a:rPr>
              <a:t>隐含层与输出层神经元对信号进行加工</a:t>
            </a:r>
            <a:r>
              <a:rPr lang="en-US" altLang="zh-CN" sz="1800" dirty="0">
                <a:solidFill>
                  <a:srgbClr val="002060"/>
                </a:solidFill>
                <a:latin typeface="Times New Roman" panose="02020603050405020304" pitchFamily="18" charset="0"/>
                <a:cs typeface="Times New Roman" panose="02020603050405020304" pitchFamily="18" charset="0"/>
              </a:rPr>
              <a:t>, </a:t>
            </a:r>
          </a:p>
          <a:p>
            <a:pPr marL="0" indent="0">
              <a:lnSpc>
                <a:spcPct val="120000"/>
              </a:lnSpc>
              <a:spcBef>
                <a:spcPts val="600"/>
              </a:spcBef>
              <a:buNone/>
            </a:pPr>
            <a:r>
              <a:rPr lang="en-US" altLang="zh-CN" sz="1800">
                <a:solidFill>
                  <a:srgbClr val="002060"/>
                </a:solidFill>
                <a:latin typeface="Times New Roman" panose="02020603050405020304" pitchFamily="18" charset="0"/>
                <a:cs typeface="Times New Roman" panose="02020603050405020304" pitchFamily="18" charset="0"/>
              </a:rPr>
              <a:t>                          </a:t>
            </a:r>
            <a:r>
              <a:rPr lang="zh-CN" altLang="en-US" sz="1800" dirty="0">
                <a:solidFill>
                  <a:srgbClr val="002060"/>
                </a:solidFill>
                <a:latin typeface="Times New Roman" panose="02020603050405020304" pitchFamily="18" charset="0"/>
                <a:cs typeface="Times New Roman" panose="02020603050405020304" pitchFamily="18" charset="0"/>
              </a:rPr>
              <a:t>最终结果由输出层神经元输出。</a:t>
            </a:r>
          </a:p>
          <a:p>
            <a:pPr marL="0" indent="0">
              <a:lnSpc>
                <a:spcPct val="120000"/>
              </a:lnSpc>
              <a:spcBef>
                <a:spcPts val="600"/>
              </a:spcBef>
              <a:buNone/>
            </a:pPr>
            <a:r>
              <a:rPr lang="en-US" altLang="zh-CN" sz="1800">
                <a:solidFill>
                  <a:srgbClr val="002060"/>
                </a:solidFill>
                <a:latin typeface="Times New Roman" panose="02020603050405020304" pitchFamily="18" charset="0"/>
                <a:cs typeface="Times New Roman" panose="02020603050405020304" pitchFamily="18" charset="0"/>
              </a:rPr>
              <a:t>          ※ </a:t>
            </a:r>
            <a:r>
              <a:rPr lang="zh-CN" altLang="en-US" sz="1800" dirty="0">
                <a:solidFill>
                  <a:srgbClr val="002060"/>
                </a:solidFill>
                <a:latin typeface="Times New Roman" panose="02020603050405020304" pitchFamily="18" charset="0"/>
                <a:cs typeface="Times New Roman" panose="02020603050405020304" pitchFamily="18" charset="0"/>
              </a:rPr>
              <a:t>神经网络学习：根据训练数据来调整神经元</a:t>
            </a:r>
            <a:r>
              <a:rPr lang="zh-CN" altLang="en-US" sz="1800">
                <a:solidFill>
                  <a:srgbClr val="002060"/>
                </a:solidFill>
                <a:latin typeface="Times New Roman" panose="02020603050405020304" pitchFamily="18" charset="0"/>
                <a:cs typeface="Times New Roman" panose="02020603050405020304" pitchFamily="18" charset="0"/>
              </a:rPr>
              <a:t>之间的权重</a:t>
            </a:r>
            <a:endParaRPr lang="en-US" altLang="zh-CN" sz="1800" dirty="0">
              <a:solidFill>
                <a:srgbClr val="002060"/>
              </a:solidFill>
              <a:latin typeface="Times New Roman" panose="02020603050405020304" pitchFamily="18" charset="0"/>
              <a:cs typeface="Times New Roman" panose="02020603050405020304" pitchFamily="18" charset="0"/>
            </a:endParaRPr>
          </a:p>
          <a:p>
            <a:pPr marL="0" indent="0">
              <a:lnSpc>
                <a:spcPct val="120000"/>
              </a:lnSpc>
              <a:spcBef>
                <a:spcPts val="600"/>
              </a:spcBef>
              <a:buNone/>
            </a:pPr>
            <a:r>
              <a:rPr lang="en-US" altLang="zh-CN" sz="1800">
                <a:solidFill>
                  <a:srgbClr val="002060"/>
                </a:solidFill>
                <a:latin typeface="Times New Roman" panose="02020603050405020304" pitchFamily="18" charset="0"/>
                <a:cs typeface="Times New Roman" panose="02020603050405020304" pitchFamily="18" charset="0"/>
              </a:rPr>
              <a:t>                                           </a:t>
            </a:r>
            <a:r>
              <a:rPr lang="zh-CN" altLang="en-US" sz="1800">
                <a:solidFill>
                  <a:srgbClr val="002060"/>
                </a:solidFill>
                <a:latin typeface="Times New Roman" panose="02020603050405020304" pitchFamily="18" charset="0"/>
                <a:cs typeface="Times New Roman" panose="02020603050405020304" pitchFamily="18" charset="0"/>
              </a:rPr>
              <a:t>以及</a:t>
            </a:r>
            <a:r>
              <a:rPr lang="zh-CN" altLang="en-US" sz="1800" dirty="0">
                <a:solidFill>
                  <a:srgbClr val="002060"/>
                </a:solidFill>
                <a:latin typeface="Times New Roman" panose="02020603050405020304" pitchFamily="18" charset="0"/>
                <a:cs typeface="Times New Roman" panose="02020603050405020304" pitchFamily="18" charset="0"/>
              </a:rPr>
              <a:t>每个功能神经元</a:t>
            </a:r>
            <a:r>
              <a:rPr lang="zh-CN" altLang="en-US" sz="1800">
                <a:solidFill>
                  <a:srgbClr val="002060"/>
                </a:solidFill>
                <a:latin typeface="Times New Roman" panose="02020603050405020304" pitchFamily="18" charset="0"/>
                <a:cs typeface="Times New Roman" panose="02020603050405020304" pitchFamily="18" charset="0"/>
              </a:rPr>
              <a:t>的“阈值” 。</a:t>
            </a:r>
            <a:endParaRPr lang="en-US" altLang="zh-CN" sz="1800" dirty="0">
              <a:solidFill>
                <a:srgbClr val="002060"/>
              </a:solidFill>
              <a:latin typeface="Times New Roman" panose="02020603050405020304" pitchFamily="18" charset="0"/>
              <a:cs typeface="Times New Roman" panose="02020603050405020304" pitchFamily="18" charset="0"/>
            </a:endParaRPr>
          </a:p>
          <a:p>
            <a:pPr marL="0" indent="0">
              <a:lnSpc>
                <a:spcPct val="120000"/>
              </a:lnSpc>
              <a:spcBef>
                <a:spcPts val="600"/>
              </a:spcBef>
              <a:buNone/>
            </a:pPr>
            <a:r>
              <a:rPr lang="en-US" altLang="zh-CN" sz="1800">
                <a:solidFill>
                  <a:srgbClr val="002060"/>
                </a:solidFill>
                <a:latin typeface="Times New Roman" panose="02020603050405020304" pitchFamily="18" charset="0"/>
                <a:cs typeface="Times New Roman" panose="02020603050405020304" pitchFamily="18" charset="0"/>
              </a:rPr>
              <a:t>          ※ </a:t>
            </a:r>
            <a:r>
              <a:rPr lang="en-US" altLang="zh-CN" sz="1800" dirty="0">
                <a:solidFill>
                  <a:srgbClr val="002060"/>
                </a:solidFill>
                <a:latin typeface="Times New Roman" panose="02020603050405020304" pitchFamily="18" charset="0"/>
                <a:cs typeface="Times New Roman" panose="02020603050405020304" pitchFamily="18" charset="0"/>
              </a:rPr>
              <a:t>BP</a:t>
            </a:r>
            <a:r>
              <a:rPr lang="zh-CN" altLang="en-US" sz="1800">
                <a:solidFill>
                  <a:srgbClr val="002060"/>
                </a:solidFill>
                <a:latin typeface="Times New Roman" panose="02020603050405020304" pitchFamily="18" charset="0"/>
                <a:cs typeface="Times New Roman" panose="02020603050405020304" pitchFamily="18" charset="0"/>
              </a:rPr>
              <a:t>算法：</a:t>
            </a:r>
            <a:r>
              <a:rPr lang="en-US" altLang="zh-CN" sz="1800">
                <a:solidFill>
                  <a:srgbClr val="002060"/>
                </a:solidFill>
                <a:latin typeface="Times New Roman" panose="02020603050405020304" pitchFamily="18" charset="0"/>
                <a:cs typeface="Times New Roman" panose="02020603050405020304" pitchFamily="18" charset="0"/>
              </a:rPr>
              <a:t> Error BackPropagation</a:t>
            </a:r>
          </a:p>
          <a:p>
            <a:pPr marL="0" indent="0">
              <a:lnSpc>
                <a:spcPct val="120000"/>
              </a:lnSpc>
              <a:spcBef>
                <a:spcPts val="600"/>
              </a:spcBef>
              <a:buNone/>
            </a:pPr>
            <a:r>
              <a:rPr lang="en-US" altLang="zh-CN" sz="1800">
                <a:solidFill>
                  <a:srgbClr val="002060"/>
                </a:solidFill>
                <a:latin typeface="Times New Roman" panose="02020603050405020304" pitchFamily="18" charset="0"/>
                <a:cs typeface="Times New Roman" panose="02020603050405020304" pitchFamily="18" charset="0"/>
              </a:rPr>
              <a:t>                                 </a:t>
            </a:r>
            <a:r>
              <a:rPr lang="zh-CN" altLang="en-US" sz="1800">
                <a:solidFill>
                  <a:srgbClr val="002060"/>
                </a:solidFill>
                <a:latin typeface="Times New Roman" panose="02020603050405020304" pitchFamily="18" charset="0"/>
                <a:cs typeface="Times New Roman" panose="02020603050405020304" pitchFamily="18" charset="0"/>
              </a:rPr>
              <a:t>误差反向传播算法</a:t>
            </a:r>
            <a:endParaRPr lang="en-US" altLang="zh-CN" sz="1800">
              <a:solidFill>
                <a:srgbClr val="002060"/>
              </a:solidFill>
              <a:latin typeface="Times New Roman" panose="02020603050405020304" pitchFamily="18" charset="0"/>
              <a:cs typeface="Times New Roman" panose="02020603050405020304" pitchFamily="18" charset="0"/>
            </a:endParaRPr>
          </a:p>
          <a:p>
            <a:pPr marL="0" indent="0">
              <a:lnSpc>
                <a:spcPct val="120000"/>
              </a:lnSpc>
              <a:spcBef>
                <a:spcPts val="600"/>
              </a:spcBef>
              <a:buNone/>
            </a:pPr>
            <a:r>
              <a:rPr lang="zh-CN" altLang="en-US" sz="1800">
                <a:solidFill>
                  <a:srgbClr val="002060"/>
                </a:solidFill>
                <a:latin typeface="Times New Roman" panose="02020603050405020304" pitchFamily="18" charset="0"/>
                <a:cs typeface="Times New Roman" panose="02020603050405020304" pitchFamily="18" charset="0"/>
              </a:rPr>
              <a:t>                                 最</a:t>
            </a:r>
            <a:r>
              <a:rPr lang="zh-CN" altLang="en-US" sz="1800" dirty="0">
                <a:solidFill>
                  <a:srgbClr val="002060"/>
                </a:solidFill>
                <a:latin typeface="Times New Roman" panose="02020603050405020304" pitchFamily="18" charset="0"/>
                <a:cs typeface="Times New Roman" panose="02020603050405020304" pitchFamily="18" charset="0"/>
              </a:rPr>
              <a:t>成功的算法。</a:t>
            </a:r>
            <a:endParaRPr lang="en-US" altLang="zh-CN" sz="1800" dirty="0">
              <a:solidFill>
                <a:srgbClr val="00206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endParaRPr lang="zh-CN" altLang="zh-CN" sz="1800" dirty="0">
              <a:solidFill>
                <a:srgbClr val="002060"/>
              </a:solidFill>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a:xfrm>
            <a:off x="395536" y="195486"/>
            <a:ext cx="6048724" cy="577618"/>
          </a:xfrm>
        </p:spPr>
        <p:txBody>
          <a:bodyPr>
            <a:noAutofit/>
          </a:bodyPr>
          <a:lstStyle/>
          <a:p>
            <a:r>
              <a:rPr lang="zh-CN" altLang="en-US" sz="2400">
                <a:solidFill>
                  <a:srgbClr val="FFFFFF"/>
                </a:solidFill>
              </a:rPr>
              <a:t>六、人工神经网络</a:t>
            </a:r>
            <a:endParaRPr lang="zh-CN" altLang="en-US" sz="2400" dirty="0"/>
          </a:p>
        </p:txBody>
      </p:sp>
    </p:spTree>
    <p:extLst>
      <p:ext uri="{BB962C8B-B14F-4D97-AF65-F5344CB8AC3E}">
        <p14:creationId xmlns:p14="http://schemas.microsoft.com/office/powerpoint/2010/main" val="1671985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59" y="986626"/>
            <a:ext cx="6624737" cy="2161188"/>
          </a:xfrm>
        </p:spPr>
        <p:txBody>
          <a:bodyPr>
            <a:noAutofit/>
          </a:bodyPr>
          <a:lstStyle/>
          <a:p>
            <a:pPr marL="0" indent="0">
              <a:lnSpc>
                <a:spcPct val="150000"/>
              </a:lnSpc>
              <a:spcBef>
                <a:spcPts val="0"/>
              </a:spcBef>
              <a:buNone/>
            </a:pPr>
            <a:r>
              <a:rPr lang="en-US" altLang="zh-CN" sz="1800">
                <a:solidFill>
                  <a:srgbClr val="002060"/>
                </a:solidFill>
                <a:latin typeface="Times New Roman" panose="02020603050405020304" pitchFamily="18" charset="0"/>
                <a:cs typeface="Times New Roman" panose="02020603050405020304" pitchFamily="18" charset="0"/>
              </a:rPr>
              <a:t>5</a:t>
            </a:r>
            <a:r>
              <a:rPr lang="zh-CN" altLang="zh-CN" sz="1800">
                <a:solidFill>
                  <a:srgbClr val="002060"/>
                </a:solidFill>
                <a:latin typeface="Times New Roman" panose="02020603050405020304" pitchFamily="18" charset="0"/>
                <a:cs typeface="Times New Roman" panose="02020603050405020304" pitchFamily="18" charset="0"/>
              </a:rPr>
              <a:t>．</a:t>
            </a:r>
            <a:r>
              <a:rPr lang="zh-CN" altLang="en-US" sz="1800" dirty="0">
                <a:solidFill>
                  <a:srgbClr val="002060"/>
                </a:solidFill>
                <a:latin typeface="Times New Roman" panose="02020603050405020304" pitchFamily="18" charset="0"/>
                <a:cs typeface="Times New Roman" panose="02020603050405020304" pitchFamily="18" charset="0"/>
              </a:rPr>
              <a:t>深度学习</a:t>
            </a:r>
            <a:endParaRPr lang="en-US" altLang="zh-CN" sz="1800" dirty="0">
              <a:solidFill>
                <a:srgbClr val="002060"/>
              </a:solidFill>
              <a:latin typeface="Times New Roman" panose="02020603050405020304" pitchFamily="18" charset="0"/>
              <a:cs typeface="Times New Roman" panose="02020603050405020304" pitchFamily="18" charset="0"/>
            </a:endParaRPr>
          </a:p>
          <a:p>
            <a:pPr marL="0" indent="0">
              <a:buSzPct val="120000"/>
              <a:buNone/>
            </a:pPr>
            <a:r>
              <a:rPr lang="zh-CN" altLang="en-US" sz="1800">
                <a:solidFill>
                  <a:srgbClr val="002060"/>
                </a:solidFill>
                <a:latin typeface="Times New Roman" panose="02020603050405020304" pitchFamily="18" charset="0"/>
                <a:cs typeface="Times New Roman" panose="02020603050405020304" pitchFamily="18" charset="0"/>
              </a:rPr>
              <a:t>（</a:t>
            </a:r>
            <a:r>
              <a:rPr lang="en-US" altLang="zh-CN" sz="1800">
                <a:solidFill>
                  <a:srgbClr val="002060"/>
                </a:solidFill>
                <a:latin typeface="Times New Roman" panose="02020603050405020304" pitchFamily="18" charset="0"/>
                <a:cs typeface="Times New Roman" panose="02020603050405020304" pitchFamily="18" charset="0"/>
              </a:rPr>
              <a:t>1</a:t>
            </a:r>
            <a:r>
              <a:rPr lang="zh-CN" altLang="en-US" sz="1800">
                <a:solidFill>
                  <a:srgbClr val="002060"/>
                </a:solidFill>
                <a:latin typeface="Times New Roman" panose="02020603050405020304" pitchFamily="18" charset="0"/>
                <a:cs typeface="Times New Roman" panose="02020603050405020304" pitchFamily="18" charset="0"/>
              </a:rPr>
              <a:t>）深度</a:t>
            </a:r>
            <a:r>
              <a:rPr lang="zh-CN" altLang="en-US" sz="1800" dirty="0">
                <a:solidFill>
                  <a:srgbClr val="002060"/>
                </a:solidFill>
                <a:latin typeface="Times New Roman" panose="02020603050405020304" pitchFamily="18" charset="0"/>
                <a:cs typeface="Times New Roman" panose="02020603050405020304" pitchFamily="18" charset="0"/>
              </a:rPr>
              <a:t>学习模型：很深层</a:t>
            </a:r>
            <a:r>
              <a:rPr lang="zh-CN" altLang="en-US" sz="1800">
                <a:solidFill>
                  <a:srgbClr val="002060"/>
                </a:solidFill>
                <a:latin typeface="Times New Roman" panose="02020603050405020304" pitchFamily="18" charset="0"/>
                <a:cs typeface="Times New Roman" panose="02020603050405020304" pitchFamily="18" charset="0"/>
              </a:rPr>
              <a:t>的神经网络</a:t>
            </a:r>
            <a:r>
              <a:rPr lang="en-US" altLang="zh-CN" sz="1800" dirty="0">
                <a:solidFill>
                  <a:srgbClr val="002060"/>
                </a:solidFill>
                <a:latin typeface="Times New Roman" panose="02020603050405020304" pitchFamily="18" charset="0"/>
                <a:cs typeface="Times New Roman" panose="02020603050405020304" pitchFamily="18" charset="0"/>
              </a:rPr>
              <a:t>. </a:t>
            </a:r>
          </a:p>
          <a:p>
            <a:pPr marL="0" indent="0">
              <a:buSzPct val="120000"/>
              <a:buNone/>
            </a:pPr>
            <a:r>
              <a:rPr lang="zh-CN" altLang="en-US" sz="1800">
                <a:solidFill>
                  <a:srgbClr val="002060"/>
                </a:solidFill>
                <a:latin typeface="Times New Roman" panose="02020603050405020304" pitchFamily="18" charset="0"/>
                <a:cs typeface="Times New Roman" panose="02020603050405020304" pitchFamily="18" charset="0"/>
              </a:rPr>
              <a:t>（</a:t>
            </a:r>
            <a:r>
              <a:rPr lang="en-US" altLang="zh-CN" sz="1800">
                <a:solidFill>
                  <a:srgbClr val="002060"/>
                </a:solidFill>
                <a:latin typeface="Times New Roman" panose="02020603050405020304" pitchFamily="18" charset="0"/>
                <a:cs typeface="Times New Roman" panose="02020603050405020304" pitchFamily="18" charset="0"/>
              </a:rPr>
              <a:t>2</a:t>
            </a:r>
            <a:r>
              <a:rPr lang="zh-CN" altLang="en-US" sz="1800">
                <a:solidFill>
                  <a:srgbClr val="002060"/>
                </a:solidFill>
                <a:latin typeface="Times New Roman" panose="02020603050405020304" pitchFamily="18" charset="0"/>
                <a:cs typeface="Times New Roman" panose="02020603050405020304" pitchFamily="18" charset="0"/>
              </a:rPr>
              <a:t>）复杂</a:t>
            </a:r>
            <a:r>
              <a:rPr lang="zh-CN" altLang="en-US" sz="1800" dirty="0">
                <a:solidFill>
                  <a:srgbClr val="002060"/>
                </a:solidFill>
                <a:latin typeface="Times New Roman" panose="02020603050405020304" pitchFamily="18" charset="0"/>
                <a:cs typeface="Times New Roman" panose="02020603050405020304" pitchFamily="18" charset="0"/>
              </a:rPr>
              <a:t>模型难点</a:t>
            </a:r>
            <a:endParaRPr lang="en-US" altLang="zh-CN" sz="1800" dirty="0">
              <a:solidFill>
                <a:srgbClr val="002060"/>
              </a:solidFill>
              <a:latin typeface="Times New Roman" panose="02020603050405020304" pitchFamily="18" charset="0"/>
              <a:cs typeface="Times New Roman" panose="02020603050405020304" pitchFamily="18" charset="0"/>
            </a:endParaRPr>
          </a:p>
          <a:p>
            <a:pPr marL="0" indent="0">
              <a:buNone/>
            </a:pPr>
            <a:r>
              <a:rPr lang="zh-CN" altLang="en-US" sz="1800">
                <a:solidFill>
                  <a:srgbClr val="002060"/>
                </a:solidFill>
                <a:latin typeface="Times New Roman" panose="02020603050405020304" pitchFamily="18" charset="0"/>
                <a:cs typeface="Times New Roman" panose="02020603050405020304" pitchFamily="18" charset="0"/>
              </a:rPr>
              <a:t>          经典</a:t>
            </a:r>
            <a:r>
              <a:rPr lang="zh-CN" altLang="en-US" sz="1800" dirty="0">
                <a:solidFill>
                  <a:srgbClr val="002060"/>
                </a:solidFill>
                <a:latin typeface="Times New Roman" panose="02020603050405020304" pitchFamily="18" charset="0"/>
                <a:cs typeface="Times New Roman" panose="02020603050405020304" pitchFamily="18" charset="0"/>
              </a:rPr>
              <a:t>算法（例如</a:t>
            </a:r>
            <a:r>
              <a:rPr lang="en-US" altLang="zh-CN" sz="1800" dirty="0">
                <a:solidFill>
                  <a:srgbClr val="002060"/>
                </a:solidFill>
                <a:latin typeface="Times New Roman" panose="02020603050405020304" pitchFamily="18" charset="0"/>
                <a:cs typeface="Times New Roman" panose="02020603050405020304" pitchFamily="18" charset="0"/>
              </a:rPr>
              <a:t>BP</a:t>
            </a:r>
            <a:r>
              <a:rPr lang="zh-CN" altLang="en-US" sz="1800" dirty="0">
                <a:solidFill>
                  <a:srgbClr val="002060"/>
                </a:solidFill>
                <a:latin typeface="Times New Roman" panose="02020603050405020304" pitchFamily="18" charset="0"/>
                <a:cs typeface="Times New Roman" panose="02020603050405020304" pitchFamily="18" charset="0"/>
              </a:rPr>
              <a:t>算法）不用好用。</a:t>
            </a:r>
            <a:endParaRPr lang="en-US" altLang="zh-CN" sz="1800" dirty="0">
              <a:solidFill>
                <a:srgbClr val="00206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endParaRPr lang="zh-CN" altLang="zh-CN" sz="1800" dirty="0">
              <a:solidFill>
                <a:srgbClr val="002060"/>
              </a:solidFill>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a:xfrm>
            <a:off x="395536" y="195486"/>
            <a:ext cx="6048724" cy="577618"/>
          </a:xfrm>
        </p:spPr>
        <p:txBody>
          <a:bodyPr>
            <a:noAutofit/>
          </a:bodyPr>
          <a:lstStyle/>
          <a:p>
            <a:r>
              <a:rPr lang="zh-CN" altLang="en-US" sz="2400">
                <a:solidFill>
                  <a:srgbClr val="FFFFFF"/>
                </a:solidFill>
              </a:rPr>
              <a:t>六、人工神经网络</a:t>
            </a:r>
            <a:endParaRPr lang="zh-CN" altLang="en-US" sz="2400" dirty="0"/>
          </a:p>
        </p:txBody>
      </p:sp>
      <p:pic>
        <p:nvPicPr>
          <p:cNvPr id="4" name="图片 3">
            <a:extLst>
              <a:ext uri="{FF2B5EF4-FFF2-40B4-BE49-F238E27FC236}">
                <a16:creationId xmlns:a16="http://schemas.microsoft.com/office/drawing/2014/main" id="{68C89127-3EA5-464E-8712-D33ECB13203C}"/>
              </a:ext>
            </a:extLst>
          </p:cNvPr>
          <p:cNvPicPr>
            <a:picLocks noChangeAspect="1"/>
          </p:cNvPicPr>
          <p:nvPr/>
        </p:nvPicPr>
        <p:blipFill>
          <a:blip r:embed="rId3"/>
          <a:stretch>
            <a:fillRect/>
          </a:stretch>
        </p:blipFill>
        <p:spPr>
          <a:xfrm>
            <a:off x="5224440" y="1533057"/>
            <a:ext cx="3308001" cy="3606854"/>
          </a:xfrm>
          <a:prstGeom prst="rect">
            <a:avLst/>
          </a:prstGeom>
        </p:spPr>
      </p:pic>
    </p:spTree>
    <p:extLst>
      <p:ext uri="{BB962C8B-B14F-4D97-AF65-F5344CB8AC3E}">
        <p14:creationId xmlns:p14="http://schemas.microsoft.com/office/powerpoint/2010/main" val="1043602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59" y="986626"/>
            <a:ext cx="8532441" cy="4156874"/>
          </a:xfrm>
        </p:spPr>
        <p:txBody>
          <a:bodyPr>
            <a:noAutofit/>
          </a:bodyPr>
          <a:lstStyle/>
          <a:p>
            <a:pPr marL="0" indent="0">
              <a:lnSpc>
                <a:spcPct val="150000"/>
              </a:lnSpc>
              <a:spcBef>
                <a:spcPts val="0"/>
              </a:spcBef>
              <a:buNone/>
            </a:pPr>
            <a:r>
              <a:rPr lang="en-US" altLang="zh-CN" sz="1800">
                <a:solidFill>
                  <a:srgbClr val="002060"/>
                </a:solidFill>
                <a:latin typeface="Times New Roman" panose="02020603050405020304" pitchFamily="18" charset="0"/>
                <a:cs typeface="Times New Roman" panose="02020603050405020304" pitchFamily="18" charset="0"/>
              </a:rPr>
              <a:t>5</a:t>
            </a:r>
            <a:r>
              <a:rPr lang="zh-CN" altLang="zh-CN" sz="1800">
                <a:solidFill>
                  <a:srgbClr val="002060"/>
                </a:solidFill>
                <a:latin typeface="Times New Roman" panose="02020603050405020304" pitchFamily="18" charset="0"/>
                <a:cs typeface="Times New Roman" panose="02020603050405020304" pitchFamily="18" charset="0"/>
              </a:rPr>
              <a:t>．</a:t>
            </a:r>
            <a:r>
              <a:rPr lang="zh-CN" altLang="en-US" sz="1800" dirty="0">
                <a:solidFill>
                  <a:srgbClr val="002060"/>
                </a:solidFill>
                <a:latin typeface="Times New Roman" panose="02020603050405020304" pitchFamily="18" charset="0"/>
                <a:cs typeface="Times New Roman" panose="02020603050405020304" pitchFamily="18" charset="0"/>
              </a:rPr>
              <a:t>深度学习</a:t>
            </a:r>
            <a:endParaRPr lang="en-US" altLang="zh-CN" sz="1800" dirty="0">
              <a:solidFill>
                <a:srgbClr val="002060"/>
              </a:solidFill>
              <a:latin typeface="Times New Roman" panose="02020603050405020304" pitchFamily="18" charset="0"/>
              <a:cs typeface="Times New Roman" panose="02020603050405020304" pitchFamily="18" charset="0"/>
            </a:endParaRPr>
          </a:p>
          <a:p>
            <a:pPr marL="0" indent="0">
              <a:lnSpc>
                <a:spcPct val="150000"/>
              </a:lnSpc>
              <a:spcBef>
                <a:spcPts val="0"/>
              </a:spcBef>
              <a:buSzPct val="120000"/>
              <a:buNone/>
            </a:pPr>
            <a:r>
              <a:rPr lang="zh-CN" altLang="en-US" sz="1800">
                <a:solidFill>
                  <a:srgbClr val="002060"/>
                </a:solidFill>
                <a:latin typeface="Times New Roman" panose="02020603050405020304" pitchFamily="18" charset="0"/>
                <a:cs typeface="Times New Roman" panose="02020603050405020304" pitchFamily="18" charset="0"/>
              </a:rPr>
              <a:t>（</a:t>
            </a:r>
            <a:r>
              <a:rPr lang="en-US" altLang="zh-CN" sz="1800">
                <a:solidFill>
                  <a:srgbClr val="002060"/>
                </a:solidFill>
                <a:latin typeface="Times New Roman" panose="02020603050405020304" pitchFamily="18" charset="0"/>
                <a:cs typeface="Times New Roman" panose="02020603050405020304" pitchFamily="18" charset="0"/>
              </a:rPr>
              <a:t>4</a:t>
            </a:r>
            <a:r>
              <a:rPr lang="zh-CN" altLang="en-US" sz="1800">
                <a:solidFill>
                  <a:srgbClr val="002060"/>
                </a:solidFill>
                <a:latin typeface="Times New Roman" panose="02020603050405020304" pitchFamily="18" charset="0"/>
                <a:cs typeface="Times New Roman" panose="02020603050405020304" pitchFamily="18" charset="0"/>
              </a:rPr>
              <a:t>）深度学习框架</a:t>
            </a:r>
            <a:endParaRPr lang="en-US" altLang="zh-CN" sz="1800">
              <a:solidFill>
                <a:srgbClr val="002060"/>
              </a:solidFill>
              <a:latin typeface="Times New Roman" panose="02020603050405020304" pitchFamily="18" charset="0"/>
              <a:cs typeface="Times New Roman" panose="02020603050405020304" pitchFamily="18" charset="0"/>
            </a:endParaRPr>
          </a:p>
          <a:p>
            <a:pPr marL="0" indent="0">
              <a:lnSpc>
                <a:spcPct val="150000"/>
              </a:lnSpc>
              <a:spcBef>
                <a:spcPts val="0"/>
              </a:spcBef>
              <a:buSzPct val="120000"/>
              <a:buNone/>
            </a:pPr>
            <a:r>
              <a:rPr lang="en-US" altLang="zh-CN" sz="1800">
                <a:solidFill>
                  <a:srgbClr val="002060"/>
                </a:solidFill>
                <a:latin typeface="Times New Roman" panose="02020603050405020304" pitchFamily="18" charset="0"/>
                <a:cs typeface="Times New Roman" panose="02020603050405020304" pitchFamily="18" charset="0"/>
              </a:rPr>
              <a:t>          ※ TensorFlow  </a:t>
            </a:r>
            <a:r>
              <a:rPr lang="zh-CN" altLang="en-US" sz="1800">
                <a:solidFill>
                  <a:srgbClr val="002060"/>
                </a:solidFill>
                <a:latin typeface="Times New Roman" panose="02020603050405020304" pitchFamily="18" charset="0"/>
                <a:cs typeface="Times New Roman" panose="02020603050405020304" pitchFamily="18" charset="0"/>
              </a:rPr>
              <a:t>谷歌开发和维护</a:t>
            </a:r>
            <a:endParaRPr lang="en-US" altLang="zh-CN" sz="1800">
              <a:solidFill>
                <a:srgbClr val="002060"/>
              </a:solidFill>
              <a:latin typeface="Times New Roman" panose="02020603050405020304" pitchFamily="18" charset="0"/>
              <a:cs typeface="Times New Roman" panose="02020603050405020304" pitchFamily="18" charset="0"/>
            </a:endParaRPr>
          </a:p>
          <a:p>
            <a:pPr marL="0" indent="0">
              <a:lnSpc>
                <a:spcPct val="150000"/>
              </a:lnSpc>
              <a:spcBef>
                <a:spcPts val="0"/>
              </a:spcBef>
              <a:buSzPct val="120000"/>
              <a:buNone/>
            </a:pPr>
            <a:r>
              <a:rPr lang="en-US" altLang="zh-CN" sz="1800">
                <a:solidFill>
                  <a:srgbClr val="002060"/>
                </a:solidFill>
                <a:latin typeface="Times New Roman" panose="02020603050405020304" pitchFamily="18" charset="0"/>
                <a:cs typeface="Times New Roman" panose="02020603050405020304" pitchFamily="18" charset="0"/>
              </a:rPr>
              <a:t>	                        </a:t>
            </a:r>
            <a:r>
              <a:rPr lang="zh-CN" altLang="en-US" sz="1800">
                <a:solidFill>
                  <a:srgbClr val="002060"/>
                </a:solidFill>
                <a:latin typeface="Times New Roman" panose="02020603050405020304" pitchFamily="18" charset="0"/>
                <a:cs typeface="Times New Roman" panose="02020603050405020304" pitchFamily="18" charset="0"/>
              </a:rPr>
              <a:t>框架复杂，工业界用的多</a:t>
            </a:r>
            <a:endParaRPr lang="en-US" altLang="zh-CN" sz="1800">
              <a:solidFill>
                <a:srgbClr val="002060"/>
              </a:solidFill>
              <a:latin typeface="Times New Roman" panose="02020603050405020304" pitchFamily="18" charset="0"/>
              <a:cs typeface="Times New Roman" panose="02020603050405020304" pitchFamily="18" charset="0"/>
            </a:endParaRPr>
          </a:p>
          <a:p>
            <a:pPr marL="0" indent="0">
              <a:lnSpc>
                <a:spcPct val="150000"/>
              </a:lnSpc>
              <a:spcBef>
                <a:spcPts val="0"/>
              </a:spcBef>
              <a:buSzPct val="120000"/>
              <a:buNone/>
            </a:pPr>
            <a:r>
              <a:rPr lang="en-US" altLang="zh-CN" sz="1800">
                <a:solidFill>
                  <a:srgbClr val="002060"/>
                </a:solidFill>
                <a:latin typeface="Times New Roman" panose="02020603050405020304" pitchFamily="18" charset="0"/>
                <a:cs typeface="Times New Roman" panose="02020603050405020304" pitchFamily="18" charset="0"/>
              </a:rPr>
              <a:t>          ※ PyTorch     	Facebook</a:t>
            </a:r>
            <a:r>
              <a:rPr lang="zh-CN" altLang="en-US" sz="1800">
                <a:solidFill>
                  <a:srgbClr val="002060"/>
                </a:solidFill>
                <a:latin typeface="Times New Roman" panose="02020603050405020304" pitchFamily="18" charset="0"/>
                <a:cs typeface="Times New Roman" panose="02020603050405020304" pitchFamily="18" charset="0"/>
              </a:rPr>
              <a:t>在</a:t>
            </a:r>
            <a:r>
              <a:rPr lang="en-US" altLang="zh-CN" sz="1800">
                <a:solidFill>
                  <a:srgbClr val="002060"/>
                </a:solidFill>
                <a:latin typeface="Times New Roman" panose="02020603050405020304" pitchFamily="18" charset="0"/>
                <a:cs typeface="Times New Roman" panose="02020603050405020304" pitchFamily="18" charset="0"/>
              </a:rPr>
              <a:t>Torch</a:t>
            </a:r>
            <a:r>
              <a:rPr lang="zh-CN" altLang="en-US" sz="1800">
                <a:solidFill>
                  <a:srgbClr val="002060"/>
                </a:solidFill>
                <a:latin typeface="Times New Roman" panose="02020603050405020304" pitchFamily="18" charset="0"/>
                <a:cs typeface="Times New Roman" panose="02020603050405020304" pitchFamily="18" charset="0"/>
              </a:rPr>
              <a:t>基础上推出的框架，</a:t>
            </a:r>
            <a:endParaRPr lang="en-US" altLang="zh-CN" sz="1800">
              <a:solidFill>
                <a:srgbClr val="002060"/>
              </a:solidFill>
              <a:latin typeface="Times New Roman" panose="02020603050405020304" pitchFamily="18" charset="0"/>
              <a:cs typeface="Times New Roman" panose="02020603050405020304" pitchFamily="18" charset="0"/>
            </a:endParaRPr>
          </a:p>
          <a:p>
            <a:pPr marL="0" indent="0">
              <a:lnSpc>
                <a:spcPct val="150000"/>
              </a:lnSpc>
              <a:spcBef>
                <a:spcPts val="0"/>
              </a:spcBef>
              <a:buSzPct val="120000"/>
              <a:buNone/>
            </a:pPr>
            <a:r>
              <a:rPr lang="en-US" altLang="zh-CN" sz="1800">
                <a:solidFill>
                  <a:srgbClr val="002060"/>
                </a:solidFill>
                <a:latin typeface="Times New Roman" panose="02020603050405020304" pitchFamily="18" charset="0"/>
                <a:cs typeface="Times New Roman" panose="02020603050405020304" pitchFamily="18" charset="0"/>
              </a:rPr>
              <a:t>                                    </a:t>
            </a:r>
            <a:r>
              <a:rPr lang="zh-CN" altLang="en-US" sz="1800">
                <a:solidFill>
                  <a:srgbClr val="002060"/>
                </a:solidFill>
                <a:latin typeface="Times New Roman" panose="02020603050405020304" pitchFamily="18" charset="0"/>
                <a:cs typeface="Times New Roman" panose="02020603050405020304" pitchFamily="18" charset="0"/>
              </a:rPr>
              <a:t>易于理解，科研和学校多用</a:t>
            </a:r>
            <a:endParaRPr lang="en-US" altLang="zh-CN" sz="1800">
              <a:solidFill>
                <a:srgbClr val="002060"/>
              </a:solidFill>
              <a:latin typeface="Times New Roman" panose="02020603050405020304" pitchFamily="18" charset="0"/>
              <a:cs typeface="Times New Roman" panose="02020603050405020304" pitchFamily="18" charset="0"/>
            </a:endParaRPr>
          </a:p>
          <a:p>
            <a:pPr marL="0" indent="0">
              <a:lnSpc>
                <a:spcPct val="150000"/>
              </a:lnSpc>
              <a:spcBef>
                <a:spcPts val="0"/>
              </a:spcBef>
              <a:buSzPct val="120000"/>
              <a:buNone/>
            </a:pPr>
            <a:r>
              <a:rPr lang="en-US" altLang="zh-CN" sz="1800">
                <a:solidFill>
                  <a:srgbClr val="002060"/>
                </a:solidFill>
                <a:latin typeface="Times New Roman" panose="02020603050405020304" pitchFamily="18" charset="0"/>
                <a:cs typeface="Times New Roman" panose="02020603050405020304" pitchFamily="18" charset="0"/>
              </a:rPr>
              <a:t>          ※ Keras	</a:t>
            </a:r>
            <a:r>
              <a:rPr lang="zh-CN" altLang="en-US" sz="1800">
                <a:solidFill>
                  <a:srgbClr val="002060"/>
                </a:solidFill>
                <a:latin typeface="Times New Roman" panose="02020603050405020304" pitchFamily="18" charset="0"/>
                <a:cs typeface="Times New Roman" panose="02020603050405020304" pitchFamily="18" charset="0"/>
              </a:rPr>
              <a:t>作为</a:t>
            </a:r>
            <a:r>
              <a:rPr lang="en-US" altLang="zh-CN" sz="1800">
                <a:solidFill>
                  <a:srgbClr val="002060"/>
                </a:solidFill>
                <a:latin typeface="Times New Roman" panose="02020603050405020304" pitchFamily="18" charset="0"/>
                <a:cs typeface="Times New Roman" panose="02020603050405020304" pitchFamily="18" charset="0"/>
              </a:rPr>
              <a:t>Tensorflow</a:t>
            </a:r>
            <a:r>
              <a:rPr lang="zh-CN" altLang="en-US" sz="1800">
                <a:solidFill>
                  <a:srgbClr val="002060"/>
                </a:solidFill>
                <a:latin typeface="Times New Roman" panose="02020603050405020304" pitchFamily="18" charset="0"/>
                <a:cs typeface="Times New Roman" panose="02020603050405020304" pitchFamily="18" charset="0"/>
              </a:rPr>
              <a:t>、</a:t>
            </a:r>
            <a:r>
              <a:rPr lang="en-US" altLang="zh-CN" sz="1800">
                <a:solidFill>
                  <a:srgbClr val="002060"/>
                </a:solidFill>
                <a:latin typeface="Times New Roman" panose="02020603050405020304" pitchFamily="18" charset="0"/>
                <a:cs typeface="Times New Roman" panose="02020603050405020304" pitchFamily="18" charset="0"/>
              </a:rPr>
              <a:t>Microsoft-CNTK</a:t>
            </a:r>
            <a:r>
              <a:rPr lang="zh-CN" altLang="en-US" sz="1800">
                <a:solidFill>
                  <a:srgbClr val="002060"/>
                </a:solidFill>
                <a:latin typeface="Times New Roman" panose="02020603050405020304" pitchFamily="18" charset="0"/>
                <a:cs typeface="Times New Roman" panose="02020603050405020304" pitchFamily="18" charset="0"/>
              </a:rPr>
              <a:t>和</a:t>
            </a:r>
            <a:r>
              <a:rPr lang="en-US" altLang="zh-CN" sz="1800">
                <a:solidFill>
                  <a:srgbClr val="002060"/>
                </a:solidFill>
                <a:latin typeface="Times New Roman" panose="02020603050405020304" pitchFamily="18" charset="0"/>
                <a:cs typeface="Times New Roman" panose="02020603050405020304" pitchFamily="18" charset="0"/>
              </a:rPr>
              <a:t>Theano</a:t>
            </a:r>
            <a:r>
              <a:rPr lang="zh-CN" altLang="en-US" sz="1800">
                <a:solidFill>
                  <a:srgbClr val="002060"/>
                </a:solidFill>
                <a:latin typeface="Times New Roman" panose="02020603050405020304" pitchFamily="18" charset="0"/>
                <a:cs typeface="Times New Roman" panose="02020603050405020304" pitchFamily="18" charset="0"/>
              </a:rPr>
              <a:t>的高阶应用程序接口</a:t>
            </a:r>
            <a:endParaRPr lang="en-US" altLang="zh-CN" sz="1800">
              <a:solidFill>
                <a:srgbClr val="002060"/>
              </a:solidFill>
              <a:latin typeface="Times New Roman" panose="02020603050405020304" pitchFamily="18" charset="0"/>
              <a:cs typeface="Times New Roman" panose="02020603050405020304" pitchFamily="18" charset="0"/>
            </a:endParaRPr>
          </a:p>
          <a:p>
            <a:pPr marL="0" indent="0">
              <a:lnSpc>
                <a:spcPct val="150000"/>
              </a:lnSpc>
              <a:spcBef>
                <a:spcPts val="0"/>
              </a:spcBef>
              <a:buSzPct val="120000"/>
              <a:buNone/>
            </a:pPr>
            <a:r>
              <a:rPr lang="en-US" altLang="zh-CN" sz="1800">
                <a:solidFill>
                  <a:srgbClr val="002060"/>
                </a:solidFill>
                <a:latin typeface="Times New Roman" panose="02020603050405020304" pitchFamily="18" charset="0"/>
                <a:cs typeface="Times New Roman" panose="02020603050405020304" pitchFamily="18" charset="0"/>
              </a:rPr>
              <a:t>                                    </a:t>
            </a:r>
            <a:r>
              <a:rPr lang="zh-CN" altLang="en-US" sz="1800">
                <a:solidFill>
                  <a:srgbClr val="002060"/>
                </a:solidFill>
                <a:latin typeface="Times New Roman" panose="02020603050405020304" pitchFamily="18" charset="0"/>
                <a:cs typeface="Times New Roman" panose="02020603050405020304" pitchFamily="18" charset="0"/>
              </a:rPr>
              <a:t>进行深度学习模型的设计、调试、评估、应用和可视化。</a:t>
            </a:r>
            <a:endParaRPr lang="en-US" altLang="zh-CN" sz="1800">
              <a:solidFill>
                <a:srgbClr val="002060"/>
              </a:solidFill>
              <a:latin typeface="Times New Roman" panose="02020603050405020304" pitchFamily="18" charset="0"/>
              <a:cs typeface="Times New Roman" panose="02020603050405020304" pitchFamily="18" charset="0"/>
            </a:endParaRPr>
          </a:p>
          <a:p>
            <a:pPr marL="0" indent="0">
              <a:lnSpc>
                <a:spcPct val="150000"/>
              </a:lnSpc>
              <a:spcBef>
                <a:spcPts val="0"/>
              </a:spcBef>
              <a:buSzPct val="120000"/>
              <a:buNone/>
            </a:pPr>
            <a:r>
              <a:rPr lang="en-US" altLang="zh-CN" sz="1800">
                <a:solidFill>
                  <a:srgbClr val="002060"/>
                </a:solidFill>
                <a:latin typeface="Times New Roman" panose="02020603050405020304" pitchFamily="18" charset="0"/>
                <a:cs typeface="Times New Roman" panose="02020603050405020304" pitchFamily="18" charset="0"/>
              </a:rPr>
              <a:t>          ※ PaddlePaddle    </a:t>
            </a:r>
            <a:r>
              <a:rPr lang="zh-CN" altLang="en-US" sz="1800">
                <a:solidFill>
                  <a:srgbClr val="002060"/>
                </a:solidFill>
                <a:latin typeface="Times New Roman" panose="02020603050405020304" pitchFamily="18" charset="0"/>
                <a:cs typeface="Times New Roman" panose="02020603050405020304" pitchFamily="18" charset="0"/>
              </a:rPr>
              <a:t>百度自主研发</a:t>
            </a:r>
            <a:endParaRPr lang="en-US" altLang="zh-CN" sz="1800">
              <a:solidFill>
                <a:srgbClr val="002060"/>
              </a:solidFill>
              <a:latin typeface="Times New Roman" panose="02020603050405020304" pitchFamily="18" charset="0"/>
              <a:cs typeface="Times New Roman" panose="02020603050405020304" pitchFamily="18" charset="0"/>
            </a:endParaRPr>
          </a:p>
          <a:p>
            <a:pPr marL="0" indent="0">
              <a:lnSpc>
                <a:spcPct val="150000"/>
              </a:lnSpc>
              <a:spcBef>
                <a:spcPts val="0"/>
              </a:spcBef>
              <a:buSzPct val="120000"/>
              <a:buNone/>
            </a:pPr>
            <a:endParaRPr lang="en-US" altLang="zh-CN" sz="1800">
              <a:solidFill>
                <a:srgbClr val="002060"/>
              </a:solidFill>
              <a:latin typeface="Times New Roman" panose="02020603050405020304" pitchFamily="18" charset="0"/>
              <a:cs typeface="Times New Roman" panose="02020603050405020304" pitchFamily="18" charset="0"/>
            </a:endParaRPr>
          </a:p>
          <a:p>
            <a:pPr marL="0" indent="0">
              <a:lnSpc>
                <a:spcPct val="150000"/>
              </a:lnSpc>
              <a:spcBef>
                <a:spcPts val="0"/>
              </a:spcBef>
              <a:buSzPct val="120000"/>
              <a:buNone/>
            </a:pPr>
            <a:endParaRPr lang="zh-CN" altLang="zh-CN" sz="1800" dirty="0">
              <a:solidFill>
                <a:srgbClr val="002060"/>
              </a:solidFill>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a:xfrm>
            <a:off x="395536" y="195486"/>
            <a:ext cx="6048724" cy="577618"/>
          </a:xfrm>
        </p:spPr>
        <p:txBody>
          <a:bodyPr>
            <a:noAutofit/>
          </a:bodyPr>
          <a:lstStyle/>
          <a:p>
            <a:r>
              <a:rPr lang="zh-CN" altLang="en-US" sz="2400">
                <a:solidFill>
                  <a:srgbClr val="FFFFFF"/>
                </a:solidFill>
              </a:rPr>
              <a:t>六、人工神经网络</a:t>
            </a:r>
            <a:endParaRPr lang="zh-CN" altLang="en-US" sz="2400" dirty="0"/>
          </a:p>
        </p:txBody>
      </p:sp>
    </p:spTree>
    <p:extLst>
      <p:ext uri="{BB962C8B-B14F-4D97-AF65-F5344CB8AC3E}">
        <p14:creationId xmlns:p14="http://schemas.microsoft.com/office/powerpoint/2010/main" val="3471075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59" y="987574"/>
            <a:ext cx="8532441" cy="4156874"/>
          </a:xfrm>
        </p:spPr>
        <p:txBody>
          <a:bodyPr>
            <a:noAutofit/>
          </a:bodyPr>
          <a:lstStyle/>
          <a:p>
            <a:pPr marL="0" indent="0">
              <a:lnSpc>
                <a:spcPct val="1500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5</a:t>
            </a:r>
            <a:r>
              <a:rPr lang="zh-CN" altLang="zh-CN" sz="1800" dirty="0">
                <a:solidFill>
                  <a:srgbClr val="002060"/>
                </a:solidFill>
                <a:latin typeface="Times New Roman" panose="02020603050405020304" pitchFamily="18" charset="0"/>
                <a:cs typeface="Times New Roman" panose="02020603050405020304" pitchFamily="18" charset="0"/>
              </a:rPr>
              <a:t>．</a:t>
            </a:r>
            <a:r>
              <a:rPr lang="zh-CN" altLang="en-US" sz="1800" dirty="0">
                <a:solidFill>
                  <a:srgbClr val="002060"/>
                </a:solidFill>
                <a:latin typeface="Times New Roman" panose="02020603050405020304" pitchFamily="18" charset="0"/>
                <a:cs typeface="Times New Roman" panose="02020603050405020304" pitchFamily="18" charset="0"/>
              </a:rPr>
              <a:t>深度学习</a:t>
            </a:r>
            <a:endParaRPr lang="en-US" altLang="zh-CN" sz="1800" dirty="0">
              <a:solidFill>
                <a:srgbClr val="00206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800" dirty="0">
                <a:solidFill>
                  <a:srgbClr val="002060"/>
                </a:solidFill>
                <a:latin typeface="Times New Roman" panose="02020603050405020304" pitchFamily="18" charset="0"/>
                <a:cs typeface="Times New Roman" panose="02020603050405020304" pitchFamily="18" charset="0"/>
              </a:rPr>
              <a:t>例：手写数字的训练和识别</a:t>
            </a:r>
            <a:endParaRPr lang="en-US" altLang="zh-CN" sz="1800" dirty="0">
              <a:solidFill>
                <a:srgbClr val="00206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 MNIST </a:t>
            </a:r>
            <a:r>
              <a:rPr lang="zh-CN" altLang="en-US" sz="1800" dirty="0">
                <a:solidFill>
                  <a:srgbClr val="002060"/>
                </a:solidFill>
                <a:latin typeface="Times New Roman" panose="02020603050405020304" pitchFamily="18" charset="0"/>
                <a:cs typeface="Times New Roman" panose="02020603050405020304" pitchFamily="18" charset="0"/>
              </a:rPr>
              <a:t>数据集</a:t>
            </a:r>
            <a:endParaRPr lang="en-US" altLang="zh-CN" sz="1800" dirty="0">
              <a:solidFill>
                <a:srgbClr val="002060"/>
              </a:solidFill>
              <a:latin typeface="Times New Roman" panose="02020603050405020304" pitchFamily="18" charset="0"/>
              <a:cs typeface="Times New Roman" panose="02020603050405020304" pitchFamily="18" charset="0"/>
            </a:endParaRPr>
          </a:p>
          <a:p>
            <a:pPr marL="0" indent="0">
              <a:lnSpc>
                <a:spcPct val="150000"/>
              </a:lnSpc>
              <a:spcBef>
                <a:spcPts val="0"/>
              </a:spcBef>
              <a:buSzPct val="120000"/>
              <a:buNone/>
            </a:pPr>
            <a:r>
              <a:rPr lang="zh-CN" altLang="en-US" sz="1800" dirty="0">
                <a:solidFill>
                  <a:srgbClr val="002060"/>
                </a:solidFill>
                <a:latin typeface="Times New Roman" panose="02020603050405020304" pitchFamily="18" charset="0"/>
                <a:cs typeface="Times New Roman" panose="02020603050405020304" pitchFamily="18" charset="0"/>
              </a:rPr>
              <a:t>　       美国国家标准与技术研究所</a:t>
            </a:r>
            <a:endParaRPr lang="en-US" altLang="zh-CN" sz="1800" dirty="0">
              <a:solidFill>
                <a:srgbClr val="002060"/>
              </a:solidFill>
              <a:latin typeface="Times New Roman" panose="02020603050405020304" pitchFamily="18" charset="0"/>
              <a:cs typeface="Times New Roman" panose="02020603050405020304" pitchFamily="18" charset="0"/>
            </a:endParaRPr>
          </a:p>
          <a:p>
            <a:pPr marL="0" lvl="1" indent="0">
              <a:lnSpc>
                <a:spcPct val="1500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Training set images: 60,000 </a:t>
            </a:r>
            <a:r>
              <a:rPr lang="zh-CN" altLang="en-US" sz="1800" dirty="0">
                <a:solidFill>
                  <a:srgbClr val="002060"/>
                </a:solidFill>
                <a:latin typeface="Times New Roman" panose="02020603050405020304" pitchFamily="18" charset="0"/>
                <a:cs typeface="Times New Roman" panose="02020603050405020304" pitchFamily="18" charset="0"/>
              </a:rPr>
              <a:t>个样本</a:t>
            </a:r>
            <a:endParaRPr lang="en-US" altLang="zh-CN" sz="1800" dirty="0">
              <a:solidFill>
                <a:srgbClr val="002060"/>
              </a:solidFill>
              <a:latin typeface="Times New Roman" panose="02020603050405020304" pitchFamily="18" charset="0"/>
              <a:cs typeface="Times New Roman" panose="02020603050405020304" pitchFamily="18" charset="0"/>
            </a:endParaRPr>
          </a:p>
          <a:p>
            <a:pPr marL="0" lvl="1" indent="0">
              <a:lnSpc>
                <a:spcPct val="1500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Training set labels: </a:t>
            </a:r>
            <a:r>
              <a:rPr lang="zh-CN" altLang="en-US" sz="1800" dirty="0">
                <a:solidFill>
                  <a:srgbClr val="002060"/>
                </a:solidFill>
                <a:latin typeface="Times New Roman" panose="02020603050405020304" pitchFamily="18" charset="0"/>
                <a:cs typeface="Times New Roman" panose="02020603050405020304" pitchFamily="18" charset="0"/>
              </a:rPr>
              <a:t> </a:t>
            </a:r>
            <a:r>
              <a:rPr lang="en-US" altLang="zh-CN" sz="1800" dirty="0">
                <a:solidFill>
                  <a:srgbClr val="002060"/>
                </a:solidFill>
                <a:latin typeface="Times New Roman" panose="02020603050405020304" pitchFamily="18" charset="0"/>
                <a:cs typeface="Times New Roman" panose="02020603050405020304" pitchFamily="18" charset="0"/>
              </a:rPr>
              <a:t>60,000 </a:t>
            </a:r>
            <a:r>
              <a:rPr lang="zh-CN" altLang="en-US" sz="1800" dirty="0">
                <a:solidFill>
                  <a:srgbClr val="002060"/>
                </a:solidFill>
                <a:latin typeface="Times New Roman" panose="02020603050405020304" pitchFamily="18" charset="0"/>
                <a:cs typeface="Times New Roman" panose="02020603050405020304" pitchFamily="18" charset="0"/>
              </a:rPr>
              <a:t>个标签</a:t>
            </a:r>
            <a:endParaRPr lang="en-US" altLang="zh-CN" sz="1800" dirty="0">
              <a:solidFill>
                <a:srgbClr val="002060"/>
              </a:solidFill>
              <a:latin typeface="Times New Roman" panose="02020603050405020304" pitchFamily="18" charset="0"/>
              <a:cs typeface="Times New Roman" panose="02020603050405020304" pitchFamily="18" charset="0"/>
            </a:endParaRPr>
          </a:p>
          <a:p>
            <a:pPr marL="0" lvl="1" indent="0">
              <a:lnSpc>
                <a:spcPct val="1500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Test set images: 10,000 </a:t>
            </a:r>
            <a:r>
              <a:rPr lang="zh-CN" altLang="en-US" sz="1800" dirty="0">
                <a:solidFill>
                  <a:srgbClr val="002060"/>
                </a:solidFill>
                <a:latin typeface="Times New Roman" panose="02020603050405020304" pitchFamily="18" charset="0"/>
                <a:cs typeface="Times New Roman" panose="02020603050405020304" pitchFamily="18" charset="0"/>
              </a:rPr>
              <a:t>个样本</a:t>
            </a:r>
            <a:endParaRPr lang="en-US" altLang="zh-CN" sz="1800" dirty="0">
              <a:solidFill>
                <a:srgbClr val="002060"/>
              </a:solidFill>
              <a:latin typeface="Times New Roman" panose="02020603050405020304" pitchFamily="18" charset="0"/>
              <a:cs typeface="Times New Roman" panose="02020603050405020304" pitchFamily="18" charset="0"/>
            </a:endParaRPr>
          </a:p>
          <a:p>
            <a:pPr marL="0" lvl="1" indent="0">
              <a:lnSpc>
                <a:spcPct val="1500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Test set labels: 10,000 </a:t>
            </a:r>
            <a:r>
              <a:rPr lang="zh-CN" altLang="en-US" sz="1800" dirty="0">
                <a:solidFill>
                  <a:srgbClr val="002060"/>
                </a:solidFill>
                <a:latin typeface="Times New Roman" panose="02020603050405020304" pitchFamily="18" charset="0"/>
                <a:cs typeface="Times New Roman" panose="02020603050405020304" pitchFamily="18" charset="0"/>
              </a:rPr>
              <a:t>个标签</a:t>
            </a:r>
            <a:endParaRPr lang="en-US" altLang="zh-CN" sz="1800" dirty="0">
              <a:solidFill>
                <a:srgbClr val="002060"/>
              </a:solidFill>
              <a:latin typeface="Times New Roman" panose="02020603050405020304" pitchFamily="18" charset="0"/>
              <a:cs typeface="Times New Roman" panose="02020603050405020304" pitchFamily="18" charset="0"/>
            </a:endParaRPr>
          </a:p>
          <a:p>
            <a:pPr marL="0" indent="0">
              <a:lnSpc>
                <a:spcPct val="150000"/>
              </a:lnSpc>
              <a:spcBef>
                <a:spcPts val="0"/>
              </a:spcBef>
              <a:buSzPct val="120000"/>
              <a:buNone/>
            </a:pPr>
            <a:r>
              <a:rPr lang="en-US" altLang="zh-CN" sz="1800" dirty="0">
                <a:solidFill>
                  <a:srgbClr val="002060"/>
                </a:solidFill>
                <a:latin typeface="Times New Roman" panose="02020603050405020304" pitchFamily="18" charset="0"/>
                <a:cs typeface="Times New Roman" panose="02020603050405020304" pitchFamily="18" charset="0"/>
              </a:rPr>
              <a:t>       ※ </a:t>
            </a:r>
            <a:r>
              <a:rPr lang="en-US" altLang="zh-CN" sz="1800" dirty="0" err="1">
                <a:solidFill>
                  <a:srgbClr val="002060"/>
                </a:solidFill>
                <a:latin typeface="Times New Roman" panose="02020603050405020304" pitchFamily="18" charset="0"/>
                <a:cs typeface="Times New Roman" panose="02020603050405020304" pitchFamily="18" charset="0"/>
              </a:rPr>
              <a:t>Pytorch</a:t>
            </a:r>
            <a:r>
              <a:rPr lang="zh-CN" altLang="en-US" sz="1800" dirty="0">
                <a:solidFill>
                  <a:srgbClr val="002060"/>
                </a:solidFill>
                <a:latin typeface="Times New Roman" panose="02020603050405020304" pitchFamily="18" charset="0"/>
                <a:cs typeface="Times New Roman" panose="02020603050405020304" pitchFamily="18" charset="0"/>
              </a:rPr>
              <a:t>安装</a:t>
            </a:r>
            <a:endParaRPr lang="en-US" altLang="zh-CN" sz="1800" dirty="0">
              <a:solidFill>
                <a:srgbClr val="002060"/>
              </a:solidFill>
              <a:latin typeface="Times New Roman" panose="02020603050405020304" pitchFamily="18" charset="0"/>
              <a:cs typeface="Times New Roman" panose="02020603050405020304" pitchFamily="18" charset="0"/>
            </a:endParaRPr>
          </a:p>
          <a:p>
            <a:pPr marL="0" indent="0">
              <a:lnSpc>
                <a:spcPct val="150000"/>
              </a:lnSpc>
              <a:spcBef>
                <a:spcPts val="0"/>
              </a:spcBef>
              <a:buSzPct val="120000"/>
              <a:buNone/>
            </a:pPr>
            <a:r>
              <a:rPr lang="zh-CN" altLang="en-US" sz="1800" dirty="0">
                <a:solidFill>
                  <a:srgbClr val="002060"/>
                </a:solidFill>
                <a:latin typeface="Times New Roman" panose="02020603050405020304" pitchFamily="18" charset="0"/>
                <a:cs typeface="Times New Roman" panose="02020603050405020304" pitchFamily="18" charset="0"/>
              </a:rPr>
              <a:t>　　    </a:t>
            </a:r>
            <a:r>
              <a:rPr lang="en-US" altLang="zh-CN" sz="1800" dirty="0">
                <a:solidFill>
                  <a:srgbClr val="002060"/>
                </a:solidFill>
                <a:latin typeface="Times New Roman" panose="02020603050405020304" pitchFamily="18" charset="0"/>
                <a:cs typeface="Times New Roman" panose="02020603050405020304" pitchFamily="18" charset="0"/>
              </a:rPr>
              <a:t>CPU</a:t>
            </a:r>
            <a:r>
              <a:rPr lang="zh-CN" altLang="en-US" sz="1800" dirty="0">
                <a:solidFill>
                  <a:srgbClr val="002060"/>
                </a:solidFill>
                <a:latin typeface="Times New Roman" panose="02020603050405020304" pitchFamily="18" charset="0"/>
                <a:cs typeface="Times New Roman" panose="02020603050405020304" pitchFamily="18" charset="0"/>
              </a:rPr>
              <a:t>版本：</a:t>
            </a:r>
            <a:r>
              <a:rPr lang="en-US" altLang="zh-CN" sz="1800" dirty="0" err="1">
                <a:solidFill>
                  <a:srgbClr val="002060"/>
                </a:solidFill>
                <a:latin typeface="Times New Roman" panose="02020603050405020304" pitchFamily="18" charset="0"/>
                <a:cs typeface="Times New Roman" panose="02020603050405020304" pitchFamily="18" charset="0"/>
              </a:rPr>
              <a:t>conda</a:t>
            </a:r>
            <a:r>
              <a:rPr lang="en-US" altLang="zh-CN" sz="1800" dirty="0">
                <a:solidFill>
                  <a:srgbClr val="002060"/>
                </a:solidFill>
                <a:latin typeface="Times New Roman" panose="02020603050405020304" pitchFamily="18" charset="0"/>
                <a:cs typeface="Times New Roman" panose="02020603050405020304" pitchFamily="18" charset="0"/>
              </a:rPr>
              <a:t> install </a:t>
            </a:r>
            <a:r>
              <a:rPr lang="en-US" altLang="zh-CN" sz="1800" dirty="0" err="1">
                <a:solidFill>
                  <a:srgbClr val="002060"/>
                </a:solidFill>
                <a:latin typeface="Times New Roman" panose="02020603050405020304" pitchFamily="18" charset="0"/>
                <a:cs typeface="Times New Roman" panose="02020603050405020304" pitchFamily="18" charset="0"/>
              </a:rPr>
              <a:t>pytorch</a:t>
            </a:r>
            <a:r>
              <a:rPr lang="en-US" altLang="zh-CN" sz="1800" dirty="0">
                <a:solidFill>
                  <a:srgbClr val="002060"/>
                </a:solidFill>
                <a:latin typeface="Times New Roman" panose="02020603050405020304" pitchFamily="18" charset="0"/>
                <a:cs typeface="Times New Roman" panose="02020603050405020304" pitchFamily="18" charset="0"/>
              </a:rPr>
              <a:t>==1.6.0 </a:t>
            </a:r>
            <a:r>
              <a:rPr lang="en-US" altLang="zh-CN" sz="1800" dirty="0" err="1">
                <a:solidFill>
                  <a:srgbClr val="002060"/>
                </a:solidFill>
                <a:latin typeface="Times New Roman" panose="02020603050405020304" pitchFamily="18" charset="0"/>
                <a:cs typeface="Times New Roman" panose="02020603050405020304" pitchFamily="18" charset="0"/>
              </a:rPr>
              <a:t>torchvision</a:t>
            </a:r>
            <a:r>
              <a:rPr lang="en-US" altLang="zh-CN" sz="1800" dirty="0">
                <a:solidFill>
                  <a:srgbClr val="002060"/>
                </a:solidFill>
                <a:latin typeface="Times New Roman" panose="02020603050405020304" pitchFamily="18" charset="0"/>
                <a:cs typeface="Times New Roman" panose="02020603050405020304" pitchFamily="18" charset="0"/>
              </a:rPr>
              <a:t>==0.7.0 </a:t>
            </a:r>
            <a:r>
              <a:rPr lang="en-US" altLang="zh-CN" sz="1800" dirty="0" err="1">
                <a:solidFill>
                  <a:srgbClr val="002060"/>
                </a:solidFill>
                <a:latin typeface="Times New Roman" panose="02020603050405020304" pitchFamily="18" charset="0"/>
                <a:cs typeface="Times New Roman" panose="02020603050405020304" pitchFamily="18" charset="0"/>
              </a:rPr>
              <a:t>cpuonly</a:t>
            </a:r>
            <a:r>
              <a:rPr lang="en-US" altLang="zh-CN" sz="1800" dirty="0">
                <a:solidFill>
                  <a:srgbClr val="002060"/>
                </a:solidFill>
                <a:latin typeface="Times New Roman" panose="02020603050405020304" pitchFamily="18" charset="0"/>
                <a:cs typeface="Times New Roman" panose="02020603050405020304" pitchFamily="18" charset="0"/>
              </a:rPr>
              <a:t> -c </a:t>
            </a:r>
            <a:r>
              <a:rPr lang="en-US" altLang="zh-CN" sz="1800" dirty="0" err="1">
                <a:solidFill>
                  <a:srgbClr val="002060"/>
                </a:solidFill>
                <a:latin typeface="Times New Roman" panose="02020603050405020304" pitchFamily="18" charset="0"/>
                <a:cs typeface="Times New Roman" panose="02020603050405020304" pitchFamily="18" charset="0"/>
              </a:rPr>
              <a:t>pytorch</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buSzPct val="120000"/>
              <a:buNone/>
            </a:pPr>
            <a:endParaRPr lang="zh-CN" altLang="zh-CN" sz="1800" dirty="0">
              <a:solidFill>
                <a:srgbClr val="002060"/>
              </a:solidFill>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a:xfrm>
            <a:off x="395536" y="195486"/>
            <a:ext cx="6048724" cy="577618"/>
          </a:xfrm>
        </p:spPr>
        <p:txBody>
          <a:bodyPr>
            <a:noAutofit/>
          </a:bodyPr>
          <a:lstStyle/>
          <a:p>
            <a:r>
              <a:rPr lang="zh-CN" altLang="en-US" sz="2400">
                <a:solidFill>
                  <a:srgbClr val="FFFFFF"/>
                </a:solidFill>
              </a:rPr>
              <a:t>六、人工神经网络</a:t>
            </a:r>
            <a:endParaRPr lang="zh-CN" altLang="en-US" sz="2400" dirty="0"/>
          </a:p>
        </p:txBody>
      </p:sp>
      <p:sp>
        <p:nvSpPr>
          <p:cNvPr id="4" name="右大括号 3">
            <a:extLst>
              <a:ext uri="{FF2B5EF4-FFF2-40B4-BE49-F238E27FC236}">
                <a16:creationId xmlns:a16="http://schemas.microsoft.com/office/drawing/2014/main" id="{A063C29E-E134-4DE1-8D8A-DE4A6E797EFF}"/>
              </a:ext>
            </a:extLst>
          </p:cNvPr>
          <p:cNvSpPr/>
          <p:nvPr/>
        </p:nvSpPr>
        <p:spPr>
          <a:xfrm>
            <a:off x="4597825" y="2416990"/>
            <a:ext cx="298855" cy="1450903"/>
          </a:xfrm>
          <a:prstGeom prst="rightBrace">
            <a:avLst/>
          </a:prstGeom>
          <a:ln w="15875">
            <a:solidFill>
              <a:srgbClr val="00006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C450D3D6-176D-49CA-8FE1-421EC24CDF32}"/>
              </a:ext>
            </a:extLst>
          </p:cNvPr>
          <p:cNvSpPr txBox="1"/>
          <p:nvPr/>
        </p:nvSpPr>
        <p:spPr>
          <a:xfrm>
            <a:off x="4921239" y="2571750"/>
            <a:ext cx="2223686" cy="1099275"/>
          </a:xfrm>
          <a:prstGeom prst="rect">
            <a:avLst/>
          </a:prstGeom>
          <a:noFill/>
        </p:spPr>
        <p:txBody>
          <a:bodyPr wrap="none" rtlCol="0">
            <a:spAutoFit/>
          </a:bodyPr>
          <a:lstStyle/>
          <a:p>
            <a:pPr>
              <a:lnSpc>
                <a:spcPct val="125000"/>
              </a:lnSpc>
            </a:pPr>
            <a:r>
              <a:rPr lang="en-US" altLang="zh-CN">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250</a:t>
            </a:r>
            <a:r>
              <a:rPr lang="zh-CN" altLang="en-US">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个人手写数字 </a:t>
            </a:r>
            <a:endParaRPr lang="en-US" altLang="zh-CN">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5000"/>
              </a:lnSpc>
            </a:pPr>
            <a:r>
              <a:rPr lang="en-US" altLang="zh-CN">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50%</a:t>
            </a:r>
            <a:r>
              <a:rPr lang="zh-CN" altLang="en-US">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高中学生</a:t>
            </a:r>
            <a:endParaRPr lang="en-US" altLang="zh-CN">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5000"/>
              </a:lnSpc>
            </a:pPr>
            <a:r>
              <a:rPr lang="en-US" altLang="zh-CN">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50%</a:t>
            </a:r>
            <a:r>
              <a:rPr lang="zh-CN" altLang="en-US">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人口普查局人员</a:t>
            </a:r>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187317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59" y="987574"/>
            <a:ext cx="8532441" cy="4156874"/>
          </a:xfrm>
        </p:spPr>
        <p:txBody>
          <a:bodyPr>
            <a:noAutofit/>
          </a:bodyPr>
          <a:lstStyle/>
          <a:p>
            <a:pPr marL="0" indent="0">
              <a:lnSpc>
                <a:spcPct val="1500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5</a:t>
            </a:r>
            <a:r>
              <a:rPr lang="zh-CN" altLang="zh-CN" sz="1800" dirty="0">
                <a:solidFill>
                  <a:srgbClr val="002060"/>
                </a:solidFill>
                <a:latin typeface="Times New Roman" panose="02020603050405020304" pitchFamily="18" charset="0"/>
                <a:cs typeface="Times New Roman" panose="02020603050405020304" pitchFamily="18" charset="0"/>
              </a:rPr>
              <a:t>．</a:t>
            </a:r>
            <a:r>
              <a:rPr lang="zh-CN" altLang="en-US" sz="1800" dirty="0">
                <a:solidFill>
                  <a:srgbClr val="002060"/>
                </a:solidFill>
                <a:latin typeface="Times New Roman" panose="02020603050405020304" pitchFamily="18" charset="0"/>
                <a:cs typeface="Times New Roman" panose="02020603050405020304" pitchFamily="18" charset="0"/>
              </a:rPr>
              <a:t>深度学习</a:t>
            </a:r>
            <a:endParaRPr lang="en-US" altLang="zh-CN" sz="1800" dirty="0">
              <a:solidFill>
                <a:srgbClr val="002060"/>
              </a:solidFill>
              <a:latin typeface="Times New Roman" panose="02020603050405020304" pitchFamily="18" charset="0"/>
              <a:cs typeface="Times New Roman" panose="02020603050405020304" pitchFamily="18" charset="0"/>
            </a:endParaRPr>
          </a:p>
          <a:p>
            <a:pPr marL="0" indent="0">
              <a:lnSpc>
                <a:spcPct val="1250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 </a:t>
            </a:r>
            <a:r>
              <a:rPr lang="zh-CN" altLang="en-US" sz="1800" dirty="0">
                <a:solidFill>
                  <a:srgbClr val="002060"/>
                </a:solidFill>
                <a:latin typeface="Times New Roman" panose="02020603050405020304" pitchFamily="18" charset="0"/>
                <a:cs typeface="Times New Roman" panose="02020603050405020304" pitchFamily="18" charset="0"/>
              </a:rPr>
              <a:t>代码</a:t>
            </a:r>
            <a:endParaRPr lang="en-US" altLang="zh-CN" sz="1800" dirty="0">
              <a:solidFill>
                <a:srgbClr val="002060"/>
              </a:solidFill>
              <a:latin typeface="Times New Roman" panose="02020603050405020304" pitchFamily="18" charset="0"/>
              <a:cs typeface="Times New Roman" panose="02020603050405020304" pitchFamily="18" charset="0"/>
            </a:endParaRPr>
          </a:p>
          <a:p>
            <a:pPr marL="648000" lvl="2" indent="0">
              <a:lnSpc>
                <a:spcPct val="125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import </a:t>
            </a:r>
            <a:r>
              <a:rPr lang="en-US" altLang="zh-CN" sz="1400" dirty="0" err="1">
                <a:solidFill>
                  <a:srgbClr val="002060"/>
                </a:solidFill>
                <a:latin typeface="Times New Roman" panose="02020603050405020304" pitchFamily="18" charset="0"/>
                <a:cs typeface="Times New Roman" panose="02020603050405020304" pitchFamily="18" charset="0"/>
              </a:rPr>
              <a:t>numpy</a:t>
            </a:r>
            <a:r>
              <a:rPr lang="en-US" altLang="zh-CN" sz="1400" dirty="0">
                <a:solidFill>
                  <a:srgbClr val="002060"/>
                </a:solidFill>
                <a:latin typeface="Times New Roman" panose="02020603050405020304" pitchFamily="18" charset="0"/>
                <a:cs typeface="Times New Roman" panose="02020603050405020304" pitchFamily="18" charset="0"/>
              </a:rPr>
              <a:t> as np </a:t>
            </a:r>
          </a:p>
          <a:p>
            <a:pPr marL="648000" lvl="2" indent="0">
              <a:lnSpc>
                <a:spcPct val="125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import pandas as pd </a:t>
            </a:r>
          </a:p>
          <a:p>
            <a:pPr marL="648000" lvl="2" indent="0">
              <a:lnSpc>
                <a:spcPct val="125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import torch</a:t>
            </a:r>
          </a:p>
          <a:p>
            <a:pPr marL="648000" lvl="2" indent="0">
              <a:lnSpc>
                <a:spcPct val="125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import </a:t>
            </a:r>
            <a:r>
              <a:rPr lang="en-US" altLang="zh-CN" sz="1400" dirty="0" err="1">
                <a:solidFill>
                  <a:srgbClr val="002060"/>
                </a:solidFill>
                <a:latin typeface="Times New Roman" panose="02020603050405020304" pitchFamily="18" charset="0"/>
                <a:cs typeface="Times New Roman" panose="02020603050405020304" pitchFamily="18" charset="0"/>
              </a:rPr>
              <a:t>torch.nn</a:t>
            </a:r>
            <a:r>
              <a:rPr lang="en-US" altLang="zh-CN" sz="1400" dirty="0">
                <a:solidFill>
                  <a:srgbClr val="002060"/>
                </a:solidFill>
                <a:latin typeface="Times New Roman" panose="02020603050405020304" pitchFamily="18" charset="0"/>
                <a:cs typeface="Times New Roman" panose="02020603050405020304" pitchFamily="18" charset="0"/>
              </a:rPr>
              <a:t> as </a:t>
            </a:r>
            <a:r>
              <a:rPr lang="en-US" altLang="zh-CN" sz="1400" dirty="0" err="1">
                <a:solidFill>
                  <a:srgbClr val="002060"/>
                </a:solidFill>
                <a:latin typeface="Times New Roman" panose="02020603050405020304" pitchFamily="18" charset="0"/>
                <a:cs typeface="Times New Roman" panose="02020603050405020304" pitchFamily="18" charset="0"/>
              </a:rPr>
              <a:t>nn</a:t>
            </a:r>
            <a:endParaRPr lang="en-US" altLang="zh-CN" sz="1400" dirty="0">
              <a:solidFill>
                <a:srgbClr val="002060"/>
              </a:solidFill>
              <a:latin typeface="Times New Roman" panose="02020603050405020304" pitchFamily="18" charset="0"/>
              <a:cs typeface="Times New Roman" panose="02020603050405020304" pitchFamily="18" charset="0"/>
            </a:endParaRPr>
          </a:p>
          <a:p>
            <a:pPr marL="648000" lvl="2" indent="0">
              <a:lnSpc>
                <a:spcPct val="125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import </a:t>
            </a:r>
            <a:r>
              <a:rPr lang="en-US" altLang="zh-CN" sz="1400" dirty="0" err="1">
                <a:solidFill>
                  <a:srgbClr val="002060"/>
                </a:solidFill>
                <a:latin typeface="Times New Roman" panose="02020603050405020304" pitchFamily="18" charset="0"/>
                <a:cs typeface="Times New Roman" panose="02020603050405020304" pitchFamily="18" charset="0"/>
              </a:rPr>
              <a:t>torch.nn.functional</a:t>
            </a:r>
            <a:r>
              <a:rPr lang="en-US" altLang="zh-CN" sz="1400" dirty="0">
                <a:solidFill>
                  <a:srgbClr val="002060"/>
                </a:solidFill>
                <a:latin typeface="Times New Roman" panose="02020603050405020304" pitchFamily="18" charset="0"/>
                <a:cs typeface="Times New Roman" panose="02020603050405020304" pitchFamily="18" charset="0"/>
              </a:rPr>
              <a:t> as F</a:t>
            </a:r>
          </a:p>
          <a:p>
            <a:pPr marL="648000" lvl="2" indent="0">
              <a:lnSpc>
                <a:spcPct val="125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import </a:t>
            </a:r>
            <a:r>
              <a:rPr lang="en-US" altLang="zh-CN" sz="1400" dirty="0" err="1">
                <a:solidFill>
                  <a:srgbClr val="002060"/>
                </a:solidFill>
                <a:latin typeface="Times New Roman" panose="02020603050405020304" pitchFamily="18" charset="0"/>
                <a:cs typeface="Times New Roman" panose="02020603050405020304" pitchFamily="18" charset="0"/>
              </a:rPr>
              <a:t>torch.utils.data</a:t>
            </a:r>
            <a:endParaRPr lang="en-US" altLang="zh-CN" sz="1400" dirty="0">
              <a:solidFill>
                <a:srgbClr val="002060"/>
              </a:solidFill>
              <a:latin typeface="Times New Roman" panose="02020603050405020304" pitchFamily="18" charset="0"/>
              <a:cs typeface="Times New Roman" panose="02020603050405020304" pitchFamily="18" charset="0"/>
            </a:endParaRPr>
          </a:p>
          <a:p>
            <a:pPr marL="648000" lvl="2" indent="0">
              <a:lnSpc>
                <a:spcPct val="125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from </a:t>
            </a:r>
            <a:r>
              <a:rPr lang="en-US" altLang="zh-CN" sz="1400" dirty="0" err="1">
                <a:solidFill>
                  <a:srgbClr val="002060"/>
                </a:solidFill>
                <a:latin typeface="Times New Roman" panose="02020603050405020304" pitchFamily="18" charset="0"/>
                <a:cs typeface="Times New Roman" panose="02020603050405020304" pitchFamily="18" charset="0"/>
              </a:rPr>
              <a:t>MNIST_classifier_DNN</a:t>
            </a:r>
            <a:r>
              <a:rPr lang="en-US" altLang="zh-CN" sz="1400" dirty="0">
                <a:solidFill>
                  <a:srgbClr val="002060"/>
                </a:solidFill>
                <a:latin typeface="Times New Roman" panose="02020603050405020304" pitchFamily="18" charset="0"/>
                <a:cs typeface="Times New Roman" panose="02020603050405020304" pitchFamily="18" charset="0"/>
              </a:rPr>
              <a:t> import *</a:t>
            </a:r>
          </a:p>
          <a:p>
            <a:pPr marL="648000" lvl="2" indent="0">
              <a:lnSpc>
                <a:spcPct val="125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#1. </a:t>
            </a:r>
            <a:r>
              <a:rPr lang="zh-CN" altLang="en-US" sz="1400" dirty="0">
                <a:solidFill>
                  <a:srgbClr val="002060"/>
                </a:solidFill>
                <a:latin typeface="Times New Roman" panose="02020603050405020304" pitchFamily="18" charset="0"/>
                <a:cs typeface="Times New Roman" panose="02020603050405020304" pitchFamily="18" charset="0"/>
              </a:rPr>
              <a:t>数据准备：读入训练数据、测试数据</a:t>
            </a:r>
          </a:p>
          <a:p>
            <a:pPr marL="648000" lvl="2" indent="0">
              <a:lnSpc>
                <a:spcPct val="125000"/>
              </a:lnSpc>
              <a:spcBef>
                <a:spcPts val="0"/>
              </a:spcBef>
              <a:buNone/>
            </a:pPr>
            <a:r>
              <a:rPr lang="en-US" altLang="zh-CN" sz="1400" dirty="0" err="1">
                <a:solidFill>
                  <a:srgbClr val="002060"/>
                </a:solidFill>
                <a:latin typeface="Times New Roman" panose="02020603050405020304" pitchFamily="18" charset="0"/>
                <a:cs typeface="Times New Roman" panose="02020603050405020304" pitchFamily="18" charset="0"/>
              </a:rPr>
              <a:t>df_train</a:t>
            </a:r>
            <a:r>
              <a:rPr lang="en-US" altLang="zh-CN" sz="1400" dirty="0">
                <a:solidFill>
                  <a:srgbClr val="002060"/>
                </a:solidFill>
                <a:latin typeface="Times New Roman" panose="02020603050405020304" pitchFamily="18" charset="0"/>
                <a:cs typeface="Times New Roman" panose="02020603050405020304" pitchFamily="18" charset="0"/>
              </a:rPr>
              <a:t> = </a:t>
            </a:r>
            <a:r>
              <a:rPr lang="en-US" altLang="zh-CN" sz="1400" dirty="0" err="1">
                <a:solidFill>
                  <a:srgbClr val="002060"/>
                </a:solidFill>
                <a:latin typeface="Times New Roman" panose="02020603050405020304" pitchFamily="18" charset="0"/>
                <a:cs typeface="Times New Roman" panose="02020603050405020304" pitchFamily="18" charset="0"/>
              </a:rPr>
              <a:t>pd.read_csv</a:t>
            </a:r>
            <a:r>
              <a:rPr lang="en-US" altLang="zh-CN" sz="1400" dirty="0">
                <a:solidFill>
                  <a:srgbClr val="002060"/>
                </a:solidFill>
                <a:latin typeface="Times New Roman" panose="02020603050405020304" pitchFamily="18" charset="0"/>
                <a:cs typeface="Times New Roman" panose="02020603050405020304" pitchFamily="18" charset="0"/>
              </a:rPr>
              <a:t>('</a:t>
            </a:r>
            <a:r>
              <a:rPr lang="en-US" altLang="zh-CN" sz="1400" dirty="0" err="1">
                <a:solidFill>
                  <a:srgbClr val="002060"/>
                </a:solidFill>
                <a:latin typeface="Times New Roman" panose="02020603050405020304" pitchFamily="18" charset="0"/>
                <a:cs typeface="Times New Roman" panose="02020603050405020304" pitchFamily="18" charset="0"/>
              </a:rPr>
              <a:t>mnist_train.csv',header</a:t>
            </a:r>
            <a:r>
              <a:rPr lang="en-US" altLang="zh-CN" sz="1400" dirty="0">
                <a:solidFill>
                  <a:srgbClr val="002060"/>
                </a:solidFill>
                <a:latin typeface="Times New Roman" panose="02020603050405020304" pitchFamily="18" charset="0"/>
                <a:cs typeface="Times New Roman" panose="02020603050405020304" pitchFamily="18" charset="0"/>
              </a:rPr>
              <a:t> =None)</a:t>
            </a:r>
          </a:p>
          <a:p>
            <a:pPr marL="648000" lvl="2" indent="0">
              <a:lnSpc>
                <a:spcPct val="125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print(</a:t>
            </a:r>
            <a:r>
              <a:rPr lang="en-US" altLang="zh-CN" sz="1400" dirty="0" err="1">
                <a:solidFill>
                  <a:srgbClr val="002060"/>
                </a:solidFill>
                <a:latin typeface="Times New Roman" panose="02020603050405020304" pitchFamily="18" charset="0"/>
                <a:cs typeface="Times New Roman" panose="02020603050405020304" pitchFamily="18" charset="0"/>
              </a:rPr>
              <a:t>df_train.shape</a:t>
            </a:r>
            <a:r>
              <a:rPr lang="en-US" altLang="zh-CN" sz="1400" dirty="0">
                <a:solidFill>
                  <a:srgbClr val="002060"/>
                </a:solidFill>
                <a:latin typeface="Times New Roman" panose="02020603050405020304" pitchFamily="18" charset="0"/>
                <a:cs typeface="Times New Roman" panose="02020603050405020304" pitchFamily="18" charset="0"/>
              </a:rPr>
              <a:t>)</a:t>
            </a:r>
          </a:p>
          <a:p>
            <a:pPr marL="648000" lvl="2" indent="0">
              <a:lnSpc>
                <a:spcPct val="125000"/>
              </a:lnSpc>
              <a:spcBef>
                <a:spcPts val="0"/>
              </a:spcBef>
              <a:buNone/>
            </a:pPr>
            <a:r>
              <a:rPr lang="en-US" altLang="zh-CN" sz="1400" dirty="0" err="1">
                <a:solidFill>
                  <a:srgbClr val="002060"/>
                </a:solidFill>
                <a:latin typeface="Times New Roman" panose="02020603050405020304" pitchFamily="18" charset="0"/>
                <a:cs typeface="Times New Roman" panose="02020603050405020304" pitchFamily="18" charset="0"/>
              </a:rPr>
              <a:t>df_test</a:t>
            </a:r>
            <a:r>
              <a:rPr lang="en-US" altLang="zh-CN" sz="1400" dirty="0">
                <a:solidFill>
                  <a:srgbClr val="002060"/>
                </a:solidFill>
                <a:latin typeface="Times New Roman" panose="02020603050405020304" pitchFamily="18" charset="0"/>
                <a:cs typeface="Times New Roman" panose="02020603050405020304" pitchFamily="18" charset="0"/>
              </a:rPr>
              <a:t> = </a:t>
            </a:r>
            <a:r>
              <a:rPr lang="en-US" altLang="zh-CN" sz="1400" dirty="0" err="1">
                <a:solidFill>
                  <a:srgbClr val="002060"/>
                </a:solidFill>
                <a:latin typeface="Times New Roman" panose="02020603050405020304" pitchFamily="18" charset="0"/>
                <a:cs typeface="Times New Roman" panose="02020603050405020304" pitchFamily="18" charset="0"/>
              </a:rPr>
              <a:t>pd.read_csv</a:t>
            </a:r>
            <a:r>
              <a:rPr lang="en-US" altLang="zh-CN" sz="1400" dirty="0">
                <a:solidFill>
                  <a:srgbClr val="002060"/>
                </a:solidFill>
                <a:latin typeface="Times New Roman" panose="02020603050405020304" pitchFamily="18" charset="0"/>
                <a:cs typeface="Times New Roman" panose="02020603050405020304" pitchFamily="18" charset="0"/>
              </a:rPr>
              <a:t>('</a:t>
            </a:r>
            <a:r>
              <a:rPr lang="en-US" altLang="zh-CN" sz="1400" dirty="0" err="1">
                <a:solidFill>
                  <a:srgbClr val="002060"/>
                </a:solidFill>
                <a:latin typeface="Times New Roman" panose="02020603050405020304" pitchFamily="18" charset="0"/>
                <a:cs typeface="Times New Roman" panose="02020603050405020304" pitchFamily="18" charset="0"/>
              </a:rPr>
              <a:t>mnist_test.csv',header</a:t>
            </a:r>
            <a:r>
              <a:rPr lang="en-US" altLang="zh-CN" sz="1400" dirty="0">
                <a:solidFill>
                  <a:srgbClr val="002060"/>
                </a:solidFill>
                <a:latin typeface="Times New Roman" panose="02020603050405020304" pitchFamily="18" charset="0"/>
                <a:cs typeface="Times New Roman" panose="02020603050405020304" pitchFamily="18" charset="0"/>
              </a:rPr>
              <a:t> =None)</a:t>
            </a:r>
          </a:p>
          <a:p>
            <a:pPr marL="648000" lvl="2" indent="0">
              <a:lnSpc>
                <a:spcPct val="125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print(</a:t>
            </a:r>
            <a:r>
              <a:rPr lang="en-US" altLang="zh-CN" sz="1400" dirty="0" err="1">
                <a:solidFill>
                  <a:srgbClr val="002060"/>
                </a:solidFill>
                <a:latin typeface="Times New Roman" panose="02020603050405020304" pitchFamily="18" charset="0"/>
                <a:cs typeface="Times New Roman" panose="02020603050405020304" pitchFamily="18" charset="0"/>
              </a:rPr>
              <a:t>df_test.shape</a:t>
            </a:r>
            <a:r>
              <a:rPr lang="en-US" altLang="zh-CN" sz="1400" dirty="0">
                <a:solidFill>
                  <a:srgbClr val="002060"/>
                </a:solidFill>
                <a:latin typeface="Times New Roman" panose="02020603050405020304" pitchFamily="18" charset="0"/>
                <a:cs typeface="Times New Roman" panose="02020603050405020304" pitchFamily="18" charset="0"/>
              </a:rPr>
              <a:t>)</a:t>
            </a:r>
            <a:endParaRPr lang="zh-CN" altLang="zh-CN" sz="1400" dirty="0">
              <a:solidFill>
                <a:srgbClr val="002060"/>
              </a:solidFill>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a:xfrm>
            <a:off x="395536" y="195486"/>
            <a:ext cx="6048724" cy="577618"/>
          </a:xfrm>
        </p:spPr>
        <p:txBody>
          <a:bodyPr>
            <a:noAutofit/>
          </a:bodyPr>
          <a:lstStyle/>
          <a:p>
            <a:r>
              <a:rPr lang="zh-CN" altLang="en-US" sz="2400">
                <a:solidFill>
                  <a:srgbClr val="FFFFFF"/>
                </a:solidFill>
              </a:rPr>
              <a:t>六、人工神经网络</a:t>
            </a:r>
            <a:endParaRPr lang="zh-CN" altLang="en-US" sz="2400" dirty="0"/>
          </a:p>
        </p:txBody>
      </p:sp>
    </p:spTree>
    <p:extLst>
      <p:ext uri="{BB962C8B-B14F-4D97-AF65-F5344CB8AC3E}">
        <p14:creationId xmlns:p14="http://schemas.microsoft.com/office/powerpoint/2010/main" val="4106181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59" y="987574"/>
            <a:ext cx="7992889" cy="3960440"/>
          </a:xfrm>
        </p:spPr>
        <p:txBody>
          <a:bodyPr>
            <a:noAutofit/>
          </a:bodyPr>
          <a:lstStyle/>
          <a:p>
            <a:pPr marL="0" indent="0">
              <a:lnSpc>
                <a:spcPct val="1500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5</a:t>
            </a:r>
            <a:r>
              <a:rPr lang="zh-CN" altLang="zh-CN" sz="1800" dirty="0">
                <a:solidFill>
                  <a:srgbClr val="002060"/>
                </a:solidFill>
                <a:latin typeface="Times New Roman" panose="02020603050405020304" pitchFamily="18" charset="0"/>
                <a:cs typeface="Times New Roman" panose="02020603050405020304" pitchFamily="18" charset="0"/>
              </a:rPr>
              <a:t>．</a:t>
            </a:r>
            <a:r>
              <a:rPr lang="zh-CN" altLang="en-US" sz="1800" dirty="0">
                <a:solidFill>
                  <a:srgbClr val="002060"/>
                </a:solidFill>
                <a:latin typeface="Times New Roman" panose="02020603050405020304" pitchFamily="18" charset="0"/>
                <a:cs typeface="Times New Roman" panose="02020603050405020304" pitchFamily="18" charset="0"/>
              </a:rPr>
              <a:t>深度学习</a:t>
            </a:r>
            <a:endParaRPr lang="en-US" altLang="zh-CN" sz="1800" dirty="0">
              <a:solidFill>
                <a:srgbClr val="00206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 </a:t>
            </a:r>
            <a:r>
              <a:rPr lang="zh-CN" altLang="en-US" sz="1800" dirty="0">
                <a:solidFill>
                  <a:srgbClr val="002060"/>
                </a:solidFill>
                <a:latin typeface="Times New Roman" panose="02020603050405020304" pitchFamily="18" charset="0"/>
                <a:cs typeface="Times New Roman" panose="02020603050405020304" pitchFamily="18" charset="0"/>
              </a:rPr>
              <a:t>代码</a:t>
            </a:r>
            <a:endParaRPr lang="en-US" altLang="zh-CN" sz="1400" dirty="0">
              <a:solidFill>
                <a:srgbClr val="002060"/>
              </a:solidFill>
              <a:latin typeface="Times New Roman" panose="02020603050405020304" pitchFamily="18" charset="0"/>
              <a:cs typeface="Times New Roman" panose="02020603050405020304" pitchFamily="18" charset="0"/>
            </a:endParaRPr>
          </a:p>
          <a:p>
            <a:pPr marL="648000" indent="0">
              <a:lnSpc>
                <a:spcPct val="125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 </a:t>
            </a:r>
            <a:r>
              <a:rPr lang="zh-CN" altLang="en-US" sz="1400" dirty="0">
                <a:solidFill>
                  <a:srgbClr val="002060"/>
                </a:solidFill>
                <a:latin typeface="Times New Roman" panose="02020603050405020304" pitchFamily="18" charset="0"/>
                <a:cs typeface="Times New Roman" panose="02020603050405020304" pitchFamily="18" charset="0"/>
              </a:rPr>
              <a:t>将训练</a:t>
            </a:r>
            <a:r>
              <a:rPr lang="en-US" altLang="zh-CN" sz="1400" dirty="0">
                <a:solidFill>
                  <a:srgbClr val="002060"/>
                </a:solidFill>
                <a:latin typeface="Times New Roman" panose="02020603050405020304" pitchFamily="18" charset="0"/>
                <a:cs typeface="Times New Roman" panose="02020603050405020304" pitchFamily="18" charset="0"/>
              </a:rPr>
              <a:t>/</a:t>
            </a:r>
            <a:r>
              <a:rPr lang="zh-CN" altLang="en-US" sz="1400" dirty="0">
                <a:solidFill>
                  <a:srgbClr val="002060"/>
                </a:solidFill>
                <a:latin typeface="Times New Roman" panose="02020603050405020304" pitchFamily="18" charset="0"/>
                <a:cs typeface="Times New Roman" panose="02020603050405020304" pitchFamily="18" charset="0"/>
              </a:rPr>
              <a:t>测试数据及其目标，都转换为</a:t>
            </a:r>
            <a:r>
              <a:rPr lang="en-US" altLang="zh-CN" sz="1400" dirty="0" err="1">
                <a:solidFill>
                  <a:srgbClr val="002060"/>
                </a:solidFill>
                <a:latin typeface="Times New Roman" panose="02020603050405020304" pitchFamily="18" charset="0"/>
                <a:cs typeface="Times New Roman" panose="02020603050405020304" pitchFamily="18" charset="0"/>
              </a:rPr>
              <a:t>np.array</a:t>
            </a:r>
            <a:endParaRPr lang="en-US" altLang="zh-CN" sz="1400" dirty="0">
              <a:solidFill>
                <a:srgbClr val="002060"/>
              </a:solidFill>
              <a:latin typeface="Times New Roman" panose="02020603050405020304" pitchFamily="18" charset="0"/>
              <a:cs typeface="Times New Roman" panose="02020603050405020304" pitchFamily="18" charset="0"/>
            </a:endParaRPr>
          </a:p>
          <a:p>
            <a:pPr marL="648000" indent="0">
              <a:lnSpc>
                <a:spcPct val="125000"/>
              </a:lnSpc>
              <a:spcBef>
                <a:spcPts val="0"/>
              </a:spcBef>
              <a:buNone/>
            </a:pPr>
            <a:r>
              <a:rPr lang="en-US" altLang="zh-CN" sz="1400" dirty="0" err="1">
                <a:solidFill>
                  <a:srgbClr val="002060"/>
                </a:solidFill>
                <a:latin typeface="Times New Roman" panose="02020603050405020304" pitchFamily="18" charset="0"/>
                <a:cs typeface="Times New Roman" panose="02020603050405020304" pitchFamily="18" charset="0"/>
              </a:rPr>
              <a:t>X_train</a:t>
            </a:r>
            <a:r>
              <a:rPr lang="en-US" altLang="zh-CN" sz="1400" dirty="0">
                <a:solidFill>
                  <a:srgbClr val="002060"/>
                </a:solidFill>
                <a:latin typeface="Times New Roman" panose="02020603050405020304" pitchFamily="18" charset="0"/>
                <a:cs typeface="Times New Roman" panose="02020603050405020304" pitchFamily="18" charset="0"/>
              </a:rPr>
              <a:t> = </a:t>
            </a:r>
            <a:r>
              <a:rPr lang="en-US" altLang="zh-CN" sz="1400" dirty="0" err="1">
                <a:solidFill>
                  <a:srgbClr val="002060"/>
                </a:solidFill>
                <a:latin typeface="Times New Roman" panose="02020603050405020304" pitchFamily="18" charset="0"/>
                <a:cs typeface="Times New Roman" panose="02020603050405020304" pitchFamily="18" charset="0"/>
              </a:rPr>
              <a:t>np.array</a:t>
            </a:r>
            <a:r>
              <a:rPr lang="en-US" altLang="zh-CN" sz="1400" dirty="0">
                <a:solidFill>
                  <a:srgbClr val="002060"/>
                </a:solidFill>
                <a:latin typeface="Times New Roman" panose="02020603050405020304" pitchFamily="18" charset="0"/>
                <a:cs typeface="Times New Roman" panose="02020603050405020304" pitchFamily="18" charset="0"/>
              </a:rPr>
              <a:t>(</a:t>
            </a:r>
            <a:r>
              <a:rPr lang="en-US" altLang="zh-CN" sz="1400" dirty="0" err="1">
                <a:solidFill>
                  <a:srgbClr val="002060"/>
                </a:solidFill>
                <a:latin typeface="Times New Roman" panose="02020603050405020304" pitchFamily="18" charset="0"/>
                <a:cs typeface="Times New Roman" panose="02020603050405020304" pitchFamily="18" charset="0"/>
              </a:rPr>
              <a:t>df_train.iloc</a:t>
            </a:r>
            <a:r>
              <a:rPr lang="en-US" altLang="zh-CN" sz="1400" dirty="0">
                <a:solidFill>
                  <a:srgbClr val="002060"/>
                </a:solidFill>
                <a:latin typeface="Times New Roman" panose="02020603050405020304" pitchFamily="18" charset="0"/>
                <a:cs typeface="Times New Roman" panose="02020603050405020304" pitchFamily="18" charset="0"/>
              </a:rPr>
              <a:t>[:,1:].values)</a:t>
            </a:r>
          </a:p>
          <a:p>
            <a:pPr marL="648000" indent="0">
              <a:lnSpc>
                <a:spcPct val="125000"/>
              </a:lnSpc>
              <a:spcBef>
                <a:spcPts val="0"/>
              </a:spcBef>
              <a:buNone/>
            </a:pPr>
            <a:r>
              <a:rPr lang="en-US" altLang="zh-CN" sz="1400" dirty="0" err="1">
                <a:solidFill>
                  <a:srgbClr val="002060"/>
                </a:solidFill>
                <a:latin typeface="Times New Roman" panose="02020603050405020304" pitchFamily="18" charset="0"/>
                <a:cs typeface="Times New Roman" panose="02020603050405020304" pitchFamily="18" charset="0"/>
              </a:rPr>
              <a:t>y_train</a:t>
            </a:r>
            <a:r>
              <a:rPr lang="en-US" altLang="zh-CN" sz="1400" dirty="0">
                <a:solidFill>
                  <a:srgbClr val="002060"/>
                </a:solidFill>
                <a:latin typeface="Times New Roman" panose="02020603050405020304" pitchFamily="18" charset="0"/>
                <a:cs typeface="Times New Roman" panose="02020603050405020304" pitchFamily="18" charset="0"/>
              </a:rPr>
              <a:t> = </a:t>
            </a:r>
            <a:r>
              <a:rPr lang="en-US" altLang="zh-CN" sz="1400" dirty="0" err="1">
                <a:solidFill>
                  <a:srgbClr val="002060"/>
                </a:solidFill>
                <a:latin typeface="Times New Roman" panose="02020603050405020304" pitchFamily="18" charset="0"/>
                <a:cs typeface="Times New Roman" panose="02020603050405020304" pitchFamily="18" charset="0"/>
              </a:rPr>
              <a:t>np.array</a:t>
            </a:r>
            <a:r>
              <a:rPr lang="en-US" altLang="zh-CN" sz="1400" dirty="0">
                <a:solidFill>
                  <a:srgbClr val="002060"/>
                </a:solidFill>
                <a:latin typeface="Times New Roman" panose="02020603050405020304" pitchFamily="18" charset="0"/>
                <a:cs typeface="Times New Roman" panose="02020603050405020304" pitchFamily="18" charset="0"/>
              </a:rPr>
              <a:t>(</a:t>
            </a:r>
            <a:r>
              <a:rPr lang="en-US" altLang="zh-CN" sz="1400" dirty="0" err="1">
                <a:solidFill>
                  <a:srgbClr val="002060"/>
                </a:solidFill>
                <a:latin typeface="Times New Roman" panose="02020603050405020304" pitchFamily="18" charset="0"/>
                <a:cs typeface="Times New Roman" panose="02020603050405020304" pitchFamily="18" charset="0"/>
              </a:rPr>
              <a:t>df_train.iloc</a:t>
            </a:r>
            <a:r>
              <a:rPr lang="en-US" altLang="zh-CN" sz="1400" dirty="0">
                <a:solidFill>
                  <a:srgbClr val="002060"/>
                </a:solidFill>
                <a:latin typeface="Times New Roman" panose="02020603050405020304" pitchFamily="18" charset="0"/>
                <a:cs typeface="Times New Roman" panose="02020603050405020304" pitchFamily="18" charset="0"/>
              </a:rPr>
              <a:t>[:,0].values)</a:t>
            </a:r>
          </a:p>
          <a:p>
            <a:pPr marL="648000" indent="0">
              <a:lnSpc>
                <a:spcPct val="125000"/>
              </a:lnSpc>
              <a:spcBef>
                <a:spcPts val="0"/>
              </a:spcBef>
              <a:buNone/>
            </a:pPr>
            <a:r>
              <a:rPr lang="en-US" altLang="zh-CN" sz="1400" dirty="0" err="1">
                <a:solidFill>
                  <a:srgbClr val="002060"/>
                </a:solidFill>
                <a:latin typeface="Times New Roman" panose="02020603050405020304" pitchFamily="18" charset="0"/>
                <a:cs typeface="Times New Roman" panose="02020603050405020304" pitchFamily="18" charset="0"/>
              </a:rPr>
              <a:t>X_test</a:t>
            </a:r>
            <a:r>
              <a:rPr lang="en-US" altLang="zh-CN" sz="1400" dirty="0">
                <a:solidFill>
                  <a:srgbClr val="002060"/>
                </a:solidFill>
                <a:latin typeface="Times New Roman" panose="02020603050405020304" pitchFamily="18" charset="0"/>
                <a:cs typeface="Times New Roman" panose="02020603050405020304" pitchFamily="18" charset="0"/>
              </a:rPr>
              <a:t> = </a:t>
            </a:r>
            <a:r>
              <a:rPr lang="en-US" altLang="zh-CN" sz="1400" dirty="0" err="1">
                <a:solidFill>
                  <a:srgbClr val="002060"/>
                </a:solidFill>
                <a:latin typeface="Times New Roman" panose="02020603050405020304" pitchFamily="18" charset="0"/>
                <a:cs typeface="Times New Roman" panose="02020603050405020304" pitchFamily="18" charset="0"/>
              </a:rPr>
              <a:t>np.array</a:t>
            </a:r>
            <a:r>
              <a:rPr lang="en-US" altLang="zh-CN" sz="1400" dirty="0">
                <a:solidFill>
                  <a:srgbClr val="002060"/>
                </a:solidFill>
                <a:latin typeface="Times New Roman" panose="02020603050405020304" pitchFamily="18" charset="0"/>
                <a:cs typeface="Times New Roman" panose="02020603050405020304" pitchFamily="18" charset="0"/>
              </a:rPr>
              <a:t>(</a:t>
            </a:r>
            <a:r>
              <a:rPr lang="en-US" altLang="zh-CN" sz="1400" dirty="0" err="1">
                <a:solidFill>
                  <a:srgbClr val="002060"/>
                </a:solidFill>
                <a:latin typeface="Times New Roman" panose="02020603050405020304" pitchFamily="18" charset="0"/>
                <a:cs typeface="Times New Roman" panose="02020603050405020304" pitchFamily="18" charset="0"/>
              </a:rPr>
              <a:t>df_test.iloc</a:t>
            </a:r>
            <a:r>
              <a:rPr lang="en-US" altLang="zh-CN" sz="1400" dirty="0">
                <a:solidFill>
                  <a:srgbClr val="002060"/>
                </a:solidFill>
                <a:latin typeface="Times New Roman" panose="02020603050405020304" pitchFamily="18" charset="0"/>
                <a:cs typeface="Times New Roman" panose="02020603050405020304" pitchFamily="18" charset="0"/>
              </a:rPr>
              <a:t>[:,1:].values)</a:t>
            </a:r>
          </a:p>
          <a:p>
            <a:pPr marL="648000" indent="0">
              <a:lnSpc>
                <a:spcPct val="125000"/>
              </a:lnSpc>
              <a:spcBef>
                <a:spcPts val="0"/>
              </a:spcBef>
              <a:buNone/>
            </a:pPr>
            <a:r>
              <a:rPr lang="en-US" altLang="zh-CN" sz="1400" dirty="0" err="1">
                <a:solidFill>
                  <a:srgbClr val="002060"/>
                </a:solidFill>
                <a:latin typeface="Times New Roman" panose="02020603050405020304" pitchFamily="18" charset="0"/>
                <a:cs typeface="Times New Roman" panose="02020603050405020304" pitchFamily="18" charset="0"/>
              </a:rPr>
              <a:t>y_test</a:t>
            </a:r>
            <a:r>
              <a:rPr lang="en-US" altLang="zh-CN" sz="1400" dirty="0">
                <a:solidFill>
                  <a:srgbClr val="002060"/>
                </a:solidFill>
                <a:latin typeface="Times New Roman" panose="02020603050405020304" pitchFamily="18" charset="0"/>
                <a:cs typeface="Times New Roman" panose="02020603050405020304" pitchFamily="18" charset="0"/>
              </a:rPr>
              <a:t> = </a:t>
            </a:r>
            <a:r>
              <a:rPr lang="en-US" altLang="zh-CN" sz="1400" dirty="0" err="1">
                <a:solidFill>
                  <a:srgbClr val="002060"/>
                </a:solidFill>
                <a:latin typeface="Times New Roman" panose="02020603050405020304" pitchFamily="18" charset="0"/>
                <a:cs typeface="Times New Roman" panose="02020603050405020304" pitchFamily="18" charset="0"/>
              </a:rPr>
              <a:t>np.array</a:t>
            </a:r>
            <a:r>
              <a:rPr lang="en-US" altLang="zh-CN" sz="1400" dirty="0">
                <a:solidFill>
                  <a:srgbClr val="002060"/>
                </a:solidFill>
                <a:latin typeface="Times New Roman" panose="02020603050405020304" pitchFamily="18" charset="0"/>
                <a:cs typeface="Times New Roman" panose="02020603050405020304" pitchFamily="18" charset="0"/>
              </a:rPr>
              <a:t>(</a:t>
            </a:r>
            <a:r>
              <a:rPr lang="en-US" altLang="zh-CN" sz="1400" dirty="0" err="1">
                <a:solidFill>
                  <a:srgbClr val="002060"/>
                </a:solidFill>
                <a:latin typeface="Times New Roman" panose="02020603050405020304" pitchFamily="18" charset="0"/>
                <a:cs typeface="Times New Roman" panose="02020603050405020304" pitchFamily="18" charset="0"/>
              </a:rPr>
              <a:t>df_test.iloc</a:t>
            </a:r>
            <a:r>
              <a:rPr lang="en-US" altLang="zh-CN" sz="1400" dirty="0">
                <a:solidFill>
                  <a:srgbClr val="002060"/>
                </a:solidFill>
                <a:latin typeface="Times New Roman" panose="02020603050405020304" pitchFamily="18" charset="0"/>
                <a:cs typeface="Times New Roman" panose="02020603050405020304" pitchFamily="18" charset="0"/>
              </a:rPr>
              <a:t>[:,0].values)</a:t>
            </a:r>
          </a:p>
          <a:p>
            <a:pPr marL="648000" indent="0">
              <a:lnSpc>
                <a:spcPct val="125000"/>
              </a:lnSpc>
              <a:spcBef>
                <a:spcPts val="0"/>
              </a:spcBef>
              <a:buNone/>
            </a:pPr>
            <a:endParaRPr lang="en-US" altLang="zh-CN" sz="1400" dirty="0">
              <a:solidFill>
                <a:srgbClr val="002060"/>
              </a:solidFill>
              <a:latin typeface="Times New Roman" panose="02020603050405020304" pitchFamily="18" charset="0"/>
              <a:cs typeface="Times New Roman" panose="02020603050405020304" pitchFamily="18" charset="0"/>
            </a:endParaRPr>
          </a:p>
          <a:p>
            <a:pPr marL="648000" indent="0">
              <a:lnSpc>
                <a:spcPct val="125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 </a:t>
            </a:r>
            <a:r>
              <a:rPr lang="zh-CN" altLang="en-US" sz="1400" dirty="0">
                <a:solidFill>
                  <a:srgbClr val="002060"/>
                </a:solidFill>
                <a:latin typeface="Times New Roman" panose="02020603050405020304" pitchFamily="18" charset="0"/>
                <a:cs typeface="Times New Roman" panose="02020603050405020304" pitchFamily="18" charset="0"/>
              </a:rPr>
              <a:t>训练</a:t>
            </a:r>
            <a:r>
              <a:rPr lang="en-US" altLang="zh-CN" sz="1400" dirty="0">
                <a:solidFill>
                  <a:srgbClr val="002060"/>
                </a:solidFill>
                <a:latin typeface="Times New Roman" panose="02020603050405020304" pitchFamily="18" charset="0"/>
                <a:cs typeface="Times New Roman" panose="02020603050405020304" pitchFamily="18" charset="0"/>
              </a:rPr>
              <a:t>/</a:t>
            </a:r>
            <a:r>
              <a:rPr lang="zh-CN" altLang="en-US" sz="1400" dirty="0">
                <a:solidFill>
                  <a:srgbClr val="002060"/>
                </a:solidFill>
                <a:latin typeface="Times New Roman" panose="02020603050405020304" pitchFamily="18" charset="0"/>
                <a:cs typeface="Times New Roman" panose="02020603050405020304" pitchFamily="18" charset="0"/>
              </a:rPr>
              <a:t>测试数据和目标转换为</a:t>
            </a:r>
            <a:r>
              <a:rPr lang="en-US" altLang="zh-CN" sz="1400" dirty="0">
                <a:solidFill>
                  <a:srgbClr val="002060"/>
                </a:solidFill>
                <a:latin typeface="Times New Roman" panose="02020603050405020304" pitchFamily="18" charset="0"/>
                <a:cs typeface="Times New Roman" panose="02020603050405020304" pitchFamily="18" charset="0"/>
              </a:rPr>
              <a:t>Tensor</a:t>
            </a:r>
            <a:r>
              <a:rPr lang="zh-CN" altLang="en-US" sz="1400" dirty="0">
                <a:solidFill>
                  <a:srgbClr val="002060"/>
                </a:solidFill>
                <a:latin typeface="Times New Roman" panose="02020603050405020304" pitchFamily="18" charset="0"/>
                <a:cs typeface="Times New Roman" panose="02020603050405020304" pitchFamily="18" charset="0"/>
              </a:rPr>
              <a:t>表示</a:t>
            </a:r>
          </a:p>
          <a:p>
            <a:pPr marL="648000" indent="0">
              <a:lnSpc>
                <a:spcPct val="125000"/>
              </a:lnSpc>
              <a:spcBef>
                <a:spcPts val="0"/>
              </a:spcBef>
              <a:buNone/>
            </a:pPr>
            <a:r>
              <a:rPr lang="en-US" altLang="zh-CN" sz="1400" dirty="0" err="1">
                <a:solidFill>
                  <a:srgbClr val="002060"/>
                </a:solidFill>
                <a:latin typeface="Times New Roman" panose="02020603050405020304" pitchFamily="18" charset="0"/>
                <a:cs typeface="Times New Roman" panose="02020603050405020304" pitchFamily="18" charset="0"/>
              </a:rPr>
              <a:t>torch_X_train</a:t>
            </a:r>
            <a:r>
              <a:rPr lang="en-US" altLang="zh-CN" sz="1400" dirty="0">
                <a:solidFill>
                  <a:srgbClr val="002060"/>
                </a:solidFill>
                <a:latin typeface="Times New Roman" panose="02020603050405020304" pitchFamily="18" charset="0"/>
                <a:cs typeface="Times New Roman" panose="02020603050405020304" pitchFamily="18" charset="0"/>
              </a:rPr>
              <a:t> = </a:t>
            </a:r>
            <a:r>
              <a:rPr lang="en-US" altLang="zh-CN" sz="1400" dirty="0" err="1">
                <a:solidFill>
                  <a:srgbClr val="002060"/>
                </a:solidFill>
                <a:latin typeface="Times New Roman" panose="02020603050405020304" pitchFamily="18" charset="0"/>
                <a:cs typeface="Times New Roman" panose="02020603050405020304" pitchFamily="18" charset="0"/>
              </a:rPr>
              <a:t>torch.from_numpy</a:t>
            </a:r>
            <a:r>
              <a:rPr lang="en-US" altLang="zh-CN" sz="1400" dirty="0">
                <a:solidFill>
                  <a:srgbClr val="002060"/>
                </a:solidFill>
                <a:latin typeface="Times New Roman" panose="02020603050405020304" pitchFamily="18" charset="0"/>
                <a:cs typeface="Times New Roman" panose="02020603050405020304" pitchFamily="18" charset="0"/>
              </a:rPr>
              <a:t>(</a:t>
            </a:r>
            <a:r>
              <a:rPr lang="en-US" altLang="zh-CN" sz="1400" dirty="0" err="1">
                <a:solidFill>
                  <a:srgbClr val="002060"/>
                </a:solidFill>
                <a:latin typeface="Times New Roman" panose="02020603050405020304" pitchFamily="18" charset="0"/>
                <a:cs typeface="Times New Roman" panose="02020603050405020304" pitchFamily="18" charset="0"/>
              </a:rPr>
              <a:t>X_train</a:t>
            </a:r>
            <a:r>
              <a:rPr lang="en-US" altLang="zh-CN" sz="1400" dirty="0">
                <a:solidFill>
                  <a:srgbClr val="002060"/>
                </a:solidFill>
                <a:latin typeface="Times New Roman" panose="02020603050405020304" pitchFamily="18" charset="0"/>
                <a:cs typeface="Times New Roman" panose="02020603050405020304" pitchFamily="18" charset="0"/>
              </a:rPr>
              <a:t>).type(</a:t>
            </a:r>
            <a:r>
              <a:rPr lang="en-US" altLang="zh-CN" sz="1400" dirty="0" err="1">
                <a:solidFill>
                  <a:srgbClr val="002060"/>
                </a:solidFill>
                <a:latin typeface="Times New Roman" panose="02020603050405020304" pitchFamily="18" charset="0"/>
                <a:cs typeface="Times New Roman" panose="02020603050405020304" pitchFamily="18" charset="0"/>
              </a:rPr>
              <a:t>torch.LongTensor</a:t>
            </a:r>
            <a:r>
              <a:rPr lang="en-US" altLang="zh-CN" sz="1400" dirty="0">
                <a:solidFill>
                  <a:srgbClr val="002060"/>
                </a:solidFill>
                <a:latin typeface="Times New Roman" panose="02020603050405020304" pitchFamily="18" charset="0"/>
                <a:cs typeface="Times New Roman" panose="02020603050405020304" pitchFamily="18" charset="0"/>
              </a:rPr>
              <a:t>)</a:t>
            </a:r>
          </a:p>
          <a:p>
            <a:pPr marL="648000" indent="0">
              <a:lnSpc>
                <a:spcPct val="125000"/>
              </a:lnSpc>
              <a:spcBef>
                <a:spcPts val="0"/>
              </a:spcBef>
              <a:buNone/>
            </a:pPr>
            <a:r>
              <a:rPr lang="en-US" altLang="zh-CN" sz="1400" dirty="0" err="1">
                <a:solidFill>
                  <a:srgbClr val="002060"/>
                </a:solidFill>
                <a:latin typeface="Times New Roman" panose="02020603050405020304" pitchFamily="18" charset="0"/>
                <a:cs typeface="Times New Roman" panose="02020603050405020304" pitchFamily="18" charset="0"/>
              </a:rPr>
              <a:t>torch_y_train</a:t>
            </a:r>
            <a:r>
              <a:rPr lang="en-US" altLang="zh-CN" sz="1400" dirty="0">
                <a:solidFill>
                  <a:srgbClr val="002060"/>
                </a:solidFill>
                <a:latin typeface="Times New Roman" panose="02020603050405020304" pitchFamily="18" charset="0"/>
                <a:cs typeface="Times New Roman" panose="02020603050405020304" pitchFamily="18" charset="0"/>
              </a:rPr>
              <a:t> = </a:t>
            </a:r>
            <a:r>
              <a:rPr lang="en-US" altLang="zh-CN" sz="1400" dirty="0" err="1">
                <a:solidFill>
                  <a:srgbClr val="002060"/>
                </a:solidFill>
                <a:latin typeface="Times New Roman" panose="02020603050405020304" pitchFamily="18" charset="0"/>
                <a:cs typeface="Times New Roman" panose="02020603050405020304" pitchFamily="18" charset="0"/>
              </a:rPr>
              <a:t>torch.from_numpy</a:t>
            </a:r>
            <a:r>
              <a:rPr lang="en-US" altLang="zh-CN" sz="1400" dirty="0">
                <a:solidFill>
                  <a:srgbClr val="002060"/>
                </a:solidFill>
                <a:latin typeface="Times New Roman" panose="02020603050405020304" pitchFamily="18" charset="0"/>
                <a:cs typeface="Times New Roman" panose="02020603050405020304" pitchFamily="18" charset="0"/>
              </a:rPr>
              <a:t>(</a:t>
            </a:r>
            <a:r>
              <a:rPr lang="en-US" altLang="zh-CN" sz="1400" dirty="0" err="1">
                <a:solidFill>
                  <a:srgbClr val="002060"/>
                </a:solidFill>
                <a:latin typeface="Times New Roman" panose="02020603050405020304" pitchFamily="18" charset="0"/>
                <a:cs typeface="Times New Roman" panose="02020603050405020304" pitchFamily="18" charset="0"/>
              </a:rPr>
              <a:t>y_train</a:t>
            </a:r>
            <a:r>
              <a:rPr lang="en-US" altLang="zh-CN" sz="1400" dirty="0">
                <a:solidFill>
                  <a:srgbClr val="002060"/>
                </a:solidFill>
                <a:latin typeface="Times New Roman" panose="02020603050405020304" pitchFamily="18" charset="0"/>
                <a:cs typeface="Times New Roman" panose="02020603050405020304" pitchFamily="18" charset="0"/>
              </a:rPr>
              <a:t>).type(</a:t>
            </a:r>
            <a:r>
              <a:rPr lang="en-US" altLang="zh-CN" sz="1400" dirty="0" err="1">
                <a:solidFill>
                  <a:srgbClr val="002060"/>
                </a:solidFill>
                <a:latin typeface="Times New Roman" panose="02020603050405020304" pitchFamily="18" charset="0"/>
                <a:cs typeface="Times New Roman" panose="02020603050405020304" pitchFamily="18" charset="0"/>
              </a:rPr>
              <a:t>torch.LongTensor</a:t>
            </a:r>
            <a:r>
              <a:rPr lang="en-US" altLang="zh-CN" sz="1400" dirty="0">
                <a:solidFill>
                  <a:srgbClr val="002060"/>
                </a:solidFill>
                <a:latin typeface="Times New Roman" panose="02020603050405020304" pitchFamily="18" charset="0"/>
                <a:cs typeface="Times New Roman" panose="02020603050405020304" pitchFamily="18" charset="0"/>
              </a:rPr>
              <a:t>)</a:t>
            </a:r>
          </a:p>
          <a:p>
            <a:pPr marL="648000" indent="0">
              <a:lnSpc>
                <a:spcPct val="125000"/>
              </a:lnSpc>
              <a:spcBef>
                <a:spcPts val="0"/>
              </a:spcBef>
              <a:buNone/>
            </a:pPr>
            <a:r>
              <a:rPr lang="en-US" altLang="zh-CN" sz="1400" dirty="0" err="1">
                <a:solidFill>
                  <a:srgbClr val="002060"/>
                </a:solidFill>
                <a:latin typeface="Times New Roman" panose="02020603050405020304" pitchFamily="18" charset="0"/>
                <a:cs typeface="Times New Roman" panose="02020603050405020304" pitchFamily="18" charset="0"/>
              </a:rPr>
              <a:t>torch_X_test</a:t>
            </a:r>
            <a:r>
              <a:rPr lang="en-US" altLang="zh-CN" sz="1400" dirty="0">
                <a:solidFill>
                  <a:srgbClr val="002060"/>
                </a:solidFill>
                <a:latin typeface="Times New Roman" panose="02020603050405020304" pitchFamily="18" charset="0"/>
                <a:cs typeface="Times New Roman" panose="02020603050405020304" pitchFamily="18" charset="0"/>
              </a:rPr>
              <a:t> = </a:t>
            </a:r>
            <a:r>
              <a:rPr lang="en-US" altLang="zh-CN" sz="1400" dirty="0" err="1">
                <a:solidFill>
                  <a:srgbClr val="002060"/>
                </a:solidFill>
                <a:latin typeface="Times New Roman" panose="02020603050405020304" pitchFamily="18" charset="0"/>
                <a:cs typeface="Times New Roman" panose="02020603050405020304" pitchFamily="18" charset="0"/>
              </a:rPr>
              <a:t>torch.from_numpy</a:t>
            </a:r>
            <a:r>
              <a:rPr lang="en-US" altLang="zh-CN" sz="1400" dirty="0">
                <a:solidFill>
                  <a:srgbClr val="002060"/>
                </a:solidFill>
                <a:latin typeface="Times New Roman" panose="02020603050405020304" pitchFamily="18" charset="0"/>
                <a:cs typeface="Times New Roman" panose="02020603050405020304" pitchFamily="18" charset="0"/>
              </a:rPr>
              <a:t>(</a:t>
            </a:r>
            <a:r>
              <a:rPr lang="en-US" altLang="zh-CN" sz="1400" dirty="0" err="1">
                <a:solidFill>
                  <a:srgbClr val="002060"/>
                </a:solidFill>
                <a:latin typeface="Times New Roman" panose="02020603050405020304" pitchFamily="18" charset="0"/>
                <a:cs typeface="Times New Roman" panose="02020603050405020304" pitchFamily="18" charset="0"/>
              </a:rPr>
              <a:t>X_test</a:t>
            </a:r>
            <a:r>
              <a:rPr lang="en-US" altLang="zh-CN" sz="1400" dirty="0">
                <a:solidFill>
                  <a:srgbClr val="002060"/>
                </a:solidFill>
                <a:latin typeface="Times New Roman" panose="02020603050405020304" pitchFamily="18" charset="0"/>
                <a:cs typeface="Times New Roman" panose="02020603050405020304" pitchFamily="18" charset="0"/>
              </a:rPr>
              <a:t>).type(</a:t>
            </a:r>
            <a:r>
              <a:rPr lang="en-US" altLang="zh-CN" sz="1400" dirty="0" err="1">
                <a:solidFill>
                  <a:srgbClr val="002060"/>
                </a:solidFill>
                <a:latin typeface="Times New Roman" panose="02020603050405020304" pitchFamily="18" charset="0"/>
                <a:cs typeface="Times New Roman" panose="02020603050405020304" pitchFamily="18" charset="0"/>
              </a:rPr>
              <a:t>torch.LongTensor</a:t>
            </a:r>
            <a:r>
              <a:rPr lang="en-US" altLang="zh-CN" sz="1400" dirty="0">
                <a:solidFill>
                  <a:srgbClr val="002060"/>
                </a:solidFill>
                <a:latin typeface="Times New Roman" panose="02020603050405020304" pitchFamily="18" charset="0"/>
                <a:cs typeface="Times New Roman" panose="02020603050405020304" pitchFamily="18" charset="0"/>
              </a:rPr>
              <a:t>)</a:t>
            </a:r>
          </a:p>
          <a:p>
            <a:pPr marL="648000" indent="0">
              <a:lnSpc>
                <a:spcPct val="125000"/>
              </a:lnSpc>
              <a:spcBef>
                <a:spcPts val="0"/>
              </a:spcBef>
              <a:buNone/>
            </a:pPr>
            <a:r>
              <a:rPr lang="en-US" altLang="zh-CN" sz="1400" dirty="0" err="1">
                <a:solidFill>
                  <a:srgbClr val="002060"/>
                </a:solidFill>
                <a:latin typeface="Times New Roman" panose="02020603050405020304" pitchFamily="18" charset="0"/>
                <a:cs typeface="Times New Roman" panose="02020603050405020304" pitchFamily="18" charset="0"/>
              </a:rPr>
              <a:t>torch_y_test</a:t>
            </a:r>
            <a:r>
              <a:rPr lang="en-US" altLang="zh-CN" sz="1400" dirty="0">
                <a:solidFill>
                  <a:srgbClr val="002060"/>
                </a:solidFill>
                <a:latin typeface="Times New Roman" panose="02020603050405020304" pitchFamily="18" charset="0"/>
                <a:cs typeface="Times New Roman" panose="02020603050405020304" pitchFamily="18" charset="0"/>
              </a:rPr>
              <a:t> = </a:t>
            </a:r>
            <a:r>
              <a:rPr lang="en-US" altLang="zh-CN" sz="1400" dirty="0" err="1">
                <a:solidFill>
                  <a:srgbClr val="002060"/>
                </a:solidFill>
                <a:latin typeface="Times New Roman" panose="02020603050405020304" pitchFamily="18" charset="0"/>
                <a:cs typeface="Times New Roman" panose="02020603050405020304" pitchFamily="18" charset="0"/>
              </a:rPr>
              <a:t>torch.from_numpy</a:t>
            </a:r>
            <a:r>
              <a:rPr lang="en-US" altLang="zh-CN" sz="1400" dirty="0">
                <a:solidFill>
                  <a:srgbClr val="002060"/>
                </a:solidFill>
                <a:latin typeface="Times New Roman" panose="02020603050405020304" pitchFamily="18" charset="0"/>
                <a:cs typeface="Times New Roman" panose="02020603050405020304" pitchFamily="18" charset="0"/>
              </a:rPr>
              <a:t>(</a:t>
            </a:r>
            <a:r>
              <a:rPr lang="en-US" altLang="zh-CN" sz="1400" dirty="0" err="1">
                <a:solidFill>
                  <a:srgbClr val="002060"/>
                </a:solidFill>
                <a:latin typeface="Times New Roman" panose="02020603050405020304" pitchFamily="18" charset="0"/>
                <a:cs typeface="Times New Roman" panose="02020603050405020304" pitchFamily="18" charset="0"/>
              </a:rPr>
              <a:t>y_test</a:t>
            </a:r>
            <a:r>
              <a:rPr lang="en-US" altLang="zh-CN" sz="1400" dirty="0">
                <a:solidFill>
                  <a:srgbClr val="002060"/>
                </a:solidFill>
                <a:latin typeface="Times New Roman" panose="02020603050405020304" pitchFamily="18" charset="0"/>
                <a:cs typeface="Times New Roman" panose="02020603050405020304" pitchFamily="18" charset="0"/>
              </a:rPr>
              <a:t>).type(</a:t>
            </a:r>
            <a:r>
              <a:rPr lang="en-US" altLang="zh-CN" sz="1400" dirty="0" err="1">
                <a:solidFill>
                  <a:srgbClr val="002060"/>
                </a:solidFill>
                <a:latin typeface="Times New Roman" panose="02020603050405020304" pitchFamily="18" charset="0"/>
                <a:cs typeface="Times New Roman" panose="02020603050405020304" pitchFamily="18" charset="0"/>
              </a:rPr>
              <a:t>torch.LongTensor</a:t>
            </a:r>
            <a:r>
              <a:rPr lang="en-US" altLang="zh-CN" sz="14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a:xfrm>
            <a:off x="395536" y="195486"/>
            <a:ext cx="6048724" cy="577618"/>
          </a:xfrm>
        </p:spPr>
        <p:txBody>
          <a:bodyPr>
            <a:noAutofit/>
          </a:bodyPr>
          <a:lstStyle/>
          <a:p>
            <a:r>
              <a:rPr lang="zh-CN" altLang="en-US" sz="2400">
                <a:solidFill>
                  <a:srgbClr val="FFFFFF"/>
                </a:solidFill>
              </a:rPr>
              <a:t>六、人工神经网络</a:t>
            </a:r>
            <a:endParaRPr lang="zh-CN" altLang="en-US" sz="2400" dirty="0"/>
          </a:p>
        </p:txBody>
      </p:sp>
    </p:spTree>
    <p:extLst>
      <p:ext uri="{BB962C8B-B14F-4D97-AF65-F5344CB8AC3E}">
        <p14:creationId xmlns:p14="http://schemas.microsoft.com/office/powerpoint/2010/main" val="1417420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59" y="987574"/>
            <a:ext cx="8280921" cy="4155926"/>
          </a:xfrm>
        </p:spPr>
        <p:txBody>
          <a:bodyPr>
            <a:noAutofit/>
          </a:bodyPr>
          <a:lstStyle/>
          <a:p>
            <a:pPr marL="0" indent="0">
              <a:lnSpc>
                <a:spcPct val="1500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5</a:t>
            </a:r>
            <a:r>
              <a:rPr lang="zh-CN" altLang="zh-CN" sz="1800" dirty="0">
                <a:solidFill>
                  <a:srgbClr val="002060"/>
                </a:solidFill>
                <a:latin typeface="Times New Roman" panose="02020603050405020304" pitchFamily="18" charset="0"/>
                <a:cs typeface="Times New Roman" panose="02020603050405020304" pitchFamily="18" charset="0"/>
              </a:rPr>
              <a:t>．</a:t>
            </a:r>
            <a:r>
              <a:rPr lang="zh-CN" altLang="en-US" sz="1800" dirty="0">
                <a:solidFill>
                  <a:srgbClr val="002060"/>
                </a:solidFill>
                <a:latin typeface="Times New Roman" panose="02020603050405020304" pitchFamily="18" charset="0"/>
                <a:cs typeface="Times New Roman" panose="02020603050405020304" pitchFamily="18" charset="0"/>
              </a:rPr>
              <a:t>深度学习</a:t>
            </a:r>
            <a:endParaRPr lang="en-US" altLang="zh-CN" sz="1800" dirty="0">
              <a:solidFill>
                <a:srgbClr val="00206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 </a:t>
            </a:r>
            <a:r>
              <a:rPr lang="zh-CN" altLang="en-US" sz="1800" dirty="0">
                <a:solidFill>
                  <a:srgbClr val="002060"/>
                </a:solidFill>
                <a:latin typeface="Times New Roman" panose="02020603050405020304" pitchFamily="18" charset="0"/>
                <a:cs typeface="Times New Roman" panose="02020603050405020304" pitchFamily="18" charset="0"/>
              </a:rPr>
              <a:t>代码</a:t>
            </a:r>
            <a:endParaRPr lang="en-US" altLang="zh-CN" sz="1400" dirty="0">
              <a:solidFill>
                <a:srgbClr val="002060"/>
              </a:solidFill>
              <a:latin typeface="Times New Roman" panose="02020603050405020304" pitchFamily="18" charset="0"/>
              <a:cs typeface="Times New Roman" panose="02020603050405020304" pitchFamily="18" charset="0"/>
            </a:endParaRPr>
          </a:p>
          <a:p>
            <a:pPr marL="648000" indent="0">
              <a:lnSpc>
                <a:spcPct val="125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 </a:t>
            </a:r>
            <a:r>
              <a:rPr lang="zh-CN" altLang="en-US" sz="1400" dirty="0">
                <a:solidFill>
                  <a:srgbClr val="002060"/>
                </a:solidFill>
                <a:latin typeface="Times New Roman" panose="02020603050405020304" pitchFamily="18" charset="0"/>
                <a:cs typeface="Times New Roman" panose="02020603050405020304" pitchFamily="18" charset="0"/>
              </a:rPr>
              <a:t>将数据和目标张量“包装成</a:t>
            </a:r>
            <a:r>
              <a:rPr lang="en-US" altLang="zh-CN" sz="1400" dirty="0">
                <a:solidFill>
                  <a:srgbClr val="002060"/>
                </a:solidFill>
                <a:latin typeface="Times New Roman" panose="02020603050405020304" pitchFamily="18" charset="0"/>
                <a:cs typeface="Times New Roman" panose="02020603050405020304" pitchFamily="18" charset="0"/>
              </a:rPr>
              <a:t>Tensor</a:t>
            </a:r>
            <a:r>
              <a:rPr lang="zh-CN" altLang="en-US" sz="1400" dirty="0">
                <a:solidFill>
                  <a:srgbClr val="002060"/>
                </a:solidFill>
                <a:latin typeface="Times New Roman" panose="02020603050405020304" pitchFamily="18" charset="0"/>
                <a:cs typeface="Times New Roman" panose="02020603050405020304" pitchFamily="18" charset="0"/>
              </a:rPr>
              <a:t>数据集”</a:t>
            </a:r>
          </a:p>
          <a:p>
            <a:pPr marL="648000" indent="0">
              <a:lnSpc>
                <a:spcPct val="125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train = </a:t>
            </a:r>
            <a:r>
              <a:rPr lang="en-US" altLang="zh-CN" sz="1400" dirty="0" err="1">
                <a:solidFill>
                  <a:srgbClr val="002060"/>
                </a:solidFill>
                <a:latin typeface="Times New Roman" panose="02020603050405020304" pitchFamily="18" charset="0"/>
                <a:cs typeface="Times New Roman" panose="02020603050405020304" pitchFamily="18" charset="0"/>
              </a:rPr>
              <a:t>torch.utils.data.TensorDataset</a:t>
            </a:r>
            <a:r>
              <a:rPr lang="en-US" altLang="zh-CN" sz="1400" dirty="0">
                <a:solidFill>
                  <a:srgbClr val="002060"/>
                </a:solidFill>
                <a:latin typeface="Times New Roman" panose="02020603050405020304" pitchFamily="18" charset="0"/>
                <a:cs typeface="Times New Roman" panose="02020603050405020304" pitchFamily="18" charset="0"/>
              </a:rPr>
              <a:t>(</a:t>
            </a:r>
            <a:r>
              <a:rPr lang="en-US" altLang="zh-CN" sz="1400" dirty="0" err="1">
                <a:solidFill>
                  <a:srgbClr val="002060"/>
                </a:solidFill>
                <a:latin typeface="Times New Roman" panose="02020603050405020304" pitchFamily="18" charset="0"/>
                <a:cs typeface="Times New Roman" panose="02020603050405020304" pitchFamily="18" charset="0"/>
              </a:rPr>
              <a:t>torch_X_train,torch_y_train</a:t>
            </a:r>
            <a:r>
              <a:rPr lang="en-US" altLang="zh-CN" sz="1400" dirty="0">
                <a:solidFill>
                  <a:srgbClr val="002060"/>
                </a:solidFill>
                <a:latin typeface="Times New Roman" panose="02020603050405020304" pitchFamily="18" charset="0"/>
                <a:cs typeface="Times New Roman" panose="02020603050405020304" pitchFamily="18" charset="0"/>
              </a:rPr>
              <a:t>)</a:t>
            </a:r>
          </a:p>
          <a:p>
            <a:pPr marL="648000" indent="0">
              <a:lnSpc>
                <a:spcPct val="125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test = </a:t>
            </a:r>
            <a:r>
              <a:rPr lang="en-US" altLang="zh-CN" sz="1400" dirty="0" err="1">
                <a:solidFill>
                  <a:srgbClr val="002060"/>
                </a:solidFill>
                <a:latin typeface="Times New Roman" panose="02020603050405020304" pitchFamily="18" charset="0"/>
                <a:cs typeface="Times New Roman" panose="02020603050405020304" pitchFamily="18" charset="0"/>
              </a:rPr>
              <a:t>torch.utils.data.TensorDataset</a:t>
            </a:r>
            <a:r>
              <a:rPr lang="en-US" altLang="zh-CN" sz="1400" dirty="0">
                <a:solidFill>
                  <a:srgbClr val="002060"/>
                </a:solidFill>
                <a:latin typeface="Times New Roman" panose="02020603050405020304" pitchFamily="18" charset="0"/>
                <a:cs typeface="Times New Roman" panose="02020603050405020304" pitchFamily="18" charset="0"/>
              </a:rPr>
              <a:t>(</a:t>
            </a:r>
            <a:r>
              <a:rPr lang="en-US" altLang="zh-CN" sz="1400" dirty="0" err="1">
                <a:solidFill>
                  <a:srgbClr val="002060"/>
                </a:solidFill>
                <a:latin typeface="Times New Roman" panose="02020603050405020304" pitchFamily="18" charset="0"/>
                <a:cs typeface="Times New Roman" panose="02020603050405020304" pitchFamily="18" charset="0"/>
              </a:rPr>
              <a:t>torch_X_test,torch_y_test</a:t>
            </a:r>
            <a:r>
              <a:rPr lang="en-US" altLang="zh-CN" sz="1400" dirty="0">
                <a:solidFill>
                  <a:srgbClr val="002060"/>
                </a:solidFill>
                <a:latin typeface="Times New Roman" panose="02020603050405020304" pitchFamily="18" charset="0"/>
                <a:cs typeface="Times New Roman" panose="02020603050405020304" pitchFamily="18" charset="0"/>
              </a:rPr>
              <a:t>)</a:t>
            </a:r>
          </a:p>
          <a:p>
            <a:pPr marL="648000" indent="0">
              <a:lnSpc>
                <a:spcPct val="125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 </a:t>
            </a:r>
            <a:r>
              <a:rPr lang="zh-CN" altLang="en-US" sz="1400" dirty="0">
                <a:solidFill>
                  <a:srgbClr val="002060"/>
                </a:solidFill>
                <a:latin typeface="Times New Roman" panose="02020603050405020304" pitchFamily="18" charset="0"/>
                <a:cs typeface="Times New Roman" panose="02020603050405020304" pitchFamily="18" charset="0"/>
              </a:rPr>
              <a:t>数据加载器（</a:t>
            </a:r>
            <a:r>
              <a:rPr lang="en-US" altLang="zh-CN" sz="1400" dirty="0">
                <a:solidFill>
                  <a:srgbClr val="002060"/>
                </a:solidFill>
                <a:latin typeface="Times New Roman" panose="02020603050405020304" pitchFamily="18" charset="0"/>
                <a:cs typeface="Times New Roman" panose="02020603050405020304" pitchFamily="18" charset="0"/>
              </a:rPr>
              <a:t>data loader</a:t>
            </a:r>
            <a:r>
              <a:rPr lang="zh-CN" altLang="en-US" sz="1400" dirty="0">
                <a:solidFill>
                  <a:srgbClr val="002060"/>
                </a:solidFill>
                <a:latin typeface="Times New Roman" panose="02020603050405020304" pitchFamily="18" charset="0"/>
                <a:cs typeface="Times New Roman" panose="02020603050405020304" pitchFamily="18" charset="0"/>
              </a:rPr>
              <a:t>）</a:t>
            </a:r>
          </a:p>
          <a:p>
            <a:pPr marL="648000" indent="0">
              <a:lnSpc>
                <a:spcPct val="125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BATCH_SIZE = 32  # </a:t>
            </a:r>
            <a:r>
              <a:rPr lang="zh-CN" altLang="en-US" sz="1400" dirty="0">
                <a:solidFill>
                  <a:srgbClr val="002060"/>
                </a:solidFill>
                <a:latin typeface="Times New Roman" panose="02020603050405020304" pitchFamily="18" charset="0"/>
                <a:cs typeface="Times New Roman" panose="02020603050405020304" pitchFamily="18" charset="0"/>
              </a:rPr>
              <a:t>每批次数据量</a:t>
            </a:r>
          </a:p>
          <a:p>
            <a:pPr marL="648000" indent="0">
              <a:lnSpc>
                <a:spcPct val="125000"/>
              </a:lnSpc>
              <a:spcBef>
                <a:spcPts val="0"/>
              </a:spcBef>
              <a:buNone/>
            </a:pPr>
            <a:r>
              <a:rPr lang="en-US" altLang="zh-CN" sz="1400" dirty="0" err="1">
                <a:solidFill>
                  <a:srgbClr val="002060"/>
                </a:solidFill>
                <a:latin typeface="Times New Roman" panose="02020603050405020304" pitchFamily="18" charset="0"/>
                <a:cs typeface="Times New Roman" panose="02020603050405020304" pitchFamily="18" charset="0"/>
              </a:rPr>
              <a:t>train_loader</a:t>
            </a:r>
            <a:r>
              <a:rPr lang="en-US" altLang="zh-CN" sz="1400" dirty="0">
                <a:solidFill>
                  <a:srgbClr val="002060"/>
                </a:solidFill>
                <a:latin typeface="Times New Roman" panose="02020603050405020304" pitchFamily="18" charset="0"/>
                <a:cs typeface="Times New Roman" panose="02020603050405020304" pitchFamily="18" charset="0"/>
              </a:rPr>
              <a:t> = </a:t>
            </a:r>
            <a:r>
              <a:rPr lang="en-US" altLang="zh-CN" sz="1400" dirty="0" err="1">
                <a:solidFill>
                  <a:srgbClr val="002060"/>
                </a:solidFill>
                <a:latin typeface="Times New Roman" panose="02020603050405020304" pitchFamily="18" charset="0"/>
                <a:cs typeface="Times New Roman" panose="02020603050405020304" pitchFamily="18" charset="0"/>
              </a:rPr>
              <a:t>torch.utils.data.DataLoader</a:t>
            </a:r>
            <a:r>
              <a:rPr lang="en-US" altLang="zh-CN" sz="1400" dirty="0">
                <a:solidFill>
                  <a:srgbClr val="002060"/>
                </a:solidFill>
                <a:latin typeface="Times New Roman" panose="02020603050405020304" pitchFamily="18" charset="0"/>
                <a:cs typeface="Times New Roman" panose="02020603050405020304" pitchFamily="18" charset="0"/>
              </a:rPr>
              <a:t>(train, </a:t>
            </a:r>
            <a:r>
              <a:rPr lang="en-US" altLang="zh-CN" sz="1400" dirty="0" err="1">
                <a:solidFill>
                  <a:srgbClr val="002060"/>
                </a:solidFill>
                <a:latin typeface="Times New Roman" panose="02020603050405020304" pitchFamily="18" charset="0"/>
                <a:cs typeface="Times New Roman" panose="02020603050405020304" pitchFamily="18" charset="0"/>
              </a:rPr>
              <a:t>batch_size</a:t>
            </a:r>
            <a:r>
              <a:rPr lang="en-US" altLang="zh-CN" sz="1400" dirty="0">
                <a:solidFill>
                  <a:srgbClr val="002060"/>
                </a:solidFill>
                <a:latin typeface="Times New Roman" panose="02020603050405020304" pitchFamily="18" charset="0"/>
                <a:cs typeface="Times New Roman" panose="02020603050405020304" pitchFamily="18" charset="0"/>
              </a:rPr>
              <a:t> = BATCH_SIZE, shuffle = False)</a:t>
            </a:r>
          </a:p>
          <a:p>
            <a:pPr marL="648000" indent="0">
              <a:lnSpc>
                <a:spcPct val="125000"/>
              </a:lnSpc>
              <a:spcBef>
                <a:spcPts val="0"/>
              </a:spcBef>
              <a:buNone/>
            </a:pPr>
            <a:r>
              <a:rPr lang="en-US" altLang="zh-CN" sz="1400" dirty="0" err="1">
                <a:solidFill>
                  <a:srgbClr val="002060"/>
                </a:solidFill>
                <a:latin typeface="Times New Roman" panose="02020603050405020304" pitchFamily="18" charset="0"/>
                <a:cs typeface="Times New Roman" panose="02020603050405020304" pitchFamily="18" charset="0"/>
              </a:rPr>
              <a:t>test_loader</a:t>
            </a:r>
            <a:r>
              <a:rPr lang="en-US" altLang="zh-CN" sz="1400" dirty="0">
                <a:solidFill>
                  <a:srgbClr val="002060"/>
                </a:solidFill>
                <a:latin typeface="Times New Roman" panose="02020603050405020304" pitchFamily="18" charset="0"/>
                <a:cs typeface="Times New Roman" panose="02020603050405020304" pitchFamily="18" charset="0"/>
              </a:rPr>
              <a:t> = </a:t>
            </a:r>
            <a:r>
              <a:rPr lang="en-US" altLang="zh-CN" sz="1400" dirty="0" err="1">
                <a:solidFill>
                  <a:srgbClr val="002060"/>
                </a:solidFill>
                <a:latin typeface="Times New Roman" panose="02020603050405020304" pitchFamily="18" charset="0"/>
                <a:cs typeface="Times New Roman" panose="02020603050405020304" pitchFamily="18" charset="0"/>
              </a:rPr>
              <a:t>torch.utils.data.DataLoader</a:t>
            </a:r>
            <a:r>
              <a:rPr lang="en-US" altLang="zh-CN" sz="1400" dirty="0">
                <a:solidFill>
                  <a:srgbClr val="002060"/>
                </a:solidFill>
                <a:latin typeface="Times New Roman" panose="02020603050405020304" pitchFamily="18" charset="0"/>
                <a:cs typeface="Times New Roman" panose="02020603050405020304" pitchFamily="18" charset="0"/>
              </a:rPr>
              <a:t>(test, </a:t>
            </a:r>
            <a:r>
              <a:rPr lang="en-US" altLang="zh-CN" sz="1400" dirty="0" err="1">
                <a:solidFill>
                  <a:srgbClr val="002060"/>
                </a:solidFill>
                <a:latin typeface="Times New Roman" panose="02020603050405020304" pitchFamily="18" charset="0"/>
                <a:cs typeface="Times New Roman" panose="02020603050405020304" pitchFamily="18" charset="0"/>
              </a:rPr>
              <a:t>batch_size</a:t>
            </a:r>
            <a:r>
              <a:rPr lang="en-US" altLang="zh-CN" sz="1400" dirty="0">
                <a:solidFill>
                  <a:srgbClr val="002060"/>
                </a:solidFill>
                <a:latin typeface="Times New Roman" panose="02020603050405020304" pitchFamily="18" charset="0"/>
                <a:cs typeface="Times New Roman" panose="02020603050405020304" pitchFamily="18" charset="0"/>
              </a:rPr>
              <a:t> = BATCH_SIZE, shuffle = False)</a:t>
            </a:r>
          </a:p>
          <a:p>
            <a:pPr marL="648000" indent="0">
              <a:lnSpc>
                <a:spcPct val="125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#2. </a:t>
            </a:r>
            <a:r>
              <a:rPr lang="zh-CN" altLang="en-US" sz="1400" dirty="0">
                <a:solidFill>
                  <a:srgbClr val="002060"/>
                </a:solidFill>
                <a:latin typeface="Times New Roman" panose="02020603050405020304" pitchFamily="18" charset="0"/>
                <a:cs typeface="Times New Roman" panose="02020603050405020304" pitchFamily="18" charset="0"/>
              </a:rPr>
              <a:t>创建</a:t>
            </a:r>
            <a:r>
              <a:rPr lang="en-US" altLang="zh-CN" sz="1400" dirty="0">
                <a:solidFill>
                  <a:srgbClr val="002060"/>
                </a:solidFill>
                <a:latin typeface="Times New Roman" panose="02020603050405020304" pitchFamily="18" charset="0"/>
                <a:cs typeface="Times New Roman" panose="02020603050405020304" pitchFamily="18" charset="0"/>
              </a:rPr>
              <a:t>MLP</a:t>
            </a:r>
            <a:r>
              <a:rPr lang="zh-CN" altLang="en-US" sz="1400" dirty="0">
                <a:solidFill>
                  <a:srgbClr val="002060"/>
                </a:solidFill>
                <a:latin typeface="Times New Roman" panose="02020603050405020304" pitchFamily="18" charset="0"/>
                <a:cs typeface="Times New Roman" panose="02020603050405020304" pitchFamily="18" charset="0"/>
              </a:rPr>
              <a:t>模型</a:t>
            </a:r>
          </a:p>
          <a:p>
            <a:pPr marL="648000" indent="0">
              <a:lnSpc>
                <a:spcPct val="125000"/>
              </a:lnSpc>
              <a:spcBef>
                <a:spcPts val="0"/>
              </a:spcBef>
              <a:buNone/>
            </a:pPr>
            <a:r>
              <a:rPr lang="en-US" altLang="zh-CN" sz="1400" dirty="0" err="1">
                <a:solidFill>
                  <a:srgbClr val="002060"/>
                </a:solidFill>
                <a:latin typeface="Times New Roman" panose="02020603050405020304" pitchFamily="18" charset="0"/>
                <a:cs typeface="Times New Roman" panose="02020603050405020304" pitchFamily="18" charset="0"/>
              </a:rPr>
              <a:t>mlp</a:t>
            </a:r>
            <a:r>
              <a:rPr lang="en-US" altLang="zh-CN" sz="1400" dirty="0">
                <a:solidFill>
                  <a:srgbClr val="002060"/>
                </a:solidFill>
                <a:latin typeface="Times New Roman" panose="02020603050405020304" pitchFamily="18" charset="0"/>
                <a:cs typeface="Times New Roman" panose="02020603050405020304" pitchFamily="18" charset="0"/>
              </a:rPr>
              <a:t> = MLP()</a:t>
            </a:r>
          </a:p>
          <a:p>
            <a:pPr marL="648000" indent="0">
              <a:lnSpc>
                <a:spcPct val="125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print(</a:t>
            </a:r>
            <a:r>
              <a:rPr lang="en-US" altLang="zh-CN" sz="1400" dirty="0" err="1">
                <a:solidFill>
                  <a:srgbClr val="002060"/>
                </a:solidFill>
                <a:latin typeface="Times New Roman" panose="02020603050405020304" pitchFamily="18" charset="0"/>
                <a:cs typeface="Times New Roman" panose="02020603050405020304" pitchFamily="18" charset="0"/>
              </a:rPr>
              <a:t>mlp</a:t>
            </a:r>
            <a:r>
              <a:rPr lang="en-US" altLang="zh-CN" sz="1400" dirty="0">
                <a:solidFill>
                  <a:srgbClr val="002060"/>
                </a:solidFill>
                <a:latin typeface="Times New Roman" panose="02020603050405020304" pitchFamily="18" charset="0"/>
                <a:cs typeface="Times New Roman" panose="02020603050405020304" pitchFamily="18" charset="0"/>
              </a:rPr>
              <a:t>)</a:t>
            </a:r>
          </a:p>
          <a:p>
            <a:pPr marL="648000" indent="0">
              <a:lnSpc>
                <a:spcPct val="125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#3.MLP</a:t>
            </a:r>
            <a:r>
              <a:rPr lang="zh-CN" altLang="en-US" sz="1400" dirty="0">
                <a:solidFill>
                  <a:srgbClr val="002060"/>
                </a:solidFill>
                <a:latin typeface="Times New Roman" panose="02020603050405020304" pitchFamily="18" charset="0"/>
                <a:cs typeface="Times New Roman" panose="02020603050405020304" pitchFamily="18" charset="0"/>
              </a:rPr>
              <a:t>训练</a:t>
            </a:r>
          </a:p>
          <a:p>
            <a:pPr marL="648000" indent="0">
              <a:lnSpc>
                <a:spcPct val="125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fit(</a:t>
            </a:r>
            <a:r>
              <a:rPr lang="en-US" altLang="zh-CN" sz="1400" dirty="0" err="1">
                <a:solidFill>
                  <a:srgbClr val="002060"/>
                </a:solidFill>
                <a:latin typeface="Times New Roman" panose="02020603050405020304" pitchFamily="18" charset="0"/>
                <a:cs typeface="Times New Roman" panose="02020603050405020304" pitchFamily="18" charset="0"/>
              </a:rPr>
              <a:t>mlp,train_loader,BATCH_SIZE</a:t>
            </a:r>
            <a:r>
              <a:rPr lang="en-US" altLang="zh-CN" sz="14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a:xfrm>
            <a:off x="395536" y="195486"/>
            <a:ext cx="6048724" cy="577618"/>
          </a:xfrm>
        </p:spPr>
        <p:txBody>
          <a:bodyPr>
            <a:noAutofit/>
          </a:bodyPr>
          <a:lstStyle/>
          <a:p>
            <a:r>
              <a:rPr lang="zh-CN" altLang="en-US" sz="2400">
                <a:solidFill>
                  <a:srgbClr val="FFFFFF"/>
                </a:solidFill>
              </a:rPr>
              <a:t>六、人工神经网络</a:t>
            </a:r>
            <a:endParaRPr lang="zh-CN" altLang="en-US" sz="2400" dirty="0"/>
          </a:p>
        </p:txBody>
      </p:sp>
    </p:spTree>
    <p:extLst>
      <p:ext uri="{BB962C8B-B14F-4D97-AF65-F5344CB8AC3E}">
        <p14:creationId xmlns:p14="http://schemas.microsoft.com/office/powerpoint/2010/main" val="2022564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59" y="987574"/>
            <a:ext cx="8532441" cy="4156874"/>
          </a:xfrm>
        </p:spPr>
        <p:txBody>
          <a:bodyPr>
            <a:noAutofit/>
          </a:bodyPr>
          <a:lstStyle/>
          <a:p>
            <a:pPr marL="0" indent="0">
              <a:lnSpc>
                <a:spcPct val="1500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5</a:t>
            </a:r>
            <a:r>
              <a:rPr lang="zh-CN" altLang="zh-CN" sz="1800" dirty="0">
                <a:solidFill>
                  <a:srgbClr val="002060"/>
                </a:solidFill>
                <a:latin typeface="Times New Roman" panose="02020603050405020304" pitchFamily="18" charset="0"/>
                <a:cs typeface="Times New Roman" panose="02020603050405020304" pitchFamily="18" charset="0"/>
              </a:rPr>
              <a:t>．</a:t>
            </a:r>
            <a:r>
              <a:rPr lang="zh-CN" altLang="en-US" sz="1800" dirty="0">
                <a:solidFill>
                  <a:srgbClr val="002060"/>
                </a:solidFill>
                <a:latin typeface="Times New Roman" panose="02020603050405020304" pitchFamily="18" charset="0"/>
                <a:cs typeface="Times New Roman" panose="02020603050405020304" pitchFamily="18" charset="0"/>
              </a:rPr>
              <a:t>深度学习</a:t>
            </a:r>
            <a:endParaRPr lang="en-US" altLang="zh-CN" sz="1800" dirty="0">
              <a:solidFill>
                <a:srgbClr val="00206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 </a:t>
            </a:r>
            <a:r>
              <a:rPr lang="zh-CN" altLang="en-US" sz="1800" dirty="0">
                <a:solidFill>
                  <a:srgbClr val="002060"/>
                </a:solidFill>
                <a:latin typeface="Times New Roman" panose="02020603050405020304" pitchFamily="18" charset="0"/>
                <a:cs typeface="Times New Roman" panose="02020603050405020304" pitchFamily="18" charset="0"/>
              </a:rPr>
              <a:t>代码</a:t>
            </a:r>
            <a:endParaRPr lang="en-US" altLang="zh-CN" sz="1400" dirty="0">
              <a:solidFill>
                <a:srgbClr val="002060"/>
              </a:solidFill>
              <a:latin typeface="Times New Roman" panose="02020603050405020304" pitchFamily="18" charset="0"/>
              <a:cs typeface="Times New Roman" panose="02020603050405020304" pitchFamily="18" charset="0"/>
            </a:endParaRPr>
          </a:p>
          <a:p>
            <a:pPr marL="648000" indent="0">
              <a:lnSpc>
                <a:spcPct val="125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#4.MLP </a:t>
            </a:r>
            <a:r>
              <a:rPr lang="zh-CN" altLang="en-US" sz="1400" dirty="0">
                <a:solidFill>
                  <a:srgbClr val="002060"/>
                </a:solidFill>
                <a:latin typeface="Times New Roman" panose="02020603050405020304" pitchFamily="18" charset="0"/>
                <a:cs typeface="Times New Roman" panose="02020603050405020304" pitchFamily="18" charset="0"/>
              </a:rPr>
              <a:t>测试</a:t>
            </a:r>
          </a:p>
          <a:p>
            <a:pPr marL="648000" indent="0">
              <a:lnSpc>
                <a:spcPct val="125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evaluate(</a:t>
            </a:r>
            <a:r>
              <a:rPr lang="en-US" altLang="zh-CN" sz="1400" dirty="0" err="1">
                <a:solidFill>
                  <a:srgbClr val="002060"/>
                </a:solidFill>
                <a:latin typeface="Times New Roman" panose="02020603050405020304" pitchFamily="18" charset="0"/>
                <a:cs typeface="Times New Roman" panose="02020603050405020304" pitchFamily="18" charset="0"/>
              </a:rPr>
              <a:t>mlp,test_loader,BATCH_SIZE</a:t>
            </a:r>
            <a:r>
              <a:rPr lang="en-US" altLang="zh-CN" sz="1400" dirty="0">
                <a:solidFill>
                  <a:srgbClr val="002060"/>
                </a:solidFill>
                <a:latin typeface="Times New Roman" panose="02020603050405020304" pitchFamily="18" charset="0"/>
                <a:cs typeface="Times New Roman" panose="02020603050405020304" pitchFamily="18" charset="0"/>
              </a:rPr>
              <a:t>)</a:t>
            </a:r>
          </a:p>
          <a:p>
            <a:pPr marL="648000" indent="0">
              <a:lnSpc>
                <a:spcPct val="125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a:t>
            </a:r>
            <a:r>
              <a:rPr lang="zh-CN" altLang="en-US" sz="1400" dirty="0">
                <a:solidFill>
                  <a:srgbClr val="002060"/>
                </a:solidFill>
                <a:latin typeface="Times New Roman" panose="02020603050405020304" pitchFamily="18" charset="0"/>
                <a:cs typeface="Times New Roman" panose="02020603050405020304" pitchFamily="18" charset="0"/>
              </a:rPr>
              <a:t>画出数字图像</a:t>
            </a:r>
          </a:p>
          <a:p>
            <a:pPr marL="648000" indent="0">
              <a:lnSpc>
                <a:spcPct val="125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import </a:t>
            </a:r>
            <a:r>
              <a:rPr lang="en-US" altLang="zh-CN" sz="1400" dirty="0" err="1">
                <a:solidFill>
                  <a:srgbClr val="002060"/>
                </a:solidFill>
                <a:latin typeface="Times New Roman" panose="02020603050405020304" pitchFamily="18" charset="0"/>
                <a:cs typeface="Times New Roman" panose="02020603050405020304" pitchFamily="18" charset="0"/>
              </a:rPr>
              <a:t>matplotlib.pyplot</a:t>
            </a:r>
            <a:r>
              <a:rPr lang="en-US" altLang="zh-CN" sz="1400" dirty="0">
                <a:solidFill>
                  <a:srgbClr val="002060"/>
                </a:solidFill>
                <a:latin typeface="Times New Roman" panose="02020603050405020304" pitchFamily="18" charset="0"/>
                <a:cs typeface="Times New Roman" panose="02020603050405020304" pitchFamily="18" charset="0"/>
              </a:rPr>
              <a:t> as </a:t>
            </a:r>
            <a:r>
              <a:rPr lang="en-US" altLang="zh-CN" sz="1400" dirty="0" err="1">
                <a:solidFill>
                  <a:srgbClr val="002060"/>
                </a:solidFill>
                <a:latin typeface="Times New Roman" panose="02020603050405020304" pitchFamily="18" charset="0"/>
                <a:cs typeface="Times New Roman" panose="02020603050405020304" pitchFamily="18" charset="0"/>
              </a:rPr>
              <a:t>plt</a:t>
            </a:r>
            <a:endParaRPr lang="en-US" altLang="zh-CN" sz="1400" dirty="0">
              <a:solidFill>
                <a:srgbClr val="002060"/>
              </a:solidFill>
              <a:latin typeface="Times New Roman" panose="02020603050405020304" pitchFamily="18" charset="0"/>
              <a:cs typeface="Times New Roman" panose="02020603050405020304" pitchFamily="18" charset="0"/>
            </a:endParaRPr>
          </a:p>
          <a:p>
            <a:pPr marL="648000" indent="0">
              <a:lnSpc>
                <a:spcPct val="125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def </a:t>
            </a:r>
            <a:r>
              <a:rPr lang="en-US" altLang="zh-CN" sz="1400" dirty="0" err="1">
                <a:solidFill>
                  <a:srgbClr val="002060"/>
                </a:solidFill>
                <a:latin typeface="Times New Roman" panose="02020603050405020304" pitchFamily="18" charset="0"/>
                <a:cs typeface="Times New Roman" panose="02020603050405020304" pitchFamily="18" charset="0"/>
              </a:rPr>
              <a:t>plot_image</a:t>
            </a:r>
            <a:r>
              <a:rPr lang="en-US" altLang="zh-CN" sz="1400" dirty="0">
                <a:solidFill>
                  <a:srgbClr val="002060"/>
                </a:solidFill>
                <a:latin typeface="Times New Roman" panose="02020603050405020304" pitchFamily="18" charset="0"/>
                <a:cs typeface="Times New Roman" panose="02020603050405020304" pitchFamily="18" charset="0"/>
              </a:rPr>
              <a:t>(</a:t>
            </a:r>
            <a:r>
              <a:rPr lang="en-US" altLang="zh-CN" sz="1400" dirty="0" err="1">
                <a:solidFill>
                  <a:srgbClr val="002060"/>
                </a:solidFill>
                <a:latin typeface="Times New Roman" panose="02020603050405020304" pitchFamily="18" charset="0"/>
                <a:cs typeface="Times New Roman" panose="02020603050405020304" pitchFamily="18" charset="0"/>
              </a:rPr>
              <a:t>data_df</a:t>
            </a:r>
            <a:r>
              <a:rPr lang="en-US" altLang="zh-CN" sz="1400" dirty="0">
                <a:solidFill>
                  <a:srgbClr val="002060"/>
                </a:solidFill>
                <a:latin typeface="Times New Roman" panose="02020603050405020304" pitchFamily="18" charset="0"/>
                <a:cs typeface="Times New Roman" panose="02020603050405020304" pitchFamily="18" charset="0"/>
              </a:rPr>
              <a:t>, index):</a:t>
            </a:r>
          </a:p>
          <a:p>
            <a:pPr marL="648000" indent="0">
              <a:lnSpc>
                <a:spcPct val="125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    </a:t>
            </a:r>
            <a:r>
              <a:rPr lang="en-US" altLang="zh-CN" sz="1400" dirty="0" err="1">
                <a:solidFill>
                  <a:srgbClr val="002060"/>
                </a:solidFill>
                <a:latin typeface="Times New Roman" panose="02020603050405020304" pitchFamily="18" charset="0"/>
                <a:cs typeface="Times New Roman" panose="02020603050405020304" pitchFamily="18" charset="0"/>
              </a:rPr>
              <a:t>img</a:t>
            </a:r>
            <a:r>
              <a:rPr lang="en-US" altLang="zh-CN" sz="1400" dirty="0">
                <a:solidFill>
                  <a:srgbClr val="002060"/>
                </a:solidFill>
                <a:latin typeface="Times New Roman" panose="02020603050405020304" pitchFamily="18" charset="0"/>
                <a:cs typeface="Times New Roman" panose="02020603050405020304" pitchFamily="18" charset="0"/>
              </a:rPr>
              <a:t> = </a:t>
            </a:r>
            <a:r>
              <a:rPr lang="en-US" altLang="zh-CN" sz="1400" dirty="0" err="1">
                <a:solidFill>
                  <a:srgbClr val="002060"/>
                </a:solidFill>
                <a:latin typeface="Times New Roman" panose="02020603050405020304" pitchFamily="18" charset="0"/>
                <a:cs typeface="Times New Roman" panose="02020603050405020304" pitchFamily="18" charset="0"/>
              </a:rPr>
              <a:t>data_df.iloc</a:t>
            </a:r>
            <a:r>
              <a:rPr lang="en-US" altLang="zh-CN" sz="1400" dirty="0">
                <a:solidFill>
                  <a:srgbClr val="002060"/>
                </a:solidFill>
                <a:latin typeface="Times New Roman" panose="02020603050405020304" pitchFamily="18" charset="0"/>
                <a:cs typeface="Times New Roman" panose="02020603050405020304" pitchFamily="18" charset="0"/>
              </a:rPr>
              <a:t>[index,1:].</a:t>
            </a:r>
            <a:r>
              <a:rPr lang="en-US" altLang="zh-CN" sz="1400" dirty="0" err="1">
                <a:solidFill>
                  <a:srgbClr val="002060"/>
                </a:solidFill>
                <a:latin typeface="Times New Roman" panose="02020603050405020304" pitchFamily="18" charset="0"/>
                <a:cs typeface="Times New Roman" panose="02020603050405020304" pitchFamily="18" charset="0"/>
              </a:rPr>
              <a:t>values.reshape</a:t>
            </a:r>
            <a:r>
              <a:rPr lang="en-US" altLang="zh-CN" sz="1400" dirty="0">
                <a:solidFill>
                  <a:srgbClr val="002060"/>
                </a:solidFill>
                <a:latin typeface="Times New Roman" panose="02020603050405020304" pitchFamily="18" charset="0"/>
                <a:cs typeface="Times New Roman" panose="02020603050405020304" pitchFamily="18" charset="0"/>
              </a:rPr>
              <a:t>(28,28)</a:t>
            </a:r>
          </a:p>
          <a:p>
            <a:pPr marL="648000" indent="0">
              <a:lnSpc>
                <a:spcPct val="125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    </a:t>
            </a:r>
            <a:r>
              <a:rPr lang="en-US" altLang="zh-CN" sz="1400" dirty="0" err="1">
                <a:solidFill>
                  <a:srgbClr val="002060"/>
                </a:solidFill>
                <a:latin typeface="Times New Roman" panose="02020603050405020304" pitchFamily="18" charset="0"/>
                <a:cs typeface="Times New Roman" panose="02020603050405020304" pitchFamily="18" charset="0"/>
              </a:rPr>
              <a:t>plt.title</a:t>
            </a:r>
            <a:r>
              <a:rPr lang="en-US" altLang="zh-CN" sz="1400" dirty="0">
                <a:solidFill>
                  <a:srgbClr val="002060"/>
                </a:solidFill>
                <a:latin typeface="Times New Roman" panose="02020603050405020304" pitchFamily="18" charset="0"/>
                <a:cs typeface="Times New Roman" panose="02020603050405020304" pitchFamily="18" charset="0"/>
              </a:rPr>
              <a:t>("label = " + str(</a:t>
            </a:r>
            <a:r>
              <a:rPr lang="en-US" altLang="zh-CN" sz="1400" dirty="0" err="1">
                <a:solidFill>
                  <a:srgbClr val="002060"/>
                </a:solidFill>
                <a:latin typeface="Times New Roman" panose="02020603050405020304" pitchFamily="18" charset="0"/>
                <a:cs typeface="Times New Roman" panose="02020603050405020304" pitchFamily="18" charset="0"/>
              </a:rPr>
              <a:t>data_df.iloc</a:t>
            </a:r>
            <a:r>
              <a:rPr lang="en-US" altLang="zh-CN" sz="1400" dirty="0">
                <a:solidFill>
                  <a:srgbClr val="002060"/>
                </a:solidFill>
                <a:latin typeface="Times New Roman" panose="02020603050405020304" pitchFamily="18" charset="0"/>
                <a:cs typeface="Times New Roman" panose="02020603050405020304" pitchFamily="18" charset="0"/>
              </a:rPr>
              <a:t>[index,0]))</a:t>
            </a:r>
          </a:p>
          <a:p>
            <a:pPr marL="648000" indent="0">
              <a:lnSpc>
                <a:spcPct val="125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    </a:t>
            </a:r>
            <a:r>
              <a:rPr lang="en-US" altLang="zh-CN" sz="1400" dirty="0" err="1">
                <a:solidFill>
                  <a:srgbClr val="002060"/>
                </a:solidFill>
                <a:latin typeface="Times New Roman" panose="02020603050405020304" pitchFamily="18" charset="0"/>
                <a:cs typeface="Times New Roman" panose="02020603050405020304" pitchFamily="18" charset="0"/>
              </a:rPr>
              <a:t>plt.imshow</a:t>
            </a:r>
            <a:r>
              <a:rPr lang="en-US" altLang="zh-CN" sz="1400" dirty="0">
                <a:solidFill>
                  <a:srgbClr val="002060"/>
                </a:solidFill>
                <a:latin typeface="Times New Roman" panose="02020603050405020304" pitchFamily="18" charset="0"/>
                <a:cs typeface="Times New Roman" panose="02020603050405020304" pitchFamily="18" charset="0"/>
              </a:rPr>
              <a:t>(</a:t>
            </a:r>
            <a:r>
              <a:rPr lang="en-US" altLang="zh-CN" sz="1400" dirty="0" err="1">
                <a:solidFill>
                  <a:srgbClr val="002060"/>
                </a:solidFill>
                <a:latin typeface="Times New Roman" panose="02020603050405020304" pitchFamily="18" charset="0"/>
                <a:cs typeface="Times New Roman" panose="02020603050405020304" pitchFamily="18" charset="0"/>
              </a:rPr>
              <a:t>img</a:t>
            </a:r>
            <a:r>
              <a:rPr lang="en-US" altLang="zh-CN" sz="1400" dirty="0">
                <a:solidFill>
                  <a:srgbClr val="002060"/>
                </a:solidFill>
                <a:latin typeface="Times New Roman" panose="02020603050405020304" pitchFamily="18" charset="0"/>
                <a:cs typeface="Times New Roman" panose="02020603050405020304" pitchFamily="18" charset="0"/>
              </a:rPr>
              <a:t>, interpolation='none', </a:t>
            </a:r>
            <a:r>
              <a:rPr lang="en-US" altLang="zh-CN" sz="1400" dirty="0" err="1">
                <a:solidFill>
                  <a:srgbClr val="002060"/>
                </a:solidFill>
                <a:latin typeface="Times New Roman" panose="02020603050405020304" pitchFamily="18" charset="0"/>
                <a:cs typeface="Times New Roman" panose="02020603050405020304" pitchFamily="18" charset="0"/>
              </a:rPr>
              <a:t>cmap</a:t>
            </a:r>
            <a:r>
              <a:rPr lang="en-US" altLang="zh-CN" sz="1400" dirty="0">
                <a:solidFill>
                  <a:srgbClr val="002060"/>
                </a:solidFill>
                <a:latin typeface="Times New Roman" panose="02020603050405020304" pitchFamily="18" charset="0"/>
                <a:cs typeface="Times New Roman" panose="02020603050405020304" pitchFamily="18" charset="0"/>
              </a:rPr>
              <a:t>='gray')</a:t>
            </a:r>
          </a:p>
          <a:p>
            <a:pPr marL="648000" indent="0">
              <a:lnSpc>
                <a:spcPct val="125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    pass</a:t>
            </a:r>
          </a:p>
          <a:p>
            <a:pPr marL="648000" indent="0">
              <a:lnSpc>
                <a:spcPct val="125000"/>
              </a:lnSpc>
              <a:spcBef>
                <a:spcPts val="0"/>
              </a:spcBef>
              <a:buNone/>
            </a:pPr>
            <a:r>
              <a:rPr lang="en-US" altLang="zh-CN" sz="1400" dirty="0">
                <a:solidFill>
                  <a:srgbClr val="002060"/>
                </a:solidFill>
                <a:latin typeface="Times New Roman" panose="02020603050405020304" pitchFamily="18" charset="0"/>
                <a:cs typeface="Times New Roman" panose="02020603050405020304" pitchFamily="18" charset="0"/>
              </a:rPr>
              <a:t>record = 19			# </a:t>
            </a:r>
            <a:r>
              <a:rPr lang="zh-CN" altLang="en-US" sz="1400" dirty="0">
                <a:solidFill>
                  <a:srgbClr val="002060"/>
                </a:solidFill>
                <a:latin typeface="Times New Roman" panose="02020603050405020304" pitchFamily="18" charset="0"/>
                <a:cs typeface="Times New Roman" panose="02020603050405020304" pitchFamily="18" charset="0"/>
              </a:rPr>
              <a:t>挑选一张图像</a:t>
            </a:r>
            <a:endParaRPr lang="en-US" altLang="zh-CN" sz="1400" dirty="0">
              <a:solidFill>
                <a:srgbClr val="002060"/>
              </a:solidFill>
              <a:latin typeface="Times New Roman" panose="02020603050405020304" pitchFamily="18" charset="0"/>
              <a:cs typeface="Times New Roman" panose="02020603050405020304" pitchFamily="18" charset="0"/>
            </a:endParaRPr>
          </a:p>
          <a:p>
            <a:pPr marL="648000" indent="0">
              <a:lnSpc>
                <a:spcPct val="125000"/>
              </a:lnSpc>
              <a:spcBef>
                <a:spcPts val="0"/>
              </a:spcBef>
              <a:buNone/>
            </a:pPr>
            <a:r>
              <a:rPr lang="en-US" altLang="zh-CN" sz="1400" dirty="0" err="1">
                <a:solidFill>
                  <a:srgbClr val="002060"/>
                </a:solidFill>
                <a:latin typeface="Times New Roman" panose="02020603050405020304" pitchFamily="18" charset="0"/>
                <a:cs typeface="Times New Roman" panose="02020603050405020304" pitchFamily="18" charset="0"/>
              </a:rPr>
              <a:t>plot_image</a:t>
            </a:r>
            <a:r>
              <a:rPr lang="en-US" altLang="zh-CN" sz="1400" dirty="0">
                <a:solidFill>
                  <a:srgbClr val="002060"/>
                </a:solidFill>
                <a:latin typeface="Times New Roman" panose="02020603050405020304" pitchFamily="18" charset="0"/>
                <a:cs typeface="Times New Roman" panose="02020603050405020304" pitchFamily="18" charset="0"/>
              </a:rPr>
              <a:t>(</a:t>
            </a:r>
            <a:r>
              <a:rPr lang="en-US" altLang="zh-CN" sz="1400" dirty="0" err="1">
                <a:solidFill>
                  <a:srgbClr val="002060"/>
                </a:solidFill>
                <a:latin typeface="Times New Roman" panose="02020603050405020304" pitchFamily="18" charset="0"/>
                <a:cs typeface="Times New Roman" panose="02020603050405020304" pitchFamily="18" charset="0"/>
              </a:rPr>
              <a:t>df_test,record</a:t>
            </a:r>
            <a:r>
              <a:rPr lang="en-US" altLang="zh-CN" sz="1400" dirty="0">
                <a:solidFill>
                  <a:srgbClr val="002060"/>
                </a:solidFill>
                <a:latin typeface="Times New Roman" panose="02020603050405020304" pitchFamily="18" charset="0"/>
                <a:cs typeface="Times New Roman" panose="02020603050405020304" pitchFamily="18" charset="0"/>
              </a:rPr>
              <a:t>)		# </a:t>
            </a:r>
            <a:r>
              <a:rPr lang="zh-CN" altLang="en-US" sz="1400" dirty="0">
                <a:solidFill>
                  <a:srgbClr val="002060"/>
                </a:solidFill>
                <a:latin typeface="Times New Roman" panose="02020603050405020304" pitchFamily="18" charset="0"/>
                <a:cs typeface="Times New Roman" panose="02020603050405020304" pitchFamily="18" charset="0"/>
              </a:rPr>
              <a:t>绘制图像的标签</a:t>
            </a:r>
          </a:p>
          <a:p>
            <a:pPr marL="648000" indent="0">
              <a:lnSpc>
                <a:spcPct val="125000"/>
              </a:lnSpc>
              <a:spcBef>
                <a:spcPts val="0"/>
              </a:spcBef>
              <a:buNone/>
            </a:pPr>
            <a:endParaRPr lang="zh-CN" altLang="zh-CN" sz="1800" dirty="0">
              <a:solidFill>
                <a:srgbClr val="002060"/>
              </a:solidFill>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a:xfrm>
            <a:off x="395536" y="195486"/>
            <a:ext cx="6048724" cy="577618"/>
          </a:xfrm>
        </p:spPr>
        <p:txBody>
          <a:bodyPr>
            <a:noAutofit/>
          </a:bodyPr>
          <a:lstStyle/>
          <a:p>
            <a:r>
              <a:rPr lang="zh-CN" altLang="en-US" sz="2400">
                <a:solidFill>
                  <a:srgbClr val="FFFFFF"/>
                </a:solidFill>
              </a:rPr>
              <a:t>六、人工神经网络</a:t>
            </a:r>
            <a:endParaRPr lang="zh-CN" altLang="en-US" sz="2400" dirty="0"/>
          </a:p>
        </p:txBody>
      </p:sp>
    </p:spTree>
    <p:extLst>
      <p:ext uri="{BB962C8B-B14F-4D97-AF65-F5344CB8AC3E}">
        <p14:creationId xmlns:p14="http://schemas.microsoft.com/office/powerpoint/2010/main" val="3568751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r>
              <a:rPr lang="zh-CN" altLang="en-US" sz="2400">
                <a:solidFill>
                  <a:srgbClr val="FFFFFF"/>
                </a:solidFill>
                <a:latin typeface="Times New Roman" panose="02020603050405020304" pitchFamily="18" charset="0"/>
                <a:cs typeface="Times New Roman" panose="02020603050405020304" pitchFamily="18" charset="0"/>
              </a:rPr>
              <a:t>扩展学习一：</a:t>
            </a:r>
            <a:r>
              <a:rPr lang="en-US" altLang="zh-CN" sz="2400">
                <a:solidFill>
                  <a:srgbClr val="FFFFFF"/>
                </a:solidFill>
                <a:latin typeface="Times New Roman" panose="02020603050405020304" pitchFamily="18" charset="0"/>
                <a:cs typeface="Times New Roman" panose="02020603050405020304" pitchFamily="18" charset="0"/>
              </a:rPr>
              <a:t>Excel</a:t>
            </a:r>
            <a:r>
              <a:rPr lang="zh-CN" altLang="en-US" sz="2400">
                <a:solidFill>
                  <a:srgbClr val="FFFFFF"/>
                </a:solidFill>
              </a:rPr>
              <a:t>实现线性回归</a:t>
            </a:r>
            <a:endParaRPr lang="zh-CN" altLang="en-US" sz="2400" dirty="0"/>
          </a:p>
        </p:txBody>
      </p:sp>
      <p:sp>
        <p:nvSpPr>
          <p:cNvPr id="3" name="内容占位符 2"/>
          <p:cNvSpPr>
            <a:spLocks noGrp="1"/>
          </p:cNvSpPr>
          <p:nvPr>
            <p:ph idx="1"/>
          </p:nvPr>
        </p:nvSpPr>
        <p:spPr>
          <a:xfrm>
            <a:off x="611559" y="986626"/>
            <a:ext cx="8532441" cy="2593236"/>
          </a:xfrm>
        </p:spPr>
        <p:txBody>
          <a:bodyPr>
            <a:noAutofit/>
          </a:bodyPr>
          <a:lstStyle/>
          <a:p>
            <a:pPr marL="0" indent="0">
              <a:lnSpc>
                <a:spcPct val="150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      </a:t>
            </a:r>
            <a:r>
              <a:rPr lang="zh-CN" altLang="en-US" sz="1800">
                <a:solidFill>
                  <a:srgbClr val="000066"/>
                </a:solidFill>
                <a:latin typeface="Times New Roman" panose="02020603050405020304" pitchFamily="18" charset="0"/>
                <a:cs typeface="Times New Roman" panose="02020603050405020304" pitchFamily="18" charset="0"/>
              </a:rPr>
              <a:t>例：</a:t>
            </a:r>
            <a:r>
              <a:rPr lang="zh-CN" altLang="en-US" sz="1800" dirty="0">
                <a:solidFill>
                  <a:srgbClr val="000066"/>
                </a:solidFill>
                <a:latin typeface="Times New Roman" panose="02020603050405020304" pitchFamily="18" charset="0"/>
                <a:cs typeface="Times New Roman" panose="02020603050405020304" pitchFamily="18" charset="0"/>
              </a:rPr>
              <a:t>测量了</a:t>
            </a:r>
            <a:r>
              <a:rPr lang="en-US" altLang="zh-CN" sz="1800" dirty="0">
                <a:solidFill>
                  <a:srgbClr val="000066"/>
                </a:solidFill>
                <a:latin typeface="Times New Roman" panose="02020603050405020304" pitchFamily="18" charset="0"/>
                <a:cs typeface="Times New Roman" panose="02020603050405020304" pitchFamily="18" charset="0"/>
              </a:rPr>
              <a:t>12</a:t>
            </a:r>
            <a:r>
              <a:rPr lang="zh-CN" altLang="en-US" sz="1800" dirty="0">
                <a:solidFill>
                  <a:srgbClr val="000066"/>
                </a:solidFill>
                <a:latin typeface="Times New Roman" panose="02020603050405020304" pitchFamily="18" charset="0"/>
                <a:cs typeface="Times New Roman" panose="02020603050405020304" pitchFamily="18" charset="0"/>
              </a:rPr>
              <a:t>名大学</a:t>
            </a:r>
            <a:r>
              <a:rPr lang="zh-CN" altLang="en-US" sz="1800">
                <a:solidFill>
                  <a:srgbClr val="000066"/>
                </a:solidFill>
                <a:latin typeface="Times New Roman" panose="02020603050405020304" pitchFamily="18" charset="0"/>
                <a:cs typeface="Times New Roman" panose="02020603050405020304" pitchFamily="18" charset="0"/>
              </a:rPr>
              <a:t>生身高</a:t>
            </a:r>
            <a:r>
              <a:rPr lang="en-US" altLang="zh-CN" sz="1800">
                <a:solidFill>
                  <a:srgbClr val="000066"/>
                </a:solidFill>
                <a:latin typeface="Times New Roman" panose="02020603050405020304" pitchFamily="18" charset="0"/>
                <a:cs typeface="Times New Roman" panose="02020603050405020304" pitchFamily="18" charset="0"/>
              </a:rPr>
              <a:t>(x)</a:t>
            </a:r>
            <a:r>
              <a:rPr lang="zh-CN" altLang="en-US" sz="1800">
                <a:solidFill>
                  <a:srgbClr val="000066"/>
                </a:solidFill>
                <a:latin typeface="Times New Roman" panose="02020603050405020304" pitchFamily="18" charset="0"/>
                <a:cs typeface="Times New Roman" panose="02020603050405020304" pitchFamily="18" charset="0"/>
              </a:rPr>
              <a:t>与腿长</a:t>
            </a:r>
            <a:r>
              <a:rPr lang="en-US" altLang="zh-CN" sz="1800">
                <a:solidFill>
                  <a:srgbClr val="000066"/>
                </a:solidFill>
                <a:latin typeface="Times New Roman" panose="02020603050405020304" pitchFamily="18" charset="0"/>
                <a:cs typeface="Times New Roman" panose="02020603050405020304" pitchFamily="18" charset="0"/>
              </a:rPr>
              <a:t>(y)</a:t>
            </a:r>
            <a:r>
              <a:rPr lang="zh-CN" altLang="en-US" sz="1800">
                <a:solidFill>
                  <a:srgbClr val="000066"/>
                </a:solidFill>
                <a:latin typeface="Times New Roman" panose="02020603050405020304" pitchFamily="18" charset="0"/>
                <a:cs typeface="Times New Roman" panose="02020603050405020304" pitchFamily="18" charset="0"/>
              </a:rPr>
              <a:t>的</a:t>
            </a:r>
            <a:r>
              <a:rPr lang="zh-CN" altLang="en-US" sz="1800" dirty="0">
                <a:solidFill>
                  <a:srgbClr val="000066"/>
                </a:solidFill>
                <a:latin typeface="Times New Roman" panose="02020603050405020304" pitchFamily="18" charset="0"/>
                <a:cs typeface="Times New Roman" panose="02020603050405020304" pitchFamily="18" charset="0"/>
              </a:rPr>
              <a:t>数据，建立腿长</a:t>
            </a:r>
            <a:r>
              <a:rPr lang="en-US" altLang="zh-CN" sz="1800" dirty="0">
                <a:solidFill>
                  <a:srgbClr val="000066"/>
                </a:solidFill>
                <a:latin typeface="Times New Roman" panose="02020603050405020304" pitchFamily="18" charset="0"/>
                <a:cs typeface="Times New Roman" panose="02020603050405020304" pitchFamily="18" charset="0"/>
              </a:rPr>
              <a:t>y</a:t>
            </a:r>
            <a:r>
              <a:rPr lang="zh-CN" altLang="en-US" sz="1800" dirty="0">
                <a:solidFill>
                  <a:srgbClr val="000066"/>
                </a:solidFill>
                <a:latin typeface="Times New Roman" panose="02020603050405020304" pitchFamily="18" charset="0"/>
                <a:cs typeface="Times New Roman" panose="02020603050405020304" pitchFamily="18" charset="0"/>
              </a:rPr>
              <a:t>与身高</a:t>
            </a:r>
            <a:r>
              <a:rPr lang="en-US" altLang="zh-CN" sz="1800" dirty="0">
                <a:solidFill>
                  <a:srgbClr val="000066"/>
                </a:solidFill>
                <a:latin typeface="Times New Roman" panose="02020603050405020304" pitchFamily="18" charset="0"/>
                <a:cs typeface="Times New Roman" panose="02020603050405020304" pitchFamily="18" charset="0"/>
              </a:rPr>
              <a:t>x</a:t>
            </a:r>
            <a:r>
              <a:rPr lang="zh-CN" altLang="en-US" sz="1800" dirty="0">
                <a:solidFill>
                  <a:srgbClr val="000066"/>
                </a:solidFill>
                <a:latin typeface="Times New Roman" panose="02020603050405020304" pitchFamily="18" charset="0"/>
                <a:cs typeface="Times New Roman" panose="02020603050405020304" pitchFamily="18" charset="0"/>
              </a:rPr>
              <a:t>的线性关系</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                                                   </a:t>
            </a:r>
            <a:r>
              <a:rPr lang="en-US" altLang="zh-CN" sz="1800" dirty="0">
                <a:solidFill>
                  <a:srgbClr val="C00000"/>
                </a:solidFill>
                <a:latin typeface="Times New Roman" panose="02020603050405020304" pitchFamily="18" charset="0"/>
                <a:cs typeface="Times New Roman" panose="02020603050405020304" pitchFamily="18" charset="0"/>
              </a:rPr>
              <a:t>y=</a:t>
            </a:r>
            <a:r>
              <a:rPr lang="en-US" altLang="zh-CN" sz="1800" dirty="0" err="1">
                <a:solidFill>
                  <a:srgbClr val="C00000"/>
                </a:solidFill>
                <a:latin typeface="Times New Roman" panose="02020603050405020304" pitchFamily="18" charset="0"/>
                <a:cs typeface="Times New Roman" panose="02020603050405020304" pitchFamily="18" charset="0"/>
              </a:rPr>
              <a:t>a</a:t>
            </a:r>
            <a:r>
              <a:rPr lang="en-US" altLang="zh-CN" sz="1800" baseline="-25000" dirty="0" err="1">
                <a:solidFill>
                  <a:srgbClr val="C00000"/>
                </a:solidFill>
                <a:latin typeface="Times New Roman" panose="02020603050405020304" pitchFamily="18" charset="0"/>
                <a:cs typeface="Times New Roman" panose="02020603050405020304" pitchFamily="18" charset="0"/>
              </a:rPr>
              <a:t>0</a:t>
            </a:r>
            <a:r>
              <a:rPr lang="en-US" altLang="zh-CN" sz="1800" dirty="0" err="1">
                <a:solidFill>
                  <a:srgbClr val="C00000"/>
                </a:solidFill>
                <a:latin typeface="Times New Roman" panose="02020603050405020304" pitchFamily="18" charset="0"/>
                <a:cs typeface="Times New Roman" panose="02020603050405020304" pitchFamily="18" charset="0"/>
              </a:rPr>
              <a:t>+a</a:t>
            </a:r>
            <a:r>
              <a:rPr lang="en-US" altLang="zh-CN" sz="1800" baseline="-25000" dirty="0" err="1">
                <a:solidFill>
                  <a:srgbClr val="C00000"/>
                </a:solidFill>
                <a:latin typeface="Times New Roman" panose="02020603050405020304" pitchFamily="18" charset="0"/>
                <a:cs typeface="Times New Roman" panose="02020603050405020304" pitchFamily="18" charset="0"/>
              </a:rPr>
              <a:t>1</a:t>
            </a:r>
            <a:r>
              <a:rPr lang="en-US" altLang="zh-CN" sz="1800" dirty="0" err="1">
                <a:solidFill>
                  <a:srgbClr val="C00000"/>
                </a:solidFill>
                <a:latin typeface="Times New Roman" panose="02020603050405020304" pitchFamily="18" charset="0"/>
                <a:cs typeface="Times New Roman" panose="02020603050405020304" pitchFamily="18" charset="0"/>
              </a:rPr>
              <a:t>x</a:t>
            </a:r>
            <a:endParaRPr lang="en-US" altLang="zh-CN" sz="1800" dirty="0">
              <a:solidFill>
                <a:srgbClr val="C0000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endParaRPr lang="en-US" altLang="zh-CN" sz="1800" dirty="0">
              <a:solidFill>
                <a:srgbClr val="C0000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endParaRPr lang="en-US" altLang="zh-CN" sz="1800" dirty="0">
              <a:solidFill>
                <a:srgbClr val="C0000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solidFill>
                  <a:srgbClr val="C00000"/>
                </a:solidFill>
                <a:latin typeface="Times New Roman" panose="02020603050405020304" pitchFamily="18" charset="0"/>
                <a:cs typeface="Times New Roman" panose="02020603050405020304" pitchFamily="18" charset="0"/>
              </a:rPr>
              <a:t>       </a:t>
            </a:r>
          </a:p>
          <a:p>
            <a:pPr marL="0" indent="0">
              <a:lnSpc>
                <a:spcPct val="150000"/>
              </a:lnSpc>
              <a:spcBef>
                <a:spcPts val="0"/>
              </a:spcBef>
              <a:buNone/>
            </a:pPr>
            <a:r>
              <a:rPr lang="en-US" altLang="zh-CN" sz="1800">
                <a:solidFill>
                  <a:srgbClr val="C00000"/>
                </a:solidFill>
                <a:latin typeface="Times New Roman" panose="02020603050405020304" pitchFamily="18" charset="0"/>
                <a:cs typeface="Times New Roman" panose="02020603050405020304" pitchFamily="18" charset="0"/>
              </a:rPr>
              <a:t>       </a:t>
            </a:r>
            <a:r>
              <a:rPr lang="zh-CN" altLang="en-US" sz="1800">
                <a:solidFill>
                  <a:srgbClr val="C00000"/>
                </a:solidFill>
                <a:latin typeface="Times New Roman" panose="02020603050405020304" pitchFamily="18" charset="0"/>
                <a:cs typeface="Times New Roman" panose="02020603050405020304" pitchFamily="18" charset="0"/>
              </a:rPr>
              <a:t>问题</a:t>
            </a:r>
            <a:r>
              <a:rPr lang="zh-CN" altLang="en-US" sz="1800" dirty="0">
                <a:solidFill>
                  <a:srgbClr val="C00000"/>
                </a:solidFill>
                <a:latin typeface="Times New Roman" panose="02020603050405020304" pitchFamily="18" charset="0"/>
                <a:cs typeface="Times New Roman" panose="02020603050405020304" pitchFamily="18" charset="0"/>
              </a:rPr>
              <a:t>：</a:t>
            </a:r>
            <a:r>
              <a:rPr lang="en-US" altLang="zh-CN" sz="1800" dirty="0">
                <a:solidFill>
                  <a:srgbClr val="C00000"/>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建模：</a:t>
            </a:r>
            <a:r>
              <a:rPr lang="en-US" altLang="zh-CN" sz="1800" dirty="0">
                <a:solidFill>
                  <a:srgbClr val="000066"/>
                </a:solidFill>
                <a:latin typeface="Times New Roman" panose="02020603050405020304" pitchFamily="18" charset="0"/>
                <a:cs typeface="Times New Roman" panose="02020603050405020304" pitchFamily="18" charset="0"/>
              </a:rPr>
              <a:t>y=</a:t>
            </a:r>
            <a:r>
              <a:rPr lang="en-US" altLang="zh-CN" sz="1800" dirty="0" err="1">
                <a:solidFill>
                  <a:srgbClr val="000066"/>
                </a:solidFill>
                <a:latin typeface="Times New Roman" panose="02020603050405020304" pitchFamily="18" charset="0"/>
                <a:cs typeface="Times New Roman" panose="02020603050405020304" pitchFamily="18" charset="0"/>
              </a:rPr>
              <a:t>a</a:t>
            </a:r>
            <a:r>
              <a:rPr lang="en-US" altLang="zh-CN" sz="1800" baseline="-25000" dirty="0" err="1">
                <a:solidFill>
                  <a:srgbClr val="000066"/>
                </a:solidFill>
                <a:latin typeface="Times New Roman" panose="02020603050405020304" pitchFamily="18" charset="0"/>
                <a:cs typeface="Times New Roman" panose="02020603050405020304" pitchFamily="18" charset="0"/>
              </a:rPr>
              <a:t>0</a:t>
            </a:r>
            <a:r>
              <a:rPr lang="en-US" altLang="zh-CN" sz="1800" dirty="0" err="1">
                <a:solidFill>
                  <a:srgbClr val="000066"/>
                </a:solidFill>
                <a:latin typeface="Times New Roman" panose="02020603050405020304" pitchFamily="18" charset="0"/>
                <a:cs typeface="Times New Roman" panose="02020603050405020304" pitchFamily="18" charset="0"/>
              </a:rPr>
              <a:t>+a</a:t>
            </a:r>
            <a:r>
              <a:rPr lang="en-US" altLang="zh-CN" sz="1800" baseline="-25000" dirty="0" err="1">
                <a:solidFill>
                  <a:srgbClr val="000066"/>
                </a:solidFill>
                <a:latin typeface="Times New Roman" panose="02020603050405020304" pitchFamily="18" charset="0"/>
                <a:cs typeface="Times New Roman" panose="02020603050405020304" pitchFamily="18" charset="0"/>
              </a:rPr>
              <a:t>1</a:t>
            </a:r>
            <a:r>
              <a:rPr lang="en-US" altLang="zh-CN" sz="1800" dirty="0" err="1">
                <a:solidFill>
                  <a:srgbClr val="000066"/>
                </a:solidFill>
                <a:latin typeface="Times New Roman" panose="02020603050405020304" pitchFamily="18" charset="0"/>
                <a:cs typeface="Times New Roman" panose="02020603050405020304" pitchFamily="18" charset="0"/>
              </a:rPr>
              <a:t>x</a:t>
            </a:r>
            <a:r>
              <a:rPr lang="en-US" altLang="zh-CN" sz="1800" dirty="0">
                <a:solidFill>
                  <a:srgbClr val="000066"/>
                </a:solidFill>
                <a:latin typeface="Times New Roman" panose="02020603050405020304" pitchFamily="18" charset="0"/>
                <a:cs typeface="Times New Roman" panose="02020603050405020304" pitchFamily="18" charset="0"/>
              </a:rPr>
              <a:t> 		</a:t>
            </a:r>
          </a:p>
          <a:p>
            <a:pPr marL="0" indent="0">
              <a:lnSpc>
                <a:spcPct val="150000"/>
              </a:lnSpc>
              <a:spcBef>
                <a:spcPts val="0"/>
              </a:spcBef>
              <a:buClr>
                <a:srgbClr val="BF311A"/>
              </a:buClr>
              <a:buNone/>
            </a:pPr>
            <a:r>
              <a:rPr lang="zh-CN" altLang="en-US" sz="1800" dirty="0">
                <a:solidFill>
                  <a:srgbClr val="000066"/>
                </a:solidFill>
                <a:latin typeface="Times New Roman" panose="02020603050405020304" pitchFamily="18" charset="0"/>
                <a:cs typeface="Times New Roman" panose="02020603050405020304" pitchFamily="18" charset="0"/>
              </a:rPr>
              <a:t>                   </a:t>
            </a:r>
            <a:r>
              <a:rPr lang="en-US" altLang="zh-CN" sz="1800" dirty="0">
                <a:solidFill>
                  <a:srgbClr val="C00000"/>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预测：给定身高，估计腿长</a:t>
            </a:r>
            <a:endParaRPr lang="zh-CN" altLang="zh-CN" sz="1800" dirty="0">
              <a:solidFill>
                <a:srgbClr val="C00000"/>
              </a:solidFill>
            </a:endParaRPr>
          </a:p>
        </p:txBody>
      </p:sp>
      <p:graphicFrame>
        <p:nvGraphicFramePr>
          <p:cNvPr id="4" name="表格 3">
            <a:extLst>
              <a:ext uri="{FF2B5EF4-FFF2-40B4-BE49-F238E27FC236}">
                <a16:creationId xmlns:a16="http://schemas.microsoft.com/office/drawing/2014/main" id="{C794CF85-7842-44DF-8428-825929D21B00}"/>
              </a:ext>
            </a:extLst>
          </p:cNvPr>
          <p:cNvGraphicFramePr>
            <a:graphicFrameLocks noGrp="1"/>
          </p:cNvGraphicFramePr>
          <p:nvPr/>
        </p:nvGraphicFramePr>
        <p:xfrm>
          <a:off x="1547664" y="1995686"/>
          <a:ext cx="7272810" cy="864096"/>
        </p:xfrm>
        <a:graphic>
          <a:graphicData uri="http://schemas.openxmlformats.org/drawingml/2006/table">
            <a:tbl>
              <a:tblPr firstRow="1" firstCol="1" bandRow="1">
                <a:tableStyleId>{5C22544A-7EE6-4342-B048-85BDC9FD1C3A}</a:tableStyleId>
              </a:tblPr>
              <a:tblGrid>
                <a:gridCol w="648072">
                  <a:extLst>
                    <a:ext uri="{9D8B030D-6E8A-4147-A177-3AD203B41FA5}">
                      <a16:colId xmlns:a16="http://schemas.microsoft.com/office/drawing/2014/main" val="1428706462"/>
                    </a:ext>
                  </a:extLst>
                </a:gridCol>
                <a:gridCol w="576064">
                  <a:extLst>
                    <a:ext uri="{9D8B030D-6E8A-4147-A177-3AD203B41FA5}">
                      <a16:colId xmlns:a16="http://schemas.microsoft.com/office/drawing/2014/main" val="1164716010"/>
                    </a:ext>
                  </a:extLst>
                </a:gridCol>
                <a:gridCol w="504056">
                  <a:extLst>
                    <a:ext uri="{9D8B030D-6E8A-4147-A177-3AD203B41FA5}">
                      <a16:colId xmlns:a16="http://schemas.microsoft.com/office/drawing/2014/main" val="1265982323"/>
                    </a:ext>
                  </a:extLst>
                </a:gridCol>
                <a:gridCol w="504056">
                  <a:extLst>
                    <a:ext uri="{9D8B030D-6E8A-4147-A177-3AD203B41FA5}">
                      <a16:colId xmlns:a16="http://schemas.microsoft.com/office/drawing/2014/main" val="773014963"/>
                    </a:ext>
                  </a:extLst>
                </a:gridCol>
                <a:gridCol w="563742">
                  <a:extLst>
                    <a:ext uri="{9D8B030D-6E8A-4147-A177-3AD203B41FA5}">
                      <a16:colId xmlns:a16="http://schemas.microsoft.com/office/drawing/2014/main" val="1094779745"/>
                    </a:ext>
                  </a:extLst>
                </a:gridCol>
                <a:gridCol w="559198">
                  <a:extLst>
                    <a:ext uri="{9D8B030D-6E8A-4147-A177-3AD203B41FA5}">
                      <a16:colId xmlns:a16="http://schemas.microsoft.com/office/drawing/2014/main" val="742089028"/>
                    </a:ext>
                  </a:extLst>
                </a:gridCol>
                <a:gridCol w="559198">
                  <a:extLst>
                    <a:ext uri="{9D8B030D-6E8A-4147-A177-3AD203B41FA5}">
                      <a16:colId xmlns:a16="http://schemas.microsoft.com/office/drawing/2014/main" val="3686457019"/>
                    </a:ext>
                  </a:extLst>
                </a:gridCol>
                <a:gridCol w="559198">
                  <a:extLst>
                    <a:ext uri="{9D8B030D-6E8A-4147-A177-3AD203B41FA5}">
                      <a16:colId xmlns:a16="http://schemas.microsoft.com/office/drawing/2014/main" val="913870794"/>
                    </a:ext>
                  </a:extLst>
                </a:gridCol>
                <a:gridCol w="559198">
                  <a:extLst>
                    <a:ext uri="{9D8B030D-6E8A-4147-A177-3AD203B41FA5}">
                      <a16:colId xmlns:a16="http://schemas.microsoft.com/office/drawing/2014/main" val="2114175208"/>
                    </a:ext>
                  </a:extLst>
                </a:gridCol>
                <a:gridCol w="560007">
                  <a:extLst>
                    <a:ext uri="{9D8B030D-6E8A-4147-A177-3AD203B41FA5}">
                      <a16:colId xmlns:a16="http://schemas.microsoft.com/office/drawing/2014/main" val="125939626"/>
                    </a:ext>
                  </a:extLst>
                </a:gridCol>
                <a:gridCol w="560007">
                  <a:extLst>
                    <a:ext uri="{9D8B030D-6E8A-4147-A177-3AD203B41FA5}">
                      <a16:colId xmlns:a16="http://schemas.microsoft.com/office/drawing/2014/main" val="1360152767"/>
                    </a:ext>
                  </a:extLst>
                </a:gridCol>
                <a:gridCol w="560007">
                  <a:extLst>
                    <a:ext uri="{9D8B030D-6E8A-4147-A177-3AD203B41FA5}">
                      <a16:colId xmlns:a16="http://schemas.microsoft.com/office/drawing/2014/main" val="3064440416"/>
                    </a:ext>
                  </a:extLst>
                </a:gridCol>
                <a:gridCol w="560007">
                  <a:extLst>
                    <a:ext uri="{9D8B030D-6E8A-4147-A177-3AD203B41FA5}">
                      <a16:colId xmlns:a16="http://schemas.microsoft.com/office/drawing/2014/main" val="2869216142"/>
                    </a:ext>
                  </a:extLst>
                </a:gridCol>
              </a:tblGrid>
              <a:tr h="432048">
                <a:tc>
                  <a:txBody>
                    <a:bodyPr/>
                    <a:lstStyle/>
                    <a:p>
                      <a:pPr algn="ctr">
                        <a:spcAft>
                          <a:spcPts val="0"/>
                        </a:spcAft>
                      </a:pPr>
                      <a:r>
                        <a:rPr lang="zh-CN" altLang="en-US"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身高</a:t>
                      </a:r>
                      <a:r>
                        <a:rPr lang="en-US" alt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x</a:t>
                      </a:r>
                      <a:endPar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cs typeface="Times New Roman" panose="02020603050405020304" pitchFamily="18" charset="0"/>
                        </a:rPr>
                        <a:t>150</a:t>
                      </a:r>
                      <a:endParaRPr lang="zh-CN" sz="1600" b="0" kern="100">
                        <a:solidFill>
                          <a:srgbClr val="000066"/>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cs typeface="Times New Roman" panose="02020603050405020304" pitchFamily="18" charset="0"/>
                        </a:rPr>
                        <a:t>153</a:t>
                      </a:r>
                      <a:endParaRPr lang="zh-CN" sz="1600" b="0" kern="100">
                        <a:solidFill>
                          <a:srgbClr val="000066"/>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cs typeface="Times New Roman" panose="02020603050405020304" pitchFamily="18" charset="0"/>
                        </a:rPr>
                        <a:t>154</a:t>
                      </a:r>
                      <a:endParaRPr lang="zh-CN" sz="1600" b="0" kern="100">
                        <a:solidFill>
                          <a:srgbClr val="000066"/>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cs typeface="Times New Roman" panose="02020603050405020304" pitchFamily="18" charset="0"/>
                        </a:rPr>
                        <a:t>155</a:t>
                      </a:r>
                      <a:endParaRPr lang="zh-CN" sz="1600" b="0" kern="100">
                        <a:solidFill>
                          <a:srgbClr val="000066"/>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cs typeface="Times New Roman" panose="02020603050405020304" pitchFamily="18" charset="0"/>
                        </a:rPr>
                        <a:t>156</a:t>
                      </a:r>
                      <a:endParaRPr lang="zh-CN" sz="1600" b="0" kern="100">
                        <a:solidFill>
                          <a:srgbClr val="000066"/>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cs typeface="Times New Roman" panose="02020603050405020304" pitchFamily="18" charset="0"/>
                        </a:rPr>
                        <a:t>157</a:t>
                      </a:r>
                      <a:endParaRPr lang="zh-CN" sz="1600" b="0" kern="100">
                        <a:solidFill>
                          <a:srgbClr val="000066"/>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cs typeface="Times New Roman" panose="02020603050405020304" pitchFamily="18" charset="0"/>
                        </a:rPr>
                        <a:t>158</a:t>
                      </a:r>
                      <a:endParaRPr lang="zh-CN" sz="1600" b="0" kern="100">
                        <a:solidFill>
                          <a:srgbClr val="000066"/>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cs typeface="Times New Roman" panose="02020603050405020304" pitchFamily="18" charset="0"/>
                        </a:rPr>
                        <a:t>159</a:t>
                      </a:r>
                      <a:endParaRPr lang="zh-CN" sz="1600" b="0" kern="100">
                        <a:solidFill>
                          <a:srgbClr val="000066"/>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cs typeface="Times New Roman" panose="02020603050405020304" pitchFamily="18" charset="0"/>
                        </a:rPr>
                        <a:t>160</a:t>
                      </a:r>
                      <a:endParaRPr lang="zh-CN" sz="1600" b="0" kern="100">
                        <a:solidFill>
                          <a:srgbClr val="000066"/>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cs typeface="Times New Roman" panose="02020603050405020304" pitchFamily="18" charset="0"/>
                        </a:rPr>
                        <a:t>162</a:t>
                      </a:r>
                      <a:endParaRPr lang="zh-CN" sz="1600" b="0" kern="100">
                        <a:solidFill>
                          <a:srgbClr val="000066"/>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cs typeface="Times New Roman" panose="02020603050405020304" pitchFamily="18" charset="0"/>
                        </a:rPr>
                        <a:t>164</a:t>
                      </a:r>
                      <a:endParaRPr lang="zh-CN" sz="1600" b="0" kern="100">
                        <a:solidFill>
                          <a:srgbClr val="000066"/>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cs typeface="Times New Roman" panose="02020603050405020304" pitchFamily="18" charset="0"/>
                        </a:rPr>
                        <a:t>166</a:t>
                      </a:r>
                      <a:endParaRPr lang="zh-CN" sz="1600" b="0" kern="100">
                        <a:solidFill>
                          <a:srgbClr val="000066"/>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29100761"/>
                  </a:ext>
                </a:extLst>
              </a:tr>
              <a:tr h="432048">
                <a:tc>
                  <a:txBody>
                    <a:bodyPr/>
                    <a:lstStyle/>
                    <a:p>
                      <a:pPr algn="ctr">
                        <a:spcAft>
                          <a:spcPts val="0"/>
                        </a:spcAft>
                      </a:pPr>
                      <a:r>
                        <a:rPr lang="zh-CN" altLang="en-US"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腿长</a:t>
                      </a:r>
                      <a:r>
                        <a:rPr lang="en-US" alt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y</a:t>
                      </a:r>
                      <a:endPar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cs typeface="Times New Roman" panose="02020603050405020304" pitchFamily="18" charset="0"/>
                        </a:rPr>
                        <a:t>93</a:t>
                      </a:r>
                      <a:endParaRPr lang="zh-CN" sz="1600" b="0" kern="100">
                        <a:solidFill>
                          <a:srgbClr val="000066"/>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cs typeface="Times New Roman" panose="02020603050405020304" pitchFamily="18" charset="0"/>
                        </a:rPr>
                        <a:t>93</a:t>
                      </a:r>
                      <a:endParaRPr lang="zh-CN" sz="1600" b="0" kern="100">
                        <a:solidFill>
                          <a:srgbClr val="000066"/>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cs typeface="Times New Roman" panose="02020603050405020304" pitchFamily="18" charset="0"/>
                        </a:rPr>
                        <a:t>95</a:t>
                      </a:r>
                      <a:endParaRPr lang="zh-CN" sz="1600" b="0" kern="100">
                        <a:solidFill>
                          <a:srgbClr val="000066"/>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cs typeface="Times New Roman" panose="02020603050405020304" pitchFamily="18" charset="0"/>
                        </a:rPr>
                        <a:t>96</a:t>
                      </a:r>
                      <a:endParaRPr lang="zh-CN" sz="1600" b="0" kern="100">
                        <a:solidFill>
                          <a:srgbClr val="000066"/>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cs typeface="Times New Roman" panose="02020603050405020304" pitchFamily="18" charset="0"/>
                        </a:rPr>
                        <a:t>98</a:t>
                      </a:r>
                      <a:endParaRPr lang="zh-CN" sz="1600" b="0" kern="100">
                        <a:solidFill>
                          <a:srgbClr val="000066"/>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cs typeface="Times New Roman" panose="02020603050405020304" pitchFamily="18" charset="0"/>
                        </a:rPr>
                        <a:t>97</a:t>
                      </a:r>
                      <a:endParaRPr lang="zh-CN" sz="1600" b="0" kern="100">
                        <a:solidFill>
                          <a:srgbClr val="000066"/>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cs typeface="Times New Roman" panose="02020603050405020304" pitchFamily="18" charset="0"/>
                        </a:rPr>
                        <a:t>96</a:t>
                      </a:r>
                      <a:endParaRPr lang="zh-CN" sz="1600" b="0" kern="100">
                        <a:solidFill>
                          <a:srgbClr val="000066"/>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cs typeface="Times New Roman" panose="02020603050405020304" pitchFamily="18" charset="0"/>
                        </a:rPr>
                        <a:t>98</a:t>
                      </a:r>
                      <a:endParaRPr lang="zh-CN" sz="1600" b="0" kern="100">
                        <a:solidFill>
                          <a:srgbClr val="000066"/>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cs typeface="Times New Roman" panose="02020603050405020304" pitchFamily="18" charset="0"/>
                        </a:rPr>
                        <a:t>99</a:t>
                      </a:r>
                      <a:endParaRPr lang="zh-CN" sz="1600" b="0" kern="100">
                        <a:solidFill>
                          <a:srgbClr val="000066"/>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cs typeface="Times New Roman" panose="02020603050405020304" pitchFamily="18" charset="0"/>
                        </a:rPr>
                        <a:t>100</a:t>
                      </a:r>
                      <a:endParaRPr lang="zh-CN" sz="1600" b="0" kern="100">
                        <a:solidFill>
                          <a:srgbClr val="000066"/>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cs typeface="Times New Roman" panose="02020603050405020304" pitchFamily="18" charset="0"/>
                        </a:rPr>
                        <a:t>102</a:t>
                      </a:r>
                      <a:endParaRPr lang="zh-CN" sz="1600" b="0" kern="100">
                        <a:solidFill>
                          <a:srgbClr val="000066"/>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cs typeface="Times New Roman" panose="02020603050405020304" pitchFamily="18" charset="0"/>
                        </a:rPr>
                        <a:t>104</a:t>
                      </a:r>
                      <a:endParaRPr lang="zh-CN" sz="1600" b="0" kern="100">
                        <a:solidFill>
                          <a:srgbClr val="000066"/>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38410309"/>
                  </a:ext>
                </a:extLst>
              </a:tr>
            </a:tbl>
          </a:graphicData>
        </a:graphic>
      </p:graphicFrame>
    </p:spTree>
    <p:extLst>
      <p:ext uri="{BB962C8B-B14F-4D97-AF65-F5344CB8AC3E}">
        <p14:creationId xmlns:p14="http://schemas.microsoft.com/office/powerpoint/2010/main" val="2717392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r>
              <a:rPr lang="zh-CN" altLang="en-US" sz="2400">
                <a:solidFill>
                  <a:srgbClr val="FFFFFF"/>
                </a:solidFill>
                <a:latin typeface="Times New Roman" panose="02020603050405020304" pitchFamily="18" charset="0"/>
                <a:cs typeface="Times New Roman" panose="02020603050405020304" pitchFamily="18" charset="0"/>
              </a:rPr>
              <a:t>扩展学习一：</a:t>
            </a:r>
            <a:r>
              <a:rPr lang="en-US" altLang="zh-CN" sz="2400">
                <a:solidFill>
                  <a:srgbClr val="FFFFFF"/>
                </a:solidFill>
                <a:latin typeface="Times New Roman" panose="02020603050405020304" pitchFamily="18" charset="0"/>
                <a:cs typeface="Times New Roman" panose="02020603050405020304" pitchFamily="18" charset="0"/>
              </a:rPr>
              <a:t>Excel</a:t>
            </a:r>
            <a:r>
              <a:rPr lang="zh-CN" altLang="en-US" sz="2400">
                <a:solidFill>
                  <a:srgbClr val="FFFFFF"/>
                </a:solidFill>
              </a:rPr>
              <a:t>实现线性回归</a:t>
            </a:r>
            <a:endParaRPr lang="zh-CN" altLang="en-US" sz="2400" dirty="0"/>
          </a:p>
        </p:txBody>
      </p:sp>
      <p:sp>
        <p:nvSpPr>
          <p:cNvPr id="3" name="内容占位符 2"/>
          <p:cNvSpPr>
            <a:spLocks noGrp="1"/>
          </p:cNvSpPr>
          <p:nvPr>
            <p:ph idx="1"/>
          </p:nvPr>
        </p:nvSpPr>
        <p:spPr>
          <a:xfrm>
            <a:off x="611559" y="986626"/>
            <a:ext cx="8532441" cy="577618"/>
          </a:xfrm>
        </p:spPr>
        <p:txBody>
          <a:bodyPr>
            <a:noAutofit/>
          </a:bodyPr>
          <a:lstStyle/>
          <a:p>
            <a:pPr marL="0" indent="0">
              <a:lnSpc>
                <a:spcPct val="150000"/>
              </a:lnSpc>
              <a:spcBef>
                <a:spcPts val="0"/>
              </a:spcBef>
              <a:buNone/>
            </a:pPr>
            <a:endParaRPr lang="en-US" altLang="zh-CN" sz="1800">
              <a:solidFill>
                <a:srgbClr val="C0000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endParaRPr lang="en-US" altLang="zh-CN" sz="1800" dirty="0">
              <a:solidFill>
                <a:srgbClr val="C0000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dirty="0">
                <a:solidFill>
                  <a:srgbClr val="000066"/>
                </a:solidFill>
              </a:rPr>
              <a:t>   ① </a:t>
            </a:r>
            <a:r>
              <a:rPr lang="zh-CN" altLang="en-US" sz="1800" dirty="0">
                <a:solidFill>
                  <a:srgbClr val="000066"/>
                </a:solidFill>
              </a:rPr>
              <a:t>文件｜选项｜分析工具库</a:t>
            </a:r>
            <a:br>
              <a:rPr lang="en-US" altLang="zh-CN" sz="1800" dirty="0">
                <a:solidFill>
                  <a:srgbClr val="000066"/>
                </a:solidFill>
              </a:rPr>
            </a:br>
            <a:r>
              <a:rPr lang="en-US" altLang="zh-CN" sz="1800" dirty="0">
                <a:solidFill>
                  <a:srgbClr val="000066"/>
                </a:solidFill>
              </a:rPr>
              <a:t>   ② </a:t>
            </a:r>
            <a:r>
              <a:rPr lang="zh-CN" altLang="en-US" sz="1800" dirty="0">
                <a:solidFill>
                  <a:srgbClr val="000066"/>
                </a:solidFill>
              </a:rPr>
              <a:t>转到“</a:t>
            </a:r>
            <a:r>
              <a:rPr lang="en-US" altLang="zh-CN" sz="1800" dirty="0">
                <a:solidFill>
                  <a:srgbClr val="000066"/>
                </a:solidFill>
              </a:rPr>
              <a:t>Excel</a:t>
            </a:r>
            <a:r>
              <a:rPr lang="zh-CN" altLang="en-US" sz="1800" dirty="0">
                <a:solidFill>
                  <a:srgbClr val="000066"/>
                </a:solidFill>
              </a:rPr>
              <a:t>加载项”</a:t>
            </a:r>
            <a:br>
              <a:rPr lang="en-US" altLang="zh-CN" sz="1800" dirty="0">
                <a:solidFill>
                  <a:srgbClr val="000066"/>
                </a:solidFill>
              </a:rPr>
            </a:br>
            <a:r>
              <a:rPr lang="en-US" altLang="zh-CN" sz="1800" dirty="0">
                <a:solidFill>
                  <a:srgbClr val="000066"/>
                </a:solidFill>
              </a:rPr>
              <a:t>   ③ </a:t>
            </a:r>
            <a:r>
              <a:rPr lang="zh-CN" altLang="en-US" sz="1800" dirty="0">
                <a:solidFill>
                  <a:srgbClr val="000066"/>
                </a:solidFill>
              </a:rPr>
              <a:t>选择“分析工具库”</a:t>
            </a:r>
            <a:endParaRPr lang="en-US" altLang="zh-CN" sz="1800" dirty="0">
              <a:solidFill>
                <a:srgbClr val="000066"/>
              </a:solidFill>
            </a:endParaRPr>
          </a:p>
          <a:p>
            <a:pPr marL="0" indent="0">
              <a:lnSpc>
                <a:spcPct val="150000"/>
              </a:lnSpc>
              <a:spcBef>
                <a:spcPts val="0"/>
              </a:spcBef>
              <a:buNone/>
            </a:pPr>
            <a:r>
              <a:rPr lang="en-US" altLang="zh-CN" sz="1800" dirty="0">
                <a:solidFill>
                  <a:srgbClr val="000066"/>
                </a:solidFill>
              </a:rPr>
              <a:t>   </a:t>
            </a:r>
            <a:r>
              <a:rPr lang="zh-CN" altLang="zh-CN" sz="1800" dirty="0">
                <a:solidFill>
                  <a:srgbClr val="000066"/>
                </a:solidFill>
              </a:rPr>
              <a:t>④</a:t>
            </a:r>
            <a:r>
              <a:rPr lang="en-US" altLang="zh-CN" sz="1800" dirty="0">
                <a:solidFill>
                  <a:srgbClr val="000066"/>
                </a:solidFill>
              </a:rPr>
              <a:t> </a:t>
            </a:r>
            <a:r>
              <a:rPr lang="zh-CN" altLang="en-US" sz="1800" dirty="0">
                <a:solidFill>
                  <a:srgbClr val="000066"/>
                </a:solidFill>
              </a:rPr>
              <a:t>选择“数据分析”</a:t>
            </a:r>
            <a:endParaRPr lang="en-US" altLang="zh-CN" sz="1800" dirty="0">
              <a:solidFill>
                <a:srgbClr val="000066"/>
              </a:solidFill>
            </a:endParaRPr>
          </a:p>
          <a:p>
            <a:pPr marL="0" indent="0">
              <a:lnSpc>
                <a:spcPct val="150000"/>
              </a:lnSpc>
              <a:spcBef>
                <a:spcPts val="0"/>
              </a:spcBef>
              <a:buNone/>
            </a:pPr>
            <a:endParaRPr lang="zh-CN" altLang="zh-CN" sz="1800" dirty="0">
              <a:solidFill>
                <a:srgbClr val="C00000"/>
              </a:solidFill>
            </a:endParaRPr>
          </a:p>
        </p:txBody>
      </p:sp>
      <p:pic>
        <p:nvPicPr>
          <p:cNvPr id="4" name="图片 3">
            <a:extLst>
              <a:ext uri="{FF2B5EF4-FFF2-40B4-BE49-F238E27FC236}">
                <a16:creationId xmlns:a16="http://schemas.microsoft.com/office/drawing/2014/main" id="{46F5D21E-0410-44F0-99B8-5413B592FC32}"/>
              </a:ext>
            </a:extLst>
          </p:cNvPr>
          <p:cNvPicPr>
            <a:picLocks noChangeAspect="1"/>
          </p:cNvPicPr>
          <p:nvPr/>
        </p:nvPicPr>
        <p:blipFill>
          <a:blip r:embed="rId3"/>
          <a:stretch>
            <a:fillRect/>
          </a:stretch>
        </p:blipFill>
        <p:spPr>
          <a:xfrm>
            <a:off x="1152547" y="1069553"/>
            <a:ext cx="6840760" cy="810980"/>
          </a:xfrm>
          <a:prstGeom prst="rect">
            <a:avLst/>
          </a:prstGeom>
        </p:spPr>
      </p:pic>
      <p:pic>
        <p:nvPicPr>
          <p:cNvPr id="5" name="图片 4">
            <a:extLst>
              <a:ext uri="{FF2B5EF4-FFF2-40B4-BE49-F238E27FC236}">
                <a16:creationId xmlns:a16="http://schemas.microsoft.com/office/drawing/2014/main" id="{0703EA17-566B-4D0D-844C-8E95D5277E6A}"/>
              </a:ext>
            </a:extLst>
          </p:cNvPr>
          <p:cNvPicPr>
            <a:picLocks noChangeAspect="1"/>
          </p:cNvPicPr>
          <p:nvPr/>
        </p:nvPicPr>
        <p:blipFill>
          <a:blip r:embed="rId4"/>
          <a:stretch>
            <a:fillRect/>
          </a:stretch>
        </p:blipFill>
        <p:spPr>
          <a:xfrm>
            <a:off x="7280462" y="1976074"/>
            <a:ext cx="1793281" cy="2683983"/>
          </a:xfrm>
          <a:prstGeom prst="rect">
            <a:avLst/>
          </a:prstGeom>
        </p:spPr>
      </p:pic>
      <p:pic>
        <p:nvPicPr>
          <p:cNvPr id="6" name="图片 5">
            <a:extLst>
              <a:ext uri="{FF2B5EF4-FFF2-40B4-BE49-F238E27FC236}">
                <a16:creationId xmlns:a16="http://schemas.microsoft.com/office/drawing/2014/main" id="{D545DB56-FAD8-45F3-878D-3E4EDB908EEC}"/>
              </a:ext>
            </a:extLst>
          </p:cNvPr>
          <p:cNvPicPr>
            <a:picLocks noChangeAspect="1"/>
          </p:cNvPicPr>
          <p:nvPr/>
        </p:nvPicPr>
        <p:blipFill>
          <a:blip r:embed="rId5"/>
          <a:stretch>
            <a:fillRect/>
          </a:stretch>
        </p:blipFill>
        <p:spPr>
          <a:xfrm>
            <a:off x="3779912" y="1976074"/>
            <a:ext cx="3359147" cy="2703378"/>
          </a:xfrm>
          <a:prstGeom prst="rect">
            <a:avLst/>
          </a:prstGeom>
        </p:spPr>
      </p:pic>
      <p:sp>
        <p:nvSpPr>
          <p:cNvPr id="7" name="椭圆 6">
            <a:extLst>
              <a:ext uri="{FF2B5EF4-FFF2-40B4-BE49-F238E27FC236}">
                <a16:creationId xmlns:a16="http://schemas.microsoft.com/office/drawing/2014/main" id="{BE58EC4E-0959-4596-8C58-63ABE4559E30}"/>
              </a:ext>
            </a:extLst>
          </p:cNvPr>
          <p:cNvSpPr/>
          <p:nvPr/>
        </p:nvSpPr>
        <p:spPr bwMode="gray">
          <a:xfrm>
            <a:off x="7524328" y="1275605"/>
            <a:ext cx="487231" cy="216025"/>
          </a:xfrm>
          <a:prstGeom prst="ellipse">
            <a:avLst/>
          </a:prstGeom>
          <a:noFill/>
          <a:ln w="19050">
            <a:solidFill>
              <a:srgbClr val="000066"/>
            </a:solidFill>
            <a:miter lim="800000"/>
            <a:headEnd/>
            <a:tailEnd/>
          </a:ln>
          <a:effectLst/>
        </p:spPr>
        <p:txBody>
          <a:bodyPr wrap="none" rtlCol="0" anchor="ctr"/>
          <a:lstStyle/>
          <a:p>
            <a:pPr algn="ctr" eaLnBrk="0" hangingPunct="0"/>
            <a:endParaRPr lang="zh-CN" altLang="en-US" sz="1400" b="1" dirty="0">
              <a:latin typeface="黑体" panose="02010609060101010101" pitchFamily="49" charset="-122"/>
              <a:ea typeface="黑体" panose="02010609060101010101" pitchFamily="49" charset="-122"/>
            </a:endParaRPr>
          </a:p>
        </p:txBody>
      </p:sp>
      <p:cxnSp>
        <p:nvCxnSpPr>
          <p:cNvPr id="9" name="直接箭头连接符 8">
            <a:extLst>
              <a:ext uri="{FF2B5EF4-FFF2-40B4-BE49-F238E27FC236}">
                <a16:creationId xmlns:a16="http://schemas.microsoft.com/office/drawing/2014/main" id="{AAA387D2-7D43-46F1-ABF2-E6FEC2EA23E4}"/>
              </a:ext>
            </a:extLst>
          </p:cNvPr>
          <p:cNvCxnSpPr>
            <a:cxnSpLocks/>
            <a:stCxn id="10" idx="2"/>
            <a:endCxn id="7" idx="6"/>
          </p:cNvCxnSpPr>
          <p:nvPr/>
        </p:nvCxnSpPr>
        <p:spPr>
          <a:xfrm flipH="1">
            <a:off x="8011559" y="1234141"/>
            <a:ext cx="331089" cy="149477"/>
          </a:xfrm>
          <a:prstGeom prst="straightConnector1">
            <a:avLst/>
          </a:prstGeom>
          <a:ln>
            <a:solidFill>
              <a:srgbClr val="000066"/>
            </a:solidFill>
            <a:tailEnd type="triangle"/>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BD1F614F-CC18-4DB9-8EDE-B30D1C22D8BF}"/>
              </a:ext>
            </a:extLst>
          </p:cNvPr>
          <p:cNvSpPr txBox="1"/>
          <p:nvPr/>
        </p:nvSpPr>
        <p:spPr>
          <a:xfrm>
            <a:off x="7532169" y="926364"/>
            <a:ext cx="1620957" cy="307777"/>
          </a:xfrm>
          <a:prstGeom prst="rect">
            <a:avLst/>
          </a:prstGeom>
          <a:noFill/>
          <a:ln>
            <a:solidFill>
              <a:srgbClr val="000066"/>
            </a:solidFill>
          </a:ln>
        </p:spPr>
        <p:txBody>
          <a:bodyPr wrap="none" rtlCol="0">
            <a:spAutoFit/>
          </a:bodyPr>
          <a:lstStyle/>
          <a:p>
            <a:r>
              <a:rPr lang="zh-CN" altLang="en-US" sz="1400" dirty="0">
                <a:ln>
                  <a:solidFill>
                    <a:srgbClr val="000066"/>
                  </a:solidFill>
                </a:ln>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要有数据分析功能</a:t>
            </a:r>
          </a:p>
        </p:txBody>
      </p:sp>
    </p:spTree>
    <p:extLst>
      <p:ext uri="{BB962C8B-B14F-4D97-AF65-F5344CB8AC3E}">
        <p14:creationId xmlns:p14="http://schemas.microsoft.com/office/powerpoint/2010/main" val="2904976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r>
              <a:rPr lang="zh-CN" altLang="en-US" sz="2400">
                <a:solidFill>
                  <a:srgbClr val="FFFFFF"/>
                </a:solidFill>
                <a:latin typeface="Times New Roman" panose="02020603050405020304" pitchFamily="18" charset="0"/>
                <a:cs typeface="Times New Roman" panose="02020603050405020304" pitchFamily="18" charset="0"/>
              </a:rPr>
              <a:t>扩展学习一：</a:t>
            </a:r>
            <a:r>
              <a:rPr lang="en-US" altLang="zh-CN" sz="2400">
                <a:solidFill>
                  <a:srgbClr val="FFFFFF"/>
                </a:solidFill>
                <a:latin typeface="Times New Roman" panose="02020603050405020304" pitchFamily="18" charset="0"/>
                <a:cs typeface="Times New Roman" panose="02020603050405020304" pitchFamily="18" charset="0"/>
              </a:rPr>
              <a:t>Excel</a:t>
            </a:r>
            <a:r>
              <a:rPr lang="zh-CN" altLang="en-US" sz="2400">
                <a:solidFill>
                  <a:srgbClr val="FFFFFF"/>
                </a:solidFill>
              </a:rPr>
              <a:t>实现线性回归</a:t>
            </a:r>
            <a:endParaRPr lang="zh-CN" altLang="en-US" sz="2400" dirty="0"/>
          </a:p>
        </p:txBody>
      </p:sp>
      <p:sp>
        <p:nvSpPr>
          <p:cNvPr id="3" name="内容占位符 2"/>
          <p:cNvSpPr>
            <a:spLocks noGrp="1"/>
          </p:cNvSpPr>
          <p:nvPr>
            <p:ph idx="1"/>
          </p:nvPr>
        </p:nvSpPr>
        <p:spPr>
          <a:xfrm>
            <a:off x="611559" y="986626"/>
            <a:ext cx="7920881" cy="3529340"/>
          </a:xfrm>
        </p:spPr>
        <p:txBody>
          <a:bodyPr>
            <a:noAutofit/>
          </a:bodyPr>
          <a:lstStyle/>
          <a:p>
            <a:pPr marL="0" indent="0">
              <a:lnSpc>
                <a:spcPct val="150000"/>
              </a:lnSpc>
              <a:spcBef>
                <a:spcPts val="0"/>
              </a:spcBef>
              <a:buNone/>
            </a:pPr>
            <a:endParaRPr lang="en-US" altLang="zh-CN" sz="1800">
              <a:solidFill>
                <a:srgbClr val="C0000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a:solidFill>
                  <a:srgbClr val="000066"/>
                </a:solidFill>
                <a:cs typeface="Times New Roman" panose="02020603050405020304" pitchFamily="18" charset="0"/>
              </a:rPr>
              <a:t>   </a:t>
            </a:r>
            <a:r>
              <a:rPr lang="en-US" altLang="zh-CN" sz="1800" dirty="0">
                <a:solidFill>
                  <a:srgbClr val="000066"/>
                </a:solidFill>
                <a:cs typeface="Times New Roman" panose="02020603050405020304" pitchFamily="18" charset="0"/>
              </a:rPr>
              <a:t>⑤ </a:t>
            </a:r>
            <a:r>
              <a:rPr lang="zh-CN" altLang="en-US" sz="1800" dirty="0">
                <a:solidFill>
                  <a:srgbClr val="000066"/>
                </a:solidFill>
                <a:cs typeface="Times New Roman" panose="02020603050405020304" pitchFamily="18" charset="0"/>
              </a:rPr>
              <a:t>选择“数据分析”</a:t>
            </a:r>
            <a:br>
              <a:rPr lang="en-US" altLang="zh-CN" sz="1800" dirty="0">
                <a:solidFill>
                  <a:srgbClr val="000066"/>
                </a:solidFill>
                <a:cs typeface="Times New Roman" panose="02020603050405020304" pitchFamily="18" charset="0"/>
              </a:rPr>
            </a:br>
            <a:r>
              <a:rPr lang="en-US" altLang="zh-CN" sz="1800" dirty="0">
                <a:solidFill>
                  <a:srgbClr val="000066"/>
                </a:solidFill>
                <a:cs typeface="Times New Roman" panose="02020603050405020304" pitchFamily="18" charset="0"/>
              </a:rPr>
              <a:t>   ⑥ </a:t>
            </a:r>
            <a:r>
              <a:rPr lang="zh-CN" altLang="en-US" sz="1800" dirty="0">
                <a:solidFill>
                  <a:srgbClr val="000066"/>
                </a:solidFill>
                <a:cs typeface="Times New Roman" panose="02020603050405020304" pitchFamily="18" charset="0"/>
              </a:rPr>
              <a:t>选定“回归”</a:t>
            </a:r>
            <a:endParaRPr lang="en-US" altLang="zh-CN" sz="1800" dirty="0">
              <a:solidFill>
                <a:srgbClr val="C0000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endParaRPr lang="zh-CN" altLang="zh-CN" sz="1800" dirty="0">
              <a:solidFill>
                <a:srgbClr val="C00000"/>
              </a:solidFill>
            </a:endParaRPr>
          </a:p>
        </p:txBody>
      </p:sp>
      <p:pic>
        <p:nvPicPr>
          <p:cNvPr id="11" name="图片 10">
            <a:extLst>
              <a:ext uri="{FF2B5EF4-FFF2-40B4-BE49-F238E27FC236}">
                <a16:creationId xmlns:a16="http://schemas.microsoft.com/office/drawing/2014/main" id="{7AD4B1B4-70B3-4CCD-AF9C-54DA147096DE}"/>
              </a:ext>
            </a:extLst>
          </p:cNvPr>
          <p:cNvPicPr>
            <a:picLocks noChangeAspect="1"/>
          </p:cNvPicPr>
          <p:nvPr/>
        </p:nvPicPr>
        <p:blipFill>
          <a:blip r:embed="rId3"/>
          <a:stretch>
            <a:fillRect/>
          </a:stretch>
        </p:blipFill>
        <p:spPr>
          <a:xfrm>
            <a:off x="2880893" y="1563638"/>
            <a:ext cx="4651736" cy="2451688"/>
          </a:xfrm>
          <a:prstGeom prst="rect">
            <a:avLst/>
          </a:prstGeom>
        </p:spPr>
      </p:pic>
    </p:spTree>
    <p:extLst>
      <p:ext uri="{BB962C8B-B14F-4D97-AF65-F5344CB8AC3E}">
        <p14:creationId xmlns:p14="http://schemas.microsoft.com/office/powerpoint/2010/main" val="967079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r>
              <a:rPr lang="zh-CN" altLang="en-US" sz="2400">
                <a:solidFill>
                  <a:srgbClr val="FFFFFF"/>
                </a:solidFill>
                <a:latin typeface="Times New Roman" panose="02020603050405020304" pitchFamily="18" charset="0"/>
                <a:cs typeface="Times New Roman" panose="02020603050405020304" pitchFamily="18" charset="0"/>
              </a:rPr>
              <a:t>扩展学习一：</a:t>
            </a:r>
            <a:r>
              <a:rPr lang="en-US" altLang="zh-CN" sz="2400">
                <a:solidFill>
                  <a:srgbClr val="FFFFFF"/>
                </a:solidFill>
                <a:latin typeface="Times New Roman" panose="02020603050405020304" pitchFamily="18" charset="0"/>
                <a:cs typeface="Times New Roman" panose="02020603050405020304" pitchFamily="18" charset="0"/>
              </a:rPr>
              <a:t>Excel</a:t>
            </a:r>
            <a:r>
              <a:rPr lang="zh-CN" altLang="en-US" sz="2400">
                <a:solidFill>
                  <a:srgbClr val="FFFFFF"/>
                </a:solidFill>
              </a:rPr>
              <a:t>实现线性回归</a:t>
            </a:r>
            <a:endParaRPr lang="zh-CN" altLang="en-US" sz="2400" dirty="0"/>
          </a:p>
        </p:txBody>
      </p:sp>
      <p:sp>
        <p:nvSpPr>
          <p:cNvPr id="3" name="内容占位符 2"/>
          <p:cNvSpPr>
            <a:spLocks noGrp="1"/>
          </p:cNvSpPr>
          <p:nvPr>
            <p:ph idx="1"/>
          </p:nvPr>
        </p:nvSpPr>
        <p:spPr>
          <a:xfrm>
            <a:off x="611559" y="986626"/>
            <a:ext cx="8532441" cy="937052"/>
          </a:xfrm>
        </p:spPr>
        <p:txBody>
          <a:bodyPr>
            <a:noAutofit/>
          </a:bodyPr>
          <a:lstStyle/>
          <a:p>
            <a:pPr marL="0" indent="0">
              <a:lnSpc>
                <a:spcPct val="150000"/>
              </a:lnSpc>
              <a:spcBef>
                <a:spcPts val="0"/>
              </a:spcBef>
              <a:buNone/>
            </a:pPr>
            <a:endParaRPr lang="en-US" altLang="zh-CN" sz="180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800">
                <a:solidFill>
                  <a:srgbClr val="000066"/>
                </a:solidFill>
                <a:cs typeface="Times New Roman" panose="02020603050405020304" pitchFamily="18" charset="0"/>
              </a:rPr>
              <a:t>   ⑦ 结果：</a:t>
            </a:r>
            <a:br>
              <a:rPr lang="en-US" altLang="zh-CN" sz="1800">
                <a:solidFill>
                  <a:srgbClr val="000066"/>
                </a:solidFill>
                <a:cs typeface="Times New Roman" panose="02020603050405020304" pitchFamily="18" charset="0"/>
              </a:rPr>
            </a:br>
            <a:endParaRPr lang="zh-CN" altLang="zh-CN" sz="1800" dirty="0">
              <a:solidFill>
                <a:srgbClr val="C00000"/>
              </a:solidFill>
            </a:endParaRPr>
          </a:p>
        </p:txBody>
      </p:sp>
      <p:pic>
        <p:nvPicPr>
          <p:cNvPr id="15" name="图片 14">
            <a:extLst>
              <a:ext uri="{FF2B5EF4-FFF2-40B4-BE49-F238E27FC236}">
                <a16:creationId xmlns:a16="http://schemas.microsoft.com/office/drawing/2014/main" id="{DFA8545D-36B9-4531-B577-4DB43403F880}"/>
              </a:ext>
            </a:extLst>
          </p:cNvPr>
          <p:cNvPicPr>
            <a:picLocks noChangeAspect="1"/>
          </p:cNvPicPr>
          <p:nvPr/>
        </p:nvPicPr>
        <p:blipFill>
          <a:blip r:embed="rId3"/>
          <a:stretch>
            <a:fillRect/>
          </a:stretch>
        </p:blipFill>
        <p:spPr>
          <a:xfrm>
            <a:off x="1763688" y="1547970"/>
            <a:ext cx="5967296" cy="3256027"/>
          </a:xfrm>
          <a:prstGeom prst="rect">
            <a:avLst/>
          </a:prstGeom>
        </p:spPr>
      </p:pic>
    </p:spTree>
    <p:extLst>
      <p:ext uri="{BB962C8B-B14F-4D97-AF65-F5344CB8AC3E}">
        <p14:creationId xmlns:p14="http://schemas.microsoft.com/office/powerpoint/2010/main" val="1830703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r>
              <a:rPr lang="zh-CN" altLang="en-US" sz="2400">
                <a:solidFill>
                  <a:srgbClr val="FFFFFF"/>
                </a:solidFill>
                <a:latin typeface="Times New Roman" panose="02020603050405020304" pitchFamily="18" charset="0"/>
                <a:cs typeface="Times New Roman" panose="02020603050405020304" pitchFamily="18" charset="0"/>
              </a:rPr>
              <a:t>扩展学习一：</a:t>
            </a:r>
            <a:r>
              <a:rPr lang="en-US" altLang="zh-CN" sz="2400">
                <a:solidFill>
                  <a:srgbClr val="FFFFFF"/>
                </a:solidFill>
                <a:latin typeface="Times New Roman" panose="02020603050405020304" pitchFamily="18" charset="0"/>
                <a:cs typeface="Times New Roman" panose="02020603050405020304" pitchFamily="18" charset="0"/>
              </a:rPr>
              <a:t>Excel</a:t>
            </a:r>
            <a:r>
              <a:rPr lang="zh-CN" altLang="en-US" sz="2400">
                <a:solidFill>
                  <a:srgbClr val="FFFFFF"/>
                </a:solidFill>
              </a:rPr>
              <a:t>实现线性回归</a:t>
            </a:r>
            <a:endParaRPr lang="zh-CN" altLang="en-US" sz="2400" dirty="0"/>
          </a:p>
        </p:txBody>
      </p:sp>
      <p:sp>
        <p:nvSpPr>
          <p:cNvPr id="3" name="内容占位符 2"/>
          <p:cNvSpPr>
            <a:spLocks noGrp="1"/>
          </p:cNvSpPr>
          <p:nvPr>
            <p:ph idx="1"/>
          </p:nvPr>
        </p:nvSpPr>
        <p:spPr>
          <a:xfrm>
            <a:off x="611559" y="986626"/>
            <a:ext cx="8532441" cy="2161188"/>
          </a:xfrm>
        </p:spPr>
        <p:txBody>
          <a:bodyPr>
            <a:noAutofit/>
          </a:bodyPr>
          <a:lstStyle/>
          <a:p>
            <a:pPr marL="0" indent="0">
              <a:lnSpc>
                <a:spcPct val="150000"/>
              </a:lnSpc>
              <a:spcBef>
                <a:spcPts val="0"/>
              </a:spcBef>
              <a:buNone/>
            </a:pP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          Multiple R </a:t>
            </a:r>
            <a:r>
              <a:rPr lang="zh-CN" altLang="en-US" sz="1800" dirty="0">
                <a:solidFill>
                  <a:srgbClr val="000066"/>
                </a:solidFill>
                <a:latin typeface="Times New Roman" panose="02020603050405020304" pitchFamily="18" charset="0"/>
                <a:cs typeface="Times New Roman" panose="02020603050405020304" pitchFamily="18" charset="0"/>
              </a:rPr>
              <a:t>：线性回归系数</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          R </a:t>
            </a:r>
            <a:r>
              <a:rPr lang="en-US" altLang="zh-CN" sz="1800">
                <a:solidFill>
                  <a:srgbClr val="000066"/>
                </a:solidFill>
                <a:latin typeface="Times New Roman" panose="02020603050405020304" pitchFamily="18" charset="0"/>
                <a:cs typeface="Times New Roman" panose="02020603050405020304" pitchFamily="18" charset="0"/>
              </a:rPr>
              <a:t>square</a:t>
            </a:r>
            <a:r>
              <a:rPr lang="zh-CN" altLang="en-US" sz="1800">
                <a:solidFill>
                  <a:srgbClr val="000066"/>
                </a:solidFill>
                <a:latin typeface="Times New Roman" panose="02020603050405020304" pitchFamily="18" charset="0"/>
                <a:cs typeface="Times New Roman" panose="02020603050405020304" pitchFamily="18" charset="0"/>
              </a:rPr>
              <a:t>：拟合系数</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          adjusted R </a:t>
            </a:r>
            <a:r>
              <a:rPr lang="en-US" altLang="zh-CN" sz="1800">
                <a:solidFill>
                  <a:srgbClr val="000066"/>
                </a:solidFill>
                <a:latin typeface="Times New Roman" panose="02020603050405020304" pitchFamily="18" charset="0"/>
                <a:cs typeface="Times New Roman" panose="02020603050405020304" pitchFamily="18" charset="0"/>
              </a:rPr>
              <a:t>square</a:t>
            </a:r>
            <a:r>
              <a:rPr lang="zh-CN" altLang="en-US" sz="1800">
                <a:solidFill>
                  <a:srgbClr val="000066"/>
                </a:solidFill>
                <a:latin typeface="Times New Roman" panose="02020603050405020304" pitchFamily="18" charset="0"/>
                <a:cs typeface="Times New Roman" panose="02020603050405020304" pitchFamily="18" charset="0"/>
              </a:rPr>
              <a:t>：调整后的拟合系数</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           </a:t>
            </a:r>
          </a:p>
          <a:p>
            <a:pPr marL="0" indent="0">
              <a:lnSpc>
                <a:spcPct val="150000"/>
              </a:lnSpc>
              <a:spcBef>
                <a:spcPts val="0"/>
              </a:spcBef>
              <a:buNone/>
            </a:pPr>
            <a:r>
              <a:rPr lang="zh-CN" altLang="en-US" sz="2400" dirty="0">
                <a:solidFill>
                  <a:srgbClr val="000066"/>
                </a:solidFill>
                <a:cs typeface="Times New Roman" panose="02020603050405020304" pitchFamily="18" charset="0"/>
              </a:rPr>
              <a:t>   </a:t>
            </a:r>
            <a:endParaRPr lang="zh-CN" altLang="zh-CN" sz="1800" baseline="30000" dirty="0">
              <a:solidFill>
                <a:srgbClr val="C0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481F19D6-9A99-44F4-B0D8-89516B3DF207}"/>
                  </a:ext>
                </a:extLst>
              </p:cNvPr>
              <p:cNvSpPr txBox="1"/>
              <p:nvPr/>
            </p:nvSpPr>
            <p:spPr>
              <a:xfrm>
                <a:off x="1115616" y="2706802"/>
                <a:ext cx="3600400" cy="688394"/>
              </a:xfrm>
              <a:prstGeom prst="rect">
                <a:avLst/>
              </a:prstGeom>
              <a:noFill/>
            </p:spPr>
            <p:txBody>
              <a:bodyPr wrap="square" rtlCol="0">
                <a:spAutoFit/>
              </a:bodyPr>
              <a:lstStyle/>
              <a:p>
                <a14:m>
                  <m:oMath xmlns:m="http://schemas.openxmlformats.org/officeDocument/2006/math">
                    <m:r>
                      <m:rPr>
                        <m:sty m:val="p"/>
                      </m:rPr>
                      <a:rPr lang="en-US" altLang="zh-CN" sz="2400" i="1" dirty="0">
                        <a:solidFill>
                          <a:srgbClr val="000066"/>
                        </a:solidFill>
                        <a:latin typeface="Cambria Math" panose="02040503050406030204" pitchFamily="18" charset="0"/>
                        <a:cs typeface="Times New Roman" panose="02020603050405020304" pitchFamily="18" charset="0"/>
                      </a:rPr>
                      <m:t>R</m:t>
                    </m:r>
                  </m:oMath>
                </a14:m>
                <a:r>
                  <a:rPr lang="en-US" altLang="zh-CN" sz="2400" baseline="30000" dirty="0">
                    <a:solidFill>
                      <a:srgbClr val="C00000"/>
                    </a:solidFill>
                    <a:latin typeface="Times New Roman" panose="02020603050405020304" pitchFamily="18" charset="0"/>
                    <a:cs typeface="Times New Roman" panose="02020603050405020304" pitchFamily="18" charset="0"/>
                  </a:rPr>
                  <a:t>2</a:t>
                </a:r>
                <a:r>
                  <a:rPr lang="en-US" altLang="zh-CN" sz="2400" dirty="0">
                    <a:solidFill>
                      <a:srgbClr val="C00000"/>
                    </a:solidFill>
                    <a:latin typeface="Times New Roman" panose="02020603050405020304" pitchFamily="18" charset="0"/>
                    <a:cs typeface="Times New Roman" panose="02020603050405020304" pitchFamily="18" charset="0"/>
                  </a:rPr>
                  <a:t>=1-</a:t>
                </a:r>
                <a14:m>
                  <m:oMath xmlns:m="http://schemas.openxmlformats.org/officeDocument/2006/math">
                    <m:f>
                      <m:fPr>
                        <m:ctrlPr>
                          <a:rPr lang="en-US" altLang="zh-CN" sz="2400" i="1" dirty="0">
                            <a:solidFill>
                              <a:srgbClr val="C00000"/>
                            </a:solidFill>
                            <a:latin typeface="Cambria Math" panose="02040503050406030204" pitchFamily="18" charset="0"/>
                            <a:cs typeface="Times New Roman" panose="02020603050405020304" pitchFamily="18" charset="0"/>
                          </a:rPr>
                        </m:ctrlPr>
                      </m:fPr>
                      <m:num>
                        <m:nary>
                          <m:naryPr>
                            <m:chr m:val="∑"/>
                            <m:subHide m:val="on"/>
                            <m:supHide m:val="on"/>
                            <m:ctrlPr>
                              <a:rPr lang="en-US" altLang="zh-CN" sz="2400" i="1" dirty="0">
                                <a:solidFill>
                                  <a:srgbClr val="C00000"/>
                                </a:solidFill>
                                <a:latin typeface="Cambria Math" panose="02040503050406030204" pitchFamily="18" charset="0"/>
                                <a:cs typeface="Times New Roman" panose="02020603050405020304" pitchFamily="18" charset="0"/>
                              </a:rPr>
                            </m:ctrlPr>
                          </m:naryPr>
                          <m:sub/>
                          <m:sup/>
                          <m:e>
                            <m:sSub>
                              <m:sSubPr>
                                <m:ctrlPr>
                                  <a:rPr lang="en-US" altLang="zh-CN" sz="2400" i="1" dirty="0">
                                    <a:solidFill>
                                      <a:srgbClr val="C00000"/>
                                    </a:solidFill>
                                    <a:latin typeface="Cambria Math" panose="02040503050406030204" pitchFamily="18" charset="0"/>
                                    <a:cs typeface="Times New Roman" panose="02020603050405020304" pitchFamily="18" charset="0"/>
                                  </a:rPr>
                                </m:ctrlPr>
                              </m:sSubPr>
                              <m:e>
                                <m:r>
                                  <a:rPr lang="en-US" altLang="zh-CN" sz="2400" i="1" dirty="0">
                                    <a:solidFill>
                                      <a:srgbClr val="C00000"/>
                                    </a:solidFill>
                                    <a:latin typeface="Cambria Math" panose="02040503050406030204" pitchFamily="18" charset="0"/>
                                    <a:cs typeface="Times New Roman" panose="02020603050405020304" pitchFamily="18" charset="0"/>
                                  </a:rPr>
                                  <m:t>(</m:t>
                                </m:r>
                                <m:r>
                                  <m:rPr>
                                    <m:sty m:val="p"/>
                                  </m:rPr>
                                  <a:rPr lang="en-US" altLang="zh-CN" sz="2400" i="1" dirty="0">
                                    <a:solidFill>
                                      <a:srgbClr val="C00000"/>
                                    </a:solidFill>
                                    <a:latin typeface="Cambria Math" panose="02040503050406030204" pitchFamily="18" charset="0"/>
                                    <a:cs typeface="Times New Roman" panose="02020603050405020304" pitchFamily="18" charset="0"/>
                                  </a:rPr>
                                  <m:t>Y</m:t>
                                </m:r>
                              </m:e>
                              <m:sub>
                                <m:r>
                                  <a:rPr lang="en-US" altLang="zh-CN" sz="2400" i="1" dirty="0">
                                    <a:solidFill>
                                      <a:srgbClr val="C00000"/>
                                    </a:solidFill>
                                    <a:latin typeface="Cambria Math" panose="02040503050406030204" pitchFamily="18" charset="0"/>
                                    <a:cs typeface="Times New Roman" panose="02020603050405020304" pitchFamily="18" charset="0"/>
                                  </a:rPr>
                                  <m:t>𝑎𝑐𝑡𝑢𝑎𝑙</m:t>
                                </m:r>
                              </m:sub>
                            </m:sSub>
                            <m:r>
                              <a:rPr lang="en-US" altLang="zh-CN" sz="2400" i="1" dirty="0">
                                <a:solidFill>
                                  <a:srgbClr val="C00000"/>
                                </a:solidFill>
                                <a:latin typeface="Cambria Math" panose="02040503050406030204" pitchFamily="18" charset="0"/>
                                <a:cs typeface="Times New Roman" panose="02020603050405020304" pitchFamily="18" charset="0"/>
                              </a:rPr>
                              <m:t>−</m:t>
                            </m:r>
                            <m:r>
                              <a:rPr lang="en-US" altLang="zh-CN" sz="2400" i="1" dirty="0">
                                <a:solidFill>
                                  <a:srgbClr val="C00000"/>
                                </a:solidFill>
                                <a:latin typeface="Cambria Math" panose="02040503050406030204" pitchFamily="18" charset="0"/>
                                <a:cs typeface="Times New Roman" panose="02020603050405020304" pitchFamily="18" charset="0"/>
                              </a:rPr>
                              <m:t>𝑌</m:t>
                            </m:r>
                            <m:r>
                              <a:rPr lang="en-US" altLang="zh-CN" sz="2400" i="1" dirty="0">
                                <a:solidFill>
                                  <a:srgbClr val="C00000"/>
                                </a:solidFill>
                                <a:latin typeface="Cambria Math" panose="02040503050406030204" pitchFamily="18" charset="0"/>
                                <a:cs typeface="Times New Roman" panose="02020603050405020304" pitchFamily="18" charset="0"/>
                              </a:rPr>
                              <m:t>_</m:t>
                            </m:r>
                            <m:r>
                              <a:rPr lang="en-US" altLang="zh-CN" sz="2400" i="1" dirty="0">
                                <a:solidFill>
                                  <a:srgbClr val="C00000"/>
                                </a:solidFill>
                                <a:latin typeface="Cambria Math" panose="02040503050406030204" pitchFamily="18" charset="0"/>
                                <a:cs typeface="Times New Roman" panose="02020603050405020304" pitchFamily="18" charset="0"/>
                              </a:rPr>
                              <m:t>𝑝𝑟𝑒𝑑𝑖𝑐𝑡</m:t>
                            </m:r>
                          </m:e>
                        </m:nary>
                        <m:r>
                          <a:rPr lang="en-US" altLang="zh-CN" sz="2400" i="1" dirty="0">
                            <a:solidFill>
                              <a:srgbClr val="C00000"/>
                            </a:solidFill>
                            <a:latin typeface="Cambria Math" panose="02040503050406030204" pitchFamily="18" charset="0"/>
                            <a:cs typeface="Times New Roman" panose="02020603050405020304" pitchFamily="18" charset="0"/>
                          </a:rPr>
                          <m:t>)</m:t>
                        </m:r>
                        <m:r>
                          <a:rPr lang="en-US" altLang="zh-CN" sz="2400" i="1" baseline="30000" dirty="0">
                            <a:solidFill>
                              <a:srgbClr val="C00000"/>
                            </a:solidFill>
                            <a:latin typeface="Cambria Math" panose="02040503050406030204" pitchFamily="18" charset="0"/>
                            <a:cs typeface="Times New Roman" panose="02020603050405020304" pitchFamily="18" charset="0"/>
                          </a:rPr>
                          <m:t>2</m:t>
                        </m:r>
                      </m:num>
                      <m:den>
                        <m:nary>
                          <m:naryPr>
                            <m:chr m:val="∑"/>
                            <m:subHide m:val="on"/>
                            <m:supHide m:val="on"/>
                            <m:ctrlPr>
                              <a:rPr lang="en-US" altLang="zh-CN" sz="2400" i="1" dirty="0">
                                <a:solidFill>
                                  <a:srgbClr val="C00000"/>
                                </a:solidFill>
                                <a:latin typeface="Cambria Math" panose="02040503050406030204" pitchFamily="18" charset="0"/>
                                <a:cs typeface="Times New Roman" panose="02020603050405020304" pitchFamily="18" charset="0"/>
                              </a:rPr>
                            </m:ctrlPr>
                          </m:naryPr>
                          <m:sub/>
                          <m:sup/>
                          <m:e>
                            <m:sSub>
                              <m:sSubPr>
                                <m:ctrlPr>
                                  <a:rPr lang="en-US" altLang="zh-CN" sz="2400" i="1" dirty="0">
                                    <a:solidFill>
                                      <a:srgbClr val="C00000"/>
                                    </a:solidFill>
                                    <a:latin typeface="Cambria Math" panose="02040503050406030204" pitchFamily="18" charset="0"/>
                                    <a:cs typeface="Times New Roman" panose="02020603050405020304" pitchFamily="18" charset="0"/>
                                  </a:rPr>
                                </m:ctrlPr>
                              </m:sSubPr>
                              <m:e>
                                <m:r>
                                  <a:rPr lang="en-US" altLang="zh-CN" sz="2400" i="1" dirty="0">
                                    <a:solidFill>
                                      <a:srgbClr val="C00000"/>
                                    </a:solidFill>
                                    <a:latin typeface="Cambria Math" panose="02040503050406030204" pitchFamily="18" charset="0"/>
                                    <a:cs typeface="Times New Roman" panose="02020603050405020304" pitchFamily="18" charset="0"/>
                                  </a:rPr>
                                  <m:t>(</m:t>
                                </m:r>
                                <m:r>
                                  <m:rPr>
                                    <m:sty m:val="p"/>
                                  </m:rPr>
                                  <a:rPr lang="en-US" altLang="zh-CN" sz="2400" i="1" dirty="0">
                                    <a:solidFill>
                                      <a:srgbClr val="C00000"/>
                                    </a:solidFill>
                                    <a:latin typeface="Cambria Math" panose="02040503050406030204" pitchFamily="18" charset="0"/>
                                    <a:cs typeface="Times New Roman" panose="02020603050405020304" pitchFamily="18" charset="0"/>
                                  </a:rPr>
                                  <m:t>Y</m:t>
                                </m:r>
                              </m:e>
                              <m:sub>
                                <m:r>
                                  <a:rPr lang="en-US" altLang="zh-CN" sz="2400" i="1" dirty="0">
                                    <a:solidFill>
                                      <a:srgbClr val="C00000"/>
                                    </a:solidFill>
                                    <a:latin typeface="Cambria Math" panose="02040503050406030204" pitchFamily="18" charset="0"/>
                                    <a:cs typeface="Times New Roman" panose="02020603050405020304" pitchFamily="18" charset="0"/>
                                  </a:rPr>
                                  <m:t>𝑎𝑐𝑡𝑢𝑎𝑙</m:t>
                                </m:r>
                              </m:sub>
                            </m:sSub>
                            <m:r>
                              <a:rPr lang="en-US" altLang="zh-CN" sz="2400" i="1" dirty="0">
                                <a:solidFill>
                                  <a:srgbClr val="C00000"/>
                                </a:solidFill>
                                <a:latin typeface="Cambria Math" panose="02040503050406030204" pitchFamily="18" charset="0"/>
                                <a:cs typeface="Times New Roman" panose="02020603050405020304" pitchFamily="18" charset="0"/>
                              </a:rPr>
                              <m:t>−</m:t>
                            </m:r>
                            <m:r>
                              <a:rPr lang="en-US" altLang="zh-CN" sz="2400" i="1" dirty="0">
                                <a:solidFill>
                                  <a:srgbClr val="C00000"/>
                                </a:solidFill>
                                <a:latin typeface="Cambria Math" panose="02040503050406030204" pitchFamily="18" charset="0"/>
                                <a:cs typeface="Times New Roman" panose="02020603050405020304" pitchFamily="18" charset="0"/>
                              </a:rPr>
                              <m:t>𝑌</m:t>
                            </m:r>
                            <m:r>
                              <a:rPr lang="en-US" altLang="zh-CN" sz="2400" i="1" dirty="0">
                                <a:solidFill>
                                  <a:srgbClr val="C00000"/>
                                </a:solidFill>
                                <a:latin typeface="Cambria Math" panose="02040503050406030204" pitchFamily="18" charset="0"/>
                                <a:cs typeface="Times New Roman" panose="02020603050405020304" pitchFamily="18" charset="0"/>
                              </a:rPr>
                              <m:t>_</m:t>
                            </m:r>
                            <m:r>
                              <m:rPr>
                                <m:sty m:val="p"/>
                              </m:rPr>
                              <a:rPr lang="en-US" altLang="zh-CN" sz="2400" i="1" dirty="0">
                                <a:solidFill>
                                  <a:srgbClr val="C00000"/>
                                </a:solidFill>
                                <a:latin typeface="Cambria Math" panose="02040503050406030204" pitchFamily="18" charset="0"/>
                                <a:cs typeface="Times New Roman" panose="02020603050405020304" pitchFamily="18" charset="0"/>
                              </a:rPr>
                              <m:t>mean</m:t>
                            </m:r>
                          </m:e>
                        </m:nary>
                        <m:r>
                          <a:rPr lang="en-US" altLang="zh-CN" sz="2400" i="1" dirty="0">
                            <a:solidFill>
                              <a:srgbClr val="C00000"/>
                            </a:solidFill>
                            <a:latin typeface="Cambria Math" panose="02040503050406030204" pitchFamily="18" charset="0"/>
                            <a:cs typeface="Times New Roman" panose="02020603050405020304" pitchFamily="18" charset="0"/>
                          </a:rPr>
                          <m:t>)</m:t>
                        </m:r>
                        <m:r>
                          <a:rPr lang="en-US" altLang="zh-CN" sz="2400" i="1" baseline="30000" dirty="0">
                            <a:solidFill>
                              <a:srgbClr val="C00000"/>
                            </a:solidFill>
                            <a:latin typeface="Cambria Math" panose="02040503050406030204" pitchFamily="18" charset="0"/>
                            <a:cs typeface="Times New Roman" panose="02020603050405020304" pitchFamily="18" charset="0"/>
                          </a:rPr>
                          <m:t>2</m:t>
                        </m:r>
                      </m:den>
                    </m:f>
                  </m:oMath>
                </a14:m>
                <a:endParaRPr lang="zh-CN" altLang="en-US" sz="2400" dirty="0"/>
              </a:p>
            </p:txBody>
          </p:sp>
        </mc:Choice>
        <mc:Fallback xmlns="">
          <p:sp>
            <p:nvSpPr>
              <p:cNvPr id="8" name="文本框 7">
                <a:extLst>
                  <a:ext uri="{FF2B5EF4-FFF2-40B4-BE49-F238E27FC236}">
                    <a16:creationId xmlns:a16="http://schemas.microsoft.com/office/drawing/2014/main" id="{481F19D6-9A99-44F4-B0D8-89516B3DF207}"/>
                  </a:ext>
                </a:extLst>
              </p:cNvPr>
              <p:cNvSpPr txBox="1">
                <a:spLocks noRot="1" noChangeAspect="1" noMove="1" noResize="1" noEditPoints="1" noAdjustHandles="1" noChangeArrowheads="1" noChangeShapeType="1" noTextEdit="1"/>
              </p:cNvSpPr>
              <p:nvPr/>
            </p:nvSpPr>
            <p:spPr>
              <a:xfrm>
                <a:off x="1115616" y="2706802"/>
                <a:ext cx="3600400" cy="688394"/>
              </a:xfrm>
              <a:prstGeom prst="rect">
                <a:avLst/>
              </a:prstGeom>
              <a:blipFill>
                <a:blip r:embed="rId3"/>
                <a:stretch>
                  <a:fillRect b="-8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CF439493-A1E5-4EA1-985F-27719FEA5696}"/>
                  </a:ext>
                </a:extLst>
              </p:cNvPr>
              <p:cNvSpPr txBox="1"/>
              <p:nvPr/>
            </p:nvSpPr>
            <p:spPr>
              <a:xfrm>
                <a:off x="1079612" y="3579862"/>
                <a:ext cx="7272808" cy="792268"/>
              </a:xfrm>
              <a:prstGeom prst="rect">
                <a:avLst/>
              </a:prstGeom>
              <a:noFill/>
            </p:spPr>
            <p:txBody>
              <a:bodyPr wrap="square" rtlCol="0">
                <a:spAutoFit/>
              </a:bodyPr>
              <a:lstStyle/>
              <a:p>
                <a:pPr>
                  <a:lnSpc>
                    <a:spcPct val="125000"/>
                  </a:lnSpc>
                </a:pPr>
                <a14:m>
                  <m:oMathPara xmlns:m="http://schemas.openxmlformats.org/officeDocument/2006/math">
                    <m:oMathParaPr>
                      <m:jc m:val="left"/>
                    </m:oMathParaPr>
                    <m:oMath xmlns:m="http://schemas.openxmlformats.org/officeDocument/2006/math">
                      <m:r>
                        <a:rPr lang="en-US" altLang="zh-CN" dirty="0">
                          <a:solidFill>
                            <a:srgbClr val="000066"/>
                          </a:solidFill>
                          <a:latin typeface="Cambria Math" panose="02040503050406030204" pitchFamily="18" charset="0"/>
                          <a:ea typeface="微软雅黑" panose="020B0503020204020204" pitchFamily="34" charset="-122"/>
                          <a:cs typeface="Times New Roman" panose="02020603050405020304" pitchFamily="18" charset="0"/>
                        </a:rPr>
                        <m:t>※ </m:t>
                      </m:r>
                      <m:r>
                        <a:rPr lang="zh-CN" altLang="en-US" dirty="0">
                          <a:solidFill>
                            <a:srgbClr val="000066"/>
                          </a:solidFill>
                          <a:latin typeface="Cambria Math" panose="02040503050406030204" pitchFamily="18" charset="0"/>
                          <a:ea typeface="微软雅黑" panose="020B0503020204020204" pitchFamily="34" charset="-122"/>
                          <a:cs typeface="Times New Roman" panose="02020603050405020304" pitchFamily="18" charset="0"/>
                        </a:rPr>
                        <m:t>分母反映离散程度，分子反映预测数据与原始数据的误差</m:t>
                      </m:r>
                    </m:oMath>
                  </m:oMathPara>
                </a14:m>
                <a:endParaRPr lang="en-US" altLang="zh-CN"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5000"/>
                  </a:lnSpc>
                </a:pPr>
                <a14:m>
                  <m:oMathPara xmlns:m="http://schemas.openxmlformats.org/officeDocument/2006/math">
                    <m:oMathParaPr>
                      <m:jc m:val="left"/>
                    </m:oMathParaPr>
                    <m:oMath xmlns:m="http://schemas.openxmlformats.org/officeDocument/2006/math">
                      <m:r>
                        <a:rPr lang="en-US" altLang="zh-CN" dirty="0">
                          <a:solidFill>
                            <a:srgbClr val="000066"/>
                          </a:solidFill>
                          <a:latin typeface="Cambria Math" panose="02040503050406030204" pitchFamily="18" charset="0"/>
                          <a:ea typeface="微软雅黑" panose="020B0503020204020204" pitchFamily="34" charset="-122"/>
                          <a:cs typeface="Times New Roman" panose="02020603050405020304" pitchFamily="18" charset="0"/>
                        </a:rPr>
                        <m:t>※ </m:t>
                      </m:r>
                      <m:r>
                        <a:rPr lang="zh-CN" altLang="en-US" dirty="0">
                          <a:solidFill>
                            <a:srgbClr val="000066"/>
                          </a:solidFill>
                          <a:latin typeface="Cambria Math" panose="02040503050406030204" pitchFamily="18" charset="0"/>
                          <a:ea typeface="微软雅黑" panose="020B0503020204020204" pitchFamily="34" charset="-122"/>
                          <a:cs typeface="Times New Roman" panose="02020603050405020304" pitchFamily="18" charset="0"/>
                        </a:rPr>
                        <m:t>越接近</m:t>
                      </m:r>
                      <m:r>
                        <a:rPr lang="en-US" altLang="zh-CN" dirty="0">
                          <a:solidFill>
                            <a:srgbClr val="000066"/>
                          </a:solidFill>
                          <a:latin typeface="Cambria Math" panose="02040503050406030204" pitchFamily="18" charset="0"/>
                          <a:ea typeface="微软雅黑" panose="020B0503020204020204" pitchFamily="34" charset="-122"/>
                          <a:cs typeface="Times New Roman" panose="02020603050405020304" pitchFamily="18" charset="0"/>
                        </a:rPr>
                        <m:t>1</m:t>
                      </m:r>
                      <m:r>
                        <a:rPr lang="zh-CN" altLang="en-US" dirty="0">
                          <a:solidFill>
                            <a:srgbClr val="000066"/>
                          </a:solidFill>
                          <a:latin typeface="Cambria Math" panose="02040503050406030204" pitchFamily="18" charset="0"/>
                          <a:ea typeface="微软雅黑" panose="020B0503020204020204" pitchFamily="34" charset="-122"/>
                          <a:cs typeface="Times New Roman" panose="02020603050405020304" pitchFamily="18" charset="0"/>
                        </a:rPr>
                        <m:t>，拟合得越好；越接近</m:t>
                      </m:r>
                      <m:r>
                        <a:rPr lang="en-US" altLang="zh-CN" dirty="0">
                          <a:solidFill>
                            <a:srgbClr val="000066"/>
                          </a:solidFill>
                          <a:latin typeface="Cambria Math" panose="02040503050406030204" pitchFamily="18" charset="0"/>
                          <a:ea typeface="微软雅黑" panose="020B0503020204020204" pitchFamily="34" charset="-122"/>
                          <a:cs typeface="Times New Roman" panose="02020603050405020304" pitchFamily="18" charset="0"/>
                        </a:rPr>
                        <m:t>0</m:t>
                      </m:r>
                      <m:r>
                        <a:rPr lang="zh-CN" altLang="en-US" dirty="0">
                          <a:solidFill>
                            <a:srgbClr val="000066"/>
                          </a:solidFill>
                          <a:latin typeface="Cambria Math" panose="02040503050406030204" pitchFamily="18" charset="0"/>
                          <a:ea typeface="微软雅黑" panose="020B0503020204020204" pitchFamily="34" charset="-122"/>
                          <a:cs typeface="Times New Roman" panose="02020603050405020304" pitchFamily="18" charset="0"/>
                        </a:rPr>
                        <m:t>，拟合得越差</m:t>
                      </m:r>
                    </m:oMath>
                  </m:oMathPara>
                </a14:m>
                <a:endParaRPr lang="zh-CN" altLang="en-US"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11" name="文本框 10">
                <a:extLst>
                  <a:ext uri="{FF2B5EF4-FFF2-40B4-BE49-F238E27FC236}">
                    <a16:creationId xmlns:a16="http://schemas.microsoft.com/office/drawing/2014/main" id="{CF439493-A1E5-4EA1-985F-27719FEA5696}"/>
                  </a:ext>
                </a:extLst>
              </p:cNvPr>
              <p:cNvSpPr txBox="1">
                <a:spLocks noRot="1" noChangeAspect="1" noMove="1" noResize="1" noEditPoints="1" noAdjustHandles="1" noChangeArrowheads="1" noChangeShapeType="1" noTextEdit="1"/>
              </p:cNvSpPr>
              <p:nvPr/>
            </p:nvSpPr>
            <p:spPr>
              <a:xfrm>
                <a:off x="1079612" y="3579862"/>
                <a:ext cx="7272808" cy="792268"/>
              </a:xfrm>
              <a:prstGeom prst="rect">
                <a:avLst/>
              </a:prstGeom>
              <a:blipFill>
                <a:blip r:embed="rId4"/>
                <a:stretch>
                  <a:fillRect b="-1538"/>
                </a:stretch>
              </a:blipFill>
            </p:spPr>
            <p:txBody>
              <a:bodyPr/>
              <a:lstStyle/>
              <a:p>
                <a:r>
                  <a:rPr lang="zh-CN" altLang="en-US">
                    <a:noFill/>
                  </a:rPr>
                  <a:t> </a:t>
                </a:r>
              </a:p>
            </p:txBody>
          </p:sp>
        </mc:Fallback>
      </mc:AlternateContent>
      <p:pic>
        <p:nvPicPr>
          <p:cNvPr id="9" name="图片 8">
            <a:extLst>
              <a:ext uri="{FF2B5EF4-FFF2-40B4-BE49-F238E27FC236}">
                <a16:creationId xmlns:a16="http://schemas.microsoft.com/office/drawing/2014/main" id="{93464AE3-3C39-4D5C-BA81-840E00E85422}"/>
              </a:ext>
            </a:extLst>
          </p:cNvPr>
          <p:cNvPicPr>
            <a:picLocks noChangeAspect="1"/>
          </p:cNvPicPr>
          <p:nvPr/>
        </p:nvPicPr>
        <p:blipFill rotWithShape="1">
          <a:blip r:embed="rId5"/>
          <a:srcRect b="25523"/>
          <a:stretch/>
        </p:blipFill>
        <p:spPr>
          <a:xfrm>
            <a:off x="5292080" y="2465579"/>
            <a:ext cx="3168352" cy="1042275"/>
          </a:xfrm>
          <a:prstGeom prst="rect">
            <a:avLst/>
          </a:prstGeom>
        </p:spPr>
      </p:pic>
    </p:spTree>
    <p:extLst>
      <p:ext uri="{BB962C8B-B14F-4D97-AF65-F5344CB8AC3E}">
        <p14:creationId xmlns:p14="http://schemas.microsoft.com/office/powerpoint/2010/main" val="3936007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7128792" cy="577618"/>
          </a:xfrm>
        </p:spPr>
        <p:txBody>
          <a:bodyPr>
            <a:noAutofit/>
          </a:bodyPr>
          <a:lstStyle/>
          <a:p>
            <a:r>
              <a:rPr lang="zh-CN" altLang="en-US" sz="2400">
                <a:solidFill>
                  <a:srgbClr val="FFFFFF"/>
                </a:solidFill>
                <a:latin typeface="Times New Roman" panose="02020603050405020304" pitchFamily="18" charset="0"/>
                <a:cs typeface="Times New Roman" panose="02020603050405020304" pitchFamily="18" charset="0"/>
              </a:rPr>
              <a:t>扩展学习二：</a:t>
            </a:r>
            <a:r>
              <a:rPr lang="en-US" altLang="zh-CN" sz="2400">
                <a:solidFill>
                  <a:srgbClr val="FFFFFF"/>
                </a:solidFill>
                <a:latin typeface="Times New Roman" panose="02020603050405020304" pitchFamily="18" charset="0"/>
                <a:cs typeface="Times New Roman" panose="02020603050405020304" pitchFamily="18" charset="0"/>
              </a:rPr>
              <a:t> k-</a:t>
            </a:r>
            <a:r>
              <a:rPr lang="zh-CN" altLang="en-US" sz="2400">
                <a:solidFill>
                  <a:srgbClr val="FFFFFF"/>
                </a:solidFill>
                <a:latin typeface="Times New Roman" panose="02020603050405020304" pitchFamily="18" charset="0"/>
                <a:cs typeface="Times New Roman" panose="02020603050405020304" pitchFamily="18" charset="0"/>
              </a:rPr>
              <a:t>近邻实现鸢尾花分类（数据来自文件）</a:t>
            </a:r>
            <a:endParaRPr lang="zh-CN" altLang="en-US" sz="2400" dirty="0"/>
          </a:p>
        </p:txBody>
      </p:sp>
      <p:sp>
        <p:nvSpPr>
          <p:cNvPr id="3" name="内容占位符 2"/>
          <p:cNvSpPr>
            <a:spLocks noGrp="1"/>
          </p:cNvSpPr>
          <p:nvPr>
            <p:ph idx="1"/>
          </p:nvPr>
        </p:nvSpPr>
        <p:spPr>
          <a:xfrm>
            <a:off x="611559" y="986626"/>
            <a:ext cx="7560841" cy="2809260"/>
          </a:xfrm>
        </p:spPr>
        <p:txBody>
          <a:bodyPr>
            <a:noAutofit/>
          </a:bodyPr>
          <a:lstStyle/>
          <a:p>
            <a:pPr marL="0" indent="0">
              <a:lnSpc>
                <a:spcPct val="150000"/>
              </a:lnSpc>
              <a:spcBef>
                <a:spcPts val="0"/>
              </a:spcBef>
              <a:buNone/>
            </a:pPr>
            <a:r>
              <a:rPr lang="zh-CN" altLang="en-US" sz="1800">
                <a:solidFill>
                  <a:srgbClr val="000066"/>
                </a:solidFill>
                <a:latin typeface="Times New Roman" panose="02020603050405020304" pitchFamily="18" charset="0"/>
                <a:cs typeface="Times New Roman" panose="02020603050405020304" pitchFamily="18" charset="0"/>
              </a:rPr>
              <a:t>       例</a:t>
            </a:r>
            <a:r>
              <a:rPr lang="zh-CN" altLang="en-US" sz="1800">
                <a:solidFill>
                  <a:srgbClr val="000066"/>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800">
                <a:solidFill>
                  <a:srgbClr val="000066"/>
                </a:solidFill>
                <a:latin typeface="Times New Roman" panose="02020603050405020304" pitchFamily="18" charset="0"/>
                <a:cs typeface="Times New Roman" panose="02020603050405020304" pitchFamily="18" charset="0"/>
              </a:rPr>
              <a:t> </a:t>
            </a:r>
            <a:r>
              <a:rPr lang="zh-CN" altLang="en-US" sz="1800">
                <a:solidFill>
                  <a:srgbClr val="000066"/>
                </a:solidFill>
                <a:latin typeface="Times New Roman" panose="02020603050405020304" pitchFamily="18" charset="0"/>
                <a:cs typeface="Times New Roman" panose="02020603050405020304" pitchFamily="18" charset="0"/>
              </a:rPr>
              <a:t>使用</a:t>
            </a:r>
            <a:r>
              <a:rPr lang="en-US" altLang="zh-CN" sz="1800">
                <a:solidFill>
                  <a:srgbClr val="000066"/>
                </a:solidFill>
                <a:latin typeface="Times New Roman" panose="02020603050405020304" pitchFamily="18" charset="0"/>
                <a:cs typeface="Times New Roman" panose="02020603050405020304" pitchFamily="18" charset="0"/>
              </a:rPr>
              <a:t>k-</a:t>
            </a:r>
            <a:r>
              <a:rPr lang="zh-CN" altLang="en-US" sz="1800">
                <a:solidFill>
                  <a:srgbClr val="000066"/>
                </a:solidFill>
                <a:latin typeface="Times New Roman" panose="02020603050405020304" pitchFamily="18" charset="0"/>
                <a:cs typeface="Times New Roman" panose="02020603050405020304" pitchFamily="18" charset="0"/>
              </a:rPr>
              <a:t>近邻算法训练并且测试鸢尾花分类模型</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623888" lvl="1" indent="-623888">
              <a:lnSpc>
                <a:spcPct val="150000"/>
              </a:lnSpc>
              <a:spcBef>
                <a:spcPts val="0"/>
              </a:spcBef>
              <a:buNone/>
            </a:pPr>
            <a:r>
              <a:rPr lang="zh-CN" altLang="en-US" sz="1800">
                <a:solidFill>
                  <a:srgbClr val="000066"/>
                </a:solidFill>
                <a:latin typeface="Times New Roman" panose="02020603050405020304" pitchFamily="18" charset="0"/>
                <a:cs typeface="Times New Roman" panose="02020603050405020304" pitchFamily="18" charset="0"/>
              </a:rPr>
              <a:t>                ① 训练集来自文件</a:t>
            </a:r>
            <a:r>
              <a:rPr lang="en-US" altLang="zh-CN" sz="1800">
                <a:solidFill>
                  <a:srgbClr val="000066"/>
                </a:solidFill>
                <a:latin typeface="Times New Roman" panose="02020603050405020304" pitchFamily="18" charset="0"/>
                <a:cs typeface="Times New Roman" panose="02020603050405020304" pitchFamily="18" charset="0"/>
              </a:rPr>
              <a:t>Iris15.txt</a:t>
            </a:r>
            <a:r>
              <a:rPr lang="zh-CN" altLang="en-US" sz="1800">
                <a:solidFill>
                  <a:srgbClr val="000066"/>
                </a:solidFill>
                <a:latin typeface="Times New Roman" panose="02020603050405020304" pitchFamily="18" charset="0"/>
                <a:cs typeface="Times New Roman" panose="02020603050405020304" pitchFamily="18" charset="0"/>
              </a:rPr>
              <a:t>，测试集来自文件</a:t>
            </a:r>
            <a:r>
              <a:rPr lang="en-US" altLang="zh-CN" sz="1800">
                <a:solidFill>
                  <a:srgbClr val="000066"/>
                </a:solidFill>
                <a:latin typeface="Times New Roman" panose="02020603050405020304" pitchFamily="18" charset="0"/>
                <a:cs typeface="Times New Roman" panose="02020603050405020304" pitchFamily="18" charset="0"/>
              </a:rPr>
              <a:t>Iris6.txt</a:t>
            </a:r>
          </a:p>
          <a:p>
            <a:pPr marL="623888" lvl="1" indent="-623888">
              <a:lnSpc>
                <a:spcPct val="150000"/>
              </a:lnSpc>
              <a:spcBef>
                <a:spcPts val="0"/>
              </a:spcBef>
              <a:buNone/>
            </a:pPr>
            <a:r>
              <a:rPr lang="zh-CN" altLang="en-US" sz="1800">
                <a:solidFill>
                  <a:srgbClr val="000066"/>
                </a:solidFill>
                <a:latin typeface="Times New Roman" panose="02020603050405020304" pitchFamily="18" charset="0"/>
                <a:cs typeface="Times New Roman" panose="02020603050405020304" pitchFamily="18" charset="0"/>
              </a:rPr>
              <a:t>                </a:t>
            </a:r>
            <a:r>
              <a:rPr lang="zh-CN" altLang="en-US" sz="1800">
                <a:solidFill>
                  <a:srgbClr val="000066"/>
                </a:solidFill>
                <a:cs typeface="Times New Roman" panose="02020603050405020304" pitchFamily="18" charset="0"/>
              </a:rPr>
              <a:t>②</a:t>
            </a:r>
            <a:r>
              <a:rPr lang="zh-CN" altLang="en-US" sz="1800">
                <a:solidFill>
                  <a:srgbClr val="000066"/>
                </a:solidFill>
                <a:latin typeface="Times New Roman" panose="02020603050405020304" pitchFamily="18" charset="0"/>
                <a:cs typeface="Times New Roman" panose="02020603050405020304" pitchFamily="18" charset="0"/>
              </a:rPr>
              <a:t> 使用训练集训练</a:t>
            </a:r>
            <a:r>
              <a:rPr lang="en-US" altLang="zh-CN" sz="1800">
                <a:solidFill>
                  <a:srgbClr val="000066"/>
                </a:solidFill>
                <a:latin typeface="Times New Roman" panose="02020603050405020304" pitchFamily="18" charset="0"/>
                <a:cs typeface="Times New Roman" panose="02020603050405020304" pitchFamily="18" charset="0"/>
              </a:rPr>
              <a:t>K</a:t>
            </a:r>
            <a:r>
              <a:rPr lang="zh-CN" altLang="en-US" sz="1800">
                <a:solidFill>
                  <a:srgbClr val="000066"/>
                </a:solidFill>
                <a:latin typeface="Times New Roman" panose="02020603050405020304" pitchFamily="18" charset="0"/>
                <a:cs typeface="Times New Roman" panose="02020603050405020304" pitchFamily="18" charset="0"/>
              </a:rPr>
              <a:t>近邻模型</a:t>
            </a:r>
            <a:endParaRPr lang="en-US" altLang="zh-CN" sz="1800">
              <a:solidFill>
                <a:srgbClr val="000066"/>
              </a:solidFill>
              <a:latin typeface="Times New Roman" panose="02020603050405020304" pitchFamily="18" charset="0"/>
              <a:cs typeface="Times New Roman" panose="02020603050405020304" pitchFamily="18" charset="0"/>
            </a:endParaRPr>
          </a:p>
          <a:p>
            <a:pPr marL="623888" lvl="1" indent="-623888">
              <a:lnSpc>
                <a:spcPct val="150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                </a:t>
            </a:r>
            <a:r>
              <a:rPr lang="en-US" altLang="zh-CN" sz="1800">
                <a:solidFill>
                  <a:srgbClr val="000066"/>
                </a:solidFill>
                <a:cs typeface="Times New Roman" panose="02020603050405020304" pitchFamily="18" charset="0"/>
              </a:rPr>
              <a:t>③</a:t>
            </a:r>
            <a:r>
              <a:rPr lang="en-US" altLang="zh-CN" sz="1800">
                <a:solidFill>
                  <a:srgbClr val="000066"/>
                </a:solidFill>
                <a:latin typeface="Times New Roman" panose="02020603050405020304" pitchFamily="18" charset="0"/>
                <a:cs typeface="Times New Roman" panose="02020603050405020304" pitchFamily="18" charset="0"/>
              </a:rPr>
              <a:t> </a:t>
            </a:r>
            <a:r>
              <a:rPr lang="zh-CN" altLang="en-US" sz="1800">
                <a:solidFill>
                  <a:srgbClr val="000066"/>
                </a:solidFill>
                <a:latin typeface="Times New Roman" panose="02020603050405020304" pitchFamily="18" charset="0"/>
                <a:cs typeface="Times New Roman" panose="02020603050405020304" pitchFamily="18" charset="0"/>
              </a:rPr>
              <a:t>利用测试集测试模型</a:t>
            </a:r>
            <a:endParaRPr lang="en-US" altLang="zh-CN" sz="1800">
              <a:solidFill>
                <a:srgbClr val="00006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1412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42">
            <a:extLst>
              <a:ext uri="{FF2B5EF4-FFF2-40B4-BE49-F238E27FC236}">
                <a16:creationId xmlns:a16="http://schemas.microsoft.com/office/drawing/2014/main" id="{6704E9CE-D3CD-424A-9ED4-0160D76022EA}"/>
              </a:ext>
            </a:extLst>
          </p:cNvPr>
          <p:cNvSpPr/>
          <p:nvPr/>
        </p:nvSpPr>
        <p:spPr bwMode="gray">
          <a:xfrm>
            <a:off x="1090187" y="3883530"/>
            <a:ext cx="3769832" cy="504056"/>
          </a:xfrm>
          <a:prstGeom prst="rect">
            <a:avLst/>
          </a:prstGeom>
          <a:solidFill>
            <a:srgbClr val="66CCFF"/>
          </a:solidFill>
          <a:ln w="9525">
            <a:noFill/>
            <a:miter lim="800000"/>
            <a:headEnd/>
            <a:tailEnd/>
          </a:ln>
          <a:effectLst/>
        </p:spPr>
        <p:txBody>
          <a:bodyPr wrap="none"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400" b="1"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endParaRPr>
          </a:p>
        </p:txBody>
      </p:sp>
      <p:sp>
        <p:nvSpPr>
          <p:cNvPr id="44" name="矩形 43">
            <a:extLst>
              <a:ext uri="{FF2B5EF4-FFF2-40B4-BE49-F238E27FC236}">
                <a16:creationId xmlns:a16="http://schemas.microsoft.com/office/drawing/2014/main" id="{B374D855-E305-4493-A5F8-CDBEFBD45E34}"/>
              </a:ext>
            </a:extLst>
          </p:cNvPr>
          <p:cNvSpPr/>
          <p:nvPr/>
        </p:nvSpPr>
        <p:spPr bwMode="gray">
          <a:xfrm>
            <a:off x="1090188" y="3197098"/>
            <a:ext cx="3769832" cy="675659"/>
          </a:xfrm>
          <a:prstGeom prst="rect">
            <a:avLst/>
          </a:prstGeom>
          <a:solidFill>
            <a:srgbClr val="CCECFF"/>
          </a:solidFill>
          <a:ln w="9525">
            <a:noFill/>
            <a:miter lim="800000"/>
            <a:headEnd/>
            <a:tailEnd/>
          </a:ln>
          <a:effectLst/>
        </p:spPr>
        <p:txBody>
          <a:bodyPr wrap="none"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400" b="1"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endParaRPr>
          </a:p>
        </p:txBody>
      </p:sp>
      <p:sp>
        <p:nvSpPr>
          <p:cNvPr id="45" name="矩形 44">
            <a:extLst>
              <a:ext uri="{FF2B5EF4-FFF2-40B4-BE49-F238E27FC236}">
                <a16:creationId xmlns:a16="http://schemas.microsoft.com/office/drawing/2014/main" id="{46E124E8-F459-4D9B-AA8D-28055E31918D}"/>
              </a:ext>
            </a:extLst>
          </p:cNvPr>
          <p:cNvSpPr/>
          <p:nvPr/>
        </p:nvSpPr>
        <p:spPr bwMode="gray">
          <a:xfrm>
            <a:off x="1090188" y="2693043"/>
            <a:ext cx="3769831" cy="504056"/>
          </a:xfrm>
          <a:prstGeom prst="rect">
            <a:avLst/>
          </a:prstGeom>
          <a:solidFill>
            <a:srgbClr val="CCFFCC"/>
          </a:solidFill>
          <a:ln w="9525">
            <a:noFill/>
            <a:miter lim="800000"/>
            <a:headEnd/>
            <a:tailEnd/>
          </a:ln>
          <a:effectLst/>
        </p:spPr>
        <p:txBody>
          <a:bodyPr wrap="none"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400" b="1"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endParaRPr>
          </a:p>
        </p:txBody>
      </p:sp>
      <p:sp>
        <p:nvSpPr>
          <p:cNvPr id="46" name="矩形 45">
            <a:extLst>
              <a:ext uri="{FF2B5EF4-FFF2-40B4-BE49-F238E27FC236}">
                <a16:creationId xmlns:a16="http://schemas.microsoft.com/office/drawing/2014/main" id="{BA66464F-2419-495C-B202-7DC1BB29A773}"/>
              </a:ext>
            </a:extLst>
          </p:cNvPr>
          <p:cNvSpPr/>
          <p:nvPr/>
        </p:nvSpPr>
        <p:spPr bwMode="gray">
          <a:xfrm>
            <a:off x="1090187" y="1923678"/>
            <a:ext cx="3769831" cy="769365"/>
          </a:xfrm>
          <a:prstGeom prst="rect">
            <a:avLst/>
          </a:prstGeom>
          <a:solidFill>
            <a:schemeClr val="bg1">
              <a:lumMod val="85000"/>
            </a:schemeClr>
          </a:solidFill>
          <a:ln w="9525">
            <a:noFill/>
            <a:miter lim="800000"/>
            <a:headEnd/>
            <a:tailEnd/>
          </a:ln>
          <a:effectLst/>
        </p:spPr>
        <p:txBody>
          <a:bodyPr wrap="none"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400" b="1"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endParaRPr>
          </a:p>
        </p:txBody>
      </p:sp>
      <p:sp>
        <p:nvSpPr>
          <p:cNvPr id="41" name="内容占位符 2">
            <a:extLst>
              <a:ext uri="{FF2B5EF4-FFF2-40B4-BE49-F238E27FC236}">
                <a16:creationId xmlns:a16="http://schemas.microsoft.com/office/drawing/2014/main" id="{A454FBA2-690C-41E5-8ADC-6D6614984495}"/>
              </a:ext>
            </a:extLst>
          </p:cNvPr>
          <p:cNvSpPr>
            <a:spLocks noGrp="1"/>
          </p:cNvSpPr>
          <p:nvPr>
            <p:ph idx="1"/>
          </p:nvPr>
        </p:nvSpPr>
        <p:spPr>
          <a:xfrm>
            <a:off x="611559" y="986627"/>
            <a:ext cx="7200801" cy="3529340"/>
          </a:xfrm>
        </p:spPr>
        <p:txBody>
          <a:bodyPr>
            <a:noAutofit/>
          </a:bodyPr>
          <a:lstStyle/>
          <a:p>
            <a:pPr marL="0" indent="0">
              <a:lnSpc>
                <a:spcPct val="150000"/>
              </a:lnSpc>
              <a:spcBef>
                <a:spcPts val="0"/>
              </a:spcBef>
              <a:buNone/>
            </a:pPr>
            <a:r>
              <a:rPr lang="zh-CN" altLang="en-US" sz="1800">
                <a:solidFill>
                  <a:srgbClr val="C00000"/>
                </a:solidFill>
                <a:latin typeface="Times New Roman" panose="02020603050405020304" pitchFamily="18" charset="0"/>
                <a:cs typeface="Times New Roman" panose="02020603050405020304" pitchFamily="18" charset="0"/>
              </a:rPr>
              <a:t>数据来自文件</a:t>
            </a:r>
            <a:endParaRPr lang="en-US" altLang="zh-CN" sz="1800">
              <a:solidFill>
                <a:srgbClr val="C00000"/>
              </a:solidFill>
              <a:latin typeface="Times New Roman" panose="02020603050405020304" pitchFamily="18" charset="0"/>
              <a:cs typeface="Times New Roman" panose="02020603050405020304" pitchFamily="18" charset="0"/>
            </a:endParaRPr>
          </a:p>
          <a:p>
            <a:pPr marL="486000" lvl="2" indent="0">
              <a:lnSpc>
                <a:spcPct val="100000"/>
              </a:lnSpc>
              <a:spcBef>
                <a:spcPts val="0"/>
              </a:spcBef>
              <a:buNone/>
            </a:pPr>
            <a:r>
              <a:rPr lang="en-US" altLang="zh-CN" sz="1600">
                <a:solidFill>
                  <a:srgbClr val="002060"/>
                </a:solidFill>
                <a:latin typeface="Times New Roman" panose="02020603050405020304" pitchFamily="18" charset="0"/>
                <a:cs typeface="Times New Roman" panose="02020603050405020304" pitchFamily="18" charset="0"/>
              </a:rPr>
              <a:t>import numpy as np</a:t>
            </a:r>
          </a:p>
          <a:p>
            <a:pPr marL="486000" lvl="2" indent="0">
              <a:lnSpc>
                <a:spcPct val="100000"/>
              </a:lnSpc>
              <a:spcBef>
                <a:spcPts val="0"/>
              </a:spcBef>
              <a:buNone/>
            </a:pPr>
            <a:r>
              <a:rPr lang="en-US" altLang="zh-CN" sz="1600">
                <a:solidFill>
                  <a:srgbClr val="002060"/>
                </a:solidFill>
                <a:latin typeface="Times New Roman" panose="02020603050405020304" pitchFamily="18" charset="0"/>
                <a:cs typeface="Times New Roman" panose="02020603050405020304" pitchFamily="18" charset="0"/>
              </a:rPr>
              <a:t>from sklearn.neighbors import KNeighborsClassifier</a:t>
            </a:r>
          </a:p>
          <a:p>
            <a:pPr marL="486000" lvl="2" indent="0">
              <a:lnSpc>
                <a:spcPct val="100000"/>
              </a:lnSpc>
              <a:spcBef>
                <a:spcPts val="0"/>
              </a:spcBef>
              <a:buNone/>
            </a:pPr>
            <a:r>
              <a:rPr lang="en-US" altLang="zh-CN" sz="1600">
                <a:solidFill>
                  <a:srgbClr val="002060"/>
                </a:solidFill>
                <a:latin typeface="Times New Roman" panose="02020603050405020304" pitchFamily="18" charset="0"/>
                <a:cs typeface="Times New Roman" panose="02020603050405020304" pitchFamily="18" charset="0"/>
              </a:rPr>
              <a:t>iris15= np.loadtxt("C:\Test\</a:t>
            </a:r>
            <a:r>
              <a:rPr lang="en-US" altLang="zh-CN" sz="1600" u="heavy">
                <a:solidFill>
                  <a:srgbClr val="C00000"/>
                </a:solidFill>
                <a:latin typeface="Times New Roman" panose="02020603050405020304" pitchFamily="18" charset="0"/>
                <a:cs typeface="Times New Roman" panose="02020603050405020304" pitchFamily="18" charset="0"/>
              </a:rPr>
              <a:t>Iris15.txt</a:t>
            </a:r>
            <a:r>
              <a:rPr lang="en-US" altLang="zh-CN" sz="1600">
                <a:solidFill>
                  <a:srgbClr val="002060"/>
                </a:solidFill>
                <a:latin typeface="Times New Roman" panose="02020603050405020304" pitchFamily="18" charset="0"/>
                <a:cs typeface="Times New Roman" panose="02020603050405020304" pitchFamily="18" charset="0"/>
              </a:rPr>
              <a:t>")</a:t>
            </a:r>
          </a:p>
          <a:p>
            <a:pPr marL="486000" lvl="2" indent="0">
              <a:lnSpc>
                <a:spcPct val="100000"/>
              </a:lnSpc>
              <a:spcBef>
                <a:spcPts val="0"/>
              </a:spcBef>
              <a:buNone/>
            </a:pPr>
            <a:r>
              <a:rPr lang="en-US" altLang="zh-CN" sz="1600">
                <a:solidFill>
                  <a:srgbClr val="002060"/>
                </a:solidFill>
                <a:latin typeface="Times New Roman" panose="02020603050405020304" pitchFamily="18" charset="0"/>
                <a:cs typeface="Times New Roman" panose="02020603050405020304" pitchFamily="18" charset="0"/>
              </a:rPr>
              <a:t>X_Train=iris15[:,0:4] 				</a:t>
            </a:r>
            <a:endParaRPr lang="zh-CN" altLang="en-US" sz="1600">
              <a:solidFill>
                <a:srgbClr val="002060"/>
              </a:solidFill>
              <a:latin typeface="Times New Roman" panose="02020603050405020304" pitchFamily="18" charset="0"/>
              <a:cs typeface="Times New Roman" panose="02020603050405020304" pitchFamily="18" charset="0"/>
            </a:endParaRPr>
          </a:p>
          <a:p>
            <a:pPr marL="486000" lvl="2" indent="0">
              <a:lnSpc>
                <a:spcPct val="100000"/>
              </a:lnSpc>
              <a:spcBef>
                <a:spcPts val="0"/>
              </a:spcBef>
              <a:buNone/>
            </a:pPr>
            <a:r>
              <a:rPr lang="en-US" altLang="zh-CN" sz="1600">
                <a:solidFill>
                  <a:srgbClr val="002060"/>
                </a:solidFill>
                <a:latin typeface="Times New Roman" panose="02020603050405020304" pitchFamily="18" charset="0"/>
                <a:cs typeface="Times New Roman" panose="02020603050405020304" pitchFamily="18" charset="0"/>
              </a:rPr>
              <a:t>y_Train=iris15[:,4]  				</a:t>
            </a:r>
            <a:endParaRPr lang="zh-CN" altLang="en-US" sz="1600">
              <a:solidFill>
                <a:srgbClr val="002060"/>
              </a:solidFill>
              <a:latin typeface="Times New Roman" panose="02020603050405020304" pitchFamily="18" charset="0"/>
              <a:cs typeface="Times New Roman" panose="02020603050405020304" pitchFamily="18" charset="0"/>
            </a:endParaRPr>
          </a:p>
          <a:p>
            <a:pPr marL="486000" lvl="2" indent="0">
              <a:lnSpc>
                <a:spcPct val="100000"/>
              </a:lnSpc>
              <a:spcBef>
                <a:spcPts val="0"/>
              </a:spcBef>
              <a:buNone/>
            </a:pPr>
            <a:r>
              <a:rPr lang="en-US" altLang="zh-CN" sz="1600">
                <a:solidFill>
                  <a:srgbClr val="002060"/>
                </a:solidFill>
                <a:latin typeface="Times New Roman" panose="02020603050405020304" pitchFamily="18" charset="0"/>
                <a:cs typeface="Times New Roman" panose="02020603050405020304" pitchFamily="18" charset="0"/>
              </a:rPr>
              <a:t>knn = KNeighborsClassifier(n_neighbors=3)</a:t>
            </a:r>
            <a:endParaRPr lang="zh-CN" altLang="en-US" sz="1600">
              <a:solidFill>
                <a:srgbClr val="002060"/>
              </a:solidFill>
              <a:latin typeface="Times New Roman" panose="02020603050405020304" pitchFamily="18" charset="0"/>
              <a:cs typeface="Times New Roman" panose="02020603050405020304" pitchFamily="18" charset="0"/>
            </a:endParaRPr>
          </a:p>
          <a:p>
            <a:pPr marL="486000" lvl="2" indent="0">
              <a:lnSpc>
                <a:spcPct val="100000"/>
              </a:lnSpc>
              <a:spcBef>
                <a:spcPts val="0"/>
              </a:spcBef>
              <a:buNone/>
            </a:pPr>
            <a:r>
              <a:rPr lang="en-US" altLang="zh-CN" sz="1600">
                <a:solidFill>
                  <a:srgbClr val="002060"/>
                </a:solidFill>
                <a:latin typeface="Times New Roman" panose="02020603050405020304" pitchFamily="18" charset="0"/>
                <a:cs typeface="Times New Roman" panose="02020603050405020304" pitchFamily="18" charset="0"/>
              </a:rPr>
              <a:t>knn.fit(X_Train,y_Train)   			</a:t>
            </a:r>
            <a:endParaRPr lang="zh-CN" altLang="en-US" sz="1600">
              <a:solidFill>
                <a:srgbClr val="002060"/>
              </a:solidFill>
              <a:latin typeface="Times New Roman" panose="02020603050405020304" pitchFamily="18" charset="0"/>
              <a:cs typeface="Times New Roman" panose="02020603050405020304" pitchFamily="18" charset="0"/>
            </a:endParaRPr>
          </a:p>
          <a:p>
            <a:pPr marL="486000" lvl="2" indent="0">
              <a:lnSpc>
                <a:spcPct val="100000"/>
              </a:lnSpc>
              <a:spcBef>
                <a:spcPts val="0"/>
              </a:spcBef>
              <a:buNone/>
            </a:pPr>
            <a:r>
              <a:rPr lang="en-US" altLang="zh-CN" sz="1600">
                <a:solidFill>
                  <a:srgbClr val="002060"/>
                </a:solidFill>
                <a:latin typeface="Times New Roman" panose="02020603050405020304" pitchFamily="18" charset="0"/>
                <a:cs typeface="Times New Roman" panose="02020603050405020304" pitchFamily="18" charset="0"/>
              </a:rPr>
              <a:t>iris6= np.loadtxt("C:\Test\</a:t>
            </a:r>
            <a:r>
              <a:rPr lang="en-US" altLang="zh-CN" sz="1600" u="heavy">
                <a:solidFill>
                  <a:srgbClr val="C00000"/>
                </a:solidFill>
                <a:latin typeface="Times New Roman" panose="02020603050405020304" pitchFamily="18" charset="0"/>
                <a:cs typeface="Times New Roman" panose="02020603050405020304" pitchFamily="18" charset="0"/>
              </a:rPr>
              <a:t>Iris6.txt</a:t>
            </a:r>
            <a:r>
              <a:rPr lang="en-US" altLang="zh-CN" sz="1600">
                <a:solidFill>
                  <a:srgbClr val="002060"/>
                </a:solidFill>
                <a:latin typeface="Times New Roman" panose="02020603050405020304" pitchFamily="18" charset="0"/>
                <a:cs typeface="Times New Roman" panose="02020603050405020304" pitchFamily="18" charset="0"/>
              </a:rPr>
              <a:t>")</a:t>
            </a:r>
          </a:p>
          <a:p>
            <a:pPr marL="486000" lvl="2" indent="0">
              <a:lnSpc>
                <a:spcPct val="100000"/>
              </a:lnSpc>
              <a:spcBef>
                <a:spcPts val="0"/>
              </a:spcBef>
              <a:buNone/>
            </a:pPr>
            <a:r>
              <a:rPr lang="en-US" altLang="zh-CN" sz="1600">
                <a:solidFill>
                  <a:srgbClr val="002060"/>
                </a:solidFill>
                <a:latin typeface="Times New Roman" panose="02020603050405020304" pitchFamily="18" charset="0"/>
                <a:cs typeface="Times New Roman" panose="02020603050405020304" pitchFamily="18" charset="0"/>
              </a:rPr>
              <a:t>X_Test=iris6[:,0:4] 				</a:t>
            </a:r>
            <a:endParaRPr lang="zh-CN" altLang="en-US" sz="1600">
              <a:solidFill>
                <a:srgbClr val="002060"/>
              </a:solidFill>
              <a:latin typeface="Times New Roman" panose="02020603050405020304" pitchFamily="18" charset="0"/>
              <a:cs typeface="Times New Roman" panose="02020603050405020304" pitchFamily="18" charset="0"/>
            </a:endParaRPr>
          </a:p>
          <a:p>
            <a:pPr marL="486000" lvl="2" indent="0">
              <a:lnSpc>
                <a:spcPct val="100000"/>
              </a:lnSpc>
              <a:spcBef>
                <a:spcPts val="0"/>
              </a:spcBef>
              <a:buNone/>
            </a:pPr>
            <a:r>
              <a:rPr lang="en-US" altLang="zh-CN" sz="1600">
                <a:solidFill>
                  <a:srgbClr val="002060"/>
                </a:solidFill>
                <a:latin typeface="Times New Roman" panose="02020603050405020304" pitchFamily="18" charset="0"/>
                <a:cs typeface="Times New Roman" panose="02020603050405020304" pitchFamily="18" charset="0"/>
              </a:rPr>
              <a:t>y_Test=iris6[:,4]  				</a:t>
            </a:r>
            <a:endParaRPr lang="zh-CN" altLang="en-US" sz="1600">
              <a:solidFill>
                <a:srgbClr val="002060"/>
              </a:solidFill>
              <a:latin typeface="Times New Roman" panose="02020603050405020304" pitchFamily="18" charset="0"/>
              <a:cs typeface="Times New Roman" panose="02020603050405020304" pitchFamily="18" charset="0"/>
            </a:endParaRPr>
          </a:p>
          <a:p>
            <a:pPr marL="486000" lvl="2" indent="0">
              <a:lnSpc>
                <a:spcPct val="100000"/>
              </a:lnSpc>
              <a:spcBef>
                <a:spcPts val="0"/>
              </a:spcBef>
              <a:buNone/>
            </a:pPr>
            <a:r>
              <a:rPr lang="en-US" altLang="zh-CN" sz="1600">
                <a:solidFill>
                  <a:srgbClr val="002060"/>
                </a:solidFill>
                <a:latin typeface="Times New Roman" panose="02020603050405020304" pitchFamily="18" charset="0"/>
                <a:cs typeface="Times New Roman" panose="02020603050405020304" pitchFamily="18" charset="0"/>
              </a:rPr>
              <a:t>score=knn.score(X_Test,y_Test)	</a:t>
            </a:r>
          </a:p>
          <a:p>
            <a:pPr marL="486000" lvl="2" indent="0">
              <a:lnSpc>
                <a:spcPct val="100000"/>
              </a:lnSpc>
              <a:spcBef>
                <a:spcPts val="0"/>
              </a:spcBef>
              <a:buNone/>
            </a:pPr>
            <a:r>
              <a:rPr lang="en-US" altLang="zh-CN" sz="1600">
                <a:solidFill>
                  <a:srgbClr val="002060"/>
                </a:solidFill>
                <a:latin typeface="Times New Roman" panose="02020603050405020304" pitchFamily="18" charset="0"/>
                <a:cs typeface="Times New Roman" panose="02020603050405020304" pitchFamily="18" charset="0"/>
              </a:rPr>
              <a:t>print(score)	</a:t>
            </a:r>
            <a:r>
              <a:rPr lang="zh-CN" altLang="en-US" sz="180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18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endParaRPr>
          </a:p>
          <a:p>
            <a:pPr marL="0" indent="0">
              <a:lnSpc>
                <a:spcPct val="150000"/>
              </a:lnSpc>
              <a:spcBef>
                <a:spcPts val="0"/>
              </a:spcBef>
              <a:buNone/>
            </a:pPr>
            <a:r>
              <a:rPr lang="en-US" altLang="zh-CN" sz="180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1800" dirty="0">
              <a:solidFill>
                <a:srgbClr val="000066"/>
              </a:solidFill>
              <a:latin typeface="Times New Roman" panose="02020603050405020304" pitchFamily="18" charset="0"/>
              <a:cs typeface="Times New Roman" panose="02020603050405020304" pitchFamily="18" charset="0"/>
            </a:endParaRPr>
          </a:p>
        </p:txBody>
      </p:sp>
      <p:pic>
        <p:nvPicPr>
          <p:cNvPr id="47" name="图片 46">
            <a:extLst>
              <a:ext uri="{FF2B5EF4-FFF2-40B4-BE49-F238E27FC236}">
                <a16:creationId xmlns:a16="http://schemas.microsoft.com/office/drawing/2014/main" id="{F080F6BE-9A7C-47EC-8D32-543D83EE5ACF}"/>
              </a:ext>
            </a:extLst>
          </p:cNvPr>
          <p:cNvPicPr>
            <a:picLocks noChangeAspect="1"/>
          </p:cNvPicPr>
          <p:nvPr/>
        </p:nvPicPr>
        <p:blipFill>
          <a:blip r:embed="rId3"/>
          <a:stretch>
            <a:fillRect/>
          </a:stretch>
        </p:blipFill>
        <p:spPr>
          <a:xfrm>
            <a:off x="7188937" y="986627"/>
            <a:ext cx="1933194" cy="4176352"/>
          </a:xfrm>
          <a:prstGeom prst="rect">
            <a:avLst/>
          </a:prstGeom>
        </p:spPr>
      </p:pic>
      <p:pic>
        <p:nvPicPr>
          <p:cNvPr id="48" name="图片 47">
            <a:extLst>
              <a:ext uri="{FF2B5EF4-FFF2-40B4-BE49-F238E27FC236}">
                <a16:creationId xmlns:a16="http://schemas.microsoft.com/office/drawing/2014/main" id="{EC268812-E8CE-47E1-90EF-A577FF6848BF}"/>
              </a:ext>
            </a:extLst>
          </p:cNvPr>
          <p:cNvPicPr>
            <a:picLocks noChangeAspect="1"/>
          </p:cNvPicPr>
          <p:nvPr/>
        </p:nvPicPr>
        <p:blipFill>
          <a:blip r:embed="rId4"/>
          <a:stretch>
            <a:fillRect/>
          </a:stretch>
        </p:blipFill>
        <p:spPr>
          <a:xfrm>
            <a:off x="5255741" y="2676260"/>
            <a:ext cx="1933194" cy="2490216"/>
          </a:xfrm>
          <a:prstGeom prst="rect">
            <a:avLst/>
          </a:prstGeom>
        </p:spPr>
      </p:pic>
      <p:cxnSp>
        <p:nvCxnSpPr>
          <p:cNvPr id="59" name="直接箭头连接符 58">
            <a:extLst>
              <a:ext uri="{FF2B5EF4-FFF2-40B4-BE49-F238E27FC236}">
                <a16:creationId xmlns:a16="http://schemas.microsoft.com/office/drawing/2014/main" id="{8F0DB5D1-9983-487B-897E-7C5003FF0FC0}"/>
              </a:ext>
            </a:extLst>
          </p:cNvPr>
          <p:cNvCxnSpPr/>
          <p:nvPr/>
        </p:nvCxnSpPr>
        <p:spPr>
          <a:xfrm>
            <a:off x="3707904" y="2139702"/>
            <a:ext cx="0" cy="168658"/>
          </a:xfrm>
          <a:prstGeom prst="straightConnector1">
            <a:avLst/>
          </a:prstGeom>
          <a:ln w="19050">
            <a:solidFill>
              <a:schemeClr val="accent1"/>
            </a:solidFill>
            <a:tailEnd type="none"/>
          </a:ln>
        </p:spPr>
        <p:style>
          <a:lnRef idx="1">
            <a:schemeClr val="accent1"/>
          </a:lnRef>
          <a:fillRef idx="0">
            <a:schemeClr val="accent1"/>
          </a:fillRef>
          <a:effectRef idx="0">
            <a:schemeClr val="accent1"/>
          </a:effectRef>
          <a:fontRef idx="minor">
            <a:schemeClr val="tx1"/>
          </a:fontRef>
        </p:style>
      </p:cxnSp>
      <p:cxnSp>
        <p:nvCxnSpPr>
          <p:cNvPr id="61" name="直接箭头连接符 60">
            <a:extLst>
              <a:ext uri="{FF2B5EF4-FFF2-40B4-BE49-F238E27FC236}">
                <a16:creationId xmlns:a16="http://schemas.microsoft.com/office/drawing/2014/main" id="{901B13DA-9123-47CD-972C-5403754C929A}"/>
              </a:ext>
            </a:extLst>
          </p:cNvPr>
          <p:cNvCxnSpPr/>
          <p:nvPr/>
        </p:nvCxnSpPr>
        <p:spPr>
          <a:xfrm>
            <a:off x="3707904" y="2308360"/>
            <a:ext cx="3481031"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a:extLst>
              <a:ext uri="{FF2B5EF4-FFF2-40B4-BE49-F238E27FC236}">
                <a16:creationId xmlns:a16="http://schemas.microsoft.com/office/drawing/2014/main" id="{FB8785F4-9824-4E85-AE2E-7BF3CA196B9B}"/>
              </a:ext>
            </a:extLst>
          </p:cNvPr>
          <p:cNvCxnSpPr/>
          <p:nvPr/>
        </p:nvCxnSpPr>
        <p:spPr>
          <a:xfrm>
            <a:off x="3563888" y="3363838"/>
            <a:ext cx="0" cy="168658"/>
          </a:xfrm>
          <a:prstGeom prst="straightConnector1">
            <a:avLst/>
          </a:prstGeom>
          <a:ln w="19050">
            <a:solidFill>
              <a:schemeClr val="accent1"/>
            </a:solidFill>
            <a:tailEnd type="none"/>
          </a:ln>
        </p:spPr>
        <p:style>
          <a:lnRef idx="1">
            <a:schemeClr val="accent1"/>
          </a:lnRef>
          <a:fillRef idx="0">
            <a:schemeClr val="accent1"/>
          </a:fillRef>
          <a:effectRef idx="0">
            <a:schemeClr val="accent1"/>
          </a:effectRef>
          <a:fontRef idx="minor">
            <a:schemeClr val="tx1"/>
          </a:fontRef>
        </p:style>
      </p:cxnSp>
      <p:cxnSp>
        <p:nvCxnSpPr>
          <p:cNvPr id="63" name="直接箭头连接符 62">
            <a:extLst>
              <a:ext uri="{FF2B5EF4-FFF2-40B4-BE49-F238E27FC236}">
                <a16:creationId xmlns:a16="http://schemas.microsoft.com/office/drawing/2014/main" id="{B9216498-9F20-47F4-A126-0FA5B3CE7A01}"/>
              </a:ext>
            </a:extLst>
          </p:cNvPr>
          <p:cNvCxnSpPr>
            <a:cxnSpLocks/>
          </p:cNvCxnSpPr>
          <p:nvPr/>
        </p:nvCxnSpPr>
        <p:spPr>
          <a:xfrm>
            <a:off x="3563888" y="3532496"/>
            <a:ext cx="1691853"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66">
            <a:extLst>
              <a:ext uri="{FF2B5EF4-FFF2-40B4-BE49-F238E27FC236}">
                <a16:creationId xmlns:a16="http://schemas.microsoft.com/office/drawing/2014/main" id="{E18BC16F-1605-4578-9417-8F6E1A348573}"/>
              </a:ext>
            </a:extLst>
          </p:cNvPr>
          <p:cNvCxnSpPr>
            <a:cxnSpLocks/>
          </p:cNvCxnSpPr>
          <p:nvPr/>
        </p:nvCxnSpPr>
        <p:spPr>
          <a:xfrm flipH="1">
            <a:off x="525760" y="1851622"/>
            <a:ext cx="1" cy="28808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接箭头连接符 67">
            <a:extLst>
              <a:ext uri="{FF2B5EF4-FFF2-40B4-BE49-F238E27FC236}">
                <a16:creationId xmlns:a16="http://schemas.microsoft.com/office/drawing/2014/main" id="{6FFF63B9-38FE-43FB-9228-71289DCEFB16}"/>
              </a:ext>
            </a:extLst>
          </p:cNvPr>
          <p:cNvCxnSpPr>
            <a:cxnSpLocks/>
          </p:cNvCxnSpPr>
          <p:nvPr/>
        </p:nvCxnSpPr>
        <p:spPr>
          <a:xfrm flipH="1">
            <a:off x="525761" y="3151659"/>
            <a:ext cx="1" cy="28808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9" name="文本框 68">
            <a:extLst>
              <a:ext uri="{FF2B5EF4-FFF2-40B4-BE49-F238E27FC236}">
                <a16:creationId xmlns:a16="http://schemas.microsoft.com/office/drawing/2014/main" id="{8F2F77D4-912E-4AD9-84AC-47653252312A}"/>
              </a:ext>
            </a:extLst>
          </p:cNvPr>
          <p:cNvSpPr txBox="1"/>
          <p:nvPr/>
        </p:nvSpPr>
        <p:spPr>
          <a:xfrm>
            <a:off x="82803" y="3438160"/>
            <a:ext cx="902811" cy="334313"/>
          </a:xfrm>
          <a:prstGeom prst="rect">
            <a:avLst/>
          </a:prstGeom>
          <a:noFill/>
          <a:ln w="19050">
            <a:solidFill>
              <a:srgbClr val="000066"/>
            </a:solidFill>
          </a:ln>
        </p:spPr>
        <p:txBody>
          <a:bodyPr wrap="none" tIns="7200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400" b="0" i="0" u="none" strike="noStrike" kern="1200" cap="none" spc="0" normalizeH="0" baseline="0" noProof="0">
                <a:ln>
                  <a:noFill/>
                </a:ln>
                <a:solidFill>
                  <a:srgbClr val="000066"/>
                </a:solidFill>
                <a:effectLst/>
                <a:uLnTx/>
                <a:uFillTx/>
                <a:latin typeface="微软雅黑" panose="020B0503020204020204" pitchFamily="34" charset="-122"/>
                <a:ea typeface="微软雅黑" panose="020B0503020204020204" pitchFamily="34" charset="-122"/>
                <a:cs typeface="+mn-cs"/>
              </a:rPr>
              <a:t>测试数据</a:t>
            </a:r>
          </a:p>
        </p:txBody>
      </p:sp>
      <p:cxnSp>
        <p:nvCxnSpPr>
          <p:cNvPr id="70" name="直接箭头连接符 69">
            <a:extLst>
              <a:ext uri="{FF2B5EF4-FFF2-40B4-BE49-F238E27FC236}">
                <a16:creationId xmlns:a16="http://schemas.microsoft.com/office/drawing/2014/main" id="{64F501BD-140E-43AC-88D1-3D3171812352}"/>
              </a:ext>
            </a:extLst>
          </p:cNvPr>
          <p:cNvCxnSpPr>
            <a:cxnSpLocks/>
          </p:cNvCxnSpPr>
          <p:nvPr/>
        </p:nvCxnSpPr>
        <p:spPr>
          <a:xfrm flipH="1">
            <a:off x="525761" y="3795838"/>
            <a:ext cx="1" cy="28808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71" name="文本框 70">
            <a:extLst>
              <a:ext uri="{FF2B5EF4-FFF2-40B4-BE49-F238E27FC236}">
                <a16:creationId xmlns:a16="http://schemas.microsoft.com/office/drawing/2014/main" id="{2C6B1706-E419-4E1C-9205-91188159FC66}"/>
              </a:ext>
            </a:extLst>
          </p:cNvPr>
          <p:cNvSpPr txBox="1"/>
          <p:nvPr/>
        </p:nvSpPr>
        <p:spPr>
          <a:xfrm>
            <a:off x="82803" y="4105134"/>
            <a:ext cx="902811" cy="334313"/>
          </a:xfrm>
          <a:prstGeom prst="rect">
            <a:avLst/>
          </a:prstGeom>
          <a:noFill/>
          <a:ln w="19050">
            <a:solidFill>
              <a:srgbClr val="000066"/>
            </a:solidFill>
          </a:ln>
        </p:spPr>
        <p:txBody>
          <a:bodyPr wrap="none" tIns="7200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400" b="0" i="0" u="none" strike="noStrike" kern="1200" cap="none" spc="0" normalizeH="0" baseline="0" noProof="0">
                <a:ln>
                  <a:noFill/>
                </a:ln>
                <a:solidFill>
                  <a:srgbClr val="000066"/>
                </a:solidFill>
                <a:effectLst/>
                <a:uLnTx/>
                <a:uFillTx/>
                <a:latin typeface="微软雅黑" panose="020B0503020204020204" pitchFamily="34" charset="-122"/>
                <a:ea typeface="微软雅黑" panose="020B0503020204020204" pitchFamily="34" charset="-122"/>
                <a:cs typeface="+mn-cs"/>
              </a:rPr>
              <a:t>测试模型</a:t>
            </a:r>
          </a:p>
        </p:txBody>
      </p:sp>
      <p:cxnSp>
        <p:nvCxnSpPr>
          <p:cNvPr id="72" name="直接箭头连接符 71">
            <a:extLst>
              <a:ext uri="{FF2B5EF4-FFF2-40B4-BE49-F238E27FC236}">
                <a16:creationId xmlns:a16="http://schemas.microsoft.com/office/drawing/2014/main" id="{B08B2B36-F92E-43BD-83D9-7243F792E428}"/>
              </a:ext>
            </a:extLst>
          </p:cNvPr>
          <p:cNvCxnSpPr>
            <a:cxnSpLocks/>
          </p:cNvCxnSpPr>
          <p:nvPr/>
        </p:nvCxnSpPr>
        <p:spPr>
          <a:xfrm flipH="1">
            <a:off x="525761" y="2484781"/>
            <a:ext cx="1" cy="28808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a:extLst>
              <a:ext uri="{FF2B5EF4-FFF2-40B4-BE49-F238E27FC236}">
                <a16:creationId xmlns:a16="http://schemas.microsoft.com/office/drawing/2014/main" id="{0E70291E-14CF-45B6-9B21-1AEA4F0CD0DC}"/>
              </a:ext>
            </a:extLst>
          </p:cNvPr>
          <p:cNvCxnSpPr>
            <a:cxnSpLocks/>
          </p:cNvCxnSpPr>
          <p:nvPr/>
        </p:nvCxnSpPr>
        <p:spPr>
          <a:xfrm flipH="1">
            <a:off x="525761" y="4457278"/>
            <a:ext cx="1" cy="28808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74" name="文本框 73">
            <a:extLst>
              <a:ext uri="{FF2B5EF4-FFF2-40B4-BE49-F238E27FC236}">
                <a16:creationId xmlns:a16="http://schemas.microsoft.com/office/drawing/2014/main" id="{2E4B13A9-CD90-4168-BA17-19DB43B6C26E}"/>
              </a:ext>
            </a:extLst>
          </p:cNvPr>
          <p:cNvSpPr txBox="1"/>
          <p:nvPr/>
        </p:nvSpPr>
        <p:spPr>
          <a:xfrm>
            <a:off x="74357" y="2165384"/>
            <a:ext cx="902811" cy="334313"/>
          </a:xfrm>
          <a:prstGeom prst="rect">
            <a:avLst/>
          </a:prstGeom>
          <a:noFill/>
          <a:ln w="19050">
            <a:solidFill>
              <a:srgbClr val="000066"/>
            </a:solidFill>
          </a:ln>
        </p:spPr>
        <p:txBody>
          <a:bodyPr wrap="none" tIns="7200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400" b="0" i="0" u="none" strike="noStrike" kern="1200" cap="none" spc="0" normalizeH="0" baseline="0" noProof="0">
                <a:ln>
                  <a:noFill/>
                </a:ln>
                <a:solidFill>
                  <a:srgbClr val="000066"/>
                </a:solidFill>
                <a:effectLst/>
                <a:uLnTx/>
                <a:uFillTx/>
                <a:latin typeface="微软雅黑" panose="020B0503020204020204" pitchFamily="34" charset="-122"/>
                <a:ea typeface="微软雅黑" panose="020B0503020204020204" pitchFamily="34" charset="-122"/>
                <a:cs typeface="+mn-cs"/>
              </a:rPr>
              <a:t>训练数据</a:t>
            </a:r>
          </a:p>
        </p:txBody>
      </p:sp>
      <p:sp>
        <p:nvSpPr>
          <p:cNvPr id="76" name="文本框 75">
            <a:extLst>
              <a:ext uri="{FF2B5EF4-FFF2-40B4-BE49-F238E27FC236}">
                <a16:creationId xmlns:a16="http://schemas.microsoft.com/office/drawing/2014/main" id="{3512A628-9F35-4BFA-83A9-31CADF6635D5}"/>
              </a:ext>
            </a:extLst>
          </p:cNvPr>
          <p:cNvSpPr txBox="1"/>
          <p:nvPr/>
        </p:nvSpPr>
        <p:spPr>
          <a:xfrm>
            <a:off x="74354" y="2787348"/>
            <a:ext cx="902811" cy="334313"/>
          </a:xfrm>
          <a:prstGeom prst="rect">
            <a:avLst/>
          </a:prstGeom>
          <a:noFill/>
          <a:ln w="19050">
            <a:solidFill>
              <a:srgbClr val="000066"/>
            </a:solidFill>
          </a:ln>
        </p:spPr>
        <p:txBody>
          <a:bodyPr wrap="none" tIns="7200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400" b="0" i="0" u="none" strike="noStrike" kern="1200" cap="none" spc="0" normalizeH="0" baseline="0" noProof="0">
                <a:ln>
                  <a:noFill/>
                </a:ln>
                <a:solidFill>
                  <a:srgbClr val="000066"/>
                </a:solidFill>
                <a:effectLst/>
                <a:uLnTx/>
                <a:uFillTx/>
                <a:latin typeface="微软雅黑" panose="020B0503020204020204" pitchFamily="34" charset="-122"/>
                <a:ea typeface="微软雅黑" panose="020B0503020204020204" pitchFamily="34" charset="-122"/>
                <a:cs typeface="+mn-cs"/>
              </a:rPr>
              <a:t>训练模型</a:t>
            </a:r>
          </a:p>
        </p:txBody>
      </p:sp>
      <p:pic>
        <p:nvPicPr>
          <p:cNvPr id="3" name="图片 2">
            <a:extLst>
              <a:ext uri="{FF2B5EF4-FFF2-40B4-BE49-F238E27FC236}">
                <a16:creationId xmlns:a16="http://schemas.microsoft.com/office/drawing/2014/main" id="{6B9F9995-E676-44BD-BE5E-E1A3FB0EB453}"/>
              </a:ext>
            </a:extLst>
          </p:cNvPr>
          <p:cNvPicPr>
            <a:picLocks noChangeAspect="1"/>
          </p:cNvPicPr>
          <p:nvPr/>
        </p:nvPicPr>
        <p:blipFill>
          <a:blip r:embed="rId5"/>
          <a:stretch>
            <a:fillRect/>
          </a:stretch>
        </p:blipFill>
        <p:spPr>
          <a:xfrm>
            <a:off x="1110627" y="4601319"/>
            <a:ext cx="2669286" cy="334792"/>
          </a:xfrm>
          <a:prstGeom prst="rect">
            <a:avLst/>
          </a:prstGeom>
        </p:spPr>
      </p:pic>
      <p:sp>
        <p:nvSpPr>
          <p:cNvPr id="26" name="标题 1">
            <a:extLst>
              <a:ext uri="{FF2B5EF4-FFF2-40B4-BE49-F238E27FC236}">
                <a16:creationId xmlns:a16="http://schemas.microsoft.com/office/drawing/2014/main" id="{DEE9856D-28D4-40AA-911E-BFC1F576F522}"/>
              </a:ext>
            </a:extLst>
          </p:cNvPr>
          <p:cNvSpPr>
            <a:spLocks noGrp="1"/>
          </p:cNvSpPr>
          <p:nvPr>
            <p:ph type="title"/>
          </p:nvPr>
        </p:nvSpPr>
        <p:spPr>
          <a:xfrm>
            <a:off x="395535" y="195486"/>
            <a:ext cx="7200794" cy="577618"/>
          </a:xfrm>
        </p:spPr>
        <p:txBody>
          <a:bodyPr>
            <a:noAutofit/>
          </a:bodyPr>
          <a:lstStyle/>
          <a:p>
            <a:r>
              <a:rPr lang="zh-CN" altLang="en-US" sz="2400">
                <a:solidFill>
                  <a:srgbClr val="FFFFFF"/>
                </a:solidFill>
                <a:latin typeface="Times New Roman" panose="02020603050405020304" pitchFamily="18" charset="0"/>
                <a:cs typeface="Times New Roman" panose="02020603050405020304" pitchFamily="18" charset="0"/>
              </a:rPr>
              <a:t>扩展学习二：</a:t>
            </a:r>
            <a:r>
              <a:rPr lang="en-US" altLang="zh-CN" sz="2400">
                <a:solidFill>
                  <a:srgbClr val="FFFFFF"/>
                </a:solidFill>
                <a:latin typeface="Times New Roman" panose="02020603050405020304" pitchFamily="18" charset="0"/>
                <a:cs typeface="Times New Roman" panose="02020603050405020304" pitchFamily="18" charset="0"/>
              </a:rPr>
              <a:t> k-</a:t>
            </a:r>
            <a:r>
              <a:rPr lang="zh-CN" altLang="en-US" sz="2400">
                <a:solidFill>
                  <a:srgbClr val="FFFFFF"/>
                </a:solidFill>
                <a:latin typeface="Times New Roman" panose="02020603050405020304" pitchFamily="18" charset="0"/>
                <a:cs typeface="Times New Roman" panose="02020603050405020304" pitchFamily="18" charset="0"/>
              </a:rPr>
              <a:t>近邻实现鸢尾花分类（数据来自文件）</a:t>
            </a:r>
            <a:endParaRPr lang="zh-CN" altLang="en-US" sz="2400" dirty="0"/>
          </a:p>
        </p:txBody>
      </p:sp>
    </p:spTree>
    <p:extLst>
      <p:ext uri="{BB962C8B-B14F-4D97-AF65-F5344CB8AC3E}">
        <p14:creationId xmlns:p14="http://schemas.microsoft.com/office/powerpoint/2010/main" val="4025277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双括号 80">
            <a:extLst>
              <a:ext uri="{FF2B5EF4-FFF2-40B4-BE49-F238E27FC236}">
                <a16:creationId xmlns:a16="http://schemas.microsoft.com/office/drawing/2014/main" id="{1AFDB006-1641-4C45-AE52-95C2E6FF611F}"/>
              </a:ext>
            </a:extLst>
          </p:cNvPr>
          <p:cNvSpPr/>
          <p:nvPr/>
        </p:nvSpPr>
        <p:spPr>
          <a:xfrm>
            <a:off x="3482054" y="1715831"/>
            <a:ext cx="1656184" cy="3305138"/>
          </a:xfrm>
          <a:prstGeom prst="bracketPair">
            <a:avLst/>
          </a:prstGeom>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Euphemia"/>
              <a:ea typeface="+mn-ea"/>
              <a:cs typeface="+mn-cs"/>
            </a:endParaRPr>
          </a:p>
        </p:txBody>
      </p:sp>
      <p:sp>
        <p:nvSpPr>
          <p:cNvPr id="83" name="文本框 82">
            <a:extLst>
              <a:ext uri="{FF2B5EF4-FFF2-40B4-BE49-F238E27FC236}">
                <a16:creationId xmlns:a16="http://schemas.microsoft.com/office/drawing/2014/main" id="{819578C1-B8CB-4436-9055-35EAE1AAAADC}"/>
              </a:ext>
            </a:extLst>
          </p:cNvPr>
          <p:cNvSpPr txBox="1"/>
          <p:nvPr/>
        </p:nvSpPr>
        <p:spPr>
          <a:xfrm>
            <a:off x="3392879" y="1314509"/>
            <a:ext cx="2061239"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800" b="0" i="0" u="none" strike="noStrike" kern="12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二维矩阵：</a:t>
            </a:r>
            <a:r>
              <a:rPr kumimoji="0" lang="en-US" altLang="zh-CN" sz="1800" b="0" i="0" u="none" strike="noStrike" kern="12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15</a:t>
            </a:r>
            <a:r>
              <a:rPr kumimoji="0" lang="zh-CN" altLang="en-US" sz="1800" b="0" i="0" u="none" strike="noStrike" kern="12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800" b="0" i="0" u="none" strike="noStrike" kern="12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5</a:t>
            </a:r>
            <a:endParaRPr kumimoji="0" lang="zh-CN" altLang="en-US" sz="1800" b="0" i="0" u="none" strike="noStrike" kern="12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1" name="内容占位符 2">
            <a:extLst>
              <a:ext uri="{FF2B5EF4-FFF2-40B4-BE49-F238E27FC236}">
                <a16:creationId xmlns:a16="http://schemas.microsoft.com/office/drawing/2014/main" id="{A454FBA2-690C-41E5-8ADC-6D6614984495}"/>
              </a:ext>
            </a:extLst>
          </p:cNvPr>
          <p:cNvSpPr>
            <a:spLocks noGrp="1"/>
          </p:cNvSpPr>
          <p:nvPr>
            <p:ph idx="1"/>
          </p:nvPr>
        </p:nvSpPr>
        <p:spPr>
          <a:xfrm>
            <a:off x="611559" y="987574"/>
            <a:ext cx="3848812" cy="338554"/>
          </a:xfrm>
        </p:spPr>
        <p:txBody>
          <a:bodyPr>
            <a:noAutofit/>
          </a:bodyPr>
          <a:lstStyle/>
          <a:p>
            <a:pPr marL="0" indent="0">
              <a:lnSpc>
                <a:spcPct val="150000"/>
              </a:lnSpc>
              <a:spcBef>
                <a:spcPts val="0"/>
              </a:spcBef>
              <a:buNone/>
            </a:pPr>
            <a:r>
              <a:rPr lang="zh-CN" altLang="en-US" sz="1800">
                <a:solidFill>
                  <a:srgbClr val="000066"/>
                </a:solidFill>
                <a:latin typeface="Times New Roman" panose="02020603050405020304" pitchFamily="18" charset="0"/>
                <a:cs typeface="Times New Roman" panose="02020603050405020304" pitchFamily="18" charset="0"/>
              </a:rPr>
              <a:t>   注：获取训练集，测试集同理</a:t>
            </a:r>
            <a:endParaRPr lang="en-US" altLang="zh-CN" sz="1800">
              <a:solidFill>
                <a:srgbClr val="000066"/>
              </a:solidFill>
              <a:latin typeface="Times New Roman" panose="02020603050405020304" pitchFamily="18" charset="0"/>
              <a:cs typeface="Times New Roman" panose="02020603050405020304" pitchFamily="18" charset="0"/>
            </a:endParaRPr>
          </a:p>
          <a:p>
            <a:pPr marL="486000" lvl="2" indent="0">
              <a:lnSpc>
                <a:spcPct val="100000"/>
              </a:lnSpc>
              <a:spcBef>
                <a:spcPts val="0"/>
              </a:spcBef>
              <a:buNone/>
            </a:pPr>
            <a:endParaRPr lang="en-US" altLang="zh-CN" sz="1800" dirty="0">
              <a:solidFill>
                <a:srgbClr val="000066"/>
              </a:solidFill>
              <a:latin typeface="Times New Roman" panose="02020603050405020304" pitchFamily="18" charset="0"/>
              <a:cs typeface="Times New Roman" panose="02020603050405020304" pitchFamily="18" charset="0"/>
            </a:endParaRPr>
          </a:p>
        </p:txBody>
      </p:sp>
      <p:pic>
        <p:nvPicPr>
          <p:cNvPr id="47" name="图片 46">
            <a:extLst>
              <a:ext uri="{FF2B5EF4-FFF2-40B4-BE49-F238E27FC236}">
                <a16:creationId xmlns:a16="http://schemas.microsoft.com/office/drawing/2014/main" id="{F080F6BE-9A7C-47EC-8D32-543D83EE5ACF}"/>
              </a:ext>
            </a:extLst>
          </p:cNvPr>
          <p:cNvPicPr>
            <a:picLocks noChangeAspect="1"/>
          </p:cNvPicPr>
          <p:nvPr/>
        </p:nvPicPr>
        <p:blipFill>
          <a:blip r:embed="rId3"/>
          <a:stretch>
            <a:fillRect/>
          </a:stretch>
        </p:blipFill>
        <p:spPr>
          <a:xfrm>
            <a:off x="692362" y="1564585"/>
            <a:ext cx="1656184" cy="3577917"/>
          </a:xfrm>
          <a:prstGeom prst="rect">
            <a:avLst/>
          </a:prstGeom>
        </p:spPr>
      </p:pic>
      <p:cxnSp>
        <p:nvCxnSpPr>
          <p:cNvPr id="78" name="直接箭头连接符 77">
            <a:extLst>
              <a:ext uri="{FF2B5EF4-FFF2-40B4-BE49-F238E27FC236}">
                <a16:creationId xmlns:a16="http://schemas.microsoft.com/office/drawing/2014/main" id="{F8D750C3-A1F5-4AC4-8959-EAC9EFDB5011}"/>
              </a:ext>
            </a:extLst>
          </p:cNvPr>
          <p:cNvCxnSpPr>
            <a:cxnSpLocks/>
          </p:cNvCxnSpPr>
          <p:nvPr/>
        </p:nvCxnSpPr>
        <p:spPr>
          <a:xfrm>
            <a:off x="2348546" y="3271291"/>
            <a:ext cx="1151277" cy="0"/>
          </a:xfrm>
          <a:prstGeom prst="straightConnector1">
            <a:avLst/>
          </a:prstGeom>
          <a:ln w="19050" cmpd="dbl">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80" name="图片 79">
            <a:extLst>
              <a:ext uri="{FF2B5EF4-FFF2-40B4-BE49-F238E27FC236}">
                <a16:creationId xmlns:a16="http://schemas.microsoft.com/office/drawing/2014/main" id="{02422FCF-5A2A-4F81-9D87-DD1681A83DD1}"/>
              </a:ext>
            </a:extLst>
          </p:cNvPr>
          <p:cNvPicPr>
            <a:picLocks noChangeAspect="1"/>
          </p:cNvPicPr>
          <p:nvPr/>
        </p:nvPicPr>
        <p:blipFill>
          <a:blip r:embed="rId4"/>
          <a:stretch>
            <a:fillRect/>
          </a:stretch>
        </p:blipFill>
        <p:spPr>
          <a:xfrm>
            <a:off x="3637842" y="1715831"/>
            <a:ext cx="1371600" cy="3305175"/>
          </a:xfrm>
          <a:prstGeom prst="rect">
            <a:avLst/>
          </a:prstGeom>
        </p:spPr>
      </p:pic>
      <p:sp>
        <p:nvSpPr>
          <p:cNvPr id="82" name="文本框 81">
            <a:extLst>
              <a:ext uri="{FF2B5EF4-FFF2-40B4-BE49-F238E27FC236}">
                <a16:creationId xmlns:a16="http://schemas.microsoft.com/office/drawing/2014/main" id="{94659277-7353-4392-97E2-E3B8255AA0E8}"/>
              </a:ext>
            </a:extLst>
          </p:cNvPr>
          <p:cNvSpPr txBox="1"/>
          <p:nvPr/>
        </p:nvSpPr>
        <p:spPr>
          <a:xfrm>
            <a:off x="1024706" y="1379919"/>
            <a:ext cx="655502"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800" b="0" i="0" u="none" strike="noStrike" kern="12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文件</a:t>
            </a:r>
          </a:p>
        </p:txBody>
      </p:sp>
      <p:sp>
        <p:nvSpPr>
          <p:cNvPr id="90" name="矩形 89">
            <a:extLst>
              <a:ext uri="{FF2B5EF4-FFF2-40B4-BE49-F238E27FC236}">
                <a16:creationId xmlns:a16="http://schemas.microsoft.com/office/drawing/2014/main" id="{A1FB6C5E-FD73-43BD-9B31-F7E6D9C354FA}"/>
              </a:ext>
            </a:extLst>
          </p:cNvPr>
          <p:cNvSpPr/>
          <p:nvPr/>
        </p:nvSpPr>
        <p:spPr>
          <a:xfrm>
            <a:off x="2348546" y="2932737"/>
            <a:ext cx="1151277" cy="338554"/>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a:ln>
                  <a:noFill/>
                </a:ln>
                <a:solidFill>
                  <a:srgbClr val="C00000"/>
                </a:solidFill>
                <a:effectLst/>
                <a:uLnTx/>
                <a:uFillTx/>
                <a:latin typeface="Times New Roman" panose="02020603050405020304" pitchFamily="18" charset="0"/>
                <a:ea typeface="宋体" pitchFamily="2" charset="-122"/>
                <a:cs typeface="Times New Roman" panose="02020603050405020304" pitchFamily="18" charset="0"/>
              </a:rPr>
              <a:t>np.loadtxt()</a:t>
            </a:r>
            <a:endParaRPr kumimoji="0" lang="zh-CN" altLang="en-US" sz="1600" b="0" i="0" u="none" strike="noStrike" kern="1200" cap="none" spc="0" normalizeH="0" baseline="0" noProof="0">
              <a:ln>
                <a:noFill/>
              </a:ln>
              <a:solidFill>
                <a:srgbClr val="C00000"/>
              </a:solidFill>
              <a:effectLst/>
              <a:uLnTx/>
              <a:uFillTx/>
              <a:latin typeface="Arial" charset="0"/>
              <a:ea typeface="宋体" pitchFamily="2" charset="-122"/>
              <a:cs typeface="+mn-cs"/>
            </a:endParaRPr>
          </a:p>
        </p:txBody>
      </p:sp>
      <p:pic>
        <p:nvPicPr>
          <p:cNvPr id="101" name="图片 100">
            <a:extLst>
              <a:ext uri="{FF2B5EF4-FFF2-40B4-BE49-F238E27FC236}">
                <a16:creationId xmlns:a16="http://schemas.microsoft.com/office/drawing/2014/main" id="{950F26C7-2E74-44E3-89C3-55084D3F26E7}"/>
              </a:ext>
            </a:extLst>
          </p:cNvPr>
          <p:cNvPicPr>
            <a:picLocks noChangeAspect="1"/>
          </p:cNvPicPr>
          <p:nvPr/>
        </p:nvPicPr>
        <p:blipFill>
          <a:blip r:embed="rId5"/>
          <a:stretch>
            <a:fillRect/>
          </a:stretch>
        </p:blipFill>
        <p:spPr>
          <a:xfrm>
            <a:off x="6528528" y="1696193"/>
            <a:ext cx="1228725" cy="3314700"/>
          </a:xfrm>
          <a:prstGeom prst="rect">
            <a:avLst/>
          </a:prstGeom>
        </p:spPr>
      </p:pic>
      <p:sp>
        <p:nvSpPr>
          <p:cNvPr id="102" name="双括号 101">
            <a:extLst>
              <a:ext uri="{FF2B5EF4-FFF2-40B4-BE49-F238E27FC236}">
                <a16:creationId xmlns:a16="http://schemas.microsoft.com/office/drawing/2014/main" id="{974797E1-88F5-4F12-8661-BE3F1BA87AB8}"/>
              </a:ext>
            </a:extLst>
          </p:cNvPr>
          <p:cNvSpPr/>
          <p:nvPr/>
        </p:nvSpPr>
        <p:spPr>
          <a:xfrm>
            <a:off x="6417215" y="1683841"/>
            <a:ext cx="1440160" cy="3337128"/>
          </a:xfrm>
          <a:prstGeom prst="bracketPair">
            <a:avLst/>
          </a:prstGeom>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Euphemia"/>
              <a:ea typeface="+mn-ea"/>
              <a:cs typeface="+mn-cs"/>
            </a:endParaRPr>
          </a:p>
        </p:txBody>
      </p:sp>
      <p:pic>
        <p:nvPicPr>
          <p:cNvPr id="103" name="图片 102">
            <a:extLst>
              <a:ext uri="{FF2B5EF4-FFF2-40B4-BE49-F238E27FC236}">
                <a16:creationId xmlns:a16="http://schemas.microsoft.com/office/drawing/2014/main" id="{2E89790F-59F4-418B-8402-77783855DF18}"/>
              </a:ext>
            </a:extLst>
          </p:cNvPr>
          <p:cNvPicPr>
            <a:picLocks noChangeAspect="1"/>
          </p:cNvPicPr>
          <p:nvPr/>
        </p:nvPicPr>
        <p:blipFill>
          <a:blip r:embed="rId6"/>
          <a:stretch>
            <a:fillRect/>
          </a:stretch>
        </p:blipFill>
        <p:spPr>
          <a:xfrm>
            <a:off x="8519864" y="1730379"/>
            <a:ext cx="228600" cy="3343275"/>
          </a:xfrm>
          <a:prstGeom prst="rect">
            <a:avLst/>
          </a:prstGeom>
        </p:spPr>
      </p:pic>
      <p:sp>
        <p:nvSpPr>
          <p:cNvPr id="104" name="双括号 103">
            <a:extLst>
              <a:ext uri="{FF2B5EF4-FFF2-40B4-BE49-F238E27FC236}">
                <a16:creationId xmlns:a16="http://schemas.microsoft.com/office/drawing/2014/main" id="{08929A14-74E3-4BCC-8C51-25054AB26582}"/>
              </a:ext>
            </a:extLst>
          </p:cNvPr>
          <p:cNvSpPr/>
          <p:nvPr/>
        </p:nvSpPr>
        <p:spPr>
          <a:xfrm>
            <a:off x="8378915" y="1683841"/>
            <a:ext cx="441557" cy="3337128"/>
          </a:xfrm>
          <a:prstGeom prst="bracketPair">
            <a:avLst/>
          </a:prstGeom>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Euphemia"/>
              <a:ea typeface="+mn-ea"/>
              <a:cs typeface="+mn-cs"/>
            </a:endParaRPr>
          </a:p>
        </p:txBody>
      </p:sp>
      <p:cxnSp>
        <p:nvCxnSpPr>
          <p:cNvPr id="106" name="直接箭头连接符 105">
            <a:extLst>
              <a:ext uri="{FF2B5EF4-FFF2-40B4-BE49-F238E27FC236}">
                <a16:creationId xmlns:a16="http://schemas.microsoft.com/office/drawing/2014/main" id="{22A1DB83-A360-4333-BDD2-9CB099D0EDC2}"/>
              </a:ext>
            </a:extLst>
          </p:cNvPr>
          <p:cNvCxnSpPr>
            <a:cxnSpLocks/>
          </p:cNvCxnSpPr>
          <p:nvPr/>
        </p:nvCxnSpPr>
        <p:spPr>
          <a:xfrm>
            <a:off x="5138238" y="3249605"/>
            <a:ext cx="1232509" cy="0"/>
          </a:xfrm>
          <a:prstGeom prst="straightConnector1">
            <a:avLst/>
          </a:prstGeom>
          <a:ln w="19050" cmpd="dbl">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7" name="矩形 106">
            <a:extLst>
              <a:ext uri="{FF2B5EF4-FFF2-40B4-BE49-F238E27FC236}">
                <a16:creationId xmlns:a16="http://schemas.microsoft.com/office/drawing/2014/main" id="{9C09160E-E384-4F8A-A334-CEF02B7C1A13}"/>
              </a:ext>
            </a:extLst>
          </p:cNvPr>
          <p:cNvSpPr/>
          <p:nvPr/>
        </p:nvSpPr>
        <p:spPr>
          <a:xfrm>
            <a:off x="5195676" y="2914730"/>
            <a:ext cx="1164101" cy="338554"/>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a:ln>
                  <a:noFill/>
                </a:ln>
                <a:solidFill>
                  <a:srgbClr val="C00000"/>
                </a:solidFill>
                <a:effectLst/>
                <a:uLnTx/>
                <a:uFillTx/>
                <a:latin typeface="Times New Roman" panose="02020603050405020304" pitchFamily="18" charset="0"/>
                <a:ea typeface="宋体" pitchFamily="2" charset="-122"/>
                <a:cs typeface="Times New Roman" panose="02020603050405020304" pitchFamily="18" charset="0"/>
              </a:rPr>
              <a:t>iris15[:,0:4]</a:t>
            </a:r>
            <a:endParaRPr kumimoji="0" lang="zh-CN" altLang="en-US" sz="1600" b="0" i="0" u="none" strike="noStrike" kern="1200" cap="none" spc="0" normalizeH="0" baseline="0" noProof="0">
              <a:ln>
                <a:noFill/>
              </a:ln>
              <a:solidFill>
                <a:srgbClr val="C00000"/>
              </a:solidFill>
              <a:effectLst/>
              <a:uLnTx/>
              <a:uFillTx/>
              <a:latin typeface="Arial" charset="0"/>
              <a:ea typeface="宋体" pitchFamily="2" charset="-122"/>
              <a:cs typeface="+mn-cs"/>
            </a:endParaRPr>
          </a:p>
        </p:txBody>
      </p:sp>
      <p:sp>
        <p:nvSpPr>
          <p:cNvPr id="114" name="任意多边形: 形状 113">
            <a:extLst>
              <a:ext uri="{FF2B5EF4-FFF2-40B4-BE49-F238E27FC236}">
                <a16:creationId xmlns:a16="http://schemas.microsoft.com/office/drawing/2014/main" id="{1349FD1F-C7A7-4437-9490-345F972C1E4D}"/>
              </a:ext>
            </a:extLst>
          </p:cNvPr>
          <p:cNvSpPr/>
          <p:nvPr/>
        </p:nvSpPr>
        <p:spPr bwMode="gray">
          <a:xfrm>
            <a:off x="5042551" y="1043440"/>
            <a:ext cx="3591613" cy="736269"/>
          </a:xfrm>
          <a:custGeom>
            <a:avLst/>
            <a:gdLst>
              <a:gd name="connsiteX0" fmla="*/ 0 w 3591613"/>
              <a:gd name="connsiteY0" fmla="*/ 736269 h 736269"/>
              <a:gd name="connsiteX1" fmla="*/ 1772239 w 3591613"/>
              <a:gd name="connsiteY1" fmla="*/ 978 h 736269"/>
              <a:gd name="connsiteX2" fmla="*/ 3591613 w 3591613"/>
              <a:gd name="connsiteY2" fmla="*/ 566586 h 736269"/>
              <a:gd name="connsiteX3" fmla="*/ 3591613 w 3591613"/>
              <a:gd name="connsiteY3" fmla="*/ 566586 h 736269"/>
            </a:gdLst>
            <a:ahLst/>
            <a:cxnLst>
              <a:cxn ang="0">
                <a:pos x="connsiteX0" y="connsiteY0"/>
              </a:cxn>
              <a:cxn ang="0">
                <a:pos x="connsiteX1" y="connsiteY1"/>
              </a:cxn>
              <a:cxn ang="0">
                <a:pos x="connsiteX2" y="connsiteY2"/>
              </a:cxn>
              <a:cxn ang="0">
                <a:pos x="connsiteX3" y="connsiteY3"/>
              </a:cxn>
            </a:cxnLst>
            <a:rect l="l" t="t" r="r" b="b"/>
            <a:pathLst>
              <a:path w="3591613" h="736269">
                <a:moveTo>
                  <a:pt x="0" y="736269"/>
                </a:moveTo>
                <a:cubicBezTo>
                  <a:pt x="586818" y="382764"/>
                  <a:pt x="1173637" y="29259"/>
                  <a:pt x="1772239" y="978"/>
                </a:cubicBezTo>
                <a:cubicBezTo>
                  <a:pt x="2370841" y="-27303"/>
                  <a:pt x="3591613" y="566586"/>
                  <a:pt x="3591613" y="566586"/>
                </a:cubicBezTo>
                <a:lnTo>
                  <a:pt x="3591613" y="566586"/>
                </a:lnTo>
              </a:path>
            </a:pathLst>
          </a:custGeom>
          <a:noFill/>
          <a:ln w="19050">
            <a:solidFill>
              <a:srgbClr val="C00000"/>
            </a:solidFill>
            <a:miter lim="800000"/>
            <a:headEnd type="none" w="lg" len="lg"/>
            <a:tailEnd type="triangle" w="med" len="me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charset="0"/>
              <a:ea typeface="宋体" pitchFamily="2" charset="-122"/>
              <a:cs typeface="+mn-cs"/>
            </a:endParaRPr>
          </a:p>
        </p:txBody>
      </p:sp>
      <p:sp>
        <p:nvSpPr>
          <p:cNvPr id="115" name="矩形 114">
            <a:extLst>
              <a:ext uri="{FF2B5EF4-FFF2-40B4-BE49-F238E27FC236}">
                <a16:creationId xmlns:a16="http://schemas.microsoft.com/office/drawing/2014/main" id="{3CF1F22C-DB04-4103-B1FF-F88397E24959}"/>
              </a:ext>
            </a:extLst>
          </p:cNvPr>
          <p:cNvSpPr/>
          <p:nvPr/>
        </p:nvSpPr>
        <p:spPr>
          <a:xfrm>
            <a:off x="7902662" y="1043440"/>
            <a:ext cx="952505" cy="338554"/>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a:ln>
                  <a:noFill/>
                </a:ln>
                <a:solidFill>
                  <a:srgbClr val="C00000"/>
                </a:solidFill>
                <a:effectLst/>
                <a:uLnTx/>
                <a:uFillTx/>
                <a:latin typeface="Times New Roman" panose="02020603050405020304" pitchFamily="18" charset="0"/>
                <a:ea typeface="宋体" pitchFamily="2" charset="-122"/>
                <a:cs typeface="Times New Roman" panose="02020603050405020304" pitchFamily="18" charset="0"/>
              </a:rPr>
              <a:t>iris15[:4]</a:t>
            </a:r>
            <a:endParaRPr kumimoji="0" lang="zh-CN" altLang="en-US" sz="1600" b="0" i="0" u="none" strike="noStrike" kern="1200" cap="none" spc="0" normalizeH="0" baseline="0" noProof="0">
              <a:ln>
                <a:noFill/>
              </a:ln>
              <a:solidFill>
                <a:srgbClr val="C00000"/>
              </a:solidFill>
              <a:effectLst/>
              <a:uLnTx/>
              <a:uFillTx/>
              <a:latin typeface="Arial" charset="0"/>
              <a:ea typeface="宋体" pitchFamily="2" charset="-122"/>
              <a:cs typeface="+mn-cs"/>
            </a:endParaRPr>
          </a:p>
        </p:txBody>
      </p:sp>
      <p:sp>
        <p:nvSpPr>
          <p:cNvPr id="21" name="标题 1">
            <a:extLst>
              <a:ext uri="{FF2B5EF4-FFF2-40B4-BE49-F238E27FC236}">
                <a16:creationId xmlns:a16="http://schemas.microsoft.com/office/drawing/2014/main" id="{22065ECD-97AB-4CD7-A55E-985C815B86B5}"/>
              </a:ext>
            </a:extLst>
          </p:cNvPr>
          <p:cNvSpPr>
            <a:spLocks noGrp="1"/>
          </p:cNvSpPr>
          <p:nvPr>
            <p:ph type="title"/>
          </p:nvPr>
        </p:nvSpPr>
        <p:spPr>
          <a:xfrm>
            <a:off x="395536" y="195486"/>
            <a:ext cx="7128792" cy="577618"/>
          </a:xfrm>
        </p:spPr>
        <p:txBody>
          <a:bodyPr>
            <a:noAutofit/>
          </a:bodyPr>
          <a:lstStyle/>
          <a:p>
            <a:r>
              <a:rPr lang="zh-CN" altLang="en-US" sz="2400">
                <a:solidFill>
                  <a:srgbClr val="FFFFFF"/>
                </a:solidFill>
                <a:latin typeface="Times New Roman" panose="02020603050405020304" pitchFamily="18" charset="0"/>
                <a:cs typeface="Times New Roman" panose="02020603050405020304" pitchFamily="18" charset="0"/>
              </a:rPr>
              <a:t>扩展学习二：</a:t>
            </a:r>
            <a:r>
              <a:rPr lang="en-US" altLang="zh-CN" sz="2400">
                <a:solidFill>
                  <a:srgbClr val="FFFFFF"/>
                </a:solidFill>
                <a:latin typeface="Times New Roman" panose="02020603050405020304" pitchFamily="18" charset="0"/>
                <a:cs typeface="Times New Roman" panose="02020603050405020304" pitchFamily="18" charset="0"/>
              </a:rPr>
              <a:t> k-</a:t>
            </a:r>
            <a:r>
              <a:rPr lang="zh-CN" altLang="en-US" sz="2400">
                <a:solidFill>
                  <a:srgbClr val="FFFFFF"/>
                </a:solidFill>
                <a:latin typeface="Times New Roman" panose="02020603050405020304" pitchFamily="18" charset="0"/>
                <a:cs typeface="Times New Roman" panose="02020603050405020304" pitchFamily="18" charset="0"/>
              </a:rPr>
              <a:t>近邻实现鸢尾花分类（数据来自文件）</a:t>
            </a:r>
            <a:endParaRPr lang="zh-CN" altLang="en-US" sz="2400" dirty="0"/>
          </a:p>
        </p:txBody>
      </p:sp>
    </p:spTree>
    <p:extLst>
      <p:ext uri="{BB962C8B-B14F-4D97-AF65-F5344CB8AC3E}">
        <p14:creationId xmlns:p14="http://schemas.microsoft.com/office/powerpoint/2010/main" val="3841384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59" y="986626"/>
            <a:ext cx="8280921" cy="2665244"/>
          </a:xfrm>
        </p:spPr>
        <p:txBody>
          <a:bodyPr>
            <a:noAutofit/>
          </a:bodyPr>
          <a:lstStyle/>
          <a:p>
            <a:pPr marL="0" indent="0">
              <a:lnSpc>
                <a:spcPct val="150000"/>
              </a:lnSpc>
              <a:spcBef>
                <a:spcPts val="0"/>
              </a:spcBef>
              <a:buNone/>
            </a:pPr>
            <a:r>
              <a:rPr lang="zh-CN" altLang="en-US" sz="1800">
                <a:solidFill>
                  <a:srgbClr val="000066"/>
                </a:solidFill>
                <a:latin typeface="Times New Roman" panose="02020603050405020304" pitchFamily="18" charset="0"/>
                <a:cs typeface="Times New Roman" panose="02020603050405020304" pitchFamily="18" charset="0"/>
              </a:rPr>
              <a:t>例：</a:t>
            </a:r>
            <a:r>
              <a:rPr lang="en-US" altLang="zh-CN" sz="1800">
                <a:solidFill>
                  <a:srgbClr val="000066"/>
                </a:solidFill>
                <a:latin typeface="Times New Roman" panose="02020603050405020304" pitchFamily="18" charset="0"/>
                <a:cs typeface="Times New Roman" panose="02020603050405020304" pitchFamily="18" charset="0"/>
              </a:rPr>
              <a:t>k-</a:t>
            </a:r>
            <a:r>
              <a:rPr lang="zh-CN" altLang="en-US" sz="1800">
                <a:solidFill>
                  <a:srgbClr val="000066"/>
                </a:solidFill>
                <a:latin typeface="Times New Roman" panose="02020603050405020304" pitchFamily="18" charset="0"/>
                <a:cs typeface="Times New Roman" panose="02020603050405020304" pitchFamily="18" charset="0"/>
              </a:rPr>
              <a:t>近邻分类。</a:t>
            </a:r>
            <a:endParaRPr lang="en-US" altLang="zh-CN" sz="1800">
              <a:solidFill>
                <a:srgbClr val="000066"/>
              </a:solidFill>
              <a:latin typeface="Times New Roman" panose="02020603050405020304" pitchFamily="18" charset="0"/>
              <a:cs typeface="Times New Roman" panose="02020603050405020304" pitchFamily="18" charset="0"/>
            </a:endParaRPr>
          </a:p>
          <a:p>
            <a:pPr marL="623888" lvl="1" indent="-623888">
              <a:lnSpc>
                <a:spcPct val="150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        </a:t>
            </a:r>
            <a:r>
              <a:rPr lang="en-US" altLang="zh-CN" sz="1800">
                <a:solidFill>
                  <a:srgbClr val="000066"/>
                </a:solidFill>
                <a:cs typeface="Times New Roman" panose="02020603050405020304" pitchFamily="18" charset="0"/>
              </a:rPr>
              <a:t>① </a:t>
            </a:r>
            <a:r>
              <a:rPr lang="zh-CN" altLang="zh-CN" sz="1800">
                <a:solidFill>
                  <a:srgbClr val="000066"/>
                </a:solidFill>
                <a:latin typeface="Times New Roman" panose="02020603050405020304" pitchFamily="18" charset="0"/>
                <a:cs typeface="Times New Roman" panose="02020603050405020304" pitchFamily="18" charset="0"/>
              </a:rPr>
              <a:t>生成</a:t>
            </a:r>
            <a:r>
              <a:rPr lang="zh-CN" altLang="en-US" sz="1800" dirty="0">
                <a:solidFill>
                  <a:srgbClr val="000066"/>
                </a:solidFill>
                <a:latin typeface="Times New Roman" panose="02020603050405020304" pitchFamily="18" charset="0"/>
                <a:cs typeface="Times New Roman" panose="02020603050405020304" pitchFamily="18" charset="0"/>
              </a:rPr>
              <a:t>带标签的</a:t>
            </a:r>
            <a:r>
              <a:rPr lang="zh-CN" altLang="zh-CN" sz="1800" dirty="0">
                <a:solidFill>
                  <a:srgbClr val="000066"/>
                </a:solidFill>
                <a:latin typeface="Times New Roman" panose="02020603050405020304" pitchFamily="18" charset="0"/>
                <a:cs typeface="Times New Roman" panose="02020603050405020304" pitchFamily="18" charset="0"/>
              </a:rPr>
              <a:t>数据集</a:t>
            </a:r>
            <a:r>
              <a:rPr lang="en-US" altLang="zh-CN" sz="1800" dirty="0">
                <a:solidFill>
                  <a:srgbClr val="000066"/>
                </a:solidFill>
                <a:latin typeface="Times New Roman" panose="02020603050405020304" pitchFamily="18" charset="0"/>
                <a:cs typeface="Times New Roman" panose="02020603050405020304" pitchFamily="18" charset="0"/>
              </a:rPr>
              <a:t>(</a:t>
            </a:r>
            <a:r>
              <a:rPr lang="en-US" altLang="zh-CN" sz="1800" dirty="0" err="1">
                <a:solidFill>
                  <a:srgbClr val="000066"/>
                </a:solidFill>
                <a:latin typeface="Times New Roman" panose="02020603050405020304" pitchFamily="18" charset="0"/>
                <a:cs typeface="Times New Roman" panose="02020603050405020304" pitchFamily="18" charset="0"/>
              </a:rPr>
              <a:t>X,y</a:t>
            </a:r>
            <a:r>
              <a:rPr lang="en-US" altLang="zh-CN" sz="1800" dirty="0">
                <a:solidFill>
                  <a:srgbClr val="000066"/>
                </a:solidFill>
                <a:latin typeface="Times New Roman" panose="02020603050405020304" pitchFamily="18" charset="0"/>
                <a:cs typeface="Times New Roman" panose="02020603050405020304" pitchFamily="18" charset="0"/>
              </a:rPr>
              <a:t>)</a:t>
            </a:r>
            <a:r>
              <a:rPr lang="zh-CN" altLang="zh-CN" sz="1800">
                <a:solidFill>
                  <a:srgbClr val="000066"/>
                </a:solidFill>
                <a:latin typeface="Times New Roman" panose="02020603050405020304" pitchFamily="18" charset="0"/>
                <a:cs typeface="Times New Roman" panose="02020603050405020304" pitchFamily="18" charset="0"/>
              </a:rPr>
              <a:t>，含</a:t>
            </a:r>
            <a:r>
              <a:rPr lang="en-US" altLang="zh-CN" sz="1800" dirty="0">
                <a:solidFill>
                  <a:srgbClr val="000066"/>
                </a:solidFill>
                <a:latin typeface="Times New Roman" panose="02020603050405020304" pitchFamily="18" charset="0"/>
                <a:cs typeface="Times New Roman" panose="02020603050405020304" pitchFamily="18" charset="0"/>
              </a:rPr>
              <a:t>1</a:t>
            </a:r>
            <a:r>
              <a:rPr lang="en-US" altLang="zh-CN" sz="1800">
                <a:solidFill>
                  <a:srgbClr val="000066"/>
                </a:solidFill>
                <a:latin typeface="Times New Roman" panose="02020603050405020304" pitchFamily="18" charset="0"/>
                <a:cs typeface="Times New Roman" panose="02020603050405020304" pitchFamily="18" charset="0"/>
              </a:rPr>
              <a:t>0</a:t>
            </a:r>
            <a:r>
              <a:rPr lang="zh-CN" altLang="zh-CN" sz="1800" dirty="0">
                <a:solidFill>
                  <a:srgbClr val="000066"/>
                </a:solidFill>
                <a:latin typeface="Times New Roman" panose="02020603050405020304" pitchFamily="18" charset="0"/>
                <a:cs typeface="Times New Roman" panose="02020603050405020304" pitchFamily="18" charset="0"/>
              </a:rPr>
              <a:t>个样本，每个样本有</a:t>
            </a:r>
            <a:r>
              <a:rPr lang="en-US" altLang="zh-CN" sz="1800" dirty="0">
                <a:solidFill>
                  <a:srgbClr val="000066"/>
                </a:solidFill>
                <a:latin typeface="Times New Roman" panose="02020603050405020304" pitchFamily="18" charset="0"/>
                <a:cs typeface="Times New Roman" panose="02020603050405020304" pitchFamily="18" charset="0"/>
              </a:rPr>
              <a:t>2</a:t>
            </a:r>
            <a:r>
              <a:rPr lang="zh-CN" altLang="zh-CN" sz="1800" dirty="0">
                <a:solidFill>
                  <a:srgbClr val="000066"/>
                </a:solidFill>
                <a:latin typeface="Times New Roman" panose="02020603050405020304" pitchFamily="18" charset="0"/>
                <a:cs typeface="Times New Roman" panose="02020603050405020304" pitchFamily="18" charset="0"/>
              </a:rPr>
              <a:t>个特征，</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623888" lvl="1" indent="-623888">
              <a:lnSpc>
                <a:spcPct val="150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            </a:t>
            </a:r>
            <a:r>
              <a:rPr lang="zh-CN" altLang="zh-CN" sz="1800">
                <a:solidFill>
                  <a:srgbClr val="000066"/>
                </a:solidFill>
                <a:latin typeface="Times New Roman" panose="02020603050405020304" pitchFamily="18" charset="0"/>
                <a:cs typeface="Times New Roman" panose="02020603050405020304" pitchFamily="18" charset="0"/>
              </a:rPr>
              <a:t>分</a:t>
            </a:r>
            <a:r>
              <a:rPr lang="zh-CN" altLang="zh-CN" sz="1800" dirty="0">
                <a:solidFill>
                  <a:srgbClr val="000066"/>
                </a:solidFill>
                <a:latin typeface="Times New Roman" panose="02020603050405020304" pitchFamily="18" charset="0"/>
                <a:cs typeface="Times New Roman" panose="02020603050405020304" pitchFamily="18" charset="0"/>
              </a:rPr>
              <a:t>属</a:t>
            </a:r>
            <a:r>
              <a:rPr lang="en-US" altLang="zh-CN" sz="1800" dirty="0">
                <a:solidFill>
                  <a:srgbClr val="000066"/>
                </a:solidFill>
                <a:latin typeface="Times New Roman" panose="02020603050405020304" pitchFamily="18" charset="0"/>
                <a:cs typeface="Times New Roman" panose="02020603050405020304" pitchFamily="18" charset="0"/>
              </a:rPr>
              <a:t>2</a:t>
            </a:r>
            <a:r>
              <a:rPr lang="zh-CN" altLang="zh-CN" sz="1800" dirty="0">
                <a:solidFill>
                  <a:srgbClr val="000066"/>
                </a:solidFill>
                <a:latin typeface="Times New Roman" panose="02020603050405020304" pitchFamily="18" charset="0"/>
                <a:cs typeface="Times New Roman" panose="02020603050405020304" pitchFamily="18" charset="0"/>
              </a:rPr>
              <a:t>个类别</a:t>
            </a:r>
            <a:r>
              <a:rPr lang="zh-CN" altLang="en-US" sz="1800" dirty="0">
                <a:solidFill>
                  <a:srgbClr val="000066"/>
                </a:solidFill>
                <a:latin typeface="Times New Roman" panose="02020603050405020304" pitchFamily="18" charset="0"/>
                <a:cs typeface="Times New Roman" panose="02020603050405020304" pitchFamily="18" charset="0"/>
              </a:rPr>
              <a:t>。</a:t>
            </a:r>
            <a:r>
              <a:rPr lang="zh-CN" altLang="zh-CN" sz="1800" dirty="0">
                <a:solidFill>
                  <a:srgbClr val="000066"/>
                </a:solidFill>
                <a:latin typeface="Times New Roman" panose="02020603050405020304" pitchFamily="18" charset="0"/>
                <a:cs typeface="Times New Roman" panose="02020603050405020304" pitchFamily="18" charset="0"/>
              </a:rPr>
              <a:t>数据在</a:t>
            </a:r>
            <a:r>
              <a:rPr lang="zh-CN" altLang="zh-CN" sz="1800">
                <a:solidFill>
                  <a:srgbClr val="000066"/>
                </a:solidFill>
                <a:latin typeface="Times New Roman" panose="02020603050405020304" pitchFamily="18" charset="0"/>
                <a:cs typeface="Times New Roman" panose="02020603050405020304" pitchFamily="18" charset="0"/>
              </a:rPr>
              <a:t>中心点</a:t>
            </a:r>
            <a:r>
              <a:rPr lang="en-US" altLang="zh-CN" sz="1800">
                <a:solidFill>
                  <a:srgbClr val="000066"/>
                </a:solidFill>
                <a:latin typeface="Times New Roman" panose="02020603050405020304" pitchFamily="18" charset="0"/>
                <a:cs typeface="Times New Roman" panose="02020603050405020304" pitchFamily="18" charset="0"/>
              </a:rPr>
              <a:t>(</a:t>
            </a:r>
            <a:r>
              <a:rPr lang="en-US" altLang="zh-CN" sz="1800">
                <a:solidFill>
                  <a:srgbClr val="002060"/>
                </a:solidFill>
                <a:latin typeface="Times New Roman" panose="02020603050405020304" pitchFamily="18" charset="0"/>
                <a:cs typeface="Times New Roman" panose="02020603050405020304" pitchFamily="18" charset="0"/>
              </a:rPr>
              <a:t>-2, 1</a:t>
            </a:r>
            <a:r>
              <a:rPr lang="en-US" altLang="zh-CN" sz="1800">
                <a:solidFill>
                  <a:srgbClr val="000066"/>
                </a:solidFill>
                <a:latin typeface="Times New Roman" panose="02020603050405020304" pitchFamily="18" charset="0"/>
                <a:cs typeface="Times New Roman" panose="02020603050405020304" pitchFamily="18" charset="0"/>
              </a:rPr>
              <a:t>)</a:t>
            </a:r>
            <a:r>
              <a:rPr lang="zh-CN" altLang="zh-CN" sz="1800">
                <a:solidFill>
                  <a:srgbClr val="000066"/>
                </a:solidFill>
                <a:latin typeface="Times New Roman" panose="02020603050405020304" pitchFamily="18" charset="0"/>
                <a:cs typeface="Times New Roman" panose="02020603050405020304" pitchFamily="18" charset="0"/>
              </a:rPr>
              <a:t>和</a:t>
            </a:r>
            <a:r>
              <a:rPr lang="en-US" altLang="zh-CN" sz="1800">
                <a:solidFill>
                  <a:srgbClr val="000066"/>
                </a:solidFill>
                <a:latin typeface="Times New Roman" panose="02020603050405020304" pitchFamily="18" charset="0"/>
                <a:cs typeface="Times New Roman" panose="02020603050405020304" pitchFamily="18" charset="0"/>
              </a:rPr>
              <a:t>(0, 2</a:t>
            </a:r>
            <a:r>
              <a:rPr lang="en-US" altLang="zh-CN" sz="1800" dirty="0">
                <a:solidFill>
                  <a:srgbClr val="000066"/>
                </a:solidFill>
                <a:latin typeface="Times New Roman" panose="02020603050405020304" pitchFamily="18" charset="0"/>
                <a:cs typeface="Times New Roman" panose="02020603050405020304" pitchFamily="18" charset="0"/>
              </a:rPr>
              <a:t>)</a:t>
            </a:r>
            <a:r>
              <a:rPr lang="zh-CN" altLang="zh-CN" sz="1800" dirty="0">
                <a:solidFill>
                  <a:srgbClr val="000066"/>
                </a:solidFill>
                <a:latin typeface="Times New Roman" panose="02020603050405020304" pitchFamily="18" charset="0"/>
                <a:cs typeface="Times New Roman" panose="02020603050405020304" pitchFamily="18" charset="0"/>
              </a:rPr>
              <a:t>周围呈高斯分布。</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623888" lvl="1" indent="-623888">
              <a:lnSpc>
                <a:spcPct val="150000"/>
              </a:lnSpc>
              <a:spcBef>
                <a:spcPts val="0"/>
              </a:spcBef>
              <a:buNone/>
            </a:pPr>
            <a:r>
              <a:rPr lang="zh-CN" altLang="en-US" sz="1800">
                <a:solidFill>
                  <a:srgbClr val="000066"/>
                </a:solidFill>
                <a:latin typeface="Times New Roman" panose="02020603050405020304" pitchFamily="18" charset="0"/>
                <a:cs typeface="Times New Roman" panose="02020603050405020304" pitchFamily="18" charset="0"/>
              </a:rPr>
              <a:t>        </a:t>
            </a:r>
            <a:r>
              <a:rPr lang="en-US" altLang="zh-CN" sz="1800">
                <a:solidFill>
                  <a:srgbClr val="000066"/>
                </a:solidFill>
                <a:cs typeface="Times New Roman" panose="02020603050405020304" pitchFamily="18" charset="0"/>
              </a:rPr>
              <a:t>② </a:t>
            </a:r>
            <a:r>
              <a:rPr lang="zh-CN" altLang="en-US" sz="1800">
                <a:solidFill>
                  <a:srgbClr val="000066"/>
                </a:solidFill>
                <a:latin typeface="Times New Roman" panose="02020603050405020304" pitchFamily="18" charset="0"/>
                <a:cs typeface="Times New Roman" panose="02020603050405020304" pitchFamily="18" charset="0"/>
              </a:rPr>
              <a:t>用</a:t>
            </a:r>
            <a:r>
              <a:rPr lang="en-US" altLang="zh-CN" sz="1800" dirty="0" err="1">
                <a:solidFill>
                  <a:srgbClr val="000066"/>
                </a:solidFill>
                <a:latin typeface="Times New Roman" panose="02020603050405020304" pitchFamily="18" charset="0"/>
                <a:cs typeface="Times New Roman" panose="02020603050405020304" pitchFamily="18" charset="0"/>
              </a:rPr>
              <a:t>sklearn.neighbors</a:t>
            </a:r>
            <a:r>
              <a:rPr lang="zh-CN" altLang="en-US" sz="1800" dirty="0">
                <a:solidFill>
                  <a:srgbClr val="000066"/>
                </a:solidFill>
                <a:latin typeface="Times New Roman" panose="02020603050405020304" pitchFamily="18" charset="0"/>
                <a:cs typeface="Times New Roman" panose="02020603050405020304" pitchFamily="18" charset="0"/>
              </a:rPr>
              <a:t>的</a:t>
            </a:r>
            <a:r>
              <a:rPr lang="en-US" altLang="zh-CN" sz="1800" dirty="0" err="1">
                <a:solidFill>
                  <a:srgbClr val="000066"/>
                </a:solidFill>
                <a:latin typeface="Times New Roman" panose="02020603050405020304" pitchFamily="18" charset="0"/>
                <a:cs typeface="Times New Roman" panose="02020603050405020304" pitchFamily="18" charset="0"/>
              </a:rPr>
              <a:t>KNeighborsClassifier</a:t>
            </a:r>
            <a:r>
              <a:rPr lang="zh-CN" altLang="en-US" sz="1800" dirty="0">
                <a:solidFill>
                  <a:srgbClr val="000066"/>
                </a:solidFill>
                <a:latin typeface="Times New Roman" panose="02020603050405020304" pitchFamily="18" charset="0"/>
                <a:cs typeface="Times New Roman" panose="02020603050405020304" pitchFamily="18" charset="0"/>
              </a:rPr>
              <a:t>，建</a:t>
            </a:r>
            <a:r>
              <a:rPr lang="zh-CN" altLang="zh-CN" sz="1800" dirty="0">
                <a:solidFill>
                  <a:srgbClr val="000066"/>
                </a:solidFill>
                <a:latin typeface="Times New Roman" panose="02020603050405020304" pitchFamily="18" charset="0"/>
                <a:cs typeface="Times New Roman" panose="02020603050405020304" pitchFamily="18" charset="0"/>
              </a:rPr>
              <a:t>一个</a:t>
            </a:r>
            <a:r>
              <a:rPr lang="en-US" altLang="zh-CN" sz="1800">
                <a:solidFill>
                  <a:srgbClr val="000066"/>
                </a:solidFill>
                <a:latin typeface="Times New Roman" panose="02020603050405020304" pitchFamily="18" charset="0"/>
                <a:cs typeface="Times New Roman" panose="02020603050405020304" pitchFamily="18" charset="0"/>
              </a:rPr>
              <a:t>k=3</a:t>
            </a:r>
            <a:r>
              <a:rPr lang="zh-CN" altLang="zh-CN" sz="1800">
                <a:solidFill>
                  <a:srgbClr val="000066"/>
                </a:solidFill>
                <a:latin typeface="Times New Roman" panose="02020603050405020304" pitchFamily="18" charset="0"/>
                <a:cs typeface="Times New Roman" panose="02020603050405020304" pitchFamily="18" charset="0"/>
              </a:rPr>
              <a:t>的</a:t>
            </a:r>
            <a:r>
              <a:rPr lang="en-US" altLang="zh-CN" sz="1800" dirty="0" err="1">
                <a:solidFill>
                  <a:srgbClr val="000066"/>
                </a:solidFill>
                <a:latin typeface="Times New Roman" panose="02020603050405020304" pitchFamily="18" charset="0"/>
                <a:cs typeface="Times New Roman" panose="02020603050405020304" pitchFamily="18" charset="0"/>
              </a:rPr>
              <a:t>kNN</a:t>
            </a:r>
            <a:r>
              <a:rPr lang="zh-CN" altLang="zh-CN" sz="1800" dirty="0">
                <a:solidFill>
                  <a:srgbClr val="000066"/>
                </a:solidFill>
                <a:latin typeface="Times New Roman" panose="02020603050405020304" pitchFamily="18" charset="0"/>
                <a:cs typeface="Times New Roman" panose="02020603050405020304" pitchFamily="18" charset="0"/>
              </a:rPr>
              <a:t>分类器，</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623888" lvl="1" indent="-623888">
              <a:lnSpc>
                <a:spcPct val="150000"/>
              </a:lnSpc>
              <a:spcBef>
                <a:spcPts val="0"/>
              </a:spcBef>
              <a:buNone/>
            </a:pPr>
            <a:r>
              <a:rPr lang="en-US" altLang="zh-CN" sz="1800">
                <a:solidFill>
                  <a:srgbClr val="000066"/>
                </a:solidFill>
                <a:latin typeface="Times New Roman" panose="02020603050405020304" pitchFamily="18" charset="0"/>
                <a:cs typeface="Times New Roman" panose="02020603050405020304" pitchFamily="18" charset="0"/>
              </a:rPr>
              <a:t>             </a:t>
            </a:r>
            <a:r>
              <a:rPr lang="zh-CN" altLang="zh-CN" sz="1800">
                <a:solidFill>
                  <a:srgbClr val="000066"/>
                </a:solidFill>
                <a:latin typeface="Times New Roman" panose="02020603050405020304" pitchFamily="18" charset="0"/>
                <a:cs typeface="Times New Roman" panose="02020603050405020304" pitchFamily="18" charset="0"/>
              </a:rPr>
              <a:t>预测</a:t>
            </a:r>
            <a:r>
              <a:rPr lang="zh-CN" altLang="en-US" sz="1800" dirty="0">
                <a:solidFill>
                  <a:srgbClr val="000066"/>
                </a:solidFill>
                <a:latin typeface="Times New Roman" panose="02020603050405020304" pitchFamily="18" charset="0"/>
                <a:cs typeface="Times New Roman" panose="02020603050405020304" pitchFamily="18" charset="0"/>
              </a:rPr>
              <a:t>两个</a:t>
            </a:r>
            <a:r>
              <a:rPr lang="zh-CN" altLang="zh-CN" sz="1800" dirty="0">
                <a:solidFill>
                  <a:srgbClr val="000066"/>
                </a:solidFill>
                <a:latin typeface="Times New Roman" panose="02020603050405020304" pitchFamily="18" charset="0"/>
                <a:cs typeface="Times New Roman" panose="02020603050405020304" pitchFamily="18" charset="0"/>
              </a:rPr>
              <a:t>新</a:t>
            </a:r>
            <a:r>
              <a:rPr lang="zh-CN" altLang="en-US" sz="1800">
                <a:solidFill>
                  <a:srgbClr val="000066"/>
                </a:solidFill>
                <a:latin typeface="Times New Roman" panose="02020603050405020304" pitchFamily="18" charset="0"/>
                <a:cs typeface="Times New Roman" panose="02020603050405020304" pitchFamily="18" charset="0"/>
              </a:rPr>
              <a:t>样本</a:t>
            </a:r>
            <a:r>
              <a:rPr lang="en-US" altLang="zh-CN" sz="1800">
                <a:solidFill>
                  <a:srgbClr val="000066"/>
                </a:solidFill>
                <a:latin typeface="Times New Roman" panose="02020603050405020304" pitchFamily="18" charset="0"/>
                <a:cs typeface="Times New Roman" panose="02020603050405020304" pitchFamily="18" charset="0"/>
              </a:rPr>
              <a:t>(</a:t>
            </a:r>
            <a:r>
              <a:rPr lang="en-US" altLang="zh-CN" sz="1800">
                <a:solidFill>
                  <a:srgbClr val="002060"/>
                </a:solidFill>
                <a:latin typeface="Times New Roman" panose="02020603050405020304" pitchFamily="18" charset="0"/>
                <a:cs typeface="Times New Roman" panose="02020603050405020304" pitchFamily="18" charset="0"/>
              </a:rPr>
              <a:t>0.5, 2.5</a:t>
            </a:r>
            <a:r>
              <a:rPr lang="en-US" altLang="zh-CN" sz="1800">
                <a:solidFill>
                  <a:srgbClr val="000066"/>
                </a:solidFill>
                <a:latin typeface="Times New Roman" panose="02020603050405020304" pitchFamily="18" charset="0"/>
                <a:cs typeface="Times New Roman" panose="02020603050405020304" pitchFamily="18" charset="0"/>
              </a:rPr>
              <a:t>)</a:t>
            </a:r>
            <a:r>
              <a:rPr lang="zh-CN" altLang="zh-CN" sz="1800">
                <a:solidFill>
                  <a:srgbClr val="000066"/>
                </a:solidFill>
                <a:latin typeface="Times New Roman" panose="02020603050405020304" pitchFamily="18" charset="0"/>
                <a:cs typeface="Times New Roman" panose="02020603050405020304" pitchFamily="18" charset="0"/>
              </a:rPr>
              <a:t>和</a:t>
            </a:r>
            <a:r>
              <a:rPr lang="en-US" altLang="zh-CN" sz="1800">
                <a:solidFill>
                  <a:srgbClr val="000066"/>
                </a:solidFill>
                <a:latin typeface="Times New Roman" panose="02020603050405020304" pitchFamily="18" charset="0"/>
                <a:cs typeface="Times New Roman" panose="02020603050405020304" pitchFamily="18" charset="0"/>
              </a:rPr>
              <a:t>(</a:t>
            </a:r>
            <a:r>
              <a:rPr lang="en-US" altLang="zh-CN" sz="1800">
                <a:solidFill>
                  <a:srgbClr val="002060"/>
                </a:solidFill>
                <a:latin typeface="Times New Roman" panose="02020603050405020304" pitchFamily="18" charset="0"/>
                <a:cs typeface="Times New Roman" panose="02020603050405020304" pitchFamily="18" charset="0"/>
              </a:rPr>
              <a:t>-1.5, 1.5</a:t>
            </a:r>
            <a:r>
              <a:rPr lang="en-US" altLang="zh-CN" sz="1800">
                <a:solidFill>
                  <a:srgbClr val="000066"/>
                </a:solidFill>
                <a:latin typeface="Times New Roman" panose="02020603050405020304" pitchFamily="18" charset="0"/>
                <a:cs typeface="Times New Roman" panose="02020603050405020304" pitchFamily="18" charset="0"/>
              </a:rPr>
              <a:t>)</a:t>
            </a:r>
            <a:r>
              <a:rPr lang="zh-CN" altLang="zh-CN" sz="1800">
                <a:solidFill>
                  <a:srgbClr val="000066"/>
                </a:solidFill>
                <a:latin typeface="Times New Roman" panose="02020603050405020304" pitchFamily="18" charset="0"/>
                <a:cs typeface="Times New Roman" panose="02020603050405020304" pitchFamily="18" charset="0"/>
              </a:rPr>
              <a:t>的类别</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endParaRPr lang="en-US" altLang="zh-CN" sz="18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endParaRPr>
          </a:p>
          <a:p>
            <a:pPr marL="0" indent="0">
              <a:lnSpc>
                <a:spcPct val="150000"/>
              </a:lnSpc>
              <a:spcBef>
                <a:spcPts val="0"/>
              </a:spcBef>
              <a:buNone/>
            </a:pPr>
            <a:endParaRPr lang="en-US" altLang="zh-CN" sz="18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endParaRPr>
          </a:p>
          <a:p>
            <a:pPr marL="0" indent="0">
              <a:lnSpc>
                <a:spcPct val="150000"/>
              </a:lnSpc>
              <a:spcBef>
                <a:spcPts val="0"/>
              </a:spcBef>
              <a:buNone/>
            </a:pPr>
            <a:endParaRPr lang="en-US" altLang="zh-CN" sz="18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endParaRPr>
          </a:p>
          <a:p>
            <a:pPr marL="0" indent="0">
              <a:lnSpc>
                <a:spcPct val="150000"/>
              </a:lnSpc>
              <a:spcBef>
                <a:spcPts val="0"/>
              </a:spcBef>
              <a:buNone/>
            </a:pPr>
            <a:r>
              <a:rPr lang="zh-CN" altLang="en-US" sz="18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endParaRPr lang="en-US" altLang="zh-CN" sz="1800" dirty="0">
              <a:solidFill>
                <a:srgbClr val="000066"/>
              </a:solidFill>
              <a:latin typeface="Times New Roman" panose="02020603050405020304" pitchFamily="18" charset="0"/>
              <a:cs typeface="Times New Roman" panose="02020603050405020304" pitchFamily="18" charset="0"/>
            </a:endParaRPr>
          </a:p>
        </p:txBody>
      </p:sp>
      <p:sp>
        <p:nvSpPr>
          <p:cNvPr id="7" name="标题 1">
            <a:extLst>
              <a:ext uri="{FF2B5EF4-FFF2-40B4-BE49-F238E27FC236}">
                <a16:creationId xmlns:a16="http://schemas.microsoft.com/office/drawing/2014/main" id="{F99A1A2C-B7C0-41AA-90AC-7ED6D1BF694C}"/>
              </a:ext>
            </a:extLst>
          </p:cNvPr>
          <p:cNvSpPr>
            <a:spLocks noGrp="1"/>
          </p:cNvSpPr>
          <p:nvPr>
            <p:ph type="title"/>
          </p:nvPr>
        </p:nvSpPr>
        <p:spPr>
          <a:xfrm>
            <a:off x="395536" y="195486"/>
            <a:ext cx="6696744" cy="577618"/>
          </a:xfrm>
        </p:spPr>
        <p:txBody>
          <a:bodyPr>
            <a:noAutofit/>
          </a:bodyPr>
          <a:lstStyle/>
          <a:p>
            <a:r>
              <a:rPr lang="zh-CN" altLang="en-US" sz="2400">
                <a:solidFill>
                  <a:srgbClr val="FFFFFF"/>
                </a:solidFill>
                <a:latin typeface="Times New Roman" panose="02020603050405020304" pitchFamily="18" charset="0"/>
                <a:cs typeface="Times New Roman" panose="02020603050405020304" pitchFamily="18" charset="0"/>
              </a:rPr>
              <a:t>扩展学习三：</a:t>
            </a:r>
            <a:r>
              <a:rPr lang="en-US" altLang="zh-CN" sz="2400">
                <a:solidFill>
                  <a:srgbClr val="FFFFFF"/>
                </a:solidFill>
                <a:latin typeface="Times New Roman" panose="02020603050405020304" pitchFamily="18" charset="0"/>
                <a:cs typeface="Times New Roman" panose="02020603050405020304" pitchFamily="18" charset="0"/>
              </a:rPr>
              <a:t> k-</a:t>
            </a:r>
            <a:r>
              <a:rPr lang="zh-CN" altLang="en-US" sz="2400">
                <a:solidFill>
                  <a:srgbClr val="FFFFFF"/>
                </a:solidFill>
                <a:latin typeface="Times New Roman" panose="02020603050405020304" pitchFamily="18" charset="0"/>
                <a:cs typeface="Times New Roman" panose="02020603050405020304" pitchFamily="18" charset="0"/>
              </a:rPr>
              <a:t>近邻分类（数据随机生成）</a:t>
            </a:r>
            <a:endParaRPr lang="zh-CN" altLang="en-US" sz="2400" dirty="0"/>
          </a:p>
        </p:txBody>
      </p:sp>
    </p:spTree>
    <p:extLst>
      <p:ext uri="{BB962C8B-B14F-4D97-AF65-F5344CB8AC3E}">
        <p14:creationId xmlns:p14="http://schemas.microsoft.com/office/powerpoint/2010/main" val="2490494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单圆角 3">
            <a:extLst>
              <a:ext uri="{FF2B5EF4-FFF2-40B4-BE49-F238E27FC236}">
                <a16:creationId xmlns:a16="http://schemas.microsoft.com/office/drawing/2014/main" id="{62FA468F-A07D-429D-A9AC-02697EA2D1C9}"/>
              </a:ext>
            </a:extLst>
          </p:cNvPr>
          <p:cNvSpPr/>
          <p:nvPr/>
        </p:nvSpPr>
        <p:spPr bwMode="gray">
          <a:xfrm>
            <a:off x="1079612" y="2473100"/>
            <a:ext cx="6984776" cy="458690"/>
          </a:xfrm>
          <a:prstGeom prst="round1Rect">
            <a:avLst/>
          </a:prstGeom>
          <a:solidFill>
            <a:srgbClr val="66CCFF"/>
          </a:solidFill>
          <a:ln w="9525">
            <a:noFill/>
            <a:miter lim="800000"/>
            <a:headEnd/>
            <a:tailEnd/>
          </a:ln>
          <a:effectLst/>
        </p:spPr>
        <p:txBody>
          <a:bodyPr wrap="none" rtlCol="0" anchor="ctr"/>
          <a:lstStyle/>
          <a:p>
            <a:pPr algn="ctr" eaLnBrk="0" hangingPunct="0"/>
            <a:endParaRPr lang="zh-CN" altLang="en-US" sz="1400" b="1" dirty="0">
              <a:latin typeface="黑体" panose="02010609060101010101" pitchFamily="49" charset="-122"/>
              <a:ea typeface="黑体" panose="02010609060101010101" pitchFamily="49" charset="-122"/>
            </a:endParaRPr>
          </a:p>
        </p:txBody>
      </p:sp>
      <p:sp>
        <p:nvSpPr>
          <p:cNvPr id="5" name="矩形: 单圆角 4">
            <a:extLst>
              <a:ext uri="{FF2B5EF4-FFF2-40B4-BE49-F238E27FC236}">
                <a16:creationId xmlns:a16="http://schemas.microsoft.com/office/drawing/2014/main" id="{FBBC8523-FA54-4F15-8448-2F4CC54F49BB}"/>
              </a:ext>
            </a:extLst>
          </p:cNvPr>
          <p:cNvSpPr/>
          <p:nvPr/>
        </p:nvSpPr>
        <p:spPr bwMode="gray">
          <a:xfrm>
            <a:off x="1079612" y="2931790"/>
            <a:ext cx="6984776" cy="458690"/>
          </a:xfrm>
          <a:prstGeom prst="round1Rect">
            <a:avLst/>
          </a:prstGeom>
          <a:solidFill>
            <a:srgbClr val="CCFFCC"/>
          </a:solidFill>
          <a:ln w="9525">
            <a:noFill/>
            <a:miter lim="800000"/>
            <a:headEnd/>
            <a:tailEnd/>
          </a:ln>
          <a:effectLst/>
        </p:spPr>
        <p:txBody>
          <a:bodyPr wrap="none" rtlCol="0" anchor="ctr"/>
          <a:lstStyle/>
          <a:p>
            <a:pPr algn="ctr" eaLnBrk="0" hangingPunct="0"/>
            <a:endParaRPr lang="zh-CN" altLang="en-US" sz="1400" b="1" dirty="0">
              <a:latin typeface="黑体" panose="02010609060101010101" pitchFamily="49" charset="-122"/>
              <a:ea typeface="黑体" panose="02010609060101010101" pitchFamily="49" charset="-122"/>
            </a:endParaRPr>
          </a:p>
        </p:txBody>
      </p:sp>
      <p:sp>
        <p:nvSpPr>
          <p:cNvPr id="6" name="矩形: 单圆角 5">
            <a:extLst>
              <a:ext uri="{FF2B5EF4-FFF2-40B4-BE49-F238E27FC236}">
                <a16:creationId xmlns:a16="http://schemas.microsoft.com/office/drawing/2014/main" id="{5CD4CC8F-C557-4A8F-8C73-B4E6E92CF80A}"/>
              </a:ext>
            </a:extLst>
          </p:cNvPr>
          <p:cNvSpPr/>
          <p:nvPr/>
        </p:nvSpPr>
        <p:spPr bwMode="gray">
          <a:xfrm>
            <a:off x="1079612" y="3390480"/>
            <a:ext cx="6984776" cy="766394"/>
          </a:xfrm>
          <a:prstGeom prst="round1Rect">
            <a:avLst/>
          </a:prstGeom>
          <a:solidFill>
            <a:schemeClr val="tx2">
              <a:lumMod val="40000"/>
              <a:lumOff val="60000"/>
            </a:schemeClr>
          </a:solidFill>
          <a:ln w="9525">
            <a:noFill/>
            <a:miter lim="800000"/>
            <a:headEnd/>
            <a:tailEnd/>
          </a:ln>
          <a:effectLst/>
        </p:spPr>
        <p:txBody>
          <a:bodyPr wrap="none" rtlCol="0" anchor="ctr"/>
          <a:lstStyle/>
          <a:p>
            <a:pPr algn="ctr" eaLnBrk="0" hangingPunct="0"/>
            <a:endParaRPr lang="zh-CN" altLang="en-US" sz="1400" b="1" dirty="0">
              <a:latin typeface="黑体" panose="02010609060101010101" pitchFamily="49" charset="-122"/>
              <a:ea typeface="黑体" panose="02010609060101010101" pitchFamily="49" charset="-122"/>
            </a:endParaRPr>
          </a:p>
        </p:txBody>
      </p:sp>
      <p:cxnSp>
        <p:nvCxnSpPr>
          <p:cNvPr id="7" name="直接箭头连接符 6">
            <a:extLst>
              <a:ext uri="{FF2B5EF4-FFF2-40B4-BE49-F238E27FC236}">
                <a16:creationId xmlns:a16="http://schemas.microsoft.com/office/drawing/2014/main" id="{1AA1A83F-A128-4500-8BA3-50B6FA1756FC}"/>
              </a:ext>
            </a:extLst>
          </p:cNvPr>
          <p:cNvCxnSpPr>
            <a:cxnSpLocks/>
          </p:cNvCxnSpPr>
          <p:nvPr/>
        </p:nvCxnSpPr>
        <p:spPr>
          <a:xfrm flipH="1">
            <a:off x="583754" y="2211710"/>
            <a:ext cx="1" cy="28808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B5BE5EF7-E0A4-4520-8B7A-4455219F62B9}"/>
              </a:ext>
            </a:extLst>
          </p:cNvPr>
          <p:cNvCxnSpPr>
            <a:cxnSpLocks/>
          </p:cNvCxnSpPr>
          <p:nvPr/>
        </p:nvCxnSpPr>
        <p:spPr>
          <a:xfrm flipH="1">
            <a:off x="583755" y="3336354"/>
            <a:ext cx="1" cy="28808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C7E6F62E-4119-405E-A5C7-4629136A1CF1}"/>
              </a:ext>
            </a:extLst>
          </p:cNvPr>
          <p:cNvSpPr txBox="1"/>
          <p:nvPr/>
        </p:nvSpPr>
        <p:spPr>
          <a:xfrm>
            <a:off x="140798" y="3631255"/>
            <a:ext cx="902811" cy="334313"/>
          </a:xfrm>
          <a:prstGeom prst="rect">
            <a:avLst/>
          </a:prstGeom>
          <a:noFill/>
          <a:ln w="19050">
            <a:solidFill>
              <a:srgbClr val="000066"/>
            </a:solidFill>
          </a:ln>
        </p:spPr>
        <p:txBody>
          <a:bodyPr wrap="none" tIns="72000" rtlCol="0">
            <a:spAutoFit/>
          </a:bodyPr>
          <a:lstStyle/>
          <a:p>
            <a:pPr algn="ctr"/>
            <a:r>
              <a:rPr lang="zh-CN" altLang="en-US" sz="1400">
                <a:solidFill>
                  <a:srgbClr val="000066"/>
                </a:solidFill>
                <a:latin typeface="微软雅黑" panose="020B0503020204020204" pitchFamily="34" charset="-122"/>
                <a:ea typeface="微软雅黑" panose="020B0503020204020204" pitchFamily="34" charset="-122"/>
              </a:rPr>
              <a:t>预测数据</a:t>
            </a:r>
          </a:p>
        </p:txBody>
      </p:sp>
      <p:cxnSp>
        <p:nvCxnSpPr>
          <p:cNvPr id="10" name="直接箭头连接符 9">
            <a:extLst>
              <a:ext uri="{FF2B5EF4-FFF2-40B4-BE49-F238E27FC236}">
                <a16:creationId xmlns:a16="http://schemas.microsoft.com/office/drawing/2014/main" id="{D4CE0DCC-30B9-4980-90E9-FD2890B35A57}"/>
              </a:ext>
            </a:extLst>
          </p:cNvPr>
          <p:cNvCxnSpPr>
            <a:cxnSpLocks/>
          </p:cNvCxnSpPr>
          <p:nvPr/>
        </p:nvCxnSpPr>
        <p:spPr>
          <a:xfrm flipH="1">
            <a:off x="583755" y="3958756"/>
            <a:ext cx="1" cy="28808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21BD3121-4E6C-4E8C-B313-E32694694D0D}"/>
              </a:ext>
            </a:extLst>
          </p:cNvPr>
          <p:cNvCxnSpPr>
            <a:cxnSpLocks/>
          </p:cNvCxnSpPr>
          <p:nvPr/>
        </p:nvCxnSpPr>
        <p:spPr>
          <a:xfrm flipH="1">
            <a:off x="583755" y="2787726"/>
            <a:ext cx="1" cy="28808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AE34BF0A-E377-482E-B3AF-03AC99BAD5A7}"/>
              </a:ext>
            </a:extLst>
          </p:cNvPr>
          <p:cNvSpPr txBox="1"/>
          <p:nvPr/>
        </p:nvSpPr>
        <p:spPr>
          <a:xfrm>
            <a:off x="132348" y="3075806"/>
            <a:ext cx="902811" cy="334313"/>
          </a:xfrm>
          <a:prstGeom prst="rect">
            <a:avLst/>
          </a:prstGeom>
          <a:solidFill>
            <a:schemeClr val="bg1"/>
          </a:solidFill>
          <a:ln w="19050">
            <a:solidFill>
              <a:srgbClr val="000066"/>
            </a:solidFill>
          </a:ln>
        </p:spPr>
        <p:txBody>
          <a:bodyPr wrap="none" tIns="72000" rtlCol="0">
            <a:spAutoFit/>
          </a:bodyPr>
          <a:lstStyle/>
          <a:p>
            <a:pPr algn="ctr"/>
            <a:r>
              <a:rPr lang="zh-CN" altLang="en-US" sz="1400">
                <a:solidFill>
                  <a:srgbClr val="000066"/>
                </a:solidFill>
                <a:latin typeface="微软雅黑" panose="020B0503020204020204" pitchFamily="34" charset="-122"/>
                <a:ea typeface="微软雅黑" panose="020B0503020204020204" pitchFamily="34" charset="-122"/>
              </a:rPr>
              <a:t>训练模型</a:t>
            </a:r>
          </a:p>
        </p:txBody>
      </p:sp>
      <p:sp>
        <p:nvSpPr>
          <p:cNvPr id="14" name="文本框 13">
            <a:extLst>
              <a:ext uri="{FF2B5EF4-FFF2-40B4-BE49-F238E27FC236}">
                <a16:creationId xmlns:a16="http://schemas.microsoft.com/office/drawing/2014/main" id="{3332228D-695F-436D-B90C-23AB2030193D}"/>
              </a:ext>
            </a:extLst>
          </p:cNvPr>
          <p:cNvSpPr txBox="1"/>
          <p:nvPr/>
        </p:nvSpPr>
        <p:spPr>
          <a:xfrm>
            <a:off x="132352" y="2525472"/>
            <a:ext cx="902811" cy="334313"/>
          </a:xfrm>
          <a:prstGeom prst="rect">
            <a:avLst/>
          </a:prstGeom>
          <a:solidFill>
            <a:schemeClr val="bg1"/>
          </a:solidFill>
          <a:ln w="19050">
            <a:solidFill>
              <a:srgbClr val="000066"/>
            </a:solidFill>
          </a:ln>
        </p:spPr>
        <p:txBody>
          <a:bodyPr wrap="none" tIns="72000" rtlCol="0">
            <a:spAutoFit/>
          </a:bodyPr>
          <a:lstStyle/>
          <a:p>
            <a:pPr algn="ctr"/>
            <a:r>
              <a:rPr lang="zh-CN" altLang="en-US" sz="1400">
                <a:solidFill>
                  <a:srgbClr val="000066"/>
                </a:solidFill>
                <a:latin typeface="微软雅黑" panose="020B0503020204020204" pitchFamily="34" charset="-122"/>
                <a:ea typeface="微软雅黑" panose="020B0503020204020204" pitchFamily="34" charset="-122"/>
              </a:rPr>
              <a:t>整理数据</a:t>
            </a:r>
          </a:p>
        </p:txBody>
      </p:sp>
      <p:sp>
        <p:nvSpPr>
          <p:cNvPr id="3" name="内容占位符 2"/>
          <p:cNvSpPr>
            <a:spLocks noGrp="1"/>
          </p:cNvSpPr>
          <p:nvPr>
            <p:ph idx="1"/>
          </p:nvPr>
        </p:nvSpPr>
        <p:spPr>
          <a:xfrm>
            <a:off x="611559" y="986626"/>
            <a:ext cx="8352929" cy="3385324"/>
          </a:xfrm>
          <a:noFill/>
        </p:spPr>
        <p:txBody>
          <a:bodyPr>
            <a:noAutofit/>
          </a:bodyPr>
          <a:lstStyle/>
          <a:p>
            <a:pPr marL="0" indent="0">
              <a:lnSpc>
                <a:spcPct val="150000"/>
              </a:lnSpc>
              <a:spcBef>
                <a:spcPts val="0"/>
              </a:spcBef>
              <a:buNone/>
            </a:pPr>
            <a:endParaRPr lang="en-US" altLang="zh-CN" sz="1800">
              <a:solidFill>
                <a:srgbClr val="000066"/>
              </a:solidFill>
              <a:latin typeface="Times New Roman" panose="02020603050405020304" pitchFamily="18" charset="0"/>
              <a:cs typeface="Times New Roman" panose="02020603050405020304" pitchFamily="18" charset="0"/>
            </a:endParaRPr>
          </a:p>
          <a:p>
            <a:pPr marL="486000" lvl="2" indent="0">
              <a:lnSpc>
                <a:spcPct val="100000"/>
              </a:lnSpc>
              <a:spcBef>
                <a:spcPts val="0"/>
              </a:spcBef>
              <a:buNone/>
            </a:pPr>
            <a:r>
              <a:rPr lang="en-US" altLang="zh-CN" sz="1600">
                <a:solidFill>
                  <a:srgbClr val="002060"/>
                </a:solidFill>
                <a:latin typeface="Times New Roman" panose="02020603050405020304" pitchFamily="18" charset="0"/>
                <a:cs typeface="Times New Roman" panose="02020603050405020304" pitchFamily="18" charset="0"/>
              </a:rPr>
              <a:t>import </a:t>
            </a:r>
            <a:r>
              <a:rPr lang="en-US" altLang="zh-CN" sz="1600" dirty="0" err="1">
                <a:solidFill>
                  <a:srgbClr val="002060"/>
                </a:solidFill>
                <a:latin typeface="Times New Roman" panose="02020603050405020304" pitchFamily="18" charset="0"/>
                <a:cs typeface="Times New Roman" panose="02020603050405020304" pitchFamily="18" charset="0"/>
              </a:rPr>
              <a:t>numpy</a:t>
            </a:r>
            <a:r>
              <a:rPr lang="en-US" altLang="zh-CN" sz="1600" dirty="0">
                <a:solidFill>
                  <a:srgbClr val="002060"/>
                </a:solidFill>
                <a:latin typeface="Times New Roman" panose="02020603050405020304" pitchFamily="18" charset="0"/>
                <a:cs typeface="Times New Roman" panose="02020603050405020304" pitchFamily="18" charset="0"/>
              </a:rPr>
              <a:t> as np</a:t>
            </a:r>
          </a:p>
          <a:p>
            <a:pPr marL="486000" lvl="2" indent="0">
              <a:lnSpc>
                <a:spcPct val="1000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from </a:t>
            </a:r>
            <a:r>
              <a:rPr lang="en-US" altLang="zh-CN" sz="1600" dirty="0" err="1">
                <a:solidFill>
                  <a:srgbClr val="002060"/>
                </a:solidFill>
                <a:latin typeface="Times New Roman" panose="02020603050405020304" pitchFamily="18" charset="0"/>
                <a:cs typeface="Times New Roman" panose="02020603050405020304" pitchFamily="18" charset="0"/>
              </a:rPr>
              <a:t>sklearn.datasets</a:t>
            </a:r>
            <a:r>
              <a:rPr lang="en-US" altLang="zh-CN" sz="1600" dirty="0">
                <a:solidFill>
                  <a:srgbClr val="002060"/>
                </a:solidFill>
                <a:latin typeface="Times New Roman" panose="02020603050405020304" pitchFamily="18" charset="0"/>
                <a:cs typeface="Times New Roman" panose="02020603050405020304" pitchFamily="18" charset="0"/>
              </a:rPr>
              <a:t> import </a:t>
            </a:r>
            <a:r>
              <a:rPr lang="en-US" altLang="zh-CN" sz="1600" dirty="0" err="1">
                <a:solidFill>
                  <a:srgbClr val="002060"/>
                </a:solidFill>
                <a:latin typeface="Times New Roman" panose="02020603050405020304" pitchFamily="18" charset="0"/>
                <a:cs typeface="Times New Roman" panose="02020603050405020304" pitchFamily="18" charset="0"/>
              </a:rPr>
              <a:t>make_blobs</a:t>
            </a:r>
            <a:r>
              <a:rPr lang="en-US" altLang="zh-CN" sz="1600" dirty="0">
                <a:solidFill>
                  <a:srgbClr val="002060"/>
                </a:solidFill>
                <a:latin typeface="Times New Roman" panose="02020603050405020304" pitchFamily="18" charset="0"/>
                <a:cs typeface="Times New Roman" panose="02020603050405020304" pitchFamily="18" charset="0"/>
              </a:rPr>
              <a:t>   </a:t>
            </a:r>
          </a:p>
          <a:p>
            <a:pPr marL="486000" lvl="2" indent="0">
              <a:lnSpc>
                <a:spcPct val="1000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from </a:t>
            </a:r>
            <a:r>
              <a:rPr lang="en-US" altLang="zh-CN" sz="1600" dirty="0" err="1">
                <a:solidFill>
                  <a:srgbClr val="002060"/>
                </a:solidFill>
                <a:latin typeface="Times New Roman" panose="02020603050405020304" pitchFamily="18" charset="0"/>
                <a:cs typeface="Times New Roman" panose="02020603050405020304" pitchFamily="18" charset="0"/>
              </a:rPr>
              <a:t>sklearn.neighbors</a:t>
            </a:r>
            <a:r>
              <a:rPr lang="en-US" altLang="zh-CN" sz="1600" dirty="0">
                <a:solidFill>
                  <a:srgbClr val="002060"/>
                </a:solidFill>
                <a:latin typeface="Times New Roman" panose="02020603050405020304" pitchFamily="18" charset="0"/>
                <a:cs typeface="Times New Roman" panose="02020603050405020304" pitchFamily="18" charset="0"/>
              </a:rPr>
              <a:t> import </a:t>
            </a:r>
            <a:r>
              <a:rPr lang="en-US" altLang="zh-CN" sz="1600" dirty="0" err="1">
                <a:solidFill>
                  <a:srgbClr val="002060"/>
                </a:solidFill>
                <a:latin typeface="Times New Roman" panose="02020603050405020304" pitchFamily="18" charset="0"/>
                <a:cs typeface="Times New Roman" panose="02020603050405020304" pitchFamily="18" charset="0"/>
              </a:rPr>
              <a:t>KNeighborsClassifier</a:t>
            </a:r>
            <a:endParaRPr lang="en-US" altLang="zh-CN" sz="1600" dirty="0">
              <a:solidFill>
                <a:srgbClr val="002060"/>
              </a:solidFill>
              <a:latin typeface="Times New Roman" panose="02020603050405020304" pitchFamily="18" charset="0"/>
              <a:cs typeface="Times New Roman" panose="02020603050405020304" pitchFamily="18" charset="0"/>
            </a:endParaRPr>
          </a:p>
          <a:p>
            <a:pPr marL="486000" lvl="2" indent="0">
              <a:lnSpc>
                <a:spcPct val="1000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import </a:t>
            </a:r>
            <a:r>
              <a:rPr lang="en-US" altLang="zh-CN" sz="1600" dirty="0" err="1">
                <a:solidFill>
                  <a:srgbClr val="002060"/>
                </a:solidFill>
                <a:latin typeface="Times New Roman" panose="02020603050405020304" pitchFamily="18" charset="0"/>
                <a:cs typeface="Times New Roman" panose="02020603050405020304" pitchFamily="18" charset="0"/>
              </a:rPr>
              <a:t>matplotlib.pyplot</a:t>
            </a:r>
            <a:r>
              <a:rPr lang="en-US" altLang="zh-CN" sz="1600" dirty="0">
                <a:solidFill>
                  <a:srgbClr val="002060"/>
                </a:solidFill>
                <a:latin typeface="Times New Roman" panose="02020603050405020304" pitchFamily="18" charset="0"/>
                <a:cs typeface="Times New Roman" panose="02020603050405020304" pitchFamily="18" charset="0"/>
              </a:rPr>
              <a:t> as </a:t>
            </a:r>
            <a:r>
              <a:rPr lang="en-US" altLang="zh-CN" sz="1600" dirty="0" err="1">
                <a:solidFill>
                  <a:srgbClr val="002060"/>
                </a:solidFill>
                <a:latin typeface="Times New Roman" panose="02020603050405020304" pitchFamily="18" charset="0"/>
                <a:cs typeface="Times New Roman" panose="02020603050405020304" pitchFamily="18" charset="0"/>
              </a:rPr>
              <a:t>plt</a:t>
            </a:r>
            <a:endParaRPr lang="en-US" altLang="zh-CN" sz="1600" dirty="0">
              <a:solidFill>
                <a:srgbClr val="002060"/>
              </a:solidFill>
              <a:latin typeface="Times New Roman" panose="02020603050405020304" pitchFamily="18" charset="0"/>
              <a:cs typeface="Times New Roman" panose="02020603050405020304" pitchFamily="18" charset="0"/>
            </a:endParaRPr>
          </a:p>
          <a:p>
            <a:pPr marL="486000" lvl="2" indent="0">
              <a:lnSpc>
                <a:spcPct val="100000"/>
              </a:lnSpc>
              <a:spcBef>
                <a:spcPts val="0"/>
              </a:spcBef>
              <a:buNone/>
            </a:pPr>
            <a:r>
              <a:rPr lang="en-US" altLang="zh-CN" sz="1600">
                <a:solidFill>
                  <a:srgbClr val="002060"/>
                </a:solidFill>
                <a:latin typeface="Times New Roman" panose="02020603050405020304" pitchFamily="18" charset="0"/>
                <a:cs typeface="Times New Roman" panose="02020603050405020304" pitchFamily="18" charset="0"/>
              </a:rPr>
              <a:t>centers=[(-2,1),(0,2)]</a:t>
            </a:r>
            <a:endParaRPr lang="en-US" altLang="zh-CN" sz="1600" dirty="0">
              <a:solidFill>
                <a:srgbClr val="002060"/>
              </a:solidFill>
              <a:latin typeface="Times New Roman" panose="02020603050405020304" pitchFamily="18" charset="0"/>
              <a:cs typeface="Times New Roman" panose="02020603050405020304" pitchFamily="18" charset="0"/>
            </a:endParaRPr>
          </a:p>
          <a:p>
            <a:pPr marL="486000" lvl="2" indent="0">
              <a:lnSpc>
                <a:spcPct val="100000"/>
              </a:lnSpc>
              <a:spcBef>
                <a:spcPts val="0"/>
              </a:spcBef>
              <a:buNone/>
            </a:pPr>
            <a:r>
              <a:rPr lang="en-US" altLang="zh-CN" sz="1600" dirty="0" err="1">
                <a:solidFill>
                  <a:srgbClr val="002060"/>
                </a:solidFill>
                <a:latin typeface="Times New Roman" panose="02020603050405020304" pitchFamily="18" charset="0"/>
                <a:cs typeface="Times New Roman" panose="02020603050405020304" pitchFamily="18" charset="0"/>
              </a:rPr>
              <a:t>X</a:t>
            </a:r>
            <a:r>
              <a:rPr lang="en-US" altLang="zh-CN" sz="1600" err="1">
                <a:solidFill>
                  <a:srgbClr val="002060"/>
                </a:solidFill>
                <a:latin typeface="Times New Roman" panose="02020603050405020304" pitchFamily="18" charset="0"/>
                <a:cs typeface="Times New Roman" panose="02020603050405020304" pitchFamily="18" charset="0"/>
              </a:rPr>
              <a:t>,</a:t>
            </a:r>
            <a:r>
              <a:rPr lang="en-US" altLang="zh-CN" sz="1600">
                <a:solidFill>
                  <a:srgbClr val="002060"/>
                </a:solidFill>
                <a:latin typeface="Times New Roman" panose="02020603050405020304" pitchFamily="18" charset="0"/>
                <a:cs typeface="Times New Roman" panose="02020603050405020304" pitchFamily="18" charset="0"/>
              </a:rPr>
              <a:t>y</a:t>
            </a: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make</a:t>
            </a:r>
            <a:r>
              <a:rPr lang="en-US" altLang="zh-CN" sz="1600" err="1">
                <a:solidFill>
                  <a:srgbClr val="002060"/>
                </a:solidFill>
                <a:latin typeface="Times New Roman" panose="02020603050405020304" pitchFamily="18" charset="0"/>
                <a:cs typeface="Times New Roman" panose="02020603050405020304" pitchFamily="18" charset="0"/>
              </a:rPr>
              <a:t>_</a:t>
            </a:r>
            <a:r>
              <a:rPr lang="en-US" altLang="zh-CN" sz="1600">
                <a:solidFill>
                  <a:srgbClr val="002060"/>
                </a:solidFill>
                <a:latin typeface="Times New Roman" panose="02020603050405020304" pitchFamily="18" charset="0"/>
                <a:cs typeface="Times New Roman" panose="02020603050405020304" pitchFamily="18" charset="0"/>
              </a:rPr>
              <a:t>blobs(</a:t>
            </a:r>
            <a:r>
              <a:rPr lang="en-US" altLang="zh-CN" sz="1600" dirty="0" err="1">
                <a:solidFill>
                  <a:srgbClr val="002060"/>
                </a:solidFill>
                <a:latin typeface="Times New Roman" panose="02020603050405020304" pitchFamily="18" charset="0"/>
                <a:cs typeface="Times New Roman" panose="02020603050405020304" pitchFamily="18" charset="0"/>
              </a:rPr>
              <a:t>n</a:t>
            </a:r>
            <a:r>
              <a:rPr lang="en-US" altLang="zh-CN" sz="1600" err="1">
                <a:solidFill>
                  <a:srgbClr val="002060"/>
                </a:solidFill>
                <a:latin typeface="Times New Roman" panose="02020603050405020304" pitchFamily="18" charset="0"/>
                <a:cs typeface="Times New Roman" panose="02020603050405020304" pitchFamily="18" charset="0"/>
              </a:rPr>
              <a:t>_</a:t>
            </a:r>
            <a:r>
              <a:rPr lang="en-US" altLang="zh-CN" sz="1600">
                <a:solidFill>
                  <a:srgbClr val="002060"/>
                </a:solidFill>
                <a:latin typeface="Times New Roman" panose="02020603050405020304" pitchFamily="18" charset="0"/>
                <a:cs typeface="Times New Roman" panose="02020603050405020304" pitchFamily="18" charset="0"/>
              </a:rPr>
              <a:t>samples=</a:t>
            </a:r>
            <a:r>
              <a:rPr lang="en-US" altLang="zh-CN" sz="1600" dirty="0" err="1">
                <a:solidFill>
                  <a:srgbClr val="002060"/>
                </a:solidFill>
                <a:latin typeface="Times New Roman" panose="02020603050405020304" pitchFamily="18" charset="0"/>
                <a:cs typeface="Times New Roman" panose="02020603050405020304" pitchFamily="18" charset="0"/>
              </a:rPr>
              <a:t>10</a:t>
            </a:r>
            <a:r>
              <a:rPr lang="en-US" altLang="zh-CN" sz="1600" err="1">
                <a:solidFill>
                  <a:srgbClr val="002060"/>
                </a:solidFill>
                <a:latin typeface="Times New Roman" panose="02020603050405020304" pitchFamily="18" charset="0"/>
                <a:cs typeface="Times New Roman" panose="02020603050405020304" pitchFamily="18" charset="0"/>
              </a:rPr>
              <a:t>,</a:t>
            </a:r>
            <a:r>
              <a:rPr lang="en-US" altLang="zh-CN" sz="1600">
                <a:solidFill>
                  <a:srgbClr val="002060"/>
                </a:solidFill>
                <a:latin typeface="Times New Roman" panose="02020603050405020304" pitchFamily="18" charset="0"/>
                <a:cs typeface="Times New Roman" panose="02020603050405020304" pitchFamily="18" charset="0"/>
              </a:rPr>
              <a:t>centers=</a:t>
            </a:r>
            <a:r>
              <a:rPr lang="en-US" altLang="zh-CN" sz="1600" dirty="0" err="1">
                <a:solidFill>
                  <a:srgbClr val="002060"/>
                </a:solidFill>
                <a:latin typeface="Times New Roman" panose="02020603050405020304" pitchFamily="18" charset="0"/>
                <a:cs typeface="Times New Roman" panose="02020603050405020304" pitchFamily="18" charset="0"/>
              </a:rPr>
              <a:t>centers,random</a:t>
            </a:r>
            <a:r>
              <a:rPr lang="en-US" altLang="zh-CN" sz="1600" err="1">
                <a:solidFill>
                  <a:srgbClr val="002060"/>
                </a:solidFill>
                <a:latin typeface="Times New Roman" panose="02020603050405020304" pitchFamily="18" charset="0"/>
                <a:cs typeface="Times New Roman" panose="02020603050405020304" pitchFamily="18" charset="0"/>
              </a:rPr>
              <a:t>_</a:t>
            </a:r>
            <a:r>
              <a:rPr lang="en-US" altLang="zh-CN" sz="1600">
                <a:solidFill>
                  <a:srgbClr val="002060"/>
                </a:solidFill>
                <a:latin typeface="Times New Roman" panose="02020603050405020304" pitchFamily="18" charset="0"/>
                <a:cs typeface="Times New Roman" panose="02020603050405020304" pitchFamily="18" charset="0"/>
              </a:rPr>
              <a:t>state=</a:t>
            </a:r>
            <a:r>
              <a:rPr lang="en-US" altLang="zh-CN" sz="1600" dirty="0" err="1">
                <a:solidFill>
                  <a:srgbClr val="002060"/>
                </a:solidFill>
                <a:latin typeface="Times New Roman" panose="02020603050405020304" pitchFamily="18" charset="0"/>
                <a:cs typeface="Times New Roman" panose="02020603050405020304" pitchFamily="18" charset="0"/>
              </a:rPr>
              <a:t>0,cluster</a:t>
            </a:r>
            <a:r>
              <a:rPr lang="en-US" altLang="zh-CN" sz="1600" err="1">
                <a:solidFill>
                  <a:srgbClr val="002060"/>
                </a:solidFill>
                <a:latin typeface="Times New Roman" panose="02020603050405020304" pitchFamily="18" charset="0"/>
                <a:cs typeface="Times New Roman" panose="02020603050405020304" pitchFamily="18" charset="0"/>
              </a:rPr>
              <a:t>_</a:t>
            </a:r>
            <a:r>
              <a:rPr lang="en-US" altLang="zh-CN" sz="1600">
                <a:solidFill>
                  <a:srgbClr val="002060"/>
                </a:solidFill>
                <a:latin typeface="Times New Roman" panose="02020603050405020304" pitchFamily="18" charset="0"/>
                <a:cs typeface="Times New Roman" panose="02020603050405020304" pitchFamily="18" charset="0"/>
              </a:rPr>
              <a:t>std</a:t>
            </a:r>
            <a:r>
              <a:rPr lang="en-US" altLang="zh-CN" sz="1600" dirty="0">
                <a:solidFill>
                  <a:srgbClr val="002060"/>
                </a:solidFill>
                <a:latin typeface="Times New Roman" panose="02020603050405020304" pitchFamily="18" charset="0"/>
                <a:cs typeface="Times New Roman" panose="02020603050405020304" pitchFamily="18" charset="0"/>
              </a:rPr>
              <a:t>=0.6)</a:t>
            </a:r>
          </a:p>
          <a:p>
            <a:pPr marL="486000" lvl="2" indent="0">
              <a:lnSpc>
                <a:spcPct val="100000"/>
              </a:lnSpc>
              <a:spcBef>
                <a:spcPts val="0"/>
              </a:spcBef>
              <a:buNone/>
            </a:pPr>
            <a:r>
              <a:rPr lang="en-US" altLang="zh-CN" sz="1600">
                <a:solidFill>
                  <a:srgbClr val="002060"/>
                </a:solidFill>
                <a:latin typeface="Times New Roman" panose="02020603050405020304" pitchFamily="18" charset="0"/>
                <a:cs typeface="Times New Roman" panose="02020603050405020304" pitchFamily="18" charset="0"/>
              </a:rPr>
              <a:t>clf = KNeighborsClassifier(</a:t>
            </a:r>
            <a:r>
              <a:rPr lang="en-US" altLang="zh-CN" sz="1600" err="1">
                <a:solidFill>
                  <a:srgbClr val="002060"/>
                </a:solidFill>
                <a:latin typeface="Times New Roman" panose="02020603050405020304" pitchFamily="18" charset="0"/>
                <a:cs typeface="Times New Roman" panose="02020603050405020304" pitchFamily="18" charset="0"/>
              </a:rPr>
              <a:t>n</a:t>
            </a:r>
            <a:r>
              <a:rPr lang="en-US" altLang="zh-CN" sz="1600">
                <a:solidFill>
                  <a:srgbClr val="002060"/>
                </a:solidFill>
                <a:latin typeface="Times New Roman" panose="02020603050405020304" pitchFamily="18" charset="0"/>
                <a:cs typeface="Times New Roman" panose="02020603050405020304" pitchFamily="18" charset="0"/>
              </a:rPr>
              <a:t>_neighbors=3) </a:t>
            </a: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a:solidFill>
                  <a:srgbClr val="002060"/>
                </a:solidFill>
                <a:latin typeface="Times New Roman" panose="02020603050405020304" pitchFamily="18" charset="0"/>
                <a:cs typeface="Times New Roman" panose="02020603050405020304" pitchFamily="18" charset="0"/>
              </a:rPr>
              <a:t>	# </a:t>
            </a:r>
            <a:r>
              <a:rPr lang="zh-CN" altLang="en-US" sz="1600">
                <a:solidFill>
                  <a:srgbClr val="002060"/>
                </a:solidFill>
                <a:latin typeface="Times New Roman" panose="02020603050405020304" pitchFamily="18" charset="0"/>
                <a:cs typeface="Times New Roman" panose="02020603050405020304" pitchFamily="18" charset="0"/>
              </a:rPr>
              <a:t>创建模型</a:t>
            </a:r>
            <a:endParaRPr lang="zh-CN" altLang="en-US" sz="1600" dirty="0">
              <a:solidFill>
                <a:srgbClr val="002060"/>
              </a:solidFill>
              <a:latin typeface="Times New Roman" panose="02020603050405020304" pitchFamily="18" charset="0"/>
              <a:cs typeface="Times New Roman" panose="02020603050405020304" pitchFamily="18" charset="0"/>
            </a:endParaRPr>
          </a:p>
          <a:p>
            <a:pPr marL="486000" lvl="2" indent="0">
              <a:lnSpc>
                <a:spcPct val="100000"/>
              </a:lnSpc>
              <a:spcBef>
                <a:spcPts val="0"/>
              </a:spcBef>
              <a:buNone/>
            </a:pPr>
            <a:r>
              <a:rPr lang="en-US" altLang="zh-CN" sz="1600" dirty="0" err="1">
                <a:solidFill>
                  <a:srgbClr val="002060"/>
                </a:solidFill>
                <a:latin typeface="Times New Roman" panose="02020603050405020304" pitchFamily="18" charset="0"/>
                <a:cs typeface="Times New Roman" panose="02020603050405020304" pitchFamily="18" charset="0"/>
              </a:rPr>
              <a:t>clf</a:t>
            </a:r>
            <a:r>
              <a:rPr lang="en-US" altLang="zh-CN" sz="1600" err="1">
                <a:solidFill>
                  <a:srgbClr val="002060"/>
                </a:solidFill>
                <a:latin typeface="Times New Roman" panose="02020603050405020304" pitchFamily="18" charset="0"/>
                <a:cs typeface="Times New Roman" panose="02020603050405020304" pitchFamily="18" charset="0"/>
              </a:rPr>
              <a:t>.</a:t>
            </a:r>
            <a:r>
              <a:rPr lang="en-US" altLang="zh-CN" sz="1600">
                <a:solidFill>
                  <a:srgbClr val="002060"/>
                </a:solidFill>
                <a:latin typeface="Times New Roman" panose="02020603050405020304" pitchFamily="18" charset="0"/>
                <a:cs typeface="Times New Roman" panose="02020603050405020304" pitchFamily="18" charset="0"/>
              </a:rPr>
              <a:t>fit(</a:t>
            </a:r>
            <a:r>
              <a:rPr lang="en-US" altLang="zh-CN" sz="1600" dirty="0" err="1">
                <a:solidFill>
                  <a:srgbClr val="002060"/>
                </a:solidFill>
                <a:latin typeface="Times New Roman" panose="02020603050405020304" pitchFamily="18" charset="0"/>
                <a:cs typeface="Times New Roman" panose="02020603050405020304" pitchFamily="18" charset="0"/>
              </a:rPr>
              <a:t>X</a:t>
            </a:r>
            <a:r>
              <a:rPr lang="en-US" altLang="zh-CN" sz="1600" err="1">
                <a:solidFill>
                  <a:srgbClr val="002060"/>
                </a:solidFill>
                <a:latin typeface="Times New Roman" panose="02020603050405020304" pitchFamily="18" charset="0"/>
                <a:cs typeface="Times New Roman" panose="02020603050405020304" pitchFamily="18" charset="0"/>
              </a:rPr>
              <a:t>,</a:t>
            </a:r>
            <a:r>
              <a:rPr lang="en-US" altLang="zh-CN" sz="1600">
                <a:solidFill>
                  <a:srgbClr val="002060"/>
                </a:solidFill>
                <a:latin typeface="Times New Roman" panose="02020603050405020304" pitchFamily="18" charset="0"/>
                <a:cs typeface="Times New Roman" panose="02020603050405020304" pitchFamily="18" charset="0"/>
              </a:rPr>
              <a:t>y</a:t>
            </a:r>
            <a:r>
              <a:rPr lang="en-US" altLang="zh-CN" sz="1600" dirty="0">
                <a:solidFill>
                  <a:srgbClr val="002060"/>
                </a:solidFill>
                <a:latin typeface="Times New Roman" panose="02020603050405020304" pitchFamily="18" charset="0"/>
                <a:cs typeface="Times New Roman" panose="02020603050405020304" pitchFamily="18" charset="0"/>
              </a:rPr>
              <a:t>)   					# </a:t>
            </a:r>
            <a:r>
              <a:rPr lang="zh-CN" altLang="en-US" sz="1600">
                <a:solidFill>
                  <a:srgbClr val="002060"/>
                </a:solidFill>
                <a:latin typeface="Times New Roman" panose="02020603050405020304" pitchFamily="18" charset="0"/>
                <a:cs typeface="Times New Roman" panose="02020603050405020304" pitchFamily="18" charset="0"/>
              </a:rPr>
              <a:t>训练模型　</a:t>
            </a:r>
            <a:r>
              <a:rPr lang="zh-CN" altLang="zh-CN" sz="1600">
                <a:solidFill>
                  <a:srgbClr val="002060"/>
                </a:solidFill>
                <a:latin typeface="Times New Roman" panose="02020603050405020304" pitchFamily="18" charset="0"/>
                <a:cs typeface="Times New Roman" panose="02020603050405020304" pitchFamily="18" charset="0"/>
              </a:rPr>
              <a:t>　　　</a:t>
            </a:r>
            <a:r>
              <a:rPr lang="zh-CN" altLang="en-US" sz="1600">
                <a:solidFill>
                  <a:srgbClr val="002060"/>
                </a:solidFill>
                <a:latin typeface="Times New Roman" panose="02020603050405020304" pitchFamily="18" charset="0"/>
                <a:cs typeface="Times New Roman" panose="02020603050405020304" pitchFamily="18" charset="0"/>
              </a:rPr>
              <a:t>     </a:t>
            </a:r>
            <a:endParaRPr lang="zh-CN" altLang="en-US" sz="1600" dirty="0">
              <a:solidFill>
                <a:srgbClr val="002060"/>
              </a:solidFill>
              <a:latin typeface="Times New Roman" panose="02020603050405020304" pitchFamily="18" charset="0"/>
              <a:cs typeface="Times New Roman" panose="02020603050405020304" pitchFamily="18" charset="0"/>
            </a:endParaRPr>
          </a:p>
          <a:p>
            <a:pPr marL="486000" lvl="2" indent="0">
              <a:lnSpc>
                <a:spcPct val="100000"/>
              </a:lnSpc>
              <a:spcBef>
                <a:spcPts val="0"/>
              </a:spcBef>
              <a:buNone/>
            </a:pPr>
            <a:r>
              <a:rPr lang="en-US" altLang="zh-CN" sz="1600" dirty="0" err="1">
                <a:solidFill>
                  <a:srgbClr val="002060"/>
                </a:solidFill>
                <a:latin typeface="Times New Roman" panose="02020603050405020304" pitchFamily="18" charset="0"/>
                <a:cs typeface="Times New Roman" panose="02020603050405020304" pitchFamily="18" charset="0"/>
              </a:rPr>
              <a:t>X</a:t>
            </a:r>
            <a:r>
              <a:rPr lang="en-US" altLang="zh-CN" sz="1600" err="1">
                <a:solidFill>
                  <a:srgbClr val="002060"/>
                </a:solidFill>
                <a:latin typeface="Times New Roman" panose="02020603050405020304" pitchFamily="18" charset="0"/>
                <a:cs typeface="Times New Roman" panose="02020603050405020304" pitchFamily="18" charset="0"/>
              </a:rPr>
              <a:t>_</a:t>
            </a:r>
            <a:r>
              <a:rPr lang="en-US" altLang="zh-CN" sz="1600">
                <a:solidFill>
                  <a:srgbClr val="002060"/>
                </a:solidFill>
                <a:latin typeface="Times New Roman" panose="02020603050405020304" pitchFamily="18" charset="0"/>
                <a:cs typeface="Times New Roman" panose="02020603050405020304" pitchFamily="18" charset="0"/>
              </a:rPr>
              <a:t>sample=</a:t>
            </a:r>
            <a:r>
              <a:rPr lang="en-US" altLang="zh-CN" sz="1600" err="1">
                <a:solidFill>
                  <a:srgbClr val="002060"/>
                </a:solidFill>
                <a:latin typeface="Times New Roman" panose="02020603050405020304" pitchFamily="18" charset="0"/>
                <a:cs typeface="Times New Roman" panose="02020603050405020304" pitchFamily="18" charset="0"/>
              </a:rPr>
              <a:t>np</a:t>
            </a:r>
            <a:r>
              <a:rPr lang="en-US" altLang="zh-CN" sz="1600">
                <a:solidFill>
                  <a:srgbClr val="002060"/>
                </a:solidFill>
                <a:latin typeface="Times New Roman" panose="02020603050405020304" pitchFamily="18" charset="0"/>
                <a:cs typeface="Times New Roman" panose="02020603050405020304" pitchFamily="18" charset="0"/>
              </a:rPr>
              <a:t>.array([[0.5,2.5],[-1.5,1.5]])  </a:t>
            </a: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a:solidFill>
                  <a:srgbClr val="002060"/>
                </a:solidFill>
                <a:latin typeface="Times New Roman" panose="02020603050405020304" pitchFamily="18" charset="0"/>
                <a:cs typeface="Times New Roman" panose="02020603050405020304" pitchFamily="18" charset="0"/>
              </a:rPr>
              <a:t>	# </a:t>
            </a:r>
            <a:r>
              <a:rPr lang="zh-CN" altLang="en-US" sz="1600">
                <a:solidFill>
                  <a:srgbClr val="002060"/>
                </a:solidFill>
                <a:latin typeface="Times New Roman" panose="02020603050405020304" pitchFamily="18" charset="0"/>
                <a:cs typeface="Times New Roman" panose="02020603050405020304" pitchFamily="18" charset="0"/>
              </a:rPr>
              <a:t>预测数据</a:t>
            </a:r>
            <a:endParaRPr lang="zh-CN" altLang="en-US" sz="1600" dirty="0">
              <a:solidFill>
                <a:srgbClr val="002060"/>
              </a:solidFill>
              <a:latin typeface="Times New Roman" panose="02020603050405020304" pitchFamily="18" charset="0"/>
              <a:cs typeface="Times New Roman" panose="02020603050405020304" pitchFamily="18" charset="0"/>
            </a:endParaRPr>
          </a:p>
          <a:p>
            <a:pPr marL="486000" lvl="2" indent="0">
              <a:lnSpc>
                <a:spcPct val="100000"/>
              </a:lnSpc>
              <a:spcBef>
                <a:spcPts val="0"/>
              </a:spcBef>
              <a:buNone/>
            </a:pPr>
            <a:r>
              <a:rPr lang="en-US" altLang="zh-CN" sz="1600">
                <a:solidFill>
                  <a:srgbClr val="002060"/>
                </a:solidFill>
                <a:latin typeface="Times New Roman" panose="02020603050405020304" pitchFamily="18" charset="0"/>
                <a:cs typeface="Times New Roman" panose="02020603050405020304" pitchFamily="18" charset="0"/>
              </a:rPr>
              <a:t>y</a:t>
            </a:r>
            <a:r>
              <a:rPr lang="en-US" altLang="zh-CN" sz="1600" err="1">
                <a:solidFill>
                  <a:srgbClr val="002060"/>
                </a:solidFill>
                <a:latin typeface="Times New Roman" panose="02020603050405020304" pitchFamily="18" charset="0"/>
                <a:cs typeface="Times New Roman" panose="02020603050405020304" pitchFamily="18" charset="0"/>
              </a:rPr>
              <a:t>_</a:t>
            </a:r>
            <a:r>
              <a:rPr lang="en-US" altLang="zh-CN" sz="1600">
                <a:solidFill>
                  <a:srgbClr val="002060"/>
                </a:solidFill>
                <a:latin typeface="Times New Roman" panose="02020603050405020304" pitchFamily="18" charset="0"/>
                <a:cs typeface="Times New Roman" panose="02020603050405020304" pitchFamily="18" charset="0"/>
              </a:rPr>
              <a:t>sample=</a:t>
            </a:r>
            <a:r>
              <a:rPr lang="en-US" altLang="zh-CN" sz="1600" dirty="0" err="1">
                <a:solidFill>
                  <a:srgbClr val="002060"/>
                </a:solidFill>
                <a:latin typeface="Times New Roman" panose="02020603050405020304" pitchFamily="18" charset="0"/>
                <a:cs typeface="Times New Roman" panose="02020603050405020304" pitchFamily="18" charset="0"/>
              </a:rPr>
              <a:t>clf</a:t>
            </a:r>
            <a:r>
              <a:rPr lang="en-US" altLang="zh-CN" sz="1600" err="1">
                <a:solidFill>
                  <a:srgbClr val="002060"/>
                </a:solidFill>
                <a:latin typeface="Times New Roman" panose="02020603050405020304" pitchFamily="18" charset="0"/>
                <a:cs typeface="Times New Roman" panose="02020603050405020304" pitchFamily="18" charset="0"/>
              </a:rPr>
              <a:t>.</a:t>
            </a:r>
            <a:r>
              <a:rPr lang="en-US" altLang="zh-CN" sz="1600">
                <a:solidFill>
                  <a:srgbClr val="002060"/>
                </a:solidFill>
                <a:latin typeface="Times New Roman" panose="02020603050405020304" pitchFamily="18" charset="0"/>
                <a:cs typeface="Times New Roman" panose="02020603050405020304" pitchFamily="18" charset="0"/>
              </a:rPr>
              <a:t>predict(</a:t>
            </a:r>
            <a:r>
              <a:rPr lang="en-US" altLang="zh-CN" sz="1600" dirty="0" err="1">
                <a:solidFill>
                  <a:srgbClr val="002060"/>
                </a:solidFill>
                <a:latin typeface="Times New Roman" panose="02020603050405020304" pitchFamily="18" charset="0"/>
                <a:cs typeface="Times New Roman" panose="02020603050405020304" pitchFamily="18" charset="0"/>
              </a:rPr>
              <a:t>X</a:t>
            </a:r>
            <a:r>
              <a:rPr lang="en-US" altLang="zh-CN" sz="1600" err="1">
                <a:solidFill>
                  <a:srgbClr val="002060"/>
                </a:solidFill>
                <a:latin typeface="Times New Roman" panose="02020603050405020304" pitchFamily="18" charset="0"/>
                <a:cs typeface="Times New Roman" panose="02020603050405020304" pitchFamily="18" charset="0"/>
              </a:rPr>
              <a:t>_</a:t>
            </a:r>
            <a:r>
              <a:rPr lang="en-US" altLang="zh-CN" sz="1600">
                <a:solidFill>
                  <a:srgbClr val="002060"/>
                </a:solidFill>
                <a:latin typeface="Times New Roman" panose="02020603050405020304" pitchFamily="18" charset="0"/>
                <a:cs typeface="Times New Roman" panose="02020603050405020304" pitchFamily="18" charset="0"/>
              </a:rPr>
              <a:t>sample</a:t>
            </a:r>
            <a:r>
              <a:rPr lang="en-US" altLang="zh-CN" sz="1600" dirty="0">
                <a:solidFill>
                  <a:srgbClr val="002060"/>
                </a:solidFill>
                <a:latin typeface="Times New Roman" panose="02020603050405020304" pitchFamily="18" charset="0"/>
                <a:cs typeface="Times New Roman" panose="02020603050405020304" pitchFamily="18" charset="0"/>
              </a:rPr>
              <a:t>)</a:t>
            </a:r>
          </a:p>
          <a:p>
            <a:pPr marL="486000" lvl="2" indent="0">
              <a:lnSpc>
                <a:spcPct val="100000"/>
              </a:lnSpc>
              <a:spcBef>
                <a:spcPts val="0"/>
              </a:spcBef>
              <a:buNone/>
            </a:pPr>
            <a:r>
              <a:rPr lang="en-US" altLang="zh-CN" sz="1600">
                <a:solidFill>
                  <a:srgbClr val="002060"/>
                </a:solidFill>
                <a:latin typeface="Times New Roman" panose="02020603050405020304" pitchFamily="18" charset="0"/>
                <a:cs typeface="Times New Roman" panose="02020603050405020304" pitchFamily="18" charset="0"/>
              </a:rPr>
              <a:t>print("</a:t>
            </a:r>
            <a:r>
              <a:rPr lang="zh-CN" altLang="en-US" sz="1600">
                <a:solidFill>
                  <a:srgbClr val="002060"/>
                </a:solidFill>
                <a:latin typeface="Times New Roman" panose="02020603050405020304" pitchFamily="18" charset="0"/>
                <a:cs typeface="Times New Roman" panose="02020603050405020304" pitchFamily="18" charset="0"/>
              </a:rPr>
              <a:t>预测结果：</a:t>
            </a:r>
            <a:r>
              <a:rPr lang="en-US" altLang="zh-CN" sz="1600">
                <a:solidFill>
                  <a:srgbClr val="002060"/>
                </a:solidFill>
                <a:latin typeface="Times New Roman" panose="02020603050405020304" pitchFamily="18" charset="0"/>
                <a:cs typeface="Times New Roman" panose="02020603050405020304" pitchFamily="18" charset="0"/>
              </a:rPr>
              <a:t>",</a:t>
            </a:r>
            <a:r>
              <a:rPr lang="zh-CN" altLang="en-US" sz="1600">
                <a:solidFill>
                  <a:srgbClr val="002060"/>
                </a:solidFill>
                <a:latin typeface="Times New Roman" panose="02020603050405020304" pitchFamily="18" charset="0"/>
                <a:cs typeface="Times New Roman" panose="02020603050405020304" pitchFamily="18" charset="0"/>
              </a:rPr>
              <a:t> </a:t>
            </a:r>
            <a:r>
              <a:rPr lang="en-US" altLang="zh-CN" sz="1600">
                <a:solidFill>
                  <a:srgbClr val="002060"/>
                </a:solidFill>
                <a:latin typeface="Times New Roman" panose="02020603050405020304" pitchFamily="18" charset="0"/>
                <a:cs typeface="Times New Roman" panose="02020603050405020304" pitchFamily="18" charset="0"/>
              </a:rPr>
              <a:t>y</a:t>
            </a:r>
            <a:r>
              <a:rPr lang="en-US" altLang="zh-CN" sz="1600" err="1">
                <a:solidFill>
                  <a:srgbClr val="002060"/>
                </a:solidFill>
                <a:latin typeface="Times New Roman" panose="02020603050405020304" pitchFamily="18" charset="0"/>
                <a:cs typeface="Times New Roman" panose="02020603050405020304" pitchFamily="18" charset="0"/>
              </a:rPr>
              <a:t>_</a:t>
            </a:r>
            <a:r>
              <a:rPr lang="en-US" altLang="zh-CN" sz="1600">
                <a:solidFill>
                  <a:srgbClr val="002060"/>
                </a:solidFill>
                <a:latin typeface="Times New Roman" panose="02020603050405020304" pitchFamily="18" charset="0"/>
                <a:cs typeface="Times New Roman" panose="02020603050405020304" pitchFamily="18" charset="0"/>
              </a:rPr>
              <a:t>sample))</a:t>
            </a:r>
            <a:endParaRPr lang="en-US" altLang="zh-CN" sz="1600" dirty="0">
              <a:solidFill>
                <a:srgbClr val="00206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endParaRPr lang="en-US" altLang="zh-CN" sz="18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endParaRPr>
          </a:p>
          <a:p>
            <a:pPr marL="0" indent="0">
              <a:lnSpc>
                <a:spcPct val="150000"/>
              </a:lnSpc>
              <a:spcBef>
                <a:spcPts val="0"/>
              </a:spcBef>
              <a:buNone/>
            </a:pPr>
            <a:r>
              <a:rPr lang="zh-CN" altLang="en-US" sz="18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endParaRPr lang="en-US" altLang="zh-CN" sz="1800" dirty="0">
              <a:solidFill>
                <a:srgbClr val="000066"/>
              </a:solidFill>
              <a:latin typeface="Times New Roman" panose="02020603050405020304" pitchFamily="18" charset="0"/>
              <a:cs typeface="Times New Roman" panose="02020603050405020304" pitchFamily="18" charset="0"/>
            </a:endParaRPr>
          </a:p>
        </p:txBody>
      </p:sp>
      <p:sp>
        <p:nvSpPr>
          <p:cNvPr id="16" name="标题 1">
            <a:extLst>
              <a:ext uri="{FF2B5EF4-FFF2-40B4-BE49-F238E27FC236}">
                <a16:creationId xmlns:a16="http://schemas.microsoft.com/office/drawing/2014/main" id="{8267A762-09C6-46B5-8564-BF9F78C24F4C}"/>
              </a:ext>
            </a:extLst>
          </p:cNvPr>
          <p:cNvSpPr>
            <a:spLocks noGrp="1"/>
          </p:cNvSpPr>
          <p:nvPr>
            <p:ph type="title"/>
          </p:nvPr>
        </p:nvSpPr>
        <p:spPr>
          <a:xfrm>
            <a:off x="395536" y="195486"/>
            <a:ext cx="6696744" cy="577618"/>
          </a:xfrm>
        </p:spPr>
        <p:txBody>
          <a:bodyPr>
            <a:noAutofit/>
          </a:bodyPr>
          <a:lstStyle/>
          <a:p>
            <a:r>
              <a:rPr lang="zh-CN" altLang="en-US" sz="2400">
                <a:solidFill>
                  <a:srgbClr val="FFFFFF"/>
                </a:solidFill>
                <a:latin typeface="Times New Roman" panose="02020603050405020304" pitchFamily="18" charset="0"/>
                <a:cs typeface="Times New Roman" panose="02020603050405020304" pitchFamily="18" charset="0"/>
              </a:rPr>
              <a:t>扩展学习三：</a:t>
            </a:r>
            <a:r>
              <a:rPr lang="en-US" altLang="zh-CN" sz="2400">
                <a:solidFill>
                  <a:srgbClr val="FFFFFF"/>
                </a:solidFill>
                <a:latin typeface="Times New Roman" panose="02020603050405020304" pitchFamily="18" charset="0"/>
                <a:cs typeface="Times New Roman" panose="02020603050405020304" pitchFamily="18" charset="0"/>
              </a:rPr>
              <a:t> k-</a:t>
            </a:r>
            <a:r>
              <a:rPr lang="zh-CN" altLang="en-US" sz="2400">
                <a:solidFill>
                  <a:srgbClr val="FFFFFF"/>
                </a:solidFill>
                <a:latin typeface="Times New Roman" panose="02020603050405020304" pitchFamily="18" charset="0"/>
                <a:cs typeface="Times New Roman" panose="02020603050405020304" pitchFamily="18" charset="0"/>
              </a:rPr>
              <a:t>近邻分类（数据随机生成）</a:t>
            </a:r>
            <a:endParaRPr lang="zh-CN" altLang="en-US" sz="2400" dirty="0"/>
          </a:p>
        </p:txBody>
      </p:sp>
    </p:spTree>
    <p:extLst>
      <p:ext uri="{BB962C8B-B14F-4D97-AF65-F5344CB8AC3E}">
        <p14:creationId xmlns:p14="http://schemas.microsoft.com/office/powerpoint/2010/main" val="2098129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58" y="986626"/>
            <a:ext cx="8532442" cy="1799176"/>
          </a:xfrm>
        </p:spPr>
        <p:txBody>
          <a:bodyPr>
            <a:noAutofit/>
          </a:bodyPr>
          <a:lstStyle/>
          <a:p>
            <a:pPr marL="486000" lvl="2" indent="0">
              <a:lnSpc>
                <a:spcPct val="125000"/>
              </a:lnSpc>
              <a:spcBef>
                <a:spcPts val="0"/>
              </a:spcBef>
              <a:buNone/>
            </a:pPr>
            <a:r>
              <a:rPr lang="zh-CN" altLang="en-US" sz="1800">
                <a:solidFill>
                  <a:srgbClr val="000066"/>
                </a:solidFill>
                <a:latin typeface="Times New Roman" panose="02020603050405020304" pitchFamily="18" charset="0"/>
                <a:cs typeface="Times New Roman" panose="02020603050405020304" pitchFamily="18" charset="0"/>
              </a:rPr>
              <a:t>训练数据</a:t>
            </a:r>
            <a:r>
              <a:rPr lang="zh-CN" altLang="en-US" sz="1800">
                <a:solidFill>
                  <a:srgbClr val="002060"/>
                </a:solidFill>
                <a:latin typeface="Times New Roman" panose="02020603050405020304" pitchFamily="18" charset="0"/>
                <a:cs typeface="Times New Roman" panose="02020603050405020304" pitchFamily="18" charset="0"/>
              </a:rPr>
              <a:t>：</a:t>
            </a:r>
            <a:endParaRPr lang="en-US" altLang="zh-CN" sz="1800">
              <a:solidFill>
                <a:srgbClr val="002060"/>
              </a:solidFill>
              <a:latin typeface="Times New Roman" panose="02020603050405020304" pitchFamily="18" charset="0"/>
              <a:cs typeface="Times New Roman" panose="02020603050405020304" pitchFamily="18" charset="0"/>
            </a:endParaRPr>
          </a:p>
          <a:p>
            <a:pPr marL="486000" lvl="2" indent="0">
              <a:lnSpc>
                <a:spcPct val="125000"/>
              </a:lnSpc>
              <a:spcBef>
                <a:spcPts val="0"/>
              </a:spcBef>
              <a:buNone/>
            </a:pPr>
            <a:r>
              <a:rPr lang="en-US" altLang="zh-CN" sz="1800">
                <a:solidFill>
                  <a:srgbClr val="002060"/>
                </a:solidFill>
                <a:latin typeface="Times New Roman" panose="02020603050405020304" pitchFamily="18" charset="0"/>
                <a:cs typeface="Times New Roman" panose="02020603050405020304" pitchFamily="18" charset="0"/>
              </a:rPr>
              <a:t>        centers=[(0,2),(-1,1)]</a:t>
            </a:r>
          </a:p>
          <a:p>
            <a:pPr marL="486000" lvl="2" indent="0">
              <a:lnSpc>
                <a:spcPct val="125000"/>
              </a:lnSpc>
              <a:spcBef>
                <a:spcPts val="0"/>
              </a:spcBef>
              <a:buNone/>
            </a:pPr>
            <a:r>
              <a:rPr lang="en-US" altLang="zh-CN" sz="1800">
                <a:solidFill>
                  <a:srgbClr val="002060"/>
                </a:solidFill>
                <a:latin typeface="Times New Roman" panose="02020603050405020304" pitchFamily="18" charset="0"/>
                <a:cs typeface="Times New Roman" panose="02020603050405020304" pitchFamily="18" charset="0"/>
              </a:rPr>
              <a:t>                   </a:t>
            </a:r>
            <a:r>
              <a:rPr lang="zh-CN" altLang="en-US" sz="1800">
                <a:solidFill>
                  <a:srgbClr val="002060"/>
                </a:solidFill>
                <a:latin typeface="Times New Roman" panose="02020603050405020304" pitchFamily="18" charset="0"/>
                <a:cs typeface="Times New Roman" panose="02020603050405020304" pitchFamily="18" charset="0"/>
              </a:rPr>
              <a:t>二维列表，两个元素</a:t>
            </a:r>
            <a:r>
              <a:rPr lang="en-US" altLang="zh-CN" sz="1800">
                <a:solidFill>
                  <a:srgbClr val="002060"/>
                </a:solidFill>
                <a:latin typeface="Times New Roman" panose="02020603050405020304" pitchFamily="18" charset="0"/>
                <a:cs typeface="Times New Roman" panose="02020603050405020304" pitchFamily="18" charset="0"/>
              </a:rPr>
              <a:t>(0,2)</a:t>
            </a:r>
            <a:r>
              <a:rPr lang="zh-CN" altLang="en-US" sz="1800">
                <a:solidFill>
                  <a:srgbClr val="002060"/>
                </a:solidFill>
                <a:latin typeface="Times New Roman" panose="02020603050405020304" pitchFamily="18" charset="0"/>
                <a:cs typeface="Times New Roman" panose="02020603050405020304" pitchFamily="18" charset="0"/>
              </a:rPr>
              <a:t>和</a:t>
            </a:r>
            <a:r>
              <a:rPr lang="en-US" altLang="zh-CN" sz="1800">
                <a:solidFill>
                  <a:srgbClr val="002060"/>
                </a:solidFill>
                <a:latin typeface="Times New Roman" panose="02020603050405020304" pitchFamily="18" charset="0"/>
                <a:cs typeface="Times New Roman" panose="02020603050405020304" pitchFamily="18" charset="0"/>
              </a:rPr>
              <a:t>(-1,1)</a:t>
            </a:r>
            <a:r>
              <a:rPr lang="zh-CN" altLang="en-US" sz="1800">
                <a:solidFill>
                  <a:srgbClr val="002060"/>
                </a:solidFill>
                <a:latin typeface="Times New Roman" panose="02020603050405020304" pitchFamily="18" charset="0"/>
                <a:cs typeface="Times New Roman" panose="02020603050405020304" pitchFamily="18" charset="0"/>
              </a:rPr>
              <a:t>，制定两类数据的中心</a:t>
            </a:r>
            <a:endParaRPr lang="en-US" altLang="zh-CN" sz="1800">
              <a:solidFill>
                <a:srgbClr val="002060"/>
              </a:solidFill>
              <a:latin typeface="Times New Roman" panose="02020603050405020304" pitchFamily="18" charset="0"/>
              <a:cs typeface="Times New Roman" panose="02020603050405020304" pitchFamily="18" charset="0"/>
            </a:endParaRPr>
          </a:p>
          <a:p>
            <a:pPr marL="486000" lvl="2" indent="0">
              <a:lnSpc>
                <a:spcPct val="100000"/>
              </a:lnSpc>
              <a:spcBef>
                <a:spcPts val="0"/>
              </a:spcBef>
              <a:buNone/>
            </a:pPr>
            <a:r>
              <a:rPr lang="en-US" altLang="zh-CN" sz="1800">
                <a:solidFill>
                  <a:srgbClr val="002060"/>
                </a:solidFill>
                <a:latin typeface="Times New Roman" panose="02020603050405020304" pitchFamily="18" charset="0"/>
                <a:cs typeface="Times New Roman" panose="02020603050405020304" pitchFamily="18" charset="0"/>
              </a:rPr>
              <a:t>        X,y = make_blobs(n_samples=10,centers=centers,random_state=0,</a:t>
            </a:r>
            <a:r>
              <a:rPr lang="en-US" altLang="zh-CN" sz="1600">
                <a:solidFill>
                  <a:srgbClr val="002060"/>
                </a:solidFill>
                <a:latin typeface="Times New Roman" panose="02020603050405020304" pitchFamily="18" charset="0"/>
                <a:cs typeface="Times New Roman" panose="02020603050405020304" pitchFamily="18" charset="0"/>
              </a:rPr>
              <a:t>cluster_std=0.6)</a:t>
            </a:r>
          </a:p>
          <a:p>
            <a:pPr marL="486000" lvl="2" indent="0">
              <a:lnSpc>
                <a:spcPct val="125000"/>
              </a:lnSpc>
              <a:spcBef>
                <a:spcPts val="0"/>
              </a:spcBef>
              <a:buNone/>
            </a:pPr>
            <a:r>
              <a:rPr lang="en-US" altLang="zh-CN" sz="1800">
                <a:solidFill>
                  <a:srgbClr val="002060"/>
                </a:solidFill>
                <a:latin typeface="Times New Roman" panose="02020603050405020304" pitchFamily="18" charset="0"/>
                <a:cs typeface="Times New Roman" panose="02020603050405020304" pitchFamily="18" charset="0"/>
              </a:rPr>
              <a:t>                    </a:t>
            </a:r>
            <a:r>
              <a:rPr lang="zh-CN" altLang="en-US" sz="1800">
                <a:solidFill>
                  <a:srgbClr val="002060"/>
                </a:solidFill>
                <a:latin typeface="Times New Roman" panose="02020603050405020304" pitchFamily="18" charset="0"/>
                <a:cs typeface="Times New Roman" panose="02020603050405020304" pitchFamily="18" charset="0"/>
              </a:rPr>
              <a:t>自动生成    </a:t>
            </a:r>
            <a:r>
              <a:rPr lang="en-US" altLang="zh-CN" sz="1800">
                <a:solidFill>
                  <a:srgbClr val="002060"/>
                </a:solidFill>
                <a:latin typeface="Times New Roman" panose="02020603050405020304" pitchFamily="18" charset="0"/>
                <a:cs typeface="Times New Roman" panose="02020603050405020304" pitchFamily="18" charset="0"/>
              </a:rPr>
              <a:t>10</a:t>
            </a:r>
            <a:r>
              <a:rPr lang="zh-CN" altLang="en-US" sz="1800">
                <a:solidFill>
                  <a:srgbClr val="002060"/>
                </a:solidFill>
                <a:latin typeface="Times New Roman" panose="02020603050405020304" pitchFamily="18" charset="0"/>
                <a:cs typeface="Times New Roman" panose="02020603050405020304" pitchFamily="18" charset="0"/>
              </a:rPr>
              <a:t>个数据                  两个中心     随机数种子      标准差</a:t>
            </a:r>
            <a:endParaRPr lang="en-US" altLang="zh-CN" sz="1800">
              <a:solidFill>
                <a:srgbClr val="002060"/>
              </a:solidFill>
              <a:latin typeface="Times New Roman" panose="02020603050405020304" pitchFamily="18" charset="0"/>
              <a:cs typeface="Times New Roman" panose="02020603050405020304" pitchFamily="18" charset="0"/>
            </a:endParaRPr>
          </a:p>
          <a:p>
            <a:pPr marL="486000" lvl="2" indent="0">
              <a:lnSpc>
                <a:spcPct val="125000"/>
              </a:lnSpc>
              <a:spcBef>
                <a:spcPts val="0"/>
              </a:spcBef>
              <a:buNone/>
            </a:pPr>
            <a:r>
              <a:rPr lang="en-US" altLang="zh-CN" sz="1800">
                <a:solidFill>
                  <a:srgbClr val="002060"/>
                </a:solidFill>
                <a:latin typeface="Times New Roman" panose="02020603050405020304" pitchFamily="18" charset="0"/>
                <a:cs typeface="Times New Roman" panose="02020603050405020304" pitchFamily="18" charset="0"/>
              </a:rPr>
              <a:t>        </a:t>
            </a:r>
            <a:r>
              <a:rPr lang="zh-CN" altLang="en-US" sz="1800">
                <a:solidFill>
                  <a:srgbClr val="002060"/>
                </a:solidFill>
                <a:highlight>
                  <a:srgbClr val="FFFF00"/>
                </a:highlight>
                <a:latin typeface="Times New Roman" panose="02020603050405020304" pitchFamily="18" charset="0"/>
                <a:cs typeface="Times New Roman" panose="02020603050405020304" pitchFamily="18" charset="0"/>
              </a:rPr>
              <a:t>数据赋值给</a:t>
            </a:r>
            <a:r>
              <a:rPr lang="en-US" altLang="zh-CN" sz="1800">
                <a:solidFill>
                  <a:srgbClr val="002060"/>
                </a:solidFill>
                <a:highlight>
                  <a:srgbClr val="FFFF00"/>
                </a:highlight>
                <a:latin typeface="Times New Roman" panose="02020603050405020304" pitchFamily="18" charset="0"/>
                <a:cs typeface="Times New Roman" panose="02020603050405020304" pitchFamily="18" charset="0"/>
              </a:rPr>
              <a:t>X</a:t>
            </a:r>
            <a:r>
              <a:rPr lang="zh-CN" altLang="en-US" sz="1800">
                <a:solidFill>
                  <a:srgbClr val="002060"/>
                </a:solidFill>
                <a:highlight>
                  <a:srgbClr val="FFFF00"/>
                </a:highlight>
                <a:latin typeface="Times New Roman" panose="02020603050405020304" pitchFamily="18" charset="0"/>
                <a:cs typeface="Times New Roman" panose="02020603050405020304" pitchFamily="18" charset="0"/>
              </a:rPr>
              <a:t>，标签赋值给</a:t>
            </a:r>
            <a:r>
              <a:rPr lang="en-US" altLang="zh-CN" sz="1800">
                <a:solidFill>
                  <a:srgbClr val="002060"/>
                </a:solidFill>
                <a:highlight>
                  <a:srgbClr val="FFFF00"/>
                </a:highlight>
                <a:latin typeface="Times New Roman" panose="02020603050405020304" pitchFamily="18" charset="0"/>
                <a:cs typeface="Times New Roman" panose="02020603050405020304" pitchFamily="18" charset="0"/>
              </a:rPr>
              <a:t>y</a:t>
            </a:r>
          </a:p>
          <a:p>
            <a:pPr marL="486000" lvl="2" indent="0">
              <a:lnSpc>
                <a:spcPct val="125000"/>
              </a:lnSpc>
              <a:spcBef>
                <a:spcPts val="0"/>
              </a:spcBef>
              <a:buNone/>
            </a:pPr>
            <a:r>
              <a:rPr lang="en-US" altLang="zh-CN" sz="1800">
                <a:solidFill>
                  <a:srgbClr val="002060"/>
                </a:solidFill>
                <a:latin typeface="Times New Roman" panose="02020603050405020304" pitchFamily="18" charset="0"/>
                <a:cs typeface="Times New Roman" panose="02020603050405020304" pitchFamily="18" charset="0"/>
              </a:rPr>
              <a:t>                         </a:t>
            </a:r>
            <a:endParaRPr lang="en-US" altLang="zh-CN" sz="1800" dirty="0">
              <a:solidFill>
                <a:srgbClr val="000066"/>
              </a:solidFill>
              <a:latin typeface="Times New Roman" panose="02020603050405020304" pitchFamily="18" charset="0"/>
              <a:cs typeface="Times New Roman" panose="02020603050405020304" pitchFamily="18" charset="0"/>
            </a:endParaRPr>
          </a:p>
        </p:txBody>
      </p:sp>
      <p:sp>
        <p:nvSpPr>
          <p:cNvPr id="32" name="内容占位符 2">
            <a:extLst>
              <a:ext uri="{FF2B5EF4-FFF2-40B4-BE49-F238E27FC236}">
                <a16:creationId xmlns:a16="http://schemas.microsoft.com/office/drawing/2014/main" id="{BCABE5CE-16BA-41A7-95E3-581946CA7EE9}"/>
              </a:ext>
            </a:extLst>
          </p:cNvPr>
          <p:cNvSpPr txBox="1">
            <a:spLocks/>
          </p:cNvSpPr>
          <p:nvPr/>
        </p:nvSpPr>
        <p:spPr>
          <a:xfrm>
            <a:off x="611559" y="986625"/>
            <a:ext cx="7560841" cy="3817373"/>
          </a:xfrm>
          <a:prstGeom prst="rect">
            <a:avLst/>
          </a:prstGeom>
        </p:spPr>
        <p:txBody>
          <a:bodyPr vert="horz" lIns="0" tIns="45720" rIns="0" bIns="45720" rtlCol="0">
            <a:noAutofit/>
          </a:bodyPr>
          <a:lstStyle>
            <a:lvl1pPr marL="171450" indent="-171450" algn="l" defTabSz="685800" rtl="0" eaLnBrk="1" latinLnBrk="0" hangingPunct="1">
              <a:lnSpc>
                <a:spcPct val="90000"/>
              </a:lnSpc>
              <a:spcBef>
                <a:spcPts val="1350"/>
              </a:spcBef>
              <a:buFont typeface="Wingdings" panose="05000000000000000000" pitchFamily="2" charset="2"/>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450"/>
              </a:spcBef>
              <a:buFont typeface="Wingdings" panose="05000000000000000000" pitchFamily="2" charset="2"/>
              <a:buChar char="§"/>
              <a:defRPr sz="12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6pPr>
            <a:lvl7pPr marL="22288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7pPr>
            <a:lvl8pPr marL="25717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8pPr>
            <a:lvl9pPr marL="29146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9pPr>
          </a:lstStyle>
          <a:p>
            <a:pPr marL="576000" indent="0" fontAlgn="auto">
              <a:lnSpc>
                <a:spcPct val="125000"/>
              </a:lnSpc>
              <a:spcBef>
                <a:spcPts val="0"/>
              </a:spcBef>
              <a:spcAft>
                <a:spcPts val="0"/>
              </a:spcAft>
              <a:buFont typeface="Wingdings" panose="05000000000000000000" pitchFamily="2" charset="2"/>
              <a:buNone/>
            </a:pPr>
            <a:endParaRPr lang="en-US" altLang="zh-CN" sz="1800">
              <a:solidFill>
                <a:srgbClr val="002060"/>
              </a:solidFill>
              <a:latin typeface="Times New Roman" panose="02020603050405020304" pitchFamily="18" charset="0"/>
              <a:cs typeface="Times New Roman" panose="02020603050405020304" pitchFamily="18" charset="0"/>
            </a:endParaRPr>
          </a:p>
        </p:txBody>
      </p:sp>
      <p:sp>
        <p:nvSpPr>
          <p:cNvPr id="6" name="矩形 5">
            <a:extLst>
              <a:ext uri="{FF2B5EF4-FFF2-40B4-BE49-F238E27FC236}">
                <a16:creationId xmlns:a16="http://schemas.microsoft.com/office/drawing/2014/main" id="{B3B14D05-83E9-404C-BE17-BA339C460BE4}"/>
              </a:ext>
            </a:extLst>
          </p:cNvPr>
          <p:cNvSpPr/>
          <p:nvPr/>
        </p:nvSpPr>
        <p:spPr>
          <a:xfrm>
            <a:off x="1366977" y="2999323"/>
            <a:ext cx="2403114" cy="2144177"/>
          </a:xfrm>
          <a:prstGeom prst="rect">
            <a:avLst/>
          </a:prstGeom>
        </p:spPr>
        <p:txBody>
          <a:bodyPr wrap="square">
            <a:spAutoFit/>
          </a:bodyPr>
          <a:lstStyle/>
          <a:p>
            <a:pPr marL="14400">
              <a:lnSpc>
                <a:spcPts val="1600"/>
              </a:lnSpc>
            </a:pPr>
            <a:r>
              <a:rPr lang="en-US" altLang="zh-CN" sz="160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0.89644744  0.87690504  </a:t>
            </a:r>
          </a:p>
          <a:p>
            <a:pPr>
              <a:lnSpc>
                <a:spcPts val="1600"/>
              </a:lnSpc>
            </a:pPr>
            <a:r>
              <a:rPr lang="en-US" altLang="zh-CN" sz="160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-1.41275721  2.34453592</a:t>
            </a:r>
          </a:p>
          <a:p>
            <a:pPr marL="14400">
              <a:lnSpc>
                <a:spcPts val="1600"/>
              </a:lnSpc>
            </a:pPr>
            <a:r>
              <a:rPr lang="en-US" altLang="zh-CN" sz="160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0.08642614  1.8725641 </a:t>
            </a:r>
          </a:p>
          <a:p>
            <a:pPr marL="14400">
              <a:lnSpc>
                <a:spcPts val="1600"/>
              </a:lnSpc>
            </a:pPr>
            <a:r>
              <a:rPr lang="en-US" altLang="zh-CN" sz="160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0.45662264  1.07300501</a:t>
            </a:r>
          </a:p>
          <a:p>
            <a:pPr>
              <a:lnSpc>
                <a:spcPts val="1600"/>
              </a:lnSpc>
            </a:pPr>
            <a:r>
              <a:rPr lang="en-US" altLang="zh-CN" sz="160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-1.42994695  0.90918568</a:t>
            </a:r>
          </a:p>
          <a:p>
            <a:pPr>
              <a:lnSpc>
                <a:spcPts val="1600"/>
              </a:lnSpc>
            </a:pPr>
            <a:r>
              <a:rPr lang="en-US" altLang="zh-CN" sz="160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-2.06193131  1.2463591 </a:t>
            </a:r>
          </a:p>
          <a:p>
            <a:pPr marL="14400">
              <a:lnSpc>
                <a:spcPts val="1600"/>
              </a:lnSpc>
            </a:pPr>
            <a:r>
              <a:rPr lang="en-US" altLang="zh-CN" sz="160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-0.87946521  0.41363327</a:t>
            </a:r>
          </a:p>
          <a:p>
            <a:pPr marL="36000">
              <a:lnSpc>
                <a:spcPts val="1600"/>
              </a:lnSpc>
            </a:pPr>
            <a:r>
              <a:rPr lang="en-US" altLang="zh-CN" sz="160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0.26631794  1.2002046 </a:t>
            </a:r>
          </a:p>
          <a:p>
            <a:pPr>
              <a:lnSpc>
                <a:spcPts val="1600"/>
              </a:lnSpc>
            </a:pPr>
            <a:r>
              <a:rPr lang="en-US" altLang="zh-CN" sz="160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-0.94156859  1.24009433</a:t>
            </a:r>
          </a:p>
          <a:p>
            <a:pPr marL="14400">
              <a:lnSpc>
                <a:spcPts val="1600"/>
              </a:lnSpc>
            </a:pPr>
            <a:r>
              <a:rPr lang="en-US" altLang="zh-CN" sz="160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0.18784062  0.48754256</a:t>
            </a:r>
            <a:endParaRPr lang="zh-CN" altLang="en-US"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矩形 6">
            <a:extLst>
              <a:ext uri="{FF2B5EF4-FFF2-40B4-BE49-F238E27FC236}">
                <a16:creationId xmlns:a16="http://schemas.microsoft.com/office/drawing/2014/main" id="{A91428A6-B260-4076-8F2F-B0D6404F6E08}"/>
              </a:ext>
            </a:extLst>
          </p:cNvPr>
          <p:cNvSpPr/>
          <p:nvPr/>
        </p:nvSpPr>
        <p:spPr>
          <a:xfrm>
            <a:off x="4092817" y="2998355"/>
            <a:ext cx="576064" cy="2144177"/>
          </a:xfrm>
          <a:prstGeom prst="rect">
            <a:avLst/>
          </a:prstGeom>
        </p:spPr>
        <p:txBody>
          <a:bodyPr wrap="square">
            <a:spAutoFit/>
          </a:bodyPr>
          <a:lstStyle/>
          <a:p>
            <a:pPr>
              <a:lnSpc>
                <a:spcPts val="1600"/>
              </a:lnSpc>
            </a:pPr>
            <a:r>
              <a:rPr lang="zh-CN" altLang="en-US" sz="160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1 </a:t>
            </a:r>
            <a:endParaRPr lang="en-US" altLang="zh-CN"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ts val="1600"/>
              </a:lnSpc>
            </a:pPr>
            <a:r>
              <a:rPr lang="zh-CN" altLang="en-US" sz="160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0 </a:t>
            </a:r>
            <a:endParaRPr lang="en-US" altLang="zh-CN"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ts val="1600"/>
              </a:lnSpc>
            </a:pPr>
            <a:r>
              <a:rPr lang="zh-CN" altLang="en-US" sz="160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60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ts val="1600"/>
              </a:lnSpc>
            </a:pPr>
            <a:r>
              <a:rPr lang="zh-CN" altLang="en-US"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1 </a:t>
            </a:r>
            <a:endParaRPr lang="en-US" altLang="zh-CN"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ts val="1600"/>
              </a:lnSpc>
            </a:pPr>
            <a:r>
              <a:rPr lang="zh-CN" altLang="en-US" sz="160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0</a:t>
            </a:r>
          </a:p>
          <a:p>
            <a:pPr>
              <a:lnSpc>
                <a:spcPts val="1600"/>
              </a:lnSpc>
            </a:pPr>
            <a:r>
              <a:rPr lang="en-US" altLang="zh-CN" sz="160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0</a:t>
            </a:r>
          </a:p>
          <a:p>
            <a:pPr>
              <a:lnSpc>
                <a:spcPts val="1600"/>
              </a:lnSpc>
            </a:pPr>
            <a:r>
              <a:rPr lang="en-US" altLang="zh-CN" sz="160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0</a:t>
            </a:r>
          </a:p>
          <a:p>
            <a:pPr>
              <a:lnSpc>
                <a:spcPts val="1600"/>
              </a:lnSpc>
            </a:pPr>
            <a:r>
              <a:rPr lang="en-US" altLang="zh-CN" sz="160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1</a:t>
            </a:r>
          </a:p>
          <a:p>
            <a:pPr>
              <a:lnSpc>
                <a:spcPts val="1600"/>
              </a:lnSpc>
            </a:pPr>
            <a:r>
              <a:rPr lang="en-US" altLang="zh-CN" sz="160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0</a:t>
            </a:r>
          </a:p>
          <a:p>
            <a:pPr>
              <a:lnSpc>
                <a:spcPts val="1600"/>
              </a:lnSpc>
            </a:pPr>
            <a:r>
              <a:rPr lang="en-US" altLang="zh-CN" sz="160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1</a:t>
            </a:r>
            <a:endParaRPr lang="zh-CN" altLang="en-US"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双括号 3">
            <a:extLst>
              <a:ext uri="{FF2B5EF4-FFF2-40B4-BE49-F238E27FC236}">
                <a16:creationId xmlns:a16="http://schemas.microsoft.com/office/drawing/2014/main" id="{714F6317-61CF-46F1-8C2A-4C9E6C87911E}"/>
              </a:ext>
            </a:extLst>
          </p:cNvPr>
          <p:cNvSpPr/>
          <p:nvPr/>
        </p:nvSpPr>
        <p:spPr>
          <a:xfrm>
            <a:off x="1331640" y="2999323"/>
            <a:ext cx="2403114" cy="2144177"/>
          </a:xfrm>
          <a:prstGeom prst="bracketPair">
            <a:avLst/>
          </a:prstGeom>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双括号 7">
            <a:extLst>
              <a:ext uri="{FF2B5EF4-FFF2-40B4-BE49-F238E27FC236}">
                <a16:creationId xmlns:a16="http://schemas.microsoft.com/office/drawing/2014/main" id="{8904E0E6-66E4-422C-811D-A9FCE95AF13E}"/>
              </a:ext>
            </a:extLst>
          </p:cNvPr>
          <p:cNvSpPr/>
          <p:nvPr/>
        </p:nvSpPr>
        <p:spPr>
          <a:xfrm>
            <a:off x="4092817" y="2998355"/>
            <a:ext cx="362018" cy="2144177"/>
          </a:xfrm>
          <a:prstGeom prst="bracketPair">
            <a:avLst/>
          </a:prstGeom>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124D8ED-DABD-4227-B834-94188198A363}"/>
              </a:ext>
            </a:extLst>
          </p:cNvPr>
          <p:cNvSpPr/>
          <p:nvPr/>
        </p:nvSpPr>
        <p:spPr>
          <a:xfrm>
            <a:off x="4644008" y="986624"/>
            <a:ext cx="1781257" cy="369332"/>
          </a:xfrm>
          <a:prstGeom prst="rect">
            <a:avLst/>
          </a:prstGeom>
        </p:spPr>
        <p:txBody>
          <a:bodyPr wrap="none">
            <a:spAutoFit/>
          </a:bodyPr>
          <a:lstStyle/>
          <a:p>
            <a:r>
              <a:rPr lang="zh-CN" altLang="en-US">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预测结果：[1 0]</a:t>
            </a:r>
            <a:endParaRPr lang="zh-CN" altLang="en-US"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9" name="图片 8">
            <a:extLst>
              <a:ext uri="{FF2B5EF4-FFF2-40B4-BE49-F238E27FC236}">
                <a16:creationId xmlns:a16="http://schemas.microsoft.com/office/drawing/2014/main" id="{F956605F-0D6F-4CFB-AEA6-C16ACFED4FAC}"/>
              </a:ext>
            </a:extLst>
          </p:cNvPr>
          <p:cNvPicPr>
            <a:picLocks noChangeAspect="1"/>
          </p:cNvPicPr>
          <p:nvPr/>
        </p:nvPicPr>
        <p:blipFill>
          <a:blip r:embed="rId3"/>
          <a:stretch>
            <a:fillRect/>
          </a:stretch>
        </p:blipFill>
        <p:spPr>
          <a:xfrm>
            <a:off x="5638562" y="2641619"/>
            <a:ext cx="2806969" cy="2500913"/>
          </a:xfrm>
          <a:prstGeom prst="rect">
            <a:avLst/>
          </a:prstGeom>
        </p:spPr>
      </p:pic>
      <p:sp>
        <p:nvSpPr>
          <p:cNvPr id="13" name="标题 1">
            <a:extLst>
              <a:ext uri="{FF2B5EF4-FFF2-40B4-BE49-F238E27FC236}">
                <a16:creationId xmlns:a16="http://schemas.microsoft.com/office/drawing/2014/main" id="{C9F25FB2-141B-4E69-8C42-43C0A06F2E12}"/>
              </a:ext>
            </a:extLst>
          </p:cNvPr>
          <p:cNvSpPr>
            <a:spLocks noGrp="1"/>
          </p:cNvSpPr>
          <p:nvPr>
            <p:ph type="title"/>
          </p:nvPr>
        </p:nvSpPr>
        <p:spPr>
          <a:xfrm>
            <a:off x="395536" y="195486"/>
            <a:ext cx="6696744" cy="577618"/>
          </a:xfrm>
        </p:spPr>
        <p:txBody>
          <a:bodyPr>
            <a:noAutofit/>
          </a:bodyPr>
          <a:lstStyle/>
          <a:p>
            <a:r>
              <a:rPr lang="zh-CN" altLang="en-US" sz="2400">
                <a:solidFill>
                  <a:srgbClr val="FFFFFF"/>
                </a:solidFill>
                <a:latin typeface="Times New Roman" panose="02020603050405020304" pitchFamily="18" charset="0"/>
                <a:cs typeface="Times New Roman" panose="02020603050405020304" pitchFamily="18" charset="0"/>
              </a:rPr>
              <a:t>扩展学习三：</a:t>
            </a:r>
            <a:r>
              <a:rPr lang="en-US" altLang="zh-CN" sz="2400">
                <a:solidFill>
                  <a:srgbClr val="FFFFFF"/>
                </a:solidFill>
                <a:latin typeface="Times New Roman" panose="02020603050405020304" pitchFamily="18" charset="0"/>
                <a:cs typeface="Times New Roman" panose="02020603050405020304" pitchFamily="18" charset="0"/>
              </a:rPr>
              <a:t> k-</a:t>
            </a:r>
            <a:r>
              <a:rPr lang="zh-CN" altLang="en-US" sz="2400">
                <a:solidFill>
                  <a:srgbClr val="FFFFFF"/>
                </a:solidFill>
                <a:latin typeface="Times New Roman" panose="02020603050405020304" pitchFamily="18" charset="0"/>
                <a:cs typeface="Times New Roman" panose="02020603050405020304" pitchFamily="18" charset="0"/>
              </a:rPr>
              <a:t>近邻分类（数据随机生成）</a:t>
            </a:r>
            <a:endParaRPr lang="zh-CN" altLang="en-US" sz="2400" dirty="0"/>
          </a:p>
        </p:txBody>
      </p:sp>
    </p:spTree>
    <p:extLst>
      <p:ext uri="{BB962C8B-B14F-4D97-AF65-F5344CB8AC3E}">
        <p14:creationId xmlns:p14="http://schemas.microsoft.com/office/powerpoint/2010/main" val="714203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学术文献 16x9">
  <a:themeElements>
    <a:clrScheme name="自定义 3">
      <a:dk1>
        <a:sysClr val="windowText" lastClr="000000"/>
      </a:dk1>
      <a:lt1>
        <a:sysClr val="window" lastClr="FFFFFF"/>
      </a:lt1>
      <a:dk2>
        <a:srgbClr val="696464"/>
      </a:dk2>
      <a:lt2>
        <a:srgbClr val="E9E5DC"/>
      </a:lt2>
      <a:accent1>
        <a:srgbClr val="CC0000"/>
      </a:accent1>
      <a:accent2>
        <a:srgbClr val="D34817"/>
      </a:accent2>
      <a:accent3>
        <a:srgbClr val="A28E6A"/>
      </a:accent3>
      <a:accent4>
        <a:srgbClr val="956251"/>
      </a:accent4>
      <a:accent5>
        <a:srgbClr val="918485"/>
      </a:accent5>
      <a:accent6>
        <a:srgbClr val="855D5D"/>
      </a:accent6>
      <a:hlink>
        <a:srgbClr val="CC9900"/>
      </a:hlink>
      <a:folHlink>
        <a:srgbClr val="96A9A9"/>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spDef>
      <a:spPr bwMode="gray">
        <a:gradFill rotWithShape="1">
          <a:gsLst>
            <a:gs pos="0">
              <a:schemeClr val="folHlink">
                <a:gamma/>
                <a:shade val="72549"/>
                <a:invGamma/>
              </a:schemeClr>
            </a:gs>
            <a:gs pos="50000">
              <a:schemeClr val="folHlink"/>
            </a:gs>
            <a:gs pos="100000">
              <a:schemeClr val="folHlink">
                <a:gamma/>
                <a:shade val="72549"/>
                <a:invGamma/>
              </a:schemeClr>
            </a:gs>
          </a:gsLst>
          <a:lin ang="2700000" scaled="1"/>
        </a:gradFill>
        <a:ln w="9525">
          <a:noFill/>
          <a:miter lim="800000"/>
          <a:headEnd/>
          <a:tailEnd/>
        </a:ln>
        <a:effectLst/>
      </a:spPr>
      <a:bodyPr wrap="none" anchor="ctr"/>
      <a:lstStyle>
        <a:defPPr algn="ctr" eaLnBrk="0" hangingPunct="0">
          <a:defRPr sz="1400" b="1" dirty="0">
            <a:latin typeface="黑体" panose="02010609060101010101" pitchFamily="49" charset="-122"/>
            <a:ea typeface="黑体" panose="02010609060101010101" pitchFamily="49" charset="-122"/>
          </a:defRPr>
        </a:defPPr>
      </a:lstStyle>
    </a:spDef>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a:defPPr>
      </a:lstStyle>
    </a:txDef>
  </a:objectDefaults>
  <a:extraClrSchemeLst/>
  <a:extLst>
    <a:ext uri="{05A4C25C-085E-4340-85A3-A5531E510DB2}">
      <thm15:themeFamily xmlns:thm15="http://schemas.microsoft.com/office/thememl/2012/main" name="模板ppt.pptx" id="{0CF83854-50F9-4A05-AC3E-F0D8A78CEE97}" vid="{AE9FA267-1D14-46AF-B303-D9446FC845D0}"/>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119188</TotalTime>
  <Words>9433</Words>
  <Application>Microsoft Office PowerPoint</Application>
  <PresentationFormat>全屏显示(16:9)</PresentationFormat>
  <Paragraphs>1098</Paragraphs>
  <Slides>83</Slides>
  <Notes>83</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83</vt:i4>
      </vt:variant>
    </vt:vector>
  </HeadingPairs>
  <TitlesOfParts>
    <vt:vector size="96" baseType="lpstr">
      <vt:lpstr>黑体</vt:lpstr>
      <vt:lpstr>楷体</vt:lpstr>
      <vt:lpstr>微软雅黑</vt:lpstr>
      <vt:lpstr>幼圆</vt:lpstr>
      <vt:lpstr>Arial</vt:lpstr>
      <vt:lpstr>Calibri</vt:lpstr>
      <vt:lpstr>Cambria Math</vt:lpstr>
      <vt:lpstr>Euphemia</vt:lpstr>
      <vt:lpstr>Georgia</vt:lpstr>
      <vt:lpstr>Times New Roman</vt:lpstr>
      <vt:lpstr>Wingdings</vt:lpstr>
      <vt:lpstr>Wingdings 2</vt:lpstr>
      <vt:lpstr>学术文献 16x9</vt:lpstr>
      <vt:lpstr>大学计算机        ——人工智能基础</vt:lpstr>
      <vt:lpstr>人工智能基础</vt:lpstr>
      <vt:lpstr>一、人工智能简史</vt:lpstr>
      <vt:lpstr>一、人工智能简史</vt:lpstr>
      <vt:lpstr>一、人工智能简史</vt:lpstr>
      <vt:lpstr>一、人工智能简史</vt:lpstr>
      <vt:lpstr>二、人工智能研究内容</vt:lpstr>
      <vt:lpstr>二、人工智能研究内容</vt:lpstr>
      <vt:lpstr>二、人工智能研究内容</vt:lpstr>
      <vt:lpstr>二、人工智能研究内容</vt:lpstr>
      <vt:lpstr>二、人工智能研究内容</vt:lpstr>
      <vt:lpstr>二、人工智能研究内容</vt:lpstr>
      <vt:lpstr>三、人工智能技术与应用</vt:lpstr>
      <vt:lpstr>三、人工智能技术与应用</vt:lpstr>
      <vt:lpstr>三、人工智能技术与应用</vt:lpstr>
      <vt:lpstr>三、人工智能技术与应用</vt:lpstr>
      <vt:lpstr>三、人工智能技术与应用</vt:lpstr>
      <vt:lpstr>三、人工智能技术与应用</vt:lpstr>
      <vt:lpstr>三、人工智能技术与应用</vt:lpstr>
      <vt:lpstr>三、人工智能技术与应用</vt:lpstr>
      <vt:lpstr>三、人工智能技术与应用</vt:lpstr>
      <vt:lpstr>三、人工智能技术与应用</vt:lpstr>
      <vt:lpstr>四、机器学习基本知识</vt:lpstr>
      <vt:lpstr>四、机器学习基本知识</vt:lpstr>
      <vt:lpstr>四、机器学习基本知识</vt:lpstr>
      <vt:lpstr>四、机器学习基本知识</vt:lpstr>
      <vt:lpstr>四、机器学习基本知识</vt:lpstr>
      <vt:lpstr>四、机器学习基本知识</vt:lpstr>
      <vt:lpstr>四、机器学习基本知识</vt:lpstr>
      <vt:lpstr>四、机器学习基本知识</vt:lpstr>
      <vt:lpstr>四、机器学习基本知识</vt:lpstr>
      <vt:lpstr>四、机器学习基本知识</vt:lpstr>
      <vt:lpstr>四、机器学习基本知识</vt:lpstr>
      <vt:lpstr>四、机器学习基本知识</vt:lpstr>
      <vt:lpstr>四、机器学习基本知识</vt:lpstr>
      <vt:lpstr>四、机器学习基本知识</vt:lpstr>
      <vt:lpstr>四、机器学习基本知识</vt:lpstr>
      <vt:lpstr>四、机器学习基本知识</vt:lpstr>
      <vt:lpstr>五、机器学习的经典算法</vt:lpstr>
      <vt:lpstr>五、机器学习的经典算法</vt:lpstr>
      <vt:lpstr>五、经典机器学习算法</vt:lpstr>
      <vt:lpstr>五、经典机器学习算法</vt:lpstr>
      <vt:lpstr>五、经典机器学习算法</vt:lpstr>
      <vt:lpstr>五、经典机器学习算法</vt:lpstr>
      <vt:lpstr>五、经典机器学习算法</vt:lpstr>
      <vt:lpstr>五、经典机器学习算法</vt:lpstr>
      <vt:lpstr>五、经典机器学习算法</vt:lpstr>
      <vt:lpstr>五、经典机器学习算法</vt:lpstr>
      <vt:lpstr>五、经典机器学习算法</vt:lpstr>
      <vt:lpstr>五、经典机器学习算法</vt:lpstr>
      <vt:lpstr>五、经典机器学习算法</vt:lpstr>
      <vt:lpstr>五、经典机器学习算法</vt:lpstr>
      <vt:lpstr>五、经典机器学习算法</vt:lpstr>
      <vt:lpstr>五、经典机器学习算法</vt:lpstr>
      <vt:lpstr>五、经典机器学习算法</vt:lpstr>
      <vt:lpstr>五、经典机器学习算法</vt:lpstr>
      <vt:lpstr>六、人工神经网络</vt:lpstr>
      <vt:lpstr>六、人工神经网络</vt:lpstr>
      <vt:lpstr>六、人工神经网络</vt:lpstr>
      <vt:lpstr>六、人工神经网络</vt:lpstr>
      <vt:lpstr>六、人工神经网络</vt:lpstr>
      <vt:lpstr>六、人工神经网络</vt:lpstr>
      <vt:lpstr>六、人工神经网络</vt:lpstr>
      <vt:lpstr>六、人工神经网络</vt:lpstr>
      <vt:lpstr>六、人工神经网络</vt:lpstr>
      <vt:lpstr>六、人工神经网络</vt:lpstr>
      <vt:lpstr>六、人工神经网络</vt:lpstr>
      <vt:lpstr>六、人工神经网络</vt:lpstr>
      <vt:lpstr>六、人工神经网络</vt:lpstr>
      <vt:lpstr>六、人工神经网络</vt:lpstr>
      <vt:lpstr>六、人工神经网络</vt:lpstr>
      <vt:lpstr>六、人工神经网络</vt:lpstr>
      <vt:lpstr>扩展学习一：Excel实现线性回归</vt:lpstr>
      <vt:lpstr>扩展学习一：Excel实现线性回归</vt:lpstr>
      <vt:lpstr>扩展学习一：Excel实现线性回归</vt:lpstr>
      <vt:lpstr>扩展学习一：Excel实现线性回归</vt:lpstr>
      <vt:lpstr>扩展学习一：Excel实现线性回归</vt:lpstr>
      <vt:lpstr>扩展学习二： k-近邻实现鸢尾花分类（数据来自文件）</vt:lpstr>
      <vt:lpstr>扩展学习二： k-近邻实现鸢尾花分类（数据来自文件）</vt:lpstr>
      <vt:lpstr>扩展学习二： k-近邻实现鸢尾花分类（数据来自文件）</vt:lpstr>
      <vt:lpstr>扩展学习三： k-近邻分类（数据随机生成）</vt:lpstr>
      <vt:lpstr>扩展学习三： k-近邻分类（数据随机生成）</vt:lpstr>
      <vt:lpstr>扩展学习三： k-近邻分类（数据随机生成）</vt:lpstr>
    </vt:vector>
  </TitlesOfParts>
  <Company>TJ</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TJ</dc:creator>
  <cp:lastModifiedBy>慧 何</cp:lastModifiedBy>
  <cp:revision>1603</cp:revision>
  <dcterms:created xsi:type="dcterms:W3CDTF">2011-03-18T03:47:09Z</dcterms:created>
  <dcterms:modified xsi:type="dcterms:W3CDTF">2025-12-24T08:25:09Z</dcterms:modified>
</cp:coreProperties>
</file>