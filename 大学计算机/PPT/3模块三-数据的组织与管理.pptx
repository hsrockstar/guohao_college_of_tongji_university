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098" r:id="rId1"/>
  </p:sldMasterIdLst>
  <p:notesMasterIdLst>
    <p:notesMasterId r:id="rId48"/>
  </p:notesMasterIdLst>
  <p:handoutMasterIdLst>
    <p:handoutMasterId r:id="rId49"/>
  </p:handoutMasterIdLst>
  <p:sldIdLst>
    <p:sldId id="556" r:id="rId2"/>
    <p:sldId id="1418" r:id="rId3"/>
    <p:sldId id="1428" r:id="rId4"/>
    <p:sldId id="1435" r:id="rId5"/>
    <p:sldId id="1432" r:id="rId6"/>
    <p:sldId id="1433" r:id="rId7"/>
    <p:sldId id="1434" r:id="rId8"/>
    <p:sldId id="1478" r:id="rId9"/>
    <p:sldId id="1474" r:id="rId10"/>
    <p:sldId id="1475" r:id="rId11"/>
    <p:sldId id="1438" r:id="rId12"/>
    <p:sldId id="1422" r:id="rId13"/>
    <p:sldId id="1442" r:id="rId14"/>
    <p:sldId id="1443" r:id="rId15"/>
    <p:sldId id="1444" r:id="rId16"/>
    <p:sldId id="1445" r:id="rId17"/>
    <p:sldId id="1448" r:id="rId18"/>
    <p:sldId id="1447" r:id="rId19"/>
    <p:sldId id="1449" r:id="rId20"/>
    <p:sldId id="1450" r:id="rId21"/>
    <p:sldId id="1451" r:id="rId22"/>
    <p:sldId id="1439" r:id="rId23"/>
    <p:sldId id="1453" r:id="rId24"/>
    <p:sldId id="1454" r:id="rId25"/>
    <p:sldId id="1455" r:id="rId26"/>
    <p:sldId id="1465" r:id="rId27"/>
    <p:sldId id="1456" r:id="rId28"/>
    <p:sldId id="1459" r:id="rId29"/>
    <p:sldId id="1460" r:id="rId30"/>
    <p:sldId id="1464" r:id="rId31"/>
    <p:sldId id="1458" r:id="rId32"/>
    <p:sldId id="1463" r:id="rId33"/>
    <p:sldId id="1462" r:id="rId34"/>
    <p:sldId id="1466" r:id="rId35"/>
    <p:sldId id="1468" r:id="rId36"/>
    <p:sldId id="1419" r:id="rId37"/>
    <p:sldId id="1469" r:id="rId38"/>
    <p:sldId id="1477" r:id="rId39"/>
    <p:sldId id="1476" r:id="rId40"/>
    <p:sldId id="1470" r:id="rId41"/>
    <p:sldId id="1471" r:id="rId42"/>
    <p:sldId id="523" r:id="rId43"/>
    <p:sldId id="1414" r:id="rId44"/>
    <p:sldId id="642" r:id="rId45"/>
    <p:sldId id="643" r:id="rId46"/>
    <p:sldId id="1417" r:id="rId47"/>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66"/>
    <a:srgbClr val="000078"/>
    <a:srgbClr val="307EC9"/>
    <a:srgbClr val="68B2E3"/>
    <a:srgbClr val="109EDE"/>
    <a:srgbClr val="67B3E5"/>
    <a:srgbClr val="307DC3"/>
    <a:srgbClr val="2D63C3"/>
    <a:srgbClr val="2C95E4"/>
    <a:srgbClr val="373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76235" autoAdjust="0"/>
  </p:normalViewPr>
  <p:slideViewPr>
    <p:cSldViewPr>
      <p:cViewPr varScale="1">
        <p:scale>
          <a:sx n="66" d="100"/>
          <a:sy n="66" d="100"/>
        </p:scale>
        <p:origin x="890" y="29"/>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6144"/>
    </p:cViewPr>
  </p:sorterViewPr>
  <p:notesViewPr>
    <p:cSldViewPr>
      <p:cViewPr>
        <p:scale>
          <a:sx n="81" d="100"/>
          <a:sy n="81" d="100"/>
        </p:scale>
        <p:origin x="1192" y="4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宋体"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ea typeface="宋体" charset="-122"/>
              </a:defRPr>
            </a:lvl1pPr>
          </a:lstStyle>
          <a:p>
            <a:pPr>
              <a:defRPr/>
            </a:pPr>
            <a:fld id="{A3342D32-58E9-4211-BE97-B0C4DA1FDFE0}" type="datetimeFigureOut">
              <a:rPr lang="zh-CN" altLang="en-US"/>
              <a:pPr>
                <a:defRPr/>
              </a:pPr>
              <a:t>2026/1/10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ea typeface="宋体"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宋体" charset="-122"/>
              </a:defRPr>
            </a:lvl1pPr>
          </a:lstStyle>
          <a:p>
            <a:pPr>
              <a:defRPr/>
            </a:pPr>
            <a:fld id="{CAD971E3-3ED1-491A-A2D7-F911BB3808DB}" type="slidenum">
              <a:rPr lang="zh-CN" altLang="en-US"/>
              <a:pPr>
                <a:defRPr/>
              </a:pPr>
              <a:t>‹#›</a:t>
            </a:fld>
            <a:endParaRPr lang="zh-CN" altLang="en-US"/>
          </a:p>
        </p:txBody>
      </p:sp>
    </p:spTree>
    <p:extLst>
      <p:ext uri="{BB962C8B-B14F-4D97-AF65-F5344CB8AC3E}">
        <p14:creationId xmlns:p14="http://schemas.microsoft.com/office/powerpoint/2010/main" val="3693765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3F8683A4-79EA-4C8F-8F8E-7AEDDA4FAD9E}" type="datetimeFigureOut">
              <a:rPr lang="zh-CN" altLang="en-US"/>
              <a:pPr>
                <a:defRPr/>
              </a:pPr>
              <a:t>2026/1/10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1"/>
            <a:r>
              <a:rPr lang="zh-CN" altLang="en-US" noProof="0"/>
              <a:t>比喻强调了教师知识储备和能力要求，一桶水都不够用，应该是自来水，</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611BFF4-1710-4AF3-AE92-5EDA45BDA416}" type="slidenum">
              <a:rPr lang="zh-CN" altLang="en-US"/>
              <a:pPr>
                <a:defRPr/>
              </a:pPr>
              <a:t>‹#›</a:t>
            </a:fld>
            <a:endParaRPr lang="zh-CN" altLang="en-US"/>
          </a:p>
        </p:txBody>
      </p:sp>
    </p:spTree>
    <p:extLst>
      <p:ext uri="{BB962C8B-B14F-4D97-AF65-F5344CB8AC3E}">
        <p14:creationId xmlns:p14="http://schemas.microsoft.com/office/powerpoint/2010/main" val="3369498361"/>
      </p:ext>
    </p:extLst>
  </p:cSld>
  <p:clrMap bg1="lt1" tx1="dk1" bg2="lt2" tx2="dk2" accent1="accent1" accent2="accent2" accent3="accent3" accent4="accent4" accent5="accent5" accent6="accent6" hlink="hlink" folHlink="folHlink"/>
  <p:notesStyle>
    <a:lvl1pPr marL="342900" indent="-342900"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lang="zh-CN" altLang="en-US"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 name="灯片编号占位符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DEE459AD-631C-4859-A2C6-036CD530E7D2}" type="slidenum">
              <a:rPr lang="zh-CN" altLang="en-US" sz="1200">
                <a:latin typeface="+mn-lt"/>
                <a:ea typeface="+mn-ea"/>
              </a:rPr>
              <a:pPr algn="r" fontAlgn="auto">
                <a:spcBef>
                  <a:spcPts val="0"/>
                </a:spcBef>
                <a:spcAft>
                  <a:spcPts val="0"/>
                </a:spcAft>
                <a:defRPr/>
              </a:pPr>
              <a:t>1</a:t>
            </a:fld>
            <a:endParaRPr lang="zh-CN" altLang="en-US" sz="1200">
              <a:latin typeface="+mn-lt"/>
              <a:ea typeface="+mn-ea"/>
            </a:endParaRPr>
          </a:p>
        </p:txBody>
      </p:sp>
    </p:spTree>
    <p:extLst>
      <p:ext uri="{BB962C8B-B14F-4D97-AF65-F5344CB8AC3E}">
        <p14:creationId xmlns:p14="http://schemas.microsoft.com/office/powerpoint/2010/main" val="3739741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175ZB</a:t>
            </a:r>
            <a:r>
              <a:rPr lang="zh-CN" altLang="en-US" sz="1200" b="0" i="0" kern="1200" dirty="0">
                <a:solidFill>
                  <a:schemeClr val="tx1"/>
                </a:solidFill>
                <a:effectLst/>
                <a:latin typeface="+mn-lt"/>
                <a:ea typeface="+mn-ea"/>
                <a:cs typeface="+mn-cs"/>
              </a:rPr>
              <a:t>：若全部存储在</a:t>
            </a:r>
            <a:r>
              <a:rPr lang="en-US" altLang="zh-CN" sz="1200" b="0" i="0" kern="1200" dirty="0">
                <a:solidFill>
                  <a:schemeClr val="tx1"/>
                </a:solidFill>
                <a:effectLst/>
                <a:latin typeface="+mn-lt"/>
                <a:ea typeface="+mn-ea"/>
                <a:cs typeface="+mn-cs"/>
              </a:rPr>
              <a:t>DVD</a:t>
            </a:r>
            <a:r>
              <a:rPr lang="zh-CN" altLang="en-US" sz="1200" b="0" i="0" kern="1200" dirty="0">
                <a:solidFill>
                  <a:schemeClr val="tx1"/>
                </a:solidFill>
                <a:effectLst/>
                <a:latin typeface="+mn-lt"/>
                <a:ea typeface="+mn-ea"/>
                <a:cs typeface="+mn-cs"/>
              </a:rPr>
              <a:t>中，则</a:t>
            </a:r>
            <a:r>
              <a:rPr lang="en-US" altLang="zh-CN" sz="1200" b="0" i="0" kern="1200" dirty="0">
                <a:solidFill>
                  <a:schemeClr val="tx1"/>
                </a:solidFill>
                <a:effectLst/>
                <a:latin typeface="+mn-lt"/>
                <a:ea typeface="+mn-ea"/>
                <a:cs typeface="+mn-cs"/>
              </a:rPr>
              <a:t>DVD</a:t>
            </a:r>
            <a:r>
              <a:rPr lang="zh-CN" altLang="en-US" sz="1200" b="0" i="0" kern="1200" dirty="0">
                <a:solidFill>
                  <a:schemeClr val="tx1"/>
                </a:solidFill>
                <a:effectLst/>
                <a:latin typeface="+mn-lt"/>
                <a:ea typeface="+mn-ea"/>
                <a:cs typeface="+mn-cs"/>
              </a:rPr>
              <a:t>叠加起来的高度将是地球和月球距离的</a:t>
            </a: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倍，或者绕地球</a:t>
            </a:r>
            <a:r>
              <a:rPr lang="en-US" altLang="zh-CN" sz="1200" b="0" i="0" kern="1200" dirty="0">
                <a:solidFill>
                  <a:schemeClr val="tx1"/>
                </a:solidFill>
                <a:effectLst/>
                <a:latin typeface="+mn-lt"/>
                <a:ea typeface="+mn-ea"/>
                <a:cs typeface="+mn-cs"/>
              </a:rPr>
              <a:t>222</a:t>
            </a:r>
            <a:r>
              <a:rPr lang="zh-CN" altLang="en-US" sz="1200" b="0" i="0" kern="1200" dirty="0">
                <a:solidFill>
                  <a:schemeClr val="tx1"/>
                </a:solidFill>
                <a:effectLst/>
                <a:latin typeface="+mn-lt"/>
                <a:ea typeface="+mn-ea"/>
                <a:cs typeface="+mn-cs"/>
              </a:rPr>
              <a:t>圈。</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若平均网速为</a:t>
            </a:r>
            <a:r>
              <a:rPr lang="en-US" altLang="zh-CN" sz="1200" b="0" i="0" kern="1200" dirty="0" err="1">
                <a:solidFill>
                  <a:schemeClr val="tx1"/>
                </a:solidFill>
                <a:effectLst/>
                <a:latin typeface="+mn-lt"/>
                <a:ea typeface="+mn-ea"/>
                <a:cs typeface="+mn-cs"/>
              </a:rPr>
              <a:t>25Mb</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秒，一个人要下载完这</a:t>
            </a:r>
            <a:r>
              <a:rPr lang="en-US" altLang="zh-CN" sz="1200" b="0" i="0" kern="1200" dirty="0" err="1">
                <a:solidFill>
                  <a:schemeClr val="tx1"/>
                </a:solidFill>
                <a:effectLst/>
                <a:latin typeface="+mn-lt"/>
                <a:ea typeface="+mn-ea"/>
                <a:cs typeface="+mn-cs"/>
              </a:rPr>
              <a:t>175ZB</a:t>
            </a:r>
            <a:r>
              <a:rPr lang="zh-CN" altLang="en-US" sz="1200" b="0" i="0" kern="1200" dirty="0">
                <a:solidFill>
                  <a:schemeClr val="tx1"/>
                </a:solidFill>
                <a:effectLst/>
                <a:latin typeface="+mn-lt"/>
                <a:ea typeface="+mn-ea"/>
                <a:cs typeface="+mn-cs"/>
              </a:rPr>
              <a:t>的数据，需要</a:t>
            </a:r>
            <a:r>
              <a:rPr lang="en-US" altLang="zh-CN" sz="1200" b="0" i="0" kern="1200" dirty="0">
                <a:solidFill>
                  <a:schemeClr val="tx1"/>
                </a:solidFill>
                <a:effectLst/>
                <a:latin typeface="+mn-lt"/>
                <a:ea typeface="+mn-ea"/>
                <a:cs typeface="+mn-cs"/>
              </a:rPr>
              <a:t>18</a:t>
            </a:r>
            <a:r>
              <a:rPr lang="zh-CN" altLang="en-US" sz="1200" b="0" i="0" kern="1200" dirty="0">
                <a:solidFill>
                  <a:schemeClr val="tx1"/>
                </a:solidFill>
                <a:effectLst/>
                <a:latin typeface="+mn-lt"/>
                <a:ea typeface="+mn-ea"/>
                <a:cs typeface="+mn-cs"/>
              </a:rPr>
              <a:t>亿年。</a:t>
            </a:r>
          </a:p>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a:t>
            </a:fld>
            <a:endParaRPr lang="zh-CN" altLang="en-US"/>
          </a:p>
        </p:txBody>
      </p:sp>
    </p:spTree>
    <p:extLst>
      <p:ext uri="{BB962C8B-B14F-4D97-AF65-F5344CB8AC3E}">
        <p14:creationId xmlns:p14="http://schemas.microsoft.com/office/powerpoint/2010/main" val="4242265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a:t>
            </a:fld>
            <a:endParaRPr lang="zh-CN" altLang="en-US"/>
          </a:p>
        </p:txBody>
      </p:sp>
    </p:spTree>
    <p:extLst>
      <p:ext uri="{BB962C8B-B14F-4D97-AF65-F5344CB8AC3E}">
        <p14:creationId xmlns:p14="http://schemas.microsoft.com/office/powerpoint/2010/main" val="8327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a:t>
            </a:fld>
            <a:endParaRPr lang="zh-CN" altLang="en-US"/>
          </a:p>
        </p:txBody>
      </p:sp>
    </p:spTree>
    <p:extLst>
      <p:ext uri="{BB962C8B-B14F-4D97-AF65-F5344CB8AC3E}">
        <p14:creationId xmlns:p14="http://schemas.microsoft.com/office/powerpoint/2010/main" val="3078538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5</a:t>
            </a:fld>
            <a:endParaRPr lang="zh-CN" altLang="en-US"/>
          </a:p>
        </p:txBody>
      </p:sp>
    </p:spTree>
    <p:extLst>
      <p:ext uri="{BB962C8B-B14F-4D97-AF65-F5344CB8AC3E}">
        <p14:creationId xmlns:p14="http://schemas.microsoft.com/office/powerpoint/2010/main" val="2878810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6</a:t>
            </a:fld>
            <a:endParaRPr lang="zh-CN" altLang="en-US"/>
          </a:p>
        </p:txBody>
      </p:sp>
    </p:spTree>
    <p:extLst>
      <p:ext uri="{BB962C8B-B14F-4D97-AF65-F5344CB8AC3E}">
        <p14:creationId xmlns:p14="http://schemas.microsoft.com/office/powerpoint/2010/main" val="2693439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7</a:t>
            </a:fld>
            <a:endParaRPr lang="zh-CN" altLang="en-US"/>
          </a:p>
        </p:txBody>
      </p:sp>
    </p:spTree>
    <p:extLst>
      <p:ext uri="{BB962C8B-B14F-4D97-AF65-F5344CB8AC3E}">
        <p14:creationId xmlns:p14="http://schemas.microsoft.com/office/powerpoint/2010/main" val="1144551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8</a:t>
            </a:fld>
            <a:endParaRPr lang="zh-CN" altLang="en-US"/>
          </a:p>
        </p:txBody>
      </p:sp>
    </p:spTree>
    <p:extLst>
      <p:ext uri="{BB962C8B-B14F-4D97-AF65-F5344CB8AC3E}">
        <p14:creationId xmlns:p14="http://schemas.microsoft.com/office/powerpoint/2010/main" val="2816398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9</a:t>
            </a:fld>
            <a:endParaRPr lang="zh-CN" altLang="en-US"/>
          </a:p>
        </p:txBody>
      </p:sp>
    </p:spTree>
    <p:extLst>
      <p:ext uri="{BB962C8B-B14F-4D97-AF65-F5344CB8AC3E}">
        <p14:creationId xmlns:p14="http://schemas.microsoft.com/office/powerpoint/2010/main" val="3995745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10</a:t>
            </a:fld>
            <a:endParaRPr lang="zh-CN" altLang="en-US"/>
          </a:p>
        </p:txBody>
      </p:sp>
    </p:spTree>
    <p:extLst>
      <p:ext uri="{BB962C8B-B14F-4D97-AF65-F5344CB8AC3E}">
        <p14:creationId xmlns:p14="http://schemas.microsoft.com/office/powerpoint/2010/main" val="3515403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11</a:t>
            </a:fld>
            <a:endParaRPr lang="zh-CN" altLang="en-US"/>
          </a:p>
        </p:txBody>
      </p:sp>
    </p:spTree>
    <p:extLst>
      <p:ext uri="{BB962C8B-B14F-4D97-AF65-F5344CB8AC3E}">
        <p14:creationId xmlns:p14="http://schemas.microsoft.com/office/powerpoint/2010/main" val="3365170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12</a:t>
            </a:fld>
            <a:endParaRPr lang="zh-CN" altLang="en-US"/>
          </a:p>
        </p:txBody>
      </p:sp>
    </p:spTree>
    <p:extLst>
      <p:ext uri="{BB962C8B-B14F-4D97-AF65-F5344CB8AC3E}">
        <p14:creationId xmlns:p14="http://schemas.microsoft.com/office/powerpoint/2010/main" val="1782898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13</a:t>
            </a:fld>
            <a:endParaRPr lang="zh-CN" altLang="en-US"/>
          </a:p>
        </p:txBody>
      </p:sp>
    </p:spTree>
    <p:extLst>
      <p:ext uri="{BB962C8B-B14F-4D97-AF65-F5344CB8AC3E}">
        <p14:creationId xmlns:p14="http://schemas.microsoft.com/office/powerpoint/2010/main" val="1261492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14</a:t>
            </a:fld>
            <a:endParaRPr lang="zh-CN" altLang="en-US"/>
          </a:p>
        </p:txBody>
      </p:sp>
    </p:spTree>
    <p:extLst>
      <p:ext uri="{BB962C8B-B14F-4D97-AF65-F5344CB8AC3E}">
        <p14:creationId xmlns:p14="http://schemas.microsoft.com/office/powerpoint/2010/main" val="2952761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15</a:t>
            </a:fld>
            <a:endParaRPr lang="zh-CN" altLang="en-US"/>
          </a:p>
        </p:txBody>
      </p:sp>
    </p:spTree>
    <p:extLst>
      <p:ext uri="{BB962C8B-B14F-4D97-AF65-F5344CB8AC3E}">
        <p14:creationId xmlns:p14="http://schemas.microsoft.com/office/powerpoint/2010/main" val="14832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16</a:t>
            </a:fld>
            <a:endParaRPr lang="zh-CN" altLang="en-US"/>
          </a:p>
        </p:txBody>
      </p:sp>
    </p:spTree>
    <p:extLst>
      <p:ext uri="{BB962C8B-B14F-4D97-AF65-F5344CB8AC3E}">
        <p14:creationId xmlns:p14="http://schemas.microsoft.com/office/powerpoint/2010/main" val="427844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17</a:t>
            </a:fld>
            <a:endParaRPr lang="zh-CN" altLang="en-US"/>
          </a:p>
        </p:txBody>
      </p:sp>
    </p:spTree>
    <p:extLst>
      <p:ext uri="{BB962C8B-B14F-4D97-AF65-F5344CB8AC3E}">
        <p14:creationId xmlns:p14="http://schemas.microsoft.com/office/powerpoint/2010/main" val="1227697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18</a:t>
            </a:fld>
            <a:endParaRPr lang="zh-CN" altLang="en-US"/>
          </a:p>
        </p:txBody>
      </p:sp>
    </p:spTree>
    <p:extLst>
      <p:ext uri="{BB962C8B-B14F-4D97-AF65-F5344CB8AC3E}">
        <p14:creationId xmlns:p14="http://schemas.microsoft.com/office/powerpoint/2010/main" val="2606870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19</a:t>
            </a:fld>
            <a:endParaRPr lang="zh-CN" altLang="en-US"/>
          </a:p>
        </p:txBody>
      </p:sp>
    </p:spTree>
    <p:extLst>
      <p:ext uri="{BB962C8B-B14F-4D97-AF65-F5344CB8AC3E}">
        <p14:creationId xmlns:p14="http://schemas.microsoft.com/office/powerpoint/2010/main" val="1477110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20</a:t>
            </a:fld>
            <a:endParaRPr lang="zh-CN" altLang="en-US"/>
          </a:p>
        </p:txBody>
      </p:sp>
    </p:spTree>
    <p:extLst>
      <p:ext uri="{BB962C8B-B14F-4D97-AF65-F5344CB8AC3E}">
        <p14:creationId xmlns:p14="http://schemas.microsoft.com/office/powerpoint/2010/main" val="597079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21</a:t>
            </a:fld>
            <a:endParaRPr lang="zh-CN" altLang="en-US"/>
          </a:p>
        </p:txBody>
      </p:sp>
    </p:spTree>
    <p:extLst>
      <p:ext uri="{BB962C8B-B14F-4D97-AF65-F5344CB8AC3E}">
        <p14:creationId xmlns:p14="http://schemas.microsoft.com/office/powerpoint/2010/main" val="1960274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22</a:t>
            </a:fld>
            <a:endParaRPr lang="zh-CN" altLang="en-US"/>
          </a:p>
        </p:txBody>
      </p:sp>
    </p:spTree>
    <p:extLst>
      <p:ext uri="{BB962C8B-B14F-4D97-AF65-F5344CB8AC3E}">
        <p14:creationId xmlns:p14="http://schemas.microsoft.com/office/powerpoint/2010/main" val="1916788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23</a:t>
            </a:fld>
            <a:endParaRPr lang="zh-CN" altLang="en-US"/>
          </a:p>
        </p:txBody>
      </p:sp>
    </p:spTree>
    <p:extLst>
      <p:ext uri="{BB962C8B-B14F-4D97-AF65-F5344CB8AC3E}">
        <p14:creationId xmlns:p14="http://schemas.microsoft.com/office/powerpoint/2010/main" val="14908260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24</a:t>
            </a:fld>
            <a:endParaRPr lang="zh-CN" altLang="en-US"/>
          </a:p>
        </p:txBody>
      </p:sp>
    </p:spTree>
    <p:extLst>
      <p:ext uri="{BB962C8B-B14F-4D97-AF65-F5344CB8AC3E}">
        <p14:creationId xmlns:p14="http://schemas.microsoft.com/office/powerpoint/2010/main" val="1237117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25</a:t>
            </a:fld>
            <a:endParaRPr lang="zh-CN" altLang="en-US"/>
          </a:p>
        </p:txBody>
      </p:sp>
    </p:spTree>
    <p:extLst>
      <p:ext uri="{BB962C8B-B14F-4D97-AF65-F5344CB8AC3E}">
        <p14:creationId xmlns:p14="http://schemas.microsoft.com/office/powerpoint/2010/main" val="13777276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26</a:t>
            </a:fld>
            <a:endParaRPr lang="zh-CN" altLang="en-US"/>
          </a:p>
        </p:txBody>
      </p:sp>
    </p:spTree>
    <p:extLst>
      <p:ext uri="{BB962C8B-B14F-4D97-AF65-F5344CB8AC3E}">
        <p14:creationId xmlns:p14="http://schemas.microsoft.com/office/powerpoint/2010/main" val="1102026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27</a:t>
            </a:fld>
            <a:endParaRPr lang="zh-CN" altLang="en-US"/>
          </a:p>
        </p:txBody>
      </p:sp>
    </p:spTree>
    <p:extLst>
      <p:ext uri="{BB962C8B-B14F-4D97-AF65-F5344CB8AC3E}">
        <p14:creationId xmlns:p14="http://schemas.microsoft.com/office/powerpoint/2010/main" val="677572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28</a:t>
            </a:fld>
            <a:endParaRPr lang="zh-CN" altLang="en-US"/>
          </a:p>
        </p:txBody>
      </p:sp>
    </p:spTree>
    <p:extLst>
      <p:ext uri="{BB962C8B-B14F-4D97-AF65-F5344CB8AC3E}">
        <p14:creationId xmlns:p14="http://schemas.microsoft.com/office/powerpoint/2010/main" val="57533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29</a:t>
            </a:fld>
            <a:endParaRPr lang="zh-CN" altLang="en-US"/>
          </a:p>
        </p:txBody>
      </p:sp>
    </p:spTree>
    <p:extLst>
      <p:ext uri="{BB962C8B-B14F-4D97-AF65-F5344CB8AC3E}">
        <p14:creationId xmlns:p14="http://schemas.microsoft.com/office/powerpoint/2010/main" val="41432608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30</a:t>
            </a:fld>
            <a:endParaRPr lang="zh-CN" altLang="en-US"/>
          </a:p>
        </p:txBody>
      </p:sp>
    </p:spTree>
    <p:extLst>
      <p:ext uri="{BB962C8B-B14F-4D97-AF65-F5344CB8AC3E}">
        <p14:creationId xmlns:p14="http://schemas.microsoft.com/office/powerpoint/2010/main" val="6464234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31</a:t>
            </a:fld>
            <a:endParaRPr lang="zh-CN" altLang="en-US"/>
          </a:p>
        </p:txBody>
      </p:sp>
    </p:spTree>
    <p:extLst>
      <p:ext uri="{BB962C8B-B14F-4D97-AF65-F5344CB8AC3E}">
        <p14:creationId xmlns:p14="http://schemas.microsoft.com/office/powerpoint/2010/main" val="222937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32</a:t>
            </a:fld>
            <a:endParaRPr lang="zh-CN" altLang="en-US"/>
          </a:p>
        </p:txBody>
      </p:sp>
    </p:spTree>
    <p:extLst>
      <p:ext uri="{BB962C8B-B14F-4D97-AF65-F5344CB8AC3E}">
        <p14:creationId xmlns:p14="http://schemas.microsoft.com/office/powerpoint/2010/main" val="35327238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33</a:t>
            </a:fld>
            <a:endParaRPr lang="zh-CN" altLang="en-US"/>
          </a:p>
        </p:txBody>
      </p:sp>
    </p:spTree>
    <p:extLst>
      <p:ext uri="{BB962C8B-B14F-4D97-AF65-F5344CB8AC3E}">
        <p14:creationId xmlns:p14="http://schemas.microsoft.com/office/powerpoint/2010/main" val="31799260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34</a:t>
            </a:fld>
            <a:endParaRPr lang="zh-CN" altLang="en-US"/>
          </a:p>
        </p:txBody>
      </p:sp>
    </p:spTree>
    <p:extLst>
      <p:ext uri="{BB962C8B-B14F-4D97-AF65-F5344CB8AC3E}">
        <p14:creationId xmlns:p14="http://schemas.microsoft.com/office/powerpoint/2010/main" val="7339754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000066"/>
                </a:solidFill>
                <a:latin typeface="Times New Roman" panose="02020603050405020304" pitchFamily="18" charset="0"/>
                <a:cs typeface="Times New Roman" panose="02020603050405020304" pitchFamily="18" charset="0"/>
              </a:rPr>
              <a:t> </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35</a:t>
            </a:fld>
            <a:endParaRPr lang="zh-CN" altLang="en-US"/>
          </a:p>
        </p:txBody>
      </p:sp>
    </p:spTree>
    <p:extLst>
      <p:ext uri="{BB962C8B-B14F-4D97-AF65-F5344CB8AC3E}">
        <p14:creationId xmlns:p14="http://schemas.microsoft.com/office/powerpoint/2010/main" val="10717100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000066"/>
                </a:solidFill>
                <a:latin typeface="Times New Roman" panose="02020603050405020304" pitchFamily="18" charset="0"/>
                <a:cs typeface="Times New Roman" panose="02020603050405020304" pitchFamily="18" charset="0"/>
              </a:rPr>
              <a:t> </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36</a:t>
            </a:fld>
            <a:endParaRPr lang="zh-CN" altLang="en-US"/>
          </a:p>
        </p:txBody>
      </p:sp>
    </p:spTree>
    <p:extLst>
      <p:ext uri="{BB962C8B-B14F-4D97-AF65-F5344CB8AC3E}">
        <p14:creationId xmlns:p14="http://schemas.microsoft.com/office/powerpoint/2010/main" val="30603100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37</a:t>
            </a:fld>
            <a:endParaRPr lang="zh-CN" altLang="en-US"/>
          </a:p>
        </p:txBody>
      </p:sp>
    </p:spTree>
    <p:extLst>
      <p:ext uri="{BB962C8B-B14F-4D97-AF65-F5344CB8AC3E}">
        <p14:creationId xmlns:p14="http://schemas.microsoft.com/office/powerpoint/2010/main" val="566184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38</a:t>
            </a:fld>
            <a:endParaRPr lang="zh-CN" altLang="en-US"/>
          </a:p>
        </p:txBody>
      </p:sp>
    </p:spTree>
    <p:extLst>
      <p:ext uri="{BB962C8B-B14F-4D97-AF65-F5344CB8AC3E}">
        <p14:creationId xmlns:p14="http://schemas.microsoft.com/office/powerpoint/2010/main" val="288394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39</a:t>
            </a:fld>
            <a:endParaRPr lang="zh-CN" altLang="en-US"/>
          </a:p>
        </p:txBody>
      </p:sp>
    </p:spTree>
    <p:extLst>
      <p:ext uri="{BB962C8B-B14F-4D97-AF65-F5344CB8AC3E}">
        <p14:creationId xmlns:p14="http://schemas.microsoft.com/office/powerpoint/2010/main" val="1497555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40</a:t>
            </a:fld>
            <a:endParaRPr lang="zh-CN" altLang="en-US"/>
          </a:p>
        </p:txBody>
      </p:sp>
    </p:spTree>
    <p:extLst>
      <p:ext uri="{BB962C8B-B14F-4D97-AF65-F5344CB8AC3E}">
        <p14:creationId xmlns:p14="http://schemas.microsoft.com/office/powerpoint/2010/main" val="21108427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41</a:t>
            </a:fld>
            <a:endParaRPr lang="zh-CN" altLang="en-US"/>
          </a:p>
        </p:txBody>
      </p:sp>
    </p:spTree>
    <p:extLst>
      <p:ext uri="{BB962C8B-B14F-4D97-AF65-F5344CB8AC3E}">
        <p14:creationId xmlns:p14="http://schemas.microsoft.com/office/powerpoint/2010/main" val="42099629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EE0EC19-DACC-4236-A349-3C837E404CF3}" type="slidenum">
              <a:rPr lang="zh-CN" altLang="en-US" smtClean="0">
                <a:solidFill>
                  <a:srgbClr val="000000"/>
                </a:solidFill>
              </a:rPr>
              <a:pPr/>
              <a:t>42</a:t>
            </a:fld>
            <a:endParaRPr lang="zh-CN" altLang="en-US">
              <a:solidFill>
                <a:srgbClr val="000000"/>
              </a:solidFill>
            </a:endParaRPr>
          </a:p>
        </p:txBody>
      </p:sp>
    </p:spTree>
    <p:extLst>
      <p:ext uri="{BB962C8B-B14F-4D97-AF65-F5344CB8AC3E}">
        <p14:creationId xmlns:p14="http://schemas.microsoft.com/office/powerpoint/2010/main" val="25170572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lvl="0" indent="-285750">
              <a:buFont typeface="Wingdings" pitchFamily="2" charset="2"/>
              <a:buChar char="ü"/>
            </a:pPr>
            <a:r>
              <a:rPr lang="en-US" altLang="zh-CN" sz="1200" dirty="0" err="1">
                <a:latin typeface="+mn-ea"/>
              </a:rPr>
              <a:t>Hadoop</a:t>
            </a:r>
            <a:r>
              <a:rPr lang="zh-CN" altLang="en-US" sz="1200" dirty="0">
                <a:latin typeface="+mn-ea"/>
              </a:rPr>
              <a:t>的</a:t>
            </a:r>
            <a:r>
              <a:rPr lang="zh-CN" altLang="en-US" sz="1200" dirty="0">
                <a:solidFill>
                  <a:srgbClr val="FF0000"/>
                </a:solidFill>
                <a:latin typeface="+mn-ea"/>
              </a:rPr>
              <a:t>核心</a:t>
            </a:r>
            <a:r>
              <a:rPr lang="zh-CN" altLang="en-US" sz="1200" dirty="0">
                <a:latin typeface="+mn-ea"/>
              </a:rPr>
              <a:t>是</a:t>
            </a:r>
            <a:r>
              <a:rPr lang="en-US" altLang="zh-CN" sz="1200" dirty="0">
                <a:latin typeface="+mn-ea"/>
              </a:rPr>
              <a:t>HDFS</a:t>
            </a:r>
            <a:r>
              <a:rPr lang="zh-CN" altLang="zh-CN" sz="1200" dirty="0">
                <a:latin typeface="+mn-ea"/>
              </a:rPr>
              <a:t>和</a:t>
            </a:r>
            <a:r>
              <a:rPr lang="en-US" altLang="zh-CN" sz="1200" dirty="0" err="1">
                <a:latin typeface="+mn-ea"/>
              </a:rPr>
              <a:t>MapReduce</a:t>
            </a:r>
            <a:r>
              <a:rPr lang="zh-CN" altLang="en-US" sz="1200" dirty="0">
                <a:latin typeface="+mn-ea"/>
              </a:rPr>
              <a:t>。</a:t>
            </a:r>
            <a:r>
              <a:rPr lang="en-US" altLang="zh-CN" sz="1200" dirty="0">
                <a:latin typeface="+mn-ea"/>
              </a:rPr>
              <a:t>HDFS</a:t>
            </a:r>
            <a:r>
              <a:rPr lang="zh-CN" altLang="en-US" sz="1200" dirty="0">
                <a:latin typeface="+mn-ea"/>
              </a:rPr>
              <a:t>为海量的数据提供了存储，而</a:t>
            </a:r>
            <a:r>
              <a:rPr lang="en-US" altLang="zh-CN" sz="1200" dirty="0" err="1">
                <a:latin typeface="+mn-ea"/>
              </a:rPr>
              <a:t>MapReduce</a:t>
            </a:r>
            <a:r>
              <a:rPr lang="zh-CN" altLang="en-US" sz="1200" dirty="0">
                <a:latin typeface="+mn-ea"/>
              </a:rPr>
              <a:t>则为海量的数据提供了计算。</a:t>
            </a:r>
            <a:endParaRPr lang="en-US" altLang="zh-CN" sz="1200" dirty="0">
              <a:latin typeface="+mn-ea"/>
            </a:endParaRPr>
          </a:p>
          <a:p>
            <a:pPr marL="285750" lvl="0" indent="-285750">
              <a:buFont typeface="Wingdings" pitchFamily="2" charset="2"/>
              <a:buChar char="ü"/>
            </a:pPr>
            <a:r>
              <a:rPr lang="en-US" altLang="zh-CN" sz="1200" dirty="0" err="1">
                <a:latin typeface="+mn-ea"/>
              </a:rPr>
              <a:t>Hadoop</a:t>
            </a:r>
            <a:r>
              <a:rPr lang="zh-CN" altLang="zh-CN" sz="1200" dirty="0">
                <a:latin typeface="+mn-ea"/>
              </a:rPr>
              <a:t>项目还包括</a:t>
            </a:r>
            <a:r>
              <a:rPr lang="en-US" altLang="zh-CN" sz="1200" dirty="0">
                <a:latin typeface="+mn-ea"/>
              </a:rPr>
              <a:t>Common</a:t>
            </a:r>
            <a:r>
              <a:rPr lang="zh-CN" altLang="zh-CN" sz="1200" dirty="0">
                <a:latin typeface="+mn-ea"/>
              </a:rPr>
              <a:t>、</a:t>
            </a:r>
            <a:r>
              <a:rPr lang="en-US" altLang="zh-CN" sz="1200" dirty="0">
                <a:latin typeface="+mn-ea"/>
              </a:rPr>
              <a:t>Avro</a:t>
            </a:r>
            <a:r>
              <a:rPr lang="zh-CN" altLang="zh-CN" sz="1200" dirty="0">
                <a:latin typeface="+mn-ea"/>
              </a:rPr>
              <a:t>、</a:t>
            </a:r>
            <a:r>
              <a:rPr lang="en-US" altLang="zh-CN" sz="1200" dirty="0">
                <a:latin typeface="+mn-ea"/>
              </a:rPr>
              <a:t>Zookeeper</a:t>
            </a:r>
            <a:r>
              <a:rPr lang="zh-CN" altLang="zh-CN" sz="1200" dirty="0">
                <a:latin typeface="+mn-ea"/>
              </a:rPr>
              <a:t>、</a:t>
            </a:r>
            <a:r>
              <a:rPr lang="en-US" altLang="zh-CN" sz="1200" dirty="0" err="1">
                <a:latin typeface="+mn-ea"/>
              </a:rPr>
              <a:t>HBase</a:t>
            </a:r>
            <a:r>
              <a:rPr lang="zh-CN" altLang="zh-CN" sz="1200" dirty="0">
                <a:latin typeface="+mn-ea"/>
              </a:rPr>
              <a:t>、</a:t>
            </a:r>
            <a:r>
              <a:rPr lang="en-US" altLang="zh-CN" sz="1200" dirty="0">
                <a:latin typeface="+mn-ea"/>
              </a:rPr>
              <a:t>Hive</a:t>
            </a:r>
            <a:r>
              <a:rPr lang="zh-CN" altLang="zh-CN" sz="1200" dirty="0">
                <a:latin typeface="+mn-ea"/>
              </a:rPr>
              <a:t>、</a:t>
            </a:r>
            <a:r>
              <a:rPr lang="en-US" altLang="zh-CN" sz="1200" dirty="0" err="1">
                <a:latin typeface="+mn-ea"/>
              </a:rPr>
              <a:t>Chukwa</a:t>
            </a:r>
            <a:r>
              <a:rPr lang="zh-CN" altLang="zh-CN" sz="1200" dirty="0">
                <a:latin typeface="+mn-ea"/>
              </a:rPr>
              <a:t>、</a:t>
            </a:r>
            <a:r>
              <a:rPr lang="en-US" altLang="zh-CN" sz="1200" dirty="0">
                <a:latin typeface="+mn-ea"/>
              </a:rPr>
              <a:t>Pig</a:t>
            </a:r>
            <a:r>
              <a:rPr lang="zh-CN" altLang="zh-CN" sz="1200" dirty="0">
                <a:latin typeface="+mn-ea"/>
              </a:rPr>
              <a:t>等子项目，它们提供了互补性服务或在核心层上提供了更高层的服务</a:t>
            </a:r>
            <a:endParaRPr lang="en-US" altLang="zh-CN" sz="1200" dirty="0">
              <a:latin typeface="+mn-ea"/>
            </a:endParaRPr>
          </a:p>
          <a:p>
            <a:endParaRPr lang="zh-CN" altLang="en-US" dirty="0"/>
          </a:p>
        </p:txBody>
      </p:sp>
      <p:sp>
        <p:nvSpPr>
          <p:cNvPr id="4" name="灯片编号占位符 3"/>
          <p:cNvSpPr>
            <a:spLocks noGrp="1"/>
          </p:cNvSpPr>
          <p:nvPr>
            <p:ph type="sldNum" sz="quarter" idx="10"/>
          </p:nvPr>
        </p:nvSpPr>
        <p:spPr/>
        <p:txBody>
          <a:bodyPr/>
          <a:lstStyle/>
          <a:p>
            <a:fld id="{9244E348-BAF5-4767-98CC-BA0562AC4B06}" type="slidenum">
              <a:rPr lang="zh-CN" altLang="en-US" smtClean="0"/>
              <a:t>43</a:t>
            </a:fld>
            <a:endParaRPr lang="zh-CN" altLang="en-US"/>
          </a:p>
        </p:txBody>
      </p:sp>
    </p:spTree>
    <p:extLst>
      <p:ext uri="{BB962C8B-B14F-4D97-AF65-F5344CB8AC3E}">
        <p14:creationId xmlns:p14="http://schemas.microsoft.com/office/powerpoint/2010/main" val="11434295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ts val="0"/>
              </a:spcBef>
              <a:spcAft>
                <a:spcPct val="0"/>
              </a:spcAft>
              <a:buClrTx/>
              <a:buSzTx/>
              <a:buFontTx/>
              <a:buNone/>
              <a:tabLst/>
              <a:defRPr/>
            </a:pPr>
            <a:r>
              <a:rPr lang="zh-CN" altLang="en-US" dirty="0"/>
              <a:t>这个华为大数据平台的整个架构，华为聚焦于大数据平台这一层，是一个强大的数据处理分析平台，基于这个平台可以做行业的应用。</a:t>
            </a:r>
            <a:br>
              <a:rPr lang="en-US" altLang="zh-CN" dirty="0"/>
            </a:br>
            <a:r>
              <a:rPr lang="zh-CN" altLang="en-US" dirty="0"/>
              <a:t>华为大数据平台，最下面是开源的</a:t>
            </a:r>
            <a:r>
              <a:rPr lang="en-US" altLang="zh-CN" dirty="0"/>
              <a:t>Hadoop</a:t>
            </a:r>
            <a:r>
              <a:rPr lang="zh-CN" altLang="en-US" dirty="0"/>
              <a:t>、</a:t>
            </a:r>
            <a:r>
              <a:rPr lang="en-US" altLang="zh-CN" dirty="0"/>
              <a:t>Spark</a:t>
            </a: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Storm</a:t>
            </a: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，能够支持非结构化数据、半结构化数据的处理，还有支持那种流式数据处理。也引入了</a:t>
            </a:r>
            <a:r>
              <a:rPr lang="en-US" altLang="zh-CN" sz="1200" kern="120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MPPDB</a:t>
            </a: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，一种分布式数据库，能够支持一些高密的关系型数据库的处理</a:t>
            </a:r>
            <a: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b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上面是数据服务层，从数据集成，到数据分析产生信息，最终形成一个智慧。</a:t>
            </a:r>
            <a:b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华为大数据平台的亮点有两个：一是提供一个全站的大数据平台，各种计算引擎都包含了；二是非常企业化的大数据平台，能够把企业需要的关键特性：统一</a:t>
            </a:r>
            <a: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SQL</a:t>
            </a: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，实时搜索，实时决策，关系引擎，多租户这些特性都融入到大数据平台</a:t>
            </a:r>
            <a:br>
              <a:rPr lang="en-US" altLang="zh-CN"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en-US" sz="1200" kern="12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华为大数据平台是一个开放的平台，第三方可以基于这个平台做各种开发</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A611BFF4-1710-4AF3-AE92-5EDA45BDA416}" type="slidenum">
              <a:rPr lang="zh-CN" altLang="en-US" smtClean="0"/>
              <a:pPr>
                <a:defRPr/>
              </a:pPr>
              <a:t>46</a:t>
            </a:fld>
            <a:endParaRPr lang="zh-CN" altLang="en-US"/>
          </a:p>
        </p:txBody>
      </p:sp>
    </p:spTree>
    <p:extLst>
      <p:ext uri="{BB962C8B-B14F-4D97-AF65-F5344CB8AC3E}">
        <p14:creationId xmlns:p14="http://schemas.microsoft.com/office/powerpoint/2010/main" val="1264328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4333593"/>
            <a:ext cx="9144000" cy="809907"/>
          </a:xfrm>
          <a:prstGeom prst="rect">
            <a:avLst/>
          </a:prstGeom>
          <a:pattFill prst="trellis">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1" y="0"/>
            <a:ext cx="7308304" cy="809907"/>
          </a:xfrm>
          <a:prstGeom prst="rect">
            <a:avLst/>
          </a:prstGeom>
          <a:pattFill prst="lt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828675" y="1719071"/>
            <a:ext cx="7572375" cy="1664768"/>
          </a:xfrm>
          <a:noFill/>
        </p:spPr>
        <p:txBody>
          <a:bodyPr rtlCol="0" anchor="ctr">
            <a:normAutofit/>
          </a:bodyPr>
          <a:lstStyle>
            <a:lvl1pPr algn="l" rtl="0">
              <a:defRPr sz="3300" cap="all" baseline="0">
                <a:solidFill>
                  <a:schemeClr val="tx1"/>
                </a:solidFill>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3383838"/>
            <a:ext cx="7572376" cy="716674"/>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8DDEE976-CBFF-49D3-8E31-CE66B8C964FA}" type="datetimeFigureOut">
              <a:rPr lang="zh-CN" altLang="en-US" smtClean="0"/>
              <a:pPr>
                <a:defRPr/>
              </a:pPr>
              <a:t>2026/1/10</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27566407-BE89-4246-9C3D-F9E99FBFFAEE}" type="slidenum">
              <a:rPr lang="zh-CN" altLang="en-US" smtClean="0"/>
              <a:pPr>
                <a:defRPr/>
              </a:pPr>
              <a:t>‹#›</a:t>
            </a:fld>
            <a:endParaRPr lang="zh-CN" altLang="en-US"/>
          </a:p>
        </p:txBody>
      </p:sp>
      <p:pic>
        <p:nvPicPr>
          <p:cNvPr id="10"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09932" y="-142607"/>
            <a:ext cx="2066286" cy="2066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41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A86003DB-DD92-4BDE-971E-EAFA1A0CB53D}" type="datetimeFigureOut">
              <a:rPr lang="zh-CN" altLang="en-US" smtClean="0"/>
              <a:pPr>
                <a:defRPr/>
              </a:pPr>
              <a:t>2026/1/10</a:t>
            </a:fld>
            <a:endParaRPr lang="zh-CN" altLang="en-US"/>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4B4205A9-C0CE-4DC9-9155-50A1457D6FDF}" type="slidenum">
              <a:rPr lang="zh-CN" altLang="en-US" smtClean="0"/>
              <a:pPr>
                <a:defRPr/>
              </a:pPr>
              <a:t>‹#›</a:t>
            </a:fld>
            <a:endParaRPr lang="zh-CN" altLang="en-US"/>
          </a:p>
        </p:txBody>
      </p:sp>
    </p:spTree>
    <p:extLst>
      <p:ext uri="{BB962C8B-B14F-4D97-AF65-F5344CB8AC3E}">
        <p14:creationId xmlns:p14="http://schemas.microsoft.com/office/powerpoint/2010/main" val="349130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4234133"/>
            <a:ext cx="9144000" cy="47344"/>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911678"/>
            <a:ext cx="9144000" cy="47344"/>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4333593"/>
            <a:ext cx="9144000" cy="809907"/>
          </a:xfrm>
          <a:prstGeom prst="rect">
            <a:avLst/>
          </a:prstGeom>
          <a:pattFill prst="trellis">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1" y="0"/>
            <a:ext cx="8131628" cy="887708"/>
          </a:xfrm>
          <a:prstGeom prst="rect">
            <a:avLst/>
          </a:prstGeom>
          <a:pattFill prst="ltUpDiag">
            <a:fgClr>
              <a:srgbClr val="00206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1719071"/>
            <a:ext cx="4300538" cy="1664768"/>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3383838"/>
            <a:ext cx="4300538" cy="716674"/>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1719071"/>
          </a:xfrm>
          <a:prstGeom prst="rect">
            <a:avLst/>
          </a:prstGeom>
          <a:noFill/>
          <a:ln>
            <a:noFill/>
          </a:ln>
        </p:spPr>
      </p:pic>
      <p:sp>
        <p:nvSpPr>
          <p:cNvPr id="11" name="图片占位符 10"/>
          <p:cNvSpPr>
            <a:spLocks noGrp="1"/>
          </p:cNvSpPr>
          <p:nvPr>
            <p:ph type="pic" sz="quarter" idx="13"/>
          </p:nvPr>
        </p:nvSpPr>
        <p:spPr>
          <a:xfrm>
            <a:off x="5235798" y="982992"/>
            <a:ext cx="3908203" cy="3156453"/>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51435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pic>
        <p:nvPicPr>
          <p:cNvPr id="20"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93771" y="-47709"/>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21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1885951"/>
            <a:ext cx="9144000" cy="2395526"/>
            <a:chOff x="647402" y="2514600"/>
            <a:chExt cx="10838688" cy="3194035"/>
          </a:xfrm>
          <a:solidFill>
            <a:schemeClr val="tx1">
              <a:lumMod val="65000"/>
              <a:lumOff val="35000"/>
            </a:schemeClr>
          </a:solidFill>
        </p:grpSpPr>
        <p:grpSp>
          <p:nvGrpSpPr>
            <p:cNvPr id="9" name="组 8"/>
            <p:cNvGrpSpPr/>
            <p:nvPr/>
          </p:nvGrpSpPr>
          <p:grpSpPr>
            <a:xfrm>
              <a:off x="647402" y="2514600"/>
              <a:ext cx="10838688" cy="63125"/>
              <a:chOff x="507492" y="1501519"/>
              <a:chExt cx="8129016" cy="63125"/>
            </a:xfrm>
            <a:grpFill/>
          </p:grpSpPr>
          <p:cxnSp>
            <p:nvCxnSpPr>
              <p:cNvPr id="14" name="直接连接符 13"/>
              <p:cNvCxnSpPr/>
              <p:nvPr/>
            </p:nvCxnSpPr>
            <p:spPr>
              <a:xfrm>
                <a:off x="507492" y="1564644"/>
                <a:ext cx="8129016" cy="0"/>
              </a:xfrm>
              <a:prstGeom prst="line">
                <a:avLst/>
              </a:prstGeom>
              <a:grpFill/>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grpFill/>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a:grpFill/>
          </p:grpSpPr>
          <p:cxnSp>
            <p:nvCxnSpPr>
              <p:cNvPr id="12" name="直接连接符​ 11"/>
              <p:cNvCxnSpPr/>
              <p:nvPr/>
            </p:nvCxnSpPr>
            <p:spPr>
              <a:xfrm>
                <a:off x="507492" y="1564644"/>
                <a:ext cx="8129016" cy="0"/>
              </a:xfrm>
              <a:prstGeom prst="line">
                <a:avLst/>
              </a:prstGeom>
              <a:grpFill/>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grpFill/>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228854"/>
            <a:ext cx="7553324" cy="1263113"/>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3491967"/>
            <a:ext cx="7553324" cy="382313"/>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602F2924-743E-4ADA-B3BE-10F8DB534DC0}" type="datetimeFigureOut">
              <a:rPr lang="zh-CN" altLang="en-US" smtClean="0"/>
              <a:pPr>
                <a:defRPr/>
              </a:pPr>
              <a:t>2026/1/10</a:t>
            </a:fld>
            <a:endParaRPr lang="zh-CN" altLang="en-US"/>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7BE1A241-BED9-42F2-A6A9-D7B384B8D295}" type="slidenum">
              <a:rPr lang="zh-CN" altLang="en-US" smtClean="0"/>
              <a:pPr>
                <a:defRPr/>
              </a:pPr>
              <a:t>‹#›</a:t>
            </a:fld>
            <a:endParaRPr lang="zh-CN" altLang="en-US"/>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228855"/>
          </a:xfrm>
          <a:prstGeom prst="rect">
            <a:avLst/>
          </a:prstGeom>
        </p:spPr>
      </p:pic>
      <p:pic>
        <p:nvPicPr>
          <p:cNvPr id="16"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1613" y="-24685"/>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91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200151"/>
            <a:ext cx="3686175" cy="3428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200151"/>
            <a:ext cx="3686175" cy="3428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084BB1D3-3A81-414D-B0C6-5281BC948F4B}" type="datetimeFigureOut">
              <a:rPr lang="zh-CN" altLang="en-US" smtClean="0"/>
              <a:pPr>
                <a:defRPr/>
              </a:pPr>
              <a:t>2026/1/10</a:t>
            </a:fld>
            <a:endParaRPr lang="zh-CN" altLang="en-US"/>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59E8A47D-0AB1-4744-95A8-39E7A180ACC3}" type="slidenum">
              <a:rPr lang="zh-CN" altLang="en-US" smtClean="0"/>
              <a:pPr>
                <a:defRPr/>
              </a:pPr>
              <a:t>‹#›</a:t>
            </a:fld>
            <a:endParaRPr lang="zh-CN" altLang="en-US"/>
          </a:p>
        </p:txBody>
      </p:sp>
    </p:spTree>
    <p:extLst>
      <p:ext uri="{BB962C8B-B14F-4D97-AF65-F5344CB8AC3E}">
        <p14:creationId xmlns:p14="http://schemas.microsoft.com/office/powerpoint/2010/main" val="396517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200151"/>
            <a:ext cx="3689604" cy="617933"/>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单击此处编辑母版文本样式</a:t>
            </a:r>
          </a:p>
        </p:txBody>
      </p:sp>
      <p:sp>
        <p:nvSpPr>
          <p:cNvPr id="4" name="内容占位符 3"/>
          <p:cNvSpPr>
            <a:spLocks noGrp="1"/>
          </p:cNvSpPr>
          <p:nvPr>
            <p:ph sz="half" idx="2"/>
          </p:nvPr>
        </p:nvSpPr>
        <p:spPr>
          <a:xfrm>
            <a:off x="828675" y="1818084"/>
            <a:ext cx="3689604" cy="2811066"/>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200151"/>
            <a:ext cx="3689604" cy="617933"/>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单击此处编辑母版文本样式</a:t>
            </a:r>
          </a:p>
        </p:txBody>
      </p:sp>
      <p:sp>
        <p:nvSpPr>
          <p:cNvPr id="6" name="内容占位符 5"/>
          <p:cNvSpPr>
            <a:spLocks noGrp="1"/>
          </p:cNvSpPr>
          <p:nvPr>
            <p:ph sz="quarter" idx="4"/>
          </p:nvPr>
        </p:nvSpPr>
        <p:spPr>
          <a:xfrm>
            <a:off x="4624583" y="1818084"/>
            <a:ext cx="3689604" cy="2811066"/>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4957CC2E-BA7D-44E8-8543-A2388C7C6ED5}" type="datetimeFigureOut">
              <a:rPr lang="zh-CN" altLang="en-US" smtClean="0"/>
              <a:pPr>
                <a:defRPr/>
              </a:pPr>
              <a:t>2026/1/10</a:t>
            </a:fld>
            <a:endParaRPr lang="zh-CN" altLang="en-US"/>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6B1D184D-5C9D-41E8-9FD9-B6823935AD2C}" type="slidenum">
              <a:rPr lang="zh-CN" altLang="en-US" smtClean="0"/>
              <a:pPr>
                <a:defRPr/>
              </a:pPr>
              <a:t>‹#›</a:t>
            </a:fld>
            <a:endParaRPr lang="zh-CN" altLang="en-US"/>
          </a:p>
        </p:txBody>
      </p:sp>
    </p:spTree>
    <p:extLst>
      <p:ext uri="{BB962C8B-B14F-4D97-AF65-F5344CB8AC3E}">
        <p14:creationId xmlns:p14="http://schemas.microsoft.com/office/powerpoint/2010/main" val="116563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pPr>
              <a:defRPr/>
            </a:pPr>
            <a:fld id="{E9376702-95FB-4BA7-A05A-8C3261398C11}" type="datetimeFigureOut">
              <a:rPr lang="zh-CN" altLang="en-US" smtClean="0"/>
              <a:pPr>
                <a:defRPr/>
              </a:pPr>
              <a:t>2026/1/10</a:t>
            </a:fld>
            <a:endParaRPr lang="zh-CN" altLang="en-US"/>
          </a:p>
        </p:txBody>
      </p:sp>
      <p:sp>
        <p:nvSpPr>
          <p:cNvPr id="4" name="页脚占位符 3"/>
          <p:cNvSpPr>
            <a:spLocks noGrp="1"/>
          </p:cNvSpPr>
          <p:nvPr>
            <p:ph type="ftr" sz="quarter" idx="11"/>
          </p:nvPr>
        </p:nvSpPr>
        <p:spPr/>
        <p:txBody>
          <a:bodyPr rtlCol="0"/>
          <a:lstStyle/>
          <a:p>
            <a:pPr>
              <a:defRPr/>
            </a:pPr>
            <a:endParaRPr lang="zh-CN" altLang="en-US"/>
          </a:p>
        </p:txBody>
      </p:sp>
      <p:sp>
        <p:nvSpPr>
          <p:cNvPr id="5" name="灯片编号占位符 4"/>
          <p:cNvSpPr>
            <a:spLocks noGrp="1"/>
          </p:cNvSpPr>
          <p:nvPr>
            <p:ph type="sldNum" sz="quarter" idx="12"/>
          </p:nvPr>
        </p:nvSpPr>
        <p:spPr/>
        <p:txBody>
          <a:bodyPr rtlCol="0"/>
          <a:lstStyle>
            <a:lvl1pPr algn="r">
              <a:defRPr/>
            </a:lvl1pPr>
          </a:lstStyle>
          <a:p>
            <a:pPr>
              <a:defRPr/>
            </a:pPr>
            <a:fld id="{4B08C6E5-0368-4EF4-A482-B7C01F5ADC89}" type="slidenum">
              <a:rPr lang="zh-CN" altLang="en-US" smtClean="0"/>
              <a:pPr>
                <a:defRPr/>
              </a:pPr>
              <a:t>‹#›</a:t>
            </a:fld>
            <a:endParaRPr lang="zh-CN" altLang="en-US"/>
          </a:p>
        </p:txBody>
      </p:sp>
    </p:spTree>
    <p:extLst>
      <p:ext uri="{BB962C8B-B14F-4D97-AF65-F5344CB8AC3E}">
        <p14:creationId xmlns:p14="http://schemas.microsoft.com/office/powerpoint/2010/main" val="2358857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pPr>
              <a:defRPr/>
            </a:pPr>
            <a:fld id="{8159572A-820F-4ACF-9D42-32F74E11D922}" type="datetimeFigureOut">
              <a:rPr lang="zh-CN" altLang="en-US" smtClean="0"/>
              <a:pPr>
                <a:defRPr/>
              </a:pPr>
              <a:t>2026/1/10</a:t>
            </a:fld>
            <a:endParaRPr lang="zh-CN" altLang="en-US"/>
          </a:p>
        </p:txBody>
      </p:sp>
      <p:sp>
        <p:nvSpPr>
          <p:cNvPr id="3" name="页脚占位符 2"/>
          <p:cNvSpPr>
            <a:spLocks noGrp="1"/>
          </p:cNvSpPr>
          <p:nvPr>
            <p:ph type="ftr" sz="quarter" idx="11"/>
          </p:nvPr>
        </p:nvSpPr>
        <p:spPr/>
        <p:txBody>
          <a:bodyPr rtlCol="0"/>
          <a:lstStyle/>
          <a:p>
            <a:pPr>
              <a:defRPr/>
            </a:pPr>
            <a:endParaRPr lang="zh-CN" altLang="en-US"/>
          </a:p>
        </p:txBody>
      </p:sp>
      <p:sp>
        <p:nvSpPr>
          <p:cNvPr id="4" name="灯片编号占位符 3"/>
          <p:cNvSpPr>
            <a:spLocks noGrp="1"/>
          </p:cNvSpPr>
          <p:nvPr>
            <p:ph type="sldNum" sz="quarter" idx="12"/>
          </p:nvPr>
        </p:nvSpPr>
        <p:spPr/>
        <p:txBody>
          <a:bodyPr rtlCol="0"/>
          <a:lstStyle>
            <a:lvl1pPr algn="r">
              <a:defRPr/>
            </a:lvl1pPr>
          </a:lstStyle>
          <a:p>
            <a:pPr>
              <a:defRPr/>
            </a:pPr>
            <a:fld id="{8E1DCD51-4692-4631-91E0-6E3FCC300059}" type="slidenum">
              <a:rPr lang="zh-CN" altLang="en-US" smtClean="0"/>
              <a:pPr>
                <a:defRPr/>
              </a:pPr>
              <a:t>‹#›</a:t>
            </a:fld>
            <a:endParaRPr lang="zh-CN" altLang="en-US"/>
          </a:p>
        </p:txBody>
      </p:sp>
    </p:spTree>
    <p:extLst>
      <p:ext uri="{BB962C8B-B14F-4D97-AF65-F5344CB8AC3E}">
        <p14:creationId xmlns:p14="http://schemas.microsoft.com/office/powerpoint/2010/main" val="126963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827532" y="193932"/>
            <a:ext cx="3820668" cy="498022"/>
          </a:xfrm>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200150"/>
            <a:ext cx="4083939" cy="3429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200150"/>
            <a:ext cx="3288411" cy="3429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pPr>
              <a:defRPr/>
            </a:pPr>
            <a:fld id="{2245BD58-8AB0-492A-ADC0-45D4D042BE64}" type="datetimeFigureOut">
              <a:rPr lang="zh-CN" altLang="en-US" smtClean="0"/>
              <a:pPr>
                <a:defRPr/>
              </a:pPr>
              <a:t>2026/1/10</a:t>
            </a:fld>
            <a:endParaRPr lang="zh-CN" altLang="en-US"/>
          </a:p>
        </p:txBody>
      </p:sp>
      <p:sp>
        <p:nvSpPr>
          <p:cNvPr id="6" name="页脚占位符 5"/>
          <p:cNvSpPr>
            <a:spLocks noGrp="1"/>
          </p:cNvSpPr>
          <p:nvPr>
            <p:ph type="ftr" sz="quarter" idx="11"/>
          </p:nvPr>
        </p:nvSpPr>
        <p:spPr/>
        <p:txBody>
          <a:bodyPr rtlCol="0"/>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109282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200150"/>
            <a:ext cx="4823184" cy="3429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200150"/>
            <a:ext cx="2547747" cy="3429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pPr>
              <a:defRPr/>
            </a:pPr>
            <a:fld id="{2245BD58-8AB0-492A-ADC0-45D4D042BE64}" type="datetimeFigureOut">
              <a:rPr lang="zh-CN" altLang="en-US" smtClean="0"/>
              <a:pPr>
                <a:defRPr/>
              </a:pPr>
              <a:t>2026/1/10</a:t>
            </a:fld>
            <a:endParaRPr lang="zh-CN" altLang="en-US"/>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pPr>
              <a:defRPr/>
            </a:pPr>
            <a:endParaRPr lang="zh-CN" altLang="en-US"/>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256508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2245BD58-8AB0-492A-ADC0-45D4D042BE64}" type="datetimeFigureOut">
              <a:rPr lang="zh-CN" altLang="en-US" smtClean="0"/>
              <a:pPr>
                <a:defRPr/>
              </a:pPr>
              <a:t>2026/1/10</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DB91A0AD-5401-487A-B4DF-AAE6F99653A6}" type="slidenum">
              <a:rPr lang="zh-CN" altLang="en-US" smtClean="0"/>
              <a:pPr>
                <a:defRPr/>
              </a:pPr>
              <a:t>‹#›</a:t>
            </a:fld>
            <a:endParaRPr lang="zh-CN" altLang="en-US"/>
          </a:p>
        </p:txBody>
      </p:sp>
    </p:spTree>
    <p:extLst>
      <p:ext uri="{BB962C8B-B14F-4D97-AF65-F5344CB8AC3E}">
        <p14:creationId xmlns:p14="http://schemas.microsoft.com/office/powerpoint/2010/main" val="416713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273844"/>
            <a:ext cx="1285875" cy="4358879"/>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273844"/>
            <a:ext cx="6074172" cy="4358879"/>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pPr>
              <a:defRPr/>
            </a:pPr>
            <a:fld id="{C5FB8457-19A9-4A8A-A8FF-B4BB33699748}" type="datetimeFigureOut">
              <a:rPr lang="zh-CN" altLang="en-US" smtClean="0"/>
              <a:pPr>
                <a:defRPr/>
              </a:pPr>
              <a:t>2026/1/10</a:t>
            </a:fld>
            <a:endParaRPr lang="zh-CN" altLang="en-US"/>
          </a:p>
        </p:txBody>
      </p:sp>
      <p:sp>
        <p:nvSpPr>
          <p:cNvPr id="5" name="页脚占位符 4"/>
          <p:cNvSpPr>
            <a:spLocks noGrp="1"/>
          </p:cNvSpPr>
          <p:nvPr>
            <p:ph type="ftr" sz="quarter" idx="11"/>
          </p:nvPr>
        </p:nvSpPr>
        <p:spPr/>
        <p:txBody>
          <a:bodyPr rtlCol="0"/>
          <a:lstStyle/>
          <a:p>
            <a:pPr>
              <a:defRPr/>
            </a:pPr>
            <a:endParaRPr lang="zh-CN" altLang="en-US"/>
          </a:p>
        </p:txBody>
      </p:sp>
      <p:sp>
        <p:nvSpPr>
          <p:cNvPr id="6" name="灯片编号占位符 5"/>
          <p:cNvSpPr>
            <a:spLocks noGrp="1"/>
          </p:cNvSpPr>
          <p:nvPr>
            <p:ph type="sldNum" sz="quarter" idx="12"/>
          </p:nvPr>
        </p:nvSpPr>
        <p:spPr/>
        <p:txBody>
          <a:bodyPr rtlCol="0"/>
          <a:lstStyle>
            <a:lvl1pPr algn="r">
              <a:defRPr/>
            </a:lvl1pPr>
          </a:lstStyle>
          <a:p>
            <a:pPr>
              <a:defRPr/>
            </a:pPr>
            <a:fld id="{50FB4B70-985E-49BB-AC52-476E4B0A2833}" type="slidenum">
              <a:rPr lang="zh-CN" altLang="en-US" smtClean="0"/>
              <a:pPr>
                <a:defRPr/>
              </a:pPr>
              <a:t>‹#›</a:t>
            </a:fld>
            <a:endParaRPr lang="zh-CN" altLang="en-US"/>
          </a:p>
        </p:txBody>
      </p:sp>
      <p:grpSp>
        <p:nvGrpSpPr>
          <p:cNvPr id="7" name="组 6"/>
          <p:cNvGrpSpPr/>
          <p:nvPr/>
        </p:nvGrpSpPr>
        <p:grpSpPr>
          <a:xfrm rot="5400000">
            <a:off x="4885535" y="2421633"/>
            <a:ext cx="4224528"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376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1" y="-1"/>
            <a:ext cx="8141612" cy="914401"/>
          </a:xfrm>
          <a:prstGeom prst="rect">
            <a:avLst/>
          </a:prstGeom>
          <a:pattFill prst="ltUpDiag">
            <a:fgClr>
              <a:schemeClr val="tx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占位符 1"/>
          <p:cNvSpPr>
            <a:spLocks noGrp="1"/>
          </p:cNvSpPr>
          <p:nvPr>
            <p:ph type="title"/>
          </p:nvPr>
        </p:nvSpPr>
        <p:spPr>
          <a:xfrm>
            <a:off x="827532" y="193932"/>
            <a:ext cx="3590925" cy="498022"/>
          </a:xfrm>
          <a:prstGeom prst="rect">
            <a:avLst/>
          </a:prstGeom>
          <a:solidFill>
            <a:srgbClr val="C00000"/>
          </a:solidFill>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200150"/>
            <a:ext cx="7486650" cy="3429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4767264"/>
            <a:ext cx="1372169" cy="273844"/>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fld id="{2245BD58-8AB0-492A-ADC0-45D4D042BE64}" type="datetimeFigureOut">
              <a:rPr lang="zh-CN" altLang="en-US" smtClean="0"/>
              <a:pPr>
                <a:defRPr/>
              </a:pPr>
              <a:t>2026/1/10</a:t>
            </a:fld>
            <a:endParaRPr lang="zh-CN" altLang="en-US"/>
          </a:p>
        </p:txBody>
      </p:sp>
      <p:sp>
        <p:nvSpPr>
          <p:cNvPr id="5" name="页脚占位符 4"/>
          <p:cNvSpPr>
            <a:spLocks noGrp="1"/>
          </p:cNvSpPr>
          <p:nvPr>
            <p:ph type="ftr" sz="quarter" idx="3"/>
          </p:nvPr>
        </p:nvSpPr>
        <p:spPr>
          <a:xfrm>
            <a:off x="2200844" y="4767262"/>
            <a:ext cx="4742312" cy="273845"/>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6" name="幻灯片编号占位符 5"/>
          <p:cNvSpPr>
            <a:spLocks noGrp="1"/>
          </p:cNvSpPr>
          <p:nvPr>
            <p:ph type="sldNum" sz="quarter" idx="4"/>
          </p:nvPr>
        </p:nvSpPr>
        <p:spPr>
          <a:xfrm>
            <a:off x="6942587" y="4767264"/>
            <a:ext cx="1371600" cy="273844"/>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defRPr/>
            </a:pPr>
            <a:fld id="{DB91A0AD-5401-487A-B4DF-AAE6F99653A6}" type="slidenum">
              <a:rPr lang="zh-CN" altLang="en-US" smtClean="0"/>
              <a:pPr>
                <a:defRPr/>
              </a:pPr>
              <a:t>‹#›</a:t>
            </a:fld>
            <a:endParaRPr lang="zh-CN" altLang="en-US"/>
          </a:p>
        </p:txBody>
      </p:sp>
      <p:grpSp>
        <p:nvGrpSpPr>
          <p:cNvPr id="15" name="组 14"/>
          <p:cNvGrpSpPr/>
          <p:nvPr/>
        </p:nvGrpSpPr>
        <p:grpSpPr>
          <a:xfrm>
            <a:off x="631588" y="914401"/>
            <a:ext cx="7488936" cy="63302"/>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26" name="Picture 2" descr="https://timgsa.baidu.com/timg?image&amp;quality=80&amp;size=b9999_10000&amp;sec=1511172908148&amp;di=6d02f21212d218024932031e15da36ed&amp;imgtype=0&amp;src=http%3A%2F%2Fphotocdn.sohu.com%2F20120523%2FImg343922632.jpg"/>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1613" y="-24685"/>
            <a:ext cx="1002388" cy="1002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245882"/>
      </p:ext>
    </p:extLst>
  </p:cSld>
  <p:clrMap bg1="lt1" tx1="dk1" bg2="lt2" tx2="dk2" accent1="accent1" accent2="accent2" accent3="accent3" accent4="accent4" accent5="accent5" accent6="accent6" hlink="hlink" folHlink="folHlink"/>
  <p:sldLayoutIdLst>
    <p:sldLayoutId id="2147485099" r:id="rId1"/>
    <p:sldLayoutId id="2147485100" r:id="rId2"/>
    <p:sldLayoutId id="2147485101" r:id="rId3"/>
    <p:sldLayoutId id="2147485102" r:id="rId4"/>
    <p:sldLayoutId id="2147485103" r:id="rId5"/>
    <p:sldLayoutId id="2147485104" r:id="rId6"/>
    <p:sldLayoutId id="2147485105" r:id="rId7"/>
    <p:sldLayoutId id="2147485106" r:id="rId8"/>
    <p:sldLayoutId id="2147485107" r:id="rId9"/>
    <p:sldLayoutId id="2147485108" r:id="rId10"/>
    <p:sldLayoutId id="2147485109" r:id="rId11"/>
    <p:sldLayoutId id="214748511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bg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p:cNvSpPr>
          <p:nvPr/>
        </p:nvSpPr>
        <p:spPr bwMode="auto">
          <a:xfrm>
            <a:off x="1" y="1563638"/>
            <a:ext cx="8964487" cy="72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2438" lvl="1" indent="-58738" algn="ctr" eaLnBrk="0" hangingPunct="0">
              <a:lnSpc>
                <a:spcPct val="80000"/>
              </a:lnSpc>
              <a:spcBef>
                <a:spcPct val="20000"/>
              </a:spcBef>
              <a:buClr>
                <a:schemeClr val="accent1"/>
              </a:buClr>
              <a:buSzPct val="85000"/>
              <a:buFont typeface="Wingdings 2" pitchFamily="18" charset="2"/>
              <a:buNone/>
            </a:pPr>
            <a:endParaRPr lang="zh-CN" altLang="en-US" sz="3600" b="1" dirty="0">
              <a:latin typeface="黑体" pitchFamily="49" charset="-122"/>
              <a:ea typeface="黑体" pitchFamily="49" charset="-122"/>
            </a:endParaRPr>
          </a:p>
        </p:txBody>
      </p:sp>
      <p:sp>
        <p:nvSpPr>
          <p:cNvPr id="2" name="标题 1"/>
          <p:cNvSpPr>
            <a:spLocks noGrp="1"/>
          </p:cNvSpPr>
          <p:nvPr>
            <p:ph type="ctrTitle"/>
          </p:nvPr>
        </p:nvSpPr>
        <p:spPr>
          <a:xfrm>
            <a:off x="899592" y="1203598"/>
            <a:ext cx="6263605" cy="2016224"/>
          </a:xfrm>
          <a:solidFill>
            <a:srgbClr val="C00000"/>
          </a:solidFill>
        </p:spPr>
        <p:txBody>
          <a:bodyPr lIns="288000" tIns="252000">
            <a:noAutofit/>
          </a:bodyPr>
          <a:lstStyle/>
          <a:p>
            <a:pPr lvl="1" algn="l" defTabSz="685800" rtl="0">
              <a:lnSpc>
                <a:spcPct val="150000"/>
              </a:lnSpc>
              <a:spcBef>
                <a:spcPct val="0"/>
              </a:spcBef>
            </a:pPr>
            <a:r>
              <a:rPr lang="zh-CN" altLang="en-US" sz="2800" dirty="0">
                <a:solidFill>
                  <a:srgbClr val="FFFFFF"/>
                </a:solidFill>
                <a:latin typeface="微软雅黑" panose="020B0503020204020204" pitchFamily="34" charset="-122"/>
                <a:ea typeface="微软雅黑" panose="020B0503020204020204" pitchFamily="34" charset="-122"/>
              </a:rPr>
              <a:t>大学计算机</a:t>
            </a:r>
            <a:br>
              <a:rPr lang="en-US" altLang="zh-CN" sz="2800" dirty="0">
                <a:solidFill>
                  <a:srgbClr val="FFFFFF"/>
                </a:solidFill>
                <a:latin typeface="微软雅黑" panose="020B0503020204020204" pitchFamily="34" charset="-122"/>
                <a:ea typeface="微软雅黑" panose="020B0503020204020204" pitchFamily="34" charset="-122"/>
              </a:rPr>
            </a:br>
            <a:r>
              <a:rPr lang="en-US" altLang="zh-CN" sz="2800" dirty="0">
                <a:solidFill>
                  <a:srgbClr val="FFFFFF"/>
                </a:solidFill>
                <a:latin typeface="微软雅黑" panose="020B0503020204020204" pitchFamily="34" charset="-122"/>
                <a:ea typeface="微软雅黑" panose="020B0503020204020204" pitchFamily="34" charset="-122"/>
              </a:rPr>
              <a:t>       ——</a:t>
            </a:r>
            <a:r>
              <a:rPr lang="zh-CN" altLang="zh-CN" sz="2800" dirty="0">
                <a:solidFill>
                  <a:srgbClr val="FFFFFF"/>
                </a:solidFill>
                <a:latin typeface="微软雅黑" panose="020B0503020204020204" pitchFamily="34" charset="-122"/>
                <a:ea typeface="微软雅黑" panose="020B0503020204020204" pitchFamily="34" charset="-122"/>
              </a:rPr>
              <a:t>数据</a:t>
            </a:r>
            <a:r>
              <a:rPr lang="zh-CN" altLang="en-US" sz="2800" dirty="0">
                <a:solidFill>
                  <a:srgbClr val="FFFFFF"/>
                </a:solidFill>
                <a:latin typeface="微软雅黑" panose="020B0503020204020204" pitchFamily="34" charset="-122"/>
                <a:ea typeface="微软雅黑" panose="020B0503020204020204" pitchFamily="34" charset="-122"/>
              </a:rPr>
              <a:t>的组织与</a:t>
            </a:r>
            <a:r>
              <a:rPr lang="zh-CN" altLang="zh-CN" sz="2800" dirty="0">
                <a:solidFill>
                  <a:srgbClr val="FFFFFF"/>
                </a:solidFill>
                <a:latin typeface="微软雅黑" panose="020B0503020204020204" pitchFamily="34" charset="-122"/>
                <a:ea typeface="微软雅黑" panose="020B0503020204020204" pitchFamily="34" charset="-122"/>
              </a:rPr>
              <a:t>管理</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123" name="副标题 2"/>
          <p:cNvSpPr>
            <a:spLocks noGrp="1"/>
          </p:cNvSpPr>
          <p:nvPr>
            <p:ph type="subTitle" idx="1"/>
          </p:nvPr>
        </p:nvSpPr>
        <p:spPr>
          <a:xfrm>
            <a:off x="3275856" y="3723878"/>
            <a:ext cx="3888432" cy="432048"/>
          </a:xfrm>
        </p:spPr>
        <p:txBody>
          <a:bodyPr>
            <a:normAutofit/>
          </a:bodyPr>
          <a:lstStyle/>
          <a:p>
            <a:pPr marL="63500" algn="r"/>
            <a:r>
              <a:rPr lang="zh-CN" altLang="en-US" sz="2400" dirty="0">
                <a:solidFill>
                  <a:srgbClr val="000066"/>
                </a:solidFill>
              </a:rPr>
              <a:t>同济大学计算机基础教研室</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416825" cy="3412337"/>
          </a:xfrm>
        </p:spPr>
        <p:txBody>
          <a:bodyPr>
            <a:noAutofit/>
          </a:bodyPr>
          <a:lstStyle/>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数据的组织形式</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 数据文件</a:t>
            </a:r>
            <a:r>
              <a:rPr lang="en-US" altLang="zh-CN" sz="1800" dirty="0">
                <a:solidFill>
                  <a:srgbClr val="000066"/>
                </a:solidFill>
                <a:latin typeface="Times New Roman" panose="02020603050405020304" pitchFamily="18" charset="0"/>
                <a:cs typeface="Times New Roman" panose="02020603050405020304" pitchFamily="18" charset="0"/>
              </a:rPr>
              <a:t>	Excel</a:t>
            </a:r>
            <a:r>
              <a:rPr lang="zh-CN" altLang="en-US" sz="1800" dirty="0">
                <a:solidFill>
                  <a:srgbClr val="000066"/>
                </a:solidFill>
                <a:latin typeface="Times New Roman" panose="02020603050405020304" pitchFamily="18" charset="0"/>
                <a:cs typeface="Times New Roman" panose="02020603050405020304" pitchFamily="18" charset="0"/>
              </a:rPr>
              <a:t>文件</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Word</a:t>
            </a:r>
            <a:r>
              <a:rPr lang="zh-CN" altLang="zh-CN" sz="1800" dirty="0">
                <a:solidFill>
                  <a:srgbClr val="000066"/>
                </a:solidFill>
                <a:latin typeface="Times New Roman" panose="02020603050405020304" pitchFamily="18" charset="0"/>
                <a:cs typeface="Times New Roman" panose="02020603050405020304" pitchFamily="18" charset="0"/>
              </a:rPr>
              <a:t>文件、</a:t>
            </a:r>
            <a:r>
              <a:rPr lang="zh-CN" altLang="en-US"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文本文件</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图片文件等</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数据量不大的情况下，可以组织成文件</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数据库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数据量增加，需要统一管理</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数据仓库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大数据</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数据规模超过了传统数据库软件的能力</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PB(2</a:t>
            </a:r>
            <a:r>
              <a:rPr lang="en-US" altLang="zh-CN" sz="1800" baseline="30000" dirty="0">
                <a:solidFill>
                  <a:srgbClr val="000066"/>
                </a:solidFill>
                <a:latin typeface="Times New Roman" panose="02020603050405020304" pitchFamily="18" charset="0"/>
                <a:cs typeface="Times New Roman" panose="02020603050405020304" pitchFamily="18" charset="0"/>
              </a:rPr>
              <a:t>50</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级以上</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IDC</a:t>
            </a:r>
            <a:r>
              <a:rPr lang="zh-CN" altLang="en-US" sz="1800" dirty="0">
                <a:solidFill>
                  <a:srgbClr val="000066"/>
                </a:solidFill>
                <a:latin typeface="Times New Roman" panose="02020603050405020304" pitchFamily="18" charset="0"/>
                <a:cs typeface="Times New Roman" panose="02020603050405020304" pitchFamily="18" charset="0"/>
              </a:rPr>
              <a:t>估计，</a:t>
            </a:r>
            <a:r>
              <a:rPr lang="en-US" altLang="zh-CN" sz="1800" dirty="0">
                <a:solidFill>
                  <a:srgbClr val="000066"/>
                </a:solidFill>
                <a:latin typeface="Times New Roman" panose="02020603050405020304" pitchFamily="18" charset="0"/>
                <a:cs typeface="Times New Roman" panose="02020603050405020304" pitchFamily="18" charset="0"/>
              </a:rPr>
              <a:t> 2025</a:t>
            </a:r>
            <a:r>
              <a:rPr lang="zh-CN" altLang="en-US" sz="1800" dirty="0">
                <a:solidFill>
                  <a:srgbClr val="000066"/>
                </a:solidFill>
                <a:latin typeface="Times New Roman" panose="02020603050405020304" pitchFamily="18" charset="0"/>
                <a:cs typeface="Times New Roman" panose="02020603050405020304" pitchFamily="18" charset="0"/>
              </a:rPr>
              <a:t>年全球产生</a:t>
            </a:r>
            <a:r>
              <a:rPr lang="en-US" altLang="zh-CN" sz="1800" dirty="0">
                <a:solidFill>
                  <a:srgbClr val="000066"/>
                </a:solidFill>
                <a:latin typeface="Times New Roman" panose="02020603050405020304" pitchFamily="18" charset="0"/>
                <a:cs typeface="Times New Roman" panose="02020603050405020304" pitchFamily="18" charset="0"/>
              </a:rPr>
              <a:t>175ZB (2</a:t>
            </a:r>
            <a:r>
              <a:rPr lang="en-US" altLang="zh-CN" sz="1800" baseline="30000" dirty="0">
                <a:solidFill>
                  <a:srgbClr val="000066"/>
                </a:solidFill>
                <a:latin typeface="Times New Roman" panose="02020603050405020304" pitchFamily="18" charset="0"/>
                <a:cs typeface="Times New Roman" panose="02020603050405020304" pitchFamily="18" charset="0"/>
              </a:rPr>
              <a:t>70</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数据</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大数据组织与管理与传统的数据不同</a:t>
            </a:r>
            <a:br>
              <a:rPr lang="en-US" altLang="zh-CN" sz="1800" dirty="0">
                <a:solidFill>
                  <a:srgbClr val="000066"/>
                </a:solidFill>
                <a:latin typeface="Times New Roman" panose="02020603050405020304" pitchFamily="18" charset="0"/>
                <a:cs typeface="Times New Roman" panose="02020603050405020304" pitchFamily="18" charset="0"/>
              </a:rPr>
            </a:b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14" name="Picture 4">
            <a:extLst>
              <a:ext uri="{FF2B5EF4-FFF2-40B4-BE49-F238E27FC236}">
                <a16:creationId xmlns:a16="http://schemas.microsoft.com/office/drawing/2014/main" id="{CCE81D01-62A2-415D-B989-443713627B45}"/>
              </a:ext>
            </a:extLst>
          </p:cNvPr>
          <p:cNvPicPr>
            <a:picLocks noChangeAspect="1" noChangeArrowheads="1"/>
          </p:cNvPicPr>
          <p:nvPr/>
        </p:nvPicPr>
        <p:blipFill>
          <a:blip r:embed="rId3" cstate="print"/>
          <a:srcRect/>
          <a:stretch>
            <a:fillRect/>
          </a:stretch>
        </p:blipFill>
        <p:spPr bwMode="auto">
          <a:xfrm>
            <a:off x="5810733" y="2664143"/>
            <a:ext cx="777491" cy="717298"/>
          </a:xfrm>
          <a:prstGeom prst="rect">
            <a:avLst/>
          </a:prstGeom>
          <a:noFill/>
          <a:ln w="9525">
            <a:noFill/>
            <a:miter lim="800000"/>
            <a:headEnd/>
            <a:tailEnd/>
          </a:ln>
        </p:spPr>
      </p:pic>
      <p:pic>
        <p:nvPicPr>
          <p:cNvPr id="15" name="Picture 2">
            <a:extLst>
              <a:ext uri="{FF2B5EF4-FFF2-40B4-BE49-F238E27FC236}">
                <a16:creationId xmlns:a16="http://schemas.microsoft.com/office/drawing/2014/main" id="{6FBCCA8F-92FF-41C1-BEB3-00C132BEE59D}"/>
              </a:ext>
            </a:extLst>
          </p:cNvPr>
          <p:cNvPicPr>
            <a:picLocks noChangeAspect="1" noChangeArrowheads="1"/>
          </p:cNvPicPr>
          <p:nvPr/>
        </p:nvPicPr>
        <p:blipFill>
          <a:blip r:embed="rId4" cstate="print"/>
          <a:srcRect/>
          <a:stretch>
            <a:fillRect/>
          </a:stretch>
        </p:blipFill>
        <p:spPr bwMode="auto">
          <a:xfrm>
            <a:off x="4924619" y="2731133"/>
            <a:ext cx="676424" cy="676424"/>
          </a:xfrm>
          <a:prstGeom prst="rect">
            <a:avLst/>
          </a:prstGeom>
          <a:noFill/>
          <a:ln w="9525">
            <a:noFill/>
            <a:miter lim="800000"/>
            <a:headEnd/>
            <a:tailEnd/>
          </a:ln>
        </p:spPr>
      </p:pic>
      <p:sp>
        <p:nvSpPr>
          <p:cNvPr id="2" name="标题 1"/>
          <p:cNvSpPr>
            <a:spLocks noGrp="1"/>
          </p:cNvSpPr>
          <p:nvPr>
            <p:ph type="title"/>
          </p:nvPr>
        </p:nvSpPr>
        <p:spPr>
          <a:xfrm>
            <a:off x="395536" y="195486"/>
            <a:ext cx="6048724" cy="577618"/>
          </a:xfrm>
        </p:spPr>
        <p:txBody>
          <a:bodyPr>
            <a:noAutofit/>
          </a:bodyPr>
          <a:lstStyle/>
          <a:p>
            <a:pPr algn="ctr"/>
            <a:r>
              <a:rPr lang="zh-CN" altLang="zh-CN" sz="2400" dirty="0">
                <a:solidFill>
                  <a:srgbClr val="FFFFFF"/>
                </a:solidFill>
              </a:rPr>
              <a:t>数据</a:t>
            </a:r>
            <a:r>
              <a:rPr lang="zh-CN" altLang="en-US" sz="2400" dirty="0">
                <a:solidFill>
                  <a:srgbClr val="FFFFFF"/>
                </a:solidFill>
              </a:rPr>
              <a:t>的组织与管理</a:t>
            </a:r>
            <a:endParaRPr lang="zh-CN" altLang="en-US" sz="2400" dirty="0"/>
          </a:p>
        </p:txBody>
      </p:sp>
      <p:pic>
        <p:nvPicPr>
          <p:cNvPr id="16" name="图片 15">
            <a:extLst>
              <a:ext uri="{FF2B5EF4-FFF2-40B4-BE49-F238E27FC236}">
                <a16:creationId xmlns:a16="http://schemas.microsoft.com/office/drawing/2014/main" id="{B23BA938-9BB3-4E2A-81CA-8493A8831218}"/>
              </a:ext>
            </a:extLst>
          </p:cNvPr>
          <p:cNvPicPr>
            <a:picLocks noChangeAspect="1"/>
          </p:cNvPicPr>
          <p:nvPr/>
        </p:nvPicPr>
        <p:blipFill>
          <a:blip r:embed="rId5"/>
          <a:stretch>
            <a:fillRect/>
          </a:stretch>
        </p:blipFill>
        <p:spPr>
          <a:xfrm>
            <a:off x="6806610" y="2928727"/>
            <a:ext cx="777491" cy="413665"/>
          </a:xfrm>
          <a:prstGeom prst="rect">
            <a:avLst/>
          </a:prstGeom>
        </p:spPr>
      </p:pic>
      <p:pic>
        <p:nvPicPr>
          <p:cNvPr id="17" name="Picture 3">
            <a:extLst>
              <a:ext uri="{FF2B5EF4-FFF2-40B4-BE49-F238E27FC236}">
                <a16:creationId xmlns:a16="http://schemas.microsoft.com/office/drawing/2014/main" id="{02C84FB9-E5B0-437B-857F-7283A291F8CF}"/>
              </a:ext>
            </a:extLst>
          </p:cNvPr>
          <p:cNvPicPr>
            <a:picLocks noChangeAspect="1" noChangeArrowheads="1"/>
          </p:cNvPicPr>
          <p:nvPr/>
        </p:nvPicPr>
        <p:blipFill>
          <a:blip r:embed="rId6" cstate="print"/>
          <a:srcRect/>
          <a:stretch>
            <a:fillRect/>
          </a:stretch>
        </p:blipFill>
        <p:spPr bwMode="auto">
          <a:xfrm>
            <a:off x="7803714" y="2943001"/>
            <a:ext cx="872742" cy="399391"/>
          </a:xfrm>
          <a:prstGeom prst="rect">
            <a:avLst/>
          </a:prstGeom>
          <a:noFill/>
          <a:ln w="9525">
            <a:noFill/>
            <a:miter lim="800000"/>
            <a:headEnd/>
            <a:tailEnd/>
          </a:ln>
        </p:spPr>
      </p:pic>
      <p:pic>
        <p:nvPicPr>
          <p:cNvPr id="8" name="Picture 10">
            <a:extLst>
              <a:ext uri="{FF2B5EF4-FFF2-40B4-BE49-F238E27FC236}">
                <a16:creationId xmlns:a16="http://schemas.microsoft.com/office/drawing/2014/main" id="{6C8D18FA-990F-4333-9D69-924129141AE4}"/>
              </a:ext>
            </a:extLst>
          </p:cNvPr>
          <p:cNvPicPr>
            <a:picLocks noChangeAspect="1" noChangeArrowheads="1"/>
          </p:cNvPicPr>
          <p:nvPr/>
        </p:nvPicPr>
        <p:blipFill>
          <a:blip r:embed="rId7" cstate="print"/>
          <a:srcRect/>
          <a:stretch>
            <a:fillRect/>
          </a:stretch>
        </p:blipFill>
        <p:spPr bwMode="auto">
          <a:xfrm>
            <a:off x="6711527" y="3763402"/>
            <a:ext cx="1020447" cy="464532"/>
          </a:xfrm>
          <a:prstGeom prst="rect">
            <a:avLst/>
          </a:prstGeom>
          <a:noFill/>
          <a:ln w="9525">
            <a:noFill/>
            <a:miter lim="800000"/>
            <a:headEnd/>
            <a:tailEnd/>
          </a:ln>
        </p:spPr>
      </p:pic>
      <p:pic>
        <p:nvPicPr>
          <p:cNvPr id="9" name="Picture 3">
            <a:extLst>
              <a:ext uri="{FF2B5EF4-FFF2-40B4-BE49-F238E27FC236}">
                <a16:creationId xmlns:a16="http://schemas.microsoft.com/office/drawing/2014/main" id="{70572529-B237-417B-8A28-1463D74488E4}"/>
              </a:ext>
            </a:extLst>
          </p:cNvPr>
          <p:cNvPicPr>
            <a:picLocks noChangeAspect="1" noChangeArrowheads="1"/>
          </p:cNvPicPr>
          <p:nvPr/>
        </p:nvPicPr>
        <p:blipFill>
          <a:blip r:embed="rId8" cstate="print"/>
          <a:srcRect/>
          <a:stretch>
            <a:fillRect/>
          </a:stretch>
        </p:blipFill>
        <p:spPr bwMode="auto">
          <a:xfrm>
            <a:off x="7898965" y="3782763"/>
            <a:ext cx="777491" cy="429863"/>
          </a:xfrm>
          <a:prstGeom prst="rect">
            <a:avLst/>
          </a:prstGeom>
          <a:noFill/>
          <a:ln w="9525">
            <a:noFill/>
            <a:miter lim="800000"/>
            <a:headEnd/>
            <a:tailEnd/>
          </a:ln>
        </p:spPr>
      </p:pic>
      <p:pic>
        <p:nvPicPr>
          <p:cNvPr id="6" name="图片 5">
            <a:extLst>
              <a:ext uri="{FF2B5EF4-FFF2-40B4-BE49-F238E27FC236}">
                <a16:creationId xmlns:a16="http://schemas.microsoft.com/office/drawing/2014/main" id="{4D10079F-C0CF-461F-B59F-3FF3281BA5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999506" y="2802314"/>
            <a:ext cx="802221" cy="579127"/>
          </a:xfrm>
          <a:prstGeom prst="rect">
            <a:avLst/>
          </a:prstGeom>
        </p:spPr>
      </p:pic>
    </p:spTree>
    <p:extLst>
      <p:ext uri="{BB962C8B-B14F-4D97-AF65-F5344CB8AC3E}">
        <p14:creationId xmlns:p14="http://schemas.microsoft.com/office/powerpoint/2010/main" val="9249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6"/>
            <a:ext cx="8532441" cy="4156874"/>
          </a:xfrm>
        </p:spPr>
        <p:txBody>
          <a:bodyPr>
            <a:noAutofit/>
          </a:bodyPr>
          <a:lstStyle/>
          <a:p>
            <a:pPr marL="0" lv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常用术语</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数据库（</a:t>
            </a:r>
            <a:r>
              <a:rPr lang="en-US" altLang="zh-CN" sz="1800" dirty="0" err="1">
                <a:solidFill>
                  <a:srgbClr val="000066"/>
                </a:solidFill>
                <a:latin typeface="Times New Roman" panose="02020603050405020304" pitchFamily="18" charset="0"/>
                <a:cs typeface="Times New Roman" panose="02020603050405020304" pitchFamily="18" charset="0"/>
              </a:rPr>
              <a:t>DataBase</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DB</a:t>
            </a:r>
            <a:r>
              <a:rPr lang="zh-CN" altLang="en-US" sz="1800" dirty="0">
                <a:solidFill>
                  <a:srgbClr val="000066"/>
                </a:solidFill>
                <a:latin typeface="Times New Roman" panose="02020603050405020304" pitchFamily="18" charset="0"/>
                <a:cs typeface="Times New Roman" panose="02020603050405020304" pitchFamily="18" charset="0"/>
              </a:rPr>
              <a:t>）</a:t>
            </a:r>
          </a:p>
          <a:p>
            <a:pPr marL="0" lvl="0" indent="0">
              <a:lnSpc>
                <a:spcPct val="150000"/>
              </a:lnSpc>
              <a:spcBef>
                <a:spcPct val="1500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长期保存在计算机外存上的、</a:t>
            </a:r>
            <a:r>
              <a:rPr lang="zh-CN" altLang="en-US" sz="1800" dirty="0">
                <a:solidFill>
                  <a:srgbClr val="FF0000"/>
                </a:solidFill>
                <a:latin typeface="Times New Roman" panose="02020603050405020304" pitchFamily="18" charset="0"/>
                <a:cs typeface="Times New Roman" panose="02020603050405020304" pitchFamily="18" charset="0"/>
              </a:rPr>
              <a:t>有结构的</a:t>
            </a:r>
            <a:r>
              <a:rPr lang="zh-CN" altLang="en-US" sz="1800" dirty="0">
                <a:solidFill>
                  <a:srgbClr val="000066"/>
                </a:solidFill>
                <a:latin typeface="Times New Roman" panose="02020603050405020304" pitchFamily="18" charset="0"/>
                <a:cs typeface="Times New Roman" panose="02020603050405020304" pitchFamily="18" charset="0"/>
              </a:rPr>
              <a:t>、可共享的数据集合。</a:t>
            </a:r>
          </a:p>
          <a:p>
            <a:pPr marL="0" lv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数据库管理系统</a:t>
            </a:r>
            <a:r>
              <a:rPr lang="en-US"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DataBase</a:t>
            </a:r>
            <a:r>
              <a:rPr lang="en-US" altLang="zh-CN" sz="1800" dirty="0">
                <a:solidFill>
                  <a:srgbClr val="000066"/>
                </a:solidFill>
                <a:latin typeface="Times New Roman" panose="02020603050405020304" pitchFamily="18" charset="0"/>
                <a:cs typeface="Times New Roman" panose="02020603050405020304" pitchFamily="18" charset="0"/>
              </a:rPr>
              <a:t> Management System</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DBMS)</a:t>
            </a:r>
          </a:p>
          <a:p>
            <a:pPr marL="0" lv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对数据库进行管理的软件系统，</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查询、插入、更新、删除以及各种控制都是通过</a:t>
            </a:r>
            <a:r>
              <a:rPr lang="en-US" altLang="zh-CN" sz="1800" dirty="0">
                <a:solidFill>
                  <a:srgbClr val="000066"/>
                </a:solidFill>
                <a:latin typeface="Times New Roman" panose="02020603050405020304" pitchFamily="18" charset="0"/>
                <a:cs typeface="Times New Roman" panose="02020603050405020304" pitchFamily="18" charset="0"/>
              </a:rPr>
              <a:t>DBMS</a:t>
            </a:r>
            <a:r>
              <a:rPr lang="zh-CN" altLang="en-US" sz="1800" dirty="0">
                <a:solidFill>
                  <a:srgbClr val="000066"/>
                </a:solidFill>
                <a:latin typeface="Times New Roman" panose="02020603050405020304" pitchFamily="18" charset="0"/>
                <a:cs typeface="Times New Roman" panose="02020603050405020304" pitchFamily="18" charset="0"/>
              </a:rPr>
              <a:t>进行的。</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ct val="1500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数据库系统（</a:t>
            </a:r>
            <a:r>
              <a:rPr lang="en-US" altLang="zh-CN" sz="1800" dirty="0" err="1">
                <a:solidFill>
                  <a:srgbClr val="000066"/>
                </a:solidFill>
                <a:latin typeface="Times New Roman" panose="02020603050405020304" pitchFamily="18" charset="0"/>
                <a:cs typeface="Times New Roman" panose="02020603050405020304" pitchFamily="18" charset="0"/>
              </a:rPr>
              <a:t>DataBase</a:t>
            </a:r>
            <a:r>
              <a:rPr lang="en-US" altLang="zh-CN" sz="1800" dirty="0">
                <a:solidFill>
                  <a:srgbClr val="000066"/>
                </a:solidFill>
                <a:latin typeface="Times New Roman" panose="02020603050405020304" pitchFamily="18" charset="0"/>
                <a:cs typeface="Times New Roman" panose="02020603050405020304" pitchFamily="18" charset="0"/>
              </a:rPr>
              <a:t> System</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DBS</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ct val="1500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由硬件系统、数据库管理系统、数据库、应用程序、人员等构成的人</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机系统</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ct val="15000"/>
              </a:spcBef>
              <a:buSzPct val="100000"/>
              <a:buNone/>
            </a:pPr>
            <a:r>
              <a:rPr lang="zh-CN" altLang="en-US" sz="1800" dirty="0">
                <a:solidFill>
                  <a:srgbClr val="C00000"/>
                </a:solidFill>
                <a:latin typeface="Times New Roman" panose="02020603050405020304" pitchFamily="18" charset="0"/>
                <a:cs typeface="Times New Roman" panose="02020603050405020304" pitchFamily="18" charset="0"/>
              </a:rPr>
              <a:t>      数据库产品：一整套数据库应用解决</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397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6"/>
            <a:ext cx="8568953" cy="3961388"/>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数据库特点</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a:lnSpc>
                <a:spcPct val="150000"/>
              </a:lnSpc>
              <a:spcBef>
                <a:spcPts val="0"/>
              </a:spcBef>
              <a:buClr>
                <a:schemeClr val="tx1"/>
              </a:buClr>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采用一定的数据模型，最大限度地减少数据的冗余</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有较高的数据独立性</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用户面对的是简单的逻辑结构操作而不涉及数据具体的物理存储结构</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安全性</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设置用户的使用权限</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在数据库被破坏时，系统可把数据库恢复到可用状态。</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完整性</a:t>
            </a:r>
          </a:p>
          <a:p>
            <a:pPr marL="0" lvl="0" indent="0" algn="just">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一些完整性检验以确保数据符合某些规则，保证数据库中数据始终是正确的</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02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6"/>
            <a:ext cx="8568953" cy="4156874"/>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数据模型</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数据模型：数据库中数据的存储方式 </a:t>
            </a:r>
          </a:p>
          <a:p>
            <a:pPr marL="0" lvl="1" indent="0">
              <a:lnSpc>
                <a:spcPct val="150000"/>
              </a:lnSpc>
              <a:spcBef>
                <a:spcPts val="0"/>
              </a:spcBef>
              <a:buClr>
                <a:schemeClr val="tx1"/>
              </a:buClr>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层次模型    </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用树型结构来表示实体及实体间的联系</a:t>
            </a:r>
            <a:br>
              <a:rPr lang="zh-CN" altLang="en-US" sz="1800" dirty="0">
                <a:solidFill>
                  <a:srgbClr val="000066"/>
                </a:solidFill>
                <a:latin typeface="Times New Roman" panose="02020603050405020304" pitchFamily="18" charset="0"/>
                <a:cs typeface="Times New Roman" panose="02020603050405020304" pitchFamily="18" charset="0"/>
              </a:rPr>
            </a:b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1968</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年，</a:t>
            </a:r>
            <a:r>
              <a:rPr lang="en-US" altLang="zh-CN"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IBM</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公司的</a:t>
            </a:r>
            <a:r>
              <a:rPr lang="en-US" altLang="zh-CN"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IMS</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Information Management System</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a:t>
            </a:r>
          </a:p>
          <a:p>
            <a:pPr marL="0" lvl="1" indent="0">
              <a:lnSpc>
                <a:spcPct val="150000"/>
              </a:lnSpc>
              <a:spcBef>
                <a:spcPts val="0"/>
              </a:spcBef>
              <a:buClr>
                <a:schemeClr val="tx1"/>
              </a:buClr>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网状模型    </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用网状结构来表示实体及实体间的联系</a:t>
            </a:r>
            <a:br>
              <a:rPr lang="zh-CN" altLang="en-US" sz="1800" dirty="0">
                <a:solidFill>
                  <a:srgbClr val="000066"/>
                </a:solidFill>
                <a:latin typeface="Times New Roman" panose="02020603050405020304" pitchFamily="18" charset="0"/>
                <a:cs typeface="Times New Roman" panose="02020603050405020304" pitchFamily="18" charset="0"/>
              </a:rPr>
            </a:b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i="1" dirty="0" err="1">
                <a:solidFill>
                  <a:srgbClr val="000066"/>
                </a:solidFill>
                <a:latin typeface="Times New Roman" panose="02020603050405020304" pitchFamily="18" charset="0"/>
                <a:ea typeface="楷体" panose="02010609060101010101" pitchFamily="49" charset="-122"/>
                <a:cs typeface="Times New Roman" panose="02020603050405020304" pitchFamily="18" charset="0"/>
              </a:rPr>
              <a:t>DBTG</a:t>
            </a:r>
            <a:r>
              <a:rPr lang="zh-CN" altLang="en-US" sz="1800" i="1" dirty="0">
                <a:solidFill>
                  <a:srgbClr val="000066"/>
                </a:solidFill>
                <a:latin typeface="Times New Roman" panose="02020603050405020304" pitchFamily="18" charset="0"/>
                <a:ea typeface="楷体" panose="02010609060101010101" pitchFamily="49" charset="-122"/>
                <a:cs typeface="Times New Roman" panose="02020603050405020304" pitchFamily="18" charset="0"/>
              </a:rPr>
              <a:t>系统</a:t>
            </a:r>
          </a:p>
          <a:p>
            <a:pPr marL="0" lvl="1" indent="0">
              <a:lnSpc>
                <a:spcPct val="150000"/>
              </a:lnSpc>
              <a:spcBef>
                <a:spcPts val="0"/>
              </a:spcBef>
              <a:buClr>
                <a:schemeClr val="tx1"/>
              </a:buClr>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关系模型    用一组二维表表示实体及实体间的关系</a:t>
            </a:r>
            <a:br>
              <a:rPr lang="zh-CN" altLang="en-US" sz="1800" dirty="0">
                <a:solidFill>
                  <a:srgbClr val="000066"/>
                </a:solidFill>
                <a:latin typeface="Times New Roman" panose="02020603050405020304" pitchFamily="18" charset="0"/>
                <a:cs typeface="Times New Roman" panose="02020603050405020304" pitchFamily="18" charset="0"/>
              </a:rPr>
            </a:b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MySQL</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 Server</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理论基础是</a:t>
            </a:r>
            <a:r>
              <a:rPr lang="en-US" altLang="zh-CN" sz="1800" dirty="0">
                <a:solidFill>
                  <a:srgbClr val="000066"/>
                </a:solidFill>
                <a:latin typeface="Times New Roman" panose="02020603050405020304" pitchFamily="18" charset="0"/>
                <a:cs typeface="Times New Roman" panose="02020603050405020304" pitchFamily="18" charset="0"/>
              </a:rPr>
              <a:t>1970</a:t>
            </a:r>
            <a:r>
              <a:rPr lang="zh-CN" altLang="en-US" sz="1800" dirty="0">
                <a:solidFill>
                  <a:srgbClr val="000066"/>
                </a:solidFill>
                <a:latin typeface="Times New Roman" panose="02020603050405020304" pitchFamily="18" charset="0"/>
                <a:cs typeface="Times New Roman" panose="02020603050405020304" pitchFamily="18" charset="0"/>
              </a:rPr>
              <a:t>年</a:t>
            </a:r>
            <a:r>
              <a:rPr lang="en-US" altLang="zh-CN" sz="1800" dirty="0">
                <a:solidFill>
                  <a:srgbClr val="000066"/>
                </a:solidFill>
                <a:latin typeface="Times New Roman" panose="02020603050405020304" pitchFamily="18" charset="0"/>
                <a:cs typeface="Times New Roman" panose="02020603050405020304" pitchFamily="18" charset="0"/>
              </a:rPr>
              <a:t>IBM</a:t>
            </a:r>
            <a:r>
              <a:rPr lang="zh-CN" altLang="en-US" sz="1800" dirty="0">
                <a:solidFill>
                  <a:srgbClr val="000066"/>
                </a:solidFill>
                <a:latin typeface="Times New Roman" panose="02020603050405020304" pitchFamily="18" charset="0"/>
                <a:cs typeface="Times New Roman" panose="02020603050405020304" pitchFamily="18" charset="0"/>
              </a:rPr>
              <a:t>公司研究人员</a:t>
            </a:r>
            <a:r>
              <a:rPr lang="en-US" altLang="zh-CN" sz="1800" dirty="0" err="1">
                <a:solidFill>
                  <a:srgbClr val="000066"/>
                </a:solidFill>
                <a:latin typeface="Times New Roman" panose="02020603050405020304" pitchFamily="18" charset="0"/>
                <a:cs typeface="Times New Roman" panose="02020603050405020304" pitchFamily="18" charset="0"/>
              </a:rPr>
              <a:t>E.F.Codd</a:t>
            </a:r>
            <a:r>
              <a:rPr lang="zh-CN" altLang="en-US" sz="1800" dirty="0">
                <a:solidFill>
                  <a:srgbClr val="000066"/>
                </a:solidFill>
                <a:latin typeface="Times New Roman" panose="02020603050405020304" pitchFamily="18" charset="0"/>
                <a:cs typeface="Times New Roman" panose="02020603050405020304" pitchFamily="18" charset="0"/>
              </a:rPr>
              <a:t>发表的大量论文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Clr>
                <a:schemeClr val="tx1"/>
              </a:buClr>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  目前应用最广泛的是关系数据模型</a:t>
            </a:r>
          </a:p>
        </p:txBody>
      </p:sp>
      <p:pic>
        <p:nvPicPr>
          <p:cNvPr id="5" name="Picture 5">
            <a:extLst>
              <a:ext uri="{FF2B5EF4-FFF2-40B4-BE49-F238E27FC236}">
                <a16:creationId xmlns:a16="http://schemas.microsoft.com/office/drawing/2014/main" id="{E050470C-486A-41C5-8D7F-0CBBF51A5894}"/>
              </a:ext>
            </a:extLst>
          </p:cNvPr>
          <p:cNvPicPr>
            <a:picLocks noChangeAspect="1"/>
          </p:cNvPicPr>
          <p:nvPr/>
        </p:nvPicPr>
        <p:blipFill>
          <a:blip r:embed="rId3"/>
          <a:stretch>
            <a:fillRect/>
          </a:stretch>
        </p:blipFill>
        <p:spPr>
          <a:xfrm>
            <a:off x="7308304" y="2539245"/>
            <a:ext cx="1534952" cy="1297312"/>
          </a:xfrm>
          <a:prstGeom prst="rect">
            <a:avLst/>
          </a:prstGeom>
          <a:noFill/>
          <a:ln w="9525">
            <a:noFill/>
          </a:ln>
        </p:spPr>
      </p:pic>
      <p:pic>
        <p:nvPicPr>
          <p:cNvPr id="4" name="Picture 4">
            <a:extLst>
              <a:ext uri="{FF2B5EF4-FFF2-40B4-BE49-F238E27FC236}">
                <a16:creationId xmlns:a16="http://schemas.microsoft.com/office/drawing/2014/main" id="{E811B156-44AC-49BE-A686-A373687DEF2E}"/>
              </a:ext>
            </a:extLst>
          </p:cNvPr>
          <p:cNvPicPr>
            <a:picLocks noChangeAspect="1"/>
          </p:cNvPicPr>
          <p:nvPr/>
        </p:nvPicPr>
        <p:blipFill>
          <a:blip r:embed="rId4"/>
          <a:stretch>
            <a:fillRect/>
          </a:stretch>
        </p:blipFill>
        <p:spPr>
          <a:xfrm>
            <a:off x="7233305" y="1194925"/>
            <a:ext cx="1534952" cy="1224136"/>
          </a:xfrm>
          <a:prstGeom prst="rect">
            <a:avLst/>
          </a:prstGeom>
          <a:noFill/>
          <a:ln w="9525">
            <a:noFill/>
          </a:ln>
        </p:spPr>
      </p:pic>
    </p:spTree>
    <p:extLst>
      <p:ext uri="{BB962C8B-B14F-4D97-AF65-F5344CB8AC3E}">
        <p14:creationId xmlns:p14="http://schemas.microsoft.com/office/powerpoint/2010/main" val="4099584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568953" cy="865045"/>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关系数据库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将数据组织成一组二维表格</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11" name="表格 10">
            <a:extLst>
              <a:ext uri="{FF2B5EF4-FFF2-40B4-BE49-F238E27FC236}">
                <a16:creationId xmlns:a16="http://schemas.microsoft.com/office/drawing/2014/main" id="{FCF7A765-3CA5-4ED5-8982-94563F8A9540}"/>
              </a:ext>
            </a:extLst>
          </p:cNvPr>
          <p:cNvGraphicFramePr>
            <a:graphicFrameLocks noGrp="1"/>
          </p:cNvGraphicFramePr>
          <p:nvPr/>
        </p:nvGraphicFramePr>
        <p:xfrm>
          <a:off x="649297" y="2065191"/>
          <a:ext cx="4968502" cy="2952330"/>
        </p:xfrm>
        <a:graphic>
          <a:graphicData uri="http://schemas.openxmlformats.org/drawingml/2006/table">
            <a:tbl>
              <a:tblPr firstRow="1" firstCol="1" lastRow="1" lastCol="1" bandRow="1" bandCol="1">
                <a:tableStyleId>{5C22544A-7EE6-4342-B048-85BDC9FD1C3A}</a:tableStyleId>
              </a:tblPr>
              <a:tblGrid>
                <a:gridCol w="509253">
                  <a:extLst>
                    <a:ext uri="{9D8B030D-6E8A-4147-A177-3AD203B41FA5}">
                      <a16:colId xmlns:a16="http://schemas.microsoft.com/office/drawing/2014/main" val="2182865437"/>
                    </a:ext>
                  </a:extLst>
                </a:gridCol>
                <a:gridCol w="642875">
                  <a:extLst>
                    <a:ext uri="{9D8B030D-6E8A-4147-A177-3AD203B41FA5}">
                      <a16:colId xmlns:a16="http://schemas.microsoft.com/office/drawing/2014/main" val="800473573"/>
                    </a:ext>
                  </a:extLst>
                </a:gridCol>
                <a:gridCol w="504056">
                  <a:extLst>
                    <a:ext uri="{9D8B030D-6E8A-4147-A177-3AD203B41FA5}">
                      <a16:colId xmlns:a16="http://schemas.microsoft.com/office/drawing/2014/main" val="3502022738"/>
                    </a:ext>
                  </a:extLst>
                </a:gridCol>
                <a:gridCol w="504056">
                  <a:extLst>
                    <a:ext uri="{9D8B030D-6E8A-4147-A177-3AD203B41FA5}">
                      <a16:colId xmlns:a16="http://schemas.microsoft.com/office/drawing/2014/main" val="2743849151"/>
                    </a:ext>
                  </a:extLst>
                </a:gridCol>
                <a:gridCol w="720080">
                  <a:extLst>
                    <a:ext uri="{9D8B030D-6E8A-4147-A177-3AD203B41FA5}">
                      <a16:colId xmlns:a16="http://schemas.microsoft.com/office/drawing/2014/main" val="2354119533"/>
                    </a:ext>
                  </a:extLst>
                </a:gridCol>
                <a:gridCol w="864096">
                  <a:extLst>
                    <a:ext uri="{9D8B030D-6E8A-4147-A177-3AD203B41FA5}">
                      <a16:colId xmlns:a16="http://schemas.microsoft.com/office/drawing/2014/main" val="2334975034"/>
                    </a:ext>
                  </a:extLst>
                </a:gridCol>
                <a:gridCol w="720080">
                  <a:extLst>
                    <a:ext uri="{9D8B030D-6E8A-4147-A177-3AD203B41FA5}">
                      <a16:colId xmlns:a16="http://schemas.microsoft.com/office/drawing/2014/main" val="1464776258"/>
                    </a:ext>
                  </a:extLst>
                </a:gridCol>
                <a:gridCol w="504006">
                  <a:extLst>
                    <a:ext uri="{9D8B030D-6E8A-4147-A177-3AD203B41FA5}">
                      <a16:colId xmlns:a16="http://schemas.microsoft.com/office/drawing/2014/main" val="840920192"/>
                    </a:ext>
                  </a:extLst>
                </a:gridCol>
              </a:tblGrid>
              <a:tr h="295233">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性别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党员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专业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出生年月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助学金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照片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8639662"/>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王涛</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1992-01-21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76029"/>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庄前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1992-09-21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8008206"/>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丁保华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1991-04-18</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180.00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0437502"/>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姜沛棋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1991-12-02</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280.00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4460225"/>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160103</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张智忠</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1990-08-06</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240.00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76938323"/>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程玲</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1992-11-14</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8835307"/>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黎敏艳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1993-02-21</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4471550"/>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160203</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邓倩梅</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1992-04-28</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220.00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600413"/>
                  </a:ext>
                </a:extLst>
              </a:tr>
              <a:tr h="295233">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杨梦逸</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1991-12-15</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9015021"/>
                  </a:ext>
                </a:extLst>
              </a:tr>
            </a:tbl>
          </a:graphicData>
        </a:graphic>
      </p:graphicFrame>
      <p:graphicFrame>
        <p:nvGraphicFramePr>
          <p:cNvPr id="12" name="表格 11">
            <a:extLst>
              <a:ext uri="{FF2B5EF4-FFF2-40B4-BE49-F238E27FC236}">
                <a16:creationId xmlns:a16="http://schemas.microsoft.com/office/drawing/2014/main" id="{EEB8EB55-6FD1-406F-AF4A-BFF3A09BF8E2}"/>
              </a:ext>
            </a:extLst>
          </p:cNvPr>
          <p:cNvGraphicFramePr>
            <a:graphicFrameLocks noGrp="1"/>
          </p:cNvGraphicFramePr>
          <p:nvPr/>
        </p:nvGraphicFramePr>
        <p:xfrm>
          <a:off x="5868144" y="1347922"/>
          <a:ext cx="2592288" cy="3669585"/>
        </p:xfrm>
        <a:graphic>
          <a:graphicData uri="http://schemas.openxmlformats.org/drawingml/2006/table">
            <a:tbl>
              <a:tblPr firstRow="1" firstCol="1" lastRow="1" lastCol="1" bandRow="1" bandCol="1">
                <a:tableStyleId>{5C22544A-7EE6-4342-B048-85BDC9FD1C3A}</a:tableStyleId>
              </a:tblPr>
              <a:tblGrid>
                <a:gridCol w="631812">
                  <a:extLst>
                    <a:ext uri="{9D8B030D-6E8A-4147-A177-3AD203B41FA5}">
                      <a16:colId xmlns:a16="http://schemas.microsoft.com/office/drawing/2014/main" val="3248651787"/>
                    </a:ext>
                  </a:extLst>
                </a:gridCol>
                <a:gridCol w="1384412">
                  <a:extLst>
                    <a:ext uri="{9D8B030D-6E8A-4147-A177-3AD203B41FA5}">
                      <a16:colId xmlns:a16="http://schemas.microsoft.com/office/drawing/2014/main" val="2963885960"/>
                    </a:ext>
                  </a:extLst>
                </a:gridCol>
                <a:gridCol w="576064">
                  <a:extLst>
                    <a:ext uri="{9D8B030D-6E8A-4147-A177-3AD203B41FA5}">
                      <a16:colId xmlns:a16="http://schemas.microsoft.com/office/drawing/2014/main" val="3330182217"/>
                    </a:ext>
                  </a:extLst>
                </a:gridCol>
              </a:tblGrid>
              <a:tr h="244639">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课</a:t>
                      </a: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程</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成绩</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7797735"/>
                  </a:ext>
                </a:extLst>
              </a:tr>
              <a:tr h="244639">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大学计算机基础</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82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777784"/>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高等数学</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76</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7825596"/>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大学计算机基础</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90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5861010"/>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高等数学</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77</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5744760"/>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大学计算机基础</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68</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5604032"/>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C/C++</a:t>
                      </a: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程序设计</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85</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1706813"/>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大学英语</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56</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0471244"/>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计算机导论</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87</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38297"/>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高等数学</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67</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6878657"/>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计算机导论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53</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2832569"/>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160203</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英语</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71</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711165"/>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计算机导论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66</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1696826"/>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高等数学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75</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6591756"/>
                  </a:ext>
                </a:extLst>
              </a:tr>
              <a:tr h="244639">
                <a:tc>
                  <a:txBody>
                    <a:bodyPr/>
                    <a:lstStyle/>
                    <a:p>
                      <a:pPr algn="ctr">
                        <a:spcAft>
                          <a:spcPts val="0"/>
                        </a:spcAft>
                      </a:pPr>
                      <a:r>
                        <a:rPr lang="en-US" sz="1200" b="0" kern="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685800" rtl="0" eaLnBrk="1" latinLnBrk="0" hangingPunct="1">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英语</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82</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545775"/>
                  </a:ext>
                </a:extLst>
              </a:tr>
            </a:tbl>
          </a:graphicData>
        </a:graphic>
      </p:graphicFrame>
      <p:sp>
        <p:nvSpPr>
          <p:cNvPr id="14" name="文本框 13">
            <a:extLst>
              <a:ext uri="{FF2B5EF4-FFF2-40B4-BE49-F238E27FC236}">
                <a16:creationId xmlns:a16="http://schemas.microsoft.com/office/drawing/2014/main" id="{B9E15847-BF1B-422E-89CD-F9F1E954AA6E}"/>
              </a:ext>
            </a:extLst>
          </p:cNvPr>
          <p:cNvSpPr txBox="1"/>
          <p:nvPr/>
        </p:nvSpPr>
        <p:spPr>
          <a:xfrm>
            <a:off x="2643670" y="1729906"/>
            <a:ext cx="1098378" cy="338554"/>
          </a:xfrm>
          <a:prstGeom prst="rect">
            <a:avLst/>
          </a:prstGeom>
          <a:noFill/>
        </p:spPr>
        <p:txBody>
          <a:bodyPr wrap="none" rtlCol="0">
            <a:spAutoFit/>
          </a:bodyPr>
          <a:lstStyle/>
          <a:p>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Students</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表</a:t>
            </a:r>
          </a:p>
        </p:txBody>
      </p:sp>
      <p:sp>
        <p:nvSpPr>
          <p:cNvPr id="15" name="文本框 14">
            <a:extLst>
              <a:ext uri="{FF2B5EF4-FFF2-40B4-BE49-F238E27FC236}">
                <a16:creationId xmlns:a16="http://schemas.microsoft.com/office/drawing/2014/main" id="{53A54211-64DD-4758-938D-6A0B7F6C8D80}"/>
              </a:ext>
            </a:extLst>
          </p:cNvPr>
          <p:cNvSpPr txBox="1"/>
          <p:nvPr/>
        </p:nvSpPr>
        <p:spPr>
          <a:xfrm>
            <a:off x="6804248" y="1009368"/>
            <a:ext cx="938077" cy="338554"/>
          </a:xfrm>
          <a:prstGeom prst="rect">
            <a:avLst/>
          </a:prstGeom>
          <a:noFill/>
        </p:spPr>
        <p:txBody>
          <a:bodyPr wrap="none" rtlCol="0">
            <a:spAutoFit/>
          </a:bodyPr>
          <a:lstStyle/>
          <a:p>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Scores</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表</a:t>
            </a:r>
          </a:p>
        </p:txBody>
      </p:sp>
      <p:sp>
        <p:nvSpPr>
          <p:cNvPr id="16" name="文本框 15">
            <a:extLst>
              <a:ext uri="{FF2B5EF4-FFF2-40B4-BE49-F238E27FC236}">
                <a16:creationId xmlns:a16="http://schemas.microsoft.com/office/drawing/2014/main" id="{BD112EDF-C8F0-4BE0-99F4-C05AE2C6CEC0}"/>
              </a:ext>
            </a:extLst>
          </p:cNvPr>
          <p:cNvSpPr txBox="1"/>
          <p:nvPr/>
        </p:nvSpPr>
        <p:spPr>
          <a:xfrm>
            <a:off x="4290741" y="1061303"/>
            <a:ext cx="1210588" cy="338554"/>
          </a:xfrm>
          <a:prstGeom prst="rect">
            <a:avLst/>
          </a:prstGeom>
          <a:noFill/>
          <a:ln w="19050">
            <a:solidFill>
              <a:srgbClr val="000066"/>
            </a:solidFill>
          </a:ln>
        </p:spPr>
        <p:txBody>
          <a:bodyPr wrap="none" rtlCol="0">
            <a:spAutoFit/>
          </a:bodyPr>
          <a:lstStyle/>
          <a:p>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学生数据库</a:t>
            </a:r>
          </a:p>
        </p:txBody>
      </p:sp>
      <p:cxnSp>
        <p:nvCxnSpPr>
          <p:cNvPr id="18" name="直接箭头连接符 17">
            <a:extLst>
              <a:ext uri="{FF2B5EF4-FFF2-40B4-BE49-F238E27FC236}">
                <a16:creationId xmlns:a16="http://schemas.microsoft.com/office/drawing/2014/main" id="{22C00179-FEAE-41E4-A081-718C1C8B3ABA}"/>
              </a:ext>
            </a:extLst>
          </p:cNvPr>
          <p:cNvCxnSpPr>
            <a:stCxn id="16" idx="2"/>
            <a:endCxn id="14" idx="2"/>
          </p:cNvCxnSpPr>
          <p:nvPr/>
        </p:nvCxnSpPr>
        <p:spPr>
          <a:xfrm flipH="1">
            <a:off x="3192859" y="1399857"/>
            <a:ext cx="1703176" cy="668603"/>
          </a:xfrm>
          <a:prstGeom prst="straightConnector1">
            <a:avLst/>
          </a:prstGeom>
          <a:ln w="19050">
            <a:solidFill>
              <a:srgbClr val="00006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CB558B2-060F-4719-ABDC-8091D7148DD1}"/>
              </a:ext>
            </a:extLst>
          </p:cNvPr>
          <p:cNvCxnSpPr>
            <a:cxnSpLocks/>
            <a:stCxn id="16" idx="2"/>
          </p:cNvCxnSpPr>
          <p:nvPr/>
        </p:nvCxnSpPr>
        <p:spPr>
          <a:xfrm>
            <a:off x="4896035" y="1399857"/>
            <a:ext cx="972109" cy="743281"/>
          </a:xfrm>
          <a:prstGeom prst="straightConnector1">
            <a:avLst/>
          </a:prstGeom>
          <a:ln w="19050">
            <a:solidFill>
              <a:srgbClr val="000066"/>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0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1800201" cy="509231"/>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关系数据库</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11" name="表格 10">
            <a:extLst>
              <a:ext uri="{FF2B5EF4-FFF2-40B4-BE49-F238E27FC236}">
                <a16:creationId xmlns:a16="http://schemas.microsoft.com/office/drawing/2014/main" id="{FCF7A765-3CA5-4ED5-8982-94563F8A9540}"/>
              </a:ext>
            </a:extLst>
          </p:cNvPr>
          <p:cNvGraphicFramePr>
            <a:graphicFrameLocks noGrp="1"/>
          </p:cNvGraphicFramePr>
          <p:nvPr/>
        </p:nvGraphicFramePr>
        <p:xfrm>
          <a:off x="971600" y="1495856"/>
          <a:ext cx="6588683" cy="3547822"/>
        </p:xfrm>
        <a:graphic>
          <a:graphicData uri="http://schemas.openxmlformats.org/drawingml/2006/table">
            <a:tbl>
              <a:tblPr firstRow="1" firstCol="1" lastRow="1" lastCol="1" bandRow="1" bandCol="1">
                <a:tableStyleId>{5C22544A-7EE6-4342-B048-85BDC9FD1C3A}</a:tableStyleId>
              </a:tblPr>
              <a:tblGrid>
                <a:gridCol w="675316">
                  <a:extLst>
                    <a:ext uri="{9D8B030D-6E8A-4147-A177-3AD203B41FA5}">
                      <a16:colId xmlns:a16="http://schemas.microsoft.com/office/drawing/2014/main" val="2182865437"/>
                    </a:ext>
                  </a:extLst>
                </a:gridCol>
                <a:gridCol w="852511">
                  <a:extLst>
                    <a:ext uri="{9D8B030D-6E8A-4147-A177-3AD203B41FA5}">
                      <a16:colId xmlns:a16="http://schemas.microsoft.com/office/drawing/2014/main" val="800473573"/>
                    </a:ext>
                  </a:extLst>
                </a:gridCol>
                <a:gridCol w="668424">
                  <a:extLst>
                    <a:ext uri="{9D8B030D-6E8A-4147-A177-3AD203B41FA5}">
                      <a16:colId xmlns:a16="http://schemas.microsoft.com/office/drawing/2014/main" val="3502022738"/>
                    </a:ext>
                  </a:extLst>
                </a:gridCol>
                <a:gridCol w="668424">
                  <a:extLst>
                    <a:ext uri="{9D8B030D-6E8A-4147-A177-3AD203B41FA5}">
                      <a16:colId xmlns:a16="http://schemas.microsoft.com/office/drawing/2014/main" val="2743849151"/>
                    </a:ext>
                  </a:extLst>
                </a:gridCol>
                <a:gridCol w="954891">
                  <a:extLst>
                    <a:ext uri="{9D8B030D-6E8A-4147-A177-3AD203B41FA5}">
                      <a16:colId xmlns:a16="http://schemas.microsoft.com/office/drawing/2014/main" val="2354119533"/>
                    </a:ext>
                  </a:extLst>
                </a:gridCol>
                <a:gridCol w="1145869">
                  <a:extLst>
                    <a:ext uri="{9D8B030D-6E8A-4147-A177-3AD203B41FA5}">
                      <a16:colId xmlns:a16="http://schemas.microsoft.com/office/drawing/2014/main" val="2334975034"/>
                    </a:ext>
                  </a:extLst>
                </a:gridCol>
                <a:gridCol w="954891">
                  <a:extLst>
                    <a:ext uri="{9D8B030D-6E8A-4147-A177-3AD203B41FA5}">
                      <a16:colId xmlns:a16="http://schemas.microsoft.com/office/drawing/2014/main" val="1464776258"/>
                    </a:ext>
                  </a:extLst>
                </a:gridCol>
                <a:gridCol w="668357">
                  <a:extLst>
                    <a:ext uri="{9D8B030D-6E8A-4147-A177-3AD203B41FA5}">
                      <a16:colId xmlns:a16="http://schemas.microsoft.com/office/drawing/2014/main" val="840920192"/>
                    </a:ext>
                  </a:extLst>
                </a:gridCol>
              </a:tblGrid>
              <a:tr h="353074">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性别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党员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专业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出生年月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助学金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照片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8639662"/>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王涛</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1992-01-21</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76029"/>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160002</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庄前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1992-09-21</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8008206"/>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160101</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丁保华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1991-04-18</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180.00</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0437502"/>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姜沛棋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1991-12-02</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280.00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4460225"/>
                  </a:ext>
                </a:extLst>
              </a:tr>
              <a:tr h="354972">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160103</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张智忠</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1990-08-06</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240.00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976938323"/>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160201</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程玲</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1992-11-14</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8835307"/>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160202</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黎敏艳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1993-02-21</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4471550"/>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160203</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邓倩梅</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1992-04-28</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220.00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600413"/>
                  </a:ext>
                </a:extLst>
              </a:tr>
              <a:tr h="354972">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杨梦逸</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1991-12-15</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260.00</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9015021"/>
                  </a:ext>
                </a:extLst>
              </a:tr>
            </a:tbl>
          </a:graphicData>
        </a:graphic>
      </p:graphicFrame>
      <p:sp>
        <p:nvSpPr>
          <p:cNvPr id="23" name="文本框 22">
            <a:extLst>
              <a:ext uri="{FF2B5EF4-FFF2-40B4-BE49-F238E27FC236}">
                <a16:creationId xmlns:a16="http://schemas.microsoft.com/office/drawing/2014/main" id="{5A32BC00-54D0-4555-B235-E7CB02610F2A}"/>
              </a:ext>
            </a:extLst>
          </p:cNvPr>
          <p:cNvSpPr txBox="1"/>
          <p:nvPr/>
        </p:nvSpPr>
        <p:spPr>
          <a:xfrm>
            <a:off x="7920324" y="2474481"/>
            <a:ext cx="900148" cy="338554"/>
          </a:xfrm>
          <a:prstGeom prst="rect">
            <a:avLst/>
          </a:prstGeom>
          <a:noFill/>
          <a:ln w="19050">
            <a:solidFill>
              <a:srgbClr val="000066"/>
            </a:solidFill>
          </a:ln>
        </p:spPr>
        <p:txBody>
          <a:bodyPr wrap="square" rtlCol="0">
            <a:spAutoFit/>
          </a:bodyPr>
          <a:lstStyle/>
          <a:p>
            <a:pPr algn="ct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记录</a:t>
            </a:r>
          </a:p>
        </p:txBody>
      </p:sp>
      <p:cxnSp>
        <p:nvCxnSpPr>
          <p:cNvPr id="24" name="直接箭头连接符 23">
            <a:extLst>
              <a:ext uri="{FF2B5EF4-FFF2-40B4-BE49-F238E27FC236}">
                <a16:creationId xmlns:a16="http://schemas.microsoft.com/office/drawing/2014/main" id="{19023A7C-DD61-49CD-877D-11B375089B1D}"/>
              </a:ext>
            </a:extLst>
          </p:cNvPr>
          <p:cNvCxnSpPr>
            <a:cxnSpLocks/>
          </p:cNvCxnSpPr>
          <p:nvPr/>
        </p:nvCxnSpPr>
        <p:spPr>
          <a:xfrm flipH="1">
            <a:off x="6804248" y="2643758"/>
            <a:ext cx="1116076" cy="803915"/>
          </a:xfrm>
          <a:prstGeom prst="straightConnector1">
            <a:avLst/>
          </a:prstGeom>
          <a:ln w="12700">
            <a:solidFill>
              <a:srgbClr val="000066"/>
            </a:solidFill>
            <a:tailEnd type="triangle" w="med" len="med"/>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A5A3E318-6561-4A84-BD74-FA8A4F86F044}"/>
              </a:ext>
            </a:extLst>
          </p:cNvPr>
          <p:cNvSpPr txBox="1"/>
          <p:nvPr/>
        </p:nvSpPr>
        <p:spPr>
          <a:xfrm>
            <a:off x="2627784" y="1014401"/>
            <a:ext cx="2448272" cy="338554"/>
          </a:xfrm>
          <a:prstGeom prst="rect">
            <a:avLst/>
          </a:prstGeom>
          <a:noFill/>
          <a:ln w="19050">
            <a:solidFill>
              <a:srgbClr val="000066"/>
            </a:solidFill>
          </a:ln>
        </p:spPr>
        <p:txBody>
          <a:bodyPr wrap="square" rtlCol="0">
            <a:spAutoFit/>
          </a:bodyPr>
          <a:lstStyle/>
          <a:p>
            <a:pPr marL="0" lvl="0" indent="0" algn="ctr" defTabSz="914400">
              <a:spcBef>
                <a:spcPct val="1000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关键字唯一确定一条记录  </a:t>
            </a:r>
          </a:p>
        </p:txBody>
      </p:sp>
      <p:cxnSp>
        <p:nvCxnSpPr>
          <p:cNvPr id="27" name="直接箭头连接符 26">
            <a:extLst>
              <a:ext uri="{FF2B5EF4-FFF2-40B4-BE49-F238E27FC236}">
                <a16:creationId xmlns:a16="http://schemas.microsoft.com/office/drawing/2014/main" id="{646CB5DD-6F5A-4635-9F42-B294757E6028}"/>
              </a:ext>
            </a:extLst>
          </p:cNvPr>
          <p:cNvCxnSpPr>
            <a:cxnSpLocks/>
            <a:stCxn id="26" idx="1"/>
          </p:cNvCxnSpPr>
          <p:nvPr/>
        </p:nvCxnSpPr>
        <p:spPr>
          <a:xfrm flipH="1">
            <a:off x="1308848" y="1183678"/>
            <a:ext cx="1318936" cy="640670"/>
          </a:xfrm>
          <a:prstGeom prst="straightConnector1">
            <a:avLst/>
          </a:prstGeom>
          <a:ln w="12700">
            <a:solidFill>
              <a:srgbClr val="000066"/>
            </a:solidFill>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C274687C-FB01-4C93-9CF1-320AE5BA3AE2}"/>
              </a:ext>
            </a:extLst>
          </p:cNvPr>
          <p:cNvSpPr txBox="1"/>
          <p:nvPr/>
        </p:nvSpPr>
        <p:spPr>
          <a:xfrm>
            <a:off x="6536022" y="1005506"/>
            <a:ext cx="1204330" cy="338554"/>
          </a:xfrm>
          <a:prstGeom prst="rect">
            <a:avLst/>
          </a:prstGeom>
          <a:noFill/>
          <a:ln w="19050">
            <a:solidFill>
              <a:srgbClr val="000066"/>
            </a:solidFill>
          </a:ln>
        </p:spPr>
        <p:txBody>
          <a:bodyPr wrap="square" rtlCol="0">
            <a:spAutoFit/>
          </a:bodyPr>
          <a:lstStyle/>
          <a:p>
            <a:pPr algn="ct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字段</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32" name="直接箭头连接符 31">
            <a:extLst>
              <a:ext uri="{FF2B5EF4-FFF2-40B4-BE49-F238E27FC236}">
                <a16:creationId xmlns:a16="http://schemas.microsoft.com/office/drawing/2014/main" id="{4C9114F0-9ADE-4CC0-B7B8-C0297E9905E6}"/>
              </a:ext>
            </a:extLst>
          </p:cNvPr>
          <p:cNvCxnSpPr>
            <a:cxnSpLocks/>
          </p:cNvCxnSpPr>
          <p:nvPr/>
        </p:nvCxnSpPr>
        <p:spPr>
          <a:xfrm flipH="1">
            <a:off x="5796136" y="1124797"/>
            <a:ext cx="739886" cy="510849"/>
          </a:xfrm>
          <a:prstGeom prst="straightConnector1">
            <a:avLst/>
          </a:prstGeom>
          <a:ln w="12700">
            <a:solidFill>
              <a:srgbClr val="000066"/>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3093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4033397"/>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关系数据库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关系：一个关系就是一个二维表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关系模式：</a:t>
            </a:r>
          </a:p>
          <a:p>
            <a:pPr marL="0" lvl="1" indent="-246380" defTabSz="1306195" eaLnBrk="0" fontAlgn="base" hangingPunct="0">
              <a:lnSpc>
                <a:spcPct val="150000"/>
              </a:lnSpc>
              <a:spcBef>
                <a:spcPts val="0"/>
              </a:spcBef>
              <a:buClr>
                <a:schemeClr val="accent1"/>
              </a:buClr>
              <a:buSzPct val="85000"/>
              <a:buNone/>
              <a:defRPr/>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Students(</a:t>
            </a:r>
            <a:r>
              <a:rPr lang="zh-CN" altLang="en-US" sz="1800" dirty="0">
                <a:solidFill>
                  <a:srgbClr val="000066"/>
                </a:solidFill>
                <a:latin typeface="Times New Roman" panose="02020603050405020304" pitchFamily="18" charset="0"/>
                <a:cs typeface="Times New Roman" panose="02020603050405020304" pitchFamily="18" charset="0"/>
              </a:rPr>
              <a:t>学号，姓名，性别，党员，专业，出生年月，助学金，照片</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390525" defTabSz="1306195" eaLnBrk="0" fontAlgn="base" hangingPunct="0">
              <a:lnSpc>
                <a:spcPct val="150000"/>
              </a:lnSpc>
              <a:spcBef>
                <a:spcPts val="0"/>
              </a:spcBef>
              <a:buClr>
                <a:srgbClr val="0BD0D9"/>
              </a:buClr>
              <a:buSzPct val="95000"/>
              <a:buNone/>
              <a:defRPr/>
            </a:pPr>
            <a:r>
              <a:rPr lang="en-US" altLang="zh-CN" sz="1800" dirty="0">
                <a:solidFill>
                  <a:srgbClr val="000066"/>
                </a:solidFill>
                <a:latin typeface="Times New Roman" panose="02020603050405020304" pitchFamily="18" charset="0"/>
                <a:cs typeface="Times New Roman" panose="02020603050405020304" pitchFamily="18" charset="0"/>
              </a:rPr>
              <a:t>                    Scores(</a:t>
            </a:r>
            <a:r>
              <a:rPr lang="zh-CN" altLang="en-US" sz="1800" dirty="0">
                <a:solidFill>
                  <a:srgbClr val="000066"/>
                </a:solidFill>
                <a:latin typeface="Times New Roman" panose="02020603050405020304" pitchFamily="18" charset="0"/>
                <a:cs typeface="Times New Roman" panose="02020603050405020304" pitchFamily="18" charset="0"/>
              </a:rPr>
              <a:t>学号，课程，成绩</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390525" defTabSz="1306195" eaLnBrk="0" fontAlgn="base" hangingPunct="0">
              <a:lnSpc>
                <a:spcPct val="150000"/>
              </a:lnSpc>
              <a:spcBef>
                <a:spcPts val="0"/>
              </a:spcBef>
              <a:buClr>
                <a:srgbClr val="0BD0D9"/>
              </a:buClr>
              <a:buSzPct val="95000"/>
              <a:buNone/>
              <a:defRPr/>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记录：表中的一行</a:t>
            </a:r>
          </a:p>
          <a:p>
            <a:pPr marL="0" lvl="1" indent="0" defTabSz="1306195" eaLnBrk="0" fontAlgn="base" hangingPunct="0">
              <a:lnSpc>
                <a:spcPct val="150000"/>
              </a:lnSpc>
              <a:spcBef>
                <a:spcPts val="0"/>
              </a:spcBef>
              <a:buClr>
                <a:schemeClr val="accent1"/>
              </a:buClr>
              <a:buSzPct val="85000"/>
              <a:buNone/>
              <a:defRPr/>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属性</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：表中的一列</a:t>
            </a:r>
          </a:p>
          <a:p>
            <a:pPr marL="0" lvl="1" indent="0" defTabSz="1306195" eaLnBrk="0" fontAlgn="base" hangingPunct="0">
              <a:lnSpc>
                <a:spcPct val="150000"/>
              </a:lnSpc>
              <a:spcBef>
                <a:spcPts val="0"/>
              </a:spcBef>
              <a:buClr>
                <a:schemeClr val="accent1"/>
              </a:buClr>
              <a:buSzPct val="85000"/>
              <a:buNone/>
              <a:defRPr/>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关键字：某个属性可以惟一地确定记录</a:t>
            </a:r>
          </a:p>
          <a:p>
            <a:pPr marL="0" lvl="1" indent="0" defTabSz="1306195" eaLnBrk="0" fontAlgn="base" hangingPunct="0">
              <a:lnSpc>
                <a:spcPct val="150000"/>
              </a:lnSpc>
              <a:spcBef>
                <a:spcPts val="0"/>
              </a:spcBef>
              <a:buClr>
                <a:schemeClr val="accent1"/>
              </a:buClr>
              <a:buSzPct val="85000"/>
              <a:buNone/>
              <a:defRPr/>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主键：在实际的应用中只能选择一个关键字</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CED15A55-3FF2-4E37-A62D-8AC5C9370A44}"/>
              </a:ext>
            </a:extLst>
          </p:cNvPr>
          <p:cNvGraphicFramePr>
            <a:graphicFrameLocks noGrp="1"/>
          </p:cNvGraphicFramePr>
          <p:nvPr/>
        </p:nvGraphicFramePr>
        <p:xfrm>
          <a:off x="5220072" y="2804451"/>
          <a:ext cx="3923928" cy="1352424"/>
        </p:xfrm>
        <a:graphic>
          <a:graphicData uri="http://schemas.openxmlformats.org/drawingml/2006/table">
            <a:tbl>
              <a:tblPr firstRow="1" firstCol="1" lastRow="1" lastCol="1" bandRow="1" bandCol="1">
                <a:tableStyleId>{5C22544A-7EE6-4342-B048-85BDC9FD1C3A}</a:tableStyleId>
              </a:tblPr>
              <a:tblGrid>
                <a:gridCol w="1097179">
                  <a:extLst>
                    <a:ext uri="{9D8B030D-6E8A-4147-A177-3AD203B41FA5}">
                      <a16:colId xmlns:a16="http://schemas.microsoft.com/office/drawing/2014/main" val="1772124615"/>
                    </a:ext>
                  </a:extLst>
                </a:gridCol>
                <a:gridCol w="843984">
                  <a:extLst>
                    <a:ext uri="{9D8B030D-6E8A-4147-A177-3AD203B41FA5}">
                      <a16:colId xmlns:a16="http://schemas.microsoft.com/office/drawing/2014/main" val="3248651787"/>
                    </a:ext>
                  </a:extLst>
                </a:gridCol>
                <a:gridCol w="1155181">
                  <a:extLst>
                    <a:ext uri="{9D8B030D-6E8A-4147-A177-3AD203B41FA5}">
                      <a16:colId xmlns:a16="http://schemas.microsoft.com/office/drawing/2014/main" val="2963885960"/>
                    </a:ext>
                  </a:extLst>
                </a:gridCol>
                <a:gridCol w="827584">
                  <a:extLst>
                    <a:ext uri="{9D8B030D-6E8A-4147-A177-3AD203B41FA5}">
                      <a16:colId xmlns:a16="http://schemas.microsoft.com/office/drawing/2014/main" val="3330182217"/>
                    </a:ext>
                  </a:extLst>
                </a:gridCol>
              </a:tblGrid>
              <a:tr h="338106">
                <a:tc>
                  <a:txBody>
                    <a:bodyPr/>
                    <a:lstStyle/>
                    <a:p>
                      <a:pPr algn="ctr">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身份证号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alt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7797735"/>
                  </a:ext>
                </a:extLst>
              </a:tr>
              <a:tr h="338106">
                <a:tc>
                  <a:txBody>
                    <a:bodyPr/>
                    <a:lstStyle/>
                    <a:p>
                      <a:pPr algn="ctr">
                        <a:spcAft>
                          <a:spcPts val="0"/>
                        </a:spcAft>
                      </a:pPr>
                      <a:r>
                        <a:rPr lang="en-US" alt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310108……</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王涛</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0777784"/>
                  </a:ext>
                </a:extLst>
              </a:tr>
              <a:tr h="338106">
                <a:tc>
                  <a:txBody>
                    <a:bodyPr/>
                    <a:lstStyle/>
                    <a:p>
                      <a:pPr algn="ctr">
                        <a:spcAft>
                          <a:spcPts val="0"/>
                        </a:spcAft>
                      </a:pPr>
                      <a:r>
                        <a:rPr lang="en-US" alt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320522……</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160002</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庄前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7825596"/>
                  </a:ext>
                </a:extLst>
              </a:tr>
              <a:tr h="338106">
                <a:tc>
                  <a:txBody>
                    <a:bodyPr/>
                    <a:lstStyle/>
                    <a:p>
                      <a:pPr algn="ctr">
                        <a:spcAft>
                          <a:spcPts val="0"/>
                        </a:spcAft>
                      </a:pPr>
                      <a:r>
                        <a:rPr lang="en-US" altLang="zh-CN"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118106……</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160101</a:t>
                      </a:r>
                      <a:endPar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spcAft>
                          <a:spcPts val="0"/>
                        </a:spcAft>
                      </a:pPr>
                      <a:r>
                        <a:rPr lang="zh-CN" altLang="en-US" sz="1200" b="0" kern="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丁保华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200" b="0" kern="0" noProof="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5861010"/>
                  </a:ext>
                </a:extLst>
              </a:tr>
            </a:tbl>
          </a:graphicData>
        </a:graphic>
      </p:graphicFrame>
    </p:spTree>
    <p:extLst>
      <p:ext uri="{BB962C8B-B14F-4D97-AF65-F5344CB8AC3E}">
        <p14:creationId xmlns:p14="http://schemas.microsoft.com/office/powerpoint/2010/main" val="143857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4033397"/>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建立、维护</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建立数据库就是创建数据表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643A19F1-27C6-4194-86E8-22B64EF47730}"/>
              </a:ext>
            </a:extLst>
          </p:cNvPr>
          <p:cNvGraphicFramePr>
            <a:graphicFrameLocks noGrp="1"/>
          </p:cNvGraphicFramePr>
          <p:nvPr>
            <p:extLst>
              <p:ext uri="{D42A27DB-BD31-4B8C-83A1-F6EECF244321}">
                <p14:modId xmlns:p14="http://schemas.microsoft.com/office/powerpoint/2010/main" val="1836131839"/>
              </p:ext>
            </p:extLst>
          </p:nvPr>
        </p:nvGraphicFramePr>
        <p:xfrm>
          <a:off x="1475656" y="1923682"/>
          <a:ext cx="5400599" cy="3096340"/>
        </p:xfrm>
        <a:graphic>
          <a:graphicData uri="http://schemas.openxmlformats.org/drawingml/2006/table">
            <a:tbl>
              <a:tblPr firstRow="1" firstCol="1" lastRow="1" lastCol="1" bandRow="1" bandCol="1">
                <a:tableStyleId>{5C22544A-7EE6-4342-B048-85BDC9FD1C3A}</a:tableStyleId>
              </a:tblPr>
              <a:tblGrid>
                <a:gridCol w="553541">
                  <a:extLst>
                    <a:ext uri="{9D8B030D-6E8A-4147-A177-3AD203B41FA5}">
                      <a16:colId xmlns:a16="http://schemas.microsoft.com/office/drawing/2014/main" val="2182865437"/>
                    </a:ext>
                  </a:extLst>
                </a:gridCol>
                <a:gridCol w="698784">
                  <a:extLst>
                    <a:ext uri="{9D8B030D-6E8A-4147-A177-3AD203B41FA5}">
                      <a16:colId xmlns:a16="http://schemas.microsoft.com/office/drawing/2014/main" val="800473573"/>
                    </a:ext>
                  </a:extLst>
                </a:gridCol>
                <a:gridCol w="547892">
                  <a:extLst>
                    <a:ext uri="{9D8B030D-6E8A-4147-A177-3AD203B41FA5}">
                      <a16:colId xmlns:a16="http://schemas.microsoft.com/office/drawing/2014/main" val="3502022738"/>
                    </a:ext>
                  </a:extLst>
                </a:gridCol>
                <a:gridCol w="547892">
                  <a:extLst>
                    <a:ext uri="{9D8B030D-6E8A-4147-A177-3AD203B41FA5}">
                      <a16:colId xmlns:a16="http://schemas.microsoft.com/office/drawing/2014/main" val="2743849151"/>
                    </a:ext>
                  </a:extLst>
                </a:gridCol>
                <a:gridCol w="782704">
                  <a:extLst>
                    <a:ext uri="{9D8B030D-6E8A-4147-A177-3AD203B41FA5}">
                      <a16:colId xmlns:a16="http://schemas.microsoft.com/office/drawing/2014/main" val="2354119533"/>
                    </a:ext>
                  </a:extLst>
                </a:gridCol>
                <a:gridCol w="939244">
                  <a:extLst>
                    <a:ext uri="{9D8B030D-6E8A-4147-A177-3AD203B41FA5}">
                      <a16:colId xmlns:a16="http://schemas.microsoft.com/office/drawing/2014/main" val="2334975034"/>
                    </a:ext>
                  </a:extLst>
                </a:gridCol>
                <a:gridCol w="782704">
                  <a:extLst>
                    <a:ext uri="{9D8B030D-6E8A-4147-A177-3AD203B41FA5}">
                      <a16:colId xmlns:a16="http://schemas.microsoft.com/office/drawing/2014/main" val="1464776258"/>
                    </a:ext>
                  </a:extLst>
                </a:gridCol>
                <a:gridCol w="547838">
                  <a:extLst>
                    <a:ext uri="{9D8B030D-6E8A-4147-A177-3AD203B41FA5}">
                      <a16:colId xmlns:a16="http://schemas.microsoft.com/office/drawing/2014/main" val="840920192"/>
                    </a:ext>
                  </a:extLst>
                </a:gridCol>
              </a:tblGrid>
              <a:tr h="309634">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性别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党员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专业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出生年月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助学金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照片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8639662"/>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王涛</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1992-01-21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5276029"/>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庄前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物理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1992-09-21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8008206"/>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丁保华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1991-04-18</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180.00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0437502"/>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姜沛棋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1991-12-02</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280.00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4460225"/>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160103</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张智忠</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1990-08-06</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240.00</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76938323"/>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160201</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程玲</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1992-11-14</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200.00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8835307"/>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160202</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黎敏艳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1993-02-21</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4471550"/>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160203</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邓倩梅</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1992-04-28</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220.00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03600413"/>
                  </a:ext>
                </a:extLst>
              </a:tr>
              <a:tr h="309634">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160204</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杨梦逸</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No</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计算机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1991-12-15</a:t>
                      </a:r>
                      <a:endParaRPr lang="zh-CN" sz="12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260.00</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spcAft>
                          <a:spcPts val="0"/>
                        </a:spcAft>
                      </a:pPr>
                      <a:r>
                        <a:rPr lang="en-US"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2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9015021"/>
                  </a:ext>
                </a:extLst>
              </a:tr>
            </a:tbl>
          </a:graphicData>
        </a:graphic>
      </p:graphicFrame>
    </p:spTree>
    <p:extLst>
      <p:ext uri="{BB962C8B-B14F-4D97-AF65-F5344CB8AC3E}">
        <p14:creationId xmlns:p14="http://schemas.microsoft.com/office/powerpoint/2010/main" val="1666723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3888433" cy="1009061"/>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建立、维护</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）确定各字段的数据类型</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40" name="表格 39">
            <a:extLst>
              <a:ext uri="{FF2B5EF4-FFF2-40B4-BE49-F238E27FC236}">
                <a16:creationId xmlns:a16="http://schemas.microsoft.com/office/drawing/2014/main" id="{0C15CCEA-DB9D-477D-A92A-2715F0CC2F05}"/>
              </a:ext>
            </a:extLst>
          </p:cNvPr>
          <p:cNvGraphicFramePr>
            <a:graphicFrameLocks noGrp="1"/>
          </p:cNvGraphicFramePr>
          <p:nvPr>
            <p:extLst>
              <p:ext uri="{D42A27DB-BD31-4B8C-83A1-F6EECF244321}">
                <p14:modId xmlns:p14="http://schemas.microsoft.com/office/powerpoint/2010/main" val="411472673"/>
              </p:ext>
            </p:extLst>
          </p:nvPr>
        </p:nvGraphicFramePr>
        <p:xfrm>
          <a:off x="1259632" y="1923678"/>
          <a:ext cx="3600399" cy="2808315"/>
        </p:xfrm>
        <a:graphic>
          <a:graphicData uri="http://schemas.openxmlformats.org/drawingml/2006/table">
            <a:tbl>
              <a:tblPr firstRow="1" firstCol="1" lastRow="1" lastCol="1" bandRow="1" bandCol="1">
                <a:tableStyleId>{5C22544A-7EE6-4342-B048-85BDC9FD1C3A}</a:tableStyleId>
              </a:tblPr>
              <a:tblGrid>
                <a:gridCol w="1200133">
                  <a:extLst>
                    <a:ext uri="{9D8B030D-6E8A-4147-A177-3AD203B41FA5}">
                      <a16:colId xmlns:a16="http://schemas.microsoft.com/office/drawing/2014/main" val="2573108996"/>
                    </a:ext>
                  </a:extLst>
                </a:gridCol>
                <a:gridCol w="1200133">
                  <a:extLst>
                    <a:ext uri="{9D8B030D-6E8A-4147-A177-3AD203B41FA5}">
                      <a16:colId xmlns:a16="http://schemas.microsoft.com/office/drawing/2014/main" val="2656695600"/>
                    </a:ext>
                  </a:extLst>
                </a:gridCol>
                <a:gridCol w="1200133">
                  <a:extLst>
                    <a:ext uri="{9D8B030D-6E8A-4147-A177-3AD203B41FA5}">
                      <a16:colId xmlns:a16="http://schemas.microsoft.com/office/drawing/2014/main" val="719351668"/>
                    </a:ext>
                  </a:extLst>
                </a:gridCol>
              </a:tblGrid>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字段名称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字段类型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字段宽度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6329548"/>
                  </a:ext>
                </a:extLst>
              </a:tr>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3925630"/>
                  </a:ext>
                </a:extLst>
              </a:tr>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5250925"/>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性别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1547385"/>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党员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Yes/No</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2946282"/>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专业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036610"/>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出生年月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Date</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Time</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1653413"/>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助学金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Currency</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232520"/>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照片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OLE Object</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0392160"/>
                  </a:ext>
                </a:extLst>
              </a:tr>
            </a:tbl>
          </a:graphicData>
        </a:graphic>
      </p:graphicFrame>
    </p:spTree>
    <p:extLst>
      <p:ext uri="{BB962C8B-B14F-4D97-AF65-F5344CB8AC3E}">
        <p14:creationId xmlns:p14="http://schemas.microsoft.com/office/powerpoint/2010/main" val="122103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4033397"/>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建立、维护</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数据类型</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35" name="表格 34">
            <a:extLst>
              <a:ext uri="{FF2B5EF4-FFF2-40B4-BE49-F238E27FC236}">
                <a16:creationId xmlns:a16="http://schemas.microsoft.com/office/drawing/2014/main" id="{6079666D-C254-446E-81D5-5D6D512A2461}"/>
              </a:ext>
            </a:extLst>
          </p:cNvPr>
          <p:cNvGraphicFramePr>
            <a:graphicFrameLocks noGrp="1"/>
          </p:cNvGraphicFramePr>
          <p:nvPr>
            <p:extLst>
              <p:ext uri="{D42A27DB-BD31-4B8C-83A1-F6EECF244321}">
                <p14:modId xmlns:p14="http://schemas.microsoft.com/office/powerpoint/2010/main" val="108186114"/>
              </p:ext>
            </p:extLst>
          </p:nvPr>
        </p:nvGraphicFramePr>
        <p:xfrm>
          <a:off x="2123728" y="1552318"/>
          <a:ext cx="6624736" cy="3467705"/>
        </p:xfrm>
        <a:graphic>
          <a:graphicData uri="http://schemas.openxmlformats.org/drawingml/2006/table">
            <a:tbl>
              <a:tblPr firstRow="1" firstCol="1" lastRow="1" lastCol="1" bandRow="1" bandCol="1">
                <a:tableStyleId>{5C22544A-7EE6-4342-B048-85BDC9FD1C3A}</a:tableStyleId>
              </a:tblPr>
              <a:tblGrid>
                <a:gridCol w="2232248">
                  <a:extLst>
                    <a:ext uri="{9D8B030D-6E8A-4147-A177-3AD203B41FA5}">
                      <a16:colId xmlns:a16="http://schemas.microsoft.com/office/drawing/2014/main" val="1585220052"/>
                    </a:ext>
                  </a:extLst>
                </a:gridCol>
                <a:gridCol w="2808312">
                  <a:extLst>
                    <a:ext uri="{9D8B030D-6E8A-4147-A177-3AD203B41FA5}">
                      <a16:colId xmlns:a16="http://schemas.microsoft.com/office/drawing/2014/main" val="4268047260"/>
                    </a:ext>
                  </a:extLst>
                </a:gridCol>
                <a:gridCol w="1584176">
                  <a:extLst>
                    <a:ext uri="{9D8B030D-6E8A-4147-A177-3AD203B41FA5}">
                      <a16:colId xmlns:a16="http://schemas.microsoft.com/office/drawing/2014/main" val="658779946"/>
                    </a:ext>
                  </a:extLst>
                </a:gridCol>
              </a:tblGrid>
              <a:tr h="459094">
                <a:tc>
                  <a:txBody>
                    <a:bodyPr/>
                    <a:lstStyle/>
                    <a:p>
                      <a:pPr algn="ctr">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数据类型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字段长度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3353018"/>
                  </a:ext>
                </a:extLst>
              </a:tr>
              <a:tr h="322952">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文本型（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1~255</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存储文本</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583211"/>
                  </a:ext>
                </a:extLst>
              </a:tr>
              <a:tr h="374178">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备注型（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Memo</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不定长，最多可存储</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6.4</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万个字符</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存储长文本</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144117"/>
                  </a:ext>
                </a:extLst>
              </a:tr>
              <a:tr h="465757">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数字型（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Number</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a:t>
                      </a:r>
                      <a:r>
                        <a:rPr lang="en-US" alt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节：</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个字节</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整</a:t>
                      </a:r>
                      <a:r>
                        <a:rPr lang="en-US" alt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个字节</a:t>
                      </a:r>
                    </a:p>
                    <a:p>
                      <a:pPr algn="l">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单精度：</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个字节</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双精度：</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8</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存储数值</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6694774"/>
                  </a:ext>
                </a:extLst>
              </a:tr>
              <a:tr h="363402">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日期</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时间（</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Date/Time</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algn="l">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系统固定的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存储日期和时间</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0167053"/>
                  </a:ext>
                </a:extLst>
              </a:tr>
              <a:tr h="372718">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货币型（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Currency</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lnSpc>
                          <a:spcPct val="100000"/>
                        </a:lnSpc>
                        <a:spcAft>
                          <a:spcPts val="0"/>
                        </a:spcAft>
                      </a:pPr>
                      <a:endPar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存储货币值</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6597210"/>
                  </a:ext>
                </a:extLst>
              </a:tr>
              <a:tr h="327287">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自动编号型（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AutoNumber</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lnSpc>
                          <a:spcPct val="100000"/>
                        </a:lnSpc>
                        <a:spcAft>
                          <a:spcPts val="0"/>
                        </a:spcAft>
                      </a:pPr>
                      <a:endPar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自动编号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6519342"/>
                  </a:ext>
                </a:extLst>
              </a:tr>
              <a:tr h="417134">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是</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否型（</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Yes/No</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lnSpc>
                          <a:spcPct val="100000"/>
                        </a:lnSpc>
                        <a:spcAft>
                          <a:spcPts val="0"/>
                        </a:spcAft>
                      </a:pPr>
                      <a:endPar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存储逻辑型数据</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249654"/>
                  </a:ext>
                </a:extLst>
              </a:tr>
              <a:tr h="365183">
                <a:tc>
                  <a:txBody>
                    <a:bodyPr/>
                    <a:lstStyle/>
                    <a:p>
                      <a:pPr algn="l">
                        <a:spcAft>
                          <a:spcPts val="0"/>
                        </a:spcAft>
                      </a:pP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OLE</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对象（</a:t>
                      </a:r>
                      <a:r>
                        <a:rPr lang="en-US"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OLE Object</a:t>
                      </a: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不定长</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zh-CN" sz="1400" b="0" i="0" u="none"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存储图像、声音等</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2319729"/>
                  </a:ext>
                </a:extLst>
              </a:tr>
            </a:tbl>
          </a:graphicData>
        </a:graphic>
      </p:graphicFrame>
    </p:spTree>
    <p:extLst>
      <p:ext uri="{BB962C8B-B14F-4D97-AF65-F5344CB8AC3E}">
        <p14:creationId xmlns:p14="http://schemas.microsoft.com/office/powerpoint/2010/main" val="3942788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5256585" cy="4033397"/>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建立、维护</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）创建数据表</a:t>
            </a:r>
            <a:r>
              <a:rPr lang="zh-CN" altLang="en-US" sz="1800" b="1" dirty="0">
                <a:solidFill>
                  <a:srgbClr val="FF0000"/>
                </a:solidFill>
                <a:latin typeface="Times New Roman" panose="02020603050405020304" pitchFamily="18" charset="0"/>
                <a:cs typeface="Times New Roman" panose="02020603050405020304" pitchFamily="18" charset="0"/>
              </a:rPr>
              <a:t>（演示）</a:t>
            </a:r>
            <a:endParaRPr lang="en-US" altLang="zh-CN" sz="1800" b="1" dirty="0">
              <a:solidFill>
                <a:srgbClr val="FF0000"/>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① </a:t>
            </a:r>
            <a:r>
              <a:rPr lang="zh-CN" altLang="en-US" sz="1800" dirty="0">
                <a:solidFill>
                  <a:srgbClr val="000066"/>
                </a:solidFill>
                <a:latin typeface="Times New Roman" panose="02020603050405020304" pitchFamily="18" charset="0"/>
                <a:cs typeface="Times New Roman" panose="02020603050405020304" pitchFamily="18" charset="0"/>
              </a:rPr>
              <a:t>确定表的结构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② 建立一个“空白数据库”，输入文件名</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defTabSz="914400">
              <a:lnSpc>
                <a:spcPct val="15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默认</a:t>
            </a:r>
            <a:r>
              <a:rPr lang="zh-CN" altLang="en-US" sz="1800" dirty="0">
                <a:solidFill>
                  <a:srgbClr val="000066"/>
                </a:solidFill>
                <a:latin typeface="Times New Roman" panose="02020603050405020304" pitchFamily="18" charset="0"/>
                <a:cs typeface="Times New Roman" panose="02020603050405020304" pitchFamily="18" charset="0"/>
              </a:rPr>
              <a:t>有</a:t>
            </a:r>
            <a:r>
              <a:rPr lang="zh-CN" altLang="zh-CN" sz="1800" dirty="0">
                <a:solidFill>
                  <a:srgbClr val="000066"/>
                </a:solidFill>
                <a:latin typeface="Times New Roman" panose="02020603050405020304" pitchFamily="18" charset="0"/>
                <a:cs typeface="Times New Roman" panose="02020603050405020304" pitchFamily="18" charset="0"/>
              </a:rPr>
              <a:t>表</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，内含字段</a:t>
            </a:r>
            <a:r>
              <a:rPr lang="en-US" altLang="zh-CN" sz="1800" dirty="0">
                <a:solidFill>
                  <a:srgbClr val="000066"/>
                </a:solidFill>
                <a:latin typeface="Times New Roman" panose="02020603050405020304" pitchFamily="18" charset="0"/>
                <a:cs typeface="Times New Roman" panose="02020603050405020304" pitchFamily="18" charset="0"/>
              </a:rPr>
              <a:t>ID</a:t>
            </a:r>
          </a:p>
          <a:p>
            <a:pPr marL="0" lvl="1" indent="0" defTabSz="914400">
              <a:lnSpc>
                <a:spcPct val="150000"/>
              </a:lnSpc>
              <a:spcBef>
                <a:spcPct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③ 在表</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的属性窗口中选择“设计视图”，</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defTabSz="914400">
              <a:lnSpc>
                <a:spcPct val="15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输入表的名称：</a:t>
            </a:r>
            <a:r>
              <a:rPr lang="en-US" altLang="zh-CN" sz="1800" dirty="0">
                <a:solidFill>
                  <a:srgbClr val="000066"/>
                </a:solidFill>
                <a:latin typeface="Times New Roman" panose="02020603050405020304" pitchFamily="18" charset="0"/>
                <a:cs typeface="Times New Roman" panose="02020603050405020304" pitchFamily="18" charset="0"/>
              </a:rPr>
              <a:t>Students</a:t>
            </a:r>
          </a:p>
          <a:p>
            <a:pPr marL="0" lvl="1" indent="0" defTabSz="914400">
              <a:lnSpc>
                <a:spcPct val="15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④</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删除</a:t>
            </a:r>
            <a:r>
              <a:rPr lang="en-US" altLang="zh-CN" sz="1800" dirty="0">
                <a:solidFill>
                  <a:srgbClr val="000066"/>
                </a:solidFill>
                <a:latin typeface="Times New Roman" panose="02020603050405020304" pitchFamily="18" charset="0"/>
                <a:cs typeface="Times New Roman" panose="02020603050405020304" pitchFamily="18" charset="0"/>
              </a:rPr>
              <a:t>ID</a:t>
            </a:r>
            <a:r>
              <a:rPr lang="zh-CN" altLang="en-US" sz="1800" dirty="0">
                <a:solidFill>
                  <a:srgbClr val="000066"/>
                </a:solidFill>
                <a:latin typeface="Times New Roman" panose="02020603050405020304" pitchFamily="18" charset="0"/>
                <a:cs typeface="Times New Roman" panose="02020603050405020304" pitchFamily="18" charset="0"/>
              </a:rPr>
              <a:t>字段，输入各个字段的信息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defTabSz="914400">
              <a:lnSpc>
                <a:spcPct val="150000"/>
              </a:lnSpc>
              <a:spcBef>
                <a:spcPct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⑤ 定义主键：学号</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40" name="表格 39">
            <a:extLst>
              <a:ext uri="{FF2B5EF4-FFF2-40B4-BE49-F238E27FC236}">
                <a16:creationId xmlns:a16="http://schemas.microsoft.com/office/drawing/2014/main" id="{0C15CCEA-DB9D-477D-A92A-2715F0CC2F05}"/>
              </a:ext>
            </a:extLst>
          </p:cNvPr>
          <p:cNvGraphicFramePr>
            <a:graphicFrameLocks noGrp="1"/>
          </p:cNvGraphicFramePr>
          <p:nvPr>
            <p:extLst>
              <p:ext uri="{D42A27DB-BD31-4B8C-83A1-F6EECF244321}">
                <p14:modId xmlns:p14="http://schemas.microsoft.com/office/powerpoint/2010/main" val="1634854137"/>
              </p:ext>
            </p:extLst>
          </p:nvPr>
        </p:nvGraphicFramePr>
        <p:xfrm>
          <a:off x="5436096" y="1995686"/>
          <a:ext cx="3600399" cy="2808315"/>
        </p:xfrm>
        <a:graphic>
          <a:graphicData uri="http://schemas.openxmlformats.org/drawingml/2006/table">
            <a:tbl>
              <a:tblPr firstRow="1" firstCol="1" lastRow="1" lastCol="1" bandRow="1" bandCol="1">
                <a:tableStyleId>{5C22544A-7EE6-4342-B048-85BDC9FD1C3A}</a:tableStyleId>
              </a:tblPr>
              <a:tblGrid>
                <a:gridCol w="1200133">
                  <a:extLst>
                    <a:ext uri="{9D8B030D-6E8A-4147-A177-3AD203B41FA5}">
                      <a16:colId xmlns:a16="http://schemas.microsoft.com/office/drawing/2014/main" val="2573108996"/>
                    </a:ext>
                  </a:extLst>
                </a:gridCol>
                <a:gridCol w="1200133">
                  <a:extLst>
                    <a:ext uri="{9D8B030D-6E8A-4147-A177-3AD203B41FA5}">
                      <a16:colId xmlns:a16="http://schemas.microsoft.com/office/drawing/2014/main" val="2656695600"/>
                    </a:ext>
                  </a:extLst>
                </a:gridCol>
                <a:gridCol w="1200133">
                  <a:extLst>
                    <a:ext uri="{9D8B030D-6E8A-4147-A177-3AD203B41FA5}">
                      <a16:colId xmlns:a16="http://schemas.microsoft.com/office/drawing/2014/main" val="719351668"/>
                    </a:ext>
                  </a:extLst>
                </a:gridCol>
              </a:tblGrid>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字段名称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字段类型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字段宽度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6329548"/>
                  </a:ext>
                </a:extLst>
              </a:tr>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学号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3925630"/>
                  </a:ext>
                </a:extLst>
              </a:tr>
              <a:tr h="312035">
                <a:tc>
                  <a:txBody>
                    <a:bodyPr/>
                    <a:lstStyle/>
                    <a:p>
                      <a:pPr algn="ctr">
                        <a:spcAft>
                          <a:spcPts val="0"/>
                        </a:spcAft>
                      </a:pPr>
                      <a:r>
                        <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5250925"/>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性别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个字符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1547385"/>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党员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Yes/No</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2946282"/>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专业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Text</a:t>
                      </a: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036610"/>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出生年月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Date</a:t>
                      </a: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Time</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1653413"/>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助学金</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Currency</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232520"/>
                  </a:ext>
                </a:extLst>
              </a:tr>
              <a:tr h="312035">
                <a:tc>
                  <a:txBody>
                    <a:bodyPr/>
                    <a:lstStyle/>
                    <a:p>
                      <a:pPr algn="ctr">
                        <a:spcAft>
                          <a:spcPts val="0"/>
                        </a:spcAft>
                      </a:pPr>
                      <a:r>
                        <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照片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rPr>
                        <a:t>OLE Object</a:t>
                      </a:r>
                      <a:endParaRPr lang="zh-CN" sz="1600" b="0" kern="10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endParaRPr lang="zh-CN" sz="1600" b="0" kern="100" dirty="0">
                        <a:solidFill>
                          <a:srgbClr val="000066"/>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0392160"/>
                  </a:ext>
                </a:extLst>
              </a:tr>
            </a:tbl>
          </a:graphicData>
        </a:graphic>
      </p:graphicFrame>
    </p:spTree>
    <p:extLst>
      <p:ext uri="{BB962C8B-B14F-4D97-AF65-F5344CB8AC3E}">
        <p14:creationId xmlns:p14="http://schemas.microsoft.com/office/powerpoint/2010/main" val="65412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5616625" cy="2161189"/>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建立、维护</a:t>
            </a:r>
            <a:r>
              <a:rPr lang="en-US" altLang="zh-CN" sz="1800" dirty="0">
                <a:solidFill>
                  <a:srgbClr val="000066"/>
                </a:solidFill>
                <a:latin typeface="Times New Roman" panose="02020603050405020304" pitchFamily="18" charset="0"/>
                <a:cs typeface="Times New Roman" panose="02020603050405020304" pitchFamily="18" charset="0"/>
              </a:rPr>
              <a:t>Access</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en-US" sz="1800" dirty="0">
                <a:solidFill>
                  <a:srgbClr val="000066"/>
                </a:solidFill>
                <a:latin typeface="Times New Roman" panose="02020603050405020304" pitchFamily="18" charset="0"/>
                <a:cs typeface="Times New Roman" panose="02020603050405020304" pitchFamily="18" charset="0"/>
              </a:rPr>
              <a:t>）维护数据库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cs typeface="Times New Roman" panose="02020603050405020304" pitchFamily="18" charset="0"/>
              </a:rPr>
              <a:t>① </a:t>
            </a:r>
            <a:r>
              <a:rPr lang="zh-CN" altLang="en-US" sz="1800" dirty="0">
                <a:solidFill>
                  <a:srgbClr val="000066"/>
                </a:solidFill>
                <a:latin typeface="Times New Roman" panose="02020603050405020304" pitchFamily="18" charset="0"/>
                <a:cs typeface="Times New Roman" panose="02020603050405020304" pitchFamily="18" charset="0"/>
              </a:rPr>
              <a:t>输入数据：在数据表视图中</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SzPct val="100000"/>
              <a:buNone/>
            </a:pPr>
            <a:r>
              <a:rPr lang="zh-CN" altLang="en-US" sz="1800" dirty="0">
                <a:solidFill>
                  <a:srgbClr val="000066"/>
                </a:solidFill>
                <a:cs typeface="Times New Roman" panose="02020603050405020304" pitchFamily="18" charset="0"/>
              </a:rPr>
              <a:t>        ② 修改数据</a:t>
            </a:r>
            <a:r>
              <a:rPr lang="zh-CN" altLang="en-US" sz="1800" dirty="0">
                <a:solidFill>
                  <a:srgbClr val="000066"/>
                </a:solidFill>
                <a:latin typeface="Times New Roman" panose="02020603050405020304" pitchFamily="18" charset="0"/>
                <a:cs typeface="Times New Roman" panose="02020603050405020304" pitchFamily="18" charset="0"/>
              </a:rPr>
              <a:t>表结构：进入设计视图，修改表结构</a:t>
            </a:r>
          </a:p>
          <a:p>
            <a:pPr marL="0" lvl="0" indent="0">
              <a:lnSpc>
                <a:spcPct val="150000"/>
              </a:lnSpc>
              <a:spcBef>
                <a:spcPts val="0"/>
              </a:spcBef>
              <a:buSzPct val="100000"/>
              <a:buNone/>
            </a:pPr>
            <a:r>
              <a:rPr lang="zh-CN" altLang="en-US" sz="1800" dirty="0">
                <a:solidFill>
                  <a:srgbClr val="000066"/>
                </a:solidFill>
                <a:cs typeface="Times New Roman" panose="02020603050405020304" pitchFamily="18" charset="0"/>
              </a:rPr>
              <a:t>        ③ 数据</a:t>
            </a:r>
            <a:r>
              <a:rPr lang="zh-CN" altLang="en-US" sz="1800" dirty="0">
                <a:solidFill>
                  <a:srgbClr val="000066"/>
                </a:solidFill>
                <a:latin typeface="Times New Roman" panose="02020603050405020304" pitchFamily="18" charset="0"/>
                <a:cs typeface="Times New Roman" panose="02020603050405020304" pitchFamily="18" charset="0"/>
              </a:rPr>
              <a:t>表可以复制、删除、恢复和更名</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44C7F05-89A7-4DA4-8A9C-2EE7AAB5D41F}"/>
              </a:ext>
            </a:extLst>
          </p:cNvPr>
          <p:cNvPicPr>
            <a:picLocks noChangeAspect="1"/>
          </p:cNvPicPr>
          <p:nvPr/>
        </p:nvPicPr>
        <p:blipFill>
          <a:blip r:embed="rId3"/>
          <a:stretch>
            <a:fillRect/>
          </a:stretch>
        </p:blipFill>
        <p:spPr>
          <a:xfrm>
            <a:off x="1440160" y="3075806"/>
            <a:ext cx="5421592" cy="2067694"/>
          </a:xfrm>
          <a:prstGeom prst="rect">
            <a:avLst/>
          </a:prstGeom>
        </p:spPr>
      </p:pic>
    </p:spTree>
    <p:extLst>
      <p:ext uri="{BB962C8B-B14F-4D97-AF65-F5344CB8AC3E}">
        <p14:creationId xmlns:p14="http://schemas.microsoft.com/office/powerpoint/2010/main" val="404872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6696745" cy="2233197"/>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6</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结构化查询语言</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是操作关系数据库的工业标准语言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结构简单、功能强大、使用方便</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 </a:t>
            </a: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非过程化语言：指出做什么，不必说明做什么</a:t>
            </a:r>
            <a:endPar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 </a:t>
            </a: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交互式直接操作数据库、嵌入式高级语言中</a:t>
            </a: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常用命令有两类：</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a:t>
            </a:r>
            <a:r>
              <a:rPr lang="zh-CN" altLang="en-US"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a:t>
            </a:r>
            <a:r>
              <a:rPr lang="zh-CN" altLang="en-US" sz="1800" dirty="0">
                <a:solidFill>
                  <a:srgbClr val="000066"/>
                </a:solidFill>
                <a:latin typeface="Times New Roman" panose="02020603050405020304" pitchFamily="18" charset="0"/>
                <a:cs typeface="Times New Roman" panose="02020603050405020304" pitchFamily="18" charset="0"/>
              </a:rPr>
              <a:t>数据查询命令 </a:t>
            </a:r>
            <a:r>
              <a:rPr lang="en-US" altLang="zh-CN" sz="1800" dirty="0">
                <a:solidFill>
                  <a:srgbClr val="000066"/>
                </a:solidFill>
                <a:latin typeface="Times New Roman" panose="02020603050405020304" pitchFamily="18" charset="0"/>
                <a:cs typeface="Times New Roman" panose="02020603050405020304" pitchFamily="18" charset="0"/>
              </a:rPr>
              <a:t>SELECT</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sym typeface="Wingdings" panose="05000000000000000000" pitchFamily="2" charset="2"/>
              </a:rPr>
              <a:t>      ※ </a:t>
            </a:r>
            <a:r>
              <a:rPr lang="zh-CN" altLang="en-US" sz="1800" dirty="0">
                <a:solidFill>
                  <a:srgbClr val="000066"/>
                </a:solidFill>
                <a:latin typeface="Times New Roman" panose="02020603050405020304" pitchFamily="18" charset="0"/>
                <a:cs typeface="Times New Roman" panose="02020603050405020304" pitchFamily="18" charset="0"/>
              </a:rPr>
              <a:t>数据更新命令 </a:t>
            </a:r>
            <a:r>
              <a:rPr lang="en-US" altLang="zh-CN" sz="1800" dirty="0">
                <a:solidFill>
                  <a:srgbClr val="000066"/>
                </a:solidFill>
                <a:latin typeface="Times New Roman" panose="02020603050405020304" pitchFamily="18" charset="0"/>
                <a:cs typeface="Times New Roman" panose="02020603050405020304" pitchFamily="18" charset="0"/>
              </a:rPr>
              <a:t>INSERT</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UPDATE</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DELETE</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79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5616625" cy="4156875"/>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直接输入、执行</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命令的方法</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① 选择“创建｜查询设计”</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② 创建一个空查询</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不选择表，直接关闭，如上图</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③ 切换到</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视图</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④ 输入</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命令（如下图）</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⑤ 执行查询</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⑥ 观察结果</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9" name="Picture 9">
            <a:extLst>
              <a:ext uri="{FF2B5EF4-FFF2-40B4-BE49-F238E27FC236}">
                <a16:creationId xmlns:a16="http://schemas.microsoft.com/office/drawing/2014/main" id="{D800CE34-D152-4E73-8DF5-DF8E0865B155}"/>
              </a:ext>
            </a:extLst>
          </p:cNvPr>
          <p:cNvPicPr>
            <a:picLocks noChangeAspect="1"/>
          </p:cNvPicPr>
          <p:nvPr/>
        </p:nvPicPr>
        <p:blipFill>
          <a:blip r:embed="rId3"/>
          <a:stretch>
            <a:fillRect/>
          </a:stretch>
        </p:blipFill>
        <p:spPr>
          <a:xfrm>
            <a:off x="3039585" y="3975844"/>
            <a:ext cx="6036254" cy="1068456"/>
          </a:xfrm>
          <a:prstGeom prst="rect">
            <a:avLst/>
          </a:prstGeom>
          <a:noFill/>
          <a:ln w="9525">
            <a:noFill/>
          </a:ln>
        </p:spPr>
      </p:pic>
      <p:pic>
        <p:nvPicPr>
          <p:cNvPr id="5" name="图片 4">
            <a:extLst>
              <a:ext uri="{FF2B5EF4-FFF2-40B4-BE49-F238E27FC236}">
                <a16:creationId xmlns:a16="http://schemas.microsoft.com/office/drawing/2014/main" id="{62CC27BA-0C72-4E7D-B4B0-5320030CE51E}"/>
              </a:ext>
            </a:extLst>
          </p:cNvPr>
          <p:cNvPicPr>
            <a:picLocks noChangeAspect="1"/>
          </p:cNvPicPr>
          <p:nvPr/>
        </p:nvPicPr>
        <p:blipFill>
          <a:blip r:embed="rId4"/>
          <a:stretch>
            <a:fillRect/>
          </a:stretch>
        </p:blipFill>
        <p:spPr>
          <a:xfrm>
            <a:off x="5076056" y="1003431"/>
            <a:ext cx="3965630" cy="2939923"/>
          </a:xfrm>
          <a:prstGeom prst="rect">
            <a:avLst/>
          </a:prstGeom>
        </p:spPr>
      </p:pic>
    </p:spTree>
    <p:extLst>
      <p:ext uri="{BB962C8B-B14F-4D97-AF65-F5344CB8AC3E}">
        <p14:creationId xmlns:p14="http://schemas.microsoft.com/office/powerpoint/2010/main" val="112219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532441" cy="4156875"/>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INSERT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INSERT INTO </a:t>
            </a:r>
            <a:r>
              <a:rPr lang="zh-CN" altLang="en-US" sz="1800" dirty="0">
                <a:solidFill>
                  <a:srgbClr val="000066"/>
                </a:solidFill>
                <a:latin typeface="Times New Roman" panose="02020603050405020304" pitchFamily="18" charset="0"/>
                <a:cs typeface="Times New Roman" panose="02020603050405020304" pitchFamily="18" charset="0"/>
              </a:rPr>
              <a:t>表名 </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n)]</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6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VALUES (</a:t>
            </a:r>
            <a:r>
              <a:rPr lang="zh-CN" altLang="en-US" sz="1800" dirty="0">
                <a:solidFill>
                  <a:srgbClr val="000066"/>
                </a:solidFill>
                <a:latin typeface="Times New Roman" panose="02020603050405020304" pitchFamily="18" charset="0"/>
                <a:cs typeface="Times New Roman" panose="02020603050405020304" pitchFamily="18" charset="0"/>
              </a:rPr>
              <a:t>值</a:t>
            </a:r>
            <a:r>
              <a:rPr lang="en-US" altLang="zh-CN" sz="1800" dirty="0">
                <a:solidFill>
                  <a:srgbClr val="000066"/>
                </a:solidFill>
                <a:latin typeface="Times New Roman" panose="02020603050405020304" pitchFamily="18" charset="0"/>
                <a:cs typeface="Times New Roman" panose="02020603050405020304" pitchFamily="18" charset="0"/>
              </a:rPr>
              <a:t>1    ,…,</a:t>
            </a:r>
            <a:r>
              <a:rPr lang="zh-CN" altLang="en-US" sz="1800" dirty="0">
                <a:solidFill>
                  <a:srgbClr val="000066"/>
                </a:solidFill>
                <a:latin typeface="Times New Roman" panose="02020603050405020304" pitchFamily="18" charset="0"/>
                <a:cs typeface="Times New Roman" panose="02020603050405020304" pitchFamily="18" charset="0"/>
              </a:rPr>
              <a:t>值</a:t>
            </a:r>
            <a:r>
              <a:rPr lang="en-US" altLang="zh-CN" sz="1800" dirty="0">
                <a:solidFill>
                  <a:srgbClr val="000066"/>
                </a:solidFill>
                <a:latin typeface="Times New Roman" panose="02020603050405020304" pitchFamily="18" charset="0"/>
                <a:cs typeface="Times New Roman" panose="02020603050405020304" pitchFamily="18" charset="0"/>
              </a:rPr>
              <a:t>n    )</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说明：若省略</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n)] </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则</a:t>
            </a:r>
            <a:r>
              <a:rPr lang="en-US" altLang="zh-CN" sz="1800" dirty="0">
                <a:solidFill>
                  <a:srgbClr val="000066"/>
                </a:solidFill>
                <a:latin typeface="Times New Roman" panose="02020603050405020304" pitchFamily="18" charset="0"/>
                <a:cs typeface="Times New Roman" panose="02020603050405020304" pitchFamily="18" charset="0"/>
              </a:rPr>
              <a:t>VALUES</a:t>
            </a:r>
            <a:r>
              <a:rPr lang="zh-CN" altLang="en-US" sz="1800" dirty="0">
                <a:solidFill>
                  <a:srgbClr val="000066"/>
                </a:solidFill>
                <a:latin typeface="Times New Roman" panose="02020603050405020304" pitchFamily="18" charset="0"/>
                <a:cs typeface="Times New Roman" panose="02020603050405020304" pitchFamily="18" charset="0"/>
              </a:rPr>
              <a:t>各值按表结构各字段次序、类型逐一输入；</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若不省略，则字段名与值次序、类型一一对应。</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：向表</a:t>
            </a:r>
            <a:r>
              <a:rPr lang="en-US" altLang="zh-CN" sz="1800" dirty="0">
                <a:solidFill>
                  <a:srgbClr val="000066"/>
                </a:solidFill>
                <a:latin typeface="Times New Roman" panose="02020603050405020304" pitchFamily="18" charset="0"/>
                <a:cs typeface="Times New Roman" panose="02020603050405020304" pitchFamily="18" charset="0"/>
              </a:rPr>
              <a:t>Students</a:t>
            </a:r>
            <a:r>
              <a:rPr lang="zh-CN" altLang="en-US" sz="1800" dirty="0">
                <a:solidFill>
                  <a:srgbClr val="000066"/>
                </a:solidFill>
                <a:latin typeface="Times New Roman" panose="02020603050405020304" pitchFamily="18" charset="0"/>
                <a:cs typeface="Times New Roman" panose="02020603050405020304" pitchFamily="18" charset="0"/>
              </a:rPr>
              <a:t>中插入一条记录</a:t>
            </a:r>
          </a:p>
          <a:p>
            <a:pPr marL="0" lvl="0" indent="0"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INSERT INTO Students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性别</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党员</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专业</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出生年月</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VALUES("160301","</a:t>
            </a:r>
            <a:r>
              <a:rPr lang="zh-CN" altLang="en-US" sz="1800" dirty="0">
                <a:solidFill>
                  <a:srgbClr val="000066"/>
                </a:solidFill>
                <a:latin typeface="Times New Roman" panose="02020603050405020304" pitchFamily="18" charset="0"/>
                <a:cs typeface="Times New Roman" panose="02020603050405020304" pitchFamily="18" charset="0"/>
              </a:rPr>
              <a:t>杨国强</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男</a:t>
            </a:r>
            <a:r>
              <a:rPr lang="en-US" altLang="zh-CN" sz="1800" dirty="0">
                <a:solidFill>
                  <a:srgbClr val="000066"/>
                </a:solidFill>
                <a:latin typeface="Times New Roman" panose="02020603050405020304" pitchFamily="18" charset="0"/>
                <a:cs typeface="Times New Roman" panose="02020603050405020304" pitchFamily="18" charset="0"/>
              </a:rPr>
              <a:t>",TRUE,"</a:t>
            </a:r>
            <a:r>
              <a:rPr lang="zh-CN" altLang="en-US" sz="1800" dirty="0">
                <a:solidFill>
                  <a:srgbClr val="000066"/>
                </a:solidFill>
                <a:latin typeface="Times New Roman" panose="02020603050405020304" pitchFamily="18" charset="0"/>
                <a:cs typeface="Times New Roman" panose="02020603050405020304" pitchFamily="18" charset="0"/>
              </a:rPr>
              <a:t>化学</a:t>
            </a:r>
            <a:r>
              <a:rPr lang="en-US" altLang="zh-CN" sz="1800" dirty="0">
                <a:solidFill>
                  <a:srgbClr val="000066"/>
                </a:solidFill>
                <a:latin typeface="Times New Roman" panose="02020603050405020304" pitchFamily="18" charset="0"/>
                <a:cs typeface="Times New Roman" panose="02020603050405020304" pitchFamily="18" charset="0"/>
              </a:rPr>
              <a:t>", #12/28/98#,520)</a:t>
            </a: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07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532441" cy="4156875"/>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INSERT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5</a:t>
            </a:r>
            <a:r>
              <a:rPr lang="zh-CN" altLang="en-US" sz="1800" dirty="0">
                <a:solidFill>
                  <a:srgbClr val="000066"/>
                </a:solidFill>
                <a:latin typeface="Times New Roman" panose="02020603050405020304" pitchFamily="18" charset="0"/>
                <a:cs typeface="Times New Roman" panose="02020603050405020304" pitchFamily="18" charset="0"/>
              </a:rPr>
              <a:t>：向表</a:t>
            </a:r>
            <a:r>
              <a:rPr lang="en-US" altLang="zh-CN" sz="1800" dirty="0">
                <a:solidFill>
                  <a:srgbClr val="000066"/>
                </a:solidFill>
                <a:latin typeface="Times New Roman" panose="02020603050405020304" pitchFamily="18" charset="0"/>
                <a:cs typeface="Times New Roman" panose="02020603050405020304" pitchFamily="18" charset="0"/>
              </a:rPr>
              <a:t>Scores</a:t>
            </a:r>
            <a:r>
              <a:rPr lang="zh-CN" altLang="en-US" sz="1800" dirty="0">
                <a:solidFill>
                  <a:srgbClr val="000066"/>
                </a:solidFill>
                <a:latin typeface="Times New Roman" panose="02020603050405020304" pitchFamily="18" charset="0"/>
                <a:cs typeface="Times New Roman" panose="02020603050405020304" pitchFamily="18" charset="0"/>
              </a:rPr>
              <a:t>插入记录（</a:t>
            </a:r>
            <a:r>
              <a:rPr lang="en-US" altLang="zh-CN" sz="1800" dirty="0">
                <a:solidFill>
                  <a:srgbClr val="000066"/>
                </a:solidFill>
                <a:latin typeface="Times New Roman" panose="02020603050405020304" pitchFamily="18" charset="0"/>
                <a:cs typeface="Times New Roman" panose="02020603050405020304" pitchFamily="18" charset="0"/>
              </a:rPr>
              <a:t>160301</a:t>
            </a:r>
            <a:r>
              <a:rPr lang="zh-CN" altLang="en-US" sz="1800" dirty="0">
                <a:solidFill>
                  <a:srgbClr val="000066"/>
                </a:solidFill>
                <a:latin typeface="Times New Roman" panose="02020603050405020304" pitchFamily="18" charset="0"/>
                <a:cs typeface="Times New Roman" panose="02020603050405020304" pitchFamily="18" charset="0"/>
              </a:rPr>
              <a:t>，大学计算机基础，</a:t>
            </a:r>
            <a:r>
              <a:rPr lang="en-US" altLang="zh-CN" sz="1800" dirty="0">
                <a:solidFill>
                  <a:srgbClr val="000066"/>
                </a:solidFill>
                <a:latin typeface="Times New Roman" panose="02020603050405020304" pitchFamily="18" charset="0"/>
                <a:cs typeface="Times New Roman" panose="02020603050405020304" pitchFamily="18" charset="0"/>
              </a:rPr>
              <a:t>98</a:t>
            </a:r>
            <a:r>
              <a:rPr lang="zh-CN" altLang="en-US" sz="1800" dirty="0">
                <a:solidFill>
                  <a:srgbClr val="000066"/>
                </a:solidFill>
                <a:latin typeface="Times New Roman" panose="02020603050405020304" pitchFamily="18" charset="0"/>
                <a:cs typeface="Times New Roman" panose="02020603050405020304" pitchFamily="18" charset="0"/>
              </a:rPr>
              <a:t>）</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INSERT  INTO  Scores  VALUES ("160301", "</a:t>
            </a:r>
            <a:r>
              <a:rPr lang="zh-CN" altLang="en-US" sz="1800" dirty="0">
                <a:solidFill>
                  <a:srgbClr val="000066"/>
                </a:solidFill>
                <a:latin typeface="Times New Roman" panose="02020603050405020304" pitchFamily="18" charset="0"/>
                <a:cs typeface="Times New Roman" panose="02020603050405020304" pitchFamily="18" charset="0"/>
              </a:rPr>
              <a:t>大学计算机基础</a:t>
            </a:r>
            <a:r>
              <a:rPr lang="en-US" altLang="zh-CN" sz="1800" dirty="0">
                <a:solidFill>
                  <a:srgbClr val="000066"/>
                </a:solidFill>
                <a:latin typeface="Times New Roman" panose="02020603050405020304" pitchFamily="18" charset="0"/>
                <a:cs typeface="Times New Roman" panose="02020603050405020304" pitchFamily="18" charset="0"/>
              </a:rPr>
              <a:t>", 98)</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注意：</a:t>
            </a:r>
            <a:r>
              <a:rPr lang="zh-CN" altLang="en-US" sz="1800" dirty="0">
                <a:solidFill>
                  <a:srgbClr val="000066"/>
                </a:solidFill>
                <a:cs typeface="Times New Roman" panose="02020603050405020304" pitchFamily="18" charset="0"/>
              </a:rPr>
              <a:t>① 除了数据本身之外，</a:t>
            </a:r>
            <a:r>
              <a:rPr lang="zh-CN" altLang="en-US" sz="1800" dirty="0">
                <a:solidFill>
                  <a:srgbClr val="000066"/>
                </a:solidFill>
                <a:latin typeface="Times New Roman" panose="02020603050405020304" pitchFamily="18" charset="0"/>
                <a:cs typeface="Times New Roman" panose="02020603050405020304" pitchFamily="18" charset="0"/>
              </a:rPr>
              <a:t>所有字符都用西文符号</a:t>
            </a:r>
          </a:p>
          <a:p>
            <a:pPr marL="0" lvl="0" indent="0" defTabSz="914400">
              <a:lnSpc>
                <a:spcPct val="150000"/>
              </a:lnSpc>
              <a:spcBef>
                <a:spcPts val="0"/>
              </a:spcBef>
              <a:buClr>
                <a:schemeClr val="tx1"/>
              </a:buClr>
              <a:buSzPct val="100000"/>
              <a:buNone/>
            </a:pPr>
            <a:r>
              <a:rPr lang="zh-CN" altLang="en-US" sz="1800" dirty="0">
                <a:solidFill>
                  <a:srgbClr val="000066"/>
                </a:solidFill>
                <a:cs typeface="Times New Roman" panose="02020603050405020304" pitchFamily="18" charset="0"/>
              </a:rPr>
              <a:t>          ② </a:t>
            </a:r>
            <a:r>
              <a:rPr lang="zh-CN" altLang="en-US" sz="1800" dirty="0">
                <a:solidFill>
                  <a:srgbClr val="000066"/>
                </a:solidFill>
                <a:latin typeface="Times New Roman" panose="02020603050405020304" pitchFamily="18" charset="0"/>
                <a:cs typeface="Times New Roman" panose="02020603050405020304" pitchFamily="18" charset="0"/>
              </a:rPr>
              <a:t>文本型数据用单引号或双引号括起来</a:t>
            </a:r>
          </a:p>
          <a:p>
            <a:pPr marL="0" lvl="0" indent="0" defTabSz="914400">
              <a:lnSpc>
                <a:spcPct val="150000"/>
              </a:lnSpc>
              <a:spcBef>
                <a:spcPts val="0"/>
              </a:spcBef>
              <a:buClr>
                <a:schemeClr val="tx1"/>
              </a:buClr>
              <a:buSzPct val="100000"/>
              <a:buNone/>
            </a:pPr>
            <a:r>
              <a:rPr lang="zh-CN" altLang="en-US" sz="1800" dirty="0">
                <a:solidFill>
                  <a:srgbClr val="000066"/>
                </a:solidFill>
                <a:cs typeface="Times New Roman" panose="02020603050405020304" pitchFamily="18" charset="0"/>
              </a:rPr>
              <a:t>          ③ </a:t>
            </a:r>
            <a:r>
              <a:rPr lang="zh-CN" altLang="en-US" sz="1800" dirty="0">
                <a:solidFill>
                  <a:srgbClr val="000066"/>
                </a:solidFill>
                <a:latin typeface="Times New Roman" panose="02020603050405020304" pitchFamily="18" charset="0"/>
                <a:cs typeface="Times New Roman" panose="02020603050405020304" pitchFamily="18" charset="0"/>
              </a:rPr>
              <a:t>逻辑型字段的值是 </a:t>
            </a:r>
            <a:r>
              <a:rPr lang="en-US" altLang="zh-CN" sz="1800" dirty="0">
                <a:solidFill>
                  <a:srgbClr val="000066"/>
                </a:solidFill>
                <a:latin typeface="Times New Roman" panose="02020603050405020304" pitchFamily="18" charset="0"/>
                <a:cs typeface="Times New Roman" panose="02020603050405020304" pitchFamily="18" charset="0"/>
              </a:rPr>
              <a:t>True/False</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Yes/No </a:t>
            </a:r>
            <a:r>
              <a:rPr lang="zh-CN" altLang="en-US" sz="1800" dirty="0">
                <a:solidFill>
                  <a:srgbClr val="000066"/>
                </a:solidFill>
                <a:latin typeface="Times New Roman" panose="02020603050405020304" pitchFamily="18" charset="0"/>
                <a:cs typeface="Times New Roman" panose="02020603050405020304" pitchFamily="18" charset="0"/>
              </a:rPr>
              <a:t>或 </a:t>
            </a:r>
            <a:r>
              <a:rPr lang="en-US" altLang="zh-CN" sz="1800" dirty="0">
                <a:solidFill>
                  <a:srgbClr val="000066"/>
                </a:solidFill>
                <a:latin typeface="Times New Roman" panose="02020603050405020304" pitchFamily="18" charset="0"/>
                <a:cs typeface="Times New Roman" panose="02020603050405020304" pitchFamily="18" charset="0"/>
              </a:rPr>
              <a:t>On/Off</a:t>
            </a:r>
          </a:p>
          <a:p>
            <a:pPr marL="0" lvl="0" indent="0" defTabSz="914400">
              <a:lnSpc>
                <a:spcPct val="150000"/>
              </a:lnSpc>
              <a:spcBef>
                <a:spcPts val="0"/>
              </a:spcBef>
              <a:buClr>
                <a:schemeClr val="tx1"/>
              </a:buClr>
              <a:buSzPct val="100000"/>
              <a:buNone/>
            </a:pPr>
            <a:r>
              <a:rPr lang="zh-CN" altLang="en-US" sz="1800" dirty="0">
                <a:solidFill>
                  <a:srgbClr val="000066"/>
                </a:solidFill>
                <a:cs typeface="Times New Roman" panose="02020603050405020304" pitchFamily="18" charset="0"/>
              </a:rPr>
              <a:t>          ④ </a:t>
            </a:r>
            <a:r>
              <a:rPr lang="zh-CN" altLang="en-US" sz="1800" dirty="0">
                <a:solidFill>
                  <a:srgbClr val="000066"/>
                </a:solidFill>
                <a:latin typeface="Times New Roman" panose="02020603050405020304" pitchFamily="18" charset="0"/>
                <a:cs typeface="Times New Roman" panose="02020603050405020304" pitchFamily="18" charset="0"/>
              </a:rPr>
              <a:t>日期常量用</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号括起，表示形式为 </a:t>
            </a:r>
            <a:r>
              <a:rPr lang="en-US" altLang="zh-CN" sz="1800" dirty="0">
                <a:solidFill>
                  <a:srgbClr val="000066"/>
                </a:solidFill>
                <a:latin typeface="Times New Roman" panose="02020603050405020304" pitchFamily="18" charset="0"/>
                <a:cs typeface="Times New Roman" panose="02020603050405020304" pitchFamily="18" charset="0"/>
              </a:rPr>
              <a:t>#MM/DD/</a:t>
            </a:r>
            <a:r>
              <a:rPr lang="en-US" altLang="zh-CN" sz="1800" dirty="0" err="1">
                <a:solidFill>
                  <a:srgbClr val="000066"/>
                </a:solidFill>
                <a:latin typeface="Times New Roman" panose="02020603050405020304" pitchFamily="18" charset="0"/>
                <a:cs typeface="Times New Roman" panose="02020603050405020304" pitchFamily="18" charset="0"/>
              </a:rPr>
              <a:t>YY</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50000"/>
              </a:lnSpc>
              <a:spcBef>
                <a:spcPts val="0"/>
              </a:spcBef>
              <a:buClr>
                <a:schemeClr val="tx1"/>
              </a:buClr>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或</a:t>
            </a:r>
            <a:r>
              <a:rPr lang="en-US" altLang="zh-CN" sz="1800" dirty="0">
                <a:solidFill>
                  <a:srgbClr val="000066"/>
                </a:solidFill>
                <a:latin typeface="Times New Roman" panose="02020603050405020304" pitchFamily="18" charset="0"/>
                <a:cs typeface="Times New Roman" panose="02020603050405020304" pitchFamily="18" charset="0"/>
              </a:rPr>
              <a:t>#MM/DD/</a:t>
            </a:r>
            <a:r>
              <a:rPr lang="en-US" altLang="zh-CN" sz="1800" dirty="0" err="1">
                <a:solidFill>
                  <a:srgbClr val="000066"/>
                </a:solidFill>
                <a:latin typeface="Times New Roman" panose="02020603050405020304" pitchFamily="18" charset="0"/>
                <a:cs typeface="Times New Roman" panose="02020603050405020304" pitchFamily="18" charset="0"/>
              </a:rPr>
              <a:t>YYYY</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0" defTabSz="914400">
              <a:lnSpc>
                <a:spcPct val="150000"/>
              </a:lnSpc>
              <a:spcBef>
                <a:spcPts val="0"/>
              </a:spcBef>
              <a:buClr>
                <a:schemeClr val="tx1"/>
              </a:buClr>
              <a:buSzPct val="100000"/>
              <a:buNone/>
            </a:pPr>
            <a:r>
              <a:rPr lang="zh-CN" altLang="en-US" sz="1800" dirty="0">
                <a:solidFill>
                  <a:srgbClr val="000066"/>
                </a:solidFill>
                <a:cs typeface="Times New Roman" panose="02020603050405020304" pitchFamily="18" charset="0"/>
              </a:rPr>
              <a:t>          ⑤ </a:t>
            </a:r>
            <a:r>
              <a:rPr lang="zh-CN" altLang="en-US" sz="1800" dirty="0">
                <a:solidFill>
                  <a:srgbClr val="000066"/>
                </a:solidFill>
                <a:latin typeface="Times New Roman" panose="02020603050405020304" pitchFamily="18" charset="0"/>
                <a:cs typeface="Times New Roman" panose="02020603050405020304" pitchFamily="18" charset="0"/>
              </a:rPr>
              <a:t>若有主键，不能输入两条主键相同的记录</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54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7200801" cy="3601349"/>
          </a:xfrm>
        </p:spPr>
        <p:txBody>
          <a:bodyPr>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DELETE</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DELETE FROM </a:t>
            </a:r>
            <a:r>
              <a:rPr lang="zh-CN" altLang="en-US" sz="1800" dirty="0">
                <a:solidFill>
                  <a:srgbClr val="000066"/>
                </a:solidFill>
                <a:latin typeface="Times New Roman" panose="02020603050405020304" pitchFamily="18" charset="0"/>
                <a:cs typeface="Times New Roman" panose="02020603050405020304" pitchFamily="18" charset="0"/>
              </a:rPr>
              <a:t>表 </a:t>
            </a:r>
            <a:r>
              <a:rPr lang="en-US" altLang="zh-CN" sz="1800" dirty="0">
                <a:solidFill>
                  <a:srgbClr val="000066"/>
                </a:solidFill>
                <a:latin typeface="Times New Roman" panose="02020603050405020304" pitchFamily="18" charset="0"/>
                <a:cs typeface="Times New Roman" panose="02020603050405020304" pitchFamily="18" charset="0"/>
              </a:rPr>
              <a:t>[WHERE </a:t>
            </a:r>
            <a:r>
              <a:rPr lang="zh-CN" altLang="en-US" sz="1800" dirty="0">
                <a:solidFill>
                  <a:srgbClr val="000066"/>
                </a:solidFill>
                <a:latin typeface="Times New Roman" panose="02020603050405020304" pitchFamily="18" charset="0"/>
                <a:cs typeface="Times New Roman" panose="02020603050405020304" pitchFamily="18" charset="0"/>
              </a:rPr>
              <a:t>条件</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说明：</a:t>
            </a:r>
            <a:r>
              <a:rPr lang="zh-CN" altLang="en-US" sz="180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800" dirty="0">
                <a:solidFill>
                  <a:srgbClr val="000066"/>
                </a:solidFill>
                <a:latin typeface="Times New Roman" panose="02020603050405020304" pitchFamily="18" charset="0"/>
                <a:cs typeface="Times New Roman" panose="02020603050405020304" pitchFamily="18" charset="0"/>
              </a:rPr>
              <a:t>WHERE</a:t>
            </a:r>
            <a:r>
              <a:rPr lang="zh-CN" altLang="en-US" sz="1800" dirty="0">
                <a:solidFill>
                  <a:srgbClr val="000066"/>
                </a:solidFill>
                <a:latin typeface="Times New Roman" panose="02020603050405020304" pitchFamily="18" charset="0"/>
                <a:cs typeface="Times New Roman" panose="02020603050405020304" pitchFamily="18" charset="0"/>
              </a:rPr>
              <a:t>子句缺省，则删除表中所有的记录</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6</a:t>
            </a:r>
            <a:r>
              <a:rPr lang="zh-CN" altLang="en-US" sz="1800" dirty="0">
                <a:solidFill>
                  <a:srgbClr val="000066"/>
                </a:solidFill>
                <a:latin typeface="Times New Roman" panose="02020603050405020304" pitchFamily="18" charset="0"/>
                <a:cs typeface="Times New Roman" panose="02020603050405020304" pitchFamily="18" charset="0"/>
              </a:rPr>
              <a:t>：删除表</a:t>
            </a:r>
            <a:r>
              <a:rPr lang="en-US" altLang="zh-CN" sz="1800" dirty="0">
                <a:solidFill>
                  <a:srgbClr val="000066"/>
                </a:solidFill>
                <a:latin typeface="Times New Roman" panose="02020603050405020304" pitchFamily="18" charset="0"/>
                <a:cs typeface="Times New Roman" panose="02020603050405020304" pitchFamily="18" charset="0"/>
              </a:rPr>
              <a:t>Students</a:t>
            </a:r>
            <a:r>
              <a:rPr lang="zh-CN" altLang="en-US" sz="1800" dirty="0">
                <a:solidFill>
                  <a:srgbClr val="000066"/>
                </a:solidFill>
                <a:latin typeface="Times New Roman" panose="02020603050405020304" pitchFamily="18" charset="0"/>
                <a:cs typeface="Times New Roman" panose="02020603050405020304" pitchFamily="18" charset="0"/>
              </a:rPr>
              <a:t>中所有学号为</a:t>
            </a:r>
            <a:r>
              <a:rPr lang="en-US" altLang="zh-CN" sz="1800" dirty="0">
                <a:solidFill>
                  <a:srgbClr val="000066"/>
                </a:solidFill>
                <a:latin typeface="Times New Roman" panose="02020603050405020304" pitchFamily="18" charset="0"/>
                <a:cs typeface="Times New Roman" panose="02020603050405020304" pitchFamily="18" charset="0"/>
              </a:rPr>
              <a:t>160301</a:t>
            </a:r>
            <a:r>
              <a:rPr lang="zh-CN" altLang="en-US" sz="1800" dirty="0">
                <a:solidFill>
                  <a:srgbClr val="000066"/>
                </a:solidFill>
                <a:latin typeface="Times New Roman" panose="02020603050405020304" pitchFamily="18" charset="0"/>
                <a:cs typeface="Times New Roman" panose="02020603050405020304" pitchFamily="18" charset="0"/>
              </a:rPr>
              <a:t>的记录</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DELETE FROM Students WHERE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="160301"</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7</a:t>
            </a:r>
            <a:r>
              <a:rPr lang="zh-CN" altLang="en-US" sz="1800" dirty="0">
                <a:solidFill>
                  <a:srgbClr val="000066"/>
                </a:solidFill>
                <a:latin typeface="Times New Roman" panose="02020603050405020304" pitchFamily="18" charset="0"/>
                <a:cs typeface="Times New Roman" panose="02020603050405020304" pitchFamily="18" charset="0"/>
              </a:rPr>
              <a:t>：删除表</a:t>
            </a:r>
            <a:r>
              <a:rPr lang="en-US" altLang="zh-CN" sz="1800" dirty="0">
                <a:solidFill>
                  <a:srgbClr val="000066"/>
                </a:solidFill>
                <a:latin typeface="Times New Roman" panose="02020603050405020304" pitchFamily="18" charset="0"/>
                <a:cs typeface="Times New Roman" panose="02020603050405020304" pitchFamily="18" charset="0"/>
              </a:rPr>
              <a:t>Scores</a:t>
            </a:r>
            <a:r>
              <a:rPr lang="zh-CN" altLang="en-US" sz="1800" dirty="0">
                <a:solidFill>
                  <a:srgbClr val="000066"/>
                </a:solidFill>
                <a:latin typeface="Times New Roman" panose="02020603050405020304" pitchFamily="18" charset="0"/>
                <a:cs typeface="Times New Roman" panose="02020603050405020304" pitchFamily="18" charset="0"/>
              </a:rPr>
              <a:t>中成绩低于</a:t>
            </a:r>
            <a:r>
              <a:rPr lang="en-US" altLang="zh-CN" sz="1800" dirty="0">
                <a:solidFill>
                  <a:srgbClr val="000066"/>
                </a:solidFill>
                <a:latin typeface="Times New Roman" panose="02020603050405020304" pitchFamily="18" charset="0"/>
                <a:cs typeface="Times New Roman" panose="02020603050405020304" pitchFamily="18" charset="0"/>
              </a:rPr>
              <a:t>70</a:t>
            </a:r>
            <a:r>
              <a:rPr lang="zh-CN" altLang="en-US" sz="1800" dirty="0">
                <a:solidFill>
                  <a:srgbClr val="000066"/>
                </a:solidFill>
                <a:latin typeface="Times New Roman" panose="02020603050405020304" pitchFamily="18" charset="0"/>
                <a:cs typeface="Times New Roman" panose="02020603050405020304" pitchFamily="18" charset="0"/>
              </a:rPr>
              <a:t>分的记录</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DELETE FROM Scores WHERE </a:t>
            </a:r>
            <a:r>
              <a:rPr lang="zh-CN" altLang="en-US" sz="1800" dirty="0">
                <a:solidFill>
                  <a:srgbClr val="000066"/>
                </a:solidFill>
                <a:latin typeface="Times New Roman" panose="02020603050405020304" pitchFamily="18" charset="0"/>
                <a:cs typeface="Times New Roman" panose="02020603050405020304" pitchFamily="18" charset="0"/>
              </a:rPr>
              <a:t>成绩</a:t>
            </a:r>
            <a:r>
              <a:rPr lang="en-US" altLang="zh-CN" sz="1800" dirty="0">
                <a:solidFill>
                  <a:srgbClr val="000066"/>
                </a:solidFill>
                <a:latin typeface="Times New Roman" panose="02020603050405020304" pitchFamily="18" charset="0"/>
                <a:cs typeface="Times New Roman" panose="02020603050405020304" pitchFamily="18" charset="0"/>
              </a:rPr>
              <a:t>&lt;70</a:t>
            </a:r>
          </a:p>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76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7560841" cy="410540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UPDATE</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UPDATE </a:t>
            </a:r>
            <a:r>
              <a:rPr lang="zh-CN" altLang="en-US" sz="1800" dirty="0">
                <a:solidFill>
                  <a:srgbClr val="000066"/>
                </a:solidFill>
                <a:latin typeface="Times New Roman" panose="02020603050405020304" pitchFamily="18" charset="0"/>
                <a:cs typeface="Times New Roman" panose="02020603050405020304" pitchFamily="18" charset="0"/>
              </a:rPr>
              <a:t>表 </a:t>
            </a:r>
            <a:r>
              <a:rPr lang="en-US" altLang="zh-CN" sz="1800" dirty="0">
                <a:solidFill>
                  <a:srgbClr val="000066"/>
                </a:solidFill>
                <a:latin typeface="Times New Roman" panose="02020603050405020304" pitchFamily="18" charset="0"/>
                <a:cs typeface="Times New Roman" panose="02020603050405020304" pitchFamily="18" charset="0"/>
              </a:rPr>
              <a:t>SET </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表达式</a:t>
            </a:r>
            <a:r>
              <a:rPr lang="en-US" altLang="zh-CN" sz="1800" dirty="0">
                <a:solidFill>
                  <a:srgbClr val="000066"/>
                </a:solidFill>
                <a:latin typeface="Times New Roman" panose="02020603050405020304" pitchFamily="18" charset="0"/>
                <a:cs typeface="Times New Roman" panose="02020603050405020304" pitchFamily="18" charset="0"/>
              </a:rPr>
              <a:t>1, … ,</a:t>
            </a:r>
            <a:r>
              <a:rPr lang="zh-CN" altLang="en-US" sz="1800" dirty="0">
                <a:solidFill>
                  <a:srgbClr val="000066"/>
                </a:solidFill>
                <a:latin typeface="Times New Roman" panose="02020603050405020304" pitchFamily="18" charset="0"/>
                <a:cs typeface="Times New Roman" panose="02020603050405020304" pitchFamily="18" charset="0"/>
              </a:rPr>
              <a:t>字段</a:t>
            </a:r>
            <a:r>
              <a:rPr lang="en-US" altLang="zh-CN" sz="1800" dirty="0">
                <a:solidFill>
                  <a:srgbClr val="000066"/>
                </a:solidFill>
                <a:latin typeface="Times New Roman" panose="02020603050405020304" pitchFamily="18" charset="0"/>
                <a:cs typeface="Times New Roman" panose="02020603050405020304" pitchFamily="18" charset="0"/>
              </a:rPr>
              <a:t>n=</a:t>
            </a:r>
            <a:r>
              <a:rPr lang="zh-CN" altLang="en-US" sz="1800" dirty="0">
                <a:solidFill>
                  <a:srgbClr val="000066"/>
                </a:solidFill>
                <a:latin typeface="Times New Roman" panose="02020603050405020304" pitchFamily="18" charset="0"/>
                <a:cs typeface="Times New Roman" panose="02020603050405020304" pitchFamily="18" charset="0"/>
              </a:rPr>
              <a:t>表达式</a:t>
            </a:r>
            <a:r>
              <a:rPr lang="en-US" altLang="zh-CN" sz="1800" dirty="0">
                <a:solidFill>
                  <a:srgbClr val="000066"/>
                </a:solidFill>
                <a:latin typeface="Times New Roman" panose="02020603050405020304" pitchFamily="18" charset="0"/>
                <a:cs typeface="Times New Roman" panose="02020603050405020304" pitchFamily="18" charset="0"/>
              </a:rPr>
              <a:t>n [WHERE </a:t>
            </a:r>
            <a:r>
              <a:rPr lang="zh-CN" altLang="en-US" sz="1800" dirty="0">
                <a:solidFill>
                  <a:srgbClr val="000066"/>
                </a:solidFill>
                <a:latin typeface="Times New Roman" panose="02020603050405020304" pitchFamily="18" charset="0"/>
                <a:cs typeface="Times New Roman" panose="02020603050405020304" pitchFamily="18" charset="0"/>
              </a:rPr>
              <a:t>条件</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说明：</a:t>
            </a:r>
            <a:r>
              <a:rPr lang="zh-CN" altLang="en-US" sz="1800" dirty="0">
                <a:solidFill>
                  <a:srgbClr val="000066"/>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800" dirty="0">
                <a:solidFill>
                  <a:srgbClr val="000066"/>
                </a:solidFill>
                <a:latin typeface="Times New Roman" panose="02020603050405020304" pitchFamily="18" charset="0"/>
                <a:cs typeface="Times New Roman" panose="02020603050405020304" pitchFamily="18" charset="0"/>
              </a:rPr>
              <a:t>WHERE</a:t>
            </a:r>
            <a:r>
              <a:rPr lang="zh-CN" altLang="en-US" sz="1800" dirty="0">
                <a:solidFill>
                  <a:srgbClr val="000066"/>
                </a:solidFill>
                <a:latin typeface="Times New Roman" panose="02020603050405020304" pitchFamily="18" charset="0"/>
                <a:cs typeface="Times New Roman" panose="02020603050405020304" pitchFamily="18" charset="0"/>
              </a:rPr>
              <a:t>子句缺省，则修改表中所有的记录</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8</a:t>
            </a:r>
            <a:r>
              <a:rPr lang="zh-CN" altLang="en-US" sz="1800" dirty="0">
                <a:solidFill>
                  <a:srgbClr val="000066"/>
                </a:solidFill>
                <a:latin typeface="Times New Roman" panose="02020603050405020304" pitchFamily="18" charset="0"/>
                <a:cs typeface="Times New Roman" panose="02020603050405020304" pitchFamily="18" charset="0"/>
              </a:rPr>
              <a:t>：将表</a:t>
            </a:r>
            <a:r>
              <a:rPr lang="en-US" altLang="zh-CN" sz="1800" dirty="0">
                <a:solidFill>
                  <a:srgbClr val="000066"/>
                </a:solidFill>
                <a:latin typeface="Times New Roman" panose="02020603050405020304" pitchFamily="18" charset="0"/>
                <a:cs typeface="Times New Roman" panose="02020603050405020304" pitchFamily="18" charset="0"/>
              </a:rPr>
              <a:t>Students</a:t>
            </a:r>
            <a:r>
              <a:rPr lang="zh-CN" altLang="en-US" sz="1800" dirty="0">
                <a:solidFill>
                  <a:srgbClr val="000066"/>
                </a:solidFill>
                <a:latin typeface="Times New Roman" panose="02020603050405020304" pitchFamily="18" charset="0"/>
                <a:cs typeface="Times New Roman" panose="02020603050405020304" pitchFamily="18" charset="0"/>
              </a:rPr>
              <a:t>中学生王涛的姓名改为王宝球</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UPDATE Students SET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王宝球</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王涛</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9</a:t>
            </a:r>
            <a:r>
              <a:rPr lang="zh-CN" altLang="en-US" sz="1800" dirty="0">
                <a:solidFill>
                  <a:srgbClr val="000066"/>
                </a:solidFill>
                <a:latin typeface="Times New Roman" panose="02020603050405020304" pitchFamily="18" charset="0"/>
                <a:cs typeface="Times New Roman" panose="02020603050405020304" pitchFamily="18" charset="0"/>
              </a:rPr>
              <a:t>：将表</a:t>
            </a:r>
            <a:r>
              <a:rPr lang="en-US" altLang="zh-CN" sz="1800" dirty="0">
                <a:solidFill>
                  <a:srgbClr val="000066"/>
                </a:solidFill>
                <a:latin typeface="Times New Roman" panose="02020603050405020304" pitchFamily="18" charset="0"/>
                <a:cs typeface="Times New Roman" panose="02020603050405020304" pitchFamily="18" charset="0"/>
              </a:rPr>
              <a:t>Students</a:t>
            </a:r>
            <a:r>
              <a:rPr lang="zh-CN" altLang="en-US" sz="1800" dirty="0">
                <a:solidFill>
                  <a:srgbClr val="000066"/>
                </a:solidFill>
                <a:latin typeface="Times New Roman" panose="02020603050405020304" pitchFamily="18" charset="0"/>
                <a:cs typeface="Times New Roman" panose="02020603050405020304" pitchFamily="18" charset="0"/>
              </a:rPr>
              <a:t>中助学金低于</a:t>
            </a:r>
            <a:r>
              <a:rPr lang="en-US" altLang="zh-CN" sz="1800" dirty="0">
                <a:solidFill>
                  <a:srgbClr val="000066"/>
                </a:solidFill>
                <a:latin typeface="Times New Roman" panose="02020603050405020304" pitchFamily="18" charset="0"/>
                <a:cs typeface="Times New Roman" panose="02020603050405020304" pitchFamily="18" charset="0"/>
              </a:rPr>
              <a:t>200</a:t>
            </a:r>
            <a:r>
              <a:rPr lang="zh-CN" altLang="en-US" sz="1800" dirty="0">
                <a:solidFill>
                  <a:srgbClr val="000066"/>
                </a:solidFill>
                <a:latin typeface="Times New Roman" panose="02020603050405020304" pitchFamily="18" charset="0"/>
                <a:cs typeface="Times New Roman" panose="02020603050405020304" pitchFamily="18" charset="0"/>
              </a:rPr>
              <a:t>的学生加</a:t>
            </a:r>
            <a:r>
              <a:rPr lang="en-US" altLang="zh-CN" sz="1800" dirty="0">
                <a:solidFill>
                  <a:srgbClr val="000066"/>
                </a:solidFill>
                <a:latin typeface="Times New Roman" panose="02020603050405020304" pitchFamily="18" charset="0"/>
                <a:cs typeface="Times New Roman" panose="02020603050405020304" pitchFamily="18" charset="0"/>
              </a:rPr>
              <a:t>30</a:t>
            </a:r>
            <a:r>
              <a:rPr lang="zh-CN" altLang="en-US" sz="1800" dirty="0">
                <a:solidFill>
                  <a:srgbClr val="000066"/>
                </a:solidFill>
                <a:latin typeface="Times New Roman" panose="02020603050405020304" pitchFamily="18" charset="0"/>
                <a:cs typeface="Times New Roman" panose="02020603050405020304" pitchFamily="18" charset="0"/>
              </a:rPr>
              <a:t>元</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UPDATE Students SET </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+30 </a:t>
            </a:r>
          </a:p>
          <a:p>
            <a:pPr mar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&lt;200</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5DF1A4C6-A2A7-467F-8A7D-2B9B39B3796F}"/>
              </a:ext>
            </a:extLst>
          </p:cNvPr>
          <p:cNvSpPr/>
          <p:nvPr/>
        </p:nvSpPr>
        <p:spPr>
          <a:xfrm>
            <a:off x="6296780" y="3352800"/>
            <a:ext cx="2803464" cy="646331"/>
          </a:xfrm>
          <a:prstGeom prst="rect">
            <a:avLst/>
          </a:prstGeom>
          <a:ln>
            <a:solidFill>
              <a:srgbClr val="C00000"/>
            </a:solidFill>
          </a:ln>
        </p:spPr>
        <p:txBody>
          <a:bodyPr wrap="square" lIns="0" rIns="0">
            <a:spAutoFit/>
          </a:bodyPr>
          <a:lstStyle/>
          <a:p>
            <a:pPr marL="0" indent="0" defTabSz="914400">
              <a:spcBef>
                <a:spcPts val="0"/>
              </a:spcBef>
              <a:buSzPct val="100000"/>
              <a:buNone/>
            </a:pP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思考：</a:t>
            </a: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Excel</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中如何实现</a:t>
            </a:r>
            <a:b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助学金增加？</a:t>
            </a:r>
          </a:p>
        </p:txBody>
      </p:sp>
      <p:sp>
        <p:nvSpPr>
          <p:cNvPr id="12" name="矩形 11">
            <a:extLst>
              <a:ext uri="{FF2B5EF4-FFF2-40B4-BE49-F238E27FC236}">
                <a16:creationId xmlns:a16="http://schemas.microsoft.com/office/drawing/2014/main" id="{7E6BAF8C-5201-4312-8C52-DF0FF22FA2D8}"/>
              </a:ext>
            </a:extLst>
          </p:cNvPr>
          <p:cNvSpPr/>
          <p:nvPr/>
        </p:nvSpPr>
        <p:spPr>
          <a:xfrm>
            <a:off x="6296780" y="4311991"/>
            <a:ext cx="2803464" cy="646331"/>
          </a:xfrm>
          <a:prstGeom prst="rect">
            <a:avLst/>
          </a:prstGeom>
          <a:ln>
            <a:solidFill>
              <a:srgbClr val="C00000"/>
            </a:solidFill>
          </a:ln>
        </p:spPr>
        <p:txBody>
          <a:bodyPr wrap="square" lIns="0" rIns="0">
            <a:spAutoFit/>
          </a:bodyPr>
          <a:lstStyle/>
          <a:p>
            <a:pPr marL="0" indent="0">
              <a:spcBef>
                <a:spcPts val="0"/>
              </a:spcBef>
              <a:buSzPct val="100000"/>
              <a:buNone/>
            </a:pP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注意：</a:t>
            </a: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UPDATE</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语句一次只</a:t>
            </a:r>
            <a:endPar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0" indent="0">
              <a:spcBef>
                <a:spcPts val="0"/>
              </a:spcBef>
              <a:buSzPct val="100000"/>
              <a:buNone/>
            </a:pP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能对一个表进行修改</a:t>
            </a:r>
          </a:p>
        </p:txBody>
      </p:sp>
    </p:spTree>
    <p:extLst>
      <p:ext uri="{BB962C8B-B14F-4D97-AF65-F5344CB8AC3E}">
        <p14:creationId xmlns:p14="http://schemas.microsoft.com/office/powerpoint/2010/main" val="88923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3097293"/>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[DISTINCT]</a:t>
            </a:r>
            <a:r>
              <a:rPr lang="zh-CN" altLang="en-US" sz="1800" dirty="0">
                <a:solidFill>
                  <a:srgbClr val="000066"/>
                </a:solidFill>
                <a:latin typeface="Times New Roman" panose="02020603050405020304" pitchFamily="18" charset="0"/>
                <a:cs typeface="Times New Roman" panose="02020603050405020304" pitchFamily="18" charset="0"/>
              </a:rPr>
              <a:t>目标列 </a:t>
            </a:r>
            <a:r>
              <a:rPr lang="en-US" altLang="zh-CN" sz="1800" dirty="0">
                <a:solidFill>
                  <a:srgbClr val="000066"/>
                </a:solidFill>
                <a:latin typeface="Times New Roman" panose="02020603050405020304" pitchFamily="18" charset="0"/>
                <a:cs typeface="Times New Roman" panose="02020603050405020304" pitchFamily="18" charset="0"/>
              </a:rPr>
              <a:t>FROM </a:t>
            </a:r>
            <a:r>
              <a:rPr lang="zh-CN" altLang="en-US" sz="1800" dirty="0">
                <a:solidFill>
                  <a:srgbClr val="000066"/>
                </a:solidFill>
                <a:latin typeface="Times New Roman" panose="02020603050405020304" pitchFamily="18" charset="0"/>
                <a:cs typeface="Times New Roman" panose="02020603050405020304" pitchFamily="18" charset="0"/>
              </a:rPr>
              <a:t>表  </a:t>
            </a: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基本部分，必选，择字段（列） </a:t>
            </a:r>
          </a:p>
          <a:p>
            <a:pPr marL="0" lvl="0" indent="0" algn="just"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条件表达式</a:t>
            </a: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cs typeface="Times New Roman" panose="02020603050405020304" pitchFamily="18" charset="0"/>
              </a:rPr>
              <a:t>— </a:t>
            </a:r>
            <a:r>
              <a:rPr lang="zh-CN" altLang="en-US" sz="1800" dirty="0">
                <a:solidFill>
                  <a:srgbClr val="000066"/>
                </a:solidFill>
                <a:cs typeface="Times New Roman" panose="02020603050405020304" pitchFamily="18" charset="0"/>
              </a:rPr>
              <a:t>可</a:t>
            </a:r>
            <a:r>
              <a:rPr lang="zh-CN" altLang="en-US" sz="1800" dirty="0">
                <a:solidFill>
                  <a:srgbClr val="000066"/>
                </a:solidFill>
                <a:latin typeface="Times New Roman" panose="02020603050405020304" pitchFamily="18" charset="0"/>
                <a:cs typeface="Times New Roman" panose="02020603050405020304" pitchFamily="18" charset="0"/>
              </a:rPr>
              <a:t>选，选择满足条件的记录（行</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gn="just"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[GROUP BY </a:t>
            </a:r>
            <a:r>
              <a:rPr lang="zh-CN" altLang="en-US" sz="1800" dirty="0">
                <a:solidFill>
                  <a:srgbClr val="000066"/>
                </a:solidFill>
                <a:latin typeface="Times New Roman" panose="02020603050405020304" pitchFamily="18" charset="0"/>
                <a:cs typeface="Times New Roman" panose="02020603050405020304" pitchFamily="18" charset="0"/>
              </a:rPr>
              <a:t>列名</a:t>
            </a:r>
            <a:r>
              <a:rPr lang="en-US" altLang="zh-CN" sz="1800" dirty="0">
                <a:solidFill>
                  <a:srgbClr val="000066"/>
                </a:solidFill>
                <a:latin typeface="Times New Roman" panose="02020603050405020304" pitchFamily="18" charset="0"/>
                <a:cs typeface="Times New Roman" panose="02020603050405020304" pitchFamily="18" charset="0"/>
              </a:rPr>
              <a:t>1 HAVING </a:t>
            </a:r>
            <a:r>
              <a:rPr lang="zh-CN" altLang="en-US" sz="1800" dirty="0">
                <a:solidFill>
                  <a:srgbClr val="000066"/>
                </a:solidFill>
                <a:latin typeface="Times New Roman" panose="02020603050405020304" pitchFamily="18" charset="0"/>
                <a:cs typeface="Times New Roman" panose="02020603050405020304" pitchFamily="18" charset="0"/>
              </a:rPr>
              <a:t>表达式</a:t>
            </a: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cs typeface="Times New Roman" panose="02020603050405020304" pitchFamily="18" charset="0"/>
              </a:rPr>
              <a:t>— </a:t>
            </a:r>
            <a:r>
              <a:rPr lang="zh-CN" altLang="en-US" sz="1800" dirty="0">
                <a:solidFill>
                  <a:srgbClr val="000066"/>
                </a:solidFill>
                <a:cs typeface="Times New Roman" panose="02020603050405020304" pitchFamily="18" charset="0"/>
              </a:rPr>
              <a:t>可选，</a:t>
            </a:r>
            <a:r>
              <a:rPr lang="zh-CN" altLang="en-US" sz="1800" dirty="0">
                <a:solidFill>
                  <a:srgbClr val="000066"/>
                </a:solidFill>
                <a:latin typeface="Times New Roman" panose="02020603050405020304" pitchFamily="18" charset="0"/>
                <a:cs typeface="Times New Roman" panose="02020603050405020304" pitchFamily="18" charset="0"/>
              </a:rPr>
              <a:t>分组统计，并过滤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[ORDER BY </a:t>
            </a:r>
            <a:r>
              <a:rPr lang="zh-CN" altLang="en-US" sz="1800" dirty="0">
                <a:solidFill>
                  <a:srgbClr val="000066"/>
                </a:solidFill>
                <a:latin typeface="Times New Roman" panose="02020603050405020304" pitchFamily="18" charset="0"/>
                <a:cs typeface="Times New Roman" panose="02020603050405020304" pitchFamily="18" charset="0"/>
              </a:rPr>
              <a:t>列名</a:t>
            </a:r>
            <a:r>
              <a:rPr lang="en-US" altLang="zh-CN" sz="1800" dirty="0">
                <a:solidFill>
                  <a:srgbClr val="000066"/>
                </a:solidFill>
                <a:latin typeface="Times New Roman" panose="02020603050405020304" pitchFamily="18" charset="0"/>
                <a:cs typeface="Times New Roman" panose="02020603050405020304" pitchFamily="18" charset="0"/>
              </a:rPr>
              <a:t>2 [</a:t>
            </a:r>
            <a:r>
              <a:rPr lang="en-US" altLang="zh-CN" sz="1800" dirty="0" err="1">
                <a:solidFill>
                  <a:srgbClr val="000066"/>
                </a:solidFill>
                <a:latin typeface="Times New Roman" panose="02020603050405020304" pitchFamily="18" charset="0"/>
                <a:cs typeface="Times New Roman" panose="02020603050405020304" pitchFamily="18" charset="0"/>
              </a:rPr>
              <a:t>ASC|DESC</a:t>
            </a: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可选，排序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gn="just" defTabSz="914400">
              <a:lnSpc>
                <a:spcPct val="130000"/>
              </a:lnSpc>
              <a:spcBef>
                <a:spcPct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功能 ：从表中产生所需的行和列的内容</a:t>
            </a: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63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1009061"/>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818C5CA6-9665-4B5B-9F07-861DDF017492}"/>
              </a:ext>
            </a:extLst>
          </p:cNvPr>
          <p:cNvPicPr>
            <a:picLocks noChangeAspect="1"/>
          </p:cNvPicPr>
          <p:nvPr/>
        </p:nvPicPr>
        <p:blipFill>
          <a:blip r:embed="rId3"/>
          <a:stretch>
            <a:fillRect/>
          </a:stretch>
        </p:blipFill>
        <p:spPr>
          <a:xfrm>
            <a:off x="1156400" y="2211710"/>
            <a:ext cx="6985911" cy="2664296"/>
          </a:xfrm>
          <a:prstGeom prst="rect">
            <a:avLst/>
          </a:prstGeom>
        </p:spPr>
      </p:pic>
      <p:sp>
        <p:nvSpPr>
          <p:cNvPr id="14" name="AutoShape 9">
            <a:extLst>
              <a:ext uri="{FF2B5EF4-FFF2-40B4-BE49-F238E27FC236}">
                <a16:creationId xmlns:a16="http://schemas.microsoft.com/office/drawing/2014/main" id="{1E14A581-C0E8-48BE-A2C6-DE0E8D862BC8}"/>
              </a:ext>
            </a:extLst>
          </p:cNvPr>
          <p:cNvSpPr/>
          <p:nvPr/>
        </p:nvSpPr>
        <p:spPr>
          <a:xfrm>
            <a:off x="8142311" y="2723528"/>
            <a:ext cx="216025" cy="1657133"/>
          </a:xfrm>
          <a:prstGeom prst="rightBrace">
            <a:avLst>
              <a:gd name="adj1" fmla="val 122087"/>
              <a:gd name="adj2" fmla="val 51153"/>
            </a:avLst>
          </a:prstGeom>
          <a:noFill/>
          <a:ln w="9525" cap="flat" cmpd="sng">
            <a:solidFill>
              <a:schemeClr val="tx1"/>
            </a:solidFill>
            <a:prstDash val="solid"/>
            <a:headEnd type="none" w="med" len="med"/>
            <a:tailEnd type="none" w="med" len="med"/>
          </a:ln>
        </p:spPr>
        <p:txBody>
          <a:bodyPr wrap="none" lIns="131529" tIns="65765" rIns="131529" bIns="65765" anchor="ct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spcBef>
                <a:spcPct val="0"/>
              </a:spcBef>
              <a:buClrTx/>
              <a:buSzPct val="100000"/>
              <a:buNone/>
            </a:pPr>
            <a:endParaRPr lang="zh-CN" altLang="en-US" sz="1800" dirty="0">
              <a:latin typeface="Arial" panose="020B0604020202020204" pitchFamily="34" charset="0"/>
            </a:endParaRPr>
          </a:p>
        </p:txBody>
      </p:sp>
      <p:sp>
        <p:nvSpPr>
          <p:cNvPr id="15" name="Text Box 10">
            <a:extLst>
              <a:ext uri="{FF2B5EF4-FFF2-40B4-BE49-F238E27FC236}">
                <a16:creationId xmlns:a16="http://schemas.microsoft.com/office/drawing/2014/main" id="{E5BF6B77-062E-455F-BD91-BFF255E8CC81}"/>
              </a:ext>
            </a:extLst>
          </p:cNvPr>
          <p:cNvSpPr txBox="1"/>
          <p:nvPr/>
        </p:nvSpPr>
        <p:spPr>
          <a:xfrm>
            <a:off x="8209539" y="3201763"/>
            <a:ext cx="898965" cy="637568"/>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
              </a:spcBef>
              <a:buClrTx/>
              <a:buSzPct val="100000"/>
              <a:buNone/>
            </a:pP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Where</a:t>
            </a:r>
          </a:p>
          <a:p>
            <a:pPr marL="0" lvl="0" indent="0" algn="ctr" defTabSz="914400" eaLnBrk="1" hangingPunct="1">
              <a:spcBef>
                <a:spcPct val="500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条件</a:t>
            </a:r>
          </a:p>
        </p:txBody>
      </p:sp>
      <p:sp>
        <p:nvSpPr>
          <p:cNvPr id="16" name="AutoShape 7">
            <a:extLst>
              <a:ext uri="{FF2B5EF4-FFF2-40B4-BE49-F238E27FC236}">
                <a16:creationId xmlns:a16="http://schemas.microsoft.com/office/drawing/2014/main" id="{CAB5D713-6713-4132-A26A-6503579DDABC}"/>
              </a:ext>
            </a:extLst>
          </p:cNvPr>
          <p:cNvSpPr/>
          <p:nvPr/>
        </p:nvSpPr>
        <p:spPr>
          <a:xfrm rot="5400000">
            <a:off x="3951275" y="-508653"/>
            <a:ext cx="528739" cy="5542424"/>
          </a:xfrm>
          <a:prstGeom prst="leftBrace">
            <a:avLst>
              <a:gd name="adj1" fmla="val 110719"/>
              <a:gd name="adj2" fmla="val 50000"/>
            </a:avLst>
          </a:prstGeom>
          <a:noFill/>
          <a:ln w="9525" cap="flat" cmpd="sng">
            <a:solidFill>
              <a:schemeClr val="tx1"/>
            </a:solidFill>
            <a:prstDash val="solid"/>
            <a:headEnd type="none" w="med" len="med"/>
            <a:tailEnd type="none" w="med" len="med"/>
          </a:ln>
        </p:spPr>
        <p:txBody>
          <a:bodyPr wrap="none" lIns="131529" tIns="65765" rIns="131529" bIns="65765" anchor="ct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spcBef>
                <a:spcPct val="0"/>
              </a:spcBef>
              <a:buClrTx/>
              <a:buSzPct val="100000"/>
              <a:buNone/>
            </a:pPr>
            <a:endParaRPr lang="zh-CN" altLang="en-US" sz="1800" dirty="0">
              <a:latin typeface="Arial" panose="020B0604020202020204" pitchFamily="34" charset="0"/>
            </a:endParaRPr>
          </a:p>
        </p:txBody>
      </p:sp>
      <p:sp>
        <p:nvSpPr>
          <p:cNvPr id="17" name="Text Box 8">
            <a:extLst>
              <a:ext uri="{FF2B5EF4-FFF2-40B4-BE49-F238E27FC236}">
                <a16:creationId xmlns:a16="http://schemas.microsoft.com/office/drawing/2014/main" id="{78566579-29F8-4E81-BCAF-D3A2C24A2D72}"/>
              </a:ext>
            </a:extLst>
          </p:cNvPr>
          <p:cNvSpPr txBox="1"/>
          <p:nvPr/>
        </p:nvSpPr>
        <p:spPr>
          <a:xfrm>
            <a:off x="3748715" y="1707654"/>
            <a:ext cx="936078" cy="379036"/>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目标列</a:t>
            </a:r>
          </a:p>
        </p:txBody>
      </p:sp>
      <p:sp>
        <p:nvSpPr>
          <p:cNvPr id="18" name="Text Box 8">
            <a:extLst>
              <a:ext uri="{FF2B5EF4-FFF2-40B4-BE49-F238E27FC236}">
                <a16:creationId xmlns:a16="http://schemas.microsoft.com/office/drawing/2014/main" id="{210970A8-DDD2-4C88-B623-5E355D9F0D23}"/>
              </a:ext>
            </a:extLst>
          </p:cNvPr>
          <p:cNvSpPr txBox="1"/>
          <p:nvPr/>
        </p:nvSpPr>
        <p:spPr>
          <a:xfrm>
            <a:off x="2593261" y="1707654"/>
            <a:ext cx="936078" cy="379036"/>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0"/>
              </a:spcBef>
              <a:buClrTx/>
              <a:buSzPct val="100000"/>
              <a:buNone/>
            </a:pP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FROM</a:t>
            </a:r>
            <a:endPar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0" name="直接箭头连接符 9">
            <a:extLst>
              <a:ext uri="{FF2B5EF4-FFF2-40B4-BE49-F238E27FC236}">
                <a16:creationId xmlns:a16="http://schemas.microsoft.com/office/drawing/2014/main" id="{CC411131-5ED0-4980-A55E-F5625EBF8BB6}"/>
              </a:ext>
            </a:extLst>
          </p:cNvPr>
          <p:cNvCxnSpPr>
            <a:cxnSpLocks/>
          </p:cNvCxnSpPr>
          <p:nvPr/>
        </p:nvCxnSpPr>
        <p:spPr>
          <a:xfrm>
            <a:off x="3131840" y="1969180"/>
            <a:ext cx="685531" cy="397530"/>
          </a:xfrm>
          <a:prstGeom prst="straightConnector1">
            <a:avLst/>
          </a:prstGeom>
          <a:ln w="1905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 Box 8">
            <a:extLst>
              <a:ext uri="{FF2B5EF4-FFF2-40B4-BE49-F238E27FC236}">
                <a16:creationId xmlns:a16="http://schemas.microsoft.com/office/drawing/2014/main" id="{B4E0F065-7092-43F0-A5E1-8AF51E89D42A}"/>
              </a:ext>
            </a:extLst>
          </p:cNvPr>
          <p:cNvSpPr txBox="1"/>
          <p:nvPr/>
        </p:nvSpPr>
        <p:spPr>
          <a:xfrm>
            <a:off x="5216747" y="1712598"/>
            <a:ext cx="1562588" cy="379036"/>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0"/>
              </a:spcBef>
              <a:buClrTx/>
              <a:buSzPct val="100000"/>
              <a:buNone/>
            </a:pP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GROUP BY</a:t>
            </a:r>
            <a:endPar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A4E5CA36-9E99-45CF-B2EB-94CCD3D18D20}"/>
              </a:ext>
            </a:extLst>
          </p:cNvPr>
          <p:cNvCxnSpPr>
            <a:cxnSpLocks/>
          </p:cNvCxnSpPr>
          <p:nvPr/>
        </p:nvCxnSpPr>
        <p:spPr>
          <a:xfrm flipH="1">
            <a:off x="2699792" y="1980711"/>
            <a:ext cx="2801117" cy="880488"/>
          </a:xfrm>
          <a:prstGeom prst="straightConnector1">
            <a:avLst/>
          </a:prstGeom>
          <a:ln w="1905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B56FE91-7A77-40F3-9A49-BA18AC76FDD9}"/>
              </a:ext>
            </a:extLst>
          </p:cNvPr>
          <p:cNvCxnSpPr>
            <a:cxnSpLocks/>
          </p:cNvCxnSpPr>
          <p:nvPr/>
        </p:nvCxnSpPr>
        <p:spPr>
          <a:xfrm flipH="1">
            <a:off x="4001287" y="1995686"/>
            <a:ext cx="1492785" cy="865513"/>
          </a:xfrm>
          <a:prstGeom prst="straightConnector1">
            <a:avLst/>
          </a:prstGeom>
          <a:ln w="1905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363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415687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简单查询</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10</a:t>
            </a:r>
            <a:r>
              <a:rPr lang="zh-CN" altLang="en-US" sz="1800" dirty="0">
                <a:solidFill>
                  <a:srgbClr val="000066"/>
                </a:solidFill>
                <a:latin typeface="Times New Roman" panose="02020603050405020304" pitchFamily="18" charset="0"/>
                <a:cs typeface="Times New Roman" panose="02020603050405020304" pitchFamily="18" charset="0"/>
              </a:rPr>
              <a:t>：查询所有学生的学号、姓名、性别和专业 </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SELECT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性别</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专业 </a:t>
            </a:r>
          </a:p>
          <a:p>
            <a:pPr marL="0" lvl="2"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FROM Students</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说明：可用*查询所有字段         </a:t>
            </a:r>
            <a:r>
              <a:rPr lang="en-US" altLang="zh-CN" sz="1800" dirty="0">
                <a:solidFill>
                  <a:srgbClr val="000066"/>
                </a:solidFill>
                <a:latin typeface="Times New Roman" panose="02020603050405020304" pitchFamily="18" charset="0"/>
                <a:cs typeface="Times New Roman" panose="02020603050405020304" pitchFamily="18" charset="0"/>
              </a:rPr>
              <a:t>SELECT * FROM Students</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11</a:t>
            </a:r>
            <a:r>
              <a:rPr lang="zh-CN" altLang="en-US" sz="1800" dirty="0">
                <a:solidFill>
                  <a:srgbClr val="000066"/>
                </a:solidFill>
                <a:latin typeface="Times New Roman" panose="02020603050405020304" pitchFamily="18" charset="0"/>
                <a:cs typeface="Times New Roman" panose="02020603050405020304" pitchFamily="18" charset="0"/>
              </a:rPr>
              <a:t>：查询所用的专业，查询结果中不出现重复的记录 </a:t>
            </a:r>
          </a:p>
          <a:p>
            <a:pPr marL="0" lvl="2"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DISTINCT </a:t>
            </a:r>
            <a:r>
              <a:rPr lang="zh-CN" altLang="en-US" sz="1800" dirty="0">
                <a:solidFill>
                  <a:srgbClr val="000066"/>
                </a:solidFill>
                <a:latin typeface="Times New Roman" panose="02020603050405020304" pitchFamily="18" charset="0"/>
                <a:cs typeface="Times New Roman" panose="02020603050405020304" pitchFamily="18" charset="0"/>
              </a:rPr>
              <a:t>专业 </a:t>
            </a:r>
          </a:p>
          <a:p>
            <a:pPr marL="0" lvl="2"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FROM Students;</a:t>
            </a: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30" name="图片 29">
            <a:extLst>
              <a:ext uri="{FF2B5EF4-FFF2-40B4-BE49-F238E27FC236}">
                <a16:creationId xmlns:a16="http://schemas.microsoft.com/office/drawing/2014/main" id="{BEF2692E-E5AE-4B96-91CC-C59C30E2775A}"/>
              </a:ext>
            </a:extLst>
          </p:cNvPr>
          <p:cNvPicPr>
            <a:picLocks noChangeAspect="1"/>
          </p:cNvPicPr>
          <p:nvPr/>
        </p:nvPicPr>
        <p:blipFill>
          <a:blip r:embed="rId3"/>
          <a:stretch>
            <a:fillRect/>
          </a:stretch>
        </p:blipFill>
        <p:spPr>
          <a:xfrm>
            <a:off x="7224595" y="2366020"/>
            <a:ext cx="1367937" cy="2593663"/>
          </a:xfrm>
          <a:prstGeom prst="rect">
            <a:avLst/>
          </a:prstGeom>
        </p:spPr>
      </p:pic>
      <p:pic>
        <p:nvPicPr>
          <p:cNvPr id="39" name="图片 38">
            <a:extLst>
              <a:ext uri="{FF2B5EF4-FFF2-40B4-BE49-F238E27FC236}">
                <a16:creationId xmlns:a16="http://schemas.microsoft.com/office/drawing/2014/main" id="{27001920-E8D1-4F14-A8DF-DC2D942ED40D}"/>
              </a:ext>
            </a:extLst>
          </p:cNvPr>
          <p:cNvPicPr>
            <a:picLocks noChangeAspect="1"/>
          </p:cNvPicPr>
          <p:nvPr/>
        </p:nvPicPr>
        <p:blipFill>
          <a:blip r:embed="rId4"/>
          <a:stretch>
            <a:fillRect/>
          </a:stretch>
        </p:blipFill>
        <p:spPr>
          <a:xfrm>
            <a:off x="7224595" y="1021536"/>
            <a:ext cx="1367937" cy="1287470"/>
          </a:xfrm>
          <a:prstGeom prst="rect">
            <a:avLst/>
          </a:prstGeom>
        </p:spPr>
      </p:pic>
      <p:sp>
        <p:nvSpPr>
          <p:cNvPr id="42" name="Text Box 8">
            <a:extLst>
              <a:ext uri="{FF2B5EF4-FFF2-40B4-BE49-F238E27FC236}">
                <a16:creationId xmlns:a16="http://schemas.microsoft.com/office/drawing/2014/main" id="{AF58720B-9AAE-43B6-B342-733E2BF8A9AF}"/>
              </a:ext>
            </a:extLst>
          </p:cNvPr>
          <p:cNvSpPr txBox="1"/>
          <p:nvPr/>
        </p:nvSpPr>
        <p:spPr>
          <a:xfrm>
            <a:off x="5148064" y="1400626"/>
            <a:ext cx="1608662" cy="379036"/>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DISTINCT</a:t>
            </a:r>
            <a:endPar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43" name="直接箭头连接符 42">
            <a:extLst>
              <a:ext uri="{FF2B5EF4-FFF2-40B4-BE49-F238E27FC236}">
                <a16:creationId xmlns:a16="http://schemas.microsoft.com/office/drawing/2014/main" id="{57E2DEC3-10C3-4D21-BFB7-75D674E14D5A}"/>
              </a:ext>
            </a:extLst>
          </p:cNvPr>
          <p:cNvCxnSpPr>
            <a:cxnSpLocks/>
          </p:cNvCxnSpPr>
          <p:nvPr/>
        </p:nvCxnSpPr>
        <p:spPr>
          <a:xfrm>
            <a:off x="6660232" y="1590144"/>
            <a:ext cx="564363" cy="0"/>
          </a:xfrm>
          <a:prstGeom prst="straightConnector1">
            <a:avLst/>
          </a:prstGeom>
          <a:ln w="1905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50" name="Text Box 8">
            <a:extLst>
              <a:ext uri="{FF2B5EF4-FFF2-40B4-BE49-F238E27FC236}">
                <a16:creationId xmlns:a16="http://schemas.microsoft.com/office/drawing/2014/main" id="{8BD25819-B6E3-45A6-8570-7C3A16C13D20}"/>
              </a:ext>
            </a:extLst>
          </p:cNvPr>
          <p:cNvSpPr txBox="1"/>
          <p:nvPr/>
        </p:nvSpPr>
        <p:spPr>
          <a:xfrm>
            <a:off x="5166939" y="2787774"/>
            <a:ext cx="1608662" cy="379036"/>
          </a:xfrm>
          <a:prstGeom prst="rect">
            <a:avLst/>
          </a:prstGeom>
          <a:noFill/>
          <a:ln w="9525">
            <a:noFill/>
          </a:ln>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5000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没用</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DISTINCT</a:t>
            </a:r>
            <a:endPar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8DC22F53-B1DE-41B0-AEB0-4ACFA3FF8439}"/>
              </a:ext>
            </a:extLst>
          </p:cNvPr>
          <p:cNvCxnSpPr>
            <a:cxnSpLocks/>
          </p:cNvCxnSpPr>
          <p:nvPr/>
        </p:nvCxnSpPr>
        <p:spPr>
          <a:xfrm>
            <a:off x="6679107" y="2977292"/>
            <a:ext cx="564363" cy="0"/>
          </a:xfrm>
          <a:prstGeom prst="straightConnector1">
            <a:avLst/>
          </a:prstGeom>
          <a:ln w="1905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038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352929" cy="415687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简单查询</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黑体" panose="02010609060101010101" pitchFamily="49" charset="-122"/>
              <a:ea typeface="黑体" panose="02010609060101010101" pitchFamily="49" charset="-122"/>
              <a:cs typeface="Times New Roman" panose="02020603050405020304" pitchFamily="18" charset="0"/>
            </a:endParaRP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2788D0C5-328D-4135-8A11-81613F313704}"/>
              </a:ext>
            </a:extLst>
          </p:cNvPr>
          <p:cNvGraphicFramePr>
            <a:graphicFrameLocks noGrp="1"/>
          </p:cNvGraphicFramePr>
          <p:nvPr/>
        </p:nvGraphicFramePr>
        <p:xfrm>
          <a:off x="2843808" y="1923678"/>
          <a:ext cx="6047582" cy="1585125"/>
        </p:xfrm>
        <a:graphic>
          <a:graphicData uri="http://schemas.openxmlformats.org/drawingml/2006/table">
            <a:tbl>
              <a:tblPr firstRow="1" firstCol="1" lastRow="1" lastCol="1" bandRow="1" bandCol="1">
                <a:tableStyleId>{5C22544A-7EE6-4342-B048-85BDC9FD1C3A}</a:tableStyleId>
              </a:tblPr>
              <a:tblGrid>
                <a:gridCol w="1727101">
                  <a:extLst>
                    <a:ext uri="{9D8B030D-6E8A-4147-A177-3AD203B41FA5}">
                      <a16:colId xmlns:a16="http://schemas.microsoft.com/office/drawing/2014/main" val="2127683163"/>
                    </a:ext>
                  </a:extLst>
                </a:gridCol>
                <a:gridCol w="4320481">
                  <a:extLst>
                    <a:ext uri="{9D8B030D-6E8A-4147-A177-3AD203B41FA5}">
                      <a16:colId xmlns:a16="http://schemas.microsoft.com/office/drawing/2014/main" val="4194879221"/>
                    </a:ext>
                  </a:extLst>
                </a:gridCol>
              </a:tblGrid>
              <a:tr h="317025">
                <a:tc>
                  <a:txBody>
                    <a:bodyPr/>
                    <a:lstStyle/>
                    <a:p>
                      <a:pPr algn="ctr">
                        <a:spcAft>
                          <a:spcPts val="0"/>
                        </a:spcAft>
                      </a:pP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类</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150" indent="-57150" algn="ctr">
                        <a:spcAft>
                          <a:spcPts val="0"/>
                        </a:spcAft>
                      </a:pP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运</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算</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4570944"/>
                  </a:ext>
                </a:extLst>
              </a:tr>
              <a:tr h="317025">
                <a:tc>
                  <a:txBody>
                    <a:bodyPr/>
                    <a:lstStyle/>
                    <a:p>
                      <a:pPr algn="ctr">
                        <a:spcAft>
                          <a:spcPts val="0"/>
                        </a:spcAft>
                      </a:pP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算术运算符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57150" indent="-57150" algn="ctr">
                        <a:spcAft>
                          <a:spcPts val="0"/>
                        </a:spcAft>
                      </a:pP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  *  /  ^(</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乘方</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整除</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  MOD(</a:t>
                      </a: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取余数</a:t>
                      </a: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1600644"/>
                  </a:ext>
                </a:extLst>
              </a:tr>
              <a:tr h="317025">
                <a:tc>
                  <a:txBody>
                    <a:bodyPr/>
                    <a:lstStyle/>
                    <a:p>
                      <a:pPr algn="ctr">
                        <a:spcAft>
                          <a:spcPts val="0"/>
                        </a:spcAft>
                      </a:pPr>
                      <a:r>
                        <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关系运算符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&lt;  &lt;=  &lt;&gt;  &gt;  &gt;=  Between  Like  </a:t>
                      </a:r>
                      <a:endPar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1785008"/>
                  </a:ext>
                </a:extLst>
              </a:tr>
              <a:tr h="317025">
                <a:tc>
                  <a:txBody>
                    <a:bodyPr/>
                    <a:lstStyle/>
                    <a:p>
                      <a:pPr algn="ctr">
                        <a:spcAft>
                          <a:spcPts val="0"/>
                        </a:spcAft>
                      </a:pPr>
                      <a:r>
                        <a:rPr lang="zh-CN" sz="1600" b="0" kern="10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逻辑运算符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Not  And  Or</a:t>
                      </a:r>
                      <a:endPar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9888930"/>
                  </a:ext>
                </a:extLst>
              </a:tr>
              <a:tr h="317025">
                <a:tc>
                  <a:txBody>
                    <a:bodyPr/>
                    <a:lstStyle/>
                    <a:p>
                      <a:pPr algn="ctr">
                        <a:spcAft>
                          <a:spcPts val="0"/>
                        </a:spcAft>
                      </a:pPr>
                      <a:r>
                        <a:rPr lang="zh-CN" sz="1600" b="0" kern="10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字符运算符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&amp;</a:t>
                      </a:r>
                      <a:endParaRPr lang="zh-CN" sz="1600" b="0" kern="1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039253"/>
                  </a:ext>
                </a:extLst>
              </a:tr>
            </a:tbl>
          </a:graphicData>
        </a:graphic>
      </p:graphicFrame>
      <p:sp>
        <p:nvSpPr>
          <p:cNvPr id="4" name="矩形 3">
            <a:extLst>
              <a:ext uri="{FF2B5EF4-FFF2-40B4-BE49-F238E27FC236}">
                <a16:creationId xmlns:a16="http://schemas.microsoft.com/office/drawing/2014/main" id="{5CCE49E5-85E3-4745-BE26-362E0186AC5B}"/>
              </a:ext>
            </a:extLst>
          </p:cNvPr>
          <p:cNvSpPr/>
          <p:nvPr/>
        </p:nvSpPr>
        <p:spPr>
          <a:xfrm>
            <a:off x="1115615" y="3577421"/>
            <a:ext cx="7344816" cy="1497461"/>
          </a:xfrm>
          <a:prstGeom prst="rect">
            <a:avLst/>
          </a:prstGeom>
        </p:spPr>
        <p:txBody>
          <a:bodyPr wrap="square">
            <a:spAutoFit/>
          </a:bodyPr>
          <a:lstStyle/>
          <a:p>
            <a:pPr lvl="0">
              <a:lnSpc>
                <a:spcPct val="130000"/>
              </a:lnSpc>
              <a:buSzPct val="100000"/>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注意：可使用通配符：*和？</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lvl="0">
              <a:lnSpc>
                <a:spcPct val="130000"/>
              </a:lnSpc>
              <a:buSzPct val="100000"/>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姓名  </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Like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张*</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：查找姓“张”的学生：姓名  </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Like  "</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张*</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lvl="0">
              <a:lnSpc>
                <a:spcPct val="130000"/>
              </a:lnSpc>
              <a:buSzPct val="100000"/>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姓名  </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Not  Like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张*</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：查找不是姓“张”的学生：</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lvl="0">
              <a:lnSpc>
                <a:spcPct val="130000"/>
              </a:lnSpc>
              <a:buSzPct val="100000"/>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姓名  </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Like “?</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明*</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：查找名中第二个字是“明”的学生：</a:t>
            </a:r>
            <a:endPar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D0A8CECD-9E7A-4EBF-941E-63818F0A4EEF}"/>
              </a:ext>
            </a:extLst>
          </p:cNvPr>
          <p:cNvSpPr/>
          <p:nvPr/>
        </p:nvSpPr>
        <p:spPr>
          <a:xfrm>
            <a:off x="5004048" y="1554346"/>
            <a:ext cx="1210588" cy="338554"/>
          </a:xfrm>
          <a:prstGeom prst="rect">
            <a:avLst/>
          </a:prstGeom>
        </p:spPr>
        <p:txBody>
          <a:bodyPr wrap="none">
            <a:spAutoFit/>
          </a:bodyPr>
          <a:lstStyle/>
          <a:p>
            <a:r>
              <a:rPr lang="zh-CN" altLang="en-US" sz="1600" dirty="0">
                <a:solidFill>
                  <a:srgbClr val="000066"/>
                </a:solidFill>
                <a:latin typeface="黑体" panose="02010609060101010101" pitchFamily="49" charset="-122"/>
                <a:ea typeface="黑体" panose="02010609060101010101" pitchFamily="49" charset="-122"/>
                <a:cs typeface="Times New Roman" panose="02020603050405020304" pitchFamily="18" charset="0"/>
              </a:rPr>
              <a:t>常用运算符</a:t>
            </a:r>
            <a:endParaRPr lang="zh-CN" altLang="en-US" sz="1600" dirty="0"/>
          </a:p>
        </p:txBody>
      </p:sp>
    </p:spTree>
    <p:extLst>
      <p:ext uri="{BB962C8B-B14F-4D97-AF65-F5344CB8AC3E}">
        <p14:creationId xmlns:p14="http://schemas.microsoft.com/office/powerpoint/2010/main" val="428194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2016225" cy="1441109"/>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简单查询</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黑体" panose="02010609060101010101" pitchFamily="49" charset="-122"/>
              <a:ea typeface="黑体" panose="02010609060101010101" pitchFamily="49" charset="-122"/>
              <a:cs typeface="Times New Roman" panose="02020603050405020304" pitchFamily="18" charset="0"/>
            </a:endParaRP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0A8CECD-9E7A-4EBF-941E-63818F0A4EEF}"/>
              </a:ext>
            </a:extLst>
          </p:cNvPr>
          <p:cNvSpPr/>
          <p:nvPr/>
        </p:nvSpPr>
        <p:spPr>
          <a:xfrm>
            <a:off x="5220072" y="1009837"/>
            <a:ext cx="1005403" cy="338554"/>
          </a:xfrm>
          <a:prstGeom prst="rect">
            <a:avLst/>
          </a:prstGeom>
        </p:spPr>
        <p:txBody>
          <a:bodyPr wrap="none">
            <a:spAutoFit/>
          </a:bodyPr>
          <a:lstStyle/>
          <a:p>
            <a:r>
              <a:rPr lang="zh-CN" altLang="en-US" sz="1600" dirty="0">
                <a:solidFill>
                  <a:srgbClr val="000066"/>
                </a:solidFill>
                <a:latin typeface="黑体" panose="02010609060101010101" pitchFamily="49" charset="-122"/>
                <a:ea typeface="黑体" panose="02010609060101010101" pitchFamily="49" charset="-122"/>
                <a:cs typeface="Times New Roman" panose="02020603050405020304" pitchFamily="18" charset="0"/>
              </a:rPr>
              <a:t>常用函数</a:t>
            </a:r>
            <a:endParaRPr lang="zh-CN" altLang="en-US" sz="1600" dirty="0"/>
          </a:p>
        </p:txBody>
      </p:sp>
      <p:graphicFrame>
        <p:nvGraphicFramePr>
          <p:cNvPr id="6" name="表格 5">
            <a:extLst>
              <a:ext uri="{FF2B5EF4-FFF2-40B4-BE49-F238E27FC236}">
                <a16:creationId xmlns:a16="http://schemas.microsoft.com/office/drawing/2014/main" id="{EEC799F2-74DE-4362-B167-C5C001FAEFD7}"/>
              </a:ext>
            </a:extLst>
          </p:cNvPr>
          <p:cNvGraphicFramePr>
            <a:graphicFrameLocks noGrp="1"/>
          </p:cNvGraphicFramePr>
          <p:nvPr/>
        </p:nvGraphicFramePr>
        <p:xfrm>
          <a:off x="2622237" y="1348393"/>
          <a:ext cx="6270243" cy="2591512"/>
        </p:xfrm>
        <a:graphic>
          <a:graphicData uri="http://schemas.openxmlformats.org/drawingml/2006/table">
            <a:tbl>
              <a:tblPr>
                <a:tableStyleId>{5C22544A-7EE6-4342-B048-85BDC9FD1C3A}</a:tableStyleId>
              </a:tblPr>
              <a:tblGrid>
                <a:gridCol w="914139">
                  <a:extLst>
                    <a:ext uri="{9D8B030D-6E8A-4147-A177-3AD203B41FA5}">
                      <a16:colId xmlns:a16="http://schemas.microsoft.com/office/drawing/2014/main" val="1454977743"/>
                    </a:ext>
                  </a:extLst>
                </a:gridCol>
                <a:gridCol w="1336049">
                  <a:extLst>
                    <a:ext uri="{9D8B030D-6E8A-4147-A177-3AD203B41FA5}">
                      <a16:colId xmlns:a16="http://schemas.microsoft.com/office/drawing/2014/main" val="1135413085"/>
                    </a:ext>
                  </a:extLst>
                </a:gridCol>
                <a:gridCol w="1336049">
                  <a:extLst>
                    <a:ext uri="{9D8B030D-6E8A-4147-A177-3AD203B41FA5}">
                      <a16:colId xmlns:a16="http://schemas.microsoft.com/office/drawing/2014/main" val="2111274933"/>
                    </a:ext>
                  </a:extLst>
                </a:gridCol>
                <a:gridCol w="1687641">
                  <a:extLst>
                    <a:ext uri="{9D8B030D-6E8A-4147-A177-3AD203B41FA5}">
                      <a16:colId xmlns:a16="http://schemas.microsoft.com/office/drawing/2014/main" val="1570793714"/>
                    </a:ext>
                  </a:extLst>
                </a:gridCol>
                <a:gridCol w="996365">
                  <a:extLst>
                    <a:ext uri="{9D8B030D-6E8A-4147-A177-3AD203B41FA5}">
                      <a16:colId xmlns:a16="http://schemas.microsoft.com/office/drawing/2014/main" val="884625984"/>
                    </a:ext>
                  </a:extLst>
                </a:gridCol>
              </a:tblGrid>
              <a:tr h="278416">
                <a:tc>
                  <a:txBody>
                    <a:bodyPr/>
                    <a:lstStyle/>
                    <a:p>
                      <a:pPr indent="0" algn="ctr">
                        <a:lnSpc>
                          <a:spcPct val="100000"/>
                        </a:lnSpc>
                        <a:spcBef>
                          <a:spcPts val="0"/>
                        </a:spcBef>
                        <a:spcAft>
                          <a:spcPts val="0"/>
                        </a:spcAft>
                      </a:pP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函数类型</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函 数 名</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114935" algn="ctr">
                        <a:lnSpc>
                          <a:spcPct val="100000"/>
                        </a:lnSpc>
                        <a:spcBef>
                          <a:spcPts val="0"/>
                        </a:spcBef>
                        <a:spcAft>
                          <a:spcPts val="0"/>
                        </a:spcAft>
                      </a:pP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说</a:t>
                      </a:r>
                      <a:r>
                        <a:rPr lang="en-US"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    </a:t>
                      </a: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明</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1755" indent="114935" algn="ctr">
                        <a:lnSpc>
                          <a:spcPct val="100000"/>
                        </a:lnSpc>
                        <a:spcBef>
                          <a:spcPts val="50"/>
                        </a:spcBef>
                        <a:spcAft>
                          <a:spcPts val="50"/>
                        </a:spcAft>
                      </a:pP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实</a:t>
                      </a:r>
                      <a:r>
                        <a:rPr lang="en-US"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  </a:t>
                      </a: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例</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结</a:t>
                      </a:r>
                      <a:r>
                        <a:rPr lang="en-US"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  </a:t>
                      </a:r>
                      <a:r>
                        <a:rPr lang="zh-CN" sz="1600" dirty="0">
                          <a:solidFill>
                            <a:srgbClr val="000066"/>
                          </a:solidFill>
                          <a:effectLst/>
                          <a:latin typeface="黑体" panose="02010609060101010101" pitchFamily="49" charset="-122"/>
                          <a:ea typeface="黑体" panose="02010609060101010101" pitchFamily="49" charset="-122"/>
                          <a:cs typeface="Times New Roman" panose="02020603050405020304" pitchFamily="18" charset="0"/>
                        </a:rPr>
                        <a:t>果</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4325647"/>
                  </a:ext>
                </a:extLst>
              </a:tr>
              <a:tr h="289137">
                <a:tc rowSpan="2">
                  <a:txBody>
                    <a:bodyPr/>
                    <a:lstStyle/>
                    <a:p>
                      <a:pPr indent="0" algn="ctr">
                        <a:lnSpc>
                          <a:spcPct val="100000"/>
                        </a:lnSpc>
                        <a:spcBef>
                          <a:spcPts val="0"/>
                        </a:spcBef>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内部函数</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Date( )</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返回系统日期</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ts val="1500"/>
                        </a:lnSpc>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Date( )   </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#5/4/2003#</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9281152"/>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Year(D)</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返回年份</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ts val="1500"/>
                        </a:lnSpc>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Year(#12/1/1982#)</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1982</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8009491"/>
                  </a:ext>
                </a:extLst>
              </a:tr>
              <a:tr h="289137">
                <a:tc rowSpan="6">
                  <a:txBody>
                    <a:bodyPr/>
                    <a:lstStyle/>
                    <a:p>
                      <a:pPr indent="0" algn="ctr">
                        <a:lnSpc>
                          <a:spcPct val="100000"/>
                        </a:lnSpc>
                        <a:spcBef>
                          <a:spcPts val="0"/>
                        </a:spcBef>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合计函数</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AVG(</a:t>
                      </a: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列名</a:t>
                      </a: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计算某一列的平均值</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31910281"/>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COUNT(*)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统计记录的个数</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97804427"/>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COUNT(</a:t>
                      </a: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列名</a:t>
                      </a: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统计某一列值的个数</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36931728"/>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SUM(</a:t>
                      </a: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列名</a:t>
                      </a: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计算某一列的总和</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78270254"/>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MAX(</a:t>
                      </a: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列名</a:t>
                      </a: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计算某一列的最大值</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46438551"/>
                  </a:ext>
                </a:extLst>
              </a:tr>
              <a:tr h="289137">
                <a:tc vMerge="1">
                  <a:txBody>
                    <a:bodyPr/>
                    <a:lstStyle/>
                    <a:p>
                      <a:endParaRPr lang="zh-CN" altLang="en-US"/>
                    </a:p>
                  </a:txBody>
                  <a:tcPr/>
                </a:tc>
                <a:tc>
                  <a:txBody>
                    <a:bodyPr/>
                    <a:lstStyle/>
                    <a:p>
                      <a:pPr indent="0" algn="ctr">
                        <a:lnSpc>
                          <a:spcPct val="100000"/>
                        </a:lnSpc>
                        <a:spcBef>
                          <a:spcPts val="0"/>
                        </a:spcBef>
                        <a:spcAft>
                          <a:spcPts val="0"/>
                        </a:spcAft>
                      </a:pP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MIN(</a:t>
                      </a: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列名</a:t>
                      </a:r>
                      <a:r>
                        <a:rPr lang="en-US"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indent="114935" algn="ctr">
                        <a:lnSpc>
                          <a:spcPts val="1500"/>
                        </a:lnSpc>
                        <a:spcAft>
                          <a:spcPts val="0"/>
                        </a:spcAft>
                      </a:pPr>
                      <a:r>
                        <a:rPr lang="zh-CN" sz="1600" dirty="0">
                          <a:solidFill>
                            <a:srgbClr val="000066"/>
                          </a:solidFill>
                          <a:effectLst/>
                          <a:latin typeface="Times New Roman" panose="02020603050405020304" pitchFamily="18" charset="0"/>
                          <a:ea typeface="仿宋" panose="02010609060101010101" pitchFamily="49" charset="-122"/>
                          <a:cs typeface="Times New Roman" panose="02020603050405020304" pitchFamily="18" charset="0"/>
                        </a:rPr>
                        <a:t>计算某一列的最小值</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2363864"/>
                  </a:ext>
                </a:extLst>
              </a:tr>
            </a:tbl>
          </a:graphicData>
        </a:graphic>
      </p:graphicFrame>
      <p:sp>
        <p:nvSpPr>
          <p:cNvPr id="8" name="矩形 7">
            <a:extLst>
              <a:ext uri="{FF2B5EF4-FFF2-40B4-BE49-F238E27FC236}">
                <a16:creationId xmlns:a16="http://schemas.microsoft.com/office/drawing/2014/main" id="{459E4CCB-4E6B-4CCA-BB53-D892250F9826}"/>
              </a:ext>
            </a:extLst>
          </p:cNvPr>
          <p:cNvSpPr/>
          <p:nvPr/>
        </p:nvSpPr>
        <p:spPr>
          <a:xfrm>
            <a:off x="2555776" y="3996365"/>
            <a:ext cx="4572000" cy="1137363"/>
          </a:xfrm>
          <a:prstGeom prst="rect">
            <a:avLst/>
          </a:prstGeom>
        </p:spPr>
        <p:txBody>
          <a:bodyPr>
            <a:spAutoFit/>
          </a:bodyPr>
          <a:lstStyle/>
          <a:p>
            <a:pPr lvl="0" algn="just">
              <a:lnSpc>
                <a:spcPct val="130000"/>
              </a:lnSpc>
              <a:buSzPct val="100000"/>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如果没有</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GROUP BY</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子句，合计函数对整个表进行统计，结果是一条记录；</a:t>
            </a:r>
          </a:p>
          <a:p>
            <a:pPr lvl="0" algn="just">
              <a:lnSpc>
                <a:spcPct val="130000"/>
              </a:lnSpc>
              <a:buSzPct val="100000"/>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否则按分组统计，一组产生一条记录</a:t>
            </a:r>
          </a:p>
        </p:txBody>
      </p:sp>
    </p:spTree>
    <p:extLst>
      <p:ext uri="{BB962C8B-B14F-4D97-AF65-F5344CB8AC3E}">
        <p14:creationId xmlns:p14="http://schemas.microsoft.com/office/powerpoint/2010/main" val="3350554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424937" cy="374536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简单查询</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12</a:t>
            </a:r>
            <a:r>
              <a:rPr lang="zh-CN" altLang="en-US" sz="1800" dirty="0">
                <a:solidFill>
                  <a:srgbClr val="000066"/>
                </a:solidFill>
                <a:latin typeface="Times New Roman" panose="02020603050405020304" pitchFamily="18" charset="0"/>
                <a:cs typeface="Times New Roman" panose="02020603050405020304" pitchFamily="18" charset="0"/>
              </a:rPr>
              <a:t>：使用合计函数，查询学生人数、最低助学金、最高助学金和平均助学金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Count(*) AS </a:t>
            </a:r>
            <a:r>
              <a:rPr lang="zh-CN" altLang="en-US" sz="1800" dirty="0">
                <a:solidFill>
                  <a:srgbClr val="000066"/>
                </a:solidFill>
                <a:latin typeface="Times New Roman" panose="02020603050405020304" pitchFamily="18" charset="0"/>
                <a:cs typeface="Times New Roman" panose="02020603050405020304" pitchFamily="18" charset="0"/>
              </a:rPr>
              <a:t>人数</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Min(</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 AS </a:t>
            </a:r>
            <a:r>
              <a:rPr lang="zh-CN" altLang="en-US" sz="1800" dirty="0">
                <a:solidFill>
                  <a:srgbClr val="000066"/>
                </a:solidFill>
                <a:latin typeface="Times New Roman" panose="02020603050405020304" pitchFamily="18" charset="0"/>
                <a:cs typeface="Times New Roman" panose="02020603050405020304" pitchFamily="18" charset="0"/>
              </a:rPr>
              <a:t>最低助学金</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Max(</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 AS </a:t>
            </a:r>
            <a:r>
              <a:rPr lang="zh-CN" altLang="en-US" sz="1800" dirty="0">
                <a:solidFill>
                  <a:srgbClr val="000066"/>
                </a:solidFill>
                <a:latin typeface="Times New Roman" panose="02020603050405020304" pitchFamily="18" charset="0"/>
                <a:cs typeface="Times New Roman" panose="02020603050405020304" pitchFamily="18" charset="0"/>
              </a:rPr>
              <a:t>最高助学金</a:t>
            </a: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Avg(</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 AS </a:t>
            </a:r>
            <a:r>
              <a:rPr lang="zh-CN" altLang="en-US" sz="1800" dirty="0">
                <a:solidFill>
                  <a:srgbClr val="000066"/>
                </a:solidFill>
                <a:latin typeface="Times New Roman" panose="02020603050405020304" pitchFamily="18" charset="0"/>
                <a:cs typeface="Times New Roman" panose="02020603050405020304" pitchFamily="18" charset="0"/>
              </a:rPr>
              <a:t>平均助学金</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FROM Students</a:t>
            </a: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9" name="AutoShape 4">
            <a:extLst>
              <a:ext uri="{FF2B5EF4-FFF2-40B4-BE49-F238E27FC236}">
                <a16:creationId xmlns:a16="http://schemas.microsoft.com/office/drawing/2014/main" id="{1FE7782B-6E34-46CE-9BDA-32036A0D3285}"/>
              </a:ext>
            </a:extLst>
          </p:cNvPr>
          <p:cNvSpPr/>
          <p:nvPr/>
        </p:nvSpPr>
        <p:spPr>
          <a:xfrm>
            <a:off x="3995937" y="1563638"/>
            <a:ext cx="2376264" cy="576064"/>
          </a:xfrm>
          <a:prstGeom prst="wedgeEllipseCallout">
            <a:avLst>
              <a:gd name="adj1" fmla="val -69114"/>
              <a:gd name="adj2" fmla="val 162392"/>
            </a:avLst>
          </a:prstGeom>
          <a:solidFill>
            <a:schemeClr val="tx2">
              <a:lumMod val="20000"/>
              <a:lumOff val="80000"/>
            </a:schemeClr>
          </a:solidFill>
          <a:ln w="9525" cap="flat" cmpd="sng">
            <a:solidFill>
              <a:schemeClr val="tx1"/>
            </a:solidFill>
            <a:prstDash val="solid"/>
            <a:miter/>
            <a:headEnd type="none" w="med" len="med"/>
            <a:tailEnd type="none" w="med" len="med"/>
          </a:ln>
        </p:spPr>
        <p:txBody>
          <a:bodyPr lIns="0" tIns="65758" rIns="0" bIns="65758" anchor="ct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可改为</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学号</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AutoShape 4">
            <a:extLst>
              <a:ext uri="{FF2B5EF4-FFF2-40B4-BE49-F238E27FC236}">
                <a16:creationId xmlns:a16="http://schemas.microsoft.com/office/drawing/2014/main" id="{FF89446D-CAB2-430E-B4DD-EA3139EC29EA}"/>
              </a:ext>
            </a:extLst>
          </p:cNvPr>
          <p:cNvSpPr/>
          <p:nvPr/>
        </p:nvSpPr>
        <p:spPr>
          <a:xfrm>
            <a:off x="5724128" y="2708607"/>
            <a:ext cx="2520280" cy="576064"/>
          </a:xfrm>
          <a:prstGeom prst="wedgeEllipseCallout">
            <a:avLst>
              <a:gd name="adj1" fmla="val -107972"/>
              <a:gd name="adj2" fmla="val 100144"/>
            </a:avLst>
          </a:prstGeom>
          <a:solidFill>
            <a:schemeClr val="tx2">
              <a:lumMod val="20000"/>
              <a:lumOff val="80000"/>
            </a:schemeClr>
          </a:solidFill>
          <a:ln w="9525" cap="flat" cmpd="sng">
            <a:solidFill>
              <a:schemeClr val="tx1"/>
            </a:solidFill>
            <a:prstDash val="solid"/>
            <a:miter/>
            <a:headEnd type="none" w="med" len="med"/>
            <a:tailEnd type="none" w="med" len="med"/>
          </a:ln>
        </p:spPr>
        <p:txBody>
          <a:bodyPr lIns="0" tIns="65758" rIns="0" bIns="65758" anchor="ct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indent="0" algn="ctr" defTabSz="914400" eaLnBrk="1" hangingPunct="1">
              <a:spcBef>
                <a:spcPct val="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AS</a:t>
            </a: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子句指定别名</a:t>
            </a:r>
            <a:endPar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AutoShape 4">
            <a:extLst>
              <a:ext uri="{FF2B5EF4-FFF2-40B4-BE49-F238E27FC236}">
                <a16:creationId xmlns:a16="http://schemas.microsoft.com/office/drawing/2014/main" id="{CE02EB4B-6924-476F-8298-E5912148D850}"/>
              </a:ext>
            </a:extLst>
          </p:cNvPr>
          <p:cNvSpPr/>
          <p:nvPr/>
        </p:nvSpPr>
        <p:spPr>
          <a:xfrm>
            <a:off x="128881" y="3289362"/>
            <a:ext cx="2376264" cy="576064"/>
          </a:xfrm>
          <a:prstGeom prst="wedgeEllipseCallout">
            <a:avLst>
              <a:gd name="adj1" fmla="val 34255"/>
              <a:gd name="adj2" fmla="val 140606"/>
            </a:avLst>
          </a:prstGeom>
          <a:solidFill>
            <a:schemeClr val="tx2">
              <a:lumMod val="20000"/>
              <a:lumOff val="80000"/>
            </a:schemeClr>
          </a:solidFill>
          <a:ln w="9525" cap="flat" cmpd="sng">
            <a:solidFill>
              <a:schemeClr val="tx1"/>
            </a:solidFill>
            <a:prstDash val="solid"/>
            <a:miter/>
            <a:headEnd type="none" w="med" len="med"/>
            <a:tailEnd type="none" w="med" len="med"/>
          </a:ln>
        </p:spPr>
        <p:txBody>
          <a:bodyPr lIns="0" tIns="65758" rIns="0" bIns="65758" anchor="ct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spcBef>
                <a:spcPct val="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无</a:t>
            </a:r>
            <a:r>
              <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GROUP BY</a:t>
            </a:r>
          </a:p>
          <a:p>
            <a:pPr marL="0" lvl="0" indent="0" algn="ctr" defTabSz="914400" eaLnBrk="1" hangingPunct="1">
              <a:spcBef>
                <a:spcPct val="0"/>
              </a:spcBef>
              <a:buClrTx/>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产生一条记录</a:t>
            </a:r>
            <a:endParaRPr lang="en-US" altLang="zh-CN"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193" name="Picture 1">
            <a:extLst>
              <a:ext uri="{FF2B5EF4-FFF2-40B4-BE49-F238E27FC236}">
                <a16:creationId xmlns:a16="http://schemas.microsoft.com/office/drawing/2014/main" id="{7E7F3065-DCE9-4D84-B722-6A9A8DD9C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1986" y="4452723"/>
            <a:ext cx="5494510" cy="52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077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8496945" cy="374536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条件选择（</a:t>
            </a:r>
            <a:r>
              <a:rPr lang="en-US" altLang="zh-CN" sz="1800" dirty="0">
                <a:solidFill>
                  <a:srgbClr val="000066"/>
                </a:solidFill>
                <a:latin typeface="Times New Roman" panose="02020603050405020304" pitchFamily="18" charset="0"/>
                <a:cs typeface="Times New Roman" panose="02020603050405020304" pitchFamily="18" charset="0"/>
              </a:rPr>
              <a:t>WHERE</a:t>
            </a:r>
            <a:r>
              <a:rPr lang="zh-CN" altLang="en-US" sz="1800" dirty="0">
                <a:solidFill>
                  <a:srgbClr val="000066"/>
                </a:solidFill>
                <a:latin typeface="Times New Roman" panose="02020603050405020304" pitchFamily="18" charset="0"/>
                <a:cs typeface="Times New Roman" panose="02020603050405020304" pitchFamily="18" charset="0"/>
              </a:rPr>
              <a:t>子句）</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14</a:t>
            </a:r>
            <a:r>
              <a:rPr lang="zh-CN" altLang="en-US" sz="1800" dirty="0">
                <a:solidFill>
                  <a:srgbClr val="000066"/>
                </a:solidFill>
                <a:latin typeface="Times New Roman" panose="02020603050405020304" pitchFamily="18" charset="0"/>
                <a:cs typeface="Times New Roman" panose="02020603050405020304" pitchFamily="18" charset="0"/>
              </a:rPr>
              <a:t>：显示所有非计算机专业学生的学号、姓名和年龄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 Year(Date())-Year(</a:t>
            </a:r>
            <a:r>
              <a:rPr lang="zh-CN" altLang="en-US" sz="1800" dirty="0">
                <a:solidFill>
                  <a:srgbClr val="000066"/>
                </a:solidFill>
                <a:latin typeface="Times New Roman" panose="02020603050405020304" pitchFamily="18" charset="0"/>
                <a:cs typeface="Times New Roman" panose="02020603050405020304" pitchFamily="18" charset="0"/>
              </a:rPr>
              <a:t>出生年月</a:t>
            </a:r>
            <a:r>
              <a:rPr lang="en-US" altLang="zh-CN" sz="1800" dirty="0">
                <a:solidFill>
                  <a:srgbClr val="000066"/>
                </a:solidFill>
                <a:latin typeface="Times New Roman" panose="02020603050405020304" pitchFamily="18" charset="0"/>
                <a:cs typeface="Times New Roman" panose="02020603050405020304" pitchFamily="18" charset="0"/>
              </a:rPr>
              <a:t>)  AS </a:t>
            </a:r>
            <a:r>
              <a:rPr lang="zh-CN" altLang="en-US" sz="1800" dirty="0">
                <a:solidFill>
                  <a:srgbClr val="000066"/>
                </a:solidFill>
                <a:latin typeface="Times New Roman" panose="02020603050405020304" pitchFamily="18" charset="0"/>
                <a:cs typeface="Times New Roman" panose="02020603050405020304" pitchFamily="18" charset="0"/>
              </a:rPr>
              <a:t>年龄 </a:t>
            </a:r>
            <a:r>
              <a:rPr lang="en-US" altLang="zh-CN" sz="1800" dirty="0">
                <a:solidFill>
                  <a:srgbClr val="000066"/>
                </a:solidFill>
                <a:latin typeface="Times New Roman" panose="02020603050405020304" pitchFamily="18" charset="0"/>
                <a:cs typeface="Times New Roman" panose="02020603050405020304" pitchFamily="18" charset="0"/>
              </a:rPr>
              <a:t>FROM Students </a:t>
            </a:r>
          </a:p>
          <a:p>
            <a:pPr marL="0" lvl="0" indent="0" algn="just"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专业</a:t>
            </a:r>
            <a:r>
              <a:rPr lang="en-US" altLang="zh-CN" sz="1800" dirty="0">
                <a:solidFill>
                  <a:srgbClr val="000066"/>
                </a:solidFill>
                <a:latin typeface="Times New Roman" panose="02020603050405020304" pitchFamily="18" charset="0"/>
                <a:cs typeface="Times New Roman" panose="02020603050405020304" pitchFamily="18" charset="0"/>
              </a:rPr>
              <a:t>&lt;&gt;"</a:t>
            </a:r>
            <a:r>
              <a:rPr lang="zh-CN" altLang="en-US" sz="1800" dirty="0">
                <a:solidFill>
                  <a:srgbClr val="000066"/>
                </a:solidFill>
                <a:latin typeface="Times New Roman" panose="02020603050405020304" pitchFamily="18" charset="0"/>
                <a:cs typeface="Times New Roman" panose="02020603050405020304" pitchFamily="18" charset="0"/>
              </a:rPr>
              <a:t>计算机</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0" algn="just"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15</a:t>
            </a:r>
            <a:r>
              <a:rPr lang="zh-CN" altLang="en-US" sz="1800" dirty="0">
                <a:solidFill>
                  <a:srgbClr val="000066"/>
                </a:solidFill>
                <a:latin typeface="Times New Roman" panose="02020603050405020304" pitchFamily="18" charset="0"/>
                <a:cs typeface="Times New Roman" panose="02020603050405020304" pitchFamily="18" charset="0"/>
              </a:rPr>
              <a:t>：查询</a:t>
            </a:r>
            <a:r>
              <a:rPr lang="en-US" altLang="zh-CN" sz="1800" dirty="0">
                <a:solidFill>
                  <a:srgbClr val="000066"/>
                </a:solidFill>
                <a:latin typeface="Times New Roman" panose="02020603050405020304" pitchFamily="18" charset="0"/>
                <a:cs typeface="Times New Roman" panose="02020603050405020304" pitchFamily="18" charset="0"/>
              </a:rPr>
              <a:t>1997</a:t>
            </a:r>
            <a:r>
              <a:rPr lang="zh-CN" altLang="en-US" sz="1800" dirty="0">
                <a:solidFill>
                  <a:srgbClr val="000066"/>
                </a:solidFill>
                <a:latin typeface="Times New Roman" panose="02020603050405020304" pitchFamily="18" charset="0"/>
                <a:cs typeface="Times New Roman" panose="02020603050405020304" pitchFamily="18" charset="0"/>
              </a:rPr>
              <a:t>年</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包括</a:t>
            </a:r>
            <a:r>
              <a:rPr lang="en-US" altLang="zh-CN" sz="1800" dirty="0">
                <a:solidFill>
                  <a:srgbClr val="000066"/>
                </a:solidFill>
                <a:latin typeface="Times New Roman" panose="02020603050405020304" pitchFamily="18" charset="0"/>
                <a:cs typeface="Times New Roman" panose="02020603050405020304" pitchFamily="18" charset="0"/>
              </a:rPr>
              <a:t>1997</a:t>
            </a:r>
            <a:r>
              <a:rPr lang="zh-CN" altLang="en-US" sz="1800" dirty="0">
                <a:solidFill>
                  <a:srgbClr val="000066"/>
                </a:solidFill>
                <a:latin typeface="Times New Roman" panose="02020603050405020304" pitchFamily="18" charset="0"/>
                <a:cs typeface="Times New Roman" panose="02020603050405020304" pitchFamily="18" charset="0"/>
              </a:rPr>
              <a:t>年</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以前出生的女生姓名和出生年月。</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出生年月 </a:t>
            </a:r>
            <a:r>
              <a:rPr lang="en-US" altLang="zh-CN" sz="1800" dirty="0">
                <a:solidFill>
                  <a:srgbClr val="000066"/>
                </a:solidFill>
                <a:latin typeface="Times New Roman" panose="02020603050405020304" pitchFamily="18" charset="0"/>
                <a:cs typeface="Times New Roman" panose="02020603050405020304" pitchFamily="18" charset="0"/>
              </a:rPr>
              <a:t>FROM Students</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zh-CN" sz="1800" dirty="0">
                <a:solidFill>
                  <a:srgbClr val="000066"/>
                </a:solidFill>
                <a:latin typeface="Times New Roman" panose="02020603050405020304" pitchFamily="18" charset="0"/>
                <a:cs typeface="Times New Roman" panose="02020603050405020304" pitchFamily="18" charset="0"/>
              </a:rPr>
              <a:t>出生年月</a:t>
            </a:r>
            <a:r>
              <a:rPr lang="en-US" altLang="zh-CN" sz="1800" dirty="0">
                <a:solidFill>
                  <a:srgbClr val="000066"/>
                </a:solidFill>
                <a:latin typeface="Times New Roman" panose="02020603050405020304" pitchFamily="18" charset="0"/>
                <a:cs typeface="Times New Roman" panose="02020603050405020304" pitchFamily="18" charset="0"/>
              </a:rPr>
              <a:t>&lt;#1998/1/1# AND </a:t>
            </a:r>
            <a:r>
              <a:rPr lang="zh-CN" altLang="en-US" sz="1800" dirty="0">
                <a:solidFill>
                  <a:srgbClr val="000066"/>
                </a:solidFill>
                <a:latin typeface="Times New Roman" panose="02020603050405020304" pitchFamily="18" charset="0"/>
                <a:cs typeface="Times New Roman" panose="02020603050405020304" pitchFamily="18" charset="0"/>
              </a:rPr>
              <a:t>性别</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女</a:t>
            </a:r>
            <a:r>
              <a:rPr lang="en-US" altLang="zh-CN" sz="1800" dirty="0">
                <a:solidFill>
                  <a:srgbClr val="000066"/>
                </a:solidFill>
                <a:latin typeface="Times New Roman" panose="02020603050405020304" pitchFamily="18" charset="0"/>
                <a:cs typeface="Times New Roman" panose="02020603050405020304" pitchFamily="18" charset="0"/>
              </a:rPr>
              <a:t>"</a:t>
            </a:r>
          </a:p>
          <a:p>
            <a:pPr marL="0" lvl="0" indent="0" algn="just" defTabSz="914400">
              <a:lnSpc>
                <a:spcPct val="130000"/>
              </a:lnSpc>
              <a:spcBef>
                <a:spcPct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D1500A3A-F320-4C27-813A-492D6955E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5278" y="1203598"/>
            <a:ext cx="2331721"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3">
            <a:extLst>
              <a:ext uri="{FF2B5EF4-FFF2-40B4-BE49-F238E27FC236}">
                <a16:creationId xmlns:a16="http://schemas.microsoft.com/office/drawing/2014/main" id="{3BC51072-38D1-46A8-981F-F133815008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3798" y="4065195"/>
            <a:ext cx="2375103" cy="81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046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6"/>
            <a:ext cx="7632849" cy="3890330"/>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排序（</a:t>
            </a:r>
            <a:r>
              <a:rPr lang="en-US" altLang="zh-CN" sz="1800" dirty="0">
                <a:solidFill>
                  <a:srgbClr val="000066"/>
                </a:solidFill>
                <a:latin typeface="Times New Roman" panose="02020603050405020304" pitchFamily="18" charset="0"/>
                <a:cs typeface="Times New Roman" panose="02020603050405020304" pitchFamily="18" charset="0"/>
              </a:rPr>
              <a:t>ORDER BY</a:t>
            </a:r>
            <a:r>
              <a:rPr lang="zh-CN" altLang="en-US" sz="1800" dirty="0">
                <a:solidFill>
                  <a:srgbClr val="000066"/>
                </a:solidFill>
                <a:latin typeface="Times New Roman" panose="02020603050405020304" pitchFamily="18" charset="0"/>
                <a:cs typeface="Times New Roman" panose="02020603050405020304" pitchFamily="18" charset="0"/>
              </a:rPr>
              <a:t>子句）</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14</a:t>
            </a:r>
            <a:r>
              <a:rPr lang="zh-CN" altLang="en-US" sz="1800" dirty="0">
                <a:solidFill>
                  <a:srgbClr val="000066"/>
                </a:solidFill>
                <a:latin typeface="Times New Roman" panose="02020603050405020304" pitchFamily="18" charset="0"/>
                <a:cs typeface="Times New Roman" panose="02020603050405020304" pitchFamily="18" charset="0"/>
              </a:rPr>
              <a:t>：查询所有党员学生的学号和姓名，并按助学金从小到大排序。</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姓名  </a:t>
            </a:r>
            <a:r>
              <a:rPr lang="en-US" altLang="zh-CN" sz="1800" dirty="0">
                <a:solidFill>
                  <a:srgbClr val="000066"/>
                </a:solidFill>
                <a:latin typeface="Times New Roman" panose="02020603050405020304" pitchFamily="18" charset="0"/>
                <a:cs typeface="Times New Roman" panose="02020603050405020304" pitchFamily="18" charset="0"/>
              </a:rPr>
              <a:t>FROM Students</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党员</a:t>
            </a:r>
            <a:r>
              <a:rPr lang="en-US" altLang="zh-CN" sz="1800" dirty="0">
                <a:solidFill>
                  <a:srgbClr val="000066"/>
                </a:solidFill>
                <a:latin typeface="Times New Roman" panose="02020603050405020304" pitchFamily="18" charset="0"/>
                <a:cs typeface="Times New Roman" panose="02020603050405020304" pitchFamily="18" charset="0"/>
              </a:rPr>
              <a:t>=True  ORDER BY </a:t>
            </a:r>
            <a:r>
              <a:rPr lang="zh-CN" altLang="en-US" sz="1800" dirty="0">
                <a:solidFill>
                  <a:srgbClr val="000066"/>
                </a:solidFill>
                <a:latin typeface="Times New Roman" panose="02020603050405020304" pitchFamily="18" charset="0"/>
                <a:cs typeface="Times New Roman" panose="02020603050405020304" pitchFamily="18" charset="0"/>
              </a:rPr>
              <a:t>助学金</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可用多个关键字排序，如</a:t>
            </a:r>
            <a:r>
              <a:rPr lang="en-US" altLang="zh-CN" sz="1800" dirty="0">
                <a:solidFill>
                  <a:srgbClr val="000066"/>
                </a:solidFill>
                <a:latin typeface="Times New Roman" panose="02020603050405020304" pitchFamily="18" charset="0"/>
                <a:cs typeface="Times New Roman" panose="02020603050405020304" pitchFamily="18" charset="0"/>
              </a:rPr>
              <a:t>ORDER BY </a:t>
            </a:r>
            <a:r>
              <a:rPr lang="zh-CN" altLang="en-US" sz="1800" dirty="0">
                <a:solidFill>
                  <a:srgbClr val="000066"/>
                </a:solidFill>
                <a:latin typeface="Times New Roman" panose="02020603050405020304" pitchFamily="18" charset="0"/>
                <a:cs typeface="Times New Roman" panose="02020603050405020304" pitchFamily="18" charset="0"/>
              </a:rPr>
              <a:t>专业 </a:t>
            </a:r>
            <a:r>
              <a:rPr lang="en-US" altLang="zh-CN" sz="1800" dirty="0">
                <a:solidFill>
                  <a:srgbClr val="000066"/>
                </a:solidFill>
                <a:latin typeface="Times New Roman" panose="02020603050405020304" pitchFamily="18" charset="0"/>
                <a:cs typeface="Times New Roman" panose="02020603050405020304" pitchFamily="18" charset="0"/>
              </a:rPr>
              <a:t>ASC, </a:t>
            </a:r>
            <a:r>
              <a:rPr lang="zh-CN" altLang="en-US" sz="1800" dirty="0">
                <a:solidFill>
                  <a:srgbClr val="000066"/>
                </a:solidFill>
                <a:latin typeface="Times New Roman" panose="02020603050405020304" pitchFamily="18" charset="0"/>
                <a:cs typeface="Times New Roman" panose="02020603050405020304" pitchFamily="18" charset="0"/>
              </a:rPr>
              <a:t>助学金  </a:t>
            </a:r>
            <a:r>
              <a:rPr lang="en-US" altLang="zh-CN" sz="1800" dirty="0">
                <a:solidFill>
                  <a:srgbClr val="000066"/>
                </a:solidFill>
                <a:latin typeface="Times New Roman" panose="02020603050405020304" pitchFamily="18" charset="0"/>
                <a:cs typeface="Times New Roman" panose="02020603050405020304" pitchFamily="18" charset="0"/>
              </a:rPr>
              <a:t>DESC         </a:t>
            </a:r>
          </a:p>
          <a:p>
            <a:pPr marL="0" lvl="0" indent="0" defTabSz="914400">
              <a:lnSpc>
                <a:spcPct val="150000"/>
              </a:lnSpc>
              <a:spcBef>
                <a:spcPts val="0"/>
              </a:spcBef>
              <a:buSzPct val="100000"/>
              <a:buNone/>
            </a:pPr>
            <a:r>
              <a:rPr lang="zh-CN" altLang="en-US" sz="1600" dirty="0">
                <a:solidFill>
                  <a:srgbClr val="C00000"/>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algn="just" defTabSz="914400">
              <a:lnSpc>
                <a:spcPct val="130000"/>
              </a:lnSpc>
              <a:spcBef>
                <a:spcPct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18214BBA-F37F-49AF-8980-A0AC26945556}"/>
              </a:ext>
            </a:extLst>
          </p:cNvPr>
          <p:cNvSpPr/>
          <p:nvPr/>
        </p:nvSpPr>
        <p:spPr>
          <a:xfrm>
            <a:off x="5220072" y="1203598"/>
            <a:ext cx="2592288" cy="861774"/>
          </a:xfrm>
          <a:prstGeom prst="rect">
            <a:avLst/>
          </a:prstGeom>
          <a:ln w="19050">
            <a:solidFill>
              <a:srgbClr val="C00000"/>
            </a:solidFill>
          </a:ln>
        </p:spPr>
        <p:txBody>
          <a:bodyPr wrap="square">
            <a:spAutoFit/>
          </a:bodyPr>
          <a:lstStyle/>
          <a:p>
            <a:pPr marL="0" lvl="0" indent="0" defTabSz="914400">
              <a:spcBef>
                <a:spcPts val="0"/>
              </a:spcBef>
              <a:buSzPct val="100000"/>
              <a:buNone/>
            </a:pPr>
            <a:r>
              <a:rPr lang="zh-CN" altLang="en-US" dirty="0">
                <a:solidFill>
                  <a:srgbClr val="000066"/>
                </a:solidFill>
                <a:latin typeface="Times New Roman" panose="02020603050405020304" pitchFamily="18" charset="0"/>
                <a:cs typeface="Times New Roman" panose="02020603050405020304" pitchFamily="18" charset="0"/>
              </a:rPr>
              <a:t> </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ORDER BY</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子句用于排序</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a:spcBef>
                <a:spcPts val="0"/>
              </a:spcBef>
              <a:buSzPct val="100000"/>
              <a:buNone/>
            </a:pP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ASC</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：表示升序</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a:spcBef>
                <a:spcPts val="0"/>
              </a:spcBef>
              <a:buSzPct val="100000"/>
              <a:buNone/>
            </a:pP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DESC</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：表示降序</a:t>
            </a:r>
          </a:p>
        </p:txBody>
      </p:sp>
      <p:cxnSp>
        <p:nvCxnSpPr>
          <p:cNvPr id="8" name="直接箭头连接符 7">
            <a:extLst>
              <a:ext uri="{FF2B5EF4-FFF2-40B4-BE49-F238E27FC236}">
                <a16:creationId xmlns:a16="http://schemas.microsoft.com/office/drawing/2014/main" id="{81FA0736-3061-4144-9ECB-A0F85BD34E02}"/>
              </a:ext>
            </a:extLst>
          </p:cNvPr>
          <p:cNvCxnSpPr>
            <a:cxnSpLocks/>
          </p:cNvCxnSpPr>
          <p:nvPr/>
        </p:nvCxnSpPr>
        <p:spPr>
          <a:xfrm flipH="1">
            <a:off x="5220072" y="4227934"/>
            <a:ext cx="288032" cy="43204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69A0CCF-0BD6-4C7F-BF8A-3B0323B19B13}"/>
              </a:ext>
            </a:extLst>
          </p:cNvPr>
          <p:cNvCxnSpPr>
            <a:cxnSpLocks/>
          </p:cNvCxnSpPr>
          <p:nvPr/>
        </p:nvCxnSpPr>
        <p:spPr>
          <a:xfrm>
            <a:off x="4927763" y="4227934"/>
            <a:ext cx="101238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F7525C6-EA6A-4205-804E-85DBCC56D761}"/>
              </a:ext>
            </a:extLst>
          </p:cNvPr>
          <p:cNvCxnSpPr>
            <a:cxnSpLocks/>
          </p:cNvCxnSpPr>
          <p:nvPr/>
        </p:nvCxnSpPr>
        <p:spPr>
          <a:xfrm>
            <a:off x="6012160" y="4227934"/>
            <a:ext cx="136815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942CD6D-B053-4298-9197-30A1372B41ED}"/>
              </a:ext>
            </a:extLst>
          </p:cNvPr>
          <p:cNvSpPr/>
          <p:nvPr/>
        </p:nvSpPr>
        <p:spPr>
          <a:xfrm>
            <a:off x="4213028" y="4680674"/>
            <a:ext cx="1874347" cy="338554"/>
          </a:xfrm>
          <a:prstGeom prst="rect">
            <a:avLst/>
          </a:prstGeom>
          <a:ln w="19050">
            <a:solidFill>
              <a:srgbClr val="C00000"/>
            </a:solidFill>
          </a:ln>
        </p:spPr>
        <p:txBody>
          <a:bodyPr wrap="square">
            <a:spAutoFit/>
          </a:bodyPr>
          <a:lstStyle/>
          <a:p>
            <a:pPr marL="0" lvl="0" indent="0" defTabSz="914400">
              <a:spcBef>
                <a:spcPts val="0"/>
              </a:spcBef>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第一关键字，顺序</a:t>
            </a:r>
          </a:p>
        </p:txBody>
      </p:sp>
      <p:cxnSp>
        <p:nvCxnSpPr>
          <p:cNvPr id="17" name="直接箭头连接符 16">
            <a:extLst>
              <a:ext uri="{FF2B5EF4-FFF2-40B4-BE49-F238E27FC236}">
                <a16:creationId xmlns:a16="http://schemas.microsoft.com/office/drawing/2014/main" id="{A79668CB-BCA4-499F-A7FB-B5CC0F1AE6E2}"/>
              </a:ext>
            </a:extLst>
          </p:cNvPr>
          <p:cNvCxnSpPr>
            <a:cxnSpLocks/>
          </p:cNvCxnSpPr>
          <p:nvPr/>
        </p:nvCxnSpPr>
        <p:spPr>
          <a:xfrm>
            <a:off x="6732240" y="4227934"/>
            <a:ext cx="685145" cy="43204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4966D01-1906-433A-B929-42BAD15B7B74}"/>
              </a:ext>
            </a:extLst>
          </p:cNvPr>
          <p:cNvSpPr/>
          <p:nvPr/>
        </p:nvSpPr>
        <p:spPr>
          <a:xfrm>
            <a:off x="6485329" y="4680674"/>
            <a:ext cx="1874347" cy="338554"/>
          </a:xfrm>
          <a:prstGeom prst="rect">
            <a:avLst/>
          </a:prstGeom>
          <a:ln w="19050">
            <a:solidFill>
              <a:srgbClr val="C00000"/>
            </a:solidFill>
          </a:ln>
        </p:spPr>
        <p:txBody>
          <a:bodyPr wrap="square">
            <a:spAutoFit/>
          </a:bodyPr>
          <a:lstStyle/>
          <a:p>
            <a:pPr marL="0" lvl="0" indent="0" defTabSz="914400">
              <a:spcBef>
                <a:spcPts val="0"/>
              </a:spcBef>
              <a:buSzPct val="100000"/>
              <a:buNone/>
            </a:pPr>
            <a:r>
              <a:rPr lang="zh-CN" altLang="en-US" sz="1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第二关键字，降序</a:t>
            </a:r>
          </a:p>
        </p:txBody>
      </p:sp>
    </p:spTree>
    <p:extLst>
      <p:ext uri="{BB962C8B-B14F-4D97-AF65-F5344CB8AC3E}">
        <p14:creationId xmlns:p14="http://schemas.microsoft.com/office/powerpoint/2010/main" val="103493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6768753" cy="3745365"/>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分组查询（</a:t>
            </a:r>
            <a:r>
              <a:rPr lang="en-US" altLang="zh-CN" sz="1800" dirty="0">
                <a:solidFill>
                  <a:srgbClr val="000066"/>
                </a:solidFill>
                <a:latin typeface="Times New Roman" panose="02020603050405020304" pitchFamily="18" charset="0"/>
                <a:cs typeface="Times New Roman" panose="02020603050405020304" pitchFamily="18" charset="0"/>
              </a:rPr>
              <a:t>GROUP BY</a:t>
            </a:r>
            <a:r>
              <a:rPr lang="zh-CN" altLang="en-US" sz="1800" dirty="0">
                <a:solidFill>
                  <a:srgbClr val="000066"/>
                </a:solidFill>
                <a:latin typeface="Times New Roman" panose="02020603050405020304" pitchFamily="18" charset="0"/>
                <a:cs typeface="Times New Roman" panose="02020603050405020304" pitchFamily="18" charset="0"/>
              </a:rPr>
              <a:t>子句）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把在某一列上值相同的记录分在一组，一组产生一条记录</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例</a:t>
            </a:r>
            <a:r>
              <a:rPr lang="en-US" altLang="zh-CN" sz="1800" dirty="0">
                <a:solidFill>
                  <a:srgbClr val="000066"/>
                </a:solidFill>
                <a:latin typeface="Times New Roman" panose="02020603050405020304" pitchFamily="18" charset="0"/>
                <a:cs typeface="Times New Roman" panose="02020603050405020304" pitchFamily="18" charset="0"/>
              </a:rPr>
              <a:t>17</a:t>
            </a:r>
            <a:r>
              <a:rPr lang="zh-CN" altLang="en-US" sz="1800" dirty="0">
                <a:solidFill>
                  <a:srgbClr val="000066"/>
                </a:solidFill>
                <a:latin typeface="Times New Roman" panose="02020603050405020304" pitchFamily="18" charset="0"/>
                <a:cs typeface="Times New Roman" panose="02020603050405020304" pitchFamily="18" charset="0"/>
              </a:rPr>
              <a:t>：查询每个专业学生人数。</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a:t>
            </a:r>
            <a:r>
              <a:rPr lang="zh-CN" altLang="en-US" sz="1800" dirty="0">
                <a:solidFill>
                  <a:srgbClr val="000066"/>
                </a:solidFill>
                <a:latin typeface="Times New Roman" panose="02020603050405020304" pitchFamily="18" charset="0"/>
                <a:cs typeface="Times New Roman" panose="02020603050405020304" pitchFamily="18" charset="0"/>
              </a:rPr>
              <a:t>专业</a:t>
            </a:r>
            <a:r>
              <a:rPr lang="en-US" altLang="zh-CN" sz="1800" dirty="0">
                <a:solidFill>
                  <a:srgbClr val="000066"/>
                </a:solidFill>
                <a:latin typeface="Times New Roman" panose="02020603050405020304" pitchFamily="18" charset="0"/>
                <a:cs typeface="Times New Roman" panose="02020603050405020304" pitchFamily="18" charset="0"/>
              </a:rPr>
              <a:t>, Count(*) AS </a:t>
            </a:r>
            <a:r>
              <a:rPr lang="zh-CN" altLang="en-US" sz="1800" dirty="0">
                <a:solidFill>
                  <a:srgbClr val="000066"/>
                </a:solidFill>
                <a:latin typeface="Times New Roman" panose="02020603050405020304" pitchFamily="18" charset="0"/>
                <a:cs typeface="Times New Roman" panose="02020603050405020304" pitchFamily="18" charset="0"/>
              </a:rPr>
              <a:t>学生人数</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FROM Students</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GROUP BY </a:t>
            </a:r>
            <a:r>
              <a:rPr lang="zh-CN" altLang="en-US" sz="1800" dirty="0">
                <a:solidFill>
                  <a:srgbClr val="000066"/>
                </a:solidFill>
                <a:latin typeface="Times New Roman" panose="02020603050405020304" pitchFamily="18" charset="0"/>
                <a:cs typeface="Times New Roman" panose="02020603050405020304" pitchFamily="18" charset="0"/>
              </a:rPr>
              <a:t>专业</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将专业相同的记录分在一组</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6" name="图片 2">
            <a:extLst>
              <a:ext uri="{FF2B5EF4-FFF2-40B4-BE49-F238E27FC236}">
                <a16:creationId xmlns:a16="http://schemas.microsoft.com/office/drawing/2014/main" id="{CC9ED511-FED2-4D0B-B09B-D41DC0FF0C6F}"/>
              </a:ext>
            </a:extLst>
          </p:cNvPr>
          <p:cNvPicPr>
            <a:picLocks noChangeAspect="1"/>
          </p:cNvPicPr>
          <p:nvPr/>
        </p:nvPicPr>
        <p:blipFill>
          <a:blip r:embed="rId3"/>
          <a:stretch>
            <a:fillRect/>
          </a:stretch>
        </p:blipFill>
        <p:spPr>
          <a:xfrm>
            <a:off x="4211960" y="3434473"/>
            <a:ext cx="4078429" cy="1670420"/>
          </a:xfrm>
          <a:prstGeom prst="rect">
            <a:avLst/>
          </a:prstGeom>
          <a:noFill/>
          <a:ln w="9525">
            <a:noFill/>
          </a:ln>
        </p:spPr>
      </p:pic>
    </p:spTree>
    <p:extLst>
      <p:ext uri="{BB962C8B-B14F-4D97-AF65-F5344CB8AC3E}">
        <p14:creationId xmlns:p14="http://schemas.microsoft.com/office/powerpoint/2010/main" val="1740441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6048725" cy="2953277"/>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分组查询（</a:t>
            </a:r>
            <a:r>
              <a:rPr lang="en-US" altLang="zh-CN" sz="1800" dirty="0">
                <a:solidFill>
                  <a:srgbClr val="000066"/>
                </a:solidFill>
                <a:latin typeface="Times New Roman" panose="02020603050405020304" pitchFamily="18" charset="0"/>
                <a:cs typeface="Times New Roman" panose="02020603050405020304" pitchFamily="18" charset="0"/>
              </a:rPr>
              <a:t>GROUP BY</a:t>
            </a:r>
            <a:r>
              <a:rPr lang="zh-CN" altLang="en-US" sz="1800" dirty="0">
                <a:solidFill>
                  <a:srgbClr val="000066"/>
                </a:solidFill>
                <a:latin typeface="Times New Roman" panose="02020603050405020304" pitchFamily="18" charset="0"/>
                <a:cs typeface="Times New Roman" panose="02020603050405020304" pitchFamily="18" charset="0"/>
              </a:rPr>
              <a:t>子句）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例</a:t>
            </a:r>
            <a:r>
              <a:rPr lang="en-US" altLang="zh-CN" sz="1800" dirty="0">
                <a:solidFill>
                  <a:srgbClr val="000066"/>
                </a:solidFill>
                <a:latin typeface="Times New Roman" panose="02020603050405020304" pitchFamily="18" charset="0"/>
                <a:cs typeface="Times New Roman" panose="02020603050405020304" pitchFamily="18" charset="0"/>
              </a:rPr>
              <a:t>18</a:t>
            </a:r>
            <a:r>
              <a:rPr lang="zh-CN" altLang="en-US" sz="1800" dirty="0">
                <a:solidFill>
                  <a:srgbClr val="000066"/>
                </a:solidFill>
                <a:latin typeface="Times New Roman" panose="02020603050405020304" pitchFamily="18" charset="0"/>
                <a:cs typeface="Times New Roman" panose="02020603050405020304" pitchFamily="18" charset="0"/>
              </a:rPr>
              <a:t>：查询各专业男女生的平均助学金</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SELECT </a:t>
            </a:r>
            <a:r>
              <a:rPr lang="zh-CN" altLang="en-US" sz="1800" dirty="0">
                <a:solidFill>
                  <a:srgbClr val="000066"/>
                </a:solidFill>
                <a:latin typeface="Times New Roman" panose="02020603050405020304" pitchFamily="18" charset="0"/>
                <a:cs typeface="Times New Roman" panose="02020603050405020304" pitchFamily="18" charset="0"/>
              </a:rPr>
              <a:t>专业</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性别</a:t>
            </a:r>
            <a:r>
              <a:rPr lang="en-US" altLang="zh-CN" sz="1800" dirty="0">
                <a:solidFill>
                  <a:srgbClr val="000066"/>
                </a:solidFill>
                <a:latin typeface="Times New Roman" panose="02020603050405020304" pitchFamily="18" charset="0"/>
                <a:cs typeface="Times New Roman" panose="02020603050405020304" pitchFamily="18" charset="0"/>
              </a:rPr>
              <a:t>, Avg(</a:t>
            </a:r>
            <a:r>
              <a:rPr lang="zh-CN" altLang="en-US" sz="1800" dirty="0">
                <a:solidFill>
                  <a:srgbClr val="000066"/>
                </a:solidFill>
                <a:latin typeface="Times New Roman" panose="02020603050405020304" pitchFamily="18" charset="0"/>
                <a:cs typeface="Times New Roman" panose="02020603050405020304" pitchFamily="18" charset="0"/>
              </a:rPr>
              <a:t>助学金</a:t>
            </a:r>
            <a:r>
              <a:rPr lang="en-US" altLang="zh-CN" sz="1800" dirty="0">
                <a:solidFill>
                  <a:srgbClr val="000066"/>
                </a:solidFill>
                <a:latin typeface="Times New Roman" panose="02020603050405020304" pitchFamily="18" charset="0"/>
                <a:cs typeface="Times New Roman" panose="02020603050405020304" pitchFamily="18" charset="0"/>
              </a:rPr>
              <a:t>) AS </a:t>
            </a:r>
            <a:r>
              <a:rPr lang="zh-CN" altLang="en-US" sz="1800" dirty="0">
                <a:solidFill>
                  <a:srgbClr val="000066"/>
                </a:solidFill>
                <a:latin typeface="Times New Roman" panose="02020603050405020304" pitchFamily="18" charset="0"/>
                <a:cs typeface="Times New Roman" panose="02020603050405020304" pitchFamily="18" charset="0"/>
              </a:rPr>
              <a:t>平均助学金</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FROM Students  GROUP BY </a:t>
            </a:r>
            <a:r>
              <a:rPr lang="zh-CN" altLang="en-US" sz="1800" dirty="0">
                <a:solidFill>
                  <a:srgbClr val="000066"/>
                </a:solidFill>
                <a:latin typeface="Times New Roman" panose="02020603050405020304" pitchFamily="18" charset="0"/>
                <a:cs typeface="Times New Roman" panose="02020603050405020304" pitchFamily="18" charset="0"/>
              </a:rPr>
              <a:t>专业</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性别</a:t>
            </a: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将专业和性别都相同的记录分在一组</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pic>
        <p:nvPicPr>
          <p:cNvPr id="4" name="图片 1">
            <a:extLst>
              <a:ext uri="{FF2B5EF4-FFF2-40B4-BE49-F238E27FC236}">
                <a16:creationId xmlns:a16="http://schemas.microsoft.com/office/drawing/2014/main" id="{0744B233-673C-4DC0-8E9F-E978DFC07CAE}"/>
              </a:ext>
            </a:extLst>
          </p:cNvPr>
          <p:cNvPicPr>
            <a:picLocks noChangeAspect="1"/>
          </p:cNvPicPr>
          <p:nvPr/>
        </p:nvPicPr>
        <p:blipFill>
          <a:blip r:embed="rId3"/>
          <a:stretch>
            <a:fillRect/>
          </a:stretch>
        </p:blipFill>
        <p:spPr>
          <a:xfrm>
            <a:off x="4932040" y="3434685"/>
            <a:ext cx="4211960" cy="1648681"/>
          </a:xfrm>
          <a:prstGeom prst="rect">
            <a:avLst/>
          </a:prstGeom>
          <a:noFill/>
          <a:ln w="9525">
            <a:noFill/>
          </a:ln>
        </p:spPr>
      </p:pic>
    </p:spTree>
    <p:extLst>
      <p:ext uri="{BB962C8B-B14F-4D97-AF65-F5344CB8AC3E}">
        <p14:creationId xmlns:p14="http://schemas.microsoft.com/office/powerpoint/2010/main" val="187905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7272809" cy="3169301"/>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分组查询（</a:t>
            </a:r>
            <a:r>
              <a:rPr lang="en-US" altLang="zh-CN" sz="1800" dirty="0">
                <a:solidFill>
                  <a:srgbClr val="000066"/>
                </a:solidFill>
                <a:latin typeface="Times New Roman" panose="02020603050405020304" pitchFamily="18" charset="0"/>
                <a:cs typeface="Times New Roman" panose="02020603050405020304" pitchFamily="18" charset="0"/>
              </a:rPr>
              <a:t>GROUP BY</a:t>
            </a:r>
            <a:r>
              <a:rPr lang="zh-CN" altLang="en-US" sz="1800" dirty="0">
                <a:solidFill>
                  <a:srgbClr val="000066"/>
                </a:solidFill>
                <a:latin typeface="Times New Roman" panose="02020603050405020304" pitchFamily="18" charset="0"/>
                <a:cs typeface="Times New Roman" panose="02020603050405020304" pitchFamily="18" charset="0"/>
              </a:rPr>
              <a:t>子句）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例</a:t>
            </a:r>
            <a:r>
              <a:rPr lang="en-US" altLang="zh-CN" sz="1800" dirty="0">
                <a:solidFill>
                  <a:srgbClr val="000066"/>
                </a:solidFill>
                <a:latin typeface="Times New Roman" panose="02020603050405020304" pitchFamily="18" charset="0"/>
                <a:cs typeface="Times New Roman" panose="02020603050405020304" pitchFamily="18" charset="0"/>
              </a:rPr>
              <a:t>19</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查询有</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门课程成绩在</a:t>
            </a:r>
            <a:r>
              <a:rPr lang="en-US" altLang="zh-CN" sz="1800" dirty="0">
                <a:solidFill>
                  <a:srgbClr val="000066"/>
                </a:solidFill>
                <a:latin typeface="Times New Roman" panose="02020603050405020304" pitchFamily="18" charset="0"/>
                <a:cs typeface="Times New Roman" panose="02020603050405020304" pitchFamily="18" charset="0"/>
              </a:rPr>
              <a:t>75</a:t>
            </a:r>
            <a:r>
              <a:rPr lang="zh-CN" altLang="zh-CN" sz="1800" dirty="0">
                <a:solidFill>
                  <a:srgbClr val="000066"/>
                </a:solidFill>
                <a:latin typeface="Times New Roman" panose="02020603050405020304" pitchFamily="18" charset="0"/>
                <a:cs typeface="Times New Roman" panose="02020603050405020304" pitchFamily="18" charset="0"/>
              </a:rPr>
              <a:t>以上的学生的学号和课程数</a:t>
            </a: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1"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,Count(*)  AS </a:t>
            </a:r>
            <a:r>
              <a:rPr lang="zh-CN" altLang="en-US" sz="1800" dirty="0">
                <a:solidFill>
                  <a:srgbClr val="000066"/>
                </a:solidFill>
                <a:latin typeface="Times New Roman" panose="02020603050405020304" pitchFamily="18" charset="0"/>
                <a:cs typeface="Times New Roman" panose="02020603050405020304" pitchFamily="18" charset="0"/>
              </a:rPr>
              <a:t>课程数 </a:t>
            </a:r>
            <a:r>
              <a:rPr lang="en-US" altLang="zh-CN" sz="1800" dirty="0">
                <a:solidFill>
                  <a:srgbClr val="000066"/>
                </a:solidFill>
                <a:latin typeface="Times New Roman" panose="02020603050405020304" pitchFamily="18" charset="0"/>
                <a:cs typeface="Times New Roman" panose="02020603050405020304" pitchFamily="18" charset="0"/>
              </a:rPr>
              <a:t>FROM Scores</a:t>
            </a:r>
          </a:p>
          <a:p>
            <a:pPr marL="0" lvl="1"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WHERE </a:t>
            </a:r>
            <a:r>
              <a:rPr lang="zh-CN" altLang="en-US" sz="1800" dirty="0">
                <a:solidFill>
                  <a:srgbClr val="000066"/>
                </a:solidFill>
                <a:latin typeface="Times New Roman" panose="02020603050405020304" pitchFamily="18" charset="0"/>
                <a:cs typeface="Times New Roman" panose="02020603050405020304" pitchFamily="18" charset="0"/>
              </a:rPr>
              <a:t>成绩</a:t>
            </a:r>
            <a:r>
              <a:rPr lang="en-US" altLang="zh-CN" sz="1800" dirty="0">
                <a:solidFill>
                  <a:srgbClr val="000066"/>
                </a:solidFill>
                <a:latin typeface="Times New Roman" panose="02020603050405020304" pitchFamily="18" charset="0"/>
                <a:cs typeface="Times New Roman" panose="02020603050405020304" pitchFamily="18" charset="0"/>
              </a:rPr>
              <a:t>&gt;=75 </a:t>
            </a:r>
          </a:p>
          <a:p>
            <a:pPr marL="0" lvl="1"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GROUP BY </a:t>
            </a:r>
            <a:r>
              <a:rPr lang="zh-CN" altLang="en-US" sz="1800" dirty="0">
                <a:solidFill>
                  <a:srgbClr val="000066"/>
                </a:solidFill>
                <a:latin typeface="Times New Roman" panose="02020603050405020304" pitchFamily="18" charset="0"/>
                <a:cs typeface="Times New Roman" panose="02020603050405020304" pitchFamily="18" charset="0"/>
              </a:rPr>
              <a:t>学号  </a:t>
            </a:r>
            <a:r>
              <a:rPr lang="en-US" altLang="zh-CN" sz="1800" dirty="0">
                <a:solidFill>
                  <a:srgbClr val="000066"/>
                </a:solidFill>
                <a:latin typeface="Times New Roman" panose="02020603050405020304" pitchFamily="18" charset="0"/>
                <a:cs typeface="Times New Roman" panose="02020603050405020304" pitchFamily="18" charset="0"/>
              </a:rPr>
              <a:t>HAVING Count(*) &gt;=2</a:t>
            </a:r>
          </a:p>
          <a:p>
            <a:pPr marL="0" lvl="0" indent="0">
              <a:lnSpc>
                <a:spcPct val="150000"/>
              </a:lnSpc>
              <a:spcBef>
                <a:spcPts val="0"/>
              </a:spcBef>
              <a:buSzPct val="100000"/>
              <a:buNone/>
            </a:pPr>
            <a:endParaRPr lang="en-US" altLang="zh-CN" sz="1800" dirty="0">
              <a:solidFill>
                <a:srgbClr val="00006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6155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二、数据库基础</a:t>
            </a:r>
            <a:endParaRPr lang="zh-CN" altLang="en-US" sz="2400" dirty="0"/>
          </a:p>
        </p:txBody>
      </p:sp>
      <p:pic>
        <p:nvPicPr>
          <p:cNvPr id="8" name="图片 2">
            <a:extLst>
              <a:ext uri="{FF2B5EF4-FFF2-40B4-BE49-F238E27FC236}">
                <a16:creationId xmlns:a16="http://schemas.microsoft.com/office/drawing/2014/main" id="{3B046D6F-AF47-4C38-8CFC-FBA0EA7FAADB}"/>
              </a:ext>
            </a:extLst>
          </p:cNvPr>
          <p:cNvPicPr>
            <a:picLocks noChangeAspect="1"/>
          </p:cNvPicPr>
          <p:nvPr/>
        </p:nvPicPr>
        <p:blipFill>
          <a:blip r:embed="rId3"/>
          <a:stretch>
            <a:fillRect/>
          </a:stretch>
        </p:blipFill>
        <p:spPr>
          <a:xfrm>
            <a:off x="23773" y="1563638"/>
            <a:ext cx="9087466" cy="3096344"/>
          </a:xfrm>
          <a:prstGeom prst="rect">
            <a:avLst/>
          </a:prstGeom>
          <a:noFill/>
          <a:ln w="9525">
            <a:noFill/>
          </a:ln>
        </p:spPr>
      </p:pic>
    </p:spTree>
    <p:extLst>
      <p:ext uri="{BB962C8B-B14F-4D97-AF65-F5344CB8AC3E}">
        <p14:creationId xmlns:p14="http://schemas.microsoft.com/office/powerpoint/2010/main" val="350321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二、数据库技术基础</a:t>
            </a:r>
            <a:endParaRPr lang="zh-CN" altLang="en-US" sz="2400" dirty="0"/>
          </a:p>
        </p:txBody>
      </p:sp>
      <p:sp>
        <p:nvSpPr>
          <p:cNvPr id="7" name="内容占位符 2">
            <a:extLst>
              <a:ext uri="{FF2B5EF4-FFF2-40B4-BE49-F238E27FC236}">
                <a16:creationId xmlns:a16="http://schemas.microsoft.com/office/drawing/2014/main" id="{91B23592-DFFE-4DB0-88A5-13CC63576FAE}"/>
              </a:ext>
            </a:extLst>
          </p:cNvPr>
          <p:cNvSpPr>
            <a:spLocks noGrp="1"/>
          </p:cNvSpPr>
          <p:nvPr>
            <p:ph idx="1"/>
          </p:nvPr>
        </p:nvSpPr>
        <p:spPr>
          <a:xfrm>
            <a:off x="611559" y="986625"/>
            <a:ext cx="6768753" cy="3313317"/>
          </a:xfrm>
        </p:spPr>
        <p:txBody>
          <a:bodyPr tIns="0">
            <a:noAutofit/>
          </a:bodyPr>
          <a:lstStyle/>
          <a:p>
            <a:pPr marL="0" lvl="0" indent="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SQL</a:t>
            </a:r>
            <a:r>
              <a:rPr lang="zh-CN" altLang="en-US" sz="1800" dirty="0">
                <a:solidFill>
                  <a:srgbClr val="000066"/>
                </a:solidFill>
                <a:latin typeface="Times New Roman" panose="02020603050405020304" pitchFamily="18" charset="0"/>
                <a:cs typeface="Times New Roman" panose="02020603050405020304" pitchFamily="18" charset="0"/>
              </a:rPr>
              <a:t>语言</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SELECT</a:t>
            </a:r>
            <a:r>
              <a:rPr lang="zh-CN" altLang="en-US" sz="1800" dirty="0">
                <a:solidFill>
                  <a:srgbClr val="000066"/>
                </a:solidFill>
                <a:latin typeface="Times New Roman" panose="02020603050405020304" pitchFamily="18" charset="0"/>
                <a:cs typeface="Times New Roman" panose="02020603050405020304" pitchFamily="18" charset="0"/>
              </a:rPr>
              <a:t>命令</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 </a:t>
            </a:r>
            <a:r>
              <a:rPr lang="zh-CN" altLang="en-US" sz="1800" dirty="0">
                <a:solidFill>
                  <a:srgbClr val="000066"/>
                </a:solidFill>
                <a:latin typeface="Times New Roman" panose="02020603050405020304" pitchFamily="18" charset="0"/>
                <a:cs typeface="Times New Roman" panose="02020603050405020304" pitchFamily="18" charset="0"/>
              </a:rPr>
              <a:t>连接查询（使用</a:t>
            </a:r>
            <a:r>
              <a:rPr lang="en-US" altLang="zh-CN" sz="1800" dirty="0">
                <a:solidFill>
                  <a:srgbClr val="000066"/>
                </a:solidFill>
                <a:latin typeface="Times New Roman" panose="02020603050405020304" pitchFamily="18" charset="0"/>
                <a:cs typeface="Times New Roman" panose="02020603050405020304" pitchFamily="18" charset="0"/>
              </a:rPr>
              <a:t>WHERE</a:t>
            </a:r>
            <a:r>
              <a:rPr lang="zh-CN" altLang="en-US" sz="1800" dirty="0">
                <a:solidFill>
                  <a:srgbClr val="000066"/>
                </a:solidFill>
                <a:latin typeface="Times New Roman" panose="02020603050405020304" pitchFamily="18" charset="0"/>
                <a:cs typeface="Times New Roman" panose="02020603050405020304" pitchFamily="18" charset="0"/>
              </a:rPr>
              <a:t>子句）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例</a:t>
            </a:r>
            <a:r>
              <a:rPr lang="en-US" altLang="zh-CN" sz="1800" dirty="0">
                <a:solidFill>
                  <a:srgbClr val="000066"/>
                </a:solidFill>
                <a:latin typeface="Times New Roman" panose="02020603050405020304" pitchFamily="18" charset="0"/>
                <a:cs typeface="Times New Roman" panose="02020603050405020304" pitchFamily="18" charset="0"/>
              </a:rPr>
              <a:t>19</a:t>
            </a:r>
            <a:r>
              <a:rPr lang="zh-CN" altLang="en-US" sz="1800" dirty="0">
                <a:solidFill>
                  <a:srgbClr val="000066"/>
                </a:solidFill>
                <a:latin typeface="Times New Roman" panose="02020603050405020304" pitchFamily="18" charset="0"/>
                <a:cs typeface="Times New Roman" panose="02020603050405020304" pitchFamily="18" charset="0"/>
              </a:rPr>
              <a:t>：查询所有学生的学号、姓名、课程和成绩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SELECT Students.</a:t>
            </a:r>
            <a:r>
              <a:rPr lang="zh-CN" altLang="en-US" sz="1800" dirty="0">
                <a:solidFill>
                  <a:srgbClr val="000066"/>
                </a:solidFill>
                <a:latin typeface="Times New Roman" panose="02020603050405020304" pitchFamily="18" charset="0"/>
                <a:cs typeface="Times New Roman" panose="02020603050405020304" pitchFamily="18" charset="0"/>
              </a:rPr>
              <a:t>学号</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姓名</a:t>
            </a:r>
            <a:r>
              <a:rPr lang="en-US" altLang="zh-CN" sz="1800" dirty="0">
                <a:solidFill>
                  <a:srgbClr val="000066"/>
                </a:solidFill>
                <a:latin typeface="Times New Roman" panose="02020603050405020304" pitchFamily="18" charset="0"/>
                <a:cs typeface="Times New Roman" panose="02020603050405020304" pitchFamily="18" charset="0"/>
              </a:rPr>
              <a:t>,Scores.</a:t>
            </a:r>
            <a:r>
              <a:rPr lang="zh-CN" altLang="en-US" sz="1800" dirty="0">
                <a:solidFill>
                  <a:srgbClr val="000066"/>
                </a:solidFill>
                <a:latin typeface="Times New Roman" panose="02020603050405020304" pitchFamily="18" charset="0"/>
                <a:cs typeface="Times New Roman" panose="02020603050405020304" pitchFamily="18" charset="0"/>
              </a:rPr>
              <a:t>课程</a:t>
            </a:r>
            <a:r>
              <a:rPr lang="en-US" altLang="zh-CN" sz="1800" dirty="0">
                <a:solidFill>
                  <a:srgbClr val="000066"/>
                </a:solidFill>
                <a:latin typeface="Times New Roman" panose="02020603050405020304" pitchFamily="18" charset="0"/>
                <a:cs typeface="Times New Roman" panose="02020603050405020304" pitchFamily="18" charset="0"/>
              </a:rPr>
              <a:t>, Scores.</a:t>
            </a:r>
            <a:r>
              <a:rPr lang="zh-CN" altLang="en-US" sz="1800" dirty="0">
                <a:solidFill>
                  <a:srgbClr val="000066"/>
                </a:solidFill>
                <a:latin typeface="Times New Roman" panose="02020603050405020304" pitchFamily="18" charset="0"/>
                <a:cs typeface="Times New Roman" panose="02020603050405020304" pitchFamily="18" charset="0"/>
              </a:rPr>
              <a:t>成绩 </a:t>
            </a:r>
          </a:p>
          <a:p>
            <a:pPr marL="0" lvl="0" indent="0" defTabSz="914400">
              <a:lnSpc>
                <a:spcPct val="150000"/>
              </a:lnSpc>
              <a:spcBef>
                <a:spcPts val="0"/>
              </a:spcBef>
              <a:buSzPct val="100000"/>
              <a:buNone/>
            </a:pPr>
            <a:r>
              <a:rPr lang="en-US" altLang="zh-CN" sz="1800" dirty="0">
                <a:solidFill>
                  <a:srgbClr val="000066"/>
                </a:solidFill>
                <a:latin typeface="Times New Roman" panose="02020603050405020304" pitchFamily="18" charset="0"/>
                <a:cs typeface="Times New Roman" panose="02020603050405020304" pitchFamily="18" charset="0"/>
              </a:rPr>
              <a:t>                      FROM </a:t>
            </a:r>
            <a:r>
              <a:rPr lang="en-US" altLang="zh-CN" sz="1800" dirty="0" err="1">
                <a:solidFill>
                  <a:srgbClr val="000066"/>
                </a:solidFill>
                <a:latin typeface="Times New Roman" panose="02020603050405020304" pitchFamily="18" charset="0"/>
                <a:cs typeface="Times New Roman" panose="02020603050405020304" pitchFamily="18" charset="0"/>
              </a:rPr>
              <a:t>Students,Scores</a:t>
            </a:r>
            <a:r>
              <a:rPr lang="en-US" altLang="zh-CN" sz="1800" dirty="0">
                <a:solidFill>
                  <a:srgbClr val="000066"/>
                </a:solidFill>
                <a:latin typeface="Times New Roman" panose="02020603050405020304" pitchFamily="18" charset="0"/>
                <a:cs typeface="Times New Roman" panose="02020603050405020304" pitchFamily="18" charset="0"/>
              </a:rPr>
              <a:t> </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WHERE Students.</a:t>
            </a:r>
            <a:r>
              <a:rPr lang="zh-CN" altLang="en-US" sz="1800" dirty="0">
                <a:solidFill>
                  <a:srgbClr val="000066"/>
                </a:solidFill>
                <a:latin typeface="Times New Roman" panose="02020603050405020304" pitchFamily="18" charset="0"/>
                <a:cs typeface="Times New Roman" panose="02020603050405020304" pitchFamily="18" charset="0"/>
              </a:rPr>
              <a:t>学号 </a:t>
            </a:r>
            <a:r>
              <a:rPr lang="en-US" altLang="zh-CN" sz="1800" dirty="0">
                <a:solidFill>
                  <a:srgbClr val="000066"/>
                </a:solidFill>
                <a:latin typeface="Times New Roman" panose="02020603050405020304" pitchFamily="18" charset="0"/>
                <a:cs typeface="Times New Roman" panose="02020603050405020304" pitchFamily="18" charset="0"/>
              </a:rPr>
              <a:t>= Scores.</a:t>
            </a:r>
            <a:r>
              <a:rPr lang="zh-CN" altLang="en-US" sz="1800" dirty="0">
                <a:solidFill>
                  <a:srgbClr val="000066"/>
                </a:solidFill>
                <a:latin typeface="Times New Roman" panose="02020603050405020304" pitchFamily="18" charset="0"/>
                <a:cs typeface="Times New Roman" panose="02020603050405020304" pitchFamily="18" charset="0"/>
              </a:rPr>
              <a:t>学号</a:t>
            </a:r>
          </a:p>
          <a:p>
            <a:pPr marL="0" lvl="0" indent="0" defTabSz="914400">
              <a:lnSpc>
                <a:spcPct val="150000"/>
              </a:lnSpc>
              <a:spcBef>
                <a:spcPts val="0"/>
              </a:spcBef>
              <a:buSzPct val="100000"/>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0" indent="0" defTabSz="914400">
              <a:lnSpc>
                <a:spcPct val="150000"/>
              </a:lnSpc>
              <a:spcBef>
                <a:spcPts val="0"/>
              </a:spcBef>
              <a:buSzPct val="100000"/>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C00000"/>
              </a:solidFill>
              <a:latin typeface="Times New Roman" panose="02020603050405020304" pitchFamily="18" charset="0"/>
              <a:cs typeface="Times New Roman" panose="02020603050405020304" pitchFamily="18" charset="0"/>
            </a:endParaRPr>
          </a:p>
        </p:txBody>
      </p:sp>
      <p:cxnSp>
        <p:nvCxnSpPr>
          <p:cNvPr id="5" name="直接箭头连接符 4">
            <a:extLst>
              <a:ext uri="{FF2B5EF4-FFF2-40B4-BE49-F238E27FC236}">
                <a16:creationId xmlns:a16="http://schemas.microsoft.com/office/drawing/2014/main" id="{CC8DA07A-546A-4B20-AB7A-007B70D0C700}"/>
              </a:ext>
            </a:extLst>
          </p:cNvPr>
          <p:cNvCxnSpPr/>
          <p:nvPr/>
        </p:nvCxnSpPr>
        <p:spPr>
          <a:xfrm>
            <a:off x="3309695" y="3435846"/>
            <a:ext cx="0" cy="64902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74B9C31D-9EC6-4850-A1E0-B328A46D39B6}"/>
              </a:ext>
            </a:extLst>
          </p:cNvPr>
          <p:cNvSpPr/>
          <p:nvPr/>
        </p:nvSpPr>
        <p:spPr>
          <a:xfrm>
            <a:off x="2909282" y="4034778"/>
            <a:ext cx="877163" cy="369332"/>
          </a:xfrm>
          <a:prstGeom prst="rect">
            <a:avLst/>
          </a:prstGeom>
        </p:spPr>
        <p:txBody>
          <a:bodyPr wrap="none">
            <a:sp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两个表</a:t>
            </a:r>
          </a:p>
        </p:txBody>
      </p:sp>
      <p:cxnSp>
        <p:nvCxnSpPr>
          <p:cNvPr id="9" name="直接连接符 8">
            <a:extLst>
              <a:ext uri="{FF2B5EF4-FFF2-40B4-BE49-F238E27FC236}">
                <a16:creationId xmlns:a16="http://schemas.microsoft.com/office/drawing/2014/main" id="{17543F8B-06C8-4CCE-B531-31927FE890E5}"/>
              </a:ext>
            </a:extLst>
          </p:cNvPr>
          <p:cNvCxnSpPr>
            <a:cxnSpLocks/>
          </p:cNvCxnSpPr>
          <p:nvPr/>
        </p:nvCxnSpPr>
        <p:spPr>
          <a:xfrm flipV="1">
            <a:off x="2551447" y="3363838"/>
            <a:ext cx="1848661" cy="7200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37027B0-233F-425F-AF99-20167057F664}"/>
              </a:ext>
            </a:extLst>
          </p:cNvPr>
          <p:cNvCxnSpPr>
            <a:cxnSpLocks/>
          </p:cNvCxnSpPr>
          <p:nvPr/>
        </p:nvCxnSpPr>
        <p:spPr>
          <a:xfrm>
            <a:off x="2661649" y="3840999"/>
            <a:ext cx="277444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FFD05F83-5B6B-4468-B62E-FCEDAD6047CD}"/>
              </a:ext>
            </a:extLst>
          </p:cNvPr>
          <p:cNvCxnSpPr>
            <a:cxnSpLocks/>
          </p:cNvCxnSpPr>
          <p:nvPr/>
        </p:nvCxnSpPr>
        <p:spPr>
          <a:xfrm>
            <a:off x="4941331" y="3840999"/>
            <a:ext cx="0" cy="21600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99A8AF3E-EDD3-417F-B1BA-0837A495C5E0}"/>
              </a:ext>
            </a:extLst>
          </p:cNvPr>
          <p:cNvSpPr/>
          <p:nvPr/>
        </p:nvSpPr>
        <p:spPr>
          <a:xfrm>
            <a:off x="4400108" y="4034778"/>
            <a:ext cx="1107996" cy="369332"/>
          </a:xfrm>
          <a:prstGeom prst="rect">
            <a:avLst/>
          </a:prstGeom>
        </p:spPr>
        <p:txBody>
          <a:bodyPr wrap="none">
            <a:spAutoFit/>
          </a:bodyPr>
          <a:lstStyle/>
          <a:p>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连接条件</a:t>
            </a:r>
          </a:p>
        </p:txBody>
      </p:sp>
      <p:sp>
        <p:nvSpPr>
          <p:cNvPr id="10" name="Text Box 14">
            <a:extLst>
              <a:ext uri="{FF2B5EF4-FFF2-40B4-BE49-F238E27FC236}">
                <a16:creationId xmlns:a16="http://schemas.microsoft.com/office/drawing/2014/main" id="{81C8358C-3564-4126-AD0B-A78B4D75B437}"/>
              </a:ext>
            </a:extLst>
          </p:cNvPr>
          <p:cNvSpPr txBox="1"/>
          <p:nvPr/>
        </p:nvSpPr>
        <p:spPr>
          <a:xfrm>
            <a:off x="1043608" y="4406590"/>
            <a:ext cx="6480720" cy="686812"/>
          </a:xfrm>
          <a:prstGeom prst="rect">
            <a:avLst/>
          </a:prstGeom>
          <a:solidFill>
            <a:schemeClr val="tx2">
              <a:lumMod val="20000"/>
              <a:lumOff val="80000"/>
            </a:schemeClr>
          </a:solidFill>
          <a:ln w="9525">
            <a:noFill/>
          </a:ln>
          <a:effectLst>
            <a:outerShdw dist="107763" dir="18900000" algn="ctr" rotWithShape="0">
              <a:schemeClr val="bg1">
                <a:alpha val="50000"/>
              </a:schemeClr>
            </a:outerShdw>
          </a:effectLst>
        </p:spPr>
        <p:txBody>
          <a:bodyPr wrap="square" lIns="131529" tIns="65765" rIns="131529" bIns="65765">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spcBef>
                <a:spcPts val="0"/>
              </a:spcBef>
              <a:buClrTx/>
              <a:buSzPct val="100000"/>
              <a:buNone/>
            </a:pPr>
            <a:r>
              <a:rPr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注意：两个表中若有相同的字段名，则需要加表名以便区分</a:t>
            </a:r>
            <a:endParaRPr lang="en-US" altLang="zh-CN"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eaLnBrk="1" hangingPunct="1">
              <a:spcBef>
                <a:spcPts val="0"/>
              </a:spcBef>
              <a:buClrTx/>
              <a:buSzPct val="100000"/>
              <a:buNone/>
            </a:pPr>
            <a:r>
              <a:rPr lang="en-US" altLang="zh-CN"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Scores.</a:t>
            </a:r>
            <a:r>
              <a:rPr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学号</a:t>
            </a:r>
          </a:p>
        </p:txBody>
      </p:sp>
    </p:spTree>
    <p:extLst>
      <p:ext uri="{BB962C8B-B14F-4D97-AF65-F5344CB8AC3E}">
        <p14:creationId xmlns:p14="http://schemas.microsoft.com/office/powerpoint/2010/main" val="286516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2">
            <a:extLst>
              <a:ext uri="{FF2B5EF4-FFF2-40B4-BE49-F238E27FC236}">
                <a16:creationId xmlns:a16="http://schemas.microsoft.com/office/drawing/2014/main" id="{8B6A2605-5F68-4CC2-818C-532E56989641}"/>
              </a:ext>
            </a:extLst>
          </p:cNvPr>
          <p:cNvPicPr>
            <a:picLocks noChangeAspect="1"/>
          </p:cNvPicPr>
          <p:nvPr/>
        </p:nvPicPr>
        <p:blipFill>
          <a:blip r:embed="rId3"/>
          <a:stretch>
            <a:fillRect/>
          </a:stretch>
        </p:blipFill>
        <p:spPr>
          <a:xfrm>
            <a:off x="1553146" y="-21583"/>
            <a:ext cx="6537405" cy="2534801"/>
          </a:xfrm>
          <a:prstGeom prst="rect">
            <a:avLst/>
          </a:prstGeom>
          <a:noFill/>
          <a:ln w="9525">
            <a:noFill/>
          </a:ln>
        </p:spPr>
      </p:pic>
      <p:pic>
        <p:nvPicPr>
          <p:cNvPr id="21" name="Picture 9">
            <a:extLst>
              <a:ext uri="{FF2B5EF4-FFF2-40B4-BE49-F238E27FC236}">
                <a16:creationId xmlns:a16="http://schemas.microsoft.com/office/drawing/2014/main" id="{2D2766B7-52A2-4DF7-A63E-AC1DC97F464A}"/>
              </a:ext>
            </a:extLst>
          </p:cNvPr>
          <p:cNvPicPr>
            <a:picLocks noChangeAspect="1"/>
          </p:cNvPicPr>
          <p:nvPr/>
        </p:nvPicPr>
        <p:blipFill>
          <a:blip r:embed="rId4"/>
          <a:stretch>
            <a:fillRect/>
          </a:stretch>
        </p:blipFill>
        <p:spPr>
          <a:xfrm>
            <a:off x="1582332" y="2570086"/>
            <a:ext cx="6508219" cy="2492280"/>
          </a:xfrm>
          <a:prstGeom prst="rect">
            <a:avLst/>
          </a:prstGeom>
          <a:noFill/>
          <a:ln w="9525">
            <a:noFill/>
          </a:ln>
        </p:spPr>
      </p:pic>
      <p:sp>
        <p:nvSpPr>
          <p:cNvPr id="24" name="Rectangle 10">
            <a:extLst>
              <a:ext uri="{FF2B5EF4-FFF2-40B4-BE49-F238E27FC236}">
                <a16:creationId xmlns:a16="http://schemas.microsoft.com/office/drawing/2014/main" id="{110BEB36-AB30-4B82-B8E0-C23A80A7E3C6}"/>
              </a:ext>
            </a:extLst>
          </p:cNvPr>
          <p:cNvSpPr/>
          <p:nvPr/>
        </p:nvSpPr>
        <p:spPr>
          <a:xfrm>
            <a:off x="1134219" y="915566"/>
            <a:ext cx="447278" cy="1240796"/>
          </a:xfrm>
          <a:prstGeom prst="rect">
            <a:avLst/>
          </a:prstGeom>
          <a:noFill/>
          <a:ln w="9525">
            <a:noFill/>
          </a:ln>
        </p:spPr>
        <p:txBody>
          <a:bodyPr wrap="square" lIns="131515" tIns="65758" rIns="131515" bIns="65758" anchor="ctr">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spcBef>
                <a:spcPct val="0"/>
              </a:spcBef>
              <a:buClrTx/>
              <a:buSzPct val="100000"/>
              <a:buNone/>
            </a:pP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表的连接 </a:t>
            </a:r>
          </a:p>
        </p:txBody>
      </p:sp>
      <p:sp>
        <p:nvSpPr>
          <p:cNvPr id="25" name="Rectangle 11">
            <a:extLst>
              <a:ext uri="{FF2B5EF4-FFF2-40B4-BE49-F238E27FC236}">
                <a16:creationId xmlns:a16="http://schemas.microsoft.com/office/drawing/2014/main" id="{9D459B08-548A-4503-A29C-AF976D937B97}"/>
              </a:ext>
            </a:extLst>
          </p:cNvPr>
          <p:cNvSpPr/>
          <p:nvPr/>
        </p:nvSpPr>
        <p:spPr>
          <a:xfrm>
            <a:off x="1146199" y="2473113"/>
            <a:ext cx="447279" cy="1240796"/>
          </a:xfrm>
          <a:prstGeom prst="rect">
            <a:avLst/>
          </a:prstGeom>
          <a:noFill/>
          <a:ln w="9525">
            <a:noFill/>
          </a:ln>
        </p:spPr>
        <p:txBody>
          <a:bodyPr wrap="square" lIns="131515" tIns="65758" rIns="131515" bIns="65758" anchor="ctr">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spcBef>
                <a:spcPct val="0"/>
              </a:spcBef>
              <a:buClrTx/>
              <a:buSzPct val="100000"/>
              <a:buNone/>
            </a:pPr>
            <a:r>
              <a:rPr lang="zh-CN" altLang="en-US" sz="18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连接结果 </a:t>
            </a:r>
          </a:p>
        </p:txBody>
      </p:sp>
    </p:spTree>
    <p:extLst>
      <p:ext uri="{BB962C8B-B14F-4D97-AF65-F5344CB8AC3E}">
        <p14:creationId xmlns:p14="http://schemas.microsoft.com/office/powerpoint/2010/main" val="258838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8640961" cy="505005"/>
          </a:xfrm>
        </p:spPr>
        <p:txBody>
          <a:bodyPr>
            <a:noAutofit/>
          </a:bodyPr>
          <a:lstStyle/>
          <a:p>
            <a:pPr marL="0" lvl="1"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何为大数据</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pic>
        <p:nvPicPr>
          <p:cNvPr id="7" name="图片 6">
            <a:extLst>
              <a:ext uri="{FF2B5EF4-FFF2-40B4-BE49-F238E27FC236}">
                <a16:creationId xmlns:a16="http://schemas.microsoft.com/office/drawing/2014/main" id="{5F594B43-99D8-4305-8472-3BF04FF427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4586" y="1786075"/>
            <a:ext cx="2304256" cy="1290383"/>
          </a:xfrm>
          <a:prstGeom prst="rect">
            <a:avLst/>
          </a:prstGeom>
        </p:spPr>
      </p:pic>
      <p:sp>
        <p:nvSpPr>
          <p:cNvPr id="14" name="Rectangle 10">
            <a:extLst>
              <a:ext uri="{FF2B5EF4-FFF2-40B4-BE49-F238E27FC236}">
                <a16:creationId xmlns:a16="http://schemas.microsoft.com/office/drawing/2014/main" id="{99071BB6-604B-498B-B9AD-AF986EBA1E17}"/>
              </a:ext>
            </a:extLst>
          </p:cNvPr>
          <p:cNvSpPr/>
          <p:nvPr/>
        </p:nvSpPr>
        <p:spPr>
          <a:xfrm>
            <a:off x="58911" y="3050848"/>
            <a:ext cx="3118703" cy="953538"/>
          </a:xfrm>
          <a:prstGeom prst="rect">
            <a:avLst/>
          </a:prstGeom>
          <a:noFill/>
          <a:ln w="9525">
            <a:noFill/>
          </a:ln>
        </p:spPr>
        <p:txBody>
          <a:bodyPr wrap="square" lIns="131515" tIns="65758" rIns="131515" bIns="65758" anchor="ctr">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defTabSz="914400" eaLnBrk="1" hangingPunct="1">
              <a:lnSpc>
                <a:spcPct val="114000"/>
              </a:lnSpc>
              <a:spcBef>
                <a:spcPct val="0"/>
              </a:spcBef>
              <a:buClrTx/>
              <a:buSzPct val="10000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每天产生着海量的数据</a:t>
            </a:r>
            <a:b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PB</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EB</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甚至</a:t>
            </a:r>
            <a:r>
              <a:rPr lang="en-US" altLang="zh-CN" sz="160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ZB</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为单位</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eaLnBrk="1" hangingPunct="1">
              <a:lnSpc>
                <a:spcPct val="114000"/>
              </a:lnSpc>
              <a:spcBef>
                <a:spcPct val="0"/>
              </a:spcBef>
              <a:buClrTx/>
              <a:buSzPct val="100000"/>
              <a:buNone/>
            </a:pP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95%</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以上是非结构化</a:t>
            </a:r>
            <a:endParaRPr lang="zh-CN" altLang="en-US" sz="1600" baseline="30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98FA599E-DBBC-413E-8405-53A112F97C71}"/>
              </a:ext>
            </a:extLst>
          </p:cNvPr>
          <p:cNvPicPr>
            <a:picLocks noChangeAspect="1"/>
          </p:cNvPicPr>
          <p:nvPr/>
        </p:nvPicPr>
        <p:blipFill>
          <a:blip r:embed="rId4"/>
          <a:stretch>
            <a:fillRect/>
          </a:stretch>
        </p:blipFill>
        <p:spPr>
          <a:xfrm>
            <a:off x="3488865" y="1791842"/>
            <a:ext cx="2171131" cy="1288800"/>
          </a:xfrm>
          <a:prstGeom prst="rect">
            <a:avLst/>
          </a:prstGeom>
        </p:spPr>
      </p:pic>
      <p:sp>
        <p:nvSpPr>
          <p:cNvPr id="22" name="Rectangle 10">
            <a:extLst>
              <a:ext uri="{FF2B5EF4-FFF2-40B4-BE49-F238E27FC236}">
                <a16:creationId xmlns:a16="http://schemas.microsoft.com/office/drawing/2014/main" id="{6BF85790-58EE-45BE-9F91-3BA6C0184DD2}"/>
              </a:ext>
            </a:extLst>
          </p:cNvPr>
          <p:cNvSpPr/>
          <p:nvPr/>
        </p:nvSpPr>
        <p:spPr>
          <a:xfrm>
            <a:off x="3161343" y="3029199"/>
            <a:ext cx="2880320" cy="672820"/>
          </a:xfrm>
          <a:prstGeom prst="rect">
            <a:avLst/>
          </a:prstGeom>
          <a:noFill/>
          <a:ln w="9525">
            <a:noFill/>
          </a:ln>
        </p:spPr>
        <p:txBody>
          <a:bodyPr wrap="square" lIns="131515" tIns="65758" rIns="131515" bIns="65758" anchor="ctr">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lnSpc>
                <a:spcPct val="114000"/>
              </a:lnSpc>
              <a:spcBef>
                <a:spcPct val="0"/>
              </a:spcBef>
              <a:buClrTx/>
              <a:buSzPct val="10000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大数据技术存储</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algn="ctr" defTabSz="914400" eaLnBrk="1" hangingPunct="1">
              <a:lnSpc>
                <a:spcPct val="114000"/>
              </a:lnSpc>
              <a:spcBef>
                <a:spcPct val="0"/>
              </a:spcBef>
              <a:buClrTx/>
              <a:buSzPct val="10000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传统数据库无法存储</a:t>
            </a:r>
          </a:p>
        </p:txBody>
      </p:sp>
      <p:graphicFrame>
        <p:nvGraphicFramePr>
          <p:cNvPr id="12" name="表格 11">
            <a:extLst>
              <a:ext uri="{FF2B5EF4-FFF2-40B4-BE49-F238E27FC236}">
                <a16:creationId xmlns:a16="http://schemas.microsoft.com/office/drawing/2014/main" id="{966C034E-36FF-454F-AB89-5B5EEA0D0FEB}"/>
              </a:ext>
            </a:extLst>
          </p:cNvPr>
          <p:cNvGraphicFramePr>
            <a:graphicFrameLocks noGrp="1"/>
          </p:cNvGraphicFramePr>
          <p:nvPr>
            <p:extLst>
              <p:ext uri="{D42A27DB-BD31-4B8C-83A1-F6EECF244321}">
                <p14:modId xmlns:p14="http://schemas.microsoft.com/office/powerpoint/2010/main" val="743814532"/>
              </p:ext>
            </p:extLst>
          </p:nvPr>
        </p:nvGraphicFramePr>
        <p:xfrm>
          <a:off x="6707597" y="1796298"/>
          <a:ext cx="2311965" cy="1280160"/>
        </p:xfrm>
        <a:graphic>
          <a:graphicData uri="http://schemas.openxmlformats.org/drawingml/2006/table">
            <a:tbl>
              <a:tblPr firstRow="1" bandRow="1">
                <a:tableStyleId>{5C22544A-7EE6-4342-B048-85BDC9FD1C3A}</a:tableStyleId>
              </a:tblPr>
              <a:tblGrid>
                <a:gridCol w="770655">
                  <a:extLst>
                    <a:ext uri="{9D8B030D-6E8A-4147-A177-3AD203B41FA5}">
                      <a16:colId xmlns:a16="http://schemas.microsoft.com/office/drawing/2014/main" val="1892518278"/>
                    </a:ext>
                  </a:extLst>
                </a:gridCol>
                <a:gridCol w="770655">
                  <a:extLst>
                    <a:ext uri="{9D8B030D-6E8A-4147-A177-3AD203B41FA5}">
                      <a16:colId xmlns:a16="http://schemas.microsoft.com/office/drawing/2014/main" val="144394407"/>
                    </a:ext>
                  </a:extLst>
                </a:gridCol>
                <a:gridCol w="770655">
                  <a:extLst>
                    <a:ext uri="{9D8B030D-6E8A-4147-A177-3AD203B41FA5}">
                      <a16:colId xmlns:a16="http://schemas.microsoft.com/office/drawing/2014/main" val="3644700404"/>
                    </a:ext>
                  </a:extLst>
                </a:gridCol>
              </a:tblGrid>
              <a:tr h="768346">
                <a:tc>
                  <a:txBody>
                    <a:bodyPr/>
                    <a:lstStyle/>
                    <a:p>
                      <a:pPr algn="ctr"/>
                      <a:r>
                        <a:rPr lang="zh-CN" altLang="en-US" sz="2400" b="0" dirty="0">
                          <a:solidFill>
                            <a:srgbClr val="C00000"/>
                          </a:solidFill>
                          <a:latin typeface="微软雅黑" panose="020B0503020204020204" pitchFamily="34" charset="-122"/>
                          <a:ea typeface="微软雅黑" panose="020B0503020204020204" pitchFamily="34" charset="-122"/>
                        </a:rPr>
                        <a:t>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2400" b="0" dirty="0">
                          <a:solidFill>
                            <a:srgbClr val="C00000"/>
                          </a:solidFill>
                          <a:latin typeface="微软雅黑" panose="020B0503020204020204" pitchFamily="34" charset="-122"/>
                          <a:ea typeface="微软雅黑" panose="020B0503020204020204" pitchFamily="34" charset="-122"/>
                        </a:rPr>
                        <a:t>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zh-CN" altLang="en-US" sz="2400" b="0" dirty="0">
                          <a:solidFill>
                            <a:srgbClr val="C00000"/>
                          </a:solidFill>
                          <a:latin typeface="微软雅黑" panose="020B0503020204020204" pitchFamily="34" charset="-122"/>
                          <a:ea typeface="微软雅黑" panose="020B0503020204020204" pitchFamily="34" charset="-122"/>
                        </a:rPr>
                        <a:t>智慧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9442299"/>
                  </a:ext>
                </a:extLst>
              </a:tr>
              <a:tr h="449442">
                <a:tc gridSpan="3">
                  <a:txBody>
                    <a:bodyPr/>
                    <a:lstStyle/>
                    <a:p>
                      <a:pPr algn="ctr"/>
                      <a:r>
                        <a:rPr lang="zh-CN" altLang="en-US" sz="2400" b="0" dirty="0">
                          <a:solidFill>
                            <a:srgbClr val="C00000"/>
                          </a:solidFill>
                          <a:latin typeface="微软雅黑" panose="020B0503020204020204" pitchFamily="34" charset="-122"/>
                          <a:ea typeface="微软雅黑" panose="020B0503020204020204" pitchFamily="34" charset="-122"/>
                        </a:rPr>
                        <a:t>价值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zh-CN" altLang="en-US" sz="2400" b="0"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zh-CN" altLang="en-US" sz="2400" b="0"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491057"/>
                  </a:ext>
                </a:extLst>
              </a:tr>
            </a:tbl>
          </a:graphicData>
        </a:graphic>
      </p:graphicFrame>
      <p:cxnSp>
        <p:nvCxnSpPr>
          <p:cNvPr id="24" name="直接箭头连接符 23">
            <a:extLst>
              <a:ext uri="{FF2B5EF4-FFF2-40B4-BE49-F238E27FC236}">
                <a16:creationId xmlns:a16="http://schemas.microsoft.com/office/drawing/2014/main" id="{3D6F9FE9-A51E-46E4-8978-346100430573}"/>
              </a:ext>
            </a:extLst>
          </p:cNvPr>
          <p:cNvCxnSpPr>
            <a:stCxn id="7" idx="3"/>
            <a:endCxn id="8" idx="1"/>
          </p:cNvCxnSpPr>
          <p:nvPr/>
        </p:nvCxnSpPr>
        <p:spPr>
          <a:xfrm>
            <a:off x="2538842" y="2431267"/>
            <a:ext cx="950023" cy="4975"/>
          </a:xfrm>
          <a:prstGeom prst="straightConnector1">
            <a:avLst/>
          </a:prstGeom>
          <a:ln w="19050" cmpd="dbl">
            <a:solidFill>
              <a:srgbClr val="00006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AF168AE-C5E8-4BB3-A69A-42C6E4182583}"/>
              </a:ext>
            </a:extLst>
          </p:cNvPr>
          <p:cNvCxnSpPr/>
          <p:nvPr/>
        </p:nvCxnSpPr>
        <p:spPr>
          <a:xfrm>
            <a:off x="5659996" y="2410693"/>
            <a:ext cx="1022031" cy="4975"/>
          </a:xfrm>
          <a:prstGeom prst="straightConnector1">
            <a:avLst/>
          </a:prstGeom>
          <a:ln w="19050" cmpd="dbl">
            <a:solidFill>
              <a:srgbClr val="000066"/>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10">
            <a:extLst>
              <a:ext uri="{FF2B5EF4-FFF2-40B4-BE49-F238E27FC236}">
                <a16:creationId xmlns:a16="http://schemas.microsoft.com/office/drawing/2014/main" id="{747D42AA-622D-436F-9A24-3B30926A392C}"/>
              </a:ext>
            </a:extLst>
          </p:cNvPr>
          <p:cNvSpPr/>
          <p:nvPr/>
        </p:nvSpPr>
        <p:spPr>
          <a:xfrm>
            <a:off x="6682027" y="3027806"/>
            <a:ext cx="2337535" cy="953538"/>
          </a:xfrm>
          <a:prstGeom prst="rect">
            <a:avLst/>
          </a:prstGeom>
          <a:noFill/>
          <a:ln w="9525">
            <a:noFill/>
          </a:ln>
        </p:spPr>
        <p:txBody>
          <a:bodyPr wrap="square" lIns="131515" tIns="65758" rIns="131515" bIns="65758" anchor="ctr">
            <a:spAutoFit/>
          </a:bodyPr>
          <a:lstStyle>
            <a:lvl1pPr marL="390525" indent="-390525" algn="l" defTabSz="1306195" rtl="0" eaLnBrk="0" fontAlgn="base" hangingPunct="0">
              <a:spcBef>
                <a:spcPct val="20000"/>
              </a:spcBef>
              <a:spcAft>
                <a:spcPct val="0"/>
              </a:spcAft>
              <a:buClr>
                <a:srgbClr val="0BD0D9"/>
              </a:buClr>
              <a:buSzPct val="95000"/>
              <a:buFont typeface="Wingdings 2" panose="05020102010507070707" pitchFamily="18" charset="2"/>
              <a:buChar char=""/>
              <a:defRPr sz="3700">
                <a:solidFill>
                  <a:schemeClr val="tx1"/>
                </a:solidFill>
                <a:latin typeface="+mn-lt"/>
                <a:ea typeface="+mn-ea"/>
                <a:cs typeface="+mn-cs"/>
              </a:defRPr>
            </a:lvl1pPr>
            <a:lvl2pPr marL="914400" indent="-352425" algn="l" defTabSz="1306195" rtl="0" eaLnBrk="0" fontAlgn="base" hangingPunct="0">
              <a:spcBef>
                <a:spcPct val="20000"/>
              </a:spcBef>
              <a:spcAft>
                <a:spcPct val="0"/>
              </a:spcAft>
              <a:buClr>
                <a:schemeClr val="accent1"/>
              </a:buClr>
              <a:buSzPct val="85000"/>
              <a:buFont typeface="Wingdings 2" panose="05020102010507070707" pitchFamily="18" charset="2"/>
              <a:buChar char=""/>
              <a:defRPr sz="3400">
                <a:solidFill>
                  <a:schemeClr val="tx1"/>
                </a:solidFill>
                <a:latin typeface="+mn-lt"/>
                <a:ea typeface="+mn-ea"/>
              </a:defRPr>
            </a:lvl2pPr>
            <a:lvl3pPr marL="1306830" indent="-352425" algn="l" defTabSz="1306195" rtl="0" eaLnBrk="0" fontAlgn="base" hangingPunct="0">
              <a:spcBef>
                <a:spcPct val="20000"/>
              </a:spcBef>
              <a:spcAft>
                <a:spcPct val="0"/>
              </a:spcAft>
              <a:buClr>
                <a:schemeClr val="accent2"/>
              </a:buClr>
              <a:buSzPct val="70000"/>
              <a:buFont typeface="Wingdings 2" panose="05020102010507070707" pitchFamily="18" charset="2"/>
              <a:buChar char=""/>
              <a:defRPr sz="3000">
                <a:solidFill>
                  <a:schemeClr val="tx1"/>
                </a:solidFill>
                <a:latin typeface="+mn-lt"/>
                <a:ea typeface="+mn-ea"/>
              </a:defRPr>
            </a:lvl3pPr>
            <a:lvl4pPr marL="1697355" indent="-300355" algn="l" defTabSz="1306195" rtl="0" eaLnBrk="0" fontAlgn="base" hangingPunct="0">
              <a:spcBef>
                <a:spcPct val="20000"/>
              </a:spcBef>
              <a:spcAft>
                <a:spcPct val="0"/>
              </a:spcAft>
              <a:buClr>
                <a:srgbClr val="0BD0D9"/>
              </a:buClr>
              <a:buSzPct val="65000"/>
              <a:buFont typeface="Wingdings 2" panose="05020102010507070707" pitchFamily="18" charset="2"/>
              <a:buChar char=""/>
              <a:defRPr sz="2900">
                <a:solidFill>
                  <a:schemeClr val="tx1"/>
                </a:solidFill>
                <a:latin typeface="+mn-lt"/>
                <a:ea typeface="+mn-ea"/>
              </a:defRPr>
            </a:lvl4pPr>
            <a:lvl5pPr marL="2089150" indent="-300355" algn="l" defTabSz="1306195" rtl="0" eaLnBrk="0" fontAlgn="base" hangingPunct="0">
              <a:spcBef>
                <a:spcPct val="20000"/>
              </a:spcBef>
              <a:spcAft>
                <a:spcPct val="0"/>
              </a:spcAft>
              <a:buClr>
                <a:srgbClr val="10CF9B"/>
              </a:buClr>
              <a:buSzPct val="65000"/>
              <a:buFont typeface="Wingdings 2" panose="05020102010507070707" pitchFamily="18" charset="2"/>
              <a:buChar char=""/>
              <a:defRPr sz="2900">
                <a:solidFill>
                  <a:schemeClr val="tx1"/>
                </a:solidFill>
                <a:latin typeface="+mn-lt"/>
                <a:ea typeface="+mn-ea"/>
              </a:defRPr>
            </a:lvl5pPr>
          </a:lstStyle>
          <a:p>
            <a:pPr marL="0" lvl="0" indent="0" algn="ctr" defTabSz="914400" eaLnBrk="1" hangingPunct="1">
              <a:lnSpc>
                <a:spcPct val="114000"/>
              </a:lnSpc>
              <a:spcBef>
                <a:spcPct val="0"/>
              </a:spcBef>
              <a:buClrTx/>
              <a:buSzPct val="100000"/>
              <a:buNone/>
            </a:pP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发现价值</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eaLnBrk="1" hangingPunct="1">
              <a:lnSpc>
                <a:spcPct val="114000"/>
              </a:lnSpc>
              <a:spcBef>
                <a:spcPct val="0"/>
              </a:spcBef>
              <a:buClrTx/>
              <a:buSzPct val="100000"/>
              <a:buNone/>
            </a:pP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时效性高</a:t>
            </a:r>
            <a:endPar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defTabSz="914400" eaLnBrk="1" hangingPunct="1">
              <a:lnSpc>
                <a:spcPct val="114000"/>
              </a:lnSpc>
              <a:spcBef>
                <a:spcPct val="0"/>
              </a:spcBef>
              <a:buClrTx/>
              <a:buSzPct val="100000"/>
              <a:buNone/>
            </a:pPr>
            <a:r>
              <a:rPr lang="en-US" altLang="zh-CN"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6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价值密度低</a:t>
            </a:r>
          </a:p>
        </p:txBody>
      </p:sp>
      <p:sp>
        <p:nvSpPr>
          <p:cNvPr id="33" name="矩形 32">
            <a:extLst>
              <a:ext uri="{FF2B5EF4-FFF2-40B4-BE49-F238E27FC236}">
                <a16:creationId xmlns:a16="http://schemas.microsoft.com/office/drawing/2014/main" id="{EA0001D5-694C-4222-AE5A-66B156F2476E}"/>
              </a:ext>
            </a:extLst>
          </p:cNvPr>
          <p:cNvSpPr/>
          <p:nvPr/>
        </p:nvSpPr>
        <p:spPr>
          <a:xfrm>
            <a:off x="77629" y="3981344"/>
            <a:ext cx="5955476" cy="874214"/>
          </a:xfrm>
          <a:prstGeom prst="rect">
            <a:avLst/>
          </a:prstGeom>
        </p:spPr>
        <p:txBody>
          <a:bodyPr wrap="none">
            <a:spAutoFit/>
          </a:bodyPr>
          <a:lstStyle/>
          <a:p>
            <a:pPr>
              <a:lnSpc>
                <a:spcPct val="150000"/>
              </a:lnSpc>
            </a:pP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某城市一天的监控视频、某汽车企业一天自动驾驶的数据</a:t>
            </a:r>
            <a:b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估计，</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2025</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年全球产生</a:t>
            </a:r>
            <a:r>
              <a:rPr lang="en-US" altLang="zh-CN"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175ZB</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(2</a:t>
            </a:r>
            <a:r>
              <a:rPr lang="en-US" altLang="zh-CN" baseline="30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70</a:t>
            </a:r>
            <a:r>
              <a:rPr lang="en-US"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数据</a:t>
            </a:r>
          </a:p>
        </p:txBody>
      </p:sp>
    </p:spTree>
    <p:extLst>
      <p:ext uri="{BB962C8B-B14F-4D97-AF65-F5344CB8AC3E}">
        <p14:creationId xmlns:p14="http://schemas.microsoft.com/office/powerpoint/2010/main" val="249606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724F236F-387D-4FD3-B5D8-330A76B1E723}"/>
              </a:ext>
            </a:extLst>
          </p:cNvPr>
          <p:cNvSpPr/>
          <p:nvPr/>
        </p:nvSpPr>
        <p:spPr bwMode="gray">
          <a:xfrm>
            <a:off x="3347864" y="2715766"/>
            <a:ext cx="2880320" cy="2304256"/>
          </a:xfrm>
          <a:prstGeom prst="triangle">
            <a:avLst>
              <a:gd name="adj" fmla="val 49690"/>
            </a:avLst>
          </a:prstGeom>
          <a:solidFill>
            <a:schemeClr val="tx2">
              <a:lumMod val="20000"/>
              <a:lumOff val="80000"/>
            </a:schemeClr>
          </a:solidFill>
          <a:ln w="12700">
            <a:solidFill>
              <a:srgbClr val="000066"/>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611559" y="986625"/>
            <a:ext cx="7920881" cy="2091676"/>
          </a:xfrm>
        </p:spPr>
        <p:txBody>
          <a:bodyPr>
            <a:noAutofit/>
          </a:bodyPr>
          <a:lstStyle/>
          <a:p>
            <a:pPr marL="0" lvl="0" indent="0" defTabSz="1306830">
              <a:lnSpc>
                <a:spcPct val="150000"/>
              </a:lnSpc>
              <a:spcBef>
                <a:spcPct val="0"/>
              </a:spcBef>
              <a:buNone/>
            </a:pP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何为大数据</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简单定义：数据规模已经超过了传统数据库软件的能力</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1306830">
              <a:lnSpc>
                <a:spcPct val="150000"/>
              </a:lnSpc>
              <a:spcBef>
                <a:spcPct val="0"/>
              </a:spcBef>
              <a:buNone/>
            </a:pPr>
            <a:r>
              <a:rPr lang="en-US" altLang="zh-CN" sz="1800" dirty="0">
                <a:solidFill>
                  <a:srgbClr val="000066"/>
                </a:solidFill>
                <a:latin typeface="Times New Roman" panose="02020603050405020304" pitchFamily="18" charset="0"/>
                <a:cs typeface="Times New Roman" panose="02020603050405020304" pitchFamily="18" charset="0"/>
              </a:rPr>
              <a:t>       Gartner</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具有海量、高增长率和多样化的信息资产，它需要全新的处理</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1306830">
              <a:lnSpc>
                <a:spcPct val="150000"/>
              </a:lnSpc>
              <a:spcBef>
                <a:spcPct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模式来增强决策力、洞察发现力和流程优化能力</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1306830">
              <a:lnSpc>
                <a:spcPct val="150000"/>
              </a:lnSpc>
              <a:spcBef>
                <a:spcPct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zh-CN"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大数据来源：</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cxnSp>
        <p:nvCxnSpPr>
          <p:cNvPr id="6" name="直接连接符 5">
            <a:extLst>
              <a:ext uri="{FF2B5EF4-FFF2-40B4-BE49-F238E27FC236}">
                <a16:creationId xmlns:a16="http://schemas.microsoft.com/office/drawing/2014/main" id="{948CFDE3-0B08-4AA7-B39C-CCE23F060A44}"/>
              </a:ext>
            </a:extLst>
          </p:cNvPr>
          <p:cNvCxnSpPr>
            <a:cxnSpLocks/>
          </p:cNvCxnSpPr>
          <p:nvPr/>
        </p:nvCxnSpPr>
        <p:spPr>
          <a:xfrm>
            <a:off x="3794064" y="4299942"/>
            <a:ext cx="2002072" cy="0"/>
          </a:xfrm>
          <a:prstGeom prst="line">
            <a:avLst/>
          </a:prstGeom>
          <a:ln w="12700">
            <a:solidFill>
              <a:srgbClr val="000066"/>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B03FCF0-3E43-4D2F-BAAF-5F2187069FEE}"/>
              </a:ext>
            </a:extLst>
          </p:cNvPr>
          <p:cNvCxnSpPr>
            <a:cxnSpLocks/>
          </p:cNvCxnSpPr>
          <p:nvPr/>
        </p:nvCxnSpPr>
        <p:spPr>
          <a:xfrm>
            <a:off x="4139952" y="3731384"/>
            <a:ext cx="1296144" cy="0"/>
          </a:xfrm>
          <a:prstGeom prst="line">
            <a:avLst/>
          </a:prstGeom>
          <a:ln w="12700">
            <a:solidFill>
              <a:srgbClr val="00006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0B1D292D-6944-48FF-A0F7-41BADDCB9AB0}"/>
              </a:ext>
            </a:extLst>
          </p:cNvPr>
          <p:cNvSpPr txBox="1"/>
          <p:nvPr/>
        </p:nvSpPr>
        <p:spPr>
          <a:xfrm>
            <a:off x="4408858" y="4489246"/>
            <a:ext cx="883222" cy="338554"/>
          </a:xfrm>
          <a:prstGeom prst="rect">
            <a:avLst/>
          </a:prstGeom>
          <a:noFill/>
        </p:spPr>
        <p:txBody>
          <a:bodyPr wrap="square" rtlCol="0">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物联网</a:t>
            </a:r>
          </a:p>
        </p:txBody>
      </p:sp>
      <p:sp>
        <p:nvSpPr>
          <p:cNvPr id="16" name="文本框 15">
            <a:extLst>
              <a:ext uri="{FF2B5EF4-FFF2-40B4-BE49-F238E27FC236}">
                <a16:creationId xmlns:a16="http://schemas.microsoft.com/office/drawing/2014/main" id="{FAB9562C-CE87-4880-ABD7-19F7253F7FCF}"/>
              </a:ext>
            </a:extLst>
          </p:cNvPr>
          <p:cNvSpPr txBox="1"/>
          <p:nvPr/>
        </p:nvSpPr>
        <p:spPr>
          <a:xfrm>
            <a:off x="4391351" y="3867894"/>
            <a:ext cx="883222" cy="338554"/>
          </a:xfrm>
          <a:prstGeom prst="rect">
            <a:avLst/>
          </a:prstGeom>
          <a:noFill/>
        </p:spPr>
        <p:txBody>
          <a:bodyPr wrap="square" rtlCol="0">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互联网</a:t>
            </a:r>
          </a:p>
        </p:txBody>
      </p:sp>
      <p:sp>
        <p:nvSpPr>
          <p:cNvPr id="17" name="文本框 16">
            <a:extLst>
              <a:ext uri="{FF2B5EF4-FFF2-40B4-BE49-F238E27FC236}">
                <a16:creationId xmlns:a16="http://schemas.microsoft.com/office/drawing/2014/main" id="{E840E60A-EFC4-48CA-81DC-6BA569A40075}"/>
              </a:ext>
            </a:extLst>
          </p:cNvPr>
          <p:cNvSpPr txBox="1"/>
          <p:nvPr/>
        </p:nvSpPr>
        <p:spPr>
          <a:xfrm>
            <a:off x="4371878" y="3257731"/>
            <a:ext cx="883222" cy="338554"/>
          </a:xfrm>
          <a:prstGeom prst="rect">
            <a:avLst/>
          </a:prstGeom>
          <a:noFill/>
        </p:spPr>
        <p:txBody>
          <a:bodyPr wrap="square" lIns="0" rIns="0" rtlCol="0">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信息系统</a:t>
            </a:r>
          </a:p>
        </p:txBody>
      </p:sp>
    </p:spTree>
    <p:extLst>
      <p:ext uri="{BB962C8B-B14F-4D97-AF65-F5344CB8AC3E}">
        <p14:creationId xmlns:p14="http://schemas.microsoft.com/office/powerpoint/2010/main" val="919795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8280921" cy="3961389"/>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大数据的特征（</a:t>
            </a:r>
            <a:r>
              <a:rPr lang="en-US" altLang="zh-CN" sz="1800" dirty="0" err="1">
                <a:solidFill>
                  <a:srgbClr val="000066"/>
                </a:solidFill>
                <a:latin typeface="Times New Roman" panose="02020603050405020304" pitchFamily="18" charset="0"/>
                <a:cs typeface="Times New Roman" panose="02020603050405020304" pitchFamily="18" charset="0"/>
              </a:rPr>
              <a:t>4V</a:t>
            </a:r>
            <a:r>
              <a:rPr lang="zh-CN" altLang="en-US" sz="1800" dirty="0">
                <a:solidFill>
                  <a:srgbClr val="000066"/>
                </a:solidFill>
                <a:latin typeface="Times New Roman" panose="02020603050405020304" pitchFamily="18" charset="0"/>
                <a:cs typeface="Times New Roman" panose="02020603050405020304" pitchFamily="18" charset="0"/>
              </a:rPr>
              <a:t>）</a:t>
            </a: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Volume</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数据量巨大</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PB</a:t>
            </a:r>
            <a:r>
              <a:rPr lang="zh-CN" altLang="en-US" sz="1800" dirty="0">
                <a:solidFill>
                  <a:srgbClr val="000066"/>
                </a:solidFill>
                <a:latin typeface="Times New Roman" panose="02020603050405020304" pitchFamily="18" charset="0"/>
                <a:cs typeface="Times New Roman" panose="02020603050405020304" pitchFamily="18" charset="0"/>
              </a:rPr>
              <a:t>数量级以上</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180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Variety</a:t>
            </a:r>
            <a:r>
              <a:rPr lang="zh-CN" altLang="en-US" sz="1800" dirty="0">
                <a:solidFill>
                  <a:srgbClr val="000066"/>
                </a:solidFill>
                <a:latin typeface="Times New Roman" panose="02020603050405020304" pitchFamily="18" charset="0"/>
                <a:cs typeface="Times New Roman" panose="02020603050405020304" pitchFamily="18" charset="0"/>
              </a:rPr>
              <a:t>：种类繁多，多种多样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4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结构化数据    具有数据结构，表格形式，可用关系型数据存储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非结构化数据    </a:t>
            </a:r>
            <a:r>
              <a:rPr lang="zh-CN" altLang="zh-CN" sz="1800" dirty="0">
                <a:solidFill>
                  <a:srgbClr val="000066"/>
                </a:solidFill>
                <a:latin typeface="Times New Roman" panose="02020603050405020304" pitchFamily="18" charset="0"/>
                <a:cs typeface="Times New Roman" panose="02020603050405020304" pitchFamily="18" charset="0"/>
              </a:rPr>
              <a:t>数据结构不规则或不完整</a:t>
            </a:r>
            <a:r>
              <a:rPr lang="zh-CN" altLang="en-US" sz="1800" dirty="0">
                <a:solidFill>
                  <a:srgbClr val="000066"/>
                </a:solidFill>
                <a:latin typeface="Times New Roman" panose="02020603050405020304" pitchFamily="18" charset="0"/>
                <a:cs typeface="Times New Roman" panose="02020603050405020304" pitchFamily="18" charset="0"/>
              </a:rPr>
              <a:t>，用</a:t>
            </a:r>
            <a:r>
              <a:rPr lang="en-US" altLang="zh-CN" sz="1800" dirty="0">
                <a:solidFill>
                  <a:srgbClr val="000066"/>
                </a:solidFill>
                <a:latin typeface="Times New Roman" panose="02020603050405020304" pitchFamily="18" charset="0"/>
                <a:cs typeface="Times New Roman" panose="02020603050405020304" pitchFamily="18" charset="0"/>
              </a:rPr>
              <a:t>NoSQL</a:t>
            </a:r>
            <a:r>
              <a:rPr lang="zh-CN" altLang="en-US" sz="1800" dirty="0">
                <a:solidFill>
                  <a:srgbClr val="000066"/>
                </a:solidFill>
                <a:latin typeface="Times New Roman" panose="02020603050405020304" pitchFamily="18" charset="0"/>
                <a:cs typeface="Times New Roman" panose="02020603050405020304" pitchFamily="18" charset="0"/>
              </a:rPr>
              <a:t>等存储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如</a:t>
            </a:r>
            <a:r>
              <a:rPr lang="zh-CN" altLang="zh-CN" sz="1800" dirty="0">
                <a:solidFill>
                  <a:srgbClr val="000066"/>
                </a:solidFill>
                <a:latin typeface="Times New Roman" panose="02020603050405020304" pitchFamily="18" charset="0"/>
                <a:cs typeface="Times New Roman" panose="02020603050405020304" pitchFamily="18" charset="0"/>
              </a:rPr>
              <a:t>音频、图</a:t>
            </a:r>
            <a:r>
              <a:rPr lang="zh-CN" altLang="en-US" sz="1800" dirty="0">
                <a:solidFill>
                  <a:srgbClr val="000066"/>
                </a:solidFill>
                <a:latin typeface="Times New Roman" panose="02020603050405020304" pitchFamily="18" charset="0"/>
                <a:cs typeface="Times New Roman" panose="02020603050405020304" pitchFamily="18" charset="0"/>
              </a:rPr>
              <a:t>像</a:t>
            </a:r>
            <a:r>
              <a:rPr lang="zh-CN" altLang="zh-CN" sz="1800" dirty="0">
                <a:solidFill>
                  <a:srgbClr val="000066"/>
                </a:solidFill>
                <a:latin typeface="Times New Roman" panose="02020603050405020304" pitchFamily="18" charset="0"/>
                <a:cs typeface="Times New Roman" panose="02020603050405020304" pitchFamily="18" charset="0"/>
              </a:rPr>
              <a:t>、视频</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网页、微信、传感器数据</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Velocity</a:t>
            </a:r>
            <a:r>
              <a:rPr lang="zh-CN" altLang="en-US" sz="1800" dirty="0">
                <a:solidFill>
                  <a:srgbClr val="000066"/>
                </a:solidFill>
                <a:latin typeface="Times New Roman" panose="02020603050405020304" pitchFamily="18" charset="0"/>
                <a:cs typeface="Times New Roman" panose="02020603050405020304" pitchFamily="18" charset="0"/>
              </a:rPr>
              <a:t>：要求</a:t>
            </a:r>
            <a:r>
              <a:rPr lang="zh-CN" altLang="zh-CN" sz="1800" dirty="0">
                <a:solidFill>
                  <a:srgbClr val="000066"/>
                </a:solidFill>
                <a:latin typeface="Times New Roman" panose="02020603050405020304" pitchFamily="18" charset="0"/>
                <a:cs typeface="Times New Roman" panose="02020603050405020304" pitchFamily="18" charset="0"/>
              </a:rPr>
              <a:t>速度“快”</a:t>
            </a:r>
            <a:r>
              <a:rPr lang="zh-CN" altLang="en-US" sz="1800" dirty="0">
                <a:solidFill>
                  <a:srgbClr val="000066"/>
                </a:solidFill>
                <a:latin typeface="Times New Roman" panose="02020603050405020304" pitchFamily="18" charset="0"/>
                <a:cs typeface="Times New Roman" panose="02020603050405020304" pitchFamily="18" charset="0"/>
              </a:rPr>
              <a:t>，</a:t>
            </a:r>
            <a:r>
              <a:rPr lang="zh-CN" altLang="zh-CN" sz="1800" dirty="0">
                <a:solidFill>
                  <a:srgbClr val="000066"/>
                </a:solidFill>
                <a:latin typeface="Times New Roman" panose="02020603050405020304" pitchFamily="18" charset="0"/>
                <a:cs typeface="Times New Roman" panose="02020603050405020304" pitchFamily="18" charset="0"/>
              </a:rPr>
              <a:t>要求处理速度快，时效性要求高</a:t>
            </a: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 Value</a:t>
            </a:r>
            <a:r>
              <a:rPr lang="zh-CN" altLang="en-US" sz="1800" dirty="0">
                <a:solidFill>
                  <a:srgbClr val="000066"/>
                </a:solidFill>
                <a:latin typeface="Times New Roman" panose="02020603050405020304" pitchFamily="18" charset="0"/>
                <a:cs typeface="Times New Roman" panose="02020603050405020304" pitchFamily="18" charset="0"/>
              </a:rPr>
              <a:t>：沙里淘金，</a:t>
            </a:r>
            <a:r>
              <a:rPr lang="zh-CN" altLang="zh-CN" sz="1800" dirty="0">
                <a:solidFill>
                  <a:srgbClr val="000066"/>
                </a:solidFill>
                <a:latin typeface="Times New Roman" panose="02020603050405020304" pitchFamily="18" charset="0"/>
                <a:cs typeface="Times New Roman" panose="02020603050405020304" pitchFamily="18" charset="0"/>
              </a:rPr>
              <a:t>价值密度低，只有通过分析才能</a:t>
            </a:r>
            <a:r>
              <a:rPr lang="zh-CN" altLang="en-US" sz="1800" dirty="0">
                <a:solidFill>
                  <a:srgbClr val="000066"/>
                </a:solidFill>
                <a:latin typeface="Times New Roman" panose="02020603050405020304" pitchFamily="18" charset="0"/>
                <a:cs typeface="Times New Roman" panose="02020603050405020304" pitchFamily="18" charset="0"/>
              </a:rPr>
              <a:t>发现</a:t>
            </a:r>
            <a:r>
              <a:rPr lang="zh-CN" altLang="zh-CN" sz="1800" dirty="0">
                <a:solidFill>
                  <a:srgbClr val="000066"/>
                </a:solidFill>
                <a:latin typeface="Times New Roman" panose="02020603050405020304" pitchFamily="18" charset="0"/>
                <a:cs typeface="Times New Roman" panose="02020603050405020304" pitchFamily="18" charset="0"/>
              </a:rPr>
              <a:t>价值</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0" indent="0" defTabSz="1306830">
              <a:lnSpc>
                <a:spcPct val="150000"/>
              </a:lnSpc>
              <a:spcBef>
                <a:spcPct val="0"/>
              </a:spcBef>
              <a:buNone/>
            </a:pPr>
            <a:endParaRPr lang="zh-CN" altLang="en-US"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br>
              <a:rPr lang="en-US" altLang="zh-CN" sz="1800" dirty="0">
                <a:solidFill>
                  <a:srgbClr val="000066"/>
                </a:solidFill>
                <a:latin typeface="Times New Roman" panose="02020603050405020304" pitchFamily="18" charset="0"/>
                <a:cs typeface="Times New Roman" panose="02020603050405020304" pitchFamily="18" charset="0"/>
              </a:rPr>
            </a:br>
            <a:r>
              <a:rPr lang="en-US" altLang="zh-CN" sz="1800" dirty="0">
                <a:solidFill>
                  <a:srgbClr val="000066"/>
                </a:solidFill>
                <a:latin typeface="Times New Roman" panose="02020603050405020304" pitchFamily="18" charset="0"/>
                <a:cs typeface="Times New Roman" panose="02020603050405020304" pitchFamily="18" charset="0"/>
              </a:rPr>
              <a:t>      </a:t>
            </a: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12" name="矩形 11">
            <a:extLst>
              <a:ext uri="{FF2B5EF4-FFF2-40B4-BE49-F238E27FC236}">
                <a16:creationId xmlns:a16="http://schemas.microsoft.com/office/drawing/2014/main" id="{3F23EA22-6A90-41D2-A902-52A37EEB6236}"/>
              </a:ext>
            </a:extLst>
          </p:cNvPr>
          <p:cNvSpPr/>
          <p:nvPr/>
        </p:nvSpPr>
        <p:spPr>
          <a:xfrm>
            <a:off x="2195736" y="1914967"/>
            <a:ext cx="3096344" cy="584775"/>
          </a:xfrm>
          <a:prstGeom prst="rect">
            <a:avLst/>
          </a:prstGeom>
          <a:ln w="19050">
            <a:solidFill>
              <a:srgbClr val="C00000"/>
            </a:solidFill>
          </a:ln>
        </p:spPr>
        <p:txBody>
          <a:bodyPr wrap="square">
            <a:spAutoFit/>
          </a:bodyPr>
          <a:lstStyle/>
          <a:p>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1PB</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600" baseline="300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50</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B	</a:t>
            </a:r>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1EB</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600" baseline="300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60</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B</a:t>
            </a:r>
          </a:p>
          <a:p>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1ZB</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600" baseline="300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70</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B 	</a:t>
            </a:r>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1YB</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600" baseline="300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80 </a:t>
            </a:r>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B</a:t>
            </a:r>
            <a:endParaRPr lang="zh-CN" altLang="en-US"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EEF37315-B6A7-45C0-8684-636DA98477BA}"/>
              </a:ext>
            </a:extLst>
          </p:cNvPr>
          <p:cNvSpPr/>
          <p:nvPr/>
        </p:nvSpPr>
        <p:spPr>
          <a:xfrm>
            <a:off x="5868144" y="1915278"/>
            <a:ext cx="1656184" cy="830997"/>
          </a:xfrm>
          <a:prstGeom prst="rect">
            <a:avLst/>
          </a:prstGeom>
          <a:ln w="19050">
            <a:solidFill>
              <a:srgbClr val="C00000"/>
            </a:solidFill>
          </a:ln>
        </p:spPr>
        <p:txBody>
          <a:bodyPr wrap="square">
            <a:spAutoFit/>
          </a:bodyPr>
          <a:lstStyle/>
          <a:p>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2013</a:t>
            </a:r>
            <a:r>
              <a:rPr lang="zh-CN"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年</a:t>
            </a:r>
            <a:r>
              <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4.4ZB</a:t>
            </a:r>
            <a:endPar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2018</a:t>
            </a:r>
            <a:r>
              <a:rPr lang="zh-CN"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年</a:t>
            </a:r>
            <a:r>
              <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40ZB</a:t>
            </a:r>
            <a:endPar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2025</a:t>
            </a:r>
            <a:r>
              <a:rPr lang="zh-CN" altLang="zh-CN"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年</a:t>
            </a:r>
            <a:r>
              <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err="1">
                <a:solidFill>
                  <a:srgbClr val="000078"/>
                </a:solidFill>
                <a:latin typeface="Times New Roman" panose="02020603050405020304" pitchFamily="18" charset="0"/>
                <a:ea typeface="微软雅黑" panose="020B0503020204020204" pitchFamily="34" charset="-122"/>
                <a:cs typeface="Times New Roman" panose="02020603050405020304" pitchFamily="18" charset="0"/>
              </a:rPr>
              <a:t>175ZB</a:t>
            </a:r>
            <a:endParaRPr lang="zh-CN" altLang="en-US" sz="1600" dirty="0">
              <a:solidFill>
                <a:srgbClr val="000078"/>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13057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632849" cy="2233197"/>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大数据的组织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1</a:t>
            </a:r>
            <a:r>
              <a:rPr lang="zh-CN" altLang="en-US" sz="1800" dirty="0">
                <a:solidFill>
                  <a:srgbClr val="000066"/>
                </a:solidFill>
                <a:latin typeface="Times New Roman" panose="02020603050405020304" pitchFamily="18" charset="0"/>
                <a:cs typeface="Times New Roman" panose="02020603050405020304" pitchFamily="18" charset="0"/>
              </a:rPr>
              <a:t>）分布式文件系统（</a:t>
            </a:r>
            <a:r>
              <a:rPr lang="en-US" altLang="zh-CN" sz="1800" dirty="0">
                <a:solidFill>
                  <a:srgbClr val="000066"/>
                </a:solidFill>
                <a:latin typeface="Times New Roman" panose="02020603050405020304" pitchFamily="18" charset="0"/>
                <a:cs typeface="Times New Roman" panose="02020603050405020304" pitchFamily="18" charset="0"/>
              </a:rPr>
              <a:t>DFS</a:t>
            </a:r>
            <a:r>
              <a:rPr lang="zh-CN" altLang="en-US" sz="1800" dirty="0">
                <a:solidFill>
                  <a:srgbClr val="000066"/>
                </a:solidFill>
                <a:latin typeface="Times New Roman" panose="02020603050405020304" pitchFamily="18" charset="0"/>
                <a:cs typeface="Times New Roman" panose="02020603050405020304" pitchFamily="18" charset="0"/>
              </a:rPr>
              <a:t>）</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defRPr/>
            </a:pPr>
            <a:r>
              <a:rPr lang="zh-CN" altLang="en-US" sz="1800" dirty="0">
                <a:solidFill>
                  <a:srgbClr val="000066"/>
                </a:solidFill>
                <a:latin typeface="Times New Roman" panose="02020603050405020304" pitchFamily="18" charset="0"/>
                <a:cs typeface="Times New Roman" panose="02020603050405020304" pitchFamily="18" charset="0"/>
              </a:rPr>
              <a:t>          需求：因为数据量太大，需要将文件存储在多台主机上</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defRPr/>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定义：</a:t>
            </a:r>
            <a:r>
              <a:rPr lang="zh-CN" altLang="zh-CN" sz="1800" dirty="0">
                <a:solidFill>
                  <a:srgbClr val="000066"/>
                </a:solidFill>
                <a:latin typeface="Times New Roman" panose="02020603050405020304" pitchFamily="18" charset="0"/>
                <a:cs typeface="Times New Roman" panose="02020603050405020304" pitchFamily="18" charset="0"/>
              </a:rPr>
              <a:t>一种通过网络实现文件在多台主机上分布式存储的文件系统</a:t>
            </a:r>
            <a:endParaRPr lang="zh-CN" altLang="en-US"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defRPr/>
            </a:pPr>
            <a:r>
              <a:rPr lang="zh-CN" altLang="en-US" sz="1800" dirty="0">
                <a:solidFill>
                  <a:srgbClr val="000066"/>
                </a:solidFill>
                <a:latin typeface="Times New Roman" panose="02020603050405020304" pitchFamily="18" charset="0"/>
                <a:cs typeface="Times New Roman" panose="02020603050405020304" pitchFamily="18" charset="0"/>
              </a:rPr>
              <a:t> </a:t>
            </a: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案例：典型的分布式文件系统有</a:t>
            </a:r>
            <a:r>
              <a:rPr lang="en-US" altLang="zh-CN" sz="1800" dirty="0">
                <a:solidFill>
                  <a:srgbClr val="000066"/>
                </a:solidFill>
                <a:latin typeface="Times New Roman" panose="02020603050405020304" pitchFamily="18" charset="0"/>
                <a:cs typeface="Times New Roman" panose="02020603050405020304" pitchFamily="18" charset="0"/>
              </a:rPr>
              <a:t>GFS</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err="1">
                <a:solidFill>
                  <a:srgbClr val="000066"/>
                </a:solidFill>
                <a:latin typeface="Times New Roman" panose="02020603050405020304" pitchFamily="18" charset="0"/>
                <a:cs typeface="Times New Roman" panose="02020603050405020304" pitchFamily="18" charset="0"/>
              </a:rPr>
              <a:t>HDFS</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4" name="矩形 3">
            <a:extLst>
              <a:ext uri="{FF2B5EF4-FFF2-40B4-BE49-F238E27FC236}">
                <a16:creationId xmlns:a16="http://schemas.microsoft.com/office/drawing/2014/main" id="{6D9B93F6-3E1A-4D27-8D4B-A0668C0EA82A}"/>
              </a:ext>
            </a:extLst>
          </p:cNvPr>
          <p:cNvSpPr/>
          <p:nvPr/>
        </p:nvSpPr>
        <p:spPr bwMode="gray">
          <a:xfrm>
            <a:off x="1115616" y="3471843"/>
            <a:ext cx="1296144" cy="720080"/>
          </a:xfrm>
          <a:prstGeom prst="rect">
            <a:avLst/>
          </a:prstGeom>
          <a:noFill/>
          <a:ln w="9525">
            <a:solidFill>
              <a:srgbClr val="000066"/>
            </a:solidFill>
            <a:miter lim="800000"/>
            <a:headEnd/>
            <a:tailEnd/>
          </a:ln>
          <a:effectLst/>
        </p:spPr>
        <p:txBody>
          <a:bodyPr wrap="none" rtlCol="0" anchor="ctr"/>
          <a:lstStyle/>
          <a:p>
            <a:pPr algn="ctr" eaLnBrk="0" hangingPunct="0">
              <a:lnSpc>
                <a:spcPct val="125000"/>
              </a:lnSpc>
            </a:pPr>
            <a:r>
              <a:rPr lang="zh-CN" altLang="en-US" dirty="0">
                <a:solidFill>
                  <a:srgbClr val="000066"/>
                </a:solidFill>
                <a:latin typeface="微软雅黑" panose="020B0503020204020204" pitchFamily="34" charset="-122"/>
                <a:ea typeface="微软雅黑" panose="020B0503020204020204" pitchFamily="34" charset="-122"/>
              </a:rPr>
              <a:t>应用程序</a:t>
            </a:r>
            <a:endParaRPr lang="en-US" altLang="zh-CN" dirty="0">
              <a:solidFill>
                <a:srgbClr val="000066"/>
              </a:solidFill>
              <a:latin typeface="微软雅黑" panose="020B0503020204020204" pitchFamily="34" charset="-122"/>
              <a:ea typeface="微软雅黑" panose="020B0503020204020204" pitchFamily="34" charset="-122"/>
            </a:endParaRPr>
          </a:p>
          <a:p>
            <a:pPr algn="ctr" eaLnBrk="0" hangingPunct="0">
              <a:lnSpc>
                <a:spcPct val="125000"/>
              </a:lnSpc>
            </a:pPr>
            <a:r>
              <a:rPr lang="zh-CN" altLang="en-US" dirty="0">
                <a:solidFill>
                  <a:srgbClr val="000066"/>
                </a:solidFill>
                <a:latin typeface="微软雅黑" panose="020B0503020204020204" pitchFamily="34" charset="-122"/>
                <a:ea typeface="微软雅黑" panose="020B0503020204020204" pitchFamily="34" charset="-122"/>
              </a:rPr>
              <a:t>客户机</a:t>
            </a:r>
          </a:p>
        </p:txBody>
      </p:sp>
      <p:cxnSp>
        <p:nvCxnSpPr>
          <p:cNvPr id="6" name="直接连接符 5">
            <a:extLst>
              <a:ext uri="{FF2B5EF4-FFF2-40B4-BE49-F238E27FC236}">
                <a16:creationId xmlns:a16="http://schemas.microsoft.com/office/drawing/2014/main" id="{747EB196-33C9-4F01-AC4C-31549BD912EB}"/>
              </a:ext>
            </a:extLst>
          </p:cNvPr>
          <p:cNvCxnSpPr>
            <a:cxnSpLocks/>
          </p:cNvCxnSpPr>
          <p:nvPr/>
        </p:nvCxnSpPr>
        <p:spPr>
          <a:xfrm>
            <a:off x="1115616" y="3850737"/>
            <a:ext cx="1296144" cy="0"/>
          </a:xfrm>
          <a:prstGeom prst="line">
            <a:avLst/>
          </a:prstGeom>
          <a:ln w="12700">
            <a:solidFill>
              <a:srgbClr val="000066"/>
            </a:solidFill>
          </a:ln>
        </p:spPr>
        <p:style>
          <a:lnRef idx="1">
            <a:schemeClr val="accent1"/>
          </a:lnRef>
          <a:fillRef idx="0">
            <a:schemeClr val="accent1"/>
          </a:fillRef>
          <a:effectRef idx="0">
            <a:schemeClr val="accent1"/>
          </a:effectRef>
          <a:fontRef idx="minor">
            <a:schemeClr val="tx1"/>
          </a:fontRef>
        </p:style>
      </p:cxnSp>
      <p:sp>
        <p:nvSpPr>
          <p:cNvPr id="7" name="思想气泡: 云 6">
            <a:extLst>
              <a:ext uri="{FF2B5EF4-FFF2-40B4-BE49-F238E27FC236}">
                <a16:creationId xmlns:a16="http://schemas.microsoft.com/office/drawing/2014/main" id="{4A6989C7-98E8-4FED-B8FD-7AA2DF015E5E}"/>
              </a:ext>
            </a:extLst>
          </p:cNvPr>
          <p:cNvSpPr/>
          <p:nvPr/>
        </p:nvSpPr>
        <p:spPr bwMode="gray">
          <a:xfrm>
            <a:off x="5724128" y="2715779"/>
            <a:ext cx="3024336" cy="2304231"/>
          </a:xfrm>
          <a:prstGeom prst="cloudCallout">
            <a:avLst>
              <a:gd name="adj1" fmla="val -15353"/>
              <a:gd name="adj2" fmla="val 38063"/>
            </a:avLst>
          </a:prstGeom>
          <a:noFill/>
          <a:ln w="19050">
            <a:solidFill>
              <a:srgbClr val="000066"/>
            </a:solidFill>
            <a:miter lim="800000"/>
            <a:headEnd/>
            <a:tailEnd/>
          </a:ln>
          <a:effectLst/>
        </p:spPr>
        <p:txBody>
          <a:bodyPr wrap="none" rtlCol="0" anchor="ctr"/>
          <a:lstStyle/>
          <a:p>
            <a:pPr algn="ctr" eaLnBrk="0" hangingPunct="0"/>
            <a:endParaRPr lang="zh-CN" altLang="en-US" sz="1400" b="1" dirty="0">
              <a:latin typeface="黑体" panose="02010609060101010101" pitchFamily="49" charset="-122"/>
              <a:ea typeface="黑体" panose="02010609060101010101" pitchFamily="49" charset="-122"/>
            </a:endParaRPr>
          </a:p>
        </p:txBody>
      </p:sp>
      <p:cxnSp>
        <p:nvCxnSpPr>
          <p:cNvPr id="11" name="直接箭头连接符 10">
            <a:extLst>
              <a:ext uri="{FF2B5EF4-FFF2-40B4-BE49-F238E27FC236}">
                <a16:creationId xmlns:a16="http://schemas.microsoft.com/office/drawing/2014/main" id="{F3F3A37A-1831-47F9-BDBC-CA0F2D754524}"/>
              </a:ext>
            </a:extLst>
          </p:cNvPr>
          <p:cNvCxnSpPr>
            <a:cxnSpLocks/>
            <a:stCxn id="4" idx="3"/>
            <a:endCxn id="7" idx="0"/>
          </p:cNvCxnSpPr>
          <p:nvPr/>
        </p:nvCxnSpPr>
        <p:spPr>
          <a:xfrm>
            <a:off x="2411760" y="3831883"/>
            <a:ext cx="3321749" cy="36012"/>
          </a:xfrm>
          <a:prstGeom prst="straightConnector1">
            <a:avLst/>
          </a:prstGeom>
          <a:ln w="25400" cmpd="dbl">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3" name="图形 12" descr="数据库">
            <a:extLst>
              <a:ext uri="{FF2B5EF4-FFF2-40B4-BE49-F238E27FC236}">
                <a16:creationId xmlns:a16="http://schemas.microsoft.com/office/drawing/2014/main" id="{A1BC1AD7-9BA8-4E98-A0A9-D36F5D0DAF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15797" y="3221808"/>
            <a:ext cx="648072" cy="648072"/>
          </a:xfrm>
          <a:prstGeom prst="rect">
            <a:avLst/>
          </a:prstGeom>
        </p:spPr>
      </p:pic>
      <p:pic>
        <p:nvPicPr>
          <p:cNvPr id="14" name="图形 13" descr="数据库">
            <a:extLst>
              <a:ext uri="{FF2B5EF4-FFF2-40B4-BE49-F238E27FC236}">
                <a16:creationId xmlns:a16="http://schemas.microsoft.com/office/drawing/2014/main" id="{4137CF14-AAED-4206-9767-D6035FA6A2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3889" y="3221808"/>
            <a:ext cx="648072" cy="648072"/>
          </a:xfrm>
          <a:prstGeom prst="rect">
            <a:avLst/>
          </a:prstGeom>
        </p:spPr>
      </p:pic>
      <p:pic>
        <p:nvPicPr>
          <p:cNvPr id="15" name="图形 14" descr="数据库">
            <a:extLst>
              <a:ext uri="{FF2B5EF4-FFF2-40B4-BE49-F238E27FC236}">
                <a16:creationId xmlns:a16="http://schemas.microsoft.com/office/drawing/2014/main" id="{A5A1F9B8-C1DD-4E0A-AD28-7966061B1D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95842" y="3221808"/>
            <a:ext cx="648072" cy="648072"/>
          </a:xfrm>
          <a:prstGeom prst="rect">
            <a:avLst/>
          </a:prstGeom>
        </p:spPr>
      </p:pic>
      <p:pic>
        <p:nvPicPr>
          <p:cNvPr id="16" name="图形 15" descr="数据库">
            <a:extLst>
              <a:ext uri="{FF2B5EF4-FFF2-40B4-BE49-F238E27FC236}">
                <a16:creationId xmlns:a16="http://schemas.microsoft.com/office/drawing/2014/main" id="{8D884B94-451C-4251-B85F-1C6FFBD20F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61183" y="3869880"/>
            <a:ext cx="648072" cy="648072"/>
          </a:xfrm>
          <a:prstGeom prst="rect">
            <a:avLst/>
          </a:prstGeom>
        </p:spPr>
      </p:pic>
      <p:pic>
        <p:nvPicPr>
          <p:cNvPr id="17" name="图形 16" descr="数据库">
            <a:extLst>
              <a:ext uri="{FF2B5EF4-FFF2-40B4-BE49-F238E27FC236}">
                <a16:creationId xmlns:a16="http://schemas.microsoft.com/office/drawing/2014/main" id="{35A523F9-8C4A-4C08-955A-EA0E1DC75FC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36015" y="3869881"/>
            <a:ext cx="648071" cy="648071"/>
          </a:xfrm>
          <a:prstGeom prst="rect">
            <a:avLst/>
          </a:prstGeom>
        </p:spPr>
      </p:pic>
    </p:spTree>
    <p:extLst>
      <p:ext uri="{BB962C8B-B14F-4D97-AF65-F5344CB8AC3E}">
        <p14:creationId xmlns:p14="http://schemas.microsoft.com/office/powerpoint/2010/main" val="182683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992889" cy="4105405"/>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大数据的组织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NoSQL</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① 键值数据库    将数据存储为键值对集合</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用户：百度云</a:t>
            </a:r>
            <a:r>
              <a:rPr lang="en-US" altLang="zh-CN" sz="1800" dirty="0">
                <a:solidFill>
                  <a:srgbClr val="000066"/>
                </a:solidFill>
                <a:latin typeface="Times New Roman" panose="02020603050405020304" pitchFamily="18" charset="0"/>
                <a:cs typeface="Times New Roman" panose="02020603050405020304" pitchFamily="18" charset="0"/>
              </a:rPr>
              <a:t>(Redis)</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GitHub(</a:t>
            </a:r>
            <a:r>
              <a:rPr lang="en-US" altLang="zh-CN" sz="1800" dirty="0" err="1">
                <a:solidFill>
                  <a:srgbClr val="000066"/>
                </a:solidFill>
                <a:latin typeface="Times New Roman" panose="02020603050405020304" pitchFamily="18" charset="0"/>
                <a:cs typeface="Times New Roman" panose="02020603050405020304" pitchFamily="18" charset="0"/>
              </a:rPr>
              <a:t>Riak</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Wikipedia(Memcached)</a:t>
            </a: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数据模型：健</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值</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例如： </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苏州</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苏州地图</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张三</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个人信息</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Tree>
    <p:extLst>
      <p:ext uri="{BB962C8B-B14F-4D97-AF65-F5344CB8AC3E}">
        <p14:creationId xmlns:p14="http://schemas.microsoft.com/office/powerpoint/2010/main" val="382322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8640961" cy="1657133"/>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大数据的组织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NoSQL</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② 列族数据库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               </a:t>
            </a:r>
            <a:r>
              <a:rPr lang="zh-CN" altLang="en-US" sz="1800" dirty="0">
                <a:solidFill>
                  <a:srgbClr val="000066"/>
                </a:solidFill>
                <a:latin typeface="Times New Roman" panose="02020603050405020304" pitchFamily="18" charset="0"/>
                <a:cs typeface="Times New Roman" panose="02020603050405020304" pitchFamily="18" charset="0"/>
              </a:rPr>
              <a:t>数据模型：</a:t>
            </a:r>
            <a:r>
              <a:rPr lang="zh-CN" altLang="en-US" sz="1800" dirty="0"/>
              <a:t>一</a:t>
            </a:r>
            <a:r>
              <a:rPr lang="zh-CN" altLang="en-US" sz="1800" dirty="0">
                <a:solidFill>
                  <a:srgbClr val="000066"/>
                </a:solidFill>
                <a:latin typeface="Times New Roman" panose="02020603050405020304" pitchFamily="18" charset="0"/>
                <a:cs typeface="Times New Roman" panose="02020603050405020304" pitchFamily="18" charset="0"/>
              </a:rPr>
              <a:t>列中的数据值串在一起存储起来，然后再存储下一列的数据</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看作是一个每行列数可变的数据表</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用户：</a:t>
            </a:r>
            <a:r>
              <a:rPr lang="en-US" altLang="zh-CN" sz="1800" dirty="0">
                <a:solidFill>
                  <a:srgbClr val="000066"/>
                </a:solidFill>
                <a:latin typeface="Times New Roman" panose="02020603050405020304" pitchFamily="18" charset="0"/>
                <a:cs typeface="Times New Roman" panose="02020603050405020304" pitchFamily="18" charset="0"/>
              </a:rPr>
              <a:t>NASA(Cassandra)</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Twitter(Cassandra </a:t>
            </a:r>
            <a:r>
              <a:rPr lang="en-US" altLang="zh-CN" sz="1800" dirty="0" err="1">
                <a:solidFill>
                  <a:srgbClr val="000066"/>
                </a:solidFill>
                <a:latin typeface="Times New Roman" panose="02020603050405020304" pitchFamily="18" charset="0"/>
                <a:cs typeface="Times New Roman" panose="02020603050405020304" pitchFamily="18" charset="0"/>
              </a:rPr>
              <a:t>Hbase</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Facebook(</a:t>
            </a:r>
            <a:r>
              <a:rPr lang="en-US" altLang="zh-CN" sz="1800" dirty="0" err="1">
                <a:solidFill>
                  <a:srgbClr val="000066"/>
                </a:solidFill>
                <a:latin typeface="Times New Roman" panose="02020603050405020304" pitchFamily="18" charset="0"/>
                <a:cs typeface="Times New Roman" panose="02020603050405020304" pitchFamily="18" charset="0"/>
              </a:rPr>
              <a:t>Hbase</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graphicFrame>
        <p:nvGraphicFramePr>
          <p:cNvPr id="4" name="表格 3">
            <a:extLst>
              <a:ext uri="{FF2B5EF4-FFF2-40B4-BE49-F238E27FC236}">
                <a16:creationId xmlns:a16="http://schemas.microsoft.com/office/drawing/2014/main" id="{DAF26C25-EC48-4501-A18E-462D4068506D}"/>
              </a:ext>
            </a:extLst>
          </p:cNvPr>
          <p:cNvGraphicFramePr>
            <a:graphicFrameLocks noGrp="1"/>
          </p:cNvGraphicFramePr>
          <p:nvPr>
            <p:extLst>
              <p:ext uri="{D42A27DB-BD31-4B8C-83A1-F6EECF244321}">
                <p14:modId xmlns:p14="http://schemas.microsoft.com/office/powerpoint/2010/main" val="856871621"/>
              </p:ext>
            </p:extLst>
          </p:nvPr>
        </p:nvGraphicFramePr>
        <p:xfrm>
          <a:off x="107505" y="3556710"/>
          <a:ext cx="4539353" cy="1524000"/>
        </p:xfrm>
        <a:graphic>
          <a:graphicData uri="http://schemas.openxmlformats.org/drawingml/2006/table">
            <a:tbl>
              <a:tblPr/>
              <a:tblGrid>
                <a:gridCol w="789805">
                  <a:extLst>
                    <a:ext uri="{9D8B030D-6E8A-4147-A177-3AD203B41FA5}">
                      <a16:colId xmlns:a16="http://schemas.microsoft.com/office/drawing/2014/main" val="2016799510"/>
                    </a:ext>
                  </a:extLst>
                </a:gridCol>
                <a:gridCol w="778208">
                  <a:extLst>
                    <a:ext uri="{9D8B030D-6E8A-4147-A177-3AD203B41FA5}">
                      <a16:colId xmlns:a16="http://schemas.microsoft.com/office/drawing/2014/main" val="3037160493"/>
                    </a:ext>
                  </a:extLst>
                </a:gridCol>
                <a:gridCol w="1061193">
                  <a:extLst>
                    <a:ext uri="{9D8B030D-6E8A-4147-A177-3AD203B41FA5}">
                      <a16:colId xmlns:a16="http://schemas.microsoft.com/office/drawing/2014/main" val="4199970187"/>
                    </a:ext>
                  </a:extLst>
                </a:gridCol>
                <a:gridCol w="990447">
                  <a:extLst>
                    <a:ext uri="{9D8B030D-6E8A-4147-A177-3AD203B41FA5}">
                      <a16:colId xmlns:a16="http://schemas.microsoft.com/office/drawing/2014/main" val="1653192211"/>
                    </a:ext>
                  </a:extLst>
                </a:gridCol>
                <a:gridCol w="919700">
                  <a:extLst>
                    <a:ext uri="{9D8B030D-6E8A-4147-A177-3AD203B41FA5}">
                      <a16:colId xmlns:a16="http://schemas.microsoft.com/office/drawing/2014/main" val="1252763252"/>
                    </a:ext>
                  </a:extLst>
                </a:gridCol>
              </a:tblGrid>
              <a:tr h="294741">
                <a:tc>
                  <a:txBody>
                    <a:bodyPr/>
                    <a:lstStyle/>
                    <a:p>
                      <a:pPr algn="ctr"/>
                      <a:r>
                        <a:rPr lang="en-US" altLang="zh-CN" sz="1400" dirty="0" err="1">
                          <a:solidFill>
                            <a:srgbClr val="000066"/>
                          </a:solidFill>
                          <a:latin typeface="Times New Roman" panose="02020603050405020304" pitchFamily="18" charset="0"/>
                          <a:cs typeface="Times New Roman" panose="02020603050405020304" pitchFamily="18" charset="0"/>
                        </a:rPr>
                        <a:t>R</a:t>
                      </a:r>
                      <a:r>
                        <a:rPr lang="en-US" sz="1400" dirty="0" err="1">
                          <a:solidFill>
                            <a:srgbClr val="000066"/>
                          </a:solidFill>
                          <a:latin typeface="Times New Roman" panose="02020603050405020304" pitchFamily="18" charset="0"/>
                          <a:cs typeface="Times New Roman" panose="02020603050405020304" pitchFamily="18" charset="0"/>
                        </a:rPr>
                        <a:t>owId</a:t>
                      </a:r>
                      <a:endParaRPr lang="en-US" sz="1400" dirty="0">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err="1">
                          <a:solidFill>
                            <a:srgbClr val="000066"/>
                          </a:solidFill>
                          <a:latin typeface="Times New Roman" panose="02020603050405020304" pitchFamily="18" charset="0"/>
                          <a:cs typeface="Times New Roman" panose="02020603050405020304" pitchFamily="18" charset="0"/>
                        </a:rPr>
                        <a:t>EmpId</a:t>
                      </a:r>
                      <a:endParaRPr lang="en-US" sz="1400" dirty="0">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err="1">
                          <a:solidFill>
                            <a:srgbClr val="000066"/>
                          </a:solidFill>
                          <a:latin typeface="Times New Roman" panose="02020603050405020304" pitchFamily="18" charset="0"/>
                          <a:cs typeface="Times New Roman" panose="02020603050405020304" pitchFamily="18" charset="0"/>
                        </a:rPr>
                        <a:t>Lastname</a:t>
                      </a:r>
                      <a:endParaRPr lang="en-US" sz="1400" dirty="0">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err="1">
                          <a:solidFill>
                            <a:srgbClr val="000066"/>
                          </a:solidFill>
                          <a:latin typeface="Times New Roman" panose="02020603050405020304" pitchFamily="18" charset="0"/>
                          <a:cs typeface="Times New Roman" panose="02020603050405020304" pitchFamily="18" charset="0"/>
                        </a:rPr>
                        <a:t>Firstname</a:t>
                      </a:r>
                      <a:endParaRPr lang="en-US" sz="1400" dirty="0">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Salary</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extLst>
                  <a:ext uri="{0D108BD9-81ED-4DB2-BD59-A6C34878D82A}">
                    <a16:rowId xmlns:a16="http://schemas.microsoft.com/office/drawing/2014/main" val="3347564840"/>
                  </a:ext>
                </a:extLst>
              </a:tr>
              <a:tr h="294741">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001</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10</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Smith</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Joe</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40000</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extLst>
                  <a:ext uri="{0D108BD9-81ED-4DB2-BD59-A6C34878D82A}">
                    <a16:rowId xmlns:a16="http://schemas.microsoft.com/office/drawing/2014/main" val="2072587967"/>
                  </a:ext>
                </a:extLst>
              </a:tr>
              <a:tr h="294741">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002</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12</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a:solidFill>
                            <a:srgbClr val="000066"/>
                          </a:solidFill>
                          <a:latin typeface="Times New Roman" panose="02020603050405020304" pitchFamily="18" charset="0"/>
                          <a:cs typeface="Times New Roman" panose="02020603050405020304" pitchFamily="18" charset="0"/>
                        </a:rPr>
                        <a:t>Jones</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Mary</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dirty="0">
                          <a:solidFill>
                            <a:srgbClr val="000066"/>
                          </a:solidFill>
                          <a:latin typeface="Times New Roman" panose="02020603050405020304" pitchFamily="18" charset="0"/>
                          <a:cs typeface="Times New Roman" panose="02020603050405020304" pitchFamily="18" charset="0"/>
                        </a:rPr>
                        <a:t>50000</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extLst>
                  <a:ext uri="{0D108BD9-81ED-4DB2-BD59-A6C34878D82A}">
                    <a16:rowId xmlns:a16="http://schemas.microsoft.com/office/drawing/2014/main" val="3333358543"/>
                  </a:ext>
                </a:extLst>
              </a:tr>
              <a:tr h="294741">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003</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11</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a:solidFill>
                            <a:srgbClr val="000066"/>
                          </a:solidFill>
                          <a:latin typeface="Times New Roman" panose="02020603050405020304" pitchFamily="18" charset="0"/>
                          <a:cs typeface="Times New Roman" panose="02020603050405020304" pitchFamily="18" charset="0"/>
                        </a:rPr>
                        <a:t>Johnson</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Cathy</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dirty="0">
                          <a:solidFill>
                            <a:srgbClr val="000066"/>
                          </a:solidFill>
                          <a:latin typeface="Times New Roman" panose="02020603050405020304" pitchFamily="18" charset="0"/>
                          <a:cs typeface="Times New Roman" panose="02020603050405020304" pitchFamily="18" charset="0"/>
                        </a:rPr>
                        <a:t>44000</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extLst>
                  <a:ext uri="{0D108BD9-81ED-4DB2-BD59-A6C34878D82A}">
                    <a16:rowId xmlns:a16="http://schemas.microsoft.com/office/drawing/2014/main" val="3952929968"/>
                  </a:ext>
                </a:extLst>
              </a:tr>
              <a:tr h="294741">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004</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a:solidFill>
                            <a:srgbClr val="000066"/>
                          </a:solidFill>
                          <a:latin typeface="Times New Roman" panose="02020603050405020304" pitchFamily="18" charset="0"/>
                          <a:cs typeface="Times New Roman" panose="02020603050405020304" pitchFamily="18" charset="0"/>
                        </a:rPr>
                        <a:t>22</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a:solidFill>
                            <a:srgbClr val="000066"/>
                          </a:solidFill>
                          <a:latin typeface="Times New Roman" panose="02020603050405020304" pitchFamily="18" charset="0"/>
                          <a:cs typeface="Times New Roman" panose="02020603050405020304" pitchFamily="18" charset="0"/>
                        </a:rPr>
                        <a:t>Jones</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sz="1400" dirty="0">
                          <a:solidFill>
                            <a:srgbClr val="000066"/>
                          </a:solidFill>
                          <a:latin typeface="Times New Roman" panose="02020603050405020304" pitchFamily="18" charset="0"/>
                          <a:cs typeface="Times New Roman" panose="02020603050405020304" pitchFamily="18" charset="0"/>
                        </a:rPr>
                        <a:t>Bob</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tc>
                  <a:txBody>
                    <a:bodyPr/>
                    <a:lstStyle/>
                    <a:p>
                      <a:pPr algn="ctr"/>
                      <a:r>
                        <a:rPr lang="en-US" altLang="zh-CN" sz="1400" dirty="0">
                          <a:solidFill>
                            <a:srgbClr val="000066"/>
                          </a:solidFill>
                          <a:latin typeface="Times New Roman" panose="02020603050405020304" pitchFamily="18" charset="0"/>
                          <a:cs typeface="Times New Roman" panose="02020603050405020304" pitchFamily="18" charset="0"/>
                        </a:rPr>
                        <a:t>55000</a:t>
                      </a: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bg1"/>
                    </a:solidFill>
                  </a:tcPr>
                </a:tc>
                <a:extLst>
                  <a:ext uri="{0D108BD9-81ED-4DB2-BD59-A6C34878D82A}">
                    <a16:rowId xmlns:a16="http://schemas.microsoft.com/office/drawing/2014/main" val="607175541"/>
                  </a:ext>
                </a:extLst>
              </a:tr>
            </a:tbl>
          </a:graphicData>
        </a:graphic>
      </p:graphicFrame>
      <p:sp>
        <p:nvSpPr>
          <p:cNvPr id="5" name="Rectangle 1">
            <a:extLst>
              <a:ext uri="{FF2B5EF4-FFF2-40B4-BE49-F238E27FC236}">
                <a16:creationId xmlns:a16="http://schemas.microsoft.com/office/drawing/2014/main" id="{606CB56F-BD77-4A43-87BC-3DA8BDE8556A}"/>
              </a:ext>
            </a:extLst>
          </p:cNvPr>
          <p:cNvSpPr>
            <a:spLocks noChangeArrowheads="1"/>
          </p:cNvSpPr>
          <p:nvPr/>
        </p:nvSpPr>
        <p:spPr bwMode="auto">
          <a:xfrm>
            <a:off x="4572000" y="3718545"/>
            <a:ext cx="439248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10:001,12:002,11:003,22:004;</a:t>
            </a:r>
          </a:p>
          <a:p>
            <a:pPr eaLnBrk="0" hangingPunct="0"/>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Smith:001,Jones:002,Johnson:003,Jones:004;</a:t>
            </a:r>
          </a:p>
          <a:p>
            <a:pPr eaLnBrk="0" hangingPunct="0"/>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Joe:001,Mary:002,Cathy:003,Bob:004;</a:t>
            </a:r>
          </a:p>
          <a:p>
            <a:pPr eaLnBrk="0" hangingPunct="0"/>
            <a:r>
              <a:rPr lang="zh-CN" altLang="zh-CN"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40000:001,50000:002,44000:003,55000:004;</a:t>
            </a:r>
          </a:p>
        </p:txBody>
      </p:sp>
    </p:spTree>
    <p:extLst>
      <p:ext uri="{BB962C8B-B14F-4D97-AF65-F5344CB8AC3E}">
        <p14:creationId xmlns:p14="http://schemas.microsoft.com/office/powerpoint/2010/main" val="217896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992889" cy="4105405"/>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大数据的组织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NoSQL</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③ 文档数据库    数据模型：版本化的文档</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403039" lvl="1" indent="0">
              <a:lnSpc>
                <a:spcPct val="150000"/>
              </a:lnSpc>
              <a:spcBef>
                <a:spcPts val="384"/>
              </a:spcBef>
              <a:buNone/>
            </a:pPr>
            <a:r>
              <a:rPr lang="zh-CN" altLang="en-US" sz="1800" dirty="0">
                <a:solidFill>
                  <a:srgbClr val="000066"/>
                </a:solidFill>
                <a:latin typeface="Times New Roman" panose="02020603050405020304" pitchFamily="18" charset="0"/>
                <a:cs typeface="Times New Roman" panose="02020603050405020304" pitchFamily="18" charset="0"/>
              </a:rPr>
              <a:t>        用户：百度云数据库（</a:t>
            </a:r>
            <a:r>
              <a:rPr lang="en-US" altLang="zh-CN" sz="1800" dirty="0">
                <a:solidFill>
                  <a:srgbClr val="000066"/>
                </a:solidFill>
                <a:latin typeface="Times New Roman" panose="02020603050405020304" pitchFamily="18" charset="0"/>
                <a:cs typeface="Times New Roman" panose="02020603050405020304" pitchFamily="18" charset="0"/>
              </a:rPr>
              <a:t>MongoDB</a:t>
            </a:r>
            <a:r>
              <a:rPr lang="zh-CN" altLang="en-US" sz="1800" dirty="0">
                <a:solidFill>
                  <a:srgbClr val="000066"/>
                </a:solidFill>
                <a:latin typeface="Times New Roman" panose="02020603050405020304" pitchFamily="18" charset="0"/>
                <a:cs typeface="Times New Roman" panose="02020603050405020304" pitchFamily="18" charset="0"/>
              </a:rPr>
              <a:t>） </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403039" lvl="1" indent="0">
              <a:lnSpc>
                <a:spcPct val="150000"/>
              </a:lnSpc>
              <a:spcBef>
                <a:spcPts val="384"/>
              </a:spcBef>
              <a:buNone/>
            </a:pPr>
            <a:r>
              <a:rPr lang="zh-CN" altLang="en-US" sz="1800" dirty="0"/>
              <a:t>       </a:t>
            </a:r>
            <a:r>
              <a:rPr lang="zh-CN" altLang="en-US" sz="1800" dirty="0">
                <a:solidFill>
                  <a:srgbClr val="000066"/>
                </a:solidFill>
                <a:latin typeface="Times New Roman" panose="02020603050405020304" pitchFamily="18" charset="0"/>
                <a:cs typeface="Times New Roman" panose="02020603050405020304" pitchFamily="18" charset="0"/>
              </a:rPr>
              <a:t>文档中存储信息的数据库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403039" lvl="1" indent="0">
              <a:lnSpc>
                <a:spcPct val="150000"/>
              </a:lnSpc>
              <a:spcBef>
                <a:spcPts val="384"/>
              </a:spcBef>
              <a:buNone/>
            </a:pPr>
            <a:r>
              <a:rPr lang="zh-CN" altLang="en-US" sz="1800" dirty="0"/>
              <a:t>       </a:t>
            </a:r>
            <a:r>
              <a:rPr lang="zh-CN" altLang="en-US" sz="1800" dirty="0">
                <a:solidFill>
                  <a:srgbClr val="000066"/>
                </a:solidFill>
                <a:latin typeface="Times New Roman" panose="02020603050405020304" pitchFamily="18" charset="0"/>
                <a:cs typeface="Times New Roman" panose="02020603050405020304" pitchFamily="18" charset="0"/>
              </a:rPr>
              <a:t>一个文档就是文档型数据库中的一条记录</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4" name="矩形 3">
            <a:extLst>
              <a:ext uri="{FF2B5EF4-FFF2-40B4-BE49-F238E27FC236}">
                <a16:creationId xmlns:a16="http://schemas.microsoft.com/office/drawing/2014/main" id="{379EA0AF-DD82-4947-812B-F65EB4388371}"/>
              </a:ext>
            </a:extLst>
          </p:cNvPr>
          <p:cNvSpPr/>
          <p:nvPr/>
        </p:nvSpPr>
        <p:spPr>
          <a:xfrm>
            <a:off x="5508104" y="1563638"/>
            <a:ext cx="3528392" cy="3139321"/>
          </a:xfrm>
          <a:prstGeom prst="rect">
            <a:avLst/>
          </a:prstGeom>
        </p:spPr>
        <p:txBody>
          <a:bodyPr wrap="square">
            <a:spAutoFit/>
          </a:bodyPr>
          <a:lstStyle/>
          <a:p>
            <a:r>
              <a:rPr lang="zh-CN" altLang="en-US" dirty="0">
                <a:solidFill>
                  <a:srgbClr val="000066"/>
                </a:solidFill>
                <a:latin typeface="Times New Roman" panose="02020603050405020304" pitchFamily="18" charset="0"/>
                <a:cs typeface="Times New Roman" panose="02020603050405020304" pitchFamily="18" charset="0"/>
              </a:rPr>
              <a:t> {</a:t>
            </a:r>
          </a:p>
          <a:p>
            <a:r>
              <a:rPr lang="zh-CN" altLang="en-US" dirty="0">
                <a:solidFill>
                  <a:srgbClr val="000066"/>
                </a:solidFill>
                <a:latin typeface="Times New Roman" panose="02020603050405020304" pitchFamily="18" charset="0"/>
                <a:cs typeface="Times New Roman" panose="02020603050405020304" pitchFamily="18" charset="0"/>
              </a:rPr>
              <a:t>     "_id": 2,</a:t>
            </a:r>
          </a:p>
          <a:p>
            <a:r>
              <a:rPr lang="zh-CN" altLang="en-US" dirty="0">
                <a:solidFill>
                  <a:srgbClr val="000066"/>
                </a:solidFill>
                <a:latin typeface="Times New Roman" panose="02020603050405020304" pitchFamily="18" charset="0"/>
                <a:cs typeface="Times New Roman" panose="02020603050405020304" pitchFamily="18" charset="0"/>
              </a:rPr>
              <a:t>     "first_name": "Donna",</a:t>
            </a:r>
          </a:p>
          <a:p>
            <a:r>
              <a:rPr lang="zh-CN" altLang="en-US" dirty="0">
                <a:solidFill>
                  <a:srgbClr val="000066"/>
                </a:solidFill>
                <a:latin typeface="Times New Roman" panose="02020603050405020304" pitchFamily="18" charset="0"/>
                <a:cs typeface="Times New Roman" panose="02020603050405020304" pitchFamily="18" charset="0"/>
              </a:rPr>
              <a:t>     "email": "donna@example.com",</a:t>
            </a:r>
          </a:p>
          <a:p>
            <a:r>
              <a:rPr lang="zh-CN" altLang="en-US" dirty="0">
                <a:solidFill>
                  <a:srgbClr val="000066"/>
                </a:solidFill>
                <a:latin typeface="Times New Roman" panose="02020603050405020304" pitchFamily="18" charset="0"/>
                <a:cs typeface="Times New Roman" panose="02020603050405020304" pitchFamily="18" charset="0"/>
              </a:rPr>
              <a:t>     "spouse": "Joe",</a:t>
            </a:r>
          </a:p>
          <a:p>
            <a:r>
              <a:rPr lang="zh-CN" altLang="en-US" dirty="0">
                <a:solidFill>
                  <a:srgbClr val="000066"/>
                </a:solidFill>
                <a:latin typeface="Times New Roman" panose="02020603050405020304" pitchFamily="18" charset="0"/>
                <a:cs typeface="Times New Roman" panose="02020603050405020304" pitchFamily="18" charset="0"/>
              </a:rPr>
              <a:t>     "likes": [</a:t>
            </a:r>
          </a:p>
          <a:p>
            <a:r>
              <a:rPr lang="zh-CN" altLang="en-US" dirty="0">
                <a:solidFill>
                  <a:srgbClr val="000066"/>
                </a:solidFill>
                <a:latin typeface="Times New Roman" panose="02020603050405020304" pitchFamily="18" charset="0"/>
                <a:cs typeface="Times New Roman" panose="02020603050405020304" pitchFamily="18" charset="0"/>
              </a:rPr>
              <a:t>        "spas",</a:t>
            </a:r>
          </a:p>
          <a:p>
            <a:r>
              <a:rPr lang="zh-CN" altLang="en-US" dirty="0">
                <a:solidFill>
                  <a:srgbClr val="000066"/>
                </a:solidFill>
                <a:latin typeface="Times New Roman" panose="02020603050405020304" pitchFamily="18" charset="0"/>
                <a:cs typeface="Times New Roman" panose="02020603050405020304" pitchFamily="18" charset="0"/>
              </a:rPr>
              <a:t>        "shopping",</a:t>
            </a:r>
          </a:p>
          <a:p>
            <a:r>
              <a:rPr lang="zh-CN" altLang="en-US" dirty="0">
                <a:solidFill>
                  <a:srgbClr val="000066"/>
                </a:solidFill>
                <a:latin typeface="Times New Roman" panose="02020603050405020304" pitchFamily="18" charset="0"/>
                <a:cs typeface="Times New Roman" panose="02020603050405020304" pitchFamily="18" charset="0"/>
              </a:rPr>
              <a:t>        "live tweeting"</a:t>
            </a:r>
          </a:p>
          <a:p>
            <a:r>
              <a:rPr lang="zh-CN" altLang="en-US" dirty="0">
                <a:solidFill>
                  <a:srgbClr val="000066"/>
                </a:solidFill>
                <a:latin typeface="Times New Roman" panose="02020603050405020304" pitchFamily="18" charset="0"/>
                <a:cs typeface="Times New Roman" panose="02020603050405020304" pitchFamily="18" charset="0"/>
              </a:rPr>
              <a:t>     ]</a:t>
            </a:r>
            <a:endParaRPr lang="en-US" altLang="zh-CN" dirty="0">
              <a:solidFill>
                <a:srgbClr val="000066"/>
              </a:solidFill>
              <a:latin typeface="Times New Roman" panose="02020603050405020304" pitchFamily="18" charset="0"/>
              <a:cs typeface="Times New Roman" panose="02020603050405020304" pitchFamily="18" charset="0"/>
            </a:endParaRPr>
          </a:p>
          <a:p>
            <a:r>
              <a:rPr lang="zh-CN" altLang="en-US" dirty="0">
                <a:solidFill>
                  <a:srgbClr val="000066"/>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339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59" y="986625"/>
            <a:ext cx="7992889" cy="4105405"/>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3</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大数据的组织</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2</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NoSQL</a:t>
            </a:r>
            <a:r>
              <a:rPr lang="zh-CN" altLang="en-US" sz="1800" dirty="0">
                <a:solidFill>
                  <a:srgbClr val="000066"/>
                </a:solidFill>
                <a:latin typeface="Times New Roman" panose="02020603050405020304" pitchFamily="18" charset="0"/>
                <a:cs typeface="Times New Roman" panose="02020603050405020304" pitchFamily="18" charset="0"/>
              </a:rPr>
              <a:t>数据库</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zh-CN" altLang="en-US" sz="1800" dirty="0">
                <a:solidFill>
                  <a:srgbClr val="000066"/>
                </a:solidFill>
                <a:latin typeface="Times New Roman" panose="02020603050405020304" pitchFamily="18" charset="0"/>
                <a:cs typeface="Times New Roman" panose="02020603050405020304" pitchFamily="18" charset="0"/>
              </a:rPr>
              <a:t>          ④ 图数据库    图结构，旨在以高效的方式存储实体之间的关系。</a:t>
            </a:r>
            <a:endParaRPr lang="en-US" altLang="zh-CN" sz="1800" dirty="0">
              <a:solidFill>
                <a:srgbClr val="000066"/>
              </a:solidFill>
              <a:latin typeface="Times New Roman" panose="02020603050405020304" pitchFamily="18" charset="0"/>
              <a:cs typeface="Times New Roman" panose="02020603050405020304" pitchFamily="18" charset="0"/>
            </a:endParaRPr>
          </a:p>
          <a:p>
            <a:pPr marL="0" lvl="1" indent="0">
              <a:spcBef>
                <a:spcPts val="792"/>
              </a:spcBef>
              <a:buNone/>
            </a:pPr>
            <a:r>
              <a:rPr lang="zh-CN" altLang="en-US" sz="1800" dirty="0">
                <a:solidFill>
                  <a:srgbClr val="000066"/>
                </a:solidFill>
                <a:latin typeface="Times New Roman" panose="02020603050405020304" pitchFamily="18" charset="0"/>
                <a:cs typeface="Times New Roman" panose="02020603050405020304" pitchFamily="18" charset="0"/>
              </a:rPr>
              <a:t>               用户：</a:t>
            </a:r>
            <a:r>
              <a:rPr lang="en-US" altLang="zh-CN" sz="1800" dirty="0">
                <a:solidFill>
                  <a:srgbClr val="000066"/>
                </a:solidFill>
                <a:latin typeface="Times New Roman" panose="02020603050405020304" pitchFamily="18" charset="0"/>
                <a:cs typeface="Times New Roman" panose="02020603050405020304" pitchFamily="18" charset="0"/>
              </a:rPr>
              <a:t>Adobe(</a:t>
            </a:r>
            <a:r>
              <a:rPr lang="en-US" altLang="zh-CN" sz="1800" dirty="0" err="1">
                <a:solidFill>
                  <a:srgbClr val="000066"/>
                </a:solidFill>
                <a:latin typeface="Times New Roman" panose="02020603050405020304" pitchFamily="18" charset="0"/>
                <a:cs typeface="Times New Roman" panose="02020603050405020304" pitchFamily="18" charset="0"/>
              </a:rPr>
              <a:t>Neo4J</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Cisco(</a:t>
            </a:r>
            <a:r>
              <a:rPr lang="en-US" altLang="zh-CN" sz="1800" dirty="0" err="1">
                <a:solidFill>
                  <a:srgbClr val="000066"/>
                </a:solidFill>
                <a:latin typeface="Times New Roman" panose="02020603050405020304" pitchFamily="18" charset="0"/>
                <a:cs typeface="Times New Roman" panose="02020603050405020304" pitchFamily="18" charset="0"/>
              </a:rPr>
              <a:t>Neo4J</a:t>
            </a:r>
            <a:r>
              <a:rPr lang="en-US"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a:t>
            </a:r>
            <a:r>
              <a:rPr lang="en-US" altLang="zh-CN" sz="1800" dirty="0">
                <a:solidFill>
                  <a:srgbClr val="000066"/>
                </a:solidFill>
                <a:latin typeface="Times New Roman" panose="02020603050405020304" pitchFamily="18" charset="0"/>
                <a:cs typeface="Times New Roman" panose="02020603050405020304" pitchFamily="18" charset="0"/>
              </a:rPr>
              <a:t>T-Mobile(</a:t>
            </a:r>
            <a:r>
              <a:rPr lang="en-US" altLang="zh-CN" sz="1800" dirty="0" err="1">
                <a:solidFill>
                  <a:srgbClr val="000066"/>
                </a:solidFill>
                <a:latin typeface="Times New Roman" panose="02020603050405020304" pitchFamily="18" charset="0"/>
                <a:cs typeface="Times New Roman" panose="02020603050405020304" pitchFamily="18" charset="0"/>
              </a:rPr>
              <a:t>Neo4J</a:t>
            </a:r>
            <a:r>
              <a:rPr lang="en-US" altLang="zh-CN" sz="1800" dirty="0">
                <a:solidFill>
                  <a:srgbClr val="000066"/>
                </a:solidFill>
                <a:latin typeface="Times New Roman" panose="02020603050405020304" pitchFamily="18" charset="0"/>
                <a:cs typeface="Times New Roman" panose="02020603050405020304" pitchFamily="18" charset="0"/>
              </a:rPr>
              <a:t>)</a:t>
            </a: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Tree>
    <p:extLst>
      <p:ext uri="{BB962C8B-B14F-4D97-AF65-F5344CB8AC3E}">
        <p14:creationId xmlns:p14="http://schemas.microsoft.com/office/powerpoint/2010/main" val="903871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descr="20160111223840993.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132" y="1136512"/>
            <a:ext cx="9144000" cy="2919401"/>
          </a:xfrm>
          <a:prstGeom prst="rect">
            <a:avLst/>
          </a:prstGeom>
        </p:spPr>
      </p:pic>
      <p:sp>
        <p:nvSpPr>
          <p:cNvPr id="6" name="TextBox 5"/>
          <p:cNvSpPr txBox="1"/>
          <p:nvPr/>
        </p:nvSpPr>
        <p:spPr>
          <a:xfrm>
            <a:off x="280824" y="3966255"/>
            <a:ext cx="8784976" cy="1169551"/>
          </a:xfrm>
          <a:prstGeom prst="rect">
            <a:avLst/>
          </a:prstGeom>
          <a:noFill/>
        </p:spPr>
        <p:txBody>
          <a:bodyPr wrap="square" rtlCol="0">
            <a:spAutoFit/>
          </a:bodyPr>
          <a:lstStyle/>
          <a:p>
            <a:pPr marL="214313" indent="-214313">
              <a:buFont typeface="Arial" pitchFamily="34" charset="0"/>
              <a:buChar char="•"/>
            </a:pPr>
            <a:r>
              <a:rPr lang="en-US" altLang="zh-CN" sz="1400" dirty="0">
                <a:latin typeface="微软雅黑" panose="020B0503020204020204" pitchFamily="34" charset="-122"/>
                <a:ea typeface="微软雅黑" panose="020B0503020204020204" pitchFamily="34" charset="-122"/>
              </a:rPr>
              <a:t>Hadoop 1.0 </a:t>
            </a:r>
            <a:r>
              <a:rPr lang="zh-CN" altLang="en-US" sz="1400" dirty="0">
                <a:latin typeface="微软雅黑" panose="020B0503020204020204" pitchFamily="34" charset="-122"/>
                <a:ea typeface="微软雅黑" panose="020B0503020204020204" pitchFamily="34" charset="-122"/>
              </a:rPr>
              <a:t>被称为第一代 </a:t>
            </a:r>
            <a:r>
              <a:rPr lang="en-US" altLang="zh-CN" sz="1400" dirty="0">
                <a:latin typeface="微软雅黑" panose="020B0503020204020204" pitchFamily="34" charset="-122"/>
                <a:ea typeface="微软雅黑" panose="020B0503020204020204" pitchFamily="34" charset="-122"/>
              </a:rPr>
              <a:t>Hadoop</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Hadoop</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1.0 </a:t>
            </a:r>
            <a:r>
              <a:rPr lang="zh-CN" altLang="en-US" sz="1400" dirty="0">
                <a:latin typeface="微软雅黑" panose="020B0503020204020204" pitchFamily="34" charset="-122"/>
                <a:ea typeface="微软雅黑" panose="020B0503020204020204" pitchFamily="34" charset="-122"/>
              </a:rPr>
              <a:t>由 </a:t>
            </a:r>
            <a:r>
              <a:rPr lang="en-US" altLang="zh-CN" sz="1400" dirty="0">
                <a:latin typeface="微软雅黑" panose="020B0503020204020204" pitchFamily="34" charset="-122"/>
                <a:ea typeface="微软雅黑" panose="020B0503020204020204" pitchFamily="34" charset="-122"/>
              </a:rPr>
              <a:t>HDFS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MapReduce </a:t>
            </a:r>
            <a:r>
              <a:rPr lang="zh-CN" altLang="en-US" sz="1400" dirty="0">
                <a:latin typeface="微软雅黑" panose="020B0503020204020204" pitchFamily="34" charset="-122"/>
                <a:ea typeface="微软雅黑" panose="020B0503020204020204" pitchFamily="34" charset="-122"/>
              </a:rPr>
              <a:t>组成。对应的 </a:t>
            </a:r>
            <a:r>
              <a:rPr lang="en-US" altLang="zh-CN" sz="1400" dirty="0">
                <a:latin typeface="微软雅黑" panose="020B0503020204020204" pitchFamily="34" charset="-122"/>
                <a:ea typeface="微软雅黑" panose="020B0503020204020204" pitchFamily="34" charset="-122"/>
              </a:rPr>
              <a:t>Hadoop </a:t>
            </a:r>
            <a:r>
              <a:rPr lang="zh-CN" altLang="en-US" sz="1400" dirty="0">
                <a:latin typeface="微软雅黑" panose="020B0503020204020204" pitchFamily="34" charset="-122"/>
                <a:ea typeface="微软雅黑" panose="020B0503020204020204" pitchFamily="34" charset="-122"/>
              </a:rPr>
              <a:t>版本为</a:t>
            </a:r>
            <a:r>
              <a:rPr lang="en-US" altLang="zh-CN" sz="1400" dirty="0">
                <a:latin typeface="微软雅黑" panose="020B0503020204020204" pitchFamily="34" charset="-122"/>
                <a:ea typeface="微软雅黑" panose="020B0503020204020204" pitchFamily="34" charset="-122"/>
              </a:rPr>
              <a:t>0.20.x</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0.21.x</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0.22.x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Hadoop 1.x</a:t>
            </a:r>
            <a:r>
              <a:rPr lang="zh-CN" altLang="en-US" sz="1400" dirty="0">
                <a:latin typeface="微软雅黑" panose="020B0503020204020204" pitchFamily="34" charset="-122"/>
                <a:ea typeface="微软雅黑" panose="020B0503020204020204" pitchFamily="34" charset="-122"/>
              </a:rPr>
              <a:t>。其中，</a:t>
            </a:r>
            <a:r>
              <a:rPr lang="en-US" altLang="zh-CN" sz="1400" dirty="0">
                <a:latin typeface="微软雅黑" panose="020B0503020204020204" pitchFamily="34" charset="-122"/>
                <a:ea typeface="微软雅黑" panose="020B0503020204020204" pitchFamily="34" charset="-122"/>
              </a:rPr>
              <a:t>0.20.x </a:t>
            </a:r>
            <a:r>
              <a:rPr lang="zh-CN" altLang="en-US" sz="1400" dirty="0">
                <a:latin typeface="微软雅黑" panose="020B0503020204020204" pitchFamily="34" charset="-122"/>
                <a:ea typeface="微软雅黑" panose="020B0503020204020204" pitchFamily="34" charset="-122"/>
              </a:rPr>
              <a:t>是比较稳定的版本，它最后演化为 </a:t>
            </a:r>
            <a:r>
              <a:rPr lang="en-US" altLang="zh-CN" sz="1400" dirty="0">
                <a:latin typeface="微软雅黑" panose="020B0503020204020204" pitchFamily="34" charset="-122"/>
                <a:ea typeface="微软雅黑" panose="020B0503020204020204" pitchFamily="34" charset="-122"/>
              </a:rPr>
              <a:t>1.x</a:t>
            </a:r>
            <a:r>
              <a:rPr lang="zh-CN" altLang="en-US" sz="1400" dirty="0">
                <a:latin typeface="微软雅黑" panose="020B0503020204020204" pitchFamily="34" charset="-122"/>
                <a:ea typeface="微软雅黑" panose="020B0503020204020204" pitchFamily="34" charset="-122"/>
              </a:rPr>
              <a:t>，变成稳定版本。</a:t>
            </a:r>
            <a:r>
              <a:rPr lang="en-US" altLang="zh-CN" sz="1400" dirty="0">
                <a:latin typeface="微软雅黑" panose="020B0503020204020204" pitchFamily="34" charset="-122"/>
                <a:ea typeface="微软雅黑" panose="020B0503020204020204" pitchFamily="34" charset="-122"/>
              </a:rPr>
              <a:t>0.21.x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0.22.x </a:t>
            </a:r>
            <a:r>
              <a:rPr lang="zh-CN" altLang="en-US" sz="1400" dirty="0">
                <a:latin typeface="微软雅黑" panose="020B0503020204020204" pitchFamily="34" charset="-122"/>
                <a:ea typeface="微软雅黑" panose="020B0503020204020204" pitchFamily="34" charset="-122"/>
              </a:rPr>
              <a:t>则增加了 </a:t>
            </a:r>
            <a:r>
              <a:rPr lang="en-US" altLang="zh-CN" sz="1400" dirty="0" err="1">
                <a:solidFill>
                  <a:srgbClr val="C00000"/>
                </a:solidFill>
                <a:latin typeface="微软雅黑" panose="020B0503020204020204" pitchFamily="34" charset="-122"/>
                <a:ea typeface="微软雅黑" panose="020B0503020204020204" pitchFamily="34" charset="-122"/>
              </a:rPr>
              <a:t>NameNode</a:t>
            </a:r>
            <a:r>
              <a:rPr lang="en-US" altLang="zh-CN" sz="1400" dirty="0">
                <a:solidFill>
                  <a:srgbClr val="C00000"/>
                </a:solidFill>
                <a:latin typeface="微软雅黑" panose="020B0503020204020204" pitchFamily="34" charset="-122"/>
                <a:ea typeface="微软雅黑" panose="020B0503020204020204" pitchFamily="34" charset="-122"/>
              </a:rPr>
              <a:t> HA </a:t>
            </a:r>
            <a:r>
              <a:rPr lang="zh-CN" altLang="en-US" sz="1400" dirty="0">
                <a:latin typeface="微软雅黑" panose="020B0503020204020204" pitchFamily="34" charset="-122"/>
                <a:ea typeface="微软雅黑" panose="020B0503020204020204" pitchFamily="34" charset="-122"/>
              </a:rPr>
              <a:t>等新特性。</a:t>
            </a:r>
            <a:endParaRPr lang="en-US" altLang="zh-CN" sz="1400" dirty="0">
              <a:latin typeface="微软雅黑" panose="020B0503020204020204" pitchFamily="34" charset="-122"/>
              <a:ea typeface="微软雅黑" panose="020B0503020204020204" pitchFamily="34" charset="-122"/>
            </a:endParaRPr>
          </a:p>
          <a:p>
            <a:pPr marL="214313" indent="-214313">
              <a:buFont typeface="Arial" pitchFamily="34" charset="0"/>
              <a:buChar char="•"/>
            </a:pPr>
            <a:r>
              <a:rPr lang="en-US" altLang="zh-CN" sz="1400" dirty="0">
                <a:latin typeface="微软雅黑" panose="020B0503020204020204" pitchFamily="34" charset="-122"/>
                <a:ea typeface="微软雅黑" panose="020B0503020204020204" pitchFamily="34" charset="-122"/>
              </a:rPr>
              <a:t>Hadoop 2.0 </a:t>
            </a:r>
            <a:r>
              <a:rPr lang="zh-CN" altLang="en-US" sz="1400" dirty="0">
                <a:latin typeface="微软雅黑" panose="020B0503020204020204" pitchFamily="34" charset="-122"/>
                <a:ea typeface="微软雅黑" panose="020B0503020204020204" pitchFamily="34" charset="-122"/>
              </a:rPr>
              <a:t>对应的 </a:t>
            </a:r>
            <a:r>
              <a:rPr lang="en-US" altLang="zh-CN" sz="1400" dirty="0" err="1">
                <a:latin typeface="微软雅黑" panose="020B0503020204020204" pitchFamily="34" charset="-122"/>
                <a:ea typeface="微软雅黑" panose="020B0503020204020204" pitchFamily="34" charset="-122"/>
              </a:rPr>
              <a:t>Hadoop</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版本为 </a:t>
            </a:r>
            <a:r>
              <a:rPr lang="en-US" altLang="zh-CN" sz="1400" dirty="0">
                <a:latin typeface="微软雅黑" panose="020B0503020204020204" pitchFamily="34" charset="-122"/>
                <a:ea typeface="微软雅黑" panose="020B0503020204020204" pitchFamily="34" charset="-122"/>
              </a:rPr>
              <a:t>0.23.x </a:t>
            </a:r>
            <a:r>
              <a:rPr lang="zh-CN" altLang="en-US" sz="1400" dirty="0">
                <a:latin typeface="微软雅黑" panose="020B0503020204020204" pitchFamily="34" charset="-122"/>
                <a:ea typeface="微软雅黑" panose="020B0503020204020204" pitchFamily="34" charset="-122"/>
              </a:rPr>
              <a:t>和 </a:t>
            </a:r>
            <a:r>
              <a:rPr lang="en-US" altLang="zh-CN" sz="1400" dirty="0">
                <a:latin typeface="微软雅黑" panose="020B0503020204020204" pitchFamily="34" charset="-122"/>
                <a:ea typeface="微软雅黑" panose="020B0503020204020204" pitchFamily="34" charset="-122"/>
              </a:rPr>
              <a:t>2.x</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Hadoop 2.0 </a:t>
            </a:r>
            <a:r>
              <a:rPr lang="zh-CN" altLang="en-US" sz="1400" dirty="0">
                <a:latin typeface="微软雅黑" panose="020B0503020204020204" pitchFamily="34" charset="-122"/>
                <a:ea typeface="微软雅黑" panose="020B0503020204020204" pitchFamily="34" charset="-122"/>
              </a:rPr>
              <a:t>被称为第二代 </a:t>
            </a:r>
            <a:r>
              <a:rPr lang="en-US" altLang="zh-CN" sz="1400" dirty="0" err="1">
                <a:latin typeface="微软雅黑" panose="020B0503020204020204" pitchFamily="34" charset="-122"/>
                <a:ea typeface="微软雅黑" panose="020B0503020204020204" pitchFamily="34" charset="-122"/>
              </a:rPr>
              <a:t>Hadoop</a:t>
            </a:r>
            <a:r>
              <a:rPr lang="zh-CN" altLang="en-US" sz="1400" dirty="0">
                <a:latin typeface="微软雅黑" panose="020B0503020204020204" pitchFamily="34" charset="-122"/>
                <a:ea typeface="微软雅黑" panose="020B0503020204020204" pitchFamily="34" charset="-122"/>
              </a:rPr>
              <a:t>，是为克服 </a:t>
            </a:r>
            <a:r>
              <a:rPr lang="en-US" altLang="zh-CN" sz="1400" dirty="0" err="1">
                <a:latin typeface="微软雅黑" panose="020B0503020204020204" pitchFamily="34" charset="-122"/>
                <a:ea typeface="微软雅黑" panose="020B0503020204020204" pitchFamily="34" charset="-122"/>
              </a:rPr>
              <a:t>Hadoop</a:t>
            </a:r>
            <a:r>
              <a:rPr lang="en-US" altLang="zh-CN" sz="1400" dirty="0">
                <a:latin typeface="微软雅黑" panose="020B0503020204020204" pitchFamily="34" charset="-122"/>
                <a:ea typeface="微软雅黑" panose="020B0503020204020204" pitchFamily="34" charset="-122"/>
              </a:rPr>
              <a:t> 1.0 </a:t>
            </a:r>
            <a:r>
              <a:rPr lang="zh-CN" altLang="en-US" sz="1400" dirty="0">
                <a:latin typeface="微软雅黑" panose="020B0503020204020204" pitchFamily="34" charset="-122"/>
                <a:ea typeface="微软雅黑" panose="020B0503020204020204" pitchFamily="34" charset="-122"/>
              </a:rPr>
              <a:t>中 </a:t>
            </a:r>
            <a:r>
              <a:rPr lang="en-US" altLang="zh-CN" sz="1400" dirty="0">
                <a:latin typeface="微软雅黑" panose="020B0503020204020204" pitchFamily="34" charset="-122"/>
                <a:ea typeface="微软雅黑" panose="020B0503020204020204" pitchFamily="34" charset="-122"/>
              </a:rPr>
              <a:t>HDFS </a:t>
            </a:r>
            <a:r>
              <a:rPr lang="zh-CN" altLang="en-US" sz="1400" dirty="0">
                <a:latin typeface="微软雅黑" panose="020B0503020204020204" pitchFamily="34" charset="-122"/>
                <a:ea typeface="微软雅黑" panose="020B0503020204020204" pitchFamily="34" charset="-122"/>
              </a:rPr>
              <a:t>和 </a:t>
            </a:r>
            <a:r>
              <a:rPr lang="en-US" altLang="zh-CN" sz="1400" dirty="0" err="1">
                <a:latin typeface="微软雅黑" panose="020B0503020204020204" pitchFamily="34" charset="-122"/>
                <a:ea typeface="微软雅黑" panose="020B0503020204020204" pitchFamily="34" charset="-122"/>
              </a:rPr>
              <a:t>MapReduce</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存在的各种问题而提出的，</a:t>
            </a:r>
          </a:p>
        </p:txBody>
      </p:sp>
      <p:sp>
        <p:nvSpPr>
          <p:cNvPr id="9" name="Line 164">
            <a:extLst>
              <a:ext uri="{FF2B5EF4-FFF2-40B4-BE49-F238E27FC236}">
                <a16:creationId xmlns:a16="http://schemas.microsoft.com/office/drawing/2014/main" id="{243BF98F-7153-DA5F-133E-BDEFF9AF5FDB}"/>
              </a:ext>
            </a:extLst>
          </p:cNvPr>
          <p:cNvSpPr>
            <a:spLocks noChangeShapeType="1"/>
          </p:cNvSpPr>
          <p:nvPr/>
        </p:nvSpPr>
        <p:spPr bwMode="auto">
          <a:xfrm>
            <a:off x="857250" y="571500"/>
            <a:ext cx="7429500" cy="0"/>
          </a:xfrm>
          <a:prstGeom prst="line">
            <a:avLst/>
          </a:prstGeom>
          <a:noFill/>
          <a:ln w="9525">
            <a:solidFill>
              <a:srgbClr val="172F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5" name="标题 1">
            <a:extLst>
              <a:ext uri="{FF2B5EF4-FFF2-40B4-BE49-F238E27FC236}">
                <a16:creationId xmlns:a16="http://schemas.microsoft.com/office/drawing/2014/main" id="{63BD3C5E-66C2-3583-5CD9-FAF1E72BC02B}"/>
              </a:ext>
            </a:extLst>
          </p:cNvPr>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7" name="文本框 6">
            <a:extLst>
              <a:ext uri="{FF2B5EF4-FFF2-40B4-BE49-F238E27FC236}">
                <a16:creationId xmlns:a16="http://schemas.microsoft.com/office/drawing/2014/main" id="{B9219EF4-42B1-64E4-0B44-A7DD5256A04F}"/>
              </a:ext>
            </a:extLst>
          </p:cNvPr>
          <p:cNvSpPr txBox="1"/>
          <p:nvPr/>
        </p:nvSpPr>
        <p:spPr>
          <a:xfrm>
            <a:off x="156132" y="915566"/>
            <a:ext cx="2543660" cy="369332"/>
          </a:xfrm>
          <a:prstGeom prst="rect">
            <a:avLst/>
          </a:prstGeom>
          <a:noFill/>
        </p:spPr>
        <p:txBody>
          <a:bodyPr wrap="square" rtlCol="0">
            <a:spAutoFit/>
          </a:bodyPr>
          <a:lstStyle/>
          <a:p>
            <a:r>
              <a:rPr lang="en-US" altLang="zh-CN" dirty="0"/>
              <a:t>4  </a:t>
            </a:r>
            <a:r>
              <a:rPr lang="zh-CN" altLang="en-US" dirty="0"/>
              <a:t>大数据处理平台</a:t>
            </a:r>
          </a:p>
        </p:txBody>
      </p:sp>
    </p:spTree>
    <p:extLst>
      <p:ext uri="{BB962C8B-B14F-4D97-AF65-F5344CB8AC3E}">
        <p14:creationId xmlns:p14="http://schemas.microsoft.com/office/powerpoint/2010/main" val="277294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311944" y="1059657"/>
            <a:ext cx="8832056" cy="756047"/>
          </a:xfrm>
        </p:spPr>
        <p:txBody>
          <a:bodyPr>
            <a:normAutofit fontScale="25000" lnSpcReduction="20000"/>
          </a:bodyPr>
          <a:lstStyle/>
          <a:p>
            <a:pPr>
              <a:lnSpc>
                <a:spcPct val="150000"/>
              </a:lnSpc>
            </a:pPr>
            <a:r>
              <a:rPr lang="en-US" altLang="zh-CN" sz="6400" dirty="0" err="1">
                <a:latin typeface="+mn-ea"/>
              </a:rPr>
              <a:t>Hadoop</a:t>
            </a:r>
            <a:r>
              <a:rPr lang="zh-CN" altLang="en-US" sz="6400" dirty="0">
                <a:latin typeface="+mn-ea"/>
              </a:rPr>
              <a:t>的</a:t>
            </a:r>
            <a:r>
              <a:rPr lang="zh-CN" altLang="en-US" sz="6400" dirty="0">
                <a:solidFill>
                  <a:srgbClr val="FF0000"/>
                </a:solidFill>
                <a:latin typeface="+mn-ea"/>
              </a:rPr>
              <a:t>核心</a:t>
            </a:r>
            <a:r>
              <a:rPr lang="zh-CN" altLang="en-US" sz="6400" dirty="0">
                <a:latin typeface="+mn-ea"/>
              </a:rPr>
              <a:t>是</a:t>
            </a:r>
            <a:r>
              <a:rPr lang="en-US" altLang="zh-CN" sz="6400" dirty="0">
                <a:latin typeface="+mn-ea"/>
              </a:rPr>
              <a:t>HDFS</a:t>
            </a:r>
            <a:r>
              <a:rPr lang="zh-CN" altLang="zh-CN" sz="6400" dirty="0">
                <a:latin typeface="+mn-ea"/>
              </a:rPr>
              <a:t>和</a:t>
            </a:r>
            <a:r>
              <a:rPr lang="en-US" altLang="zh-CN" sz="6400" dirty="0" err="1">
                <a:latin typeface="+mn-ea"/>
              </a:rPr>
              <a:t>MapReduce</a:t>
            </a:r>
            <a:r>
              <a:rPr lang="zh-CN" altLang="en-US" sz="6400" dirty="0">
                <a:latin typeface="+mn-ea"/>
              </a:rPr>
              <a:t>。</a:t>
            </a:r>
            <a:r>
              <a:rPr lang="en-US" altLang="zh-CN" sz="6400" dirty="0">
                <a:latin typeface="+mn-ea"/>
              </a:rPr>
              <a:t>HDFS</a:t>
            </a:r>
            <a:r>
              <a:rPr lang="zh-CN" altLang="en-US" sz="6400" dirty="0">
                <a:latin typeface="+mn-ea"/>
              </a:rPr>
              <a:t>为海量的数据提供了存储，而</a:t>
            </a:r>
            <a:r>
              <a:rPr lang="en-US" altLang="zh-CN" sz="6400" dirty="0" err="1">
                <a:latin typeface="+mn-ea"/>
              </a:rPr>
              <a:t>MapReduce</a:t>
            </a:r>
            <a:r>
              <a:rPr lang="zh-CN" altLang="en-US" sz="6400" dirty="0">
                <a:latin typeface="+mn-ea"/>
              </a:rPr>
              <a:t>则为海量的数据提供了计算。</a:t>
            </a:r>
            <a:endParaRPr lang="en-US" altLang="zh-CN" sz="6400" b="1" dirty="0"/>
          </a:p>
          <a:p>
            <a:pPr lvl="0">
              <a:lnSpc>
                <a:spcPct val="150000"/>
              </a:lnSpc>
            </a:pPr>
            <a:r>
              <a:rPr lang="en-US" altLang="zh-CN" sz="6400" b="1" dirty="0" err="1"/>
              <a:t>Hadoop</a:t>
            </a:r>
            <a:r>
              <a:rPr lang="zh-CN" altLang="zh-CN" sz="6400" b="1" dirty="0"/>
              <a:t>生态系统其它组件的不断丰富</a:t>
            </a:r>
            <a:r>
              <a:rPr lang="zh-CN" altLang="en-US" sz="6400" b="1" dirty="0"/>
              <a:t>，加入了</a:t>
            </a:r>
            <a:r>
              <a:rPr lang="en-US" altLang="zh-CN" sz="6400" b="1" dirty="0"/>
              <a:t>Pig</a:t>
            </a:r>
            <a:r>
              <a:rPr lang="zh-CN" altLang="zh-CN" sz="6400" b="1" dirty="0"/>
              <a:t>、</a:t>
            </a:r>
            <a:r>
              <a:rPr lang="en-US" altLang="zh-CN" sz="6400" b="1" dirty="0" err="1"/>
              <a:t>Tez</a:t>
            </a:r>
            <a:r>
              <a:rPr lang="zh-CN" altLang="zh-CN" sz="6400" b="1" dirty="0"/>
              <a:t>、</a:t>
            </a:r>
            <a:r>
              <a:rPr lang="en-US" altLang="zh-CN" sz="6400" b="1" dirty="0"/>
              <a:t>Spark</a:t>
            </a:r>
            <a:r>
              <a:rPr lang="zh-CN" altLang="zh-CN" sz="6400" b="1" dirty="0"/>
              <a:t>和</a:t>
            </a:r>
            <a:r>
              <a:rPr lang="en-US" altLang="zh-CN" sz="6400" b="1" dirty="0"/>
              <a:t>Kafka</a:t>
            </a:r>
            <a:r>
              <a:rPr lang="zh-CN" altLang="en-US" sz="6400" b="1" dirty="0"/>
              <a:t>等新组件，</a:t>
            </a:r>
            <a:r>
              <a:rPr lang="zh-CN" altLang="zh-CN" sz="6400" b="1" dirty="0">
                <a:latin typeface="+mn-ea"/>
              </a:rPr>
              <a:t>它们提供了互补性服务或在核心层上提供了更高层的服务</a:t>
            </a:r>
            <a:endParaRPr lang="en-US" altLang="zh-CN" sz="6400" b="1" dirty="0">
              <a:latin typeface="+mn-ea"/>
            </a:endParaRPr>
          </a:p>
          <a:p>
            <a:pPr>
              <a:lnSpc>
                <a:spcPct val="150000"/>
              </a:lnSpc>
            </a:pPr>
            <a:endParaRPr lang="en-US" altLang="zh-CN" sz="2000" b="1" dirty="0">
              <a:latin typeface="+mn-ea"/>
            </a:endParaRPr>
          </a:p>
          <a:p>
            <a:pPr marL="0" indent="0">
              <a:lnSpc>
                <a:spcPct val="150000"/>
              </a:lnSpc>
              <a:buNone/>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a:p>
            <a:pPr lvl="0">
              <a:lnSpc>
                <a:spcPct val="150000"/>
              </a:lnSpc>
            </a:pPr>
            <a:endParaRPr lang="en-US" altLang="zh-CN" dirty="0">
              <a:latin typeface="微软雅黑" panose="020B0503020204020204" charset="-122"/>
              <a:ea typeface="微软雅黑" panose="020B0503020204020204" charset="-122"/>
            </a:endParaRPr>
          </a:p>
        </p:txBody>
      </p:sp>
      <p:grpSp>
        <p:nvGrpSpPr>
          <p:cNvPr id="5" name="组 1"/>
          <p:cNvGrpSpPr/>
          <p:nvPr/>
        </p:nvGrpSpPr>
        <p:grpSpPr>
          <a:xfrm>
            <a:off x="467545" y="2483625"/>
            <a:ext cx="7555298" cy="2635804"/>
            <a:chOff x="-43121" y="908720"/>
            <a:chExt cx="9511665" cy="5746750"/>
          </a:xfrm>
        </p:grpSpPr>
        <p:sp>
          <p:nvSpPr>
            <p:cNvPr id="6" name="圆角矩形 5"/>
            <p:cNvSpPr/>
            <p:nvPr/>
          </p:nvSpPr>
          <p:spPr>
            <a:xfrm>
              <a:off x="-38631" y="908720"/>
              <a:ext cx="9504000" cy="86400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err="1">
                  <a:solidFill>
                    <a:schemeClr val="tx1"/>
                  </a:solidFill>
                  <a:latin typeface="微软雅黑" charset="0"/>
                  <a:ea typeface="微软雅黑" charset="0"/>
                </a:rPr>
                <a:t>Ambari</a:t>
              </a:r>
              <a:endParaRPr lang="en-US" altLang="zh-CN" sz="1600" b="1" dirty="0">
                <a:solidFill>
                  <a:schemeClr val="tx1"/>
                </a:solidFill>
                <a:latin typeface="微软雅黑" charset="0"/>
                <a:ea typeface="微软雅黑" charset="0"/>
              </a:endParaRPr>
            </a:p>
            <a:p>
              <a:pPr algn="ctr"/>
              <a:r>
                <a:rPr lang="zh-CN" altLang="en-US" sz="1200" b="1" dirty="0">
                  <a:solidFill>
                    <a:schemeClr val="tx1"/>
                  </a:solidFill>
                  <a:latin typeface="微软雅黑" charset="0"/>
                  <a:ea typeface="微软雅黑" charset="0"/>
                </a:rPr>
                <a:t>（安装部署工具）</a:t>
              </a:r>
            </a:p>
          </p:txBody>
        </p:sp>
        <p:sp>
          <p:nvSpPr>
            <p:cNvPr id="8" name="圆角矩形 7"/>
            <p:cNvSpPr/>
            <p:nvPr/>
          </p:nvSpPr>
          <p:spPr>
            <a:xfrm rot="16200000">
              <a:off x="-1971616" y="3790985"/>
              <a:ext cx="4792980" cy="93599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微软雅黑" charset="0"/>
                  <a:ea typeface="微软雅黑" charset="0"/>
                </a:rPr>
                <a:t>Zookeeper</a:t>
              </a:r>
            </a:p>
            <a:p>
              <a:pPr algn="ctr"/>
              <a:r>
                <a:rPr lang="zh-CN" altLang="en-US" sz="1400" b="1" dirty="0">
                  <a:latin typeface="微软雅黑" charset="0"/>
                  <a:ea typeface="微软雅黑" charset="0"/>
                </a:rPr>
                <a:t>（分布式协调服务）</a:t>
              </a:r>
            </a:p>
          </p:txBody>
        </p:sp>
        <p:sp>
          <p:nvSpPr>
            <p:cNvPr id="9" name="圆角矩形 8"/>
            <p:cNvSpPr/>
            <p:nvPr/>
          </p:nvSpPr>
          <p:spPr>
            <a:xfrm rot="16200000">
              <a:off x="-434916" y="3309655"/>
              <a:ext cx="3830320" cy="935990"/>
            </a:xfrm>
            <a:prstGeom prst="roundRect">
              <a:avLst/>
            </a:prstGeom>
            <a:solidFill>
              <a:schemeClr val="tx1">
                <a:lumMod val="85000"/>
                <a:lumOff val="1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err="1">
                  <a:latin typeface="微软雅黑" charset="0"/>
                  <a:ea typeface="微软雅黑" charset="0"/>
                </a:rPr>
                <a:t>H</a:t>
              </a:r>
              <a:r>
                <a:rPr lang="en-US" altLang="zh-CN" b="1" dirty="0" err="1">
                  <a:latin typeface="微软雅黑" charset="0"/>
                  <a:ea typeface="微软雅黑" charset="0"/>
                </a:rPr>
                <a:t>B</a:t>
              </a:r>
              <a:r>
                <a:rPr lang="en-US" b="1" dirty="0" err="1">
                  <a:latin typeface="微软雅黑" charset="0"/>
                  <a:ea typeface="微软雅黑" charset="0"/>
                </a:rPr>
                <a:t>ase</a:t>
              </a:r>
              <a:endParaRPr lang="en-US" sz="1400" b="1" dirty="0">
                <a:latin typeface="微软雅黑" charset="0"/>
                <a:ea typeface="微软雅黑" charset="0"/>
              </a:endParaRPr>
            </a:p>
            <a:p>
              <a:pPr algn="ctr"/>
              <a:r>
                <a:rPr lang="zh-CN" altLang="en-US" sz="1400" b="1" dirty="0">
                  <a:latin typeface="微软雅黑" charset="0"/>
                  <a:ea typeface="微软雅黑" charset="0"/>
                </a:rPr>
                <a:t>（分布式协数据库）</a:t>
              </a:r>
            </a:p>
          </p:txBody>
        </p:sp>
        <p:sp>
          <p:nvSpPr>
            <p:cNvPr id="10" name="圆角矩形 9"/>
            <p:cNvSpPr/>
            <p:nvPr/>
          </p:nvSpPr>
          <p:spPr>
            <a:xfrm>
              <a:off x="2069524" y="1862490"/>
              <a:ext cx="7396480" cy="864235"/>
            </a:xfrm>
            <a:prstGeom prst="roundRect">
              <a:avLst/>
            </a:pr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bg1"/>
                  </a:solidFill>
                  <a:latin typeface="微软雅黑" charset="0"/>
                  <a:ea typeface="微软雅黑" charset="0"/>
                </a:rPr>
                <a:t>Oozie</a:t>
              </a:r>
              <a:endParaRPr lang="en-US" altLang="zh-CN" sz="1400" b="1" dirty="0">
                <a:solidFill>
                  <a:schemeClr val="bg1"/>
                </a:solidFill>
                <a:latin typeface="微软雅黑" charset="0"/>
                <a:ea typeface="微软雅黑" charset="0"/>
              </a:endParaRPr>
            </a:p>
            <a:p>
              <a:pPr algn="ctr"/>
              <a:r>
                <a:rPr lang="zh-CN" altLang="en-US" sz="1100" b="1" dirty="0">
                  <a:solidFill>
                    <a:schemeClr val="bg1"/>
                  </a:solidFill>
                  <a:latin typeface="微软雅黑" charset="0"/>
                  <a:ea typeface="微软雅黑" charset="0"/>
                </a:rPr>
                <a:t>（作业流调度系统）</a:t>
              </a:r>
            </a:p>
          </p:txBody>
        </p:sp>
        <p:sp>
          <p:nvSpPr>
            <p:cNvPr id="11" name="圆角矩形 10"/>
            <p:cNvSpPr/>
            <p:nvPr/>
          </p:nvSpPr>
          <p:spPr>
            <a:xfrm>
              <a:off x="1010979" y="5771550"/>
              <a:ext cx="7396480" cy="8642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微软雅黑" charset="0"/>
                  <a:ea typeface="微软雅黑" charset="0"/>
                </a:rPr>
                <a:t>HDFS</a:t>
              </a:r>
            </a:p>
            <a:p>
              <a:pPr algn="ctr"/>
              <a:r>
                <a:rPr lang="zh-CN" altLang="en-US" sz="1400" b="1" dirty="0">
                  <a:solidFill>
                    <a:schemeClr val="bg1"/>
                  </a:solidFill>
                  <a:latin typeface="微软雅黑" charset="0"/>
                  <a:ea typeface="微软雅黑" charset="0"/>
                </a:rPr>
                <a:t>（分布式存储系统）</a:t>
              </a:r>
            </a:p>
          </p:txBody>
        </p:sp>
        <p:sp>
          <p:nvSpPr>
            <p:cNvPr id="12" name="圆角矩形 11"/>
            <p:cNvSpPr/>
            <p:nvPr/>
          </p:nvSpPr>
          <p:spPr>
            <a:xfrm>
              <a:off x="2069524" y="4791428"/>
              <a:ext cx="6339205" cy="8642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微软雅黑" charset="0"/>
                  <a:ea typeface="微软雅黑" charset="0"/>
                </a:rPr>
                <a:t>YARN</a:t>
              </a:r>
            </a:p>
            <a:p>
              <a:pPr algn="ctr"/>
              <a:r>
                <a:rPr lang="zh-CN" altLang="en-US" sz="1400" b="1" dirty="0">
                  <a:solidFill>
                    <a:schemeClr val="bg1"/>
                  </a:solidFill>
                  <a:latin typeface="微软雅黑" charset="0"/>
                  <a:ea typeface="微软雅黑" charset="0"/>
                </a:rPr>
                <a:t>（资源管理框架）</a:t>
              </a:r>
            </a:p>
          </p:txBody>
        </p:sp>
        <p:sp>
          <p:nvSpPr>
            <p:cNvPr id="13" name="圆角矩形 12"/>
            <p:cNvSpPr/>
            <p:nvPr/>
          </p:nvSpPr>
          <p:spPr>
            <a:xfrm>
              <a:off x="2068889" y="3782730"/>
              <a:ext cx="2038350" cy="8642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bg1"/>
                  </a:solidFill>
                  <a:latin typeface="微软雅黑" charset="0"/>
                  <a:ea typeface="微软雅黑" charset="0"/>
                </a:rPr>
                <a:t>MapReduce</a:t>
              </a:r>
              <a:endParaRPr lang="en-US" altLang="zh-CN" sz="1400" b="1" dirty="0">
                <a:solidFill>
                  <a:schemeClr val="bg1"/>
                </a:solidFill>
                <a:latin typeface="微软雅黑" charset="0"/>
                <a:ea typeface="微软雅黑" charset="0"/>
              </a:endParaRPr>
            </a:p>
            <a:p>
              <a:pPr algn="ctr"/>
              <a:r>
                <a:rPr lang="zh-CN" altLang="en-US" sz="1400" b="1" dirty="0">
                  <a:solidFill>
                    <a:schemeClr val="bg1"/>
                  </a:solidFill>
                  <a:latin typeface="微软雅黑" charset="0"/>
                  <a:ea typeface="微软雅黑" charset="0"/>
                </a:rPr>
                <a:t>（离线计算）</a:t>
              </a:r>
            </a:p>
          </p:txBody>
        </p:sp>
        <p:sp>
          <p:nvSpPr>
            <p:cNvPr id="14" name="圆角矩形 13"/>
            <p:cNvSpPr/>
            <p:nvPr/>
          </p:nvSpPr>
          <p:spPr>
            <a:xfrm>
              <a:off x="4198044" y="3776380"/>
              <a:ext cx="1656000" cy="86423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bg1"/>
                  </a:solidFill>
                  <a:latin typeface="微软雅黑" charset="0"/>
                  <a:ea typeface="微软雅黑" charset="0"/>
                </a:rPr>
                <a:t>Tez</a:t>
              </a:r>
              <a:endParaRPr lang="en-US" altLang="zh-CN" b="1" dirty="0">
                <a:solidFill>
                  <a:schemeClr val="bg1"/>
                </a:solidFill>
                <a:latin typeface="微软雅黑" charset="0"/>
                <a:ea typeface="微软雅黑" charset="0"/>
              </a:endParaRPr>
            </a:p>
            <a:p>
              <a:pPr algn="ctr"/>
              <a:r>
                <a:rPr lang="zh-CN" altLang="en-US" sz="1400" b="1" dirty="0">
                  <a:solidFill>
                    <a:schemeClr val="bg1"/>
                  </a:solidFill>
                  <a:latin typeface="微软雅黑" charset="0"/>
                  <a:ea typeface="微软雅黑" charset="0"/>
                </a:rPr>
                <a:t>（</a:t>
              </a:r>
              <a:r>
                <a:rPr lang="en-US" altLang="zh-CN" sz="1400" b="1" dirty="0">
                  <a:solidFill>
                    <a:schemeClr val="bg1"/>
                  </a:solidFill>
                  <a:latin typeface="微软雅黑" charset="0"/>
                  <a:ea typeface="微软雅黑" charset="0"/>
                </a:rPr>
                <a:t>DAG</a:t>
              </a:r>
              <a:r>
                <a:rPr lang="zh-CN" altLang="en-US" sz="1400" b="1" dirty="0">
                  <a:solidFill>
                    <a:schemeClr val="bg1"/>
                  </a:solidFill>
                  <a:latin typeface="微软雅黑" charset="0"/>
                  <a:ea typeface="微软雅黑" charset="0"/>
                </a:rPr>
                <a:t>计算）</a:t>
              </a:r>
            </a:p>
          </p:txBody>
        </p:sp>
        <p:sp>
          <p:nvSpPr>
            <p:cNvPr id="15" name="圆角矩形 14"/>
            <p:cNvSpPr/>
            <p:nvPr/>
          </p:nvSpPr>
          <p:spPr>
            <a:xfrm>
              <a:off x="5942389" y="3794795"/>
              <a:ext cx="1692000" cy="86423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微软雅黑" charset="0"/>
                  <a:ea typeface="微软雅黑" charset="0"/>
                </a:rPr>
                <a:t>Spark</a:t>
              </a:r>
            </a:p>
            <a:p>
              <a:pPr algn="ctr"/>
              <a:r>
                <a:rPr lang="zh-CN" altLang="en-US" sz="1400" b="1" dirty="0">
                  <a:solidFill>
                    <a:schemeClr val="bg1"/>
                  </a:solidFill>
                  <a:latin typeface="微软雅黑" charset="0"/>
                  <a:ea typeface="微软雅黑" charset="0"/>
                </a:rPr>
                <a:t>（内存计算）</a:t>
              </a:r>
            </a:p>
          </p:txBody>
        </p:sp>
        <p:sp>
          <p:nvSpPr>
            <p:cNvPr id="16" name="圆角矩形 15"/>
            <p:cNvSpPr/>
            <p:nvPr/>
          </p:nvSpPr>
          <p:spPr>
            <a:xfrm>
              <a:off x="2068889" y="2818800"/>
              <a:ext cx="1920627" cy="8640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tx1"/>
                  </a:solidFill>
                  <a:latin typeface="微软雅黑" charset="0"/>
                  <a:ea typeface="微软雅黑" charset="0"/>
                </a:rPr>
                <a:t>Hive</a:t>
              </a:r>
            </a:p>
          </p:txBody>
        </p:sp>
        <p:sp>
          <p:nvSpPr>
            <p:cNvPr id="17" name="圆角矩形 16"/>
            <p:cNvSpPr/>
            <p:nvPr/>
          </p:nvSpPr>
          <p:spPr>
            <a:xfrm>
              <a:off x="4150051" y="2818800"/>
              <a:ext cx="1926915" cy="8640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charset="0"/>
                  <a:ea typeface="微软雅黑" charset="0"/>
                </a:rPr>
                <a:t>Pig</a:t>
              </a:r>
            </a:p>
          </p:txBody>
        </p:sp>
        <p:sp>
          <p:nvSpPr>
            <p:cNvPr id="18" name="圆角矩形 17"/>
            <p:cNvSpPr/>
            <p:nvPr/>
          </p:nvSpPr>
          <p:spPr>
            <a:xfrm>
              <a:off x="6226069" y="2818800"/>
              <a:ext cx="1863794" cy="8640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微软雅黑" charset="0"/>
                  <a:ea typeface="微软雅黑" charset="0"/>
                  <a:sym typeface="+mn-ea"/>
                </a:rPr>
                <a:t>Mahout</a:t>
              </a:r>
              <a:endParaRPr lang="en-US" altLang="zh-CN" b="1" dirty="0">
                <a:solidFill>
                  <a:schemeClr val="tx1"/>
                </a:solidFill>
                <a:latin typeface="微软雅黑" charset="0"/>
                <a:ea typeface="微软雅黑" charset="0"/>
              </a:endParaRPr>
            </a:p>
          </p:txBody>
        </p:sp>
        <p:sp>
          <p:nvSpPr>
            <p:cNvPr id="19" name="圆角矩形 18"/>
            <p:cNvSpPr/>
            <p:nvPr/>
          </p:nvSpPr>
          <p:spPr>
            <a:xfrm rot="16200000">
              <a:off x="8244899" y="4074830"/>
              <a:ext cx="1511300" cy="935990"/>
            </a:xfrm>
            <a:prstGeom prst="round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b="1" dirty="0" err="1">
                  <a:solidFill>
                    <a:schemeClr val="bg1"/>
                  </a:solidFill>
                  <a:latin typeface="微软雅黑" charset="0"/>
                  <a:ea typeface="微软雅黑" charset="0"/>
                </a:rPr>
                <a:t>Sqoop</a:t>
              </a:r>
              <a:endParaRPr lang="en-US" altLang="zh-CN" sz="1000" b="1" dirty="0">
                <a:solidFill>
                  <a:schemeClr val="bg1"/>
                </a:solidFill>
                <a:latin typeface="微软雅黑" charset="0"/>
                <a:ea typeface="微软雅黑" charset="0"/>
              </a:endParaRPr>
            </a:p>
            <a:p>
              <a:pPr algn="ctr"/>
              <a:r>
                <a:rPr lang="zh-CN" altLang="en-US" sz="1000" b="1" dirty="0">
                  <a:solidFill>
                    <a:schemeClr val="bg1"/>
                  </a:solidFill>
                  <a:latin typeface="微软雅黑" charset="0"/>
                  <a:ea typeface="微软雅黑" charset="0"/>
                </a:rPr>
                <a:t>（数据库</a:t>
              </a:r>
              <a:r>
                <a:rPr lang="en-US" altLang="zh-CN" sz="1000" b="1" dirty="0">
                  <a:solidFill>
                    <a:schemeClr val="bg1"/>
                  </a:solidFill>
                  <a:latin typeface="微软雅黑" charset="0"/>
                  <a:ea typeface="微软雅黑" charset="0"/>
                </a:rPr>
                <a:t>ETL</a:t>
              </a:r>
              <a:r>
                <a:rPr lang="zh-CN" altLang="en-US" sz="1000" b="1" dirty="0">
                  <a:solidFill>
                    <a:schemeClr val="bg1"/>
                  </a:solidFill>
                  <a:latin typeface="微软雅黑" charset="0"/>
                  <a:ea typeface="微软雅黑" charset="0"/>
                </a:rPr>
                <a:t>工具）</a:t>
              </a:r>
            </a:p>
          </p:txBody>
        </p:sp>
        <p:sp>
          <p:nvSpPr>
            <p:cNvPr id="20" name="圆角矩形 19"/>
            <p:cNvSpPr/>
            <p:nvPr/>
          </p:nvSpPr>
          <p:spPr>
            <a:xfrm rot="16200000">
              <a:off x="8351919" y="5528040"/>
              <a:ext cx="1296000" cy="936000"/>
            </a:xfrm>
            <a:prstGeom prst="round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bg1"/>
                  </a:solidFill>
                  <a:latin typeface="微软雅黑" charset="0"/>
                  <a:ea typeface="微软雅黑" charset="0"/>
                </a:rPr>
                <a:t>Flume</a:t>
              </a:r>
            </a:p>
            <a:p>
              <a:pPr algn="ctr"/>
              <a:r>
                <a:rPr lang="zh-CN" altLang="en-US" sz="900" b="1" dirty="0">
                  <a:solidFill>
                    <a:schemeClr val="bg1"/>
                  </a:solidFill>
                  <a:latin typeface="微软雅黑" charset="0"/>
                  <a:ea typeface="微软雅黑" charset="0"/>
                </a:rPr>
                <a:t>（日志收集</a:t>
              </a:r>
              <a:r>
                <a:rPr lang="zh-CN" altLang="en-US" sz="1000" b="1" dirty="0">
                  <a:solidFill>
                    <a:schemeClr val="bg1"/>
                  </a:solidFill>
                  <a:latin typeface="微软雅黑" charset="0"/>
                  <a:ea typeface="微软雅黑" charset="0"/>
                </a:rPr>
                <a:t>）</a:t>
              </a:r>
            </a:p>
          </p:txBody>
        </p:sp>
        <p:sp>
          <p:nvSpPr>
            <p:cNvPr id="21" name="圆角矩形 20"/>
            <p:cNvSpPr/>
            <p:nvPr/>
          </p:nvSpPr>
          <p:spPr>
            <a:xfrm>
              <a:off x="8238966" y="2830230"/>
              <a:ext cx="1209893" cy="864235"/>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tx1"/>
                  </a:solidFill>
                  <a:latin typeface="微软雅黑" charset="0"/>
                  <a:ea typeface="微软雅黑" charset="0"/>
                </a:rPr>
                <a:t>……</a:t>
              </a:r>
            </a:p>
          </p:txBody>
        </p:sp>
        <p:sp>
          <p:nvSpPr>
            <p:cNvPr id="22" name="圆角矩形 21"/>
            <p:cNvSpPr/>
            <p:nvPr/>
          </p:nvSpPr>
          <p:spPr>
            <a:xfrm>
              <a:off x="7701339" y="3792890"/>
              <a:ext cx="699135" cy="86423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en-US" altLang="zh-CN" b="1">
                  <a:solidFill>
                    <a:schemeClr val="bg1"/>
                  </a:solidFill>
                  <a:latin typeface="微软雅黑" charset="0"/>
                  <a:ea typeface="微软雅黑" charset="0"/>
                  <a:sym typeface="+mn-ea"/>
                </a:rPr>
                <a:t>……</a:t>
              </a:r>
            </a:p>
          </p:txBody>
        </p:sp>
      </p:grpSp>
      <p:sp>
        <p:nvSpPr>
          <p:cNvPr id="25" name="Line 164">
            <a:extLst>
              <a:ext uri="{FF2B5EF4-FFF2-40B4-BE49-F238E27FC236}">
                <a16:creationId xmlns:a16="http://schemas.microsoft.com/office/drawing/2014/main" id="{08576A9A-888B-0F35-01E8-A126165EABFF}"/>
              </a:ext>
            </a:extLst>
          </p:cNvPr>
          <p:cNvSpPr>
            <a:spLocks noChangeShapeType="1"/>
          </p:cNvSpPr>
          <p:nvPr/>
        </p:nvSpPr>
        <p:spPr bwMode="auto">
          <a:xfrm>
            <a:off x="857250" y="571500"/>
            <a:ext cx="7429500" cy="0"/>
          </a:xfrm>
          <a:prstGeom prst="line">
            <a:avLst/>
          </a:prstGeom>
          <a:noFill/>
          <a:ln w="9525">
            <a:solidFill>
              <a:srgbClr val="172F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24" name="标题 1">
            <a:extLst>
              <a:ext uri="{FF2B5EF4-FFF2-40B4-BE49-F238E27FC236}">
                <a16:creationId xmlns:a16="http://schemas.microsoft.com/office/drawing/2014/main" id="{450E9AB3-34EA-A3B5-A473-04DEDEECB477}"/>
              </a:ext>
            </a:extLst>
          </p:cNvPr>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Tree>
    <p:extLst>
      <p:ext uri="{BB962C8B-B14F-4D97-AF65-F5344CB8AC3E}">
        <p14:creationId xmlns:p14="http://schemas.microsoft.com/office/powerpoint/2010/main" val="897752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srcRect/>
          <a:stretch>
            <a:fillRect/>
          </a:stretch>
        </p:blipFill>
        <p:spPr bwMode="auto">
          <a:xfrm>
            <a:off x="428037" y="1109316"/>
            <a:ext cx="5962984" cy="3752974"/>
          </a:xfrm>
          <a:prstGeom prst="rect">
            <a:avLst/>
          </a:prstGeom>
          <a:noFill/>
          <a:ln w="9525">
            <a:noFill/>
            <a:miter lim="800000"/>
            <a:headEnd/>
            <a:tailEnd/>
          </a:ln>
        </p:spPr>
      </p:pic>
      <p:sp>
        <p:nvSpPr>
          <p:cNvPr id="5" name="Line 164">
            <a:extLst>
              <a:ext uri="{FF2B5EF4-FFF2-40B4-BE49-F238E27FC236}">
                <a16:creationId xmlns:a16="http://schemas.microsoft.com/office/drawing/2014/main" id="{55770A08-7097-34EA-39F9-2E37BC59A0DB}"/>
              </a:ext>
            </a:extLst>
          </p:cNvPr>
          <p:cNvSpPr>
            <a:spLocks noChangeShapeType="1"/>
          </p:cNvSpPr>
          <p:nvPr/>
        </p:nvSpPr>
        <p:spPr bwMode="auto">
          <a:xfrm>
            <a:off x="857250" y="571500"/>
            <a:ext cx="7429500" cy="0"/>
          </a:xfrm>
          <a:prstGeom prst="line">
            <a:avLst/>
          </a:prstGeom>
          <a:noFill/>
          <a:ln w="9525">
            <a:solidFill>
              <a:srgbClr val="172F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6" name="TextBox 10">
            <a:extLst>
              <a:ext uri="{FF2B5EF4-FFF2-40B4-BE49-F238E27FC236}">
                <a16:creationId xmlns:a16="http://schemas.microsoft.com/office/drawing/2014/main" id="{8D92D010-1A62-A8B4-FB64-7CCD51258B07}"/>
              </a:ext>
            </a:extLst>
          </p:cNvPr>
          <p:cNvSpPr txBox="1"/>
          <p:nvPr/>
        </p:nvSpPr>
        <p:spPr>
          <a:xfrm>
            <a:off x="6509638" y="1940933"/>
            <a:ext cx="2383445" cy="1477328"/>
          </a:xfrm>
          <a:prstGeom prst="rect">
            <a:avLst/>
          </a:prstGeom>
          <a:noFill/>
          <a:ln>
            <a:solidFill>
              <a:srgbClr val="92D050"/>
            </a:solidFill>
          </a:ln>
        </p:spPr>
        <p:txBody>
          <a:bodyPr wrap="square" rtlCol="0">
            <a:spAutoFit/>
          </a:bodyPr>
          <a:lstStyle/>
          <a:p>
            <a:pPr marL="257175" indent="-257175">
              <a:buFont typeface="Arial" panose="020B0604020202020204" pitchFamily="34" charset="0"/>
              <a:buChar char="•"/>
            </a:pPr>
            <a:r>
              <a:rPr lang="en-US" altLang="zh-CN" sz="1500" dirty="0"/>
              <a:t>2008</a:t>
            </a:r>
            <a:r>
              <a:rPr lang="zh-CN" altLang="en-US" sz="1500" dirty="0"/>
              <a:t>年，</a:t>
            </a:r>
            <a:r>
              <a:rPr lang="en-US" altLang="zh-CN" sz="1500" dirty="0" err="1"/>
              <a:t>Cloudera</a:t>
            </a:r>
            <a:r>
              <a:rPr lang="zh-CN" altLang="en-US" sz="1500" dirty="0"/>
              <a:t>成为第一个</a:t>
            </a:r>
            <a:r>
              <a:rPr lang="en-US" altLang="zh-CN" sz="1500" dirty="0" err="1"/>
              <a:t>Hadoop</a:t>
            </a:r>
            <a:r>
              <a:rPr lang="zh-CN" altLang="en-US" sz="1500" dirty="0"/>
              <a:t>商业化公司，</a:t>
            </a:r>
            <a:r>
              <a:rPr lang="en-US" altLang="zh-CN" sz="1500" dirty="0"/>
              <a:t>2009</a:t>
            </a:r>
            <a:r>
              <a:rPr lang="zh-CN" altLang="en-US" sz="1500" dirty="0"/>
              <a:t>年推出第一个</a:t>
            </a:r>
            <a:r>
              <a:rPr lang="en-US" altLang="zh-CN" sz="1500" dirty="0" err="1"/>
              <a:t>Hadoop</a:t>
            </a:r>
            <a:r>
              <a:rPr lang="zh-CN" altLang="en-US" sz="1500" dirty="0"/>
              <a:t>发行版</a:t>
            </a:r>
            <a:endParaRPr lang="en-US" altLang="zh-CN" sz="1500" dirty="0"/>
          </a:p>
          <a:p>
            <a:pPr marL="257175" indent="-257175">
              <a:buFont typeface="Arial" panose="020B0604020202020204" pitchFamily="34" charset="0"/>
              <a:buChar char="•"/>
            </a:pPr>
            <a:r>
              <a:rPr lang="en-US" altLang="zh-CN" sz="1500" dirty="0"/>
              <a:t>CDH</a:t>
            </a:r>
            <a:r>
              <a:rPr lang="zh-CN" altLang="en-US" sz="1500" dirty="0"/>
              <a:t>：</a:t>
            </a:r>
            <a:r>
              <a:rPr lang="en-US" altLang="zh-CN" sz="1500" dirty="0" err="1"/>
              <a:t>Cloudera</a:t>
            </a:r>
            <a:r>
              <a:rPr lang="en-US" altLang="zh-CN" sz="1500" dirty="0"/>
              <a:t> Distribution </a:t>
            </a:r>
            <a:r>
              <a:rPr lang="en-US" altLang="zh-CN" sz="1500" dirty="0" err="1"/>
              <a:t>Hadoop</a:t>
            </a:r>
            <a:endParaRPr lang="zh-CN" altLang="en-US" sz="1500" dirty="0"/>
          </a:p>
        </p:txBody>
      </p:sp>
      <p:sp>
        <p:nvSpPr>
          <p:cNvPr id="7" name="文本框 32">
            <a:extLst>
              <a:ext uri="{FF2B5EF4-FFF2-40B4-BE49-F238E27FC236}">
                <a16:creationId xmlns:a16="http://schemas.microsoft.com/office/drawing/2014/main" id="{767521DA-0415-D87E-1209-467DD5510F6B}"/>
              </a:ext>
            </a:extLst>
          </p:cNvPr>
          <p:cNvSpPr txBox="1"/>
          <p:nvPr/>
        </p:nvSpPr>
        <p:spPr bwMode="auto">
          <a:xfrm>
            <a:off x="7010275" y="1351932"/>
            <a:ext cx="1581202"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68580" tIns="34290" rIns="68580" bIns="34290" numCol="1" rtlCol="0" anchor="ctr" anchorCtr="0" compatLnSpc="1">
            <a:prstTxWarp prst="textNoShape">
              <a:avLst/>
            </a:prstTxWarp>
            <a:spAutoFit/>
          </a:bodyPr>
          <a:lstStyle/>
          <a:p>
            <a:r>
              <a:rPr kumimoji="1" lang="zh-CN" altLang="en-US" sz="1500" kern="0" dirty="0">
                <a:solidFill>
                  <a:srgbClr val="008000"/>
                </a:solidFill>
                <a:latin typeface="微软雅黑"/>
                <a:ea typeface="微软雅黑"/>
                <a:cs typeface="微软雅黑"/>
              </a:rPr>
              <a:t>工具不开源</a:t>
            </a:r>
            <a:endParaRPr kumimoji="1" lang="en-US" altLang="zh-CN" sz="1500" kern="0" dirty="0">
              <a:solidFill>
                <a:srgbClr val="008000"/>
              </a:solidFill>
              <a:latin typeface="微软雅黑"/>
              <a:ea typeface="微软雅黑"/>
              <a:cs typeface="微软雅黑"/>
            </a:endParaRPr>
          </a:p>
          <a:p>
            <a:r>
              <a:rPr kumimoji="1" lang="zh-CN" altLang="en-US" sz="1500" kern="0" dirty="0">
                <a:solidFill>
                  <a:srgbClr val="008000"/>
                </a:solidFill>
                <a:latin typeface="微软雅黑"/>
                <a:ea typeface="微软雅黑"/>
                <a:cs typeface="微软雅黑"/>
              </a:rPr>
              <a:t>收取</a:t>
            </a:r>
            <a:r>
              <a:rPr kumimoji="1" lang="en-US" altLang="zh-CN" sz="1500" kern="0" dirty="0">
                <a:solidFill>
                  <a:srgbClr val="008000"/>
                </a:solidFill>
                <a:latin typeface="微软雅黑"/>
                <a:ea typeface="微软雅黑"/>
                <a:cs typeface="微软雅黑"/>
              </a:rPr>
              <a:t>License</a:t>
            </a:r>
            <a:r>
              <a:rPr kumimoji="1" lang="zh-CN" altLang="en-US" sz="1500" kern="0" dirty="0">
                <a:solidFill>
                  <a:srgbClr val="008000"/>
                </a:solidFill>
                <a:latin typeface="微软雅黑"/>
                <a:ea typeface="微软雅黑"/>
                <a:cs typeface="微软雅黑"/>
              </a:rPr>
              <a:t>费用</a:t>
            </a:r>
          </a:p>
        </p:txBody>
      </p:sp>
      <p:sp>
        <p:nvSpPr>
          <p:cNvPr id="9" name="标题 1">
            <a:extLst>
              <a:ext uri="{FF2B5EF4-FFF2-40B4-BE49-F238E27FC236}">
                <a16:creationId xmlns:a16="http://schemas.microsoft.com/office/drawing/2014/main" id="{B9108D9C-8A81-448F-4A83-C531FB69211C}"/>
              </a:ext>
            </a:extLst>
          </p:cNvPr>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10" name="标题 1">
            <a:extLst>
              <a:ext uri="{FF2B5EF4-FFF2-40B4-BE49-F238E27FC236}">
                <a16:creationId xmlns:a16="http://schemas.microsoft.com/office/drawing/2014/main" id="{3986CDB8-A0CA-D43A-AEED-8384E648F9F7}"/>
              </a:ext>
            </a:extLst>
          </p:cNvPr>
          <p:cNvSpPr txBox="1">
            <a:spLocks/>
          </p:cNvSpPr>
          <p:nvPr/>
        </p:nvSpPr>
        <p:spPr>
          <a:xfrm>
            <a:off x="1291474" y="900107"/>
            <a:ext cx="3590925" cy="498022"/>
          </a:xfrm>
          <a:prstGeom prst="rect">
            <a:avLst/>
          </a:prstGeom>
          <a:solidFill>
            <a:srgbClr val="C00000"/>
          </a:solidFill>
        </p:spPr>
        <p:txBody>
          <a:bodyPr vert="horz" lIns="0" tIns="45720" rIns="0" bIns="45720" rtlCol="0" anchor="b">
            <a:normAutofit fontScale="97500"/>
          </a:bodyPr>
          <a:lstStyle>
            <a:lvl1pPr algn="l" defTabSz="685800" rtl="0" eaLnBrk="1" latinLnBrk="0" hangingPunct="1">
              <a:lnSpc>
                <a:spcPct val="90000"/>
              </a:lnSpc>
              <a:spcBef>
                <a:spcPct val="0"/>
              </a:spcBef>
              <a:buNone/>
              <a:defRPr sz="2100" kern="1200">
                <a:solidFill>
                  <a:schemeClr val="bg1"/>
                </a:solidFill>
                <a:latin typeface="微软雅黑" panose="020B0503020204020204" pitchFamily="34" charset="-122"/>
                <a:ea typeface="微软雅黑" panose="020B0503020204020204" pitchFamily="34" charset="-122"/>
                <a:cs typeface="+mj-cs"/>
              </a:defRPr>
            </a:lvl1pPr>
          </a:lstStyle>
          <a:p>
            <a:pPr fontAlgn="auto">
              <a:spcAft>
                <a:spcPts val="0"/>
              </a:spcAft>
            </a:pPr>
            <a:r>
              <a:rPr lang="zh-CN" altLang="en-US" sz="1800" dirty="0"/>
              <a:t>大数据系统实例</a:t>
            </a:r>
          </a:p>
        </p:txBody>
      </p:sp>
    </p:spTree>
    <p:extLst>
      <p:ext uri="{BB962C8B-B14F-4D97-AF65-F5344CB8AC3E}">
        <p14:creationId xmlns:p14="http://schemas.microsoft.com/office/powerpoint/2010/main" val="2055619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1347614"/>
            <a:ext cx="3590925" cy="498022"/>
          </a:xfrm>
        </p:spPr>
        <p:txBody>
          <a:bodyPr>
            <a:normAutofit fontScale="90000"/>
          </a:bodyPr>
          <a:lstStyle/>
          <a:p>
            <a:r>
              <a:rPr lang="zh-CN" altLang="en-US" sz="1800" dirty="0"/>
              <a:t>大数据系统实例：</a:t>
            </a:r>
            <a:r>
              <a:rPr lang="en-US" altLang="zh-CN" sz="1800" dirty="0"/>
              <a:t> </a:t>
            </a:r>
            <a:r>
              <a:rPr lang="zh-CN" altLang="en-US" sz="1800" dirty="0"/>
              <a:t>华为</a:t>
            </a:r>
            <a:r>
              <a:rPr lang="en-US" altLang="zh-CN" sz="1800" dirty="0"/>
              <a:t>FusionInsight</a:t>
            </a:r>
            <a:r>
              <a:rPr lang="zh-CN" altLang="en-US" sz="1800" dirty="0"/>
              <a:t>大数据平台</a:t>
            </a:r>
          </a:p>
        </p:txBody>
      </p:sp>
      <p:pic>
        <p:nvPicPr>
          <p:cNvPr id="95234" name="Picture 2"/>
          <p:cNvPicPr>
            <a:picLocks noChangeAspect="1" noChangeArrowheads="1"/>
          </p:cNvPicPr>
          <p:nvPr/>
        </p:nvPicPr>
        <p:blipFill>
          <a:blip r:embed="rId2" cstate="print"/>
          <a:srcRect/>
          <a:stretch>
            <a:fillRect/>
          </a:stretch>
        </p:blipFill>
        <p:spPr bwMode="auto">
          <a:xfrm>
            <a:off x="4492203" y="1059582"/>
            <a:ext cx="4651797" cy="3927034"/>
          </a:xfrm>
          <a:prstGeom prst="rect">
            <a:avLst/>
          </a:prstGeom>
          <a:noFill/>
          <a:ln w="9525">
            <a:noFill/>
            <a:miter lim="800000"/>
            <a:headEnd/>
            <a:tailEnd/>
          </a:ln>
        </p:spPr>
      </p:pic>
      <p:sp>
        <p:nvSpPr>
          <p:cNvPr id="5" name="Line 164">
            <a:extLst>
              <a:ext uri="{FF2B5EF4-FFF2-40B4-BE49-F238E27FC236}">
                <a16:creationId xmlns:a16="http://schemas.microsoft.com/office/drawing/2014/main" id="{3861DE22-2B9D-4CA0-3B80-55AF82ED1C28}"/>
              </a:ext>
            </a:extLst>
          </p:cNvPr>
          <p:cNvSpPr>
            <a:spLocks noChangeShapeType="1"/>
          </p:cNvSpPr>
          <p:nvPr/>
        </p:nvSpPr>
        <p:spPr bwMode="auto">
          <a:xfrm>
            <a:off x="857250" y="571500"/>
            <a:ext cx="7429500" cy="0"/>
          </a:xfrm>
          <a:prstGeom prst="line">
            <a:avLst/>
          </a:prstGeom>
          <a:noFill/>
          <a:ln w="9525">
            <a:solidFill>
              <a:srgbClr val="172F3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zh-CN" altLang="en-US"/>
          </a:p>
        </p:txBody>
      </p:sp>
      <p:sp>
        <p:nvSpPr>
          <p:cNvPr id="3" name="标题 1">
            <a:extLst>
              <a:ext uri="{FF2B5EF4-FFF2-40B4-BE49-F238E27FC236}">
                <a16:creationId xmlns:a16="http://schemas.microsoft.com/office/drawing/2014/main" id="{5162EFE1-D297-5EEB-7784-71F5771C500D}"/>
              </a:ext>
            </a:extLst>
          </p:cNvPr>
          <p:cNvSpPr txBox="1">
            <a:spLocks/>
          </p:cNvSpPr>
          <p:nvPr/>
        </p:nvSpPr>
        <p:spPr>
          <a:xfrm>
            <a:off x="395536" y="195486"/>
            <a:ext cx="6048724" cy="577618"/>
          </a:xfrm>
          <a:prstGeom prst="rect">
            <a:avLst/>
          </a:prstGeom>
          <a:solidFill>
            <a:srgbClr val="C00000"/>
          </a:solidFill>
        </p:spPr>
        <p:txBody>
          <a:bodyPr vert="horz" lIns="0" tIns="45720" rIns="0" bIns="45720" rtlCol="0" anchor="b">
            <a:noAutofit/>
          </a:bodyPr>
          <a:lstStyle>
            <a:lvl1pPr algn="l" defTabSz="685800" rtl="0" eaLnBrk="1" latinLnBrk="0" hangingPunct="1">
              <a:lnSpc>
                <a:spcPct val="90000"/>
              </a:lnSpc>
              <a:spcBef>
                <a:spcPct val="0"/>
              </a:spcBef>
              <a:buNone/>
              <a:defRPr sz="2100" kern="1200">
                <a:solidFill>
                  <a:schemeClr val="bg1"/>
                </a:solidFill>
                <a:latin typeface="微软雅黑" panose="020B0503020204020204" pitchFamily="34" charset="-122"/>
                <a:ea typeface="微软雅黑" panose="020B0503020204020204" pitchFamily="34" charset="-122"/>
                <a:cs typeface="+mj-cs"/>
              </a:defRPr>
            </a:lvl1pPr>
          </a:lstStyle>
          <a:p>
            <a:pPr algn="ctr" fontAlgn="auto">
              <a:spcAft>
                <a:spcPts val="0"/>
              </a:spcAft>
            </a:pPr>
            <a:r>
              <a:rPr lang="zh-CN" altLang="en-US" sz="2400">
                <a:solidFill>
                  <a:srgbClr val="FFFFFF"/>
                </a:solidFill>
              </a:rPr>
              <a:t>三、大数据简介</a:t>
            </a:r>
            <a:endParaRPr lang="zh-CN" altLang="en-US" sz="2400" dirty="0"/>
          </a:p>
        </p:txBody>
      </p:sp>
    </p:spTree>
    <p:extLst>
      <p:ext uri="{BB962C8B-B14F-4D97-AF65-F5344CB8AC3E}">
        <p14:creationId xmlns:p14="http://schemas.microsoft.com/office/powerpoint/2010/main" val="95475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E406B90F-A7F1-4A4B-AE66-8225DFA0E706}"/>
              </a:ext>
            </a:extLst>
          </p:cNvPr>
          <p:cNvSpPr/>
          <p:nvPr/>
        </p:nvSpPr>
        <p:spPr>
          <a:xfrm>
            <a:off x="1025028" y="2279315"/>
            <a:ext cx="6391288" cy="576000"/>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dirty="0">
              <a:ln>
                <a:noFill/>
              </a:ln>
              <a:solidFill>
                <a:prstClr val="white"/>
              </a:solidFill>
              <a:effectLst/>
              <a:uLnTx/>
              <a:uFillTx/>
              <a:latin typeface="Huawei Sans"/>
              <a:ea typeface="方正兰亭黑简体"/>
              <a:cs typeface="+mn-cs"/>
            </a:endParaRPr>
          </a:p>
        </p:txBody>
      </p:sp>
      <p:sp>
        <p:nvSpPr>
          <p:cNvPr id="3" name="内容占位符 2"/>
          <p:cNvSpPr>
            <a:spLocks noGrp="1"/>
          </p:cNvSpPr>
          <p:nvPr>
            <p:ph idx="1"/>
          </p:nvPr>
        </p:nvSpPr>
        <p:spPr>
          <a:xfrm>
            <a:off x="611559" y="986626"/>
            <a:ext cx="6552729" cy="577618"/>
          </a:xfrm>
        </p:spPr>
        <p:txBody>
          <a:bodyPr>
            <a:noAutofit/>
          </a:bodyPr>
          <a:lstStyle/>
          <a:p>
            <a:pPr marL="0" indent="0">
              <a:lnSpc>
                <a:spcPct val="150000"/>
              </a:lnSpc>
              <a:spcBef>
                <a:spcPts val="0"/>
              </a:spcBef>
              <a:buNone/>
            </a:pPr>
            <a:r>
              <a:rPr lang="en-US" altLang="zh-CN" sz="1800" dirty="0">
                <a:solidFill>
                  <a:srgbClr val="000066"/>
                </a:solidFill>
                <a:latin typeface="Times New Roman" panose="02020603050405020304" pitchFamily="18" charset="0"/>
                <a:cs typeface="Times New Roman" panose="02020603050405020304" pitchFamily="18" charset="0"/>
              </a:rPr>
              <a:t>4</a:t>
            </a:r>
            <a:r>
              <a:rPr lang="zh-CN" altLang="zh-CN" sz="1800" dirty="0">
                <a:solidFill>
                  <a:srgbClr val="000066"/>
                </a:solidFill>
                <a:latin typeface="Times New Roman" panose="02020603050405020304" pitchFamily="18" charset="0"/>
                <a:cs typeface="Times New Roman" panose="02020603050405020304" pitchFamily="18" charset="0"/>
              </a:rPr>
              <a:t>．</a:t>
            </a:r>
            <a:r>
              <a:rPr lang="zh-CN" altLang="en-US" sz="1800" dirty="0">
                <a:solidFill>
                  <a:srgbClr val="000066"/>
                </a:solidFill>
                <a:latin typeface="Times New Roman" panose="02020603050405020304" pitchFamily="18" charset="0"/>
                <a:cs typeface="Times New Roman" panose="02020603050405020304" pitchFamily="18" charset="0"/>
              </a:rPr>
              <a:t>华为大数据平台──</a:t>
            </a:r>
            <a:r>
              <a:rPr lang="en-US" altLang="zh-CN" sz="1800" dirty="0" err="1">
                <a:solidFill>
                  <a:srgbClr val="000066"/>
                </a:solidFill>
                <a:latin typeface="Times New Roman" panose="02020603050405020304" pitchFamily="18" charset="0"/>
                <a:cs typeface="Times New Roman" panose="02020603050405020304" pitchFamily="18" charset="0"/>
              </a:rPr>
              <a:t>FusionInsight</a:t>
            </a:r>
            <a:endParaRPr lang="en-US" altLang="zh-CN" sz="1800" dirty="0">
              <a:solidFill>
                <a:srgbClr val="000066"/>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a:xfrm>
            <a:off x="395536" y="195486"/>
            <a:ext cx="6048724" cy="577618"/>
          </a:xfrm>
        </p:spPr>
        <p:txBody>
          <a:bodyPr>
            <a:noAutofit/>
          </a:bodyPr>
          <a:lstStyle/>
          <a:p>
            <a:pPr algn="ctr"/>
            <a:r>
              <a:rPr lang="zh-CN" altLang="en-US" sz="2400" dirty="0">
                <a:solidFill>
                  <a:srgbClr val="FFFFFF"/>
                </a:solidFill>
              </a:rPr>
              <a:t>三、大数据简介</a:t>
            </a:r>
            <a:endParaRPr lang="zh-CN" altLang="en-US" sz="2400" dirty="0"/>
          </a:p>
        </p:txBody>
      </p:sp>
      <p:sp>
        <p:nvSpPr>
          <p:cNvPr id="32" name="矩形 31">
            <a:extLst>
              <a:ext uri="{FF2B5EF4-FFF2-40B4-BE49-F238E27FC236}">
                <a16:creationId xmlns:a16="http://schemas.microsoft.com/office/drawing/2014/main" id="{DFB5665E-55C7-415E-9648-2B26144A9D05}"/>
              </a:ext>
            </a:extLst>
          </p:cNvPr>
          <p:cNvSpPr/>
          <p:nvPr/>
        </p:nvSpPr>
        <p:spPr>
          <a:xfrm>
            <a:off x="1025029" y="3078520"/>
            <a:ext cx="6409868" cy="793214"/>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prstClr val="white"/>
              </a:solidFill>
              <a:effectLst/>
              <a:uLnTx/>
              <a:uFillTx/>
              <a:latin typeface="Huawei Sans"/>
              <a:ea typeface="方正兰亭黑简体"/>
              <a:cs typeface="+mn-cs"/>
            </a:endParaRPr>
          </a:p>
        </p:txBody>
      </p:sp>
      <p:sp>
        <p:nvSpPr>
          <p:cNvPr id="34" name="矩形: 圆角 33">
            <a:extLst>
              <a:ext uri="{FF2B5EF4-FFF2-40B4-BE49-F238E27FC236}">
                <a16:creationId xmlns:a16="http://schemas.microsoft.com/office/drawing/2014/main" id="{7D678FED-0BDB-4701-B16F-9B324B653CC0}"/>
              </a:ext>
            </a:extLst>
          </p:cNvPr>
          <p:cNvSpPr/>
          <p:nvPr/>
        </p:nvSpPr>
        <p:spPr>
          <a:xfrm>
            <a:off x="1116022" y="2379418"/>
            <a:ext cx="1173600" cy="400938"/>
          </a:xfrm>
          <a:prstGeom prst="roundRect">
            <a:avLst/>
          </a:prstGeom>
          <a:noFill/>
          <a:ln w="19050" cap="flat" cmpd="sng" algn="ctr">
            <a:solidFill>
              <a:srgbClr val="000066"/>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统一</a:t>
            </a: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SQL</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矩形: 圆角 34">
            <a:extLst>
              <a:ext uri="{FF2B5EF4-FFF2-40B4-BE49-F238E27FC236}">
                <a16:creationId xmlns:a16="http://schemas.microsoft.com/office/drawing/2014/main" id="{45C3AFBB-D8AF-41C0-9C88-C24274326B7A}"/>
              </a:ext>
            </a:extLst>
          </p:cNvPr>
          <p:cNvSpPr/>
          <p:nvPr/>
        </p:nvSpPr>
        <p:spPr>
          <a:xfrm>
            <a:off x="4909704" y="2383674"/>
            <a:ext cx="1173600" cy="399941"/>
          </a:xfrm>
          <a:prstGeom prst="roundRect">
            <a:avLst/>
          </a:prstGeom>
          <a:noFill/>
          <a:ln w="19050" cap="flat" cmpd="sng" algn="ctr">
            <a:solidFill>
              <a:srgbClr val="000066"/>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关系引擎</a:t>
            </a:r>
          </a:p>
        </p:txBody>
      </p:sp>
      <p:sp>
        <p:nvSpPr>
          <p:cNvPr id="36" name="矩形: 圆角 35">
            <a:extLst>
              <a:ext uri="{FF2B5EF4-FFF2-40B4-BE49-F238E27FC236}">
                <a16:creationId xmlns:a16="http://schemas.microsoft.com/office/drawing/2014/main" id="{C92BA46F-D93C-4498-A59F-BEB8F18F43E5}"/>
              </a:ext>
            </a:extLst>
          </p:cNvPr>
          <p:cNvSpPr/>
          <p:nvPr/>
        </p:nvSpPr>
        <p:spPr>
          <a:xfrm>
            <a:off x="2380616" y="2375755"/>
            <a:ext cx="1173700" cy="399941"/>
          </a:xfrm>
          <a:prstGeom prst="roundRect">
            <a:avLst/>
          </a:prstGeom>
          <a:noFill/>
          <a:ln w="19050" cap="flat" cmpd="sng" algn="ctr">
            <a:solidFill>
              <a:srgbClr val="000066"/>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实时搜索</a:t>
            </a:r>
          </a:p>
        </p:txBody>
      </p:sp>
      <p:sp>
        <p:nvSpPr>
          <p:cNvPr id="37" name="矩形: 圆角 36">
            <a:extLst>
              <a:ext uri="{FF2B5EF4-FFF2-40B4-BE49-F238E27FC236}">
                <a16:creationId xmlns:a16="http://schemas.microsoft.com/office/drawing/2014/main" id="{0BFDF771-96AD-4A97-B5B5-516C38FB62E5}"/>
              </a:ext>
            </a:extLst>
          </p:cNvPr>
          <p:cNvSpPr/>
          <p:nvPr/>
        </p:nvSpPr>
        <p:spPr>
          <a:xfrm>
            <a:off x="3645210" y="2375754"/>
            <a:ext cx="1173600" cy="399941"/>
          </a:xfrm>
          <a:prstGeom prst="roundRect">
            <a:avLst/>
          </a:prstGeom>
          <a:noFill/>
          <a:ln w="19050" cap="flat" cmpd="sng" algn="ctr">
            <a:solidFill>
              <a:srgbClr val="000066"/>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实时决策</a:t>
            </a:r>
          </a:p>
        </p:txBody>
      </p:sp>
      <p:sp>
        <p:nvSpPr>
          <p:cNvPr id="38" name="矩形: 圆角 37">
            <a:extLst>
              <a:ext uri="{FF2B5EF4-FFF2-40B4-BE49-F238E27FC236}">
                <a16:creationId xmlns:a16="http://schemas.microsoft.com/office/drawing/2014/main" id="{961F214E-44FB-4F4A-B772-4B351E8506E5}"/>
              </a:ext>
            </a:extLst>
          </p:cNvPr>
          <p:cNvSpPr/>
          <p:nvPr/>
        </p:nvSpPr>
        <p:spPr>
          <a:xfrm>
            <a:off x="6144577" y="2397546"/>
            <a:ext cx="1173601" cy="378150"/>
          </a:xfrm>
          <a:prstGeom prst="roundRect">
            <a:avLst/>
          </a:prstGeom>
          <a:noFill/>
          <a:ln w="19050" cap="flat" cmpd="sng" algn="ctr">
            <a:solidFill>
              <a:srgbClr val="000066"/>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多租户</a:t>
            </a:r>
          </a:p>
        </p:txBody>
      </p:sp>
      <p:sp>
        <p:nvSpPr>
          <p:cNvPr id="39" name="矩形 38">
            <a:extLst>
              <a:ext uri="{FF2B5EF4-FFF2-40B4-BE49-F238E27FC236}">
                <a16:creationId xmlns:a16="http://schemas.microsoft.com/office/drawing/2014/main" id="{8EB77887-A49C-43F0-BC69-A43BCBC5188E}"/>
              </a:ext>
            </a:extLst>
          </p:cNvPr>
          <p:cNvSpPr/>
          <p:nvPr/>
        </p:nvSpPr>
        <p:spPr>
          <a:xfrm>
            <a:off x="1043608" y="1575032"/>
            <a:ext cx="6391288" cy="576000"/>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b="0" i="0" u="none" strike="noStrike" kern="0" cap="none" spc="0" normalizeH="0" baseline="0" noProof="0" dirty="0" err="1">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FusionInsight</a:t>
            </a:r>
            <a:endParaRPr kumimoji="0" lang="zh-CN" altLang="en-US" sz="1200"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 name="矩形: 圆角 39">
            <a:extLst>
              <a:ext uri="{FF2B5EF4-FFF2-40B4-BE49-F238E27FC236}">
                <a16:creationId xmlns:a16="http://schemas.microsoft.com/office/drawing/2014/main" id="{6A1EC9FA-24CE-472F-B6B0-52C2C8519427}"/>
              </a:ext>
            </a:extLst>
          </p:cNvPr>
          <p:cNvSpPr/>
          <p:nvPr/>
        </p:nvSpPr>
        <p:spPr>
          <a:xfrm>
            <a:off x="1116023" y="3157329"/>
            <a:ext cx="1547765"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数据集成</a:t>
            </a:r>
            <a:endPar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Data</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矩形: 圆角 40">
            <a:extLst>
              <a:ext uri="{FF2B5EF4-FFF2-40B4-BE49-F238E27FC236}">
                <a16:creationId xmlns:a16="http://schemas.microsoft.com/office/drawing/2014/main" id="{7E78D79D-F689-4B2B-A2FE-9B84508496C0}"/>
              </a:ext>
            </a:extLst>
          </p:cNvPr>
          <p:cNvSpPr/>
          <p:nvPr/>
        </p:nvSpPr>
        <p:spPr>
          <a:xfrm>
            <a:off x="3453276" y="3169127"/>
            <a:ext cx="1547765"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数据分析</a:t>
            </a:r>
            <a:endPar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Knowledge</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矩形: 圆角 41">
            <a:extLst>
              <a:ext uri="{FF2B5EF4-FFF2-40B4-BE49-F238E27FC236}">
                <a16:creationId xmlns:a16="http://schemas.microsoft.com/office/drawing/2014/main" id="{3B226647-6AF9-41A4-B359-154F970FC3CD}"/>
              </a:ext>
            </a:extLst>
          </p:cNvPr>
          <p:cNvSpPr/>
          <p:nvPr/>
        </p:nvSpPr>
        <p:spPr>
          <a:xfrm>
            <a:off x="5759529" y="3169127"/>
            <a:ext cx="1548000"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数据服务</a:t>
            </a: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Wisdom</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43" name="直接箭头连接符 42">
            <a:extLst>
              <a:ext uri="{FF2B5EF4-FFF2-40B4-BE49-F238E27FC236}">
                <a16:creationId xmlns:a16="http://schemas.microsoft.com/office/drawing/2014/main" id="{D4A89D2D-C9DE-488A-B103-0106660D61E7}"/>
              </a:ext>
            </a:extLst>
          </p:cNvPr>
          <p:cNvCxnSpPr>
            <a:cxnSpLocks/>
          </p:cNvCxnSpPr>
          <p:nvPr/>
        </p:nvCxnSpPr>
        <p:spPr>
          <a:xfrm>
            <a:off x="2663788" y="3486406"/>
            <a:ext cx="771181" cy="0"/>
          </a:xfrm>
          <a:prstGeom prst="straightConnector1">
            <a:avLst/>
          </a:prstGeom>
          <a:noFill/>
          <a:ln w="19050" cap="flat" cmpd="sng" algn="ctr">
            <a:solidFill>
              <a:srgbClr val="000066"/>
            </a:solidFill>
            <a:prstDash val="solid"/>
            <a:miter lim="800000"/>
            <a:tailEnd type="triangle" w="lg" len="lg"/>
          </a:ln>
          <a:effectLst/>
        </p:spPr>
      </p:cxnSp>
      <p:cxnSp>
        <p:nvCxnSpPr>
          <p:cNvPr id="44" name="直接箭头连接符 43">
            <a:extLst>
              <a:ext uri="{FF2B5EF4-FFF2-40B4-BE49-F238E27FC236}">
                <a16:creationId xmlns:a16="http://schemas.microsoft.com/office/drawing/2014/main" id="{807BEE3B-3569-4498-ABC6-326ABCF14D13}"/>
              </a:ext>
            </a:extLst>
          </p:cNvPr>
          <p:cNvCxnSpPr>
            <a:cxnSpLocks/>
          </p:cNvCxnSpPr>
          <p:nvPr/>
        </p:nvCxnSpPr>
        <p:spPr>
          <a:xfrm>
            <a:off x="5001041" y="3475127"/>
            <a:ext cx="771181" cy="0"/>
          </a:xfrm>
          <a:prstGeom prst="straightConnector1">
            <a:avLst/>
          </a:prstGeom>
          <a:noFill/>
          <a:ln w="19050" cap="flat" cmpd="sng" algn="ctr">
            <a:solidFill>
              <a:srgbClr val="000066"/>
            </a:solidFill>
            <a:prstDash val="solid"/>
            <a:miter lim="800000"/>
            <a:tailEnd type="triangle" w="lg" len="lg"/>
          </a:ln>
          <a:effectLst/>
        </p:spPr>
      </p:cxnSp>
      <p:sp>
        <p:nvSpPr>
          <p:cNvPr id="45" name="矩形: 圆角 44">
            <a:extLst>
              <a:ext uri="{FF2B5EF4-FFF2-40B4-BE49-F238E27FC236}">
                <a16:creationId xmlns:a16="http://schemas.microsoft.com/office/drawing/2014/main" id="{01C0BE26-58CB-488D-B4E6-C06253CA10C1}"/>
              </a:ext>
            </a:extLst>
          </p:cNvPr>
          <p:cNvSpPr/>
          <p:nvPr/>
        </p:nvSpPr>
        <p:spPr>
          <a:xfrm>
            <a:off x="1022813" y="4075849"/>
            <a:ext cx="1640975"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Hadoop</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矩形: 圆角 45">
            <a:extLst>
              <a:ext uri="{FF2B5EF4-FFF2-40B4-BE49-F238E27FC236}">
                <a16:creationId xmlns:a16="http://schemas.microsoft.com/office/drawing/2014/main" id="{5B4578F6-B91E-48FE-A002-52F62B74689D}"/>
              </a:ext>
            </a:extLst>
          </p:cNvPr>
          <p:cNvSpPr/>
          <p:nvPr/>
        </p:nvSpPr>
        <p:spPr>
          <a:xfrm>
            <a:off x="2663788" y="4082646"/>
            <a:ext cx="1640975"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spark</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矩形: 圆角 46">
            <a:extLst>
              <a:ext uri="{FF2B5EF4-FFF2-40B4-BE49-F238E27FC236}">
                <a16:creationId xmlns:a16="http://schemas.microsoft.com/office/drawing/2014/main" id="{90E08384-F7F2-45F2-91CC-5AD9AC2855EF}"/>
              </a:ext>
            </a:extLst>
          </p:cNvPr>
          <p:cNvSpPr/>
          <p:nvPr/>
        </p:nvSpPr>
        <p:spPr>
          <a:xfrm>
            <a:off x="4311880" y="4094939"/>
            <a:ext cx="1614176"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Storm</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矩形: 圆角 47">
            <a:extLst>
              <a:ext uri="{FF2B5EF4-FFF2-40B4-BE49-F238E27FC236}">
                <a16:creationId xmlns:a16="http://schemas.microsoft.com/office/drawing/2014/main" id="{0249C937-965B-4259-8F91-9552D26539B2}"/>
              </a:ext>
            </a:extLst>
          </p:cNvPr>
          <p:cNvSpPr/>
          <p:nvPr/>
        </p:nvSpPr>
        <p:spPr>
          <a:xfrm>
            <a:off x="5917674" y="4079531"/>
            <a:ext cx="1498642" cy="612000"/>
          </a:xfrm>
          <a:prstGeom prst="roundRect">
            <a:avLst/>
          </a:prstGeom>
          <a:noFill/>
          <a:ln w="19050" cap="flat" cmpd="sng" algn="ctr">
            <a:solidFill>
              <a:srgbClr val="000066"/>
            </a:solidFill>
            <a:prstDash val="solid"/>
            <a:miter lim="800000"/>
          </a:ln>
          <a:effectLst/>
        </p:spPr>
        <p:txBody>
          <a:bodyPr tIns="108000" rtlCol="0" anchor="ctr"/>
          <a:lstStyle/>
          <a:p>
            <a:pPr marL="0" marR="0" lvl="0" indent="0" algn="ctr" defTabSz="914478" eaLnBrk="1" fontAlgn="auto" latinLnBrk="0" hangingPunct="1">
              <a:lnSpc>
                <a:spcPts val="2000"/>
              </a:lnSpc>
              <a:spcBef>
                <a:spcPts val="0"/>
              </a:spcBef>
              <a:spcAft>
                <a:spcPts val="0"/>
              </a:spcAft>
              <a:buClrTx/>
              <a:buSzTx/>
              <a:buFontTx/>
              <a:buNone/>
              <a:tabLst/>
              <a:defRPr/>
            </a:pPr>
            <a:r>
              <a:rPr kumimoji="0" lang="en-US" altLang="zh-CN" b="0" i="0" u="none" strike="noStrike" kern="0" cap="none" spc="0" normalizeH="0" baseline="0" noProof="0" dirty="0" err="1">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MPPDB</a:t>
            </a:r>
            <a:endParaRPr kumimoji="0" lang="zh-CN" altLang="en-US" b="0" i="0" u="none" strike="noStrike" kern="0" cap="none" spc="0" normalizeH="0" baseline="0" noProof="0" dirty="0">
              <a:ln>
                <a:noFill/>
              </a:ln>
              <a:solidFill>
                <a:srgbClr val="00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067292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自定义 3">
      <a:dk1>
        <a:sysClr val="windowText" lastClr="000000"/>
      </a:dk1>
      <a:lt1>
        <a:sysClr val="window" lastClr="FFFFFF"/>
      </a:lt1>
      <a:dk2>
        <a:srgbClr val="696464"/>
      </a:dk2>
      <a:lt2>
        <a:srgbClr val="E9E5DC"/>
      </a:lt2>
      <a:accent1>
        <a:srgbClr val="CC0000"/>
      </a:accent1>
      <a:accent2>
        <a:srgbClr val="D34817"/>
      </a:accent2>
      <a:accent3>
        <a:srgbClr val="A28E6A"/>
      </a:accent3>
      <a:accent4>
        <a:srgbClr val="956251"/>
      </a:accent4>
      <a:accent5>
        <a:srgbClr val="918485"/>
      </a:accent5>
      <a:accent6>
        <a:srgbClr val="855D5D"/>
      </a:accent6>
      <a:hlink>
        <a:srgbClr val="CC9900"/>
      </a:hlink>
      <a:folHlink>
        <a:srgbClr val="96A9A9"/>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spDef>
      <a:spPr bwMode="gray">
        <a:gradFill rotWithShape="1">
          <a:gsLst>
            <a:gs pos="0">
              <a:schemeClr val="folHlink">
                <a:gamma/>
                <a:shade val="72549"/>
                <a:invGamma/>
              </a:schemeClr>
            </a:gs>
            <a:gs pos="50000">
              <a:schemeClr val="folHlink"/>
            </a:gs>
            <a:gs pos="100000">
              <a:schemeClr val="folHlink">
                <a:gamma/>
                <a:shade val="72549"/>
                <a:invGamma/>
              </a:schemeClr>
            </a:gs>
          </a:gsLst>
          <a:lin ang="2700000" scaled="1"/>
        </a:gradFill>
        <a:ln w="9525">
          <a:noFill/>
          <a:miter lim="800000"/>
          <a:headEnd/>
          <a:tailEnd/>
        </a:ln>
        <a:effectLst/>
      </a:spPr>
      <a:bodyPr wrap="none" anchor="ctr"/>
      <a:lstStyle>
        <a:defPPr algn="ctr" eaLnBrk="0" hangingPunct="0">
          <a:defRPr sz="1400" b="1" dirty="0">
            <a:latin typeface="黑体" panose="02010609060101010101" pitchFamily="49" charset="-122"/>
            <a:ea typeface="黑体" panose="02010609060101010101" pitchFamily="49" charset="-122"/>
          </a:defRPr>
        </a:defPPr>
      </a:lst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a:defPPr>
      </a:lstStyle>
    </a:txDef>
  </a:objectDefaults>
  <a:extraClrSchemeLst/>
  <a:extLst>
    <a:ext uri="{05A4C25C-085E-4340-85A3-A5531E510DB2}">
      <thm15:themeFamily xmlns:thm15="http://schemas.microsoft.com/office/thememl/2012/main" name="模板ppt.pptx" id="{0CF83854-50F9-4A05-AC3E-F0D8A78CEE97}" vid="{AE9FA267-1D14-46AF-B303-D9446FC845D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126345</TotalTime>
  <Words>4660</Words>
  <Application>Microsoft Office PowerPoint</Application>
  <PresentationFormat>全屏显示(16:9)</PresentationFormat>
  <Paragraphs>997</Paragraphs>
  <Slides>46</Slides>
  <Notes>44</Notes>
  <HiddenSlides>4</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46</vt:i4>
      </vt:variant>
    </vt:vector>
  </HeadingPairs>
  <TitlesOfParts>
    <vt:vector size="56" baseType="lpstr">
      <vt:lpstr>Huawei Sans</vt:lpstr>
      <vt:lpstr>黑体</vt:lpstr>
      <vt:lpstr>微软雅黑</vt:lpstr>
      <vt:lpstr>Arial</vt:lpstr>
      <vt:lpstr>Calibri</vt:lpstr>
      <vt:lpstr>Euphemia</vt:lpstr>
      <vt:lpstr>Times New Roman</vt:lpstr>
      <vt:lpstr>Wingdings</vt:lpstr>
      <vt:lpstr>Wingdings 2</vt:lpstr>
      <vt:lpstr>学术文献 16x9</vt:lpstr>
      <vt:lpstr>大学计算机        ——数据的组织与管理</vt:lpstr>
      <vt:lpstr>数据的组织与管理</vt:lpstr>
      <vt:lpstr>二、数据库技术基础</vt:lpstr>
      <vt:lpstr>二、数据库基础</vt:lpstr>
      <vt:lpstr>二、数据库技术基础</vt:lpstr>
      <vt:lpstr>二、数据库技术基础</vt:lpstr>
      <vt:lpstr>二、数据库基础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二、数据库技术基础</vt:lpstr>
      <vt:lpstr>二、数据库基础</vt:lpstr>
      <vt:lpstr>二、数据库技术基础</vt:lpstr>
      <vt:lpstr>PowerPoint 演示文稿</vt:lpstr>
      <vt:lpstr>三、大数据简介</vt:lpstr>
      <vt:lpstr>三、大数据简介</vt:lpstr>
      <vt:lpstr>三、大数据简介</vt:lpstr>
      <vt:lpstr>三、大数据简介</vt:lpstr>
      <vt:lpstr>三、大数据简介</vt:lpstr>
      <vt:lpstr>三、大数据简介</vt:lpstr>
      <vt:lpstr>三、大数据简介</vt:lpstr>
      <vt:lpstr>三、大数据简介</vt:lpstr>
      <vt:lpstr>三、大数据简介</vt:lpstr>
      <vt:lpstr>三、大数据简介</vt:lpstr>
      <vt:lpstr>三、大数据简介</vt:lpstr>
      <vt:lpstr>大数据系统实例： 华为FusionInsight大数据平台</vt:lpstr>
      <vt:lpstr>三、大数据简介</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TJ</dc:creator>
  <cp:lastModifiedBy>慧 何</cp:lastModifiedBy>
  <cp:revision>1485</cp:revision>
  <dcterms:created xsi:type="dcterms:W3CDTF">2011-03-18T03:47:09Z</dcterms:created>
  <dcterms:modified xsi:type="dcterms:W3CDTF">2026-01-10T01:28:39Z</dcterms:modified>
</cp:coreProperties>
</file>