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8" r:id="rId1"/>
  </p:sldMasterIdLst>
  <p:notesMasterIdLst>
    <p:notesMasterId r:id="rId30"/>
  </p:notesMasterIdLst>
  <p:handoutMasterIdLst>
    <p:handoutMasterId r:id="rId31"/>
  </p:handoutMasterIdLst>
  <p:sldIdLst>
    <p:sldId id="556" r:id="rId2"/>
    <p:sldId id="1473" r:id="rId3"/>
    <p:sldId id="1472" r:id="rId4"/>
    <p:sldId id="1425" r:id="rId5"/>
    <p:sldId id="1454" r:id="rId6"/>
    <p:sldId id="1457" r:id="rId7"/>
    <p:sldId id="1459" r:id="rId8"/>
    <p:sldId id="1460" r:id="rId9"/>
    <p:sldId id="1461" r:id="rId10"/>
    <p:sldId id="1486" r:id="rId11"/>
    <p:sldId id="1478" r:id="rId12"/>
    <p:sldId id="1484" r:id="rId13"/>
    <p:sldId id="1463" r:id="rId14"/>
    <p:sldId id="1479" r:id="rId15"/>
    <p:sldId id="1480" r:id="rId16"/>
    <p:sldId id="1462" r:id="rId17"/>
    <p:sldId id="1481" r:id="rId18"/>
    <p:sldId id="1471" r:id="rId19"/>
    <p:sldId id="1469" r:id="rId20"/>
    <p:sldId id="1466" r:id="rId21"/>
    <p:sldId id="1458" r:id="rId22"/>
    <p:sldId id="284" r:id="rId23"/>
    <p:sldId id="1470" r:id="rId24"/>
    <p:sldId id="1485" r:id="rId25"/>
    <p:sldId id="1477" r:id="rId26"/>
    <p:sldId id="1475" r:id="rId27"/>
    <p:sldId id="1476" r:id="rId28"/>
    <p:sldId id="1474" r:id="rId2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07EC9"/>
    <a:srgbClr val="50DFFC"/>
    <a:srgbClr val="000078"/>
    <a:srgbClr val="A50021"/>
    <a:srgbClr val="67B3E5"/>
    <a:srgbClr val="68B2E3"/>
    <a:srgbClr val="000066"/>
    <a:srgbClr val="109EDE"/>
    <a:srgbClr val="307DC3"/>
    <a:srgbClr val="2D6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0812" autoAdjust="0"/>
  </p:normalViewPr>
  <p:slideViewPr>
    <p:cSldViewPr>
      <p:cViewPr varScale="1">
        <p:scale>
          <a:sx n="79" d="100"/>
          <a:sy n="79" d="100"/>
        </p:scale>
        <p:origin x="518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81" d="100"/>
          <a:sy n="81" d="100"/>
        </p:scale>
        <p:origin x="1192" y="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3342D32-58E9-4211-BE97-B0C4DA1FDFE0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AD971E3-3ED1-491A-A2D7-F911BB3808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765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F8683A4-79EA-4C8F-8F8E-7AEDDA4FAD9E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 noProof="0"/>
              <a:t>比喻强调了教师知识储备和能力要求，一桶水都不够用，应该是自来水，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11BFF4-1710-4AF3-AE92-5EDA45BDA4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9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lang="zh-CN" altLang="en-US"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EE459AD-631C-4859-A2C6-036CD530E7D2}" type="slidenum">
              <a:rPr lang="zh-CN" altLang="en-US" sz="1200">
                <a:latin typeface="+mn-lt"/>
                <a:ea typeface="+mn-e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zh-CN" altLang="en-US" sz="1200">
              <a:latin typeface="+mn-lt"/>
              <a:ea typeface="+mn-ea"/>
            </a:endParaRPr>
          </a:p>
        </p:txBody>
      </p:sp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C1441D8-8854-4472-A04A-7A4394DA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974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纽约客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上的一副漫画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标题：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Internet, Nobody knows you're a dog.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49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84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650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207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ROT13</a:t>
            </a:r>
            <a:r>
              <a:rPr lang="zh-CN" altLang="en-US" dirty="0"/>
              <a:t>：回转</a:t>
            </a:r>
            <a:r>
              <a:rPr lang="en-US" altLang="zh-CN" dirty="0"/>
              <a:t>13</a:t>
            </a:r>
            <a:r>
              <a:rPr lang="zh-CN" altLang="en-US" dirty="0"/>
              <a:t>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333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347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其他的常用算法：</a:t>
            </a:r>
            <a:r>
              <a:rPr kumimoji="1"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</a:t>
            </a:r>
            <a:r>
              <a:rPr kumimoji="1"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（数据加密标准）、</a:t>
            </a:r>
            <a:r>
              <a:rPr kumimoji="1"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AES</a:t>
            </a:r>
            <a:r>
              <a:rPr kumimoji="1"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（高级加密标准）、</a:t>
            </a:r>
            <a:r>
              <a:rPr kumimoji="1" lang="en-US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SM4</a:t>
            </a:r>
            <a:r>
              <a:rPr kumimoji="1"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（我国商用密码标准）</a:t>
            </a:r>
            <a:endParaRPr kumimoji="1"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624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．私钥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dirty="0"/>
              <a:t>Private </a:t>
            </a:r>
            <a:r>
              <a:rPr lang="de-DE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和公钥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Key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是一对不同但数学相关的密钥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私钥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：需要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自己保存在一个私密安全的地方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②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分发给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发送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方，或存放在公开的目录中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③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私钥和公钥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成对使用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，一个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公钥加密的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只能被对应的私钥解密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④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通讯时无需交换私钥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．密钥分发管理简单，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个人与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个人通信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只需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个公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钥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个私钥，而且公钥是公开的。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．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是国密算法，用于替代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</a:t>
            </a:r>
          </a:p>
          <a:p>
            <a:pPr marL="0" indent="0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804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）保密要求越高，</a:t>
            </a:r>
            <a:r>
              <a:rPr lang="en-US" altLang="zh-CN" dirty="0"/>
              <a:t>RSA</a:t>
            </a:r>
            <a:r>
              <a:rPr lang="zh-CN" altLang="en-US" dirty="0"/>
              <a:t>密钥长度越长。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）大整数分解问题：任意给定的大整数找出它的素因子。从</a:t>
            </a:r>
            <a:r>
              <a:rPr lang="en-US" altLang="zh-CN" dirty="0"/>
              <a:t>M</a:t>
            </a:r>
            <a:r>
              <a:rPr lang="zh-CN" altLang="en-US" dirty="0"/>
              <a:t>计算出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是十分困难的。</a:t>
            </a:r>
            <a:endParaRPr lang="en-US" altLang="zh-CN" dirty="0"/>
          </a:p>
          <a:p>
            <a:r>
              <a:rPr lang="zh-CN" altLang="en-US" dirty="0"/>
              <a:t>不过未来有了量子计算机，这就不是问题了。</a:t>
            </a:r>
            <a:endParaRPr lang="en-US" altLang="zh-CN" dirty="0"/>
          </a:p>
          <a:p>
            <a:r>
              <a:rPr lang="en-US" altLang="zh-CN" dirty="0"/>
              <a:t>         </a:t>
            </a:r>
          </a:p>
          <a:p>
            <a:r>
              <a:rPr lang="en-US" altLang="zh-CN" dirty="0"/>
              <a:t>     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44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2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970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）大整数分解问题：任意给定的大整数找出它的素因子。从</a:t>
            </a:r>
            <a:r>
              <a:rPr lang="en-US" altLang="zh-CN" dirty="0"/>
              <a:t>M</a:t>
            </a:r>
            <a:r>
              <a:rPr lang="zh-CN" altLang="en-US" dirty="0"/>
              <a:t>计算出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是十分困难的。</a:t>
            </a:r>
            <a:endParaRPr lang="en-US" altLang="zh-CN" dirty="0"/>
          </a:p>
          <a:p>
            <a:r>
              <a:rPr lang="zh-CN" altLang="en-US" dirty="0"/>
              <a:t>不过未来有了量子计算机，这就不是问题了。</a:t>
            </a:r>
            <a:endParaRPr lang="en-US" altLang="zh-CN" dirty="0"/>
          </a:p>
          <a:p>
            <a:r>
              <a:rPr lang="en-US" altLang="zh-CN" dirty="0"/>
              <a:t>         </a:t>
            </a:r>
          </a:p>
          <a:p>
            <a:r>
              <a:rPr lang="en-US" altLang="zh-CN" dirty="0"/>
              <a:t> </a:t>
            </a:r>
            <a:endParaRPr kumimoji="1" lang="nb-NO" altLang="zh-CN" sz="12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181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密钥长度增长一倍，公钥操作所需时间增加约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倍，私钥操作所需时间增加约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倍，公私钥生成时间约增长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② 一次能加密的密文长度与公钥长度成正比，如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RSA1024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，一次能加密的内容长度为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1024/8 = 128byte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③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加密后密文的长度为公钥的长度，例如公钥长度为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1024Bit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，最后生成的密文固定为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1024Bit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413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228</a:t>
            </a:r>
            <a:r>
              <a:rPr lang="zh-CN" altLang="en-US" dirty="0"/>
              <a:t>字节私钥，</a:t>
            </a:r>
            <a:r>
              <a:rPr lang="en-US" altLang="zh-CN" dirty="0"/>
              <a:t>RSA</a:t>
            </a:r>
            <a:r>
              <a:rPr lang="zh-CN" altLang="en-US" dirty="0"/>
              <a:t>解密难度相当于煮沸一勺水，</a:t>
            </a:r>
            <a:r>
              <a:rPr lang="en-US" altLang="zh-CN" dirty="0"/>
              <a:t>ECC</a:t>
            </a:r>
            <a:r>
              <a:rPr lang="zh-CN" altLang="en-US" dirty="0"/>
              <a:t>解密难度相当于煮沸整个地球的水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342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）保密要求越高，</a:t>
            </a:r>
            <a:r>
              <a:rPr lang="en-US" altLang="zh-CN" dirty="0"/>
              <a:t>RSA</a:t>
            </a:r>
            <a:r>
              <a:rPr lang="zh-CN" altLang="en-US" dirty="0"/>
              <a:t>密钥长度越长。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）大整数分解问题：任意给定的大整数找出它的素因子。从</a:t>
            </a:r>
            <a:r>
              <a:rPr lang="en-US" altLang="zh-CN" dirty="0"/>
              <a:t>M</a:t>
            </a:r>
            <a:r>
              <a:rPr lang="zh-CN" altLang="en-US" dirty="0"/>
              <a:t>计算出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是十分困难的。</a:t>
            </a:r>
            <a:endParaRPr lang="en-US" altLang="zh-CN" dirty="0"/>
          </a:p>
          <a:p>
            <a:r>
              <a:rPr lang="zh-CN" altLang="en-US" dirty="0"/>
              <a:t>不过未来有了量子计算机，这就不是问题了。</a:t>
            </a:r>
            <a:endParaRPr lang="en-US" altLang="zh-CN" dirty="0"/>
          </a:p>
          <a:p>
            <a:r>
              <a:rPr lang="en-US" altLang="zh-CN" dirty="0"/>
              <a:t>         </a:t>
            </a:r>
          </a:p>
          <a:p>
            <a:r>
              <a:rPr lang="en-US" altLang="zh-CN" dirty="0"/>
              <a:t>     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70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私钥：可以随机产生</a:t>
            </a:r>
            <a:endParaRPr lang="en-US" altLang="zh-CN" dirty="0"/>
          </a:p>
          <a:p>
            <a:r>
              <a:rPr lang="en-US" altLang="zh-CN" dirty="0"/>
              <a:t>          </a:t>
            </a:r>
            <a:r>
              <a:rPr lang="zh-CN" altLang="en-US" dirty="0"/>
              <a:t>可以抛硬币</a:t>
            </a:r>
            <a:endParaRPr lang="en-US" altLang="zh-CN" dirty="0"/>
          </a:p>
          <a:p>
            <a:r>
              <a:rPr lang="en-US" altLang="zh-CN" dirty="0"/>
              <a:t>          </a:t>
            </a:r>
            <a:r>
              <a:rPr lang="zh-CN" altLang="en-US" dirty="0"/>
              <a:t>可以任选一个种子生成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0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984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059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defTabSz="914400">
              <a:lnSpc>
                <a:spcPct val="150000"/>
              </a:lnSpc>
            </a:pPr>
            <a:r>
              <a:rPr lang="zh-CN" altLang="en-US" dirty="0"/>
              <a:t>通俗地讲就是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发送方：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① 利用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函数创建文件的消息摘要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zh-CN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用私钥对消息摘要进行加密生成一个签名的版本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包含公钥、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函数的签名者的电子证书一起添加到原始文件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接收者验证：  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① 解密消息摘要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用指定的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函数对原始文件生成一个消息摘要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两个消息摘要进行比对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994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defTabSz="914400">
              <a:lnSpc>
                <a:spcPct val="150000"/>
              </a:lnSpc>
            </a:pPr>
            <a:r>
              <a:rPr lang="zh-CN" altLang="en-US" dirty="0"/>
              <a:t>通俗地讲就是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发送方：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① 利用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函数创建文件的消息摘要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zh-CN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用私钥对消息摘要进行加密生成一个签名的版本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150000"/>
              </a:lnSpc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包含公钥、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函数的签名者的电子证书一起添加到原始文件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接收者验证：  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① 解密消息摘要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用指定的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函数对原始文件生成一个消息摘要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两个消息摘要进行比对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860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nb-NO" altLang="zh-CN" sz="12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986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nb-NO" altLang="zh-CN" sz="12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076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nb-NO" altLang="zh-CN" sz="12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8067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nb-NO" altLang="zh-CN" sz="12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03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7308304" cy="80990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7572375" cy="1664768"/>
          </a:xfrm>
          <a:noFill/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3383838"/>
            <a:ext cx="7572376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DDEE976-CBFF-49D3-8E31-CE66B8C964FA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27566407-BE89-4246-9C3D-F9E99FBFFA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932" y="-142607"/>
            <a:ext cx="2066286" cy="20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4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86003DB-DD92-4BDE-971E-EAFA1A0CB53D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B4205A9-C0CE-4DC9-9155-50A1457D6FD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4234133"/>
            <a:ext cx="9144000" cy="47344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911678"/>
            <a:ext cx="9144000" cy="47344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8131628" cy="887708"/>
          </a:xfrm>
          <a:prstGeom prst="rect">
            <a:avLst/>
          </a:prstGeom>
          <a:pattFill prst="ltUpDiag">
            <a:fgClr>
              <a:srgbClr val="00206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4300538" cy="1664768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3383838"/>
            <a:ext cx="4300538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1719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982992"/>
            <a:ext cx="3908203" cy="3156453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51435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  <p:pic>
        <p:nvPicPr>
          <p:cNvPr id="2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771" y="-47709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1885951"/>
            <a:ext cx="9144000" cy="2395526"/>
            <a:chOff x="647402" y="2514600"/>
            <a:chExt cx="10838688" cy="3194035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228854"/>
            <a:ext cx="7553324" cy="1263113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3491967"/>
            <a:ext cx="7553324" cy="382313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02F2924-743E-4ADA-B3BE-10F8DB534DC0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BE1A241-BED9-42F2-A6A9-D7B384B8D29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228855"/>
          </a:xfrm>
          <a:prstGeom prst="rect">
            <a:avLst/>
          </a:prstGeom>
        </p:spPr>
      </p:pic>
      <p:pic>
        <p:nvPicPr>
          <p:cNvPr id="1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91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84BB1D3-3A81-414D-B0C6-5281BC948F4B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9E8A47D-0AB1-4744-95A8-39E7A180AC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17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957CC2E-BA7D-44E8-8543-A2388C7C6ED5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B1D184D-5C9D-41E8-9FD9-B6823935AD2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3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9376702-95FB-4BA7-A05A-8C3261398C11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4B08C6E5-0368-4EF4-A482-B7C01F5ADC8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85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159572A-820F-4ACF-9D42-32F74E11D922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8E1DCD51-4692-4631-91E0-6E3FCC30005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3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820668" cy="498022"/>
          </a:xfrm>
        </p:spPr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200150"/>
            <a:ext cx="4083939" cy="3429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3288411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2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200150"/>
            <a:ext cx="4823184" cy="3429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2547747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08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13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273844"/>
            <a:ext cx="1285875" cy="4358879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273844"/>
            <a:ext cx="6074172" cy="435887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5FB8457-19A9-4A8A-A8FF-B4BB33699748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50FB4B70-985E-49BB-AC52-476E4B0A283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7" name="组 6"/>
          <p:cNvGrpSpPr/>
          <p:nvPr/>
        </p:nvGrpSpPr>
        <p:grpSpPr>
          <a:xfrm rot="5400000">
            <a:off x="4885535" y="2421633"/>
            <a:ext cx="4224528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76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-1"/>
            <a:ext cx="8141612" cy="914401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590925" cy="498022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0"/>
            <a:ext cx="7486650" cy="3429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4767264"/>
            <a:ext cx="13721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4767262"/>
            <a:ext cx="4742312" cy="27384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4767264"/>
            <a:ext cx="13716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631588" y="914401"/>
            <a:ext cx="7488936" cy="63302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24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/>
          </p:cNvSpPr>
          <p:nvPr/>
        </p:nvSpPr>
        <p:spPr bwMode="auto">
          <a:xfrm>
            <a:off x="1" y="1563638"/>
            <a:ext cx="8964487" cy="72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2438" lvl="1" indent="-58738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None/>
            </a:pP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592" y="1203598"/>
            <a:ext cx="6263605" cy="2016224"/>
          </a:xfrm>
          <a:solidFill>
            <a:srgbClr val="C00000"/>
          </a:solidFill>
        </p:spPr>
        <p:txBody>
          <a:bodyPr lIns="288000" tIns="252000">
            <a:noAutofit/>
          </a:bodyPr>
          <a:lstStyle/>
          <a:p>
            <a:pPr lvl="1" algn="l" defTabSz="685800" rtl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大学计算机</a:t>
            </a:r>
            <a:b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——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数据加密与解密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3275856" y="3723878"/>
            <a:ext cx="3888432" cy="432048"/>
          </a:xfrm>
        </p:spPr>
        <p:txBody>
          <a:bodyPr>
            <a:normAutofit/>
          </a:bodyPr>
          <a:lstStyle/>
          <a:p>
            <a:pPr marL="63500" algn="r"/>
            <a:r>
              <a:rPr lang="zh-CN" altLang="en-US" sz="2400" dirty="0">
                <a:solidFill>
                  <a:srgbClr val="000066"/>
                </a:solidFill>
              </a:rPr>
              <a:t>同济大学计算机基础教研室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数据的加密与解密</a:t>
            </a:r>
          </a:p>
        </p:txBody>
      </p:sp>
      <p:grpSp>
        <p:nvGrpSpPr>
          <p:cNvPr id="6" name="Group 2051"/>
          <p:cNvGrpSpPr>
            <a:grpSpLocks/>
          </p:cNvGrpSpPr>
          <p:nvPr/>
        </p:nvGrpSpPr>
        <p:grpSpPr bwMode="auto">
          <a:xfrm>
            <a:off x="2051720" y="1230280"/>
            <a:ext cx="5112568" cy="3672408"/>
            <a:chOff x="375" y="224"/>
            <a:chExt cx="5393" cy="4056"/>
          </a:xfrm>
        </p:grpSpPr>
        <p:pic>
          <p:nvPicPr>
            <p:cNvPr id="7" name="Picture 205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" y="224"/>
              <a:ext cx="4920" cy="4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Rectangle 2053"/>
            <p:cNvSpPr>
              <a:spLocks noChangeArrowheads="1"/>
            </p:cNvSpPr>
            <p:nvPr/>
          </p:nvSpPr>
          <p:spPr bwMode="auto">
            <a:xfrm rot="16140000" flipH="1">
              <a:off x="-1323" y="1966"/>
              <a:ext cx="3743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© The New Yorker Collection 1993 Peter Steiner from cartoonlink.com.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986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K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数据的加密与解密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0F1401A-8ECD-4E36-A0C2-11CCC294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59" y="986626"/>
            <a:ext cx="6840761" cy="21611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互联网上的通讯可能存在的问题：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消息被窃听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消息被篡改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发件人否认发送该消息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收件人否认收到了消息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通讯安全需求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■ 私密性：确保只有可信的实体可以看到这些信息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■ 完整性：确保信息在传输过程中没有被篡改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■ 身份识别：能够确认对方真实身份，确认证明自己的身份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2051">
            <a:extLst>
              <a:ext uri="{FF2B5EF4-FFF2-40B4-BE49-F238E27FC236}">
                <a16:creationId xmlns:a16="http://schemas.microsoft.com/office/drawing/2014/main" id="{52D2FFB5-28F8-4BFA-A993-0A7C00CA8370}"/>
              </a:ext>
            </a:extLst>
          </p:cNvPr>
          <p:cNvGrpSpPr>
            <a:grpSpLocks/>
          </p:cNvGrpSpPr>
          <p:nvPr/>
        </p:nvGrpSpPr>
        <p:grpSpPr bwMode="auto">
          <a:xfrm>
            <a:off x="4829125" y="1131590"/>
            <a:ext cx="3672408" cy="2402946"/>
            <a:chOff x="375" y="224"/>
            <a:chExt cx="5393" cy="4056"/>
          </a:xfrm>
        </p:grpSpPr>
        <p:pic>
          <p:nvPicPr>
            <p:cNvPr id="6" name="Picture 2052">
              <a:extLst>
                <a:ext uri="{FF2B5EF4-FFF2-40B4-BE49-F238E27FC236}">
                  <a16:creationId xmlns:a16="http://schemas.microsoft.com/office/drawing/2014/main" id="{7914AB7F-847E-42DF-89F0-E840FA17344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" y="224"/>
              <a:ext cx="4920" cy="4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2053">
              <a:extLst>
                <a:ext uri="{FF2B5EF4-FFF2-40B4-BE49-F238E27FC236}">
                  <a16:creationId xmlns:a16="http://schemas.microsoft.com/office/drawing/2014/main" id="{B2822A46-D070-43E4-AB54-FD166A0CD2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40000" flipH="1">
              <a:off x="-1323" y="1966"/>
              <a:ext cx="3743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zh-CN" sz="12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© The New Yorker Collection 1993 Peter Steiner from cartoonlink.com.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870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K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136905" cy="39613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kumimoji="1" lang="zh-CN" altLang="en-US" sz="2400" dirty="0"/>
              <a:t>网络安全、信息安全是一体之两翼、驱动之双轮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en-US" sz="2400" dirty="0"/>
              <a:t>没有网络安全就没有国家安全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※ </a:t>
            </a:r>
            <a:r>
              <a:rPr lang="zh-CN" altLang="en-US" sz="2400" dirty="0"/>
              <a:t>网络安全、信息安全涉及的领域非常广泛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     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2400" dirty="0"/>
              <a:t>数据加密与解密是确保保密性的重要方法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32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352929" cy="367335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常用术语：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加密与解密：将数据转换成表面上杂乱无章的数据，合法的接收方通过逆变换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恢复成原来的数据，而非法窃取得到的则是毫无意义的数据。</a:t>
            </a: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Clr>
                <a:srgbClr val="A50021"/>
              </a:buClr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明文    没有加密的原始数据</a:t>
            </a: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Clr>
                <a:srgbClr val="A50021"/>
              </a:buClr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密文    加密以后的数据</a:t>
            </a: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Clr>
                <a:srgbClr val="A50021"/>
              </a:buClr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    把明文变换成密文的过程</a:t>
            </a: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Clr>
                <a:srgbClr val="A50021"/>
              </a:buClr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解密    把密文还原成明文的过程</a:t>
            </a: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Clr>
                <a:srgbClr val="A50021"/>
              </a:buClr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密钥    一般是单词、短语或一串数字，用于加密和解密的钥匙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56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920881" cy="27372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替换加密法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ROT13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。每个字母用后面第十三个字母替换，若超出范围，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则绕回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英文字母的开头。其他字符不变。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</a:t>
            </a:r>
            <a:r>
              <a:rPr kumimoji="1"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A---&gt;N        B---&gt;O        N---&gt;A        Z---&gt;M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明文：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Tongji University.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密文：</a:t>
            </a: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Gbatwv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Havirefvgl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加密与解密时使用同一个密钥：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76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992889" cy="2593236"/>
          </a:xfrm>
        </p:spPr>
        <p:txBody>
          <a:bodyPr>
            <a:noAutofit/>
          </a:bodyPr>
          <a:lstStyle/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：移位加密法。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按某一规则重新排列明文中的字符顺序。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明文   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计算机应用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密钥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2  4  5  3  1    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指示字符排列顺序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密文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用计应算机</a:t>
            </a:r>
            <a:b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b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加密和解密时使用同一个密钥：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24531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99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>
            <a:extLst>
              <a:ext uri="{FF2B5EF4-FFF2-40B4-BE49-F238E27FC236}">
                <a16:creationId xmlns:a16="http://schemas.microsoft.com/office/drawing/2014/main" id="{CD0560C8-EBF2-4E03-AF4D-2BAE248B95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68" y="4245542"/>
            <a:ext cx="576000" cy="57600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3DF4D627-950F-416D-B657-83C2A340083E}"/>
              </a:ext>
            </a:extLst>
          </p:cNvPr>
          <p:cNvGrpSpPr/>
          <p:nvPr/>
        </p:nvGrpSpPr>
        <p:grpSpPr>
          <a:xfrm>
            <a:off x="7425753" y="3354978"/>
            <a:ext cx="620843" cy="738353"/>
            <a:chOff x="2716607" y="2796101"/>
            <a:chExt cx="620843" cy="738353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F53036C7-9344-4A02-8915-4E2EADB1D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1946" y="3148045"/>
              <a:ext cx="497747" cy="386409"/>
            </a:xfrm>
            <a:prstGeom prst="rect">
              <a:avLst/>
            </a:prstGeom>
          </p:spPr>
        </p:pic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54015CAA-F739-40BA-A9F4-B41AB5BF7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607" y="2796101"/>
              <a:ext cx="620843" cy="553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ct val="0"/>
                </a:spcBef>
                <a:buNone/>
              </a:pPr>
              <a:r>
                <a:rPr lang="en-US" altLang="zh-CN" sz="1600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Key2</a:t>
              </a:r>
              <a:endPara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4"/>
            <a:ext cx="7992889" cy="1693315"/>
          </a:xfrm>
        </p:spPr>
        <p:txBody>
          <a:bodyPr>
            <a:noAutofit/>
          </a:bodyPr>
          <a:lstStyle/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加密技术：对称加密技术、非对称加密技术</a:t>
            </a:r>
            <a:endParaRPr kumimoji="1"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对称加密技术</a:t>
            </a:r>
            <a:endParaRPr lang="en-US" altLang="zh-CN" sz="18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通信双方，加密密钥与解密密钥是相同的</a:t>
            </a:r>
            <a:b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※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常用算法：</a:t>
            </a: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ROT13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SM4</a:t>
            </a:r>
            <a:b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endParaRPr kumimoji="1"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DB87558-005A-48F3-8E94-F57498C8974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981556" y="2682923"/>
            <a:ext cx="576000" cy="576000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DB75D210-826F-46A2-8FFF-2B36204B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593" y="2283860"/>
            <a:ext cx="2760096" cy="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A1   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A2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A3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FEAFC7D-A873-43B5-AEDD-7D337AE54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1582027"/>
            <a:ext cx="3764312" cy="763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发送方：</a:t>
            </a:r>
            <a:endParaRPr lang="en-US" altLang="zh-CN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若用相同的密钥，则存在安全问题</a:t>
            </a:r>
            <a:endParaRPr lang="en-US" altLang="zh-CN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若用不同的密钥，则密钥管理麻烦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EE1FC08-5B25-4A0C-9D3F-D4149F522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3300" y="4672662"/>
            <a:ext cx="2732389" cy="47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接收方：用相应的密钥解密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ADE5059-C455-4A59-9DEB-D52454D7C1E9}"/>
              </a:ext>
            </a:extLst>
          </p:cNvPr>
          <p:cNvGrpSpPr/>
          <p:nvPr/>
        </p:nvGrpSpPr>
        <p:grpSpPr>
          <a:xfrm>
            <a:off x="6051071" y="3352666"/>
            <a:ext cx="632505" cy="740665"/>
            <a:chOff x="2525738" y="2524564"/>
            <a:chExt cx="620844" cy="77991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A5A6650-8BE4-4CA8-8DF8-701455BC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25738" y="2918071"/>
              <a:ext cx="497747" cy="386409"/>
            </a:xfrm>
            <a:prstGeom prst="rect">
              <a:avLst/>
            </a:prstGeom>
          </p:spPr>
        </p:pic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EB312709-78E7-455D-A4E5-26B48E0DC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739" y="2524564"/>
              <a:ext cx="620843" cy="553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ct val="0"/>
                </a:spcBef>
                <a:buNone/>
              </a:pPr>
              <a:r>
                <a:rPr lang="en-US" altLang="zh-CN" sz="1600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Key1</a:t>
              </a:r>
              <a:endPara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EDEA9040-4137-4931-BE03-C7BBFFCFDA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56665" y="2689246"/>
            <a:ext cx="576000" cy="576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0DC398B-FB60-4DC1-B0AF-91323ECAF75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289689" y="2689246"/>
            <a:ext cx="576000" cy="576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7A08955-5799-4074-A1B3-BC097C3F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715" y="3733613"/>
            <a:ext cx="497747" cy="386409"/>
          </a:xfrm>
          <a:prstGeom prst="rect">
            <a:avLst/>
          </a:prstGeom>
        </p:spPr>
      </p:pic>
      <p:sp>
        <p:nvSpPr>
          <p:cNvPr id="34" name="Rectangle 3">
            <a:extLst>
              <a:ext uri="{FF2B5EF4-FFF2-40B4-BE49-F238E27FC236}">
                <a16:creationId xmlns:a16="http://schemas.microsoft.com/office/drawing/2014/main" id="{3AF64B93-DA6E-4DB1-BEBF-6EF70C116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0287" y="3362930"/>
            <a:ext cx="620843" cy="553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Key3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5101D23-1973-4CCA-B3C6-540096B96F5C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7701388" y="3265246"/>
            <a:ext cx="876301" cy="103654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55C7D1E-0F2A-4618-BDEF-BF7173EADDB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269556" y="3258923"/>
            <a:ext cx="1018622" cy="1042872"/>
          </a:xfrm>
          <a:prstGeom prst="straightConnector1">
            <a:avLst/>
          </a:prstGeom>
          <a:ln w="19050">
            <a:solidFill>
              <a:srgbClr val="C0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C0D6A53-30C5-42B8-90E6-F912070C8079}"/>
              </a:ext>
            </a:extLst>
          </p:cNvPr>
          <p:cNvCxnSpPr>
            <a:cxnSpLocks/>
          </p:cNvCxnSpPr>
          <p:nvPr/>
        </p:nvCxnSpPr>
        <p:spPr>
          <a:xfrm>
            <a:off x="7462268" y="3224560"/>
            <a:ext cx="0" cy="10515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3">
            <a:extLst>
              <a:ext uri="{FF2B5EF4-FFF2-40B4-BE49-F238E27FC236}">
                <a16:creationId xmlns:a16="http://schemas.microsoft.com/office/drawing/2014/main" id="{E96F0C28-23C5-4501-AF3A-595D1ED7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612" y="4292097"/>
            <a:ext cx="369579" cy="47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317D8C-73A3-4DB1-B3FC-F1440C57C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34" y="3575746"/>
            <a:ext cx="5040448" cy="1372268"/>
          </a:xfrm>
          <a:prstGeom prst="rect">
            <a:avLst/>
          </a:prstGeom>
        </p:spPr>
      </p:pic>
      <p:sp>
        <p:nvSpPr>
          <p:cNvPr id="30" name="Rectangle 3">
            <a:extLst>
              <a:ext uri="{FF2B5EF4-FFF2-40B4-BE49-F238E27FC236}">
                <a16:creationId xmlns:a16="http://schemas.microsoft.com/office/drawing/2014/main" id="{E7C43E27-84D8-4CFD-9054-788EC147C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1" y="4701297"/>
            <a:ext cx="1009778" cy="366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0071" rIns="0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发送方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01E05478-AE39-45A8-9A13-3F302B256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967" y="4750149"/>
            <a:ext cx="1717190" cy="366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0071" rIns="0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接收方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25B7D7-C5F9-13D7-BE6D-D70C079B930F}"/>
              </a:ext>
            </a:extLst>
          </p:cNvPr>
          <p:cNvSpPr txBox="1"/>
          <p:nvPr/>
        </p:nvSpPr>
        <p:spPr>
          <a:xfrm>
            <a:off x="395536" y="2644280"/>
            <a:ext cx="4846044" cy="2491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32B973-43D4-BA42-6052-A21C15981D2B}"/>
              </a:ext>
            </a:extLst>
          </p:cNvPr>
          <p:cNvSpPr txBox="1"/>
          <p:nvPr/>
        </p:nvSpPr>
        <p:spPr>
          <a:xfrm>
            <a:off x="873301" y="2689246"/>
            <a:ext cx="41307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</a:t>
            </a:r>
            <a:r>
              <a:rPr kumimoji="1"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（数据加密标准）</a:t>
            </a:r>
            <a:endParaRPr kumimoji="1"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AES</a:t>
            </a:r>
            <a:r>
              <a:rPr kumimoji="1"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（高级加密标准）</a:t>
            </a:r>
            <a:endParaRPr kumimoji="1"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SM4</a:t>
            </a:r>
            <a:r>
              <a:rPr kumimoji="1"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（我国商用密码标准）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8380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77A08955-5799-4074-A1B3-BC097C3F6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400" y="3031949"/>
            <a:ext cx="497747" cy="3864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5A6650-8BE4-4CA8-8DF8-701455BCF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676" y="2944339"/>
            <a:ext cx="497747" cy="386409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F53036C7-9344-4A02-8915-4E2EADB1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784" y="2993095"/>
            <a:ext cx="497747" cy="38640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7992889" cy="11419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对称加密技术</a:t>
            </a:r>
            <a:endParaRPr lang="en-US" altLang="zh-CN" sz="18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通信双方，</a:t>
            </a:r>
            <a:r>
              <a:rPr lang="zh-CN" altLang="en-US" sz="1800" dirty="0"/>
              <a:t>加密与解密使用不同的密钥</a:t>
            </a:r>
            <a:endParaRPr kumimoji="1"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DB87558-005A-48F3-8E94-F57498C897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2478180"/>
            <a:ext cx="576000" cy="576000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DB75D210-826F-46A2-8FFF-2B36204B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8808" y="2102192"/>
            <a:ext cx="2760096" cy="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A1   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A2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A3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9958CD2-7AD8-4E58-AC83-E9D5E84BD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295" y="4089730"/>
            <a:ext cx="369579" cy="47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DEA9040-4137-4931-BE03-C7BBFFCFDA0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11977" y="2477353"/>
            <a:ext cx="576000" cy="576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0DC398B-FB60-4DC1-B0AF-91323ECAF75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76277" y="2484503"/>
            <a:ext cx="576000" cy="5760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D0560C8-EBF2-4E03-AF4D-2BAE248B952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60856" y="4040799"/>
            <a:ext cx="576000" cy="57600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5101D23-1973-4CCA-B3C6-540096B96F5C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7632295" y="3060503"/>
            <a:ext cx="831982" cy="1036549"/>
          </a:xfrm>
          <a:prstGeom prst="straightConnector1">
            <a:avLst/>
          </a:prstGeom>
          <a:ln w="19050">
            <a:solidFill>
              <a:srgbClr val="00006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C0D6A53-30C5-42B8-90E6-F912070C8079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>
            <a:off x="7299977" y="3053353"/>
            <a:ext cx="48879" cy="987446"/>
          </a:xfrm>
          <a:prstGeom prst="straightConnector1">
            <a:avLst/>
          </a:prstGeom>
          <a:ln w="19050">
            <a:solidFill>
              <a:srgbClr val="0000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3">
            <a:extLst>
              <a:ext uri="{FF2B5EF4-FFF2-40B4-BE49-F238E27FC236}">
                <a16:creationId xmlns:a16="http://schemas.microsoft.com/office/drawing/2014/main" id="{DC5CA154-A3C0-45CB-BE2D-5C993AC4E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5182" y="1733834"/>
            <a:ext cx="4094225" cy="51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发送方：使用接收方的公钥加密</a:t>
            </a: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BF2A6CB0-6AF4-4FF2-B705-1AB9F13DE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393" y="4469992"/>
            <a:ext cx="2505984" cy="51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接收方：使用私钥解密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266E12A9-9D93-4ABF-87D2-50B1E4170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670" y="1617483"/>
            <a:ext cx="4311324" cy="1042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684213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</a:t>
            </a:r>
            <a:r>
              <a:rPr kumimoji="1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公钥：加密，可公开    </a:t>
            </a:r>
            <a:endParaRPr kumimoji="1"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-684213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私钥：解密， 不公开</a:t>
            </a:r>
            <a:endParaRPr kumimoji="1"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-684213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</a:t>
            </a:r>
            <a:r>
              <a:rPr kumimoji="1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应用最广的是</a:t>
            </a:r>
            <a:r>
              <a:rPr kumimoji="1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RSA</a:t>
            </a:r>
            <a:r>
              <a:rPr kumimoji="1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ECC</a:t>
            </a:r>
            <a:r>
              <a:rPr kumimoji="1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SM2</a:t>
            </a:r>
            <a:r>
              <a:rPr kumimoji="1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4AFAA10-DAF0-4BBF-B290-B7CB7AB21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093" y="3225153"/>
            <a:ext cx="497747" cy="386409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81BF846D-2E33-4238-BF55-AAD7B3B4C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965" y="3234675"/>
            <a:ext cx="683464" cy="36042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7964D5F-81C0-453A-8DD0-ACEC02F41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327" y="3234675"/>
            <a:ext cx="683464" cy="36042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F4BD03-66E4-42D9-8667-192974AD0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973" y="3247405"/>
            <a:ext cx="355685" cy="443483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55C7D1E-0F2A-4618-BDEF-BF7173EADDB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156144" y="3054180"/>
            <a:ext cx="1018622" cy="1042872"/>
          </a:xfrm>
          <a:prstGeom prst="straightConnector1">
            <a:avLst/>
          </a:prstGeom>
          <a:ln w="19050">
            <a:solidFill>
              <a:srgbClr val="000066"/>
            </a:solidFill>
            <a:headEnd w="lg" len="lg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E38579A7-70B8-486E-BFCF-CC2CB3F3B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440" y="4014705"/>
            <a:ext cx="355685" cy="44348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2AAD25A-EB57-9F50-D553-E65B0DE34599}"/>
              </a:ext>
            </a:extLst>
          </p:cNvPr>
          <p:cNvGrpSpPr/>
          <p:nvPr/>
        </p:nvGrpSpPr>
        <p:grpSpPr>
          <a:xfrm>
            <a:off x="247960" y="3641229"/>
            <a:ext cx="5717988" cy="1267113"/>
            <a:chOff x="313666" y="3301991"/>
            <a:chExt cx="5717988" cy="1267113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3166326-DC74-4A13-BACD-19C08DBC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1429" y="3301991"/>
              <a:ext cx="5610225" cy="1162050"/>
            </a:xfrm>
            <a:prstGeom prst="rect">
              <a:avLst/>
            </a:prstGeom>
          </p:spPr>
        </p:pic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1B1F5309-C4D4-4223-8B57-CA697C975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592" y="3723498"/>
              <a:ext cx="683464" cy="360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600"/>
                </a:spcBef>
                <a:buNone/>
              </a:pPr>
              <a:r>
                <a:rPr lang="zh-CN" altLang="en-US" sz="16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BB733BDD-9A06-4012-BDF1-F604A0D6F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3136" y="3749592"/>
              <a:ext cx="683464" cy="360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600"/>
                </a:spcBef>
                <a:buNone/>
              </a:pPr>
              <a:r>
                <a:rPr lang="zh-CN" altLang="en-US" sz="16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密文</a:t>
              </a:r>
            </a:p>
          </p:txBody>
        </p: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8AE4D187-D523-4B1C-9C34-A8C1F0594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4935" y="3749592"/>
              <a:ext cx="683464" cy="360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600"/>
                </a:spcBef>
                <a:buNone/>
              </a:pPr>
              <a:r>
                <a:rPr lang="zh-CN" altLang="en-US" sz="16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</a:t>
              </a:r>
            </a:p>
          </p:txBody>
        </p: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2B7A7ECB-0DB1-4BC8-ADC4-92C53E60B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666" y="4148339"/>
              <a:ext cx="701628" cy="41222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40071" rIns="0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600"/>
                </a:spcBef>
                <a:buNone/>
              </a:pPr>
              <a:r>
                <a:rPr lang="zh-CN" altLang="en-US" sz="1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  <a:endPara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0F6EF182-CB45-400A-8885-2BD610D3A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7348" y="4156875"/>
              <a:ext cx="701628" cy="41222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40071" rIns="0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l" defTabSz="914034" rtl="0" eaLnBrk="1" fontAlgn="ctr" latinLnBrk="0" hangingPunct="1">
                <a:lnSpc>
                  <a:spcPct val="140000"/>
                </a:lnSpc>
                <a:spcBef>
                  <a:spcPts val="792"/>
                </a:spcBef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1pPr>
              <a:lvl2pPr marL="654938" indent="-251899" algn="l" defTabSz="914034" rtl="0" eaLnBrk="1" fontAlgn="ctr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ctr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ctr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600"/>
                </a:spcBef>
                <a:buNone/>
              </a:pPr>
              <a:r>
                <a:rPr lang="zh-CN" altLang="en-US" sz="1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  <a:endPara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74C20EA-2680-CC80-2C70-2E1B09DE7796}"/>
              </a:ext>
            </a:extLst>
          </p:cNvPr>
          <p:cNvSpPr txBox="1"/>
          <p:nvPr/>
        </p:nvSpPr>
        <p:spPr>
          <a:xfrm>
            <a:off x="1476106" y="2821876"/>
            <a:ext cx="4845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SM2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是国密算法，用于替代</a:t>
            </a: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71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D83F3E-56C1-EB7B-87A0-9A43F406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．私钥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600" dirty="0"/>
              <a:t>Private </a:t>
            </a:r>
            <a:r>
              <a:rPr lang="de-DE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和公钥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Key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是一对不同但数学相关的密钥</a:t>
            </a:r>
          </a:p>
          <a:p>
            <a:pPr marL="342900" lvl="1" indent="0">
              <a:buNone/>
            </a:pPr>
            <a:r>
              <a:rPr lang="zh-CN" altLang="en-US" sz="18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 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私钥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：需要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自己保存在一个私密安全的地方</a:t>
            </a:r>
          </a:p>
          <a:p>
            <a:pPr marL="342900" lvl="1" indent="0">
              <a:buNone/>
            </a:pPr>
            <a:r>
              <a:rPr lang="zh-CN" altLang="en-US" sz="18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② 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公钥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分发给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发送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方，或存放在公开的目录中</a:t>
            </a:r>
          </a:p>
          <a:p>
            <a:pPr marL="342900" lvl="1" indent="0">
              <a:buNone/>
            </a:pPr>
            <a:r>
              <a:rPr lang="zh-CN" altLang="en-US" sz="18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③ 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私钥和公钥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成对使用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，一个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公钥加密的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只能被对应的私钥解密</a:t>
            </a:r>
          </a:p>
          <a:p>
            <a:pPr marL="342900" lvl="1" indent="0">
              <a:buNone/>
            </a:pPr>
            <a:r>
              <a:rPr lang="zh-CN" altLang="en-US" sz="180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④ 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通讯时无需交换私钥</a:t>
            </a:r>
          </a:p>
          <a:p>
            <a:pPr marL="0" indent="0">
              <a:buNone/>
            </a:pP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．密钥分发管理简单，</a:t>
            </a: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个人与</a:t>
            </a: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个人通信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只需</a:t>
            </a: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个公</a:t>
            </a:r>
            <a:r>
              <a:rPr lang="zh-CN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钥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个私钥，而且公钥是公开的。</a:t>
            </a:r>
            <a:endParaRPr lang="en-US" altLang="zh-CN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+mn-lt"/>
                <a:ea typeface="+mn-ea"/>
              </a:rPr>
              <a:t>3.</a:t>
            </a:r>
            <a:r>
              <a:rPr lang="zh-CN" altLang="en-US" sz="1800" dirty="0">
                <a:latin typeface="+mn-lt"/>
                <a:ea typeface="+mn-ea"/>
              </a:rPr>
              <a:t>非对称加密计算量大，通常来传送对称密钥、签名等，一般不会用来加密大文件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05BB3F7-7437-E4E9-C082-A0C70D2D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93675"/>
            <a:ext cx="3590925" cy="498475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4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424937" cy="41568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问题</a:t>
            </a:r>
            <a:r>
              <a:rPr kumimoji="1" lang="en-US" altLang="zh-CN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kumimoji="1" lang="en-US" altLang="zh-CN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密钥是什么样的？如何进行加密与解密？</a:t>
            </a:r>
            <a:endParaRPr kumimoji="1" lang="en-US" altLang="zh-CN" sz="18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[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公钥         私钥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[</a:t>
            </a:r>
            <a:r>
              <a:rPr kumimoji="1" lang="en-US" altLang="zh-CN" sz="1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(N, E)  </a:t>
            </a:r>
            <a:r>
              <a:rPr kumimoji="1" lang="en-US" altLang="zh-CN" sz="11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(N, D) ]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[(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77, 37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(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77, 13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加密           解密 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RSA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密钥的长度：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的二进制位数</a:t>
            </a:r>
            <a:endParaRPr kumimoji="1"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实际应用中，需要位数较长的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要达到</a:t>
            </a:r>
            <a:r>
              <a:rPr lang="en-US" altLang="zh-C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1024</a:t>
            </a:r>
            <a:r>
              <a:rPr lang="zh-CN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2048</a:t>
            </a:r>
            <a:r>
              <a:rPr lang="zh-CN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3072</a:t>
            </a:r>
            <a:r>
              <a:rPr lang="zh-CN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</a:t>
            </a:r>
            <a:r>
              <a:rPr lang="zh-CN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en-US" altLang="zh-CN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/>
              <a:t>	   </a:t>
            </a:r>
            <a:r>
              <a:rPr lang="zh-CN" altLang="en-US" sz="1400" dirty="0"/>
              <a:t>保密要求越高，</a:t>
            </a:r>
            <a:r>
              <a:rPr lang="en-US" altLang="zh-CN" sz="1400" dirty="0"/>
              <a:t>RSA</a:t>
            </a:r>
            <a:r>
              <a:rPr lang="zh-CN" altLang="en-US" sz="1400" dirty="0"/>
              <a:t>密钥长度越长。</a:t>
            </a:r>
            <a:endParaRPr lang="nb-NO" altLang="zh-CN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[(</a:t>
            </a:r>
            <a:r>
              <a:rPr lang="nb-NO" altLang="zh-CN" sz="18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2618193533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65537)   (2618193533, 2307420257)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64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kumimoji="1" lang="zh-CN" altLang="en-US" sz="16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58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532441" cy="38173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是加密与解密过程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①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从原文中选取一小块数据，转换成整数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Pt&lt;N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②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加密使用公式：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Ct=(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altLang="zh-CN" sz="1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 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为密文</a:t>
            </a:r>
            <a:b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③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解密使用公式：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Pt=(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CN" sz="1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 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为密文</a:t>
            </a:r>
            <a:b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例如，对字符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进行加密与解密。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Pt=42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b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(77,37)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Ct=42</a:t>
            </a:r>
            <a:r>
              <a:rPr lang="nb-NO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使用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(77,13)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解密：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Pt=70</a:t>
            </a:r>
            <a:r>
              <a:rPr lang="nb-NO" altLang="zh-C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77 =  42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73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136905" cy="39613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密钥是如何生成的？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①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找出两个大素数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P×Q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T=(P-1)×(Q-1)</a:t>
            </a:r>
            <a:b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②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选择符合条件的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1&lt;E&lt;T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互素</a:t>
            </a:r>
            <a:b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E=37				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注：实际应用中一般取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65537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③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找出符合条件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D×E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T = 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，满足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D×E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×37 mod 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④ (N, E)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作为公钥，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D)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作为私钥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[(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77, 37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(</a:t>
            </a:r>
            <a:r>
              <a:rPr lang="nb-NO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77, 13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A54E05-E524-419B-8E9E-15CBB007F2BB}"/>
              </a:ext>
            </a:extLst>
          </p:cNvPr>
          <p:cNvSpPr/>
          <p:nvPr/>
        </p:nvSpPr>
        <p:spPr bwMode="gray">
          <a:xfrm>
            <a:off x="8536413" y="4587974"/>
            <a:ext cx="610509" cy="555526"/>
          </a:xfrm>
          <a:prstGeom prst="ellipse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</a:p>
        </p:txBody>
      </p:sp>
    </p:spTree>
    <p:extLst>
      <p:ext uri="{BB962C8B-B14F-4D97-AF65-F5344CB8AC3E}">
        <p14:creationId xmlns:p14="http://schemas.microsoft.com/office/powerpoint/2010/main" val="301535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01EF6-AA04-B195-2CAE-134DCAC69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4" y="1200150"/>
            <a:ext cx="7775773" cy="3675856"/>
          </a:xfrm>
        </p:spPr>
        <p:txBody>
          <a:bodyPr>
            <a:normAutofit fontScale="92500" lnSpcReduction="20000"/>
          </a:bodyPr>
          <a:lstStyle/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CN" sz="1900" b="0" i="0" u="none" strike="noStrike" kern="1200" dirty="0">
                <a:solidFill>
                  <a:schemeClr val="tx1"/>
                </a:solidFill>
                <a:effectLst/>
              </a:rPr>
              <a:t>RSA</a:t>
            </a:r>
            <a:r>
              <a:rPr lang="zh-CN" altLang="en-US" sz="1900" b="0" i="0" u="none" strike="noStrike" kern="1200" dirty="0">
                <a:solidFill>
                  <a:schemeClr val="tx1"/>
                </a:solidFill>
                <a:effectLst/>
              </a:rPr>
              <a:t>的特点：</a:t>
            </a:r>
            <a:endParaRPr lang="en-US" altLang="zh-CN" sz="1900" b="0" i="0" u="none" strike="noStrike" kern="1200" dirty="0"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4D4D4D"/>
                </a:solidFill>
              </a:rPr>
              <a:t>   </a:t>
            </a:r>
            <a:r>
              <a:rPr lang="zh-CN" altLang="en-US" sz="1600" dirty="0"/>
              <a:t>算法原理简单，可以很容易的构造。</a:t>
            </a:r>
            <a:endParaRPr lang="en-US" altLang="zh-CN" sz="1600" dirty="0"/>
          </a:p>
          <a:p>
            <a:pPr lvl="1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en-US" altLang="zh-CN" sz="1600" dirty="0"/>
              <a:t>   </a:t>
            </a:r>
            <a:r>
              <a:rPr lang="zh-CN" altLang="en-US" sz="1600" dirty="0"/>
              <a:t>需要足够长的密钥长度来保证数据的安全性。</a:t>
            </a:r>
            <a:endParaRPr lang="en-US" altLang="zh-CN" sz="1600" dirty="0"/>
          </a:p>
          <a:p>
            <a:pPr lvl="1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en-US" altLang="zh-CN" sz="1600" dirty="0"/>
              <a:t>   </a:t>
            </a:r>
            <a:r>
              <a:rPr lang="zh-CN" altLang="en-US" sz="1600" dirty="0"/>
              <a:t>加密解密速度一般</a:t>
            </a:r>
            <a:endParaRPr lang="en-US" altLang="zh-CN" sz="1600" dirty="0"/>
          </a:p>
          <a:p>
            <a:pPr lvl="2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1450" b="0" i="0" u="none" strike="noStrike" kern="1200" dirty="0">
                <a:solidFill>
                  <a:schemeClr val="tx1"/>
                </a:solidFill>
                <a:effectLst/>
              </a:rPr>
              <a:t>  </a:t>
            </a:r>
            <a:r>
              <a:rPr lang="zh-CN" altLang="en-US" sz="1450" b="0" i="0" u="none" strike="noStrike" kern="1200" dirty="0">
                <a:solidFill>
                  <a:srgbClr val="002060"/>
                </a:solidFill>
                <a:effectLst/>
              </a:rPr>
              <a:t>密钥长度增长一倍，公私钥生成时间约增长</a:t>
            </a:r>
            <a:r>
              <a:rPr lang="en-US" altLang="zh-CN" sz="1450" b="0" i="0" u="none" strike="noStrike" kern="1200" dirty="0">
                <a:solidFill>
                  <a:srgbClr val="002060"/>
                </a:solidFill>
                <a:effectLst/>
              </a:rPr>
              <a:t>16</a:t>
            </a:r>
            <a:r>
              <a:rPr lang="zh-CN" altLang="en-US" sz="1450" b="0" i="0" u="none" strike="noStrike" kern="1200" dirty="0">
                <a:solidFill>
                  <a:srgbClr val="002060"/>
                </a:solidFill>
                <a:effectLst/>
              </a:rPr>
              <a:t>倍</a:t>
            </a:r>
            <a:endParaRPr lang="en-US" altLang="zh-CN" sz="1450" b="0" i="0" u="none" strike="noStrike" kern="1200" dirty="0">
              <a:solidFill>
                <a:srgbClr val="002060"/>
              </a:solidFill>
              <a:effectLst/>
            </a:endParaRPr>
          </a:p>
          <a:p>
            <a:pPr lvl="2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en-US" altLang="zh-CN" sz="1450" b="0" i="0" u="none" strike="noStrike" kern="1200" dirty="0">
                <a:solidFill>
                  <a:srgbClr val="002060"/>
                </a:solidFill>
                <a:effectLst/>
              </a:rPr>
              <a:t>	</a:t>
            </a:r>
            <a:r>
              <a:rPr lang="zh-CN" altLang="en-US" sz="1450" b="0" i="0" u="none" strike="noStrike" kern="1200" dirty="0">
                <a:solidFill>
                  <a:srgbClr val="002060"/>
                </a:solidFill>
                <a:effectLst/>
              </a:rPr>
              <a:t>公钥操作所需时间增加约</a:t>
            </a:r>
            <a:r>
              <a:rPr lang="en-US" altLang="zh-CN" sz="1450" b="0" i="0" u="none" strike="noStrike" kern="1200" dirty="0">
                <a:solidFill>
                  <a:srgbClr val="002060"/>
                </a:solidFill>
                <a:effectLst/>
              </a:rPr>
              <a:t>4</a:t>
            </a:r>
            <a:r>
              <a:rPr lang="zh-CN" altLang="en-US" sz="1450" b="0" i="0" u="none" strike="noStrike" kern="1200" dirty="0">
                <a:solidFill>
                  <a:srgbClr val="002060"/>
                </a:solidFill>
                <a:effectLst/>
              </a:rPr>
              <a:t>倍，私钥操作所需时间增加约</a:t>
            </a:r>
            <a:r>
              <a:rPr lang="en-US" altLang="zh-CN" sz="1450" b="0" i="0" u="none" strike="noStrike" kern="1200" dirty="0">
                <a:solidFill>
                  <a:srgbClr val="002060"/>
                </a:solidFill>
                <a:effectLst/>
              </a:rPr>
              <a:t>8</a:t>
            </a:r>
            <a:r>
              <a:rPr lang="zh-CN" altLang="en-US" sz="1450" b="0" i="0" u="none" strike="noStrike" kern="1200" dirty="0">
                <a:solidFill>
                  <a:srgbClr val="002060"/>
                </a:solidFill>
                <a:effectLst/>
              </a:rPr>
              <a:t>倍，</a:t>
            </a:r>
            <a:endParaRPr lang="en-US" altLang="zh-CN" sz="1450" b="0" i="0" u="none" strike="noStrike" kern="1200" dirty="0">
              <a:solidFill>
                <a:srgbClr val="002060"/>
              </a:solidFill>
              <a:effectLst/>
            </a:endParaRPr>
          </a:p>
          <a:p>
            <a:pPr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1900" dirty="0"/>
              <a:t>带来问题：</a:t>
            </a:r>
            <a:endParaRPr lang="en-US" altLang="zh-CN" sz="1900" dirty="0"/>
          </a:p>
          <a:p>
            <a:pPr lvl="1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en-US" altLang="zh-CN" sz="1600" dirty="0"/>
              <a:t> </a:t>
            </a:r>
            <a:r>
              <a:rPr lang="zh-CN" altLang="en-US" sz="1600" dirty="0"/>
              <a:t>需要更长的密钥来对抗攻击</a:t>
            </a:r>
            <a:endParaRPr lang="en-US" altLang="zh-CN" sz="1600" dirty="0"/>
          </a:p>
          <a:p>
            <a:pPr lvl="1"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1600" dirty="0"/>
              <a:t> 需要更短的密钥提高效率</a:t>
            </a:r>
            <a:endParaRPr lang="en-US" altLang="zh-CN" sz="1600" dirty="0"/>
          </a:p>
          <a:p>
            <a:pPr defTabSz="9144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sz="1900" dirty="0"/>
              <a:t>ECC</a:t>
            </a:r>
            <a:r>
              <a:rPr lang="zh-CN" altLang="en-US" sz="1900" dirty="0"/>
              <a:t>应运而生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+mn-lt"/>
                <a:ea typeface="+mn-ea"/>
              </a:rPr>
              <a:t>	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0EC3956-A6E2-05E4-4CE2-73C0A954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93675"/>
            <a:ext cx="5185072" cy="498475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9198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01EF6-AA04-B195-2CAE-134DCAC69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275606"/>
            <a:ext cx="8240364" cy="2983627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u="none" strike="noStrike" kern="1200" dirty="0">
                <a:effectLst/>
              </a:rPr>
              <a:t>ECC</a:t>
            </a:r>
            <a:r>
              <a:rPr lang="zh-CN" altLang="en-US" sz="1800" b="0" i="0" u="none" strike="noStrike" kern="1200" dirty="0">
                <a:effectLst/>
              </a:rPr>
              <a:t>：椭圆曲线算法</a:t>
            </a:r>
            <a:endParaRPr lang="en-US" altLang="zh-CN" sz="1800" b="0" i="0" u="none" strike="noStrike" kern="1200" dirty="0"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1800" b="0" i="0" dirty="0">
                <a:effectLst/>
              </a:rPr>
              <a:t>性能上的提升，同样的密钥长度，基于</a:t>
            </a:r>
            <a:r>
              <a:rPr lang="en-US" altLang="zh-CN" sz="1800" b="0" i="0" dirty="0">
                <a:effectLst/>
              </a:rPr>
              <a:t>ECC</a:t>
            </a:r>
            <a:r>
              <a:rPr lang="zh-CN" altLang="en-US" sz="1800" b="0" i="0" dirty="0">
                <a:effectLst/>
              </a:rPr>
              <a:t>加密要比基于</a:t>
            </a:r>
            <a:r>
              <a:rPr lang="en-US" altLang="zh-CN" sz="1800" b="0" i="0" dirty="0">
                <a:effectLst/>
              </a:rPr>
              <a:t>RSA</a:t>
            </a:r>
            <a:r>
              <a:rPr lang="zh-CN" altLang="en-US" sz="1800" b="0" i="0" dirty="0">
                <a:effectLst/>
              </a:rPr>
              <a:t>安全很多</a:t>
            </a:r>
            <a:endParaRPr lang="en-US" altLang="zh-CN" sz="1800" b="0" i="0" dirty="0">
              <a:effectLst/>
            </a:endParaRPr>
          </a:p>
          <a:p>
            <a:pPr marL="685800" lvl="1" indent="-342900" defTabSz="91440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有研究表示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160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位的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ECC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密钥与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1024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位的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RSA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密钥安全性相同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85800" lvl="1" indent="-342900" defTabSz="91440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256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位的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ECC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密钥加密强度等同于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3072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RSA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密钥的水平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1800" b="0" i="0" u="none" strike="noStrike" kern="1200" dirty="0">
                <a:effectLst/>
              </a:rPr>
              <a:t>处理速度快</a:t>
            </a:r>
            <a:endParaRPr lang="en-US" altLang="zh-CN" sz="1800" b="0" i="0" u="none" strike="noStrike" kern="1200" dirty="0">
              <a:effectLst/>
            </a:endParaRPr>
          </a:p>
          <a:p>
            <a:pPr marL="685800" lvl="1" indent="-342900" defTabSz="91440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在加密解密速度上，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ECC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算法比</a:t>
            </a:r>
            <a:r>
              <a:rPr lang="en-US" altLang="zh-CN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RSA</a:t>
            </a: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速度更快。</a:t>
            </a:r>
          </a:p>
          <a:p>
            <a:pPr algn="l">
              <a:buFont typeface="Wingdings" panose="05000000000000000000" pitchFamily="2" charset="2"/>
              <a:buChar char="n"/>
            </a:pPr>
            <a:r>
              <a:rPr lang="zh-CN" altLang="en-US" sz="1800" b="0" i="0" dirty="0">
                <a:effectLst/>
              </a:rPr>
              <a:t>存储空间占用小，带宽要求低。</a:t>
            </a:r>
            <a:r>
              <a:rPr lang="zh-CN" altLang="en-US" sz="1800" b="0" i="0" baseline="30000" dirty="0">
                <a:effectLst/>
              </a:rPr>
              <a:t> </a:t>
            </a:r>
            <a:endParaRPr lang="zh-CN" altLang="en-US" sz="1800" b="0" i="0" dirty="0"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0" i="0" u="none" strike="noStrike" kern="1200" dirty="0"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+mn-lt"/>
              <a:ea typeface="+mn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0EC3956-A6E2-05E4-4CE2-73C0A954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93675"/>
            <a:ext cx="5185072" cy="498475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640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424937" cy="5776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密钥越长，安全级别越高</a:t>
            </a:r>
            <a:endParaRPr kumimoji="1" lang="en-US" altLang="zh-CN" sz="18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注：下表仅是估计，不太靠谱，但是说明问题</a:t>
            </a:r>
            <a:endParaRPr kumimoji="1" lang="en-US" altLang="zh-CN" sz="18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kumimoji="1" lang="zh-CN" altLang="en-US" sz="16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150F84-A773-4F0B-86C3-B7B0910C3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067694"/>
            <a:ext cx="7596336" cy="24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8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BA700-3572-F48A-58B5-11206023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32" y="193932"/>
            <a:ext cx="5400652" cy="498022"/>
          </a:xfrm>
        </p:spPr>
        <p:txBody>
          <a:bodyPr/>
          <a:lstStyle/>
          <a:p>
            <a:r>
              <a:rPr lang="en-US" altLang="zh-CN" dirty="0"/>
              <a:t>SM2 VS RSA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02740-C829-35D1-E98B-48AC0D77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4" y="1200150"/>
            <a:ext cx="8135813" cy="3429000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SM2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r>
              <a:rPr lang="zh-CN" altLang="en-US" dirty="0">
                <a:solidFill>
                  <a:srgbClr val="136EC2"/>
                </a:solidFill>
                <a:latin typeface="Helvetica Neue"/>
              </a:rPr>
              <a:t>国家密码管理局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2010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日发布的椭圆曲线公钥密码算法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RSA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算法相比，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SM2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性能更优更安全：密码复杂度高、处理速度快、机器性能消耗更小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5A8D61-B5A2-36D3-201A-C5BC5688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2211710"/>
            <a:ext cx="83629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2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496945" cy="8544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问题</a:t>
            </a:r>
            <a:r>
              <a:rPr kumimoji="1" lang="en-US" altLang="zh-CN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kumimoji="1" lang="en-US" altLang="zh-CN" sz="1800" dirty="0" err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ECC</a:t>
            </a: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的私钥、公钥和比特币钱包地址</a:t>
            </a:r>
            <a:endParaRPr kumimoji="1" lang="en-US" altLang="zh-CN" sz="18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假定密钥长度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kumimoji="1" lang="zh-CN" altLang="en-US" sz="16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EBF1D9-B231-4088-864F-89C026683EFE}"/>
              </a:ext>
            </a:extLst>
          </p:cNvPr>
          <p:cNvSpPr txBox="1"/>
          <p:nvPr/>
        </p:nvSpPr>
        <p:spPr>
          <a:xfrm>
            <a:off x="1457512" y="2186781"/>
            <a:ext cx="1080000" cy="504000"/>
          </a:xfrm>
          <a:prstGeom prst="rect">
            <a:avLst/>
          </a:prstGeom>
          <a:noFill/>
          <a:ln w="19050">
            <a:solidFill>
              <a:srgbClr val="000078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私钥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A33BC8-BED2-43C0-94FB-D5BFE5FB8C0D}"/>
              </a:ext>
            </a:extLst>
          </p:cNvPr>
          <p:cNvSpPr txBox="1"/>
          <p:nvPr/>
        </p:nvSpPr>
        <p:spPr>
          <a:xfrm>
            <a:off x="3401728" y="2193205"/>
            <a:ext cx="1080000" cy="504000"/>
          </a:xfrm>
          <a:prstGeom prst="rect">
            <a:avLst/>
          </a:prstGeom>
          <a:noFill/>
          <a:ln w="19050">
            <a:solidFill>
              <a:srgbClr val="000078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0513D-3880-4657-AD41-5AF96CFCA008}"/>
              </a:ext>
            </a:extLst>
          </p:cNvPr>
          <p:cNvSpPr txBox="1"/>
          <p:nvPr/>
        </p:nvSpPr>
        <p:spPr>
          <a:xfrm>
            <a:off x="5345944" y="2169273"/>
            <a:ext cx="1080000" cy="504000"/>
          </a:xfrm>
          <a:prstGeom prst="rect">
            <a:avLst/>
          </a:prstGeom>
          <a:noFill/>
          <a:ln w="19050">
            <a:solidFill>
              <a:srgbClr val="000078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钱包地址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BF3303A-733C-4D51-9DC7-71BD100E9AB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37512" y="2438781"/>
            <a:ext cx="864216" cy="642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E393DE-B6FD-415D-90C5-C7EAE8077FFB}"/>
              </a:ext>
            </a:extLst>
          </p:cNvPr>
          <p:cNvCxnSpPr/>
          <p:nvPr/>
        </p:nvCxnSpPr>
        <p:spPr>
          <a:xfrm>
            <a:off x="4481728" y="2432357"/>
            <a:ext cx="864216" cy="642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19A7863-6005-4856-993D-590215936D2F}"/>
              </a:ext>
            </a:extLst>
          </p:cNvPr>
          <p:cNvSpPr txBox="1"/>
          <p:nvPr/>
        </p:nvSpPr>
        <p:spPr>
          <a:xfrm>
            <a:off x="1385504" y="2780648"/>
            <a:ext cx="158417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可以随机产生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可以抛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256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938D6B-4CD0-42E0-A5B4-BFCEB9E3E8A2}"/>
              </a:ext>
            </a:extLst>
          </p:cNvPr>
          <p:cNvSpPr txBox="1"/>
          <p:nvPr/>
        </p:nvSpPr>
        <p:spPr>
          <a:xfrm>
            <a:off x="2693497" y="2107036"/>
            <a:ext cx="158417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1E07D5-F673-4C5D-AE31-B6CB42845D05}"/>
              </a:ext>
            </a:extLst>
          </p:cNvPr>
          <p:cNvSpPr txBox="1"/>
          <p:nvPr/>
        </p:nvSpPr>
        <p:spPr>
          <a:xfrm>
            <a:off x="4625984" y="2093803"/>
            <a:ext cx="158417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变换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073DB4-0A33-43CB-8D92-3D9D162DFC20}"/>
              </a:ext>
            </a:extLst>
          </p:cNvPr>
          <p:cNvSpPr txBox="1"/>
          <p:nvPr/>
        </p:nvSpPr>
        <p:spPr>
          <a:xfrm>
            <a:off x="5292080" y="2754730"/>
            <a:ext cx="158417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字符串形式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DCE536-93CF-4424-B743-0BA9D2056BEC}"/>
              </a:ext>
            </a:extLst>
          </p:cNvPr>
          <p:cNvSpPr/>
          <p:nvPr/>
        </p:nvSpPr>
        <p:spPr>
          <a:xfrm>
            <a:off x="1080702" y="3304367"/>
            <a:ext cx="22136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00001100……00011101</a:t>
            </a:r>
            <a:endParaRPr lang="zh-CN" altLang="en-US" sz="1600" dirty="0">
              <a:solidFill>
                <a:srgbClr val="0000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E3591068-AF7E-473E-B64B-4B298CB0FB73}"/>
              </a:ext>
            </a:extLst>
          </p:cNvPr>
          <p:cNvSpPr/>
          <p:nvPr/>
        </p:nvSpPr>
        <p:spPr>
          <a:xfrm rot="16200000">
            <a:off x="2081698" y="2727857"/>
            <a:ext cx="211727" cy="1948894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F9B59A-F66F-415A-AD51-DF1BD9B252E0}"/>
              </a:ext>
            </a:extLst>
          </p:cNvPr>
          <p:cNvSpPr/>
          <p:nvPr/>
        </p:nvSpPr>
        <p:spPr>
          <a:xfrm>
            <a:off x="4214139" y="3284303"/>
            <a:ext cx="41022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solidFill>
                  <a:srgbClr val="000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58igLoRYLjmqc9H5ZSxWqBvdNT3Ro1QeUJ</a:t>
            </a:r>
            <a:endParaRPr lang="zh-CN" altLang="en-US" sz="1600" dirty="0">
              <a:solidFill>
                <a:srgbClr val="0000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03CE4D-7F0E-40AA-92BF-330F8664942C}"/>
              </a:ext>
            </a:extLst>
          </p:cNvPr>
          <p:cNvSpPr/>
          <p:nvPr/>
        </p:nvSpPr>
        <p:spPr>
          <a:xfrm>
            <a:off x="1880462" y="3745364"/>
            <a:ext cx="697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37347F-1F8B-4C7D-9E04-FAA0D00B3873}"/>
              </a:ext>
            </a:extLst>
          </p:cNvPr>
          <p:cNvSpPr/>
          <p:nvPr/>
        </p:nvSpPr>
        <p:spPr>
          <a:xfrm>
            <a:off x="1385504" y="4461074"/>
            <a:ext cx="66471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注：</a:t>
            </a:r>
            <a:r>
              <a:rPr kumimoji="1" lang="en-US" altLang="zh-CN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256</a:t>
            </a:r>
            <a:r>
              <a:rPr kumimoji="1" lang="zh-CN" altLang="en-US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位的</a:t>
            </a:r>
            <a:r>
              <a:rPr kumimoji="1" lang="en-US" altLang="zh-CN" dirty="0" err="1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ECC</a:t>
            </a:r>
            <a:r>
              <a:rPr kumimoji="1" lang="zh-CN" altLang="en-US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密钥加密强度等同于</a:t>
            </a:r>
            <a:r>
              <a:rPr kumimoji="1" lang="en-US" altLang="zh-CN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3072</a:t>
            </a:r>
            <a:r>
              <a:rPr kumimoji="1" lang="zh-CN" altLang="en-US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</a:t>
            </a:r>
            <a:r>
              <a:rPr kumimoji="1" lang="en-US" altLang="zh-CN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RSA</a:t>
            </a:r>
            <a:r>
              <a:rPr kumimoji="1" lang="zh-CN" altLang="en-US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密钥的水平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E42789-EB54-413F-A718-B3975499C7EB}"/>
              </a:ext>
            </a:extLst>
          </p:cNvPr>
          <p:cNvSpPr txBox="1"/>
          <p:nvPr/>
        </p:nvSpPr>
        <p:spPr>
          <a:xfrm>
            <a:off x="3022683" y="2760099"/>
            <a:ext cx="204749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一个点的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9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7416825" cy="3817373"/>
          </a:xfrm>
        </p:spPr>
        <p:txBody>
          <a:bodyPr>
            <a:noAutofit/>
          </a:bodyPr>
          <a:lstStyle/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数字签名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为什么要数字签名：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为了证明发送者的身份，不是为了保密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/>
              <a:t>                 为了证明确实是自己发送的，内容没有被人篡改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数字签名不是手写签名的数字图像化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数字签名是加密后的一数据串：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A00117EFF3132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3CB2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通过加密技术实现对电子文档的签名</a:t>
            </a:r>
            <a:b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作用类似纸上的手写签名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712E69-8128-4C1B-BA48-66959BD2E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104" y="2715766"/>
            <a:ext cx="2808312" cy="828092"/>
          </a:xfrm>
          <a:prstGeom prst="rect">
            <a:avLst/>
          </a:prstGeom>
          <a:ln>
            <a:solidFill>
              <a:srgbClr val="000078"/>
            </a:solidFill>
          </a:ln>
        </p:spPr>
      </p:pic>
    </p:spTree>
    <p:extLst>
      <p:ext uri="{BB962C8B-B14F-4D97-AF65-F5344CB8AC3E}">
        <p14:creationId xmlns:p14="http://schemas.microsoft.com/office/powerpoint/2010/main" val="425293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D3607AFE-3C88-4D03-85C4-40E32D788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02317"/>
            <a:ext cx="497747" cy="38640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486F773-C343-4012-93A1-84D3AB182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44" y="2802712"/>
            <a:ext cx="5610225" cy="116205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719876D-DE8A-4203-AD72-4B5507B26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5370" y="3877047"/>
            <a:ext cx="355685" cy="4434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72F1F9-4B07-4C5D-8672-42E7C2AED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440" y="3034164"/>
            <a:ext cx="497747" cy="38640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136905" cy="937053"/>
          </a:xfrm>
        </p:spPr>
        <p:txBody>
          <a:bodyPr>
            <a:noAutofit/>
          </a:bodyPr>
          <a:lstStyle/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数字签名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(Digital Signature)</a:t>
            </a:r>
            <a:endParaRPr kumimoji="1"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发送方使用私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钥签名（加密），接收方使用发送方的公钥验签（解密）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6A5A7A-C169-440A-B43B-8880CF733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22" y="2997328"/>
            <a:ext cx="497747" cy="3864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F3901A-27D1-40DC-8AF9-9CEA7837D2DC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069721" y="2449355"/>
            <a:ext cx="576000" cy="57600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7FDB67A-7FB0-4260-9074-F9B98352A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2067314"/>
            <a:ext cx="2760096" cy="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B1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B2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B3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FBFC8EB-7491-4CBF-98FF-B0ED3B0A2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872" y="4060905"/>
            <a:ext cx="369579" cy="47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3E9421-92F6-4CC9-BE60-C7BD351A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931" y="2966709"/>
            <a:ext cx="497747" cy="3864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F7E00B-46D9-4B02-8711-EDD6E8D66A1F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247706" y="2433195"/>
            <a:ext cx="576000" cy="576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D38D05-6951-472B-AE8B-B70AEFCF0CC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377854" y="2455678"/>
            <a:ext cx="576000" cy="57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9174166-25DB-4196-BADA-170D558967E9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262433" y="4011974"/>
            <a:ext cx="576000" cy="5760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0A61684-6ACB-40ED-9E3C-FF85CB44B5D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57721" y="3025355"/>
            <a:ext cx="1018622" cy="1042872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lg" len="lg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8C85C58-80F5-4FC9-BAA1-865F1ED69EC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535706" y="2931790"/>
            <a:ext cx="14727" cy="1080184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>
            <a:extLst>
              <a:ext uri="{FF2B5EF4-FFF2-40B4-BE49-F238E27FC236}">
                <a16:creationId xmlns:a16="http://schemas.microsoft.com/office/drawing/2014/main" id="{8C5A97D4-53AE-470B-9625-641BF41BC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632" y="1761680"/>
            <a:ext cx="3435421" cy="51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接收方：使用发送方的公钥验签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74BEB73-0AE1-4D62-9CC7-BEA29DE1F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0813" y="4480947"/>
            <a:ext cx="2505984" cy="51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发送方：使用私钥签名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81518B6-9BBB-4B69-A252-C62DEE6D1430}"/>
              </a:ext>
            </a:extLst>
          </p:cNvPr>
          <p:cNvCxnSpPr>
            <a:cxnSpLocks/>
          </p:cNvCxnSpPr>
          <p:nvPr/>
        </p:nvCxnSpPr>
        <p:spPr>
          <a:xfrm flipH="1">
            <a:off x="7788520" y="2960836"/>
            <a:ext cx="897794" cy="1107391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lg" len="lg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3">
            <a:extLst>
              <a:ext uri="{FF2B5EF4-FFF2-40B4-BE49-F238E27FC236}">
                <a16:creationId xmlns:a16="http://schemas.microsoft.com/office/drawing/2014/main" id="{86335DC2-61CC-4185-BBCD-780F00865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249" y="2413940"/>
            <a:ext cx="683464" cy="36042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B656DEB8-A530-4F91-8AD8-171A8416E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611" y="2413940"/>
            <a:ext cx="683464" cy="36042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4648DC-39B2-4DC6-8E29-C1017815C658}"/>
              </a:ext>
            </a:extLst>
          </p:cNvPr>
          <p:cNvSpPr txBox="1"/>
          <p:nvPr/>
        </p:nvSpPr>
        <p:spPr>
          <a:xfrm>
            <a:off x="3326883" y="45879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   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70B6B342-EC8F-4EAF-A0B1-6C0D6E2E7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898" y="2372408"/>
            <a:ext cx="355685" cy="4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640961" cy="1263382"/>
          </a:xfrm>
        </p:spPr>
        <p:txBody>
          <a:bodyPr>
            <a:noAutofit/>
          </a:bodyPr>
          <a:lstStyle/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对信息附加签名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有时非对称加密所花费的时间相当长，故仅对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消息摘要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进行数字签名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b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771E8C-95C9-54D1-35FB-D755C4F03853}"/>
              </a:ext>
            </a:extLst>
          </p:cNvPr>
          <p:cNvSpPr txBox="1"/>
          <p:nvPr/>
        </p:nvSpPr>
        <p:spPr>
          <a:xfrm>
            <a:off x="1043608" y="1779662"/>
            <a:ext cx="7704856" cy="1892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消息摘要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Message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Digest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论文有摘要，一般较短；消息（文件）也可有摘要，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长度固定。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可将任意长度的消息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借助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哈希函数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转换成长度固定的哈希值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消息摘要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※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从消息摘要中几乎不可能推测出原始信息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MD5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61F295-6C0F-CE23-C455-585E2E978D5A}"/>
              </a:ext>
            </a:extLst>
          </p:cNvPr>
          <p:cNvSpPr/>
          <p:nvPr/>
        </p:nvSpPr>
        <p:spPr>
          <a:xfrm>
            <a:off x="5603413" y="3507495"/>
            <a:ext cx="2652731" cy="52222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输出：固定长度字符串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39F81DA-9EC1-44E4-3BA3-88D08FC0D7DF}"/>
              </a:ext>
            </a:extLst>
          </p:cNvPr>
          <p:cNvCxnSpPr>
            <a:cxnSpLocks/>
          </p:cNvCxnSpPr>
          <p:nvPr/>
        </p:nvCxnSpPr>
        <p:spPr>
          <a:xfrm>
            <a:off x="3560961" y="4188474"/>
            <a:ext cx="166811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21306D0-88D8-A35E-C4BC-384A21116061}"/>
              </a:ext>
            </a:extLst>
          </p:cNvPr>
          <p:cNvSpPr txBox="1"/>
          <p:nvPr/>
        </p:nvSpPr>
        <p:spPr>
          <a:xfrm>
            <a:off x="3937999" y="3871357"/>
            <a:ext cx="914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SHA256</a:t>
            </a:r>
            <a:endParaRPr lang="zh-CN" altLang="en-US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C6087A-D341-2921-5C08-3E807F210F73}"/>
              </a:ext>
            </a:extLst>
          </p:cNvPr>
          <p:cNvSpPr txBox="1"/>
          <p:nvPr/>
        </p:nvSpPr>
        <p:spPr>
          <a:xfrm>
            <a:off x="4117007" y="4195338"/>
            <a:ext cx="59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7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14EFBC-8FD3-D80F-5FB3-75E60A06B125}"/>
              </a:ext>
            </a:extLst>
          </p:cNvPr>
          <p:cNvSpPr/>
          <p:nvPr/>
        </p:nvSpPr>
        <p:spPr>
          <a:xfrm>
            <a:off x="1452660" y="3939902"/>
            <a:ext cx="2095336" cy="54002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同济大学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904CCB-F027-D80B-63CC-A9EA5F3C27B2}"/>
              </a:ext>
            </a:extLst>
          </p:cNvPr>
          <p:cNvSpPr/>
          <p:nvPr/>
        </p:nvSpPr>
        <p:spPr>
          <a:xfrm>
            <a:off x="5242036" y="3939901"/>
            <a:ext cx="3375486" cy="54002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d9a31781bd1e65dd66c198f9868e31efd07e425c0aaa7f37d8d1a2826a1cd4e2</a:t>
            </a:r>
            <a:endParaRPr lang="zh-CN" altLang="en-US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862A14-98DC-90AB-FF5E-18067157EB9F}"/>
              </a:ext>
            </a:extLst>
          </p:cNvPr>
          <p:cNvSpPr/>
          <p:nvPr/>
        </p:nvSpPr>
        <p:spPr>
          <a:xfrm>
            <a:off x="2273297" y="4677742"/>
            <a:ext cx="4932040" cy="540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SHA256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的散列值是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256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40102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1221BB-C91D-2FB4-3716-A64F8A9117CB}"/>
              </a:ext>
            </a:extLst>
          </p:cNvPr>
          <p:cNvSpPr txBox="1"/>
          <p:nvPr/>
        </p:nvSpPr>
        <p:spPr>
          <a:xfrm>
            <a:off x="579223" y="1567849"/>
            <a:ext cx="772285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哈希函数是一类数学函数，可以在有限合理的时间内，</a:t>
            </a:r>
            <a:r>
              <a:rPr lang="zh-CN" altLang="en-US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将任意长度的消息压缩为固定长度的二进制串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，其输出值称为哈希值，也称为散列值。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endParaRPr lang="en-US" altLang="zh-CN" dirty="0">
              <a:latin typeface="Arial" panose="020B0604020202020204" pitchFamily="34" charset="0"/>
            </a:endParaRPr>
          </a:p>
          <a:p>
            <a:pPr rtl="0"/>
            <a:endParaRPr lang="en-US" altLang="zh-CN" dirty="0">
              <a:effectLst/>
              <a:latin typeface="Arial" panose="020B0604020202020204" pitchFamily="34" charset="0"/>
            </a:endParaRPr>
          </a:p>
          <a:p>
            <a:pPr rtl="0"/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48D566-9786-CEF5-3FB0-2AAB4F3651BC}"/>
              </a:ext>
            </a:extLst>
          </p:cNvPr>
          <p:cNvSpPr txBox="1"/>
          <p:nvPr/>
        </p:nvSpPr>
        <p:spPr>
          <a:xfrm>
            <a:off x="413538" y="122160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（哈希）算法</a:t>
            </a:r>
          </a:p>
        </p:txBody>
      </p:sp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0CCED1CB-3EE6-4BB6-0251-B8DADD86BE4D}"/>
              </a:ext>
            </a:extLst>
          </p:cNvPr>
          <p:cNvGraphicFramePr>
            <a:graphicFrameLocks noGrp="1"/>
          </p:cNvGraphicFramePr>
          <p:nvPr/>
        </p:nvGraphicFramePr>
        <p:xfrm>
          <a:off x="4283968" y="2375762"/>
          <a:ext cx="4759862" cy="183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892">
                  <a:extLst>
                    <a:ext uri="{9D8B030D-6E8A-4147-A177-3AD203B41FA5}">
                      <a16:colId xmlns:a16="http://schemas.microsoft.com/office/drawing/2014/main" val="3354970442"/>
                    </a:ext>
                  </a:extLst>
                </a:gridCol>
                <a:gridCol w="3138970">
                  <a:extLst>
                    <a:ext uri="{9D8B030D-6E8A-4147-A177-3AD203B41FA5}">
                      <a16:colId xmlns:a16="http://schemas.microsoft.com/office/drawing/2014/main" val="63768599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消息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哈希值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0583577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我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16815254531798dc21ee979d1d9c6675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482723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我在同济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ad891ef8099b26106b7a103c190851aa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52507010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我在同济大学学习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844aaf30bc33399d52c63183de08e646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8290121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我在同济大学学习计算机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0c1cc767ba5f694c6f1772bd0f8b2af6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6280798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欢迎你也来同济大学学习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9ffdb05f877c1dbc3df5a162b68613d7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1841527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区块链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ceddc77d79463a1398845b73f346023a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15415932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66D5BE40-D957-6C75-6E19-2CB99FA3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533637"/>
            <a:ext cx="3057038" cy="124927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96A702-7B48-E8D1-CA45-5819040B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056644-5092-8B23-72FA-FC2869915765}"/>
              </a:ext>
            </a:extLst>
          </p:cNvPr>
          <p:cNvSpPr txBox="1"/>
          <p:nvPr/>
        </p:nvSpPr>
        <p:spPr>
          <a:xfrm>
            <a:off x="413538" y="4287031"/>
            <a:ext cx="863029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以哈希函数为基础构造的哈希算法，在现代密码学中扮演着重要的角色，常用于实现数据完整性和实体认证，同时也构成多种密码体制和协议的安全保障。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5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B03599B-FB15-7682-B32C-767051E55298}"/>
              </a:ext>
            </a:extLst>
          </p:cNvPr>
          <p:cNvSpPr txBox="1"/>
          <p:nvPr/>
        </p:nvSpPr>
        <p:spPr>
          <a:xfrm>
            <a:off x="629562" y="1221600"/>
            <a:ext cx="8370930" cy="316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算法的特点：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哈希算法是单向的，只能加密不能解密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相同的输入必须总是产生相同的输出，无论将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放入哈希算法多少次，产生的字符串总是相同的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现有的计算资源（包括时间、空间、资金等）下，找到一个碰撞是不可行的。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碰撞是指两个不同的输入在同一个哈希函数作用下，具有相同的哈希值。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即：给定两个不一样的消息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m2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h(m1)=h(m2)</a:t>
            </a:r>
          </a:p>
          <a:p>
            <a:pPr lvl="1">
              <a:lnSpc>
                <a:spcPct val="150000"/>
              </a:lnSpc>
            </a:pPr>
            <a:endParaRPr lang="en-US" altLang="zh-CN" sz="15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2064253-BDDC-3529-DDF9-65B0B0F8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8154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640961" cy="1263382"/>
          </a:xfrm>
        </p:spPr>
        <p:txBody>
          <a:bodyPr>
            <a:noAutofit/>
          </a:bodyPr>
          <a:lstStyle/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对信息附加签名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有时非对称加密所花费的时间相当长，故仅对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消息摘要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进行数字签名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消息摘要所用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函数的时间很短</a:t>
            </a:r>
            <a:b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31FCF85-F69E-4491-8B25-E298D839AF6B}"/>
              </a:ext>
            </a:extLst>
          </p:cNvPr>
          <p:cNvSpPr txBox="1"/>
          <p:nvPr/>
        </p:nvSpPr>
        <p:spPr>
          <a:xfrm>
            <a:off x="3419341" y="2407645"/>
            <a:ext cx="90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SHA256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A9A9F26-7754-46E4-B2D0-5F1916703CFB}"/>
              </a:ext>
            </a:extLst>
          </p:cNvPr>
          <p:cNvSpPr/>
          <p:nvPr/>
        </p:nvSpPr>
        <p:spPr>
          <a:xfrm>
            <a:off x="2195880" y="2488922"/>
            <a:ext cx="1152128" cy="411864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原始文件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7C6AA76-314B-4A2E-AD3A-3E6FF22B383E}"/>
              </a:ext>
            </a:extLst>
          </p:cNvPr>
          <p:cNvSpPr/>
          <p:nvPr/>
        </p:nvSpPr>
        <p:spPr>
          <a:xfrm>
            <a:off x="4389914" y="2496530"/>
            <a:ext cx="1152128" cy="410400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消息摘要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E716F01-D363-4526-958A-284CB77B84CB}"/>
              </a:ext>
            </a:extLst>
          </p:cNvPr>
          <p:cNvCxnSpPr/>
          <p:nvPr/>
        </p:nvCxnSpPr>
        <p:spPr>
          <a:xfrm>
            <a:off x="3348008" y="2744586"/>
            <a:ext cx="1056700" cy="3162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772B7316-9023-48F5-BC3B-1A54E658731E}"/>
              </a:ext>
            </a:extLst>
          </p:cNvPr>
          <p:cNvSpPr txBox="1"/>
          <p:nvPr/>
        </p:nvSpPr>
        <p:spPr>
          <a:xfrm>
            <a:off x="5779628" y="242216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私钥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E316E41-70B0-43EA-BAAA-263F4D64CAB7}"/>
              </a:ext>
            </a:extLst>
          </p:cNvPr>
          <p:cNvCxnSpPr/>
          <p:nvPr/>
        </p:nvCxnSpPr>
        <p:spPr>
          <a:xfrm>
            <a:off x="5548796" y="2744885"/>
            <a:ext cx="1056700" cy="3162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190C0455-0494-4272-AFC2-BD615EF84389}"/>
              </a:ext>
            </a:extLst>
          </p:cNvPr>
          <p:cNvSpPr/>
          <p:nvPr/>
        </p:nvSpPr>
        <p:spPr>
          <a:xfrm>
            <a:off x="6612250" y="2529974"/>
            <a:ext cx="1152000" cy="410400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数字签名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5772F28-CB4B-4DBC-B78A-2D3F2BDF109F}"/>
              </a:ext>
            </a:extLst>
          </p:cNvPr>
          <p:cNvSpPr/>
          <p:nvPr/>
        </p:nvSpPr>
        <p:spPr>
          <a:xfrm>
            <a:off x="1330204" y="2527197"/>
            <a:ext cx="914032" cy="3661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发送方：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16BE2BE-F5F8-4E48-8BFF-E755D1F0D730}"/>
              </a:ext>
            </a:extLst>
          </p:cNvPr>
          <p:cNvSpPr/>
          <p:nvPr/>
        </p:nvSpPr>
        <p:spPr>
          <a:xfrm>
            <a:off x="1652067" y="3151479"/>
            <a:ext cx="3925795" cy="5319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原始文件、数字签名、公钥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0D7CA83-C45C-4FB3-9956-BA1201140DDD}"/>
              </a:ext>
            </a:extLst>
          </p:cNvPr>
          <p:cNvCxnSpPr/>
          <p:nvPr/>
        </p:nvCxnSpPr>
        <p:spPr>
          <a:xfrm>
            <a:off x="1665252" y="2836419"/>
            <a:ext cx="0" cy="1083386"/>
          </a:xfrm>
          <a:prstGeom prst="straightConnector1">
            <a:avLst/>
          </a:prstGeom>
          <a:noFill/>
          <a:ln w="38100" cap="flat" cmpd="dbl" algn="ctr">
            <a:solidFill>
              <a:srgbClr val="000066"/>
            </a:solidFill>
            <a:prstDash val="solid"/>
            <a:miter lim="800000"/>
            <a:headEnd type="none" w="lg" len="med"/>
            <a:tailEnd type="triangle" w="sm" len="med"/>
          </a:ln>
          <a:effectLst/>
        </p:spPr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EE4A879E-6626-471D-AF20-2AAA65EC1D11}"/>
              </a:ext>
            </a:extLst>
          </p:cNvPr>
          <p:cNvSpPr/>
          <p:nvPr/>
        </p:nvSpPr>
        <p:spPr>
          <a:xfrm>
            <a:off x="1261012" y="3766796"/>
            <a:ext cx="983224" cy="5319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接收方：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4B5DBA6-188D-4E4B-AF07-6B8565FF7F1B}"/>
              </a:ext>
            </a:extLst>
          </p:cNvPr>
          <p:cNvSpPr txBox="1"/>
          <p:nvPr/>
        </p:nvSpPr>
        <p:spPr>
          <a:xfrm>
            <a:off x="3500220" y="367735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公钥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131E639-1796-4007-B6D9-84A530AF2AAA}"/>
              </a:ext>
            </a:extLst>
          </p:cNvPr>
          <p:cNvSpPr/>
          <p:nvPr/>
        </p:nvSpPr>
        <p:spPr>
          <a:xfrm>
            <a:off x="2207012" y="3794230"/>
            <a:ext cx="1152000" cy="410400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数字签名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794DA0D-82FF-4FE5-93CF-0789111D74CF}"/>
              </a:ext>
            </a:extLst>
          </p:cNvPr>
          <p:cNvSpPr/>
          <p:nvPr/>
        </p:nvSpPr>
        <p:spPr>
          <a:xfrm>
            <a:off x="4389914" y="3747100"/>
            <a:ext cx="1152000" cy="410400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消息摘要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6B24A4B-FE04-457C-9502-563525F20895}"/>
              </a:ext>
            </a:extLst>
          </p:cNvPr>
          <p:cNvCxnSpPr>
            <a:cxnSpLocks/>
          </p:cNvCxnSpPr>
          <p:nvPr/>
        </p:nvCxnSpPr>
        <p:spPr>
          <a:xfrm>
            <a:off x="3372421" y="4012646"/>
            <a:ext cx="1008000" cy="3162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AED53713-4B34-4239-BBF6-E34FA426C132}"/>
              </a:ext>
            </a:extLst>
          </p:cNvPr>
          <p:cNvSpPr txBox="1"/>
          <p:nvPr/>
        </p:nvSpPr>
        <p:spPr>
          <a:xfrm>
            <a:off x="3421332" y="4476268"/>
            <a:ext cx="90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SHA256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F5F4C9-8FD5-483A-894C-384FD21141D4}"/>
              </a:ext>
            </a:extLst>
          </p:cNvPr>
          <p:cNvSpPr/>
          <p:nvPr/>
        </p:nvSpPr>
        <p:spPr>
          <a:xfrm>
            <a:off x="2195880" y="4609622"/>
            <a:ext cx="1152000" cy="410400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原始文件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EDE5482-A9D7-4DBF-BC43-3A55D0796C38}"/>
              </a:ext>
            </a:extLst>
          </p:cNvPr>
          <p:cNvSpPr/>
          <p:nvPr/>
        </p:nvSpPr>
        <p:spPr>
          <a:xfrm>
            <a:off x="4372426" y="4551620"/>
            <a:ext cx="1152000" cy="410400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消息摘要</a:t>
            </a: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8836D80E-6BEB-4C3A-A421-EA21ACA0E223}"/>
              </a:ext>
            </a:extLst>
          </p:cNvPr>
          <p:cNvCxnSpPr/>
          <p:nvPr/>
        </p:nvCxnSpPr>
        <p:spPr>
          <a:xfrm>
            <a:off x="3366661" y="4800847"/>
            <a:ext cx="1008000" cy="316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0BCE018-DACB-4975-B157-7C43AF8B7173}"/>
              </a:ext>
            </a:extLst>
          </p:cNvPr>
          <p:cNvCxnSpPr>
            <a:cxnSpLocks/>
          </p:cNvCxnSpPr>
          <p:nvPr/>
        </p:nvCxnSpPr>
        <p:spPr>
          <a:xfrm>
            <a:off x="5004048" y="4188653"/>
            <a:ext cx="0" cy="360000"/>
          </a:xfrm>
          <a:prstGeom prst="straightConnector1">
            <a:avLst/>
          </a:prstGeom>
          <a:noFill/>
          <a:ln w="38100" cap="flat" cmpd="dbl" algn="ctr">
            <a:solidFill>
              <a:srgbClr val="000066"/>
            </a:solidFill>
            <a:prstDash val="solid"/>
            <a:miter lim="800000"/>
            <a:headEnd type="triangle" w="sm" len="sm"/>
            <a:tailEnd type="triangle" w="sm" len="sm"/>
          </a:ln>
          <a:effectLst/>
        </p:spPr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E3DDC19F-3505-4EF4-A478-A9992A3D6A70}"/>
              </a:ext>
            </a:extLst>
          </p:cNvPr>
          <p:cNvSpPr/>
          <p:nvPr/>
        </p:nvSpPr>
        <p:spPr>
          <a:xfrm>
            <a:off x="4948426" y="4145880"/>
            <a:ext cx="1518032" cy="410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比较是否相等？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E08187-878A-5D0C-A943-8B6000966EA9}"/>
              </a:ext>
            </a:extLst>
          </p:cNvPr>
          <p:cNvSpPr txBox="1"/>
          <p:nvPr/>
        </p:nvSpPr>
        <p:spPr>
          <a:xfrm>
            <a:off x="6460169" y="3777769"/>
            <a:ext cx="2627784" cy="923330"/>
          </a:xfrm>
          <a:prstGeom prst="rect">
            <a:avLst/>
          </a:prstGeom>
          <a:noFill/>
          <a:ln>
            <a:solidFill>
              <a:srgbClr val="307EC9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验证了发送方身份，保证了数据的完整性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但是不能对原文加密</a:t>
            </a:r>
          </a:p>
        </p:txBody>
      </p:sp>
    </p:spTree>
    <p:extLst>
      <p:ext uri="{BB962C8B-B14F-4D97-AF65-F5344CB8AC3E}">
        <p14:creationId xmlns:p14="http://schemas.microsoft.com/office/powerpoint/2010/main" val="176464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136905" cy="39613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密钥是如何生成的？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位的密钥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太短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rsa.newkeys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(16) 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位的密钥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转换格式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pubpem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pubkey.save_pkcs1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privpem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privkey.save_pkcs1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格式的公钥：、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\n",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pubpem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格式的私钥：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\n",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privpem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A54E05-E524-419B-8E9E-15CBB007F2BB}"/>
              </a:ext>
            </a:extLst>
          </p:cNvPr>
          <p:cNvSpPr/>
          <p:nvPr/>
        </p:nvSpPr>
        <p:spPr bwMode="gray">
          <a:xfrm>
            <a:off x="8536413" y="4587974"/>
            <a:ext cx="610509" cy="555526"/>
          </a:xfrm>
          <a:prstGeom prst="ellipse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</a:p>
        </p:txBody>
      </p:sp>
    </p:spTree>
    <p:extLst>
      <p:ext uri="{BB962C8B-B14F-4D97-AF65-F5344CB8AC3E}">
        <p14:creationId xmlns:p14="http://schemas.microsoft.com/office/powerpoint/2010/main" val="86602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A54E05-E524-419B-8E9E-15CBB007F2BB}"/>
              </a:ext>
            </a:extLst>
          </p:cNvPr>
          <p:cNvSpPr/>
          <p:nvPr/>
        </p:nvSpPr>
        <p:spPr bwMode="gray">
          <a:xfrm>
            <a:off x="8536413" y="4587974"/>
            <a:ext cx="610509" cy="555526"/>
          </a:xfrm>
          <a:prstGeom prst="ellipse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3F958-87A1-4BA3-B189-324B6610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9702"/>
            <a:ext cx="9139670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7488833" cy="396138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位的密钥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rsa.newkeys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位的密钥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加密与解密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s='China'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s.encode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-8')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rsa.encrypt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rsa.decrypt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(crypto,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newt.decode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-8')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加密与解密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加密前明文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加密后密文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:",crypto)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print(“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解密后明文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:",news)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A54E05-E524-419B-8E9E-15CBB007F2BB}"/>
              </a:ext>
            </a:extLst>
          </p:cNvPr>
          <p:cNvSpPr/>
          <p:nvPr/>
        </p:nvSpPr>
        <p:spPr bwMode="gray">
          <a:xfrm>
            <a:off x="8536413" y="4587974"/>
            <a:ext cx="610509" cy="555526"/>
          </a:xfrm>
          <a:prstGeom prst="ellipse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63F5E5-4130-41B2-8FC2-3DD14BB7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2857693"/>
            <a:ext cx="5292080" cy="230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6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数据加密与解密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136905" cy="396138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签名与验签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rsa.sign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'SHA-1')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method_name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rsa.verify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(t, signature,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pubkey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签名与验签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签名前明文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签名后密文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:",crypto)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签名方式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method_name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A54E05-E524-419B-8E9E-15CBB007F2BB}"/>
              </a:ext>
            </a:extLst>
          </p:cNvPr>
          <p:cNvSpPr/>
          <p:nvPr/>
        </p:nvSpPr>
        <p:spPr bwMode="gray">
          <a:xfrm>
            <a:off x="8536413" y="4587974"/>
            <a:ext cx="610509" cy="555526"/>
          </a:xfrm>
          <a:prstGeom prst="ellipse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5E5409-836D-484B-B201-791650AF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00" y="2967318"/>
            <a:ext cx="9147999" cy="164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9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自定义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CC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spDef>
      <a:spPr bwMode="gray">
        <a:gradFill rotWithShape="1">
          <a:gsLst>
            <a:gs pos="0">
              <a:schemeClr val="folHlink">
                <a:gamma/>
                <a:shade val="72549"/>
                <a:invGamma/>
              </a:schemeClr>
            </a:gs>
            <a:gs pos="50000">
              <a:schemeClr val="folHlink"/>
            </a:gs>
            <a:gs pos="100000">
              <a:schemeClr val="folHlink">
                <a:gamma/>
                <a:shade val="72549"/>
                <a:invGamma/>
              </a:schemeClr>
            </a:gs>
          </a:gsLst>
          <a:lin ang="2700000" scaled="1"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 algn="ctr" eaLnBrk="0" hangingPunct="0">
          <a:defRPr sz="1400" b="1" dirty="0"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模板ppt.pptx" id="{0CF83854-50F9-4A05-AC3E-F0D8A78CEE97}" vid="{AE9FA267-1D14-46AF-B303-D9446FC845D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115421</TotalTime>
  <Words>2978</Words>
  <Application>Microsoft Office PowerPoint</Application>
  <PresentationFormat>全屏显示(16:9)</PresentationFormat>
  <Paragraphs>356</Paragraphs>
  <Slides>28</Slides>
  <Notes>24</Notes>
  <HiddenSlides>3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Helvetica Neue</vt:lpstr>
      <vt:lpstr>仿宋</vt:lpstr>
      <vt:lpstr>黑体</vt:lpstr>
      <vt:lpstr>华文楷体</vt:lpstr>
      <vt:lpstr>楷体</vt:lpstr>
      <vt:lpstr>微软雅黑</vt:lpstr>
      <vt:lpstr>Arial</vt:lpstr>
      <vt:lpstr>Calibri</vt:lpstr>
      <vt:lpstr>Euphemia</vt:lpstr>
      <vt:lpstr>Times New Roman</vt:lpstr>
      <vt:lpstr>Wingdings</vt:lpstr>
      <vt:lpstr>Wingdings 2</vt:lpstr>
      <vt:lpstr>学术文献 16x9</vt:lpstr>
      <vt:lpstr>大学计算机        ——数据加密与解密</vt:lpstr>
      <vt:lpstr>数据的加密与解密</vt:lpstr>
      <vt:lpstr>数据的加密与解密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SM2 VS RSA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  <vt:lpstr>数据加密与解密</vt:lpstr>
    </vt:vector>
  </TitlesOfParts>
  <Company>TJ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TJ</dc:creator>
  <cp:lastModifiedBy>慧 何</cp:lastModifiedBy>
  <cp:revision>1529</cp:revision>
  <dcterms:created xsi:type="dcterms:W3CDTF">2011-03-18T03:47:09Z</dcterms:created>
  <dcterms:modified xsi:type="dcterms:W3CDTF">2026-01-08T03:12:47Z</dcterms:modified>
</cp:coreProperties>
</file>