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handoutMasterIdLst>
    <p:handoutMasterId r:id="rId36"/>
  </p:handoutMasterIdLst>
  <p:sldIdLst>
    <p:sldId id="1272" r:id="rId2"/>
    <p:sldId id="848" r:id="rId3"/>
    <p:sldId id="1235" r:id="rId4"/>
    <p:sldId id="1237" r:id="rId5"/>
    <p:sldId id="1244" r:id="rId6"/>
    <p:sldId id="1245" r:id="rId7"/>
    <p:sldId id="1238" r:id="rId8"/>
    <p:sldId id="1250" r:id="rId9"/>
    <p:sldId id="1251" r:id="rId10"/>
    <p:sldId id="1239" r:id="rId11"/>
    <p:sldId id="1253" r:id="rId12"/>
    <p:sldId id="1252" r:id="rId13"/>
    <p:sldId id="1242" r:id="rId14"/>
    <p:sldId id="1259" r:id="rId15"/>
    <p:sldId id="1258" r:id="rId16"/>
    <p:sldId id="1261" r:id="rId17"/>
    <p:sldId id="1260" r:id="rId18"/>
    <p:sldId id="1163" r:id="rId19"/>
    <p:sldId id="1167" r:id="rId20"/>
    <p:sldId id="1262" r:id="rId21"/>
    <p:sldId id="1263" r:id="rId22"/>
    <p:sldId id="1264" r:id="rId23"/>
    <p:sldId id="1265" r:id="rId24"/>
    <p:sldId id="1266" r:id="rId25"/>
    <p:sldId id="1267" r:id="rId26"/>
    <p:sldId id="1168" r:id="rId27"/>
    <p:sldId id="1271" r:id="rId28"/>
    <p:sldId id="1268" r:id="rId29"/>
    <p:sldId id="1249" r:id="rId30"/>
    <p:sldId id="1247" r:id="rId31"/>
    <p:sldId id="1256" r:id="rId32"/>
    <p:sldId id="1254" r:id="rId33"/>
    <p:sldId id="1257" r:id="rId34"/>
  </p:sldIdLst>
  <p:sldSz cx="9144000" cy="5143500" type="screen16x9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b="1" kern="1200">
        <a:solidFill>
          <a:srgbClr val="A50021"/>
        </a:solidFill>
        <a:latin typeface="Arial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b="1" kern="1200">
        <a:solidFill>
          <a:srgbClr val="A50021"/>
        </a:solidFill>
        <a:latin typeface="Arial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b="1" kern="1200">
        <a:solidFill>
          <a:srgbClr val="A50021"/>
        </a:solidFill>
        <a:latin typeface="Arial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b="1" kern="1200">
        <a:solidFill>
          <a:srgbClr val="A50021"/>
        </a:solidFill>
        <a:latin typeface="Arial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b="1" kern="1200">
        <a:solidFill>
          <a:srgbClr val="A5002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kumimoji="1" sz="2400" b="1" kern="1200">
        <a:solidFill>
          <a:srgbClr val="A5002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kumimoji="1" sz="2400" b="1" kern="1200">
        <a:solidFill>
          <a:srgbClr val="A5002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kumimoji="1" sz="2400" b="1" kern="1200">
        <a:solidFill>
          <a:srgbClr val="A5002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kumimoji="1" sz="2400" b="1" kern="1200">
        <a:solidFill>
          <a:srgbClr val="A50021"/>
        </a:solidFill>
        <a:latin typeface="Arial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66"/>
    <a:srgbClr val="A50021"/>
    <a:srgbClr val="FFFFFF"/>
    <a:srgbClr val="FFFF99"/>
    <a:srgbClr val="666633"/>
    <a:srgbClr val="CCECFF"/>
    <a:srgbClr val="CC6600"/>
    <a:srgbClr val="E4F3F4"/>
    <a:srgbClr val="808000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75" autoAdjust="0"/>
    <p:restoredTop sz="93875" autoAdjust="0"/>
  </p:normalViewPr>
  <p:slideViewPr>
    <p:cSldViewPr>
      <p:cViewPr varScale="1">
        <p:scale>
          <a:sx n="87" d="100"/>
          <a:sy n="87" d="100"/>
        </p:scale>
        <p:origin x="173" y="3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4936"/>
    </p:cViewPr>
  </p:sorterViewPr>
  <p:notesViewPr>
    <p:cSldViewPr>
      <p:cViewPr varScale="1">
        <p:scale>
          <a:sx n="51" d="100"/>
          <a:sy n="51" d="100"/>
        </p:scale>
        <p:origin x="1760" y="5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4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20000"/>
              </a:lnSpc>
              <a:spcBef>
                <a:spcPct val="0"/>
              </a:spcBef>
              <a:defRPr kumimoji="0" sz="12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024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20000"/>
              </a:lnSpc>
              <a:spcBef>
                <a:spcPct val="0"/>
              </a:spcBef>
              <a:defRPr kumimoji="0" sz="12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025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20000"/>
              </a:lnSpc>
              <a:spcBef>
                <a:spcPct val="0"/>
              </a:spcBef>
              <a:defRPr kumimoji="0" sz="12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025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20000"/>
              </a:lnSpc>
              <a:spcBef>
                <a:spcPct val="0"/>
              </a:spcBef>
              <a:defRPr kumimoji="0" sz="12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</a:lstStyle>
          <a:p>
            <a:pPr>
              <a:defRPr/>
            </a:pPr>
            <a:fld id="{39F44BC8-7262-4009-ACF8-214377EBD00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389125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defRPr kumimoji="0" sz="1200" b="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defRPr kumimoji="0" sz="1200" b="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222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125663" y="1371600"/>
            <a:ext cx="3521075" cy="19812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30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430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defRPr kumimoji="0" sz="1200" b="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30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defRPr kumimoji="0" sz="1200" b="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945868FA-1150-4E96-83C7-7DA5FEC71BA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229642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450811CA-C573-40E5-8C31-CC42AFA3C944}" type="slidenum">
              <a:rPr kumimoji="0" lang="en-US" altLang="zh-CN" sz="1200" b="0" smtClean="0">
                <a:solidFill>
                  <a:schemeClr val="tx1"/>
                </a:solidFill>
              </a:rPr>
              <a:pPr eaLnBrk="1" hangingPunct="1"/>
              <a:t>2</a:t>
            </a:fld>
            <a:endParaRPr kumimoji="0" lang="en-US" altLang="zh-CN" sz="1200" b="0">
              <a:solidFill>
                <a:schemeClr val="tx1"/>
              </a:solidFill>
            </a:endParaRPr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5763" y="687388"/>
            <a:ext cx="6088062" cy="3425825"/>
          </a:xfrm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9BF6AAC-1E91-4C81-A1C6-A1D80F61F4C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28838" y="1373188"/>
            <a:ext cx="3514725" cy="1978025"/>
          </a:xfrm>
          <a:solidFill>
            <a:srgbClr val="FFFFFF"/>
          </a:solidFill>
          <a:ln w="12700" cap="flat"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3712952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EPS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是指数学上的一个充分小的数，如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1E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-5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1E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-6</a:t>
            </a:r>
          </a:p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sz="120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math.fabs</a:t>
            </a:r>
            <a:r>
              <a:rPr lang="en-US" altLang="zh-CN" sz="12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()</a:t>
            </a:r>
            <a:r>
              <a:rPr lang="zh-CN" altLang="en-US" sz="12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是指使用了</a:t>
            </a:r>
            <a:r>
              <a:rPr lang="en-US" altLang="zh-CN" sz="12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math</a:t>
            </a:r>
            <a:r>
              <a:rPr lang="zh-CN" altLang="en-US" sz="12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库中</a:t>
            </a:r>
            <a:r>
              <a:rPr lang="en-US" altLang="zh-CN" sz="12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fabs</a:t>
            </a:r>
            <a:r>
              <a:rPr lang="zh-CN" altLang="en-US" sz="12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函数，也可以使用内置函数</a:t>
            </a:r>
            <a:r>
              <a:rPr lang="en-US" altLang="zh-CN" sz="12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abs()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45868FA-1150-4E96-83C7-7DA5FEC71BA0}" type="slidenum">
              <a:rPr lang="en-US" altLang="zh-CN" smtClean="0"/>
              <a:pPr>
                <a:defRPr/>
              </a:pPr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501431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45868FA-1150-4E96-83C7-7DA5FEC71BA0}" type="slidenum">
              <a:rPr lang="en-US" altLang="zh-CN" smtClean="0"/>
              <a:pPr>
                <a:defRPr/>
              </a:pPr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451641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45868FA-1150-4E96-83C7-7DA5FEC71BA0}" type="slidenum">
              <a:rPr lang="en-US" altLang="zh-CN" smtClean="0"/>
              <a:pPr>
                <a:defRPr/>
              </a:pPr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117246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45868FA-1150-4E96-83C7-7DA5FEC71BA0}" type="slidenum">
              <a:rPr lang="en-US" altLang="zh-CN" smtClean="0"/>
              <a:pPr>
                <a:defRPr/>
              </a:pPr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609974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59D6396-A773-44DA-97E3-5E2391CCF9F0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28838" y="1373188"/>
            <a:ext cx="3514725" cy="1978025"/>
          </a:xfrm>
          <a:solidFill>
            <a:srgbClr val="FFFFFF"/>
          </a:solidFill>
          <a:ln w="12700" cap="flat"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9230625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math.factorial(i)</a:t>
            </a:r>
            <a:r>
              <a:rPr lang="zh-CN" altLang="en-US" sz="1200" b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：求</a:t>
            </a:r>
            <a:r>
              <a:rPr lang="en-US" altLang="zh-CN" sz="1200" b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zh-CN" altLang="en-US" sz="1200" b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的阶乘</a:t>
            </a:r>
            <a:r>
              <a:rPr lang="en-US" altLang="zh-CN" sz="1200" b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i!</a:t>
            </a: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45868FA-1150-4E96-83C7-7DA5FEC71BA0}" type="slidenum">
              <a:rPr lang="en-US" altLang="zh-CN" smtClean="0"/>
              <a:pPr>
                <a:defRPr/>
              </a:pPr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209557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math.factorial(i)</a:t>
            </a:r>
            <a:r>
              <a:rPr lang="zh-CN" altLang="en-US" sz="1200" b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：求</a:t>
            </a:r>
            <a:r>
              <a:rPr lang="en-US" altLang="zh-CN" sz="1200" b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zh-CN" altLang="en-US" sz="1200" b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的阶乘</a:t>
            </a:r>
            <a:r>
              <a:rPr lang="en-US" altLang="zh-CN" sz="1200" b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i!</a:t>
            </a: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45868FA-1150-4E96-83C7-7DA5FEC71BA0}" type="slidenum">
              <a:rPr lang="en-US" altLang="zh-CN" smtClean="0"/>
              <a:pPr>
                <a:defRPr/>
              </a:pPr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427578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ts val="2925"/>
              </a:lnSpc>
              <a:spcBef>
                <a:spcPts val="12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公元</a:t>
            </a: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</a:t>
            </a: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世纪</a:t>
            </a: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，刘徽利用“割圆术”，也就是利用圆内接正六边形算起，依次将边数加倍，一直算到内接正</a:t>
            </a: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3072</a:t>
            </a: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边形的面积，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 π</a:t>
            </a: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的近似值为</a:t>
            </a: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3.1416</a:t>
            </a: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；</a:t>
            </a: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ts val="2925"/>
              </a:lnSpc>
              <a:spcBef>
                <a:spcPts val="12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1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公元</a:t>
            </a: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</a:t>
            </a:r>
            <a:r>
              <a:rPr kumimoji="1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世纪</a:t>
            </a:r>
            <a:r>
              <a:rPr kumimoji="1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，祖冲之用了 </a:t>
            </a: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15</a:t>
            </a: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1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年时间算到小数点后</a:t>
            </a: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7</a:t>
            </a:r>
            <a:r>
              <a:rPr kumimoji="1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位，即 </a:t>
            </a: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3.141 592 6</a:t>
            </a:r>
            <a:r>
              <a:rPr kumimoji="1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，这个记录保持了一千多年。</a:t>
            </a: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ts val="2925"/>
              </a:lnSpc>
              <a:spcBef>
                <a:spcPts val="12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1946</a:t>
            </a: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年第一台计算机诞生，一下子把</a:t>
            </a:r>
            <a:r>
              <a:rPr kumimoji="1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将</a:t>
            </a: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π</a:t>
            </a:r>
            <a:r>
              <a:rPr kumimoji="1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的计算提高到</a:t>
            </a: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2  037</a:t>
            </a:r>
            <a:r>
              <a:rPr kumimoji="1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个小数位</a:t>
            </a: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；</a:t>
            </a: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ts val="2925"/>
              </a:lnSpc>
              <a:spcBef>
                <a:spcPts val="12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2010</a:t>
            </a:r>
            <a:r>
              <a:rPr kumimoji="1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</a:t>
            </a: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8</a:t>
            </a:r>
            <a:r>
              <a:rPr kumimoji="1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月</a:t>
            </a: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30</a:t>
            </a:r>
            <a:r>
              <a:rPr kumimoji="1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日</a:t>
            </a:r>
            <a:r>
              <a:rPr kumimoji="1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，日本计算机奇才近藤茂利用家用计算机和云计算相结合，计算出圆周率到小数点后 </a:t>
            </a: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 </a:t>
            </a:r>
            <a:r>
              <a:rPr kumimoji="1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万亿位</a:t>
            </a:r>
            <a:r>
              <a:rPr kumimoji="1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45868FA-1150-4E96-83C7-7DA5FEC71BA0}" type="slidenum">
              <a:rPr lang="en-US" altLang="zh-CN" smtClean="0"/>
              <a:pPr>
                <a:defRPr/>
              </a:pPr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603926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27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410575" y="4371950"/>
            <a:ext cx="733425" cy="285750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spcBef>
                <a:spcPct val="50000"/>
              </a:spcBef>
              <a:defRPr>
                <a:latin typeface="Arial" charset="0"/>
                <a:ea typeface="黑体" pitchFamily="49" charset="-122"/>
              </a:defRPr>
            </a:lvl1pPr>
          </a:lstStyle>
          <a:p>
            <a:pPr>
              <a:defRPr/>
            </a:pPr>
            <a:fld id="{C818942F-298D-4033-8946-4A0D694858D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38753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1203598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Line 15"/>
          <p:cNvSpPr>
            <a:spLocks noChangeShapeType="1"/>
          </p:cNvSpPr>
          <p:nvPr userDrawn="1"/>
        </p:nvSpPr>
        <p:spPr bwMode="auto">
          <a:xfrm>
            <a:off x="0" y="771550"/>
            <a:ext cx="7668344" cy="0"/>
          </a:xfrm>
          <a:prstGeom prst="line">
            <a:avLst/>
          </a:prstGeom>
          <a:noFill/>
          <a:ln w="25400">
            <a:solidFill>
              <a:srgbClr val="00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354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8410575" y="4857750"/>
            <a:ext cx="733425" cy="285750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spcBef>
                <a:spcPct val="50000"/>
              </a:spcBef>
              <a:defRPr>
                <a:latin typeface="Arial" charset="0"/>
                <a:ea typeface="黑体" pitchFamily="49" charset="-122"/>
              </a:defRPr>
            </a:lvl1pPr>
          </a:lstStyle>
          <a:p>
            <a:pPr>
              <a:defRPr/>
            </a:pPr>
            <a:fld id="{F3E3E659-6539-43CD-ABC4-1D57CE364A2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730807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7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410575" y="4857750"/>
            <a:ext cx="733425" cy="285750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spcBef>
                <a:spcPct val="50000"/>
              </a:spcBef>
              <a:defRPr>
                <a:latin typeface="Arial" charset="0"/>
                <a:ea typeface="黑体" pitchFamily="49" charset="-122"/>
              </a:defRPr>
            </a:lvl1pPr>
          </a:lstStyle>
          <a:p>
            <a:pPr>
              <a:defRPr/>
            </a:pPr>
            <a:fld id="{7C02C8CA-49AF-425B-8FF2-8DEB0A63BFC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Line 15"/>
          <p:cNvSpPr>
            <a:spLocks noChangeShapeType="1"/>
          </p:cNvSpPr>
          <p:nvPr userDrawn="1"/>
        </p:nvSpPr>
        <p:spPr bwMode="auto">
          <a:xfrm>
            <a:off x="0" y="699542"/>
            <a:ext cx="7668344" cy="0"/>
          </a:xfrm>
          <a:prstGeom prst="line">
            <a:avLst/>
          </a:prstGeom>
          <a:noFill/>
          <a:ln w="25400">
            <a:solidFill>
              <a:srgbClr val="00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6756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7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410575" y="4857750"/>
            <a:ext cx="733425" cy="285750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spcBef>
                <a:spcPct val="50000"/>
              </a:spcBef>
              <a:defRPr>
                <a:latin typeface="Arial" charset="0"/>
                <a:ea typeface="黑体" pitchFamily="49" charset="-122"/>
              </a:defRPr>
            </a:lvl1pPr>
          </a:lstStyle>
          <a:p>
            <a:pPr>
              <a:defRPr/>
            </a:pPr>
            <a:fld id="{73F76AA1-66F1-43B9-8730-210D649B6D5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8" name="Line 15"/>
          <p:cNvSpPr>
            <a:spLocks noChangeShapeType="1"/>
          </p:cNvSpPr>
          <p:nvPr userDrawn="1"/>
        </p:nvSpPr>
        <p:spPr bwMode="auto">
          <a:xfrm>
            <a:off x="0" y="699542"/>
            <a:ext cx="7668344" cy="0"/>
          </a:xfrm>
          <a:prstGeom prst="line">
            <a:avLst/>
          </a:prstGeom>
          <a:noFill/>
          <a:ln w="25400">
            <a:solidFill>
              <a:srgbClr val="00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0797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7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410575" y="4857750"/>
            <a:ext cx="733425" cy="285750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spcBef>
                <a:spcPct val="50000"/>
              </a:spcBef>
              <a:defRPr>
                <a:latin typeface="Arial" charset="0"/>
                <a:ea typeface="黑体" pitchFamily="49" charset="-122"/>
              </a:defRPr>
            </a:lvl1pPr>
          </a:lstStyle>
          <a:p>
            <a:pPr>
              <a:defRPr/>
            </a:pPr>
            <a:fld id="{FEAF7DD6-D0D6-4FED-8A7A-3A22149F093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Line 15"/>
          <p:cNvSpPr>
            <a:spLocks noChangeShapeType="1"/>
          </p:cNvSpPr>
          <p:nvPr userDrawn="1"/>
        </p:nvSpPr>
        <p:spPr bwMode="auto">
          <a:xfrm>
            <a:off x="0" y="699542"/>
            <a:ext cx="7668344" cy="0"/>
          </a:xfrm>
          <a:prstGeom prst="line">
            <a:avLst/>
          </a:prstGeom>
          <a:noFill/>
          <a:ln w="25400">
            <a:solidFill>
              <a:srgbClr val="00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6724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15"/>
          <p:cNvSpPr>
            <a:spLocks noChangeShapeType="1"/>
          </p:cNvSpPr>
          <p:nvPr userDrawn="1"/>
        </p:nvSpPr>
        <p:spPr bwMode="auto">
          <a:xfrm>
            <a:off x="0" y="699542"/>
            <a:ext cx="7668344" cy="0"/>
          </a:xfrm>
          <a:prstGeom prst="line">
            <a:avLst/>
          </a:prstGeom>
          <a:noFill/>
          <a:ln w="25400">
            <a:solidFill>
              <a:srgbClr val="00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2579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7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410575" y="4857750"/>
            <a:ext cx="733425" cy="285750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spcBef>
                <a:spcPct val="50000"/>
              </a:spcBef>
              <a:defRPr>
                <a:latin typeface="Arial" charset="0"/>
                <a:ea typeface="黑体" pitchFamily="49" charset="-122"/>
              </a:defRPr>
            </a:lvl1pPr>
          </a:lstStyle>
          <a:p>
            <a:pPr>
              <a:defRPr/>
            </a:pPr>
            <a:fld id="{8126BC2F-23DE-4FA4-92CE-A7105BEFF88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Line 15"/>
          <p:cNvSpPr>
            <a:spLocks noChangeShapeType="1"/>
          </p:cNvSpPr>
          <p:nvPr userDrawn="1"/>
        </p:nvSpPr>
        <p:spPr bwMode="auto">
          <a:xfrm>
            <a:off x="0" y="699542"/>
            <a:ext cx="7668344" cy="0"/>
          </a:xfrm>
          <a:prstGeom prst="line">
            <a:avLst/>
          </a:prstGeom>
          <a:noFill/>
          <a:ln w="25400">
            <a:solidFill>
              <a:srgbClr val="00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08319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7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410575" y="4857750"/>
            <a:ext cx="733425" cy="285750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spcBef>
                <a:spcPct val="50000"/>
              </a:spcBef>
              <a:defRPr>
                <a:latin typeface="Arial" charset="0"/>
                <a:ea typeface="黑体" pitchFamily="49" charset="-122"/>
              </a:defRPr>
            </a:lvl1pPr>
          </a:lstStyle>
          <a:p>
            <a:pPr>
              <a:defRPr/>
            </a:pPr>
            <a:fld id="{D88CFF81-560E-4EE0-830B-9B8D21BFB26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502827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7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410575" y="4857750"/>
            <a:ext cx="733425" cy="285750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spcBef>
                <a:spcPct val="50000"/>
              </a:spcBef>
              <a:defRPr>
                <a:latin typeface="Arial" charset="0"/>
                <a:ea typeface="黑体" pitchFamily="49" charset="-122"/>
              </a:defRPr>
            </a:lvl1pPr>
          </a:lstStyle>
          <a:p>
            <a:pPr>
              <a:defRPr/>
            </a:pPr>
            <a:fld id="{FB4E9B08-6F99-4749-8432-C814F3E4ADC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71705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7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410575" y="4857750"/>
            <a:ext cx="733425" cy="285750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spcBef>
                <a:spcPct val="50000"/>
              </a:spcBef>
              <a:defRPr>
                <a:latin typeface="Arial" charset="0"/>
                <a:ea typeface="黑体" pitchFamily="49" charset="-122"/>
              </a:defRPr>
            </a:lvl1pPr>
          </a:lstStyle>
          <a:p>
            <a:pPr>
              <a:defRPr/>
            </a:pPr>
            <a:fld id="{8561DC08-BE6F-461F-8D96-2CB5C8B3DC0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82079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rgbClr val="FFFF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0"/>
          <p:cNvSpPr>
            <a:spLocks noChangeShapeType="1"/>
          </p:cNvSpPr>
          <p:nvPr/>
        </p:nvSpPr>
        <p:spPr bwMode="auto">
          <a:xfrm rot="180000">
            <a:off x="5562600" y="4857750"/>
            <a:ext cx="457200" cy="285750"/>
          </a:xfrm>
          <a:prstGeom prst="line">
            <a:avLst/>
          </a:prstGeom>
          <a:noFill/>
          <a:ln w="5715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3" name="Line 33"/>
          <p:cNvSpPr>
            <a:spLocks noChangeShapeType="1"/>
          </p:cNvSpPr>
          <p:nvPr/>
        </p:nvSpPr>
        <p:spPr bwMode="auto">
          <a:xfrm rot="180000">
            <a:off x="6705600" y="4857750"/>
            <a:ext cx="457200" cy="285750"/>
          </a:xfrm>
          <a:prstGeom prst="line">
            <a:avLst/>
          </a:prstGeom>
          <a:noFill/>
          <a:ln w="5715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031" name="Line 34"/>
          <p:cNvSpPr>
            <a:spLocks noChangeShapeType="1"/>
          </p:cNvSpPr>
          <p:nvPr/>
        </p:nvSpPr>
        <p:spPr bwMode="auto">
          <a:xfrm rot="180000">
            <a:off x="7467600" y="4857750"/>
            <a:ext cx="457200" cy="285750"/>
          </a:xfrm>
          <a:prstGeom prst="line">
            <a:avLst/>
          </a:prstGeom>
          <a:noFill/>
          <a:ln w="5715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032" name="Line 35"/>
          <p:cNvSpPr>
            <a:spLocks noChangeShapeType="1"/>
          </p:cNvSpPr>
          <p:nvPr/>
        </p:nvSpPr>
        <p:spPr bwMode="auto">
          <a:xfrm rot="180000">
            <a:off x="8153400" y="4857750"/>
            <a:ext cx="457200" cy="285750"/>
          </a:xfrm>
          <a:prstGeom prst="line">
            <a:avLst/>
          </a:prstGeom>
          <a:noFill/>
          <a:ln w="5715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4" name="Line 15"/>
          <p:cNvSpPr>
            <a:spLocks noChangeShapeType="1"/>
          </p:cNvSpPr>
          <p:nvPr userDrawn="1"/>
        </p:nvSpPr>
        <p:spPr bwMode="auto">
          <a:xfrm>
            <a:off x="0" y="0"/>
            <a:ext cx="9144000" cy="0"/>
          </a:xfrm>
          <a:prstGeom prst="line">
            <a:avLst/>
          </a:prstGeom>
          <a:noFill/>
          <a:ln w="25400">
            <a:solidFill>
              <a:srgbClr val="00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5" name="Line 15"/>
          <p:cNvSpPr>
            <a:spLocks noChangeShapeType="1"/>
          </p:cNvSpPr>
          <p:nvPr userDrawn="1"/>
        </p:nvSpPr>
        <p:spPr bwMode="auto">
          <a:xfrm>
            <a:off x="0" y="5155269"/>
            <a:ext cx="9144000" cy="0"/>
          </a:xfrm>
          <a:prstGeom prst="line">
            <a:avLst/>
          </a:prstGeom>
          <a:noFill/>
          <a:ln w="25400">
            <a:solidFill>
              <a:srgbClr val="00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6" name="Line 15"/>
          <p:cNvSpPr>
            <a:spLocks noChangeShapeType="1"/>
          </p:cNvSpPr>
          <p:nvPr userDrawn="1"/>
        </p:nvSpPr>
        <p:spPr bwMode="auto">
          <a:xfrm flipH="1">
            <a:off x="0" y="-21470"/>
            <a:ext cx="0" cy="5164970"/>
          </a:xfrm>
          <a:prstGeom prst="line">
            <a:avLst/>
          </a:prstGeom>
          <a:noFill/>
          <a:ln w="25400">
            <a:solidFill>
              <a:srgbClr val="00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7" name="Line 15"/>
          <p:cNvSpPr>
            <a:spLocks noChangeShapeType="1"/>
          </p:cNvSpPr>
          <p:nvPr userDrawn="1"/>
        </p:nvSpPr>
        <p:spPr bwMode="auto">
          <a:xfrm flipH="1">
            <a:off x="9133367" y="-21470"/>
            <a:ext cx="0" cy="5164970"/>
          </a:xfrm>
          <a:prstGeom prst="line">
            <a:avLst/>
          </a:prstGeom>
          <a:noFill/>
          <a:ln w="25400">
            <a:solidFill>
              <a:srgbClr val="00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anchor="ctr"/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91" r:id="rId1"/>
    <p:sldLayoutId id="2147484092" r:id="rId2"/>
    <p:sldLayoutId id="2147484093" r:id="rId3"/>
    <p:sldLayoutId id="2147484094" r:id="rId4"/>
    <p:sldLayoutId id="2147484095" r:id="rId5"/>
    <p:sldLayoutId id="2147484096" r:id="rId6"/>
    <p:sldLayoutId id="2147484097" r:id="rId7"/>
    <p:sldLayoutId id="2147484098" r:id="rId8"/>
    <p:sldLayoutId id="2147484099" r:id="rId9"/>
    <p:sldLayoutId id="2147484100" r:id="rId10"/>
    <p:sldLayoutId id="2147484101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oleObject" Target="../embeddings/oleObject1.bin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w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emf"/><Relationship Id="rId4" Type="http://schemas.openxmlformats.org/officeDocument/2006/relationships/oleObject" Target="../embeddings/oleObject3.bin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8D3A59-2D42-F1D5-FC4E-9F0F0201F9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987574"/>
            <a:ext cx="6400800" cy="2682602"/>
          </a:xfrm>
        </p:spPr>
        <p:txBody>
          <a:bodyPr/>
          <a:lstStyle/>
          <a:p>
            <a:pPr algn="l"/>
            <a:r>
              <a:rPr lang="zh-CN" altLang="en-US" dirty="0"/>
              <a:t>练习：</a:t>
            </a:r>
            <a:endParaRPr lang="en-US" altLang="zh-CN" dirty="0"/>
          </a:p>
          <a:p>
            <a:pPr algn="l"/>
            <a:r>
              <a:rPr lang="zh-CN" altLang="en-US" dirty="0"/>
              <a:t>随机产生</a:t>
            </a:r>
            <a:r>
              <a:rPr lang="en-US" altLang="zh-CN" dirty="0"/>
              <a:t>10</a:t>
            </a:r>
            <a:r>
              <a:rPr lang="zh-CN" altLang="en-US" dirty="0"/>
              <a:t>个两位数，显示其中的降序数，统计并输出其中降序数的个数。</a:t>
            </a:r>
            <a:endParaRPr lang="en-US" altLang="zh-CN" dirty="0"/>
          </a:p>
          <a:p>
            <a:pPr algn="l"/>
            <a:r>
              <a:rPr lang="en-US" altLang="zh-CN" dirty="0"/>
              <a:t>53</a:t>
            </a:r>
            <a:r>
              <a:rPr lang="zh-CN" altLang="en-US" dirty="0"/>
              <a:t>，</a:t>
            </a:r>
            <a:r>
              <a:rPr lang="en-US" altLang="zh-CN" dirty="0"/>
              <a:t>86</a:t>
            </a:r>
            <a:r>
              <a:rPr lang="zh-CN" altLang="en-US" dirty="0"/>
              <a:t>是降序数，</a:t>
            </a:r>
            <a:r>
              <a:rPr lang="en-US" altLang="zh-CN" dirty="0"/>
              <a:t>12</a:t>
            </a:r>
            <a:r>
              <a:rPr lang="zh-CN" altLang="en-US" dirty="0"/>
              <a:t>，</a:t>
            </a:r>
            <a:r>
              <a:rPr lang="en-US" altLang="zh-CN" dirty="0"/>
              <a:t>37 </a:t>
            </a:r>
            <a:r>
              <a:rPr lang="zh-CN" altLang="en-US" dirty="0"/>
              <a:t>不是。</a:t>
            </a:r>
          </a:p>
        </p:txBody>
      </p:sp>
    </p:spTree>
    <p:extLst>
      <p:ext uri="{BB962C8B-B14F-4D97-AF65-F5344CB8AC3E}">
        <p14:creationId xmlns:p14="http://schemas.microsoft.com/office/powerpoint/2010/main" val="32466219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4915" name="Text Box 3"/>
          <p:cNvSpPr txBox="1">
            <a:spLocks noChangeArrowheads="1"/>
          </p:cNvSpPr>
          <p:nvPr/>
        </p:nvSpPr>
        <p:spPr bwMode="auto">
          <a:xfrm>
            <a:off x="107504" y="771550"/>
            <a:ext cx="8424863" cy="29860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61" tIns="46031" rIns="92061" bIns="46031">
            <a:spAutoFit/>
          </a:bodyPr>
          <a:lstStyle>
            <a:lvl1pPr defTabSz="639763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defTabSz="639763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defTabSz="639763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defTabSz="639763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defTabSz="639763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defTabSz="639763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defTabSz="639763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defTabSz="639763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defTabSz="639763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50000"/>
              </a:spcBef>
              <a:defRPr/>
            </a:pPr>
            <a:r>
              <a:rPr lang="zh-CN" altLang="en-US" sz="3200" b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模块六    </a:t>
            </a:r>
            <a:r>
              <a:rPr lang="zh-CN" altLang="zh-CN" sz="3200" b="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问题求解</a:t>
            </a:r>
            <a:r>
              <a:rPr lang="zh-CN" altLang="zh-CN" sz="3200" b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与算法</a:t>
            </a:r>
            <a:r>
              <a:rPr lang="zh-CN" altLang="en-US" sz="3200" b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基础</a:t>
            </a:r>
            <a:endParaRPr lang="en-US" altLang="zh-CN" sz="3200" b="0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spcBef>
                <a:spcPts val="1200"/>
              </a:spcBef>
              <a:defRPr/>
            </a:pPr>
            <a:r>
              <a:rPr lang="en-US" altLang="zh-CN" b="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		</a:t>
            </a:r>
            <a:r>
              <a:rPr lang="en-US" altLang="zh-CN" b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  </a:t>
            </a:r>
            <a:r>
              <a:rPr lang="zh-CN" altLang="en-US" b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一、基本方法和基本思想</a:t>
            </a:r>
            <a:endParaRPr lang="en-US" altLang="zh-CN" b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spcBef>
                <a:spcPts val="1200"/>
              </a:spcBef>
              <a:defRPr/>
            </a:pPr>
            <a:r>
              <a:rPr lang="en-US" altLang="zh-CN" b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			  </a:t>
            </a:r>
            <a:r>
              <a:rPr lang="zh-CN" altLang="en-US" b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二、算法的设计</a:t>
            </a:r>
            <a:endParaRPr lang="en-US" altLang="zh-CN" b="0" dirty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spcBef>
                <a:spcPct val="50000"/>
              </a:spcBef>
              <a:defRPr/>
            </a:pPr>
            <a:r>
              <a:rPr lang="en-US" altLang="zh-CN" b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			</a:t>
            </a:r>
            <a:endParaRPr lang="zh-CN" altLang="en-US" sz="2800" dirty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 idx="4294967295"/>
          </p:nvPr>
        </p:nvSpPr>
        <p:spPr/>
        <p:txBody>
          <a:bodyPr vert="horz" wrap="square" lIns="68580" tIns="34290" rIns="68580" bIns="34290" anchor="ctr"/>
          <a:lstStyle/>
          <a:p>
            <a:pPr eaLnBrk="1" hangingPunct="1"/>
            <a:r>
              <a:rPr lang="en-US" altLang="zh-CN" b="1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lang="zh-CN" altLang="en-US" b="1" dirty="0">
              <a:solidFill>
                <a:srgbClr val="00206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195" name="内容占位符 2"/>
          <p:cNvSpPr>
            <a:spLocks noGrp="1"/>
          </p:cNvSpPr>
          <p:nvPr>
            <p:ph idx="4294967295"/>
          </p:nvPr>
        </p:nvSpPr>
        <p:spPr>
          <a:xfrm>
            <a:off x="494513" y="699542"/>
            <a:ext cx="7533872" cy="3909773"/>
          </a:xfrm>
        </p:spPr>
        <p:txBody>
          <a:bodyPr vert="horz" wrap="square" lIns="68580" tIns="34290" rIns="68580" bIns="34290" anchor="t"/>
          <a:lstStyle/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zh-CN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．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枚举法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又称穷举法。列举所有的可能性，逐一尝试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：用枚举法求方程</a:t>
            </a:r>
            <a:r>
              <a:rPr lang="en-US" altLang="zh-CN" sz="180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1800" baseline="3000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en-US" altLang="zh-CN" sz="180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2x</a:t>
            </a:r>
            <a:r>
              <a:rPr lang="en-US" altLang="zh-CN" sz="1800" baseline="3000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en-US" altLang="zh-CN" sz="180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29x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-42=0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0~20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之间的整数解。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初等数学：由因式分解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(x+2)*(x+3)*(x-7)=0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，可知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0~20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之间的整数解是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</a:t>
            </a: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dirty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分析：所有可能性</a:t>
            </a:r>
            <a:r>
              <a:rPr lang="en-US" altLang="zh-CN" sz="1800" dirty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{0, 1, 2……20}</a:t>
            </a: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用</a:t>
            </a:r>
            <a:r>
              <a:rPr lang="en-US" altLang="zh-CN" sz="1800" u="sng" dirty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zh-CN" altLang="en-US" sz="1800" u="sng" dirty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1800" u="sng" dirty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1800" u="sng" dirty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1800" u="sng" dirty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2……20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，逐一尝试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</a:t>
            </a:r>
            <a:r>
              <a:rPr lang="en-US" altLang="zh-CN" sz="1800" dirty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range(0,21)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zh-CN" altLang="en-US" sz="1800" dirty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代码：</a:t>
            </a:r>
            <a:endParaRPr lang="en-US" altLang="zh-CN" sz="1800" dirty="0">
              <a:solidFill>
                <a:srgbClr val="A5002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504000" lvl="1" indent="0" eaLnBrk="1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for x in range(0,21):</a:t>
            </a:r>
          </a:p>
          <a:p>
            <a:pPr marL="504000" lvl="1" indent="0" eaLnBrk="1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if x**3-2*x**2-29*x-42==0:</a:t>
            </a:r>
          </a:p>
          <a:p>
            <a:pPr marL="504000" lvl="1" indent="0" eaLnBrk="1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print(x)</a:t>
            </a: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2A41FA9F-32F9-4970-95E1-074DAB2674F5}"/>
              </a:ext>
            </a:extLst>
          </p:cNvPr>
          <p:cNvSpPr txBox="1">
            <a:spLocks/>
          </p:cNvSpPr>
          <p:nvPr/>
        </p:nvSpPr>
        <p:spPr>
          <a:xfrm>
            <a:off x="395536" y="195486"/>
            <a:ext cx="6048724" cy="577618"/>
          </a:xfrm>
          <a:prstGeom prst="rect">
            <a:avLst/>
          </a:prstGeom>
        </p:spPr>
        <p:txBody>
          <a:bodyPr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0" lang="en-US" altLang="zh-CN" sz="2400" b="0" kern="0"/>
              <a:t> </a:t>
            </a:r>
            <a:r>
              <a:rPr kumimoji="0" lang="zh-CN" altLang="en-US" sz="2400" b="0" kern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一、程序设计的</a:t>
            </a:r>
            <a:r>
              <a:rPr lang="zh-CN" altLang="en-US" sz="2400" b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基本方法和基本思想</a:t>
            </a:r>
            <a:endParaRPr kumimoji="0" lang="zh-CN" altLang="en-US" sz="2400" b="0" kern="0" dirty="0">
              <a:solidFill>
                <a:srgbClr val="A5002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164785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 1"/>
          <p:cNvSpPr>
            <a:spLocks noGrp="1"/>
          </p:cNvSpPr>
          <p:nvPr>
            <p:ph type="title" idx="4294967295"/>
          </p:nvPr>
        </p:nvSpPr>
        <p:spPr>
          <a:xfrm>
            <a:off x="-36512" y="718369"/>
            <a:ext cx="3382119" cy="485229"/>
          </a:xfrm>
        </p:spPr>
        <p:txBody>
          <a:bodyPr vert="horz" wrap="square" lIns="68580" tIns="34290" rIns="68580" bIns="34290" anchor="ctr"/>
          <a:lstStyle/>
          <a:p>
            <a:pPr algn="l" eaLnBrk="1" hangingPunct="1"/>
            <a:r>
              <a:rPr lang="zh-CN" altLang="en-US" sz="2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枚举法基本思想：</a:t>
            </a:r>
          </a:p>
        </p:txBody>
      </p:sp>
      <p:sp>
        <p:nvSpPr>
          <p:cNvPr id="11267" name="内容占位符 2"/>
          <p:cNvSpPr>
            <a:spLocks noGrp="1"/>
          </p:cNvSpPr>
          <p:nvPr>
            <p:ph idx="4294967295"/>
          </p:nvPr>
        </p:nvSpPr>
        <p:spPr>
          <a:xfrm>
            <a:off x="323528" y="1131590"/>
            <a:ext cx="8640960" cy="3066415"/>
          </a:xfrm>
        </p:spPr>
        <p:txBody>
          <a:bodyPr vert="horz" wrap="square" lIns="68580" tIns="34290" rIns="68580" bIns="34290" anchor="t"/>
          <a:lstStyle/>
          <a:p>
            <a:pPr marL="0" lvl="1" indent="0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※</a:t>
            </a:r>
            <a:r>
              <a:rPr lang="zh-CN" altLang="en-US" sz="18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根据题目确定所有的可能性，即答案的范围</a:t>
            </a:r>
            <a:endParaRPr lang="en-US" altLang="zh-CN" sz="180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0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※ </a:t>
            </a:r>
            <a:r>
              <a:rPr lang="zh-CN" altLang="en-US" sz="18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按照顺序对所有的可能情况逐一验证</a:t>
            </a:r>
            <a:endParaRPr lang="en-US" altLang="zh-CN" sz="180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0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※ </a:t>
            </a:r>
            <a:r>
              <a:rPr lang="zh-CN" altLang="en-US" sz="18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若某个情况符合题目的条件，则为本题的一个答案；</a:t>
            </a:r>
            <a:endParaRPr lang="en-US" altLang="zh-CN" sz="180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0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18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若全部情况验证完后均不符合题目的条件，则问题无解。</a:t>
            </a:r>
            <a:endParaRPr lang="en-US" altLang="zh-CN" sz="180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18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枚举法是一种比较耗时的算法。</a:t>
            </a:r>
            <a:endParaRPr lang="en-US" altLang="zh-CN" sz="18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为提高效率，根据解决问题的情况，尽量减少循环层数以及每层循环次数。</a:t>
            </a: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8F29ADC-B014-4898-BA4F-9157B03622B1}"/>
              </a:ext>
            </a:extLst>
          </p:cNvPr>
          <p:cNvSpPr txBox="1">
            <a:spLocks/>
          </p:cNvSpPr>
          <p:nvPr/>
        </p:nvSpPr>
        <p:spPr>
          <a:xfrm>
            <a:off x="395536" y="195486"/>
            <a:ext cx="6048724" cy="577618"/>
          </a:xfrm>
          <a:prstGeom prst="rect">
            <a:avLst/>
          </a:prstGeom>
        </p:spPr>
        <p:txBody>
          <a:bodyPr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0" lang="zh-CN" altLang="en-US" sz="2400" b="0" kern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一、程序设计的</a:t>
            </a:r>
            <a:r>
              <a:rPr lang="zh-CN" altLang="en-US" sz="2400" b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基本方法和基本思想</a:t>
            </a:r>
            <a:endParaRPr kumimoji="0" lang="zh-CN" altLang="en-US" sz="2400" b="0" kern="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63047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 idx="4294967295"/>
          </p:nvPr>
        </p:nvSpPr>
        <p:spPr/>
        <p:txBody>
          <a:bodyPr vert="horz" wrap="square" lIns="68580" tIns="34290" rIns="68580" bIns="34290" anchor="ctr"/>
          <a:lstStyle/>
          <a:p>
            <a:pPr eaLnBrk="1" hangingPunct="1"/>
            <a:r>
              <a:rPr lang="en-US" altLang="zh-CN" b="1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lang="zh-CN" altLang="en-US" b="1" dirty="0">
              <a:solidFill>
                <a:srgbClr val="00206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195" name="内容占位符 2"/>
          <p:cNvSpPr>
            <a:spLocks noGrp="1"/>
          </p:cNvSpPr>
          <p:nvPr>
            <p:ph idx="4294967295"/>
          </p:nvPr>
        </p:nvSpPr>
        <p:spPr>
          <a:xfrm>
            <a:off x="467544" y="699542"/>
            <a:ext cx="8496944" cy="3857625"/>
          </a:xfrm>
        </p:spPr>
        <p:txBody>
          <a:bodyPr vert="horz" wrap="square" lIns="68580" tIns="34290" rIns="68580" bIns="34290" anchor="t"/>
          <a:lstStyle/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000" dirty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r>
              <a:rPr lang="en-US" altLang="zh-CN" sz="2000" dirty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2000" dirty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：计算机</a:t>
            </a:r>
            <a:r>
              <a:rPr lang="zh-CN" altLang="en-US" sz="2000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破案</a:t>
            </a:r>
            <a:endParaRPr lang="en-US" altLang="zh-CN" sz="2000" dirty="0">
              <a:solidFill>
                <a:srgbClr val="A5002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张三在家中遇害，侦查中发现</a:t>
            </a:r>
            <a:r>
              <a:rPr lang="en-US" altLang="zh-CN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zh-CN" altLang="en-US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四人到过现场。</a:t>
            </a:r>
          </a:p>
          <a:p>
            <a:pPr marL="0" lvl="1" indent="0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A</a:t>
            </a:r>
            <a:r>
              <a:rPr lang="zh-CN" altLang="en-US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说：“我没有杀人。”</a:t>
            </a:r>
          </a:p>
          <a:p>
            <a:pPr marL="0" lvl="1" indent="0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B</a:t>
            </a:r>
            <a:r>
              <a:rPr lang="zh-CN" altLang="en-US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说：“</a:t>
            </a:r>
            <a:r>
              <a:rPr lang="en-US" altLang="zh-CN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是凶手。”</a:t>
            </a:r>
          </a:p>
          <a:p>
            <a:pPr marL="0" lvl="1" indent="0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C</a:t>
            </a:r>
            <a:r>
              <a:rPr lang="zh-CN" altLang="en-US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说：“杀人者是</a:t>
            </a:r>
            <a:r>
              <a:rPr lang="en-US" altLang="zh-CN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zh-CN" altLang="en-US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</a:p>
          <a:p>
            <a:pPr marL="0" lvl="1" indent="0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D</a:t>
            </a:r>
            <a:r>
              <a:rPr lang="zh-CN" altLang="en-US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说：“</a:t>
            </a:r>
            <a:r>
              <a:rPr lang="en-US" altLang="zh-CN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在冤枉好人。”</a:t>
            </a: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侦查员经过判断四人中有三人说的是真话，四人中有且只有一人</a:t>
            </a:r>
            <a:endParaRPr lang="en-US" altLang="zh-CN" sz="20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是凶手，凶手到底是谁？</a:t>
            </a:r>
            <a:endParaRPr lang="en-US" altLang="zh-CN" sz="20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5516BC6A-0835-459F-B947-AD39B3675B63}"/>
              </a:ext>
            </a:extLst>
          </p:cNvPr>
          <p:cNvSpPr txBox="1">
            <a:spLocks/>
          </p:cNvSpPr>
          <p:nvPr/>
        </p:nvSpPr>
        <p:spPr>
          <a:xfrm>
            <a:off x="395536" y="195486"/>
            <a:ext cx="6048724" cy="577618"/>
          </a:xfrm>
          <a:prstGeom prst="rect">
            <a:avLst/>
          </a:prstGeom>
        </p:spPr>
        <p:txBody>
          <a:bodyPr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0" lang="zh-CN" altLang="en-US" sz="2400" b="0" kern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一、程序设计的</a:t>
            </a:r>
            <a:r>
              <a:rPr lang="zh-CN" altLang="en-US" sz="2400" b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基本方法和基本思想</a:t>
            </a:r>
            <a:endParaRPr kumimoji="0" lang="zh-CN" altLang="en-US" sz="2400" b="0" kern="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719565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 idx="4294967295"/>
          </p:nvPr>
        </p:nvSpPr>
        <p:spPr/>
        <p:txBody>
          <a:bodyPr vert="horz" wrap="square" lIns="68580" tIns="34290" rIns="68580" bIns="34290" anchor="ctr"/>
          <a:lstStyle/>
          <a:p>
            <a:pPr eaLnBrk="1" hangingPunct="1"/>
            <a:r>
              <a:rPr lang="en-US" altLang="zh-CN" b="1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lang="zh-CN" altLang="en-US" b="1" dirty="0">
              <a:solidFill>
                <a:srgbClr val="00206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195" name="内容占位符 2"/>
          <p:cNvSpPr>
            <a:spLocks noGrp="1"/>
          </p:cNvSpPr>
          <p:nvPr>
            <p:ph idx="4294967295"/>
          </p:nvPr>
        </p:nvSpPr>
        <p:spPr>
          <a:xfrm>
            <a:off x="467544" y="718706"/>
            <a:ext cx="8568952" cy="4424794"/>
          </a:xfrm>
        </p:spPr>
        <p:txBody>
          <a:bodyPr vert="horz" wrap="square" lIns="68580" tIns="34290" rIns="68580" bIns="34290" anchor="t"/>
          <a:lstStyle/>
          <a:p>
            <a:pPr marL="0" indent="0" eaLnBrk="1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zh-CN" altLang="en-US" sz="1800" dirty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分析：</a:t>
            </a:r>
            <a:r>
              <a:rPr lang="zh-CN" altLang="en-US" sz="1800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罪犯有</a:t>
            </a:r>
            <a:r>
              <a:rPr lang="en-US" altLang="zh-CN" sz="1800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1800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种可能性</a:t>
            </a:r>
            <a:r>
              <a:rPr lang="en-US" altLang="zh-CN" sz="1800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{A, B, C,</a:t>
            </a:r>
            <a:r>
              <a:rPr lang="zh-CN" altLang="en-US" sz="1800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D}</a:t>
            </a:r>
          </a:p>
          <a:p>
            <a:pPr marL="0" indent="0" eaLnBrk="1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zh-CN" altLang="en-US" sz="1800" dirty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抽象：</a:t>
            </a:r>
            <a:r>
              <a:rPr lang="zh-CN" altLang="en-US" sz="1800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用</a:t>
            </a:r>
            <a:r>
              <a:rPr lang="en-US" altLang="zh-CN" sz="1800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Python</a:t>
            </a:r>
            <a:r>
              <a:rPr lang="zh-CN" altLang="en-US" sz="1800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语言描述问题</a:t>
            </a:r>
            <a:endParaRPr lang="en-US" altLang="zh-CN" sz="1800" dirty="0">
              <a:solidFill>
                <a:srgbClr val="00206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400050" lvl="1" indent="0" eaLnBrk="1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zh-CN" altLang="en-US" sz="1800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假定罪犯是</a:t>
            </a:r>
            <a:r>
              <a:rPr lang="en-US" altLang="zh-CN" sz="1800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zh-CN" altLang="en-US" sz="1800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，即</a:t>
            </a:r>
            <a:r>
              <a:rPr lang="en-US" altLang="zh-CN" sz="1800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zh-CN" altLang="en-US" sz="1800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的值是罪犯，例如若</a:t>
            </a:r>
            <a:r>
              <a:rPr lang="en-US" altLang="zh-CN" sz="1800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zh-CN" altLang="en-US" sz="1800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的值是</a:t>
            </a:r>
            <a:r>
              <a:rPr lang="en-US" altLang="zh-CN" sz="1800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"B"</a:t>
            </a:r>
            <a:r>
              <a:rPr lang="zh-CN" altLang="en-US" sz="1800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，则</a:t>
            </a:r>
            <a:r>
              <a:rPr lang="en-US" altLang="zh-CN" sz="1800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zh-CN" altLang="en-US" sz="1800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是罪犯</a:t>
            </a:r>
            <a:endParaRPr lang="en-US" altLang="zh-CN" sz="1800" dirty="0">
              <a:solidFill>
                <a:srgbClr val="00206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400050" lvl="1" indent="0" eaLnBrk="1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◆ </a:t>
            </a:r>
            <a:r>
              <a:rPr lang="zh-CN" altLang="en-US" sz="1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枚举：</a:t>
            </a:r>
            <a:r>
              <a:rPr lang="en-US" altLang="zh-CN" sz="1800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for x in </a:t>
            </a:r>
            <a:r>
              <a:rPr lang="en-US" altLang="zh-CN" sz="1800" dirty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"ABCD":</a:t>
            </a:r>
            <a:endParaRPr lang="en-US" altLang="zh-CN" sz="1800" dirty="0">
              <a:solidFill>
                <a:srgbClr val="00206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400050" lvl="1" indent="0" eaLnBrk="1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</a:t>
            </a:r>
            <a:r>
              <a:rPr lang="en-US" altLang="zh-CN" sz="1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◆ </a:t>
            </a:r>
            <a:r>
              <a:rPr lang="zh-CN" altLang="en-US" sz="1800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四个人的话的抽象：</a:t>
            </a:r>
            <a:r>
              <a:rPr lang="en-US" altLang="zh-CN" sz="1800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	</a:t>
            </a:r>
            <a:endParaRPr lang="zh-CN" altLang="en-US" sz="1800" dirty="0">
              <a:solidFill>
                <a:srgbClr val="00206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400050" lvl="2" indent="0" eaLnBrk="1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A</a:t>
            </a:r>
            <a:r>
              <a:rPr lang="zh-CN" altLang="en-US" sz="1800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说：“我没有杀人。”</a:t>
            </a:r>
            <a:r>
              <a:rPr lang="en-US" altLang="zh-CN" sz="1800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r>
              <a:rPr lang="en-US" altLang="zh-CN" sz="1800" dirty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x!= "A"</a:t>
            </a:r>
            <a:endParaRPr lang="zh-CN" altLang="en-US" sz="1800" dirty="0">
              <a:solidFill>
                <a:srgbClr val="A5002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400050" lvl="2" indent="0" eaLnBrk="1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B</a:t>
            </a:r>
            <a:r>
              <a:rPr lang="zh-CN" altLang="en-US" sz="1800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说：“</a:t>
            </a:r>
            <a:r>
              <a:rPr lang="en-US" altLang="zh-CN" sz="1800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zh-CN" altLang="en-US" sz="1800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是凶手。”</a:t>
            </a:r>
            <a:r>
              <a:rPr lang="en-US" altLang="zh-CN" sz="1800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r>
              <a:rPr lang="en-US" altLang="zh-CN" sz="1800" dirty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x=="C"</a:t>
            </a:r>
            <a:endParaRPr lang="zh-CN" altLang="en-US" sz="1800" dirty="0">
              <a:solidFill>
                <a:srgbClr val="A5002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400050" lvl="2" indent="0" eaLnBrk="1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C</a:t>
            </a:r>
            <a:r>
              <a:rPr lang="zh-CN" altLang="en-US" sz="1800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说：“杀人者是</a:t>
            </a:r>
            <a:r>
              <a:rPr lang="en-US" altLang="zh-CN" sz="1800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r>
              <a:rPr lang="zh-CN" altLang="en-US" sz="1800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”</a:t>
            </a:r>
            <a:r>
              <a:rPr lang="en-US" altLang="zh-CN" sz="1800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r>
              <a:rPr lang="en-US" altLang="zh-CN" sz="1800" dirty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x=="D"</a:t>
            </a:r>
            <a:endParaRPr lang="zh-CN" altLang="en-US" sz="1800" dirty="0">
              <a:solidFill>
                <a:srgbClr val="A5002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400050" lvl="2" indent="0" eaLnBrk="1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D</a:t>
            </a:r>
            <a:r>
              <a:rPr lang="zh-CN" altLang="en-US" sz="1800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说：“</a:t>
            </a:r>
            <a:r>
              <a:rPr lang="en-US" altLang="zh-CN" sz="1800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zh-CN" altLang="en-US" sz="1800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在冤枉好人。”</a:t>
            </a:r>
            <a:r>
              <a:rPr lang="en-US" altLang="zh-CN" sz="1800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r>
              <a:rPr lang="en-US" altLang="zh-CN" sz="1800" dirty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x!= "D"</a:t>
            </a:r>
            <a:endParaRPr lang="zh-CN" altLang="en-US" sz="1800" dirty="0">
              <a:solidFill>
                <a:srgbClr val="A5002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1" indent="0" eaLnBrk="1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</a:t>
            </a:r>
            <a:r>
              <a:rPr lang="en-US" altLang="zh-CN" sz="1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◆ </a:t>
            </a:r>
            <a:r>
              <a:rPr lang="zh-CN" altLang="en-US" sz="1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“</a:t>
            </a:r>
            <a:r>
              <a:rPr lang="zh-CN" altLang="en-US" sz="1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三人说的是真话”的抽象：</a:t>
            </a:r>
            <a:r>
              <a:rPr lang="en-US" altLang="zh-CN" sz="1600" dirty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(x!= "A") + (x=="C") +(x=="D") + (x!="D")==3  </a:t>
            </a:r>
          </a:p>
          <a:p>
            <a:pPr marL="0" lvl="1" indent="0" eaLnBrk="1" hangingPunct="1">
              <a:lnSpc>
                <a:spcPct val="114000"/>
              </a:lnSpc>
              <a:spcBef>
                <a:spcPts val="0"/>
              </a:spcBef>
              <a:buNone/>
            </a:pPr>
            <a:r>
              <a:rPr lang="zh-CN" altLang="en-US" sz="1800" dirty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代码：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for x in "</a:t>
            </a:r>
            <a:r>
              <a:rPr lang="en-US" altLang="zh-CN" sz="180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ABCD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":</a:t>
            </a:r>
          </a:p>
          <a:p>
            <a:pPr marL="0" lvl="1" indent="0" eaLnBrk="1" hangingPunct="1">
              <a:lnSpc>
                <a:spcPct val="114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	  if (x!="A") + (x=="C") +(x=="D") + (x!="D")==3:</a:t>
            </a:r>
          </a:p>
          <a:p>
            <a:pPr marL="0" lvl="1" indent="0" eaLnBrk="1" hangingPunct="1">
              <a:lnSpc>
                <a:spcPct val="114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	      print(x)</a:t>
            </a:r>
            <a:endParaRPr lang="zh-CN" altLang="en-US" sz="180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2" indent="0" eaLnBrk="1" hangingPunct="1">
              <a:lnSpc>
                <a:spcPct val="150000"/>
              </a:lnSpc>
              <a:spcBef>
                <a:spcPts val="0"/>
              </a:spcBef>
              <a:buNone/>
            </a:pPr>
            <a:endParaRPr lang="zh-CN" altLang="en-US" sz="1600" dirty="0">
              <a:solidFill>
                <a:srgbClr val="A5002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2" indent="0" eaLnBrk="1" hangingPunct="1">
              <a:lnSpc>
                <a:spcPct val="150000"/>
              </a:lnSpc>
              <a:spcBef>
                <a:spcPts val="0"/>
              </a:spcBef>
              <a:buNone/>
            </a:pPr>
            <a:endParaRPr lang="zh-CN" altLang="en-US" sz="1600" dirty="0">
              <a:solidFill>
                <a:srgbClr val="A5002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2" indent="0" eaLnBrk="1" hangingPunct="1">
              <a:lnSpc>
                <a:spcPct val="150000"/>
              </a:lnSpc>
              <a:spcBef>
                <a:spcPts val="0"/>
              </a:spcBef>
              <a:buNone/>
            </a:pPr>
            <a:endParaRPr lang="zh-CN" altLang="en-US" sz="1600" dirty="0">
              <a:solidFill>
                <a:srgbClr val="A5002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18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C4D4DB9B-7D9A-4E8C-9951-1C0AC3406FE0}"/>
              </a:ext>
            </a:extLst>
          </p:cNvPr>
          <p:cNvSpPr txBox="1">
            <a:spLocks/>
          </p:cNvSpPr>
          <p:nvPr/>
        </p:nvSpPr>
        <p:spPr>
          <a:xfrm>
            <a:off x="395536" y="195486"/>
            <a:ext cx="6048724" cy="577618"/>
          </a:xfrm>
          <a:prstGeom prst="rect">
            <a:avLst/>
          </a:prstGeom>
        </p:spPr>
        <p:txBody>
          <a:bodyPr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0" lang="zh-CN" altLang="en-US" sz="2400" b="0" kern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一、程序设计的</a:t>
            </a:r>
            <a:r>
              <a:rPr lang="zh-CN" altLang="en-US" sz="2400" b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基本方法和基本思想</a:t>
            </a:r>
            <a:endParaRPr kumimoji="0" lang="zh-CN" altLang="en-US" sz="2400" b="0" kern="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947503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771550"/>
            <a:ext cx="8477270" cy="44165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  例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3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：寻找肇事车辆。某次交通事故中肇事车辆撞人后逃逸，警方在现场找到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3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位</a:t>
            </a:r>
            <a:endParaRPr kumimoji="1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            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目击证人询问肇事车辆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5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位车牌号码。</a:t>
            </a:r>
            <a:endParaRPr kumimoji="1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            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甲：只看清最左两位为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27</a:t>
            </a:r>
            <a:endParaRPr kumimoji="1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            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乙：只看清最后一位是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3</a:t>
            </a:r>
            <a:endParaRPr kumimoji="1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            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丙：牌号是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67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的倍数</a:t>
            </a:r>
            <a:endParaRPr kumimoji="1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  抽象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：</a:t>
            </a:r>
            <a:endParaRPr lang="en-US" altLang="zh-CN" sz="1800" b="0" dirty="0">
              <a:solidFill>
                <a:srgbClr val="000066"/>
              </a:solidFill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sz="1800" b="0" dirty="0">
              <a:solidFill>
                <a:srgbClr val="000066"/>
              </a:solidFill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sz="1800" b="0" dirty="0">
              <a:solidFill>
                <a:srgbClr val="000066"/>
              </a:solidFill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24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   分析：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100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种可能性        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x          y</a:t>
            </a:r>
          </a:p>
          <a:p>
            <a:pPr marL="0" marR="0" lvl="0" indent="0" algn="l" defTabSz="914400" rtl="0" eaLnBrk="1" fontAlgn="base" latinLnBrk="0" hangingPunct="1"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                                           0~9      0~9</a:t>
            </a:r>
            <a:endParaRPr kumimoji="1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A50021"/>
              </a:solidFill>
              <a:effectLst/>
              <a:uLnTx/>
              <a:uFillTx/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29702" name="Rectangle 3"/>
          <p:cNvSpPr>
            <a:spLocks noChangeArrowheads="1"/>
          </p:cNvSpPr>
          <p:nvPr/>
        </p:nvSpPr>
        <p:spPr bwMode="auto">
          <a:xfrm>
            <a:off x="122238" y="821281"/>
            <a:ext cx="9021762" cy="376130"/>
          </a:xfrm>
          <a:prstGeom prst="rect">
            <a:avLst/>
          </a:prstGeom>
          <a:noFill/>
          <a:ln>
            <a:noFill/>
          </a:ln>
          <a:effectLst>
            <a:outerShdw dist="107763" sx="1000" sy="1000" algn="ctr" rotWithShape="0">
              <a:schemeClr val="bg2"/>
            </a:outerShdw>
          </a:effectLst>
        </p:spPr>
        <p:txBody>
          <a:bodyPr wrap="square" lIns="92075" tIns="46038" rIns="92075" bIns="46038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Tx/>
              <a:buFont typeface="Wingdings" pitchFamily="2" charset="2"/>
              <a:buNone/>
              <a:tabLst/>
              <a:defRPr/>
            </a:pPr>
            <a:r>
              <a:rPr kumimoji="1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600" y="3287304"/>
            <a:ext cx="3528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￭ 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微软雅黑" pitchFamily="34" charset="-122"/>
                <a:cs typeface="Courier New" pitchFamily="49" charset="0"/>
              </a:rPr>
              <a:t>需要枚举的数字有几位？</a:t>
            </a:r>
          </a:p>
        </p:txBody>
      </p:sp>
      <p:sp>
        <p:nvSpPr>
          <p:cNvPr id="15" name="TextBox 3"/>
          <p:cNvSpPr txBox="1">
            <a:spLocks noChangeArrowheads="1"/>
          </p:cNvSpPr>
          <p:nvPr/>
        </p:nvSpPr>
        <p:spPr bwMode="auto">
          <a:xfrm>
            <a:off x="3985493" y="3221454"/>
            <a:ext cx="20986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6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36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36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36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36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1" i="0" u="none" strike="noStrike" kern="1200" cap="none" spc="1200" normalizeH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27xy3</a:t>
            </a:r>
            <a:endParaRPr kumimoji="1" lang="zh-CN" altLang="en-US" sz="1800" b="1" i="0" u="none" strike="noStrike" kern="1200" cap="none" spc="120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969527" y="3733670"/>
            <a:ext cx="31390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￭ 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微软雅黑" pitchFamily="34" charset="-122"/>
                <a:cs typeface="Courier New" pitchFamily="49" charset="0"/>
              </a:rPr>
              <a:t>枚举的几位数字间的关系？</a:t>
            </a:r>
          </a:p>
        </p:txBody>
      </p:sp>
      <p:sp>
        <p:nvSpPr>
          <p:cNvPr id="17" name="TextBox 16"/>
          <p:cNvSpPr txBox="1">
            <a:spLocks noChangeArrowheads="1"/>
          </p:cNvSpPr>
          <p:nvPr/>
        </p:nvSpPr>
        <p:spPr bwMode="auto">
          <a:xfrm>
            <a:off x="3925832" y="3706405"/>
            <a:ext cx="2922643" cy="369332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36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36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36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36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36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pt-BR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num=27003+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x</a:t>
            </a:r>
            <a:r>
              <a:rPr kumimoji="1" lang="pt-BR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*100+</a:t>
            </a:r>
            <a:r>
              <a:rPr lang="pt-BR" altLang="zh-CN" sz="18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y</a:t>
            </a:r>
            <a:r>
              <a:rPr kumimoji="1" lang="pt-BR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*10</a:t>
            </a:r>
            <a:endParaRPr kumimoji="1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</p:txBody>
      </p:sp>
      <p:sp>
        <p:nvSpPr>
          <p:cNvPr id="18" name="Text Box 9"/>
          <p:cNvSpPr txBox="1">
            <a:spLocks noChangeArrowheads="1"/>
          </p:cNvSpPr>
          <p:nvPr/>
        </p:nvSpPr>
        <p:spPr bwMode="auto">
          <a:xfrm>
            <a:off x="971600" y="4147309"/>
            <a:ext cx="420687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6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36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36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36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36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￭ 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微软雅黑" pitchFamily="34" charset="-122"/>
                <a:cs typeface="Courier New" pitchFamily="49" charset="0"/>
              </a:rPr>
              <a:t>验证是否是问题的解？</a:t>
            </a:r>
            <a:endParaRPr kumimoji="1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19" name="TextBox 18"/>
          <p:cNvSpPr txBox="1">
            <a:spLocks noChangeArrowheads="1"/>
          </p:cNvSpPr>
          <p:nvPr/>
        </p:nvSpPr>
        <p:spPr bwMode="auto">
          <a:xfrm>
            <a:off x="3913681" y="4137553"/>
            <a:ext cx="2934794" cy="369332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36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36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36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36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36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f num % 67==0</a:t>
            </a:r>
            <a:endParaRPr kumimoji="1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" name="直接连接符 8"/>
          <p:cNvCxnSpPr/>
          <p:nvPr/>
        </p:nvCxnSpPr>
        <p:spPr bwMode="auto">
          <a:xfrm>
            <a:off x="4552404" y="3093033"/>
            <a:ext cx="111764" cy="217712"/>
          </a:xfrm>
          <a:prstGeom prst="line">
            <a:avLst/>
          </a:prstGeom>
          <a:noFill/>
          <a:ln w="12700" algn="ctr">
            <a:solidFill>
              <a:srgbClr val="000066"/>
            </a:solidFill>
            <a:round/>
            <a:headEnd type="non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sp>
        <p:nvSpPr>
          <p:cNvPr id="12" name="TextBox 11"/>
          <p:cNvSpPr txBox="1"/>
          <p:nvPr/>
        </p:nvSpPr>
        <p:spPr>
          <a:xfrm>
            <a:off x="4283968" y="2711153"/>
            <a:ext cx="536871" cy="369332"/>
          </a:xfrm>
          <a:prstGeom prst="rect">
            <a:avLst/>
          </a:prstGeom>
          <a:solidFill>
            <a:srgbClr val="CCECFF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0~9</a:t>
            </a:r>
            <a:endParaRPr kumimoji="1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A5002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5" name="直接连接符 24"/>
          <p:cNvCxnSpPr>
            <a:cxnSpLocks/>
          </p:cNvCxnSpPr>
          <p:nvPr/>
        </p:nvCxnSpPr>
        <p:spPr bwMode="auto">
          <a:xfrm flipH="1">
            <a:off x="5004048" y="3107375"/>
            <a:ext cx="117153" cy="203370"/>
          </a:xfrm>
          <a:prstGeom prst="line">
            <a:avLst/>
          </a:prstGeom>
          <a:noFill/>
          <a:ln w="12700" algn="ctr">
            <a:solidFill>
              <a:srgbClr val="000066"/>
            </a:solidFill>
            <a:round/>
            <a:headEnd type="non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sp>
        <p:nvSpPr>
          <p:cNvPr id="27" name="TextBox 26"/>
          <p:cNvSpPr txBox="1"/>
          <p:nvPr/>
        </p:nvSpPr>
        <p:spPr>
          <a:xfrm>
            <a:off x="4899224" y="2715766"/>
            <a:ext cx="536872" cy="369332"/>
          </a:xfrm>
          <a:prstGeom prst="rect">
            <a:avLst/>
          </a:prstGeom>
          <a:solidFill>
            <a:srgbClr val="CCECFF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800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0~9</a:t>
            </a:r>
            <a:endParaRPr lang="zh-CN" altLang="en-US" sz="1800" dirty="0"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B642244-32BA-487D-BC6E-ADD530CEC879}"/>
              </a:ext>
            </a:extLst>
          </p:cNvPr>
          <p:cNvSpPr/>
          <p:nvPr/>
        </p:nvSpPr>
        <p:spPr>
          <a:xfrm>
            <a:off x="5937647" y="1271351"/>
            <a:ext cx="3163412" cy="1477328"/>
          </a:xfrm>
          <a:prstGeom prst="rect">
            <a:avLst/>
          </a:prstGeom>
          <a:ln w="19050">
            <a:solidFill>
              <a:srgbClr val="000066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x in range(10):</a:t>
            </a:r>
          </a:p>
          <a:p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for y in range(10):</a:t>
            </a:r>
          </a:p>
          <a:p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num=27003+x*100+y*10</a:t>
            </a:r>
          </a:p>
          <a:p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if num % 67==0:</a:t>
            </a:r>
          </a:p>
          <a:p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print(num)</a:t>
            </a:r>
          </a:p>
        </p:txBody>
      </p:sp>
      <p:sp>
        <p:nvSpPr>
          <p:cNvPr id="20" name="标题 1">
            <a:extLst>
              <a:ext uri="{FF2B5EF4-FFF2-40B4-BE49-F238E27FC236}">
                <a16:creationId xmlns:a16="http://schemas.microsoft.com/office/drawing/2014/main" id="{C96492EB-F878-4093-8EA1-28EDA9E76DD8}"/>
              </a:ext>
            </a:extLst>
          </p:cNvPr>
          <p:cNvSpPr txBox="1">
            <a:spLocks/>
          </p:cNvSpPr>
          <p:nvPr/>
        </p:nvSpPr>
        <p:spPr>
          <a:xfrm>
            <a:off x="395536" y="195486"/>
            <a:ext cx="6048724" cy="577618"/>
          </a:xfrm>
          <a:prstGeom prst="rect">
            <a:avLst/>
          </a:prstGeom>
        </p:spPr>
        <p:txBody>
          <a:bodyPr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0" lang="zh-CN" altLang="en-US" sz="2400" b="0" kern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一、程序设计的</a:t>
            </a:r>
            <a:r>
              <a:rPr lang="zh-CN" altLang="en-US" sz="2400" b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基本方法和基本思想</a:t>
            </a:r>
            <a:endParaRPr kumimoji="0" lang="zh-CN" altLang="en-US" sz="2400" b="0" kern="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24785658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5" grpId="0"/>
      <p:bldP spid="7" grpId="0"/>
      <p:bldP spid="17" grpId="0" animBg="1"/>
      <p:bldP spid="18" grpId="0"/>
      <p:bldP spid="19" grpId="0" animBg="1"/>
      <p:bldP spid="12" grpId="0" animBg="1"/>
      <p:bldP spid="2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内容占位符 2"/>
          <p:cNvSpPr>
            <a:spLocks noGrp="1"/>
          </p:cNvSpPr>
          <p:nvPr>
            <p:ph idx="4294967295"/>
          </p:nvPr>
        </p:nvSpPr>
        <p:spPr>
          <a:xfrm>
            <a:off x="467544" y="699542"/>
            <a:ext cx="8568952" cy="4443958"/>
          </a:xfrm>
        </p:spPr>
        <p:txBody>
          <a:bodyPr vert="horz" wrap="square" lIns="68580" tIns="34290" rIns="68580" bIns="34290" anchor="t"/>
          <a:lstStyle/>
          <a:p>
            <a:pPr marL="0" indent="0" defTabSz="68580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zh-CN" sz="180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．</a:t>
            </a:r>
            <a:r>
              <a:rPr lang="zh-CN" altLang="en-US" sz="180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迭代法</a:t>
            </a:r>
            <a:endParaRPr lang="en-US" altLang="zh-CN" sz="180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defTabSz="68580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※ </a:t>
            </a:r>
            <a:r>
              <a:rPr lang="zh-CN" altLang="en-US" sz="180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生活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中处处有迭代：</a:t>
            </a:r>
            <a:b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大学计算机：第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版、第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版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……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版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……</a:t>
            </a:r>
          </a:p>
          <a:p>
            <a:pPr marL="0" indent="0" defTabSz="68580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</a:t>
            </a:r>
            <a:r>
              <a:rPr lang="en-US" altLang="zh-CN" sz="180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J20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研制过程：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号机、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号机、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号机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……</a:t>
            </a:r>
          </a:p>
          <a:p>
            <a:pPr marL="0" indent="0" defTabSz="68580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※ </a:t>
            </a:r>
            <a:r>
              <a:rPr lang="zh-CN" altLang="en-US" sz="180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数学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</a:t>
            </a:r>
            <a:r>
              <a:rPr lang="zh-CN" altLang="en-US" sz="180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迭代：把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一个复杂的计算过程转化为简单过程的</a:t>
            </a:r>
            <a:r>
              <a:rPr lang="zh-CN" altLang="en-US" sz="180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多次重复，</a:t>
            </a:r>
            <a:endParaRPr lang="en-US" altLang="zh-CN" sz="180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defTabSz="68580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         </a:t>
            </a:r>
            <a:r>
              <a:rPr lang="zh-CN" altLang="en-US" sz="180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每次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重复都从旧值的基础上递推出新值，并由新值代替旧值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defTabSz="68580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有一个函数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f(x)</a:t>
            </a:r>
          </a:p>
          <a:p>
            <a:pPr marL="0" indent="0" defTabSz="68580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x</a:t>
            </a:r>
            <a:r>
              <a:rPr lang="en-US" altLang="zh-CN" sz="1800" baseline="-2500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180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1800" baseline="-2500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=f(</a:t>
            </a:r>
            <a:r>
              <a:rPr lang="en-US" altLang="zh-CN" sz="180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1800" baseline="-2500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 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180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1800" baseline="-2500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=f(</a:t>
            </a:r>
            <a:r>
              <a:rPr lang="en-US" altLang="zh-CN" sz="180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1800" baseline="-2500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、</a:t>
            </a:r>
            <a:r>
              <a:rPr lang="en-US" altLang="zh-CN" sz="180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1800" baseline="-2500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=f(</a:t>
            </a:r>
            <a:r>
              <a:rPr lang="en-US" altLang="zh-CN" sz="180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1800" baseline="-2500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……</a:t>
            </a:r>
            <a:r>
              <a:rPr lang="en-US" altLang="zh-CN" sz="180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1800" baseline="-2500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=f(</a:t>
            </a:r>
            <a:r>
              <a:rPr lang="en-US" altLang="zh-CN" sz="180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1800" baseline="-2500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1800" baseline="-250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-1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)…… </a:t>
            </a:r>
          </a:p>
          <a:p>
            <a:pPr marL="0" indent="0" defTabSz="685800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180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■ </a:t>
            </a:r>
            <a:r>
              <a:rPr lang="en-US" altLang="zh-CN" sz="180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1800" baseline="-2500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任意</a:t>
            </a:r>
            <a:b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lang="en-US" altLang="zh-CN" sz="180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■ 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不能无限迭代，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|</a:t>
            </a:r>
            <a:r>
              <a:rPr lang="en-US" altLang="zh-CN" sz="180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1800" baseline="-2500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en-US" altLang="zh-CN" sz="180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1800" baseline="-2500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1800" baseline="-250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-1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|&lt;EPS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时终止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defTabSz="685800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180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■ 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结果：</a:t>
            </a:r>
            <a:r>
              <a:rPr lang="en-US" altLang="zh-CN" sz="180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1800" baseline="-2500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180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endParaRPr lang="zh-CN" altLang="en-US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03F4D28C-42D6-4597-BA39-DB01C4A20F64}"/>
              </a:ext>
            </a:extLst>
          </p:cNvPr>
          <p:cNvSpPr txBox="1">
            <a:spLocks/>
          </p:cNvSpPr>
          <p:nvPr/>
        </p:nvSpPr>
        <p:spPr>
          <a:xfrm>
            <a:off x="395536" y="195486"/>
            <a:ext cx="6048724" cy="577618"/>
          </a:xfrm>
          <a:prstGeom prst="rect">
            <a:avLst/>
          </a:prstGeom>
        </p:spPr>
        <p:txBody>
          <a:bodyPr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0" lang="zh-CN" altLang="en-US" sz="2400" b="0" kern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一、程序设计的</a:t>
            </a:r>
            <a:r>
              <a:rPr lang="zh-CN" altLang="en-US" sz="2400" b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基本方法和基本思想</a:t>
            </a:r>
            <a:endParaRPr kumimoji="0" lang="zh-CN" altLang="en-US" sz="2400" b="0" kern="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010572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内容占位符 2"/>
          <p:cNvSpPr>
            <a:spLocks noGrp="1"/>
          </p:cNvSpPr>
          <p:nvPr>
            <p:ph idx="4294967295"/>
          </p:nvPr>
        </p:nvSpPr>
        <p:spPr>
          <a:xfrm>
            <a:off x="467544" y="699542"/>
            <a:ext cx="7704856" cy="4248472"/>
          </a:xfrm>
        </p:spPr>
        <p:txBody>
          <a:bodyPr vert="horz" wrap="square" lIns="68580" tIns="34290" rIns="68580" bIns="34290" anchor="t"/>
          <a:lstStyle/>
          <a:p>
            <a:pPr marL="0" indent="0" defTabSz="68580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※ </a:t>
            </a:r>
            <a:r>
              <a:rPr lang="zh-CN" altLang="en-US" sz="180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程序设计的迭代</a:t>
            </a:r>
            <a:endParaRPr lang="en-US" altLang="zh-CN" sz="180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defTabSz="68580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</a:t>
            </a:r>
            <a:r>
              <a:rPr lang="zh-CN" altLang="en-US" sz="180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程序设计中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，迭代是一种问题求解的基本方法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defTabSz="68580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         </a:t>
            </a:r>
            <a:r>
              <a:rPr lang="zh-CN" altLang="en-US" sz="180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两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个基本方法：迭代</a:t>
            </a:r>
            <a:r>
              <a:rPr lang="zh-CN" altLang="en-US" sz="180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、递归</a:t>
            </a:r>
            <a:endParaRPr lang="en-US" altLang="zh-CN" sz="180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defTabSz="68580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迭代程序：</a:t>
            </a:r>
            <a:endParaRPr lang="en-US" altLang="zh-CN" sz="1800" dirty="0">
              <a:solidFill>
                <a:srgbClr val="A5002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400050" lvl="1" indent="0" defTabSz="685800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180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x0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任意一个值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400050" lvl="1" indent="0" defTabSz="685800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180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x1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=f(</a:t>
            </a:r>
            <a:r>
              <a:rPr lang="en-US" altLang="zh-CN" sz="180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x0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</a:p>
          <a:p>
            <a:pPr marL="400050" lvl="1" indent="0" defTabSz="685800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while  </a:t>
            </a:r>
            <a:r>
              <a:rPr lang="en-US" altLang="zh-CN" sz="180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math.fabs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180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x1-x0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)&gt;EPS :</a:t>
            </a:r>
          </a:p>
          <a:p>
            <a:pPr marL="400050" lvl="1" indent="0" defTabSz="685800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</a:t>
            </a:r>
            <a:r>
              <a:rPr lang="en-US" altLang="zh-CN" sz="180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x0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sz="180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x1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400050" lvl="1" indent="0" defTabSz="685800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</a:t>
            </a:r>
            <a:r>
              <a:rPr lang="en-US" altLang="zh-CN" sz="180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x1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=f(</a:t>
            </a:r>
            <a:r>
              <a:rPr lang="en-US" altLang="zh-CN" sz="180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x0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</a:p>
          <a:p>
            <a:pPr marL="400050" lvl="1" indent="0" defTabSz="685800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print(</a:t>
            </a:r>
            <a:r>
              <a:rPr lang="en-US" altLang="zh-CN" sz="180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x1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</a:p>
          <a:p>
            <a:pPr marL="0" indent="0" eaLnBrk="1" hangingPunct="1">
              <a:buNone/>
            </a:pPr>
            <a:endParaRPr lang="zh-CN" altLang="en-US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3A2AB2B7-1248-4B7D-8BA9-92B56ACC6AA2}"/>
              </a:ext>
            </a:extLst>
          </p:cNvPr>
          <p:cNvSpPr txBox="1">
            <a:spLocks/>
          </p:cNvSpPr>
          <p:nvPr/>
        </p:nvSpPr>
        <p:spPr>
          <a:xfrm>
            <a:off x="395536" y="195486"/>
            <a:ext cx="6048724" cy="577618"/>
          </a:xfrm>
          <a:prstGeom prst="rect">
            <a:avLst/>
          </a:prstGeom>
        </p:spPr>
        <p:txBody>
          <a:bodyPr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0" lang="zh-CN" altLang="en-US" sz="2400" b="0" kern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一、程序设计的</a:t>
            </a:r>
            <a:r>
              <a:rPr lang="zh-CN" altLang="en-US" sz="2400" b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基本方法和基本思想</a:t>
            </a:r>
            <a:endParaRPr kumimoji="0" lang="zh-CN" altLang="en-US" sz="2400" b="0" kern="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987954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>
            <a:extLst>
              <a:ext uri="{FF2B5EF4-FFF2-40B4-BE49-F238E27FC236}">
                <a16:creationId xmlns:a16="http://schemas.microsoft.com/office/drawing/2014/main" id="{D97CC74C-D559-4EE6-883D-7408F2FBD5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503" y="765100"/>
            <a:ext cx="8635273" cy="420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257175" indent="-257175" defTabSz="685800" eaLnBrk="0" hangingPunct="0">
              <a:spcBef>
                <a:spcPct val="50000"/>
              </a:spcBef>
              <a:buClr>
                <a:srgbClr val="FFCCFF"/>
              </a:buClr>
              <a:buSzPct val="90000"/>
            </a:pPr>
            <a:r>
              <a:rPr lang="en-US" altLang="zh-CN" sz="1800" b="0" dirty="0">
                <a:solidFill>
                  <a:srgbClr val="000066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lang="zh-CN" altLang="en-US" sz="1800" b="0" dirty="0">
                <a:solidFill>
                  <a:srgbClr val="000066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r>
              <a:rPr lang="en-US" altLang="zh-CN" sz="1800" b="0" dirty="0">
                <a:solidFill>
                  <a:srgbClr val="000066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1800" b="0" dirty="0">
                <a:solidFill>
                  <a:srgbClr val="000066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：使用牛顿迭代法</a:t>
            </a:r>
            <a:r>
              <a:rPr lang="zh-CN" altLang="en-US" sz="1800" b="0">
                <a:solidFill>
                  <a:srgbClr val="000066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求方程的根。</a:t>
            </a:r>
            <a:endParaRPr lang="zh-CN" altLang="en-US" sz="1800" b="0" dirty="0">
              <a:solidFill>
                <a:srgbClr val="000066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57175" indent="-257175" defTabSz="685800" eaLnBrk="0" hangingPunct="0">
              <a:spcBef>
                <a:spcPct val="50000"/>
              </a:spcBef>
              <a:buClr>
                <a:srgbClr val="FFCCFF"/>
              </a:buClr>
              <a:buSzPct val="90000"/>
            </a:pPr>
            <a:endParaRPr lang="zh-CN" altLang="en-US" sz="1800" b="0" dirty="0">
              <a:solidFill>
                <a:srgbClr val="000066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57175" indent="-257175" defTabSz="685800" eaLnBrk="0" hangingPunct="0">
              <a:spcBef>
                <a:spcPct val="50000"/>
              </a:spcBef>
              <a:buClr>
                <a:srgbClr val="FFCCFF"/>
              </a:buClr>
              <a:buSzPct val="90000"/>
            </a:pPr>
            <a:r>
              <a:rPr kumimoji="0" lang="zh-CN" altLang="en-US" sz="1800" b="0" dirty="0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   </a:t>
            </a:r>
            <a:endParaRPr kumimoji="0" lang="en-US" altLang="zh-CN" sz="1800" b="0" dirty="0">
              <a:solidFill>
                <a:srgbClr val="000066"/>
              </a:solidFill>
              <a:effectLst>
                <a:outerShdw blurRad="38100" dist="38100" dir="2700000" algn="tl">
                  <a:srgbClr val="000000"/>
                </a:outerShdw>
              </a:effectLst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57175" indent="-257175" defTabSz="685800" eaLnBrk="0" hangingPunct="0">
              <a:spcBef>
                <a:spcPct val="50000"/>
              </a:spcBef>
              <a:buClr>
                <a:srgbClr val="FFCCFF"/>
              </a:buClr>
              <a:buSzPct val="90000"/>
            </a:pPr>
            <a:r>
              <a:rPr lang="en-US" altLang="zh-CN" sz="1800" b="0" dirty="0">
                <a:solidFill>
                  <a:srgbClr val="000066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lang="zh-CN" altLang="en-US" sz="1800" b="0" dirty="0">
                <a:solidFill>
                  <a:srgbClr val="000066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分析：迭代公式为：</a:t>
            </a:r>
          </a:p>
          <a:p>
            <a:pPr marL="257175" indent="-257175" defTabSz="685800" eaLnBrk="0" hangingPunct="0">
              <a:spcBef>
                <a:spcPct val="50000"/>
              </a:spcBef>
              <a:buClr>
                <a:srgbClr val="FFCCFF"/>
              </a:buClr>
              <a:buSzPct val="90000"/>
            </a:pPr>
            <a:r>
              <a:rPr lang="zh-CN" altLang="en-US" sz="1800" b="0" dirty="0">
                <a:solidFill>
                  <a:srgbClr val="000066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				    </a:t>
            </a:r>
          </a:p>
          <a:p>
            <a:pPr marL="257175" indent="-257175" defTabSz="685800" eaLnBrk="0" hangingPunct="0">
              <a:spcBef>
                <a:spcPct val="50000"/>
              </a:spcBef>
              <a:buClr>
                <a:srgbClr val="FFCCFF"/>
              </a:buClr>
              <a:buSzPct val="90000"/>
            </a:pPr>
            <a:r>
              <a:rPr lang="zh-CN" altLang="en-US" sz="1800" b="0" dirty="0">
                <a:solidFill>
                  <a:srgbClr val="000066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			</a:t>
            </a:r>
          </a:p>
          <a:p>
            <a:pPr marL="257175" indent="-257175" defTabSz="685800" eaLnBrk="0" hangingPunct="0">
              <a:lnSpc>
                <a:spcPct val="150000"/>
              </a:lnSpc>
              <a:spcBef>
                <a:spcPts val="1200"/>
              </a:spcBef>
              <a:buClr>
                <a:srgbClr val="FFCCFF"/>
              </a:buClr>
              <a:buSzPct val="90000"/>
            </a:pPr>
            <a:r>
              <a:rPr lang="zh-CN" altLang="en-US" sz="1800" b="0" dirty="0">
                <a:solidFill>
                  <a:srgbClr val="000066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            输入</a:t>
            </a:r>
            <a:r>
              <a:rPr lang="en-US" altLang="zh-CN" sz="1800" b="0" dirty="0" err="1">
                <a:solidFill>
                  <a:srgbClr val="000066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1800" b="0" baseline="-25000" dirty="0" err="1">
                <a:solidFill>
                  <a:srgbClr val="000066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zh-CN" altLang="en-US" sz="1800" b="0" dirty="0">
                <a:solidFill>
                  <a:srgbClr val="000066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值，从公式求出</a:t>
            </a:r>
            <a:r>
              <a:rPr lang="en-US" altLang="zh-CN" sz="1800" b="0" dirty="0" err="1">
                <a:solidFill>
                  <a:srgbClr val="000066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1800" b="0" baseline="-25000" dirty="0" err="1">
                <a:solidFill>
                  <a:srgbClr val="000066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1800" b="0" dirty="0">
                <a:solidFill>
                  <a:srgbClr val="000066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，再由</a:t>
            </a:r>
            <a:r>
              <a:rPr lang="en-US" altLang="zh-CN" sz="1800" b="0" dirty="0" err="1">
                <a:solidFill>
                  <a:srgbClr val="000066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1800" b="0" baseline="-25000" dirty="0" err="1">
                <a:solidFill>
                  <a:srgbClr val="000066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1800" b="0" dirty="0">
                <a:solidFill>
                  <a:srgbClr val="000066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从公式求出</a:t>
            </a:r>
            <a:r>
              <a:rPr lang="en-US" altLang="zh-CN" sz="1800" b="0" dirty="0" err="1">
                <a:solidFill>
                  <a:srgbClr val="000066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1800" b="0" baseline="-25000" dirty="0" err="1">
                <a:solidFill>
                  <a:srgbClr val="000066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1800" b="0" dirty="0">
                <a:solidFill>
                  <a:srgbClr val="000066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......</a:t>
            </a:r>
            <a:r>
              <a:rPr lang="zh-CN" altLang="en-US" sz="1800" b="0" dirty="0">
                <a:solidFill>
                  <a:srgbClr val="000066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直到</a:t>
            </a:r>
            <a:r>
              <a:rPr lang="en-US" altLang="zh-CN" sz="1800" b="0" dirty="0">
                <a:solidFill>
                  <a:srgbClr val="000066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|</a:t>
            </a:r>
            <a:r>
              <a:rPr lang="en-US" altLang="zh-CN" sz="1800" b="0" dirty="0" err="1">
                <a:solidFill>
                  <a:srgbClr val="000066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1800" b="0" baseline="-25000" dirty="0" err="1">
                <a:solidFill>
                  <a:srgbClr val="000066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n+1</a:t>
            </a:r>
            <a:r>
              <a:rPr lang="en-US" altLang="zh-CN" sz="1800" b="0" dirty="0" err="1">
                <a:solidFill>
                  <a:srgbClr val="000066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-x</a:t>
            </a:r>
            <a:r>
              <a:rPr lang="en-US" altLang="zh-CN" sz="1800" b="0" baseline="-25000" dirty="0" err="1">
                <a:solidFill>
                  <a:srgbClr val="000066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1800" b="0" dirty="0">
                <a:solidFill>
                  <a:srgbClr val="000066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|&lt;</a:t>
            </a:r>
            <a:r>
              <a:rPr lang="en-US" altLang="zh-CN" sz="1800" b="0">
                <a:solidFill>
                  <a:srgbClr val="000066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EPS</a:t>
            </a:r>
            <a:r>
              <a:rPr lang="zh-CN" altLang="en-US" sz="1800" b="0">
                <a:solidFill>
                  <a:srgbClr val="000066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结束</a:t>
            </a:r>
            <a:endParaRPr lang="en-US" altLang="zh-CN" sz="1800" b="0" dirty="0">
              <a:solidFill>
                <a:srgbClr val="000066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57175" indent="-257175" defTabSz="685800" eaLnBrk="0" hangingPunct="0">
              <a:lnSpc>
                <a:spcPct val="150000"/>
              </a:lnSpc>
              <a:spcBef>
                <a:spcPts val="0"/>
              </a:spcBef>
              <a:buClr>
                <a:srgbClr val="FFCCFF"/>
              </a:buClr>
              <a:buSzPct val="90000"/>
            </a:pPr>
            <a:r>
              <a:rPr lang="en-US" altLang="zh-CN" sz="1800" b="0" dirty="0">
                <a:solidFill>
                  <a:srgbClr val="000066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            </a:t>
            </a:r>
            <a:r>
              <a:rPr lang="zh-CN" altLang="en-US" sz="1800" b="0" dirty="0">
                <a:solidFill>
                  <a:srgbClr val="000066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可视</a:t>
            </a:r>
            <a:r>
              <a:rPr lang="en-US" altLang="zh-CN" sz="1800" b="0" dirty="0" err="1">
                <a:solidFill>
                  <a:srgbClr val="000066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1800" b="0" baseline="-25000" dirty="0" err="1">
                <a:solidFill>
                  <a:srgbClr val="000066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n+1</a:t>
            </a:r>
            <a:r>
              <a:rPr lang="zh-CN" altLang="en-US" sz="1800" b="0" dirty="0">
                <a:solidFill>
                  <a:srgbClr val="000066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为方程</a:t>
            </a:r>
            <a:r>
              <a:rPr lang="en-US" altLang="zh-CN" sz="1800" b="0" dirty="0">
                <a:solidFill>
                  <a:srgbClr val="000066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f(x</a:t>
            </a:r>
            <a:r>
              <a:rPr lang="en-US" altLang="zh-CN" sz="1800" b="0">
                <a:solidFill>
                  <a:srgbClr val="000066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)=0</a:t>
            </a:r>
            <a:r>
              <a:rPr lang="zh-CN" altLang="en-US" sz="1800" b="0">
                <a:solidFill>
                  <a:srgbClr val="000066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zh-CN" altLang="en-US" sz="1800" b="0" dirty="0">
                <a:solidFill>
                  <a:srgbClr val="000066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一个近似根 </a:t>
            </a:r>
            <a:endParaRPr kumimoji="0" lang="en-US" altLang="zh-CN" sz="1800" b="0" dirty="0">
              <a:solidFill>
                <a:srgbClr val="000066"/>
              </a:solidFill>
              <a:effectLst>
                <a:outerShdw blurRad="38100" dist="38100" dir="2700000" algn="tl">
                  <a:srgbClr val="000000"/>
                </a:outerShdw>
              </a:effectLst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57175" indent="-257175" defTabSz="685800" eaLnBrk="0" hangingPunct="0">
              <a:spcBef>
                <a:spcPct val="50000"/>
              </a:spcBef>
              <a:buClr>
                <a:srgbClr val="FFCCFF"/>
              </a:buClr>
              <a:buSzPct val="90000"/>
            </a:pPr>
            <a:r>
              <a:rPr lang="zh-CN" altLang="en-US" sz="1800" b="0" dirty="0">
                <a:solidFill>
                  <a:srgbClr val="000066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  注意：此</a:t>
            </a:r>
            <a:r>
              <a:rPr lang="en-US" altLang="zh-CN" sz="1800" b="0" dirty="0">
                <a:solidFill>
                  <a:srgbClr val="000066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f(x)</a:t>
            </a:r>
            <a:r>
              <a:rPr lang="zh-CN" altLang="en-US" sz="1800" b="0" dirty="0">
                <a:solidFill>
                  <a:srgbClr val="000066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非彼</a:t>
            </a:r>
            <a:r>
              <a:rPr lang="en-US" altLang="zh-CN" sz="1800" b="0" dirty="0">
                <a:solidFill>
                  <a:srgbClr val="000066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f(x)</a:t>
            </a:r>
          </a:p>
          <a:p>
            <a:pPr marL="257175" indent="-257175" defTabSz="685800" eaLnBrk="0" hangingPunct="0">
              <a:spcBef>
                <a:spcPct val="50000"/>
              </a:spcBef>
              <a:buClr>
                <a:srgbClr val="FFCCFF"/>
              </a:buClr>
              <a:buSzPct val="90000"/>
            </a:pPr>
            <a:endParaRPr kumimoji="0" lang="zh-CN" altLang="en-US" sz="1800" b="0" dirty="0">
              <a:solidFill>
                <a:srgbClr val="000066"/>
              </a:solidFill>
              <a:effectLst>
                <a:outerShdw blurRad="38100" dist="38100" dir="2700000" algn="tl">
                  <a:srgbClr val="000000"/>
                </a:outerShdw>
              </a:effectLst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1" name="Object 30">
            <a:extLst>
              <a:ext uri="{FF2B5EF4-FFF2-40B4-BE49-F238E27FC236}">
                <a16:creationId xmlns:a16="http://schemas.microsoft.com/office/drawing/2014/main" id="{283B9B97-9A26-4E19-AB45-204554BDBFB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9934861"/>
              </p:ext>
            </p:extLst>
          </p:nvPr>
        </p:nvGraphicFramePr>
        <p:xfrm>
          <a:off x="2815538" y="4082422"/>
          <a:ext cx="1257300" cy="3643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76240" imgH="253800" progId="Equation.DSMT4">
                  <p:embed/>
                </p:oleObj>
              </mc:Choice>
              <mc:Fallback>
                <p:oleObj name="Equation" r:id="rId3" imgW="876240" imgH="253800" progId="Equation.DSMT4">
                  <p:embed/>
                  <p:pic>
                    <p:nvPicPr>
                      <p:cNvPr id="28702" name="Object 30">
                        <a:extLst>
                          <a:ext uri="{FF2B5EF4-FFF2-40B4-BE49-F238E27FC236}">
                            <a16:creationId xmlns:a16="http://schemas.microsoft.com/office/drawing/2014/main" id="{702BA9EC-C5E5-44B0-AED3-C4E8B954F29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5538" y="4082422"/>
                        <a:ext cx="1257300" cy="3643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>
            <a:extLst>
              <a:ext uri="{FF2B5EF4-FFF2-40B4-BE49-F238E27FC236}">
                <a16:creationId xmlns:a16="http://schemas.microsoft.com/office/drawing/2014/main" id="{6B9CD518-B387-4870-8B47-518756EFEF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9632" y="1266607"/>
            <a:ext cx="4336917" cy="520771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B69C94CC-BEBF-4A9A-B38D-C2666F1BF2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9632" y="2496419"/>
            <a:ext cx="2000251" cy="737735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43A2E71E-A3D4-4B87-9FF4-9F3600FDDE9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23950" y="764309"/>
            <a:ext cx="2766826" cy="2599529"/>
          </a:xfrm>
          <a:prstGeom prst="rect">
            <a:avLst/>
          </a:prstGeom>
        </p:spPr>
      </p:pic>
      <p:pic>
        <p:nvPicPr>
          <p:cNvPr id="36" name="图片 35">
            <a:extLst>
              <a:ext uri="{FF2B5EF4-FFF2-40B4-BE49-F238E27FC236}">
                <a16:creationId xmlns:a16="http://schemas.microsoft.com/office/drawing/2014/main" id="{AFC4342A-F6E0-4DAA-B9E2-4FF46CDD263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04241" y="3743328"/>
            <a:ext cx="2319013" cy="867482"/>
          </a:xfrm>
          <a:prstGeom prst="rect">
            <a:avLst/>
          </a:prstGeom>
        </p:spPr>
      </p:pic>
      <p:sp>
        <p:nvSpPr>
          <p:cNvPr id="10" name="标题 1">
            <a:extLst>
              <a:ext uri="{FF2B5EF4-FFF2-40B4-BE49-F238E27FC236}">
                <a16:creationId xmlns:a16="http://schemas.microsoft.com/office/drawing/2014/main" id="{A6B40F3F-9D62-4283-90C2-C5728542CE08}"/>
              </a:ext>
            </a:extLst>
          </p:cNvPr>
          <p:cNvSpPr txBox="1">
            <a:spLocks/>
          </p:cNvSpPr>
          <p:nvPr/>
        </p:nvSpPr>
        <p:spPr>
          <a:xfrm>
            <a:off x="395536" y="195486"/>
            <a:ext cx="6048724" cy="577618"/>
          </a:xfrm>
          <a:prstGeom prst="rect">
            <a:avLst/>
          </a:prstGeom>
        </p:spPr>
        <p:txBody>
          <a:bodyPr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0" lang="zh-CN" altLang="en-US" sz="2400" b="0" kern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一、程序设计的</a:t>
            </a:r>
            <a:r>
              <a:rPr lang="zh-CN" altLang="en-US" sz="2400" b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基本方法和基本思想</a:t>
            </a:r>
            <a:endParaRPr kumimoji="0" lang="zh-CN" altLang="en-US" sz="2400" b="0" kern="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840995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>
            <a:extLst>
              <a:ext uri="{FF2B5EF4-FFF2-40B4-BE49-F238E27FC236}">
                <a16:creationId xmlns:a16="http://schemas.microsoft.com/office/drawing/2014/main" id="{D97CC74C-D559-4EE6-883D-7408F2FBD5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503" y="699542"/>
            <a:ext cx="7528865" cy="31801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defTabSz="685800">
              <a:lnSpc>
                <a:spcPct val="150000"/>
              </a:lnSpc>
              <a:spcBef>
                <a:spcPts val="0"/>
              </a:spcBef>
            </a:pPr>
            <a:r>
              <a:rPr lang="zh-CN" altLang="en-US" sz="1800" b="0" dirty="0">
                <a:solidFill>
                  <a:srgbClr val="000066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代码：</a:t>
            </a:r>
            <a:endParaRPr lang="en-US" altLang="zh-CN" sz="1800" b="0" dirty="0">
              <a:solidFill>
                <a:srgbClr val="000066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defTabSz="685800">
              <a:lnSpc>
                <a:spcPct val="125000"/>
              </a:lnSpc>
              <a:spcBef>
                <a:spcPts val="0"/>
              </a:spcBef>
            </a:pPr>
            <a:r>
              <a:rPr lang="en-US" altLang="zh-CN" sz="1800" dirty="0">
                <a:solidFill>
                  <a:srgbClr val="000066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   x0=2</a:t>
            </a:r>
          </a:p>
          <a:p>
            <a:pPr lvl="1" defTabSz="685800">
              <a:lnSpc>
                <a:spcPct val="125000"/>
              </a:lnSpc>
              <a:spcBef>
                <a:spcPts val="0"/>
              </a:spcBef>
            </a:pPr>
            <a:r>
              <a:rPr lang="en-US" altLang="zh-CN" sz="1800" dirty="0">
                <a:solidFill>
                  <a:srgbClr val="000066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   x1=x0-(3*x0**3-4*x0**2-5*x0+13)/(9*x0**2-8*x0-5)</a:t>
            </a:r>
          </a:p>
          <a:p>
            <a:pPr lvl="1" defTabSz="685800">
              <a:lnSpc>
                <a:spcPct val="125000"/>
              </a:lnSpc>
              <a:spcBef>
                <a:spcPts val="0"/>
              </a:spcBef>
            </a:pPr>
            <a:r>
              <a:rPr lang="en-US" altLang="zh-CN" sz="1800" dirty="0">
                <a:solidFill>
                  <a:srgbClr val="000066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   while  </a:t>
            </a:r>
            <a:r>
              <a:rPr lang="en-US" altLang="zh-CN" sz="1800" dirty="0" err="1">
                <a:solidFill>
                  <a:srgbClr val="000066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math.fabs</a:t>
            </a:r>
            <a:r>
              <a:rPr lang="en-US" altLang="zh-CN" sz="1800" dirty="0">
                <a:solidFill>
                  <a:srgbClr val="000066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(x1-x0)&gt;1E-5 :</a:t>
            </a:r>
          </a:p>
          <a:p>
            <a:pPr lvl="1" defTabSz="685800">
              <a:lnSpc>
                <a:spcPct val="125000"/>
              </a:lnSpc>
              <a:spcBef>
                <a:spcPts val="0"/>
              </a:spcBef>
            </a:pPr>
            <a:r>
              <a:rPr lang="en-US" altLang="zh-CN" sz="1800" dirty="0">
                <a:solidFill>
                  <a:srgbClr val="000066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              x0=x1</a:t>
            </a:r>
          </a:p>
          <a:p>
            <a:pPr lvl="1" defTabSz="685800">
              <a:lnSpc>
                <a:spcPct val="125000"/>
              </a:lnSpc>
              <a:spcBef>
                <a:spcPts val="0"/>
              </a:spcBef>
            </a:pPr>
            <a:r>
              <a:rPr lang="en-US" altLang="zh-CN" sz="1800" dirty="0">
                <a:solidFill>
                  <a:srgbClr val="000066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              x1=x0-(3*x0**3-4*x0**2-5*x0+13)/(9*x0**2-8*x0-5)</a:t>
            </a:r>
          </a:p>
          <a:p>
            <a:pPr lvl="1" defTabSz="685800">
              <a:lnSpc>
                <a:spcPct val="125000"/>
              </a:lnSpc>
              <a:spcBef>
                <a:spcPts val="0"/>
              </a:spcBef>
            </a:pPr>
            <a:r>
              <a:rPr lang="en-US" altLang="zh-CN" sz="1800" dirty="0">
                <a:solidFill>
                  <a:srgbClr val="000066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   print(x1)</a:t>
            </a:r>
          </a:p>
          <a:p>
            <a:pPr marL="257175" indent="-257175" defTabSz="685800" eaLnBrk="0" hangingPunct="0">
              <a:spcBef>
                <a:spcPct val="50000"/>
              </a:spcBef>
              <a:buClr>
                <a:srgbClr val="FFCCFF"/>
              </a:buClr>
              <a:buSzPct val="90000"/>
            </a:pPr>
            <a:endParaRPr kumimoji="0" lang="zh-CN" altLang="en-US" sz="1800" b="0" dirty="0">
              <a:solidFill>
                <a:srgbClr val="000066"/>
              </a:solidFill>
              <a:effectLst>
                <a:outerShdw blurRad="38100" dist="38100" dir="2700000" algn="tl">
                  <a:srgbClr val="000000"/>
                </a:outerShdw>
              </a:effectLst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3E7A81F6-96B2-4278-BEC2-982EB7C4B5D5}"/>
              </a:ext>
            </a:extLst>
          </p:cNvPr>
          <p:cNvSpPr txBox="1">
            <a:spLocks/>
          </p:cNvSpPr>
          <p:nvPr/>
        </p:nvSpPr>
        <p:spPr>
          <a:xfrm>
            <a:off x="395536" y="195486"/>
            <a:ext cx="6048724" cy="577618"/>
          </a:xfrm>
          <a:prstGeom prst="rect">
            <a:avLst/>
          </a:prstGeom>
        </p:spPr>
        <p:txBody>
          <a:bodyPr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0" lang="zh-CN" altLang="en-US" sz="2400" b="0" kern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一、程序设计的</a:t>
            </a:r>
            <a:r>
              <a:rPr lang="zh-CN" altLang="en-US" sz="2400" b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基本方法和基本思想</a:t>
            </a:r>
            <a:endParaRPr kumimoji="0" lang="zh-CN" altLang="en-US" sz="2400" b="0" kern="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245322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>
            <a:extLst>
              <a:ext uri="{FF2B5EF4-FFF2-40B4-BE49-F238E27FC236}">
                <a16:creationId xmlns:a16="http://schemas.microsoft.com/office/drawing/2014/main" id="{D97CC74C-D559-4EE6-883D-7408F2FBD5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771080"/>
            <a:ext cx="8784976" cy="41371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defTabSz="685800">
              <a:lnSpc>
                <a:spcPct val="150000"/>
              </a:lnSpc>
              <a:spcBef>
                <a:spcPts val="0"/>
              </a:spcBef>
            </a:pPr>
            <a:r>
              <a:rPr lang="zh-CN" altLang="en-US" sz="1800" b="0" dirty="0">
                <a:solidFill>
                  <a:srgbClr val="000066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r>
              <a:rPr lang="en-US" altLang="zh-CN" sz="1800" b="0" dirty="0">
                <a:solidFill>
                  <a:srgbClr val="000066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5</a:t>
            </a:r>
            <a:r>
              <a:rPr lang="zh-CN" altLang="en-US" sz="1800" b="0" dirty="0">
                <a:solidFill>
                  <a:srgbClr val="000066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：利用迭代法求立方根</a:t>
            </a:r>
          </a:p>
          <a:p>
            <a:pPr defTabSz="685800">
              <a:lnSpc>
                <a:spcPct val="150000"/>
              </a:lnSpc>
              <a:spcBef>
                <a:spcPts val="0"/>
              </a:spcBef>
            </a:pPr>
            <a:r>
              <a:rPr lang="zh-CN" altLang="en-US" sz="1800" b="0" dirty="0">
                <a:solidFill>
                  <a:srgbClr val="000066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         迭代公式：</a:t>
            </a:r>
            <a:endParaRPr lang="en-US" altLang="zh-CN" sz="1800" b="0" dirty="0">
              <a:solidFill>
                <a:srgbClr val="000066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defTabSz="685800">
              <a:lnSpc>
                <a:spcPct val="150000"/>
              </a:lnSpc>
              <a:spcBef>
                <a:spcPts val="0"/>
              </a:spcBef>
            </a:pPr>
            <a:endParaRPr lang="en-US" altLang="zh-CN" sz="1800" dirty="0">
              <a:solidFill>
                <a:srgbClr val="000066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defTabSz="685800">
              <a:lnSpc>
                <a:spcPct val="125000"/>
              </a:lnSpc>
              <a:spcBef>
                <a:spcPts val="0"/>
              </a:spcBef>
            </a:pPr>
            <a:r>
              <a:rPr lang="zh-CN" altLang="en-US" sz="1800" dirty="0">
                <a:solidFill>
                  <a:srgbClr val="A50021"/>
                </a:solidFill>
              </a:rPr>
              <a:t>分析：</a:t>
            </a:r>
            <a:r>
              <a:rPr lang="zh-CN" altLang="en-US" sz="1800" dirty="0">
                <a:solidFill>
                  <a:srgbClr val="000066"/>
                </a:solidFill>
              </a:rPr>
              <a:t>此方法就是牛顿迭代法的一种特殊形式，</a:t>
            </a:r>
            <a:r>
              <a:rPr lang="en-US" altLang="zh-CN" sz="1800" dirty="0">
                <a:solidFill>
                  <a:srgbClr val="000066"/>
                </a:solidFill>
              </a:rPr>
              <a:t>x</a:t>
            </a:r>
            <a:r>
              <a:rPr lang="en-US" altLang="zh-CN" sz="1800" baseline="30000" dirty="0">
                <a:solidFill>
                  <a:srgbClr val="000066"/>
                </a:solidFill>
              </a:rPr>
              <a:t>3</a:t>
            </a:r>
            <a:r>
              <a:rPr lang="en-US" altLang="zh-CN" sz="1800" dirty="0">
                <a:solidFill>
                  <a:srgbClr val="000066"/>
                </a:solidFill>
              </a:rPr>
              <a:t>-a=0</a:t>
            </a:r>
          </a:p>
          <a:p>
            <a:pPr defTabSz="685800">
              <a:lnSpc>
                <a:spcPct val="125000"/>
              </a:lnSpc>
              <a:spcBef>
                <a:spcPts val="0"/>
              </a:spcBef>
            </a:pPr>
            <a:r>
              <a:rPr lang="en-US" altLang="zh-CN" sz="1800" dirty="0">
                <a:solidFill>
                  <a:srgbClr val="000066"/>
                </a:solidFill>
              </a:rPr>
              <a:t>            a=8</a:t>
            </a:r>
          </a:p>
          <a:p>
            <a:pPr lvl="1" defTabSz="685800">
              <a:lnSpc>
                <a:spcPct val="125000"/>
              </a:lnSpc>
              <a:spcBef>
                <a:spcPts val="0"/>
              </a:spcBef>
            </a:pPr>
            <a:r>
              <a:rPr lang="en-US" altLang="zh-CN" sz="1800" dirty="0">
                <a:solidFill>
                  <a:srgbClr val="000066"/>
                </a:solidFill>
              </a:rPr>
              <a:t>    x0=2</a:t>
            </a:r>
          </a:p>
          <a:p>
            <a:pPr lvl="1" defTabSz="685800">
              <a:lnSpc>
                <a:spcPct val="125000"/>
              </a:lnSpc>
              <a:spcBef>
                <a:spcPts val="0"/>
              </a:spcBef>
            </a:pPr>
            <a:r>
              <a:rPr lang="en-US" altLang="zh-CN" sz="1800" dirty="0">
                <a:solidFill>
                  <a:srgbClr val="000066"/>
                </a:solidFill>
              </a:rPr>
              <a:t>    x1=2/3*x0+a/(3*x0**2)</a:t>
            </a:r>
          </a:p>
          <a:p>
            <a:pPr lvl="1" defTabSz="685800">
              <a:lnSpc>
                <a:spcPct val="125000"/>
              </a:lnSpc>
              <a:spcBef>
                <a:spcPts val="0"/>
              </a:spcBef>
            </a:pPr>
            <a:r>
              <a:rPr lang="en-US" altLang="zh-CN" sz="1800" dirty="0">
                <a:solidFill>
                  <a:srgbClr val="000066"/>
                </a:solidFill>
              </a:rPr>
              <a:t>    while  </a:t>
            </a:r>
            <a:r>
              <a:rPr lang="en-US" altLang="zh-CN" sz="1800" dirty="0" err="1">
                <a:solidFill>
                  <a:srgbClr val="000066"/>
                </a:solidFill>
              </a:rPr>
              <a:t>math.fabs</a:t>
            </a:r>
            <a:r>
              <a:rPr lang="en-US" altLang="zh-CN" sz="1800" dirty="0">
                <a:solidFill>
                  <a:srgbClr val="000066"/>
                </a:solidFill>
              </a:rPr>
              <a:t>(x1-x0)&gt;1E-5 :</a:t>
            </a:r>
          </a:p>
          <a:p>
            <a:pPr lvl="1" defTabSz="685800">
              <a:lnSpc>
                <a:spcPct val="125000"/>
              </a:lnSpc>
              <a:spcBef>
                <a:spcPts val="0"/>
              </a:spcBef>
            </a:pPr>
            <a:r>
              <a:rPr lang="en-US" altLang="zh-CN" sz="1800" dirty="0">
                <a:solidFill>
                  <a:srgbClr val="000066"/>
                </a:solidFill>
              </a:rPr>
              <a:t>               x0=x1</a:t>
            </a:r>
          </a:p>
          <a:p>
            <a:pPr lvl="1" defTabSz="685800">
              <a:lnSpc>
                <a:spcPct val="125000"/>
              </a:lnSpc>
              <a:spcBef>
                <a:spcPts val="0"/>
              </a:spcBef>
            </a:pPr>
            <a:r>
              <a:rPr lang="en-US" altLang="zh-CN" sz="1800" dirty="0">
                <a:solidFill>
                  <a:srgbClr val="000066"/>
                </a:solidFill>
              </a:rPr>
              <a:t>               x1=2/3*x0+a/(3*x0**2)</a:t>
            </a:r>
          </a:p>
          <a:p>
            <a:pPr lvl="1" defTabSz="685800">
              <a:lnSpc>
                <a:spcPct val="125000"/>
              </a:lnSpc>
              <a:spcBef>
                <a:spcPts val="0"/>
              </a:spcBef>
            </a:pPr>
            <a:r>
              <a:rPr lang="en-US" altLang="zh-CN" sz="1800" dirty="0">
                <a:solidFill>
                  <a:srgbClr val="000066"/>
                </a:solidFill>
              </a:rPr>
              <a:t>    print(x1)</a:t>
            </a:r>
          </a:p>
        </p:txBody>
      </p:sp>
      <p:pic>
        <p:nvPicPr>
          <p:cNvPr id="19" name="Picture 25">
            <a:extLst>
              <a:ext uri="{FF2B5EF4-FFF2-40B4-BE49-F238E27FC236}">
                <a16:creationId xmlns:a16="http://schemas.microsoft.com/office/drawing/2014/main" id="{236A56F0-812B-4614-BD0B-C76A6A0B8E3E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58"/>
          <a:stretch>
            <a:fillRect/>
          </a:stretch>
        </p:blipFill>
        <p:spPr bwMode="auto">
          <a:xfrm>
            <a:off x="3155708" y="773104"/>
            <a:ext cx="528379" cy="4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Picture 26">
            <a:extLst>
              <a:ext uri="{FF2B5EF4-FFF2-40B4-BE49-F238E27FC236}">
                <a16:creationId xmlns:a16="http://schemas.microsoft.com/office/drawing/2014/main" id="{2BC587A9-9BF0-4C6F-8A15-B6923D9A0A79}"/>
              </a:ext>
            </a:extLst>
          </p:cNvPr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1173104"/>
            <a:ext cx="1816250" cy="6285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标题 1">
            <a:extLst>
              <a:ext uri="{FF2B5EF4-FFF2-40B4-BE49-F238E27FC236}">
                <a16:creationId xmlns:a16="http://schemas.microsoft.com/office/drawing/2014/main" id="{E71B704B-5E8B-4AC3-A7EE-4E09F27B1721}"/>
              </a:ext>
            </a:extLst>
          </p:cNvPr>
          <p:cNvSpPr txBox="1">
            <a:spLocks/>
          </p:cNvSpPr>
          <p:nvPr/>
        </p:nvSpPr>
        <p:spPr>
          <a:xfrm>
            <a:off x="395536" y="195486"/>
            <a:ext cx="6048724" cy="577618"/>
          </a:xfrm>
          <a:prstGeom prst="rect">
            <a:avLst/>
          </a:prstGeom>
        </p:spPr>
        <p:txBody>
          <a:bodyPr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0" lang="zh-CN" altLang="en-US" sz="2400" b="0" kern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一、程序设计的</a:t>
            </a:r>
            <a:r>
              <a:rPr lang="zh-CN" altLang="en-US" sz="2400" b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基本方法和基本思想</a:t>
            </a:r>
            <a:endParaRPr kumimoji="0" lang="zh-CN" altLang="en-US" sz="2400" b="0" kern="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96817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0579" name="Rectangle 3"/>
          <p:cNvSpPr>
            <a:spLocks noChangeArrowheads="1"/>
          </p:cNvSpPr>
          <p:nvPr/>
        </p:nvSpPr>
        <p:spPr bwMode="auto">
          <a:xfrm>
            <a:off x="141525" y="771550"/>
            <a:ext cx="8964612" cy="27676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zh-CN" altLang="en-US" sz="1800" b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r>
              <a:rPr lang="en-US" altLang="zh-CN" sz="1800" b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6</a:t>
            </a:r>
            <a:r>
              <a:rPr lang="zh-CN" altLang="en-US" sz="1800" b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：猴子吃桃子。</a:t>
            </a:r>
            <a:endParaRPr lang="en-US" altLang="zh-CN" sz="1800" b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  <a:defRPr/>
            </a:pPr>
            <a:r>
              <a:rPr lang="zh-CN" altLang="en-US" sz="1800" b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小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猴有桃若干，第一天吃掉一半多一个；第二天吃剩下桃子的一半多一</a:t>
            </a:r>
            <a:r>
              <a: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个；</a:t>
            </a:r>
            <a:endParaRPr kumimoji="1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  <a:defRPr/>
            </a:pPr>
            <a:r>
              <a:rPr lang="en-US" altLang="zh-CN" sz="1800" b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</a:t>
            </a:r>
            <a:r>
              <a: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以后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每天都吃尚存桃子的一半多一个，到第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天只剩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个，问小猴原有桃</a:t>
            </a:r>
            <a:r>
              <a: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多少？</a:t>
            </a:r>
            <a:endParaRPr kumimoji="1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  <a:defRPr/>
            </a:pPr>
            <a:r>
              <a: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分析：假定</a:t>
            </a:r>
            <a:r>
              <a:rPr kumimoji="1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1800" b="0" i="0" u="none" strike="noStrike" kern="1200" cap="none" spc="0" normalizeH="0" baseline="-2500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表示第</a:t>
            </a:r>
            <a:r>
              <a:rPr lang="en-US" altLang="zh-CN" sz="1800" b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zh-CN" altLang="en-US" sz="1800" b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天的桃子数量，因此有</a:t>
            </a:r>
            <a:endParaRPr lang="en-US" altLang="zh-CN" sz="1800" b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  <a:defRPr/>
            </a:pPr>
            <a:endParaRPr kumimoji="1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  <a:spcBef>
                <a:spcPts val="1800"/>
              </a:spcBef>
              <a:defRPr/>
            </a:pPr>
            <a:r>
              <a:rPr lang="en-US" altLang="zh-CN" sz="1800" b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</a:t>
            </a:r>
            <a:r>
              <a:rPr lang="zh-CN" altLang="en-US" sz="1800" b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变换可得</a:t>
            </a: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899592" y="3915099"/>
            <a:ext cx="8964612" cy="47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即用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后一天的数推出前一天的桃子</a:t>
            </a:r>
            <a:r>
              <a: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微软雅黑" pitchFamily="34" charset="-122"/>
                <a:cs typeface="Courier New" pitchFamily="49" charset="0"/>
              </a:rPr>
              <a:t>数。</a:t>
            </a: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pic>
        <p:nvPicPr>
          <p:cNvPr id="30764" name="Picture 4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29" t="-6965" b="1"/>
          <a:stretch/>
        </p:blipFill>
        <p:spPr bwMode="auto">
          <a:xfrm>
            <a:off x="1331640" y="2499742"/>
            <a:ext cx="1750918" cy="5760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5" name="Picture 4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3836" y="3635771"/>
            <a:ext cx="1895475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椭圆 4"/>
          <p:cNvSpPr/>
          <p:nvPr/>
        </p:nvSpPr>
        <p:spPr bwMode="auto">
          <a:xfrm>
            <a:off x="8820472" y="3434237"/>
            <a:ext cx="285665" cy="181458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A50021"/>
              </a:solidFill>
              <a:effectLst/>
              <a:uLnTx/>
              <a:uFillTx/>
              <a:latin typeface="Arial" charset="0"/>
              <a:ea typeface="黑体" pitchFamily="2" charset="-122"/>
              <a:cs typeface="+mn-cs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8820472" y="3434237"/>
            <a:ext cx="180000" cy="180000"/>
          </a:xfrm>
          <a:prstGeom prst="ellipse">
            <a:avLst/>
          </a:prstGeom>
          <a:solidFill>
            <a:srgbClr val="CCECFF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A50021"/>
              </a:solidFill>
              <a:effectLst/>
              <a:uLnTx/>
              <a:uFillTx/>
              <a:latin typeface="Arial" charset="0"/>
              <a:ea typeface="黑体" pitchFamily="2" charset="-122"/>
              <a:cs typeface="+mn-cs"/>
            </a:endParaRPr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FD6B1622-7AB0-4DFD-82D6-C193BE3F618C}"/>
              </a:ext>
            </a:extLst>
          </p:cNvPr>
          <p:cNvSpPr txBox="1">
            <a:spLocks/>
          </p:cNvSpPr>
          <p:nvPr/>
        </p:nvSpPr>
        <p:spPr>
          <a:xfrm>
            <a:off x="395536" y="195486"/>
            <a:ext cx="6048724" cy="577618"/>
          </a:xfrm>
          <a:prstGeom prst="rect">
            <a:avLst/>
          </a:prstGeom>
        </p:spPr>
        <p:txBody>
          <a:bodyPr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0" lang="zh-CN" altLang="en-US" sz="2400" b="0" kern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一、程序设计的</a:t>
            </a:r>
            <a:r>
              <a:rPr lang="zh-CN" altLang="en-US" sz="2400" b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基本方法和基本思想</a:t>
            </a:r>
            <a:endParaRPr kumimoji="0" lang="zh-CN" altLang="en-US" sz="2400" b="0" kern="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22518E8-7A4F-43BB-9F31-D82C12894261}"/>
              </a:ext>
            </a:extLst>
          </p:cNvPr>
          <p:cNvSpPr txBox="1"/>
          <p:nvPr/>
        </p:nvSpPr>
        <p:spPr>
          <a:xfrm>
            <a:off x="5580112" y="2211710"/>
            <a:ext cx="2304256" cy="2031325"/>
          </a:xfrm>
          <a:prstGeom prst="rect">
            <a:avLst/>
          </a:prstGeom>
          <a:noFill/>
          <a:ln>
            <a:solidFill>
              <a:srgbClr val="000066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代码：</a:t>
            </a:r>
            <a:endParaRPr lang="en-US" altLang="zh-CN" sz="18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x=1</a:t>
            </a:r>
          </a:p>
          <a:p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for i in range(6,0,-1):</a:t>
            </a:r>
          </a:p>
          <a:p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x=(x+1)*2</a:t>
            </a:r>
          </a:p>
          <a:p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print(x)</a:t>
            </a:r>
            <a:endParaRPr lang="en-US" altLang="zh-CN" sz="18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sz="18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zh-CN" altLang="en-US" sz="18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3944239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0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200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0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0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00579" grpId="0"/>
      <p:bldP spid="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内容占位符 2"/>
          <p:cNvSpPr>
            <a:spLocks noGrp="1"/>
          </p:cNvSpPr>
          <p:nvPr>
            <p:ph idx="4294967295"/>
          </p:nvPr>
        </p:nvSpPr>
        <p:spPr>
          <a:xfrm>
            <a:off x="494513" y="699542"/>
            <a:ext cx="6669775" cy="4248472"/>
          </a:xfrm>
        </p:spPr>
        <p:txBody>
          <a:bodyPr vert="horz" wrap="square" lIns="68580" tIns="34290" rIns="68580" bIns="34290" anchor="t"/>
          <a:lstStyle/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zh-CN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．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累加问题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求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s=a</a:t>
            </a:r>
            <a:r>
              <a:rPr lang="en-US" altLang="zh-CN" sz="1800" baseline="-250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+a</a:t>
            </a:r>
            <a:r>
              <a:rPr lang="en-US" altLang="zh-CN" sz="1800" baseline="-250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+……+a</a:t>
            </a:r>
            <a:r>
              <a:rPr lang="en-US" altLang="zh-CN" sz="1800" baseline="-250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+……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的部分和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无数级数，计算机是无法计算无限问题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）求前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项之和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14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s=0</a:t>
            </a:r>
          </a:p>
          <a:p>
            <a:pPr marL="0" indent="0" eaLnBrk="1" hangingPunct="1">
              <a:lnSpc>
                <a:spcPct val="114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for </a:t>
            </a:r>
            <a:r>
              <a:rPr lang="en-US" altLang="zh-CN" sz="160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range(1,n+1):</a:t>
            </a:r>
          </a:p>
          <a:p>
            <a:pPr marL="0" indent="0" eaLnBrk="1" hangingPunct="1">
              <a:lnSpc>
                <a:spcPct val="114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t=</a:t>
            </a:r>
            <a:r>
              <a:rPr lang="zh-CN" altLang="en-US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计算</a:t>
            </a:r>
            <a:r>
              <a:rPr lang="en-US" altLang="zh-CN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1600" baseline="-250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</a:p>
          <a:p>
            <a:pPr marL="0" indent="0" eaLnBrk="1" hangingPunct="1">
              <a:lnSpc>
                <a:spcPct val="114000"/>
              </a:lnSpc>
              <a:spcBef>
                <a:spcPts val="0"/>
              </a:spcBef>
              <a:buNone/>
            </a:pPr>
            <a:r>
              <a:rPr lang="en-US" altLang="zh-CN" sz="1600" baseline="-250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       </a:t>
            </a:r>
            <a:r>
              <a:rPr lang="en-US" altLang="zh-CN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s=</a:t>
            </a:r>
            <a:r>
              <a:rPr lang="en-US" altLang="zh-CN" sz="160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s+t</a:t>
            </a:r>
            <a:endParaRPr lang="en-US" altLang="zh-CN" sz="160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14000"/>
              </a:lnSpc>
              <a:spcBef>
                <a:spcPts val="600"/>
              </a:spcBef>
              <a:buNone/>
            </a:pPr>
            <a:r>
              <a:rPr lang="zh-CN" altLang="en-US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r>
              <a:rPr lang="en-US" altLang="zh-CN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</a:t>
            </a:r>
            <a:r>
              <a:rPr lang="zh-CN" altLang="en-US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：求</a:t>
            </a:r>
            <a:endParaRPr lang="en-US" altLang="zh-CN" sz="160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14000"/>
              </a:lnSpc>
              <a:spcBef>
                <a:spcPts val="600"/>
              </a:spcBef>
              <a:buNone/>
            </a:pPr>
            <a:endParaRPr lang="en-US" altLang="zh-CN" sz="160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14000"/>
              </a:lnSpc>
              <a:spcBef>
                <a:spcPts val="3000"/>
              </a:spcBef>
              <a:buNone/>
            </a:pP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分析：通式是</a:t>
            </a:r>
            <a:r>
              <a:rPr lang="en-US" altLang="zh-CN" sz="180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lang="en-US" altLang="zh-CN" sz="1800" baseline="-2500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=t</a:t>
            </a:r>
            <a:r>
              <a:rPr lang="en-US" altLang="zh-CN" sz="1800" baseline="-250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i-1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*</a:t>
            </a:r>
            <a:r>
              <a:rPr lang="en-US" altLang="zh-CN" sz="180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	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假定</a:t>
            </a:r>
            <a:r>
              <a:rPr lang="en-US" altLang="zh-CN" sz="180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lang="en-US" altLang="zh-CN" sz="1800" baseline="-2500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表示第</a:t>
            </a:r>
            <a:r>
              <a:rPr lang="en-US" altLang="zh-CN" sz="180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项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7" name="Picture 10">
            <a:extLst>
              <a:ext uri="{FF2B5EF4-FFF2-40B4-BE49-F238E27FC236}">
                <a16:creationId xmlns:a16="http://schemas.microsoft.com/office/drawing/2014/main" id="{7E1D6C10-5981-4102-AF80-6F83B93523C4}"/>
              </a:ext>
            </a:extLst>
          </p:cNvPr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3435846"/>
            <a:ext cx="4680520" cy="5776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194" name="标题 1"/>
          <p:cNvSpPr>
            <a:spLocks noGrp="1"/>
          </p:cNvSpPr>
          <p:nvPr>
            <p:ph type="title" idx="4294967295"/>
          </p:nvPr>
        </p:nvSpPr>
        <p:spPr/>
        <p:txBody>
          <a:bodyPr vert="horz" wrap="square" lIns="68580" tIns="34290" rIns="68580" bIns="34290" anchor="ctr"/>
          <a:lstStyle/>
          <a:p>
            <a:pPr eaLnBrk="1" hangingPunct="1"/>
            <a:r>
              <a:rPr lang="en-US" altLang="zh-CN" b="1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lang="zh-CN" altLang="en-US" b="1" dirty="0">
              <a:solidFill>
                <a:srgbClr val="00206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96FE7AD9-00D3-40D9-85E9-499AA2476B40}"/>
              </a:ext>
            </a:extLst>
          </p:cNvPr>
          <p:cNvSpPr txBox="1">
            <a:spLocks/>
          </p:cNvSpPr>
          <p:nvPr/>
        </p:nvSpPr>
        <p:spPr>
          <a:xfrm>
            <a:off x="395536" y="195486"/>
            <a:ext cx="6048724" cy="577618"/>
          </a:xfrm>
          <a:prstGeom prst="rect">
            <a:avLst/>
          </a:prstGeom>
        </p:spPr>
        <p:txBody>
          <a:bodyPr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0" lang="zh-CN" altLang="en-US" sz="2400" b="0" kern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一、程序设计的</a:t>
            </a:r>
            <a:r>
              <a:rPr lang="zh-CN" altLang="en-US" sz="2400" b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基本方法和基本思想</a:t>
            </a:r>
            <a:endParaRPr kumimoji="0" lang="zh-CN" altLang="en-US" sz="2400" b="0" kern="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8948967-678E-4EF7-BA6C-1FC26337F103}"/>
              </a:ext>
            </a:extLst>
          </p:cNvPr>
          <p:cNvSpPr/>
          <p:nvPr/>
        </p:nvSpPr>
        <p:spPr>
          <a:xfrm>
            <a:off x="6029515" y="843558"/>
            <a:ext cx="2862965" cy="1815882"/>
          </a:xfrm>
          <a:prstGeom prst="rect">
            <a:avLst/>
          </a:prstGeom>
          <a:ln w="19050">
            <a:solidFill>
              <a:srgbClr val="000066"/>
            </a:solidFill>
          </a:ln>
        </p:spPr>
        <p:txBody>
          <a:bodyPr wrap="square">
            <a:spAutoFit/>
          </a:bodyPr>
          <a:lstStyle/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import math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s=1    	# </a:t>
            </a:r>
            <a:r>
              <a:rPr lang="zh-CN" altLang="en-US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zh-CN" altLang="en-US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项直接赋值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for </a:t>
            </a:r>
            <a:r>
              <a:rPr lang="en-US" altLang="zh-CN" sz="1600" b="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in range(1,101):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t=1/</a:t>
            </a:r>
            <a:r>
              <a:rPr lang="en-US" altLang="zh-CN" sz="1600" b="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math.factorial</a:t>
            </a: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1600" b="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s=</a:t>
            </a:r>
            <a:r>
              <a:rPr lang="en-US" altLang="zh-CN" sz="1600" b="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s+t</a:t>
            </a:r>
            <a:endParaRPr lang="en-US" altLang="zh-CN" sz="16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print(s)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# </a:t>
            </a:r>
            <a:r>
              <a:rPr lang="zh-CN" altLang="en-US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注：程序效率差</a:t>
            </a:r>
            <a:endParaRPr lang="en-US" altLang="zh-CN" sz="16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31A9584-29CD-450A-B904-1348B4DD8EC5}"/>
              </a:ext>
            </a:extLst>
          </p:cNvPr>
          <p:cNvSpPr/>
          <p:nvPr/>
        </p:nvSpPr>
        <p:spPr>
          <a:xfrm>
            <a:off x="6008055" y="2730282"/>
            <a:ext cx="2862965" cy="1569660"/>
          </a:xfrm>
          <a:prstGeom prst="rect">
            <a:avLst/>
          </a:prstGeom>
          <a:ln w="19050">
            <a:solidFill>
              <a:srgbClr val="000066"/>
            </a:solidFill>
          </a:ln>
        </p:spPr>
        <p:txBody>
          <a:bodyPr wrap="square">
            <a:spAutoFit/>
          </a:bodyPr>
          <a:lstStyle/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s=1    	# </a:t>
            </a:r>
            <a:r>
              <a:rPr lang="zh-CN" altLang="en-US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zh-CN" altLang="en-US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项直接赋值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t=1 	# </a:t>
            </a:r>
            <a:r>
              <a:rPr lang="zh-CN" altLang="en-US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zh-CN" altLang="en-US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项的分母</a:t>
            </a:r>
            <a:endParaRPr lang="en-US" altLang="zh-CN" sz="16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for </a:t>
            </a:r>
            <a:r>
              <a:rPr lang="en-US" altLang="zh-CN" sz="1600" b="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in range(1,101):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t=t*</a:t>
            </a:r>
            <a:r>
              <a:rPr lang="en-US" altLang="zh-CN" sz="1600" b="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#</a:t>
            </a:r>
            <a:r>
              <a:rPr lang="zh-CN" altLang="en-US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计算第</a:t>
            </a:r>
            <a:r>
              <a:rPr lang="en-US" altLang="zh-CN" sz="1600" b="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zh-CN" altLang="en-US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项的分母</a:t>
            </a:r>
            <a:endParaRPr lang="en-US" altLang="zh-CN" sz="16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s=s+1/t	# </a:t>
            </a:r>
            <a:r>
              <a:rPr lang="zh-CN" altLang="en-US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累加第</a:t>
            </a:r>
            <a:r>
              <a:rPr lang="en-US" altLang="zh-CN" sz="1600" b="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zh-CN" altLang="en-US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项</a:t>
            </a:r>
            <a:endParaRPr lang="en-US" altLang="zh-CN" sz="16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print(s)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F83BEB3-AB9C-402F-91AC-41765D54A2E7}"/>
              </a:ext>
            </a:extLst>
          </p:cNvPr>
          <p:cNvSpPr txBox="1"/>
          <p:nvPr/>
        </p:nvSpPr>
        <p:spPr>
          <a:xfrm>
            <a:off x="1187624" y="4057633"/>
            <a:ext cx="697627" cy="338554"/>
          </a:xfrm>
          <a:prstGeom prst="rect">
            <a:avLst/>
          </a:prstGeom>
          <a:noFill/>
          <a:ln>
            <a:solidFill>
              <a:srgbClr val="000066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1600" b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sz="1600" b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zh-CN" altLang="en-US" sz="1600" b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项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95922B6-50CF-4B7D-AF10-DBA0B0172C12}"/>
              </a:ext>
            </a:extLst>
          </p:cNvPr>
          <p:cNvSpPr txBox="1"/>
          <p:nvPr/>
        </p:nvSpPr>
        <p:spPr>
          <a:xfrm>
            <a:off x="2179867" y="4057633"/>
            <a:ext cx="697627" cy="338554"/>
          </a:xfrm>
          <a:prstGeom prst="rect">
            <a:avLst/>
          </a:prstGeom>
          <a:noFill/>
          <a:ln>
            <a:solidFill>
              <a:srgbClr val="000066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1600" b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sz="1600" b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1600" b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项</a:t>
            </a: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5A23EB47-EA46-42EF-BF49-21729A1BBD9E}"/>
              </a:ext>
            </a:extLst>
          </p:cNvPr>
          <p:cNvCxnSpPr>
            <a:cxnSpLocks/>
          </p:cNvCxnSpPr>
          <p:nvPr/>
        </p:nvCxnSpPr>
        <p:spPr bwMode="auto">
          <a:xfrm flipV="1">
            <a:off x="1536437" y="3724655"/>
            <a:ext cx="227250" cy="332978"/>
          </a:xfrm>
          <a:prstGeom prst="straightConnector1">
            <a:avLst/>
          </a:prstGeom>
          <a:noFill/>
          <a:ln w="12700" algn="ctr">
            <a:solidFill>
              <a:srgbClr val="A50021"/>
            </a:solidFill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96CE54F6-96EF-484F-AA88-506AFFA13BD2}"/>
              </a:ext>
            </a:extLst>
          </p:cNvPr>
          <p:cNvCxnSpPr>
            <a:cxnSpLocks/>
            <a:stCxn id="11" idx="0"/>
          </p:cNvCxnSpPr>
          <p:nvPr/>
        </p:nvCxnSpPr>
        <p:spPr bwMode="auto">
          <a:xfrm flipH="1" flipV="1">
            <a:off x="2390607" y="3763621"/>
            <a:ext cx="138074" cy="294012"/>
          </a:xfrm>
          <a:prstGeom prst="straightConnector1">
            <a:avLst/>
          </a:prstGeom>
          <a:noFill/>
          <a:ln w="12700" algn="ctr">
            <a:solidFill>
              <a:srgbClr val="A50021"/>
            </a:solidFill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1049AF86-2FAF-43D8-A21A-FAAFE99EC92C}"/>
              </a:ext>
            </a:extLst>
          </p:cNvPr>
          <p:cNvSpPr txBox="1"/>
          <p:nvPr/>
        </p:nvSpPr>
        <p:spPr>
          <a:xfrm>
            <a:off x="4332100" y="4057633"/>
            <a:ext cx="697627" cy="338554"/>
          </a:xfrm>
          <a:prstGeom prst="rect">
            <a:avLst/>
          </a:prstGeom>
          <a:noFill/>
          <a:ln>
            <a:solidFill>
              <a:srgbClr val="000066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1600" b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sz="1600" b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zh-CN" altLang="en-US" sz="1600" b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项</a:t>
            </a: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566D62AB-3F0A-420B-A751-1840AB44A939}"/>
              </a:ext>
            </a:extLst>
          </p:cNvPr>
          <p:cNvCxnSpPr>
            <a:cxnSpLocks/>
            <a:stCxn id="17" idx="0"/>
          </p:cNvCxnSpPr>
          <p:nvPr/>
        </p:nvCxnSpPr>
        <p:spPr bwMode="auto">
          <a:xfrm flipH="1" flipV="1">
            <a:off x="4542840" y="3763621"/>
            <a:ext cx="138074" cy="294012"/>
          </a:xfrm>
          <a:prstGeom prst="straightConnector1">
            <a:avLst/>
          </a:prstGeom>
          <a:noFill/>
          <a:ln w="12700" algn="ctr">
            <a:solidFill>
              <a:srgbClr val="A50021"/>
            </a:solidFill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</p:spTree>
    <p:extLst>
      <p:ext uri="{BB962C8B-B14F-4D97-AF65-F5344CB8AC3E}">
        <p14:creationId xmlns:p14="http://schemas.microsoft.com/office/powerpoint/2010/main" val="2608079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内容占位符 2"/>
          <p:cNvSpPr>
            <a:spLocks noGrp="1"/>
          </p:cNvSpPr>
          <p:nvPr>
            <p:ph idx="4294967295"/>
          </p:nvPr>
        </p:nvSpPr>
        <p:spPr>
          <a:xfrm>
            <a:off x="494513" y="699542"/>
            <a:ext cx="6669775" cy="4443958"/>
          </a:xfrm>
        </p:spPr>
        <p:txBody>
          <a:bodyPr vert="horz" wrap="square" lIns="68580" tIns="34290" rIns="68580" bIns="34290" anchor="t"/>
          <a:lstStyle/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zh-CN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．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累加问题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求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s=a</a:t>
            </a:r>
            <a:r>
              <a:rPr lang="en-US" altLang="zh-CN" sz="1800" baseline="-250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+a</a:t>
            </a:r>
            <a:r>
              <a:rPr lang="en-US" altLang="zh-CN" sz="1800" baseline="-250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+……+a</a:t>
            </a:r>
            <a:r>
              <a:rPr lang="en-US" altLang="zh-CN" sz="1800" baseline="-250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+……</a:t>
            </a: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）累加到某一项的值小于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EPS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为止：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|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lang="en-US" altLang="zh-CN" sz="1800" baseline="-2500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|&lt;EPS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s=0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t=</a:t>
            </a:r>
            <a:r>
              <a:rPr lang="zh-CN" altLang="en-US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项</a:t>
            </a:r>
            <a:endParaRPr lang="en-US" altLang="zh-CN" sz="160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</a:t>
            </a:r>
            <a:r>
              <a:rPr lang="en-US" altLang="zh-CN" sz="160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=1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while </a:t>
            </a:r>
            <a:r>
              <a:rPr lang="en-US" altLang="zh-CN" sz="160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math.fabs</a:t>
            </a:r>
            <a:r>
              <a:rPr lang="en-US" altLang="zh-CN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(t)&gt;1E-6: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 s=</a:t>
            </a:r>
            <a:r>
              <a:rPr lang="en-US" altLang="zh-CN" sz="160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s+t</a:t>
            </a:r>
            <a:endParaRPr lang="en-US" altLang="zh-CN" sz="160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 </a:t>
            </a:r>
            <a:r>
              <a:rPr lang="en-US" altLang="zh-CN" sz="160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=i+1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 t=</a:t>
            </a:r>
            <a:r>
              <a:rPr lang="zh-CN" altLang="en-US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sz="160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zh-CN" altLang="en-US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项目</a:t>
            </a:r>
            <a:endParaRPr lang="en-US" altLang="zh-CN" sz="160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print(s)</a:t>
            </a:r>
          </a:p>
          <a:p>
            <a:pPr marL="0" indent="0" eaLnBrk="1" hangingPunct="1">
              <a:spcBef>
                <a:spcPts val="1200"/>
              </a:spcBef>
              <a:buNone/>
            </a:pPr>
            <a:r>
              <a:rPr lang="en-US" altLang="zh-CN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lang="zh-CN" altLang="en-US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求</a:t>
            </a:r>
            <a:endParaRPr lang="en-US" altLang="zh-CN" sz="160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14000"/>
              </a:lnSpc>
              <a:spcBef>
                <a:spcPts val="1800"/>
              </a:spcBef>
              <a:buNone/>
            </a:pP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分析：通式是</a:t>
            </a:r>
            <a:r>
              <a:rPr lang="en-US" altLang="zh-CN" sz="180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lang="en-US" altLang="zh-CN" sz="1800" baseline="-2500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=t</a:t>
            </a:r>
            <a:r>
              <a:rPr lang="en-US" altLang="zh-CN" sz="1800" baseline="-250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i-1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*</a:t>
            </a:r>
            <a:r>
              <a:rPr lang="en-US" altLang="zh-CN" sz="180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7" name="Picture 10">
            <a:extLst>
              <a:ext uri="{FF2B5EF4-FFF2-40B4-BE49-F238E27FC236}">
                <a16:creationId xmlns:a16="http://schemas.microsoft.com/office/drawing/2014/main" id="{7E1D6C10-5981-4102-AF80-6F83B93523C4}"/>
              </a:ext>
            </a:extLst>
          </p:cNvPr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638" y="3938348"/>
            <a:ext cx="4680520" cy="5776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194" name="标题 1"/>
          <p:cNvSpPr>
            <a:spLocks noGrp="1"/>
          </p:cNvSpPr>
          <p:nvPr>
            <p:ph type="title" idx="4294967295"/>
          </p:nvPr>
        </p:nvSpPr>
        <p:spPr/>
        <p:txBody>
          <a:bodyPr vert="horz" wrap="square" lIns="68580" tIns="34290" rIns="68580" bIns="34290" anchor="ctr"/>
          <a:lstStyle/>
          <a:p>
            <a:pPr eaLnBrk="1" hangingPunct="1"/>
            <a:r>
              <a:rPr lang="en-US" altLang="zh-CN" b="1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lang="zh-CN" altLang="en-US" b="1" dirty="0">
              <a:solidFill>
                <a:srgbClr val="00206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96FE7AD9-00D3-40D9-85E9-499AA2476B40}"/>
              </a:ext>
            </a:extLst>
          </p:cNvPr>
          <p:cNvSpPr txBox="1">
            <a:spLocks/>
          </p:cNvSpPr>
          <p:nvPr/>
        </p:nvSpPr>
        <p:spPr>
          <a:xfrm>
            <a:off x="395536" y="195486"/>
            <a:ext cx="6048724" cy="577618"/>
          </a:xfrm>
          <a:prstGeom prst="rect">
            <a:avLst/>
          </a:prstGeom>
        </p:spPr>
        <p:txBody>
          <a:bodyPr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0" lang="zh-CN" altLang="en-US" sz="2400" b="0" kern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一、程序设计的</a:t>
            </a:r>
            <a:r>
              <a:rPr lang="zh-CN" altLang="en-US" sz="2400" b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基本方法和基本思想</a:t>
            </a:r>
            <a:endParaRPr kumimoji="0" lang="zh-CN" altLang="en-US" sz="2400" b="0" kern="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8948967-678E-4EF7-BA6C-1FC26337F103}"/>
              </a:ext>
            </a:extLst>
          </p:cNvPr>
          <p:cNvSpPr/>
          <p:nvPr/>
        </p:nvSpPr>
        <p:spPr>
          <a:xfrm>
            <a:off x="5940152" y="123478"/>
            <a:ext cx="3168352" cy="2554545"/>
          </a:xfrm>
          <a:prstGeom prst="rect">
            <a:avLst/>
          </a:prstGeom>
          <a:solidFill>
            <a:schemeClr val="bg1"/>
          </a:solidFill>
          <a:ln w="19050">
            <a:solidFill>
              <a:srgbClr val="000066"/>
            </a:solidFill>
          </a:ln>
        </p:spPr>
        <p:txBody>
          <a:bodyPr wrap="square">
            <a:spAutoFit/>
          </a:bodyPr>
          <a:lstStyle/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import math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s=1	# </a:t>
            </a:r>
            <a:r>
              <a:rPr lang="zh-CN" altLang="en-US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zh-CN" altLang="en-US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项直接赋值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t=1      	# </a:t>
            </a:r>
            <a:r>
              <a:rPr lang="zh-CN" altLang="en-US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项的值</a:t>
            </a:r>
            <a:endParaRPr lang="en-US" altLang="zh-CN" sz="16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zh-CN" sz="1600" b="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=1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while </a:t>
            </a:r>
            <a:r>
              <a:rPr lang="en-US" altLang="zh-CN" sz="1600" b="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math.fabs</a:t>
            </a: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(t)&gt;1E-6: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s=</a:t>
            </a:r>
            <a:r>
              <a:rPr lang="en-US" altLang="zh-CN" sz="1600" b="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s+t</a:t>
            </a:r>
            <a:endParaRPr lang="en-US" altLang="zh-CN" sz="16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lang="en-US" altLang="zh-CN" sz="1600" b="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=i+1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t=1/</a:t>
            </a:r>
            <a:r>
              <a:rPr lang="en-US" altLang="zh-CN" sz="1600" b="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math.factorial</a:t>
            </a: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1600" b="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 # </a:t>
            </a:r>
            <a:r>
              <a:rPr lang="zh-CN" altLang="en-US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计算第</a:t>
            </a:r>
            <a:r>
              <a:rPr lang="en-US" altLang="zh-CN" sz="1600" b="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zh-CN" altLang="en-US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项</a:t>
            </a:r>
            <a:endParaRPr lang="en-US" altLang="zh-CN" sz="16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print(s) 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# </a:t>
            </a:r>
            <a:r>
              <a:rPr lang="zh-CN" altLang="en-US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注：程序效率差</a:t>
            </a:r>
            <a:endParaRPr lang="en-US" altLang="zh-CN" sz="16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31A9584-29CD-450A-B904-1348B4DD8EC5}"/>
              </a:ext>
            </a:extLst>
          </p:cNvPr>
          <p:cNvSpPr/>
          <p:nvPr/>
        </p:nvSpPr>
        <p:spPr>
          <a:xfrm>
            <a:off x="5940152" y="2801117"/>
            <a:ext cx="3168352" cy="2308324"/>
          </a:xfrm>
          <a:prstGeom prst="rect">
            <a:avLst/>
          </a:prstGeom>
          <a:ln w="19050">
            <a:solidFill>
              <a:srgbClr val="000066"/>
            </a:solidFill>
          </a:ln>
        </p:spPr>
        <p:txBody>
          <a:bodyPr wrap="square">
            <a:spAutoFit/>
          </a:bodyPr>
          <a:lstStyle/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import math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s=1   	 # </a:t>
            </a:r>
            <a:r>
              <a:rPr lang="zh-CN" altLang="en-US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zh-CN" altLang="en-US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项直接赋值</a:t>
            </a: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endParaRPr lang="zh-CN" altLang="en-US" sz="16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t=1	 # </a:t>
            </a:r>
            <a:r>
              <a:rPr lang="zh-CN" altLang="en-US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项的分母</a:t>
            </a:r>
            <a:endParaRPr lang="en-US" altLang="zh-CN" sz="16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zh-CN" sz="1600" b="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=1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while </a:t>
            </a:r>
            <a:r>
              <a:rPr lang="en-US" altLang="zh-CN" sz="1600" b="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math.fabs</a:t>
            </a: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(1/t)&gt;1E-6: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s=s+1/t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lang="en-US" altLang="zh-CN" sz="1600" b="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=i+1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t=t*</a:t>
            </a:r>
            <a:r>
              <a:rPr lang="en-US" altLang="zh-CN" sz="1600" b="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#</a:t>
            </a:r>
            <a:r>
              <a:rPr lang="zh-CN" altLang="en-US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计算第</a:t>
            </a:r>
            <a:r>
              <a:rPr lang="en-US" altLang="zh-CN" sz="1600" b="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zh-CN" altLang="en-US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项的分母</a:t>
            </a:r>
            <a:endParaRPr lang="en-US" altLang="zh-CN" sz="16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print(s)</a:t>
            </a:r>
          </a:p>
        </p:txBody>
      </p:sp>
    </p:spTree>
    <p:extLst>
      <p:ext uri="{BB962C8B-B14F-4D97-AF65-F5344CB8AC3E}">
        <p14:creationId xmlns:p14="http://schemas.microsoft.com/office/powerpoint/2010/main" val="1947103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内容占位符 2"/>
          <p:cNvSpPr>
            <a:spLocks noGrp="1"/>
          </p:cNvSpPr>
          <p:nvPr>
            <p:ph idx="4294967295"/>
          </p:nvPr>
        </p:nvSpPr>
        <p:spPr>
          <a:xfrm>
            <a:off x="166402" y="699542"/>
            <a:ext cx="8438046" cy="3960440"/>
          </a:xfrm>
        </p:spPr>
        <p:txBody>
          <a:bodyPr vert="horz" wrap="square" lIns="68580" tIns="34290" rIns="68580" bIns="34290" anchor="t"/>
          <a:lstStyle/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※ </a:t>
            </a:r>
            <a:r>
              <a:rPr lang="zh-CN" altLang="zh-CN" sz="18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科学</a:t>
            </a:r>
            <a:r>
              <a:rPr lang="zh-CN" altLang="en-US" sz="18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探究的过程：</a:t>
            </a:r>
            <a:r>
              <a:rPr lang="zh-CN" altLang="zh-CN" sz="18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提出问题、发现问题、解决问题</a:t>
            </a:r>
            <a:endParaRPr lang="en-US" altLang="zh-CN" sz="18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※ </a:t>
            </a:r>
            <a:r>
              <a:rPr lang="zh-CN" altLang="en-US" sz="18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大量的问题都可以通过计算来解决，计算成了解决问题的科学方法</a:t>
            </a:r>
            <a:endParaRPr lang="en-US" altLang="zh-CN" sz="18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</a:t>
            </a:r>
            <a:r>
              <a:rPr lang="zh-CN" altLang="en-US" sz="180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解决问题的</a:t>
            </a:r>
            <a:r>
              <a:rPr lang="zh-CN" altLang="zh-CN" sz="18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三大科学思维</a:t>
            </a:r>
            <a:r>
              <a:rPr lang="zh-CN" altLang="en-US" sz="18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：理论思维、实验思维、计算思维</a:t>
            </a:r>
            <a:endParaRPr lang="en-US" altLang="zh-CN" sz="18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※ </a:t>
            </a:r>
            <a:r>
              <a:rPr lang="zh-CN" altLang="en-US" sz="18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计算思维：计算思维是运用计算机科学的基础概念进行问题求解、系统设计、</a:t>
            </a:r>
            <a:endParaRPr lang="en-US" altLang="zh-CN" sz="18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</a:t>
            </a:r>
            <a:r>
              <a:rPr lang="zh-CN" altLang="en-US" sz="18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以及人类行为理解等涵盖计算机科学之广度的一系列思维活动</a:t>
            </a:r>
            <a:endParaRPr lang="en-US" altLang="zh-CN" sz="18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※ </a:t>
            </a:r>
            <a:r>
              <a:rPr lang="zh-CN" altLang="zh-CN" sz="18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计算思维求解问题的过程</a:t>
            </a:r>
            <a:r>
              <a:rPr lang="zh-CN" altLang="en-US" sz="18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18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</a:t>
            </a:r>
            <a:r>
              <a:rPr lang="zh-CN" altLang="zh-CN" sz="180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①</a:t>
            </a:r>
            <a:r>
              <a:rPr lang="en-US" altLang="zh-CN" sz="180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zh-CN" sz="180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抽象</a:t>
            </a:r>
            <a:r>
              <a:rPr lang="en-US" altLang="zh-CN" sz="180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</a:t>
            </a:r>
            <a:r>
              <a:rPr lang="zh-CN" altLang="zh-CN" sz="180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完全超越物理的时空观用符号来表示</a:t>
            </a:r>
            <a:endParaRPr lang="en-US" altLang="zh-CN" sz="1800">
              <a:solidFill>
                <a:srgbClr val="00206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sz="180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② </a:t>
            </a:r>
            <a:r>
              <a:rPr lang="zh-CN" altLang="zh-CN" sz="180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自动化</a:t>
            </a:r>
            <a:r>
              <a:rPr lang="en-US" altLang="zh-CN" sz="180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lang="zh-CN" altLang="zh-CN" sz="180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机械地一步一步自动执行，即编写程序</a:t>
            </a:r>
            <a:endParaRPr lang="en-US" altLang="zh-CN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244" name="Rectangle 2"/>
          <p:cNvSpPr/>
          <p:nvPr/>
        </p:nvSpPr>
        <p:spPr>
          <a:xfrm>
            <a:off x="1143001" y="-150041"/>
            <a:ext cx="184731" cy="300082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endParaRPr kumimoji="1" lang="zh-CN" altLang="en-US" sz="135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/>
              <a:cs typeface="+mn-cs"/>
            </a:endParaRP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8F1760C1-6A8B-4FB6-8145-3CC66B7C4CEB}"/>
              </a:ext>
            </a:extLst>
          </p:cNvPr>
          <p:cNvSpPr txBox="1">
            <a:spLocks/>
          </p:cNvSpPr>
          <p:nvPr/>
        </p:nvSpPr>
        <p:spPr>
          <a:xfrm>
            <a:off x="395536" y="195486"/>
            <a:ext cx="6048724" cy="577618"/>
          </a:xfrm>
          <a:prstGeom prst="rect">
            <a:avLst/>
          </a:prstGeom>
        </p:spPr>
        <p:txBody>
          <a:bodyPr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0" lang="en-US" altLang="zh-CN" sz="2400" b="0" kern="0"/>
              <a:t> </a:t>
            </a:r>
            <a:r>
              <a:rPr kumimoji="0" lang="zh-CN" altLang="en-US" sz="2400" b="0" kern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二、算法的基本知识</a:t>
            </a:r>
            <a:endParaRPr kumimoji="0" lang="zh-CN" altLang="en-US" sz="2400" b="0" kern="0" dirty="0">
              <a:solidFill>
                <a:srgbClr val="A5002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81533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内容占位符 2"/>
          <p:cNvSpPr>
            <a:spLocks noGrp="1"/>
          </p:cNvSpPr>
          <p:nvPr>
            <p:ph idx="4294967295"/>
          </p:nvPr>
        </p:nvSpPr>
        <p:spPr>
          <a:xfrm>
            <a:off x="166402" y="699542"/>
            <a:ext cx="8798086" cy="4392488"/>
          </a:xfrm>
        </p:spPr>
        <p:txBody>
          <a:bodyPr vert="horz" wrap="square" lIns="68580" tIns="34290" rIns="68580" bIns="34290" anchor="t"/>
          <a:lstStyle/>
          <a:p>
            <a:pPr marL="0" indent="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sz="18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① </a:t>
            </a:r>
            <a:r>
              <a:rPr lang="zh-CN" altLang="zh-CN" sz="180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抽象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</a:t>
            </a:r>
            <a:r>
              <a:rPr lang="zh-CN" altLang="zh-CN" sz="180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本义</a:t>
            </a:r>
            <a:r>
              <a:rPr lang="zh-CN" altLang="en-US" sz="180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zh-CN" altLang="zh-CN" sz="180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从众多的事物中抽取出共同的、本质性的特征，而舍弃其非本质的特征</a:t>
            </a:r>
            <a:endParaRPr lang="en-US" altLang="zh-CN" sz="1800">
              <a:solidFill>
                <a:srgbClr val="00206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</a:t>
            </a:r>
            <a:r>
              <a:rPr lang="zh-CN" altLang="zh-CN" sz="180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在计算机科学中</a:t>
            </a:r>
            <a:r>
              <a:rPr lang="zh-CN" altLang="en-US" sz="180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zh-CN" altLang="zh-CN" sz="180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简化复杂的现实</a:t>
            </a:r>
            <a:r>
              <a:rPr lang="en-US" altLang="zh-CN" sz="180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问题</a:t>
            </a:r>
            <a:r>
              <a:rPr lang="zh-CN" altLang="zh-CN" sz="180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的最佳途径。</a:t>
            </a:r>
            <a:endParaRPr lang="en-US" altLang="zh-CN" sz="1800">
              <a:solidFill>
                <a:srgbClr val="00206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</a:t>
            </a:r>
            <a:r>
              <a:rPr lang="zh-CN" altLang="en-US" sz="180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■ </a:t>
            </a:r>
            <a:r>
              <a:rPr lang="zh-CN" altLang="zh-CN" sz="180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形式化</a:t>
            </a:r>
            <a:r>
              <a:rPr lang="en-US" altLang="zh-CN" sz="180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</a:t>
            </a:r>
            <a:r>
              <a:rPr lang="zh-CN" altLang="zh-CN" sz="180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采用严格的数学语言，具有精确的数学语义的方法</a:t>
            </a:r>
            <a:endParaRPr lang="en-US" altLang="zh-CN" sz="1800">
              <a:solidFill>
                <a:srgbClr val="00206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</a:t>
            </a:r>
            <a:r>
              <a:rPr lang="zh-CN" altLang="en-US" sz="180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■ 数学建模    建立数学模型</a:t>
            </a:r>
            <a:endParaRPr lang="en-US" altLang="zh-CN" sz="1800">
              <a:solidFill>
                <a:srgbClr val="00206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② </a:t>
            </a:r>
            <a:r>
              <a:rPr lang="zh-CN" altLang="zh-CN" sz="180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自动化</a:t>
            </a:r>
            <a:endParaRPr lang="en-US" altLang="zh-CN" sz="1800">
              <a:solidFill>
                <a:srgbClr val="00206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</a:t>
            </a:r>
            <a:r>
              <a:rPr lang="zh-CN" altLang="zh-CN" sz="180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抽象是自动化的前提和基础</a:t>
            </a:r>
            <a:endParaRPr lang="en-US" altLang="zh-CN" sz="1800">
              <a:solidFill>
                <a:srgbClr val="00206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</a:t>
            </a:r>
            <a:r>
              <a:rPr lang="zh-CN" altLang="zh-CN" sz="180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计算机通过程序实现实现自动化</a:t>
            </a:r>
            <a:endParaRPr lang="en-US" altLang="zh-CN" sz="1800">
              <a:solidFill>
                <a:srgbClr val="00206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</a:t>
            </a:r>
            <a:r>
              <a:rPr lang="zh-CN" altLang="zh-CN" sz="180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程序的核心是算法</a:t>
            </a:r>
            <a:endParaRPr lang="en-US" altLang="zh-CN" sz="1800">
              <a:solidFill>
                <a:srgbClr val="00206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</a:t>
            </a:r>
            <a:r>
              <a:rPr lang="zh-CN" altLang="zh-CN" sz="180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常见的简单问题</a:t>
            </a:r>
            <a:r>
              <a:rPr lang="zh-CN" altLang="en-US" sz="180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zh-CN" altLang="zh-CN" sz="180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自动化：设计算法和编写程序</a:t>
            </a:r>
            <a:endParaRPr lang="en-US" altLang="zh-CN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244" name="Rectangle 2"/>
          <p:cNvSpPr/>
          <p:nvPr/>
        </p:nvSpPr>
        <p:spPr>
          <a:xfrm>
            <a:off x="1143001" y="-150041"/>
            <a:ext cx="184731" cy="300082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endParaRPr kumimoji="1" lang="zh-CN" altLang="en-US" sz="135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/>
              <a:cs typeface="+mn-cs"/>
            </a:endParaRP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8F1760C1-6A8B-4FB6-8145-3CC66B7C4CEB}"/>
              </a:ext>
            </a:extLst>
          </p:cNvPr>
          <p:cNvSpPr txBox="1">
            <a:spLocks/>
          </p:cNvSpPr>
          <p:nvPr/>
        </p:nvSpPr>
        <p:spPr>
          <a:xfrm>
            <a:off x="395536" y="195486"/>
            <a:ext cx="6048724" cy="577618"/>
          </a:xfrm>
          <a:prstGeom prst="rect">
            <a:avLst/>
          </a:prstGeom>
        </p:spPr>
        <p:txBody>
          <a:bodyPr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0" lang="en-US" altLang="zh-CN" sz="2400" b="0" kern="0"/>
              <a:t> </a:t>
            </a:r>
            <a:r>
              <a:rPr kumimoji="0" lang="zh-CN" altLang="en-US" sz="2400" b="0" kern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二、算法的基本知识</a:t>
            </a:r>
            <a:endParaRPr kumimoji="0" lang="zh-CN" altLang="en-US" sz="2400" b="0" kern="0" dirty="0">
              <a:solidFill>
                <a:srgbClr val="A5002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56070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内容占位符 2"/>
          <p:cNvSpPr>
            <a:spLocks noGrp="1"/>
          </p:cNvSpPr>
          <p:nvPr>
            <p:ph idx="4294967295"/>
          </p:nvPr>
        </p:nvSpPr>
        <p:spPr>
          <a:xfrm>
            <a:off x="166402" y="699542"/>
            <a:ext cx="8366038" cy="4320480"/>
          </a:xfrm>
        </p:spPr>
        <p:txBody>
          <a:bodyPr vert="horz" wrap="square" lIns="68580" tIns="34290" rIns="68580" bIns="34290" anchor="t"/>
          <a:lstStyle/>
          <a:p>
            <a:pPr marL="0" indent="0" eaLnBrk="1" hangingPunct="1">
              <a:lnSpc>
                <a:spcPts val="3150"/>
              </a:lnSpc>
              <a:buNone/>
            </a:pPr>
            <a:r>
              <a:rPr lang="en-US" altLang="zh-CN" sz="180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zh-CN" sz="180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．</a:t>
            </a:r>
            <a:r>
              <a:rPr lang="zh-CN" altLang="en-US" sz="180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算法</a:t>
            </a:r>
            <a:r>
              <a:rPr lang="en-US" altLang="zh-CN" sz="180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lang="zh-CN" altLang="en-US" sz="180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计算机解决某</a:t>
            </a:r>
            <a:r>
              <a:rPr lang="zh-CN" altLang="en-US" sz="1800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一类问题</a:t>
            </a:r>
            <a:r>
              <a:rPr lang="zh-CN" altLang="en-US" sz="180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的方法和步骤</a:t>
            </a:r>
            <a:endParaRPr lang="en-US" altLang="zh-CN" sz="1800">
              <a:solidFill>
                <a:srgbClr val="00206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ts val="3150"/>
              </a:lnSpc>
              <a:buNone/>
            </a:pPr>
            <a:r>
              <a:rPr lang="zh-CN" altLang="en-US" sz="180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算法是程序的核心。</a:t>
            </a:r>
            <a:endParaRPr lang="en-US" altLang="zh-CN" sz="1800">
              <a:solidFill>
                <a:srgbClr val="00206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ts val="3150"/>
              </a:lnSpc>
              <a:buNone/>
            </a:pPr>
            <a:r>
              <a:rPr lang="zh-CN" altLang="en-US" sz="180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r>
              <a:rPr lang="en-US" altLang="zh-CN" sz="180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180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：计算圆周率的算法（割圆法）</a:t>
            </a:r>
            <a:endParaRPr lang="en-US" altLang="zh-CN" sz="1800">
              <a:solidFill>
                <a:srgbClr val="00206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ts val="3150"/>
              </a:lnSpc>
              <a:spcBef>
                <a:spcPct val="0"/>
              </a:spcBef>
              <a:buSzPct val="100000"/>
              <a:buNone/>
              <a:defRPr/>
            </a:pPr>
            <a:r>
              <a:rPr kumimoji="1" lang="zh-CN" altLang="en-US" sz="1800" kern="120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算法步骤：</a:t>
            </a:r>
            <a:endParaRPr kumimoji="1" lang="en-US" altLang="zh-CN" sz="1800" kern="120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ts val="3150"/>
              </a:lnSpc>
              <a:spcBef>
                <a:spcPct val="0"/>
              </a:spcBef>
              <a:buSzPct val="100000"/>
              <a:buNone/>
              <a:defRPr/>
            </a:pPr>
            <a:r>
              <a:rPr kumimoji="1" lang="zh-CN" altLang="en-US" sz="1800" kern="120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① 量出圆的半径</a:t>
            </a:r>
            <a:r>
              <a:rPr kumimoji="1" lang="en-US" altLang="zh-CN" sz="1800" kern="120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</a:p>
          <a:p>
            <a:pPr marL="0" indent="0" eaLnBrk="1" hangingPunct="1">
              <a:lnSpc>
                <a:spcPts val="3150"/>
              </a:lnSpc>
              <a:spcBef>
                <a:spcPct val="0"/>
              </a:spcBef>
              <a:buSzPct val="100000"/>
              <a:buNone/>
              <a:defRPr/>
            </a:pPr>
            <a:r>
              <a:rPr kumimoji="1" lang="zh-CN" altLang="en-US" sz="1800" kern="120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② 做圆的内接正</a:t>
            </a:r>
            <a:r>
              <a:rPr kumimoji="1" lang="en-US" altLang="zh-CN" sz="1800" kern="120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kumimoji="1" lang="zh-CN" altLang="en-US" sz="1800" kern="120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边形</a:t>
            </a:r>
            <a:endParaRPr kumimoji="1" lang="en-US" altLang="zh-CN" sz="1800" kern="120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ts val="3150"/>
              </a:lnSpc>
              <a:spcBef>
                <a:spcPct val="0"/>
              </a:spcBef>
              <a:buSzPct val="100000"/>
              <a:buNone/>
              <a:defRPr/>
            </a:pPr>
            <a:r>
              <a:rPr kumimoji="1" lang="zh-CN" altLang="en-US" sz="1800" kern="120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③ 求小三角形的面积△</a:t>
            </a:r>
            <a:r>
              <a:rPr kumimoji="1" lang="en-US" altLang="zh-CN" sz="1800" kern="120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</a:p>
          <a:p>
            <a:pPr marL="0" indent="0" eaLnBrk="1" hangingPunct="1">
              <a:lnSpc>
                <a:spcPts val="3150"/>
              </a:lnSpc>
              <a:spcBef>
                <a:spcPct val="0"/>
              </a:spcBef>
              <a:buSzPct val="100000"/>
              <a:buNone/>
              <a:defRPr/>
            </a:pPr>
            <a:r>
              <a:rPr kumimoji="1" lang="en-US" altLang="zh-CN" sz="1800" kern="120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④ </a:t>
            </a:r>
            <a:r>
              <a:rPr kumimoji="1" lang="zh-CN" altLang="en-US" sz="1800" kern="120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求圆的内接正</a:t>
            </a:r>
            <a:r>
              <a:rPr kumimoji="1" lang="en-US" altLang="zh-CN" sz="1800" kern="120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kumimoji="1" lang="zh-CN" altLang="en-US" sz="1800" kern="120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边形面积</a:t>
            </a:r>
            <a:r>
              <a:rPr kumimoji="1" lang="en-US" altLang="zh-CN" sz="1800" kern="120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S=</a:t>
            </a:r>
            <a:r>
              <a:rPr kumimoji="1" lang="zh-CN" altLang="en-US" sz="1800" kern="120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△</a:t>
            </a:r>
            <a:r>
              <a:rPr kumimoji="1" lang="en-US" altLang="zh-CN" sz="1800" kern="120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 ×n</a:t>
            </a:r>
          </a:p>
          <a:p>
            <a:pPr marL="0" indent="0" eaLnBrk="1" hangingPunct="1">
              <a:lnSpc>
                <a:spcPts val="3150"/>
              </a:lnSpc>
              <a:spcBef>
                <a:spcPct val="0"/>
              </a:spcBef>
              <a:buSzPct val="100000"/>
              <a:buNone/>
              <a:defRPr/>
            </a:pPr>
            <a:r>
              <a:rPr kumimoji="1" lang="zh-CN" altLang="en-US" sz="1800" kern="120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⑤ 求圆周率</a:t>
            </a:r>
            <a:r>
              <a:rPr kumimoji="1" lang="en-US" altLang="zh-CN" sz="1800" kern="120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=S/R/R</a:t>
            </a:r>
          </a:p>
          <a:p>
            <a:pPr marL="0" indent="0" eaLnBrk="1" hangingPunct="1">
              <a:lnSpc>
                <a:spcPts val="3150"/>
              </a:lnSpc>
              <a:spcBef>
                <a:spcPct val="0"/>
              </a:spcBef>
              <a:buSzPct val="100000"/>
              <a:buNone/>
              <a:defRPr/>
            </a:pPr>
            <a:r>
              <a:rPr kumimoji="1" lang="zh-CN" altLang="en-US" sz="1800" kern="120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⑥ 结束</a:t>
            </a:r>
            <a:endParaRPr kumimoji="1" lang="en-US" altLang="zh-CN" sz="1800" kern="120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ts val="3150"/>
              </a:lnSpc>
              <a:buNone/>
            </a:pPr>
            <a:endParaRPr lang="en-US" altLang="zh-CN" sz="2000">
              <a:solidFill>
                <a:srgbClr val="00206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ts val="3150"/>
              </a:lnSpc>
              <a:buNone/>
            </a:pPr>
            <a:endParaRPr lang="en-US" altLang="zh-CN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244" name="Rectangle 2"/>
          <p:cNvSpPr/>
          <p:nvPr/>
        </p:nvSpPr>
        <p:spPr>
          <a:xfrm>
            <a:off x="1143001" y="-150041"/>
            <a:ext cx="184731" cy="300082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endParaRPr kumimoji="1" lang="zh-CN" altLang="en-US" sz="135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/>
              <a:cs typeface="+mn-cs"/>
            </a:endParaRP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8F1760C1-6A8B-4FB6-8145-3CC66B7C4CEB}"/>
              </a:ext>
            </a:extLst>
          </p:cNvPr>
          <p:cNvSpPr txBox="1">
            <a:spLocks/>
          </p:cNvSpPr>
          <p:nvPr/>
        </p:nvSpPr>
        <p:spPr>
          <a:xfrm>
            <a:off x="395536" y="195486"/>
            <a:ext cx="6048724" cy="577618"/>
          </a:xfrm>
          <a:prstGeom prst="rect">
            <a:avLst/>
          </a:prstGeom>
        </p:spPr>
        <p:txBody>
          <a:bodyPr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0" lang="en-US" altLang="zh-CN" sz="2400" b="0" kern="0"/>
              <a:t> </a:t>
            </a:r>
            <a:r>
              <a:rPr kumimoji="0" lang="zh-CN" altLang="en-US" sz="2400" b="0" kern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二、算法的基本知识</a:t>
            </a:r>
            <a:endParaRPr kumimoji="0" lang="zh-CN" altLang="en-US" sz="2400" b="0" kern="0" dirty="0">
              <a:solidFill>
                <a:srgbClr val="A5002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6" name="图片 5" descr="圆23">
            <a:extLst>
              <a:ext uri="{FF2B5EF4-FFF2-40B4-BE49-F238E27FC236}">
                <a16:creationId xmlns:a16="http://schemas.microsoft.com/office/drawing/2014/main" id="{481BC597-4C31-419B-A6CB-C54BEDAFEA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707654"/>
            <a:ext cx="2035969" cy="2035969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9B307F1-45EA-471D-8FC6-0386F95AD4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2699" y="1908795"/>
            <a:ext cx="2085975" cy="1743075"/>
          </a:xfrm>
          <a:prstGeom prst="rect">
            <a:avLst/>
          </a:prstGeom>
        </p:spPr>
      </p:pic>
      <p:sp>
        <p:nvSpPr>
          <p:cNvPr id="8" name="TextBox 15">
            <a:extLst>
              <a:ext uri="{FF2B5EF4-FFF2-40B4-BE49-F238E27FC236}">
                <a16:creationId xmlns:a16="http://schemas.microsoft.com/office/drawing/2014/main" id="{891572B1-FE1A-487F-AC5B-557A31B546DC}"/>
              </a:ext>
            </a:extLst>
          </p:cNvPr>
          <p:cNvSpPr txBox="1"/>
          <p:nvPr/>
        </p:nvSpPr>
        <p:spPr>
          <a:xfrm>
            <a:off x="6129759" y="4545181"/>
            <a:ext cx="2946797" cy="507831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圆周率</a:t>
            </a:r>
            <a:r>
              <a:rPr kumimoji="1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=</a:t>
            </a:r>
            <a:r>
              <a:rPr kumimoji="1" lang="en-US" altLang="zh-CN" sz="2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S</a:t>
            </a:r>
            <a:r>
              <a:rPr kumimoji="1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正</a:t>
            </a:r>
            <a:r>
              <a:rPr kumimoji="1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12</a:t>
            </a:r>
            <a:r>
              <a:rPr kumimoji="1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边形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/R/R=3</a:t>
            </a:r>
            <a:endParaRPr kumimoji="1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23307243-C6BA-428D-AC51-C66EB1B481A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21699"/>
          <a:stretch/>
        </p:blipFill>
        <p:spPr>
          <a:xfrm>
            <a:off x="6129759" y="4155926"/>
            <a:ext cx="2257425" cy="48478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CDC4C2BE-F0C1-4E08-97D9-86AD0F5B56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33783" y="3527276"/>
            <a:ext cx="1181100" cy="62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88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2">
            <a:extLst>
              <a:ext uri="{FF2B5EF4-FFF2-40B4-BE49-F238E27FC236}">
                <a16:creationId xmlns:a16="http://schemas.microsoft.com/office/drawing/2014/main" id="{50F32344-FC4E-4091-8D6A-323465554053}"/>
              </a:ext>
            </a:extLst>
          </p:cNvPr>
          <p:cNvSpPr txBox="1">
            <a:spLocks/>
          </p:cNvSpPr>
          <p:nvPr/>
        </p:nvSpPr>
        <p:spPr>
          <a:xfrm>
            <a:off x="166402" y="771550"/>
            <a:ext cx="8366038" cy="4104456"/>
          </a:xfrm>
        </p:spPr>
        <p:txBody>
          <a:bodyPr vert="horz" wrap="square" lIns="68580" tIns="34290" rIns="68580" bIns="34290" anchor="t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ts val="3150"/>
              </a:lnSpc>
              <a:buFontTx/>
              <a:buNone/>
            </a:pPr>
            <a:r>
              <a:rPr kumimoji="0" lang="zh-CN" altLang="en-US" sz="1800" b="0" kern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计算圆周率的不同公式，代表着不同的算法</a:t>
            </a:r>
            <a:endParaRPr kumimoji="0" lang="en-US" altLang="zh-CN" sz="1800" b="0" kern="0">
              <a:solidFill>
                <a:srgbClr val="00206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ts val="3150"/>
              </a:lnSpc>
              <a:buFontTx/>
              <a:buNone/>
            </a:pPr>
            <a:endParaRPr kumimoji="0" lang="en-US" altLang="zh-CN" sz="1800" b="0" kern="0">
              <a:solidFill>
                <a:srgbClr val="00206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ts val="3150"/>
              </a:lnSpc>
              <a:buFontTx/>
              <a:buNone/>
            </a:pPr>
            <a:endParaRPr kumimoji="0" lang="en-US" altLang="zh-CN" sz="1800" b="0" kern="0">
              <a:solidFill>
                <a:srgbClr val="00206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ts val="3150"/>
              </a:lnSpc>
              <a:buFontTx/>
              <a:buNone/>
            </a:pPr>
            <a:endParaRPr kumimoji="0" lang="en-US" altLang="zh-CN" sz="1800" b="0" kern="0">
              <a:solidFill>
                <a:srgbClr val="00206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ts val="3150"/>
              </a:lnSpc>
              <a:buFontTx/>
              <a:buNone/>
            </a:pPr>
            <a:endParaRPr kumimoji="0" lang="en-US" altLang="zh-CN" sz="1800" b="0" kern="0">
              <a:solidFill>
                <a:srgbClr val="00206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SzPct val="100000"/>
              <a:buNone/>
              <a:defRPr/>
            </a:pPr>
            <a:endParaRPr kumimoji="0" lang="en-US" altLang="zh-CN" sz="1800" b="0" kern="0">
              <a:solidFill>
                <a:srgbClr val="00206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SzPct val="100000"/>
              <a:buNone/>
              <a:defRPr/>
            </a:pPr>
            <a:r>
              <a:rPr kumimoji="0" lang="zh-CN" altLang="en-US" sz="1800" b="0" kern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■ 同一个问题，可用不同的算法来求解</a:t>
            </a:r>
            <a:endParaRPr kumimoji="0" lang="en-US" altLang="zh-CN" sz="1800" b="0" kern="0">
              <a:solidFill>
                <a:srgbClr val="00206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SzPct val="100000"/>
              <a:buNone/>
              <a:defRPr/>
            </a:pPr>
            <a:r>
              <a:rPr kumimoji="0" lang="zh-CN" altLang="en-US" sz="1800" b="0" kern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■ 算法不同，求解的效率不同</a:t>
            </a:r>
            <a:endParaRPr kumimoji="0" lang="en-US" altLang="zh-CN" sz="1800" b="0" kern="0">
              <a:solidFill>
                <a:srgbClr val="00206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SzPct val="100000"/>
              <a:buNone/>
              <a:defRPr/>
            </a:pPr>
            <a:r>
              <a:rPr kumimoji="0" lang="zh-CN" altLang="en-US" sz="1800" b="0" kern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■ 选择效率高、容易理解和编程实现的算法</a:t>
            </a:r>
          </a:p>
          <a:p>
            <a:pPr marL="0" indent="0" eaLnBrk="1" hangingPunct="1">
              <a:lnSpc>
                <a:spcPts val="3150"/>
              </a:lnSpc>
              <a:buFontTx/>
              <a:buNone/>
            </a:pPr>
            <a:endParaRPr kumimoji="0" lang="en-US" altLang="zh-CN" b="1" kern="0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4341" name="Picture 9" descr="C:\Users\sra\AppData\Roaming\Tencent\Users\1967560400\QQ\WinTemp\RichOle\QO620Y5SLME`G0JXS)X4Y9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019" y="1275606"/>
            <a:ext cx="4790053" cy="1804046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标题 1">
            <a:extLst>
              <a:ext uri="{FF2B5EF4-FFF2-40B4-BE49-F238E27FC236}">
                <a16:creationId xmlns:a16="http://schemas.microsoft.com/office/drawing/2014/main" id="{0F54EC60-0C54-43FA-B6A7-79CF3B53374B}"/>
              </a:ext>
            </a:extLst>
          </p:cNvPr>
          <p:cNvSpPr txBox="1">
            <a:spLocks/>
          </p:cNvSpPr>
          <p:nvPr/>
        </p:nvSpPr>
        <p:spPr>
          <a:xfrm>
            <a:off x="395536" y="195486"/>
            <a:ext cx="6048724" cy="577618"/>
          </a:xfrm>
          <a:prstGeom prst="rect">
            <a:avLst/>
          </a:prstGeom>
        </p:spPr>
        <p:txBody>
          <a:bodyPr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0" lang="en-US" altLang="zh-CN" sz="2400" b="0" kern="0"/>
              <a:t> </a:t>
            </a:r>
            <a:r>
              <a:rPr kumimoji="0" lang="zh-CN" altLang="en-US" sz="2400" b="0" kern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二、算法的基本知识</a:t>
            </a:r>
            <a:endParaRPr kumimoji="0" lang="zh-CN" altLang="en-US" sz="2400" b="0" kern="0" dirty="0">
              <a:solidFill>
                <a:srgbClr val="A5002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88511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2">
            <a:extLst>
              <a:ext uri="{FF2B5EF4-FFF2-40B4-BE49-F238E27FC236}">
                <a16:creationId xmlns:a16="http://schemas.microsoft.com/office/drawing/2014/main" id="{9AA0AF0B-E63E-4889-ABDB-1523FF70CF8D}"/>
              </a:ext>
            </a:extLst>
          </p:cNvPr>
          <p:cNvSpPr txBox="1">
            <a:spLocks/>
          </p:cNvSpPr>
          <p:nvPr/>
        </p:nvSpPr>
        <p:spPr>
          <a:xfrm>
            <a:off x="166402" y="699542"/>
            <a:ext cx="8366038" cy="4104456"/>
          </a:xfrm>
        </p:spPr>
        <p:txBody>
          <a:bodyPr vert="horz" wrap="square" lIns="68580" tIns="34290" rIns="68580" bIns="34290" anchor="t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kumimoji="0" lang="en-US" altLang="zh-CN" sz="1800" b="0" kern="0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kumimoji="0" lang="zh-CN" altLang="zh-CN" sz="1800" b="0" kern="0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．</a:t>
            </a:r>
            <a:r>
              <a:rPr kumimoji="0" lang="zh-CN" altLang="en-US" sz="1800" b="0" kern="0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算法的两个要素</a:t>
            </a: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kumimoji="0" lang="zh-CN" altLang="en-US" sz="1800" b="0" kern="0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操作与控制结构</a:t>
            </a:r>
            <a:endParaRPr kumimoji="0" lang="en-US" altLang="zh-CN" sz="1800" b="0" kern="0" dirty="0">
              <a:solidFill>
                <a:srgbClr val="00206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kumimoji="0" lang="zh-CN" altLang="en-US" sz="1800" b="0" kern="0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kumimoji="0" lang="en-US" altLang="zh-CN" sz="1800" b="0" kern="0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0" lang="zh-CN" altLang="en-US" sz="1800" b="0" kern="0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）操作</a:t>
            </a: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kumimoji="0" lang="zh-CN" altLang="en-US" sz="1800" b="0" kern="0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■ 算术运算：加、减、乘、除等。</a:t>
            </a: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kumimoji="0" lang="en-US" altLang="zh-CN" sz="1800" b="0" kern="0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</a:t>
            </a:r>
            <a:r>
              <a:rPr kumimoji="0" lang="zh-CN" altLang="en-US" sz="1800" b="0" kern="0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■ 关系运算：大于、大于等于、小于、小于等于、等于、不等于等。</a:t>
            </a: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kumimoji="0" lang="zh-CN" altLang="en-US" sz="1800" b="0" kern="0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■ 逻辑运算：与、或、非等。</a:t>
            </a: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kumimoji="0" lang="zh-CN" altLang="en-US" sz="1800" b="0" kern="0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■ 数据传送：输入、输出、赋值等</a:t>
            </a:r>
          </a:p>
          <a:p>
            <a:pPr marL="0" indent="0" eaLnBrk="1" hangingPunct="1">
              <a:lnSpc>
                <a:spcPts val="3150"/>
              </a:lnSpc>
              <a:buFontTx/>
              <a:buNone/>
            </a:pPr>
            <a:endParaRPr kumimoji="0" lang="en-US" altLang="zh-CN" b="1" kern="0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362" name="标题 1"/>
          <p:cNvSpPr>
            <a:spLocks noGrp="1"/>
          </p:cNvSpPr>
          <p:nvPr>
            <p:ph type="title" idx="4294967295"/>
          </p:nvPr>
        </p:nvSpPr>
        <p:spPr/>
        <p:txBody>
          <a:bodyPr vert="horz" wrap="square" lIns="68580" tIns="34290" rIns="68580" bIns="34290" anchor="ctr"/>
          <a:lstStyle/>
          <a:p>
            <a:pPr eaLnBrk="1" hangingPunct="1"/>
            <a:r>
              <a:rPr lang="en-US" altLang="zh-CN" sz="3000">
                <a:solidFill>
                  <a:srgbClr val="002060"/>
                </a:solidFill>
              </a:rPr>
              <a:t> </a:t>
            </a:r>
            <a:endParaRPr lang="zh-CN" altLang="en-US" sz="30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34049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2">
            <a:extLst>
              <a:ext uri="{FF2B5EF4-FFF2-40B4-BE49-F238E27FC236}">
                <a16:creationId xmlns:a16="http://schemas.microsoft.com/office/drawing/2014/main" id="{9AA0AF0B-E63E-4889-ABDB-1523FF70CF8D}"/>
              </a:ext>
            </a:extLst>
          </p:cNvPr>
          <p:cNvSpPr txBox="1">
            <a:spLocks/>
          </p:cNvSpPr>
          <p:nvPr/>
        </p:nvSpPr>
        <p:spPr>
          <a:xfrm>
            <a:off x="166402" y="699542"/>
            <a:ext cx="8366038" cy="576064"/>
          </a:xfrm>
        </p:spPr>
        <p:txBody>
          <a:bodyPr vert="horz" wrap="square" lIns="68580" tIns="34290" rIns="68580" bIns="34290" anchor="t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kumimoji="0" lang="zh-CN" altLang="en-US" sz="1800" b="0" kern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kumimoji="0" lang="en-US" altLang="zh-CN" sz="1800" b="0" kern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kumimoji="0" lang="zh-CN" altLang="en-US" sz="1800" b="0" kern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）控制结构</a:t>
            </a:r>
            <a:endParaRPr kumimoji="0" lang="en-US" altLang="zh-CN" sz="1800" b="0" kern="0">
              <a:solidFill>
                <a:srgbClr val="00206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kumimoji="0" lang="zh-CN" altLang="en-US" sz="1800" b="0" kern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算法的三种基本结构：顺序结构、选择结构、循环结构</a:t>
            </a: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None/>
            </a:pPr>
            <a:endParaRPr kumimoji="0" lang="en-US" altLang="zh-CN" b="1" kern="0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362" name="标题 1"/>
          <p:cNvSpPr>
            <a:spLocks noGrp="1"/>
          </p:cNvSpPr>
          <p:nvPr>
            <p:ph type="title" idx="4294967295"/>
          </p:nvPr>
        </p:nvSpPr>
        <p:spPr/>
        <p:txBody>
          <a:bodyPr vert="horz" wrap="square" lIns="68580" tIns="34290" rIns="68580" bIns="34290" anchor="ctr"/>
          <a:lstStyle/>
          <a:p>
            <a:pPr eaLnBrk="1" hangingPunct="1"/>
            <a:r>
              <a:rPr lang="en-US" altLang="zh-CN" sz="3000">
                <a:solidFill>
                  <a:srgbClr val="002060"/>
                </a:solidFill>
              </a:rPr>
              <a:t> </a:t>
            </a:r>
            <a:endParaRPr lang="zh-CN" altLang="en-US" sz="3000" dirty="0">
              <a:solidFill>
                <a:srgbClr val="002060"/>
              </a:solidFill>
            </a:endParaRPr>
          </a:p>
        </p:txBody>
      </p:sp>
      <p:graphicFrame>
        <p:nvGraphicFramePr>
          <p:cNvPr id="6" name="Object 2">
            <a:extLst>
              <a:ext uri="{FF2B5EF4-FFF2-40B4-BE49-F238E27FC236}">
                <a16:creationId xmlns:a16="http://schemas.microsoft.com/office/drawing/2014/main" id="{F4A454E4-E1F0-4D0E-A9B5-927FC9A9C8AE}"/>
              </a:ext>
            </a:extLst>
          </p:cNvPr>
          <p:cNvGraphicFramePr>
            <a:graphicFrameLocks/>
          </p:cNvGraphicFramePr>
          <p:nvPr/>
        </p:nvGraphicFramePr>
        <p:xfrm>
          <a:off x="683568" y="1707654"/>
          <a:ext cx="4115444" cy="20359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964180" imgH="1275715" progId="Word.Document.8">
                  <p:embed/>
                </p:oleObj>
              </mc:Choice>
              <mc:Fallback>
                <p:oleObj r:id="rId2" imgW="2964180" imgH="1275715" progId="Word.Document.8">
                  <p:embed/>
                  <p:pic>
                    <p:nvPicPr>
                      <p:cNvPr id="6" name="Object 2">
                        <a:extLst>
                          <a:ext uri="{FF2B5EF4-FFF2-40B4-BE49-F238E27FC236}">
                            <a16:creationId xmlns:a16="http://schemas.microsoft.com/office/drawing/2014/main" id="{F4A454E4-E1F0-4D0E-A9B5-927FC9A9C8A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>
                      <a:xfrm>
                        <a:off x="683568" y="1707654"/>
                        <a:ext cx="4115444" cy="2035969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2">
            <a:extLst>
              <a:ext uri="{FF2B5EF4-FFF2-40B4-BE49-F238E27FC236}">
                <a16:creationId xmlns:a16="http://schemas.microsoft.com/office/drawing/2014/main" id="{73A7B896-BE32-4053-A033-7BE1F11EB14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48064" y="1710706"/>
          <a:ext cx="3688730" cy="20359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3345180" imgH="1809115" progId="Word.Document.8">
                  <p:embed/>
                </p:oleObj>
              </mc:Choice>
              <mc:Fallback>
                <p:oleObj r:id="rId4" imgW="3345180" imgH="1809115" progId="Word.Document.8">
                  <p:embed/>
                  <p:pic>
                    <p:nvPicPr>
                      <p:cNvPr id="7" name="Object 2">
                        <a:extLst>
                          <a:ext uri="{FF2B5EF4-FFF2-40B4-BE49-F238E27FC236}">
                            <a16:creationId xmlns:a16="http://schemas.microsoft.com/office/drawing/2014/main" id="{73A7B896-BE32-4053-A033-7BE1F11EB1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rcRect b="6972"/>
                      <a:stretch>
                        <a:fillRect/>
                      </a:stretch>
                    </p:blipFill>
                    <p:spPr>
                      <a:xfrm>
                        <a:off x="5148064" y="1710706"/>
                        <a:ext cx="3688730" cy="203596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标题 1">
            <a:extLst>
              <a:ext uri="{FF2B5EF4-FFF2-40B4-BE49-F238E27FC236}">
                <a16:creationId xmlns:a16="http://schemas.microsoft.com/office/drawing/2014/main" id="{67864875-9CB2-4E31-9CC3-4A79693A2017}"/>
              </a:ext>
            </a:extLst>
          </p:cNvPr>
          <p:cNvSpPr txBox="1">
            <a:spLocks/>
          </p:cNvSpPr>
          <p:nvPr/>
        </p:nvSpPr>
        <p:spPr>
          <a:xfrm>
            <a:off x="395536" y="195486"/>
            <a:ext cx="6048724" cy="577618"/>
          </a:xfrm>
          <a:prstGeom prst="rect">
            <a:avLst/>
          </a:prstGeom>
        </p:spPr>
        <p:txBody>
          <a:bodyPr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0" lang="en-US" altLang="zh-CN" sz="2400" b="0" kern="0"/>
              <a:t> </a:t>
            </a:r>
            <a:r>
              <a:rPr kumimoji="0" lang="zh-CN" altLang="en-US" sz="2400" b="0" kern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二、算法的基本知识</a:t>
            </a:r>
            <a:endParaRPr kumimoji="0" lang="zh-CN" altLang="en-US" sz="2400" b="0" kern="0" dirty="0">
              <a:solidFill>
                <a:srgbClr val="A5002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56598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2">
            <a:extLst>
              <a:ext uri="{FF2B5EF4-FFF2-40B4-BE49-F238E27FC236}">
                <a16:creationId xmlns:a16="http://schemas.microsoft.com/office/drawing/2014/main" id="{9AA0AF0B-E63E-4889-ABDB-1523FF70CF8D}"/>
              </a:ext>
            </a:extLst>
          </p:cNvPr>
          <p:cNvSpPr txBox="1">
            <a:spLocks/>
          </p:cNvSpPr>
          <p:nvPr/>
        </p:nvSpPr>
        <p:spPr>
          <a:xfrm>
            <a:off x="166402" y="699542"/>
            <a:ext cx="8510054" cy="4248472"/>
          </a:xfrm>
        </p:spPr>
        <p:txBody>
          <a:bodyPr vert="horz" wrap="square" lIns="68580" tIns="34290" rIns="68580" bIns="34290" anchor="t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b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zh-CN" sz="1800" b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．</a:t>
            </a:r>
            <a:r>
              <a:rPr lang="zh-CN" altLang="en-US" sz="1800" b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算法</a:t>
            </a:r>
            <a:r>
              <a:rPr lang="zh-CN" altLang="en-US" sz="1800" b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的特点</a:t>
            </a:r>
            <a:endParaRPr lang="en-US" altLang="zh-CN" sz="1800" b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b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① 有穷性：必须能在执行有限个步骤之后终止</a:t>
            </a:r>
            <a:endParaRPr lang="en-US" altLang="zh-CN" sz="1800" b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b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</a:t>
            </a:r>
            <a:r>
              <a:rPr lang="zh-CN" altLang="en-US" sz="1800" b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不能处理无限的问题</a:t>
            </a:r>
            <a:endParaRPr lang="en-US" altLang="zh-CN" sz="1800" b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b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② 确定性：每一步骤必须有确切的定义</a:t>
            </a:r>
            <a:endParaRPr lang="en-US" altLang="zh-CN" sz="1800" b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b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</a:t>
            </a:r>
            <a:r>
              <a:rPr lang="zh-CN" altLang="en-US" sz="1800" b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不能有二义性。</a:t>
            </a:r>
            <a:endParaRPr lang="en-US" altLang="zh-CN" sz="1800" b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b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③ 可行性：任何计算步骤都是可以被分解为基本的可执行的操作步骤</a:t>
            </a:r>
            <a:endParaRPr lang="en-US" altLang="zh-CN" sz="1800" b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b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④ 输入：一般有</a:t>
            </a:r>
            <a:r>
              <a:rPr lang="en-US" altLang="zh-CN" sz="1800" b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1800" b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个或多个输入，它们取自某一特定的集合。</a:t>
            </a:r>
            <a:endParaRPr lang="en-US" altLang="zh-CN" sz="1800" b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b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</a:t>
            </a:r>
            <a:r>
              <a:rPr lang="zh-CN" altLang="en-US" sz="1800" b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可以没有输入</a:t>
            </a:r>
            <a:endParaRPr lang="en-US" altLang="zh-CN" sz="1800" b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b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⑤ 输出：一般有若干个输出信息，是反映对输入数据加工后的结果</a:t>
            </a:r>
            <a:endParaRPr lang="en-US" altLang="zh-CN" sz="1800" b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b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</a:t>
            </a:r>
            <a:r>
              <a:rPr lang="zh-CN" altLang="en-US" sz="1800" b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没有输出的算法是没有意义的</a:t>
            </a: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None/>
            </a:pPr>
            <a:endParaRPr lang="zh-CN" altLang="en-US" sz="1800" b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None/>
            </a:pPr>
            <a:endParaRPr lang="zh-CN" altLang="en-US" sz="1800" b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362" name="标题 1"/>
          <p:cNvSpPr>
            <a:spLocks noGrp="1"/>
          </p:cNvSpPr>
          <p:nvPr>
            <p:ph type="title" idx="4294967295"/>
          </p:nvPr>
        </p:nvSpPr>
        <p:spPr/>
        <p:txBody>
          <a:bodyPr vert="horz" wrap="square" lIns="68580" tIns="34290" rIns="68580" bIns="34290" anchor="ctr"/>
          <a:lstStyle/>
          <a:p>
            <a:pPr eaLnBrk="1" hangingPunct="1"/>
            <a:r>
              <a:rPr lang="en-US" altLang="zh-CN" sz="3000">
                <a:solidFill>
                  <a:srgbClr val="002060"/>
                </a:solidFill>
              </a:rPr>
              <a:t> </a:t>
            </a:r>
            <a:endParaRPr lang="zh-CN" altLang="en-US" sz="3000" dirty="0">
              <a:solidFill>
                <a:srgbClr val="002060"/>
              </a:solidFill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F703DE99-AFAD-4E59-A978-E5C1CAD137A6}"/>
              </a:ext>
            </a:extLst>
          </p:cNvPr>
          <p:cNvSpPr txBox="1">
            <a:spLocks/>
          </p:cNvSpPr>
          <p:nvPr/>
        </p:nvSpPr>
        <p:spPr>
          <a:xfrm>
            <a:off x="395536" y="195486"/>
            <a:ext cx="6048724" cy="577618"/>
          </a:xfrm>
          <a:prstGeom prst="rect">
            <a:avLst/>
          </a:prstGeom>
        </p:spPr>
        <p:txBody>
          <a:bodyPr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0" lang="en-US" altLang="zh-CN" sz="2400" b="0" kern="0"/>
              <a:t> </a:t>
            </a:r>
            <a:r>
              <a:rPr kumimoji="0" lang="zh-CN" altLang="en-US" sz="2400" b="0" kern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二、算法的基本知识</a:t>
            </a:r>
            <a:endParaRPr kumimoji="0" lang="zh-CN" altLang="en-US" sz="2400" b="0" kern="0" dirty="0">
              <a:solidFill>
                <a:srgbClr val="A5002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54899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2">
            <a:extLst>
              <a:ext uri="{FF2B5EF4-FFF2-40B4-BE49-F238E27FC236}">
                <a16:creationId xmlns:a16="http://schemas.microsoft.com/office/drawing/2014/main" id="{9AA0AF0B-E63E-4889-ABDB-1523FF70CF8D}"/>
              </a:ext>
            </a:extLst>
          </p:cNvPr>
          <p:cNvSpPr txBox="1">
            <a:spLocks/>
          </p:cNvSpPr>
          <p:nvPr/>
        </p:nvSpPr>
        <p:spPr>
          <a:xfrm>
            <a:off x="166402" y="699542"/>
            <a:ext cx="8510054" cy="4320480"/>
          </a:xfrm>
        </p:spPr>
        <p:txBody>
          <a:bodyPr vert="horz" wrap="square" lIns="68580" tIns="34290" rIns="68580" bIns="34290" anchor="t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b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zh-CN" sz="1800" b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．</a:t>
            </a:r>
            <a:r>
              <a:rPr lang="zh-CN" altLang="en-US" sz="1800" b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算法的表示</a:t>
            </a:r>
            <a:endParaRPr lang="en-US" altLang="zh-CN" sz="1800" b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zh-CN" altLang="en-US" sz="1800" b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常见的有四种表示方法：自然语言、传统流程图、伪代码、计算机语言</a:t>
            </a:r>
            <a:endParaRPr lang="en-US" altLang="zh-CN" sz="1800" b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altLang="zh-CN" sz="1800" b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</a:t>
            </a:r>
            <a:r>
              <a:rPr lang="zh-CN" altLang="en-US" sz="1800" b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例如，求自然对数</a:t>
            </a:r>
            <a:r>
              <a:rPr lang="en-US" altLang="zh-CN" sz="1800" b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</a:p>
          <a:p>
            <a:pPr marL="0" lvl="0" indent="0" eaLnBrk="1" hangingPunct="1">
              <a:lnSpc>
                <a:spcPct val="150000"/>
              </a:lnSpc>
              <a:spcBef>
                <a:spcPts val="0"/>
              </a:spcBef>
              <a:buNone/>
              <a:defRPr/>
            </a:pPr>
            <a:endParaRPr lang="en-US" altLang="zh-CN" sz="1800" b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ts val="0"/>
              </a:spcBef>
              <a:buNone/>
              <a:defRPr/>
            </a:pPr>
            <a:endParaRPr lang="en-US" altLang="zh-CN" sz="1800" b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zh-CN" altLang="en-US" sz="1800" b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1800" b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1800" b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）自然语言</a:t>
            </a:r>
            <a:endParaRPr lang="en-US" altLang="zh-CN" sz="1800" b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ts val="2524"/>
              </a:lnSpc>
              <a:spcBef>
                <a:spcPts val="450"/>
              </a:spcBef>
              <a:buSzPct val="100000"/>
              <a:buNone/>
              <a:defRPr/>
            </a:pPr>
            <a:r>
              <a:rPr lang="zh-CN" altLang="en-US" sz="1800" b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优点：通俗易懂</a:t>
            </a:r>
            <a:endParaRPr lang="en-US" altLang="zh-CN" sz="1800" b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0" eaLnBrk="1" hangingPunct="1">
              <a:lnSpc>
                <a:spcPts val="2524"/>
              </a:lnSpc>
              <a:spcBef>
                <a:spcPts val="450"/>
              </a:spcBef>
              <a:buSzPct val="100000"/>
              <a:buNone/>
              <a:defRPr/>
            </a:pPr>
            <a:r>
              <a:rPr lang="zh-CN" altLang="en-US" sz="1800" b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缺点：不严格，</a:t>
            </a:r>
            <a:endParaRPr lang="en-US" altLang="zh-CN" sz="1800" b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0" eaLnBrk="1" hangingPunct="1">
              <a:lnSpc>
                <a:spcPts val="2524"/>
              </a:lnSpc>
              <a:spcBef>
                <a:spcPts val="450"/>
              </a:spcBef>
              <a:buSzPct val="100000"/>
              <a:buNone/>
              <a:defRPr/>
            </a:pPr>
            <a:r>
              <a:rPr lang="en-US" altLang="zh-CN" sz="1800" b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</a:t>
            </a:r>
            <a:r>
              <a:rPr lang="zh-CN" altLang="en-US" sz="1800" b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易产生歧义性</a:t>
            </a:r>
            <a:endParaRPr lang="zh-CN" altLang="en-US" sz="1800" b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None/>
            </a:pPr>
            <a:endParaRPr lang="zh-CN" altLang="en-US" sz="1800" b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362" name="标题 1"/>
          <p:cNvSpPr>
            <a:spLocks noGrp="1"/>
          </p:cNvSpPr>
          <p:nvPr>
            <p:ph type="title" idx="4294967295"/>
          </p:nvPr>
        </p:nvSpPr>
        <p:spPr/>
        <p:txBody>
          <a:bodyPr vert="horz" wrap="square" lIns="68580" tIns="34290" rIns="68580" bIns="34290" anchor="ctr"/>
          <a:lstStyle/>
          <a:p>
            <a:pPr eaLnBrk="1" hangingPunct="1"/>
            <a:r>
              <a:rPr lang="en-US" altLang="zh-CN" sz="3000">
                <a:solidFill>
                  <a:srgbClr val="002060"/>
                </a:solidFill>
              </a:rPr>
              <a:t> </a:t>
            </a:r>
            <a:endParaRPr lang="zh-CN" altLang="en-US" sz="3000" dirty="0">
              <a:solidFill>
                <a:srgbClr val="002060"/>
              </a:solidFill>
            </a:endParaRPr>
          </a:p>
        </p:txBody>
      </p:sp>
      <p:pic>
        <p:nvPicPr>
          <p:cNvPr id="8" name="Picture 10">
            <a:extLst>
              <a:ext uri="{FF2B5EF4-FFF2-40B4-BE49-F238E27FC236}">
                <a16:creationId xmlns:a16="http://schemas.microsoft.com/office/drawing/2014/main" id="{25D85739-55E8-4BD9-946F-30452C57457A}"/>
              </a:ext>
            </a:extLst>
          </p:cNvPr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2084841"/>
            <a:ext cx="4392488" cy="5589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02B3B21C-F36D-4EDC-B464-2F9BA88EBB71}"/>
              </a:ext>
            </a:extLst>
          </p:cNvPr>
          <p:cNvSpPr/>
          <p:nvPr/>
        </p:nvSpPr>
        <p:spPr>
          <a:xfrm>
            <a:off x="2987824" y="2859782"/>
            <a:ext cx="5796136" cy="2080057"/>
          </a:xfrm>
          <a:prstGeom prst="rect">
            <a:avLst/>
          </a:prstGeom>
          <a:ln>
            <a:solidFill>
              <a:srgbClr val="000066"/>
            </a:solidFill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50000"/>
              </a:lnSpc>
              <a:buNone/>
            </a:pPr>
            <a:r>
              <a:rPr lang="zh-CN" altLang="en-US" sz="1600" b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① 置初态：累加器</a:t>
            </a:r>
            <a:r>
              <a:rPr lang="en-US" altLang="zh-CN" sz="1600" b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zh-CN" altLang="en-US" sz="1600" b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←</a:t>
            </a:r>
            <a:r>
              <a:rPr lang="en-US" altLang="zh-CN" sz="1600" b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1(</a:t>
            </a:r>
            <a:r>
              <a:rPr lang="zh-CN" altLang="en-US" sz="1600" b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sz="1600" b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zh-CN" altLang="en-US" sz="1600" b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项</a:t>
            </a:r>
            <a:r>
              <a:rPr lang="en-US" altLang="zh-CN" sz="1600" b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1600" b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，分母</a:t>
            </a:r>
            <a:r>
              <a:rPr lang="en-US" altLang="zh-CN" sz="1600" b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lang="zh-CN" altLang="en-US" sz="1600" b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←</a:t>
            </a:r>
            <a:r>
              <a:rPr lang="en-US" altLang="zh-CN" sz="1600" b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1(</a:t>
            </a:r>
            <a:r>
              <a:rPr lang="zh-CN" altLang="en-US" sz="1600" b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sz="1600" b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1600" b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项</a:t>
            </a:r>
            <a:r>
              <a:rPr lang="en-US" altLang="zh-CN" sz="1600" b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1600" b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，计数器</a:t>
            </a:r>
            <a:r>
              <a:rPr lang="en-US" altLang="zh-CN" sz="1600" b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zh-CN" altLang="en-US" sz="1600" b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←</a:t>
            </a:r>
            <a:r>
              <a:rPr lang="en-US" altLang="zh-CN" sz="1600" b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endParaRPr lang="zh-CN" altLang="en-US" sz="1600" b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None/>
            </a:pPr>
            <a:r>
              <a:rPr lang="zh-CN" altLang="en-US" sz="1600" b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② 重复执行下面的语句，直到某项绝对值小于</a:t>
            </a:r>
            <a:r>
              <a:rPr lang="en-US" altLang="zh-CN" sz="1600" b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EPS</a:t>
            </a:r>
            <a:r>
              <a:rPr lang="zh-CN" altLang="en-US" sz="1600" b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，转③</a:t>
            </a:r>
          </a:p>
          <a:p>
            <a:pPr marL="0" lvl="2" eaLnBrk="1" hangingPunct="1">
              <a:lnSpc>
                <a:spcPct val="125000"/>
              </a:lnSpc>
              <a:buNone/>
            </a:pPr>
            <a:r>
              <a:rPr lang="en-US" altLang="zh-CN" sz="1600" b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       </a:t>
            </a:r>
            <a:r>
              <a:rPr lang="zh-CN" altLang="en-US" sz="1600" b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求累加和：</a:t>
            </a:r>
            <a:r>
              <a:rPr lang="en-US" altLang="zh-CN" sz="1600" b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zh-CN" altLang="en-US" sz="1600" b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←</a:t>
            </a:r>
            <a:r>
              <a:rPr lang="en-US" altLang="zh-CN" sz="1600" b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s+1/t</a:t>
            </a:r>
            <a:endParaRPr lang="zh-CN" altLang="en-US" sz="1600" b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2" eaLnBrk="1" hangingPunct="1">
              <a:lnSpc>
                <a:spcPct val="125000"/>
              </a:lnSpc>
              <a:buNone/>
            </a:pPr>
            <a:r>
              <a:rPr lang="en-US" altLang="zh-CN" sz="1600" b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       </a:t>
            </a:r>
            <a:r>
              <a:rPr lang="en-US" altLang="zh-CN" sz="1600" b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zh-CN" altLang="en-US" sz="1600" b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←</a:t>
            </a:r>
            <a:r>
              <a:rPr lang="en-US" altLang="zh-CN" sz="1600" b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i+1</a:t>
            </a:r>
          </a:p>
          <a:p>
            <a:pPr marL="0" lvl="2" eaLnBrk="1" hangingPunct="1">
              <a:lnSpc>
                <a:spcPct val="125000"/>
              </a:lnSpc>
              <a:buNone/>
            </a:pPr>
            <a:r>
              <a:rPr lang="en-US" altLang="zh-CN" sz="1600" b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       </a:t>
            </a:r>
            <a:r>
              <a:rPr lang="en-US" altLang="zh-CN" sz="1600" b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lang="zh-CN" altLang="en-US" sz="1600" b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←</a:t>
            </a:r>
            <a:r>
              <a:rPr lang="en-US" altLang="zh-CN" sz="1600" b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t*i</a:t>
            </a:r>
            <a:endParaRPr lang="zh-CN" altLang="en-US" sz="1600" b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None/>
            </a:pPr>
            <a:r>
              <a:rPr lang="zh-CN" altLang="en-US" sz="1600" b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③ 输出：显示结果</a:t>
            </a:r>
            <a:r>
              <a:rPr lang="en-US" altLang="zh-CN" sz="1600" b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pi*4</a:t>
            </a:r>
            <a:endParaRPr lang="zh-CN" altLang="en-US" sz="16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8ED33A6F-4D8C-4BC7-8BC8-1FDCBA92C749}"/>
              </a:ext>
            </a:extLst>
          </p:cNvPr>
          <p:cNvSpPr txBox="1">
            <a:spLocks/>
          </p:cNvSpPr>
          <p:nvPr/>
        </p:nvSpPr>
        <p:spPr>
          <a:xfrm>
            <a:off x="395536" y="195486"/>
            <a:ext cx="6048724" cy="577618"/>
          </a:xfrm>
          <a:prstGeom prst="rect">
            <a:avLst/>
          </a:prstGeom>
        </p:spPr>
        <p:txBody>
          <a:bodyPr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0" lang="en-US" altLang="zh-CN" sz="2400" b="0" kern="0"/>
              <a:t> </a:t>
            </a:r>
            <a:r>
              <a:rPr kumimoji="0" lang="zh-CN" altLang="en-US" sz="2400" b="0" kern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二、算法的基本知识</a:t>
            </a:r>
            <a:endParaRPr kumimoji="0" lang="zh-CN" altLang="en-US" sz="2400" b="0" kern="0" dirty="0">
              <a:solidFill>
                <a:srgbClr val="A5002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9640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2">
            <a:extLst>
              <a:ext uri="{FF2B5EF4-FFF2-40B4-BE49-F238E27FC236}">
                <a16:creationId xmlns:a16="http://schemas.microsoft.com/office/drawing/2014/main" id="{9AA0AF0B-E63E-4889-ABDB-1523FF70CF8D}"/>
              </a:ext>
            </a:extLst>
          </p:cNvPr>
          <p:cNvSpPr txBox="1">
            <a:spLocks/>
          </p:cNvSpPr>
          <p:nvPr/>
        </p:nvSpPr>
        <p:spPr>
          <a:xfrm>
            <a:off x="166402" y="699542"/>
            <a:ext cx="5176717" cy="4320480"/>
          </a:xfrm>
        </p:spPr>
        <p:txBody>
          <a:bodyPr vert="horz" wrap="square" lIns="68580" tIns="34290" rIns="68580" bIns="34290" anchor="t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lvl="0" indent="0" eaLnBrk="1" hangingPunct="1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zh-CN" altLang="en-US" sz="1800" b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1800" b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1800" b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）流程图</a:t>
            </a:r>
            <a:endParaRPr lang="en-US" altLang="zh-CN" sz="1800" b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b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以特定的图形符号加上说明来表示算法</a:t>
            </a: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b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优点：较好的体现程序设计的逻辑。</a:t>
            </a: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b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缺陷：制作费时</a:t>
            </a: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None/>
            </a:pPr>
            <a:endParaRPr lang="zh-CN" altLang="en-US" sz="1800" b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362" name="标题 1"/>
          <p:cNvSpPr>
            <a:spLocks noGrp="1"/>
          </p:cNvSpPr>
          <p:nvPr>
            <p:ph type="title" idx="4294967295"/>
          </p:nvPr>
        </p:nvSpPr>
        <p:spPr/>
        <p:txBody>
          <a:bodyPr vert="horz" wrap="square" lIns="68580" tIns="34290" rIns="68580" bIns="34290" anchor="ctr"/>
          <a:lstStyle/>
          <a:p>
            <a:pPr eaLnBrk="1" hangingPunct="1"/>
            <a:r>
              <a:rPr lang="en-US" altLang="zh-CN" sz="3000">
                <a:solidFill>
                  <a:srgbClr val="002060"/>
                </a:solidFill>
              </a:rPr>
              <a:t> </a:t>
            </a:r>
            <a:endParaRPr lang="zh-CN" altLang="en-US" sz="3000" dirty="0">
              <a:solidFill>
                <a:srgbClr val="002060"/>
              </a:solidFill>
            </a:endParaRPr>
          </a:p>
        </p:txBody>
      </p:sp>
      <p:pic>
        <p:nvPicPr>
          <p:cNvPr id="10" name="图片 3">
            <a:extLst>
              <a:ext uri="{FF2B5EF4-FFF2-40B4-BE49-F238E27FC236}">
                <a16:creationId xmlns:a16="http://schemas.microsoft.com/office/drawing/2014/main" id="{4AA28362-1B11-45E3-8709-27817DF017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985" y="2303942"/>
            <a:ext cx="3680444" cy="283955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" name="流程图: 数据 385">
            <a:extLst>
              <a:ext uri="{FF2B5EF4-FFF2-40B4-BE49-F238E27FC236}">
                <a16:creationId xmlns:a16="http://schemas.microsoft.com/office/drawing/2014/main" id="{26F3F1EE-315B-4221-A1D0-D1D28A2EEA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4522" y="4091667"/>
            <a:ext cx="1402648" cy="331200"/>
          </a:xfrm>
          <a:prstGeom prst="flowChartInputOutput">
            <a:avLst/>
          </a:prstGeom>
          <a:solidFill>
            <a:schemeClr val="bg1"/>
          </a:solidFill>
          <a:ln w="3175">
            <a:solidFill>
              <a:srgbClr val="000000"/>
            </a:solidFill>
            <a:miter lim="800000"/>
          </a:ln>
        </p:spPr>
        <p:txBody>
          <a:bodyPr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400" b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</a:t>
            </a:r>
            <a:r>
              <a:rPr lang="en-US" altLang="zh-CN" sz="1400" b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endParaRPr lang="zh-CN" altLang="zh-CN" sz="1400" b="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404">
            <a:extLst>
              <a:ext uri="{FF2B5EF4-FFF2-40B4-BE49-F238E27FC236}">
                <a16:creationId xmlns:a16="http://schemas.microsoft.com/office/drawing/2014/main" id="{1191C090-8DED-48F1-A9E5-8EEDBA9637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6988" y="2132937"/>
            <a:ext cx="442814" cy="225880"/>
          </a:xfrm>
          <a:prstGeom prst="rect">
            <a:avLst/>
          </a:prstGeom>
          <a:solidFill>
            <a:schemeClr val="bg1"/>
          </a:solidFill>
          <a:ln w="3175">
            <a:noFill/>
            <a:miter lim="800000"/>
          </a:ln>
        </p:spPr>
        <p:txBody>
          <a:bodyPr lIns="0" tIns="0" rIns="0" bIns="0" anchor="ctr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alse</a:t>
            </a:r>
            <a:endParaRPr kumimoji="0" lang="zh-CN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矩形 386">
            <a:extLst>
              <a:ext uri="{FF2B5EF4-FFF2-40B4-BE49-F238E27FC236}">
                <a16:creationId xmlns:a16="http://schemas.microsoft.com/office/drawing/2014/main" id="{F6EAF053-3162-4E26-BFE7-1691BC7018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3960" y="1472273"/>
            <a:ext cx="1433210" cy="375191"/>
          </a:xfrm>
          <a:prstGeom prst="rect">
            <a:avLst/>
          </a:prstGeom>
          <a:solidFill>
            <a:schemeClr val="bg1"/>
          </a:solidFill>
          <a:ln w="3175">
            <a:solidFill>
              <a:srgbClr val="000000"/>
            </a:solidFill>
            <a:miter lim="800000"/>
          </a:ln>
        </p:spPr>
        <p:txBody>
          <a:bodyPr lIns="0" tIns="0" rIns="0" bIns="0" anchor="ctr"/>
          <a:lstStyle/>
          <a:p>
            <a:pPr algn="ctr" eaLnBrk="1" hangingPunct="1">
              <a:buNone/>
            </a:pPr>
            <a:r>
              <a:rPr lang="en-US" altLang="zh-CN" sz="1400" b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zh-CN" altLang="en-US" sz="1400" b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←</a:t>
            </a:r>
            <a:r>
              <a:rPr lang="en-US" altLang="zh-CN" sz="1400" b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1,</a:t>
            </a:r>
            <a:r>
              <a:rPr lang="zh-CN" altLang="en-US" sz="1400" b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400" b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lang="zh-CN" altLang="en-US" sz="1400" b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←</a:t>
            </a:r>
            <a:r>
              <a:rPr lang="en-US" altLang="zh-CN" sz="1400" b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1, i</a:t>
            </a:r>
            <a:r>
              <a:rPr lang="zh-CN" altLang="en-US" sz="1400" b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←</a:t>
            </a:r>
            <a:r>
              <a:rPr lang="en-US" altLang="zh-CN" sz="1400" b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endParaRPr lang="zh-CN" altLang="en-US" sz="1400" b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7" name="流程图: 决策 387">
            <a:extLst>
              <a:ext uri="{FF2B5EF4-FFF2-40B4-BE49-F238E27FC236}">
                <a16:creationId xmlns:a16="http://schemas.microsoft.com/office/drawing/2014/main" id="{BA53FDEF-959F-4FCE-997D-38EB71A966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6182" y="2135609"/>
            <a:ext cx="1606302" cy="450042"/>
          </a:xfrm>
          <a:prstGeom prst="flowChartDecision">
            <a:avLst/>
          </a:prstGeom>
          <a:solidFill>
            <a:schemeClr val="bg1"/>
          </a:solidFill>
          <a:ln w="3175">
            <a:solidFill>
              <a:srgbClr val="000000"/>
            </a:solidFill>
            <a:miter lim="800000"/>
          </a:ln>
        </p:spPr>
        <p:txBody>
          <a:bodyPr lIns="0" tIns="0" rIns="0" bIns="0" anchor="ctr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|1/t|</a:t>
            </a: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&gt;10</a:t>
            </a:r>
            <a:r>
              <a:rPr kumimoji="1" lang="en-US" altLang="zh-CN" sz="1400" b="0" i="0" u="none" strike="noStrike" kern="1200" cap="none" spc="0" normalizeH="0" baseline="3000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-6</a:t>
            </a:r>
            <a:endParaRPr kumimoji="1" lang="zh-CN" altLang="zh-CN" sz="1400" b="0" i="0" u="none" strike="noStrike" kern="1200" cap="none" spc="0" normalizeH="0" baseline="3000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9" name="直接箭头连接符 391">
            <a:extLst>
              <a:ext uri="{FF2B5EF4-FFF2-40B4-BE49-F238E27FC236}">
                <a16:creationId xmlns:a16="http://schemas.microsoft.com/office/drawing/2014/main" id="{E993E11F-83BC-4E53-B1FC-F8D8D37CC57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790610" y="1251752"/>
            <a:ext cx="0" cy="220521"/>
          </a:xfrm>
          <a:prstGeom prst="straightConnector1">
            <a:avLst/>
          </a:prstGeom>
          <a:solidFill>
            <a:schemeClr val="bg1"/>
          </a:solidFill>
          <a:ln w="9525">
            <a:solidFill>
              <a:srgbClr val="4A7EBB"/>
            </a:solidFill>
            <a:round/>
            <a:tailEnd type="stealth" w="med" len="med"/>
          </a:ln>
        </p:spPr>
      </p:cxnSp>
      <p:cxnSp>
        <p:nvCxnSpPr>
          <p:cNvPr id="20" name="直接箭头连接符 393">
            <a:extLst>
              <a:ext uri="{FF2B5EF4-FFF2-40B4-BE49-F238E27FC236}">
                <a16:creationId xmlns:a16="http://schemas.microsoft.com/office/drawing/2014/main" id="{6068DF16-7E39-4044-B574-B530D7F95AB0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6792788" y="1847464"/>
            <a:ext cx="1104" cy="282195"/>
          </a:xfrm>
          <a:prstGeom prst="straightConnector1">
            <a:avLst/>
          </a:prstGeom>
          <a:solidFill>
            <a:schemeClr val="bg1"/>
          </a:solidFill>
          <a:ln w="9525">
            <a:solidFill>
              <a:srgbClr val="4A7EBB"/>
            </a:solidFill>
            <a:round/>
            <a:tailEnd type="stealth" w="med" len="med"/>
          </a:ln>
        </p:spPr>
      </p:cxnSp>
      <p:cxnSp>
        <p:nvCxnSpPr>
          <p:cNvPr id="21" name="直接箭头连接符 394">
            <a:extLst>
              <a:ext uri="{FF2B5EF4-FFF2-40B4-BE49-F238E27FC236}">
                <a16:creationId xmlns:a16="http://schemas.microsoft.com/office/drawing/2014/main" id="{B1119779-19F2-4C96-A03C-CB4F9CF57FC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790610" y="2585651"/>
            <a:ext cx="0" cy="288000"/>
          </a:xfrm>
          <a:prstGeom prst="straightConnector1">
            <a:avLst/>
          </a:prstGeom>
          <a:solidFill>
            <a:schemeClr val="bg1"/>
          </a:solidFill>
          <a:ln w="9525">
            <a:solidFill>
              <a:srgbClr val="4A7EBB"/>
            </a:solidFill>
            <a:round/>
            <a:tailEnd type="stealth" w="med" len="med"/>
          </a:ln>
        </p:spPr>
      </p:cxnSp>
      <p:cxnSp>
        <p:nvCxnSpPr>
          <p:cNvPr id="22" name="直接箭头连接符 396">
            <a:extLst>
              <a:ext uri="{FF2B5EF4-FFF2-40B4-BE49-F238E27FC236}">
                <a16:creationId xmlns:a16="http://schemas.microsoft.com/office/drawing/2014/main" id="{52BE0368-3661-4A0C-94C3-950167C3D9C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806881" y="3857211"/>
            <a:ext cx="0" cy="234456"/>
          </a:xfrm>
          <a:prstGeom prst="straightConnector1">
            <a:avLst/>
          </a:prstGeom>
          <a:solidFill>
            <a:schemeClr val="bg1"/>
          </a:solidFill>
          <a:ln w="9525">
            <a:solidFill>
              <a:srgbClr val="4A7EBB"/>
            </a:solidFill>
            <a:round/>
            <a:tailEnd type="stealth" w="med" len="med"/>
          </a:ln>
        </p:spPr>
      </p:cxnSp>
      <p:cxnSp>
        <p:nvCxnSpPr>
          <p:cNvPr id="23" name="直接箭头连接符 397">
            <a:extLst>
              <a:ext uri="{FF2B5EF4-FFF2-40B4-BE49-F238E27FC236}">
                <a16:creationId xmlns:a16="http://schemas.microsoft.com/office/drawing/2014/main" id="{C7607D22-2FFB-4FA6-9A15-A9928F1C0CAF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5830494" y="1988561"/>
            <a:ext cx="947322" cy="0"/>
          </a:xfrm>
          <a:prstGeom prst="straightConnector1">
            <a:avLst/>
          </a:prstGeom>
          <a:solidFill>
            <a:schemeClr val="bg1"/>
          </a:solidFill>
          <a:ln w="9525">
            <a:solidFill>
              <a:srgbClr val="4A7EBB"/>
            </a:solidFill>
            <a:round/>
            <a:headEnd type="stealth" w="med" len="med"/>
          </a:ln>
        </p:spPr>
      </p:cxnSp>
      <p:cxnSp>
        <p:nvCxnSpPr>
          <p:cNvPr id="24" name="直接箭头连接符 398">
            <a:extLst>
              <a:ext uri="{FF2B5EF4-FFF2-40B4-BE49-F238E27FC236}">
                <a16:creationId xmlns:a16="http://schemas.microsoft.com/office/drawing/2014/main" id="{F5236161-F187-45B1-9B7D-4DC16CB874A9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5822745" y="1988561"/>
            <a:ext cx="11518" cy="1781673"/>
          </a:xfrm>
          <a:prstGeom prst="straightConnector1">
            <a:avLst/>
          </a:prstGeom>
          <a:solidFill>
            <a:schemeClr val="bg1"/>
          </a:solidFill>
          <a:ln w="9525">
            <a:solidFill>
              <a:srgbClr val="4A7EBB"/>
            </a:solidFill>
            <a:round/>
          </a:ln>
        </p:spPr>
      </p:cxnSp>
      <p:cxnSp>
        <p:nvCxnSpPr>
          <p:cNvPr id="25" name="直接箭头连接符 399">
            <a:extLst>
              <a:ext uri="{FF2B5EF4-FFF2-40B4-BE49-F238E27FC236}">
                <a16:creationId xmlns:a16="http://schemas.microsoft.com/office/drawing/2014/main" id="{38C7796D-E9EE-4A81-A639-4A316F55C827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5822745" y="3764813"/>
            <a:ext cx="967865" cy="2296"/>
          </a:xfrm>
          <a:prstGeom prst="straightConnector1">
            <a:avLst/>
          </a:prstGeom>
          <a:solidFill>
            <a:schemeClr val="bg1"/>
          </a:solidFill>
          <a:ln w="9525">
            <a:solidFill>
              <a:srgbClr val="4A7EBB"/>
            </a:solidFill>
            <a:round/>
          </a:ln>
        </p:spPr>
      </p:cxnSp>
      <p:cxnSp>
        <p:nvCxnSpPr>
          <p:cNvPr id="27" name="直接箭头连接符 401">
            <a:extLst>
              <a:ext uri="{FF2B5EF4-FFF2-40B4-BE49-F238E27FC236}">
                <a16:creationId xmlns:a16="http://schemas.microsoft.com/office/drawing/2014/main" id="{A54E25A0-585B-4E30-AA8E-7D6FDBA7DD2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865234" y="2366079"/>
            <a:ext cx="0" cy="1497600"/>
          </a:xfrm>
          <a:prstGeom prst="straightConnector1">
            <a:avLst/>
          </a:prstGeom>
          <a:solidFill>
            <a:schemeClr val="bg1"/>
          </a:solidFill>
          <a:ln w="9525" cmpd="sng">
            <a:solidFill>
              <a:srgbClr val="4A7EBB"/>
            </a:solidFill>
            <a:round/>
          </a:ln>
        </p:spPr>
      </p:cxnSp>
      <p:cxnSp>
        <p:nvCxnSpPr>
          <p:cNvPr id="28" name="直接箭头连接符 402">
            <a:extLst>
              <a:ext uri="{FF2B5EF4-FFF2-40B4-BE49-F238E27FC236}">
                <a16:creationId xmlns:a16="http://schemas.microsoft.com/office/drawing/2014/main" id="{B4C4D907-7917-4C22-A466-DCE21553E7BC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7623066" y="2361792"/>
            <a:ext cx="242168" cy="3502"/>
          </a:xfrm>
          <a:prstGeom prst="straightConnector1">
            <a:avLst/>
          </a:prstGeom>
          <a:solidFill>
            <a:schemeClr val="bg1"/>
          </a:solidFill>
          <a:ln w="9525">
            <a:solidFill>
              <a:srgbClr val="4A7EBB"/>
            </a:solidFill>
            <a:round/>
          </a:ln>
        </p:spPr>
      </p:cxnSp>
      <p:sp>
        <p:nvSpPr>
          <p:cNvPr id="29" name="矩形 405">
            <a:extLst>
              <a:ext uri="{FF2B5EF4-FFF2-40B4-BE49-F238E27FC236}">
                <a16:creationId xmlns:a16="http://schemas.microsoft.com/office/drawing/2014/main" id="{2857FD68-9BD1-4BD5-B671-5CBAD50A80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0470" y="2626043"/>
            <a:ext cx="549486" cy="179939"/>
          </a:xfrm>
          <a:prstGeom prst="rect">
            <a:avLst/>
          </a:prstGeom>
          <a:solidFill>
            <a:schemeClr val="bg1"/>
          </a:solidFill>
          <a:ln w="3175">
            <a:noFill/>
            <a:miter lim="800000"/>
          </a:ln>
        </p:spPr>
        <p:txBody>
          <a:bodyPr lIns="0" tIns="0" rIns="0" bIns="0" anchor="ctr"/>
          <a:lstStyle/>
          <a:p>
            <a:pPr marL="0" marR="0" lvl="0" indent="0" algn="just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rue</a:t>
            </a: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流程图: 终止 3">
            <a:extLst>
              <a:ext uri="{FF2B5EF4-FFF2-40B4-BE49-F238E27FC236}">
                <a16:creationId xmlns:a16="http://schemas.microsoft.com/office/drawing/2014/main" id="{DFF2C9ED-9CD5-4DE6-9629-572FBA954F1C}"/>
              </a:ext>
            </a:extLst>
          </p:cNvPr>
          <p:cNvSpPr/>
          <p:nvPr/>
        </p:nvSpPr>
        <p:spPr bwMode="auto">
          <a:xfrm>
            <a:off x="6228184" y="915566"/>
            <a:ext cx="1142299" cy="332709"/>
          </a:xfrm>
          <a:prstGeom prst="flowChartTerminator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vert="horz" wrap="square" lIns="91440" tIns="0" rIns="9144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400" b="0" i="0" u="none" strike="noStrike" cap="none" normalizeH="0" baseline="0">
                <a:ln>
                  <a:noFill/>
                </a:ln>
                <a:solidFill>
                  <a:srgbClr val="A5002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开始</a:t>
            </a:r>
          </a:p>
        </p:txBody>
      </p:sp>
      <p:sp>
        <p:nvSpPr>
          <p:cNvPr id="59" name="矩形 386">
            <a:extLst>
              <a:ext uri="{FF2B5EF4-FFF2-40B4-BE49-F238E27FC236}">
                <a16:creationId xmlns:a16="http://schemas.microsoft.com/office/drawing/2014/main" id="{6DC41753-20D7-4BAF-82AF-2A83F837C8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0063" y="2870665"/>
            <a:ext cx="1443003" cy="542557"/>
          </a:xfrm>
          <a:prstGeom prst="rect">
            <a:avLst/>
          </a:prstGeom>
          <a:solidFill>
            <a:schemeClr val="bg1"/>
          </a:solidFill>
          <a:ln w="3175">
            <a:solidFill>
              <a:srgbClr val="000000"/>
            </a:solidFill>
            <a:miter lim="800000"/>
          </a:ln>
        </p:spPr>
        <p:txBody>
          <a:bodyPr lIns="90000" tIns="0" rIns="0" bIns="0" anchor="ctr"/>
          <a:lstStyle/>
          <a:p>
            <a:pPr marL="0" lvl="2" eaLnBrk="1" hangingPunct="1">
              <a:lnSpc>
                <a:spcPts val="1400"/>
              </a:lnSpc>
              <a:buNone/>
            </a:pPr>
            <a:r>
              <a:rPr lang="en-US" altLang="zh-CN" sz="1600" b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s</a:t>
            </a:r>
            <a:r>
              <a:rPr lang="zh-CN" altLang="en-US" sz="1600" b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←</a:t>
            </a:r>
            <a:r>
              <a:rPr lang="en-US" altLang="zh-CN" sz="1600" b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s+1/t</a:t>
            </a:r>
            <a:endParaRPr lang="zh-CN" altLang="en-US" sz="1600" b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2" eaLnBrk="1" hangingPunct="1">
              <a:lnSpc>
                <a:spcPts val="1400"/>
              </a:lnSpc>
              <a:buNone/>
            </a:pPr>
            <a:r>
              <a:rPr lang="en-US" altLang="zh-CN" sz="1600" b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i</a:t>
            </a:r>
            <a:r>
              <a:rPr lang="zh-CN" altLang="en-US" sz="1600" b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←</a:t>
            </a:r>
            <a:r>
              <a:rPr lang="en-US" altLang="zh-CN" sz="1600" b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i+1</a:t>
            </a:r>
          </a:p>
          <a:p>
            <a:pPr marL="0" lvl="2" eaLnBrk="1" hangingPunct="1">
              <a:lnSpc>
                <a:spcPts val="1400"/>
              </a:lnSpc>
              <a:buNone/>
            </a:pPr>
            <a:r>
              <a:rPr lang="en-US" altLang="zh-CN" sz="1600" b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t</a:t>
            </a:r>
            <a:r>
              <a:rPr lang="zh-CN" altLang="en-US" sz="1600" b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←</a:t>
            </a:r>
            <a:r>
              <a:rPr lang="en-US" altLang="zh-CN" sz="1600" b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t*i</a:t>
            </a:r>
            <a:endParaRPr lang="zh-CN" altLang="en-US" sz="1600" b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60" name="直接箭头连接符 394">
            <a:extLst>
              <a:ext uri="{FF2B5EF4-FFF2-40B4-BE49-F238E27FC236}">
                <a16:creationId xmlns:a16="http://schemas.microsoft.com/office/drawing/2014/main" id="{12B77480-12DF-4BD4-83B1-5335176433E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806881" y="3413222"/>
            <a:ext cx="0" cy="357012"/>
          </a:xfrm>
          <a:prstGeom prst="straightConnector1">
            <a:avLst/>
          </a:prstGeom>
          <a:solidFill>
            <a:schemeClr val="bg1"/>
          </a:solidFill>
          <a:ln w="9525">
            <a:solidFill>
              <a:srgbClr val="4A7EBB"/>
            </a:solidFill>
            <a:round/>
            <a:tailEnd type="stealth" w="med" len="med"/>
          </a:ln>
        </p:spPr>
      </p:cxnSp>
      <p:cxnSp>
        <p:nvCxnSpPr>
          <p:cNvPr id="65" name="直接箭头连接符 399">
            <a:extLst>
              <a:ext uri="{FF2B5EF4-FFF2-40B4-BE49-F238E27FC236}">
                <a16:creationId xmlns:a16="http://schemas.microsoft.com/office/drawing/2014/main" id="{CE7136D2-F009-4C54-8C5E-11EDFCDC6349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6798746" y="3851867"/>
            <a:ext cx="1058353" cy="6477"/>
          </a:xfrm>
          <a:prstGeom prst="straightConnector1">
            <a:avLst/>
          </a:prstGeom>
          <a:solidFill>
            <a:schemeClr val="bg1"/>
          </a:solidFill>
          <a:ln w="9525">
            <a:solidFill>
              <a:srgbClr val="4A7EBB"/>
            </a:solidFill>
            <a:round/>
          </a:ln>
        </p:spPr>
      </p:cxnSp>
      <p:sp>
        <p:nvSpPr>
          <p:cNvPr id="68" name="流程图: 终止 67">
            <a:extLst>
              <a:ext uri="{FF2B5EF4-FFF2-40B4-BE49-F238E27FC236}">
                <a16:creationId xmlns:a16="http://schemas.microsoft.com/office/drawing/2014/main" id="{E9337DBE-6658-40DB-9008-223425AEFF22}"/>
              </a:ext>
            </a:extLst>
          </p:cNvPr>
          <p:cNvSpPr/>
          <p:nvPr/>
        </p:nvSpPr>
        <p:spPr bwMode="auto">
          <a:xfrm>
            <a:off x="6243222" y="4638374"/>
            <a:ext cx="1142299" cy="332709"/>
          </a:xfrm>
          <a:prstGeom prst="flowChartTerminator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vert="horz" wrap="square" lIns="91440" tIns="0" rIns="9144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400" b="0" i="0" u="none" strike="noStrike" cap="none" normalizeH="0" baseline="0">
                <a:ln>
                  <a:noFill/>
                </a:ln>
                <a:solidFill>
                  <a:srgbClr val="A5002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结束</a:t>
            </a:r>
          </a:p>
        </p:txBody>
      </p:sp>
      <p:cxnSp>
        <p:nvCxnSpPr>
          <p:cNvPr id="71" name="直接箭头连接符 391">
            <a:extLst>
              <a:ext uri="{FF2B5EF4-FFF2-40B4-BE49-F238E27FC236}">
                <a16:creationId xmlns:a16="http://schemas.microsoft.com/office/drawing/2014/main" id="{B4C33BEC-21FD-40C1-A75F-0073E5D633E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820470" y="4422867"/>
            <a:ext cx="0" cy="220521"/>
          </a:xfrm>
          <a:prstGeom prst="straightConnector1">
            <a:avLst/>
          </a:prstGeom>
          <a:solidFill>
            <a:schemeClr val="bg1"/>
          </a:solidFill>
          <a:ln w="9525">
            <a:solidFill>
              <a:srgbClr val="4A7EBB"/>
            </a:solidFill>
            <a:round/>
            <a:tailEnd type="stealth" w="med" len="med"/>
          </a:ln>
        </p:spPr>
      </p:cxnSp>
      <p:sp>
        <p:nvSpPr>
          <p:cNvPr id="26" name="标题 1">
            <a:extLst>
              <a:ext uri="{FF2B5EF4-FFF2-40B4-BE49-F238E27FC236}">
                <a16:creationId xmlns:a16="http://schemas.microsoft.com/office/drawing/2014/main" id="{9EA7038A-5817-4E90-AF39-18B22535A5E1}"/>
              </a:ext>
            </a:extLst>
          </p:cNvPr>
          <p:cNvSpPr txBox="1">
            <a:spLocks/>
          </p:cNvSpPr>
          <p:nvPr/>
        </p:nvSpPr>
        <p:spPr>
          <a:xfrm>
            <a:off x="395536" y="195486"/>
            <a:ext cx="6048724" cy="577618"/>
          </a:xfrm>
          <a:prstGeom prst="rect">
            <a:avLst/>
          </a:prstGeom>
        </p:spPr>
        <p:txBody>
          <a:bodyPr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0" lang="en-US" altLang="zh-CN" sz="2400" b="0" kern="0"/>
              <a:t> </a:t>
            </a:r>
            <a:r>
              <a:rPr kumimoji="0" lang="zh-CN" altLang="en-US" sz="2400" b="0" kern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二、算法的基本知识</a:t>
            </a:r>
            <a:endParaRPr kumimoji="0" lang="zh-CN" altLang="en-US" sz="2400" b="0" kern="0" dirty="0">
              <a:solidFill>
                <a:srgbClr val="A5002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31831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2">
            <a:extLst>
              <a:ext uri="{FF2B5EF4-FFF2-40B4-BE49-F238E27FC236}">
                <a16:creationId xmlns:a16="http://schemas.microsoft.com/office/drawing/2014/main" id="{9AA0AF0B-E63E-4889-ABDB-1523FF70CF8D}"/>
              </a:ext>
            </a:extLst>
          </p:cNvPr>
          <p:cNvSpPr txBox="1">
            <a:spLocks/>
          </p:cNvSpPr>
          <p:nvPr/>
        </p:nvSpPr>
        <p:spPr>
          <a:xfrm>
            <a:off x="166402" y="699542"/>
            <a:ext cx="6781862" cy="4176464"/>
          </a:xfrm>
        </p:spPr>
        <p:txBody>
          <a:bodyPr vert="horz" wrap="square" lIns="68580" tIns="34290" rIns="68580" bIns="34290" anchor="t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lvl="0" indent="0" eaLnBrk="1" hangingPunct="1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）伪代码</a:t>
            </a:r>
            <a:endParaRPr lang="en-US" altLang="zh-CN" sz="18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b="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用介于自然语言和计算机语言之间的文字和符号来描述算法。</a:t>
            </a:r>
            <a:endParaRPr lang="en-US" altLang="zh-CN" sz="1800" b="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40000" lvl="1" indent="0" algn="just" eaLnBrk="1" hangingPunct="1">
              <a:spcBef>
                <a:spcPct val="0"/>
              </a:spcBef>
              <a:buSzPct val="100000"/>
              <a:buNone/>
              <a:defRPr/>
            </a:pPr>
            <a:r>
              <a:rPr lang="en-US" altLang="zh-CN" sz="16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Begin</a:t>
            </a:r>
          </a:p>
          <a:p>
            <a:pPr marL="800100" lvl="2" indent="0" eaLnBrk="1" hangingPunct="1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s=1   	 // </a:t>
            </a:r>
            <a:r>
              <a:rPr lang="zh-CN" altLang="en-US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zh-CN" altLang="en-US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项直接赋值</a:t>
            </a: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endParaRPr lang="zh-CN" altLang="en-US" sz="16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2" indent="0" eaLnBrk="1" hangingPunct="1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t=1	 // </a:t>
            </a:r>
            <a:r>
              <a:rPr lang="zh-CN" altLang="en-US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项的分母</a:t>
            </a:r>
            <a:endParaRPr lang="en-US" altLang="zh-CN" sz="16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2" indent="0" eaLnBrk="1" hangingPunct="1">
              <a:spcBef>
                <a:spcPts val="0"/>
              </a:spcBef>
              <a:buNone/>
            </a:pPr>
            <a:r>
              <a:rPr lang="en-US" altLang="zh-CN" sz="1600" b="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=1</a:t>
            </a:r>
          </a:p>
          <a:p>
            <a:pPr marL="540000" lvl="1" indent="0" algn="just" eaLnBrk="1" hangingPunct="1">
              <a:spcBef>
                <a:spcPct val="0"/>
              </a:spcBef>
              <a:buSzPct val="100000"/>
              <a:buNone/>
              <a:defRPr/>
            </a:pPr>
            <a:r>
              <a:rPr lang="en-US" altLang="zh-CN" sz="16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While (</a:t>
            </a:r>
            <a:r>
              <a:rPr lang="en-US" altLang="zh-CN" sz="1600" dirty="0">
                <a:solidFill>
                  <a:srgbClr val="000066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|1/t|</a:t>
            </a:r>
            <a:r>
              <a:rPr lang="en-US" altLang="zh-CN" sz="16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&gt;=10</a:t>
            </a:r>
            <a:r>
              <a:rPr lang="en-US" altLang="zh-CN" sz="1600" baseline="300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-8</a:t>
            </a:r>
            <a:r>
              <a:rPr lang="en-US" altLang="zh-CN" sz="16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540000" lvl="1" indent="0" algn="just" eaLnBrk="1" hangingPunct="1">
              <a:spcBef>
                <a:spcPct val="0"/>
              </a:spcBef>
              <a:buSzPct val="100000"/>
              <a:buNone/>
              <a:defRPr/>
            </a:pPr>
            <a:r>
              <a:rPr lang="en-US" altLang="zh-CN" sz="16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{  			</a:t>
            </a:r>
          </a:p>
          <a:p>
            <a:pPr marL="800100" lvl="2" indent="0" eaLnBrk="1" hangingPunct="1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s</a:t>
            </a: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  </a:t>
            </a: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s+1/t</a:t>
            </a:r>
          </a:p>
          <a:p>
            <a:pPr marL="800100" lvl="2" indent="0" eaLnBrk="1" hangingPunct="1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lang="en-US" altLang="zh-CN" sz="1600" b="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  </a:t>
            </a: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i+1</a:t>
            </a:r>
          </a:p>
          <a:p>
            <a:pPr marL="800100" lvl="2" indent="0" eaLnBrk="1" hangingPunct="1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t</a:t>
            </a: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  </a:t>
            </a: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t*</a:t>
            </a:r>
            <a:r>
              <a:rPr lang="en-US" altLang="zh-CN" sz="1600" b="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// </a:t>
            </a:r>
            <a:r>
              <a:rPr lang="zh-CN" altLang="en-US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计算第</a:t>
            </a:r>
            <a:r>
              <a:rPr lang="en-US" altLang="zh-CN" sz="1600" b="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zh-CN" altLang="en-US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项的分母</a:t>
            </a:r>
            <a:endParaRPr lang="en-US" altLang="zh-CN" sz="16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2" indent="0" eaLnBrk="1" hangingPunct="1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</a:p>
          <a:p>
            <a:pPr marL="540000" lvl="2" indent="0" algn="just" eaLnBrk="1" hangingPunct="1">
              <a:lnSpc>
                <a:spcPct val="80000"/>
              </a:lnSpc>
              <a:spcBef>
                <a:spcPct val="0"/>
              </a:spcBef>
              <a:buSzPct val="100000"/>
              <a:buNone/>
              <a:defRPr/>
            </a:pPr>
            <a:r>
              <a:rPr lang="en-US" altLang="zh-CN" sz="16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Print s	</a:t>
            </a: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// </a:t>
            </a:r>
            <a:r>
              <a:rPr lang="zh-CN" altLang="en-US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输出结果</a:t>
            </a:r>
            <a:endParaRPr lang="en-US" altLang="zh-CN" sz="16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540000" lvl="1" indent="0" eaLnBrk="1" hangingPunct="1">
              <a:spcBef>
                <a:spcPct val="0"/>
              </a:spcBef>
              <a:buSzPct val="100000"/>
              <a:buNone/>
              <a:defRPr/>
            </a:pPr>
            <a:r>
              <a:rPr lang="en-US" altLang="zh-CN" sz="16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 </a:t>
            </a:r>
            <a:endParaRPr lang="zh-CN" altLang="zh-CN" sz="16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None/>
            </a:pPr>
            <a:br>
              <a:rPr lang="en-US" altLang="zh-CN" sz="1800" b="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endParaRPr lang="zh-CN" altLang="en-US" sz="1800" b="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None/>
            </a:pPr>
            <a:endParaRPr lang="zh-CN" altLang="en-US" sz="1800" b="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362" name="标题 1"/>
          <p:cNvSpPr>
            <a:spLocks noGrp="1"/>
          </p:cNvSpPr>
          <p:nvPr>
            <p:ph type="title" idx="4294967295"/>
          </p:nvPr>
        </p:nvSpPr>
        <p:spPr/>
        <p:txBody>
          <a:bodyPr vert="horz" wrap="square" lIns="68580" tIns="34290" rIns="68580" bIns="34290" anchor="ctr"/>
          <a:lstStyle/>
          <a:p>
            <a:pPr eaLnBrk="1" hangingPunct="1"/>
            <a:r>
              <a:rPr lang="en-US" altLang="zh-CN" sz="3000">
                <a:solidFill>
                  <a:srgbClr val="002060"/>
                </a:solidFill>
              </a:rPr>
              <a:t> </a:t>
            </a:r>
            <a:endParaRPr lang="zh-CN" altLang="en-US" sz="3000" dirty="0">
              <a:solidFill>
                <a:srgbClr val="002060"/>
              </a:solidFill>
            </a:endParaRP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886AC0A9-60A2-4359-9C5C-245636CF9144}"/>
              </a:ext>
            </a:extLst>
          </p:cNvPr>
          <p:cNvSpPr/>
          <p:nvPr/>
        </p:nvSpPr>
        <p:spPr>
          <a:xfrm>
            <a:off x="4605402" y="1563638"/>
            <a:ext cx="4392488" cy="3158813"/>
          </a:xfrm>
          <a:prstGeom prst="rect">
            <a:avLst/>
          </a:prstGeom>
          <a:ln>
            <a:solidFill>
              <a:srgbClr val="000066"/>
            </a:solidFill>
          </a:ln>
        </p:spPr>
        <p:txBody>
          <a:bodyPr wrap="square">
            <a:spAutoFit/>
          </a:bodyPr>
          <a:lstStyle/>
          <a:p>
            <a:pPr lvl="0">
              <a:lnSpc>
                <a:spcPct val="114000"/>
              </a:lnSpc>
              <a:spcBef>
                <a:spcPts val="0"/>
              </a:spcBef>
              <a:buSzPct val="100000"/>
              <a:defRPr/>
            </a:pPr>
            <a:r>
              <a:rPr lang="zh-CN" altLang="en-US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有如下简单约定：</a:t>
            </a:r>
            <a:endParaRPr lang="en-US" altLang="zh-CN" sz="16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0">
              <a:lnSpc>
                <a:spcPct val="114000"/>
              </a:lnSpc>
              <a:spcBef>
                <a:spcPts val="0"/>
              </a:spcBef>
              <a:buSzPct val="100000"/>
              <a:defRPr/>
            </a:pPr>
            <a:r>
              <a:rPr lang="zh-CN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◆</a:t>
            </a: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用</a:t>
            </a: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Begin</a:t>
            </a:r>
            <a:r>
              <a:rPr lang="zh-CN" altLang="en-US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开始、</a:t>
            </a: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End</a:t>
            </a:r>
            <a:r>
              <a:rPr lang="zh-CN" altLang="en-US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结束；</a:t>
            </a:r>
            <a:endParaRPr lang="en-US" altLang="zh-CN" sz="16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0">
              <a:lnSpc>
                <a:spcPct val="114000"/>
              </a:lnSpc>
              <a:spcBef>
                <a:spcPts val="0"/>
              </a:spcBef>
              <a:buSzPct val="100000"/>
              <a:defRPr/>
            </a:pPr>
            <a:r>
              <a:rPr lang="zh-CN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◆</a:t>
            </a: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每一条指令占一行</a:t>
            </a:r>
          </a:p>
          <a:p>
            <a:pPr marL="0" lvl="1">
              <a:lnSpc>
                <a:spcPct val="114000"/>
              </a:lnSpc>
              <a:spcBef>
                <a:spcPts val="0"/>
              </a:spcBef>
              <a:buSzPct val="100000"/>
              <a:defRPr/>
            </a:pPr>
            <a:r>
              <a:rPr lang="zh-CN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◆</a:t>
            </a: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”</a:t>
            </a: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//</a:t>
            </a:r>
            <a:r>
              <a:rPr lang="zh-CN" altLang="en-US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“标志表示注释</a:t>
            </a:r>
          </a:p>
          <a:p>
            <a:pPr marL="0" lvl="1">
              <a:lnSpc>
                <a:spcPct val="114000"/>
              </a:lnSpc>
              <a:spcBef>
                <a:spcPts val="0"/>
              </a:spcBef>
              <a:buSzPct val="100000"/>
              <a:defRPr/>
            </a:pPr>
            <a:r>
              <a:rPr lang="zh-CN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◆</a:t>
            </a:r>
            <a:r>
              <a:rPr lang="zh-CN" altLang="en-US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输入</a:t>
            </a: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zh-CN" altLang="en-US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输出以</a:t>
            </a: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Input/Print</a:t>
            </a:r>
            <a:r>
              <a:rPr lang="zh-CN" altLang="en-US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表示；</a:t>
            </a:r>
          </a:p>
          <a:p>
            <a:pPr marL="0" lvl="1">
              <a:lnSpc>
                <a:spcPct val="114000"/>
              </a:lnSpc>
              <a:spcBef>
                <a:spcPts val="0"/>
              </a:spcBef>
              <a:buSzPct val="100000"/>
              <a:defRPr/>
            </a:pPr>
            <a:r>
              <a:rPr lang="zh-CN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◆</a:t>
            </a:r>
            <a:r>
              <a:rPr lang="zh-CN" altLang="en-US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用“</a:t>
            </a: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</a:t>
            </a:r>
            <a:r>
              <a:rPr lang="zh-CN" altLang="en-US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”表示赋值； 用缩进表示代码块结构，</a:t>
            </a:r>
            <a:endParaRPr lang="en-US" altLang="zh-CN" sz="16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1">
              <a:lnSpc>
                <a:spcPct val="114000"/>
              </a:lnSpc>
              <a:spcBef>
                <a:spcPts val="0"/>
              </a:spcBef>
              <a:buSzPct val="100000"/>
              <a:defRPr/>
            </a:pP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</a:t>
            </a:r>
            <a:r>
              <a:rPr lang="zh-CN" altLang="en-US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块中多句语句用一对</a:t>
            </a: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{}</a:t>
            </a:r>
            <a:r>
              <a:rPr lang="zh-CN" altLang="en-US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括起；</a:t>
            </a:r>
            <a:endParaRPr lang="en-US" altLang="zh-CN" sz="16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1">
              <a:lnSpc>
                <a:spcPct val="114000"/>
              </a:lnSpc>
              <a:spcBef>
                <a:spcPts val="0"/>
              </a:spcBef>
              <a:buSzPct val="100000"/>
              <a:defRPr/>
            </a:pPr>
            <a:r>
              <a:rPr lang="zh-CN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◆</a:t>
            </a:r>
            <a:r>
              <a:rPr lang="zh-CN" altLang="en-US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数组形式：数组名</a:t>
            </a: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[</a:t>
            </a:r>
            <a:r>
              <a:rPr lang="zh-CN" altLang="en-US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下界</a:t>
            </a: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‥</a:t>
            </a:r>
            <a:r>
              <a:rPr lang="zh-CN" altLang="en-US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上界</a:t>
            </a: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</a:t>
            </a:r>
            <a:r>
              <a:rPr lang="zh-CN" altLang="en-US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；</a:t>
            </a:r>
            <a:endParaRPr lang="en-US" altLang="zh-CN" sz="16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1">
              <a:lnSpc>
                <a:spcPct val="114000"/>
              </a:lnSpc>
              <a:spcBef>
                <a:spcPts val="0"/>
              </a:spcBef>
              <a:buSzPct val="100000"/>
              <a:defRPr/>
            </a:pP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</a:t>
            </a:r>
            <a:r>
              <a:rPr lang="zh-CN" altLang="en-US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数组元素：数组名</a:t>
            </a: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[</a:t>
            </a:r>
            <a:r>
              <a:rPr lang="zh-CN" altLang="en-US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序号</a:t>
            </a: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</a:t>
            </a:r>
            <a:r>
              <a:rPr lang="zh-CN" altLang="en-US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；</a:t>
            </a:r>
            <a:endParaRPr lang="en-US" altLang="zh-CN" sz="16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1">
              <a:lnSpc>
                <a:spcPct val="114000"/>
              </a:lnSpc>
              <a:spcBef>
                <a:spcPts val="0"/>
              </a:spcBef>
              <a:buSzPct val="100000"/>
              <a:defRPr/>
            </a:pPr>
            <a:r>
              <a:rPr lang="zh-CN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◆</a:t>
            </a: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一些函数调用或者处理简单任务可以</a:t>
            </a:r>
            <a:endParaRPr lang="en-US" altLang="zh-CN" sz="16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1">
              <a:lnSpc>
                <a:spcPct val="114000"/>
              </a:lnSpc>
              <a:spcBef>
                <a:spcPts val="0"/>
              </a:spcBef>
              <a:buSzPct val="100000"/>
              <a:defRPr/>
            </a:pP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</a:t>
            </a:r>
            <a:r>
              <a:rPr lang="zh-CN" altLang="en-US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用一句自然语言</a:t>
            </a: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3BE3C6C7-4A6A-4116-9270-C8F21F7394C6}"/>
              </a:ext>
            </a:extLst>
          </p:cNvPr>
          <p:cNvSpPr txBox="1">
            <a:spLocks/>
          </p:cNvSpPr>
          <p:nvPr/>
        </p:nvSpPr>
        <p:spPr>
          <a:xfrm>
            <a:off x="395536" y="195486"/>
            <a:ext cx="6048724" cy="577618"/>
          </a:xfrm>
          <a:prstGeom prst="rect">
            <a:avLst/>
          </a:prstGeom>
        </p:spPr>
        <p:txBody>
          <a:bodyPr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0" lang="en-US" altLang="zh-CN" sz="2400" b="0" kern="0"/>
              <a:t> </a:t>
            </a:r>
            <a:r>
              <a:rPr kumimoji="0" lang="zh-CN" altLang="en-US" sz="2400" b="0" kern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二、算法的基本知识</a:t>
            </a:r>
            <a:endParaRPr kumimoji="0" lang="zh-CN" altLang="en-US" sz="2400" b="0" kern="0" dirty="0">
              <a:solidFill>
                <a:srgbClr val="A5002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23105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2">
            <a:extLst>
              <a:ext uri="{FF2B5EF4-FFF2-40B4-BE49-F238E27FC236}">
                <a16:creationId xmlns:a16="http://schemas.microsoft.com/office/drawing/2014/main" id="{9AA0AF0B-E63E-4889-ABDB-1523FF70CF8D}"/>
              </a:ext>
            </a:extLst>
          </p:cNvPr>
          <p:cNvSpPr txBox="1">
            <a:spLocks/>
          </p:cNvSpPr>
          <p:nvPr/>
        </p:nvSpPr>
        <p:spPr>
          <a:xfrm>
            <a:off x="166402" y="699542"/>
            <a:ext cx="6781862" cy="4176464"/>
          </a:xfrm>
        </p:spPr>
        <p:txBody>
          <a:bodyPr vert="horz" wrap="square" lIns="68580" tIns="34290" rIns="68580" bIns="34290" anchor="t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lvl="0" indent="0" eaLnBrk="1" hangingPunct="1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）计算机语言</a:t>
            </a:r>
            <a:endParaRPr lang="en-US" altLang="zh-CN" sz="18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直接用某种程序设计语言描述</a:t>
            </a:r>
            <a:endParaRPr lang="en-US" altLang="zh-CN" sz="18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zh-CN" altLang="en-US" sz="1800" b="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import math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s=1   		# 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项直接赋值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endParaRPr lang="zh-CN" altLang="en-US" sz="18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t=1	 		# 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项的分母</a:t>
            </a:r>
            <a:endParaRPr lang="en-US" altLang="zh-CN" sz="18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</a:t>
            </a:r>
            <a:r>
              <a:rPr lang="en-US" altLang="zh-CN" sz="1800" b="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=1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while </a:t>
            </a:r>
            <a:r>
              <a:rPr lang="en-US" altLang="zh-CN" sz="1800" b="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math.fabs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(1/t)&gt;1E-6: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s=s+1/t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</a:t>
            </a:r>
            <a:r>
              <a:rPr lang="en-US" altLang="zh-CN" sz="1800" b="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=i+1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t=t*</a:t>
            </a:r>
            <a:r>
              <a:rPr lang="en-US" altLang="zh-CN" sz="1800" b="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	# 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计算第</a:t>
            </a:r>
            <a:r>
              <a:rPr lang="en-US" altLang="zh-CN" sz="1800" b="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项的分母</a:t>
            </a:r>
            <a:endParaRPr lang="en-US" altLang="zh-CN" sz="18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print(s)</a:t>
            </a: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None/>
            </a:pPr>
            <a:br>
              <a:rPr lang="en-US" altLang="zh-CN" sz="1800" b="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endParaRPr lang="zh-CN" altLang="en-US" sz="1800" b="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None/>
            </a:pPr>
            <a:endParaRPr lang="zh-CN" altLang="en-US" sz="1800" b="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362" name="标题 1"/>
          <p:cNvSpPr>
            <a:spLocks noGrp="1"/>
          </p:cNvSpPr>
          <p:nvPr>
            <p:ph type="title" idx="4294967295"/>
          </p:nvPr>
        </p:nvSpPr>
        <p:spPr/>
        <p:txBody>
          <a:bodyPr vert="horz" wrap="square" lIns="68580" tIns="34290" rIns="68580" bIns="34290" anchor="ctr"/>
          <a:lstStyle/>
          <a:p>
            <a:pPr eaLnBrk="1" hangingPunct="1"/>
            <a:r>
              <a:rPr lang="en-US" altLang="zh-CN" sz="3000">
                <a:solidFill>
                  <a:srgbClr val="002060"/>
                </a:solidFill>
              </a:rPr>
              <a:t> </a:t>
            </a:r>
            <a:endParaRPr lang="zh-CN" altLang="en-US" sz="3000" dirty="0">
              <a:solidFill>
                <a:srgbClr val="002060"/>
              </a:solidFill>
            </a:endParaRPr>
          </a:p>
        </p:txBody>
      </p:sp>
      <p:sp>
        <p:nvSpPr>
          <p:cNvPr id="75" name="标题 1">
            <a:extLst>
              <a:ext uri="{FF2B5EF4-FFF2-40B4-BE49-F238E27FC236}">
                <a16:creationId xmlns:a16="http://schemas.microsoft.com/office/drawing/2014/main" id="{17FC8881-E0EC-4C5D-8699-BB9B3078D3CD}"/>
              </a:ext>
            </a:extLst>
          </p:cNvPr>
          <p:cNvSpPr txBox="1">
            <a:spLocks/>
          </p:cNvSpPr>
          <p:nvPr/>
        </p:nvSpPr>
        <p:spPr>
          <a:xfrm>
            <a:off x="395536" y="195486"/>
            <a:ext cx="6048724" cy="577618"/>
          </a:xfrm>
          <a:prstGeom prst="rect">
            <a:avLst/>
          </a:prstGeom>
        </p:spPr>
        <p:txBody>
          <a:bodyPr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0" lang="en-US" altLang="zh-CN" sz="2400" b="0" kern="0"/>
              <a:t> </a:t>
            </a:r>
            <a:r>
              <a:rPr kumimoji="0" lang="zh-CN" altLang="en-US" sz="2400" b="0" kern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二、算法的基本知识</a:t>
            </a:r>
            <a:endParaRPr kumimoji="0" lang="zh-CN" altLang="en-US" sz="2400" b="0" kern="0" dirty="0">
              <a:solidFill>
                <a:srgbClr val="A5002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3491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2">
            <a:extLst>
              <a:ext uri="{FF2B5EF4-FFF2-40B4-BE49-F238E27FC236}">
                <a16:creationId xmlns:a16="http://schemas.microsoft.com/office/drawing/2014/main" id="{9AA0AF0B-E63E-4889-ABDB-1523FF70CF8D}"/>
              </a:ext>
            </a:extLst>
          </p:cNvPr>
          <p:cNvSpPr txBox="1">
            <a:spLocks/>
          </p:cNvSpPr>
          <p:nvPr/>
        </p:nvSpPr>
        <p:spPr>
          <a:xfrm>
            <a:off x="166402" y="699543"/>
            <a:ext cx="8510054" cy="1512168"/>
          </a:xfrm>
        </p:spPr>
        <p:txBody>
          <a:bodyPr vert="horz" wrap="square" lIns="68580" tIns="34290" rIns="68580" bIns="34290" anchor="t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</a:t>
            </a:r>
            <a:r>
              <a:rPr kumimoji="1" lang="zh-CN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．</a:t>
            </a:r>
            <a:r>
              <a:rPr kumimoji="1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算法的评定       如何来评价算法的好坏？</a:t>
            </a:r>
            <a:endParaRPr kumimoji="1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时间复杂度</a:t>
            </a:r>
            <a:r>
              <a:rPr kumimoji="1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：执行算法所需要的计算工作量。考虑的是</a:t>
            </a:r>
            <a:r>
              <a:rPr kumimoji="1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基本运算</a:t>
            </a:r>
            <a:endParaRPr kumimoji="1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highlight>
                <a:srgbClr val="FFFF00"/>
              </a:highlight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          </a:t>
            </a:r>
            <a:r>
              <a:rPr kumimoji="1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假定问题规模是</a:t>
            </a: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kumimoji="1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f(n)</a:t>
            </a:r>
            <a:r>
              <a:rPr kumimoji="1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表示算法，</a:t>
            </a: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O(f(n))</a:t>
            </a:r>
            <a:r>
              <a:rPr kumimoji="1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表示时间复杂度</a:t>
            </a:r>
            <a:endParaRPr kumimoji="1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          O(1)&lt;O(log</a:t>
            </a:r>
            <a:r>
              <a:rPr kumimoji="1" lang="en-US" altLang="zh-CN" sz="1600" b="0" i="0" u="none" strike="noStrike" kern="1200" cap="none" spc="0" normalizeH="0" baseline="-2500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n)&lt;O(n)&lt;O(nlog</a:t>
            </a:r>
            <a:r>
              <a:rPr kumimoji="1" lang="en-US" altLang="zh-CN" sz="1600" b="0" i="0" u="none" strike="noStrike" kern="1200" cap="none" spc="0" normalizeH="0" baseline="-2500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n)&lt;O(n</a:t>
            </a:r>
            <a:r>
              <a:rPr kumimoji="1" lang="en-US" altLang="zh-CN" sz="1600" b="0" i="0" u="none" strike="noStrike" kern="1200" cap="none" spc="0" normalizeH="0" baseline="3000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)&lt;O(n</a:t>
            </a:r>
            <a:r>
              <a:rPr kumimoji="1" lang="en-US" altLang="zh-CN" sz="1600" b="0" i="0" u="none" strike="noStrike" kern="1200" cap="none" spc="0" normalizeH="0" baseline="3000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)&lt;O(</a:t>
            </a:r>
            <a:r>
              <a:rPr kumimoji="1" lang="en-US" altLang="zh-CN" sz="1600" b="0" i="0" u="none" strike="noStrike" kern="1200" cap="none" spc="0" normalizeH="0" baseline="0" noProof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kumimoji="1" lang="en-US" altLang="zh-CN" sz="1600" b="0" i="0" u="none" strike="noStrike" kern="1200" cap="none" spc="0" normalizeH="0" baseline="30000" noProof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</a:t>
            </a:r>
            <a:r>
              <a:rPr kumimoji="1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kumimoji="1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&lt;O(2</a:t>
            </a:r>
            <a:r>
              <a:rPr kumimoji="1" lang="en-US" altLang="zh-CN" sz="1600" b="0" i="0" u="none" strike="noStrike" kern="1200" cap="none" spc="0" normalizeH="0" baseline="30000" noProof="0">
                <a:ln>
                  <a:noFill/>
                </a:ln>
                <a:solidFill>
                  <a:srgbClr val="000066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kumimoji="1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endParaRPr kumimoji="1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highlight>
                <a:srgbClr val="FFFF00"/>
              </a:highlight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</a:t>
            </a:r>
            <a:endParaRPr kumimoji="1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362" name="标题 1"/>
          <p:cNvSpPr>
            <a:spLocks noGrp="1"/>
          </p:cNvSpPr>
          <p:nvPr>
            <p:ph type="title" idx="4294967295"/>
          </p:nvPr>
        </p:nvSpPr>
        <p:spPr/>
        <p:txBody>
          <a:bodyPr vert="horz" wrap="square" lIns="68580" tIns="34290" rIns="68580" bIns="34290" anchor="ctr"/>
          <a:lstStyle/>
          <a:p>
            <a:pPr eaLnBrk="1" hangingPunct="1"/>
            <a:r>
              <a:rPr lang="en-US" altLang="zh-CN" sz="3000">
                <a:solidFill>
                  <a:srgbClr val="002060"/>
                </a:solidFill>
              </a:rPr>
              <a:t> </a:t>
            </a:r>
            <a:endParaRPr lang="zh-CN" altLang="en-US" sz="3000" dirty="0">
              <a:solidFill>
                <a:srgbClr val="002060"/>
              </a:solidFill>
            </a:endParaRP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8ED33A6F-4D8C-4BC7-8BC8-1FDCBA92C749}"/>
              </a:ext>
            </a:extLst>
          </p:cNvPr>
          <p:cNvSpPr txBox="1">
            <a:spLocks/>
          </p:cNvSpPr>
          <p:nvPr/>
        </p:nvSpPr>
        <p:spPr>
          <a:xfrm>
            <a:off x="395536" y="195486"/>
            <a:ext cx="6048724" cy="577618"/>
          </a:xfrm>
          <a:prstGeom prst="rect">
            <a:avLst/>
          </a:prstGeom>
        </p:spPr>
        <p:txBody>
          <a:bodyPr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 </a:t>
            </a:r>
            <a:r>
              <a: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二、算法的基本知识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rgbClr val="A5002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292710F-B468-491E-AF66-0A177E07F778}"/>
              </a:ext>
            </a:extLst>
          </p:cNvPr>
          <p:cNvSpPr/>
          <p:nvPr/>
        </p:nvSpPr>
        <p:spPr>
          <a:xfrm>
            <a:off x="1794566" y="4070893"/>
            <a:ext cx="2593308" cy="276999"/>
          </a:xfrm>
          <a:prstGeom prst="rect">
            <a:avLst/>
          </a:prstGeom>
          <a:ln>
            <a:solidFill>
              <a:srgbClr val="000066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算法使用了若干变量</a:t>
            </a:r>
            <a:endParaRPr kumimoji="1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4389014" y="4070893"/>
            <a:ext cx="543023" cy="279292"/>
          </a:xfrm>
          <a:prstGeom prst="rect">
            <a:avLst/>
          </a:prstGeom>
          <a:ln>
            <a:solidFill>
              <a:srgbClr val="000066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O(1)</a:t>
            </a:r>
          </a:p>
        </p:txBody>
      </p:sp>
      <p:grpSp>
        <p:nvGrpSpPr>
          <p:cNvPr id="33" name="组合 32"/>
          <p:cNvGrpSpPr/>
          <p:nvPr/>
        </p:nvGrpSpPr>
        <p:grpSpPr>
          <a:xfrm>
            <a:off x="1794566" y="4354822"/>
            <a:ext cx="3137472" cy="288002"/>
            <a:chOff x="170602" y="2608778"/>
            <a:chExt cx="2210761" cy="288002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2292710F-B468-491E-AF66-0A177E07F778}"/>
                </a:ext>
              </a:extLst>
            </p:cNvPr>
            <p:cNvSpPr/>
            <p:nvPr/>
          </p:nvSpPr>
          <p:spPr>
            <a:xfrm>
              <a:off x="170602" y="2608780"/>
              <a:ext cx="1828130" cy="288000"/>
            </a:xfrm>
            <a:prstGeom prst="rect">
              <a:avLst/>
            </a:prstGeom>
            <a:ln>
              <a:solidFill>
                <a:srgbClr val="000066"/>
              </a:solidFill>
            </a:ln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算法使用了长度为</a:t>
              </a:r>
              <a:r>
                <a:rPr kumimoji="1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n</a:t>
              </a:r>
              <a:r>
                <a:rPr kumimoji="1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的一维列表</a:t>
              </a:r>
              <a:endPara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35" name="矩形 34"/>
            <p:cNvSpPr/>
            <p:nvPr/>
          </p:nvSpPr>
          <p:spPr>
            <a:xfrm>
              <a:off x="1998731" y="2608778"/>
              <a:ext cx="382632" cy="276999"/>
            </a:xfrm>
            <a:prstGeom prst="rect">
              <a:avLst/>
            </a:prstGeom>
            <a:ln>
              <a:solidFill>
                <a:srgbClr val="000066"/>
              </a:solidFill>
            </a:ln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O(n)</a:t>
              </a:r>
            </a:p>
          </p:txBody>
        </p:sp>
      </p:grpSp>
      <p:sp>
        <p:nvSpPr>
          <p:cNvPr id="37" name="矩形 36">
            <a:extLst>
              <a:ext uri="{FF2B5EF4-FFF2-40B4-BE49-F238E27FC236}">
                <a16:creationId xmlns:a16="http://schemas.microsoft.com/office/drawing/2014/main" id="{2292710F-B468-491E-AF66-0A177E07F778}"/>
              </a:ext>
            </a:extLst>
          </p:cNvPr>
          <p:cNvSpPr/>
          <p:nvPr/>
        </p:nvSpPr>
        <p:spPr>
          <a:xfrm>
            <a:off x="1793424" y="4645117"/>
            <a:ext cx="2593308" cy="276999"/>
          </a:xfrm>
          <a:prstGeom prst="rect">
            <a:avLst/>
          </a:prstGeom>
          <a:ln>
            <a:solidFill>
              <a:srgbClr val="000066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算法</a:t>
            </a: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使用了</a:t>
            </a: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行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列的二维列表</a:t>
            </a:r>
            <a:endParaRPr kumimoji="1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4386731" y="4642823"/>
            <a:ext cx="545309" cy="276999"/>
          </a:xfrm>
          <a:prstGeom prst="rect">
            <a:avLst/>
          </a:prstGeom>
          <a:ln>
            <a:solidFill>
              <a:srgbClr val="000066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O(n</a:t>
            </a:r>
            <a:r>
              <a:rPr kumimoji="1" lang="en-US" altLang="zh-CN" sz="1200" b="0" i="0" u="none" strike="noStrike" kern="1200" cap="none" spc="0" normalizeH="0" baseline="3000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endParaRPr kumimoji="1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499247" y="3686401"/>
            <a:ext cx="4572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空间复杂度</a:t>
            </a:r>
            <a:r>
              <a:rPr kumimoji="1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：算法需要消耗的内存空间。</a:t>
            </a:r>
            <a:endParaRPr kumimoji="1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58CC98CC-DA45-4457-B622-232B61E210A5}"/>
              </a:ext>
            </a:extLst>
          </p:cNvPr>
          <p:cNvGraphicFramePr>
            <a:graphicFrameLocks noGrp="1"/>
          </p:cNvGraphicFramePr>
          <p:nvPr/>
        </p:nvGraphicFramePr>
        <p:xfrm>
          <a:off x="1794566" y="2263706"/>
          <a:ext cx="2897837" cy="14638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7758">
                  <a:extLst>
                    <a:ext uri="{9D8B030D-6E8A-4147-A177-3AD203B41FA5}">
                      <a16:colId xmlns:a16="http://schemas.microsoft.com/office/drawing/2014/main" val="243832739"/>
                    </a:ext>
                  </a:extLst>
                </a:gridCol>
                <a:gridCol w="720079">
                  <a:extLst>
                    <a:ext uri="{9D8B030D-6E8A-4147-A177-3AD203B41FA5}">
                      <a16:colId xmlns:a16="http://schemas.microsoft.com/office/drawing/2014/main" val="2153540738"/>
                    </a:ext>
                  </a:extLst>
                </a:gridCol>
              </a:tblGrid>
              <a:tr h="39198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print("hi")</a:t>
                      </a:r>
                      <a:endParaRPr lang="zh-CN" altLang="en-US" sz="1400"/>
                    </a:p>
                  </a:txBody>
                  <a:tcPr anchor="ctr">
                    <a:lnL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O(1)</a:t>
                      </a:r>
                      <a:endParaRPr lang="zh-CN" altLang="en-US" sz="1400"/>
                    </a:p>
                  </a:txBody>
                  <a:tcPr anchor="ctr">
                    <a:lnL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4608459"/>
                  </a:ext>
                </a:extLst>
              </a:tr>
              <a:tr h="442796">
                <a:tc>
                  <a:txBody>
                    <a:bodyPr/>
                    <a:lstStyle/>
                    <a:p>
                      <a:pPr marL="0" indent="0" algn="l" eaLnBrk="1" hangingPunct="1">
                        <a:lnSpc>
                          <a:spcPts val="14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altLang="zh-CN" sz="1400" b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for i in range(n):</a:t>
                      </a:r>
                    </a:p>
                    <a:p>
                      <a:pPr marL="0" indent="0" algn="l" eaLnBrk="1" hangingPunct="1">
                        <a:lnSpc>
                          <a:spcPts val="14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altLang="zh-CN" sz="1400" b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     print(i) </a:t>
                      </a:r>
                      <a:endParaRPr lang="zh-CN" altLang="en-US" sz="1400"/>
                    </a:p>
                  </a:txBody>
                  <a:tcPr anchor="ctr">
                    <a:lnL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O(n)</a:t>
                      </a:r>
                      <a:endParaRPr lang="zh-CN" altLang="en-US" sz="1400"/>
                    </a:p>
                  </a:txBody>
                  <a:tcPr anchor="ctr">
                    <a:lnL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3229429"/>
                  </a:ext>
                </a:extLst>
              </a:tr>
              <a:tr h="544630">
                <a:tc>
                  <a:txBody>
                    <a:bodyPr/>
                    <a:lstStyle/>
                    <a:p>
                      <a:pPr marL="0" indent="0" algn="l" eaLnBrk="1" hangingPunct="1">
                        <a:lnSpc>
                          <a:spcPts val="14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altLang="zh-CN" sz="1400" b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for i in range(n):</a:t>
                      </a:r>
                    </a:p>
                    <a:p>
                      <a:pPr algn="l">
                        <a:lnSpc>
                          <a:spcPts val="1400"/>
                        </a:lnSpc>
                        <a:spcBef>
                          <a:spcPts val="0"/>
                        </a:spcBef>
                      </a:pPr>
                      <a:r>
                        <a:rPr lang="en-US" altLang="zh-CN" sz="1400" b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     for j in range(n):</a:t>
                      </a:r>
                    </a:p>
                    <a:p>
                      <a:pPr marL="0" indent="0" algn="l" eaLnBrk="1" hangingPunct="1">
                        <a:lnSpc>
                          <a:spcPts val="14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altLang="zh-CN" sz="1400" b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          print(i,j) </a:t>
                      </a:r>
                      <a:endParaRPr lang="zh-CN" altLang="en-US" sz="1400"/>
                    </a:p>
                  </a:txBody>
                  <a:tcPr anchor="ctr">
                    <a:lnL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O(n</a:t>
                      </a:r>
                      <a:r>
                        <a:rPr lang="en-US" altLang="zh-CN" sz="1400" b="0" baseline="3000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altLang="zh-CN" sz="1400" b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zh-CN" altLang="en-US" sz="1400"/>
                    </a:p>
                  </a:txBody>
                  <a:tcPr anchor="ctr">
                    <a:lnL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15335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89870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2">
            <a:extLst>
              <a:ext uri="{FF2B5EF4-FFF2-40B4-BE49-F238E27FC236}">
                <a16:creationId xmlns:a16="http://schemas.microsoft.com/office/drawing/2014/main" id="{9AA0AF0B-E63E-4889-ABDB-1523FF70CF8D}"/>
              </a:ext>
            </a:extLst>
          </p:cNvPr>
          <p:cNvSpPr txBox="1">
            <a:spLocks/>
          </p:cNvSpPr>
          <p:nvPr/>
        </p:nvSpPr>
        <p:spPr>
          <a:xfrm>
            <a:off x="166402" y="699542"/>
            <a:ext cx="8510054" cy="4248472"/>
          </a:xfrm>
        </p:spPr>
        <p:txBody>
          <a:bodyPr vert="horz" wrap="square" lIns="68580" tIns="34290" rIns="68580" bIns="34290" anchor="t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6</a:t>
            </a:r>
            <a:r>
              <a:rPr lang="zh-CN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．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常见算法</a:t>
            </a:r>
            <a:endParaRPr lang="en-US" altLang="zh-CN" sz="18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■ 穷举法、</a:t>
            </a:r>
            <a:endParaRPr lang="en-US" altLang="zh-CN" sz="18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■ 迭代、递归法</a:t>
            </a:r>
            <a:endParaRPr lang="en-US" altLang="zh-CN" sz="18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■ 贪心算法</a:t>
            </a: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■ 分治法</a:t>
            </a: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■ 动态规划法</a:t>
            </a: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■ 回溯法</a:t>
            </a:r>
            <a:endParaRPr lang="en-US" altLang="zh-CN" sz="18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</a:t>
            </a:r>
            <a:r>
              <a:rPr lang="zh-CN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．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算法的重要性</a:t>
            </a:r>
            <a:endParaRPr lang="en-US" altLang="zh-CN" sz="18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算法是计算机学科的核心支柱之一</a:t>
            </a:r>
            <a:endParaRPr lang="en-US" altLang="zh-CN" sz="18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人工智能的核心是</a:t>
            </a:r>
            <a:r>
              <a:rPr lang="zh-CN" altLang="en-US" sz="1800" b="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算法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zh-CN" altLang="en-US" sz="1800" b="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数据、算法、算力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是人工智能的三要素</a:t>
            </a:r>
            <a:endParaRPr lang="en-US" altLang="zh-CN" sz="18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None/>
            </a:pPr>
            <a:endParaRPr lang="zh-CN" altLang="en-US" sz="1800" dirty="0"/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18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None/>
            </a:pPr>
            <a:endParaRPr lang="zh-CN" altLang="en-US" sz="1800" b="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362" name="标题 1"/>
          <p:cNvSpPr>
            <a:spLocks noGrp="1"/>
          </p:cNvSpPr>
          <p:nvPr>
            <p:ph type="title" idx="4294967295"/>
          </p:nvPr>
        </p:nvSpPr>
        <p:spPr/>
        <p:txBody>
          <a:bodyPr vert="horz" wrap="square" lIns="68580" tIns="34290" rIns="68580" bIns="34290" anchor="ctr"/>
          <a:lstStyle/>
          <a:p>
            <a:pPr eaLnBrk="1" hangingPunct="1"/>
            <a:r>
              <a:rPr lang="en-US" altLang="zh-CN" sz="3000">
                <a:solidFill>
                  <a:srgbClr val="002060"/>
                </a:solidFill>
              </a:rPr>
              <a:t> </a:t>
            </a:r>
            <a:endParaRPr lang="zh-CN" altLang="en-US" sz="3000" dirty="0">
              <a:solidFill>
                <a:srgbClr val="002060"/>
              </a:solidFill>
            </a:endParaRP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8ED33A6F-4D8C-4BC7-8BC8-1FDCBA92C749}"/>
              </a:ext>
            </a:extLst>
          </p:cNvPr>
          <p:cNvSpPr txBox="1">
            <a:spLocks/>
          </p:cNvSpPr>
          <p:nvPr/>
        </p:nvSpPr>
        <p:spPr>
          <a:xfrm>
            <a:off x="395536" y="195486"/>
            <a:ext cx="6048724" cy="577618"/>
          </a:xfrm>
          <a:prstGeom prst="rect">
            <a:avLst/>
          </a:prstGeom>
        </p:spPr>
        <p:txBody>
          <a:bodyPr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0" lang="en-US" altLang="zh-CN" sz="2400" b="0" kern="0"/>
              <a:t> </a:t>
            </a:r>
            <a:r>
              <a:rPr kumimoji="0" lang="zh-CN" altLang="en-US" sz="2400" b="0" kern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二、算法的基本知识</a:t>
            </a:r>
            <a:endParaRPr kumimoji="0" lang="zh-CN" altLang="en-US" sz="2400" b="0" kern="0" dirty="0">
              <a:solidFill>
                <a:srgbClr val="A5002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05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07504" y="699542"/>
            <a:ext cx="8948280" cy="244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US" altLang="zh-CN" sz="1800" b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zh-CN" sz="1800" b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．</a:t>
            </a:r>
            <a:r>
              <a:rPr lang="zh-CN" altLang="en-US" sz="1800" b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警察</a:t>
            </a:r>
            <a:r>
              <a: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破案</a:t>
            </a:r>
            <a:r>
              <a: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：另一种枚举法</a:t>
            </a:r>
            <a:endParaRPr kumimoji="1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A5002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分析： 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表示不是凶手，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表示是是凶手</a:t>
            </a:r>
            <a:endParaRPr kumimoji="1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   A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四个人，每一个人都是两种可能，组合后共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16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种可能</a:t>
            </a:r>
            <a:endParaRPr kumimoji="1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   A        B        C        D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   0    </a:t>
            </a: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0     </a:t>
            </a: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0         0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   1    </a:t>
            </a: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1 </a:t>
            </a: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1         1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抽象：</a:t>
            </a:r>
            <a:endParaRPr kumimoji="1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A5002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218" name="标题 1"/>
          <p:cNvSpPr>
            <a:spLocks noGrp="1"/>
          </p:cNvSpPr>
          <p:nvPr>
            <p:ph type="title" idx="4294967295"/>
          </p:nvPr>
        </p:nvSpPr>
        <p:spPr/>
        <p:txBody>
          <a:bodyPr vert="horz" wrap="square" lIns="68580" tIns="34290" rIns="68580" bIns="34290" anchor="ctr"/>
          <a:lstStyle/>
          <a:p>
            <a:pPr eaLnBrk="1" hangingPunct="1"/>
            <a:r>
              <a:rPr lang="en-US" altLang="zh-CN" b="1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lang="zh-CN" altLang="en-US" b="1" dirty="0">
              <a:solidFill>
                <a:srgbClr val="00206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8A3C5302-F054-4C70-814C-F3CC501712D2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30862" y="3160395"/>
            <a:ext cx="4469130" cy="184023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78EAA59F-962F-41DA-BD18-A1143A2E39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0991" y="3088542"/>
            <a:ext cx="4563237" cy="1348740"/>
          </a:xfrm>
          <a:prstGeom prst="rect">
            <a:avLst/>
          </a:prstGeom>
        </p:spPr>
      </p:pic>
      <p:sp>
        <p:nvSpPr>
          <p:cNvPr id="9" name="标题 1">
            <a:extLst>
              <a:ext uri="{FF2B5EF4-FFF2-40B4-BE49-F238E27FC236}">
                <a16:creationId xmlns:a16="http://schemas.microsoft.com/office/drawing/2014/main" id="{37F6F572-8FD1-4082-BEF7-C56094A365C8}"/>
              </a:ext>
            </a:extLst>
          </p:cNvPr>
          <p:cNvSpPr txBox="1">
            <a:spLocks/>
          </p:cNvSpPr>
          <p:nvPr/>
        </p:nvSpPr>
        <p:spPr>
          <a:xfrm>
            <a:off x="395536" y="195486"/>
            <a:ext cx="6048724" cy="577618"/>
          </a:xfrm>
          <a:prstGeom prst="rect">
            <a:avLst/>
          </a:prstGeom>
        </p:spPr>
        <p:txBody>
          <a:bodyPr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9pPr>
          </a:lstStyle>
          <a:p>
            <a:pPr lvl="0"/>
            <a:r>
              <a:rPr lang="zh-CN" altLang="en-US" sz="2400" b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拓展学习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8369954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79512" y="699542"/>
            <a:ext cx="8712968" cy="34081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代码：</a:t>
            </a:r>
            <a:endParaRPr kumimoji="1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for  A in range(0,2):</a:t>
            </a:r>
          </a:p>
          <a:p>
            <a:pPr marL="914400" marR="0" lvl="4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for  B in range(0,2):</a:t>
            </a:r>
          </a:p>
          <a:p>
            <a:pPr marL="914400" marR="0" lvl="4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for  C in range(0,2):</a:t>
            </a:r>
          </a:p>
          <a:p>
            <a:pPr marL="914400" marR="0" lvl="4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for  D in range(0,2):</a:t>
            </a:r>
          </a:p>
          <a:p>
            <a:pPr marL="914400" marR="0" lvl="4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      if((A==0)+(C==1)+(D==1)+(D==0))==3 and (</a:t>
            </a:r>
            <a:r>
              <a:rPr kumimoji="1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A+B+C+D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==1):</a:t>
            </a:r>
          </a:p>
          <a:p>
            <a:pPr marL="914400" marR="0" lvl="4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           print (A,B,C,D)   		# 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输出的值是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的为凶手</a:t>
            </a:r>
            <a:endParaRPr kumimoji="1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2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结果：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0 0 1 0</a:t>
            </a: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A5002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218" name="标题 1"/>
          <p:cNvSpPr>
            <a:spLocks noGrp="1"/>
          </p:cNvSpPr>
          <p:nvPr>
            <p:ph type="title" idx="4294967295"/>
          </p:nvPr>
        </p:nvSpPr>
        <p:spPr/>
        <p:txBody>
          <a:bodyPr vert="horz" wrap="square" lIns="68580" tIns="34290" rIns="68580" bIns="34290" anchor="ctr"/>
          <a:lstStyle/>
          <a:p>
            <a:pPr eaLnBrk="1" hangingPunct="1"/>
            <a:r>
              <a:rPr lang="en-US" altLang="zh-CN" b="1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lang="zh-CN" altLang="en-US" b="1" dirty="0">
              <a:solidFill>
                <a:srgbClr val="00206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165F4A05-A282-41B2-BF08-724936B34FF3}"/>
              </a:ext>
            </a:extLst>
          </p:cNvPr>
          <p:cNvSpPr txBox="1">
            <a:spLocks/>
          </p:cNvSpPr>
          <p:nvPr/>
        </p:nvSpPr>
        <p:spPr>
          <a:xfrm>
            <a:off x="395536" y="195486"/>
            <a:ext cx="6048724" cy="577618"/>
          </a:xfrm>
          <a:prstGeom prst="rect">
            <a:avLst/>
          </a:prstGeom>
        </p:spPr>
        <p:txBody>
          <a:bodyPr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9pPr>
          </a:lstStyle>
          <a:p>
            <a:pPr lvl="0"/>
            <a:r>
              <a:rPr lang="zh-CN" altLang="en-US" sz="2400" b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拓展学习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3866567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 idx="4294967295"/>
          </p:nvPr>
        </p:nvSpPr>
        <p:spPr/>
        <p:txBody>
          <a:bodyPr vert="horz" wrap="square" lIns="68580" tIns="34290" rIns="68580" bIns="34290" anchor="ctr"/>
          <a:lstStyle/>
          <a:p>
            <a:pPr eaLnBrk="1" hangingPunct="1"/>
            <a:r>
              <a:rPr lang="en-US" altLang="zh-CN" b="1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lang="zh-CN" altLang="en-US" b="1" dirty="0">
              <a:solidFill>
                <a:srgbClr val="00206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195" name="内容占位符 2"/>
          <p:cNvSpPr>
            <a:spLocks noGrp="1"/>
          </p:cNvSpPr>
          <p:nvPr>
            <p:ph idx="4294967295"/>
          </p:nvPr>
        </p:nvSpPr>
        <p:spPr>
          <a:xfrm>
            <a:off x="494513" y="699542"/>
            <a:ext cx="7677887" cy="4248472"/>
          </a:xfrm>
        </p:spPr>
        <p:txBody>
          <a:bodyPr vert="horz" wrap="square" lIns="68580" tIns="34290" rIns="68580" bIns="34290" anchor="t"/>
          <a:lstStyle/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zh-CN" sz="180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．</a:t>
            </a:r>
            <a:r>
              <a:rPr lang="zh-CN" altLang="en-US" sz="180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自顶向下、逐步求精</a:t>
            </a:r>
            <a:endParaRPr lang="en-US" altLang="zh-CN" sz="180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※ </a:t>
            </a:r>
            <a:r>
              <a:rPr lang="zh-CN" altLang="en-US" sz="180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逐步求精</a:t>
            </a:r>
            <a:endParaRPr lang="en-US" altLang="zh-CN" sz="180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r>
              <a:rPr lang="en-US" altLang="zh-CN" sz="180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</a:t>
            </a:r>
            <a:r>
              <a:rPr lang="zh-CN" altLang="en-US" sz="180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：输出如图所示的字符图形</a:t>
            </a:r>
            <a:endParaRPr lang="en-US" altLang="zh-CN" sz="180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① </a:t>
            </a:r>
            <a:r>
              <a:rPr lang="zh-CN" altLang="en-US" sz="180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第一步：图形有</a:t>
            </a:r>
            <a:r>
              <a:rPr lang="en-US" altLang="zh-CN" sz="180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8</a:t>
            </a:r>
            <a:r>
              <a:rPr lang="zh-CN" altLang="en-US" sz="180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行，第</a:t>
            </a:r>
            <a:r>
              <a:rPr lang="en-US" altLang="zh-CN" sz="180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1~8</a:t>
            </a:r>
            <a:r>
              <a:rPr lang="zh-CN" altLang="en-US" sz="180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行</a:t>
            </a:r>
            <a:endParaRPr lang="en-US" altLang="zh-CN" sz="180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400050" lvl="1" indent="0" eaLnBrk="1" hangingPunct="1">
              <a:lnSpc>
                <a:spcPct val="114000"/>
              </a:lnSpc>
              <a:spcBef>
                <a:spcPts val="0"/>
              </a:spcBef>
              <a:buNone/>
            </a:pPr>
            <a:r>
              <a:rPr lang="da-DK" altLang="zh-CN" sz="160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for i in range(1,9):</a:t>
            </a:r>
          </a:p>
          <a:p>
            <a:pPr marL="400050" lvl="1" indent="0" eaLnBrk="1" hangingPunct="1">
              <a:lnSpc>
                <a:spcPct val="114000"/>
              </a:lnSpc>
              <a:spcBef>
                <a:spcPts val="0"/>
              </a:spcBef>
              <a:buNone/>
            </a:pPr>
            <a:r>
              <a:rPr lang="da-DK" altLang="zh-CN" sz="160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  </a:t>
            </a:r>
            <a:r>
              <a:rPr lang="zh-CN" altLang="en-US" sz="160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输出第</a:t>
            </a:r>
            <a:r>
              <a:rPr lang="en-US" altLang="zh-CN" sz="160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zh-CN" altLang="en-US" sz="160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行</a:t>
            </a:r>
            <a:endParaRPr lang="en-US" altLang="zh-CN" sz="160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zh-CN" altLang="en-US" sz="180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180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②</a:t>
            </a:r>
            <a:r>
              <a:rPr lang="en-US" altLang="zh-CN" sz="180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180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第二步：每一行三个部分组成：</a:t>
            </a:r>
            <a:r>
              <a:rPr lang="en-US" altLang="zh-CN" sz="180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indent</a:t>
            </a:r>
            <a:r>
              <a:rPr lang="zh-CN" altLang="en-US" sz="180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空格、</a:t>
            </a:r>
            <a:r>
              <a:rPr lang="en-US" altLang="zh-CN" sz="180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180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*</a:t>
            </a:r>
            <a:r>
              <a:rPr lang="en-US" altLang="zh-CN" sz="180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i-1</a:t>
            </a:r>
            <a:r>
              <a:rPr lang="zh-CN" altLang="en-US" sz="180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个数字</a:t>
            </a:r>
            <a:r>
              <a:rPr lang="en-US" altLang="zh-CN" sz="180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zh-CN" altLang="en-US" sz="180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、换行符</a:t>
            </a:r>
            <a:endParaRPr lang="en-US" altLang="zh-CN" sz="180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180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  </a:t>
            </a:r>
            <a:r>
              <a:rPr lang="zh-CN" altLang="en-US" sz="180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下一行的空格数量比上一行少</a:t>
            </a:r>
            <a:r>
              <a:rPr lang="en-US" altLang="zh-CN" sz="180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180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个。</a:t>
            </a:r>
            <a:endParaRPr lang="en-US" altLang="zh-CN" sz="180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14000"/>
              </a:lnSpc>
              <a:spcBef>
                <a:spcPts val="0"/>
              </a:spcBef>
              <a:buNone/>
            </a:pPr>
            <a:r>
              <a:rPr lang="en-US" altLang="zh-CN" sz="160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      indent=10</a:t>
            </a:r>
          </a:p>
          <a:p>
            <a:pPr marL="400050" lvl="1" indent="0" eaLnBrk="1" hangingPunct="1">
              <a:lnSpc>
                <a:spcPct val="114000"/>
              </a:lnSpc>
              <a:spcBef>
                <a:spcPts val="0"/>
              </a:spcBef>
              <a:buNone/>
            </a:pPr>
            <a:r>
              <a:rPr lang="da-DK" altLang="zh-CN" sz="160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for i in range(1,9):</a:t>
            </a:r>
          </a:p>
          <a:p>
            <a:pPr marL="400050" lvl="1" indent="0" eaLnBrk="1" hangingPunct="1">
              <a:lnSpc>
                <a:spcPct val="114000"/>
              </a:lnSpc>
              <a:spcBef>
                <a:spcPts val="0"/>
              </a:spcBef>
              <a:buNone/>
            </a:pPr>
            <a:r>
              <a:rPr lang="da-DK" altLang="zh-CN" sz="160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    </a:t>
            </a:r>
            <a:r>
              <a:rPr lang="zh-CN" altLang="en-US" sz="160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输出</a:t>
            </a:r>
            <a:r>
              <a:rPr lang="en-US" altLang="zh-CN" sz="160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indent</a:t>
            </a:r>
            <a:r>
              <a:rPr lang="zh-CN" altLang="en-US" sz="160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个空格</a:t>
            </a:r>
            <a:endParaRPr lang="en-US" altLang="zh-CN" sz="160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400050" lvl="1" indent="0" eaLnBrk="1" hangingPunct="1">
              <a:lnSpc>
                <a:spcPct val="114000"/>
              </a:lnSpc>
              <a:spcBef>
                <a:spcPts val="0"/>
              </a:spcBef>
              <a:buNone/>
            </a:pPr>
            <a:r>
              <a:rPr lang="en-US" altLang="zh-CN" sz="160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    </a:t>
            </a:r>
            <a:r>
              <a:rPr lang="zh-CN" altLang="en-US" sz="160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输出</a:t>
            </a:r>
            <a:r>
              <a:rPr lang="en-US" altLang="zh-CN" sz="160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160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*</a:t>
            </a:r>
            <a:r>
              <a:rPr lang="en-US" altLang="zh-CN" sz="160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i-1</a:t>
            </a:r>
            <a:r>
              <a:rPr lang="zh-CN" altLang="en-US" sz="160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个数字</a:t>
            </a:r>
            <a:r>
              <a:rPr lang="en-US" altLang="zh-CN" sz="160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zh-CN" altLang="en-US" sz="160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，并且换行</a:t>
            </a:r>
            <a:endParaRPr lang="en-US" altLang="zh-CN" sz="160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400050" lvl="1" indent="0" eaLnBrk="1" hangingPunct="1">
              <a:lnSpc>
                <a:spcPct val="114000"/>
              </a:lnSpc>
              <a:spcBef>
                <a:spcPts val="0"/>
              </a:spcBef>
              <a:buNone/>
            </a:pPr>
            <a:r>
              <a:rPr lang="en-US" altLang="zh-CN" sz="160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    indent=indent-1             </a:t>
            </a:r>
          </a:p>
          <a:p>
            <a:pPr marL="400050" lvl="1" indent="0" eaLnBrk="1" hangingPunct="1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160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656992E-C8F9-4298-B299-21367CE92D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3237" y="751390"/>
            <a:ext cx="1826575" cy="2030662"/>
          </a:xfrm>
          <a:prstGeom prst="rect">
            <a:avLst/>
          </a:prstGeom>
        </p:spPr>
      </p:pic>
      <p:sp>
        <p:nvSpPr>
          <p:cNvPr id="6" name="标题 1">
            <a:extLst>
              <a:ext uri="{FF2B5EF4-FFF2-40B4-BE49-F238E27FC236}">
                <a16:creationId xmlns:a16="http://schemas.microsoft.com/office/drawing/2014/main" id="{DCAE371C-9BD6-479E-8143-E0C7C912BBD2}"/>
              </a:ext>
            </a:extLst>
          </p:cNvPr>
          <p:cNvSpPr txBox="1">
            <a:spLocks/>
          </p:cNvSpPr>
          <p:nvPr/>
        </p:nvSpPr>
        <p:spPr>
          <a:xfrm>
            <a:off x="395536" y="195486"/>
            <a:ext cx="6048724" cy="577618"/>
          </a:xfrm>
          <a:prstGeom prst="rect">
            <a:avLst/>
          </a:prstGeom>
        </p:spPr>
        <p:txBody>
          <a:bodyPr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9pPr>
          </a:lstStyle>
          <a:p>
            <a:pPr lvl="0"/>
            <a:r>
              <a:rPr lang="zh-CN" altLang="en-US" sz="2400" b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拓展学习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1882438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 idx="4294967295"/>
          </p:nvPr>
        </p:nvSpPr>
        <p:spPr/>
        <p:txBody>
          <a:bodyPr vert="horz" wrap="square" lIns="68580" tIns="34290" rIns="68580" bIns="34290" anchor="ctr"/>
          <a:lstStyle/>
          <a:p>
            <a:pPr eaLnBrk="1" hangingPunct="1"/>
            <a:r>
              <a:rPr lang="en-US" altLang="zh-CN" b="1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lang="zh-CN" altLang="en-US" b="1" dirty="0">
              <a:solidFill>
                <a:srgbClr val="00206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195" name="内容占位符 2"/>
          <p:cNvSpPr>
            <a:spLocks noGrp="1"/>
          </p:cNvSpPr>
          <p:nvPr>
            <p:ph idx="4294967295"/>
          </p:nvPr>
        </p:nvSpPr>
        <p:spPr>
          <a:xfrm>
            <a:off x="494514" y="699542"/>
            <a:ext cx="7916062" cy="3024336"/>
          </a:xfrm>
        </p:spPr>
        <p:txBody>
          <a:bodyPr vert="horz" wrap="square" lIns="68580" tIns="34290" rIns="68580" bIns="34290" anchor="t"/>
          <a:lstStyle/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③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第三步：代码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400050" lvl="1" indent="0" eaLnBrk="1" hangingPunct="1">
              <a:lnSpc>
                <a:spcPct val="114000"/>
              </a:lnSpc>
              <a:spcBef>
                <a:spcPts val="0"/>
              </a:spcBef>
              <a:buNone/>
            </a:pPr>
            <a:r>
              <a:rPr lang="da-DK" altLang="zh-CN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indent=20</a:t>
            </a:r>
          </a:p>
          <a:p>
            <a:pPr marL="400050" lvl="1" indent="0" eaLnBrk="1" hangingPunct="1">
              <a:lnSpc>
                <a:spcPct val="114000"/>
              </a:lnSpc>
              <a:spcBef>
                <a:spcPts val="0"/>
              </a:spcBef>
              <a:buNone/>
            </a:pPr>
            <a:r>
              <a:rPr lang="da-DK" altLang="zh-CN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for i in range(1,9):</a:t>
            </a:r>
          </a:p>
          <a:p>
            <a:pPr marL="400050" lvl="1" indent="0" eaLnBrk="1" hangingPunct="1">
              <a:lnSpc>
                <a:spcPct val="114000"/>
              </a:lnSpc>
              <a:spcBef>
                <a:spcPts val="0"/>
              </a:spcBef>
              <a:buNone/>
            </a:pPr>
            <a:r>
              <a:rPr lang="da-DK" altLang="zh-CN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  print(" "*indent,end="")</a:t>
            </a:r>
          </a:p>
          <a:p>
            <a:pPr marL="400050" lvl="1" indent="0" eaLnBrk="1" hangingPunct="1">
              <a:lnSpc>
                <a:spcPct val="114000"/>
              </a:lnSpc>
              <a:spcBef>
                <a:spcPts val="0"/>
              </a:spcBef>
              <a:buNone/>
            </a:pPr>
            <a:r>
              <a:rPr lang="da-DK" altLang="zh-CN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  print(str(i)*(2*i-1))</a:t>
            </a:r>
          </a:p>
          <a:p>
            <a:pPr marL="400050" lvl="1" indent="0" eaLnBrk="1" hangingPunct="1">
              <a:lnSpc>
                <a:spcPct val="114000"/>
              </a:lnSpc>
              <a:spcBef>
                <a:spcPts val="0"/>
              </a:spcBef>
              <a:buNone/>
            </a:pPr>
            <a:r>
              <a:rPr lang="da-DK" altLang="zh-CN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  indent=indent-1		</a:t>
            </a:r>
          </a:p>
          <a:p>
            <a:pPr marL="400050" lvl="1" indent="0" eaLnBrk="1" hangingPunct="1">
              <a:lnSpc>
                <a:spcPct val="114000"/>
              </a:lnSpc>
              <a:spcBef>
                <a:spcPts val="0"/>
              </a:spcBef>
              <a:buNone/>
            </a:pPr>
            <a:endParaRPr lang="da-DK" altLang="zh-CN" sz="160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1" indent="0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逐步求精：开始时抓住主要而忽略细节，然后逐步一层层细化，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1" indent="0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直到描述清楚细节而形成代码</a:t>
            </a:r>
            <a:endParaRPr lang="da-DK" altLang="zh-CN" sz="180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400050" lvl="1" indent="0" eaLnBrk="1" hangingPunct="1">
              <a:lnSpc>
                <a:spcPct val="114000"/>
              </a:lnSpc>
              <a:spcBef>
                <a:spcPts val="0"/>
              </a:spcBef>
              <a:buNone/>
            </a:pPr>
            <a:endParaRPr lang="da-DK" altLang="zh-CN" sz="160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400050" lvl="1" indent="0" eaLnBrk="1" hangingPunct="1">
              <a:lnSpc>
                <a:spcPct val="114000"/>
              </a:lnSpc>
              <a:spcBef>
                <a:spcPts val="0"/>
              </a:spcBef>
              <a:buNone/>
            </a:pPr>
            <a:endParaRPr lang="en-US" altLang="zh-CN" sz="110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091F2237-C5F2-44B9-95B0-B33C87593F70}"/>
              </a:ext>
            </a:extLst>
          </p:cNvPr>
          <p:cNvSpPr txBox="1">
            <a:spLocks/>
          </p:cNvSpPr>
          <p:nvPr/>
        </p:nvSpPr>
        <p:spPr>
          <a:xfrm>
            <a:off x="395536" y="195486"/>
            <a:ext cx="6048724" cy="577618"/>
          </a:xfrm>
          <a:prstGeom prst="rect">
            <a:avLst/>
          </a:prstGeom>
        </p:spPr>
        <p:txBody>
          <a:bodyPr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9pPr>
          </a:lstStyle>
          <a:p>
            <a:pPr lvl="0"/>
            <a:r>
              <a:rPr lang="zh-CN" altLang="en-US" sz="2400" b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拓展学习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27096178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 idx="4294967295"/>
          </p:nvPr>
        </p:nvSpPr>
        <p:spPr/>
        <p:txBody>
          <a:bodyPr vert="horz" wrap="square" lIns="68580" tIns="34290" rIns="68580" bIns="34290" anchor="ctr"/>
          <a:lstStyle/>
          <a:p>
            <a:pPr eaLnBrk="1" hangingPunct="1"/>
            <a:r>
              <a:rPr lang="en-US" altLang="zh-CN" b="1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lang="zh-CN" altLang="en-US" b="1" dirty="0">
              <a:solidFill>
                <a:srgbClr val="00206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195" name="内容占位符 2"/>
          <p:cNvSpPr>
            <a:spLocks noGrp="1"/>
          </p:cNvSpPr>
          <p:nvPr>
            <p:ph idx="4294967295"/>
          </p:nvPr>
        </p:nvSpPr>
        <p:spPr>
          <a:xfrm>
            <a:off x="494513" y="699542"/>
            <a:ext cx="6885799" cy="2088232"/>
          </a:xfrm>
        </p:spPr>
        <p:txBody>
          <a:bodyPr vert="horz" wrap="square" lIns="68580" tIns="34290" rIns="68580" bIns="34290" anchor="t"/>
          <a:lstStyle/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※ </a:t>
            </a:r>
            <a:r>
              <a:rPr lang="zh-CN" altLang="en-US" sz="180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自顶向下</a:t>
            </a:r>
            <a:endParaRPr lang="en-US" altLang="zh-CN" sz="180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r>
              <a:rPr lang="en-US" altLang="zh-CN" sz="180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8</a:t>
            </a:r>
            <a:r>
              <a:rPr lang="zh-CN" altLang="en-US" sz="180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：输出如图所示的字符图形</a:t>
            </a:r>
            <a:endParaRPr lang="en-US" altLang="zh-CN" sz="180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从问题的全局下手，把一个复杂的任务分解成许多易于</a:t>
            </a:r>
            <a:endParaRPr lang="en-US" altLang="zh-CN" sz="180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</a:t>
            </a:r>
            <a:r>
              <a:rPr lang="zh-CN" altLang="en-US" sz="180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控制和处理的子任务，子任务还可能做进一步分解，</a:t>
            </a:r>
            <a:endParaRPr lang="en-US" altLang="zh-CN" sz="180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</a:t>
            </a:r>
            <a:r>
              <a:rPr lang="zh-CN" altLang="en-US" sz="180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如此重复，直到每个子任务都容易解决为止</a:t>
            </a:r>
            <a:endParaRPr lang="en-US" altLang="zh-CN" sz="180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</a:t>
            </a:r>
            <a:r>
              <a:rPr lang="en-US" altLang="zh-CN" sz="180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</a:t>
            </a:r>
          </a:p>
          <a:p>
            <a:pPr marL="400050" lvl="1" indent="0" eaLnBrk="1" hangingPunct="1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160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1D24404-C57C-4A11-91C0-7079A49AE8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5380" y="1321787"/>
            <a:ext cx="1617290" cy="3770243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4A8A8CFF-3324-4CBE-A0C1-DA9869B348D2}"/>
              </a:ext>
            </a:extLst>
          </p:cNvPr>
          <p:cNvSpPr txBox="1"/>
          <p:nvPr/>
        </p:nvSpPr>
        <p:spPr>
          <a:xfrm>
            <a:off x="766802" y="3873146"/>
            <a:ext cx="800219" cy="584775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b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输出</a:t>
            </a:r>
            <a:endParaRPr lang="en-US" altLang="zh-CN" sz="1600" b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sz="1600" b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上三角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1BC6F0E-5B84-45B8-9A2F-E05838146063}"/>
              </a:ext>
            </a:extLst>
          </p:cNvPr>
          <p:cNvSpPr txBox="1"/>
          <p:nvPr/>
        </p:nvSpPr>
        <p:spPr>
          <a:xfrm>
            <a:off x="1115616" y="2924783"/>
            <a:ext cx="1415772" cy="338554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1600" b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输出字符图形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6DB0EF0-6531-4AD0-8448-69BDE60905B0}"/>
              </a:ext>
            </a:extLst>
          </p:cNvPr>
          <p:cNvSpPr txBox="1"/>
          <p:nvPr/>
        </p:nvSpPr>
        <p:spPr>
          <a:xfrm>
            <a:off x="2150723" y="3873146"/>
            <a:ext cx="800219" cy="584775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b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输出</a:t>
            </a:r>
            <a:endParaRPr lang="en-US" altLang="zh-CN" sz="1600" b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sz="1600" b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下三角</a:t>
            </a: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A67574BC-650F-4B5D-A867-687571E81EA5}"/>
              </a:ext>
            </a:extLst>
          </p:cNvPr>
          <p:cNvCxnSpPr>
            <a:stCxn id="10" idx="2"/>
            <a:endCxn id="5" idx="0"/>
          </p:cNvCxnSpPr>
          <p:nvPr/>
        </p:nvCxnSpPr>
        <p:spPr bwMode="auto">
          <a:xfrm flipH="1">
            <a:off x="1166912" y="3263337"/>
            <a:ext cx="656590" cy="609809"/>
          </a:xfrm>
          <a:prstGeom prst="straightConnector1">
            <a:avLst/>
          </a:prstGeom>
          <a:noFill/>
          <a:ln w="12700" algn="ctr">
            <a:solidFill>
              <a:srgbClr val="000066"/>
            </a:solidFill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A909C365-9CF6-49C5-B6EB-E4F767A979BB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 bwMode="auto">
          <a:xfrm>
            <a:off x="1823502" y="3263337"/>
            <a:ext cx="727331" cy="609809"/>
          </a:xfrm>
          <a:prstGeom prst="straightConnector1">
            <a:avLst/>
          </a:prstGeom>
          <a:noFill/>
          <a:ln w="12700" algn="ctr">
            <a:solidFill>
              <a:srgbClr val="000066"/>
            </a:solidFill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22F97FCB-5161-41ED-8CB3-93B6D1267E27}"/>
              </a:ext>
            </a:extLst>
          </p:cNvPr>
          <p:cNvSpPr/>
          <p:nvPr/>
        </p:nvSpPr>
        <p:spPr>
          <a:xfrm>
            <a:off x="4003300" y="2845261"/>
            <a:ext cx="2505665" cy="2246769"/>
          </a:xfrm>
          <a:prstGeom prst="rect">
            <a:avLst/>
          </a:prstGeom>
          <a:ln>
            <a:solidFill>
              <a:srgbClr val="000066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4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indent=20</a:t>
            </a:r>
          </a:p>
          <a:p>
            <a:r>
              <a:rPr lang="zh-CN" altLang="en-US" sz="14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for i in range(1,9):</a:t>
            </a:r>
          </a:p>
          <a:p>
            <a:r>
              <a:rPr lang="zh-CN" altLang="en-US" sz="14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print(" "*indent,end="")</a:t>
            </a:r>
          </a:p>
          <a:p>
            <a:r>
              <a:rPr lang="zh-CN" altLang="en-US" sz="14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print(str(i)*(2*i-1))</a:t>
            </a:r>
          </a:p>
          <a:p>
            <a:r>
              <a:rPr lang="zh-CN" altLang="en-US" sz="14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indent=indent-1</a:t>
            </a:r>
          </a:p>
          <a:p>
            <a:r>
              <a:rPr lang="zh-CN" altLang="en-US" sz="14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indent=indent+2    </a:t>
            </a:r>
          </a:p>
          <a:p>
            <a:r>
              <a:rPr lang="zh-CN" altLang="en-US" sz="14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for i in range(7,0,-1):</a:t>
            </a:r>
          </a:p>
          <a:p>
            <a:r>
              <a:rPr lang="zh-CN" altLang="en-US" sz="14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print(" "*indent,end="")</a:t>
            </a:r>
          </a:p>
          <a:p>
            <a:r>
              <a:rPr lang="zh-CN" altLang="en-US" sz="14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print(str(i)*(2*i-1))</a:t>
            </a:r>
          </a:p>
          <a:p>
            <a:r>
              <a:rPr lang="zh-CN" altLang="en-US" sz="14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indent=indent+1</a:t>
            </a:r>
          </a:p>
        </p:txBody>
      </p:sp>
      <p:sp>
        <p:nvSpPr>
          <p:cNvPr id="12" name="标题 1">
            <a:extLst>
              <a:ext uri="{FF2B5EF4-FFF2-40B4-BE49-F238E27FC236}">
                <a16:creationId xmlns:a16="http://schemas.microsoft.com/office/drawing/2014/main" id="{BEBAFE33-76A8-48E9-8C69-75FE8B226F4B}"/>
              </a:ext>
            </a:extLst>
          </p:cNvPr>
          <p:cNvSpPr txBox="1">
            <a:spLocks/>
          </p:cNvSpPr>
          <p:nvPr/>
        </p:nvSpPr>
        <p:spPr>
          <a:xfrm>
            <a:off x="395536" y="195486"/>
            <a:ext cx="6048724" cy="577618"/>
          </a:xfrm>
          <a:prstGeom prst="rect">
            <a:avLst/>
          </a:prstGeom>
        </p:spPr>
        <p:txBody>
          <a:bodyPr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9pPr>
          </a:lstStyle>
          <a:p>
            <a:pPr lvl="0"/>
            <a:r>
              <a:rPr lang="zh-CN" altLang="en-US" sz="2400" b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拓展学习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739353127"/>
      </p:ext>
    </p:extLst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00FF"/>
      </a:hlink>
      <a:folHlink>
        <a:srgbClr val="3333CC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  <a:ext uri="{53640926-AAD7-44D8-BBD7-CCE9431645EC}">
            <a14:shadowObscured xmlns:a14="http://schemas.microsoft.com/office/drawing/2010/main" val="1"/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2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1" i="0" u="none" strike="noStrike" cap="none" normalizeH="0" baseline="0" smtClean="0">
            <a:ln>
              <a:noFill/>
            </a:ln>
            <a:solidFill>
              <a:srgbClr val="A50021"/>
            </a:solidFill>
            <a:effectLst/>
            <a:latin typeface="Arial" charset="0"/>
            <a:ea typeface="黑体" pitchFamily="2" charset="-122"/>
          </a:defRPr>
        </a:defPPr>
      </a:lstStyle>
    </a:spDef>
    <a:lnDef>
      <a:spPr bwMode="auto">
        <a:noFill/>
        <a:ln w="12700" algn="ctr">
          <a:solidFill>
            <a:srgbClr val="000066"/>
          </a:solidFill>
          <a:round/>
          <a:headEnd type="stealth" w="med" len="med"/>
          <a:tailEnd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  <a:ext uri="{53640926-AAD7-44D8-BBD7-CCE9431645EC}">
            <a14:shadowObscured xmlns:a14="http://schemas.microsoft.com/office/drawing/2010/main" val="1"/>
          </a:ext>
        </a:extLst>
      </a:spPr>
      <a:bodyPr/>
      <a:lstStyle/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41535</TotalTime>
  <Words>3983</Words>
  <Application>Microsoft Office PowerPoint</Application>
  <PresentationFormat>全屏显示(16:9)</PresentationFormat>
  <Paragraphs>471</Paragraphs>
  <Slides>33</Slides>
  <Notes>10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33</vt:i4>
      </vt:variant>
    </vt:vector>
  </HeadingPairs>
  <TitlesOfParts>
    <vt:vector size="43" baseType="lpstr">
      <vt:lpstr>黑体</vt:lpstr>
      <vt:lpstr>微软雅黑</vt:lpstr>
      <vt:lpstr>Arial</vt:lpstr>
      <vt:lpstr>Calibri</vt:lpstr>
      <vt:lpstr>Courier New</vt:lpstr>
      <vt:lpstr>Times New Roman</vt:lpstr>
      <vt:lpstr>Wingdings</vt:lpstr>
      <vt:lpstr>默认设计模板</vt:lpstr>
      <vt:lpstr>Equation</vt:lpstr>
      <vt:lpstr>Microsoft Word 97 - 2003 Document</vt:lpstr>
      <vt:lpstr>PowerPoint 演示文稿</vt:lpstr>
      <vt:lpstr>PowerPoint 演示文稿</vt:lpstr>
      <vt:lpstr> </vt:lpstr>
      <vt:lpstr>     枚举法基本思想：</vt:lpstr>
      <vt:lpstr> </vt:lpstr>
      <vt:lpstr>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</vt:lpstr>
      <vt:lpstr> </vt:lpstr>
      <vt:lpstr>PowerPoint 演示文稿</vt:lpstr>
      <vt:lpstr>PowerPoint 演示文稿</vt:lpstr>
      <vt:lpstr>PowerPoint 演示文稿</vt:lpstr>
      <vt:lpstr>PowerPoint 演示文稿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</vt:vector>
  </TitlesOfParts>
  <Company>同济大学计算机系基础学科组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VB.NET</dc:title>
  <dc:creator>LWM</dc:creator>
  <cp:lastModifiedBy>慧 何</cp:lastModifiedBy>
  <cp:revision>975</cp:revision>
  <dcterms:created xsi:type="dcterms:W3CDTF">2005-07-18T08:28:37Z</dcterms:created>
  <dcterms:modified xsi:type="dcterms:W3CDTF">2025-12-15T11:26:49Z</dcterms:modified>
</cp:coreProperties>
</file>