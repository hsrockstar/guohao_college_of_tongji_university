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8" r:id="rId1"/>
  </p:sldMasterIdLst>
  <p:notesMasterIdLst>
    <p:notesMasterId r:id="rId26"/>
  </p:notesMasterIdLst>
  <p:handoutMasterIdLst>
    <p:handoutMasterId r:id="rId27"/>
  </p:handoutMasterIdLst>
  <p:sldIdLst>
    <p:sldId id="556" r:id="rId2"/>
    <p:sldId id="1365" r:id="rId3"/>
    <p:sldId id="1366" r:id="rId4"/>
    <p:sldId id="1367" r:id="rId5"/>
    <p:sldId id="1368" r:id="rId6"/>
    <p:sldId id="1369" r:id="rId7"/>
    <p:sldId id="1370" r:id="rId8"/>
    <p:sldId id="1374" r:id="rId9"/>
    <p:sldId id="1319" r:id="rId10"/>
    <p:sldId id="1341" r:id="rId11"/>
    <p:sldId id="1340" r:id="rId12"/>
    <p:sldId id="1328" r:id="rId13"/>
    <p:sldId id="1342" r:id="rId14"/>
    <p:sldId id="1331" r:id="rId15"/>
    <p:sldId id="1334" r:id="rId16"/>
    <p:sldId id="1353" r:id="rId17"/>
    <p:sldId id="1335" r:id="rId18"/>
    <p:sldId id="1355" r:id="rId19"/>
    <p:sldId id="1336" r:id="rId20"/>
    <p:sldId id="1339" r:id="rId21"/>
    <p:sldId id="1349" r:id="rId22"/>
    <p:sldId id="1347" r:id="rId23"/>
    <p:sldId id="1343" r:id="rId24"/>
    <p:sldId id="1378" r:id="rId2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66"/>
    <a:srgbClr val="3846B0"/>
    <a:srgbClr val="A50021"/>
    <a:srgbClr val="00FF00"/>
    <a:srgbClr val="FFFF00"/>
    <a:srgbClr val="DD6C3F"/>
    <a:srgbClr val="FF9933"/>
    <a:srgbClr val="AFAF06"/>
    <a:srgbClr val="948A00"/>
    <a:srgbClr val="9E3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2" autoAdjust="0"/>
    <p:restoredTop sz="90945" autoAdjust="0"/>
  </p:normalViewPr>
  <p:slideViewPr>
    <p:cSldViewPr>
      <p:cViewPr varScale="1">
        <p:scale>
          <a:sx n="79" d="100"/>
          <a:sy n="79" d="100"/>
        </p:scale>
        <p:origin x="518" y="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816"/>
    </p:cViewPr>
  </p:sorterViewPr>
  <p:notesViewPr>
    <p:cSldViewPr>
      <p:cViewPr>
        <p:scale>
          <a:sx n="81" d="100"/>
          <a:sy n="81" d="100"/>
        </p:scale>
        <p:origin x="-3960" y="-2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3342D32-58E9-4211-BE97-B0C4DA1FDFE0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AD971E3-3ED1-491A-A2D7-F911BB3808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765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F8683A4-79EA-4C8F-8F8E-7AEDDA4FAD9E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 noProof="0" dirty="0"/>
              <a:t>比喻强调了教师知识储备和能力要求，一桶水都不够用，应该是自来水，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11BFF4-1710-4AF3-AE92-5EDA45BDA4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9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lang="zh-CN" altLang="en-US"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EE459AD-631C-4859-A2C6-036CD530E7D2}" type="slidenum">
              <a:rPr lang="zh-CN" altLang="en-US" sz="1200">
                <a:latin typeface="+mn-lt"/>
                <a:ea typeface="+mn-e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zh-CN" altLang="en-US" sz="120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974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186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17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17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17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17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17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3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3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689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61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975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r>
              <a:rPr lang="en-US" altLang="zh-CN" dirty="0"/>
              <a:t>	1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访问数据的顺序</a:t>
            </a:r>
            <a:r>
              <a:rPr lang="en-US" altLang="zh-CN" dirty="0"/>
              <a:t>L1</a:t>
            </a:r>
            <a:r>
              <a:rPr lang="zh-CN" altLang="en-US" dirty="0"/>
              <a:t>、</a:t>
            </a:r>
            <a:r>
              <a:rPr lang="en-US" altLang="zh-CN" dirty="0"/>
              <a:t>L2</a:t>
            </a:r>
            <a:r>
              <a:rPr lang="zh-CN" altLang="en-US" dirty="0"/>
              <a:t>、</a:t>
            </a:r>
            <a:r>
              <a:rPr lang="en-US" altLang="zh-CN" dirty="0"/>
              <a:t>L3</a:t>
            </a:r>
            <a:r>
              <a:rPr lang="zh-CN" altLang="en-US" baseline="0" dirty="0"/>
              <a:t>、内存。</a:t>
            </a:r>
            <a:endParaRPr lang="en-US" altLang="zh-CN" baseline="0" dirty="0"/>
          </a:p>
          <a:p>
            <a:r>
              <a:rPr lang="en-US" altLang="zh-CN" baseline="0" dirty="0"/>
              <a:t>	2</a:t>
            </a:r>
            <a:r>
              <a:rPr lang="zh-CN" altLang="en-US" baseline="0" dirty="0"/>
              <a:t>、缓存级别并不是越多越好。</a:t>
            </a:r>
            <a:endParaRPr lang="en-US" altLang="zh-CN" baseline="0" dirty="0"/>
          </a:p>
          <a:p>
            <a:r>
              <a:rPr lang="en-US" altLang="zh-CN" baseline="0" dirty="0"/>
              <a:t>	3</a:t>
            </a:r>
            <a:r>
              <a:rPr lang="zh-CN" altLang="en-US" baseline="0" dirty="0"/>
              <a:t>、三级缓存后，再增加缓存，也很难明显提升命中率。</a:t>
            </a:r>
            <a:endParaRPr lang="en-US" altLang="zh-CN" baseline="0" dirty="0"/>
          </a:p>
          <a:p>
            <a:r>
              <a:rPr lang="en-US" altLang="zh-CN" baseline="0" dirty="0"/>
              <a:t>	4</a:t>
            </a:r>
            <a:r>
              <a:rPr lang="zh-CN" altLang="en-US" baseline="0" dirty="0"/>
              <a:t>、命中率公式（以</a:t>
            </a:r>
            <a:r>
              <a:rPr lang="en-US" altLang="zh-CN" baseline="0" dirty="0"/>
              <a:t>60%</a:t>
            </a:r>
            <a:r>
              <a:rPr lang="zh-CN" altLang="en-US" baseline="0" dirty="0"/>
              <a:t>为例）：</a:t>
            </a:r>
            <a:r>
              <a:rPr lang="en-US" altLang="zh-CN" dirty="0"/>
              <a:t>60% + 40% * 60% + 16% * 60% = 93.6%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642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r>
              <a:rPr lang="en-US" altLang="zh-CN" dirty="0"/>
              <a:t>	1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之所以强大，因为有一套指令系统，即指令集。有</a:t>
            </a:r>
            <a:r>
              <a:rPr lang="en-US" altLang="zh-CN" dirty="0"/>
              <a:t>CISC</a:t>
            </a:r>
            <a:r>
              <a:rPr lang="zh-CN" altLang="en-US" dirty="0"/>
              <a:t>（复杂指令集）和</a:t>
            </a:r>
            <a:r>
              <a:rPr lang="en-US" altLang="zh-CN" dirty="0"/>
              <a:t>RISC</a:t>
            </a:r>
            <a:r>
              <a:rPr lang="zh-CN" altLang="en-US" dirty="0"/>
              <a:t>（精简指令集）。</a:t>
            </a:r>
            <a:endParaRPr lang="en-US" altLang="zh-CN" dirty="0"/>
          </a:p>
          <a:p>
            <a:r>
              <a:rPr lang="en-US" altLang="zh-CN" dirty="0"/>
              <a:t>	2</a:t>
            </a:r>
            <a:r>
              <a:rPr lang="zh-CN" altLang="en-US" dirty="0"/>
              <a:t>、</a:t>
            </a:r>
            <a:r>
              <a:rPr lang="en-US" altLang="zh-CN" dirty="0"/>
              <a:t>Intel</a:t>
            </a:r>
            <a:r>
              <a:rPr lang="zh-CN" altLang="en-US" dirty="0"/>
              <a:t>的指令集为</a:t>
            </a:r>
            <a:r>
              <a:rPr lang="en-US" altLang="zh-CN" dirty="0"/>
              <a:t>x86-64</a:t>
            </a:r>
            <a:r>
              <a:rPr lang="zh-CN" altLang="en-US" dirty="0"/>
              <a:t>，</a:t>
            </a:r>
            <a:r>
              <a:rPr lang="en-US" altLang="zh-CN" dirty="0"/>
              <a:t>CISC</a:t>
            </a:r>
            <a:r>
              <a:rPr lang="zh-CN" altLang="en-US" dirty="0"/>
              <a:t>。</a:t>
            </a:r>
            <a:r>
              <a:rPr lang="en-US" altLang="zh-CN" dirty="0"/>
              <a:t>AMD</a:t>
            </a:r>
            <a:r>
              <a:rPr lang="zh-CN" altLang="en-US" dirty="0"/>
              <a:t>指令集为</a:t>
            </a:r>
            <a:r>
              <a:rPr lang="en-US" altLang="zh-CN" dirty="0"/>
              <a:t>AMD64</a:t>
            </a:r>
            <a:r>
              <a:rPr lang="zh-CN" altLang="en-US" dirty="0"/>
              <a:t>与</a:t>
            </a:r>
            <a:r>
              <a:rPr lang="en-US" altLang="zh-CN" dirty="0"/>
              <a:t>x86-64</a:t>
            </a:r>
            <a:r>
              <a:rPr lang="zh-CN" altLang="en-US" dirty="0"/>
              <a:t>兼容。</a:t>
            </a:r>
            <a:endParaRPr lang="en-US" altLang="zh-CN" dirty="0"/>
          </a:p>
          <a:p>
            <a:r>
              <a:rPr lang="en-US" altLang="zh-CN" dirty="0"/>
              <a:t>	3</a:t>
            </a:r>
            <a:r>
              <a:rPr lang="zh-CN" altLang="en-US" dirty="0"/>
              <a:t>、龙芯的指令集是</a:t>
            </a:r>
            <a:r>
              <a:rPr lang="en-US" altLang="zh-CN" dirty="0" err="1"/>
              <a:t>LoongArch</a:t>
            </a:r>
            <a:r>
              <a:rPr lang="zh-CN" altLang="en-US" dirty="0"/>
              <a:t>，属于</a:t>
            </a:r>
            <a:r>
              <a:rPr lang="en-US" altLang="zh-CN" dirty="0"/>
              <a:t>CISC,</a:t>
            </a:r>
            <a:r>
              <a:rPr lang="zh-CN" altLang="en-US" dirty="0"/>
              <a:t>可以翻译</a:t>
            </a:r>
            <a:r>
              <a:rPr lang="en-US" altLang="zh-CN" dirty="0"/>
              <a:t>ARM</a:t>
            </a:r>
            <a:r>
              <a:rPr lang="zh-CN" altLang="en-US" dirty="0"/>
              <a:t>及</a:t>
            </a:r>
            <a:r>
              <a:rPr lang="en-US" altLang="zh-CN" dirty="0"/>
              <a:t>x86</a:t>
            </a:r>
            <a:r>
              <a:rPr lang="zh-CN" altLang="en-US" dirty="0"/>
              <a:t>指令。</a:t>
            </a:r>
            <a:endParaRPr lang="en-US" altLang="zh-CN" dirty="0"/>
          </a:p>
          <a:p>
            <a:r>
              <a:rPr lang="en-US" altLang="zh-CN" dirty="0"/>
              <a:t>	4</a:t>
            </a:r>
            <a:r>
              <a:rPr lang="zh-CN" altLang="en-US" dirty="0"/>
              <a:t>、</a:t>
            </a:r>
            <a:r>
              <a:rPr lang="en-US" altLang="zh-CN" dirty="0"/>
              <a:t>RISC-V</a:t>
            </a:r>
            <a:r>
              <a:rPr lang="zh-CN" altLang="en-US" dirty="0"/>
              <a:t>（发音“</a:t>
            </a:r>
            <a:r>
              <a:rPr lang="en-US" altLang="zh-CN" dirty="0"/>
              <a:t>risk-five”</a:t>
            </a:r>
            <a:r>
              <a:rPr lang="zh-CN" altLang="en-US" dirty="0"/>
              <a:t>）是一个基于</a:t>
            </a:r>
            <a:r>
              <a:rPr lang="en-US" altLang="zh-CN" dirty="0"/>
              <a:t>RISC</a:t>
            </a:r>
            <a:r>
              <a:rPr lang="zh-CN" altLang="en-US" dirty="0"/>
              <a:t>的开源指令集架构。允许任何目的、任何人设计、制造和销售。</a:t>
            </a:r>
            <a:endParaRPr lang="en-US" altLang="zh-CN" dirty="0"/>
          </a:p>
          <a:p>
            <a:r>
              <a:rPr lang="en-US" altLang="zh-CN" dirty="0"/>
              <a:t>	5</a:t>
            </a:r>
            <a:r>
              <a:rPr lang="zh-CN" altLang="en-US" dirty="0"/>
              <a:t>、</a:t>
            </a:r>
            <a:r>
              <a:rPr lang="en-US" altLang="zh-CN" dirty="0"/>
              <a:t>ARM</a:t>
            </a:r>
            <a:r>
              <a:rPr lang="zh-CN" altLang="en-US" dirty="0"/>
              <a:t>，高级精简指令集机器（</a:t>
            </a:r>
            <a:r>
              <a:rPr lang="en-US" altLang="zh-CN" dirty="0"/>
              <a:t>Advanced RISC Machine</a:t>
            </a:r>
            <a:r>
              <a:rPr lang="zh-CN" altLang="en-US" dirty="0"/>
              <a:t>），嵌入式系统最主要的处理器。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232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r>
              <a:rPr lang="en-US" altLang="zh-CN" dirty="0"/>
              <a:t>	1</a:t>
            </a:r>
            <a:r>
              <a:rPr lang="zh-CN" altLang="en-US" dirty="0"/>
              <a:t>、常说的</a:t>
            </a:r>
            <a:r>
              <a:rPr lang="en-US" altLang="zh-CN" dirty="0"/>
              <a:t>GPU,</a:t>
            </a:r>
            <a:r>
              <a:rPr lang="zh-CN" altLang="en-US" dirty="0"/>
              <a:t>指的是</a:t>
            </a:r>
            <a:r>
              <a:rPr lang="en-US" altLang="zh-CN" dirty="0"/>
              <a:t>GPU</a:t>
            </a:r>
            <a:r>
              <a:rPr lang="zh-CN" altLang="en-US" dirty="0"/>
              <a:t>显卡。</a:t>
            </a:r>
            <a:endParaRPr lang="en-US" altLang="zh-CN" dirty="0"/>
          </a:p>
          <a:p>
            <a:r>
              <a:rPr lang="en-US" altLang="zh-CN" dirty="0"/>
              <a:t>	2</a:t>
            </a:r>
            <a:r>
              <a:rPr lang="zh-CN" altLang="en-US" dirty="0"/>
              <a:t>、计算卡与显卡原理相同，都是并行计算。显卡侧重于图形计算并输出，计算卡侧重于浮点计算。</a:t>
            </a:r>
            <a:endParaRPr lang="en-US" altLang="zh-CN" dirty="0"/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	3</a:t>
            </a:r>
            <a:r>
              <a:rPr lang="zh-CN" altLang="en-US" dirty="0"/>
              <a:t>、计算卡广泛应用于超级计算机。</a:t>
            </a:r>
            <a:endParaRPr lang="en-US" altLang="zh-CN" dirty="0"/>
          </a:p>
          <a:p>
            <a:r>
              <a:rPr lang="en-US" altLang="zh-CN" dirty="0"/>
              <a:t>	4</a:t>
            </a:r>
            <a:r>
              <a:rPr lang="zh-CN" altLang="en-US" dirty="0"/>
              <a:t>、</a:t>
            </a:r>
            <a:r>
              <a:rPr lang="en-US" altLang="zh-CN" dirty="0"/>
              <a:t>GPU</a:t>
            </a:r>
            <a:r>
              <a:rPr lang="zh-CN" altLang="en-US" dirty="0"/>
              <a:t>显卡，能否用于算力计算？不能。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607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r>
              <a:rPr lang="en-US" altLang="zh-CN" dirty="0"/>
              <a:t>	Flash</a:t>
            </a:r>
            <a:r>
              <a:rPr lang="zh-CN" altLang="en-US" dirty="0"/>
              <a:t>存储器广泛应用于数码相机和摄像机。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607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48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48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36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340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7508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582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576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u="none" strike="noStrike" kern="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案例可不讲</a:t>
            </a:r>
            <a:br>
              <a:rPr lang="en-US" altLang="zh-CN" sz="1200" b="0" u="none" strike="noStrike" kern="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zh-CN" sz="1200" b="0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63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7308304" cy="80990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7572375" cy="1664768"/>
          </a:xfrm>
          <a:noFill/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3383838"/>
            <a:ext cx="7572376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DDEE976-CBFF-49D3-8E31-CE66B8C964FA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27566407-BE89-4246-9C3D-F9E99FBFFA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932" y="-142607"/>
            <a:ext cx="2066286" cy="20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4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86003DB-DD92-4BDE-971E-EAFA1A0CB53D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B4205A9-C0CE-4DC9-9155-50A1457D6FD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4234133"/>
            <a:ext cx="9144000" cy="47344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911678"/>
            <a:ext cx="9144000" cy="47344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8131628" cy="887708"/>
          </a:xfrm>
          <a:prstGeom prst="rect">
            <a:avLst/>
          </a:prstGeom>
          <a:pattFill prst="ltUpDiag">
            <a:fgClr>
              <a:srgbClr val="00206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4300538" cy="1664768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3383838"/>
            <a:ext cx="4300538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1719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982992"/>
            <a:ext cx="3908203" cy="3156453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51435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  <p:pic>
        <p:nvPicPr>
          <p:cNvPr id="2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771" y="-47709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1885951"/>
            <a:ext cx="9144000" cy="2395526"/>
            <a:chOff x="647402" y="2514600"/>
            <a:chExt cx="10838688" cy="3194035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228854"/>
            <a:ext cx="7553324" cy="1263113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3491967"/>
            <a:ext cx="7553324" cy="382313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02F2924-743E-4ADA-B3BE-10F8DB534DC0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BE1A241-BED9-42F2-A6A9-D7B384B8D29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228855"/>
          </a:xfrm>
          <a:prstGeom prst="rect">
            <a:avLst/>
          </a:prstGeom>
        </p:spPr>
      </p:pic>
      <p:pic>
        <p:nvPicPr>
          <p:cNvPr id="1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91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84BB1D3-3A81-414D-B0C6-5281BC948F4B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9E8A47D-0AB1-4744-95A8-39E7A180AC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17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957CC2E-BA7D-44E8-8543-A2388C7C6ED5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B1D184D-5C9D-41E8-9FD9-B6823935AD2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3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9376702-95FB-4BA7-A05A-8C3261398C11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4B08C6E5-0368-4EF4-A482-B7C01F5ADC8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85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159572A-820F-4ACF-9D42-32F74E11D922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8E1DCD51-4692-4631-91E0-6E3FCC30005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3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820668" cy="498022"/>
          </a:xfrm>
        </p:spPr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200150"/>
            <a:ext cx="4083939" cy="3429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3288411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2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200150"/>
            <a:ext cx="4823184" cy="3429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2547747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08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13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273844"/>
            <a:ext cx="1285875" cy="4358879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273844"/>
            <a:ext cx="6074172" cy="435887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5FB8457-19A9-4A8A-A8FF-B4BB33699748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50FB4B70-985E-49BB-AC52-476E4B0A283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7" name="组 6"/>
          <p:cNvGrpSpPr/>
          <p:nvPr/>
        </p:nvGrpSpPr>
        <p:grpSpPr>
          <a:xfrm rot="5400000">
            <a:off x="4885535" y="2421633"/>
            <a:ext cx="4224528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76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-1"/>
            <a:ext cx="8141612" cy="914401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590925" cy="498022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0"/>
            <a:ext cx="7486650" cy="3429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4767264"/>
            <a:ext cx="13721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4767262"/>
            <a:ext cx="4742312" cy="27384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4767264"/>
            <a:ext cx="13716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631588" y="914401"/>
            <a:ext cx="7488936" cy="63302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24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product.pconline.com.cn/so/s26912/" TargetMode="External"/><Relationship Id="rId3" Type="http://schemas.openxmlformats.org/officeDocument/2006/relationships/hyperlink" Target="https://product.pconline.com.cn/so/s90107/" TargetMode="External"/><Relationship Id="rId7" Type="http://schemas.openxmlformats.org/officeDocument/2006/relationships/hyperlink" Target="https://product.pconline.com.cn/so/s13631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duct.pconline.com.cn/so/s13653/" TargetMode="External"/><Relationship Id="rId5" Type="http://schemas.openxmlformats.org/officeDocument/2006/relationships/hyperlink" Target="https://product.pconline.com.cn/so/s57384/" TargetMode="External"/><Relationship Id="rId4" Type="http://schemas.openxmlformats.org/officeDocument/2006/relationships/hyperlink" Target="https://product.pconline.com.cn/so/s90125/" TargetMode="External"/><Relationship Id="rId9" Type="http://schemas.openxmlformats.org/officeDocument/2006/relationships/hyperlink" Target="https://product.pconline.com.cn/so/s2749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/>
          </p:cNvSpPr>
          <p:nvPr/>
        </p:nvSpPr>
        <p:spPr bwMode="auto">
          <a:xfrm>
            <a:off x="1" y="1563638"/>
            <a:ext cx="8964487" cy="72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2438" lvl="1" indent="-58738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None/>
            </a:pP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592" y="1203598"/>
            <a:ext cx="6263605" cy="2016224"/>
          </a:xfrm>
          <a:solidFill>
            <a:srgbClr val="C00000"/>
          </a:solidFill>
        </p:spPr>
        <p:txBody>
          <a:bodyPr lIns="288000" tIns="252000">
            <a:noAutofit/>
          </a:bodyPr>
          <a:lstStyle/>
          <a:p>
            <a:pPr lvl="1" algn="l" defTabSz="685800" rtl="0">
              <a:lnSpc>
                <a:spcPts val="1200"/>
              </a:lnSpc>
              <a:spcBef>
                <a:spcPct val="0"/>
              </a:spcBef>
            </a:pPr>
            <a:r>
              <a:rPr lang="zh-CN" altLang="en-US" sz="2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微型计算机硬件</a:t>
            </a:r>
            <a:r>
              <a:rPr lang="zh-CN" altLang="zh-CN" sz="28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3275856" y="3723878"/>
            <a:ext cx="3888432" cy="432048"/>
          </a:xfrm>
        </p:spPr>
        <p:txBody>
          <a:bodyPr>
            <a:normAutofit/>
          </a:bodyPr>
          <a:lstStyle/>
          <a:p>
            <a:pPr marL="63500" algn="r"/>
            <a:r>
              <a:rPr lang="zh-CN" altLang="en-US" sz="2400" dirty="0">
                <a:solidFill>
                  <a:srgbClr val="000066"/>
                </a:solidFill>
              </a:rPr>
              <a:t>同济大学计算机基础教研室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计算机系统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3808" y="1419622"/>
            <a:ext cx="3744416" cy="2448272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一、计算机系统组成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二、计算机基本工作原理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三、计算机软件系统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四、微型计算机硬件系统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9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一、计算机系统组成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4355976" y="3477657"/>
            <a:ext cx="48286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操作系统：</a:t>
            </a: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Windows</a:t>
            </a: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1600" b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Unix</a:t>
            </a:r>
            <a:r>
              <a:rPr lang="zh-CN" altLang="en-US" sz="1600" b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1600" b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</a:rPr>
              <a:t>Android</a:t>
            </a:r>
            <a:r>
              <a:rPr lang="zh-CN" altLang="en-US" sz="1600" b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iOS</a:t>
            </a:r>
            <a:r>
              <a:rPr kumimoji="1" lang="zh-CN" altLang="en-US" sz="1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1600" b="0">
                <a:solidFill>
                  <a:srgbClr val="000000"/>
                </a:solidFill>
                <a:highlight>
                  <a:srgbClr val="00FFFF"/>
                </a:highlight>
                <a:ea typeface="微软雅黑" pitchFamily="34" charset="-122"/>
                <a:cs typeface="Times New Roman" panose="02020603050405020304" pitchFamily="18" charset="0"/>
              </a:rPr>
              <a:t>华为鸿蒙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highlight>
                <a:srgbClr val="00FFFF"/>
              </a:highlight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5238641" y="3494313"/>
            <a:ext cx="512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5" name="Rectangle 28"/>
          <p:cNvSpPr>
            <a:spLocks noChangeArrowheads="1"/>
          </p:cNvSpPr>
          <p:nvPr/>
        </p:nvSpPr>
        <p:spPr bwMode="auto">
          <a:xfrm>
            <a:off x="2071832" y="2139702"/>
            <a:ext cx="8271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硬件系统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3742192" y="1818831"/>
            <a:ext cx="512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3" name="Rectangle 34"/>
          <p:cNvSpPr>
            <a:spLocks noChangeArrowheads="1"/>
          </p:cNvSpPr>
          <p:nvPr/>
        </p:nvSpPr>
        <p:spPr bwMode="auto">
          <a:xfrm>
            <a:off x="3975466" y="987574"/>
            <a:ext cx="1227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运算器</a:t>
            </a:r>
            <a:r>
              <a:rPr lang="zh-CN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(ALU)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6" name="Rectangle 37"/>
          <p:cNvSpPr>
            <a:spLocks noChangeArrowheads="1"/>
          </p:cNvSpPr>
          <p:nvPr/>
        </p:nvSpPr>
        <p:spPr bwMode="auto">
          <a:xfrm>
            <a:off x="4037858" y="1275606"/>
            <a:ext cx="11822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0" hangingPunct="0"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控制器</a:t>
            </a:r>
            <a:r>
              <a:rPr lang="zh-CN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(CU)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Rectangle 40"/>
          <p:cNvSpPr>
            <a:spLocks noChangeArrowheads="1"/>
          </p:cNvSpPr>
          <p:nvPr/>
        </p:nvSpPr>
        <p:spPr bwMode="auto">
          <a:xfrm>
            <a:off x="3259022" y="2858550"/>
            <a:ext cx="44793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输入设备：</a:t>
            </a:r>
            <a:r>
              <a:rPr lang="zh-CN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键盘</a:t>
            </a:r>
            <a:r>
              <a:rPr lang="zh-CN" altLang="zh-CN" sz="1600" b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、鼠标、</a:t>
            </a:r>
            <a:r>
              <a:rPr lang="zh-CN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扫描仪等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4" name="Rectangle 46"/>
          <p:cNvSpPr>
            <a:spLocks noChangeArrowheads="1"/>
          </p:cNvSpPr>
          <p:nvPr/>
        </p:nvSpPr>
        <p:spPr bwMode="auto">
          <a:xfrm>
            <a:off x="3251463" y="1121135"/>
            <a:ext cx="3975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CPU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6" name="Rectangle 49"/>
          <p:cNvSpPr>
            <a:spLocks noChangeArrowheads="1"/>
          </p:cNvSpPr>
          <p:nvPr/>
        </p:nvSpPr>
        <p:spPr bwMode="auto">
          <a:xfrm>
            <a:off x="4054629" y="1870028"/>
            <a:ext cx="4637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0" hangingPunct="0"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内</a:t>
            </a:r>
            <a:r>
              <a:rPr lang="zh-CN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存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2" name="Rectangle 57"/>
          <p:cNvSpPr>
            <a:spLocks noChangeArrowheads="1"/>
          </p:cNvSpPr>
          <p:nvPr/>
        </p:nvSpPr>
        <p:spPr bwMode="auto">
          <a:xfrm>
            <a:off x="2106894" y="4269745"/>
            <a:ext cx="8271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软件系统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3" name="Rectangle 58"/>
          <p:cNvSpPr>
            <a:spLocks noChangeArrowheads="1"/>
          </p:cNvSpPr>
          <p:nvPr/>
        </p:nvSpPr>
        <p:spPr bwMode="auto">
          <a:xfrm>
            <a:off x="3118893" y="4364003"/>
            <a:ext cx="512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4" name="Rectangle 59"/>
          <p:cNvSpPr>
            <a:spLocks noChangeArrowheads="1"/>
          </p:cNvSpPr>
          <p:nvPr/>
        </p:nvSpPr>
        <p:spPr bwMode="auto">
          <a:xfrm>
            <a:off x="3259022" y="3906956"/>
            <a:ext cx="8271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系统软件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5" name="Rectangle 60"/>
          <p:cNvSpPr>
            <a:spLocks noChangeArrowheads="1"/>
          </p:cNvSpPr>
          <p:nvPr/>
        </p:nvSpPr>
        <p:spPr bwMode="auto">
          <a:xfrm>
            <a:off x="4097079" y="3890710"/>
            <a:ext cx="512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6" name="Rectangle 61"/>
          <p:cNvSpPr>
            <a:spLocks noChangeArrowheads="1"/>
          </p:cNvSpPr>
          <p:nvPr/>
        </p:nvSpPr>
        <p:spPr bwMode="auto">
          <a:xfrm>
            <a:off x="4372961" y="4526715"/>
            <a:ext cx="44166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通用</a:t>
            </a:r>
            <a:r>
              <a:rPr kumimoji="1" 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应用软件：</a:t>
            </a: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Office</a:t>
            </a: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1" name="Rectangle 66"/>
          <p:cNvSpPr>
            <a:spLocks noChangeArrowheads="1"/>
          </p:cNvSpPr>
          <p:nvPr/>
        </p:nvSpPr>
        <p:spPr bwMode="auto">
          <a:xfrm>
            <a:off x="592363" y="3189625"/>
            <a:ext cx="124333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计算机系统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" name="Freeform 68"/>
          <p:cNvSpPr/>
          <p:nvPr/>
        </p:nvSpPr>
        <p:spPr bwMode="auto">
          <a:xfrm>
            <a:off x="3821834" y="1044859"/>
            <a:ext cx="121002" cy="441885"/>
          </a:xfrm>
          <a:custGeom>
            <a:avLst/>
            <a:gdLst>
              <a:gd name="T0" fmla="*/ 0 w 1200"/>
              <a:gd name="T1" fmla="*/ 0 h 3120"/>
              <a:gd name="T2" fmla="*/ 0 w 1200"/>
              <a:gd name="T3" fmla="*/ 0 h 3120"/>
              <a:gd name="T4" fmla="*/ 0 w 1200"/>
              <a:gd name="T5" fmla="*/ 0 h 3120"/>
              <a:gd name="T6" fmla="*/ 0 w 1200"/>
              <a:gd name="T7" fmla="*/ 1 h 3120"/>
              <a:gd name="T8" fmla="*/ 0 w 1200"/>
              <a:gd name="T9" fmla="*/ 1 h 3120"/>
              <a:gd name="T10" fmla="*/ 0 w 1200"/>
              <a:gd name="T11" fmla="*/ 1 h 3120"/>
              <a:gd name="T12" fmla="*/ 0 w 1200"/>
              <a:gd name="T13" fmla="*/ 1 h 3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00" h="3120">
                <a:moveTo>
                  <a:pt x="1200" y="0"/>
                </a:moveTo>
                <a:cubicBezTo>
                  <a:pt x="869" y="0"/>
                  <a:pt x="600" y="117"/>
                  <a:pt x="600" y="260"/>
                </a:cubicBezTo>
                <a:lnTo>
                  <a:pt x="600" y="1300"/>
                </a:lnTo>
                <a:cubicBezTo>
                  <a:pt x="600" y="1444"/>
                  <a:pt x="332" y="1560"/>
                  <a:pt x="0" y="1560"/>
                </a:cubicBezTo>
                <a:cubicBezTo>
                  <a:pt x="332" y="1560"/>
                  <a:pt x="600" y="1677"/>
                  <a:pt x="600" y="1820"/>
                </a:cubicBezTo>
                <a:lnTo>
                  <a:pt x="600" y="2860"/>
                </a:lnTo>
                <a:cubicBezTo>
                  <a:pt x="600" y="3004"/>
                  <a:pt x="869" y="3120"/>
                  <a:pt x="1200" y="3120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" name="Freeform 70"/>
          <p:cNvSpPr/>
          <p:nvPr/>
        </p:nvSpPr>
        <p:spPr bwMode="auto">
          <a:xfrm>
            <a:off x="2970990" y="1203598"/>
            <a:ext cx="223349" cy="2151180"/>
          </a:xfrm>
          <a:custGeom>
            <a:avLst/>
            <a:gdLst>
              <a:gd name="T0" fmla="*/ 1 w 1647"/>
              <a:gd name="T1" fmla="*/ 0 h 8093"/>
              <a:gd name="T2" fmla="*/ 0 w 1647"/>
              <a:gd name="T3" fmla="*/ 0 h 8093"/>
              <a:gd name="T4" fmla="*/ 0 w 1647"/>
              <a:gd name="T5" fmla="*/ 1 h 8093"/>
              <a:gd name="T6" fmla="*/ 0 w 1647"/>
              <a:gd name="T7" fmla="*/ 1 h 8093"/>
              <a:gd name="T8" fmla="*/ 0 w 1647"/>
              <a:gd name="T9" fmla="*/ 1 h 8093"/>
              <a:gd name="T10" fmla="*/ 0 w 1647"/>
              <a:gd name="T11" fmla="*/ 2 h 8093"/>
              <a:gd name="T12" fmla="*/ 1 w 1647"/>
              <a:gd name="T13" fmla="*/ 2 h 80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47" h="8093">
                <a:moveTo>
                  <a:pt x="1647" y="0"/>
                </a:moveTo>
                <a:cubicBezTo>
                  <a:pt x="1192" y="0"/>
                  <a:pt x="824" y="302"/>
                  <a:pt x="824" y="675"/>
                </a:cubicBezTo>
                <a:lnTo>
                  <a:pt x="824" y="3372"/>
                </a:lnTo>
                <a:cubicBezTo>
                  <a:pt x="824" y="3745"/>
                  <a:pt x="455" y="4047"/>
                  <a:pt x="0" y="4047"/>
                </a:cubicBezTo>
                <a:cubicBezTo>
                  <a:pt x="455" y="4047"/>
                  <a:pt x="824" y="4349"/>
                  <a:pt x="824" y="4721"/>
                </a:cubicBezTo>
                <a:lnTo>
                  <a:pt x="824" y="7419"/>
                </a:lnTo>
                <a:cubicBezTo>
                  <a:pt x="824" y="7791"/>
                  <a:pt x="1192" y="8093"/>
                  <a:pt x="1647" y="8093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6" name="Freeform 71"/>
          <p:cNvSpPr/>
          <p:nvPr/>
        </p:nvSpPr>
        <p:spPr bwMode="auto">
          <a:xfrm>
            <a:off x="3008654" y="3939902"/>
            <a:ext cx="178360" cy="913013"/>
          </a:xfrm>
          <a:custGeom>
            <a:avLst/>
            <a:gdLst>
              <a:gd name="T0" fmla="*/ 0 w 1000"/>
              <a:gd name="T1" fmla="*/ 0 h 7373"/>
              <a:gd name="T2" fmla="*/ 0 w 1000"/>
              <a:gd name="T3" fmla="*/ 0 h 7373"/>
              <a:gd name="T4" fmla="*/ 0 w 1000"/>
              <a:gd name="T5" fmla="*/ 1 h 7373"/>
              <a:gd name="T6" fmla="*/ 0 w 1000"/>
              <a:gd name="T7" fmla="*/ 1 h 7373"/>
              <a:gd name="T8" fmla="*/ 0 w 1000"/>
              <a:gd name="T9" fmla="*/ 1 h 7373"/>
              <a:gd name="T10" fmla="*/ 0 w 1000"/>
              <a:gd name="T11" fmla="*/ 2 h 7373"/>
              <a:gd name="T12" fmla="*/ 0 w 1000"/>
              <a:gd name="T13" fmla="*/ 2 h 73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7373">
                <a:moveTo>
                  <a:pt x="1000" y="0"/>
                </a:moveTo>
                <a:cubicBezTo>
                  <a:pt x="724" y="0"/>
                  <a:pt x="500" y="275"/>
                  <a:pt x="500" y="615"/>
                </a:cubicBezTo>
                <a:lnTo>
                  <a:pt x="500" y="3072"/>
                </a:lnTo>
                <a:cubicBezTo>
                  <a:pt x="500" y="3412"/>
                  <a:pt x="276" y="3687"/>
                  <a:pt x="0" y="3687"/>
                </a:cubicBezTo>
                <a:cubicBezTo>
                  <a:pt x="276" y="3687"/>
                  <a:pt x="500" y="3962"/>
                  <a:pt x="500" y="4301"/>
                </a:cubicBezTo>
                <a:lnTo>
                  <a:pt x="500" y="6759"/>
                </a:lnTo>
                <a:cubicBezTo>
                  <a:pt x="500" y="7098"/>
                  <a:pt x="724" y="7373"/>
                  <a:pt x="1000" y="7373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Freeform 72"/>
          <p:cNvSpPr/>
          <p:nvPr/>
        </p:nvSpPr>
        <p:spPr bwMode="auto">
          <a:xfrm>
            <a:off x="1708135" y="2139702"/>
            <a:ext cx="326751" cy="2357413"/>
          </a:xfrm>
          <a:custGeom>
            <a:avLst/>
            <a:gdLst>
              <a:gd name="T0" fmla="*/ 1 w 2400"/>
              <a:gd name="T1" fmla="*/ 0 h 15600"/>
              <a:gd name="T2" fmla="*/ 0 w 2400"/>
              <a:gd name="T3" fmla="*/ 1 h 15600"/>
              <a:gd name="T4" fmla="*/ 0 w 2400"/>
              <a:gd name="T5" fmla="*/ 3 h 15600"/>
              <a:gd name="T6" fmla="*/ 0 w 2400"/>
              <a:gd name="T7" fmla="*/ 4 h 15600"/>
              <a:gd name="T8" fmla="*/ 0 w 2400"/>
              <a:gd name="T9" fmla="*/ 4 h 15600"/>
              <a:gd name="T10" fmla="*/ 0 w 2400"/>
              <a:gd name="T11" fmla="*/ 7 h 15600"/>
              <a:gd name="T12" fmla="*/ 1 w 2400"/>
              <a:gd name="T13" fmla="*/ 8 h 15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00" h="15600">
                <a:moveTo>
                  <a:pt x="2400" y="0"/>
                </a:moveTo>
                <a:cubicBezTo>
                  <a:pt x="1737" y="0"/>
                  <a:pt x="1200" y="582"/>
                  <a:pt x="1200" y="1300"/>
                </a:cubicBezTo>
                <a:lnTo>
                  <a:pt x="1200" y="6500"/>
                </a:lnTo>
                <a:cubicBezTo>
                  <a:pt x="1200" y="7218"/>
                  <a:pt x="663" y="7800"/>
                  <a:pt x="0" y="7800"/>
                </a:cubicBezTo>
                <a:cubicBezTo>
                  <a:pt x="663" y="7800"/>
                  <a:pt x="1200" y="8382"/>
                  <a:pt x="1200" y="9100"/>
                </a:cubicBezTo>
                <a:lnTo>
                  <a:pt x="1200" y="14300"/>
                </a:lnTo>
                <a:cubicBezTo>
                  <a:pt x="1200" y="15018"/>
                  <a:pt x="1737" y="15600"/>
                  <a:pt x="2400" y="15600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Freeform 73"/>
          <p:cNvSpPr/>
          <p:nvPr/>
        </p:nvSpPr>
        <p:spPr bwMode="auto">
          <a:xfrm>
            <a:off x="4558685" y="1682660"/>
            <a:ext cx="162342" cy="589180"/>
          </a:xfrm>
          <a:custGeom>
            <a:avLst/>
            <a:gdLst>
              <a:gd name="T0" fmla="*/ 0 w 1200"/>
              <a:gd name="T1" fmla="*/ 0 h 4160"/>
              <a:gd name="T2" fmla="*/ 0 w 1200"/>
              <a:gd name="T3" fmla="*/ 0 h 4160"/>
              <a:gd name="T4" fmla="*/ 0 w 1200"/>
              <a:gd name="T5" fmla="*/ 1 h 4160"/>
              <a:gd name="T6" fmla="*/ 0 w 1200"/>
              <a:gd name="T7" fmla="*/ 1 h 4160"/>
              <a:gd name="T8" fmla="*/ 0 w 1200"/>
              <a:gd name="T9" fmla="*/ 1 h 4160"/>
              <a:gd name="T10" fmla="*/ 0 w 1200"/>
              <a:gd name="T11" fmla="*/ 1 h 4160"/>
              <a:gd name="T12" fmla="*/ 0 w 1200"/>
              <a:gd name="T13" fmla="*/ 1 h 41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00" h="4160">
                <a:moveTo>
                  <a:pt x="1200" y="0"/>
                </a:moveTo>
                <a:cubicBezTo>
                  <a:pt x="869" y="0"/>
                  <a:pt x="600" y="156"/>
                  <a:pt x="600" y="347"/>
                </a:cubicBezTo>
                <a:lnTo>
                  <a:pt x="600" y="1734"/>
                </a:lnTo>
                <a:cubicBezTo>
                  <a:pt x="600" y="1925"/>
                  <a:pt x="332" y="2080"/>
                  <a:pt x="0" y="2080"/>
                </a:cubicBezTo>
                <a:cubicBezTo>
                  <a:pt x="332" y="2080"/>
                  <a:pt x="600" y="2236"/>
                  <a:pt x="600" y="2427"/>
                </a:cubicBezTo>
                <a:lnTo>
                  <a:pt x="600" y="3814"/>
                </a:lnTo>
                <a:cubicBezTo>
                  <a:pt x="600" y="4005"/>
                  <a:pt x="869" y="4160"/>
                  <a:pt x="1200" y="4160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" name="Rectangle 74"/>
          <p:cNvSpPr>
            <a:spLocks noChangeArrowheads="1"/>
          </p:cNvSpPr>
          <p:nvPr/>
        </p:nvSpPr>
        <p:spPr bwMode="auto">
          <a:xfrm>
            <a:off x="4788152" y="1853782"/>
            <a:ext cx="211045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只读存储器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(ROM)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Rectangle 77"/>
          <p:cNvSpPr>
            <a:spLocks noChangeArrowheads="1"/>
          </p:cNvSpPr>
          <p:nvPr/>
        </p:nvSpPr>
        <p:spPr bwMode="auto">
          <a:xfrm>
            <a:off x="6368226" y="1837536"/>
            <a:ext cx="512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" name="Rectangle 78"/>
          <p:cNvSpPr>
            <a:spLocks noChangeArrowheads="1"/>
          </p:cNvSpPr>
          <p:nvPr/>
        </p:nvSpPr>
        <p:spPr bwMode="auto">
          <a:xfrm>
            <a:off x="4761375" y="1563638"/>
            <a:ext cx="227700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随机存取存储器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(RAM)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5" name="Rectangle 82"/>
          <p:cNvSpPr>
            <a:spLocks noChangeArrowheads="1"/>
          </p:cNvSpPr>
          <p:nvPr/>
        </p:nvSpPr>
        <p:spPr bwMode="auto">
          <a:xfrm>
            <a:off x="4801594" y="2160286"/>
            <a:ext cx="230379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高速缓冲存储器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(Cache)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3" name="Rectangle 93"/>
          <p:cNvSpPr>
            <a:spLocks noChangeArrowheads="1"/>
          </p:cNvSpPr>
          <p:nvPr/>
        </p:nvSpPr>
        <p:spPr bwMode="auto">
          <a:xfrm>
            <a:off x="3259022" y="3166689"/>
            <a:ext cx="34881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输出设备：显示器、打印机、绘图仪等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7" name="Rectangle 97"/>
          <p:cNvSpPr>
            <a:spLocks noChangeArrowheads="1"/>
          </p:cNvSpPr>
          <p:nvPr/>
        </p:nvSpPr>
        <p:spPr bwMode="auto">
          <a:xfrm>
            <a:off x="4054629" y="2531332"/>
            <a:ext cx="310965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0" hangingPunct="0"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外</a:t>
            </a: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存：</a:t>
            </a:r>
            <a:r>
              <a:rPr lang="zh-CN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硬盘、移动硬盘</a:t>
            </a:r>
            <a:r>
              <a:rPr lang="zh-CN" altLang="en-US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U</a:t>
            </a:r>
            <a:r>
              <a:rPr lang="zh-CN" altLang="en-US" sz="1600" b="0" dirty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盘等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5" name="Freeform 105"/>
          <p:cNvSpPr/>
          <p:nvPr/>
        </p:nvSpPr>
        <p:spPr bwMode="auto">
          <a:xfrm>
            <a:off x="4174631" y="3531136"/>
            <a:ext cx="127375" cy="832867"/>
          </a:xfrm>
          <a:custGeom>
            <a:avLst/>
            <a:gdLst>
              <a:gd name="T0" fmla="*/ 0 w 1000"/>
              <a:gd name="T1" fmla="*/ 0 h 6680"/>
              <a:gd name="T2" fmla="*/ 0 w 1000"/>
              <a:gd name="T3" fmla="*/ 0 h 6680"/>
              <a:gd name="T4" fmla="*/ 0 w 1000"/>
              <a:gd name="T5" fmla="*/ 1 h 6680"/>
              <a:gd name="T6" fmla="*/ 0 w 1000"/>
              <a:gd name="T7" fmla="*/ 1 h 6680"/>
              <a:gd name="T8" fmla="*/ 0 w 1000"/>
              <a:gd name="T9" fmla="*/ 1 h 6680"/>
              <a:gd name="T10" fmla="*/ 0 w 1000"/>
              <a:gd name="T11" fmla="*/ 2 h 6680"/>
              <a:gd name="T12" fmla="*/ 0 w 1000"/>
              <a:gd name="T13" fmla="*/ 2 h 66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6680">
                <a:moveTo>
                  <a:pt x="1000" y="0"/>
                </a:moveTo>
                <a:cubicBezTo>
                  <a:pt x="724" y="0"/>
                  <a:pt x="500" y="249"/>
                  <a:pt x="500" y="557"/>
                </a:cubicBezTo>
                <a:lnTo>
                  <a:pt x="500" y="2783"/>
                </a:lnTo>
                <a:cubicBezTo>
                  <a:pt x="500" y="3091"/>
                  <a:pt x="276" y="3340"/>
                  <a:pt x="0" y="3340"/>
                </a:cubicBezTo>
                <a:cubicBezTo>
                  <a:pt x="276" y="3340"/>
                  <a:pt x="500" y="3589"/>
                  <a:pt x="500" y="3897"/>
                </a:cubicBezTo>
                <a:lnTo>
                  <a:pt x="500" y="6123"/>
                </a:lnTo>
                <a:cubicBezTo>
                  <a:pt x="500" y="6431"/>
                  <a:pt x="724" y="6680"/>
                  <a:pt x="1000" y="6680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6" name="Rectangle 106"/>
          <p:cNvSpPr>
            <a:spLocks noChangeArrowheads="1"/>
          </p:cNvSpPr>
          <p:nvPr/>
        </p:nvSpPr>
        <p:spPr bwMode="auto">
          <a:xfrm>
            <a:off x="4355976" y="4147334"/>
            <a:ext cx="310181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实用程序：诊断程序、排错程序等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8" name="Rectangle 108"/>
          <p:cNvSpPr>
            <a:spLocks noChangeArrowheads="1"/>
          </p:cNvSpPr>
          <p:nvPr/>
        </p:nvSpPr>
        <p:spPr bwMode="auto">
          <a:xfrm>
            <a:off x="4341116" y="3822771"/>
            <a:ext cx="43336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语言处理程序：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16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kumimoji="1" lang="en-US" altLang="zh-CN" sz="1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++</a:t>
            </a:r>
            <a:r>
              <a:rPr kumimoji="1" lang="zh-CN" altLang="en-US" sz="1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1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Python</a:t>
            </a:r>
            <a:r>
              <a:rPr kumimoji="1" lang="zh-CN" altLang="en-US" sz="16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5" name="Freeform 116"/>
          <p:cNvSpPr/>
          <p:nvPr/>
        </p:nvSpPr>
        <p:spPr bwMode="auto">
          <a:xfrm>
            <a:off x="4188074" y="4515966"/>
            <a:ext cx="127374" cy="576064"/>
          </a:xfrm>
          <a:custGeom>
            <a:avLst/>
            <a:gdLst>
              <a:gd name="T0" fmla="*/ 0 w 800"/>
              <a:gd name="T1" fmla="*/ 0 h 3120"/>
              <a:gd name="T2" fmla="*/ 0 w 800"/>
              <a:gd name="T3" fmla="*/ 0 h 3120"/>
              <a:gd name="T4" fmla="*/ 0 w 800"/>
              <a:gd name="T5" fmla="*/ 0 h 3120"/>
              <a:gd name="T6" fmla="*/ 0 w 800"/>
              <a:gd name="T7" fmla="*/ 1 h 3120"/>
              <a:gd name="T8" fmla="*/ 0 w 800"/>
              <a:gd name="T9" fmla="*/ 1 h 3120"/>
              <a:gd name="T10" fmla="*/ 0 w 800"/>
              <a:gd name="T11" fmla="*/ 1 h 3120"/>
              <a:gd name="T12" fmla="*/ 0 w 800"/>
              <a:gd name="T13" fmla="*/ 1 h 3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00" h="3120">
                <a:moveTo>
                  <a:pt x="800" y="0"/>
                </a:moveTo>
                <a:cubicBezTo>
                  <a:pt x="579" y="0"/>
                  <a:pt x="400" y="117"/>
                  <a:pt x="400" y="260"/>
                </a:cubicBezTo>
                <a:lnTo>
                  <a:pt x="400" y="1300"/>
                </a:lnTo>
                <a:cubicBezTo>
                  <a:pt x="400" y="1444"/>
                  <a:pt x="221" y="1560"/>
                  <a:pt x="0" y="1560"/>
                </a:cubicBezTo>
                <a:cubicBezTo>
                  <a:pt x="221" y="1560"/>
                  <a:pt x="400" y="1677"/>
                  <a:pt x="400" y="1820"/>
                </a:cubicBezTo>
                <a:lnTo>
                  <a:pt x="400" y="2860"/>
                </a:lnTo>
                <a:cubicBezTo>
                  <a:pt x="400" y="3004"/>
                  <a:pt x="579" y="3120"/>
                  <a:pt x="800" y="3120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6" name="Rectangle 117"/>
          <p:cNvSpPr>
            <a:spLocks noChangeArrowheads="1"/>
          </p:cNvSpPr>
          <p:nvPr/>
        </p:nvSpPr>
        <p:spPr bwMode="auto">
          <a:xfrm>
            <a:off x="4355976" y="4851563"/>
            <a:ext cx="30243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专用</a:t>
            </a:r>
            <a:r>
              <a:rPr kumimoji="1" 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应用软件：</a:t>
            </a:r>
            <a:r>
              <a:rPr lang="en-US" altLang="zh-CN" sz="1600" b="0">
                <a:solidFill>
                  <a:srgbClr val="000000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1.tongji.edu.cn</a:t>
            </a: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等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9" name="Rectangle 120"/>
          <p:cNvSpPr>
            <a:spLocks noChangeArrowheads="1"/>
          </p:cNvSpPr>
          <p:nvPr/>
        </p:nvSpPr>
        <p:spPr bwMode="auto">
          <a:xfrm>
            <a:off x="3259022" y="4587974"/>
            <a:ext cx="8271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应用软件</a:t>
            </a:r>
            <a:endParaRPr kumimoji="1" 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1" name="Rectangle 122"/>
          <p:cNvSpPr>
            <a:spLocks noChangeArrowheads="1"/>
          </p:cNvSpPr>
          <p:nvPr/>
        </p:nvSpPr>
        <p:spPr bwMode="auto">
          <a:xfrm>
            <a:off x="4347313" y="4895782"/>
            <a:ext cx="512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kumimoji="1" lang="zh-CN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Rectangle 46">
            <a:extLst>
              <a:ext uri="{FF2B5EF4-FFF2-40B4-BE49-F238E27FC236}">
                <a16:creationId xmlns:a16="http://schemas.microsoft.com/office/drawing/2014/main" id="{2571B578-5F8F-4F8A-BB52-1DA9BC66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6347" y="2229045"/>
            <a:ext cx="61555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存储器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Freeform 68">
            <a:extLst>
              <a:ext uri="{FF2B5EF4-FFF2-40B4-BE49-F238E27FC236}">
                <a16:creationId xmlns:a16="http://schemas.microsoft.com/office/drawing/2014/main" id="{B60414D2-C93F-4527-AB9F-E2259AB5A797}"/>
              </a:ext>
            </a:extLst>
          </p:cNvPr>
          <p:cNvSpPr/>
          <p:nvPr/>
        </p:nvSpPr>
        <p:spPr bwMode="auto">
          <a:xfrm>
            <a:off x="3882850" y="1985981"/>
            <a:ext cx="92616" cy="702908"/>
          </a:xfrm>
          <a:custGeom>
            <a:avLst/>
            <a:gdLst>
              <a:gd name="T0" fmla="*/ 0 w 1200"/>
              <a:gd name="T1" fmla="*/ 0 h 3120"/>
              <a:gd name="T2" fmla="*/ 0 w 1200"/>
              <a:gd name="T3" fmla="*/ 0 h 3120"/>
              <a:gd name="T4" fmla="*/ 0 w 1200"/>
              <a:gd name="T5" fmla="*/ 0 h 3120"/>
              <a:gd name="T6" fmla="*/ 0 w 1200"/>
              <a:gd name="T7" fmla="*/ 1 h 3120"/>
              <a:gd name="T8" fmla="*/ 0 w 1200"/>
              <a:gd name="T9" fmla="*/ 1 h 3120"/>
              <a:gd name="T10" fmla="*/ 0 w 1200"/>
              <a:gd name="T11" fmla="*/ 1 h 3120"/>
              <a:gd name="T12" fmla="*/ 0 w 1200"/>
              <a:gd name="T13" fmla="*/ 1 h 3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00" h="3120">
                <a:moveTo>
                  <a:pt x="1200" y="0"/>
                </a:moveTo>
                <a:cubicBezTo>
                  <a:pt x="869" y="0"/>
                  <a:pt x="600" y="117"/>
                  <a:pt x="600" y="260"/>
                </a:cubicBezTo>
                <a:lnTo>
                  <a:pt x="600" y="1300"/>
                </a:lnTo>
                <a:cubicBezTo>
                  <a:pt x="600" y="1444"/>
                  <a:pt x="332" y="1560"/>
                  <a:pt x="0" y="1560"/>
                </a:cubicBezTo>
                <a:cubicBezTo>
                  <a:pt x="332" y="1560"/>
                  <a:pt x="600" y="1677"/>
                  <a:pt x="600" y="1820"/>
                </a:cubicBezTo>
                <a:lnTo>
                  <a:pt x="600" y="2860"/>
                </a:lnTo>
                <a:cubicBezTo>
                  <a:pt x="600" y="3004"/>
                  <a:pt x="869" y="3120"/>
                  <a:pt x="1200" y="3120"/>
                </a:cubicBezTo>
              </a:path>
            </a:pathLst>
          </a:custGeom>
          <a:noFill/>
          <a:ln w="1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60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71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一、计算机系统组成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1" y="1087517"/>
            <a:ext cx="4294609" cy="386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" name="内容占位符 2"/>
          <p:cNvSpPr>
            <a:spLocks noGrp="1"/>
          </p:cNvSpPr>
          <p:nvPr>
            <p:ph idx="1"/>
          </p:nvPr>
        </p:nvSpPr>
        <p:spPr>
          <a:xfrm>
            <a:off x="5148064" y="1087517"/>
            <a:ext cx="3707904" cy="30963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冯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诺依曼计算机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五大模块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程序存储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程序和数据一起存储在内存中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8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一、计算机系统组成</a:t>
            </a:r>
            <a:endParaRPr lang="zh-CN" altLang="en-US" sz="2400" dirty="0"/>
          </a:p>
        </p:txBody>
      </p:sp>
      <p:sp>
        <p:nvSpPr>
          <p:cNvPr id="166" name="内容占位符 2"/>
          <p:cNvSpPr>
            <a:spLocks noGrp="1"/>
          </p:cNvSpPr>
          <p:nvPr>
            <p:ph idx="1"/>
          </p:nvPr>
        </p:nvSpPr>
        <p:spPr>
          <a:xfrm>
            <a:off x="683568" y="1131590"/>
            <a:ext cx="6984776" cy="345638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指挥计算机的各个部件按照指令的功能要求协调工作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运算器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进行算术运算和逻辑运算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主要部件：算术逻辑部件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(ALU)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、累加器、通用寄存器等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存储器 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存储程序和数据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内存储器和外存储器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53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一、计算机系统组成</a:t>
            </a:r>
            <a:endParaRPr lang="zh-CN" altLang="en-US" sz="2400" dirty="0"/>
          </a:p>
        </p:txBody>
      </p:sp>
      <p:sp>
        <p:nvSpPr>
          <p:cNvPr id="166" name="内容占位符 2"/>
          <p:cNvSpPr>
            <a:spLocks noGrp="1"/>
          </p:cNvSpPr>
          <p:nvPr>
            <p:ph idx="1"/>
          </p:nvPr>
        </p:nvSpPr>
        <p:spPr>
          <a:xfrm>
            <a:off x="683568" y="1131590"/>
            <a:ext cx="7272808" cy="10081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字节（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Byte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字节是计算机存储数据的基本单元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40" y="2283719"/>
            <a:ext cx="2395424" cy="165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3635896" y="2250088"/>
            <a:ext cx="5508104" cy="170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1306195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306195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306195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306195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306195"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306195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306195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306195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306195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57785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位（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bit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）：数据存储的最小单位，代表一个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1</a:t>
            </a:r>
          </a:p>
          <a:p>
            <a:pPr marL="0" marR="0" lvl="0" indent="0" algn="l" defTabSz="57785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字（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Word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）：计算机中作为一个整体被存取、传送、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57785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b="0" dirty="0">
                <a:solidFill>
                  <a:srgbClr val="000066"/>
                </a:solidFill>
                <a:ea typeface="微软雅黑" pitchFamily="34" charset="-122"/>
                <a:cs typeface="Times New Roman" panose="02020603050405020304" pitchFamily="18" charset="0"/>
                <a:sym typeface="+mn-ea"/>
              </a:rPr>
              <a:t>              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处理的二进制数。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57785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字长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WordLength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微软雅黑" pitchFamily="34" charset="-122"/>
                <a:cs typeface="Times New Roman" panose="02020603050405020304" pitchFamily="18" charset="0"/>
                <a:sym typeface="+mn-ea"/>
              </a:rPr>
              <a:t>：一个字的长度</a:t>
            </a:r>
          </a:p>
        </p:txBody>
      </p:sp>
      <p:sp>
        <p:nvSpPr>
          <p:cNvPr id="6" name="Rectangle 4"/>
          <p:cNvSpPr/>
          <p:nvPr/>
        </p:nvSpPr>
        <p:spPr>
          <a:xfrm>
            <a:off x="827584" y="4273229"/>
            <a:ext cx="3691744" cy="409813"/>
          </a:xfrm>
          <a:prstGeom prst="rect">
            <a:avLst/>
          </a:prstGeom>
          <a:noFill/>
          <a:ln w="9525">
            <a:noFill/>
          </a:ln>
        </p:spPr>
        <p:txBody>
          <a:bodyPr wrap="square" lIns="131529" tIns="65765" rIns="131529" bIns="65765" anchor="t">
            <a:spAutoFit/>
          </a:bodyPr>
          <a:lstStyle/>
          <a:p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KB</a:t>
            </a:r>
            <a:r>
              <a:rPr lang="zh-CN" altLang="en-US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MB  GB  TB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等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80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>
                <a:solidFill>
                  <a:srgbClr val="FFFFFF"/>
                </a:solidFill>
              </a:rPr>
              <a:t>一、计算机系统组成</a:t>
            </a:r>
            <a:endParaRPr lang="zh-CN" altLang="en-US" sz="2400" dirty="0"/>
          </a:p>
        </p:txBody>
      </p:sp>
      <p:sp>
        <p:nvSpPr>
          <p:cNvPr id="166" name="内容占位符 2"/>
          <p:cNvSpPr>
            <a:spLocks noGrp="1"/>
          </p:cNvSpPr>
          <p:nvPr>
            <p:ph idx="1"/>
          </p:nvPr>
        </p:nvSpPr>
        <p:spPr>
          <a:xfrm>
            <a:off x="683568" y="1131590"/>
            <a:ext cx="6768752" cy="32403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、指令系统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sym typeface="+mn-ea"/>
              </a:rPr>
              <a:t>一台计算机的所有指令的集合                       </a:t>
            </a:r>
            <a:endParaRPr lang="en-US" altLang="zh-CN" sz="1800" dirty="0">
              <a:solidFill>
                <a:srgbClr val="000066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、程序和计算机的工作过程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FF"/>
                </a:solidFill>
                <a:sym typeface="+mn-ea"/>
              </a:rPr>
              <a:t>      程序：</a:t>
            </a:r>
            <a:r>
              <a:rPr lang="zh-CN" altLang="en-US" sz="1800" dirty="0">
                <a:solidFill>
                  <a:srgbClr val="000066"/>
                </a:solidFill>
                <a:sym typeface="+mn-ea"/>
              </a:rPr>
              <a:t>计算机指令的有序集合，即完成一定功能的指令序列</a:t>
            </a:r>
            <a:endParaRPr lang="en-US" altLang="zh-CN" sz="1800" dirty="0">
              <a:solidFill>
                <a:srgbClr val="000066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sym typeface="+mn-ea"/>
              </a:rPr>
              <a:t>      </a:t>
            </a:r>
            <a:r>
              <a:rPr kumimoji="1" lang="zh-CN" altLang="en-US" sz="1800" dirty="0">
                <a:solidFill>
                  <a:srgbClr val="000066"/>
                </a:solidFill>
                <a:sym typeface="+mn-ea"/>
              </a:rPr>
              <a:t>工作过程：取指令、分析指令、执行指令</a:t>
            </a:r>
            <a:endParaRPr kumimoji="1" lang="en-US" altLang="zh-CN" sz="1800" dirty="0">
              <a:solidFill>
                <a:srgbClr val="000066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A5A128-0027-4815-9611-041C447DF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085448"/>
            <a:ext cx="31432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7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>
                <a:solidFill>
                  <a:srgbClr val="FFFFFF"/>
                </a:solidFill>
              </a:rPr>
              <a:t>一、计算机系统组成</a:t>
            </a:r>
            <a:endParaRPr lang="zh-CN" altLang="en-US" sz="2400" dirty="0"/>
          </a:p>
        </p:txBody>
      </p:sp>
      <p:sp>
        <p:nvSpPr>
          <p:cNvPr id="15" name="Rectangle 2"/>
          <p:cNvSpPr txBox="1">
            <a:spLocks/>
          </p:cNvSpPr>
          <p:nvPr/>
        </p:nvSpPr>
        <p:spPr>
          <a:xfrm>
            <a:off x="467544" y="1028055"/>
            <a:ext cx="8136904" cy="3559919"/>
          </a:xfrm>
          <a:prstGeom prst="rect">
            <a:avLst/>
          </a:prstGeom>
          <a:noFill/>
          <a:ln/>
        </p:spPr>
        <p:txBody>
          <a:bodyPr vert="horz" wrap="square" lIns="130622" tIns="65311" rIns="130622" bIns="65311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、操作系统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管理和控制计算机中所有资源的一组程序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000066"/>
                </a:solidFill>
              </a:rPr>
              <a:t>     Windows</a:t>
            </a:r>
            <a:r>
              <a:rPr lang="zh-CN" altLang="en-US" sz="1800" dirty="0">
                <a:solidFill>
                  <a:srgbClr val="000066"/>
                </a:solidFill>
              </a:rPr>
              <a:t>、</a:t>
            </a:r>
            <a:r>
              <a:rPr lang="en-US" altLang="zh-CN" sz="1800" dirty="0">
                <a:solidFill>
                  <a:srgbClr val="000066"/>
                </a:solidFill>
              </a:rPr>
              <a:t>UNIX</a:t>
            </a:r>
            <a:r>
              <a:rPr lang="zh-CN" altLang="en-US" sz="1800" dirty="0">
                <a:solidFill>
                  <a:srgbClr val="000066"/>
                </a:solidFill>
              </a:rPr>
              <a:t>、</a:t>
            </a:r>
            <a:r>
              <a:rPr lang="en-US" altLang="zh-CN" sz="1800" err="1">
                <a:solidFill>
                  <a:srgbClr val="000066"/>
                </a:solidFill>
              </a:rPr>
              <a:t>iOS</a:t>
            </a:r>
            <a:r>
              <a:rPr lang="en-US" altLang="zh-CN" sz="1800">
                <a:solidFill>
                  <a:srgbClr val="000066"/>
                </a:solidFill>
              </a:rPr>
              <a:t> </a:t>
            </a:r>
            <a:r>
              <a:rPr lang="zh-CN" altLang="en-US" sz="1800">
                <a:solidFill>
                  <a:srgbClr val="000066"/>
                </a:solidFill>
              </a:rPr>
              <a:t>、</a:t>
            </a:r>
            <a:r>
              <a:rPr lang="en-US" altLang="zh-CN" sz="1800">
                <a:solidFill>
                  <a:srgbClr val="000066"/>
                </a:solidFill>
              </a:rPr>
              <a:t>Android</a:t>
            </a:r>
            <a:r>
              <a:rPr lang="zh-CN" altLang="en-US" sz="1800">
                <a:solidFill>
                  <a:srgbClr val="000066"/>
                </a:solidFill>
              </a:rPr>
              <a:t>等</a:t>
            </a:r>
            <a:r>
              <a:rPr lang="zh-CN" altLang="en-US" sz="1800" dirty="0">
                <a:solidFill>
                  <a:srgbClr val="000066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5157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>
                <a:solidFill>
                  <a:srgbClr val="FFFFFF"/>
                </a:solidFill>
              </a:rPr>
              <a:t>二、</a:t>
            </a:r>
            <a:r>
              <a:rPr lang="zh-CN" altLang="en-US" sz="2400" dirty="0">
                <a:solidFill>
                  <a:srgbClr val="FFFFFF"/>
                </a:solidFill>
              </a:rPr>
              <a:t>微型计算机硬件系统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03848" y="1491630"/>
            <a:ext cx="2808312" cy="3024336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</a:t>
            </a:r>
            <a:r>
              <a:rPr lang="zh-CN" altLang="en-US" sz="2000" dirty="0">
                <a:solidFill>
                  <a:srgbClr val="000066"/>
                </a:solidFill>
              </a:rPr>
              <a:t>主要内容</a:t>
            </a:r>
            <a:endParaRPr lang="en-US" altLang="zh-CN" sz="2000" dirty="0">
              <a:solidFill>
                <a:srgbClr val="000066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■</a:t>
            </a:r>
            <a:r>
              <a:rPr lang="zh-CN" altLang="en-US" sz="2000" dirty="0">
                <a:solidFill>
                  <a:srgbClr val="000066"/>
                </a:solidFill>
              </a:rPr>
              <a:t>主板</a:t>
            </a:r>
            <a:endParaRPr lang="en-US" altLang="zh-CN" sz="2000" dirty="0">
              <a:solidFill>
                <a:srgbClr val="000066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■</a:t>
            </a:r>
            <a:r>
              <a:rPr lang="en-US" altLang="zh-CN" sz="2000" dirty="0">
                <a:solidFill>
                  <a:srgbClr val="000066"/>
                </a:solidFill>
              </a:rPr>
              <a:t>CPU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■</a:t>
            </a:r>
            <a:r>
              <a:rPr lang="zh-CN" altLang="en-US" sz="2000" dirty="0">
                <a:solidFill>
                  <a:srgbClr val="000066"/>
                </a:solidFill>
              </a:rPr>
              <a:t>内存</a:t>
            </a:r>
            <a:endParaRPr lang="en-US" altLang="zh-CN" sz="2000" dirty="0">
              <a:solidFill>
                <a:srgbClr val="000066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■</a:t>
            </a:r>
            <a:r>
              <a:rPr lang="zh-CN" altLang="en-US" sz="2000" dirty="0">
                <a:solidFill>
                  <a:srgbClr val="000066"/>
                </a:solidFill>
              </a:rPr>
              <a:t>外存</a:t>
            </a:r>
            <a:endParaRPr lang="en-US" altLang="zh-CN" sz="2000" dirty="0">
              <a:solidFill>
                <a:srgbClr val="000066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■</a:t>
            </a:r>
            <a:r>
              <a:rPr lang="zh-CN" altLang="en-US" sz="2000" dirty="0">
                <a:solidFill>
                  <a:srgbClr val="000066"/>
                </a:solidFill>
              </a:rPr>
              <a:t>总线和接口</a:t>
            </a:r>
            <a:endParaRPr lang="en-US" altLang="zh-CN" sz="200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4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主板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C0374A-B8AB-4C74-90BB-7EF15B0B31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4" t="2829" r="14288" b="2001"/>
          <a:stretch/>
        </p:blipFill>
        <p:spPr>
          <a:xfrm>
            <a:off x="3102303" y="987574"/>
            <a:ext cx="4061396" cy="4083918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516216" y="1563638"/>
            <a:ext cx="1008112" cy="0"/>
          </a:xfrm>
          <a:prstGeom prst="line">
            <a:avLst/>
          </a:prstGeom>
          <a:ln w="19050">
            <a:solidFill>
              <a:srgbClr val="00FF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52320" y="134761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内存插槽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220072" y="2355726"/>
            <a:ext cx="2304256" cy="0"/>
          </a:xfrm>
          <a:prstGeom prst="line">
            <a:avLst/>
          </a:prstGeom>
          <a:ln w="19050">
            <a:solidFill>
              <a:srgbClr val="00FF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52320" y="214899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插座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915816" y="3723878"/>
            <a:ext cx="1008112" cy="0"/>
          </a:xfrm>
          <a:prstGeom prst="line">
            <a:avLst/>
          </a:prstGeom>
          <a:ln w="28575">
            <a:solidFill>
              <a:srgbClr val="00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35696" y="353823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显卡插槽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80" y="417342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PCI-E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插槽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328" y="428698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SATA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6516216" y="5020022"/>
            <a:ext cx="756084" cy="0"/>
          </a:xfrm>
          <a:prstGeom prst="line">
            <a:avLst/>
          </a:prstGeom>
          <a:ln w="28575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915816" y="4371950"/>
            <a:ext cx="1008112" cy="0"/>
          </a:xfrm>
          <a:prstGeom prst="line">
            <a:avLst/>
          </a:prstGeom>
          <a:ln w="28575">
            <a:solidFill>
              <a:srgbClr val="00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563888" y="4731990"/>
            <a:ext cx="360040" cy="0"/>
          </a:xfrm>
          <a:prstGeom prst="line">
            <a:avLst/>
          </a:prstGeom>
          <a:ln w="28575">
            <a:solidFill>
              <a:srgbClr val="00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020272" y="3085098"/>
            <a:ext cx="504056" cy="0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44660" y="290043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USB 3.2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7020272" y="3395196"/>
            <a:ext cx="504056" cy="0"/>
          </a:xfrm>
          <a:prstGeom prst="line">
            <a:avLst/>
          </a:prstGeom>
          <a:ln w="28575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52320" y="321053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USB Type-C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6444208" y="4083918"/>
            <a:ext cx="1115516" cy="0"/>
          </a:xfrm>
          <a:prstGeom prst="line">
            <a:avLst/>
          </a:prstGeom>
          <a:ln w="28575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020272" y="4515966"/>
            <a:ext cx="504056" cy="0"/>
          </a:xfrm>
          <a:prstGeom prst="line">
            <a:avLst/>
          </a:prstGeom>
          <a:ln w="28575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272300" y="4515966"/>
            <a:ext cx="0" cy="504056"/>
          </a:xfrm>
          <a:prstGeom prst="line">
            <a:avLst/>
          </a:prstGeom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444660" y="386007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芯片组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860032" y="3210530"/>
            <a:ext cx="0" cy="230550"/>
          </a:xfrm>
          <a:prstGeom prst="line">
            <a:avLst/>
          </a:prstGeom>
          <a:ln w="28575">
            <a:solidFill>
              <a:srgbClr val="00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48394" y="3009063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M.2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5724128" y="3210530"/>
            <a:ext cx="0" cy="1237754"/>
          </a:xfrm>
          <a:prstGeom prst="line">
            <a:avLst/>
          </a:prstGeom>
          <a:ln w="28575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915816" y="3210530"/>
            <a:ext cx="2808312" cy="0"/>
          </a:xfrm>
          <a:prstGeom prst="line">
            <a:avLst/>
          </a:prstGeom>
          <a:ln w="28575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563888" y="4358094"/>
            <a:ext cx="0" cy="386184"/>
          </a:xfrm>
          <a:prstGeom prst="line">
            <a:avLst/>
          </a:prstGeom>
          <a:ln w="28575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extLst>
              <a:ext uri="{FF2B5EF4-FFF2-40B4-BE49-F238E27FC236}">
                <a16:creationId xmlns:a16="http://schemas.microsoft.com/office/drawing/2014/main" id="{F21EB692-D860-4E57-B8F0-9F9F920D1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22" y="1033106"/>
            <a:ext cx="309634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主板是连接其他部件的载体。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芯片组是主板的核心。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与芯片组是配套的。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3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主板</a:t>
            </a:r>
            <a:r>
              <a:rPr lang="en-US" altLang="zh-CN" sz="2400" dirty="0"/>
              <a:t>-</a:t>
            </a:r>
            <a:r>
              <a:rPr lang="zh-CN" altLang="en-US" sz="2400" dirty="0"/>
              <a:t>接口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E36115-A781-4A5F-B76D-CE5C137D1F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t="2401" r="22150" b="2401"/>
          <a:stretch/>
        </p:blipFill>
        <p:spPr>
          <a:xfrm rot="18717076">
            <a:off x="817919" y="1580598"/>
            <a:ext cx="1937917" cy="2507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71BEC3-FD8A-448B-929B-3107CEB149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" t="33230" r="2771" b="33171"/>
          <a:stretch/>
        </p:blipFill>
        <p:spPr>
          <a:xfrm>
            <a:off x="3270301" y="2217861"/>
            <a:ext cx="5364880" cy="14540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07407" y="3975539"/>
            <a:ext cx="94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3.2</a:t>
            </a:r>
            <a:endParaRPr lang="zh-CN" altLang="en-US" sz="1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963556" y="3514005"/>
            <a:ext cx="0" cy="536952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23331" y="3978949"/>
            <a:ext cx="824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HDMI</a:t>
            </a:r>
            <a:endParaRPr lang="zh-CN" altLang="en-US" sz="1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>
            <a:cxnSpLocks/>
          </p:cNvCxnSpPr>
          <p:nvPr/>
        </p:nvCxnSpPr>
        <p:spPr>
          <a:xfrm>
            <a:off x="7884368" y="3273174"/>
            <a:ext cx="0" cy="797429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55769" y="3985766"/>
            <a:ext cx="94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音频接口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5587360" y="3546966"/>
            <a:ext cx="0" cy="536952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76056" y="3983781"/>
            <a:ext cx="1184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Type-C</a:t>
            </a:r>
            <a:endParaRPr lang="zh-CN" altLang="en-US" sz="1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/>
          <p:cNvCxnSpPr>
            <a:cxnSpLocks/>
          </p:cNvCxnSpPr>
          <p:nvPr/>
        </p:nvCxnSpPr>
        <p:spPr>
          <a:xfrm flipH="1">
            <a:off x="6436960" y="3514005"/>
            <a:ext cx="7300" cy="547427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34494" y="3975539"/>
            <a:ext cx="94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3.2</a:t>
            </a:r>
            <a:endParaRPr lang="zh-CN" altLang="en-US" sz="1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4716016" y="1918846"/>
            <a:ext cx="0" cy="580896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1108" y="1631174"/>
            <a:ext cx="94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USB2.0</a:t>
            </a:r>
            <a:endParaRPr lang="zh-CN" altLang="en-US" sz="14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cxnSpLocks/>
            <a:endCxn id="23" idx="2"/>
          </p:cNvCxnSpPr>
          <p:nvPr/>
        </p:nvCxnSpPr>
        <p:spPr>
          <a:xfrm flipH="1" flipV="1">
            <a:off x="3945652" y="1934254"/>
            <a:ext cx="14065" cy="1004989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69588" y="1626477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DP</a:t>
            </a:r>
            <a:r>
              <a: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显示接口</a:t>
            </a:r>
          </a:p>
        </p:txBody>
      </p:sp>
      <p:cxnSp>
        <p:nvCxnSpPr>
          <p:cNvPr id="26" name="直接连接符 25"/>
          <p:cNvCxnSpPr>
            <a:cxnSpLocks/>
            <a:endCxn id="27" idx="2"/>
          </p:cNvCxnSpPr>
          <p:nvPr/>
        </p:nvCxnSpPr>
        <p:spPr>
          <a:xfrm flipV="1">
            <a:off x="5576488" y="1951062"/>
            <a:ext cx="0" cy="1029337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04812" y="1643285"/>
            <a:ext cx="943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USB3.1</a:t>
            </a:r>
            <a:endParaRPr lang="zh-CN" altLang="en-US" sz="14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6436960" y="1923678"/>
            <a:ext cx="0" cy="728464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41369"/>
            <a:ext cx="1303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2.5G</a:t>
            </a:r>
            <a:r>
              <a: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网络接口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11AB9BE-993E-4E45-B453-D42917D7C2C7}"/>
              </a:ext>
            </a:extLst>
          </p:cNvPr>
          <p:cNvCxnSpPr/>
          <p:nvPr/>
        </p:nvCxnSpPr>
        <p:spPr>
          <a:xfrm>
            <a:off x="4749268" y="3579862"/>
            <a:ext cx="0" cy="536952"/>
          </a:xfrm>
          <a:prstGeom prst="line">
            <a:avLst/>
          </a:prstGeom>
          <a:ln w="19050">
            <a:solidFill>
              <a:srgbClr val="00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298392B-093B-49F9-971C-D37584AFC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088230"/>
            <a:ext cx="8280920" cy="378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</a:rPr>
              <a:t>   ■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主频、外频： 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CPU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主频的定义是中央处理器的内核在工作时的</a:t>
            </a:r>
            <a:endParaRPr lang="en-US" altLang="zh-CN" sz="16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单位时钟内的频率。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计算机的操作在时钟信号的控制下分步执行，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每个时钟信号周期完成一步操作，时钟频率的高低在很大程度上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反映了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CPU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速度的快慢</a:t>
            </a:r>
            <a:endParaRPr lang="en-US" altLang="zh-CN" sz="16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				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主频＝外频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倍频系数</a:t>
            </a:r>
            <a:endParaRPr lang="en-US" altLang="zh-CN" sz="18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1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2.66GHz=133MHz×20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rgbClr val="CC3300"/>
                </a:solidFill>
              </a:rPr>
              <a:t>■</a:t>
            </a:r>
            <a:r>
              <a:rPr lang="zh-CN" altLang="en-US" sz="1800" dirty="0">
                <a:solidFill>
                  <a:srgbClr val="000066"/>
                </a:solidFill>
              </a:rPr>
              <a:t>睿频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  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自动加速到合适的频率</a:t>
            </a:r>
            <a:endParaRPr lang="en-US" altLang="zh-CN" sz="18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应对复杂应用时，处理器可自动提高运行主频以提速，轻松进行对性能</a:t>
            </a:r>
            <a:endParaRPr lang="en-US" altLang="zh-CN" sz="13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要求更高的多任务处理；当进行工作任务切换时，如果只有内存和硬盘</a:t>
            </a:r>
            <a:endParaRPr lang="en-US" altLang="zh-CN" sz="13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在进行主要的工作，处理器会立刻处于节电状态。</a:t>
            </a:r>
            <a:r>
              <a:rPr lang="zh-CN" altLang="en-US" sz="1100" b="1" dirty="0">
                <a:solidFill>
                  <a:schemeClr val="tx2"/>
                </a:solidFill>
              </a:rPr>
              <a:t> </a:t>
            </a:r>
            <a:endParaRPr lang="en-US" altLang="zh-CN" sz="1100" b="1" dirty="0">
              <a:solidFill>
                <a:schemeClr val="tx2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rgbClr val="CC3300"/>
                </a:solidFill>
              </a:rPr>
              <a:t>■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字长和位数     通常，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=CPU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的字长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通用寄存器位数</a:t>
            </a:r>
            <a:endParaRPr lang="en-US" altLang="zh-CN" sz="18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			 	</a:t>
            </a:r>
            <a:endParaRPr lang="en-US" altLang="zh-CN" sz="18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&gt;=OS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</a:t>
            </a:r>
            <a:r>
              <a:rPr lang="en-US" altLang="zh-CN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</a:t>
            </a:r>
            <a:r>
              <a:rPr lang="zh-CN" altLang="en-US" sz="1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应用程序位数</a:t>
            </a:r>
            <a:r>
              <a:rPr lang="zh-CN" altLang="en-US" sz="1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FFFFFF"/>
                </a:solidFill>
              </a:rPr>
              <a:t>2 CPU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5756262" y="2643758"/>
            <a:ext cx="3312368" cy="1979612"/>
            <a:chOff x="5436096" y="3256434"/>
            <a:chExt cx="3312368" cy="1979612"/>
          </a:xfrm>
        </p:grpSpPr>
        <p:sp>
          <p:nvSpPr>
            <p:cNvPr id="7" name="Oval 19">
              <a:extLst>
                <a:ext uri="{FF2B5EF4-FFF2-40B4-BE49-F238E27FC236}">
                  <a16:creationId xmlns:a16="http://schemas.microsoft.com/office/drawing/2014/main" id="{5A5C420D-E528-41AD-B31A-78D33F76E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413" y="3457510"/>
              <a:ext cx="2341004" cy="1252190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Oval 20">
              <a:extLst>
                <a:ext uri="{FF2B5EF4-FFF2-40B4-BE49-F238E27FC236}">
                  <a16:creationId xmlns:a16="http://schemas.microsoft.com/office/drawing/2014/main" id="{39C784AB-5DCD-4677-BE5F-A51D7224D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6096" y="3256434"/>
              <a:ext cx="3312368" cy="1979612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Oval 18">
              <a:extLst>
                <a:ext uri="{FF2B5EF4-FFF2-40B4-BE49-F238E27FC236}">
                  <a16:creationId xmlns:a16="http://schemas.microsoft.com/office/drawing/2014/main" id="{D4534ECF-E93D-4A5F-8915-A017CBD19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862" y="3738064"/>
              <a:ext cx="1403722" cy="612179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ts val="1600"/>
                </a:lnSpc>
              </a:pP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应用程序</a:t>
              </a:r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 </a:t>
              </a:r>
            </a:p>
            <a:p>
              <a:pPr>
                <a:lnSpc>
                  <a:spcPts val="1600"/>
                </a:lnSpc>
              </a:pPr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32</a:t>
              </a: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  </a:t>
              </a:r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64</a:t>
              </a: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88DBF65-A40A-4FFC-A52A-106AE0298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2232" y="4350243"/>
              <a:ext cx="158389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OS: 32</a:t>
              </a: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位、</a:t>
              </a:r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64</a:t>
              </a: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FAC099B8-5CC1-45B5-8B46-BB7B0E478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4640" y="4699167"/>
              <a:ext cx="215907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CPU: 32</a:t>
              </a: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位、</a:t>
              </a:r>
              <a:r>
                <a:rPr lang="en-US" altLang="zh-CN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64</a:t>
              </a:r>
              <a:r>
                <a:rPr lang="zh-CN" altLang="en-US" sz="1600" dirty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位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292452" y="1164689"/>
            <a:ext cx="2239988" cy="830997"/>
          </a:xfrm>
          <a:prstGeom prst="rect">
            <a:avLst/>
          </a:prstGeom>
          <a:noFill/>
          <a:ln>
            <a:solidFill>
              <a:srgbClr val="000066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主频</a:t>
            </a:r>
            <a:r>
              <a:rPr lang="zh-CN" altLang="en-US" sz="1600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是</a:t>
            </a:r>
            <a:r>
              <a:rPr lang="en-US" altLang="zh-CN" sz="1600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CPU</a:t>
            </a:r>
            <a:r>
              <a:rPr lang="zh-CN" altLang="en-US" sz="1600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的工作频率，</a:t>
            </a:r>
            <a:r>
              <a:rPr lang="zh-CN" altLang="en-US" sz="16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外频</a:t>
            </a:r>
            <a:r>
              <a:rPr lang="zh-CN" altLang="en-US" sz="1600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是计算机系统的基准频率。</a:t>
            </a:r>
          </a:p>
        </p:txBody>
      </p:sp>
    </p:spTree>
    <p:extLst>
      <p:ext uri="{BB962C8B-B14F-4D97-AF65-F5344CB8AC3E}">
        <p14:creationId xmlns:p14="http://schemas.microsoft.com/office/powerpoint/2010/main" val="145179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FFFFFF"/>
                </a:solidFill>
              </a:rPr>
              <a:t>CPU</a:t>
            </a:r>
            <a:endParaRPr lang="zh-CN" altLang="en-US" sz="2400" dirty="0"/>
          </a:p>
        </p:txBody>
      </p:sp>
      <p:sp>
        <p:nvSpPr>
          <p:cNvPr id="12" name="Line 2">
            <a:extLst>
              <a:ext uri="{FF2B5EF4-FFF2-40B4-BE49-F238E27FC236}">
                <a16:creationId xmlns:a16="http://schemas.microsoft.com/office/drawing/2014/main" id="{942B205E-578C-406A-86DE-DB18B7D2621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38100">
            <a:solidFill>
              <a:srgbClr val="6CA8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1431" tIns="45716" rIns="91431" bIns="45716" anchor="ctr"/>
          <a:lstStyle/>
          <a:p>
            <a:endParaRPr lang="zh-CN" altLang="en-US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20F98BF0-C619-4F06-95DA-22153D789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610" y="2059886"/>
            <a:ext cx="863600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000066"/>
                </a:solidFill>
              </a:rPr>
              <a:t>CPU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778DB42A-6A93-4717-8A8D-347FC3785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1577" y="2049975"/>
            <a:ext cx="1119199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三级</a:t>
            </a:r>
            <a:r>
              <a:rPr lang="en-US" altLang="zh-CN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2EDE3707-CE47-4716-AA8B-1E36A2B3C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673" y="2067665"/>
            <a:ext cx="1119199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一级</a:t>
            </a:r>
            <a:r>
              <a:rPr lang="en-US" altLang="zh-CN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59739050-07A8-4B9B-AC57-45EFBC161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2056114"/>
            <a:ext cx="1119199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600" b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二级</a:t>
            </a:r>
            <a:r>
              <a:rPr lang="en-US" altLang="zh-CN" sz="1600" b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24CD4554-2D44-4E1D-9DB3-520CF6C68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212" y="1298584"/>
            <a:ext cx="863600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zh-CN" altLang="en-US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内存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4D0AC740-8C32-4417-A0C7-0744AAB2D1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4873" y="2237875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endParaRPr lang="zh-CN" altLang="en-US"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943EBF-544D-4592-BDDD-262958A9A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992" y="2622852"/>
            <a:ext cx="7258466" cy="33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1" tIns="45716" rIns="91431" bIns="45716" anchor="ctr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命中：首先查找数据是否在一级</a:t>
            </a:r>
            <a:r>
              <a:rPr lang="en-US" altLang="zh-CN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  <a:r>
              <a:rPr lang="zh-CN" altLang="en-US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、如果没有再查二级、三级。</a:t>
            </a:r>
            <a:endParaRPr lang="en-US" altLang="zh-CN" sz="1600" b="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Rectangle 58">
            <a:extLst>
              <a:ext uri="{FF2B5EF4-FFF2-40B4-BE49-F238E27FC236}">
                <a16:creationId xmlns:a16="http://schemas.microsoft.com/office/drawing/2014/main" id="{41881C88-7C32-413B-89BF-E952927E2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908050"/>
            <a:ext cx="27984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高速缓冲存储器</a:t>
            </a:r>
            <a:r>
              <a:rPr lang="en-US" altLang="zh-CN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  <a:endParaRPr lang="en-US" altLang="zh-CN" b="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Text Box 7">
            <a:extLst>
              <a:ext uri="{FF2B5EF4-FFF2-40B4-BE49-F238E27FC236}">
                <a16:creationId xmlns:a16="http://schemas.microsoft.com/office/drawing/2014/main" id="{2FCC6E38-1FE4-45BA-9145-096582D4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1319657"/>
            <a:ext cx="863600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000066"/>
                </a:solidFill>
              </a:rPr>
              <a:t>CPU</a:t>
            </a:r>
          </a:p>
        </p:txBody>
      </p:sp>
      <p:sp>
        <p:nvSpPr>
          <p:cNvPr id="54" name="Line 21">
            <a:extLst>
              <a:ext uri="{FF2B5EF4-FFF2-40B4-BE49-F238E27FC236}">
                <a16:creationId xmlns:a16="http://schemas.microsoft.com/office/drawing/2014/main" id="{7BEF3DB1-3946-4AFD-9318-0A87A8C4D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5225" y="1495753"/>
            <a:ext cx="86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endParaRPr lang="zh-CN" altLang="en-US" sz="1600"/>
          </a:p>
        </p:txBody>
      </p:sp>
      <p:sp>
        <p:nvSpPr>
          <p:cNvPr id="55" name="Text Box 10">
            <a:extLst>
              <a:ext uri="{FF2B5EF4-FFF2-40B4-BE49-F238E27FC236}">
                <a16:creationId xmlns:a16="http://schemas.microsoft.com/office/drawing/2014/main" id="{CD7BA423-D2E1-4B64-BDFB-3766EB57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25" y="1319657"/>
            <a:ext cx="705624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</a:p>
        </p:txBody>
      </p:sp>
      <p:sp>
        <p:nvSpPr>
          <p:cNvPr id="56" name="Line 21">
            <a:extLst>
              <a:ext uri="{FF2B5EF4-FFF2-40B4-BE49-F238E27FC236}">
                <a16:creationId xmlns:a16="http://schemas.microsoft.com/office/drawing/2014/main" id="{531CEE7D-5219-478F-85DB-7D2EB882F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4449" y="1491630"/>
            <a:ext cx="86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endParaRPr lang="zh-CN" altLang="en-US" sz="1600"/>
          </a:p>
        </p:txBody>
      </p:sp>
      <p:sp>
        <p:nvSpPr>
          <p:cNvPr id="57" name="Text Box 66">
            <a:extLst>
              <a:ext uri="{FF2B5EF4-FFF2-40B4-BE49-F238E27FC236}">
                <a16:creationId xmlns:a16="http://schemas.microsoft.com/office/drawing/2014/main" id="{A964AC74-14B8-434E-A0E3-AC1317841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498" y="1632786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高速设备</a:t>
            </a:r>
          </a:p>
        </p:txBody>
      </p:sp>
      <p:sp>
        <p:nvSpPr>
          <p:cNvPr id="58" name="Text Box 67">
            <a:extLst>
              <a:ext uri="{FF2B5EF4-FFF2-40B4-BE49-F238E27FC236}">
                <a16:creationId xmlns:a16="http://schemas.microsoft.com/office/drawing/2014/main" id="{65EA3DC1-0D4D-4D4E-8773-51C1BAD2F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148" y="1604723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慢速设备</a:t>
            </a:r>
          </a:p>
        </p:txBody>
      </p:sp>
      <p:sp>
        <p:nvSpPr>
          <p:cNvPr id="60" name="Line 20">
            <a:extLst>
              <a:ext uri="{FF2B5EF4-FFF2-40B4-BE49-F238E27FC236}">
                <a16:creationId xmlns:a16="http://schemas.microsoft.com/office/drawing/2014/main" id="{921B907C-D958-493B-8EF3-BDA30AD8D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0776" y="2229159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endParaRPr lang="zh-CN" altLang="en-US" sz="1600"/>
          </a:p>
        </p:txBody>
      </p:sp>
      <p:sp>
        <p:nvSpPr>
          <p:cNvPr id="61" name="Text Box 12">
            <a:extLst>
              <a:ext uri="{FF2B5EF4-FFF2-40B4-BE49-F238E27FC236}">
                <a16:creationId xmlns:a16="http://schemas.microsoft.com/office/drawing/2014/main" id="{4157EF0B-4547-4CFF-B06C-C2BE47947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441" y="2055240"/>
            <a:ext cx="863600" cy="33854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>
            <a:spAutoFit/>
          </a:bodyPr>
          <a:lstStyle>
            <a:lvl1pPr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zh-CN" altLang="en-US" sz="16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内存</a:t>
            </a:r>
          </a:p>
        </p:txBody>
      </p:sp>
      <p:sp>
        <p:nvSpPr>
          <p:cNvPr id="62" name="Line 18">
            <a:extLst>
              <a:ext uri="{FF2B5EF4-FFF2-40B4-BE49-F238E27FC236}">
                <a16:creationId xmlns:a16="http://schemas.microsoft.com/office/drawing/2014/main" id="{6A059DA7-02CA-41B3-8454-C84E8B93D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4449" y="2219248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endParaRPr lang="zh-CN" altLang="en-US" sz="1600"/>
          </a:p>
        </p:txBody>
      </p:sp>
      <p:sp>
        <p:nvSpPr>
          <p:cNvPr id="63" name="Line 18">
            <a:extLst>
              <a:ext uri="{FF2B5EF4-FFF2-40B4-BE49-F238E27FC236}">
                <a16:creationId xmlns:a16="http://schemas.microsoft.com/office/drawing/2014/main" id="{993B5244-A21F-4CA8-87C4-523295923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9777" y="2219248"/>
            <a:ext cx="43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8305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E7B0E91-AA15-4637-95DD-294CA086B837}"/>
              </a:ext>
            </a:extLst>
          </p:cNvPr>
          <p:cNvSpPr/>
          <p:nvPr/>
        </p:nvSpPr>
        <p:spPr>
          <a:xfrm>
            <a:off x="4689761" y="2932224"/>
            <a:ext cx="5112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spc="600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Intel Core </a:t>
            </a:r>
            <a:r>
              <a:rPr lang="en-US" altLang="zh-CN" sz="2400" spc="600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i7-12700F</a:t>
            </a:r>
            <a:endParaRPr lang="zh-CN" altLang="en-US" sz="2400" spc="6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298392B-093B-49F9-971C-D37584AFC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059655"/>
            <a:ext cx="7848872" cy="122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</a:rPr>
              <a:t>   ■ 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核心数量：频率越高，耗电越多，热量越大，问题越多 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   指处理器主频提升上已力不从心，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Intel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AMD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在不用进行大规模开发的情况下，将现有产品发展成为理论性能更为强大的多核心处理器系统</a:t>
            </a:r>
            <a:endParaRPr lang="en-US" altLang="zh-CN" sz="20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000" dirty="0">
                <a:solidFill>
                  <a:srgbClr val="CC3300"/>
                </a:solidFill>
              </a:rPr>
              <a:t>   ■ 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制造工艺</a:t>
            </a:r>
            <a:r>
              <a:rPr lang="zh-CN" altLang="en-US" sz="20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内电路与电路之间的距离，单位是微米和纳米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endParaRPr lang="en-US" altLang="zh-CN" sz="18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FFFFFF"/>
                </a:solidFill>
              </a:rPr>
              <a:t>CPU</a:t>
            </a:r>
            <a:endParaRPr lang="zh-CN" altLang="en-US" sz="2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175BB1E-A285-464D-A11E-4F2C179D1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53" y="2425548"/>
            <a:ext cx="6378150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800" dirty="0">
                <a:solidFill>
                  <a:srgbClr val="CC3300"/>
                </a:solidFill>
              </a:rPr>
              <a:t>■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常见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CPU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及用途：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800" dirty="0">
                <a:solidFill>
                  <a:srgbClr val="000066"/>
                </a:solidFill>
              </a:rPr>
              <a:t>①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Intel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i3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i5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i7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i9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台式或笔记本</a:t>
            </a:r>
            <a:b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② AMD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R3 R5 R7 R9 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台式或笔记本</a:t>
            </a:r>
            <a:b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600" dirty="0">
                <a:solidFill>
                  <a:srgbClr val="000066"/>
                </a:solidFill>
              </a:rPr>
              <a:t>③ </a:t>
            </a:r>
            <a:r>
              <a:rPr lang="zh-CN" altLang="en-US" sz="1600" dirty="0">
                <a:solidFill>
                  <a:srgbClr val="000066"/>
                </a:solidFill>
              </a:rPr>
              <a:t>龙芯（自主知识产权） </a:t>
            </a:r>
            <a:r>
              <a:rPr lang="en-US" altLang="zh-CN" sz="1600" dirty="0">
                <a:solidFill>
                  <a:srgbClr val="000066"/>
                </a:solidFill>
              </a:rPr>
              <a:t>: </a:t>
            </a:r>
            <a:r>
              <a:rPr lang="zh-CN" altLang="en-US" sz="1600" dirty="0">
                <a:solidFill>
                  <a:srgbClr val="000066"/>
                </a:solidFill>
              </a:rPr>
              <a:t>嵌入式、移动终端、笔记本</a:t>
            </a:r>
            <a:endParaRPr lang="en-US" altLang="zh-CN" sz="1600" dirty="0">
              <a:solidFill>
                <a:srgbClr val="000066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dirty="0">
                <a:solidFill>
                  <a:srgbClr val="000066"/>
                </a:solidFill>
              </a:rPr>
              <a:t>	</a:t>
            </a:r>
            <a:r>
              <a:rPr lang="zh-CN" altLang="en-US" sz="1600" dirty="0">
                <a:solidFill>
                  <a:srgbClr val="000066"/>
                </a:solidFill>
              </a:rPr>
              <a:t>④ </a:t>
            </a:r>
            <a:r>
              <a:rPr lang="en-US" altLang="zh-CN" sz="1600" dirty="0">
                <a:solidFill>
                  <a:srgbClr val="000066"/>
                </a:solidFill>
              </a:rPr>
              <a:t>RISC-V</a:t>
            </a:r>
            <a:r>
              <a:rPr lang="zh-CN" altLang="en-US" sz="1600" dirty="0">
                <a:solidFill>
                  <a:srgbClr val="000066"/>
                </a:solidFill>
              </a:rPr>
              <a:t>：嵌入式、移动终端</a:t>
            </a:r>
            <a:endParaRPr lang="en-US" altLang="zh-CN" sz="1600" dirty="0">
              <a:solidFill>
                <a:srgbClr val="000066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dirty="0">
                <a:solidFill>
                  <a:srgbClr val="000066"/>
                </a:solidFill>
              </a:rPr>
              <a:t>	</a:t>
            </a:r>
            <a:r>
              <a:rPr lang="zh-CN" altLang="en-US" sz="1600" dirty="0">
                <a:solidFill>
                  <a:srgbClr val="000066"/>
                </a:solidFill>
              </a:rPr>
              <a:t>⑤ </a:t>
            </a:r>
            <a:r>
              <a:rPr lang="en-US" altLang="zh-CN" sz="1600" dirty="0">
                <a:solidFill>
                  <a:srgbClr val="000066"/>
                </a:solidFill>
              </a:rPr>
              <a:t>ARM</a:t>
            </a:r>
            <a:r>
              <a:rPr lang="zh-CN" altLang="en-US" sz="1600" dirty="0">
                <a:solidFill>
                  <a:srgbClr val="000066"/>
                </a:solidFill>
              </a:rPr>
              <a:t>：嵌入式、智能设备、移动终端</a:t>
            </a:r>
            <a:endParaRPr lang="en-US" altLang="zh-CN" sz="16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539BBE-02A3-4F70-8FBA-03542C720DCA}"/>
              </a:ext>
            </a:extLst>
          </p:cNvPr>
          <p:cNvSpPr/>
          <p:nvPr/>
        </p:nvSpPr>
        <p:spPr bwMode="gray">
          <a:xfrm>
            <a:off x="6864817" y="2988497"/>
            <a:ext cx="432048" cy="360040"/>
          </a:xfrm>
          <a:prstGeom prst="rect">
            <a:avLst/>
          </a:prstGeom>
          <a:noFill/>
          <a:ln w="19050">
            <a:solidFill>
              <a:srgbClr val="A50021"/>
            </a:solidFill>
            <a:prstDash val="sysDot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1B5485-741F-4FDA-8ECA-CBE997094FC1}"/>
              </a:ext>
            </a:extLst>
          </p:cNvPr>
          <p:cNvSpPr/>
          <p:nvPr/>
        </p:nvSpPr>
        <p:spPr bwMode="gray">
          <a:xfrm>
            <a:off x="7490587" y="2988497"/>
            <a:ext cx="432048" cy="360040"/>
          </a:xfrm>
          <a:prstGeom prst="rect">
            <a:avLst/>
          </a:prstGeom>
          <a:noFill/>
          <a:ln w="19050">
            <a:solidFill>
              <a:srgbClr val="A50021"/>
            </a:solidFill>
            <a:prstDash val="sysDot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3035EE-47F4-4C1E-8CF1-720019D9B505}"/>
              </a:ext>
            </a:extLst>
          </p:cNvPr>
          <p:cNvSpPr/>
          <p:nvPr/>
        </p:nvSpPr>
        <p:spPr bwMode="gray">
          <a:xfrm>
            <a:off x="7959805" y="2988497"/>
            <a:ext cx="623104" cy="360040"/>
          </a:xfrm>
          <a:prstGeom prst="rect">
            <a:avLst/>
          </a:prstGeom>
          <a:noFill/>
          <a:ln w="19050">
            <a:solidFill>
              <a:srgbClr val="A50021"/>
            </a:solidFill>
            <a:prstDash val="sysDot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05EAAB-5E07-442C-BA2E-541216328185}"/>
              </a:ext>
            </a:extLst>
          </p:cNvPr>
          <p:cNvSpPr/>
          <p:nvPr/>
        </p:nvSpPr>
        <p:spPr bwMode="gray">
          <a:xfrm>
            <a:off x="8610647" y="2988497"/>
            <a:ext cx="258296" cy="360040"/>
          </a:xfrm>
          <a:prstGeom prst="rect">
            <a:avLst/>
          </a:prstGeom>
          <a:noFill/>
          <a:ln w="19050">
            <a:solidFill>
              <a:srgbClr val="A50021"/>
            </a:solidFill>
            <a:prstDash val="sysDot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8770C0-4D9B-48E6-86CA-63AAC9A2E7A0}"/>
              </a:ext>
            </a:extLst>
          </p:cNvPr>
          <p:cNvSpPr txBox="1"/>
          <p:nvPr/>
        </p:nvSpPr>
        <p:spPr>
          <a:xfrm>
            <a:off x="6797968" y="3439242"/>
            <a:ext cx="2249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等级   代次  型号</a:t>
            </a:r>
            <a:r>
              <a:rPr lang="zh-CN" altLang="en-US" sz="105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后缀</a:t>
            </a:r>
          </a:p>
        </p:txBody>
      </p:sp>
    </p:spTree>
    <p:extLst>
      <p:ext uri="{BB962C8B-B14F-4D97-AF65-F5344CB8AC3E}">
        <p14:creationId xmlns:p14="http://schemas.microsoft.com/office/powerpoint/2010/main" val="120474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298392B-093B-49F9-971C-D37584AFC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059656"/>
            <a:ext cx="8064896" cy="3384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图形处理单元，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raphics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rocessing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GPU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Graphics Processing Unit-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图形处理器），是一种专门在个人电脑、工作站、游戏机和一些移动设备（如平板电脑、智能手机等）上图像运算工作的微处理器。</a:t>
            </a:r>
            <a:b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显卡：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是显卡的核心部件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dirty="0">
                <a:solidFill>
                  <a:srgbClr val="333333"/>
                </a:solidFill>
                <a:effectLst/>
                <a:latin typeface="Helvetica Neue"/>
              </a:rPr>
              <a:t>		GPU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Helvetica Neue"/>
              </a:rPr>
              <a:t>使显卡减少了对</a:t>
            </a:r>
            <a:r>
              <a:rPr lang="en-US" altLang="zh-CN" sz="1800" dirty="0">
                <a:solidFill>
                  <a:srgbClr val="136EC2"/>
                </a:solidFill>
                <a:latin typeface="Helvetica Neue"/>
              </a:rPr>
              <a:t>CPU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Helvetica Neue"/>
              </a:rPr>
              <a:t>的依赖，并进行部分原本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Helvetica Neue"/>
              </a:rPr>
              <a:t>CPU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Helvetica Neue"/>
              </a:rPr>
              <a:t>的工作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作用：辅助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，图形图像处理、视频编码解码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游戏图形加速，并行计算等。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强大的并行计算能力，独立出来，专门负责并行计算。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应用于超级计算机。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GPU</a:t>
            </a:r>
            <a:endParaRPr lang="zh-CN" altLang="en-US" sz="2400" dirty="0"/>
          </a:p>
        </p:txBody>
      </p:sp>
      <p:pic>
        <p:nvPicPr>
          <p:cNvPr id="1026" name="Picture 2" descr="D:\大基编书\8版\GP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853" y="2211710"/>
            <a:ext cx="2552050" cy="146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07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存储器</a:t>
            </a:r>
          </a:p>
        </p:txBody>
      </p:sp>
      <p:sp>
        <p:nvSpPr>
          <p:cNvPr id="19" name="Rectangle 67"/>
          <p:cNvSpPr>
            <a:spLocks noGrp="1" noChangeArrowheads="1"/>
          </p:cNvSpPr>
          <p:nvPr/>
        </p:nvSpPr>
        <p:spPr>
          <a:xfrm>
            <a:off x="378134" y="1203321"/>
            <a:ext cx="7578242" cy="792365"/>
          </a:xfrm>
          <a:prstGeom prst="rect">
            <a:avLst/>
          </a:prstGeom>
        </p:spPr>
        <p:txBody>
          <a:bodyPr/>
          <a:lstStyle>
            <a:lvl1pPr marL="490538" indent="-490538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2038" indent="-409575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4000">
                <a:solidFill>
                  <a:schemeClr val="tx1"/>
                </a:solidFill>
                <a:latin typeface="+mn-lt"/>
                <a:ea typeface="+mn-ea"/>
              </a:defRPr>
            </a:lvl2pPr>
            <a:lvl3pPr marL="1633538" indent="-327025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400">
                <a:solidFill>
                  <a:schemeClr val="tx1"/>
                </a:solidFill>
                <a:latin typeface="+mn-lt"/>
                <a:ea typeface="+mn-ea"/>
              </a:defRPr>
            </a:lvl3pPr>
            <a:lvl4pPr marL="2286000" indent="-327025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900">
                <a:solidFill>
                  <a:schemeClr val="tx1"/>
                </a:solidFill>
                <a:latin typeface="+mn-lt"/>
                <a:ea typeface="+mn-ea"/>
              </a:defRPr>
            </a:lvl4pPr>
            <a:lvl5pPr marL="2938463" indent="-325438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5pPr>
            <a:lvl6pPr marL="33956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6pPr>
            <a:lvl7pPr marL="38528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7pPr>
            <a:lvl8pPr marL="43100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8pPr>
            <a:lvl9pPr marL="47672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zh-CN" altLang="en-US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主存储器（内存储器）</a:t>
            </a:r>
            <a:r>
              <a:rPr lang="en-US" altLang="zh-CN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zh-CN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速度快，容量小，价格高，CPU直接访问。</a:t>
            </a:r>
            <a:endParaRPr lang="zh-CN" altLang="en-US" sz="18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zh-CN" altLang="en-US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辅助存储器（外存储器）</a:t>
            </a:r>
            <a:r>
              <a:rPr lang="en-US" altLang="zh-CN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速度慢，容量大，价格低，</a:t>
            </a:r>
            <a:r>
              <a:rPr lang="en-US" altLang="zh-CN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8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不可以直接访问</a:t>
            </a:r>
          </a:p>
        </p:txBody>
      </p:sp>
      <p:sp>
        <p:nvSpPr>
          <p:cNvPr id="20" name="Text Box 68"/>
          <p:cNvSpPr txBox="1">
            <a:spLocks noChangeArrowheads="1"/>
          </p:cNvSpPr>
          <p:nvPr/>
        </p:nvSpPr>
        <p:spPr bwMode="auto">
          <a:xfrm>
            <a:off x="7893808" y="1115742"/>
            <a:ext cx="9040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b="0">
                <a:latin typeface="微软雅黑" pitchFamily="34" charset="-122"/>
                <a:ea typeface="微软雅黑" pitchFamily="34" charset="-122"/>
              </a:rPr>
              <a:t>CPU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7893808" y="2122217"/>
            <a:ext cx="9040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内存</a:t>
            </a:r>
            <a:endParaRPr lang="en-US" altLang="zh-CN" sz="16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 Box 73"/>
          <p:cNvSpPr txBox="1">
            <a:spLocks noChangeArrowheads="1"/>
          </p:cNvSpPr>
          <p:nvPr/>
        </p:nvSpPr>
        <p:spPr bwMode="auto">
          <a:xfrm>
            <a:off x="7884368" y="3127105"/>
            <a:ext cx="9040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zh-CN" sz="1600" b="0" dirty="0">
                <a:latin typeface="微软雅黑" pitchFamily="34" charset="-122"/>
                <a:ea typeface="微软雅黑" pitchFamily="34" charset="-122"/>
              </a:rPr>
              <a:t>外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存</a:t>
            </a:r>
          </a:p>
        </p:txBody>
      </p:sp>
      <p:sp>
        <p:nvSpPr>
          <p:cNvPr id="23" name="AutoShape 76"/>
          <p:cNvSpPr>
            <a:spLocks noChangeArrowheads="1"/>
          </p:cNvSpPr>
          <p:nvPr/>
        </p:nvSpPr>
        <p:spPr bwMode="auto">
          <a:xfrm>
            <a:off x="8172400" y="1618981"/>
            <a:ext cx="318518" cy="185136"/>
          </a:xfrm>
          <a:prstGeom prst="upDownArrow">
            <a:avLst>
              <a:gd name="adj1" fmla="val 50000"/>
              <a:gd name="adj2" fmla="val 233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en-US" sz="1600" b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AutoShape 77"/>
          <p:cNvSpPr>
            <a:spLocks noChangeArrowheads="1"/>
          </p:cNvSpPr>
          <p:nvPr/>
        </p:nvSpPr>
        <p:spPr bwMode="auto">
          <a:xfrm>
            <a:off x="8172400" y="2698481"/>
            <a:ext cx="318518" cy="185136"/>
          </a:xfrm>
          <a:prstGeom prst="upDownArrow">
            <a:avLst>
              <a:gd name="adj1" fmla="val 50000"/>
              <a:gd name="adj2" fmla="val 233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en-US" sz="1600" b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5" name="Picture 78" descr="22_177090_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4" b="11154"/>
          <a:stretch>
            <a:fillRect/>
          </a:stretch>
        </p:blipFill>
        <p:spPr bwMode="auto">
          <a:xfrm>
            <a:off x="5292080" y="2089788"/>
            <a:ext cx="1859585" cy="106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79" descr="2005514168255518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6" b="10078"/>
          <a:stretch>
            <a:fillRect/>
          </a:stretch>
        </p:blipFill>
        <p:spPr bwMode="auto">
          <a:xfrm>
            <a:off x="4355976" y="3648046"/>
            <a:ext cx="1488998" cy="983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0" descr="优盘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619471"/>
            <a:ext cx="1221378" cy="1169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组合 28"/>
          <p:cNvGrpSpPr/>
          <p:nvPr/>
        </p:nvGrpSpPr>
        <p:grpSpPr>
          <a:xfrm>
            <a:off x="440795" y="2172964"/>
            <a:ext cx="4765887" cy="2343002"/>
            <a:chOff x="1109525" y="4507457"/>
            <a:chExt cx="4765887" cy="2343002"/>
          </a:xfrm>
        </p:grpSpPr>
        <p:sp>
          <p:nvSpPr>
            <p:cNvPr id="30" name="Rectangle 55"/>
            <p:cNvSpPr>
              <a:spLocks noChangeArrowheads="1"/>
            </p:cNvSpPr>
            <p:nvPr/>
          </p:nvSpPr>
          <p:spPr bwMode="auto">
            <a:xfrm>
              <a:off x="1109525" y="4684748"/>
              <a:ext cx="1093479" cy="797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4316" tIns="52158" rIns="104316" bIns="52158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主存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31" name="Line 56"/>
            <p:cNvSpPr>
              <a:spLocks noChangeShapeType="1"/>
            </p:cNvSpPr>
            <p:nvPr/>
          </p:nvSpPr>
          <p:spPr bwMode="auto">
            <a:xfrm>
              <a:off x="2136775" y="5486400"/>
              <a:ext cx="469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57"/>
            <p:cNvSpPr>
              <a:spLocks noChangeShapeType="1"/>
            </p:cNvSpPr>
            <p:nvPr/>
          </p:nvSpPr>
          <p:spPr bwMode="auto">
            <a:xfrm>
              <a:off x="2136775" y="4572000"/>
              <a:ext cx="469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58"/>
            <p:cNvSpPr>
              <a:spLocks noChangeShapeType="1"/>
            </p:cNvSpPr>
            <p:nvPr/>
          </p:nvSpPr>
          <p:spPr bwMode="auto">
            <a:xfrm flipH="1">
              <a:off x="2136775" y="4572000"/>
              <a:ext cx="0" cy="911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Rectangle 59"/>
            <p:cNvSpPr>
              <a:spLocks noChangeArrowheads="1"/>
            </p:cNvSpPr>
            <p:nvPr/>
          </p:nvSpPr>
          <p:spPr bwMode="auto">
            <a:xfrm>
              <a:off x="2674367" y="4507457"/>
              <a:ext cx="3201045" cy="1047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4316" tIns="52158" rIns="104316" bIns="52158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随机存储器</a:t>
              </a: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(RAM)</a:t>
              </a:r>
            </a:p>
            <a:p>
              <a:pPr>
                <a:spcBef>
                  <a:spcPct val="20000"/>
                </a:spcBef>
                <a:defRPr/>
              </a:pP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只读存储器</a:t>
              </a: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(ROM)</a:t>
              </a:r>
            </a:p>
            <a:p>
              <a:pPr>
                <a:spcBef>
                  <a:spcPct val="20000"/>
                </a:spcBef>
                <a:defRPr/>
              </a:pP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高速缓冲存储器 </a:t>
              </a: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(Cache)</a:t>
              </a:r>
            </a:p>
          </p:txBody>
        </p:sp>
        <p:sp>
          <p:nvSpPr>
            <p:cNvPr id="35" name="Line 60"/>
            <p:cNvSpPr>
              <a:spLocks noChangeShapeType="1"/>
            </p:cNvSpPr>
            <p:nvPr/>
          </p:nvSpPr>
          <p:spPr bwMode="auto">
            <a:xfrm>
              <a:off x="1931988" y="5029200"/>
              <a:ext cx="7100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Rectangle 61"/>
            <p:cNvSpPr>
              <a:spLocks noChangeArrowheads="1"/>
            </p:cNvSpPr>
            <p:nvPr/>
          </p:nvSpPr>
          <p:spPr bwMode="auto">
            <a:xfrm>
              <a:off x="1122884" y="5980892"/>
              <a:ext cx="1093479" cy="797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4316" tIns="52158" rIns="104316" bIns="52158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辅存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外</a:t>
              </a: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存</a:t>
              </a: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37" name="Line 62"/>
            <p:cNvSpPr>
              <a:spLocks noChangeShapeType="1"/>
            </p:cNvSpPr>
            <p:nvPr/>
          </p:nvSpPr>
          <p:spPr bwMode="auto">
            <a:xfrm>
              <a:off x="2136775" y="6781850"/>
              <a:ext cx="469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63"/>
            <p:cNvSpPr>
              <a:spLocks noChangeShapeType="1"/>
            </p:cNvSpPr>
            <p:nvPr/>
          </p:nvSpPr>
          <p:spPr bwMode="auto">
            <a:xfrm>
              <a:off x="2136775" y="5867450"/>
              <a:ext cx="469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64"/>
            <p:cNvSpPr>
              <a:spLocks noChangeShapeType="1"/>
            </p:cNvSpPr>
            <p:nvPr/>
          </p:nvSpPr>
          <p:spPr bwMode="auto">
            <a:xfrm flipH="1">
              <a:off x="2136775" y="5867450"/>
              <a:ext cx="0" cy="911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Rectangle 65"/>
            <p:cNvSpPr>
              <a:spLocks noChangeArrowheads="1"/>
            </p:cNvSpPr>
            <p:nvPr/>
          </p:nvSpPr>
          <p:spPr bwMode="auto">
            <a:xfrm>
              <a:off x="2707060" y="5803328"/>
              <a:ext cx="2811210" cy="1047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4316" tIns="52158" rIns="104316" bIns="52158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  <a:r>
                <a:rPr lang="zh-CN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硬盘</a:t>
              </a:r>
              <a:endPara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spcBef>
                  <a:spcPct val="20000"/>
                </a:spcBef>
                <a:defRPr/>
              </a:pP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U</a:t>
              </a: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盘</a:t>
              </a:r>
              <a:endParaRPr lang="en-US" altLang="zh-CN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spcBef>
                  <a:spcPct val="20000"/>
                </a:spcBef>
                <a:defRPr/>
              </a:pPr>
              <a:r>
                <a:rPr lang="en-US" altLang="zh-CN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Flash</a:t>
              </a:r>
              <a:r>
                <a:rPr lang="zh-CN" altLang="en-US" sz="1800" b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存储器</a:t>
              </a:r>
            </a:p>
          </p:txBody>
        </p:sp>
        <p:sp>
          <p:nvSpPr>
            <p:cNvPr id="41" name="Line 66"/>
            <p:cNvSpPr>
              <a:spLocks noChangeShapeType="1"/>
            </p:cNvSpPr>
            <p:nvPr/>
          </p:nvSpPr>
          <p:spPr bwMode="auto">
            <a:xfrm>
              <a:off x="1931988" y="6324650"/>
              <a:ext cx="7100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800" b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020" y="3531671"/>
            <a:ext cx="1345452" cy="1345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482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内存</a:t>
            </a:r>
            <a:r>
              <a:rPr lang="en-US" altLang="zh-CN" sz="2400" dirty="0">
                <a:solidFill>
                  <a:srgbClr val="FFFFFF"/>
                </a:solidFill>
              </a:rPr>
              <a:t>-RAM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E550E9-A8A9-4614-A274-95B64150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53" y="1244574"/>
            <a:ext cx="3810171" cy="1023628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3E5D2C4-942E-4AAC-8F5F-80F00C640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553" y="2643758"/>
            <a:ext cx="554461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主要指标：容量、等效频率。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等效频率（前端总线频率）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外频（基础频率）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5600MHz  =   175MHz  ×  32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提高基础频率（较难）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提高倍频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提高容量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2B394A6-DF44-48FF-AC4E-09E08595A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1396348"/>
            <a:ext cx="1119251" cy="720080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8GB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5600MHz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477F9F-5FCA-A79D-44AA-073F689F9DF1}"/>
              </a:ext>
            </a:extLst>
          </p:cNvPr>
          <p:cNvSpPr txBox="1"/>
          <p:nvPr/>
        </p:nvSpPr>
        <p:spPr>
          <a:xfrm>
            <a:off x="3995936" y="3795886"/>
            <a:ext cx="49685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404040"/>
                </a:solidFill>
                <a:effectLst/>
                <a:latin typeface="-apple-system"/>
              </a:rPr>
              <a:t>外频是总线的物理工作频率；而前端总线是指总线的有效工作频率，它直接决定着数据传输的速度。</a:t>
            </a: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前端总线的速度指的是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CPU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和北桥芯片间总线的速度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更实质性的表示了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CPU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和外界数据传输的速度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7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内存</a:t>
            </a:r>
            <a:r>
              <a:rPr lang="en-US" altLang="zh-CN" sz="2400" dirty="0">
                <a:solidFill>
                  <a:srgbClr val="FFFFFF"/>
                </a:solidFill>
              </a:rPr>
              <a:t>-ROM</a:t>
            </a:r>
            <a:endParaRPr lang="zh-CN" altLang="en-US" sz="2400" dirty="0"/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323528" y="1131590"/>
            <a:ext cx="5688632" cy="3672408"/>
          </a:xfrm>
          <a:prstGeom prst="rect">
            <a:avLst/>
          </a:prstGeom>
        </p:spPr>
        <p:txBody>
          <a:bodyPr/>
          <a:lstStyle>
            <a:lvl1pPr marL="490538" indent="-490538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2038" indent="-409575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4000">
                <a:solidFill>
                  <a:schemeClr val="tx1"/>
                </a:solidFill>
                <a:latin typeface="+mn-lt"/>
                <a:ea typeface="+mn-ea"/>
              </a:defRPr>
            </a:lvl2pPr>
            <a:lvl3pPr marL="1633538" indent="-327025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400">
                <a:solidFill>
                  <a:schemeClr val="tx1"/>
                </a:solidFill>
                <a:latin typeface="+mn-lt"/>
                <a:ea typeface="+mn-ea"/>
              </a:defRPr>
            </a:lvl3pPr>
            <a:lvl4pPr marL="2286000" indent="-327025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900">
                <a:solidFill>
                  <a:schemeClr val="tx1"/>
                </a:solidFill>
                <a:latin typeface="+mn-lt"/>
                <a:ea typeface="+mn-ea"/>
              </a:defRPr>
            </a:lvl4pPr>
            <a:lvl5pPr marL="2938463" indent="-325438" algn="l" defTabSz="13065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5pPr>
            <a:lvl6pPr marL="33956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6pPr>
            <a:lvl7pPr marL="38528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7pPr>
            <a:lvl8pPr marL="43100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8pPr>
            <a:lvl9pPr marL="4767263" indent="-325438" algn="l" defTabSz="1306513" rtl="0" fontAlgn="base">
              <a:spcBef>
                <a:spcPct val="20000"/>
              </a:spcBef>
              <a:spcAft>
                <a:spcPct val="0"/>
              </a:spcAft>
              <a:buChar char="»"/>
              <a:defRPr sz="29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只读存储器：  可读，不可写；</a:t>
            </a:r>
            <a:endParaRPr lang="en-US" altLang="zh-CN" sz="16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掉电后数据不会丢失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BIOS(Basic Input Output System)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即基本输入输出系统。</a:t>
            </a:r>
            <a:endParaRPr lang="en-US" altLang="zh-CN" sz="16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是被固化到主板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芯片上的程序。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主要功能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652463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识别各种硬件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包括型号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652463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引导操作系统</a:t>
            </a:r>
          </a:p>
        </p:txBody>
      </p:sp>
      <p:pic>
        <p:nvPicPr>
          <p:cNvPr id="9" name="Picture 16" descr="bi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438" y="1059582"/>
            <a:ext cx="1512962" cy="113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6444208" y="2499742"/>
            <a:ext cx="1944271" cy="2303949"/>
            <a:chOff x="5011" y="1920"/>
            <a:chExt cx="1150" cy="1743"/>
          </a:xfrm>
        </p:grpSpPr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5357" y="1920"/>
              <a:ext cx="427" cy="1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400" b="0" dirty="0">
                  <a:solidFill>
                    <a:schemeClr val="tx2"/>
                  </a:solidFill>
                  <a:latin typeface="+mj-ea"/>
                  <a:ea typeface="+mj-ea"/>
                </a:rPr>
                <a:t>开机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5353" y="2301"/>
              <a:ext cx="431" cy="1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400" b="0" dirty="0">
                  <a:solidFill>
                    <a:schemeClr val="tx2"/>
                  </a:solidFill>
                  <a:latin typeface="+mj-ea"/>
                  <a:ea typeface="+mj-ea"/>
                </a:rPr>
                <a:t>自检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5011" y="2682"/>
              <a:ext cx="1150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400" b="0" dirty="0">
                  <a:solidFill>
                    <a:schemeClr val="tx2"/>
                  </a:solidFill>
                  <a:latin typeface="+mj-ea"/>
                  <a:ea typeface="+mj-ea"/>
                </a:rPr>
                <a:t>执行</a:t>
              </a:r>
              <a:r>
                <a:rPr lang="en-US" altLang="zh-CN" sz="1400" b="0" dirty="0">
                  <a:solidFill>
                    <a:schemeClr val="tx2"/>
                  </a:solidFill>
                  <a:latin typeface="+mj-ea"/>
                  <a:ea typeface="+mj-ea"/>
                </a:rPr>
                <a:t>ROM</a:t>
              </a:r>
              <a:r>
                <a:rPr lang="zh-CN" altLang="en-US" sz="1400" b="0" dirty="0">
                  <a:solidFill>
                    <a:schemeClr val="tx2"/>
                  </a:solidFill>
                  <a:latin typeface="+mj-ea"/>
                  <a:ea typeface="+mj-ea"/>
                </a:rPr>
                <a:t>中的启动程序</a:t>
              </a:r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5565" y="2519"/>
              <a:ext cx="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en-US" sz="1400" b="0">
                <a:latin typeface="+mj-ea"/>
                <a:ea typeface="+mj-ea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5011" y="3064"/>
              <a:ext cx="1150" cy="1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400" b="0" dirty="0">
                  <a:solidFill>
                    <a:schemeClr val="tx2"/>
                  </a:solidFill>
                  <a:latin typeface="+mj-ea"/>
                  <a:ea typeface="+mj-ea"/>
                </a:rPr>
                <a:t>加载操作系统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11" y="3468"/>
              <a:ext cx="1150" cy="1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3200" b="1" kern="120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sz="1400" b="0" dirty="0">
                  <a:solidFill>
                    <a:schemeClr val="tx2"/>
                  </a:solidFill>
                  <a:latin typeface="+mj-ea"/>
                  <a:ea typeface="+mj-ea"/>
                </a:rPr>
                <a:t>执行操作系统</a:t>
              </a:r>
            </a:p>
          </p:txBody>
        </p:sp>
      </p:grp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7380478" y="2787373"/>
            <a:ext cx="0" cy="2062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en-US" sz="1400" b="0">
              <a:latin typeface="+mj-ea"/>
              <a:ea typeface="+mj-ea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7380478" y="3805304"/>
            <a:ext cx="0" cy="2062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en-US" sz="1400" b="0">
              <a:latin typeface="+mj-ea"/>
              <a:ea typeface="+mj-ea"/>
            </a:endParaRPr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>
            <a:off x="7380478" y="4309360"/>
            <a:ext cx="0" cy="2062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en-US" sz="1400" b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084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298392B-093B-49F9-971C-D37584AFC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496" y="1053554"/>
            <a:ext cx="4608512" cy="216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固态硬盘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机械硬盘几乎淘汰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主流技术：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 Flash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SATA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主要指标：容量、读取和写入速率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外存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BB2F58-BD0A-48ED-97C5-4B3EEB640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287" y="1347614"/>
            <a:ext cx="3960492" cy="1194161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 bwMode="gray">
          <a:xfrm>
            <a:off x="8388424" y="1233573"/>
            <a:ext cx="432048" cy="1410185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53375" y="2756416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M.2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 bwMode="gray">
          <a:xfrm>
            <a:off x="5508104" y="1834845"/>
            <a:ext cx="685031" cy="232849"/>
          </a:xfrm>
          <a:prstGeom prst="ellips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08104" y="2643758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PCI-E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00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外存</a:t>
            </a:r>
            <a:endParaRPr lang="zh-CN" altLang="en-US" sz="2400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F2CB517C-B276-415E-B8A9-ED62E0F7E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59" y="987574"/>
            <a:ext cx="2232249" cy="448311"/>
          </a:xfrm>
        </p:spPr>
        <p:txBody>
          <a:bodyPr>
            <a:noAutofit/>
          </a:bodyPr>
          <a:lstStyle/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盘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97D30A-B14F-47EA-A58F-658AAF1C19A2}"/>
              </a:ext>
            </a:extLst>
          </p:cNvPr>
          <p:cNvSpPr/>
          <p:nvPr/>
        </p:nvSpPr>
        <p:spPr>
          <a:xfrm>
            <a:off x="899592" y="1491630"/>
            <a:ext cx="4536504" cy="128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solidFill>
                  <a:srgbClr val="000066"/>
                </a:solidFill>
              </a:rPr>
              <a:t>USB flash disk</a:t>
            </a:r>
            <a:r>
              <a:rPr lang="zh-CN" altLang="en-US" dirty="0">
                <a:solidFill>
                  <a:srgbClr val="000066"/>
                </a:solidFill>
              </a:rPr>
              <a:t>的简称，是一种使用</a:t>
            </a:r>
            <a:r>
              <a:rPr lang="en-US" altLang="zh-CN" dirty="0">
                <a:solidFill>
                  <a:srgbClr val="000066"/>
                </a:solidFill>
              </a:rPr>
              <a:t>USB</a:t>
            </a:r>
            <a:r>
              <a:rPr lang="zh-CN" altLang="en-US" dirty="0">
                <a:solidFill>
                  <a:srgbClr val="000066"/>
                </a:solidFill>
              </a:rPr>
              <a:t>接口的微型高容量移动存储器。</a:t>
            </a:r>
            <a:br>
              <a:rPr lang="en-US" altLang="zh-CN" dirty="0">
                <a:solidFill>
                  <a:srgbClr val="000066"/>
                </a:solidFill>
              </a:rPr>
            </a:br>
            <a:r>
              <a:rPr lang="zh-CN" altLang="en-US" dirty="0">
                <a:solidFill>
                  <a:srgbClr val="000066"/>
                </a:solidFill>
              </a:rPr>
              <a:t>常用的接口：</a:t>
            </a:r>
            <a:r>
              <a:rPr lang="en-US" altLang="zh-CN" dirty="0">
                <a:solidFill>
                  <a:srgbClr val="000066"/>
                </a:solidFill>
              </a:rPr>
              <a:t>USB 3.2     </a:t>
            </a:r>
            <a:r>
              <a:rPr lang="zh-CN" altLang="en-US" dirty="0">
                <a:solidFill>
                  <a:srgbClr val="000066"/>
                </a:solidFill>
              </a:rPr>
              <a:t>最大带宽为</a:t>
            </a:r>
            <a:r>
              <a:rPr lang="en-US" altLang="zh-CN" dirty="0">
                <a:solidFill>
                  <a:srgbClr val="000066"/>
                </a:solidFill>
              </a:rPr>
              <a:t>2GB/s</a:t>
            </a:r>
            <a:r>
              <a:rPr lang="zh-CN" altLang="en-US" dirty="0">
                <a:solidFill>
                  <a:srgbClr val="000066"/>
                </a:solidFill>
              </a:rPr>
              <a:t>。</a:t>
            </a:r>
            <a:endParaRPr lang="zh-CN" altLang="en-US" b="1" dirty="0">
              <a:solidFill>
                <a:srgbClr val="CC3300"/>
              </a:solidFill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61745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总线</a:t>
            </a:r>
            <a:endParaRPr lang="zh-CN" altLang="en-US" sz="2400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E617AC9-57A1-4104-99FA-415A9AA7B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35" y="3707600"/>
            <a:ext cx="282756" cy="18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defTabSz="685800"/>
            <a:r>
              <a:rPr lang="en-US" altLang="zh-CN" sz="75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lang="en-US" altLang="zh-CN" sz="135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F59C232-A97A-4557-97C9-0C38C5F64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66" y="933103"/>
            <a:ext cx="6561534" cy="264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68573" tIns="34287" rIns="68573" bIns="34287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数据总线是各部件（或设备）之间传输数据的公用通道</a:t>
            </a:r>
          </a:p>
          <a:p>
            <a:pPr mar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按照传输内容：地址总线、控制总线和数据总线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按照通信方式：串行总线、并行总线</a:t>
            </a:r>
          </a:p>
          <a:p>
            <a:pPr mar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总线的作用：多个部件互连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3151B2-4381-4005-B874-A6A3FA844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835" y="2902179"/>
            <a:ext cx="138550" cy="300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defTabSz="685800"/>
            <a:endParaRPr lang="zh-CN" altLang="zh-CN" sz="1500">
              <a:solidFill>
                <a:srgbClr val="000000"/>
              </a:solidFill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4EA2FB70-AEEB-420B-B18D-C685A746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10" y="4030259"/>
            <a:ext cx="282756" cy="18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l" defTabSz="685800"/>
            <a:r>
              <a:rPr lang="en-US" altLang="zh-CN" sz="75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lang="en-US" altLang="zh-CN" sz="135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" name="Picture 9">
            <a:extLst>
              <a:ext uri="{FF2B5EF4-FFF2-40B4-BE49-F238E27FC236}">
                <a16:creationId xmlns:a16="http://schemas.microsoft.com/office/drawing/2014/main" id="{BBA5006B-10AB-4A7B-8103-48511FB35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" r="1976" b="11713"/>
          <a:stretch>
            <a:fillRect/>
          </a:stretch>
        </p:blipFill>
        <p:spPr bwMode="auto">
          <a:xfrm>
            <a:off x="1160648" y="2616639"/>
            <a:ext cx="6134249" cy="1396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0">
            <a:extLst>
              <a:ext uri="{FF2B5EF4-FFF2-40B4-BE49-F238E27FC236}">
                <a16:creationId xmlns:a16="http://schemas.microsoft.com/office/drawing/2014/main" id="{6F2E3FC3-254A-4DD5-B91F-634F013DE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3995660"/>
            <a:ext cx="1315089" cy="53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l" defTabSz="685800"/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共享总线带宽</a:t>
            </a:r>
            <a:b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USB</a:t>
            </a: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总线</a:t>
            </a:r>
            <a:endParaRPr lang="zh-CN" altLang="en-US" sz="3000" b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36B29808-85F7-4BF7-9D36-3D3678108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896" y="3971142"/>
            <a:ext cx="1292647" cy="300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l" defTabSz="685800"/>
            <a:r>
              <a:rPr lang="zh-CN" altLang="en-US" sz="15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独享总线带宽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440714C-6572-4673-93C6-8027DF183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4526569"/>
            <a:ext cx="6149578" cy="530909"/>
          </a:xfrm>
          <a:prstGeom prst="rect">
            <a:avLst/>
          </a:prstGeom>
          <a:noFill/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l" defTabSz="685800"/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共享：若带宽为</a:t>
            </a:r>
            <a:r>
              <a:rPr lang="en-US" altLang="zh-CN" sz="1500" b="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10Mbps</a:t>
            </a: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，连接了</a:t>
            </a:r>
            <a:r>
              <a:rPr lang="en-US" altLang="zh-CN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个设备，则每个设备带宽为</a:t>
            </a:r>
            <a:r>
              <a:rPr lang="en-US" altLang="zh-CN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2Mbps</a:t>
            </a: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PCI</a:t>
            </a:r>
            <a:r>
              <a:rPr lang="zh-CN" altLang="en-US" sz="15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总线 </a:t>
            </a:r>
          </a:p>
        </p:txBody>
      </p:sp>
    </p:spTree>
    <p:extLst>
      <p:ext uri="{BB962C8B-B14F-4D97-AF65-F5344CB8AC3E}">
        <p14:creationId xmlns:p14="http://schemas.microsoft.com/office/powerpoint/2010/main" val="269885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总线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55B3BF47-EC96-4DB0-A591-58A70D98F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76" y="3447077"/>
            <a:ext cx="282756" cy="18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defTabSz="685800"/>
            <a:r>
              <a:rPr lang="en-US" altLang="zh-CN" sz="75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lang="en-US" altLang="zh-CN" sz="135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0EEAE84-40B6-4142-AF82-E200D9AC1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776" y="2641656"/>
            <a:ext cx="138550" cy="300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defTabSz="685800"/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6B61E271-8818-4B4A-8ED8-66A66D0F3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629" y="4074536"/>
            <a:ext cx="282756" cy="18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l" defTabSz="685800"/>
            <a:r>
              <a:rPr lang="en-US" altLang="zh-CN" sz="750" b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endParaRPr lang="en-US" altLang="zh-CN" sz="135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5" name="Picture 9">
            <a:extLst>
              <a:ext uri="{FF2B5EF4-FFF2-40B4-BE49-F238E27FC236}">
                <a16:creationId xmlns:a16="http://schemas.microsoft.com/office/drawing/2014/main" id="{E43EAFC5-0A8C-4801-8760-92B1E72A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385" y="2067694"/>
            <a:ext cx="5886450" cy="1783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10">
            <a:extLst>
              <a:ext uri="{FF2B5EF4-FFF2-40B4-BE49-F238E27FC236}">
                <a16:creationId xmlns:a16="http://schemas.microsoft.com/office/drawing/2014/main" id="{88FE3EE0-5059-4E71-9885-23E40FE4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089" y="3807152"/>
            <a:ext cx="7403207" cy="964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8573" tIns="34287" rIns="68573" bIns="34287" anchor="ctr">
            <a:spAutoFit/>
          </a:bodyPr>
          <a:lstStyle>
            <a:lvl1pPr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l" defTabSz="685800">
              <a:lnSpc>
                <a:spcPct val="125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</a:rPr>
              <a:t>串行总线取代并行总线，并行总线高频率时容易出错</a:t>
            </a:r>
          </a:p>
          <a:p>
            <a:pPr algn="l" defTabSz="685800">
              <a:lnSpc>
                <a:spcPct val="125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并行总线适用于短距离、低总线频率的数据传输</a:t>
            </a:r>
            <a:r>
              <a:rPr lang="zh-CN" altLang="en-US" sz="1600" b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600" b="0" dirty="0">
              <a:solidFill>
                <a:srgbClr val="CC33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defTabSz="685800">
              <a:lnSpc>
                <a:spcPct val="125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</a:rPr>
              <a:t>串行总线：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RS232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PS/2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IEEE 1394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USB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0" dirty="0" err="1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SATA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PCI-E </a:t>
            </a:r>
          </a:p>
        </p:txBody>
      </p:sp>
      <p:sp>
        <p:nvSpPr>
          <p:cNvPr id="27" name="Line 12">
            <a:extLst>
              <a:ext uri="{FF2B5EF4-FFF2-40B4-BE49-F238E27FC236}">
                <a16:creationId xmlns:a16="http://schemas.microsoft.com/office/drawing/2014/main" id="{E4BC3FD0-9C4B-4AC8-94C8-28B0E0ED4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725" y="4803998"/>
            <a:ext cx="431145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8573" tIns="34287" rIns="68573" bIns="34287"/>
          <a:lstStyle/>
          <a:p>
            <a:pPr defTabSz="685800" eaLnBrk="0" hangingPunct="0"/>
            <a:endParaRPr lang="zh-CN" altLang="en-US" sz="1500" b="1">
              <a:solidFill>
                <a:srgbClr val="0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63F72CD5-10BB-4504-B57E-A80EC82D5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046" y="4803998"/>
            <a:ext cx="124182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73" tIns="34287" rIns="68573" bIns="34287"/>
          <a:lstStyle>
            <a:lvl1pPr marL="342900" indent="-3429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742950" indent="-28575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marL="11430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marL="16002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marL="2057400" indent="-228600" algn="ctr"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marL="257175" indent="-257175" algn="l" defTabSz="685800">
              <a:spcBef>
                <a:spcPct val="20000"/>
              </a:spcBef>
            </a:pPr>
            <a:r>
              <a:rPr lang="en-US" altLang="zh-CN" sz="1800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sz="18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带宽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23528" y="987574"/>
            <a:ext cx="8906605" cy="95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b="1" kern="120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主要指标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:  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带宽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总线的带宽 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总线频率 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× 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总线宽度（数据总线位数）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每个周期传输次数（一般为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 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20000"/>
              </a:lnSpc>
              <a:defRPr/>
            </a:pP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例如某总线， 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33MHz × 32 × 1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/  8   =  132MB/s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31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总线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97D30A-B14F-47EA-A58F-658AAF1C19A2}"/>
              </a:ext>
            </a:extLst>
          </p:cNvPr>
          <p:cNvSpPr/>
          <p:nvPr/>
        </p:nvSpPr>
        <p:spPr>
          <a:xfrm>
            <a:off x="755576" y="1059582"/>
            <a:ext cx="83164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zh-CN" altLang="en-US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PCI-E</a:t>
            </a:r>
            <a:r>
              <a:rPr lang="zh-CN" altLang="en-US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总线</a:t>
            </a:r>
            <a:endParaRPr lang="en-US" altLang="zh-CN" dirty="0">
              <a:solidFill>
                <a:srgbClr val="CC33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串行总线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多通道传输机制，多个通道相互独立。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PCI-E x1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x2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x4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x8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x12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x16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x32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50634C-CD74-41E7-8C7C-9440A4110518}"/>
              </a:ext>
            </a:extLst>
          </p:cNvPr>
          <p:cNvSpPr/>
          <p:nvPr/>
        </p:nvSpPr>
        <p:spPr>
          <a:xfrm>
            <a:off x="755576" y="2471226"/>
            <a:ext cx="799288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zh-CN" altLang="en-US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SATA</a:t>
            </a:r>
            <a:r>
              <a:rPr lang="zh-CN" altLang="en-US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总线</a:t>
            </a:r>
            <a:endParaRPr lang="en-US" altLang="zh-CN" dirty="0">
              <a:solidFill>
                <a:srgbClr val="CC33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串行总线，机械硬盘或固态硬盘。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SATA3.0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600MBps</a:t>
            </a:r>
            <a:b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USB</a:t>
            </a:r>
            <a:r>
              <a:rPr lang="zh-CN" altLang="en-US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总线</a:t>
            </a:r>
            <a:b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通用串行总线、一个外部总线标准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C695657C-F6ED-400C-9BCF-66BA0B6CC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624639"/>
            <a:ext cx="1993404" cy="139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4F866FA-EEE4-48FF-980A-D58CC16F7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523" y="3624639"/>
            <a:ext cx="1234658" cy="1395383"/>
          </a:xfrm>
          <a:prstGeom prst="rect">
            <a:avLst/>
          </a:prstGeom>
        </p:spPr>
      </p:pic>
      <p:pic>
        <p:nvPicPr>
          <p:cNvPr id="11" name="Picture 7" descr="X1、X4、X8以及X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138340"/>
            <a:ext cx="1800200" cy="160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ata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792" y="2471226"/>
            <a:ext cx="1051100" cy="1031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SATA-Signal-Cable-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614" y="2473535"/>
            <a:ext cx="1112658" cy="1028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841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拓展案例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87574"/>
            <a:ext cx="5904656" cy="208823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例：某款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的参数（太平洋电脑网</a:t>
            </a:r>
            <a:r>
              <a:rPr lang="zh-CN" altLang="en-US" sz="2000" dirty="0">
                <a:solidFill>
                  <a:srgbClr val="000066"/>
                </a:solidFill>
                <a:latin typeface="Arial" panose="020B0604020202020204" pitchFamily="34" charset="0"/>
                <a:ea typeface="楷体_GB2312"/>
                <a:cs typeface="楷体_GB2312"/>
              </a:rPr>
              <a:t>）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 Intel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酷睿 </a:t>
            </a:r>
            <a:r>
              <a:rPr lang="en-US" altLang="zh-CN" sz="2000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i7-12700F</a:t>
            </a:r>
            <a:endParaRPr lang="en-US" altLang="zh-CN" sz="2000" dirty="0">
              <a:solidFill>
                <a:srgbClr val="000066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endParaRPr lang="en-US" altLang="zh-CN" sz="1800" dirty="0">
              <a:solidFill>
                <a:srgbClr val="000066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B523895-B6D5-47F4-A32F-99184C80B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8183"/>
              </p:ext>
            </p:extLst>
          </p:nvPr>
        </p:nvGraphicFramePr>
        <p:xfrm>
          <a:off x="899367" y="2340033"/>
          <a:ext cx="2880320" cy="26089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158">
                  <a:extLst>
                    <a:ext uri="{9D8B030D-6E8A-4147-A177-3AD203B41FA5}">
                      <a16:colId xmlns:a16="http://schemas.microsoft.com/office/drawing/2014/main" val="3144102106"/>
                    </a:ext>
                  </a:extLst>
                </a:gridCol>
                <a:gridCol w="1773162">
                  <a:extLst>
                    <a:ext uri="{9D8B030D-6E8A-4147-A177-3AD203B41FA5}">
                      <a16:colId xmlns:a16="http://schemas.microsoft.com/office/drawing/2014/main" val="200484977"/>
                    </a:ext>
                  </a:extLst>
                </a:gridCol>
              </a:tblGrid>
              <a:tr h="316371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主要参数</a:t>
                      </a:r>
                      <a:endParaRPr lang="zh-CN" sz="16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72195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芯片厂方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Intel 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16187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核心类型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u="none" strike="noStrike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Alder Lake(</a:t>
                      </a:r>
                      <a:r>
                        <a:rPr lang="en-US" sz="1100" b="0" u="none" strike="noStrike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第12代</a:t>
                      </a:r>
                      <a:r>
                        <a:rPr lang="en-US" sz="1100" b="0" u="none" strike="noStrike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) 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918653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生产工艺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u="none" strike="noStrike" kern="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1100" b="0" u="none" strike="noStrike" kern="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nm</a:t>
                      </a:r>
                      <a:r>
                        <a:rPr lang="zh-CN" altLang="en-US" sz="1100" b="0" u="none" strike="noStrike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1100" b="0" u="none" strike="noStrike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Intel 7</a:t>
                      </a:r>
                      <a:r>
                        <a:rPr lang="zh-CN" altLang="en-US" sz="1100" b="0" u="none" strike="noStrike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制程工艺</a:t>
                      </a:r>
                      <a:endParaRPr lang="zh-CN" sz="11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09381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接口类型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u="none" strike="noStrike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LGA</a:t>
                      </a:r>
                      <a:r>
                        <a:rPr lang="en-US" sz="1100" b="0" u="none" strike="noStrike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1700 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803285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频率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2.1    </a:t>
                      </a: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睿频：</a:t>
                      </a: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4.9GHz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93751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三级缓存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100" b="0" u="none" strike="noStrike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三级 </a:t>
                      </a:r>
                      <a:r>
                        <a:rPr lang="en-US" altLang="zh-CN" sz="1100" b="0" u="none" strike="noStrike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25M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559346"/>
                  </a:ext>
                </a:extLst>
              </a:tr>
              <a:tr h="276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兼容主板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Z690,H670,B660,H610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602730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上市时间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2021</a:t>
                      </a: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日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183756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总线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u="none" strike="noStrike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UPI 16GT/s </a:t>
                      </a: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07757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32FFED0-18E1-4EFC-945C-9A36033EC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79251"/>
              </p:ext>
            </p:extLst>
          </p:nvPr>
        </p:nvGraphicFramePr>
        <p:xfrm>
          <a:off x="5846756" y="2651888"/>
          <a:ext cx="2325644" cy="2296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158">
                  <a:extLst>
                    <a:ext uri="{9D8B030D-6E8A-4147-A177-3AD203B41FA5}">
                      <a16:colId xmlns:a16="http://schemas.microsoft.com/office/drawing/2014/main" val="3144102106"/>
                    </a:ext>
                  </a:extLst>
                </a:gridCol>
                <a:gridCol w="1218486">
                  <a:extLst>
                    <a:ext uri="{9D8B030D-6E8A-4147-A177-3AD203B41FA5}">
                      <a16:colId xmlns:a16="http://schemas.microsoft.com/office/drawing/2014/main" val="200484977"/>
                    </a:ext>
                  </a:extLst>
                </a:gridCol>
              </a:tblGrid>
              <a:tr h="316371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功能参数 </a:t>
                      </a: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0" kern="10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72195"/>
                  </a:ext>
                </a:extLst>
              </a:tr>
              <a:tr h="3763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支持内存频率</a:t>
                      </a: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DDR5</a:t>
                      </a:r>
                      <a:r>
                        <a:rPr lang="en-US" alt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4800MHz</a:t>
                      </a:r>
                      <a:br>
                        <a:rPr lang="en-US" alt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DDR4 </a:t>
                      </a:r>
                      <a:r>
                        <a:rPr lang="en-US" altLang="zh-CN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3200MHz</a:t>
                      </a:r>
                      <a:r>
                        <a:rPr lang="en-US" altLang="zh-CN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16187"/>
                  </a:ext>
                </a:extLst>
              </a:tr>
              <a:tr h="3895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HyperTransport</a:t>
                      </a: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总线技术</a:t>
                      </a: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支持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918653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超线程技术</a:t>
                      </a: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支持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09381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位处理器</a:t>
                      </a: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是 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803285"/>
                  </a:ext>
                </a:extLst>
              </a:tr>
              <a:tr h="3746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Virtualization</a:t>
                      </a:r>
                      <a:b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虚拟化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支持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93751"/>
                  </a:ext>
                </a:extLst>
              </a:tr>
              <a:tr h="251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TDP</a:t>
                      </a:r>
                      <a:b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热功耗设计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b="0" kern="0" dirty="0" err="1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65W</a:t>
                      </a:r>
                      <a:r>
                        <a:rPr lang="en-US" sz="1100" b="0" kern="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100" b="0" kern="0" dirty="0"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9625" marR="39625" marT="0" marB="0" anchor="ctr">
                    <a:lnL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55934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4EACC59-77D1-4C02-B006-E23EE524A231}"/>
              </a:ext>
            </a:extLst>
          </p:cNvPr>
          <p:cNvSpPr/>
          <p:nvPr/>
        </p:nvSpPr>
        <p:spPr>
          <a:xfrm>
            <a:off x="4949809" y="1467221"/>
            <a:ext cx="3222591" cy="86177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一级指令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Cache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64KB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*10=</a:t>
            </a:r>
            <a:r>
              <a:rPr lang="en-US" altLang="zh-CN" sz="1600" kern="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640KB</a:t>
            </a:r>
            <a:endParaRPr lang="en-US" altLang="zh-CN" sz="1600" kern="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一级数据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Cache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32KB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*10=</a:t>
            </a:r>
            <a:r>
              <a:rPr lang="en-US" altLang="zh-CN" sz="1600" kern="0" dirty="0" err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320KB</a:t>
            </a:r>
            <a:endParaRPr lang="en-US" altLang="zh-CN" sz="1600" kern="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二级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Cache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2M*10=20MB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27C771A-1B75-4F39-88AD-2E83D6DA8A27}"/>
              </a:ext>
            </a:extLst>
          </p:cNvPr>
          <p:cNvCxnSpPr>
            <a:cxnSpLocks/>
          </p:cNvCxnSpPr>
          <p:nvPr/>
        </p:nvCxnSpPr>
        <p:spPr>
          <a:xfrm flipH="1">
            <a:off x="3779687" y="1851670"/>
            <a:ext cx="1170123" cy="21602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B431888B-CB88-4CBD-B3F8-9959CDD5EDF6}"/>
              </a:ext>
            </a:extLst>
          </p:cNvPr>
          <p:cNvSpPr/>
          <p:nvPr/>
        </p:nvSpPr>
        <p:spPr>
          <a:xfrm>
            <a:off x="3926614" y="4117017"/>
            <a:ext cx="1773215" cy="83099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12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个核心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个线程</a:t>
            </a:r>
            <a:endParaRPr lang="en-US" altLang="zh-CN" sz="1600" kern="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8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个大核 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线程</a:t>
            </a:r>
            <a:endParaRPr lang="en-US" altLang="zh-CN" sz="1600" kern="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4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个小核   </a:t>
            </a:r>
            <a:r>
              <a:rPr lang="en-US" altLang="zh-CN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600" kern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线程</a:t>
            </a:r>
            <a:endParaRPr lang="en-US" altLang="zh-CN" sz="1600" kern="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39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自定义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CC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spDef>
      <a:spPr bwMode="gray">
        <a:gradFill rotWithShape="1">
          <a:gsLst>
            <a:gs pos="0">
              <a:schemeClr val="folHlink">
                <a:gamma/>
                <a:shade val="72549"/>
                <a:invGamma/>
              </a:schemeClr>
            </a:gs>
            <a:gs pos="50000">
              <a:schemeClr val="folHlink"/>
            </a:gs>
            <a:gs pos="100000">
              <a:schemeClr val="folHlink">
                <a:gamma/>
                <a:shade val="72549"/>
                <a:invGamma/>
              </a:schemeClr>
            </a:gs>
          </a:gsLst>
          <a:lin ang="2700000" scaled="1"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 algn="ctr" eaLnBrk="0" hangingPunct="0">
          <a:defRPr sz="1400" b="1" dirty="0"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模板ppt.pptx" id="{0CF83854-50F9-4A05-AC3E-F0D8A78CEE97}" vid="{AE9FA267-1D14-46AF-B303-D9446FC845D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76235</TotalTime>
  <Words>1983</Words>
  <Application>Microsoft Office PowerPoint</Application>
  <PresentationFormat>全屏显示(16:9)</PresentationFormat>
  <Paragraphs>308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-apple-system</vt:lpstr>
      <vt:lpstr>Helvetica Neue</vt:lpstr>
      <vt:lpstr>黑体</vt:lpstr>
      <vt:lpstr>楷体_GB2312</vt:lpstr>
      <vt:lpstr>隶书</vt:lpstr>
      <vt:lpstr>微软雅黑</vt:lpstr>
      <vt:lpstr>Arial</vt:lpstr>
      <vt:lpstr>Arial</vt:lpstr>
      <vt:lpstr>Calibri</vt:lpstr>
      <vt:lpstr>Euphemia</vt:lpstr>
      <vt:lpstr>Times New Roman</vt:lpstr>
      <vt:lpstr>Wingdings</vt:lpstr>
      <vt:lpstr>Wingdings 2</vt:lpstr>
      <vt:lpstr>学术文献 16x9</vt:lpstr>
      <vt:lpstr>微型计算机硬件系统</vt:lpstr>
      <vt:lpstr>计算机系统</vt:lpstr>
      <vt:lpstr>一、计算机系统组成</vt:lpstr>
      <vt:lpstr>一、计算机系统组成</vt:lpstr>
      <vt:lpstr>一、计算机系统组成</vt:lpstr>
      <vt:lpstr>一、计算机系统组成</vt:lpstr>
      <vt:lpstr>一、计算机系统组成</vt:lpstr>
      <vt:lpstr>一、计算机系统组成</vt:lpstr>
      <vt:lpstr>二、微型计算机硬件系统</vt:lpstr>
      <vt:lpstr>主板</vt:lpstr>
      <vt:lpstr>主板-接口</vt:lpstr>
      <vt:lpstr>2 CPU</vt:lpstr>
      <vt:lpstr>CPU</vt:lpstr>
      <vt:lpstr>CPU</vt:lpstr>
      <vt:lpstr>GPU</vt:lpstr>
      <vt:lpstr>存储器</vt:lpstr>
      <vt:lpstr>内存-RAM</vt:lpstr>
      <vt:lpstr>内存-ROM</vt:lpstr>
      <vt:lpstr>外存</vt:lpstr>
      <vt:lpstr>外存</vt:lpstr>
      <vt:lpstr>总线</vt:lpstr>
      <vt:lpstr>总线</vt:lpstr>
      <vt:lpstr>总线</vt:lpstr>
      <vt:lpstr>拓展案例</vt:lpstr>
    </vt:vector>
  </TitlesOfParts>
  <Company>TJ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TJ</dc:creator>
  <cp:lastModifiedBy>慧 何</cp:lastModifiedBy>
  <cp:revision>1431</cp:revision>
  <dcterms:created xsi:type="dcterms:W3CDTF">2011-03-18T03:47:09Z</dcterms:created>
  <dcterms:modified xsi:type="dcterms:W3CDTF">2026-01-08T03:16:56Z</dcterms:modified>
</cp:coreProperties>
</file>