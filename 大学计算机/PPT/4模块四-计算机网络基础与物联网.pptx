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98" r:id="rId1"/>
  </p:sldMasterIdLst>
  <p:notesMasterIdLst>
    <p:notesMasterId r:id="rId61"/>
  </p:notesMasterIdLst>
  <p:handoutMasterIdLst>
    <p:handoutMasterId r:id="rId62"/>
  </p:handoutMasterIdLst>
  <p:sldIdLst>
    <p:sldId id="556" r:id="rId2"/>
    <p:sldId id="1418" r:id="rId3"/>
    <p:sldId id="1505" r:id="rId4"/>
    <p:sldId id="1504" r:id="rId5"/>
    <p:sldId id="1499" r:id="rId6"/>
    <p:sldId id="1501" r:id="rId7"/>
    <p:sldId id="1429" r:id="rId8"/>
    <p:sldId id="1502" r:id="rId9"/>
    <p:sldId id="1430" r:id="rId10"/>
    <p:sldId id="1431" r:id="rId11"/>
    <p:sldId id="1432" r:id="rId12"/>
    <p:sldId id="1503" r:id="rId13"/>
    <p:sldId id="1433" r:id="rId14"/>
    <p:sldId id="1506" r:id="rId15"/>
    <p:sldId id="1434" r:id="rId16"/>
    <p:sldId id="1421" r:id="rId17"/>
    <p:sldId id="1425" r:id="rId18"/>
    <p:sldId id="1426" r:id="rId19"/>
    <p:sldId id="1437" r:id="rId20"/>
    <p:sldId id="1438" r:id="rId21"/>
    <p:sldId id="1439" r:id="rId22"/>
    <p:sldId id="1440" r:id="rId23"/>
    <p:sldId id="1444" r:id="rId24"/>
    <p:sldId id="1445" r:id="rId25"/>
    <p:sldId id="1443" r:id="rId26"/>
    <p:sldId id="1442" r:id="rId27"/>
    <p:sldId id="1441" r:id="rId28"/>
    <p:sldId id="1449" r:id="rId29"/>
    <p:sldId id="1448" r:id="rId30"/>
    <p:sldId id="1450" r:id="rId31"/>
    <p:sldId id="1451" r:id="rId32"/>
    <p:sldId id="1452" r:id="rId33"/>
    <p:sldId id="1453" r:id="rId34"/>
    <p:sldId id="1454" r:id="rId35"/>
    <p:sldId id="1455" r:id="rId36"/>
    <p:sldId id="1456" r:id="rId37"/>
    <p:sldId id="1457" r:id="rId38"/>
    <p:sldId id="1463" r:id="rId39"/>
    <p:sldId id="1464" r:id="rId40"/>
    <p:sldId id="1459" r:id="rId41"/>
    <p:sldId id="1460" r:id="rId42"/>
    <p:sldId id="1461" r:id="rId43"/>
    <p:sldId id="1508" r:id="rId44"/>
    <p:sldId id="1465" r:id="rId45"/>
    <p:sldId id="1466" r:id="rId46"/>
    <p:sldId id="1467" r:id="rId47"/>
    <p:sldId id="1468" r:id="rId48"/>
    <p:sldId id="1469" r:id="rId49"/>
    <p:sldId id="1470" r:id="rId50"/>
    <p:sldId id="1471" r:id="rId51"/>
    <p:sldId id="1472" r:id="rId52"/>
    <p:sldId id="1507" r:id="rId53"/>
    <p:sldId id="1493" r:id="rId54"/>
    <p:sldId id="1473" r:id="rId55"/>
    <p:sldId id="1494" r:id="rId56"/>
    <p:sldId id="1476" r:id="rId57"/>
    <p:sldId id="1495" r:id="rId58"/>
    <p:sldId id="1491" r:id="rId59"/>
    <p:sldId id="1482" r:id="rId60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66"/>
    <a:srgbClr val="A50021"/>
    <a:srgbClr val="000078"/>
    <a:srgbClr val="307EC9"/>
    <a:srgbClr val="68B2E3"/>
    <a:srgbClr val="109EDE"/>
    <a:srgbClr val="67B3E5"/>
    <a:srgbClr val="307DC3"/>
    <a:srgbClr val="2D63C3"/>
    <a:srgbClr val="2C95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78828" autoAdjust="0"/>
  </p:normalViewPr>
  <p:slideViewPr>
    <p:cSldViewPr>
      <p:cViewPr varScale="1">
        <p:scale>
          <a:sx n="68" d="100"/>
          <a:sy n="68" d="100"/>
        </p:scale>
        <p:origin x="830" y="4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1680"/>
    </p:cViewPr>
  </p:sorterViewPr>
  <p:notesViewPr>
    <p:cSldViewPr>
      <p:cViewPr>
        <p:scale>
          <a:sx n="81" d="100"/>
          <a:sy n="81" d="100"/>
        </p:scale>
        <p:origin x="1192" y="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A3342D32-58E9-4211-BE97-B0C4DA1FDFE0}" type="datetimeFigureOut">
              <a:rPr lang="zh-CN" altLang="en-US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CAD971E3-3ED1-491A-A2D7-F911BB3808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7651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F8683A4-79EA-4C8F-8F8E-7AEDDA4FAD9E}" type="datetimeFigureOut">
              <a:rPr lang="zh-CN" altLang="en-US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zh-CN" altLang="en-US" noProof="0"/>
              <a:t>比喻强调了教师知识储备和能力要求，一桶水都不够用，应该是自来水，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11BFF4-1710-4AF3-AE92-5EDA45BDA4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49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342900" indent="-3429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lang="zh-CN" altLang="en-US"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DEE459AD-631C-4859-A2C6-036CD530E7D2}" type="slidenum">
              <a:rPr lang="zh-CN" altLang="en-US" sz="1200">
                <a:latin typeface="+mn-lt"/>
                <a:ea typeface="+mn-ea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zh-CN" altLang="en-US" sz="120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9741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186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017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507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555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089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248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0569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3927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3377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8365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077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980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7204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696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5745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7258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373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4000"/>
              </a:lnSpc>
              <a:spcBef>
                <a:spcPts val="0"/>
              </a:spcBef>
              <a:buFontTx/>
              <a:buNone/>
            </a:pPr>
            <a:r>
              <a:rPr lang="zh-CN" altLang="en-US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优点：布线简单、节点增删容易、成本较低。</a:t>
            </a:r>
          </a:p>
          <a:p>
            <a:pPr eaLnBrk="1" hangingPunct="1">
              <a:lnSpc>
                <a:spcPct val="114000"/>
              </a:lnSpc>
              <a:spcBef>
                <a:spcPts val="0"/>
              </a:spcBef>
              <a:buFontTx/>
              <a:buNone/>
            </a:pPr>
            <a:r>
              <a:rPr lang="zh-CN" altLang="en-US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缺点：竞用总线，容易引起冲突；</a:t>
            </a:r>
            <a:br>
              <a:rPr lang="en-US" altLang="zh-CN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</a:br>
            <a:r>
              <a:rPr lang="en-US" altLang="zh-CN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915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如果节点数过多，则会降低网络的速度</a:t>
            </a:r>
            <a:endParaRPr lang="en-US" altLang="zh-CN" sz="2915" dirty="0">
              <a:solidFill>
                <a:srgbClr val="000066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14000"/>
              </a:lnSpc>
              <a:spcBef>
                <a:spcPts val="0"/>
              </a:spcBef>
              <a:buFontTx/>
              <a:buNone/>
            </a:pPr>
            <a:r>
              <a:rPr lang="en-US" altLang="zh-CN" sz="2915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          </a:t>
            </a:r>
            <a:r>
              <a:rPr lang="zh-CN" altLang="en-US" sz="2915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总线故障影响大且难以检测和排除。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1960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buFontTx/>
              <a:buNone/>
            </a:pPr>
            <a:r>
              <a:rPr lang="zh-CN" altLang="en-US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优点：结构简单、实时性强</a:t>
            </a: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buFontTx/>
              <a:buNone/>
            </a:pPr>
            <a:r>
              <a:rPr lang="zh-CN" altLang="en-US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缺点：增删节点复杂；</a:t>
            </a:r>
          </a:p>
          <a:p>
            <a:pPr marL="0" lvl="1" indent="0" eaLnBrk="1" hangingPunct="1">
              <a:lnSpc>
                <a:spcPct val="114000"/>
              </a:lnSpc>
              <a:spcBef>
                <a:spcPts val="0"/>
              </a:spcBef>
            </a:pPr>
            <a:r>
              <a:rPr lang="zh-CN" altLang="en-US" sz="2915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          故障难以检测和排除。</a:t>
            </a: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buFontTx/>
              <a:buNone/>
            </a:pPr>
            <a:r>
              <a:rPr lang="zh-CN" altLang="en-US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应用：早期的令牌环网和</a:t>
            </a:r>
            <a:r>
              <a:rPr lang="en-US" altLang="zh-CN" sz="2915" b="0" dirty="0" err="1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FDDI</a:t>
            </a:r>
            <a:r>
              <a:rPr lang="zh-CN" altLang="en-US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就是采用环型结构</a:t>
            </a:r>
          </a:p>
          <a:p>
            <a:pPr marL="0" lvl="1" indent="0" eaLnBrk="1" hangingPunct="1">
              <a:lnSpc>
                <a:spcPct val="114000"/>
              </a:lnSpc>
              <a:spcBef>
                <a:spcPts val="0"/>
              </a:spcBef>
            </a:pPr>
            <a:r>
              <a:rPr lang="zh-CN" altLang="en-US" sz="2915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          目前环型拓扑结构主要应用在光纤网中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414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zh-CN" altLang="en-US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优点：结构简单、组网容易、控制相对简单；</a:t>
            </a:r>
            <a:br>
              <a:rPr lang="en-US" altLang="zh-CN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</a:br>
            <a:r>
              <a:rPr lang="en-US" altLang="zh-CN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915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故障影响小且容易检测和排除。</a:t>
            </a:r>
          </a:p>
          <a:p>
            <a:pPr eaLnBrk="1" hangingPunct="1">
              <a:buFontTx/>
              <a:buNone/>
            </a:pPr>
            <a:r>
              <a:rPr lang="zh-CN" altLang="en-US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缺点：电缆数量大，安装工作量可观；</a:t>
            </a:r>
            <a:br>
              <a:rPr lang="en-US" altLang="zh-CN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</a:br>
            <a:r>
              <a:rPr lang="en-US" altLang="zh-CN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915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通信线路利用率低；</a:t>
            </a:r>
            <a:endParaRPr lang="en-US" altLang="zh-CN" sz="2915" dirty="0">
              <a:solidFill>
                <a:srgbClr val="000066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sz="2915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          </a:t>
            </a:r>
            <a:r>
              <a:rPr lang="zh-CN" altLang="en-US" sz="2915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中央节点可靠性要求高，若出现故障，则整个网络瘫痪。</a:t>
            </a:r>
          </a:p>
          <a:p>
            <a:pPr eaLnBrk="1" hangingPunct="1">
              <a:buFontTx/>
              <a:buNone/>
            </a:pPr>
            <a:r>
              <a:rPr lang="zh-CN" altLang="en-US" sz="2915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应用：以太网中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6361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915" b="0" kern="1200" dirty="0">
                <a:solidFill>
                  <a:srgbClr val="000066"/>
                </a:solidFill>
                <a:ea typeface="黑体" panose="02010609060101010101" pitchFamily="49" charset="-122"/>
              </a:rPr>
              <a:t>优点：系统可靠性高</a:t>
            </a:r>
          </a:p>
          <a:p>
            <a:pPr eaLnBrk="1" hangingPunct="1">
              <a:buFontTx/>
              <a:buNone/>
            </a:pPr>
            <a:r>
              <a:rPr lang="zh-CN" altLang="en-US" sz="2915" b="0" kern="1200" dirty="0">
                <a:solidFill>
                  <a:srgbClr val="000066"/>
                </a:solidFill>
                <a:ea typeface="黑体" panose="02010609060101010101" pitchFamily="49" charset="-122"/>
              </a:rPr>
              <a:t>缺点：结构复杂、协议复杂、实现困难、不易扩充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4995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8569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7594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8563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200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以太的含义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200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古希腊：青天或上层大气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200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宇宙学：</a:t>
            </a:r>
            <a:r>
              <a:rPr lang="zh-CN" altLang="en-US" sz="1200" b="0" dirty="0">
                <a:solidFill>
                  <a:srgbClr val="A50021"/>
                </a:solidFill>
                <a:latin typeface="+mn-lt"/>
                <a:ea typeface="黑体" panose="02010609060101010101" pitchFamily="49" charset="-122"/>
              </a:rPr>
              <a:t>假想的充满宇宙的那种像</a:t>
            </a:r>
            <a:r>
              <a:rPr lang="zh-CN" altLang="en-US" sz="1200" b="0" dirty="0">
                <a:solidFill>
                  <a:srgbClr val="A50021"/>
                </a:solidFill>
                <a:ea typeface="黑体" panose="02010609060101010101" pitchFamily="49" charset="-122"/>
              </a:rPr>
              <a:t>空气</a:t>
            </a:r>
            <a:r>
              <a:rPr lang="zh-CN" altLang="en-US" sz="1200" b="0" dirty="0">
                <a:solidFill>
                  <a:srgbClr val="A50021"/>
                </a:solidFill>
                <a:latin typeface="+mn-lt"/>
                <a:ea typeface="黑体" panose="02010609060101010101" pitchFamily="49" charset="-122"/>
              </a:rPr>
              <a:t>一样的介质，而正是这种介质电磁波才得以传播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200" b="0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计算机网络：</a:t>
            </a:r>
            <a:r>
              <a:rPr lang="zh-CN" altLang="en-US" sz="1200" b="0" dirty="0">
                <a:solidFill>
                  <a:srgbClr val="A50021"/>
                </a:solidFill>
                <a:latin typeface="+mn-lt"/>
                <a:ea typeface="黑体" panose="02010609060101010101" pitchFamily="49" charset="-122"/>
              </a:rPr>
              <a:t>采用共享总线型传输媒体方式的局域网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9081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4851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0560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7445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8023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4252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00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3829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5354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6650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4646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1694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769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80371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200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0319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8473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7990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2505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378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34089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48441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46535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927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63496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2935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物联网：</a:t>
            </a:r>
            <a:r>
              <a:rPr lang="zh-CN" altLang="zh-CN" sz="12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互联网的延伸与扩展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2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物物相连的互联网</a:t>
            </a:r>
            <a:r>
              <a:rPr lang="en-US" altLang="zh-CN" sz="12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节能系统 </a:t>
            </a:r>
            <a:endParaRPr lang="en-US" altLang="zh-CN" dirty="0"/>
          </a:p>
          <a:p>
            <a:r>
              <a:rPr lang="zh-CN" altLang="en-US" dirty="0"/>
              <a:t>双网覆盖：有线网络和无线网络对校园进行全面覆盖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8833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7666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70787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54174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76326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48773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06085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266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333593"/>
            <a:ext cx="9144000" cy="809907"/>
          </a:xfrm>
          <a:prstGeom prst="rect">
            <a:avLst/>
          </a:prstGeom>
          <a:pattFill prst="trellis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1" y="0"/>
            <a:ext cx="7308304" cy="809907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1719071"/>
            <a:ext cx="7572375" cy="1664768"/>
          </a:xfrm>
          <a:noFill/>
        </p:spPr>
        <p:txBody>
          <a:bodyPr rtlCol="0" anchor="ctr">
            <a:normAutofit/>
          </a:bodyPr>
          <a:lstStyle>
            <a:lvl1pPr algn="l" rtl="0">
              <a:defRPr sz="33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4" y="3383838"/>
            <a:ext cx="7572376" cy="716674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/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DDEE976-CBFF-49D3-8E31-CE66B8C964FA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27566407-BE89-4246-9C3D-F9E99FBFFAE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932" y="-142607"/>
            <a:ext cx="2066286" cy="206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41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A86003DB-DD92-4BDE-971E-EAFA1A0CB53D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B4205A9-C0CE-4DC9-9155-50A1457D6FD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30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4234133"/>
            <a:ext cx="9144000" cy="47344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911678"/>
            <a:ext cx="9144000" cy="47344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4333593"/>
            <a:ext cx="9144000" cy="809907"/>
          </a:xfrm>
          <a:prstGeom prst="rect">
            <a:avLst/>
          </a:prstGeom>
          <a:pattFill prst="trellis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0"/>
            <a:ext cx="8131628" cy="887708"/>
          </a:xfrm>
          <a:prstGeom prst="rect">
            <a:avLst/>
          </a:prstGeom>
          <a:pattFill prst="ltUpDiag">
            <a:fgClr>
              <a:srgbClr val="00206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1719071"/>
            <a:ext cx="4300538" cy="1664768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5" y="3383838"/>
            <a:ext cx="4300538" cy="716674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4410" y="0"/>
            <a:ext cx="1310643" cy="171907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5235798" y="982992"/>
            <a:ext cx="3908203" cy="3156453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9258300" y="0"/>
            <a:ext cx="971550" cy="51435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zh-CN" altLang="en-US" sz="9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注意：</a:t>
            </a:r>
          </a:p>
          <a:p>
            <a:pPr rtl="0"/>
            <a:r>
              <a:rPr lang="zh-CN" altLang="en-US" sz="9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  <p:pic>
        <p:nvPicPr>
          <p:cNvPr id="20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771" y="-47709"/>
            <a:ext cx="1002388" cy="10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2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1885951"/>
            <a:ext cx="9144000" cy="2395526"/>
            <a:chOff x="647402" y="2514600"/>
            <a:chExt cx="10838688" cy="3194035"/>
          </a:xfrm>
          <a:solidFill>
            <a:schemeClr val="tx1">
              <a:lumMod val="65000"/>
              <a:lumOff val="35000"/>
            </a:schemeClr>
          </a:solidFill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  <a:grpFill/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grpFill/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grpFill/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  <a:grpFill/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grpFill/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grpFill/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675" y="2228854"/>
            <a:ext cx="7553324" cy="1263113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3491967"/>
            <a:ext cx="7553324" cy="382313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l" rtl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02F2924-743E-4ADA-B3BE-10F8DB534DC0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BE1A241-BED9-42F2-A6A9-D7B384B8D295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10" y="0"/>
            <a:ext cx="1337391" cy="2228855"/>
          </a:xfrm>
          <a:prstGeom prst="rect">
            <a:avLst/>
          </a:prstGeom>
        </p:spPr>
      </p:pic>
      <p:pic>
        <p:nvPicPr>
          <p:cNvPr id="16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613" y="-24685"/>
            <a:ext cx="1002388" cy="10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91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8675" y="1200151"/>
            <a:ext cx="3686175" cy="3428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00151"/>
            <a:ext cx="3686175" cy="3428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084BB1D3-3A81-414D-B0C6-5281BC948F4B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9E8A47D-0AB1-4744-95A8-39E7A180AC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17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200151"/>
            <a:ext cx="3689604" cy="617933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8675" y="1818084"/>
            <a:ext cx="3689604" cy="2811066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4583" y="1200151"/>
            <a:ext cx="3689604" cy="617933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4583" y="1818084"/>
            <a:ext cx="3689604" cy="2811066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957CC2E-BA7D-44E8-8543-A2388C7C6ED5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B1D184D-5C9D-41E8-9FD9-B6823935AD2C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63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9376702-95FB-4BA7-A05A-8C3261398C11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4B08C6E5-0368-4EF4-A482-B7C01F5ADC8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85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159572A-820F-4ACF-9D42-32F74E11D922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8E1DCD51-4692-4631-91E0-6E3FCC30005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63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32" y="193932"/>
            <a:ext cx="3820668" cy="498022"/>
          </a:xfrm>
        </p:spPr>
        <p:txBody>
          <a:bodyPr rtlCol="0" anchor="b"/>
          <a:lstStyle>
            <a:lvl1pPr algn="l" rtl="0">
              <a:defRPr sz="2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31386" y="1200150"/>
            <a:ext cx="4083939" cy="3429001"/>
          </a:xfrm>
        </p:spPr>
        <p:txBody>
          <a:bodyPr rtlCol="0">
            <a:normAutofit/>
          </a:bodyPr>
          <a:lstStyle>
            <a:lvl1pPr algn="l" rtl="0">
              <a:defRPr sz="1500"/>
            </a:lvl1pPr>
            <a:lvl2pPr algn="l" rtl="0">
              <a:defRPr sz="1200"/>
            </a:lvl2pPr>
            <a:lvl3pPr algn="l" rtl="0">
              <a:defRPr sz="1200"/>
            </a:lvl3pPr>
            <a:lvl4pPr algn="l" rtl="0">
              <a:defRPr sz="1050"/>
            </a:lvl4pPr>
            <a:lvl5pPr algn="l" rtl="0">
              <a:defRPr sz="1050"/>
            </a:lvl5pPr>
            <a:lvl6pPr algn="l" rtl="0">
              <a:defRPr sz="1050"/>
            </a:lvl6pPr>
            <a:lvl7pPr algn="l" rtl="0">
              <a:defRPr sz="1050"/>
            </a:lvl7pPr>
            <a:lvl8pPr algn="l" rtl="0">
              <a:defRPr sz="1050"/>
            </a:lvl8pPr>
            <a:lvl9pPr algn="l" rtl="0">
              <a:defRPr sz="105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200150"/>
            <a:ext cx="3288411" cy="3429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82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91003" y="1200150"/>
            <a:ext cx="4823184" cy="3429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2100"/>
            </a:lvl2pPr>
            <a:lvl3pPr marL="685800" indent="0" algn="l" rtl="0">
              <a:buNone/>
              <a:defRPr sz="1800"/>
            </a:lvl3pPr>
            <a:lvl4pPr marL="1028700" indent="0" algn="l" rtl="0">
              <a:buNone/>
              <a:defRPr sz="1500"/>
            </a:lvl4pPr>
            <a:lvl5pPr marL="1371600" indent="0" algn="l" rtl="0">
              <a:buNone/>
              <a:defRPr sz="1500"/>
            </a:lvl5pPr>
            <a:lvl6pPr marL="1714500" indent="0" algn="l" rtl="0">
              <a:buNone/>
              <a:defRPr sz="1500"/>
            </a:lvl6pPr>
            <a:lvl7pPr marL="2057400" indent="0" algn="l" rtl="0">
              <a:buNone/>
              <a:defRPr sz="1500"/>
            </a:lvl7pPr>
            <a:lvl8pPr marL="2400300" indent="0" algn="l" rtl="0">
              <a:buNone/>
              <a:defRPr sz="1500"/>
            </a:lvl8pPr>
            <a:lvl9pPr marL="2743200" indent="0" algn="l" rtl="0">
              <a:buNone/>
              <a:defRPr sz="15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200150"/>
            <a:ext cx="2547747" cy="3429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08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13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7029450" y="273844"/>
            <a:ext cx="1285875" cy="4358879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8675" y="273844"/>
            <a:ext cx="6074172" cy="4358879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5FB8457-19A9-4A8A-A8FF-B4BB33699748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50FB4B70-985E-49BB-AC52-476E4B0A283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7" name="组 6"/>
          <p:cNvGrpSpPr/>
          <p:nvPr/>
        </p:nvGrpSpPr>
        <p:grpSpPr>
          <a:xfrm rot="5400000">
            <a:off x="4885535" y="2421633"/>
            <a:ext cx="4224528" cy="63302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376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-1"/>
            <a:ext cx="8141612" cy="914401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27532" y="193932"/>
            <a:ext cx="3590925" cy="498022"/>
          </a:xfrm>
          <a:prstGeom prst="rect">
            <a:avLst/>
          </a:prstGeom>
          <a:solidFill>
            <a:srgbClr val="C00000"/>
          </a:solidFill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200150"/>
            <a:ext cx="7486650" cy="3429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28675" y="4767264"/>
            <a:ext cx="1372169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00844" y="4767262"/>
            <a:ext cx="4742312" cy="27384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42587" y="4767264"/>
            <a:ext cx="13716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15" name="组 14"/>
          <p:cNvGrpSpPr/>
          <p:nvPr/>
        </p:nvGrpSpPr>
        <p:grpSpPr>
          <a:xfrm>
            <a:off x="631588" y="914401"/>
            <a:ext cx="7488936" cy="63302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613" y="-24685"/>
            <a:ext cx="1002388" cy="10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24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9" r:id="rId1"/>
    <p:sldLayoutId id="2147485100" r:id="rId2"/>
    <p:sldLayoutId id="2147485101" r:id="rId3"/>
    <p:sldLayoutId id="2147485102" r:id="rId4"/>
    <p:sldLayoutId id="2147485103" r:id="rId5"/>
    <p:sldLayoutId id="2147485104" r:id="rId6"/>
    <p:sldLayoutId id="2147485105" r:id="rId7"/>
    <p:sldLayoutId id="2147485106" r:id="rId8"/>
    <p:sldLayoutId id="2147485107" r:id="rId9"/>
    <p:sldLayoutId id="2147485108" r:id="rId10"/>
    <p:sldLayoutId id="2147485109" r:id="rId11"/>
    <p:sldLayoutId id="214748511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1350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4.e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8.jpeg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22.png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microsoft.com/office/2007/relationships/hdphoto" Target="../media/hdphoto3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microsoft.com/office/2007/relationships/hdphoto" Target="../media/hdphoto2.wdp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eg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/>
          </p:cNvSpPr>
          <p:nvPr/>
        </p:nvSpPr>
        <p:spPr bwMode="auto">
          <a:xfrm>
            <a:off x="1" y="1563638"/>
            <a:ext cx="8964487" cy="72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2438" lvl="1" indent="-58738"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18" charset="2"/>
              <a:buNone/>
            </a:pP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9592" y="1203598"/>
            <a:ext cx="6263605" cy="2016224"/>
          </a:xfrm>
          <a:solidFill>
            <a:srgbClr val="C00000"/>
          </a:solidFill>
        </p:spPr>
        <p:txBody>
          <a:bodyPr lIns="288000" tIns="252000">
            <a:noAutofit/>
          </a:bodyPr>
          <a:lstStyle/>
          <a:p>
            <a:pPr lvl="1" algn="l" defTabSz="685800" rtl="0">
              <a:lnSpc>
                <a:spcPct val="15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大学计算机</a:t>
            </a:r>
            <a:br>
              <a:rPr lang="en-US" altLang="zh-CN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——</a:t>
            </a:r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计算机网络基础与物联网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副标题 2"/>
          <p:cNvSpPr>
            <a:spLocks noGrp="1"/>
          </p:cNvSpPr>
          <p:nvPr>
            <p:ph type="subTitle" idx="1"/>
          </p:nvPr>
        </p:nvSpPr>
        <p:spPr>
          <a:xfrm>
            <a:off x="3275856" y="3723878"/>
            <a:ext cx="3888432" cy="432048"/>
          </a:xfrm>
        </p:spPr>
        <p:txBody>
          <a:bodyPr>
            <a:normAutofit/>
          </a:bodyPr>
          <a:lstStyle/>
          <a:p>
            <a:pPr marL="63500" algn="r"/>
            <a:r>
              <a:rPr lang="zh-CN" altLang="en-US" sz="2400" dirty="0">
                <a:solidFill>
                  <a:srgbClr val="000066"/>
                </a:solidFill>
              </a:rPr>
              <a:t>同济大学计算机基础教研室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计算机网络基础与物联网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43808" y="1419622"/>
            <a:ext cx="3744416" cy="2448272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一、局域网</a:t>
            </a:r>
            <a:endParaRPr lang="en-US" altLang="zh-CN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二、计算机网络基本知识</a:t>
            </a:r>
            <a:endParaRPr lang="en-US" altLang="zh-CN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三、互联网</a:t>
            </a:r>
            <a:endParaRPr lang="en-US" altLang="zh-CN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四、物联网</a:t>
            </a:r>
            <a:endParaRPr lang="en-US" altLang="zh-CN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38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6984773" cy="8186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引例：将几台电脑连接起来，组建成一个简单的局域网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）使用交换机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252ABD8-6B54-4097-B150-02C67F69E667}"/>
              </a:ext>
            </a:extLst>
          </p:cNvPr>
          <p:cNvCxnSpPr/>
          <p:nvPr/>
        </p:nvCxnSpPr>
        <p:spPr bwMode="auto">
          <a:xfrm>
            <a:off x="2748688" y="2118384"/>
            <a:ext cx="0" cy="7350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0458747-1C15-4FFF-A658-6347CC005DB6}"/>
              </a:ext>
            </a:extLst>
          </p:cNvPr>
          <p:cNvCxnSpPr/>
          <p:nvPr/>
        </p:nvCxnSpPr>
        <p:spPr bwMode="auto">
          <a:xfrm>
            <a:off x="3091302" y="2093001"/>
            <a:ext cx="0" cy="105011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91720C7-AA68-4B99-8C1D-103260F793C6}"/>
              </a:ext>
            </a:extLst>
          </p:cNvPr>
          <p:cNvCxnSpPr/>
          <p:nvPr/>
        </p:nvCxnSpPr>
        <p:spPr bwMode="auto">
          <a:xfrm>
            <a:off x="3440448" y="2147201"/>
            <a:ext cx="0" cy="7350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25F24AF-EA8B-4133-AB89-701B3ADA1E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255603"/>
              </p:ext>
            </p:extLst>
          </p:nvPr>
        </p:nvGraphicFramePr>
        <p:xfrm>
          <a:off x="2660244" y="1779662"/>
          <a:ext cx="1037757" cy="735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600200" imgH="1133475" progId="Visio.Drawing.11">
                  <p:embed/>
                </p:oleObj>
              </mc:Choice>
              <mc:Fallback>
                <p:oleObj name="Visio" r:id="rId3" imgW="1600200" imgH="1133475" progId="Visio.Drawing.11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25F24AF-EA8B-4133-AB89-701B3ADA1E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244" y="1779662"/>
                        <a:ext cx="1037757" cy="735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9C331DE-CA58-4CB5-8171-CBF6881B7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961587"/>
              </p:ext>
            </p:extLst>
          </p:nvPr>
        </p:nvGraphicFramePr>
        <p:xfrm>
          <a:off x="2732748" y="3150647"/>
          <a:ext cx="840321" cy="99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57275" imgH="1238250" progId="Visio.Drawing.11">
                  <p:embed/>
                </p:oleObj>
              </mc:Choice>
              <mc:Fallback>
                <p:oleObj name="Visio" r:id="rId5" imgW="1057275" imgH="1238250" progId="Visio.Drawing.11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9C331DE-CA58-4CB5-8171-CBF6881B73F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748" y="3150647"/>
                        <a:ext cx="840321" cy="99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C2BB695-70D1-4C39-9E9B-ECD48222DCC4}"/>
              </a:ext>
            </a:extLst>
          </p:cNvPr>
          <p:cNvCxnSpPr>
            <a:cxnSpLocks/>
          </p:cNvCxnSpPr>
          <p:nvPr/>
        </p:nvCxnSpPr>
        <p:spPr bwMode="auto">
          <a:xfrm>
            <a:off x="3440447" y="2882283"/>
            <a:ext cx="12065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0D13106-0F86-4801-95AB-08B462C986B1}"/>
              </a:ext>
            </a:extLst>
          </p:cNvPr>
          <p:cNvCxnSpPr>
            <a:cxnSpLocks/>
          </p:cNvCxnSpPr>
          <p:nvPr/>
        </p:nvCxnSpPr>
        <p:spPr bwMode="auto">
          <a:xfrm>
            <a:off x="1694635" y="2853466"/>
            <a:ext cx="10555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CF3C4A5-3676-419D-8128-F12D14133A20}"/>
              </a:ext>
            </a:extLst>
          </p:cNvPr>
          <p:cNvCxnSpPr/>
          <p:nvPr/>
        </p:nvCxnSpPr>
        <p:spPr bwMode="auto">
          <a:xfrm>
            <a:off x="4646963" y="2882283"/>
            <a:ext cx="0" cy="420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8345438-EDF3-4D14-9F20-8B520B696D83}"/>
              </a:ext>
            </a:extLst>
          </p:cNvPr>
          <p:cNvCxnSpPr/>
          <p:nvPr/>
        </p:nvCxnSpPr>
        <p:spPr bwMode="auto">
          <a:xfrm>
            <a:off x="1694635" y="2853466"/>
            <a:ext cx="0" cy="26252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6C50CCB-D386-430D-8C8D-BEF9C2232234}"/>
              </a:ext>
            </a:extLst>
          </p:cNvPr>
          <p:cNvSpPr txBox="1"/>
          <p:nvPr/>
        </p:nvSpPr>
        <p:spPr>
          <a:xfrm>
            <a:off x="1043608" y="3901422"/>
            <a:ext cx="115929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192.168.0.1</a:t>
            </a:r>
            <a:endParaRPr lang="zh-CN" altLang="en-US" sz="16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TextBox 31">
            <a:extLst>
              <a:ext uri="{FF2B5EF4-FFF2-40B4-BE49-F238E27FC236}">
                <a16:creationId xmlns:a16="http://schemas.microsoft.com/office/drawing/2014/main" id="{68A39FEC-85A6-4A24-BF77-4C56E24D0020}"/>
              </a:ext>
            </a:extLst>
          </p:cNvPr>
          <p:cNvSpPr txBox="1"/>
          <p:nvPr/>
        </p:nvSpPr>
        <p:spPr>
          <a:xfrm>
            <a:off x="3978305" y="3916523"/>
            <a:ext cx="115929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192.168.0.3</a:t>
            </a:r>
            <a:endParaRPr lang="zh-CN" altLang="en-US" sz="16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TextBox 32">
            <a:extLst>
              <a:ext uri="{FF2B5EF4-FFF2-40B4-BE49-F238E27FC236}">
                <a16:creationId xmlns:a16="http://schemas.microsoft.com/office/drawing/2014/main" id="{0E6E49D8-2D8F-4679-870B-F0C2EA573C45}"/>
              </a:ext>
            </a:extLst>
          </p:cNvPr>
          <p:cNvSpPr txBox="1"/>
          <p:nvPr/>
        </p:nvSpPr>
        <p:spPr>
          <a:xfrm>
            <a:off x="2554655" y="3905369"/>
            <a:ext cx="115929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192.168.0.2</a:t>
            </a:r>
            <a:endParaRPr lang="zh-CN" altLang="en-US" sz="16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TextBox 33">
            <a:extLst>
              <a:ext uri="{FF2B5EF4-FFF2-40B4-BE49-F238E27FC236}">
                <a16:creationId xmlns:a16="http://schemas.microsoft.com/office/drawing/2014/main" id="{0971FC7D-E0A1-450D-9F54-1BE1B76B3CFB}"/>
              </a:ext>
            </a:extLst>
          </p:cNvPr>
          <p:cNvSpPr txBox="1"/>
          <p:nvPr/>
        </p:nvSpPr>
        <p:spPr>
          <a:xfrm>
            <a:off x="3275856" y="1779830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交换机</a:t>
            </a:r>
          </a:p>
        </p:txBody>
      </p:sp>
      <p:sp>
        <p:nvSpPr>
          <p:cNvPr id="19" name="TextBox 34">
            <a:extLst>
              <a:ext uri="{FF2B5EF4-FFF2-40B4-BE49-F238E27FC236}">
                <a16:creationId xmlns:a16="http://schemas.microsoft.com/office/drawing/2014/main" id="{2EBBA3D5-52CF-4B60-9C02-DF095773C54A}"/>
              </a:ext>
            </a:extLst>
          </p:cNvPr>
          <p:cNvSpPr txBox="1"/>
          <p:nvPr/>
        </p:nvSpPr>
        <p:spPr>
          <a:xfrm>
            <a:off x="1860024" y="2468637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网络线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2AD76F1-B8FE-46DE-A6C9-27F0EC2545EC}"/>
              </a:ext>
            </a:extLst>
          </p:cNvPr>
          <p:cNvSpPr>
            <a:spLocks noChangeAspect="1"/>
          </p:cNvSpPr>
          <p:nvPr/>
        </p:nvSpPr>
        <p:spPr bwMode="auto">
          <a:xfrm>
            <a:off x="7048564" y="3542887"/>
            <a:ext cx="514121" cy="51412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3350" tIns="66675" rIns="133350" bIns="66675" numCol="1" rtlCol="0" anchor="t" anchorCtr="0" compatLnSpc="1"/>
          <a:lstStyle/>
          <a:p>
            <a:pPr marL="0" marR="0" indent="0" algn="ctr" defTabSz="13061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C0B1AC2F-251A-4C02-A8F0-F813BFF282DA}"/>
              </a:ext>
            </a:extLst>
          </p:cNvPr>
          <p:cNvSpPr>
            <a:spLocks noChangeAspect="1"/>
          </p:cNvSpPr>
          <p:nvPr/>
        </p:nvSpPr>
        <p:spPr bwMode="auto">
          <a:xfrm>
            <a:off x="6415827" y="2975417"/>
            <a:ext cx="316413" cy="316413"/>
          </a:xfrm>
          <a:prstGeom prst="ellipse">
            <a:avLst/>
          </a:prstGeom>
          <a:noFill/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3350" tIns="66675" rIns="133350" bIns="66675" numCol="1" rtlCol="0" anchor="t" anchorCtr="0" compatLnSpc="1"/>
          <a:lstStyle/>
          <a:p>
            <a:pPr marL="0" marR="0" indent="0" algn="ctr" defTabSz="13061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FF05F17-87E1-4D4B-9515-0DA81795708F}"/>
              </a:ext>
            </a:extLst>
          </p:cNvPr>
          <p:cNvSpPr>
            <a:spLocks noChangeAspect="1"/>
          </p:cNvSpPr>
          <p:nvPr/>
        </p:nvSpPr>
        <p:spPr bwMode="auto">
          <a:xfrm flipH="1" flipV="1">
            <a:off x="7123855" y="4480640"/>
            <a:ext cx="376281" cy="376281"/>
          </a:xfrm>
          <a:prstGeom prst="ellipse">
            <a:avLst/>
          </a:prstGeom>
          <a:noFill/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3350" tIns="66675" rIns="133350" bIns="66675" numCol="1" rtlCol="0" anchor="t" anchorCtr="0" compatLnSpc="1"/>
          <a:lstStyle/>
          <a:p>
            <a:pPr marL="0" marR="0" indent="0" algn="ctr" defTabSz="13061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E469543-B018-4E88-BCDF-4DB67D1CFF58}"/>
              </a:ext>
            </a:extLst>
          </p:cNvPr>
          <p:cNvSpPr>
            <a:spLocks noChangeAspect="1"/>
          </p:cNvSpPr>
          <p:nvPr/>
        </p:nvSpPr>
        <p:spPr bwMode="auto">
          <a:xfrm>
            <a:off x="7879408" y="2951207"/>
            <a:ext cx="316413" cy="316413"/>
          </a:xfrm>
          <a:prstGeom prst="ellipse">
            <a:avLst/>
          </a:prstGeom>
          <a:noFill/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3350" tIns="66675" rIns="133350" bIns="66675" numCol="1" rtlCol="0" anchor="t" anchorCtr="0" compatLnSpc="1"/>
          <a:lstStyle/>
          <a:p>
            <a:pPr marL="0" marR="0" indent="0" algn="ctr" defTabSz="13061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A29C16C-B1DB-4F0E-8FB1-308E686C275E}"/>
              </a:ext>
            </a:extLst>
          </p:cNvPr>
          <p:cNvCxnSpPr>
            <a:cxnSpLocks/>
            <a:stCxn id="24" idx="3"/>
            <a:endCxn id="20" idx="7"/>
          </p:cNvCxnSpPr>
          <p:nvPr/>
        </p:nvCxnSpPr>
        <p:spPr bwMode="auto">
          <a:xfrm flipH="1">
            <a:off x="7487394" y="3221282"/>
            <a:ext cx="438352" cy="3968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2792DE2-C425-4FE2-B7B8-0FD55A879ED9}"/>
              </a:ext>
            </a:extLst>
          </p:cNvPr>
          <p:cNvCxnSpPr>
            <a:cxnSpLocks/>
            <a:stCxn id="21" idx="5"/>
            <a:endCxn id="20" idx="1"/>
          </p:cNvCxnSpPr>
          <p:nvPr/>
        </p:nvCxnSpPr>
        <p:spPr bwMode="auto">
          <a:xfrm>
            <a:off x="6685902" y="3245492"/>
            <a:ext cx="437953" cy="37268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6DDF89D-A737-4986-AAD2-03D652C625CC}"/>
              </a:ext>
            </a:extLst>
          </p:cNvPr>
          <p:cNvCxnSpPr>
            <a:cxnSpLocks/>
            <a:stCxn id="20" idx="4"/>
            <a:endCxn id="23" idx="4"/>
          </p:cNvCxnSpPr>
          <p:nvPr/>
        </p:nvCxnSpPr>
        <p:spPr bwMode="auto">
          <a:xfrm>
            <a:off x="7305625" y="4057008"/>
            <a:ext cx="6370" cy="423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TextBox 63">
            <a:extLst>
              <a:ext uri="{FF2B5EF4-FFF2-40B4-BE49-F238E27FC236}">
                <a16:creationId xmlns:a16="http://schemas.microsoft.com/office/drawing/2014/main" id="{B70132CB-50EC-46DC-BA90-63CD452E0BF8}"/>
              </a:ext>
            </a:extLst>
          </p:cNvPr>
          <p:cNvSpPr txBox="1"/>
          <p:nvPr/>
        </p:nvSpPr>
        <p:spPr>
          <a:xfrm>
            <a:off x="6127491" y="3660717"/>
            <a:ext cx="100540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中央设备</a:t>
            </a: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8D55C749-0BFA-4F3F-9726-1224A550F6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420377"/>
              </p:ext>
            </p:extLst>
          </p:nvPr>
        </p:nvGraphicFramePr>
        <p:xfrm>
          <a:off x="4193837" y="3150647"/>
          <a:ext cx="840321" cy="99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57275" imgH="1238250" progId="Visio.Drawing.11">
                  <p:embed/>
                </p:oleObj>
              </mc:Choice>
              <mc:Fallback>
                <p:oleObj name="Visio" r:id="rId5" imgW="1057275" imgH="1238250" progId="Visio.Drawing.11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8D55C749-0BFA-4F3F-9726-1224A550F61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3837" y="3150647"/>
                        <a:ext cx="840321" cy="99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3F8FA7B0-8CEE-4CA4-BD55-E93FAEC61C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766005"/>
              </p:ext>
            </p:extLst>
          </p:nvPr>
        </p:nvGraphicFramePr>
        <p:xfrm>
          <a:off x="1270932" y="3150647"/>
          <a:ext cx="840321" cy="99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57275" imgH="1238250" progId="Visio.Drawing.11">
                  <p:embed/>
                </p:oleObj>
              </mc:Choice>
              <mc:Fallback>
                <p:oleObj name="Visio" r:id="rId5" imgW="1057275" imgH="1238250" progId="Visio.Drawing.11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3F8FA7B0-8CEE-4CA4-BD55-E93FAEC61CE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932" y="3150647"/>
                        <a:ext cx="840321" cy="99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F1FC889D-C5D6-4952-A57A-2DBA9A4D38F2}"/>
              </a:ext>
            </a:extLst>
          </p:cNvPr>
          <p:cNvSpPr txBox="1">
            <a:spLocks/>
          </p:cNvSpPr>
          <p:nvPr/>
        </p:nvSpPr>
        <p:spPr>
          <a:xfrm>
            <a:off x="5184781" y="1563638"/>
            <a:ext cx="3901804" cy="112775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以太网：有线局域网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对等网：每一台计算机既是服务器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又是客户机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星形结构：连接到中央设备</a:t>
            </a:r>
            <a:endParaRPr lang="en-US" altLang="zh-CN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291BE46-1D99-45DC-96A7-941DAFEC6F5F}"/>
              </a:ext>
            </a:extLst>
          </p:cNvPr>
          <p:cNvSpPr/>
          <p:nvPr/>
        </p:nvSpPr>
        <p:spPr>
          <a:xfrm>
            <a:off x="1134234" y="4502458"/>
            <a:ext cx="4103823" cy="584775"/>
          </a:xfrm>
          <a:prstGeom prst="rect">
            <a:avLst/>
          </a:prstGeom>
          <a:ln w="19050"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服务器：为整个网络提供共享资源和服务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客户机：向网络提出服务请求</a:t>
            </a:r>
          </a:p>
        </p:txBody>
      </p:sp>
      <p:sp>
        <p:nvSpPr>
          <p:cNvPr id="60" name="TextBox 64">
            <a:extLst>
              <a:ext uri="{FF2B5EF4-FFF2-40B4-BE49-F238E27FC236}">
                <a16:creationId xmlns:a16="http://schemas.microsoft.com/office/drawing/2014/main" id="{26893809-3641-4D5E-BCC3-4DC05DD576F8}"/>
              </a:ext>
            </a:extLst>
          </p:cNvPr>
          <p:cNvSpPr txBox="1"/>
          <p:nvPr/>
        </p:nvSpPr>
        <p:spPr>
          <a:xfrm>
            <a:off x="6904736" y="4825484"/>
            <a:ext cx="81304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1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1" name="TextBox 64">
            <a:extLst>
              <a:ext uri="{FF2B5EF4-FFF2-40B4-BE49-F238E27FC236}">
                <a16:creationId xmlns:a16="http://schemas.microsoft.com/office/drawing/2014/main" id="{0FD644AB-544B-4731-B044-64F9B8F6B3FB}"/>
              </a:ext>
            </a:extLst>
          </p:cNvPr>
          <p:cNvSpPr txBox="1"/>
          <p:nvPr/>
        </p:nvSpPr>
        <p:spPr>
          <a:xfrm>
            <a:off x="6167246" y="2704762"/>
            <a:ext cx="81304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1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TextBox 64">
            <a:extLst>
              <a:ext uri="{FF2B5EF4-FFF2-40B4-BE49-F238E27FC236}">
                <a16:creationId xmlns:a16="http://schemas.microsoft.com/office/drawing/2014/main" id="{A28A3F90-74F7-469F-A8D0-3A2D3511255F}"/>
              </a:ext>
            </a:extLst>
          </p:cNvPr>
          <p:cNvSpPr txBox="1"/>
          <p:nvPr/>
        </p:nvSpPr>
        <p:spPr>
          <a:xfrm>
            <a:off x="7647389" y="2696021"/>
            <a:ext cx="81304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1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78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 bldLvl="0" animBg="1"/>
      <p:bldP spid="21" grpId="0" bldLvl="0" animBg="1"/>
      <p:bldP spid="23" grpId="0" bldLvl="0" animBg="1"/>
      <p:bldP spid="24" grpId="0" bldLvl="0" animBg="1"/>
      <p:bldP spid="29" grpId="0"/>
      <p:bldP spid="60" grpId="0"/>
      <p:bldP spid="61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37EBB3F-0CD5-4225-B5EF-EEB2325AF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514" y="3183092"/>
            <a:ext cx="1305807" cy="80695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7488833" cy="100991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引例：将几台电脑连接起来，组建成一个简单的局域网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）使用无线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组建局域网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无线局域网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Picture 11">
            <a:extLst>
              <a:ext uri="{FF2B5EF4-FFF2-40B4-BE49-F238E27FC236}">
                <a16:creationId xmlns:a16="http://schemas.microsoft.com/office/drawing/2014/main" id="{24B1CDB2-EC1D-4CC6-B806-B14390C48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953" y="4457985"/>
            <a:ext cx="668916" cy="64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17">
            <a:extLst>
              <a:ext uri="{FF2B5EF4-FFF2-40B4-BE49-F238E27FC236}">
                <a16:creationId xmlns:a16="http://schemas.microsoft.com/office/drawing/2014/main" id="{85CAC10B-A3A4-41C9-96D9-99F85ED09E54}"/>
              </a:ext>
            </a:extLst>
          </p:cNvPr>
          <p:cNvSpPr txBox="1"/>
          <p:nvPr/>
        </p:nvSpPr>
        <p:spPr>
          <a:xfrm>
            <a:off x="5689020" y="3651373"/>
            <a:ext cx="1011672" cy="458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无线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17DCEE0F-F168-42BD-8004-689069BF8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624703" flipV="1">
            <a:off x="3872279" y="4123218"/>
            <a:ext cx="1304213" cy="310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11">
            <a:extLst>
              <a:ext uri="{FF2B5EF4-FFF2-40B4-BE49-F238E27FC236}">
                <a16:creationId xmlns:a16="http://schemas.microsoft.com/office/drawing/2014/main" id="{12349487-10EE-4B71-ABEF-729FB3A79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263" y="2289553"/>
            <a:ext cx="668916" cy="64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11">
            <a:extLst>
              <a:ext uri="{FF2B5EF4-FFF2-40B4-BE49-F238E27FC236}">
                <a16:creationId xmlns:a16="http://schemas.microsoft.com/office/drawing/2014/main" id="{E261088B-024B-4CA2-A85B-D087D3B7E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638" y="1779751"/>
            <a:ext cx="668916" cy="64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Picture 2">
            <a:extLst>
              <a:ext uri="{FF2B5EF4-FFF2-40B4-BE49-F238E27FC236}">
                <a16:creationId xmlns:a16="http://schemas.microsoft.com/office/drawing/2014/main" id="{6ACFD421-B412-4CAF-BC5A-64CF0F8E7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69725" flipV="1">
            <a:off x="3792037" y="2983919"/>
            <a:ext cx="1100259" cy="32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18">
            <a:extLst>
              <a:ext uri="{FF2B5EF4-FFF2-40B4-BE49-F238E27FC236}">
                <a16:creationId xmlns:a16="http://schemas.microsoft.com/office/drawing/2014/main" id="{FAEE08FC-5BBD-430D-A58B-BFB9188576ED}"/>
              </a:ext>
            </a:extLst>
          </p:cNvPr>
          <p:cNvSpPr txBox="1"/>
          <p:nvPr/>
        </p:nvSpPr>
        <p:spPr>
          <a:xfrm>
            <a:off x="6114877" y="2270394"/>
            <a:ext cx="104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无线网卡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标配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170C9415-C322-4580-8CB1-03DE456183F7}"/>
              </a:ext>
            </a:extLst>
          </p:cNvPr>
          <p:cNvSpPr txBox="1"/>
          <p:nvPr/>
        </p:nvSpPr>
        <p:spPr>
          <a:xfrm>
            <a:off x="2572209" y="2212159"/>
            <a:ext cx="104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无线网卡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标配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BE98F889-7177-4E8E-BF7F-5D28E4D41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495493" flipV="1">
            <a:off x="5131620" y="2752361"/>
            <a:ext cx="1158599" cy="32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20">
            <a:extLst>
              <a:ext uri="{FF2B5EF4-FFF2-40B4-BE49-F238E27FC236}">
                <a16:creationId xmlns:a16="http://schemas.microsoft.com/office/drawing/2014/main" id="{EC231498-30D2-4445-ADAB-4A899876E296}"/>
              </a:ext>
            </a:extLst>
          </p:cNvPr>
          <p:cNvSpPr txBox="1"/>
          <p:nvPr/>
        </p:nvSpPr>
        <p:spPr>
          <a:xfrm>
            <a:off x="5689020" y="2599188"/>
            <a:ext cx="658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无线</a:t>
            </a: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28EEB014-842D-4740-890B-0AC7B854612B}"/>
              </a:ext>
            </a:extLst>
          </p:cNvPr>
          <p:cNvSpPr txBox="1"/>
          <p:nvPr/>
        </p:nvSpPr>
        <p:spPr>
          <a:xfrm>
            <a:off x="4108297" y="2697559"/>
            <a:ext cx="658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无线</a:t>
            </a: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3FA37254-16A8-4FE2-87C6-A2D2246C63BC}"/>
              </a:ext>
            </a:extLst>
          </p:cNvPr>
          <p:cNvSpPr txBox="1"/>
          <p:nvPr/>
        </p:nvSpPr>
        <p:spPr>
          <a:xfrm>
            <a:off x="3907436" y="4158533"/>
            <a:ext cx="658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无线</a:t>
            </a:r>
          </a:p>
        </p:txBody>
      </p:sp>
      <p:sp>
        <p:nvSpPr>
          <p:cNvPr id="54" name="TextBox 18">
            <a:extLst>
              <a:ext uri="{FF2B5EF4-FFF2-40B4-BE49-F238E27FC236}">
                <a16:creationId xmlns:a16="http://schemas.microsoft.com/office/drawing/2014/main" id="{FB1EB457-22E2-4C1F-B2BE-5A36EA492ADF}"/>
              </a:ext>
            </a:extLst>
          </p:cNvPr>
          <p:cNvSpPr txBox="1"/>
          <p:nvPr/>
        </p:nvSpPr>
        <p:spPr>
          <a:xfrm>
            <a:off x="3882629" y="4594594"/>
            <a:ext cx="104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无线网卡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标配</a:t>
            </a:r>
          </a:p>
        </p:txBody>
      </p:sp>
    </p:spTree>
    <p:extLst>
      <p:ext uri="{BB962C8B-B14F-4D97-AF65-F5344CB8AC3E}">
        <p14:creationId xmlns:p14="http://schemas.microsoft.com/office/powerpoint/2010/main" val="357179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40" grpId="0"/>
      <p:bldP spid="18" grpId="0"/>
      <p:bldP spid="27" grpId="0"/>
      <p:bldP spid="28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2">
            <a:extLst>
              <a:ext uri="{FF2B5EF4-FFF2-40B4-BE49-F238E27FC236}">
                <a16:creationId xmlns:a16="http://schemas.microsoft.com/office/drawing/2014/main" id="{03DC10C4-63F4-468A-8936-F882FC917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63632" y="1961350"/>
            <a:ext cx="801555" cy="801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17DCEE0F-F168-42BD-8004-689069BF8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659602" flipV="1">
            <a:off x="3070303" y="3912352"/>
            <a:ext cx="1272079" cy="303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11">
            <a:extLst>
              <a:ext uri="{FF2B5EF4-FFF2-40B4-BE49-F238E27FC236}">
                <a16:creationId xmlns:a16="http://schemas.microsoft.com/office/drawing/2014/main" id="{E261088B-024B-4CA2-A85B-D087D3B7E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101" y="3423109"/>
            <a:ext cx="668916" cy="64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7" descr="http://h.hiphotos.bdimg.com/album/w%3D2048/sign=3c2f6573c8ea15ce41eee70982383bf3/00e93901213fb80e44f86a2137d12f2eb938941e.jpg">
            <a:extLst>
              <a:ext uri="{FF2B5EF4-FFF2-40B4-BE49-F238E27FC236}">
                <a16:creationId xmlns:a16="http://schemas.microsoft.com/office/drawing/2014/main" id="{74F3A2A9-AD7B-4498-9014-3FEF5B448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710" y="2796157"/>
            <a:ext cx="876021" cy="77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7488833" cy="41568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引例：将几台电脑连接起来，组建成一个简单的局域网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）使用无线路由器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实现共享上网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17">
            <a:extLst>
              <a:ext uri="{FF2B5EF4-FFF2-40B4-BE49-F238E27FC236}">
                <a16:creationId xmlns:a16="http://schemas.microsoft.com/office/drawing/2014/main" id="{BDC8757A-8ACC-42E2-A11B-E762F9B7A679}"/>
              </a:ext>
            </a:extLst>
          </p:cNvPr>
          <p:cNvSpPr txBox="1"/>
          <p:nvPr/>
        </p:nvSpPr>
        <p:spPr>
          <a:xfrm>
            <a:off x="4473411" y="3327510"/>
            <a:ext cx="122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无线路由器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170C9415-C322-4580-8CB1-03DE456183F7}"/>
              </a:ext>
            </a:extLst>
          </p:cNvPr>
          <p:cNvSpPr txBox="1"/>
          <p:nvPr/>
        </p:nvSpPr>
        <p:spPr>
          <a:xfrm>
            <a:off x="1115616" y="3377056"/>
            <a:ext cx="104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无线网卡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标配</a:t>
            </a: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86E0ECB8-B1BF-4BE9-8ACE-31BF586C40DC}"/>
              </a:ext>
            </a:extLst>
          </p:cNvPr>
          <p:cNvSpPr txBox="1"/>
          <p:nvPr/>
        </p:nvSpPr>
        <p:spPr>
          <a:xfrm>
            <a:off x="3157254" y="2129819"/>
            <a:ext cx="1052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有线网卡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5106094-73FD-49E5-9D99-594F9D064284}"/>
              </a:ext>
            </a:extLst>
          </p:cNvPr>
          <p:cNvCxnSpPr>
            <a:cxnSpLocks/>
          </p:cNvCxnSpPr>
          <p:nvPr/>
        </p:nvCxnSpPr>
        <p:spPr>
          <a:xfrm>
            <a:off x="3116867" y="2533100"/>
            <a:ext cx="702334" cy="657836"/>
          </a:xfrm>
          <a:prstGeom prst="line">
            <a:avLst/>
          </a:prstGeom>
          <a:ln w="158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968D593A-9F2F-4385-9B23-FB046B218FEB}"/>
              </a:ext>
            </a:extLst>
          </p:cNvPr>
          <p:cNvCxnSpPr>
            <a:cxnSpLocks/>
          </p:cNvCxnSpPr>
          <p:nvPr/>
        </p:nvCxnSpPr>
        <p:spPr>
          <a:xfrm flipH="1">
            <a:off x="4493481" y="2968949"/>
            <a:ext cx="1204066" cy="251800"/>
          </a:xfrm>
          <a:prstGeom prst="line">
            <a:avLst/>
          </a:prstGeom>
          <a:ln w="158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云形 3">
            <a:extLst>
              <a:ext uri="{FF2B5EF4-FFF2-40B4-BE49-F238E27FC236}">
                <a16:creationId xmlns:a16="http://schemas.microsoft.com/office/drawing/2014/main" id="{DCE9B35D-5381-4FD4-9838-A68D3E342EF6}"/>
              </a:ext>
            </a:extLst>
          </p:cNvPr>
          <p:cNvSpPr/>
          <p:nvPr/>
        </p:nvSpPr>
        <p:spPr bwMode="gray">
          <a:xfrm>
            <a:off x="5661835" y="1893579"/>
            <a:ext cx="1893305" cy="1433931"/>
          </a:xfrm>
          <a:prstGeom prst="cloud">
            <a:avLst/>
          </a:prstGeom>
          <a:noFill/>
          <a:ln w="158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Internet</a:t>
            </a:r>
            <a:endParaRPr lang="zh-CN" altLang="en-US" sz="14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2" name="Picture 11">
            <a:extLst>
              <a:ext uri="{FF2B5EF4-FFF2-40B4-BE49-F238E27FC236}">
                <a16:creationId xmlns:a16="http://schemas.microsoft.com/office/drawing/2014/main" id="{24B1CDB2-EC1D-4CC6-B806-B14390C48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849" y="4388947"/>
            <a:ext cx="668916" cy="64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Picture 2">
            <a:extLst>
              <a:ext uri="{FF2B5EF4-FFF2-40B4-BE49-F238E27FC236}">
                <a16:creationId xmlns:a16="http://schemas.microsoft.com/office/drawing/2014/main" id="{6ACFD421-B412-4CAF-BC5A-64CF0F8E7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5702" flipV="1">
            <a:off x="2437157" y="3424279"/>
            <a:ext cx="1272079" cy="303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TextBox 18">
            <a:extLst>
              <a:ext uri="{FF2B5EF4-FFF2-40B4-BE49-F238E27FC236}">
                <a16:creationId xmlns:a16="http://schemas.microsoft.com/office/drawing/2014/main" id="{FB1EB457-22E2-4C1F-B2BE-5A36EA492ADF}"/>
              </a:ext>
            </a:extLst>
          </p:cNvPr>
          <p:cNvSpPr txBox="1"/>
          <p:nvPr/>
        </p:nvSpPr>
        <p:spPr>
          <a:xfrm>
            <a:off x="3230371" y="4600266"/>
            <a:ext cx="104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无线网卡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标配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B677DD33-005C-408D-8694-507E26C4C01C}"/>
              </a:ext>
            </a:extLst>
          </p:cNvPr>
          <p:cNvSpPr txBox="1"/>
          <p:nvPr/>
        </p:nvSpPr>
        <p:spPr>
          <a:xfrm>
            <a:off x="3448416" y="2630267"/>
            <a:ext cx="831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网络线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EC231498-30D2-4445-ADAB-4A899876E296}"/>
              </a:ext>
            </a:extLst>
          </p:cNvPr>
          <p:cNvSpPr txBox="1"/>
          <p:nvPr/>
        </p:nvSpPr>
        <p:spPr>
          <a:xfrm>
            <a:off x="2786723" y="3201905"/>
            <a:ext cx="658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无线</a:t>
            </a: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E82EBD5E-4D59-4E30-BCBE-7EF04D32B0FC}"/>
              </a:ext>
            </a:extLst>
          </p:cNvPr>
          <p:cNvSpPr txBox="1"/>
          <p:nvPr/>
        </p:nvSpPr>
        <p:spPr>
          <a:xfrm>
            <a:off x="3768785" y="3929121"/>
            <a:ext cx="658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无线</a:t>
            </a: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85CAC10B-A3A4-41C9-96D9-99F85ED09E54}"/>
              </a:ext>
            </a:extLst>
          </p:cNvPr>
          <p:cNvSpPr txBox="1"/>
          <p:nvPr/>
        </p:nvSpPr>
        <p:spPr>
          <a:xfrm>
            <a:off x="4446497" y="4511065"/>
            <a:ext cx="4662007" cy="418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注：严格意义上，用无线路由器连接的不是局域网</a:t>
            </a:r>
          </a:p>
        </p:txBody>
      </p:sp>
    </p:spTree>
    <p:extLst>
      <p:ext uri="{BB962C8B-B14F-4D97-AF65-F5344CB8AC3E}">
        <p14:creationId xmlns:p14="http://schemas.microsoft.com/office/powerpoint/2010/main" val="225231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54" grpId="0"/>
      <p:bldP spid="17" grpId="0"/>
      <p:bldP spid="18" grpId="0"/>
      <p:bldP spid="19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8532441" cy="41568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重要概念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）局域网：有线局域网（以太网）、无线局域网</a:t>
            </a:r>
            <a:endParaRPr lang="en-US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）网络形式：对等网结构、服务器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客户机结构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1800" dirty="0">
                <a:solidFill>
                  <a:srgbClr val="000066"/>
                </a:solidFill>
                <a:cs typeface="Times New Roman" panose="02020603050405020304" pitchFamily="18" charset="0"/>
              </a:rPr>
              <a:t>①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对等网：局域网中每一台计算机既是服务器又是客户机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1800" dirty="0">
                <a:solidFill>
                  <a:srgbClr val="000066"/>
                </a:solidFill>
                <a:cs typeface="Times New Roman" panose="02020603050405020304" pitchFamily="18" charset="0"/>
              </a:rPr>
              <a:t>②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服务器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客户机结构：局域网两类有计算机：服务器、客户机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Server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）：提供共享资源和服务 </a:t>
            </a:r>
            <a:b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速度快、内存容量大的特殊计算机，如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Web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服务器、数据库、邮件服务器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客户机（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Client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）：使用共享资源，要求服务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）工作方式：客户机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服务器模式（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C/S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浏览器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服务器模（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B/S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OutLook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收发电子邮件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	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浏览器收发电子邮件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	</a:t>
            </a:r>
            <a:b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京东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APP				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浏览器上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JD.COM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68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86626"/>
            <a:ext cx="6768752" cy="220981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网络设备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）集线器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(Hub)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和交换机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(Switch)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将一些计算机连接起来组成一个局域网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1800" dirty="0">
                <a:solidFill>
                  <a:srgbClr val="000066"/>
                </a:solidFill>
                <a:cs typeface="Times New Roman" panose="02020603050405020304" pitchFamily="18" charset="0"/>
              </a:rPr>
              <a:t>①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集线器  各端口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共享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带宽    已经淘汰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1800" dirty="0">
                <a:solidFill>
                  <a:srgbClr val="000066"/>
                </a:solidFill>
                <a:cs typeface="Times New Roman" panose="02020603050405020304" pitchFamily="18" charset="0"/>
              </a:rPr>
              <a:t>②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交换机  各端口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独享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带宽   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B1CCF5F5-EBE4-4B2A-A6FF-8E784245EE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26685"/>
              </p:ext>
            </p:extLst>
          </p:nvPr>
        </p:nvGraphicFramePr>
        <p:xfrm>
          <a:off x="2469821" y="3110621"/>
          <a:ext cx="840093" cy="929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42925" imgH="600075" progId="Visio.Drawing.11">
                  <p:embed/>
                </p:oleObj>
              </mc:Choice>
              <mc:Fallback>
                <p:oleObj name="Visio" r:id="rId3" imgW="542925" imgH="600075" progId="Visio.Drawing.11">
                  <p:embed/>
                  <p:pic>
                    <p:nvPicPr>
                      <p:cNvPr id="17" name="Object 5">
                        <a:extLst>
                          <a:ext uri="{FF2B5EF4-FFF2-40B4-BE49-F238E27FC236}">
                            <a16:creationId xmlns:a16="http://schemas.microsoft.com/office/drawing/2014/main" id="{B1CCF5F5-EBE4-4B2A-A6FF-8E784245EE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821" y="3110621"/>
                        <a:ext cx="840093" cy="929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>
            <a:extLst>
              <a:ext uri="{FF2B5EF4-FFF2-40B4-BE49-F238E27FC236}">
                <a16:creationId xmlns:a16="http://schemas.microsoft.com/office/drawing/2014/main" id="{BF195872-0D1D-4C6D-890D-941EF824B3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8268630"/>
              </p:ext>
            </p:extLst>
          </p:nvPr>
        </p:nvGraphicFramePr>
        <p:xfrm>
          <a:off x="1454476" y="3946429"/>
          <a:ext cx="840093" cy="706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57275" imgH="1238250" progId="Visio.Drawing.11">
                  <p:embed/>
                </p:oleObj>
              </mc:Choice>
              <mc:Fallback>
                <p:oleObj name="Visio" r:id="rId5" imgW="1057275" imgH="1238250" progId="Visio.Drawing.11">
                  <p:embed/>
                  <p:pic>
                    <p:nvPicPr>
                      <p:cNvPr id="18" name="Object 8">
                        <a:extLst>
                          <a:ext uri="{FF2B5EF4-FFF2-40B4-BE49-F238E27FC236}">
                            <a16:creationId xmlns:a16="http://schemas.microsoft.com/office/drawing/2014/main" id="{BF195872-0D1D-4C6D-890D-941EF824B3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476" y="3946429"/>
                        <a:ext cx="840093" cy="706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9">
            <a:extLst>
              <a:ext uri="{FF2B5EF4-FFF2-40B4-BE49-F238E27FC236}">
                <a16:creationId xmlns:a16="http://schemas.microsoft.com/office/drawing/2014/main" id="{ED892ACF-F6ED-4976-A8CC-CFF36934EA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9527" y="3479657"/>
            <a:ext cx="511789" cy="505321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5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Euphemia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2" name="Line 10">
            <a:extLst>
              <a:ext uri="{FF2B5EF4-FFF2-40B4-BE49-F238E27FC236}">
                <a16:creationId xmlns:a16="http://schemas.microsoft.com/office/drawing/2014/main" id="{B7E18762-D1E8-41CC-A160-F42167D6FC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11315" y="3538451"/>
            <a:ext cx="71318" cy="72148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5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Euphemia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77C3D737-6CBD-4482-BAC1-B77C474FF0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2597" y="3656436"/>
            <a:ext cx="423770" cy="603495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5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Euphemia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26" name="Object 8">
            <a:extLst>
              <a:ext uri="{FF2B5EF4-FFF2-40B4-BE49-F238E27FC236}">
                <a16:creationId xmlns:a16="http://schemas.microsoft.com/office/drawing/2014/main" id="{1A5A667D-A22A-4B28-837B-A560C4365C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9457625"/>
              </p:ext>
            </p:extLst>
          </p:nvPr>
        </p:nvGraphicFramePr>
        <p:xfrm>
          <a:off x="2165557" y="4250559"/>
          <a:ext cx="840093" cy="706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57275" imgH="1238250" progId="Visio.Drawing.11">
                  <p:embed/>
                </p:oleObj>
              </mc:Choice>
              <mc:Fallback>
                <p:oleObj name="Visio" r:id="rId5" imgW="1057275" imgH="1238250" progId="Visio.Drawing.11">
                  <p:embed/>
                  <p:pic>
                    <p:nvPicPr>
                      <p:cNvPr id="26" name="Object 8">
                        <a:extLst>
                          <a:ext uri="{FF2B5EF4-FFF2-40B4-BE49-F238E27FC236}">
                            <a16:creationId xmlns:a16="http://schemas.microsoft.com/office/drawing/2014/main" id="{1A5A667D-A22A-4B28-837B-A560C4365C8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557" y="4250559"/>
                        <a:ext cx="840093" cy="706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8">
            <a:extLst>
              <a:ext uri="{FF2B5EF4-FFF2-40B4-BE49-F238E27FC236}">
                <a16:creationId xmlns:a16="http://schemas.microsoft.com/office/drawing/2014/main" id="{05E9A608-CAB5-47CA-A156-2B538F0632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5120955"/>
              </p:ext>
            </p:extLst>
          </p:nvPr>
        </p:nvGraphicFramePr>
        <p:xfrm>
          <a:off x="3017308" y="4198573"/>
          <a:ext cx="840093" cy="706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57275" imgH="1238250" progId="Visio.Drawing.11">
                  <p:embed/>
                </p:oleObj>
              </mc:Choice>
              <mc:Fallback>
                <p:oleObj name="Visio" r:id="rId5" imgW="1057275" imgH="1238250" progId="Visio.Drawing.11">
                  <p:embed/>
                  <p:pic>
                    <p:nvPicPr>
                      <p:cNvPr id="27" name="Object 8">
                        <a:extLst>
                          <a:ext uri="{FF2B5EF4-FFF2-40B4-BE49-F238E27FC236}">
                            <a16:creationId xmlns:a16="http://schemas.microsoft.com/office/drawing/2014/main" id="{05E9A608-CAB5-47CA-A156-2B538F06326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308" y="4198573"/>
                        <a:ext cx="840093" cy="706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776DB825-1B59-42F4-A407-CFD1EB588F6C}"/>
              </a:ext>
            </a:extLst>
          </p:cNvPr>
          <p:cNvSpPr/>
          <p:nvPr/>
        </p:nvSpPr>
        <p:spPr>
          <a:xfrm>
            <a:off x="3141043" y="3083991"/>
            <a:ext cx="1724253" cy="418063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集线器带宽：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102EADC-24DE-499A-8C12-C386F422024C}"/>
              </a:ext>
            </a:extLst>
          </p:cNvPr>
          <p:cNvSpPr/>
          <p:nvPr/>
        </p:nvSpPr>
        <p:spPr>
          <a:xfrm>
            <a:off x="1102638" y="4680189"/>
            <a:ext cx="3159990" cy="418063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各端口带宽：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W/n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是电脑数量）</a:t>
            </a:r>
          </a:p>
        </p:txBody>
      </p:sp>
      <p:graphicFrame>
        <p:nvGraphicFramePr>
          <p:cNvPr id="39" name="Object 8">
            <a:extLst>
              <a:ext uri="{FF2B5EF4-FFF2-40B4-BE49-F238E27FC236}">
                <a16:creationId xmlns:a16="http://schemas.microsoft.com/office/drawing/2014/main" id="{711F3929-0730-45C9-B1FD-E777D3278F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0447708"/>
              </p:ext>
            </p:extLst>
          </p:nvPr>
        </p:nvGraphicFramePr>
        <p:xfrm>
          <a:off x="5725436" y="4004014"/>
          <a:ext cx="840093" cy="706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57275" imgH="1238250" progId="Visio.Drawing.11">
                  <p:embed/>
                </p:oleObj>
              </mc:Choice>
              <mc:Fallback>
                <p:oleObj name="Visio" r:id="rId5" imgW="1057275" imgH="1238250" progId="Visio.Drawing.11">
                  <p:embed/>
                  <p:pic>
                    <p:nvPicPr>
                      <p:cNvPr id="39" name="Object 8">
                        <a:extLst>
                          <a:ext uri="{FF2B5EF4-FFF2-40B4-BE49-F238E27FC236}">
                            <a16:creationId xmlns:a16="http://schemas.microsoft.com/office/drawing/2014/main" id="{711F3929-0730-45C9-B1FD-E777D3278F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5436" y="4004014"/>
                        <a:ext cx="840093" cy="706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Line 9">
            <a:extLst>
              <a:ext uri="{FF2B5EF4-FFF2-40B4-BE49-F238E27FC236}">
                <a16:creationId xmlns:a16="http://schemas.microsoft.com/office/drawing/2014/main" id="{D93697A6-6496-4F70-8055-1EE15D3387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87" y="3537242"/>
            <a:ext cx="511789" cy="505321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5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Euphemia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1" name="Line 10">
            <a:extLst>
              <a:ext uri="{FF2B5EF4-FFF2-40B4-BE49-F238E27FC236}">
                <a16:creationId xmlns:a16="http://schemas.microsoft.com/office/drawing/2014/main" id="{C662A8D9-3DED-4746-917E-F515714ADF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82275" y="3596036"/>
            <a:ext cx="71318" cy="72148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5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Euphemia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2" name="Line 11">
            <a:extLst>
              <a:ext uri="{FF2B5EF4-FFF2-40B4-BE49-F238E27FC236}">
                <a16:creationId xmlns:a16="http://schemas.microsoft.com/office/drawing/2014/main" id="{FD4754C2-F8AF-4C47-A7AE-CC3196A1C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3557" y="3714021"/>
            <a:ext cx="423770" cy="603495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5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Euphemia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43" name="Object 8">
            <a:extLst>
              <a:ext uri="{FF2B5EF4-FFF2-40B4-BE49-F238E27FC236}">
                <a16:creationId xmlns:a16="http://schemas.microsoft.com/office/drawing/2014/main" id="{C15560F6-83B7-4BF9-9AB8-385486D78E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6539407"/>
              </p:ext>
            </p:extLst>
          </p:nvPr>
        </p:nvGraphicFramePr>
        <p:xfrm>
          <a:off x="6436517" y="4308144"/>
          <a:ext cx="840093" cy="706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57275" imgH="1238250" progId="Visio.Drawing.11">
                  <p:embed/>
                </p:oleObj>
              </mc:Choice>
              <mc:Fallback>
                <p:oleObj name="Visio" r:id="rId5" imgW="1057275" imgH="1238250" progId="Visio.Drawing.11">
                  <p:embed/>
                  <p:pic>
                    <p:nvPicPr>
                      <p:cNvPr id="43" name="Object 8">
                        <a:extLst>
                          <a:ext uri="{FF2B5EF4-FFF2-40B4-BE49-F238E27FC236}">
                            <a16:creationId xmlns:a16="http://schemas.microsoft.com/office/drawing/2014/main" id="{C15560F6-83B7-4BF9-9AB8-385486D78E3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6517" y="4308144"/>
                        <a:ext cx="840093" cy="706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8">
            <a:extLst>
              <a:ext uri="{FF2B5EF4-FFF2-40B4-BE49-F238E27FC236}">
                <a16:creationId xmlns:a16="http://schemas.microsoft.com/office/drawing/2014/main" id="{728946F4-D4B3-4DAD-8A91-99C45FD1F3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667314"/>
              </p:ext>
            </p:extLst>
          </p:nvPr>
        </p:nvGraphicFramePr>
        <p:xfrm>
          <a:off x="7288268" y="4256158"/>
          <a:ext cx="840093" cy="706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57275" imgH="1238250" progId="Visio.Drawing.11">
                  <p:embed/>
                </p:oleObj>
              </mc:Choice>
              <mc:Fallback>
                <p:oleObj name="Visio" r:id="rId5" imgW="1057275" imgH="1238250" progId="Visio.Drawing.11">
                  <p:embed/>
                  <p:pic>
                    <p:nvPicPr>
                      <p:cNvPr id="44" name="Object 8">
                        <a:extLst>
                          <a:ext uri="{FF2B5EF4-FFF2-40B4-BE49-F238E27FC236}">
                            <a16:creationId xmlns:a16="http://schemas.microsoft.com/office/drawing/2014/main" id="{728946F4-D4B3-4DAD-8A91-99C45FD1F3A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8268" y="4256158"/>
                        <a:ext cx="840093" cy="706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 44">
            <a:extLst>
              <a:ext uri="{FF2B5EF4-FFF2-40B4-BE49-F238E27FC236}">
                <a16:creationId xmlns:a16="http://schemas.microsoft.com/office/drawing/2014/main" id="{C818B9D7-A9B4-43A9-92C9-F910751D361D}"/>
              </a:ext>
            </a:extLst>
          </p:cNvPr>
          <p:cNvSpPr/>
          <p:nvPr/>
        </p:nvSpPr>
        <p:spPr>
          <a:xfrm>
            <a:off x="7322778" y="3075806"/>
            <a:ext cx="1661295" cy="418063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交换机带宽：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FD7597A-9187-4A81-88CF-48C149E6FFB6}"/>
              </a:ext>
            </a:extLst>
          </p:cNvPr>
          <p:cNvSpPr/>
          <p:nvPr/>
        </p:nvSpPr>
        <p:spPr>
          <a:xfrm>
            <a:off x="6192394" y="4699158"/>
            <a:ext cx="1731143" cy="418063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各端口带宽：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7" name="Object 5">
            <a:extLst>
              <a:ext uri="{FF2B5EF4-FFF2-40B4-BE49-F238E27FC236}">
                <a16:creationId xmlns:a16="http://schemas.microsoft.com/office/drawing/2014/main" id="{B7850BB0-5C49-4BDA-B22F-132CF48506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563627"/>
              </p:ext>
            </p:extLst>
          </p:nvPr>
        </p:nvGraphicFramePr>
        <p:xfrm>
          <a:off x="6683510" y="3109164"/>
          <a:ext cx="840093" cy="929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42925" imgH="600075" progId="Visio.Drawing.11">
                  <p:embed/>
                </p:oleObj>
              </mc:Choice>
              <mc:Fallback>
                <p:oleObj name="Visio" r:id="rId3" imgW="542925" imgH="600075" progId="Visio.Drawing.11">
                  <p:embed/>
                  <p:pic>
                    <p:nvPicPr>
                      <p:cNvPr id="47" name="Object 5">
                        <a:extLst>
                          <a:ext uri="{FF2B5EF4-FFF2-40B4-BE49-F238E27FC236}">
                            <a16:creationId xmlns:a16="http://schemas.microsoft.com/office/drawing/2014/main" id="{B7850BB0-5C49-4BDA-B22F-132CF48506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510" y="3109164"/>
                        <a:ext cx="840093" cy="929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3">
            <a:extLst>
              <a:ext uri="{FF2B5EF4-FFF2-40B4-BE49-F238E27FC236}">
                <a16:creationId xmlns:a16="http://schemas.microsoft.com/office/drawing/2014/main" id="{24734394-5FEC-41D0-BCE6-EE789AEE19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115552"/>
              </p:ext>
            </p:extLst>
          </p:nvPr>
        </p:nvGraphicFramePr>
        <p:xfrm>
          <a:off x="7521544" y="3444947"/>
          <a:ext cx="429334" cy="566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085850" imgH="1428750" progId="Visio.Drawing.11">
                  <p:embed/>
                </p:oleObj>
              </mc:Choice>
              <mc:Fallback>
                <p:oleObj name="Visio" r:id="rId7" imgW="1085850" imgH="1428750" progId="Visio.Drawing.11">
                  <p:embed/>
                  <p:pic>
                    <p:nvPicPr>
                      <p:cNvPr id="48" name="Object 43">
                        <a:extLst>
                          <a:ext uri="{FF2B5EF4-FFF2-40B4-BE49-F238E27FC236}">
                            <a16:creationId xmlns:a16="http://schemas.microsoft.com/office/drawing/2014/main" id="{24734394-5FEC-41D0-BCE6-EE789AEE19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1544" y="3444947"/>
                        <a:ext cx="429334" cy="5665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">
            <a:extLst>
              <a:ext uri="{FF2B5EF4-FFF2-40B4-BE49-F238E27FC236}">
                <a16:creationId xmlns:a16="http://schemas.microsoft.com/office/drawing/2014/main" id="{5CAEFE88-C0F7-4B60-A8B3-8B90223384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662624"/>
              </p:ext>
            </p:extLst>
          </p:nvPr>
        </p:nvGraphicFramePr>
        <p:xfrm>
          <a:off x="3258764" y="3437323"/>
          <a:ext cx="559317" cy="487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428750" imgH="1247775" progId="Visio.Drawing.11">
                  <p:embed/>
                </p:oleObj>
              </mc:Choice>
              <mc:Fallback>
                <p:oleObj name="Visio" r:id="rId9" imgW="1428750" imgH="1247775" progId="Visio.Drawing.11">
                  <p:embed/>
                  <p:pic>
                    <p:nvPicPr>
                      <p:cNvPr id="49" name="Object 4">
                        <a:extLst>
                          <a:ext uri="{FF2B5EF4-FFF2-40B4-BE49-F238E27FC236}">
                            <a16:creationId xmlns:a16="http://schemas.microsoft.com/office/drawing/2014/main" id="{5CAEFE88-C0F7-4B60-A8B3-8B90223384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8764" y="3437323"/>
                        <a:ext cx="559317" cy="487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6">
            <a:extLst>
              <a:ext uri="{FF2B5EF4-FFF2-40B4-BE49-F238E27FC236}">
                <a16:creationId xmlns:a16="http://schemas.microsoft.com/office/drawing/2014/main" id="{2571B244-EA31-4BC8-8979-1D8F3C103F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727856"/>
              </p:ext>
            </p:extLst>
          </p:nvPr>
        </p:nvGraphicFramePr>
        <p:xfrm>
          <a:off x="3985352" y="3466229"/>
          <a:ext cx="540899" cy="471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1428750" imgH="1247775" progId="Visio.Drawing.11">
                  <p:embed/>
                </p:oleObj>
              </mc:Choice>
              <mc:Fallback>
                <p:oleObj name="Visio" r:id="rId11" imgW="1428750" imgH="1247775" progId="Visio.Drawing.11">
                  <p:embed/>
                  <p:pic>
                    <p:nvPicPr>
                      <p:cNvPr id="50" name="Object 16">
                        <a:extLst>
                          <a:ext uri="{FF2B5EF4-FFF2-40B4-BE49-F238E27FC236}">
                            <a16:creationId xmlns:a16="http://schemas.microsoft.com/office/drawing/2014/main" id="{2571B244-EA31-4BC8-8979-1D8F3C103F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5352" y="3466229"/>
                        <a:ext cx="540899" cy="471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962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4"/>
            <a:ext cx="8640960" cy="1682814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网络设备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）无线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Access Point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，无线接入点         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同济大学教学楼分布着许多吸顶式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手机的热点就是一个无线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BAC7DF-B46A-4193-AC14-6AF76532064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1" t="14534" r="12200" b="23867"/>
          <a:stretch/>
        </p:blipFill>
        <p:spPr>
          <a:xfrm rot="5400000">
            <a:off x="4983386" y="3535596"/>
            <a:ext cx="1938908" cy="11633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01518B-EF58-462A-98AD-EB12BB658C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147814"/>
            <a:ext cx="2585210" cy="193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28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graphicFrame>
        <p:nvGraphicFramePr>
          <p:cNvPr id="93" name="Object 55">
            <a:extLst>
              <a:ext uri="{FF2B5EF4-FFF2-40B4-BE49-F238E27FC236}">
                <a16:creationId xmlns:a16="http://schemas.microsoft.com/office/drawing/2014/main" id="{EAB6A30F-76D3-4882-8B7E-89A2274C33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7681553"/>
              </p:ext>
            </p:extLst>
          </p:nvPr>
        </p:nvGraphicFramePr>
        <p:xfrm>
          <a:off x="210411" y="3596564"/>
          <a:ext cx="1034298" cy="93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57275" imgH="1238250" progId="Visio.Drawing.11">
                  <p:embed/>
                </p:oleObj>
              </mc:Choice>
              <mc:Fallback>
                <p:oleObj name="Visio" r:id="rId3" imgW="1057275" imgH="1238250" progId="Visio.Drawing.11">
                  <p:embed/>
                  <p:pic>
                    <p:nvPicPr>
                      <p:cNvPr id="93" name="Object 55">
                        <a:extLst>
                          <a:ext uri="{FF2B5EF4-FFF2-40B4-BE49-F238E27FC236}">
                            <a16:creationId xmlns:a16="http://schemas.microsoft.com/office/drawing/2014/main" id="{EAB6A30F-76D3-4882-8B7E-89A2274C330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411" y="3596564"/>
                        <a:ext cx="1034298" cy="937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Line 56">
            <a:extLst>
              <a:ext uri="{FF2B5EF4-FFF2-40B4-BE49-F238E27FC236}">
                <a16:creationId xmlns:a16="http://schemas.microsoft.com/office/drawing/2014/main" id="{0C21DC1E-906F-4E8A-8837-351FF39293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0836" y="3280599"/>
            <a:ext cx="367359" cy="444567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665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5" name="Line 57">
            <a:extLst>
              <a:ext uri="{FF2B5EF4-FFF2-40B4-BE49-F238E27FC236}">
                <a16:creationId xmlns:a16="http://schemas.microsoft.com/office/drawing/2014/main" id="{FB35466C-675A-412B-AC5D-7084EFF377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09626" y="3282116"/>
            <a:ext cx="0" cy="796511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665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Line 58">
            <a:extLst>
              <a:ext uri="{FF2B5EF4-FFF2-40B4-BE49-F238E27FC236}">
                <a16:creationId xmlns:a16="http://schemas.microsoft.com/office/drawing/2014/main" id="{04781329-7509-485B-8BC5-2F828A3D13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4768" y="3230086"/>
            <a:ext cx="374768" cy="600163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665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7" name="AutoShape 59">
            <a:extLst>
              <a:ext uri="{FF2B5EF4-FFF2-40B4-BE49-F238E27FC236}">
                <a16:creationId xmlns:a16="http://schemas.microsoft.com/office/drawing/2014/main" id="{23F4F986-8B44-4EDF-9DE3-2AD625A2A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193" y="2727491"/>
            <a:ext cx="1462866" cy="577618"/>
          </a:xfrm>
          <a:prstGeom prst="cloudCallout">
            <a:avLst>
              <a:gd name="adj1" fmla="val -33491"/>
              <a:gd name="adj2" fmla="val -11375"/>
            </a:avLst>
          </a:prstGeom>
          <a:solidFill>
            <a:srgbClr val="FFFFFF"/>
          </a:solidFill>
          <a:ln w="9525">
            <a:solidFill>
              <a:srgbClr val="00006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9049" tIns="59526" rIns="119049" bIns="59526"/>
          <a:lstStyle>
            <a:lvl1pPr defTabSz="1306195">
              <a:spcBef>
                <a:spcPct val="20000"/>
              </a:spcBef>
              <a:buChar char="•"/>
              <a:defRPr kumimoji="1" sz="36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52780" indent="-405130" defTabSz="1306195">
              <a:spcBef>
                <a:spcPct val="20000"/>
              </a:spcBef>
              <a:defRPr kumimoji="1" sz="3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06830" indent="-325755" defTabSz="1306195">
              <a:spcBef>
                <a:spcPct val="20000"/>
              </a:spcBef>
              <a:buChar char="•"/>
              <a:defRPr kumimoji="1" sz="35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958975" indent="-325755" defTabSz="1306195">
              <a:spcBef>
                <a:spcPct val="20000"/>
              </a:spcBef>
              <a:buChar char="–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613025" indent="-327025" defTabSz="1306195">
              <a:spcBef>
                <a:spcPct val="20000"/>
              </a:spcBef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070225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527425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984625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441825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3061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Internet</a:t>
            </a:r>
          </a:p>
        </p:txBody>
      </p:sp>
      <p:sp>
        <p:nvSpPr>
          <p:cNvPr id="98" name="Rectangle 60">
            <a:extLst>
              <a:ext uri="{FF2B5EF4-FFF2-40B4-BE49-F238E27FC236}">
                <a16:creationId xmlns:a16="http://schemas.microsoft.com/office/drawing/2014/main" id="{F4519796-1CC4-4D16-B7F3-BF949CCD5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67" y="4682341"/>
            <a:ext cx="1870699" cy="39396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3335" tIns="41668" rIns="83335" bIns="41668"/>
          <a:lstStyle>
            <a:lvl1pPr defTabSz="1306195">
              <a:spcBef>
                <a:spcPct val="20000"/>
              </a:spcBef>
              <a:buChar char="•"/>
              <a:defRPr kumimoji="1" sz="36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59180" indent="-405130" defTabSz="1306195">
              <a:spcBef>
                <a:spcPct val="20000"/>
              </a:spcBef>
              <a:defRPr kumimoji="1" sz="3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31950" indent="-325755" defTabSz="1306195">
              <a:spcBef>
                <a:spcPct val="20000"/>
              </a:spcBef>
              <a:buChar char="•"/>
              <a:defRPr kumimoji="1" sz="35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286000" indent="-325755" defTabSz="1306195">
              <a:spcBef>
                <a:spcPct val="20000"/>
              </a:spcBef>
              <a:buChar char="–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40050" indent="-327025" defTabSz="1306195">
              <a:spcBef>
                <a:spcPct val="20000"/>
              </a:spcBef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397250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54450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11650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768850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3061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个端口，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个账号</a:t>
            </a:r>
          </a:p>
        </p:txBody>
      </p:sp>
      <p:sp>
        <p:nvSpPr>
          <p:cNvPr id="100" name="Line 63">
            <a:extLst>
              <a:ext uri="{FF2B5EF4-FFF2-40B4-BE49-F238E27FC236}">
                <a16:creationId xmlns:a16="http://schemas.microsoft.com/office/drawing/2014/main" id="{35B13589-3B14-4550-BFD7-3B616731D1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61199" y="2337380"/>
            <a:ext cx="117787" cy="769893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665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8" name="Line 72">
            <a:extLst>
              <a:ext uri="{FF2B5EF4-FFF2-40B4-BE49-F238E27FC236}">
                <a16:creationId xmlns:a16="http://schemas.microsoft.com/office/drawing/2014/main" id="{9DEF286F-F788-4614-9593-B0253F50F4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40351" y="2356085"/>
            <a:ext cx="72009" cy="699439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665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pic>
        <p:nvPicPr>
          <p:cNvPr id="109" name="Picture 39" descr="000230858">
            <a:extLst>
              <a:ext uri="{FF2B5EF4-FFF2-40B4-BE49-F238E27FC236}">
                <a16:creationId xmlns:a16="http://schemas.microsoft.com/office/drawing/2014/main" id="{62E11B1B-A500-4653-B035-2EF899374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0" b="38194"/>
          <a:stretch>
            <a:fillRect/>
          </a:stretch>
        </p:blipFill>
        <p:spPr bwMode="auto">
          <a:xfrm>
            <a:off x="6971147" y="3064042"/>
            <a:ext cx="1454676" cy="41065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3" name="Object 45">
            <a:extLst>
              <a:ext uri="{FF2B5EF4-FFF2-40B4-BE49-F238E27FC236}">
                <a16:creationId xmlns:a16="http://schemas.microsoft.com/office/drawing/2014/main" id="{5A516ED4-3919-437A-88BD-EB82F66076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095600"/>
              </p:ext>
            </p:extLst>
          </p:nvPr>
        </p:nvGraphicFramePr>
        <p:xfrm>
          <a:off x="4235474" y="2856041"/>
          <a:ext cx="1454685" cy="81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600200" imgH="1133475" progId="Visio.Drawing.11">
                  <p:embed/>
                </p:oleObj>
              </mc:Choice>
              <mc:Fallback>
                <p:oleObj name="Visio" r:id="rId6" imgW="1600200" imgH="1133475" progId="Visio.Drawing.11">
                  <p:embed/>
                  <p:pic>
                    <p:nvPicPr>
                      <p:cNvPr id="113" name="Object 45">
                        <a:extLst>
                          <a:ext uri="{FF2B5EF4-FFF2-40B4-BE49-F238E27FC236}">
                            <a16:creationId xmlns:a16="http://schemas.microsoft.com/office/drawing/2014/main" id="{5A516ED4-3919-437A-88BD-EB82F66076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74" y="2856041"/>
                        <a:ext cx="1454685" cy="81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" name="AutoShape 62">
            <a:extLst>
              <a:ext uri="{FF2B5EF4-FFF2-40B4-BE49-F238E27FC236}">
                <a16:creationId xmlns:a16="http://schemas.microsoft.com/office/drawing/2014/main" id="{3FECE5FF-D037-4FD1-AA45-9D9AFA76D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3624" y="1734782"/>
            <a:ext cx="1740739" cy="638203"/>
          </a:xfrm>
          <a:prstGeom prst="cloudCallout">
            <a:avLst>
              <a:gd name="adj1" fmla="val -33491"/>
              <a:gd name="adj2" fmla="val -14819"/>
            </a:avLst>
          </a:prstGeom>
          <a:solidFill>
            <a:srgbClr val="FFFFFF"/>
          </a:solidFill>
          <a:ln w="9525">
            <a:solidFill>
              <a:srgbClr val="00006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9049" tIns="59526" rIns="119049" bIns="59526"/>
          <a:lstStyle>
            <a:lvl1pPr defTabSz="1306195">
              <a:spcBef>
                <a:spcPct val="20000"/>
              </a:spcBef>
              <a:buChar char="•"/>
              <a:defRPr kumimoji="1" sz="36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52780" indent="-405130" defTabSz="1306195">
              <a:spcBef>
                <a:spcPct val="20000"/>
              </a:spcBef>
              <a:defRPr kumimoji="1" sz="3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06830" indent="-325755" defTabSz="1306195">
              <a:spcBef>
                <a:spcPct val="20000"/>
              </a:spcBef>
              <a:buChar char="•"/>
              <a:defRPr kumimoji="1" sz="35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958975" indent="-325755" defTabSz="1306195">
              <a:spcBef>
                <a:spcPct val="20000"/>
              </a:spcBef>
              <a:buChar char="–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613025" indent="-327025" defTabSz="1306195">
              <a:spcBef>
                <a:spcPct val="20000"/>
              </a:spcBef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070225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527425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984625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441825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3061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Internet</a:t>
            </a:r>
          </a:p>
        </p:txBody>
      </p:sp>
      <p:graphicFrame>
        <p:nvGraphicFramePr>
          <p:cNvPr id="115" name="Object 55">
            <a:extLst>
              <a:ext uri="{FF2B5EF4-FFF2-40B4-BE49-F238E27FC236}">
                <a16:creationId xmlns:a16="http://schemas.microsoft.com/office/drawing/2014/main" id="{CBDAE6E9-895C-4E12-AD17-18E3FEEB06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4248268"/>
              </p:ext>
            </p:extLst>
          </p:nvPr>
        </p:nvGraphicFramePr>
        <p:xfrm>
          <a:off x="985914" y="3946381"/>
          <a:ext cx="1034298" cy="93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57275" imgH="1238250" progId="Visio.Drawing.11">
                  <p:embed/>
                </p:oleObj>
              </mc:Choice>
              <mc:Fallback>
                <p:oleObj name="Visio" r:id="rId3" imgW="1057275" imgH="1238250" progId="Visio.Drawing.11">
                  <p:embed/>
                  <p:pic>
                    <p:nvPicPr>
                      <p:cNvPr id="115" name="Object 55">
                        <a:extLst>
                          <a:ext uri="{FF2B5EF4-FFF2-40B4-BE49-F238E27FC236}">
                            <a16:creationId xmlns:a16="http://schemas.microsoft.com/office/drawing/2014/main" id="{CBDAE6E9-895C-4E12-AD17-18E3FEEB063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914" y="3946381"/>
                        <a:ext cx="1034298" cy="937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55">
            <a:extLst>
              <a:ext uri="{FF2B5EF4-FFF2-40B4-BE49-F238E27FC236}">
                <a16:creationId xmlns:a16="http://schemas.microsoft.com/office/drawing/2014/main" id="{BF5F0CBC-934A-4801-8466-FDAF49CD9F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0402189"/>
              </p:ext>
            </p:extLst>
          </p:nvPr>
        </p:nvGraphicFramePr>
        <p:xfrm>
          <a:off x="1942809" y="3762575"/>
          <a:ext cx="1034298" cy="93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57275" imgH="1238250" progId="Visio.Drawing.11">
                  <p:embed/>
                </p:oleObj>
              </mc:Choice>
              <mc:Fallback>
                <p:oleObj name="Visio" r:id="rId3" imgW="1057275" imgH="1238250" progId="Visio.Drawing.11">
                  <p:embed/>
                  <p:pic>
                    <p:nvPicPr>
                      <p:cNvPr id="116" name="Object 55">
                        <a:extLst>
                          <a:ext uri="{FF2B5EF4-FFF2-40B4-BE49-F238E27FC236}">
                            <a16:creationId xmlns:a16="http://schemas.microsoft.com/office/drawing/2014/main" id="{BF5F0CBC-934A-4801-8466-FDAF49CD9FD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2809" y="3762575"/>
                        <a:ext cx="1034298" cy="937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" name="Line 56">
            <a:extLst>
              <a:ext uri="{FF2B5EF4-FFF2-40B4-BE49-F238E27FC236}">
                <a16:creationId xmlns:a16="http://schemas.microsoft.com/office/drawing/2014/main" id="{C103DFC5-EC61-4407-BB0E-E53D8D02F9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7957" y="3230087"/>
            <a:ext cx="416598" cy="36647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665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18" name="Line 57">
            <a:extLst>
              <a:ext uri="{FF2B5EF4-FFF2-40B4-BE49-F238E27FC236}">
                <a16:creationId xmlns:a16="http://schemas.microsoft.com/office/drawing/2014/main" id="{49264C69-66E6-447E-A09B-65E69BC79F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06017" y="3305109"/>
            <a:ext cx="0" cy="796511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665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19" name="Line 58">
            <a:extLst>
              <a:ext uri="{FF2B5EF4-FFF2-40B4-BE49-F238E27FC236}">
                <a16:creationId xmlns:a16="http://schemas.microsoft.com/office/drawing/2014/main" id="{FA55DEE3-DC67-4C65-A56D-7C39F96CB3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9332" y="3485572"/>
            <a:ext cx="374768" cy="600163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665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120" name="Object 55">
            <a:extLst>
              <a:ext uri="{FF2B5EF4-FFF2-40B4-BE49-F238E27FC236}">
                <a16:creationId xmlns:a16="http://schemas.microsoft.com/office/drawing/2014/main" id="{CA0AEB73-D09F-4731-950D-7164F0E72B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1527946"/>
              </p:ext>
            </p:extLst>
          </p:nvPr>
        </p:nvGraphicFramePr>
        <p:xfrm>
          <a:off x="3171807" y="3477399"/>
          <a:ext cx="1034298" cy="93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57275" imgH="1238250" progId="Visio.Drawing.11">
                  <p:embed/>
                </p:oleObj>
              </mc:Choice>
              <mc:Fallback>
                <p:oleObj name="Visio" r:id="rId3" imgW="1057275" imgH="1238250" progId="Visio.Drawing.11">
                  <p:embed/>
                  <p:pic>
                    <p:nvPicPr>
                      <p:cNvPr id="120" name="Object 55">
                        <a:extLst>
                          <a:ext uri="{FF2B5EF4-FFF2-40B4-BE49-F238E27FC236}">
                            <a16:creationId xmlns:a16="http://schemas.microsoft.com/office/drawing/2014/main" id="{CA0AEB73-D09F-4731-950D-7164F0E72B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07" y="3477399"/>
                        <a:ext cx="1034298" cy="937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55">
            <a:extLst>
              <a:ext uri="{FF2B5EF4-FFF2-40B4-BE49-F238E27FC236}">
                <a16:creationId xmlns:a16="http://schemas.microsoft.com/office/drawing/2014/main" id="{9AE464DC-DC99-4D42-936F-EE3A47DF16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8114661"/>
              </p:ext>
            </p:extLst>
          </p:nvPr>
        </p:nvGraphicFramePr>
        <p:xfrm>
          <a:off x="4044688" y="4053525"/>
          <a:ext cx="1034298" cy="93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57275" imgH="1238250" progId="Visio.Drawing.11">
                  <p:embed/>
                </p:oleObj>
              </mc:Choice>
              <mc:Fallback>
                <p:oleObj name="Visio" r:id="rId3" imgW="1057275" imgH="1238250" progId="Visio.Drawing.11">
                  <p:embed/>
                  <p:pic>
                    <p:nvPicPr>
                      <p:cNvPr id="121" name="Object 55">
                        <a:extLst>
                          <a:ext uri="{FF2B5EF4-FFF2-40B4-BE49-F238E27FC236}">
                            <a16:creationId xmlns:a16="http://schemas.microsoft.com/office/drawing/2014/main" id="{9AE464DC-DC99-4D42-936F-EE3A47DF169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688" y="4053525"/>
                        <a:ext cx="1034298" cy="937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55">
            <a:extLst>
              <a:ext uri="{FF2B5EF4-FFF2-40B4-BE49-F238E27FC236}">
                <a16:creationId xmlns:a16="http://schemas.microsoft.com/office/drawing/2014/main" id="{BCD40E4A-CA33-4746-82CA-5E41513D06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577686"/>
              </p:ext>
            </p:extLst>
          </p:nvPr>
        </p:nvGraphicFramePr>
        <p:xfrm>
          <a:off x="4977862" y="4013787"/>
          <a:ext cx="1034298" cy="93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57275" imgH="1238250" progId="Visio.Drawing.11">
                  <p:embed/>
                </p:oleObj>
              </mc:Choice>
              <mc:Fallback>
                <p:oleObj name="Visio" r:id="rId3" imgW="1057275" imgH="1238250" progId="Visio.Drawing.11">
                  <p:embed/>
                  <p:pic>
                    <p:nvPicPr>
                      <p:cNvPr id="122" name="Object 55">
                        <a:extLst>
                          <a:ext uri="{FF2B5EF4-FFF2-40B4-BE49-F238E27FC236}">
                            <a16:creationId xmlns:a16="http://schemas.microsoft.com/office/drawing/2014/main" id="{BCD40E4A-CA33-4746-82CA-5E41513D061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7862" y="4013787"/>
                        <a:ext cx="1034298" cy="937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" name="Line 56">
            <a:extLst>
              <a:ext uri="{FF2B5EF4-FFF2-40B4-BE49-F238E27FC236}">
                <a16:creationId xmlns:a16="http://schemas.microsoft.com/office/drawing/2014/main" id="{CDFA317C-29D0-4BA3-BA5A-433EAA81F3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974" y="3348227"/>
            <a:ext cx="481341" cy="638203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665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124" name="Object 55">
            <a:extLst>
              <a:ext uri="{FF2B5EF4-FFF2-40B4-BE49-F238E27FC236}">
                <a16:creationId xmlns:a16="http://schemas.microsoft.com/office/drawing/2014/main" id="{56F1823E-3C5B-47BC-ADB6-7960D6C082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5254326"/>
              </p:ext>
            </p:extLst>
          </p:nvPr>
        </p:nvGraphicFramePr>
        <p:xfrm>
          <a:off x="6164958" y="3970603"/>
          <a:ext cx="1034298" cy="93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57275" imgH="1238250" progId="Visio.Drawing.11">
                  <p:embed/>
                </p:oleObj>
              </mc:Choice>
              <mc:Fallback>
                <p:oleObj name="Visio" r:id="rId3" imgW="1057275" imgH="1238250" progId="Visio.Drawing.11">
                  <p:embed/>
                  <p:pic>
                    <p:nvPicPr>
                      <p:cNvPr id="124" name="Object 55">
                        <a:extLst>
                          <a:ext uri="{FF2B5EF4-FFF2-40B4-BE49-F238E27FC236}">
                            <a16:creationId xmlns:a16="http://schemas.microsoft.com/office/drawing/2014/main" id="{56F1823E-3C5B-47BC-ADB6-7960D6C0827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4958" y="3970603"/>
                        <a:ext cx="1034298" cy="937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" name="Line 57">
            <a:extLst>
              <a:ext uri="{FF2B5EF4-FFF2-40B4-BE49-F238E27FC236}">
                <a16:creationId xmlns:a16="http://schemas.microsoft.com/office/drawing/2014/main" id="{BBF9D953-A448-43A5-AB85-526B53027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2040" y="3384000"/>
            <a:ext cx="92980" cy="649143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665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126" name="Object 55">
            <a:extLst>
              <a:ext uri="{FF2B5EF4-FFF2-40B4-BE49-F238E27FC236}">
                <a16:creationId xmlns:a16="http://schemas.microsoft.com/office/drawing/2014/main" id="{8510A19C-AB40-4D13-885D-C260FD3E86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4872409"/>
              </p:ext>
            </p:extLst>
          </p:nvPr>
        </p:nvGraphicFramePr>
        <p:xfrm>
          <a:off x="7035832" y="4009525"/>
          <a:ext cx="1034298" cy="93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57275" imgH="1238250" progId="Visio.Drawing.11">
                  <p:embed/>
                </p:oleObj>
              </mc:Choice>
              <mc:Fallback>
                <p:oleObj name="Visio" r:id="rId3" imgW="1057275" imgH="1238250" progId="Visio.Drawing.11">
                  <p:embed/>
                  <p:pic>
                    <p:nvPicPr>
                      <p:cNvPr id="126" name="Object 55">
                        <a:extLst>
                          <a:ext uri="{FF2B5EF4-FFF2-40B4-BE49-F238E27FC236}">
                            <a16:creationId xmlns:a16="http://schemas.microsoft.com/office/drawing/2014/main" id="{8510A19C-AB40-4D13-885D-C260FD3E86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5832" y="4009525"/>
                        <a:ext cx="1034298" cy="937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" name="Line 58">
            <a:extLst>
              <a:ext uri="{FF2B5EF4-FFF2-40B4-BE49-F238E27FC236}">
                <a16:creationId xmlns:a16="http://schemas.microsoft.com/office/drawing/2014/main" id="{9A043575-2581-4DCE-8296-B55DCFA240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9080" y="3348228"/>
            <a:ext cx="981348" cy="630594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665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128" name="Object 55">
            <a:extLst>
              <a:ext uri="{FF2B5EF4-FFF2-40B4-BE49-F238E27FC236}">
                <a16:creationId xmlns:a16="http://schemas.microsoft.com/office/drawing/2014/main" id="{45ADB740-BEC7-4A35-9AFD-659E7D57EE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4850"/>
              </p:ext>
            </p:extLst>
          </p:nvPr>
        </p:nvGraphicFramePr>
        <p:xfrm>
          <a:off x="8134190" y="3906873"/>
          <a:ext cx="1034298" cy="93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57275" imgH="1238250" progId="Visio.Drawing.11">
                  <p:embed/>
                </p:oleObj>
              </mc:Choice>
              <mc:Fallback>
                <p:oleObj name="Visio" r:id="rId3" imgW="1057275" imgH="1238250" progId="Visio.Drawing.11">
                  <p:embed/>
                  <p:pic>
                    <p:nvPicPr>
                      <p:cNvPr id="128" name="Object 55">
                        <a:extLst>
                          <a:ext uri="{FF2B5EF4-FFF2-40B4-BE49-F238E27FC236}">
                            <a16:creationId xmlns:a16="http://schemas.microsoft.com/office/drawing/2014/main" id="{45ADB740-BEC7-4A35-9AFD-659E7D57EE6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190" y="3906873"/>
                        <a:ext cx="1034298" cy="937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Rectangle 60">
            <a:extLst>
              <a:ext uri="{FF2B5EF4-FFF2-40B4-BE49-F238E27FC236}">
                <a16:creationId xmlns:a16="http://schemas.microsoft.com/office/drawing/2014/main" id="{E24FF88D-EDB7-42F3-AEE9-03170E865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3892" y="4686779"/>
            <a:ext cx="1870699" cy="39396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3335" tIns="41668" rIns="83335" bIns="41668"/>
          <a:lstStyle>
            <a:lvl1pPr defTabSz="1306195">
              <a:spcBef>
                <a:spcPct val="20000"/>
              </a:spcBef>
              <a:buChar char="•"/>
              <a:defRPr kumimoji="1" sz="36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59180" indent="-405130" defTabSz="1306195">
              <a:spcBef>
                <a:spcPct val="20000"/>
              </a:spcBef>
              <a:defRPr kumimoji="1" sz="3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31950" indent="-325755" defTabSz="1306195">
              <a:spcBef>
                <a:spcPct val="20000"/>
              </a:spcBef>
              <a:buChar char="•"/>
              <a:defRPr kumimoji="1" sz="35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286000" indent="-325755" defTabSz="1306195">
              <a:spcBef>
                <a:spcPct val="20000"/>
              </a:spcBef>
              <a:buChar char="–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40050" indent="-327025" defTabSz="1306195">
              <a:spcBef>
                <a:spcPct val="20000"/>
              </a:spcBef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397250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54450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11650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768850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3061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个端口，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个账号</a:t>
            </a:r>
          </a:p>
        </p:txBody>
      </p:sp>
      <p:sp>
        <p:nvSpPr>
          <p:cNvPr id="132" name="Rectangle 60">
            <a:extLst>
              <a:ext uri="{FF2B5EF4-FFF2-40B4-BE49-F238E27FC236}">
                <a16:creationId xmlns:a16="http://schemas.microsoft.com/office/drawing/2014/main" id="{B89AD1BF-3521-4865-82C7-D980E91A6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4068" y="4696812"/>
            <a:ext cx="1870699" cy="39396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3335" tIns="41668" rIns="83335" bIns="41668"/>
          <a:lstStyle>
            <a:lvl1pPr defTabSz="1306195">
              <a:spcBef>
                <a:spcPct val="20000"/>
              </a:spcBef>
              <a:buChar char="•"/>
              <a:defRPr kumimoji="1" sz="36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59180" indent="-405130" defTabSz="1306195">
              <a:spcBef>
                <a:spcPct val="20000"/>
              </a:spcBef>
              <a:defRPr kumimoji="1" sz="3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31950" indent="-325755" defTabSz="1306195">
              <a:spcBef>
                <a:spcPct val="20000"/>
              </a:spcBef>
              <a:buChar char="•"/>
              <a:defRPr kumimoji="1" sz="35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286000" indent="-325755" defTabSz="1306195">
              <a:spcBef>
                <a:spcPct val="20000"/>
              </a:spcBef>
              <a:buChar char="–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40050" indent="-327025" defTabSz="1306195">
              <a:spcBef>
                <a:spcPct val="20000"/>
              </a:spcBef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397250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54450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11650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768850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3061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个端口，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个账号</a:t>
            </a:r>
          </a:p>
        </p:txBody>
      </p:sp>
      <p:sp>
        <p:nvSpPr>
          <p:cNvPr id="31" name="内容占位符 2">
            <a:extLst>
              <a:ext uri="{FF2B5EF4-FFF2-40B4-BE49-F238E27FC236}">
                <a16:creationId xmlns:a16="http://schemas.microsoft.com/office/drawing/2014/main" id="{D174D625-4FF2-4999-9F44-B984119D7DEC}"/>
              </a:ext>
            </a:extLst>
          </p:cNvPr>
          <p:cNvSpPr txBox="1">
            <a:spLocks/>
          </p:cNvSpPr>
          <p:nvPr/>
        </p:nvSpPr>
        <p:spPr>
          <a:xfrm>
            <a:off x="611560" y="960943"/>
            <a:ext cx="4176464" cy="158274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网络设备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）无线路由器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实现共享上网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无线路由器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路由器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无线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AutoShape 62">
            <a:extLst>
              <a:ext uri="{FF2B5EF4-FFF2-40B4-BE49-F238E27FC236}">
                <a16:creationId xmlns:a16="http://schemas.microsoft.com/office/drawing/2014/main" id="{163E57FE-4F52-4780-8851-3FAC676B2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413" y="1707654"/>
            <a:ext cx="1740739" cy="638203"/>
          </a:xfrm>
          <a:prstGeom prst="cloudCallout">
            <a:avLst>
              <a:gd name="adj1" fmla="val -33491"/>
              <a:gd name="adj2" fmla="val -14819"/>
            </a:avLst>
          </a:prstGeom>
          <a:solidFill>
            <a:srgbClr val="FFFFFF"/>
          </a:solidFill>
          <a:ln w="9525">
            <a:solidFill>
              <a:srgbClr val="00006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9049" tIns="59526" rIns="119049" bIns="59526"/>
          <a:lstStyle>
            <a:lvl1pPr defTabSz="1306195">
              <a:spcBef>
                <a:spcPct val="20000"/>
              </a:spcBef>
              <a:buChar char="•"/>
              <a:defRPr kumimoji="1" sz="36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52780" indent="-405130" defTabSz="1306195">
              <a:spcBef>
                <a:spcPct val="20000"/>
              </a:spcBef>
              <a:defRPr kumimoji="1" sz="3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06830" indent="-325755" defTabSz="1306195">
              <a:spcBef>
                <a:spcPct val="20000"/>
              </a:spcBef>
              <a:buChar char="•"/>
              <a:defRPr kumimoji="1" sz="35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958975" indent="-325755" defTabSz="1306195">
              <a:spcBef>
                <a:spcPct val="20000"/>
              </a:spcBef>
              <a:buChar char="–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613025" indent="-327025" defTabSz="1306195">
              <a:spcBef>
                <a:spcPct val="20000"/>
              </a:spcBef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070225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527425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984625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441825" indent="-327025" defTabSz="130619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3061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337080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5"/>
            <a:ext cx="8051828" cy="1414285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路由：找到网络中数据传输最合适的路径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功能：连接两个或多个网络的硬件设备，在网络间起网关的作用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常用来把一个局域网接连接到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1" name="Object 8">
            <a:extLst>
              <a:ext uri="{FF2B5EF4-FFF2-40B4-BE49-F238E27FC236}">
                <a16:creationId xmlns:a16="http://schemas.microsoft.com/office/drawing/2014/main" id="{614A08AA-248C-4044-80F5-78DA6AF536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13533"/>
              </p:ext>
            </p:extLst>
          </p:nvPr>
        </p:nvGraphicFramePr>
        <p:xfrm>
          <a:off x="756211" y="3526849"/>
          <a:ext cx="600549" cy="414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90550" imgH="590550" progId="Visio.Drawing.11">
                  <p:embed/>
                </p:oleObj>
              </mc:Choice>
              <mc:Fallback>
                <p:oleObj name="Visio" r:id="rId3" imgW="590550" imgH="590550" progId="Visio.Drawing.11">
                  <p:embed/>
                  <p:pic>
                    <p:nvPicPr>
                      <p:cNvPr id="161" name="Object 8">
                        <a:extLst>
                          <a:ext uri="{FF2B5EF4-FFF2-40B4-BE49-F238E27FC236}">
                            <a16:creationId xmlns:a16="http://schemas.microsoft.com/office/drawing/2014/main" id="{614A08AA-248C-4044-80F5-78DA6AF536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211" y="3526849"/>
                        <a:ext cx="600549" cy="414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" name="AutoShape 9">
            <a:extLst>
              <a:ext uri="{FF2B5EF4-FFF2-40B4-BE49-F238E27FC236}">
                <a16:creationId xmlns:a16="http://schemas.microsoft.com/office/drawing/2014/main" id="{C0EEE949-C89E-44D3-B0FE-63326DB6A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927" y="2799246"/>
            <a:ext cx="1198742" cy="576000"/>
          </a:xfrm>
          <a:prstGeom prst="cloudCallout">
            <a:avLst>
              <a:gd name="adj1" fmla="val -23782"/>
              <a:gd name="adj2" fmla="val 42227"/>
            </a:avLst>
          </a:prstGeom>
          <a:solidFill>
            <a:srgbClr val="FFFFFF"/>
          </a:solidFill>
          <a:ln w="9525">
            <a:solidFill>
              <a:srgbClr val="00006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3316" tIns="66658" rIns="133316" bIns="66658"/>
          <a:lstStyle>
            <a:lvl1pPr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5278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0683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5897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61302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702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5274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846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4418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3061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</a:t>
            </a:r>
          </a:p>
        </p:txBody>
      </p:sp>
      <p:sp>
        <p:nvSpPr>
          <p:cNvPr id="174" name="Line 21">
            <a:extLst>
              <a:ext uri="{FF2B5EF4-FFF2-40B4-BE49-F238E27FC236}">
                <a16:creationId xmlns:a16="http://schemas.microsoft.com/office/drawing/2014/main" id="{BC12A004-B34C-4088-AAB2-123F0A9DB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748" y="3883070"/>
            <a:ext cx="314287" cy="315092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5" name="Line 22">
            <a:extLst>
              <a:ext uri="{FF2B5EF4-FFF2-40B4-BE49-F238E27FC236}">
                <a16:creationId xmlns:a16="http://schemas.microsoft.com/office/drawing/2014/main" id="{4B482B32-7867-48F8-8C5D-D228EA1A5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5779" y="3283354"/>
            <a:ext cx="365709" cy="8701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6" name="Line 23">
            <a:extLst>
              <a:ext uri="{FF2B5EF4-FFF2-40B4-BE49-F238E27FC236}">
                <a16:creationId xmlns:a16="http://schemas.microsoft.com/office/drawing/2014/main" id="{3298F7F4-9434-4F1A-AC82-30C1B3A113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58748" y="3301849"/>
            <a:ext cx="314287" cy="315092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8" name="Line 25">
            <a:extLst>
              <a:ext uri="{FF2B5EF4-FFF2-40B4-BE49-F238E27FC236}">
                <a16:creationId xmlns:a16="http://schemas.microsoft.com/office/drawing/2014/main" id="{A0F3AD6B-3F82-4B47-A8CD-A0ECF20BE6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199" y="3077926"/>
            <a:ext cx="419051" cy="315092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9" name="AutoShape 9">
            <a:extLst>
              <a:ext uri="{FF2B5EF4-FFF2-40B4-BE49-F238E27FC236}">
                <a16:creationId xmlns:a16="http://schemas.microsoft.com/office/drawing/2014/main" id="{D60E0BF4-92F1-44C6-AD17-BF33EC8E2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50" y="4064235"/>
            <a:ext cx="1198742" cy="576000"/>
          </a:xfrm>
          <a:prstGeom prst="cloudCallout">
            <a:avLst>
              <a:gd name="adj1" fmla="val -23782"/>
              <a:gd name="adj2" fmla="val 42227"/>
            </a:avLst>
          </a:prstGeom>
          <a:solidFill>
            <a:srgbClr val="FFFFFF"/>
          </a:solidFill>
          <a:ln w="9525">
            <a:solidFill>
              <a:srgbClr val="00006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3316" tIns="66658" rIns="133316" bIns="66658"/>
          <a:lstStyle>
            <a:lvl1pPr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5278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0683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5897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61302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702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5274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846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4418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3061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</a:t>
            </a:r>
          </a:p>
        </p:txBody>
      </p:sp>
      <p:graphicFrame>
        <p:nvGraphicFramePr>
          <p:cNvPr id="190" name="Object 8">
            <a:extLst>
              <a:ext uri="{FF2B5EF4-FFF2-40B4-BE49-F238E27FC236}">
                <a16:creationId xmlns:a16="http://schemas.microsoft.com/office/drawing/2014/main" id="{E8E8FFE9-01E6-4408-848F-D9D45415CB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924382"/>
              </p:ext>
            </p:extLst>
          </p:nvPr>
        </p:nvGraphicFramePr>
        <p:xfrm>
          <a:off x="2730877" y="3326053"/>
          <a:ext cx="600549" cy="414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90550" imgH="590550" progId="Visio.Drawing.11">
                  <p:embed/>
                </p:oleObj>
              </mc:Choice>
              <mc:Fallback>
                <p:oleObj name="Visio" r:id="rId3" imgW="590550" imgH="590550" progId="Visio.Drawing.11">
                  <p:embed/>
                  <p:pic>
                    <p:nvPicPr>
                      <p:cNvPr id="190" name="Object 8">
                        <a:extLst>
                          <a:ext uri="{FF2B5EF4-FFF2-40B4-BE49-F238E27FC236}">
                            <a16:creationId xmlns:a16="http://schemas.microsoft.com/office/drawing/2014/main" id="{E8E8FFE9-01E6-4408-848F-D9D45415CB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877" y="3326053"/>
                        <a:ext cx="600549" cy="414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" name="AutoShape 9">
            <a:extLst>
              <a:ext uri="{FF2B5EF4-FFF2-40B4-BE49-F238E27FC236}">
                <a16:creationId xmlns:a16="http://schemas.microsoft.com/office/drawing/2014/main" id="{A7B36EC5-F731-4406-8285-AC0AFF9BD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212" y="2762755"/>
            <a:ext cx="1198742" cy="576000"/>
          </a:xfrm>
          <a:prstGeom prst="cloudCallout">
            <a:avLst>
              <a:gd name="adj1" fmla="val -23782"/>
              <a:gd name="adj2" fmla="val 42227"/>
            </a:avLst>
          </a:prstGeom>
          <a:solidFill>
            <a:srgbClr val="FFFFFF"/>
          </a:solidFill>
          <a:ln w="9525">
            <a:solidFill>
              <a:srgbClr val="00006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3316" tIns="66658" rIns="133316" bIns="66658"/>
          <a:lstStyle>
            <a:lvl1pPr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5278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0683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5897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61302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702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5274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846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4418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3061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</a:t>
            </a:r>
          </a:p>
        </p:txBody>
      </p:sp>
      <p:sp>
        <p:nvSpPr>
          <p:cNvPr id="193" name="AutoShape 9">
            <a:extLst>
              <a:ext uri="{FF2B5EF4-FFF2-40B4-BE49-F238E27FC236}">
                <a16:creationId xmlns:a16="http://schemas.microsoft.com/office/drawing/2014/main" id="{C77F7399-E412-4C16-A060-6D7BCB313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689" y="3598207"/>
            <a:ext cx="1198742" cy="576000"/>
          </a:xfrm>
          <a:prstGeom prst="cloudCallout">
            <a:avLst>
              <a:gd name="adj1" fmla="val -23782"/>
              <a:gd name="adj2" fmla="val 42227"/>
            </a:avLst>
          </a:prstGeom>
          <a:solidFill>
            <a:srgbClr val="FFFFFF"/>
          </a:solidFill>
          <a:ln w="9525">
            <a:solidFill>
              <a:srgbClr val="00006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3316" tIns="66658" rIns="133316" bIns="66658"/>
          <a:lstStyle>
            <a:lvl1pPr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5278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0683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5897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61302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702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5274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846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4418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3061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</a:t>
            </a:r>
          </a:p>
        </p:txBody>
      </p:sp>
      <p:graphicFrame>
        <p:nvGraphicFramePr>
          <p:cNvPr id="194" name="Object 8">
            <a:extLst>
              <a:ext uri="{FF2B5EF4-FFF2-40B4-BE49-F238E27FC236}">
                <a16:creationId xmlns:a16="http://schemas.microsoft.com/office/drawing/2014/main" id="{FA18CF79-277A-438C-BF4B-358FD07A8A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089897"/>
              </p:ext>
            </p:extLst>
          </p:nvPr>
        </p:nvGraphicFramePr>
        <p:xfrm>
          <a:off x="3070090" y="4164678"/>
          <a:ext cx="600549" cy="414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90550" imgH="590550" progId="Visio.Drawing.11">
                  <p:embed/>
                </p:oleObj>
              </mc:Choice>
              <mc:Fallback>
                <p:oleObj name="Visio" r:id="rId3" imgW="590550" imgH="590550" progId="Visio.Drawing.11">
                  <p:embed/>
                  <p:pic>
                    <p:nvPicPr>
                      <p:cNvPr id="194" name="Object 8">
                        <a:extLst>
                          <a:ext uri="{FF2B5EF4-FFF2-40B4-BE49-F238E27FC236}">
                            <a16:creationId xmlns:a16="http://schemas.microsoft.com/office/drawing/2014/main" id="{FA18CF79-277A-438C-BF4B-358FD07A8A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090" y="4164678"/>
                        <a:ext cx="600549" cy="414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" name="Line 22">
            <a:extLst>
              <a:ext uri="{FF2B5EF4-FFF2-40B4-BE49-F238E27FC236}">
                <a16:creationId xmlns:a16="http://schemas.microsoft.com/office/drawing/2014/main" id="{024F0D44-D11B-4360-B2F5-0C42F6E941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0492" y="4329570"/>
            <a:ext cx="419596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6" name="Line 25">
            <a:extLst>
              <a:ext uri="{FF2B5EF4-FFF2-40B4-BE49-F238E27FC236}">
                <a16:creationId xmlns:a16="http://schemas.microsoft.com/office/drawing/2014/main" id="{DFD857A7-D47F-4314-894D-D86946A43A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6964" y="4064234"/>
            <a:ext cx="443273" cy="246205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8" name="Line 22">
            <a:extLst>
              <a:ext uri="{FF2B5EF4-FFF2-40B4-BE49-F238E27FC236}">
                <a16:creationId xmlns:a16="http://schemas.microsoft.com/office/drawing/2014/main" id="{582B1AD3-7140-4EF7-809F-16F40EBAF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2338" y="3625715"/>
            <a:ext cx="720532" cy="209375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9" name="AutoShape 9">
            <a:extLst>
              <a:ext uri="{FF2B5EF4-FFF2-40B4-BE49-F238E27FC236}">
                <a16:creationId xmlns:a16="http://schemas.microsoft.com/office/drawing/2014/main" id="{BE8A08B9-5C59-4210-90C0-9BD972E6E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6426" y="3536245"/>
            <a:ext cx="1198742" cy="576000"/>
          </a:xfrm>
          <a:prstGeom prst="cloudCallout">
            <a:avLst>
              <a:gd name="adj1" fmla="val -23782"/>
              <a:gd name="adj2" fmla="val 42227"/>
            </a:avLst>
          </a:prstGeom>
          <a:solidFill>
            <a:srgbClr val="FFFFFF"/>
          </a:solidFill>
          <a:ln w="9525">
            <a:solidFill>
              <a:srgbClr val="00006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3316" tIns="66658" rIns="133316" bIns="66658"/>
          <a:lstStyle>
            <a:lvl1pPr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5278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0683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5897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61302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702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5274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846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4418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3061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</a:t>
            </a:r>
          </a:p>
        </p:txBody>
      </p:sp>
      <p:sp>
        <p:nvSpPr>
          <p:cNvPr id="200" name="AutoShape 9">
            <a:extLst>
              <a:ext uri="{FF2B5EF4-FFF2-40B4-BE49-F238E27FC236}">
                <a16:creationId xmlns:a16="http://schemas.microsoft.com/office/drawing/2014/main" id="{AF2D3C36-F6DD-498C-AD0C-3A3DFBC59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0225" y="2597418"/>
            <a:ext cx="1198742" cy="576000"/>
          </a:xfrm>
          <a:prstGeom prst="cloudCallout">
            <a:avLst>
              <a:gd name="adj1" fmla="val -23782"/>
              <a:gd name="adj2" fmla="val 42227"/>
            </a:avLst>
          </a:prstGeom>
          <a:solidFill>
            <a:srgbClr val="FFFFFF"/>
          </a:solidFill>
          <a:ln w="9525">
            <a:solidFill>
              <a:srgbClr val="00006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3316" tIns="66658" rIns="133316" bIns="66658"/>
          <a:lstStyle>
            <a:lvl1pPr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5278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0683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5897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61302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702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5274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846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4418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3061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</a:t>
            </a:r>
          </a:p>
        </p:txBody>
      </p:sp>
      <p:sp>
        <p:nvSpPr>
          <p:cNvPr id="201" name="AutoShape 9">
            <a:extLst>
              <a:ext uri="{FF2B5EF4-FFF2-40B4-BE49-F238E27FC236}">
                <a16:creationId xmlns:a16="http://schemas.microsoft.com/office/drawing/2014/main" id="{248651FC-FC98-46DA-96CC-B5B938FC8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5141" y="4083982"/>
            <a:ext cx="1198742" cy="576000"/>
          </a:xfrm>
          <a:prstGeom prst="cloudCallout">
            <a:avLst>
              <a:gd name="adj1" fmla="val -23782"/>
              <a:gd name="adj2" fmla="val 42227"/>
            </a:avLst>
          </a:prstGeom>
          <a:solidFill>
            <a:srgbClr val="FFFFFF"/>
          </a:solidFill>
          <a:ln w="9525">
            <a:solidFill>
              <a:srgbClr val="00006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3316" tIns="66658" rIns="133316" bIns="66658"/>
          <a:lstStyle>
            <a:lvl1pPr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5278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06830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5897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613025" defTabSz="130619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702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5274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846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441825" defTabSz="13061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3061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</a:t>
            </a:r>
          </a:p>
        </p:txBody>
      </p:sp>
      <p:graphicFrame>
        <p:nvGraphicFramePr>
          <p:cNvPr id="203" name="Object 8">
            <a:extLst>
              <a:ext uri="{FF2B5EF4-FFF2-40B4-BE49-F238E27FC236}">
                <a16:creationId xmlns:a16="http://schemas.microsoft.com/office/drawing/2014/main" id="{23F36A12-2D3B-4B88-BC8D-4667DFCEF3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22081"/>
              </p:ext>
            </p:extLst>
          </p:nvPr>
        </p:nvGraphicFramePr>
        <p:xfrm>
          <a:off x="8291931" y="3409636"/>
          <a:ext cx="600549" cy="414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90550" imgH="590550" progId="Visio.Drawing.11">
                  <p:embed/>
                </p:oleObj>
              </mc:Choice>
              <mc:Fallback>
                <p:oleObj name="Visio" r:id="rId3" imgW="590550" imgH="590550" progId="Visio.Drawing.11">
                  <p:embed/>
                  <p:pic>
                    <p:nvPicPr>
                      <p:cNvPr id="203" name="Object 8">
                        <a:extLst>
                          <a:ext uri="{FF2B5EF4-FFF2-40B4-BE49-F238E27FC236}">
                            <a16:creationId xmlns:a16="http://schemas.microsoft.com/office/drawing/2014/main" id="{23F36A12-2D3B-4B88-BC8D-4667DFCEF3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1931" y="3409636"/>
                        <a:ext cx="600549" cy="414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Line 22">
            <a:extLst>
              <a:ext uri="{FF2B5EF4-FFF2-40B4-BE49-F238E27FC236}">
                <a16:creationId xmlns:a16="http://schemas.microsoft.com/office/drawing/2014/main" id="{C5D61CB3-D24C-422E-9A79-5DEACE46D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1955" y="3091820"/>
            <a:ext cx="530510" cy="7279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5" name="Line 22">
            <a:extLst>
              <a:ext uri="{FF2B5EF4-FFF2-40B4-BE49-F238E27FC236}">
                <a16:creationId xmlns:a16="http://schemas.microsoft.com/office/drawing/2014/main" id="{B6793CBF-4F5E-4379-A603-74EB4A30A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3620" y="3085467"/>
            <a:ext cx="425984" cy="411901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6" name="Object 8">
            <a:extLst>
              <a:ext uri="{FF2B5EF4-FFF2-40B4-BE49-F238E27FC236}">
                <a16:creationId xmlns:a16="http://schemas.microsoft.com/office/drawing/2014/main" id="{382C32B0-7C4F-416E-A231-3343129850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923241"/>
              </p:ext>
            </p:extLst>
          </p:nvPr>
        </p:nvGraphicFramePr>
        <p:xfrm>
          <a:off x="5412465" y="4198162"/>
          <a:ext cx="600549" cy="414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90550" imgH="590550" progId="Visio.Drawing.11">
                  <p:embed/>
                </p:oleObj>
              </mc:Choice>
              <mc:Fallback>
                <p:oleObj name="Visio" r:id="rId3" imgW="590550" imgH="590550" progId="Visio.Drawing.11">
                  <p:embed/>
                  <p:pic>
                    <p:nvPicPr>
                      <p:cNvPr id="206" name="Object 8">
                        <a:extLst>
                          <a:ext uri="{FF2B5EF4-FFF2-40B4-BE49-F238E27FC236}">
                            <a16:creationId xmlns:a16="http://schemas.microsoft.com/office/drawing/2014/main" id="{382C32B0-7C4F-416E-A231-3343129850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2465" y="4198162"/>
                        <a:ext cx="600549" cy="414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" name="Line 22">
            <a:extLst>
              <a:ext uri="{FF2B5EF4-FFF2-40B4-BE49-F238E27FC236}">
                <a16:creationId xmlns:a16="http://schemas.microsoft.com/office/drawing/2014/main" id="{03F8AD87-06F3-49D4-BCA0-6CCE21721F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9637" y="4006394"/>
            <a:ext cx="377055" cy="255775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8" name="Line 22">
            <a:extLst>
              <a:ext uri="{FF2B5EF4-FFF2-40B4-BE49-F238E27FC236}">
                <a16:creationId xmlns:a16="http://schemas.microsoft.com/office/drawing/2014/main" id="{E4735805-F27C-4A7F-BD0E-44A23EB495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9782" y="4037619"/>
            <a:ext cx="346343" cy="213009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0" name="Line 22">
            <a:extLst>
              <a:ext uri="{FF2B5EF4-FFF2-40B4-BE49-F238E27FC236}">
                <a16:creationId xmlns:a16="http://schemas.microsoft.com/office/drawing/2014/main" id="{37469CB1-C411-41ED-A2BD-79247A087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4464" y="3370364"/>
            <a:ext cx="313942" cy="287457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2" name="Line 22">
            <a:extLst>
              <a:ext uri="{FF2B5EF4-FFF2-40B4-BE49-F238E27FC236}">
                <a16:creationId xmlns:a16="http://schemas.microsoft.com/office/drawing/2014/main" id="{C086A493-9404-4D63-A813-F3B6D4349A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5167" y="3571118"/>
            <a:ext cx="1114437" cy="158284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3" name="Line 22">
            <a:extLst>
              <a:ext uri="{FF2B5EF4-FFF2-40B4-BE49-F238E27FC236}">
                <a16:creationId xmlns:a16="http://schemas.microsoft.com/office/drawing/2014/main" id="{413465AD-DCFC-4835-AD29-04DE833A2B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6405" y="3757106"/>
            <a:ext cx="483201" cy="326875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4" name="Object 8">
            <a:extLst>
              <a:ext uri="{FF2B5EF4-FFF2-40B4-BE49-F238E27FC236}">
                <a16:creationId xmlns:a16="http://schemas.microsoft.com/office/drawing/2014/main" id="{436857EF-8416-42D7-A30E-CFFCCFED98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944441"/>
              </p:ext>
            </p:extLst>
          </p:nvPr>
        </p:nvGraphicFramePr>
        <p:xfrm>
          <a:off x="5386799" y="3002343"/>
          <a:ext cx="600549" cy="414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90550" imgH="590550" progId="Visio.Drawing.11">
                  <p:embed/>
                </p:oleObj>
              </mc:Choice>
              <mc:Fallback>
                <p:oleObj name="Visio" r:id="rId3" imgW="590550" imgH="590550" progId="Visio.Drawing.11">
                  <p:embed/>
                  <p:pic>
                    <p:nvPicPr>
                      <p:cNvPr id="214" name="Object 8">
                        <a:extLst>
                          <a:ext uri="{FF2B5EF4-FFF2-40B4-BE49-F238E27FC236}">
                            <a16:creationId xmlns:a16="http://schemas.microsoft.com/office/drawing/2014/main" id="{436857EF-8416-42D7-A30E-CFFCCFED98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799" y="3002343"/>
                        <a:ext cx="600549" cy="414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" name="Line 22">
            <a:extLst>
              <a:ext uri="{FF2B5EF4-FFF2-40B4-BE49-F238E27FC236}">
                <a16:creationId xmlns:a16="http://schemas.microsoft.com/office/drawing/2014/main" id="{F55D0746-1C82-4022-AD1F-C81F5D4879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30644" y="3039556"/>
            <a:ext cx="1050320" cy="125054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331" tIns="46665" rIns="93331" bIns="4666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20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437070-4B49-493F-AF65-75C2E7FD0BB3}"/>
              </a:ext>
            </a:extLst>
          </p:cNvPr>
          <p:cNvSpPr/>
          <p:nvPr/>
        </p:nvSpPr>
        <p:spPr>
          <a:xfrm>
            <a:off x="2123728" y="2787774"/>
            <a:ext cx="1661295" cy="418063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2DBB49E-01B4-4F3C-9C52-100833D84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" y="1707654"/>
            <a:ext cx="4526185" cy="21846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54CEFC8-31E8-48B2-891F-6C9511C7D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148" y="1744242"/>
            <a:ext cx="4315321" cy="234692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440E095-F71E-46CC-B124-B0817F881E3C}"/>
              </a:ext>
            </a:extLst>
          </p:cNvPr>
          <p:cNvSpPr/>
          <p:nvPr/>
        </p:nvSpPr>
        <p:spPr>
          <a:xfrm>
            <a:off x="702128" y="4103022"/>
            <a:ext cx="30572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路由器把局域网接连接到广域网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6266BE-1CCD-4B29-94C1-A9939B33F1C4}"/>
              </a:ext>
            </a:extLst>
          </p:cNvPr>
          <p:cNvSpPr/>
          <p:nvPr/>
        </p:nvSpPr>
        <p:spPr>
          <a:xfrm>
            <a:off x="4491553" y="4103022"/>
            <a:ext cx="48745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路由器把两个局域网接连接起来组成一个广域网</a:t>
            </a:r>
          </a:p>
        </p:txBody>
      </p:sp>
    </p:spTree>
    <p:extLst>
      <p:ext uri="{BB962C8B-B14F-4D97-AF65-F5344CB8AC3E}">
        <p14:creationId xmlns:p14="http://schemas.microsoft.com/office/powerpoint/2010/main" val="2529701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8338EB6-4EDB-47F7-83DB-4CD7CEC60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108" y="2278285"/>
            <a:ext cx="1627229" cy="135527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5"/>
            <a:ext cx="8208912" cy="3338997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传输媒体与网络适配器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未来只有两种通信：光纤和无线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）双绞线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非屏蔽双绞线</a:t>
            </a:r>
            <a:endParaRPr kumimoji="1" lang="en-US" altLang="zh-CN" sz="18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CAT 5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   </a:t>
            </a:r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    </a:t>
            </a:r>
            <a:r>
              <a:rPr kumimoji="1" lang="en-US" altLang="zh-CN" sz="1800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100Mbps</a:t>
            </a:r>
            <a:endParaRPr kumimoji="1" lang="en-US" altLang="zh-CN" sz="18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CAT </a:t>
            </a:r>
            <a:r>
              <a:rPr kumimoji="1" lang="en-US" altLang="zh-CN" sz="1800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5E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：超</a:t>
            </a:r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1800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100~1000bps</a:t>
            </a:r>
            <a:b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CAT 6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    </a:t>
            </a:r>
            <a:r>
              <a:rPr kumimoji="1" lang="en-US" altLang="zh-CN" sz="1800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1000Mbps</a:t>
            </a:r>
            <a:endParaRPr kumimoji="1" lang="en-US" altLang="zh-CN" sz="18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6D6AC3-994D-444E-9419-E80ABD793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467" y="2369364"/>
            <a:ext cx="1696525" cy="1355275"/>
          </a:xfrm>
          <a:prstGeom prst="rect">
            <a:avLst/>
          </a:prstGeom>
        </p:spPr>
      </p:pic>
      <p:sp>
        <p:nvSpPr>
          <p:cNvPr id="10" name="Line 48">
            <a:extLst>
              <a:ext uri="{FF2B5EF4-FFF2-40B4-BE49-F238E27FC236}">
                <a16:creationId xmlns:a16="http://schemas.microsoft.com/office/drawing/2014/main" id="{46E4C147-63C8-4B3F-806C-2468B990F6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2338" y="4367210"/>
            <a:ext cx="1261056" cy="4740"/>
          </a:xfrm>
          <a:prstGeom prst="line">
            <a:avLst/>
          </a:prstGeom>
          <a:noFill/>
          <a:ln w="15875" cap="sq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endParaRPr lang="zh-CN" altLang="en-US" sz="3500">
              <a:solidFill>
                <a:srgbClr val="000066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2" name="Object 53">
            <a:extLst>
              <a:ext uri="{FF2B5EF4-FFF2-40B4-BE49-F238E27FC236}">
                <a16:creationId xmlns:a16="http://schemas.microsoft.com/office/drawing/2014/main" id="{D092384A-CD8A-4A99-AAE7-6D98582EB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402795"/>
              </p:ext>
            </p:extLst>
          </p:nvPr>
        </p:nvGraphicFramePr>
        <p:xfrm>
          <a:off x="827584" y="3939902"/>
          <a:ext cx="1374582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14730" imgH="781685" progId="Visio.Drawing.5">
                  <p:embed/>
                </p:oleObj>
              </mc:Choice>
              <mc:Fallback>
                <p:oleObj name="VISIO" r:id="rId5" imgW="1014730" imgH="781685" progId="Visio.Drawing.5">
                  <p:embed/>
                  <p:pic>
                    <p:nvPicPr>
                      <p:cNvPr id="17" name="Object 53">
                        <a:extLst>
                          <a:ext uri="{FF2B5EF4-FFF2-40B4-BE49-F238E27FC236}">
                            <a16:creationId xmlns:a16="http://schemas.microsoft.com/office/drawing/2014/main" id="{CFB572CF-B64E-4721-A775-F95076677F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32259"/>
                      <a:stretch>
                        <a:fillRect/>
                      </a:stretch>
                    </p:blipFill>
                    <p:spPr bwMode="auto">
                      <a:xfrm>
                        <a:off x="827584" y="3939902"/>
                        <a:ext cx="1374582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51">
            <a:extLst>
              <a:ext uri="{FF2B5EF4-FFF2-40B4-BE49-F238E27FC236}">
                <a16:creationId xmlns:a16="http://schemas.microsoft.com/office/drawing/2014/main" id="{5AB628B6-037C-4963-A376-42A058D34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5629" y="4367210"/>
            <a:ext cx="578683" cy="330377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3343" tIns="41671" rIns="83343" bIns="41671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正接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B9E36B6-7FB7-4F5C-98A9-7B5713BFA4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111597"/>
              </p:ext>
            </p:extLst>
          </p:nvPr>
        </p:nvGraphicFramePr>
        <p:xfrm>
          <a:off x="2899071" y="3999710"/>
          <a:ext cx="903547" cy="639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600200" imgH="1133475" progId="Visio.Drawing.11">
                  <p:embed/>
                </p:oleObj>
              </mc:Choice>
              <mc:Fallback>
                <p:oleObj name="Visio" r:id="rId7" imgW="1600200" imgH="1133475" progId="Visio.Drawing.11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536B5A9-B149-4EDD-AF25-9CB7DC824A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9071" y="3999710"/>
                        <a:ext cx="903547" cy="6396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48">
            <a:extLst>
              <a:ext uri="{FF2B5EF4-FFF2-40B4-BE49-F238E27FC236}">
                <a16:creationId xmlns:a16="http://schemas.microsoft.com/office/drawing/2014/main" id="{7E96BAEB-574D-4D44-9A0A-007DEF3893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610" y="4427018"/>
            <a:ext cx="1261056" cy="4740"/>
          </a:xfrm>
          <a:prstGeom prst="line">
            <a:avLst/>
          </a:prstGeom>
          <a:noFill/>
          <a:ln w="15875" cap="sq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3343" tIns="41671" rIns="83343" bIns="41671"/>
          <a:lstStyle/>
          <a:p>
            <a:endParaRPr lang="zh-CN" altLang="en-US" sz="3500">
              <a:solidFill>
                <a:srgbClr val="000066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8" name="Object 53">
            <a:extLst>
              <a:ext uri="{FF2B5EF4-FFF2-40B4-BE49-F238E27FC236}">
                <a16:creationId xmlns:a16="http://schemas.microsoft.com/office/drawing/2014/main" id="{297FBE6B-7221-4D34-A7B7-85A975303F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610132"/>
              </p:ext>
            </p:extLst>
          </p:nvPr>
        </p:nvGraphicFramePr>
        <p:xfrm>
          <a:off x="5225856" y="3999710"/>
          <a:ext cx="1374582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14730" imgH="781685" progId="Visio.Drawing.5">
                  <p:embed/>
                </p:oleObj>
              </mc:Choice>
              <mc:Fallback>
                <p:oleObj name="VISIO" r:id="rId5" imgW="1014730" imgH="781685" progId="Visio.Drawing.5">
                  <p:embed/>
                  <p:pic>
                    <p:nvPicPr>
                      <p:cNvPr id="12" name="Object 53">
                        <a:extLst>
                          <a:ext uri="{FF2B5EF4-FFF2-40B4-BE49-F238E27FC236}">
                            <a16:creationId xmlns:a16="http://schemas.microsoft.com/office/drawing/2014/main" id="{D092384A-CD8A-4A99-AAE7-6D98582EB4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32259"/>
                      <a:stretch>
                        <a:fillRect/>
                      </a:stretch>
                    </p:blipFill>
                    <p:spPr bwMode="auto">
                      <a:xfrm>
                        <a:off x="5225856" y="3999710"/>
                        <a:ext cx="1374582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51">
            <a:extLst>
              <a:ext uri="{FF2B5EF4-FFF2-40B4-BE49-F238E27FC236}">
                <a16:creationId xmlns:a16="http://schemas.microsoft.com/office/drawing/2014/main" id="{410FF82D-09A0-4BCF-BA02-6B71860D4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3901" y="4427018"/>
            <a:ext cx="578683" cy="330377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3343" tIns="41671" rIns="83343" bIns="41671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反接</a:t>
            </a:r>
          </a:p>
        </p:txBody>
      </p:sp>
      <p:graphicFrame>
        <p:nvGraphicFramePr>
          <p:cNvPr id="21" name="Object 53">
            <a:extLst>
              <a:ext uri="{FF2B5EF4-FFF2-40B4-BE49-F238E27FC236}">
                <a16:creationId xmlns:a16="http://schemas.microsoft.com/office/drawing/2014/main" id="{72A9A893-1470-4CAC-95B1-DEEE85B9A5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522393"/>
              </p:ext>
            </p:extLst>
          </p:nvPr>
        </p:nvGraphicFramePr>
        <p:xfrm>
          <a:off x="7137818" y="3999710"/>
          <a:ext cx="1374582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14730" imgH="781685" progId="Visio.Drawing.5">
                  <p:embed/>
                </p:oleObj>
              </mc:Choice>
              <mc:Fallback>
                <p:oleObj name="VISIO" r:id="rId5" imgW="1014730" imgH="781685" progId="Visio.Drawing.5">
                  <p:embed/>
                  <p:pic>
                    <p:nvPicPr>
                      <p:cNvPr id="18" name="Object 53">
                        <a:extLst>
                          <a:ext uri="{FF2B5EF4-FFF2-40B4-BE49-F238E27FC236}">
                            <a16:creationId xmlns:a16="http://schemas.microsoft.com/office/drawing/2014/main" id="{297FBE6B-7221-4D34-A7B7-85A975303F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32259"/>
                      <a:stretch>
                        <a:fillRect/>
                      </a:stretch>
                    </p:blipFill>
                    <p:spPr bwMode="auto">
                      <a:xfrm>
                        <a:off x="7137818" y="3999710"/>
                        <a:ext cx="1374582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29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5"/>
            <a:ext cx="8208912" cy="2114861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传输媒体与网络适配器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）光纤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光纤之父：高锟、前香港中文大学校长高锟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2009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年获诺贝尔物理学奖</a:t>
            </a:r>
            <a:b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用于长距离数据传输、网络主干线、高速局域网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http://cn.gcimg.net/gcproduct/day_20121227/e9783bf1fdaa3a129afbf7f6a350dd60.jpg">
            <a:extLst>
              <a:ext uri="{FF2B5EF4-FFF2-40B4-BE49-F238E27FC236}">
                <a16:creationId xmlns:a16="http://schemas.microsoft.com/office/drawing/2014/main" id="{B4130E7C-ECAF-44F5-8991-FA3CCA6390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1" t="3337" r="8582" b="27392"/>
          <a:stretch>
            <a:fillRect/>
          </a:stretch>
        </p:blipFill>
        <p:spPr bwMode="auto">
          <a:xfrm>
            <a:off x="1475656" y="3147814"/>
            <a:ext cx="2151385" cy="168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流程图: 磁盘 5">
            <a:extLst>
              <a:ext uri="{FF2B5EF4-FFF2-40B4-BE49-F238E27FC236}">
                <a16:creationId xmlns:a16="http://schemas.microsoft.com/office/drawing/2014/main" id="{2949B801-3A62-4549-927A-87C863F50038}"/>
              </a:ext>
            </a:extLst>
          </p:cNvPr>
          <p:cNvSpPr/>
          <p:nvPr/>
        </p:nvSpPr>
        <p:spPr bwMode="auto">
          <a:xfrm rot="15746719">
            <a:off x="6363662" y="3377437"/>
            <a:ext cx="829027" cy="1540699"/>
          </a:xfrm>
          <a:prstGeom prst="flowChartMagneticDisk">
            <a:avLst/>
          </a:prstGeom>
          <a:solidFill>
            <a:srgbClr val="00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3350" tIns="66675" rIns="133350" bIns="66675" numCol="1" rtlCol="0" anchor="t" anchorCtr="0" compatLnSpc="1"/>
          <a:lstStyle/>
          <a:p>
            <a:pPr marL="0" marR="0" lvl="0" indent="0" algn="ctr" defTabSz="13061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665" b="1" i="0" u="none" strike="noStrike" kern="1200" cap="none" spc="0" normalizeH="0" baseline="0" noProof="0">
              <a:ln>
                <a:noFill/>
              </a:ln>
              <a:solidFill>
                <a:srgbClr val="69646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9977BB02-3572-451A-9BD0-3DA23BF598C2}"/>
              </a:ext>
            </a:extLst>
          </p:cNvPr>
          <p:cNvSpPr/>
          <p:nvPr/>
        </p:nvSpPr>
        <p:spPr bwMode="auto">
          <a:xfrm rot="15746719">
            <a:off x="5662985" y="3794473"/>
            <a:ext cx="516481" cy="939963"/>
          </a:xfrm>
          <a:prstGeom prst="flowChartMagneticDisk">
            <a:avLst/>
          </a:prstGeom>
          <a:solidFill>
            <a:srgbClr val="6666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3350" tIns="66675" rIns="133350" bIns="66675" numCol="1" rtlCol="0" anchor="t" anchorCtr="0" compatLnSpc="1"/>
          <a:lstStyle/>
          <a:p>
            <a:pPr marL="0" marR="0" lvl="0" indent="0" algn="ctr" defTabSz="13061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665" b="1" i="0" u="none" strike="noStrike" kern="1200" cap="none" spc="0" normalizeH="0" baseline="0" noProof="0">
              <a:ln>
                <a:noFill/>
              </a:ln>
              <a:solidFill>
                <a:srgbClr val="69646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流程图: 磁盘 7">
            <a:extLst>
              <a:ext uri="{FF2B5EF4-FFF2-40B4-BE49-F238E27FC236}">
                <a16:creationId xmlns:a16="http://schemas.microsoft.com/office/drawing/2014/main" id="{4437BF39-E31C-48D3-ACB2-A7181294DF3E}"/>
              </a:ext>
            </a:extLst>
          </p:cNvPr>
          <p:cNvSpPr/>
          <p:nvPr/>
        </p:nvSpPr>
        <p:spPr bwMode="auto">
          <a:xfrm rot="15746719">
            <a:off x="5184750" y="4026390"/>
            <a:ext cx="337239" cy="633137"/>
          </a:xfrm>
          <a:prstGeom prst="flowChartMagneticDisk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3350" tIns="66675" rIns="133350" bIns="66675" numCol="1" rtlCol="0" anchor="t" anchorCtr="0" compatLnSpc="1"/>
          <a:lstStyle/>
          <a:p>
            <a:pPr marL="0" marR="0" lvl="0" indent="0" algn="ctr" defTabSz="13061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665" b="1" i="0" u="none" strike="noStrike" kern="1200" cap="none" spc="0" normalizeH="0" baseline="0" noProof="0">
              <a:ln>
                <a:noFill/>
              </a:ln>
              <a:solidFill>
                <a:srgbClr val="69646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68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5"/>
            <a:ext cx="8064896" cy="3194981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传输媒体与网络适配器  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）电磁波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无线电波、微波、红外线、可见光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无线局域网：用无线电波，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可达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600Mbps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，数十公里范围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蓝牙：一种短距离无线电技术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WIFI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：一个创建于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802.11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标准的无线局域网技术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1528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C2F01A90-D214-4754-8E35-BAB2D1080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97" y="3120583"/>
            <a:ext cx="4459386" cy="19893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577FD52-917A-471B-A5A0-8C8BAD38CA6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9" t="11674" b="34126"/>
          <a:stretch/>
        </p:blipFill>
        <p:spPr>
          <a:xfrm>
            <a:off x="4973154" y="3120609"/>
            <a:ext cx="3775310" cy="1463826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5"/>
            <a:ext cx="8136904" cy="2474901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传输媒体与网络适配器  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）网络适配器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网卡，有唯一的一个物理地址（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地址），用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IPCONFIG/ALL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可查看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台式电脑：标配以太网适配器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笔记本电脑：标配无线网适配器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9113A50-2E4F-4D87-98ED-AA53668FA8D6}"/>
              </a:ext>
            </a:extLst>
          </p:cNvPr>
          <p:cNvCxnSpPr>
            <a:cxnSpLocks/>
          </p:cNvCxnSpPr>
          <p:nvPr/>
        </p:nvCxnSpPr>
        <p:spPr>
          <a:xfrm flipV="1">
            <a:off x="7238851" y="4120448"/>
            <a:ext cx="0" cy="728319"/>
          </a:xfrm>
          <a:prstGeom prst="straightConnector1">
            <a:avLst/>
          </a:prstGeom>
          <a:ln w="158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3328E28-7AB5-4B2B-BBAD-0603293170F0}"/>
              </a:ext>
            </a:extLst>
          </p:cNvPr>
          <p:cNvSpPr txBox="1"/>
          <p:nvPr/>
        </p:nvSpPr>
        <p:spPr>
          <a:xfrm>
            <a:off x="6736149" y="475798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网络接口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8EEFF4A-82C8-4339-B363-FB2E922A04EC}"/>
              </a:ext>
            </a:extLst>
          </p:cNvPr>
          <p:cNvSpPr/>
          <p:nvPr/>
        </p:nvSpPr>
        <p:spPr bwMode="gray">
          <a:xfrm>
            <a:off x="403419" y="3795886"/>
            <a:ext cx="2880320" cy="200258"/>
          </a:xfrm>
          <a:prstGeom prst="ellips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endParaRPr lang="zh-CN" alt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604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8487371" cy="338532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地址设置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连接到无线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只需要用户名和密码，不需要设置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地址，可自动获得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连接到以太网后，有时可自动获得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地址，有时要求手动设置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有一个网络连接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设置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TCP/IP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协议、工作组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TCP/IP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协议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1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192.168.0.X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255.255.255.0</a:t>
            </a:r>
            <a:endParaRPr lang="zh-CN" altLang="en-US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9">
            <a:extLst>
              <a:ext uri="{FF2B5EF4-FFF2-40B4-BE49-F238E27FC236}">
                <a16:creationId xmlns:a16="http://schemas.microsoft.com/office/drawing/2014/main" id="{A9549951-21CA-49F3-A7B0-9C946E227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51920" y="2283717"/>
            <a:ext cx="2379722" cy="2790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10">
            <a:extLst>
              <a:ext uri="{FF2B5EF4-FFF2-40B4-BE49-F238E27FC236}">
                <a16:creationId xmlns:a16="http://schemas.microsoft.com/office/drawing/2014/main" id="{7E6ABBFF-01CA-4A2E-B399-E8CD2CCC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2725" y="2283716"/>
            <a:ext cx="2686205" cy="2790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8">
            <a:extLst>
              <a:ext uri="{FF2B5EF4-FFF2-40B4-BE49-F238E27FC236}">
                <a16:creationId xmlns:a16="http://schemas.microsoft.com/office/drawing/2014/main" id="{0F273411-467B-4D7D-9DC6-3AEC86EBB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4392" y="4371950"/>
            <a:ext cx="2664296" cy="660911"/>
          </a:xfrm>
          <a:prstGeom prst="rect">
            <a:avLst/>
          </a:prstGeom>
          <a:noFill/>
          <a:ln w="9525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32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8487371" cy="41568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常用网络命令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可用于网络的连通性测试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① 检查本机情况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Ping  127.0.0.1	Ping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本机的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Ping  localhost 	Ping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本机计算机名 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② 检查相邻计算机是否连通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Ping 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相邻计算机的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地址或名称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③ 检查到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是否连通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Ping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域名或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Ping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www.tongji.edu.cn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kumimoji="1" lang="en-US" altLang="zh-CN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DA51D54-F2E4-4E8B-88EF-82063FDD80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928"/>
          <a:stretch/>
        </p:blipFill>
        <p:spPr>
          <a:xfrm>
            <a:off x="6012160" y="2805874"/>
            <a:ext cx="1059501" cy="1056989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2A28C2E-D941-4AA3-9C64-FBA181EC6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995686"/>
            <a:ext cx="3312368" cy="229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50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7056785" cy="144110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常用网络命令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Ipconfig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命令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Ipconfig/ALL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：显示所有网络适配器的完整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TCP/IP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信息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4769F87-56F2-4ADE-8903-3250F6D0C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355726"/>
            <a:ext cx="4513835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225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5"/>
            <a:ext cx="8064896" cy="1250765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局域网拓扑结构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用传输媒体互联各种设备的物理布局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）总线型拓扑结构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34BCBE8B-9DD4-4410-A978-690AEA8E86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773635"/>
              </p:ext>
            </p:extLst>
          </p:nvPr>
        </p:nvGraphicFramePr>
        <p:xfrm>
          <a:off x="1115616" y="2274426"/>
          <a:ext cx="6048672" cy="2387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Visio 绘图" r:id="rId3" imgW="6508115" imgH="2573020" progId="">
                  <p:embed/>
                </p:oleObj>
              </mc:Choice>
              <mc:Fallback>
                <p:oleObj name="Microsoft Visio 绘图" r:id="rId3" imgW="6508115" imgH="2573020" progId="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34BCBE8B-9DD4-4410-A978-690AEA8E86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274426"/>
                        <a:ext cx="6048672" cy="23877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170E0D4-C0CD-43A2-9598-58503C51922A}"/>
              </a:ext>
            </a:extLst>
          </p:cNvPr>
          <p:cNvSpPr/>
          <p:nvPr/>
        </p:nvSpPr>
        <p:spPr>
          <a:xfrm>
            <a:off x="1115616" y="4794706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结构简单、节点增删容易</a:t>
            </a:r>
          </a:p>
        </p:txBody>
      </p:sp>
    </p:spTree>
    <p:extLst>
      <p:ext uri="{BB962C8B-B14F-4D97-AF65-F5344CB8AC3E}">
        <p14:creationId xmlns:p14="http://schemas.microsoft.com/office/powerpoint/2010/main" val="345993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5"/>
            <a:ext cx="8064896" cy="1250765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局域网拓扑结构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）环型拓扑结构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70E0D4-C0CD-43A2-9598-58503C51922A}"/>
              </a:ext>
            </a:extLst>
          </p:cNvPr>
          <p:cNvSpPr/>
          <p:nvPr/>
        </p:nvSpPr>
        <p:spPr>
          <a:xfrm>
            <a:off x="1155975" y="4182555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结构简单、实时性强</a:t>
            </a:r>
          </a:p>
        </p:txBody>
      </p:sp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4138C2E1-9BCE-49E0-B0F2-9DC9432BC0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5975" y="2046427"/>
          <a:ext cx="3891969" cy="1965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877820" imgH="1855470" progId="Visio.Drawing.11">
                  <p:embed/>
                </p:oleObj>
              </mc:Choice>
              <mc:Fallback>
                <p:oleObj r:id="rId3" imgW="2877820" imgH="1855470" progId="Visio.Drawing.11">
                  <p:embed/>
                  <p:pic>
                    <p:nvPicPr>
                      <p:cNvPr id="14" name="Object 14">
                        <a:extLst>
                          <a:ext uri="{FF2B5EF4-FFF2-40B4-BE49-F238E27FC236}">
                            <a16:creationId xmlns:a16="http://schemas.microsoft.com/office/drawing/2014/main" id="{4138C2E1-9BCE-49E0-B0F2-9DC9432BC0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975" y="2046427"/>
                        <a:ext cx="3891969" cy="1965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846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5"/>
            <a:ext cx="8064896" cy="1250765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局域网拓扑结构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）星型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树型拓扑结构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70E0D4-C0CD-43A2-9598-58503C51922A}"/>
              </a:ext>
            </a:extLst>
          </p:cNvPr>
          <p:cNvSpPr/>
          <p:nvPr/>
        </p:nvSpPr>
        <p:spPr>
          <a:xfrm>
            <a:off x="1043608" y="3867894"/>
            <a:ext cx="3716082" cy="8744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结构简单、组网容易</a:t>
            </a:r>
            <a:br>
              <a:rPr lang="en-US" altLang="zh-CN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同济大学校园网就是树型拓扑结构 </a:t>
            </a:r>
          </a:p>
        </p:txBody>
      </p:sp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D0E2CDBB-0206-41B6-BF41-670B971ED8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040997"/>
              </p:ext>
            </p:extLst>
          </p:nvPr>
        </p:nvGraphicFramePr>
        <p:xfrm>
          <a:off x="1181135" y="2139702"/>
          <a:ext cx="2307956" cy="1803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797175" imgH="2187575" progId="Visio.Drawing.11">
                  <p:embed/>
                </p:oleObj>
              </mc:Choice>
              <mc:Fallback>
                <p:oleObj name="Visio" r:id="rId3" imgW="2797175" imgH="2187575" progId="Visio.Drawing.11">
                  <p:embed/>
                  <p:pic>
                    <p:nvPicPr>
                      <p:cNvPr id="15" name="Object 7">
                        <a:extLst>
                          <a:ext uri="{FF2B5EF4-FFF2-40B4-BE49-F238E27FC236}">
                            <a16:creationId xmlns:a16="http://schemas.microsoft.com/office/drawing/2014/main" id="{D0E2CDBB-0206-41B6-BF41-670B971ED8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35" y="2139702"/>
                        <a:ext cx="2307956" cy="1803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7726F2B4-7DB5-4C30-BB27-5B66E94ABF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829352"/>
              </p:ext>
            </p:extLst>
          </p:nvPr>
        </p:nvGraphicFramePr>
        <p:xfrm>
          <a:off x="3940172" y="2139702"/>
          <a:ext cx="2551500" cy="1803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110865" imgH="2205355" progId="Visio.Drawing.11">
                  <p:embed/>
                </p:oleObj>
              </mc:Choice>
              <mc:Fallback>
                <p:oleObj name="Visio" r:id="rId5" imgW="3110865" imgH="2205355" progId="Visio.Drawing.11">
                  <p:embed/>
                  <p:pic>
                    <p:nvPicPr>
                      <p:cNvPr id="16" name="Object 9">
                        <a:extLst>
                          <a:ext uri="{FF2B5EF4-FFF2-40B4-BE49-F238E27FC236}">
                            <a16:creationId xmlns:a16="http://schemas.microsoft.com/office/drawing/2014/main" id="{7726F2B4-7DB5-4C30-BB27-5B66E94ABF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172" y="2139702"/>
                        <a:ext cx="2551500" cy="1803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167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5"/>
            <a:ext cx="8064896" cy="1250765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局域络拓扑结构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）网状拓扑结构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70E0D4-C0CD-43A2-9598-58503C51922A}"/>
              </a:ext>
            </a:extLst>
          </p:cNvPr>
          <p:cNvSpPr/>
          <p:nvPr/>
        </p:nvSpPr>
        <p:spPr>
          <a:xfrm>
            <a:off x="1140872" y="4182555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无中心设备，也称为无规则型结构</a:t>
            </a:r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46177DD9-601D-41E8-AF9B-15AE720E1B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5975" y="1995686"/>
          <a:ext cx="2362995" cy="2120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797175" imgH="2510155" progId="Visio.Drawing.11">
                  <p:embed/>
                </p:oleObj>
              </mc:Choice>
              <mc:Fallback>
                <p:oleObj name="Visio" r:id="rId3" imgW="2797175" imgH="2510155" progId="Visio.Drawing.11">
                  <p:embed/>
                  <p:pic>
                    <p:nvPicPr>
                      <p:cNvPr id="17" name="Object 10">
                        <a:extLst>
                          <a:ext uri="{FF2B5EF4-FFF2-40B4-BE49-F238E27FC236}">
                            <a16:creationId xmlns:a16="http://schemas.microsoft.com/office/drawing/2014/main" id="{46177DD9-601D-41E8-AF9B-15AE720E1B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975" y="1995686"/>
                        <a:ext cx="2362995" cy="2120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983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5"/>
            <a:ext cx="7488832" cy="3833461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介质访问控制方法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载波侦听多路访问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冲突检测（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CSMA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/CD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① 载波侦听：发送数据前侦听总线上有没有数据传输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若无数据传输，立即发送数据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② 多路访问：共用一条总线，且广播式的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③ 冲突检测：两个或两个以上计算机同时发送数据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先听后发、边听边发、冲突停止、延迟重发 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49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5"/>
            <a:ext cx="7488832" cy="3833461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介质访问控制方法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载波侦听多路访问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冲突检测（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CSMA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/CD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① 载波侦听：发送数据前侦听总线上有没有数据传输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若无数据传输，立即发送数据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② 多路访问：共用一条总线，且广播式的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③ 冲突检测：两个或两个以上计算机同时发送数据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先听后发、边听边发、冲突停止、延迟重发 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742A2A7-EBAF-4F7C-BA9D-D8E914B2E1A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292080" y="3554570"/>
          <a:ext cx="3816424" cy="1507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508115" imgH="2573020" progId="Visio.Drawing.11">
                  <p:embed/>
                </p:oleObj>
              </mc:Choice>
              <mc:Fallback>
                <p:oleObj name="Visio" r:id="rId3" imgW="6508115" imgH="2573020" progId="Visio.Drawing.11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742A2A7-EBAF-4F7C-BA9D-D8E914B2E1A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3554570"/>
                        <a:ext cx="3816424" cy="1507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842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5"/>
            <a:ext cx="7848872" cy="3833461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介质访问控制方法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令牌访问（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Passing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类似“击鼓传花”游戏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令牌是能否发送数据的权力象征，只需将网络中令牌设置为只有一个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杜绝了环路上发生冲突的可能。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3CB2FB9-E45A-4FB4-8F35-3C01134FA3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482579"/>
              </p:ext>
            </p:extLst>
          </p:nvPr>
        </p:nvGraphicFramePr>
        <p:xfrm>
          <a:off x="2771800" y="3147814"/>
          <a:ext cx="2876189" cy="1452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877820" imgH="1855470" progId="Visio.Drawing.11">
                  <p:embed/>
                </p:oleObj>
              </mc:Choice>
              <mc:Fallback>
                <p:oleObj r:id="rId3" imgW="2877820" imgH="1855470" progId="Visio.Drawing.11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147814"/>
                        <a:ext cx="2876189" cy="1452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82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5"/>
            <a:ext cx="8532440" cy="3833461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局域网标准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IEEE 802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有线局域网：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802.3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标准，以太网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无线局域网：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802.11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以太网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① 标准以太网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				1975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  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10Mbps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②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快速以太网（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Ethernet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	1995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 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100Mbps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③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千兆以太网（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Gigabit Ethernet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1998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 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1000Mbps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1Gbps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④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万兆以太网（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10Gigabit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Ethernet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10GE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2002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 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10000Mbps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10Gbps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3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一、局域网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60945"/>
            <a:ext cx="6037739" cy="3833461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局域网标准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无线局域网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34E4B542-BE30-4AB7-AE6D-FD4C9C859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535939"/>
              </p:ext>
            </p:extLst>
          </p:nvPr>
        </p:nvGraphicFramePr>
        <p:xfrm>
          <a:off x="1259632" y="1934700"/>
          <a:ext cx="3528392" cy="2077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44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标准</a:t>
                      </a:r>
                    </a:p>
                  </a:txBody>
                  <a:tcPr marL="133350" marR="133350" marT="66675" marB="66675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39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数据速率</a:t>
                      </a:r>
                    </a:p>
                  </a:txBody>
                  <a:tcPr marL="133350" marR="133350" marT="66675" marB="66675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44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802.11b</a:t>
                      </a:r>
                      <a:endParaRPr kumimoji="1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66675" marB="66675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492125" indent="-492125" defTabSz="1306195">
                        <a:spcBef>
                          <a:spcPct val="20000"/>
                        </a:spcBef>
                        <a:defRPr kumimoji="1" sz="32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spcBef>
                          <a:spcPct val="20000"/>
                        </a:spcBef>
                        <a:defRPr kumimoji="1" sz="2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631950" indent="-325755" defTabSz="1306195">
                        <a:spcBef>
                          <a:spcPct val="20000"/>
                        </a:spcBef>
                        <a:defRPr kumimoji="1" sz="31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2286000" indent="-325755" defTabSz="1306195">
                        <a:spcBef>
                          <a:spcPct val="20000"/>
                        </a:spcBef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940050" indent="-327025" defTabSz="1306195">
                        <a:spcBef>
                          <a:spcPct val="20000"/>
                        </a:spcBef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33972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8544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43116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7688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130619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最高为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11Mbps</a:t>
                      </a:r>
                    </a:p>
                  </a:txBody>
                  <a:tcPr marL="0" marR="0" marT="36855" marB="36855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44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802.11a</a:t>
                      </a:r>
                      <a:endParaRPr kumimoji="1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66675" marB="66675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492125" indent="-492125" defTabSz="1306195">
                        <a:spcBef>
                          <a:spcPct val="20000"/>
                        </a:spcBef>
                        <a:defRPr kumimoji="1" sz="32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spcBef>
                          <a:spcPct val="20000"/>
                        </a:spcBef>
                        <a:defRPr kumimoji="1" sz="2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631950" indent="-325755" defTabSz="1306195">
                        <a:spcBef>
                          <a:spcPct val="20000"/>
                        </a:spcBef>
                        <a:defRPr kumimoji="1" sz="31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2286000" indent="-325755" defTabSz="1306195">
                        <a:spcBef>
                          <a:spcPct val="20000"/>
                        </a:spcBef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940050" indent="-327025" defTabSz="1306195">
                        <a:spcBef>
                          <a:spcPct val="20000"/>
                        </a:spcBef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33972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8544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43116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7688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最高为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54Mbps</a:t>
                      </a:r>
                    </a:p>
                  </a:txBody>
                  <a:tcPr marL="0" marR="0" marT="36855" marB="36855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44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802.11g</a:t>
                      </a:r>
                      <a:endParaRPr kumimoji="1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66675" marB="66675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492125" indent="-492125" defTabSz="1306195">
                        <a:spcBef>
                          <a:spcPct val="20000"/>
                        </a:spcBef>
                        <a:defRPr kumimoji="1" sz="32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spcBef>
                          <a:spcPct val="20000"/>
                        </a:spcBef>
                        <a:defRPr kumimoji="1" sz="2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631950" indent="-325755" defTabSz="1306195">
                        <a:spcBef>
                          <a:spcPct val="20000"/>
                        </a:spcBef>
                        <a:defRPr kumimoji="1" sz="31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2286000" indent="-325755" defTabSz="1306195">
                        <a:spcBef>
                          <a:spcPct val="20000"/>
                        </a:spcBef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940050" indent="-327025" defTabSz="1306195">
                        <a:spcBef>
                          <a:spcPct val="20000"/>
                        </a:spcBef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33972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8544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43116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7688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最高为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54Mbps</a:t>
                      </a:r>
                    </a:p>
                  </a:txBody>
                  <a:tcPr marL="0" marR="0" marT="36855" marB="36855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44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802.11n</a:t>
                      </a:r>
                      <a:endParaRPr kumimoji="1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66675" marB="66675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492125" indent="-492125" defTabSz="1306195">
                        <a:spcBef>
                          <a:spcPct val="20000"/>
                        </a:spcBef>
                        <a:defRPr kumimoji="1" sz="32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spcBef>
                          <a:spcPct val="20000"/>
                        </a:spcBef>
                        <a:defRPr kumimoji="1" sz="2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631950" indent="-325755" defTabSz="1306195">
                        <a:spcBef>
                          <a:spcPct val="20000"/>
                        </a:spcBef>
                        <a:defRPr kumimoji="1" sz="31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2286000" indent="-325755" defTabSz="1306195">
                        <a:spcBef>
                          <a:spcPct val="20000"/>
                        </a:spcBef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940050" indent="-327025" defTabSz="1306195">
                        <a:spcBef>
                          <a:spcPct val="20000"/>
                        </a:spcBef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33972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8544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43116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768850" indent="-3270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5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130619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最高为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600Mbps</a:t>
                      </a:r>
                    </a:p>
                  </a:txBody>
                  <a:tcPr marL="0" marR="0" marT="36855" marB="36855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152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二、计算机网络基础知识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8064896" cy="1754820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计算机网络的定义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将地理位置不同的</a:t>
            </a:r>
            <a:r>
              <a:rPr lang="zh-CN" altLang="en-US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具有独立功能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的多台计算机，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zh-CN" altLang="en-US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通信设备和通信线路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连接起来，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在网络软件的支持下，实现</a:t>
            </a:r>
            <a:r>
              <a:rPr lang="zh-CN" altLang="en-US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资源共享和数据通信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的计算机系统。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8" name="Object 8">
            <a:extLst>
              <a:ext uri="{FF2B5EF4-FFF2-40B4-BE49-F238E27FC236}">
                <a16:creationId xmlns:a16="http://schemas.microsoft.com/office/drawing/2014/main" id="{D3711044-EE98-4970-9B44-3C6F2B73BD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648" y="2643758"/>
          <a:ext cx="4561421" cy="2361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969000" imgH="3098800" progId="Visio.Drawing.11">
                  <p:embed/>
                </p:oleObj>
              </mc:Choice>
              <mc:Fallback>
                <p:oleObj r:id="rId3" imgW="5969000" imgH="3098800" progId="Visio.Drawing.11">
                  <p:embed/>
                  <p:pic>
                    <p:nvPicPr>
                      <p:cNvPr id="48" name="Object 8">
                        <a:extLst>
                          <a:ext uri="{FF2B5EF4-FFF2-40B4-BE49-F238E27FC236}">
                            <a16:creationId xmlns:a16="http://schemas.microsoft.com/office/drawing/2014/main" id="{D3711044-EE98-4970-9B44-3C6F2B73BD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648" y="2643758"/>
                        <a:ext cx="4561421" cy="2361426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5721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二、计算机网络基础知识</a:t>
            </a:r>
            <a:endParaRPr lang="zh-CN" altLang="en-US" sz="2400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107C338C-F46F-4472-8071-BFD25C6F7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40" y="1581908"/>
            <a:ext cx="6415840" cy="293180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64D0E80B-77A1-4DCA-B120-587B89BFB55F}"/>
              </a:ext>
            </a:extLst>
          </p:cNvPr>
          <p:cNvSpPr/>
          <p:nvPr/>
        </p:nvSpPr>
        <p:spPr>
          <a:xfrm>
            <a:off x="1447453" y="2212080"/>
            <a:ext cx="1924743" cy="1978557"/>
          </a:xfrm>
          <a:prstGeom prst="rect">
            <a:avLst/>
          </a:prstGeom>
          <a:noFill/>
          <a:ln w="9525">
            <a:noFill/>
          </a:ln>
        </p:spPr>
        <p:txBody>
          <a:bodyPr wrap="square" lIns="130622" tIns="65311" rIns="130622" bIns="65311">
            <a:spAutoFit/>
          </a:bodyPr>
          <a:lstStyle/>
          <a:p>
            <a:pPr algn="ctr" defTabSz="1306830" eaLnBrk="1" hangingPunct="1">
              <a:spcBef>
                <a:spcPct val="20000"/>
              </a:spcBef>
            </a:pPr>
            <a:r>
              <a:rPr lang="en-US" altLang="zh-CN" sz="12000" dirty="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Wingdings" panose="05000000000000000000" pitchFamily="2" charset="2"/>
              </a:rPr>
              <a:t>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CA39884-21D4-428A-B2F2-E8DAC897CA71}"/>
              </a:ext>
            </a:extLst>
          </p:cNvPr>
          <p:cNvSpPr/>
          <p:nvPr/>
        </p:nvSpPr>
        <p:spPr>
          <a:xfrm>
            <a:off x="4323127" y="2203997"/>
            <a:ext cx="2897358" cy="1978557"/>
          </a:xfrm>
          <a:prstGeom prst="rect">
            <a:avLst/>
          </a:prstGeom>
          <a:noFill/>
          <a:ln w="9525">
            <a:noFill/>
          </a:ln>
        </p:spPr>
        <p:txBody>
          <a:bodyPr wrap="square" lIns="130622" tIns="65311" rIns="130622" bIns="65311">
            <a:spAutoFit/>
          </a:bodyPr>
          <a:lstStyle/>
          <a:p>
            <a:pPr algn="ctr" defTabSz="1306830" eaLnBrk="1" hangingPunct="1">
              <a:spcBef>
                <a:spcPct val="20000"/>
              </a:spcBef>
            </a:pPr>
            <a:r>
              <a:rPr lang="en-US" altLang="zh-CN" sz="12000" dirty="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Wingdings" panose="05000000000000000000" pitchFamily="2" charset="2"/>
              </a:rPr>
              <a:t></a:t>
            </a:r>
            <a:endParaRPr lang="en-US" altLang="en-US" sz="12000" dirty="0">
              <a:solidFill>
                <a:srgbClr val="FF3300"/>
              </a:solidFill>
              <a:latin typeface="Arial" panose="020B0604020202020204" pitchFamily="34" charset="0"/>
              <a:ea typeface="华文新魏" panose="0201080004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B2B50FB7-6CBD-4A82-B50B-3897C336350A}"/>
              </a:ext>
            </a:extLst>
          </p:cNvPr>
          <p:cNvSpPr txBox="1"/>
          <p:nvPr/>
        </p:nvSpPr>
        <p:spPr>
          <a:xfrm>
            <a:off x="1043608" y="2571750"/>
            <a:ext cx="484183" cy="685895"/>
          </a:xfrm>
          <a:prstGeom prst="rect">
            <a:avLst/>
          </a:prstGeom>
          <a:solidFill>
            <a:srgbClr val="FFFF00"/>
          </a:solidFill>
          <a:ln w="28575" cap="flat" cmpd="sng">
            <a:solidFill>
              <a:srgbClr val="000000"/>
            </a:solidFill>
            <a:prstDash val="solid"/>
            <a:miter/>
            <a:headEnd type="none" w="med" len="med"/>
            <a:tailEnd type="none" w="sm" len="lg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square" lIns="130622" tIns="65311" rIns="130622" bIns="65311">
            <a:spAutoFit/>
          </a:bodyPr>
          <a:lstStyle/>
          <a:p>
            <a:pPr algn="ctr" defTabSz="1306830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蓝牙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49E4FD69-143E-4534-AECC-E1938705751B}"/>
              </a:ext>
            </a:extLst>
          </p:cNvPr>
          <p:cNvSpPr txBox="1"/>
          <p:nvPr/>
        </p:nvSpPr>
        <p:spPr>
          <a:xfrm>
            <a:off x="4283968" y="1868814"/>
            <a:ext cx="936104" cy="408897"/>
          </a:xfrm>
          <a:prstGeom prst="rect">
            <a:avLst/>
          </a:prstGeom>
          <a:solidFill>
            <a:srgbClr val="FFFF00"/>
          </a:solidFill>
          <a:ln w="28575" cap="flat" cmpd="sng">
            <a:solidFill>
              <a:srgbClr val="000000"/>
            </a:solidFill>
            <a:prstDash val="solid"/>
            <a:miter/>
            <a:headEnd type="none" w="med" len="med"/>
            <a:tailEnd type="none" w="sm" len="lg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square" lIns="130622" tIns="65311" rIns="130622" bIns="65311">
            <a:spAutoFit/>
          </a:bodyPr>
          <a:lstStyle/>
          <a:p>
            <a:pPr algn="ctr" defTabSz="1306830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802.11</a:t>
            </a:r>
          </a:p>
        </p:txBody>
      </p:sp>
    </p:spTree>
    <p:extLst>
      <p:ext uri="{BB962C8B-B14F-4D97-AF65-F5344CB8AC3E}">
        <p14:creationId xmlns:p14="http://schemas.microsoft.com/office/powerpoint/2010/main" val="1926561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二、计算机网络基础知识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7632848" cy="528094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计算机网络的定义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8" name="Object 8">
            <a:extLst>
              <a:ext uri="{FF2B5EF4-FFF2-40B4-BE49-F238E27FC236}">
                <a16:creationId xmlns:a16="http://schemas.microsoft.com/office/drawing/2014/main" id="{D3711044-EE98-4970-9B44-3C6F2B73BD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7018" y="1507326"/>
          <a:ext cx="4561421" cy="2361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969000" imgH="3098800" progId="Visio.Drawing.11">
                  <p:embed/>
                </p:oleObj>
              </mc:Choice>
              <mc:Fallback>
                <p:oleObj r:id="rId3" imgW="5969000" imgH="3098800" progId="Visio.Drawing.11">
                  <p:embed/>
                  <p:pic>
                    <p:nvPicPr>
                      <p:cNvPr id="48" name="Object 8">
                        <a:extLst>
                          <a:ext uri="{FF2B5EF4-FFF2-40B4-BE49-F238E27FC236}">
                            <a16:creationId xmlns:a16="http://schemas.microsoft.com/office/drawing/2014/main" id="{D3711044-EE98-4970-9B44-3C6F2B73BD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7018" y="1507326"/>
                        <a:ext cx="4561421" cy="2361426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CB4EFB2-532A-4BA0-ADE0-3580145D3881}"/>
              </a:ext>
            </a:extLst>
          </p:cNvPr>
          <p:cNvCxnSpPr>
            <a:cxnSpLocks/>
          </p:cNvCxnSpPr>
          <p:nvPr/>
        </p:nvCxnSpPr>
        <p:spPr>
          <a:xfrm flipH="1">
            <a:off x="4525461" y="1789575"/>
            <a:ext cx="1368204" cy="481199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1ECF1766-3CEA-45B6-B874-748C65D18E09}"/>
              </a:ext>
            </a:extLst>
          </p:cNvPr>
          <p:cNvSpPr txBox="1"/>
          <p:nvPr/>
        </p:nvSpPr>
        <p:spPr>
          <a:xfrm>
            <a:off x="5796136" y="158251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通信子网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92DA4AAF-F241-4CD5-B31D-B6C955CE67D0}"/>
              </a:ext>
            </a:extLst>
          </p:cNvPr>
          <p:cNvCxnSpPr>
            <a:cxnSpLocks/>
          </p:cNvCxnSpPr>
          <p:nvPr/>
        </p:nvCxnSpPr>
        <p:spPr>
          <a:xfrm flipH="1">
            <a:off x="4875449" y="3171376"/>
            <a:ext cx="101821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F001795B-14F1-499F-A2B2-B110A42118A4}"/>
              </a:ext>
            </a:extLst>
          </p:cNvPr>
          <p:cNvSpPr txBox="1"/>
          <p:nvPr/>
        </p:nvSpPr>
        <p:spPr>
          <a:xfrm>
            <a:off x="5796136" y="298671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资源子网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E3AD93C-1AF5-495C-8651-F660A9245519}"/>
              </a:ext>
            </a:extLst>
          </p:cNvPr>
          <p:cNvSpPr txBox="1"/>
          <p:nvPr/>
        </p:nvSpPr>
        <p:spPr>
          <a:xfrm>
            <a:off x="7035690" y="1960184"/>
            <a:ext cx="1338828" cy="9233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资源：硬件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软件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D4340B1-4783-4196-85FF-E233819D370E}"/>
              </a:ext>
            </a:extLst>
          </p:cNvPr>
          <p:cNvSpPr/>
          <p:nvPr/>
        </p:nvSpPr>
        <p:spPr>
          <a:xfrm>
            <a:off x="827584" y="3962222"/>
            <a:ext cx="76328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spcBef>
                <a:spcPts val="0"/>
              </a:spcBef>
              <a:defRPr/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通信子网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内层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：主要由通信设备和通信线路及其软件组成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eaLnBrk="0" hangingPunct="0">
              <a:spcBef>
                <a:spcPts val="0"/>
              </a:spcBef>
              <a:defRPr/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负责全网的数据传输、加工和变换等通信处理工作。</a:t>
            </a:r>
          </a:p>
          <a:p>
            <a:pPr lvl="0" eaLnBrk="0" hangingPunct="0">
              <a:spcBef>
                <a:spcPts val="0"/>
              </a:spcBef>
              <a:defRPr/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资源子网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外层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：主要由主机、终端、附属设备及软件组成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eaLnBrk="0" hangingPunct="0">
              <a:spcBef>
                <a:spcPts val="0"/>
              </a:spcBef>
              <a:defRPr/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负责全网数据处理和向网络用户提供资源及网络服务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88148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二、计算机网络基础知识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8352928" cy="3122972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计算机网络的功能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数据通信  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计算机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最基本的功能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有了数据通信才能有其他功能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资源共享  资源：硬件、软件、数据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数据是最重要的资源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分布式处理  将一个大任务分解成若干个子任务，分别分配给多个计算机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进行处理，最后把这些计算结果综合起来得到最终的结果。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69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二、计算机网络基础知识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8208912" cy="3699036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计算机网络的性能指标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速率：数据通过网络传输的速度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某人看视频，视频数据以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100Mbps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的速度传输过来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带宽：特定介质单位时间传输的最大数据量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反映通信线路所能传送数据的能力。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单位：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Kbps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Mbps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Gbps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100M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带宽指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100Mb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21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二、计算机网络基础知识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8532440" cy="4131084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计算机网络的分类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按网络涉及的地理范围进行分类，其他使用的技术是不同的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局域网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Area Network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通常位于一个建筑物内、或者一个校园内，也可以远到几公里的范围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两种：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以太网（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无线局域网（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WLAN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城域网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Metropolitan Area Network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覆盖了一个城市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一个城市的政府公务网、教育城域网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广域网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Wide Area Network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跨越了一个很大的地理区域，通常是一个国家或者一个洲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86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二、计算机网络基础知识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7416824" cy="3338996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网络体系结构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1306195" fontAlgn="base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协议：计算机网络中通信双方为了实现通信而设计的规则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1306195" fontAlgn="base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TCP/IP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协议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1306195" fontAlgn="base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生活中的协议有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人类的语言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、军舰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的旗语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1306195" fontAlgn="base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网络体系结构：计算机网络的各个层次和在各层上使用的全部协议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3" indent="0" defTabSz="1306830">
              <a:lnSpc>
                <a:spcPct val="120000"/>
              </a:lnSpc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OSI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参考模型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3" indent="0" defTabSz="1306830">
              <a:lnSpc>
                <a:spcPct val="120000"/>
              </a:lnSpc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TCP/IP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体系结构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3" indent="0" defTabSz="130683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协议是复杂的，一般需要分层设计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96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二、计算机网络基础知识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7416824" cy="3338996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网络体系结构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1306195" fontAlgn="base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OSI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参考模型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5" name="Object 1273">
            <a:extLst>
              <a:ext uri="{FF2B5EF4-FFF2-40B4-BE49-F238E27FC236}">
                <a16:creationId xmlns:a16="http://schemas.microsoft.com/office/drawing/2014/main" id="{698A9A51-6620-4995-8840-7F9FA3EBD2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640" y="1819700"/>
          <a:ext cx="4545823" cy="2630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457950" imgH="3743325" progId="Visio.Drawing.11">
                  <p:embed/>
                </p:oleObj>
              </mc:Choice>
              <mc:Fallback>
                <p:oleObj r:id="rId3" imgW="6457950" imgH="3743325" progId="Visio.Drawing.11">
                  <p:embed/>
                  <p:pic>
                    <p:nvPicPr>
                      <p:cNvPr id="65" name="Object 1273">
                        <a:extLst>
                          <a:ext uri="{FF2B5EF4-FFF2-40B4-BE49-F238E27FC236}">
                            <a16:creationId xmlns:a16="http://schemas.microsoft.com/office/drawing/2014/main" id="{698A9A51-6620-4995-8840-7F9FA3EBD2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1819700"/>
                        <a:ext cx="4545823" cy="2630229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00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矩形 51">
            <a:extLst>
              <a:ext uri="{FF2B5EF4-FFF2-40B4-BE49-F238E27FC236}">
                <a16:creationId xmlns:a16="http://schemas.microsoft.com/office/drawing/2014/main" id="{16614198-B4FC-4FFF-972D-449D654C889D}"/>
              </a:ext>
            </a:extLst>
          </p:cNvPr>
          <p:cNvSpPr/>
          <p:nvPr/>
        </p:nvSpPr>
        <p:spPr>
          <a:xfrm>
            <a:off x="1259632" y="4485371"/>
            <a:ext cx="5670350" cy="658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SzPct val="85000"/>
            </a:pP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数据自上而下不断封装，到达物理层直接进行比特流的传送，</a:t>
            </a:r>
            <a:b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到目的站点后，自下而上不断拆封。</a:t>
            </a:r>
          </a:p>
        </p:txBody>
      </p:sp>
    </p:spTree>
    <p:extLst>
      <p:ext uri="{BB962C8B-B14F-4D97-AF65-F5344CB8AC3E}">
        <p14:creationId xmlns:p14="http://schemas.microsoft.com/office/powerpoint/2010/main" val="42518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二、计算机网络基础知识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7416824" cy="3338996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网络体系结构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1306195" fontAlgn="base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TCP/</a:t>
            </a:r>
            <a:r>
              <a:rPr lang="en-US" altLang="en-US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IP体系结构</a:t>
            </a:r>
            <a:endParaRPr lang="en-US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1306195" fontAlgn="base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广泛应用且运行稳定，是一种既成事实的工业标准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1306195" fontAlgn="base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在实际应用中，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TCP/IP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OSI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的简化</a:t>
            </a:r>
          </a:p>
          <a:p>
            <a:pPr marL="0" indent="0" defTabSz="1306195" fontAlgn="base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1306195" fontAlgn="base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7" name="Object 2">
            <a:extLst>
              <a:ext uri="{FF2B5EF4-FFF2-40B4-BE49-F238E27FC236}">
                <a16:creationId xmlns:a16="http://schemas.microsoft.com/office/drawing/2014/main" id="{383AC35D-9700-441E-8FB7-CB7AED2009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0464" y="2738293"/>
          <a:ext cx="4464496" cy="2209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Visio 绘图" r:id="rId3" imgW="6000750" imgH="2971800" progId="">
                  <p:embed/>
                </p:oleObj>
              </mc:Choice>
              <mc:Fallback>
                <p:oleObj name="Microsoft Visio 绘图" r:id="rId3" imgW="6000750" imgH="2971800" progId="">
                  <p:embed/>
                  <p:pic>
                    <p:nvPicPr>
                      <p:cNvPr id="67" name="Object 2">
                        <a:extLst>
                          <a:ext uri="{FF2B5EF4-FFF2-40B4-BE49-F238E27FC236}">
                            <a16:creationId xmlns:a16="http://schemas.microsoft.com/office/drawing/2014/main" id="{383AC35D-9700-441E-8FB7-CB7AED2009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1330464" y="2738293"/>
                        <a:ext cx="4464496" cy="2209721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00">
                            <a:alpha val="100000"/>
                          </a:srgb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矩形 55">
            <a:extLst>
              <a:ext uri="{FF2B5EF4-FFF2-40B4-BE49-F238E27FC236}">
                <a16:creationId xmlns:a16="http://schemas.microsoft.com/office/drawing/2014/main" id="{7344A8CD-46C5-4594-AF6E-02B55D55DF7D}"/>
              </a:ext>
            </a:extLst>
          </p:cNvPr>
          <p:cNvSpPr/>
          <p:nvPr/>
        </p:nvSpPr>
        <p:spPr>
          <a:xfrm>
            <a:off x="5794960" y="2734054"/>
            <a:ext cx="3349040" cy="1323439"/>
          </a:xfrm>
          <a:prstGeom prst="rect">
            <a:avLst/>
          </a:prstGeom>
          <a:ln w="19050">
            <a:solidFill>
              <a:srgbClr val="000066"/>
            </a:solidFill>
          </a:ln>
        </p:spPr>
        <p:txBody>
          <a:bodyPr wrap="square" lIns="0" rIns="0">
            <a:spAutoFit/>
          </a:bodyPr>
          <a:lstStyle/>
          <a:p>
            <a:pPr lvl="0" defTabSz="1306830"/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TCP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Transmission Control Protocol   </a:t>
            </a:r>
          </a:p>
          <a:p>
            <a:pPr lvl="0" defTabSz="1306830"/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用于保证被传送信息的完整性</a:t>
            </a:r>
          </a:p>
          <a:p>
            <a:pPr lvl="0" defTabSz="1306830"/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Internet Protocol</a:t>
            </a:r>
          </a:p>
          <a:p>
            <a:pPr lvl="0" defTabSz="1306830"/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负责将消息从一个地方传送到</a:t>
            </a:r>
            <a:endParaRPr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defTabSz="1306830"/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另一个地方。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C200986-1803-49FB-98AB-17B3C7D04586}"/>
              </a:ext>
            </a:extLst>
          </p:cNvPr>
          <p:cNvSpPr/>
          <p:nvPr/>
        </p:nvSpPr>
        <p:spPr>
          <a:xfrm>
            <a:off x="5794960" y="4363239"/>
            <a:ext cx="3349040" cy="584775"/>
          </a:xfrm>
          <a:prstGeom prst="rect">
            <a:avLst/>
          </a:prstGeom>
          <a:ln w="19050">
            <a:solidFill>
              <a:srgbClr val="000066"/>
            </a:solidFill>
          </a:ln>
        </p:spPr>
        <p:txBody>
          <a:bodyPr wrap="square" lIns="0" rIns="0">
            <a:spAutoFit/>
          </a:bodyPr>
          <a:lstStyle/>
          <a:p>
            <a:pPr eaLnBrk="1" hangingPunct="1"/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一百多个协议中最重要是的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TCP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协议，故称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TCP/IP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协议</a:t>
            </a:r>
            <a:endParaRPr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24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8681122A-8D61-4C68-A41B-A3279E996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239602"/>
            <a:ext cx="6397816" cy="2664296"/>
          </a:xfrm>
          <a:prstGeom prst="rect">
            <a:avLst/>
          </a:prstGeom>
        </p:spPr>
      </p:pic>
      <p:sp>
        <p:nvSpPr>
          <p:cNvPr id="72" name="矩形 71">
            <a:extLst>
              <a:ext uri="{FF2B5EF4-FFF2-40B4-BE49-F238E27FC236}">
                <a16:creationId xmlns:a16="http://schemas.microsoft.com/office/drawing/2014/main" id="{90CF127D-CCC2-492D-9545-ED4E78504FBC}"/>
              </a:ext>
            </a:extLst>
          </p:cNvPr>
          <p:cNvSpPr/>
          <p:nvPr/>
        </p:nvSpPr>
        <p:spPr>
          <a:xfrm>
            <a:off x="575556" y="3882160"/>
            <a:ext cx="8388932" cy="874214"/>
          </a:xfrm>
          <a:prstGeom prst="rect">
            <a:avLst/>
          </a:prstGeom>
          <a:ln w="19050">
            <a:noFill/>
          </a:ln>
        </p:spPr>
        <p:txBody>
          <a:bodyPr wrap="square" lIns="0" rIns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Internet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：从路由器的角度来说，是用路由器连接起来许许多多个的网络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Internet2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：更大、更快、更安全、更及时、更方便。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</a:t>
            </a:r>
            <a:r>
              <a:rPr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IPv6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，速度达</a:t>
            </a:r>
            <a:r>
              <a:rPr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100Gbps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111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6048724" cy="4182554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IP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地址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社会上，每一个人都有一个身份证号码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互联网上，每一台电脑都有一个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Internet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   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4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个字节    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Internet2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IPv6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16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个字节  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    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1" lang="en-US" altLang="zh-CN" sz="1800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IPv6</a:t>
            </a:r>
            <a:r>
              <a:rPr kumimoji="1"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的地址空间约是</a:t>
            </a:r>
            <a:r>
              <a:rPr kumimoji="1" lang="en-US" altLang="zh-CN" sz="1800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  <a:r>
              <a:rPr kumimoji="1"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1800" baseline="30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</a:t>
            </a:r>
            <a:r>
              <a:rPr kumimoji="1"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倍</a:t>
            </a:r>
            <a:endParaRPr kumimoji="1"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（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（以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同济大学计算机基础教学网站服务器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为例）</a:t>
            </a: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11001010  01111000  10100111  01010010</a:t>
            </a: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点分十进制形式：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202.120.167.82</a:t>
            </a: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域名：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JSJJC.TONGJI.EDU.CN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18">
            <a:extLst>
              <a:ext uri="{FF2B5EF4-FFF2-40B4-BE49-F238E27FC236}">
                <a16:creationId xmlns:a16="http://schemas.microsoft.com/office/drawing/2014/main" id="{342532AD-6694-4C88-A162-C2FE3AD2E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0468" y="4218662"/>
            <a:ext cx="900245" cy="900000"/>
          </a:xfrm>
          <a:prstGeom prst="ellipse">
            <a:avLst/>
          </a:prstGeom>
          <a:noFill/>
          <a:ln w="9525" algn="ctr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996" tIns="31998" rIns="63996" bIns="31998" anchor="ctr"/>
          <a:lstStyle/>
          <a:p>
            <a:endParaRPr lang="zh-CN" altLang="en-US">
              <a:solidFill>
                <a:srgbClr val="A50021"/>
              </a:solidFill>
            </a:endParaRPr>
          </a:p>
        </p:txBody>
      </p:sp>
      <p:sp>
        <p:nvSpPr>
          <p:cNvPr id="8" name="Oval 19">
            <a:extLst>
              <a:ext uri="{FF2B5EF4-FFF2-40B4-BE49-F238E27FC236}">
                <a16:creationId xmlns:a16="http://schemas.microsoft.com/office/drawing/2014/main" id="{E6550931-60B0-4D1D-BF43-EB5AC313B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375" y="4199004"/>
            <a:ext cx="900000" cy="900000"/>
          </a:xfrm>
          <a:prstGeom prst="ellipse">
            <a:avLst/>
          </a:prstGeom>
          <a:noFill/>
          <a:ln w="9525" algn="ctr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996" tIns="31998" rIns="63996" bIns="31998" anchor="ctr"/>
          <a:lstStyle/>
          <a:p>
            <a:endParaRPr lang="zh-CN" altLang="en-US">
              <a:solidFill>
                <a:srgbClr val="A50021"/>
              </a:solidFill>
            </a:endParaRPr>
          </a:p>
        </p:txBody>
      </p:sp>
      <p:sp>
        <p:nvSpPr>
          <p:cNvPr id="9" name="Line 20">
            <a:extLst>
              <a:ext uri="{FF2B5EF4-FFF2-40B4-BE49-F238E27FC236}">
                <a16:creationId xmlns:a16="http://schemas.microsoft.com/office/drawing/2014/main" id="{2643B830-B54A-4F7A-894B-087F09BA5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5074" y="4675932"/>
            <a:ext cx="1431301" cy="0"/>
          </a:xfrm>
          <a:prstGeom prst="line">
            <a:avLst/>
          </a:prstGeom>
          <a:noFill/>
          <a:ln w="19050" cmpd="dbl">
            <a:solidFill>
              <a:srgbClr val="0000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996" tIns="31998" rIns="63996" bIns="31998"/>
          <a:lstStyle/>
          <a:p>
            <a:endParaRPr lang="zh-CN" altLang="en-US">
              <a:solidFill>
                <a:srgbClr val="A50021"/>
              </a:solidFill>
            </a:endParaRPr>
          </a:p>
        </p:txBody>
      </p:sp>
      <p:sp>
        <p:nvSpPr>
          <p:cNvPr id="10" name="Text Box 21">
            <a:extLst>
              <a:ext uri="{FF2B5EF4-FFF2-40B4-BE49-F238E27FC236}">
                <a16:creationId xmlns:a16="http://schemas.microsoft.com/office/drawing/2014/main" id="{D12A3AA5-D52A-4FDA-A7F5-3FF451A0F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136" y="4512584"/>
            <a:ext cx="590907" cy="341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996" tIns="31998" rIns="63996" bIns="31998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Tx/>
              <a:buNone/>
            </a:pPr>
            <a:r>
              <a:rPr kumimoji="1"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域名</a:t>
            </a:r>
          </a:p>
        </p:txBody>
      </p:sp>
      <p:sp>
        <p:nvSpPr>
          <p:cNvPr id="11" name="Text Box 22">
            <a:extLst>
              <a:ext uri="{FF2B5EF4-FFF2-40B4-BE49-F238E27FC236}">
                <a16:creationId xmlns:a16="http://schemas.microsoft.com/office/drawing/2014/main" id="{20779D85-C402-4DCD-BC95-C9263672F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3731" y="4478194"/>
            <a:ext cx="796091" cy="341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996" tIns="31998" rIns="63996" bIns="31998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Tx/>
              <a:buNone/>
            </a:pP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kumimoji="1"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地址</a:t>
            </a:r>
          </a:p>
        </p:txBody>
      </p:sp>
      <p:sp>
        <p:nvSpPr>
          <p:cNvPr id="12" name="Text Box 23">
            <a:extLst>
              <a:ext uri="{FF2B5EF4-FFF2-40B4-BE49-F238E27FC236}">
                <a16:creationId xmlns:a16="http://schemas.microsoft.com/office/drawing/2014/main" id="{A6DD67FD-365D-403E-A744-B4166E40F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5615" y="4341774"/>
            <a:ext cx="1283404" cy="341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996" tIns="31998" rIns="63996" bIns="31998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Tx/>
              <a:buNone/>
            </a:pP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DNS</a:t>
            </a:r>
            <a:r>
              <a:rPr kumimoji="1"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服务器</a:t>
            </a:r>
          </a:p>
        </p:txBody>
      </p:sp>
    </p:spTree>
    <p:extLst>
      <p:ext uri="{BB962C8B-B14F-4D97-AF65-F5344CB8AC3E}">
        <p14:creationId xmlns:p14="http://schemas.microsoft.com/office/powerpoint/2010/main" val="62338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8208912" cy="2978956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IP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地址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1" lang="en-US" altLang="zh-CN" sz="1800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  <a:r>
              <a:rPr kumimoji="1" lang="zh-CN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r>
              <a:rPr kumimoji="1"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结构：网络号</a:t>
            </a:r>
            <a: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主机号</a:t>
            </a:r>
            <a:endParaRPr kumimoji="1" lang="en-US" altLang="zh-CN" sz="18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分成三类：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180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保留的网络号：用在局域网中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zh-CN" altLang="en-US" sz="18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endParaRPr kumimoji="1"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917ADD-F5A1-4FCE-A630-ECFE736D92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406"/>
          <a:stretch/>
        </p:blipFill>
        <p:spPr>
          <a:xfrm>
            <a:off x="2267744" y="1876512"/>
            <a:ext cx="4104456" cy="1434451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5647184-1785-4A9B-8ADA-9905DE18E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968562"/>
              </p:ext>
            </p:extLst>
          </p:nvPr>
        </p:nvGraphicFramePr>
        <p:xfrm>
          <a:off x="2339752" y="3723878"/>
          <a:ext cx="5112568" cy="1346164"/>
        </p:xfrm>
        <a:graphic>
          <a:graphicData uri="http://schemas.openxmlformats.org/drawingml/2006/table">
            <a:tbl>
              <a:tblPr/>
              <a:tblGrid>
                <a:gridCol w="1049398">
                  <a:extLst>
                    <a:ext uri="{9D8B030D-6E8A-4147-A177-3AD203B41FA5}">
                      <a16:colId xmlns:a16="http://schemas.microsoft.com/office/drawing/2014/main" val="3080085558"/>
                    </a:ext>
                  </a:extLst>
                </a:gridCol>
                <a:gridCol w="3119311">
                  <a:extLst>
                    <a:ext uri="{9D8B030D-6E8A-4147-A177-3AD203B41FA5}">
                      <a16:colId xmlns:a16="http://schemas.microsoft.com/office/drawing/2014/main" val="3784516136"/>
                    </a:ext>
                  </a:extLst>
                </a:gridCol>
                <a:gridCol w="943859">
                  <a:extLst>
                    <a:ext uri="{9D8B030D-6E8A-4147-A177-3AD203B41FA5}">
                      <a16:colId xmlns:a16="http://schemas.microsoft.com/office/drawing/2014/main" val="2460389266"/>
                    </a:ext>
                  </a:extLst>
                </a:gridCol>
              </a:tblGrid>
              <a:tr h="335758"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网络类别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地址段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网络数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721419"/>
                  </a:ext>
                </a:extLst>
              </a:tr>
              <a:tr h="338107"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类网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10.0.0.0——10.255.255.255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763612"/>
                  </a:ext>
                </a:extLst>
              </a:tr>
              <a:tr h="335758"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类网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172.16.0.0——172.31.255.255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207662"/>
                  </a:ext>
                </a:extLst>
              </a:tr>
              <a:tr h="336541"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类网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192.168.0.0——192.168.255.255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328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96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7488832" cy="1970844"/>
          </a:xfrm>
        </p:spPr>
        <p:txBody>
          <a:bodyPr vert="horz" lIns="0" tIns="45720" rIns="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IP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地址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每一类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地址中都保留了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地址段，用在各局域网中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kumimoji="1"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endParaRPr kumimoji="1"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FDD7F68-B5AB-41C2-94E9-594712803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354882"/>
              </p:ext>
            </p:extLst>
          </p:nvPr>
        </p:nvGraphicFramePr>
        <p:xfrm>
          <a:off x="1187624" y="2427733"/>
          <a:ext cx="5148546" cy="1656185"/>
        </p:xfrm>
        <a:graphic>
          <a:graphicData uri="http://schemas.openxmlformats.org/drawingml/2006/table">
            <a:tbl>
              <a:tblPr/>
              <a:tblGrid>
                <a:gridCol w="1056783">
                  <a:extLst>
                    <a:ext uri="{9D8B030D-6E8A-4147-A177-3AD203B41FA5}">
                      <a16:colId xmlns:a16="http://schemas.microsoft.com/office/drawing/2014/main" val="3080085558"/>
                    </a:ext>
                  </a:extLst>
                </a:gridCol>
                <a:gridCol w="3141262">
                  <a:extLst>
                    <a:ext uri="{9D8B030D-6E8A-4147-A177-3AD203B41FA5}">
                      <a16:colId xmlns:a16="http://schemas.microsoft.com/office/drawing/2014/main" val="3784516136"/>
                    </a:ext>
                  </a:extLst>
                </a:gridCol>
                <a:gridCol w="950501">
                  <a:extLst>
                    <a:ext uri="{9D8B030D-6E8A-4147-A177-3AD203B41FA5}">
                      <a16:colId xmlns:a16="http://schemas.microsoft.com/office/drawing/2014/main" val="2460389266"/>
                    </a:ext>
                  </a:extLst>
                </a:gridCol>
              </a:tblGrid>
              <a:tr h="413083"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网络类别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地址段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网络数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721419"/>
                  </a:ext>
                </a:extLst>
              </a:tr>
              <a:tr h="415973"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类网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10.0.0.0——10.255.255.255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763612"/>
                  </a:ext>
                </a:extLst>
              </a:tr>
              <a:tr h="413083"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类网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172.16.0.0——172.31.255.255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207662"/>
                  </a:ext>
                </a:extLst>
              </a:tr>
              <a:tr h="414046"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类网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192.168.0.0——192.168.255.255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328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471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5832700" cy="1394780"/>
          </a:xfrm>
        </p:spPr>
        <p:txBody>
          <a:bodyPr vert="horz" lIns="0" tIns="45720" rIns="0" bIns="45720" rtlCol="0">
            <a:noAutofit/>
          </a:bodyPr>
          <a:lstStyle/>
          <a:p>
            <a:pPr eaLnBrk="0" hangingPunct="0">
              <a:lnSpc>
                <a:spcPct val="125000"/>
              </a:lnSpc>
              <a:buFontTx/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IP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lnSpc>
                <a:spcPct val="125000"/>
              </a:lnSpc>
              <a:buFontTx/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IPv6</a:t>
            </a:r>
            <a:endParaRPr kumimoji="1"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16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个字节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128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简单估计：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地址数量是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1800" baseline="30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倍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3194184-D2F5-4583-94FD-52DAA68A96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77" t="30191" r="27184" b="28296"/>
          <a:stretch>
            <a:fillRect/>
          </a:stretch>
        </p:blipFill>
        <p:spPr>
          <a:xfrm>
            <a:off x="1499686" y="2968905"/>
            <a:ext cx="1779764" cy="130516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58DAD73-547B-4FAB-A42C-6246DFD10C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967192"/>
            <a:ext cx="1776170" cy="133212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3EB8D5BB-5182-40C3-B52B-01ED0FD54FD0}"/>
              </a:ext>
            </a:extLst>
          </p:cNvPr>
          <p:cNvSpPr txBox="1"/>
          <p:nvPr/>
        </p:nvSpPr>
        <p:spPr>
          <a:xfrm>
            <a:off x="1043608" y="4321428"/>
            <a:ext cx="29370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kumimoji="1"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地址数量：</a:t>
            </a:r>
            <a:r>
              <a:rPr kumimoji="1"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IPv4</a:t>
            </a:r>
            <a:r>
              <a:rPr kumimoji="1"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相当一把沙子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B40C75-9ABF-47DE-A624-5345FCD321E0}"/>
              </a:ext>
            </a:extLst>
          </p:cNvPr>
          <p:cNvSpPr txBox="1"/>
          <p:nvPr/>
        </p:nvSpPr>
        <p:spPr>
          <a:xfrm>
            <a:off x="4568536" y="4319460"/>
            <a:ext cx="29370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kumimoji="1"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地址数量：</a:t>
            </a:r>
            <a:r>
              <a:rPr kumimoji="1"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IPv6</a:t>
            </a:r>
            <a:r>
              <a:rPr kumimoji="1"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相当一片沙漠</a:t>
            </a:r>
          </a:p>
        </p:txBody>
      </p:sp>
    </p:spTree>
    <p:extLst>
      <p:ext uri="{BB962C8B-B14F-4D97-AF65-F5344CB8AC3E}">
        <p14:creationId xmlns:p14="http://schemas.microsoft.com/office/powerpoint/2010/main" val="183718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7920880" cy="4182554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IPv6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IPv6</a:t>
            </a:r>
            <a:endParaRPr kumimoji="1"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冒分十六进制表示法：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kumimoji="1" lang="en-US" altLang="zh-CN" sz="14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XXXX:XXXX:XXXX:XXXX:XXXX:XXXX:XXXX:XXXX</a:t>
            </a:r>
            <a:endParaRPr kumimoji="1" lang="zh-CN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kumimoji="1" lang="en-US" altLang="zh-CN" sz="20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2001:0000:9d38:0b87:14ea:007d:4b65:b04a</a:t>
            </a:r>
            <a:r>
              <a:rPr kumimoji="1"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每一段中的前导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可以省略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2001:0:9d38:b87:14ea:7d:4b65:b04a</a:t>
            </a:r>
            <a:endParaRPr kumimoji="1" lang="zh-CN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② 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若连续的一段或几段全是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，可以压缩为“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”。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为保证地址解析的唯一性，地址中“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”只能出现一次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FF03:0:0:0:0:0:0:1001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FF03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::1001</a:t>
            </a:r>
            <a:endParaRPr kumimoji="1" lang="zh-CN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0:0:0:0:0:0:0:1 → ::1</a:t>
            </a:r>
            <a:endParaRPr kumimoji="1" lang="zh-CN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0:0:0:0:0:0:0:0 → ::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06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7920880" cy="4182554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IPv6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IPv6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的前缀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前缀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2001:0000:9d38:0b87:14ea:007d:4b65:b04a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/64      </a:t>
            </a:r>
            <a:endParaRPr kumimoji="1" lang="en-US" altLang="zh-C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换成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位二进制后的前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位为前缀，代表网络地址。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75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7848872" cy="4059076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域名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DNS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服务器：将域名转换成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域名：</a:t>
            </a:r>
            <a:r>
              <a:rPr kumimoji="1" lang="en-US" altLang="zh-CN" sz="26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WWW.163.COM</a:t>
            </a:r>
            <a:b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1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</a:t>
            </a:r>
            <a:r>
              <a:rPr kumimoji="1"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主机名</a:t>
            </a:r>
            <a:r>
              <a:rPr kumimoji="1" lang="en-US" altLang="zh-CN" sz="1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机构</a:t>
            </a:r>
            <a:r>
              <a:rPr kumimoji="1" lang="zh-CN" altLang="en-US" sz="14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名 顶级域名</a:t>
            </a:r>
            <a:endParaRPr kumimoji="1" lang="en-US" altLang="zh-CN" sz="1400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zh-CN" altLang="en-US" sz="1400" cap="all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kumimoji="1" lang="en-US" altLang="zh-CN" sz="2600" cap="all" spc="2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www.moe.edu.cn</a:t>
            </a:r>
            <a:r>
              <a:rPr kumimoji="1" lang="en-US" altLang="zh-CN" sz="2600" cap="all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zh-CN" altLang="en-US" sz="2600" cap="all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中国教育部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kumimoji="1" lang="en-US" altLang="zh-CN" sz="2600" cap="all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jsjjc.tongji.edu.cn</a:t>
            </a:r>
            <a:r>
              <a:rPr kumimoji="1" lang="en-US" altLang="zh-CN" sz="2600" cap="all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zh-CN" altLang="en-US" sz="1800" cap="all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同济大学计算机基础教学网站</a:t>
            </a:r>
            <a:b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1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kumimoji="1"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机器名          机构名        二级域名 顶级域名</a:t>
            </a:r>
            <a:endParaRPr kumimoji="1" lang="en-US" altLang="zh-CN" sz="1400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kumimoji="1"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                                          网络名    国家名</a:t>
            </a:r>
            <a:endParaRPr kumimoji="1" lang="en-US" altLang="zh-CN" sz="1400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从左到右，域的范围变大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具有实际含义，比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地址好记</a:t>
            </a: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56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7056784" cy="848078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域名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顶级域名：类型名、区域名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D65BF27E-D2C9-44B3-965C-1359B9947A26}"/>
              </a:ext>
            </a:extLst>
          </p:cNvPr>
          <p:cNvGraphicFramePr>
            <a:graphicFrameLocks noGrp="1"/>
          </p:cNvGraphicFramePr>
          <p:nvPr/>
        </p:nvGraphicFramePr>
        <p:xfrm>
          <a:off x="971600" y="1892019"/>
          <a:ext cx="6608408" cy="1615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2207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域名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意义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域名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意义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域名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意义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42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com</a:t>
                      </a: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商业类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0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edu</a:t>
                      </a: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教育类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gov</a:t>
                      </a:r>
                      <a:endParaRPr lang="zh-CN" sz="1600" b="0" kern="10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政府部门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42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int</a:t>
                      </a:r>
                      <a:endParaRPr lang="zh-CN" sz="1600" b="0" kern="10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国际机构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mil</a:t>
                      </a: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军事类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net</a:t>
                      </a: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网络机构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org</a:t>
                      </a:r>
                      <a:endParaRPr lang="zh-CN" sz="1600" b="0" kern="10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非盈利组织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39445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39445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" name="Group 65">
            <a:extLst>
              <a:ext uri="{FF2B5EF4-FFF2-40B4-BE49-F238E27FC236}">
                <a16:creationId xmlns:a16="http://schemas.microsoft.com/office/drawing/2014/main" id="{75AA02E6-83D1-43F3-B0B6-7D274C986C9E}"/>
              </a:ext>
            </a:extLst>
          </p:cNvPr>
          <p:cNvGraphicFramePr>
            <a:graphicFrameLocks noGrp="1"/>
          </p:cNvGraphicFramePr>
          <p:nvPr/>
        </p:nvGraphicFramePr>
        <p:xfrm>
          <a:off x="971600" y="3758515"/>
          <a:ext cx="6624962" cy="848078"/>
        </p:xfrm>
        <a:graphic>
          <a:graphicData uri="http://schemas.openxmlformats.org/drawingml/2006/table">
            <a:tbl>
              <a:tblPr/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3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4039"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cn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4175" marR="64175" marT="33703" marB="33703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中国</a:t>
                      </a:r>
                    </a:p>
                  </a:txBody>
                  <a:tcPr marL="64175" marR="64175" marT="33703" marB="33703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jp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4175" marR="64175" marT="33703" marB="33703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日本</a:t>
                      </a:r>
                    </a:p>
                  </a:txBody>
                  <a:tcPr marL="64175" marR="64175" marT="33703" marB="33703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se</a:t>
                      </a:r>
                    </a:p>
                  </a:txBody>
                  <a:tcPr marL="64175" marR="64175" marT="33703" marB="33703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瑞典</a:t>
                      </a:r>
                    </a:p>
                  </a:txBody>
                  <a:tcPr marL="64175" marR="64175" marT="33703" marB="33703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039"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de</a:t>
                      </a:r>
                    </a:p>
                  </a:txBody>
                  <a:tcPr marL="64175" marR="64175" marT="33703" marB="33703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德国</a:t>
                      </a:r>
                    </a:p>
                  </a:txBody>
                  <a:tcPr marL="64175" marR="64175" marT="33703" marB="33703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kr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4175" marR="64175" marT="33703" marB="33703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韩国</a:t>
                      </a:r>
                    </a:p>
                  </a:txBody>
                  <a:tcPr marL="64175" marR="64175" marT="33703" marB="33703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sg</a:t>
                      </a:r>
                    </a:p>
                  </a:txBody>
                  <a:tcPr marL="64175" marR="64175" marT="33703" marB="33703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新加坡</a:t>
                      </a:r>
                    </a:p>
                  </a:txBody>
                  <a:tcPr marL="64175" marR="64175" marT="33703" marB="33703" anchor="ctr" anchorCtr="1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00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7992888" cy="2186868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域名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顶级域名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之下的二级域名</a:t>
            </a:r>
            <a:b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① 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个行政区域名用两个字符的汉语拼音</a:t>
            </a:r>
            <a:b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北京、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上海</a:t>
            </a:r>
            <a:b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② 6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个类别域名</a:t>
            </a: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Group 41">
            <a:extLst>
              <a:ext uri="{FF2B5EF4-FFF2-40B4-BE49-F238E27FC236}">
                <a16:creationId xmlns:a16="http://schemas.microsoft.com/office/drawing/2014/main" id="{4B14328A-B004-4BE1-9A20-9CE3B4E0BDE5}"/>
              </a:ext>
            </a:extLst>
          </p:cNvPr>
          <p:cNvGraphicFramePr>
            <a:graphicFrameLocks noGrp="1"/>
          </p:cNvGraphicFramePr>
          <p:nvPr/>
        </p:nvGraphicFramePr>
        <p:xfrm>
          <a:off x="1619672" y="3147814"/>
          <a:ext cx="4896544" cy="1512169"/>
        </p:xfrm>
        <a:graphic>
          <a:graphicData uri="http://schemas.openxmlformats.org/drawingml/2006/table">
            <a:tbl>
              <a:tblPr/>
              <a:tblGrid>
                <a:gridCol w="81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1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9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445"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域名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意义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域名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意义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445"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ac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科研机构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edu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教育机构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45"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com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工商金融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gov</a:t>
                      </a:r>
                      <a:endParaRPr kumimoji="1" lang="en-US" altLang="zh-CN" sz="160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306195"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54050" defTabSz="1306195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306830" defTabSz="1306195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960880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613025" defTabSz="1306195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30702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5274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9846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441825" defTabSz="130619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政府部门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834">
                <a:tc>
                  <a:txBody>
                    <a:bodyPr/>
                    <a:lstStyle/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Net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网络机构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org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0619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非盈利组织</a:t>
                      </a:r>
                    </a:p>
                  </a:txBody>
                  <a:tcPr marL="43886" marR="43886" marT="23047" marB="23047" anchor="ctr" horzOverflow="overflow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Box 3">
            <a:extLst>
              <a:ext uri="{FF2B5EF4-FFF2-40B4-BE49-F238E27FC236}">
                <a16:creationId xmlns:a16="http://schemas.microsoft.com/office/drawing/2014/main" id="{BCE1C114-A77A-46D7-B492-0173837D3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4777206"/>
            <a:ext cx="3456384" cy="341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992" tIns="31996" rIns="63992" bIns="31996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可以直接使用中文命名域名</a:t>
            </a:r>
            <a:endParaRPr kumimoji="1"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90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7992888" cy="4182554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基本服务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① WWW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HTTP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协议：超文本传输协议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    统一资源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定位规范（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 Resource Locator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URL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http://www.most.gov.cn:80/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index.htm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② FTP</a:t>
            </a: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File Transfer Protocol</a:t>
            </a:r>
            <a:b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FTP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是一个双向的文件传输协议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utoShape 10">
            <a:extLst>
              <a:ext uri="{FF2B5EF4-FFF2-40B4-BE49-F238E27FC236}">
                <a16:creationId xmlns:a16="http://schemas.microsoft.com/office/drawing/2014/main" id="{95F9CA1B-8058-4846-A00B-FE8F0EF27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3534922"/>
            <a:ext cx="1030610" cy="319904"/>
          </a:xfrm>
          <a:prstGeom prst="wedgeRectCallout">
            <a:avLst>
              <a:gd name="adj1" fmla="val 43180"/>
              <a:gd name="adj2" fmla="val -232798"/>
            </a:avLst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lIns="82201" tIns="41101" rIns="82201" bIns="41101" anchor="ctr"/>
          <a:lstStyle>
            <a:lvl1pPr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9105"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827530"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2847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7419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1991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563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资源类型</a:t>
            </a:r>
          </a:p>
        </p:txBody>
      </p:sp>
      <p:sp>
        <p:nvSpPr>
          <p:cNvPr id="28" name="AutoShape 11">
            <a:extLst>
              <a:ext uri="{FF2B5EF4-FFF2-40B4-BE49-F238E27FC236}">
                <a16:creationId xmlns:a16="http://schemas.microsoft.com/office/drawing/2014/main" id="{EE6588F6-1068-4D30-B5F0-9725C7C3F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45" y="3534922"/>
            <a:ext cx="1030610" cy="319904"/>
          </a:xfrm>
          <a:prstGeom prst="wedgeRectCallout">
            <a:avLst>
              <a:gd name="adj1" fmla="val 43988"/>
              <a:gd name="adj2" fmla="val -245377"/>
            </a:avLst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lIns="82201" tIns="41101" rIns="82201" bIns="41101" anchor="ctr"/>
          <a:lstStyle>
            <a:lvl1pPr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9105"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827530"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2847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7419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1991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563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主机域名 </a:t>
            </a:r>
          </a:p>
        </p:txBody>
      </p:sp>
      <p:sp>
        <p:nvSpPr>
          <p:cNvPr id="29" name="AutoShape 12">
            <a:extLst>
              <a:ext uri="{FF2B5EF4-FFF2-40B4-BE49-F238E27FC236}">
                <a16:creationId xmlns:a16="http://schemas.microsoft.com/office/drawing/2014/main" id="{4C721EF8-A9E3-4A45-BD19-BF4AC8067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968" y="3534922"/>
            <a:ext cx="1171457" cy="319904"/>
          </a:xfrm>
          <a:prstGeom prst="wedgeRectCallout">
            <a:avLst>
              <a:gd name="adj1" fmla="val -62584"/>
              <a:gd name="adj2" fmla="val -239709"/>
            </a:avLst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lIns="82201" tIns="41101" rIns="82201" bIns="41101" anchor="ctr"/>
          <a:lstStyle>
            <a:lvl1pPr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9105"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827530"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2847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7419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1991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563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资源文件</a:t>
            </a:r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9CA88EEE-99BC-4FE7-AF26-7D05608F9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824" y="3534922"/>
            <a:ext cx="1030610" cy="319904"/>
          </a:xfrm>
          <a:prstGeom prst="wedgeRectCallout">
            <a:avLst>
              <a:gd name="adj1" fmla="val -2942"/>
              <a:gd name="adj2" fmla="val -230087"/>
            </a:avLst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lIns="82201" tIns="41101" rIns="82201" bIns="41101" anchor="ctr"/>
          <a:lstStyle>
            <a:lvl1pPr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9105"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827530" eaLnBrk="0" hangingPunct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2847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7419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1991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56330" indent="54927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16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端口号 </a:t>
            </a:r>
          </a:p>
        </p:txBody>
      </p:sp>
    </p:spTree>
    <p:extLst>
      <p:ext uri="{BB962C8B-B14F-4D97-AF65-F5344CB8AC3E}">
        <p14:creationId xmlns:p14="http://schemas.microsoft.com/office/powerpoint/2010/main" val="198440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7992888" cy="2186868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基本服务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其他服务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远程桌面：通过网络控制另一台计算机，如同在自己的计算机操作一样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被控制的计算机	    控制的计算机</a:t>
            </a: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5">
            <a:extLst>
              <a:ext uri="{FF2B5EF4-FFF2-40B4-BE49-F238E27FC236}">
                <a16:creationId xmlns:a16="http://schemas.microsoft.com/office/drawing/2014/main" id="{116C098C-5722-404D-92AB-3882B2B2E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7744" y="2787774"/>
            <a:ext cx="2189564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2" name="Picture 6">
            <a:extLst>
              <a:ext uri="{FF2B5EF4-FFF2-40B4-BE49-F238E27FC236}">
                <a16:creationId xmlns:a16="http://schemas.microsoft.com/office/drawing/2014/main" id="{64B1E2EE-2BE3-4155-9D5A-2C064857B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58700" y="2754612"/>
            <a:ext cx="2387637" cy="1372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3" name="Picture 7">
            <a:extLst>
              <a:ext uri="{FF2B5EF4-FFF2-40B4-BE49-F238E27FC236}">
                <a16:creationId xmlns:a16="http://schemas.microsoft.com/office/drawing/2014/main" id="{E21EE956-1891-4628-A8B1-345D81525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40152" y="3527290"/>
            <a:ext cx="2087896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39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8208912" cy="3555020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基本服务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其他服务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VPN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虚拟专用网络，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在公用网络上建立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专用网络</a:t>
            </a:r>
            <a:b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同济大学提供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VPN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校区外的电脑等同于校园的电脑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使用：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vpn.tongji.cn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作用：有些系统、文献检索</a:t>
            </a:r>
          </a:p>
          <a:p>
            <a:pPr>
              <a:lnSpc>
                <a:spcPct val="150000"/>
              </a:lnSpc>
              <a:spcBef>
                <a:spcPts val="300"/>
              </a:spcBef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5">
            <a:extLst>
              <a:ext uri="{FF2B5EF4-FFF2-40B4-BE49-F238E27FC236}">
                <a16:creationId xmlns:a16="http://schemas.microsoft.com/office/drawing/2014/main" id="{8693639E-7A88-457F-9AA9-E074C10D6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36096" y="1920806"/>
            <a:ext cx="2635086" cy="259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974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8208912" cy="3555020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信息浏览和检索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）基本使用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输入域名或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）搜索引擎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8835A3F-9765-4F76-AB5F-27787064CD68}"/>
              </a:ext>
            </a:extLst>
          </p:cNvPr>
          <p:cNvGraphicFramePr>
            <a:graphicFrameLocks noGrp="1"/>
          </p:cNvGraphicFramePr>
          <p:nvPr/>
        </p:nvGraphicFramePr>
        <p:xfrm>
          <a:off x="1187624" y="2715766"/>
          <a:ext cx="6336704" cy="201802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644725">
                  <a:extLst>
                    <a:ext uri="{9D8B030D-6E8A-4147-A177-3AD203B41FA5}">
                      <a16:colId xmlns:a16="http://schemas.microsoft.com/office/drawing/2014/main" val="3493786798"/>
                    </a:ext>
                  </a:extLst>
                </a:gridCol>
                <a:gridCol w="2243707">
                  <a:extLst>
                    <a:ext uri="{9D8B030D-6E8A-4147-A177-3AD203B41FA5}">
                      <a16:colId xmlns:a16="http://schemas.microsoft.com/office/drawing/2014/main" val="126183588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499365514"/>
                    </a:ext>
                  </a:extLst>
                </a:gridCol>
              </a:tblGrid>
              <a:tr h="336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搜索引擎名称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URL</a:t>
                      </a: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地址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说</a:t>
                      </a:r>
                      <a:r>
                        <a:rPr lang="en-US" sz="1600" b="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CN" sz="1600" b="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794646"/>
                  </a:ext>
                </a:extLst>
              </a:tr>
              <a:tr h="336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百度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http://</a:t>
                      </a:r>
                      <a:r>
                        <a:rPr lang="en-US" sz="1600" b="0" kern="10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www.baidu.com</a:t>
                      </a: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全球最大的中文搜索引擎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29234"/>
                  </a:ext>
                </a:extLst>
              </a:tr>
              <a:tr h="334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Google</a:t>
                      </a: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谷歌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http://</a:t>
                      </a:r>
                      <a:r>
                        <a:rPr lang="en-US" sz="1600" b="0" kern="10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google.com.hk</a:t>
                      </a: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全球最大的搜索引擎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741306"/>
                  </a:ext>
                </a:extLst>
              </a:tr>
              <a:tr h="336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搜搜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http://</a:t>
                      </a:r>
                      <a:r>
                        <a:rPr lang="en-US" sz="1600" b="0" kern="10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www.soso.com</a:t>
                      </a: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腾讯公司的搜索引擎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864042"/>
                  </a:ext>
                </a:extLst>
              </a:tr>
              <a:tr h="336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搜狗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http://</a:t>
                      </a:r>
                      <a:r>
                        <a:rPr lang="en-US" sz="1600" b="0" kern="10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www.sogou.com</a:t>
                      </a: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搜狐公司的搜索引擎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080676"/>
                  </a:ext>
                </a:extLst>
              </a:tr>
              <a:tr h="336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必应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http://</a:t>
                      </a:r>
                      <a:r>
                        <a:rPr lang="en-US" sz="1600" b="0" kern="10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cn.bing.com</a:t>
                      </a: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微软公司的搜索引擎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248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5222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6048724" cy="4131436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信息浏览和检索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）文献检索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buFontTx/>
              <a:buNone/>
              <a:defRPr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① 文献数据库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25000"/>
              </a:lnSpc>
              <a:spcBef>
                <a:spcPts val="0"/>
              </a:spcBef>
              <a:buFontTx/>
              <a:buNone/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※ </a:t>
            </a:r>
            <a:r>
              <a:rPr kumimoji="1" lang="zh-CN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中国</a:t>
            </a:r>
            <a:r>
              <a:rPr kumimoji="1"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学术期刊（</a:t>
            </a:r>
            <a:r>
              <a:rPr kumimoji="1" lang="en-US" altLang="zh-CN" sz="1800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CNKI</a:t>
            </a:r>
            <a:r>
              <a:rPr kumimoji="1"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18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25000"/>
              </a:lnSpc>
              <a:spcBef>
                <a:spcPts val="0"/>
              </a:spcBef>
              <a:buFontTx/>
              <a:buNone/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※</a:t>
            </a:r>
            <a:r>
              <a:rPr kumimoji="1" lang="zh-CN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万方数字资源系统</a:t>
            </a:r>
            <a:endParaRPr kumimoji="1" lang="en-US" altLang="zh-CN" sz="18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25000"/>
              </a:lnSpc>
              <a:spcBef>
                <a:spcPts val="0"/>
              </a:spcBef>
              <a:buFontTx/>
              <a:buNone/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※ </a:t>
            </a:r>
            <a:r>
              <a:rPr kumimoji="1" lang="zh-CN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维普中国科技期刊</a:t>
            </a:r>
            <a:endParaRPr kumimoji="1" lang="en-US" altLang="zh-CN" sz="18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25000"/>
              </a:lnSpc>
              <a:spcBef>
                <a:spcPts val="0"/>
              </a:spcBef>
              <a:buFontTx/>
              <a:buNone/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※ Web of Science(SCI)</a:t>
            </a:r>
          </a:p>
          <a:p>
            <a:pPr marL="0" indent="0" defTabSz="914400">
              <a:lnSpc>
                <a:spcPct val="125000"/>
              </a:lnSpc>
              <a:spcBef>
                <a:spcPts val="0"/>
              </a:spcBef>
              <a:buFontTx/>
              <a:buNone/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※ </a:t>
            </a:r>
            <a:r>
              <a:rPr kumimoji="1" lang="en-US" altLang="zh-CN" sz="1800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Compendex</a:t>
            </a:r>
            <a:endParaRPr kumimoji="1" lang="en-US" altLang="zh-CN" sz="18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② 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各大搜索引擎也提供了文献搜索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25000"/>
              </a:lnSpc>
              <a:spcBef>
                <a:spcPts val="0"/>
              </a:spcBef>
              <a:buFontTx/>
              <a:buNone/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※</a:t>
            </a:r>
            <a:r>
              <a:rPr kumimoji="1" lang="zh-CN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百度学术搜索</a:t>
            </a:r>
            <a:r>
              <a:rPr kumimoji="1"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</a:t>
            </a:r>
            <a:r>
              <a:rPr kumimoji="1" lang="en-US" altLang="zh-CN" sz="1800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xueshu.baidu.com</a:t>
            </a:r>
            <a:b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※ google</a:t>
            </a:r>
            <a:r>
              <a:rPr kumimoji="1" lang="zh-CN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学术搜索</a:t>
            </a:r>
            <a:r>
              <a:rPr kumimoji="1"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</a:t>
            </a:r>
            <a:r>
              <a:rPr kumimoji="1" lang="en-US" altLang="zh-CN" sz="1800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scholar.google.com</a:t>
            </a:r>
            <a:b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7">
            <a:extLst>
              <a:ext uri="{FF2B5EF4-FFF2-40B4-BE49-F238E27FC236}">
                <a16:creationId xmlns:a16="http://schemas.microsoft.com/office/drawing/2014/main" id="{6FF701A0-8FAD-4072-A3D5-C24FC86B1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67944" y="1047992"/>
            <a:ext cx="4104031" cy="2383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6">
            <a:extLst>
              <a:ext uri="{FF2B5EF4-FFF2-40B4-BE49-F238E27FC236}">
                <a16:creationId xmlns:a16="http://schemas.microsoft.com/office/drawing/2014/main" id="{48FC5516-D2F0-4DBA-B11B-BE1DFC02D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1798" y="1995686"/>
            <a:ext cx="1976706" cy="3090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914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03B564B-6D03-4EDE-B523-9400832E5116}"/>
              </a:ext>
            </a:extLst>
          </p:cNvPr>
          <p:cNvCxnSpPr>
            <a:cxnSpLocks/>
          </p:cNvCxnSpPr>
          <p:nvPr/>
        </p:nvCxnSpPr>
        <p:spPr>
          <a:xfrm flipV="1">
            <a:off x="3419898" y="2427029"/>
            <a:ext cx="936104" cy="612008"/>
          </a:xfrm>
          <a:prstGeom prst="line">
            <a:avLst/>
          </a:prstGeom>
          <a:ln w="158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76D2E07-4D1B-4C86-8BCB-074695E9EE59}"/>
              </a:ext>
            </a:extLst>
          </p:cNvPr>
          <p:cNvCxnSpPr>
            <a:cxnSpLocks/>
          </p:cNvCxnSpPr>
          <p:nvPr/>
        </p:nvCxnSpPr>
        <p:spPr>
          <a:xfrm flipH="1">
            <a:off x="2657846" y="2001120"/>
            <a:ext cx="1" cy="1088611"/>
          </a:xfrm>
          <a:prstGeom prst="line">
            <a:avLst/>
          </a:prstGeom>
          <a:ln w="158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四、物联网</a:t>
            </a:r>
            <a:endParaRPr lang="zh-CN" altLang="en-US" sz="2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5A8B9F-A94A-46AF-AE33-1ADAAA47E9C0}"/>
              </a:ext>
            </a:extLst>
          </p:cNvPr>
          <p:cNvSpPr/>
          <p:nvPr/>
        </p:nvSpPr>
        <p:spPr>
          <a:xfrm>
            <a:off x="5436096" y="1016796"/>
            <a:ext cx="3672745" cy="3374898"/>
          </a:xfrm>
          <a:prstGeom prst="rect">
            <a:avLst/>
          </a:prstGeom>
          <a:ln w="15875"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智慧校园：物联网的典型应用</a:t>
            </a:r>
            <a:endParaRPr kumimoji="1"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</a:t>
            </a:r>
            <a:r>
              <a:rPr kumimoji="1"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各种传感器、阅读器、摄像头等</a:t>
            </a:r>
            <a:endParaRPr kumimoji="1"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采集数据</a:t>
            </a:r>
            <a:endParaRPr kumimoji="1"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</a:t>
            </a:r>
            <a:r>
              <a:rPr kumimoji="1"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通过有线、无线（</a:t>
            </a:r>
            <a:r>
              <a:rPr kumimoji="1"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WiFi</a:t>
            </a:r>
            <a:r>
              <a:rPr kumimoji="1"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）、</a:t>
            </a:r>
            <a:r>
              <a:rPr kumimoji="1"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4G</a:t>
            </a:r>
            <a:r>
              <a:rPr kumimoji="1"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1"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5G</a:t>
            </a:r>
            <a:r>
              <a:rPr kumimoji="1"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endParaRPr kumimoji="1"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传上校园网</a:t>
            </a:r>
            <a:endParaRPr kumimoji="1"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</a:t>
            </a:r>
            <a:r>
              <a:rPr kumimoji="1"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数据中心：</a:t>
            </a:r>
            <a:endParaRPr kumimoji="1"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kumimoji="1"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处理、管理、服务、控制</a:t>
            </a:r>
            <a:endParaRPr kumimoji="1"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kumimoji="1"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物联网：</a:t>
            </a:r>
            <a:r>
              <a:rPr kumimoji="1" lang="zh-CN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互联网的延伸与扩展</a:t>
            </a:r>
            <a:endParaRPr kumimoji="1"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</a:t>
            </a:r>
            <a:r>
              <a:rPr kumimoji="1" lang="zh-CN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物物相连的互联网</a:t>
            </a:r>
            <a:endParaRPr kumimoji="1"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85413FE-EDE3-41D0-BB0D-CDD5820A1311}"/>
              </a:ext>
            </a:extLst>
          </p:cNvPr>
          <p:cNvCxnSpPr>
            <a:cxnSpLocks/>
          </p:cNvCxnSpPr>
          <p:nvPr/>
        </p:nvCxnSpPr>
        <p:spPr>
          <a:xfrm>
            <a:off x="922011" y="2407353"/>
            <a:ext cx="864096" cy="467992"/>
          </a:xfrm>
          <a:prstGeom prst="line">
            <a:avLst/>
          </a:prstGeom>
          <a:ln w="158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9FE87273-812C-43A6-B3FA-40034683A90A}"/>
              </a:ext>
            </a:extLst>
          </p:cNvPr>
          <p:cNvSpPr/>
          <p:nvPr/>
        </p:nvSpPr>
        <p:spPr bwMode="gray">
          <a:xfrm>
            <a:off x="35496" y="1718953"/>
            <a:ext cx="936000" cy="936000"/>
          </a:xfrm>
          <a:prstGeom prst="ellipse">
            <a:avLst/>
          </a:prstGeom>
          <a:noFill/>
          <a:ln w="158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智慧照明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9ED8207-17BA-4078-8501-B52CBF41FB01}"/>
              </a:ext>
            </a:extLst>
          </p:cNvPr>
          <p:cNvSpPr/>
          <p:nvPr/>
        </p:nvSpPr>
        <p:spPr bwMode="gray">
          <a:xfrm>
            <a:off x="35496" y="3744469"/>
            <a:ext cx="936000" cy="936000"/>
          </a:xfrm>
          <a:prstGeom prst="ellipse">
            <a:avLst/>
          </a:prstGeom>
          <a:noFill/>
          <a:ln w="158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平安校园</a:t>
            </a:r>
            <a:endParaRPr lang="en-US" altLang="zh-CN" sz="16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554D6DB-8C9A-40CC-879D-D028A8B99F94}"/>
              </a:ext>
            </a:extLst>
          </p:cNvPr>
          <p:cNvSpPr/>
          <p:nvPr/>
        </p:nvSpPr>
        <p:spPr bwMode="gray">
          <a:xfrm>
            <a:off x="4286216" y="3647528"/>
            <a:ext cx="936000" cy="936000"/>
          </a:xfrm>
          <a:prstGeom prst="ellipse">
            <a:avLst/>
          </a:prstGeom>
          <a:noFill/>
          <a:ln w="158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</a:t>
            </a:r>
            <a:br>
              <a:rPr lang="en-US" altLang="zh-CN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图书馆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94D14F6-65AE-4B6D-87C4-E285BEB8A307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3347864" y="3647528"/>
            <a:ext cx="938352" cy="468000"/>
          </a:xfrm>
          <a:prstGeom prst="line">
            <a:avLst/>
          </a:prstGeom>
          <a:ln w="158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BBB9032-2987-436B-9BDB-37283381F9E8}"/>
              </a:ext>
            </a:extLst>
          </p:cNvPr>
          <p:cNvSpPr txBox="1"/>
          <p:nvPr/>
        </p:nvSpPr>
        <p:spPr>
          <a:xfrm>
            <a:off x="3942132" y="2624446"/>
            <a:ext cx="1619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RFID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技术</a:t>
            </a:r>
            <a:b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NFC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技术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6C2D662-2D30-4534-A12E-B715E6DB6B22}"/>
              </a:ext>
            </a:extLst>
          </p:cNvPr>
          <p:cNvSpPr txBox="1"/>
          <p:nvPr/>
        </p:nvSpPr>
        <p:spPr>
          <a:xfrm>
            <a:off x="-69318" y="1399938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光照传感器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688D835-CC2B-458C-AA7E-40007FC8B234}"/>
              </a:ext>
            </a:extLst>
          </p:cNvPr>
          <p:cNvSpPr txBox="1"/>
          <p:nvPr/>
        </p:nvSpPr>
        <p:spPr>
          <a:xfrm>
            <a:off x="4047067" y="4537452"/>
            <a:ext cx="1677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图书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RFID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标签等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3034B02-28C6-43FC-BED5-0238B4DE4E11}"/>
              </a:ext>
            </a:extLst>
          </p:cNvPr>
          <p:cNvSpPr/>
          <p:nvPr/>
        </p:nvSpPr>
        <p:spPr bwMode="gray">
          <a:xfrm>
            <a:off x="2195736" y="1068871"/>
            <a:ext cx="936000" cy="936000"/>
          </a:xfrm>
          <a:prstGeom prst="ellipse">
            <a:avLst/>
          </a:prstGeom>
          <a:noFill/>
          <a:ln w="158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智慧教室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6003F5A-7B56-4E32-8B7C-CDA6E625B0D0}"/>
              </a:ext>
            </a:extLst>
          </p:cNvPr>
          <p:cNvSpPr txBox="1"/>
          <p:nvPr/>
        </p:nvSpPr>
        <p:spPr>
          <a:xfrm>
            <a:off x="2843808" y="955262"/>
            <a:ext cx="26912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摄像头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人脸识别：</a:t>
            </a:r>
          </a:p>
          <a:p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到课率、抬头率、点头率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场所码等</a:t>
            </a:r>
            <a:b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D985A23-35F2-4E7C-B16E-F7D84310F885}"/>
              </a:ext>
            </a:extLst>
          </p:cNvPr>
          <p:cNvCxnSpPr>
            <a:cxnSpLocks/>
            <a:stCxn id="23" idx="6"/>
          </p:cNvCxnSpPr>
          <p:nvPr/>
        </p:nvCxnSpPr>
        <p:spPr>
          <a:xfrm flipV="1">
            <a:off x="971496" y="3744469"/>
            <a:ext cx="864200" cy="468000"/>
          </a:xfrm>
          <a:prstGeom prst="line">
            <a:avLst/>
          </a:prstGeom>
          <a:ln w="158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云形 7">
            <a:extLst>
              <a:ext uri="{FF2B5EF4-FFF2-40B4-BE49-F238E27FC236}">
                <a16:creationId xmlns:a16="http://schemas.microsoft.com/office/drawing/2014/main" id="{7B2927FE-2CA6-49DC-9B0D-101BD7CC88D2}"/>
              </a:ext>
            </a:extLst>
          </p:cNvPr>
          <p:cNvSpPr/>
          <p:nvPr/>
        </p:nvSpPr>
        <p:spPr bwMode="gray">
          <a:xfrm>
            <a:off x="1340578" y="2444675"/>
            <a:ext cx="2520280" cy="1872208"/>
          </a:xfrm>
          <a:prstGeom prst="cloud">
            <a:avLst/>
          </a:prstGeom>
          <a:solidFill>
            <a:schemeClr val="bg1"/>
          </a:solidFill>
          <a:ln w="158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校园网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（双网覆盖）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8DD89AD-D998-4246-9156-2F931EA09128}"/>
              </a:ext>
            </a:extLst>
          </p:cNvPr>
          <p:cNvSpPr/>
          <p:nvPr/>
        </p:nvSpPr>
        <p:spPr bwMode="gray">
          <a:xfrm>
            <a:off x="4283968" y="1718824"/>
            <a:ext cx="936000" cy="936000"/>
          </a:xfrm>
          <a:prstGeom prst="ellipse">
            <a:avLst/>
          </a:prstGeom>
          <a:noFill/>
          <a:ln w="158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一卡通</a:t>
            </a:r>
            <a:endParaRPr lang="en-US" altLang="zh-CN" sz="16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r>
              <a:rPr lang="zh-CN" altLang="en-US" sz="9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实体卡、虚拟卡</a:t>
            </a:r>
            <a:endParaRPr lang="zh-CN" altLang="en-US" sz="1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F7AC41-7124-416E-AFF3-4A04D0AD30EB}"/>
              </a:ext>
            </a:extLst>
          </p:cNvPr>
          <p:cNvSpPr txBox="1"/>
          <p:nvPr/>
        </p:nvSpPr>
        <p:spPr>
          <a:xfrm>
            <a:off x="2183329" y="4659188"/>
            <a:ext cx="1020520" cy="42240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lIns="0" tIns="72000" rIns="0" bIns="72000" rtlCol="0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数据中心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E474577-B935-44F4-BBD2-A31AF2C160C0}"/>
              </a:ext>
            </a:extLst>
          </p:cNvPr>
          <p:cNvCxnSpPr>
            <a:cxnSpLocks/>
          </p:cNvCxnSpPr>
          <p:nvPr/>
        </p:nvCxnSpPr>
        <p:spPr>
          <a:xfrm>
            <a:off x="2699792" y="4316883"/>
            <a:ext cx="0" cy="343099"/>
          </a:xfrm>
          <a:prstGeom prst="line">
            <a:avLst/>
          </a:prstGeom>
          <a:ln w="31750" cmpd="dbl">
            <a:solidFill>
              <a:srgbClr val="00006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B46EFE1-DA56-44A3-B7D3-EF0F66C869AC}"/>
              </a:ext>
            </a:extLst>
          </p:cNvPr>
          <p:cNvSpPr txBox="1"/>
          <p:nvPr/>
        </p:nvSpPr>
        <p:spPr>
          <a:xfrm>
            <a:off x="3313" y="4617715"/>
            <a:ext cx="2048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摄像头、红外传感器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电子围栏、烟感</a:t>
            </a:r>
          </a:p>
        </p:txBody>
      </p:sp>
    </p:spTree>
    <p:extLst>
      <p:ext uri="{BB962C8B-B14F-4D97-AF65-F5344CB8AC3E}">
        <p14:creationId xmlns:p14="http://schemas.microsoft.com/office/powerpoint/2010/main" val="370246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四、物联网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8640960" cy="4131436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物联网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起源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※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1995年，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Gates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在《未来之路》中就提到了物物互联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※ 1999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Kevin Ashton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教授在他的一个报告中首次使用了“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Internet of Things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”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※ 2009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年，中国物联网温家宝总理提出 “感知中国”，自此以后得到长足的发展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70A896-2030-4A78-B419-0CC7B2DC6B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749" y="2736304"/>
            <a:ext cx="3314251" cy="22117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34266E2-B27E-4C33-9B95-0844219BDB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879" y="2736304"/>
            <a:ext cx="4460579" cy="221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0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四、物联网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8640960" cy="4131436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什么是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物联网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0" indent="0" defTabSz="130683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Internet of Things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        	</a:t>
            </a:r>
          </a:p>
          <a:p>
            <a:pPr marL="0" lvl="0" indent="0" defTabSz="130683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物物相连的互联网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互联网的延伸与扩展。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defTabSz="130683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把所有物品通过信息传感设备与互联网连接起来，实现智能化识别、运作与管理功能的网络。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rfid">
            <a:extLst>
              <a:ext uri="{FF2B5EF4-FFF2-40B4-BE49-F238E27FC236}">
                <a16:creationId xmlns:a16="http://schemas.microsoft.com/office/drawing/2014/main" id="{57E50827-05B2-4548-B588-79CB9AD60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084409"/>
            <a:ext cx="2088232" cy="1660653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</a:ln>
        </p:spPr>
      </p:pic>
      <p:pic>
        <p:nvPicPr>
          <p:cNvPr id="6" name="Picture 3" descr="传感器图示">
            <a:extLst>
              <a:ext uri="{FF2B5EF4-FFF2-40B4-BE49-F238E27FC236}">
                <a16:creationId xmlns:a16="http://schemas.microsoft.com/office/drawing/2014/main" id="{C19A2AC5-B0B9-475F-A75D-F3C6B3604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549" y="3075806"/>
            <a:ext cx="2311061" cy="1681482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</a:ln>
        </p:spPr>
      </p:pic>
      <p:pic>
        <p:nvPicPr>
          <p:cNvPr id="7" name="Picture 4" descr="嵌入式">
            <a:extLst>
              <a:ext uri="{FF2B5EF4-FFF2-40B4-BE49-F238E27FC236}">
                <a16:creationId xmlns:a16="http://schemas.microsoft.com/office/drawing/2014/main" id="{5E4859DE-274A-4419-B68D-85A28E151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8172" y="3080707"/>
            <a:ext cx="2341131" cy="1672237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</a:ln>
        </p:spPr>
      </p:pic>
      <p:pic>
        <p:nvPicPr>
          <p:cNvPr id="8" name="Picture 5" descr="位置信息">
            <a:extLst>
              <a:ext uri="{FF2B5EF4-FFF2-40B4-BE49-F238E27FC236}">
                <a16:creationId xmlns:a16="http://schemas.microsoft.com/office/drawing/2014/main" id="{9EAFDC2E-50C5-4002-A649-3D3E5B047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982" y="3076525"/>
            <a:ext cx="2067531" cy="1684093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5150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四、物联网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8352928" cy="3266988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物联网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体系结构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）三个特征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※ </a:t>
            </a:r>
            <a:r>
              <a:rPr lang="en-US" altLang="zh-CN" sz="1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全面感知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利用RFID、传感器、二维码等随时随地获取物体的信息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None/>
              <a:defRPr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※ </a:t>
            </a:r>
            <a:r>
              <a:rPr lang="en-US" altLang="zh-CN" sz="1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可靠传递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通过各种电信网络与互联网的融合，将物体的信息实时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None/>
              <a:defRPr/>
            </a:pP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altLang="zh-CN" sz="1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准确地传递出去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None/>
              <a:defRPr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※ </a:t>
            </a:r>
            <a:r>
              <a:rPr lang="en-US" altLang="zh-CN" sz="1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智能处理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利用云计算、模糊识别等各种智能计算技术，对海量数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None/>
              <a:defRPr/>
            </a:pP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altLang="zh-CN" sz="1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据和信息进行分析和处理，对物体实施智能化的控制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77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二、物联网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3672408" cy="2330884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物联网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体系结构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）三个层次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※ </a:t>
            </a:r>
            <a:r>
              <a:rPr lang="en-US" altLang="zh-CN" sz="1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感知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层    感知数据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None/>
              <a:defRPr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※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网络层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数据传输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None/>
              <a:defRPr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※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应用层    处理和应用信息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1">
            <a:extLst>
              <a:ext uri="{FF2B5EF4-FFF2-40B4-BE49-F238E27FC236}">
                <a16:creationId xmlns:a16="http://schemas.microsoft.com/office/drawing/2014/main" id="{1EC522D8-3C2A-4D12-96F3-F69EACA0B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1868936"/>
            <a:ext cx="4999215" cy="323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0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8496944" cy="3627028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物联网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关键技术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① 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传感技术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手机传感器：重力传感器、指南针、霍尔传感器、接近光传感器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陀螺仪、环境光传感器、指纹传感器等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② 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RFID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技术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射频识别技术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一卡通、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收费系统、二代身份证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/>
              <a:t>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阅读器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电子标签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应用软件</a:t>
            </a: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四、物联网</a:t>
            </a:r>
            <a:endParaRPr lang="zh-CN" altLang="en-US" sz="2400" dirty="0"/>
          </a:p>
        </p:txBody>
      </p:sp>
      <p:pic>
        <p:nvPicPr>
          <p:cNvPr id="7" name="图片 47">
            <a:extLst>
              <a:ext uri="{FF2B5EF4-FFF2-40B4-BE49-F238E27FC236}">
                <a16:creationId xmlns:a16="http://schemas.microsoft.com/office/drawing/2014/main" id="{3EC6E755-CC28-4135-9180-0265E97310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355726"/>
            <a:ext cx="5496925" cy="57606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E0DE759-8DD5-4F2D-B008-B41A22C27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112" y="3027860"/>
            <a:ext cx="3117417" cy="211564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0043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8064896" cy="3771044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物联网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关键技术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③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定位技术  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物体的位置包含着重要的信息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zh-CN" altLang="en-US" sz="1800" dirty="0">
                <a:solidFill>
                  <a:srgbClr val="000066"/>
                </a:solidFill>
                <a:cs typeface="Times New Roman" panose="02020603050405020304" pitchFamily="18" charset="0"/>
              </a:rPr>
              <a:t>④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互联网和移动互联网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互联网和移动互联技术是物联网的核心技术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四、物联网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D66E8E-8ECA-473A-8D5B-DBF05F4D67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1" y="2355726"/>
            <a:ext cx="3240643" cy="198804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F031E79-7B75-4FE4-928A-C6DAF34138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604" y="2355726"/>
            <a:ext cx="3576681" cy="19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6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四、物联网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60946"/>
            <a:ext cx="8352928" cy="4182554"/>
          </a:xfrm>
        </p:spPr>
        <p:txBody>
          <a:bodyPr vert="horz" lIns="0" tIns="45720" rIns="0" bIns="45720" rtlCol="0">
            <a:noAutofit/>
          </a:bodyPr>
          <a:lstStyle/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物联网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应用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800" kern="0" dirty="0">
                <a:cs typeface="Times New Roman" panose="02020603050405020304" pitchFamily="18" charset="0"/>
              </a:rPr>
              <a:t>① </a:t>
            </a:r>
            <a:r>
              <a:rPr lang="zh-CN" altLang="en-US" sz="1800" kern="0" dirty="0">
                <a:cs typeface="Times New Roman" panose="02020603050405020304" pitchFamily="18" charset="0"/>
              </a:rPr>
              <a:t>智能物流    </a:t>
            </a:r>
            <a:r>
              <a:rPr lang="zh-CN" altLang="en-US" sz="1800" kern="0" dirty="0"/>
              <a:t>主要体现在</a:t>
            </a:r>
            <a:r>
              <a:rPr lang="en-US" altLang="zh-CN" sz="1800" kern="0" dirty="0" err="1"/>
              <a:t>仓储管理</a:t>
            </a:r>
            <a:r>
              <a:rPr lang="zh-CN" altLang="en-US" sz="1800" kern="0" dirty="0"/>
              <a:t>、</a:t>
            </a:r>
            <a:r>
              <a:rPr lang="en-US" altLang="zh-CN" sz="1800" kern="0" dirty="0" err="1"/>
              <a:t>运输监测</a:t>
            </a:r>
            <a:r>
              <a:rPr lang="zh-CN" altLang="en-US" sz="1800" kern="0" dirty="0"/>
              <a:t>、</a:t>
            </a:r>
            <a:r>
              <a:rPr lang="en-US" altLang="zh-CN" sz="1800" kern="0" dirty="0" err="1"/>
              <a:t>智能快递柜</a:t>
            </a:r>
            <a:endParaRPr lang="en-US" altLang="zh-CN" sz="1800" kern="0" dirty="0"/>
          </a:p>
          <a:p>
            <a:pPr marL="0" indent="0" eaLnBrk="0" hangingPunc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kern="0" dirty="0">
                <a:cs typeface="Times New Roman" panose="02020603050405020304" pitchFamily="18" charset="0"/>
                <a:sym typeface="+mn-ea"/>
              </a:rPr>
              <a:t>     ② 智能交通    </a:t>
            </a:r>
            <a:r>
              <a:rPr lang="en-US" altLang="zh-CN" sz="1800" kern="0" dirty="0" err="1"/>
              <a:t>智能公交</a:t>
            </a:r>
            <a:r>
              <a:rPr lang="zh-CN" altLang="en-US" sz="1800" kern="0" dirty="0"/>
              <a:t>、</a:t>
            </a:r>
            <a:r>
              <a:rPr lang="en-US" altLang="zh-CN" sz="1800" kern="0" dirty="0" err="1"/>
              <a:t>共享单车</a:t>
            </a:r>
            <a:r>
              <a:rPr lang="zh-CN" altLang="en-US" sz="1800" kern="0" dirty="0"/>
              <a:t>、</a:t>
            </a:r>
            <a:r>
              <a:rPr lang="en-US" altLang="zh-CN" sz="1800" kern="0" dirty="0" err="1"/>
              <a:t>汽车联网</a:t>
            </a:r>
            <a:r>
              <a:rPr lang="zh-CN" altLang="en-US" sz="1800" kern="0" dirty="0"/>
              <a:t>、</a:t>
            </a:r>
            <a:r>
              <a:rPr lang="en-US" altLang="zh-CN" sz="1800" kern="0" dirty="0" err="1"/>
              <a:t>智慧停车</a:t>
            </a:r>
            <a:r>
              <a:rPr lang="zh-CN" altLang="en-US" sz="1800" kern="0" dirty="0"/>
              <a:t>、</a:t>
            </a:r>
            <a:r>
              <a:rPr lang="en-US" altLang="zh-CN" sz="1800" kern="0" dirty="0" err="1"/>
              <a:t>智能红绿灯</a:t>
            </a:r>
            <a:r>
              <a:rPr lang="zh-CN" altLang="en-US" sz="1800" kern="0" dirty="0"/>
              <a:t>等</a:t>
            </a:r>
            <a:endParaRPr lang="en-US" altLang="zh-CN" sz="1800" kern="0" dirty="0">
              <a:cs typeface="Times New Roman" panose="02020603050405020304" pitchFamily="18" charset="0"/>
              <a:sym typeface="+mn-ea"/>
            </a:endParaRPr>
          </a:p>
          <a:p>
            <a:pPr marL="0" indent="0" eaLnBrk="0" hangingPunc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sym typeface="+mn-ea"/>
              </a:rPr>
              <a:t>     ③ 智能安防    </a:t>
            </a:r>
            <a:r>
              <a:rPr lang="en-US" altLang="zh-CN" sz="1800" kern="0" dirty="0" err="1"/>
              <a:t>门禁、监控和报警</a:t>
            </a:r>
            <a:r>
              <a:rPr lang="zh-CN" altLang="en-US" sz="1800" kern="0" dirty="0"/>
              <a:t>，</a:t>
            </a:r>
            <a:r>
              <a:rPr lang="en-US" altLang="zh-CN" sz="1800" kern="0" dirty="0" err="1"/>
              <a:t>以视频监控为主</a:t>
            </a:r>
            <a:endParaRPr lang="en-US" altLang="zh-CN" sz="1800" kern="0" dirty="0"/>
          </a:p>
          <a:p>
            <a:pPr marL="0" indent="0" eaLnBrk="0" hangingPunc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sym typeface="+mn-ea"/>
              </a:rPr>
              <a:t>     ④ 智慧能源    </a:t>
            </a:r>
            <a:r>
              <a:rPr lang="en-US" altLang="zh-CN" sz="1800" kern="0" dirty="0" err="1"/>
              <a:t>智能水表</a:t>
            </a:r>
            <a:r>
              <a:rPr lang="zh-CN" altLang="en-US" sz="1800" kern="0" dirty="0"/>
              <a:t>、</a:t>
            </a:r>
            <a:r>
              <a:rPr lang="en-US" altLang="zh-CN" sz="1800" kern="0" dirty="0" err="1"/>
              <a:t>智能电表</a:t>
            </a:r>
            <a:r>
              <a:rPr lang="zh-CN" altLang="en-US" sz="1800" kern="0" dirty="0"/>
              <a:t>、</a:t>
            </a:r>
            <a:r>
              <a:rPr lang="en-US" altLang="zh-CN" sz="1800" kern="0" dirty="0" err="1"/>
              <a:t>智能燃气表</a:t>
            </a:r>
            <a:r>
              <a:rPr lang="zh-CN" altLang="en-US" sz="1800" kern="0" dirty="0"/>
              <a:t>、</a:t>
            </a:r>
            <a:r>
              <a:rPr lang="en-US" altLang="zh-CN" sz="1800" kern="0" dirty="0" err="1"/>
              <a:t>智慧路灯</a:t>
            </a:r>
            <a:r>
              <a:rPr lang="zh-CN" altLang="en-US" sz="1800" kern="0" dirty="0"/>
              <a:t>等</a:t>
            </a:r>
            <a:endParaRPr lang="en-US" altLang="zh-CN" sz="1800" dirty="0">
              <a:sym typeface="+mn-ea"/>
            </a:endParaRPr>
          </a:p>
          <a:p>
            <a:pPr marL="0" indent="0" eaLnBrk="0" hangingPunc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sym typeface="+mn-ea"/>
              </a:rPr>
              <a:t>     ⑤ </a:t>
            </a:r>
            <a:r>
              <a:rPr lang="en-US" altLang="zh-CN" sz="1800" kern="0" dirty="0" err="1"/>
              <a:t>智能医疗</a:t>
            </a:r>
            <a:r>
              <a:rPr lang="zh-CN" altLang="en-US" sz="1800" dirty="0">
                <a:sym typeface="+mn-ea"/>
              </a:rPr>
              <a:t>    </a:t>
            </a:r>
            <a:r>
              <a:rPr lang="en-US" altLang="zh-CN" sz="1800" kern="0" dirty="0" err="1"/>
              <a:t>数字化医院</a:t>
            </a:r>
            <a:r>
              <a:rPr lang="zh-CN" altLang="en-US" sz="1800" kern="0" dirty="0"/>
              <a:t>、</a:t>
            </a:r>
            <a:r>
              <a:rPr lang="en-US" altLang="zh-CN" sz="1800" kern="0" dirty="0" err="1"/>
              <a:t>医疗可穿戴</a:t>
            </a:r>
            <a:r>
              <a:rPr lang="zh-CN" altLang="en-US" sz="1800" kern="0" dirty="0"/>
              <a:t>等</a:t>
            </a:r>
            <a:endParaRPr lang="en-US" altLang="zh-CN" sz="1800" kern="0" dirty="0"/>
          </a:p>
          <a:p>
            <a:pPr marL="0" indent="0" eaLnBrk="0" hangingPunc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sym typeface="+mn-ea"/>
              </a:rPr>
              <a:t>     ⑥ 智慧建筑    </a:t>
            </a:r>
            <a:r>
              <a:rPr lang="en-US" altLang="zh-CN" sz="1800" kern="0" dirty="0" err="1"/>
              <a:t>预测性维护</a:t>
            </a:r>
            <a:r>
              <a:rPr lang="zh-CN" altLang="en-US" sz="1800" kern="0" dirty="0"/>
              <a:t>、</a:t>
            </a:r>
            <a:r>
              <a:rPr lang="en-US" altLang="zh-CN" sz="1800" kern="0" dirty="0" err="1"/>
              <a:t>实时监测</a:t>
            </a:r>
            <a:r>
              <a:rPr lang="zh-CN" altLang="en-US" sz="1800" kern="0" dirty="0"/>
              <a:t>、</a:t>
            </a:r>
            <a:r>
              <a:rPr lang="en-US" altLang="zh-CN" sz="1800" kern="0" dirty="0" err="1"/>
              <a:t>高效的能源管理</a:t>
            </a:r>
            <a:endParaRPr lang="en-US" altLang="zh-CN" sz="1800" dirty="0">
              <a:sym typeface="+mn-ea"/>
            </a:endParaRPr>
          </a:p>
          <a:p>
            <a:pPr marL="0" indent="0" eaLnBrk="0" hangingPunc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sym typeface="+mn-ea"/>
              </a:rPr>
              <a:t>     ⑦ 智能制造</a:t>
            </a:r>
            <a:endParaRPr lang="en-US" altLang="zh-CN" sz="1800" dirty="0">
              <a:sym typeface="+mn-ea"/>
            </a:endParaRPr>
          </a:p>
          <a:p>
            <a:pPr marL="0" indent="0" eaLnBrk="0" hangingPunc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ym typeface="+mn-ea"/>
              </a:rPr>
              <a:t>     </a:t>
            </a:r>
            <a:r>
              <a:rPr lang="zh-CN" altLang="en-US" sz="1800" dirty="0">
                <a:sym typeface="+mn-ea"/>
              </a:rPr>
              <a:t>⑧ 智能家居</a:t>
            </a:r>
            <a:endParaRPr lang="en-US" altLang="zh-CN" sz="1800" dirty="0">
              <a:sym typeface="+mn-ea"/>
            </a:endParaRPr>
          </a:p>
          <a:p>
            <a:pPr marL="0" indent="0" eaLnBrk="0" hangingPunc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sym typeface="+mn-ea"/>
              </a:rPr>
              <a:t>     ⑨ 智能零售</a:t>
            </a:r>
            <a:endParaRPr lang="en-US" altLang="zh-CN" sz="1800" dirty="0">
              <a:sym typeface="+mn-ea"/>
            </a:endParaRPr>
          </a:p>
          <a:p>
            <a:pPr marL="0" indent="0" eaLnBrk="0" hangingPunc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sym typeface="+mn-ea"/>
              </a:rPr>
              <a:t>     ⑩ 智慧农业    </a:t>
            </a:r>
            <a:r>
              <a:rPr lang="zh-CN" altLang="en-US" sz="1800" dirty="0"/>
              <a:t>监控功能系统、监测功能系统、实时图像与视频监控功能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40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自定义 3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CC0000"/>
      </a:accent1>
      <a:accent2>
        <a:srgbClr val="D34817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spDef>
      <a:spPr bwMode="gray">
        <a:gradFill rotWithShape="1">
          <a:gsLst>
            <a:gs pos="0">
              <a:schemeClr val="folHlink">
                <a:gamma/>
                <a:shade val="72549"/>
                <a:invGamma/>
              </a:schemeClr>
            </a:gs>
            <a:gs pos="50000">
              <a:schemeClr val="folHlink"/>
            </a:gs>
            <a:gs pos="100000">
              <a:schemeClr val="folHlink">
                <a:gamma/>
                <a:shade val="72549"/>
                <a:invGamma/>
              </a:schemeClr>
            </a:gs>
          </a:gsLst>
          <a:lin ang="2700000" scaled="1"/>
        </a:gradFill>
        <a:ln w="9525">
          <a:noFill/>
          <a:miter lim="800000"/>
          <a:headEnd/>
          <a:tailEnd/>
        </a:ln>
        <a:effectLst/>
      </a:spPr>
      <a:bodyPr wrap="none" anchor="ctr"/>
      <a:lstStyle>
        <a:defPPr algn="ctr" eaLnBrk="0" hangingPunct="0">
          <a:defRPr sz="1400" b="1" dirty="0"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模板ppt.pptx" id="{0CF83854-50F9-4A05-AC3E-F0D8A78CEE97}" vid="{AE9FA267-1D14-46AF-B303-D9446FC845D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110878</TotalTime>
  <Words>4010</Words>
  <Application>Microsoft Office PowerPoint</Application>
  <PresentationFormat>全屏显示(16:9)</PresentationFormat>
  <Paragraphs>693</Paragraphs>
  <Slides>59</Slides>
  <Notes>59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59</vt:i4>
      </vt:variant>
    </vt:vector>
  </HeadingPairs>
  <TitlesOfParts>
    <vt:vector size="73" baseType="lpstr">
      <vt:lpstr>黑体</vt:lpstr>
      <vt:lpstr>楷体_GB2312</vt:lpstr>
      <vt:lpstr>微软雅黑</vt:lpstr>
      <vt:lpstr>Arial</vt:lpstr>
      <vt:lpstr>Calibri</vt:lpstr>
      <vt:lpstr>Euphemia</vt:lpstr>
      <vt:lpstr>Times New Roman</vt:lpstr>
      <vt:lpstr>Wingdings</vt:lpstr>
      <vt:lpstr>Wingdings 2</vt:lpstr>
      <vt:lpstr>学术文献 16x9</vt:lpstr>
      <vt:lpstr>Visio</vt:lpstr>
      <vt:lpstr>VISIO</vt:lpstr>
      <vt:lpstr>Microsoft Visio 绘图</vt:lpstr>
      <vt:lpstr>Visio.Drawing.11</vt:lpstr>
      <vt:lpstr>大学计算机        ——计算机网络基础与物联网</vt:lpstr>
      <vt:lpstr>计算机网络基础与物联网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一、局域网</vt:lpstr>
      <vt:lpstr>二、计算机网络基础知识</vt:lpstr>
      <vt:lpstr>二、计算机网络基础知识</vt:lpstr>
      <vt:lpstr>二、计算机网络基础知识</vt:lpstr>
      <vt:lpstr>二、计算机网络基础知识</vt:lpstr>
      <vt:lpstr>二、计算机网络基础知识</vt:lpstr>
      <vt:lpstr>二、计算机网络基础知识</vt:lpstr>
      <vt:lpstr>二、计算机网络基础知识</vt:lpstr>
      <vt:lpstr>二、计算机网络基础知识</vt:lpstr>
      <vt:lpstr>二、计算机网络基础知识</vt:lpstr>
      <vt:lpstr>三、 Internet简介</vt:lpstr>
      <vt:lpstr>三、 Internet简介</vt:lpstr>
      <vt:lpstr>三、 Internet简介</vt:lpstr>
      <vt:lpstr>三、 Internet简介</vt:lpstr>
      <vt:lpstr>三、 Internet简介</vt:lpstr>
      <vt:lpstr>三、 Internet简介</vt:lpstr>
      <vt:lpstr>三、 Internet简介</vt:lpstr>
      <vt:lpstr>三、 Internet简介</vt:lpstr>
      <vt:lpstr>三、 Internet简介</vt:lpstr>
      <vt:lpstr>三、 Internet简介</vt:lpstr>
      <vt:lpstr>三、 Internet简介</vt:lpstr>
      <vt:lpstr>三、 Internet简介</vt:lpstr>
      <vt:lpstr>三、 Internet简介</vt:lpstr>
      <vt:lpstr>三、 Internet简介</vt:lpstr>
      <vt:lpstr>三、 Internet简介</vt:lpstr>
      <vt:lpstr>四、物联网</vt:lpstr>
      <vt:lpstr>四、物联网</vt:lpstr>
      <vt:lpstr>四、物联网</vt:lpstr>
      <vt:lpstr>四、物联网</vt:lpstr>
      <vt:lpstr>二、物联网</vt:lpstr>
      <vt:lpstr>四、物联网</vt:lpstr>
      <vt:lpstr>四、物联网</vt:lpstr>
      <vt:lpstr>四、物联网</vt:lpstr>
    </vt:vector>
  </TitlesOfParts>
  <Company>TJ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TJ</dc:creator>
  <cp:lastModifiedBy>慧 何</cp:lastModifiedBy>
  <cp:revision>1518</cp:revision>
  <dcterms:created xsi:type="dcterms:W3CDTF">2011-03-18T03:47:09Z</dcterms:created>
  <dcterms:modified xsi:type="dcterms:W3CDTF">2026-01-08T03:16:18Z</dcterms:modified>
</cp:coreProperties>
</file>