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5.xml" ContentType="application/vnd.openxmlformats-officedocument.presentationml.notesSlide+xml"/>
  <Override PartName="/ppt/tags/tag26.xml" ContentType="application/vnd.openxmlformats-officedocument.presentationml.tags+xml"/>
  <Override PartName="/ppt/notesSlides/notesSlide16.xml" ContentType="application/vnd.openxmlformats-officedocument.presentationml.notesSlide+xml"/>
  <Override PartName="/ppt/tags/tag27.xml" ContentType="application/vnd.openxmlformats-officedocument.presentationml.tags+xml"/>
  <Override PartName="/ppt/notesSlides/notesSlide17.xml" ContentType="application/vnd.openxmlformats-officedocument.presentationml.notesSlide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1.xml" ContentType="application/vnd.openxmlformats-officedocument.presentationml.notesSlide+xml"/>
  <Override PartName="/ppt/tags/tag35.xml" ContentType="application/vnd.openxmlformats-officedocument.presentationml.tags+xml"/>
  <Override PartName="/ppt/notesSlides/notesSlide22.xml" ContentType="application/vnd.openxmlformats-officedocument.presentationml.notesSlide+xml"/>
  <Override PartName="/ppt/tags/tag36.xml" ContentType="application/vnd.openxmlformats-officedocument.presentationml.tags+xml"/>
  <Override PartName="/ppt/notesSlides/notesSlide23.xml" ContentType="application/vnd.openxmlformats-officedocument.presentationml.notesSlide+xml"/>
  <Override PartName="/ppt/tags/tag37.xml" ContentType="application/vnd.openxmlformats-officedocument.presentationml.tags+xml"/>
  <Override PartName="/ppt/notesSlides/notesSlide24.xml" ContentType="application/vnd.openxmlformats-officedocument.presentationml.notesSlide+xml"/>
  <Override PartName="/ppt/tags/tag38.xml" ContentType="application/vnd.openxmlformats-officedocument.presentationml.tags+xml"/>
  <Override PartName="/ppt/notesSlides/notesSlide25.xml" ContentType="application/vnd.openxmlformats-officedocument.presentationml.notesSlide+xml"/>
  <Override PartName="/ppt/tags/tag39.xml" ContentType="application/vnd.openxmlformats-officedocument.presentationml.tags+xml"/>
  <Override PartName="/ppt/notesSlides/notesSlide26.xml" ContentType="application/vnd.openxmlformats-officedocument.presentationml.notesSlide+xml"/>
  <Override PartName="/ppt/tags/tag40.xml" ContentType="application/vnd.openxmlformats-officedocument.presentationml.tags+xml"/>
  <Override PartName="/ppt/notesSlides/notesSlide27.xml" ContentType="application/vnd.openxmlformats-officedocument.presentationml.notesSlide+xml"/>
  <Override PartName="/ppt/tags/tag41.xml" ContentType="application/vnd.openxmlformats-officedocument.presentationml.tags+xml"/>
  <Override PartName="/ppt/notesSlides/notesSlide28.xml" ContentType="application/vnd.openxmlformats-officedocument.presentationml.notesSlide+xml"/>
  <Override PartName="/ppt/tags/tag42.xml" ContentType="application/vnd.openxmlformats-officedocument.presentationml.tags+xml"/>
  <Override PartName="/ppt/notesSlides/notesSlide29.xml" ContentType="application/vnd.openxmlformats-officedocument.presentationml.notesSlide+xml"/>
  <Override PartName="/ppt/tags/tag43.xml" ContentType="application/vnd.openxmlformats-officedocument.presentationml.tags+xml"/>
  <Override PartName="/ppt/notesSlides/notesSlide30.xml" ContentType="application/vnd.openxmlformats-officedocument.presentationml.notesSlide+xml"/>
  <Override PartName="/ppt/tags/tag44.xml" ContentType="application/vnd.openxmlformats-officedocument.presentationml.tags+xml"/>
  <Override PartName="/ppt/notesSlides/notesSlide31.xml" ContentType="application/vnd.openxmlformats-officedocument.presentationml.notesSlide+xml"/>
  <Override PartName="/ppt/tags/tag45.xml" ContentType="application/vnd.openxmlformats-officedocument.presentationml.tags+xml"/>
  <Override PartName="/ppt/notesSlides/notesSlide32.xml" ContentType="application/vnd.openxmlformats-officedocument.presentationml.notesSlide+xml"/>
  <Override PartName="/ppt/tags/tag46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1207" r:id="rId2"/>
    <p:sldId id="1210" r:id="rId3"/>
    <p:sldId id="1212" r:id="rId4"/>
    <p:sldId id="1215" r:id="rId5"/>
    <p:sldId id="1216" r:id="rId6"/>
    <p:sldId id="1092" r:id="rId7"/>
    <p:sldId id="1228" r:id="rId8"/>
    <p:sldId id="1073" r:id="rId9"/>
    <p:sldId id="1230" r:id="rId10"/>
    <p:sldId id="1229" r:id="rId11"/>
    <p:sldId id="1219" r:id="rId12"/>
    <p:sldId id="1220" r:id="rId13"/>
    <p:sldId id="1208" r:id="rId14"/>
    <p:sldId id="1225" r:id="rId15"/>
    <p:sldId id="1209" r:id="rId16"/>
    <p:sldId id="1115" r:id="rId17"/>
    <p:sldId id="1118" r:id="rId18"/>
    <p:sldId id="1119" r:id="rId19"/>
    <p:sldId id="1122" r:id="rId20"/>
    <p:sldId id="1123" r:id="rId21"/>
    <p:sldId id="1124" r:id="rId22"/>
    <p:sldId id="1226" r:id="rId23"/>
    <p:sldId id="1244" r:id="rId24"/>
    <p:sldId id="1245" r:id="rId25"/>
    <p:sldId id="1128" r:id="rId26"/>
    <p:sldId id="1129" r:id="rId27"/>
    <p:sldId id="1131" r:id="rId28"/>
    <p:sldId id="1217" r:id="rId29"/>
    <p:sldId id="1145" r:id="rId30"/>
    <p:sldId id="1146" r:id="rId31"/>
    <p:sldId id="1147" r:id="rId32"/>
    <p:sldId id="1148" r:id="rId33"/>
    <p:sldId id="1149" r:id="rId34"/>
    <p:sldId id="1152" r:id="rId35"/>
    <p:sldId id="1222" r:id="rId36"/>
    <p:sldId id="1154" r:id="rId37"/>
    <p:sldId id="1155" r:id="rId38"/>
    <p:sldId id="1157" r:id="rId39"/>
    <p:sldId id="1158" r:id="rId40"/>
    <p:sldId id="1223" r:id="rId41"/>
    <p:sldId id="1160" r:id="rId42"/>
    <p:sldId id="1161" r:id="rId43"/>
    <p:sldId id="1162" r:id="rId44"/>
    <p:sldId id="1168" r:id="rId45"/>
    <p:sldId id="1224" r:id="rId46"/>
    <p:sldId id="1174" r:id="rId47"/>
    <p:sldId id="1175" r:id="rId48"/>
    <p:sldId id="1177" r:id="rId49"/>
    <p:sldId id="1178" r:id="rId50"/>
    <p:sldId id="1179" r:id="rId51"/>
    <p:sldId id="1181" r:id="rId52"/>
    <p:sldId id="1183" r:id="rId53"/>
    <p:sldId id="1227" r:id="rId54"/>
    <p:sldId id="1186" r:id="rId55"/>
    <p:sldId id="1233" r:id="rId56"/>
    <p:sldId id="1235" r:id="rId57"/>
    <p:sldId id="1236" r:id="rId58"/>
    <p:sldId id="1237" r:id="rId59"/>
    <p:sldId id="1239" r:id="rId60"/>
    <p:sldId id="1238" r:id="rId61"/>
    <p:sldId id="1240" r:id="rId62"/>
    <p:sldId id="1241" r:id="rId63"/>
    <p:sldId id="1234" r:id="rId64"/>
    <p:sldId id="1243" r:id="rId65"/>
    <p:sldId id="1242" r:id="rId66"/>
  </p:sldIdLst>
  <p:sldSz cx="9144000" cy="5143500" type="screen16x9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50000"/>
      </a:spcBef>
      <a:spcAft>
        <a:spcPct val="0"/>
      </a:spcAft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1pPr>
    <a:lvl2pPr marL="457200" algn="l" rtl="0" fontAlgn="base">
      <a:lnSpc>
        <a:spcPct val="120000"/>
      </a:lnSpc>
      <a:spcBef>
        <a:spcPct val="50000"/>
      </a:spcBef>
      <a:spcAft>
        <a:spcPct val="0"/>
      </a:spcAft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2pPr>
    <a:lvl3pPr marL="914400" algn="l" rtl="0" fontAlgn="base">
      <a:lnSpc>
        <a:spcPct val="120000"/>
      </a:lnSpc>
      <a:spcBef>
        <a:spcPct val="50000"/>
      </a:spcBef>
      <a:spcAft>
        <a:spcPct val="0"/>
      </a:spcAft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3pPr>
    <a:lvl4pPr marL="1371600" algn="l" rtl="0" fontAlgn="base">
      <a:lnSpc>
        <a:spcPct val="120000"/>
      </a:lnSpc>
      <a:spcBef>
        <a:spcPct val="50000"/>
      </a:spcBef>
      <a:spcAft>
        <a:spcPct val="0"/>
      </a:spcAft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4pPr>
    <a:lvl5pPr marL="1828800" algn="l" rtl="0" fontAlgn="base">
      <a:lnSpc>
        <a:spcPct val="120000"/>
      </a:lnSpc>
      <a:spcBef>
        <a:spcPct val="50000"/>
      </a:spcBef>
      <a:spcAft>
        <a:spcPct val="0"/>
      </a:spcAft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A50021"/>
        </a:solidFill>
        <a:latin typeface="Arial" pitchFamily="34" charset="0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E4F3F4"/>
    <a:srgbClr val="FFFF00"/>
    <a:srgbClr val="FFFFCC"/>
    <a:srgbClr val="99CCFF"/>
    <a:srgbClr val="F3F3F3"/>
    <a:srgbClr val="000000"/>
    <a:srgbClr val="009900"/>
    <a:srgbClr val="E4E0E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6" autoAdjust="0"/>
    <p:restoredTop sz="88149" autoAdjust="0"/>
  </p:normalViewPr>
  <p:slideViewPr>
    <p:cSldViewPr>
      <p:cViewPr varScale="1">
        <p:scale>
          <a:sx n="76" d="100"/>
          <a:sy n="76" d="100"/>
        </p:scale>
        <p:origin x="485" y="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0600"/>
    </p:cViewPr>
  </p:sorterViewPr>
  <p:notesViewPr>
    <p:cSldViewPr>
      <p:cViewPr varScale="1">
        <p:scale>
          <a:sx n="49" d="100"/>
          <a:sy n="49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2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2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</a:lstStyle>
          <a:p>
            <a:pPr>
              <a:defRPr/>
            </a:pPr>
            <a:fld id="{6D42D496-B15F-4583-8B68-15A7B16D87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2511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25663" y="1371600"/>
            <a:ext cx="3521075" cy="1981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D4DA751-3BE1-463C-B264-A7CA5B0E60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2919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补充：</a:t>
            </a:r>
            <a:br>
              <a:rPr lang="en-US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6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多行注释</a:t>
            </a:r>
            <a:r>
              <a:rPr lang="zh-CN" altLang="en-US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'''</a:t>
            </a:r>
            <a:r>
              <a:rPr lang="en-US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……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'‘’</a:t>
            </a:r>
          </a:p>
          <a:p>
            <a:r>
              <a:rPr lang="en-US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长语句续行符：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2382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869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718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8157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297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C5A90B79-11C6-42B1-B88A-7B1D1B0C34EF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16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91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1D9E0E24-F49C-4D4B-8869-17A45EF43FD3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17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609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41F0D5AD-C450-4527-ABF8-DD365D7085A0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20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074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134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68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D936E595-0943-4D82-B194-6F3DD4BA2864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25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74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fld id="{8B47BE13-DCF6-4208-A1C4-3507F21F079B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28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08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0811CA-C573-40E5-8C31-CC42AFA3C94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34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88062" cy="3425825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/>
              <a:t>上一讲介绍了对数据文件的访问</a:t>
            </a:r>
            <a:r>
              <a:rPr lang="en-US" altLang="zh-CN"/>
              <a:t>,</a:t>
            </a:r>
            <a:r>
              <a:rPr lang="zh-CN" altLang="zh-CN"/>
              <a:t>虽然数据文件可以长期保存数据</a:t>
            </a:r>
            <a:r>
              <a:rPr lang="en-US" altLang="zh-CN"/>
              <a:t>,</a:t>
            </a:r>
            <a:r>
              <a:rPr lang="zh-CN" altLang="zh-CN"/>
              <a:t>但利用数据文件有缺点</a:t>
            </a:r>
            <a:r>
              <a:rPr lang="en-US" altLang="zh-CN"/>
              <a:t>:</a:t>
            </a:r>
            <a:r>
              <a:rPr lang="zh-CN" altLang="zh-CN"/>
              <a:t>对于存放大量数据管理和使用不方便</a:t>
            </a:r>
            <a:r>
              <a:rPr lang="en-US" altLang="zh-CN"/>
              <a:t>,</a:t>
            </a:r>
            <a:r>
              <a:rPr lang="zh-CN" altLang="zh-CN"/>
              <a:t>都要通过编程者实现</a:t>
            </a:r>
            <a:r>
              <a:rPr lang="en-US" altLang="zh-CN"/>
              <a:t>,</a:t>
            </a:r>
            <a:r>
              <a:rPr lang="zh-CN" altLang="zh-CN"/>
              <a:t>而且共享性差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利用数据库技术和</a:t>
            </a:r>
            <a:r>
              <a:rPr lang="en-US" altLang="zh-CN"/>
              <a:t>SQL</a:t>
            </a:r>
            <a:r>
              <a:rPr lang="zh-CN" altLang="zh-CN"/>
              <a:t>命令可方便</a:t>
            </a:r>
            <a:r>
              <a:rPr lang="en-US" altLang="zh-CN"/>
              <a:t>\</a:t>
            </a:r>
            <a:r>
              <a:rPr lang="zh-CN" altLang="zh-CN"/>
              <a:t>快速地管理和使用数据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作为在</a:t>
            </a:r>
            <a:r>
              <a:rPr lang="en-US" altLang="zh-CN"/>
              <a:t>VB.NET</a:t>
            </a:r>
            <a:r>
              <a:rPr lang="zh-CN" altLang="zh-CN"/>
              <a:t>程序设计课程的一讲内容，我们试图从最简便的方法来介绍如何访问数据库</a:t>
            </a:r>
            <a:r>
              <a:rPr lang="en-US" altLang="zh-CN"/>
              <a:t>,</a:t>
            </a:r>
            <a:r>
              <a:rPr lang="zh-CN" altLang="zh-CN"/>
              <a:t>理解如何在</a:t>
            </a:r>
            <a:r>
              <a:rPr lang="en-US" altLang="zh-CN"/>
              <a:t>VB.NET</a:t>
            </a:r>
            <a:r>
              <a:rPr lang="zh-CN" altLang="zh-CN"/>
              <a:t>环境下简单数据库应用程序开发的过程</a:t>
            </a:r>
            <a:r>
              <a:rPr lang="en-US" altLang="zh-CN"/>
              <a:t>.</a:t>
            </a:r>
            <a:endParaRPr lang="zh-CN" altLang="zh-CN"/>
          </a:p>
          <a:p>
            <a:pPr eaLnBrk="1" hangingPunct="1"/>
            <a:r>
              <a:rPr lang="zh-CN" altLang="zh-CN"/>
              <a:t>本讲涉及一下</a:t>
            </a:r>
            <a:r>
              <a:rPr lang="en-US" altLang="zh-CN"/>
              <a:t>4</a:t>
            </a:r>
            <a:r>
              <a:rPr lang="zh-CN" altLang="zh-CN"/>
              <a:t>部分内容</a:t>
            </a:r>
          </a:p>
        </p:txBody>
      </p:sp>
    </p:spTree>
    <p:extLst>
      <p:ext uri="{BB962C8B-B14F-4D97-AF65-F5344CB8AC3E}">
        <p14:creationId xmlns:p14="http://schemas.microsoft.com/office/powerpoint/2010/main" val="2318041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" name="TextBox 1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在结构化程序设计中提供了三种基本控制结构</a:t>
            </a:r>
            <a:r>
              <a:rPr lang="en-US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顺序、选择、循环。</a:t>
            </a:r>
            <a:endParaRPr lang="en-US" altLang="zh-CN" sz="20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/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顺序结构是按照语句出现的先后顺序依次执行。</a:t>
            </a:r>
          </a:p>
        </p:txBody>
      </p:sp>
    </p:spTree>
    <p:extLst>
      <p:ext uri="{BB962C8B-B14F-4D97-AF65-F5344CB8AC3E}">
        <p14:creationId xmlns:p14="http://schemas.microsoft.com/office/powerpoint/2010/main" val="2068943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EF0EBC8-A83B-4CC1-96D5-2FF8FD254A11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41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57860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572EF0-0D33-434C-A17E-A72074C254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42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96503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579A078-D1E8-4BD3-874A-C34AB88B8F5C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43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16422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3BA2857-2233-40B9-A1AD-20104106FA04}" type="slidenum">
              <a:rPr kumimoji="0" lang="en-US" altLang="zh-CN" sz="1200" b="0" smtClean="0">
                <a:solidFill>
                  <a:schemeClr val="tx1"/>
                </a:solidFill>
              </a:rPr>
              <a:pPr eaLnBrk="1" hangingPunct="1"/>
              <a:t>44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87259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5829E94C-7ACC-4F32-A65A-9D449F6EEAD5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45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7473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C8A1D222-44FB-4CB1-B41B-E696AA44A0E2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48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ln w="12700"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00626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44397B68-876F-4D5B-ADA6-292B34B73DC1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52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85328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766D759D-D648-4EAE-B323-53EE0E3A5ACA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54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28838" y="1373188"/>
            <a:ext cx="3514725" cy="1978025"/>
          </a:xfrm>
          <a:solidFill>
            <a:srgbClr val="FFFFFF"/>
          </a:solidFill>
          <a:ln w="12700"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36919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19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numpy.random.normal</a:t>
            </a:r>
            <a:r>
              <a:rPr lang="en-US" altLang="zh-CN" dirty="0"/>
              <a:t>(loc=</a:t>
            </a:r>
            <a:r>
              <a:rPr lang="en-US" altLang="zh-CN" dirty="0" err="1"/>
              <a:t>0,scale</a:t>
            </a:r>
            <a:r>
              <a:rPr lang="en-US" altLang="zh-CN" dirty="0"/>
              <a:t>=</a:t>
            </a:r>
            <a:r>
              <a:rPr lang="en-US" altLang="zh-CN" dirty="0" err="1"/>
              <a:t>1e-2,size</a:t>
            </a:r>
            <a:r>
              <a:rPr lang="en-US" altLang="zh-CN" dirty="0"/>
              <a:t>=shape)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loc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scale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：标准差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size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762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508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9636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128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105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numpy.random.normal</a:t>
            </a:r>
            <a:r>
              <a:rPr lang="en-US" altLang="zh-CN" dirty="0"/>
              <a:t>(loc=</a:t>
            </a:r>
            <a:r>
              <a:rPr lang="en-US" altLang="zh-CN" dirty="0" err="1"/>
              <a:t>0,scale</a:t>
            </a:r>
            <a:r>
              <a:rPr lang="en-US" altLang="zh-CN" dirty="0"/>
              <a:t>=</a:t>
            </a:r>
            <a:r>
              <a:rPr lang="en-US" altLang="zh-CN" dirty="0" err="1"/>
              <a:t>1e-2,size</a:t>
            </a:r>
            <a:r>
              <a:rPr lang="en-US" altLang="zh-CN" dirty="0"/>
              <a:t>=shape)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loc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scale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：标准差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size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656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numpy.random.normal</a:t>
            </a:r>
            <a:r>
              <a:rPr lang="en-US" altLang="zh-CN" dirty="0"/>
              <a:t>(loc=</a:t>
            </a:r>
            <a:r>
              <a:rPr lang="en-US" altLang="zh-CN" dirty="0" err="1"/>
              <a:t>0,scale</a:t>
            </a:r>
            <a:r>
              <a:rPr lang="en-US" altLang="zh-CN" dirty="0"/>
              <a:t>=</a:t>
            </a:r>
            <a:r>
              <a:rPr lang="en-US" altLang="zh-CN" dirty="0" err="1"/>
              <a:t>1e-2,size</a:t>
            </a:r>
            <a:r>
              <a:rPr lang="en-US" altLang="zh-CN" dirty="0"/>
              <a:t>=shape)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loc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scale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：标准差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size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531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numpy.random.normal</a:t>
            </a:r>
            <a:r>
              <a:rPr lang="en-US" altLang="zh-CN" dirty="0"/>
              <a:t>(loc=</a:t>
            </a:r>
            <a:r>
              <a:rPr lang="en-US" altLang="zh-CN" dirty="0" err="1"/>
              <a:t>0,scale</a:t>
            </a:r>
            <a:r>
              <a:rPr lang="en-US" altLang="zh-CN" dirty="0"/>
              <a:t>=</a:t>
            </a:r>
            <a:r>
              <a:rPr lang="en-US" altLang="zh-CN" dirty="0" err="1"/>
              <a:t>1e-2,size</a:t>
            </a:r>
            <a:r>
              <a:rPr lang="en-US" altLang="zh-CN" dirty="0"/>
              <a:t>=shape)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loc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scale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：标准差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size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8901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numpy.random.normal</a:t>
            </a:r>
            <a:r>
              <a:rPr lang="en-US" altLang="zh-CN" dirty="0"/>
              <a:t>(loc=</a:t>
            </a:r>
            <a:r>
              <a:rPr lang="en-US" altLang="zh-CN" dirty="0" err="1"/>
              <a:t>0,scale</a:t>
            </a:r>
            <a:r>
              <a:rPr lang="en-US" altLang="zh-CN" dirty="0"/>
              <a:t>=</a:t>
            </a:r>
            <a:r>
              <a:rPr lang="en-US" altLang="zh-CN" dirty="0" err="1"/>
              <a:t>1e-2,size</a:t>
            </a:r>
            <a:r>
              <a:rPr lang="en-US" altLang="zh-CN" dirty="0"/>
              <a:t>=shape)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loc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scale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：标准差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■ </a:t>
            </a:r>
            <a:r>
              <a:rPr lang="en-US" altLang="zh-CN" dirty="0"/>
              <a:t>size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911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84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DAA02E08-35AD-4148-B89B-97C6CD5E9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64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42D78CFB-3E4E-450F-81D6-18CCF5CF71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0" y="699542"/>
            <a:ext cx="730830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3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F6745A0-E443-4903-8670-650C97FE12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579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5F7CD4F-3C92-41A7-BFFE-C231E4C7D1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024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FC05686-41BB-4577-B5EB-A25971081A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449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FE1902B-9288-48E6-8E8C-06E9BFCAB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Line 15"/>
          <p:cNvSpPr>
            <a:spLocks noChangeShapeType="1"/>
          </p:cNvSpPr>
          <p:nvPr userDrawn="1"/>
        </p:nvSpPr>
        <p:spPr bwMode="auto">
          <a:xfrm>
            <a:off x="0" y="699542"/>
            <a:ext cx="730830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5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478A1C7-C138-4D5D-AB12-BA3A0F6A8A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Line 15"/>
          <p:cNvSpPr>
            <a:spLocks noChangeShapeType="1"/>
          </p:cNvSpPr>
          <p:nvPr userDrawn="1"/>
        </p:nvSpPr>
        <p:spPr bwMode="auto">
          <a:xfrm>
            <a:off x="0" y="699542"/>
            <a:ext cx="7308304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7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34BE83C-4683-4022-B086-C7CC308FF6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449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43B344D6-FBEE-4689-91AE-28E0D5382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65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DE94D52-8B42-43AF-8322-57E0B20FF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427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10575" y="4857750"/>
            <a:ext cx="733425" cy="2857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61667A5-3864-4605-890E-340BE4F486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864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5"/>
          <p:cNvSpPr>
            <a:spLocks noChangeShapeType="1"/>
          </p:cNvSpPr>
          <p:nvPr userDrawn="1"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" name="Line 15"/>
          <p:cNvSpPr>
            <a:spLocks noChangeShapeType="1"/>
          </p:cNvSpPr>
          <p:nvPr userDrawn="1"/>
        </p:nvSpPr>
        <p:spPr bwMode="auto">
          <a:xfrm>
            <a:off x="0" y="5143500"/>
            <a:ext cx="9144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2" name="Line 15"/>
          <p:cNvSpPr>
            <a:spLocks noChangeShapeType="1"/>
          </p:cNvSpPr>
          <p:nvPr userDrawn="1"/>
        </p:nvSpPr>
        <p:spPr bwMode="auto">
          <a:xfrm flipV="1">
            <a:off x="9144000" y="-4162"/>
            <a:ext cx="2604" cy="5147662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" name="Line 15"/>
          <p:cNvSpPr>
            <a:spLocks noChangeShapeType="1"/>
          </p:cNvSpPr>
          <p:nvPr userDrawn="1"/>
        </p:nvSpPr>
        <p:spPr bwMode="auto">
          <a:xfrm flipV="1">
            <a:off x="-5208" y="4163"/>
            <a:ext cx="2604" cy="5147662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wnload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downlo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wnload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wnload" TargetMode="Externa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hyperlink" Target="https://mirrors.tuna.tsinghua.edu.cn/anaconda/archive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hyperlink" Target="http://www.python.org/downloa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303753"/>
            <a:ext cx="7772400" cy="1102519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程序设计初步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27784" y="1018149"/>
            <a:ext cx="5184576" cy="3816424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一、程序和程序设计语言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语言基础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三、结构化程序设计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四、函数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五、面向对象程序设计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六、文件读写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动作按钮: 前进或下一项 3">
            <a:hlinkClick r:id="rId2" action="ppaction://hlinksldjump" highlightClick="1"/>
          </p:cNvPr>
          <p:cNvSpPr/>
          <p:nvPr/>
        </p:nvSpPr>
        <p:spPr bwMode="auto">
          <a:xfrm>
            <a:off x="8532440" y="4659982"/>
            <a:ext cx="432048" cy="288032"/>
          </a:xfrm>
          <a:prstGeom prst="actionButtonForwardNext">
            <a:avLst/>
          </a:prstGeom>
          <a:ln/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259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0" y="758316"/>
            <a:ext cx="8892480" cy="4295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生活中的程序：新生迎新会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4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主持人宣布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迎新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会开始，介绍出席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迎新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会的领导</a:t>
            </a:r>
          </a:p>
          <a:p>
            <a:pPr marL="0" lvl="4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校长讲话</a:t>
            </a:r>
          </a:p>
          <a:p>
            <a:pPr marL="0" lvl="4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教师代表讲话</a:t>
            </a:r>
            <a:endParaRPr lang="zh-CN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4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新生代表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发言</a:t>
            </a:r>
          </a:p>
          <a:p>
            <a:pPr marL="0" lvl="4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主持人宣布大会结束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计算机中的程序：求圆的面积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import math	                       	#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导入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r=float(input("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圆半径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     	#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圆半径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，并且转换为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</a:t>
            </a:r>
          </a:p>
          <a:p>
            <a:pPr marL="0" lvl="3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s=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math.pi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*r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                          	#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引用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圆的面积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</a:p>
          <a:p>
            <a:pPr marL="0" lvl="3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print(“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面积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=”,s)		# </a:t>
            </a:r>
            <a:r>
              <a:rPr lang="zh-CN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圆的面积</a:t>
            </a:r>
            <a:endParaRPr lang="zh-CN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已是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计算机的专用名词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2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为解决某个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特定问题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使用某种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程序设计语言</a:t>
            </a:r>
            <a:r>
              <a:rPr lang="zh-CN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编写的一组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指令序列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058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238372"/>
            <a:ext cx="5969726" cy="5237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kumimoji="1" lang="en-US" altLang="zh-CN" sz="21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100" b="1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程序设计语言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825592"/>
            <a:ext cx="8496944" cy="12897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程序设计语言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1946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年计算机诞生以来，程序设计语言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上千种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程序设计语言大概分为三类：</a:t>
            </a:r>
            <a:r>
              <a:rPr lang="zh-CN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机器语言、汇编语言和高级语言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A04C2F3-7A11-4838-BB0F-FA5964A79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5" y="3511583"/>
            <a:ext cx="770939" cy="630942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程序设</a:t>
            </a:r>
            <a:endParaRPr lang="en-US" altLang="zh-CN" sz="15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计语言</a:t>
            </a:r>
            <a:endParaRPr lang="en-US" altLang="zh-CN" sz="15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4" y="2858277"/>
            <a:ext cx="1202989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低级语言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 flipV="1">
            <a:off x="827584" y="3070643"/>
            <a:ext cx="576060" cy="5812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 Box 3">
            <a:extLst>
              <a:ext uri="{FF2B5EF4-FFF2-40B4-BE49-F238E27FC236}">
                <a16:creationId xmlns:a16="http://schemas.microsoft.com/office/drawing/2014/main" id="{BC616EC7-EA0C-45DB-AE03-8705DBB5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212" y="4201946"/>
            <a:ext cx="1152608" cy="3965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高级语言</a:t>
            </a:r>
            <a:endParaRPr lang="en-US" altLang="zh-CN" sz="1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827584" y="3978852"/>
            <a:ext cx="597628" cy="4213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8619" y="2634812"/>
            <a:ext cx="579209" cy="3092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</p:cNvCxnSpPr>
          <p:nvPr/>
        </p:nvCxnSpPr>
        <p:spPr bwMode="auto">
          <a:xfrm>
            <a:off x="2498619" y="3156846"/>
            <a:ext cx="579209" cy="2254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831" y="2439261"/>
            <a:ext cx="1401012" cy="3965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机器语言</a:t>
            </a:r>
            <a:endParaRPr lang="en-US" altLang="zh-CN" sz="1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2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831" y="3132659"/>
            <a:ext cx="1401012" cy="3965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汇编语言</a:t>
            </a:r>
            <a:endParaRPr lang="en-US" altLang="zh-CN" sz="1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831" y="3829885"/>
            <a:ext cx="2499134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面向过程程序设计语言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831" y="4523282"/>
            <a:ext cx="2499134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面向对象程序设计语言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576767" y="3978852"/>
            <a:ext cx="471197" cy="3273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</p:cNvCxnSpPr>
          <p:nvPr/>
        </p:nvCxnSpPr>
        <p:spPr bwMode="auto">
          <a:xfrm>
            <a:off x="2576767" y="4464906"/>
            <a:ext cx="471197" cy="2426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标题 1">
            <a:extLst>
              <a:ext uri="{FF2B5EF4-FFF2-40B4-BE49-F238E27FC236}">
                <a16:creationId xmlns:a16="http://schemas.microsoft.com/office/drawing/2014/main" id="{243BFC2C-CF37-4933-893F-04EBB1390836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13925000-CA5F-4862-AA3A-4698C20C4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66" y="2347015"/>
            <a:ext cx="4699234" cy="691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组成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能被机器直接理解和执行的指令集合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1+2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highlight>
                  <a:srgbClr val="00FF00"/>
                </a:highligh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highlight>
                  <a:srgbClr val="FF00FF"/>
                </a:highligh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001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highlight>
                  <a:srgbClr val="FF00FF"/>
                </a:highligh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010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6715E1C7-F21C-4512-9E77-FC0F1053C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2972197"/>
            <a:ext cx="4699234" cy="67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用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英文助记符来表示机器指令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计算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1+2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ADD 1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430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39734"/>
            <a:ext cx="5846417" cy="124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521" y="897386"/>
            <a:ext cx="8712968" cy="13942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高级语言：面向</a:t>
            </a:r>
            <a:r>
              <a:rPr lang="zh-CN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自然语言和数学</a:t>
            </a: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语言，远离机器的程序设计语言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</a:t>
            </a:r>
            <a: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面向过程程序设计语言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②  </a:t>
            </a:r>
            <a:r>
              <a:rPr lang="zh-CN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面向对象程序设计语言</a:t>
            </a:r>
            <a:endParaRPr lang="en-US" altLang="zh-CN" sz="1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99583" y="1333001"/>
            <a:ext cx="2016224" cy="396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BASIC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99583" y="1866575"/>
            <a:ext cx="4527951" cy="396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C++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Visual Basic</a:t>
            </a:r>
            <a:endParaRPr lang="zh-CN" altLang="en-US" sz="1800" dirty="0">
              <a:solidFill>
                <a:srgbClr val="C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11385A53-6F75-4C8A-B8E1-3AD022C7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665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2A04C2F3-7A11-4838-BB0F-FA5964A79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328722"/>
            <a:ext cx="1778574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高级语言程序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3BBF0AF1-19A0-4AE4-9CEB-45C02BC65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9282" y="1199411"/>
            <a:ext cx="6319182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翻译一条命令执行一条，即边翻译边执行，相当于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同声翻译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042E81-DA6B-4D84-BF5A-FF39B25CA1A0}"/>
              </a:ext>
            </a:extLst>
          </p:cNvPr>
          <p:cNvCxnSpPr>
            <a:cxnSpLocks/>
          </p:cNvCxnSpPr>
          <p:nvPr/>
        </p:nvCxnSpPr>
        <p:spPr bwMode="auto">
          <a:xfrm flipV="1">
            <a:off x="2102102" y="1001375"/>
            <a:ext cx="471197" cy="3273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 Box 3">
            <a:extLst>
              <a:ext uri="{FF2B5EF4-FFF2-40B4-BE49-F238E27FC236}">
                <a16:creationId xmlns:a16="http://schemas.microsoft.com/office/drawing/2014/main" id="{BC616EC7-EA0C-45DB-AE03-8705DBB55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298" y="2122017"/>
            <a:ext cx="3204836" cy="4247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翻译、链接成可执行程序</a:t>
            </a:r>
            <a: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(.exe)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3ECC47E-C483-4308-B822-CB38FDB6241B}"/>
              </a:ext>
            </a:extLst>
          </p:cNvPr>
          <p:cNvCxnSpPr>
            <a:cxnSpLocks/>
          </p:cNvCxnSpPr>
          <p:nvPr/>
        </p:nvCxnSpPr>
        <p:spPr bwMode="auto">
          <a:xfrm>
            <a:off x="2102102" y="1721137"/>
            <a:ext cx="471197" cy="2426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C16E2A0-3F1D-4B6E-B06A-160EC5E675CA}"/>
              </a:ext>
            </a:extLst>
          </p:cNvPr>
          <p:cNvCxnSpPr>
            <a:cxnSpLocks/>
          </p:cNvCxnSpPr>
          <p:nvPr/>
        </p:nvCxnSpPr>
        <p:spPr bwMode="auto">
          <a:xfrm>
            <a:off x="5778134" y="2284339"/>
            <a:ext cx="3780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 Box 3">
            <a:extLst>
              <a:ext uri="{FF2B5EF4-FFF2-40B4-BE49-F238E27FC236}">
                <a16:creationId xmlns:a16="http://schemas.microsoft.com/office/drawing/2014/main" id="{0585F9FB-001E-43A3-8BCE-96E6C2F9C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2101312"/>
            <a:ext cx="2592288" cy="3965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执行程序，相当于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笔译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DFE055B3-A19B-4C56-B887-A57DEA4E2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556" y="712776"/>
            <a:ext cx="2127458" cy="396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解释方式</a:t>
            </a:r>
            <a:r>
              <a:rPr lang="zh-CN" altLang="en-US" sz="1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解释器</a:t>
            </a:r>
            <a:endParaRPr lang="en-US" altLang="zh-CN" sz="1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9C5EA628-3F7E-4382-A6ED-C9F34B2FF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556" y="1725233"/>
            <a:ext cx="3657628" cy="396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编译方式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8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编译器、编译程序</a:t>
            </a:r>
            <a:endParaRPr lang="en-US" altLang="zh-CN" sz="18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44185349-441F-4429-B38A-E593ED97E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787979"/>
            <a:ext cx="7600548" cy="3965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Basic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解释型的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C/C++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C#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编译型的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50" name="Picture 6338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689" y="2712639"/>
            <a:ext cx="4254368" cy="804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标题 1">
            <a:extLst>
              <a:ext uri="{FF2B5EF4-FFF2-40B4-BE49-F238E27FC236}">
                <a16:creationId xmlns:a16="http://schemas.microsoft.com/office/drawing/2014/main" id="{4EDACE02-031E-448A-B321-4A85A63F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83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8B4BE11C-711D-4ACD-B5D5-5B8FAD4C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80" y="771551"/>
            <a:ext cx="8910316" cy="412029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荷兰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Guido van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Rossum1989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设计的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2000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Python 2.0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发布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2.X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2008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Python 3.0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发布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3.X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现在用</a:t>
            </a:r>
            <a:r>
              <a:rPr lang="en-US" altLang="zh-CN" sz="1800" b="0" dirty="0" err="1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3.X</a:t>
            </a:r>
            <a:endParaRPr lang="en-US" altLang="zh-CN" sz="1800" b="0" dirty="0">
              <a:solidFill>
                <a:srgbClr val="000066"/>
              </a:solidFill>
              <a:highlight>
                <a:srgbClr val="FFFF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）特点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优点：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简单易学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、简洁优美、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自由∕开源软件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丰富强大的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第三方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和生态好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缺点：运行速度慢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25000"/>
              </a:lnSpc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）应用广泛：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人工智能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ts val="1200"/>
              </a:spcBef>
            </a:pPr>
            <a:endParaRPr lang="en-US" altLang="zh-CN" sz="1800" b="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" b="12201"/>
          <a:stretch/>
        </p:blipFill>
        <p:spPr>
          <a:xfrm>
            <a:off x="7410535" y="843558"/>
            <a:ext cx="1607285" cy="2118489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5491EC3B-68D9-42CE-9D38-DA471BFA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</p:spTree>
    <p:extLst>
      <p:ext uri="{BB962C8B-B14F-4D97-AF65-F5344CB8AC3E}">
        <p14:creationId xmlns:p14="http://schemas.microsoft.com/office/powerpoint/2010/main" val="20080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118BAE88-A3C8-4E39-829F-35135F003C6C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C1D2F47C-B9E9-46E8-9AD6-F1CEA91E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80" y="771551"/>
            <a:ext cx="8910316" cy="390671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和基本概念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math		                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a=float(input("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      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，转换成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类型，并且赋值给变量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b=float(input("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，转换成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类型，并且赋值给变量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c=float(input("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输入系数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，转换成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float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类型，并且赋值给变量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delta=b*b-4*a*c		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600" b="0" baseline="300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-4ac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，并且赋值给变量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delta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delta&gt;=0:		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delta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是否≥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，若是则执行下面缩进的语句</a:t>
            </a: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=(-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b+math.sqrt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(delta))/(2*a)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个根，并且赋值给变量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x2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=(-b-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math.sqrt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(delta))/(2*a)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计算第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个根，并且赋值给变量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x2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print("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=",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x1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,"\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nx2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=",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x2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输出两个根</a:t>
            </a: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else:    </a:t>
            </a:r>
          </a:p>
          <a:p>
            <a:pPr marL="864000" lvl="1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print("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方程没有实根。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          	#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delta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不成立，若是输出“方程没有实根。”</a:t>
            </a:r>
            <a:endParaRPr lang="en-US" altLang="zh-CN" sz="1800" b="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AutoShape 44"/>
          <p:cNvSpPr>
            <a:spLocks noChangeArrowheads="1"/>
          </p:cNvSpPr>
          <p:nvPr/>
        </p:nvSpPr>
        <p:spPr bwMode="gray">
          <a:xfrm>
            <a:off x="755576" y="4638364"/>
            <a:ext cx="4896544" cy="532831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说明：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缩进是</a:t>
            </a:r>
            <a:r>
              <a:rPr lang="en-US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的特色，表示层次关系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：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模块中的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求平方根</a:t>
            </a: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47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3">
            <a:extLst>
              <a:ext uri="{FF2B5EF4-FFF2-40B4-BE49-F238E27FC236}">
                <a16:creationId xmlns:a16="http://schemas.microsoft.com/office/drawing/2014/main" id="{4F3AF050-FA05-4A37-ABA3-48CBD90D5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2" y="772465"/>
            <a:ext cx="8615808" cy="37136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864000" lvl="1">
              <a:lnSpc>
                <a:spcPct val="125000"/>
              </a:lnSpc>
              <a:spcBef>
                <a:spcPts val="4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Python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程序的书写规则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①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注释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增加程序的可读性，它不被程序运行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单行注释：</a:t>
            </a:r>
            <a:r>
              <a:rPr lang="en-US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缩进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——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代码的逻辑从属关系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开发环境会自动缩进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一个语句块的缩进</a:t>
            </a:r>
            <a:r>
              <a:rPr lang="zh-CN" altLang="en-US" sz="1800" b="0" dirty="0">
                <a:solidFill>
                  <a:srgbClr val="000066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必须相同</a:t>
            </a:r>
            <a:endParaRPr lang="en-US" altLang="zh-CN" sz="1800" b="0" dirty="0">
              <a:solidFill>
                <a:srgbClr val="000066"/>
              </a:solidFill>
              <a:highlight>
                <a:srgbClr val="00FF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③ 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语句书写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自由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通常</a:t>
            </a:r>
            <a:r>
              <a:rPr lang="zh-CN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一行只写一个语句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，一个语句在一行上书写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一行写多个语句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：中间加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;”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④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大小写字母</a:t>
            </a:r>
            <a:r>
              <a:rPr lang="zh-CN" altLang="en-US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endParaRPr lang="zh-CN" altLang="zh-CN" sz="1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E84C379-ED03-44A8-AC69-D969A10E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705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323075" y="771550"/>
            <a:ext cx="8785225" cy="77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508104" y="4695986"/>
            <a:ext cx="108012" cy="1080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463848"/>
              </p:ext>
            </p:extLst>
          </p:nvPr>
        </p:nvGraphicFramePr>
        <p:xfrm>
          <a:off x="1383095" y="1328521"/>
          <a:ext cx="7303706" cy="3691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910"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函数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实</a:t>
                      </a: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例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结</a:t>
                      </a:r>
                      <a:r>
                        <a:rPr lang="en-US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果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pi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π      </a:t>
                      </a:r>
                      <a:endParaRPr kumimoji="1" lang="zh-CN" sz="1600" b="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pi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3.141592653589793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2.718281828459045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弧度的余弦值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exp(x)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为底的幂，即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en-US" sz="1600" b="0" kern="1200" baseline="30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1" lang="zh-CN" sz="1600" b="0" kern="1200" baseline="30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exp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20.085536923187668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返回自然对数（以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log(10)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2.302585092994046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951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log10(x)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返回常用对数（以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log10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sin(x)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弧度的正弦值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sin(0)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sqrt(x)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求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的平方根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sqrt(9)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3.0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tan(x)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弧度的正切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tan(0)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 bwMode="auto">
          <a:xfrm flipV="1">
            <a:off x="683568" y="123478"/>
            <a:ext cx="936104" cy="4248472"/>
          </a:xfrm>
          <a:prstGeom prst="line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" name="标题 1">
            <a:extLst>
              <a:ext uri="{FF2B5EF4-FFF2-40B4-BE49-F238E27FC236}">
                <a16:creationId xmlns:a16="http://schemas.microsoft.com/office/drawing/2014/main" id="{B6140140-F17B-47E1-9897-3A9E57C296AA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7C82B36A-DCAE-4DD1-8C4B-B8EFCF8F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43558"/>
            <a:ext cx="8785225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4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math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3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843558"/>
            <a:ext cx="8785225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4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① 内置函数：直接使用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float()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eval()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range()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input()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print()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②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标准库：需要导入，如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import math		from math import *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math.sqrt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(9)		sqrt(9)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 ②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第三方库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：或者需要安装，或者已经集成，如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matplotlib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098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843558"/>
            <a:ext cx="87852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4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① 内置函数：直接使用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chr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float()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eval()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range()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input()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②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标准库：需要导入，如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import math		from math import *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math.sqrt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(9)		sqrt(9)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     ③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第三方库：或者需要安装，或者已经集成，如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matplotlib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34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 bwMode="auto">
          <a:xfrm>
            <a:off x="593050" y="1663049"/>
            <a:ext cx="82296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常用</a:t>
            </a:r>
            <a:r>
              <a:rPr lang="en-US" altLang="zh-CN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math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常数和函数</a:t>
            </a:r>
            <a:br>
              <a:rPr lang="en-US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</a:br>
            <a:endParaRPr lang="zh-CN" altLang="en-US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323075" y="771550"/>
            <a:ext cx="8785225" cy="77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508104" y="4695986"/>
            <a:ext cx="108012" cy="1080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15120"/>
              </p:ext>
            </p:extLst>
          </p:nvPr>
        </p:nvGraphicFramePr>
        <p:xfrm>
          <a:off x="464362" y="863076"/>
          <a:ext cx="8222438" cy="39409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6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函数</a:t>
                      </a:r>
                      <a:endParaRPr lang="zh-CN" sz="1600" kern="100" dirty="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含</a:t>
                      </a:r>
                      <a:r>
                        <a:rPr lang="en-US" sz="1600" b="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</a:t>
                      </a:r>
                      <a:r>
                        <a:rPr lang="zh-CN" sz="1600" b="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义</a:t>
                      </a:r>
                      <a:endParaRPr lang="zh-CN" sz="1600" b="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实</a:t>
                      </a: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例</a:t>
                      </a:r>
                      <a:endParaRPr lang="zh-CN" sz="160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结</a:t>
                      </a: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果</a:t>
                      </a:r>
                      <a:endParaRPr lang="zh-CN" sz="160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pi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π      </a:t>
                      </a:r>
                      <a:endParaRPr kumimoji="1" lang="zh-CN" sz="1600" b="0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pi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3.141592653589793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endParaRPr kumimoji="1" lang="zh-CN" sz="1600" b="0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2.718281828459045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(x)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弧度的余弦值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(0)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exp(x)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为底的幂，即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r>
                        <a:rPr kumimoji="1" lang="en-US" sz="1600" b="0" kern="1200" baseline="300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x</a:t>
                      </a:r>
                      <a:endParaRPr kumimoji="1" lang="zh-CN" sz="1600" b="0" kern="1200" baseline="300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exp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(3)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20.085536923187668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log(x)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返回自然对数（以</a:t>
                      </a:r>
                      <a:r>
                        <a:rPr kumimoji="1" lang="en-US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e</a:t>
                      </a: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log(10)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2.302585092994046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log10(x)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返回常用对数（以</a:t>
                      </a:r>
                      <a:r>
                        <a:rPr kumimoji="1" lang="en-US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10</a:t>
                      </a: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log10(10)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sin(x)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弧度的正弦值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sin(0)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sqrt(x)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求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的平方根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sqrt(9)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3.0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874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tan(x)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弧度的正切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tan(0)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 bwMode="auto">
          <a:xfrm flipV="1">
            <a:off x="683568" y="123478"/>
            <a:ext cx="936104" cy="4248472"/>
          </a:xfrm>
          <a:prstGeom prst="line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" name="标题 1">
            <a:extLst>
              <a:ext uri="{FF2B5EF4-FFF2-40B4-BE49-F238E27FC236}">
                <a16:creationId xmlns:a16="http://schemas.microsoft.com/office/drawing/2014/main" id="{B6140140-F17B-47E1-9897-3A9E57C296AA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17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529" y="838789"/>
            <a:ext cx="8640960" cy="2951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简介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开发环境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6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IDLE  	Python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内置的一个简洁的集成开发环境，使用第三方库时需要安装</a:t>
            </a:r>
          </a:p>
          <a:p>
            <a:pPr marL="576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Anaconda 	Python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的一个发行版，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其中的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Spder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才是集成开发环境。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6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	Anaconda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有大量的科学包，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一般情况不需要安装新的第三方库</a:t>
            </a:r>
          </a:p>
          <a:p>
            <a:pPr marL="576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PyCharm  	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JetBrains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开发的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IDE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，支持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Django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Google App Engine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6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VSCode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	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微软开发的现代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和云应用的跨平台源代码编辑器</a:t>
            </a:r>
          </a:p>
        </p:txBody>
      </p:sp>
      <p:sp>
        <p:nvSpPr>
          <p:cNvPr id="9" name="矩形 8"/>
          <p:cNvSpPr/>
          <p:nvPr/>
        </p:nvSpPr>
        <p:spPr>
          <a:xfrm>
            <a:off x="243348" y="842980"/>
            <a:ext cx="5598741" cy="396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zh-CN" altLang="en-US" sz="1800" b="0">
              <a:solidFill>
                <a:srgbClr val="000066"/>
              </a:solidFill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240910" y="699542"/>
            <a:ext cx="543609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092F814-C1AA-4197-9E12-793A3941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490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96014" y="3443350"/>
            <a:ext cx="7556257" cy="893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4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开发环境与安装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——A</a:t>
            </a:r>
            <a:r>
              <a:rPr lang="en-US" altLang="zh-CN" sz="2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naconda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24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altLang="zh-CN" sz="1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98" y="2009453"/>
            <a:ext cx="5028455" cy="210716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43348" y="842980"/>
            <a:ext cx="5598741" cy="116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特点：</a:t>
            </a: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集成度好，大多数第三方库都包括了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开发环境多窗口，便于调试和运行</a:t>
            </a:r>
            <a:b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1800" b="0" dirty="0">
              <a:solidFill>
                <a:srgbClr val="000066"/>
              </a:solidFill>
            </a:endParaRPr>
          </a:p>
        </p:txBody>
      </p:sp>
      <p:pic>
        <p:nvPicPr>
          <p:cNvPr id="12" name="图片 11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862" y="1724360"/>
            <a:ext cx="2130425" cy="207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6573031" y="1152760"/>
            <a:ext cx="2448272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安装成功后的开始菜单</a:t>
            </a:r>
          </a:p>
        </p:txBody>
      </p:sp>
      <p:sp>
        <p:nvSpPr>
          <p:cNvPr id="14" name="圆角矩形 13"/>
          <p:cNvSpPr/>
          <p:nvPr/>
        </p:nvSpPr>
        <p:spPr bwMode="auto">
          <a:xfrm>
            <a:off x="6753973" y="3443350"/>
            <a:ext cx="2046610" cy="360000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 w="38100">
                <a:solidFill>
                  <a:srgbClr val="C00000"/>
                </a:solidFill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928135" y="3961069"/>
            <a:ext cx="2448272" cy="362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Spyder</a:t>
            </a:r>
            <a:r>
              <a:rPr lang="zh-CN" altLang="en-US"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2C112B-C8DC-4EDE-B9EE-38F79012DF1E}"/>
              </a:ext>
            </a:extLst>
          </p:cNvPr>
          <p:cNvSpPr/>
          <p:nvPr/>
        </p:nvSpPr>
        <p:spPr bwMode="auto">
          <a:xfrm>
            <a:off x="395536" y="3482942"/>
            <a:ext cx="1694323" cy="659523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>
              <a:lnSpc>
                <a:spcPct val="100000"/>
              </a:lnSpc>
              <a:spcBef>
                <a:spcPct val="0"/>
              </a:spcBef>
            </a:pPr>
            <a:endParaRPr kumimoji="0" lang="zh-CN" altLang="en-US" sz="1650" b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0910" y="1656216"/>
            <a:ext cx="6768752" cy="47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4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https://www.anaconda.com/download//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240910" y="699542"/>
            <a:ext cx="543609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BD047C53-C23D-47E4-B884-2D2A60DE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5F383B-79EC-EBD6-161E-AED7491359F8}"/>
              </a:ext>
            </a:extLst>
          </p:cNvPr>
          <p:cNvSpPr txBox="1"/>
          <p:nvPr/>
        </p:nvSpPr>
        <p:spPr>
          <a:xfrm>
            <a:off x="264946" y="4458774"/>
            <a:ext cx="7139402" cy="583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上课请从清华镜像</a:t>
            </a:r>
            <a:r>
              <a:rPr lang="en-US" altLang="zh-CN" sz="1400" dirty="0">
                <a:hlinkClick r:id="rId6"/>
              </a:rPr>
              <a:t>https://mirrors.tuna.tsinghua.edu.cn/anaconda/archive/</a:t>
            </a:r>
            <a:r>
              <a:rPr lang="zh-CN" altLang="en-US" sz="1400" dirty="0"/>
              <a:t>下载</a:t>
            </a:r>
            <a:r>
              <a:rPr lang="en-US" altLang="zh-CN" sz="1400" dirty="0"/>
              <a:t>anaconda 5.3.1</a:t>
            </a:r>
            <a:r>
              <a:rPr lang="zh-CN" altLang="en-US" sz="1400" dirty="0"/>
              <a:t>（</a:t>
            </a:r>
            <a:r>
              <a:rPr lang="en-US" altLang="zh-CN" sz="1400" dirty="0"/>
              <a:t>64bit</a:t>
            </a:r>
            <a:r>
              <a:rPr lang="zh-CN" altLang="en-US" sz="1400" dirty="0"/>
              <a:t>，最后一个）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6149C7-87D9-2D7E-632B-6277AA46E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750617"/>
            <a:ext cx="9144000" cy="3846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051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 animBg="1"/>
      <p:bldP spid="15" grpId="0"/>
      <p:bldP spid="16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88" y="1381471"/>
            <a:ext cx="6980235" cy="3710559"/>
          </a:xfrm>
          <a:prstGeom prst="rect">
            <a:avLst/>
          </a:prstGeom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243DF1EC-735F-4A49-A8D9-FC5ED4A4A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74" y="3344112"/>
            <a:ext cx="855014" cy="5237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685800" eaLnBrk="0" hangingPunct="0">
              <a:lnSpc>
                <a:spcPct val="96000"/>
              </a:lnSpc>
              <a:spcBef>
                <a:spcPct val="0"/>
              </a:spcBef>
            </a:pPr>
            <a:r>
              <a:rPr kumimoji="0" lang="zh-CN" altLang="en-US" sz="1800" b="0">
                <a:solidFill>
                  <a:srgbClr val="000066"/>
                </a:solidFill>
                <a:latin typeface="黑体" panose="02010609060101010101" pitchFamily="49" charset="-122"/>
              </a:rPr>
              <a:t>代码编辑</a:t>
            </a:r>
            <a:r>
              <a:rPr kumimoji="0" lang="zh-CN" altLang="en-US" sz="1800" b="0" dirty="0">
                <a:solidFill>
                  <a:srgbClr val="000066"/>
                </a:solidFill>
                <a:latin typeface="黑体" panose="02010609060101010101" pitchFamily="49" charset="-122"/>
              </a:rPr>
              <a:t>窗口</a:t>
            </a:r>
            <a:endParaRPr kumimoji="0" lang="zh-CN" altLang="zh-CN" sz="1800" b="0" dirty="0">
              <a:solidFill>
                <a:srgbClr val="000066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576" y="3651870"/>
            <a:ext cx="6809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593F658B-C37C-4281-974D-7B7DAFF3F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8655" y="4299942"/>
            <a:ext cx="864096" cy="5237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685800" eaLnBrk="0" hangingPunct="0">
              <a:lnSpc>
                <a:spcPct val="96000"/>
              </a:lnSpc>
              <a:spcBef>
                <a:spcPct val="0"/>
              </a:spcBef>
            </a:pPr>
            <a:r>
              <a:rPr kumimoji="0" lang="zh-CN" altLang="en-US" sz="1800" b="0" dirty="0">
                <a:solidFill>
                  <a:srgbClr val="000066"/>
                </a:solidFill>
                <a:latin typeface="黑体" panose="02010609060101010101" pitchFamily="49" charset="-122"/>
              </a:rPr>
              <a:t>控制台窗口</a:t>
            </a:r>
            <a:endParaRPr kumimoji="0" lang="zh-CN" altLang="zh-CN" sz="1800" b="0" dirty="0">
              <a:solidFill>
                <a:srgbClr val="000066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0C0DEDD7-1C85-44CF-A11F-FE20B86EF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4328" y="4659982"/>
            <a:ext cx="648072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1" name="圆角矩形 10"/>
          <p:cNvSpPr/>
          <p:nvPr/>
        </p:nvSpPr>
        <p:spPr bwMode="auto">
          <a:xfrm flipH="1">
            <a:off x="1979712" y="1635645"/>
            <a:ext cx="216024" cy="360041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 w="38100">
                <a:solidFill>
                  <a:srgbClr val="C00000"/>
                </a:solidFill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93F658B-C37C-4281-974D-7B7DAFF3F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098191"/>
            <a:ext cx="2520280" cy="2726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685800" eaLnBrk="0" hangingPunct="0">
              <a:lnSpc>
                <a:spcPct val="96000"/>
              </a:lnSpc>
              <a:spcBef>
                <a:spcPct val="0"/>
              </a:spcBef>
            </a:pPr>
            <a:r>
              <a:rPr kumimoji="0" lang="zh-CN" altLang="en-US" sz="1600" b="0" dirty="0">
                <a:solidFill>
                  <a:srgbClr val="000066"/>
                </a:solidFill>
                <a:latin typeface="黑体" panose="02010609060101010101" pitchFamily="49" charset="-122"/>
              </a:rPr>
              <a:t>运行程序按钮</a:t>
            </a:r>
            <a:endParaRPr kumimoji="0" lang="zh-CN" altLang="zh-CN" sz="1600" b="0" dirty="0">
              <a:solidFill>
                <a:srgbClr val="000066"/>
              </a:solidFill>
              <a:latin typeface="黑体" panose="02010609060101010101" pitchFamily="49" charset="-122"/>
            </a:endParaRP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720" y="1363142"/>
            <a:ext cx="0" cy="367593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6" name="圆角矩形 15"/>
          <p:cNvSpPr/>
          <p:nvPr/>
        </p:nvSpPr>
        <p:spPr bwMode="auto">
          <a:xfrm flipH="1">
            <a:off x="4067944" y="3795886"/>
            <a:ext cx="1368152" cy="57606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 w="38100">
                <a:solidFill>
                  <a:srgbClr val="C00000"/>
                </a:solidFill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4128" y="3867894"/>
            <a:ext cx="2088232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lang="zh-CN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执行方式</a:t>
            </a:r>
            <a:endParaRPr lang="zh-CN" altLang="en-US" sz="1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">
            <a:extLst>
              <a:ext uri="{FF2B5EF4-FFF2-40B4-BE49-F238E27FC236}">
                <a16:creationId xmlns:a16="http://schemas.microsoft.com/office/drawing/2014/main" id="{0C0DEDD7-1C85-44CF-A11F-FE20B86EF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6096" y="4083918"/>
            <a:ext cx="324036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1" name="圆角矩形 20"/>
          <p:cNvSpPr/>
          <p:nvPr/>
        </p:nvSpPr>
        <p:spPr bwMode="auto">
          <a:xfrm flipH="1">
            <a:off x="1295636" y="2168331"/>
            <a:ext cx="1368152" cy="57606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 w="38100">
                <a:solidFill>
                  <a:srgbClr val="C00000"/>
                </a:solidFill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08" y="1993001"/>
            <a:ext cx="877163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kumimoji="0"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文件执</a:t>
            </a:r>
            <a:endParaRPr kumimoji="0" lang="en-US" altLang="zh-CN" sz="1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kumimoji="0"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行方式</a:t>
            </a:r>
            <a:endParaRPr lang="zh-CN" altLang="en-US" sz="1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736" y="2381627"/>
            <a:ext cx="6809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19AF46F-5261-44A9-91E2-52FBB0A7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421555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251520" y="713202"/>
            <a:ext cx="6318702" cy="404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24000"/>
              </a:lnSpc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Spyder    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编程、调试、运行、多窗口的集成开发环境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78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8" grpId="0" animBg="1"/>
      <p:bldP spid="13" grpId="0" animBg="1"/>
      <p:bldP spid="11" grpId="0" animBg="1"/>
      <p:bldP spid="12" grpId="0" animBg="1"/>
      <p:bldP spid="14" grpId="0" animBg="1"/>
      <p:bldP spid="16" grpId="0" animBg="1"/>
      <p:bldP spid="4" grpId="0"/>
      <p:bldP spid="19" grpId="0" animBg="1"/>
      <p:bldP spid="21" grpId="0" animBg="1"/>
      <p:bldP spid="5" grpId="0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5" name="Text Box 3"/>
          <p:cNvSpPr txBox="1">
            <a:spLocks noChangeArrowheads="1"/>
          </p:cNvSpPr>
          <p:nvPr/>
        </p:nvSpPr>
        <p:spPr bwMode="auto">
          <a:xfrm>
            <a:off x="30642" y="627534"/>
            <a:ext cx="8789829" cy="3305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二、</a:t>
            </a:r>
            <a:r>
              <a:rPr lang="en-US" altLang="zh-CN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语言基础</a:t>
            </a:r>
            <a:endParaRPr lang="zh-CN" altLang="zh-CN" sz="40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     </a:t>
            </a:r>
            <a:r>
              <a:rPr lang="en-US" altLang="zh-CN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</a:t>
            </a:r>
            <a:endParaRPr lang="en-US" altLang="zh-CN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     2. </a:t>
            </a:r>
            <a:r>
              <a:rPr lang="zh-CN" alt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运算符和表达式</a:t>
            </a:r>
            <a:endParaRPr lang="en-US" altLang="zh-CN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3. </a:t>
            </a:r>
            <a:r>
              <a:rPr lang="zh-CN" altLang="en-US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数据的输入和输出</a:t>
            </a:r>
            <a:endParaRPr lang="en-US" altLang="zh-CN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				</a:t>
            </a:r>
            <a:endParaRPr lang="zh-CN" altLang="en-US" sz="40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78878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0" y="1621832"/>
            <a:ext cx="184150" cy="5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0" y="1667869"/>
            <a:ext cx="184150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185000" y="883843"/>
            <a:ext cx="8964612" cy="430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提供的</a:t>
            </a:r>
            <a:r>
              <a:rPr lang="zh-CN" altLang="zh-CN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内置</a:t>
            </a:r>
            <a:r>
              <a:rPr lang="zh-CN" altLang="en-US" sz="20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数据类型</a:t>
            </a:r>
          </a:p>
        </p:txBody>
      </p:sp>
      <p:sp>
        <p:nvSpPr>
          <p:cNvPr id="2" name="Rectangle 8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201" y="2786045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10932" y="2006152"/>
            <a:ext cx="1800200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83968" y="1266951"/>
            <a:ext cx="29523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int      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123   </a:t>
            </a:r>
            <a:endParaRPr lang="zh-CN" altLang="en-US" sz="18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83968" y="1663534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float   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123.0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 0.12345E+3</a:t>
            </a:r>
            <a:endParaRPr lang="zh-CN" altLang="en-US" sz="18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01120" y="2048257"/>
            <a:ext cx="1800200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复数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complex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6282" y="2446212"/>
            <a:ext cx="423816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布尔型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bool    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72508" y="3806725"/>
            <a:ext cx="1800200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组合数据类型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283968" y="3295713"/>
            <a:ext cx="180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有序序列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80112" y="2851127"/>
            <a:ext cx="30894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    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  “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123.0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”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</a:t>
            </a:r>
            <a:endParaRPr lang="zh-CN" altLang="en-US" sz="18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80112" y="3247710"/>
            <a:ext cx="1800200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list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591654" y="3600354"/>
            <a:ext cx="1800200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tuple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18777" y="4445828"/>
            <a:ext cx="180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无序序列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580112" y="4189190"/>
            <a:ext cx="1800200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dict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79654" y="4681597"/>
            <a:ext cx="1800200" cy="41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set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左大括号 4"/>
          <p:cNvSpPr/>
          <p:nvPr/>
        </p:nvSpPr>
        <p:spPr bwMode="auto">
          <a:xfrm>
            <a:off x="2195736" y="2246548"/>
            <a:ext cx="288033" cy="1750389"/>
          </a:xfrm>
          <a:prstGeom prst="leftBrace">
            <a:avLst/>
          </a:prstGeom>
          <a:noFill/>
          <a:ln w="4445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zh-CN" altLang="en-US" b="0"/>
          </a:p>
        </p:txBody>
      </p:sp>
      <p:sp>
        <p:nvSpPr>
          <p:cNvPr id="23" name="左大括号 22"/>
          <p:cNvSpPr/>
          <p:nvPr/>
        </p:nvSpPr>
        <p:spPr bwMode="auto">
          <a:xfrm>
            <a:off x="3995936" y="1428394"/>
            <a:ext cx="370346" cy="1245318"/>
          </a:xfrm>
          <a:prstGeom prst="leftBrace">
            <a:avLst/>
          </a:prstGeom>
          <a:noFill/>
          <a:ln w="4445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zh-CN" altLang="en-US" b="0"/>
          </a:p>
        </p:txBody>
      </p:sp>
      <p:sp>
        <p:nvSpPr>
          <p:cNvPr id="24" name="左大括号 23"/>
          <p:cNvSpPr/>
          <p:nvPr/>
        </p:nvSpPr>
        <p:spPr bwMode="auto">
          <a:xfrm>
            <a:off x="5388361" y="3001329"/>
            <a:ext cx="203294" cy="980242"/>
          </a:xfrm>
          <a:prstGeom prst="leftBrace">
            <a:avLst/>
          </a:prstGeom>
          <a:noFill/>
          <a:ln w="4445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zh-CN" altLang="en-US" b="0"/>
          </a:p>
        </p:txBody>
      </p:sp>
      <p:sp>
        <p:nvSpPr>
          <p:cNvPr id="25" name="左大括号 24"/>
          <p:cNvSpPr/>
          <p:nvPr/>
        </p:nvSpPr>
        <p:spPr bwMode="auto">
          <a:xfrm>
            <a:off x="4006608" y="3526084"/>
            <a:ext cx="312169" cy="1059690"/>
          </a:xfrm>
          <a:prstGeom prst="leftBrace">
            <a:avLst/>
          </a:prstGeom>
          <a:noFill/>
          <a:ln w="4445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zh-CN" altLang="en-US" b="0"/>
          </a:p>
        </p:txBody>
      </p:sp>
      <p:sp>
        <p:nvSpPr>
          <p:cNvPr id="26" name="左大括号 25"/>
          <p:cNvSpPr/>
          <p:nvPr/>
        </p:nvSpPr>
        <p:spPr bwMode="auto">
          <a:xfrm>
            <a:off x="5388361" y="4342446"/>
            <a:ext cx="203293" cy="596914"/>
          </a:xfrm>
          <a:prstGeom prst="leftBrace">
            <a:avLst/>
          </a:prstGeom>
          <a:noFill/>
          <a:ln w="44450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rtlCol="0" anchor="ctr"/>
          <a:lstStyle/>
          <a:p>
            <a:pPr algn="ctr"/>
            <a:endParaRPr lang="zh-CN" altLang="en-US" b="0"/>
          </a:p>
        </p:txBody>
      </p:sp>
      <p:sp>
        <p:nvSpPr>
          <p:cNvPr id="4" name="文本框 3"/>
          <p:cNvSpPr txBox="1"/>
          <p:nvPr/>
        </p:nvSpPr>
        <p:spPr>
          <a:xfrm>
            <a:off x="150481" y="162570"/>
            <a:ext cx="4182132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56088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6531" y="223713"/>
            <a:ext cx="82296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4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、变量和标识符</a:t>
            </a:r>
            <a:br>
              <a:rPr lang="zh-CN" altLang="en-US" sz="4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</a:br>
            <a:endParaRPr lang="zh-CN" altLang="en-US" sz="40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1520" y="893467"/>
            <a:ext cx="8640960" cy="165690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常量：</a:t>
            </a:r>
            <a:r>
              <a:rPr lang="zh-CN" altLang="en-US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则表示固定不变的数据，</a:t>
            </a:r>
            <a:endParaRPr lang="en-US" altLang="zh-CN" sz="18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zh-CN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字面值可看出是什么类型的数据</a:t>
            </a:r>
            <a:r>
              <a:rPr lang="zh-CN" altLang="en-US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8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1230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1230.0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‘1230.0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zh-CN" altLang="en-US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三种不同类型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的常量</a:t>
            </a:r>
            <a:r>
              <a:rPr lang="en-US" altLang="zh-CN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而 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1,230 </a:t>
            </a:r>
            <a:r>
              <a:rPr lang="zh-CN" altLang="en-US" sz="18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是非法数据类型 </a:t>
            </a:r>
            <a:endParaRPr lang="en-US" altLang="zh-CN" sz="18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变量：</a:t>
            </a:r>
            <a:r>
              <a:rPr lang="zh-CN" altLang="en-US" sz="18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用来存储可能变化的数据</a:t>
            </a:r>
            <a:endParaRPr lang="en-US" altLang="zh-CN" sz="18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Tx/>
              <a:buNone/>
            </a:pP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899592" y="2673725"/>
            <a:ext cx="3816424" cy="133818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float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((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input("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半径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s=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3.14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*r*r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("s="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899592" y="3220879"/>
            <a:ext cx="3353747" cy="309037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4821149" y="2550370"/>
            <a:ext cx="3816424" cy="148220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import math</a:t>
            </a:r>
          </a:p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r=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float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((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input("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半径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s=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math.pi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*r**2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print("s=",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823192" y="3375397"/>
            <a:ext cx="2252939" cy="288032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9148" y="4227934"/>
            <a:ext cx="80469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标识符：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在程序中为处理的对象起个名字</a:t>
            </a:r>
            <a: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b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</a:br>
            <a: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</a:t>
            </a: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规则：字母</a:t>
            </a:r>
            <a:r>
              <a:rPr lang="zh-CN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或下划线开头</a:t>
            </a: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，后面可跟字母、数字、下划线等字符。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线形标注 1(无边框) 3"/>
          <p:cNvSpPr/>
          <p:nvPr/>
        </p:nvSpPr>
        <p:spPr bwMode="auto">
          <a:xfrm>
            <a:off x="6464063" y="2179575"/>
            <a:ext cx="1224136" cy="350865"/>
          </a:xfrm>
          <a:prstGeom prst="callout1">
            <a:avLst>
              <a:gd name="adj1" fmla="val 48966"/>
              <a:gd name="adj2" fmla="val 8988"/>
              <a:gd name="adj3" fmla="val 131385"/>
              <a:gd name="adj4" fmla="val -33461"/>
            </a:avLst>
          </a:prstGeom>
          <a:ln/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数学库函数</a:t>
            </a:r>
            <a:endParaRPr kumimoji="1" lang="zh-CN" altLang="en-US" sz="14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56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7" grpId="0" animBg="1"/>
      <p:bldP spid="8" grpId="0" animBg="1"/>
      <p:bldP spid="3" grpId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12576" y="123478"/>
            <a:ext cx="8229600" cy="723727"/>
          </a:xfrm>
        </p:spPr>
        <p:txBody>
          <a:bodyPr/>
          <a:lstStyle/>
          <a:p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运算符和表达式</a:t>
            </a:r>
            <a:b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83768" y="1203598"/>
            <a:ext cx="4896544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</a:t>
            </a:r>
            <a:endParaRPr lang="en-US" altLang="zh-CN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en-US" altLang="zh-CN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endParaRPr lang="en-US" altLang="zh-CN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</a:t>
            </a:r>
          </a:p>
        </p:txBody>
      </p:sp>
    </p:spTree>
    <p:extLst>
      <p:ext uri="{BB962C8B-B14F-4D97-AF65-F5344CB8AC3E}">
        <p14:creationId xmlns:p14="http://schemas.microsoft.com/office/powerpoint/2010/main" val="2023877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010919"/>
              </p:ext>
            </p:extLst>
          </p:nvPr>
        </p:nvGraphicFramePr>
        <p:xfrm>
          <a:off x="1475929" y="1480022"/>
          <a:ext cx="5400675" cy="82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998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0066"/>
                          </a:solidFill>
                        </a:rPr>
                        <a:t>  -</a:t>
                      </a:r>
                      <a:endParaRPr lang="zh-CN" altLang="en-US" sz="20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000066"/>
                          </a:solidFill>
                        </a:rPr>
                        <a:t>**</a:t>
                      </a:r>
                    </a:p>
                  </a:txBody>
                  <a:tcPr marL="91451" marR="91451" marT="45627" marB="45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000066"/>
                          </a:solidFill>
                        </a:rPr>
                        <a:t>* </a:t>
                      </a:r>
                      <a:r>
                        <a:rPr lang="zh-CN" altLang="en-US" sz="2400" dirty="0">
                          <a:solidFill>
                            <a:srgbClr val="000066"/>
                          </a:solidFill>
                        </a:rPr>
                        <a:t>　</a:t>
                      </a:r>
                      <a:r>
                        <a:rPr lang="en-US" altLang="zh-CN" sz="2000" b="0" dirty="0">
                          <a:solidFill>
                            <a:srgbClr val="000066"/>
                          </a:solidFill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</a:rPr>
                        <a:t> /         //         %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  +</a:t>
                      </a:r>
                      <a:r>
                        <a:rPr lang="zh-CN" altLang="en-US" sz="1800" dirty="0">
                          <a:solidFill>
                            <a:srgbClr val="000066"/>
                          </a:solidFill>
                        </a:rPr>
                        <a:t>　</a:t>
                      </a:r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  -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 1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00066"/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rgbClr val="000066"/>
                        </a:solidFill>
                      </a:endParaRPr>
                    </a:p>
                  </a:txBody>
                  <a:tcPr marL="91451" marR="91451" marT="45627" marB="456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35" name="圆角矩形 9"/>
          <p:cNvSpPr>
            <a:spLocks noChangeArrowheads="1"/>
          </p:cNvSpPr>
          <p:nvPr/>
        </p:nvSpPr>
        <p:spPr bwMode="auto">
          <a:xfrm>
            <a:off x="4031531" y="1514004"/>
            <a:ext cx="1692275" cy="409575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8936" name="TextBox 2"/>
          <p:cNvSpPr txBox="1">
            <a:spLocks noChangeArrowheads="1"/>
          </p:cNvSpPr>
          <p:nvPr/>
        </p:nvSpPr>
        <p:spPr bwMode="auto">
          <a:xfrm>
            <a:off x="146250" y="1486550"/>
            <a:ext cx="13684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运算符：</a:t>
            </a:r>
          </a:p>
        </p:txBody>
      </p:sp>
      <p:sp>
        <p:nvSpPr>
          <p:cNvPr id="38937" name="TextBox 11"/>
          <p:cNvSpPr txBox="1">
            <a:spLocks noChangeArrowheads="1"/>
          </p:cNvSpPr>
          <p:nvPr/>
        </p:nvSpPr>
        <p:spPr bwMode="auto">
          <a:xfrm>
            <a:off x="154188" y="1994301"/>
            <a:ext cx="1360487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优先级：   </a:t>
            </a:r>
          </a:p>
        </p:txBody>
      </p:sp>
      <p:sp>
        <p:nvSpPr>
          <p:cNvPr id="26653" name="TextBox 4"/>
          <p:cNvSpPr txBox="1">
            <a:spLocks noChangeArrowheads="1"/>
          </p:cNvSpPr>
          <p:nvPr/>
        </p:nvSpPr>
        <p:spPr bwMode="auto">
          <a:xfrm>
            <a:off x="65658" y="3908328"/>
            <a:ext cx="2349414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 </a:t>
            </a:r>
            <a:r>
              <a:rPr lang="en-US" altLang="zh-CN" dirty="0">
                <a:solidFill>
                  <a:srgbClr val="000066"/>
                </a:solidFill>
                <a:latin typeface="+mn-lt"/>
                <a:ea typeface="+mn-ea"/>
              </a:rPr>
              <a:t>%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3</a:t>
            </a:r>
            <a:endParaRPr lang="zh-CN" altLang="en-US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654" name="TextBox 14"/>
          <p:cNvSpPr txBox="1">
            <a:spLocks noChangeArrowheads="1"/>
          </p:cNvSpPr>
          <p:nvPr/>
        </p:nvSpPr>
        <p:spPr bwMode="auto">
          <a:xfrm>
            <a:off x="65658" y="3411440"/>
            <a:ext cx="2349414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10//3</a:t>
            </a:r>
            <a:endParaRPr lang="zh-CN" altLang="en-US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655" name="TextBox 15"/>
          <p:cNvSpPr txBox="1">
            <a:spLocks noChangeArrowheads="1"/>
          </p:cNvSpPr>
          <p:nvPr/>
        </p:nvSpPr>
        <p:spPr bwMode="auto">
          <a:xfrm>
            <a:off x="35496" y="2900265"/>
            <a:ext cx="170580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10/3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656" name="TextBox 16"/>
          <p:cNvSpPr txBox="1">
            <a:spLocks noChangeArrowheads="1"/>
          </p:cNvSpPr>
          <p:nvPr/>
        </p:nvSpPr>
        <p:spPr bwMode="auto">
          <a:xfrm>
            <a:off x="1788145" y="2952956"/>
            <a:ext cx="2783855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3.3333333333333335</a:t>
            </a:r>
            <a:endParaRPr lang="zh-CN" altLang="en-US" sz="180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657" name="TextBox 17"/>
          <p:cNvSpPr txBox="1">
            <a:spLocks noChangeArrowheads="1"/>
          </p:cNvSpPr>
          <p:nvPr/>
        </p:nvSpPr>
        <p:spPr bwMode="auto">
          <a:xfrm>
            <a:off x="1932162" y="3444032"/>
            <a:ext cx="256972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endParaRPr lang="zh-CN" altLang="en-US" sz="180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658" name="TextBox 18"/>
          <p:cNvSpPr txBox="1">
            <a:spLocks noChangeArrowheads="1"/>
          </p:cNvSpPr>
          <p:nvPr/>
        </p:nvSpPr>
        <p:spPr bwMode="auto">
          <a:xfrm>
            <a:off x="1932161" y="3859115"/>
            <a:ext cx="2569721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endParaRPr lang="zh-CN" altLang="en-US" sz="180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右箭头 1"/>
          <p:cNvSpPr>
            <a:spLocks noChangeArrowheads="1"/>
          </p:cNvSpPr>
          <p:nvPr/>
        </p:nvSpPr>
        <p:spPr bwMode="auto">
          <a:xfrm>
            <a:off x="1140073" y="3017242"/>
            <a:ext cx="642037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1" name="右箭头 20"/>
          <p:cNvSpPr>
            <a:spLocks noChangeArrowheads="1"/>
          </p:cNvSpPr>
          <p:nvPr/>
        </p:nvSpPr>
        <p:spPr bwMode="auto">
          <a:xfrm>
            <a:off x="1162298" y="3507779"/>
            <a:ext cx="642037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2" name="右箭头 21"/>
          <p:cNvSpPr>
            <a:spLocks noChangeArrowheads="1"/>
          </p:cNvSpPr>
          <p:nvPr/>
        </p:nvSpPr>
        <p:spPr bwMode="auto">
          <a:xfrm>
            <a:off x="1162298" y="3976092"/>
            <a:ext cx="642037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031158" y="1032370"/>
            <a:ext cx="169264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整除　　　取余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4319191" y="1363834"/>
            <a:ext cx="0" cy="237852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>
            <a:off x="5327303" y="1348160"/>
            <a:ext cx="0" cy="237852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0" name="AutoShape 44"/>
          <p:cNvSpPr>
            <a:spLocks noChangeArrowheads="1"/>
          </p:cNvSpPr>
          <p:nvPr/>
        </p:nvSpPr>
        <p:spPr bwMode="gray">
          <a:xfrm>
            <a:off x="4342440" y="2467015"/>
            <a:ext cx="4670687" cy="230423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</a:t>
            </a:r>
            <a:r>
              <a:rPr lang="zh-CN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运算符，输入秒数，以</a:t>
            </a:r>
            <a:r>
              <a:rPr lang="zh-CN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小时、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分、</a:t>
            </a:r>
            <a:r>
              <a:rPr lang="zh-CN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秒形式显示</a:t>
            </a:r>
            <a:endParaRPr lang="en-US" altLang="zh-CN" sz="16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 =int(input("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输入秒数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    #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若输入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3623</a:t>
            </a:r>
            <a:endParaRPr lang="zh-CN" altLang="zh-CN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 x % 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60                 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求得秒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23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 = x //60 % 60             # 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求得分钟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0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h = x // 3600               # 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求得小时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1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</a:t>
            </a:r>
            <a:r>
              <a:rPr lang="en-US" altLang="zh-CN" sz="140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h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,":",</a:t>
            </a:r>
            <a:r>
              <a:rPr lang="en-US" altLang="zh-CN" sz="140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,":",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3" name="圆角矩形 9"/>
          <p:cNvSpPr>
            <a:spLocks noChangeArrowheads="1"/>
          </p:cNvSpPr>
          <p:nvPr/>
        </p:nvSpPr>
        <p:spPr bwMode="auto">
          <a:xfrm>
            <a:off x="1475929" y="1482760"/>
            <a:ext cx="688008" cy="468726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>
            <a:off x="1763688" y="1347614"/>
            <a:ext cx="0" cy="237852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5" name="TextBox 2"/>
          <p:cNvSpPr txBox="1"/>
          <p:nvPr/>
        </p:nvSpPr>
        <p:spPr>
          <a:xfrm>
            <a:off x="1439193" y="1059582"/>
            <a:ext cx="1692647" cy="360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取负</a:t>
            </a:r>
          </a:p>
        </p:txBody>
      </p:sp>
      <p:sp>
        <p:nvSpPr>
          <p:cNvPr id="26" name="圆角矩形 9"/>
          <p:cNvSpPr>
            <a:spLocks noChangeArrowheads="1"/>
          </p:cNvSpPr>
          <p:nvPr/>
        </p:nvSpPr>
        <p:spPr bwMode="auto">
          <a:xfrm>
            <a:off x="6332264" y="1454952"/>
            <a:ext cx="578893" cy="448932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7" name="直接连接符 26"/>
          <p:cNvCxnSpPr/>
          <p:nvPr/>
        </p:nvCxnSpPr>
        <p:spPr bwMode="auto">
          <a:xfrm flipH="1">
            <a:off x="6662143" y="1275606"/>
            <a:ext cx="0" cy="288032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1" name="TextBox 2"/>
          <p:cNvSpPr txBox="1"/>
          <p:nvPr/>
        </p:nvSpPr>
        <p:spPr>
          <a:xfrm>
            <a:off x="6479753" y="987574"/>
            <a:ext cx="1692647" cy="360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减</a:t>
            </a:r>
          </a:p>
        </p:txBody>
      </p:sp>
      <p:sp>
        <p:nvSpPr>
          <p:cNvPr id="5" name="矩形 4"/>
          <p:cNvSpPr/>
          <p:nvPr/>
        </p:nvSpPr>
        <p:spPr>
          <a:xfrm>
            <a:off x="205834" y="174231"/>
            <a:ext cx="2133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）算术运算符</a:t>
            </a:r>
            <a:endParaRPr lang="zh-CN" altLang="en-US" sz="2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41196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5" grpId="0" animBg="1"/>
      <p:bldP spid="26653" grpId="0"/>
      <p:bldP spid="26654" grpId="0"/>
      <p:bldP spid="26655" grpId="0"/>
      <p:bldP spid="26656" grpId="0"/>
      <p:bldP spid="2" grpId="0" animBg="1"/>
      <p:bldP spid="21" grpId="0" animBg="1"/>
      <p:bldP spid="22" grpId="0" animBg="1"/>
      <p:bldP spid="3" grpId="0"/>
      <p:bldP spid="20" grpId="0" animBg="1"/>
      <p:bldP spid="23" grpId="0" animBg="1"/>
      <p:bldP spid="25" grpId="0"/>
      <p:bldP spid="26" grpId="0" animBg="1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4">
            <a:extLst>
              <a:ext uri="{FF2B5EF4-FFF2-40B4-BE49-F238E27FC236}">
                <a16:creationId xmlns:a16="http://schemas.microsoft.com/office/drawing/2014/main" id="{8A09C29D-4D6E-4FEC-AA6A-F7EB6FB14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gray">
          <a:xfrm>
            <a:off x="179512" y="1203598"/>
            <a:ext cx="4176464" cy="122413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思考：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如何将一个三位数倒置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n=345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，倒置后为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543</a:t>
            </a:r>
            <a:endParaRPr lang="zh-CN" altLang="en-US" sz="16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itchFamily="49" charset="0"/>
            </a:endParaRP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4499992" y="879561"/>
            <a:ext cx="4222670" cy="187220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x= int(input("</a:t>
            </a: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请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的值：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   # 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345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x1=x%10           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取个位  </a:t>
            </a:r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5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x2=x//10%10       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取十位  </a:t>
            </a:r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4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x3=x//100         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取百位  </a:t>
            </a:r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3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y=x1*100+x2*10+x3  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# 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连接成一个三位数</a:t>
            </a:r>
            <a:endParaRPr lang="en-US" altLang="zh-CN" sz="14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print(y)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AutoShape 44">
            <a:extLst>
              <a:ext uri="{FF2B5EF4-FFF2-40B4-BE49-F238E27FC236}">
                <a16:creationId xmlns:a16="http://schemas.microsoft.com/office/drawing/2014/main" id="{8A09C29D-4D6E-4FEC-AA6A-F7EB6FB1481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3528" y="2850654"/>
            <a:ext cx="4680520" cy="792087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kumimoji="0" lang="zh-CN" altLang="en-US" sz="1800" kern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进一步思考：</a:t>
            </a:r>
            <a:r>
              <a:rPr kumimoji="0" lang="zh-CN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如何将一个</a:t>
            </a:r>
            <a:r>
              <a:rPr kumimoji="0"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任意位整数</a:t>
            </a:r>
            <a:r>
              <a:rPr kumimoji="0" lang="zh-CN" altLang="zh-CN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倒置</a:t>
            </a:r>
            <a:r>
              <a:rPr kumimoji="0" lang="zh-CN" altLang="en-US" sz="18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0" lang="en-US" altLang="zh-CN" sz="18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3867894"/>
            <a:ext cx="2448272" cy="793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利用循环结构</a:t>
            </a:r>
            <a:endParaRPr lang="en-US" altLang="zh-CN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利用字符串函数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762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11338"/>
            <a:ext cx="8229600" cy="857250"/>
          </a:xfrm>
        </p:spPr>
        <p:txBody>
          <a:bodyPr/>
          <a:lstStyle/>
          <a:p>
            <a:pPr algn="l"/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写出如下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15616" y="1563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167607"/>
              </p:ext>
            </p:extLst>
          </p:nvPr>
        </p:nvGraphicFramePr>
        <p:xfrm>
          <a:off x="755576" y="1203598"/>
          <a:ext cx="2664296" cy="101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44600" imgH="482600" progId="Equation.3">
                  <p:embed/>
                </p:oleObj>
              </mc:Choice>
              <mc:Fallback>
                <p:oleObj r:id="rId2" imgW="12446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203598"/>
                        <a:ext cx="2664296" cy="1012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67544" y="2237196"/>
            <a:ext cx="849694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66"/>
                </a:solidFill>
              </a:rPr>
              <a:t>import math</a:t>
            </a:r>
          </a:p>
          <a:p>
            <a:r>
              <a:rPr lang="zh-CN" altLang="en-US" sz="2000">
                <a:solidFill>
                  <a:srgbClr val="000066"/>
                </a:solidFill>
              </a:rPr>
              <a:t>math.sin(45/180*3.14)+(math.exp(10)+math.log(10))/math.sqrt(x+y+1)</a:t>
            </a:r>
          </a:p>
        </p:txBody>
      </p:sp>
      <p:sp>
        <p:nvSpPr>
          <p:cNvPr id="11" name="矩形 10"/>
          <p:cNvSpPr/>
          <p:nvPr/>
        </p:nvSpPr>
        <p:spPr>
          <a:xfrm>
            <a:off x="467544" y="3544961"/>
            <a:ext cx="8496944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66"/>
                </a:solidFill>
              </a:rPr>
              <a:t>from math import *</a:t>
            </a:r>
          </a:p>
          <a:p>
            <a:r>
              <a:rPr lang="zh-CN" altLang="en-US" sz="2000">
                <a:solidFill>
                  <a:srgbClr val="000066"/>
                </a:solidFill>
              </a:rPr>
              <a:t>sin(45/180*3.14)+(exp(10)+log(10))/sqrt(x+y+1)</a:t>
            </a:r>
          </a:p>
        </p:txBody>
      </p:sp>
    </p:spTree>
    <p:extLst>
      <p:ext uri="{BB962C8B-B14F-4D97-AF65-F5344CB8AC3E}">
        <p14:creationId xmlns:p14="http://schemas.microsoft.com/office/powerpoint/2010/main" val="812297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323075" y="771550"/>
            <a:ext cx="8785225" cy="77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508104" y="4695986"/>
            <a:ext cx="108012" cy="1080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383095" y="1328521"/>
          <a:ext cx="7303706" cy="3691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9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910"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函数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b="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实</a:t>
                      </a:r>
                      <a:r>
                        <a:rPr lang="en-US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例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结</a:t>
                      </a:r>
                      <a:r>
                        <a:rPr lang="en-US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600" kern="100" dirty="0"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果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pi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π      </a:t>
                      </a:r>
                      <a:endParaRPr kumimoji="1" lang="zh-CN" sz="1600" b="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pi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3.141592653589793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常数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2.718281828459045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(x)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弧度的余弦值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cos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exp(x)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为底的幂，即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en-US" sz="1600" b="0" kern="1200" baseline="30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1" lang="zh-CN" sz="1600" b="0" kern="1200" baseline="30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exp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20.085536923187668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返回自然对数（以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log(10)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2.302585092994046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951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log10(x)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返回常用对数（以</a:t>
                      </a:r>
                      <a:r>
                        <a:rPr kumimoji="1"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为底）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log10</a:t>
                      </a: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1.0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sin(x)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弧度的正弦值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sin(0)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sqrt(x)</a:t>
                      </a:r>
                      <a:endParaRPr kumimoji="1" lang="zh-CN" sz="1600" b="1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求</a:t>
                      </a:r>
                      <a:r>
                        <a:rPr kumimoji="1" lang="en-US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的平方根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sqrt(9)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3.0</a:t>
                      </a:r>
                      <a:endParaRPr kumimoji="1" lang="zh-CN" sz="16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tan(x)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返回</a:t>
                      </a:r>
                      <a:r>
                        <a:rPr kumimoji="1" lang="en-US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1" lang="zh-CN" sz="1600" b="0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弧度的正切</a:t>
                      </a: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tan(0)</a:t>
                      </a:r>
                      <a:endParaRPr kumimoji="1" lang="zh-CN" sz="1600" b="1" kern="120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114935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600" b="1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itchFamily="34" charset="-122"/>
                          <a:cs typeface="Times New Roman" panose="02020603050405020304" pitchFamily="18" charset="0"/>
                        </a:rPr>
                        <a:t>0.0</a:t>
                      </a:r>
                      <a:endParaRPr kumimoji="1" lang="zh-CN" sz="1600" b="1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 bwMode="auto">
          <a:xfrm flipV="1">
            <a:off x="683568" y="123478"/>
            <a:ext cx="936104" cy="4248472"/>
          </a:xfrm>
          <a:prstGeom prst="line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" name="标题 1">
            <a:extLst>
              <a:ext uri="{FF2B5EF4-FFF2-40B4-BE49-F238E27FC236}">
                <a16:creationId xmlns:a16="http://schemas.microsoft.com/office/drawing/2014/main" id="{B6140140-F17B-47E1-9897-3A9E57C296AA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算数运算的函数</a:t>
            </a:r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7C82B36A-DCAE-4DD1-8C4B-B8EFCF8F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43558"/>
            <a:ext cx="8785225" cy="45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4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math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EDE621-6BDD-F979-B253-B64A010FA3D4}"/>
              </a:ext>
            </a:extLst>
          </p:cNvPr>
          <p:cNvSpPr txBox="1"/>
          <p:nvPr/>
        </p:nvSpPr>
        <p:spPr>
          <a:xfrm>
            <a:off x="2527183" y="720511"/>
            <a:ext cx="2448272" cy="494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import  math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23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843558"/>
            <a:ext cx="87852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86400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Python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① 内置函数：直接使用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chr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float()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eval()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range()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input()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len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②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标准库：需要导入，如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import math		from math import *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math.sqrt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(9)		sqrt(9)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     ③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第三方库：或者需要安装，或者已经集成，如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matplotlib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8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一、程序和程序设计语言</a:t>
            </a:r>
            <a:endParaRPr kumimoji="0" lang="zh-CN" altLang="en-US" sz="28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879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Box 1"/>
          <p:cNvSpPr txBox="1">
            <a:spLocks noChangeArrowheads="1"/>
          </p:cNvSpPr>
          <p:nvPr/>
        </p:nvSpPr>
        <p:spPr bwMode="auto">
          <a:xfrm>
            <a:off x="71374" y="195486"/>
            <a:ext cx="87852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b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2000" b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2000" b="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）</a:t>
            </a:r>
            <a:r>
              <a:rPr lang="zh-CN" altLang="zh-CN" sz="2000"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zh-CN" altLang="zh-CN" sz="2000" dirty="0">
                <a:latin typeface="微软雅黑" pitchFamily="34" charset="-122"/>
                <a:ea typeface="微软雅黑" pitchFamily="34" charset="-122"/>
              </a:rPr>
              <a:t>基本操作符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03168"/>
              </p:ext>
            </p:extLst>
          </p:nvPr>
        </p:nvGraphicFramePr>
        <p:xfrm>
          <a:off x="251519" y="1579810"/>
          <a:ext cx="8424936" cy="3255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7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521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操作符</a:t>
                      </a:r>
                      <a:endParaRPr lang="zh-CN" sz="1400" kern="100" dirty="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描述</a:t>
                      </a:r>
                      <a:endParaRPr lang="zh-CN" sz="140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实例</a:t>
                      </a:r>
                      <a:endParaRPr lang="zh-CN" sz="140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结果</a:t>
                      </a:r>
                      <a:endParaRPr lang="zh-CN" sz="1400" kern="10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72">
                <a:tc>
                  <a:txBody>
                    <a:bodyPr/>
                    <a:lstStyle/>
                    <a:p>
                      <a:pPr indent="11430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s1+s2</a:t>
                      </a:r>
                      <a:endParaRPr kumimoji="1" lang="zh-CN" sz="18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连接</a:t>
                      </a: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s1</a:t>
                      </a:r>
                      <a:r>
                        <a:rPr kumimoji="1" lang="zh-CN" altLang="en-US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、</a:t>
                      </a: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s2</a:t>
                      </a:r>
                      <a:r>
                        <a:rPr lang="zh-CN" sz="1400" kern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两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个字符串</a:t>
                      </a:r>
                      <a:endParaRPr lang="zh-CN" sz="1400" kern="100" dirty="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st1+st2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5715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'cdeabcdefg'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521">
                <a:tc>
                  <a:txBody>
                    <a:bodyPr/>
                    <a:lstStyle/>
                    <a:p>
                      <a:pPr indent="11430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n*s </a:t>
                      </a:r>
                      <a:r>
                        <a:rPr kumimoji="1" lang="zh-CN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或</a:t>
                      </a: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 s*n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对字符串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复制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n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次</a:t>
                      </a:r>
                      <a:endParaRPr lang="zh-CN" sz="1400" kern="100" dirty="0">
                        <a:solidFill>
                          <a:srgbClr val="000066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3*st1 </a:t>
                      </a:r>
                      <a:r>
                        <a:rPr kumimoji="1" lang="zh-CN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或</a:t>
                      </a: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 st1*3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5715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'cdecdecde'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208">
                <a:tc>
                  <a:txBody>
                    <a:bodyPr/>
                    <a:lstStyle/>
                    <a:p>
                      <a:pPr indent="11430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s1 in s2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子串测试。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s1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若是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s2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的子串返回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True</a:t>
                      </a:r>
                      <a:r>
                        <a:rPr lang="en-US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,</a:t>
                      </a:r>
                      <a:r>
                        <a:rPr lang="zh-CN" sz="1400" kern="0" dirty="0">
                          <a:solidFill>
                            <a:srgbClr val="000066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否则 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False</a:t>
                      </a:r>
                      <a:endParaRPr kumimoji="1" lang="zh-CN" sz="18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 dirty="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st1 in st2</a:t>
                      </a:r>
                      <a:endParaRPr kumimoji="1" lang="zh-CN" sz="1800" b="1" kern="1200" dirty="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5715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000066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True</a:t>
                      </a:r>
                      <a:endParaRPr kumimoji="1" lang="zh-CN" sz="1800" b="1" kern="1200">
                        <a:solidFill>
                          <a:srgbClr val="000066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208">
                <a:tc>
                  <a:txBody>
                    <a:bodyPr/>
                    <a:lstStyle/>
                    <a:p>
                      <a:pPr indent="11430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s[i]</a:t>
                      </a:r>
                      <a:endParaRPr kumimoji="1" 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索引操作</a:t>
                      </a: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,</a:t>
                      </a:r>
                      <a:r>
                        <a:rPr lang="zh-CN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取</a:t>
                      </a:r>
                      <a:r>
                        <a:rPr lang="zh-CN" altLang="en-US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索引为</a:t>
                      </a: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i</a:t>
                      </a:r>
                      <a:r>
                        <a:rPr lang="zh-CN" altLang="en-US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的</a:t>
                      </a:r>
                      <a:r>
                        <a:rPr lang="zh-CN" sz="1400" kern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字符</a:t>
                      </a:r>
                      <a:endParaRPr lang="zh-CN" sz="1400" kern="10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st2[3] </a:t>
                      </a:r>
                      <a:r>
                        <a:rPr kumimoji="1" lang="zh-CN" sz="14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或</a:t>
                      </a:r>
                      <a:r>
                        <a:rPr kumimoji="1" lang="en-US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 </a:t>
                      </a:r>
                    </a:p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st2</a:t>
                      </a:r>
                      <a:r>
                        <a:rPr kumimoji="1" lang="en-US" sz="18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[-4]</a:t>
                      </a:r>
                      <a:endParaRPr kumimoji="1" lang="zh-CN" sz="18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5715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'd'</a:t>
                      </a:r>
                      <a:endParaRPr kumimoji="1" 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48044"/>
                  </a:ext>
                </a:extLst>
              </a:tr>
              <a:tr h="658208">
                <a:tc>
                  <a:txBody>
                    <a:bodyPr/>
                    <a:lstStyle/>
                    <a:p>
                      <a:pPr indent="11430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s[m:n:k]</a:t>
                      </a:r>
                      <a:endParaRPr kumimoji="1" 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切片，取索引号为</a:t>
                      </a:r>
                      <a:r>
                        <a:rPr lang="en-US" altLang="zh-CN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m</a:t>
                      </a: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到</a:t>
                      </a:r>
                      <a:r>
                        <a:rPr lang="en-US" altLang="zh-CN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n(</a:t>
                      </a: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但不包括</a:t>
                      </a:r>
                      <a:r>
                        <a:rPr lang="en-US" altLang="zh-CN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n),</a:t>
                      </a: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步长为</a:t>
                      </a:r>
                      <a:r>
                        <a:rPr lang="en-US" altLang="zh-CN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k(</a:t>
                      </a: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缺省为</a:t>
                      </a:r>
                      <a:r>
                        <a:rPr lang="en-US" altLang="zh-CN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1)</a:t>
                      </a:r>
                      <a:r>
                        <a:rPr lang="zh-CN" altLang="en-US" sz="1400" kern="10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/>
                        </a:rPr>
                        <a:t>的子串</a:t>
                      </a:r>
                      <a:endParaRPr lang="zh-CN" sz="1400" kern="10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st2[2:5]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st2[0:6:2]</a:t>
                      </a:r>
                      <a:endParaRPr kumimoji="1" lang="zh-CN" sz="18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5715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'cde'</a:t>
                      </a:r>
                      <a:endParaRPr kumimoji="1" lang="zh-CN" alt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  <a:p>
                      <a:pPr marL="0" marR="0" lvl="0" indent="57150" algn="l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800" b="1" kern="1200">
                          <a:solidFill>
                            <a:srgbClr val="C00000"/>
                          </a:solidFill>
                          <a:latin typeface="Courier New" pitchFamily="49" charset="0"/>
                          <a:ea typeface="微软雅黑" pitchFamily="34" charset="-122"/>
                          <a:cs typeface="Courier New" pitchFamily="49" charset="0"/>
                        </a:rPr>
                        <a:t>'ace'</a:t>
                      </a:r>
                      <a:endParaRPr kumimoji="1" lang="zh-CN" alt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  <a:p>
                      <a:pPr indent="57150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endParaRPr kumimoji="1" lang="zh-CN" sz="1800" b="1" kern="1200">
                        <a:solidFill>
                          <a:srgbClr val="C00000"/>
                        </a:solidFill>
                        <a:latin typeface="Courier New" pitchFamily="49" charset="0"/>
                        <a:ea typeface="微软雅黑" pitchFamily="34" charset="-122"/>
                        <a:cs typeface="Courier New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137034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3528" y="875337"/>
            <a:ext cx="419434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假定</a:t>
            </a:r>
            <a:r>
              <a:rPr lang="zh-CN" altLang="en-US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st1="cde",st2="abcdefg"</a:t>
            </a:r>
            <a:endParaRPr lang="zh-CN" altLang="zh-CN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03305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0307" y="878341"/>
            <a:ext cx="8996189" cy="15841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defRPr/>
            </a:pPr>
            <a:r>
              <a:rPr lang="zh-CN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字符串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中的每个字符都是有索引号的，通过索引号和</a:t>
            </a:r>
            <a:r>
              <a:rPr lang="zh-CN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索引操作符</a:t>
            </a:r>
            <a: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"[]"</a:t>
            </a:r>
            <a:r>
              <a:rPr lang="zh-CN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获取</a:t>
            </a:r>
            <a:r>
              <a:rPr lang="zh-CN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单个字符</a:t>
            </a:r>
            <a:r>
              <a:rPr lang="zh-CN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000066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  <a:p>
            <a:pPr algn="l">
              <a:defRPr/>
            </a:pPr>
            <a:r>
              <a:rPr kumimoji="1" lang="en-US" altLang="zh-CN" sz="2000" kern="1200" dirty="0">
                <a:solidFill>
                  <a:srgbClr val="C0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   </a:t>
            </a:r>
            <a:r>
              <a:rPr lang="zh-CN" altLang="en-US" sz="2000" dirty="0">
                <a:solidFill>
                  <a:srgbClr val="C0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   索引方式：</a:t>
            </a:r>
            <a:r>
              <a:rPr lang="zh-CN" altLang="zh-CN" sz="2000" b="0" dirty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正向递增和反向递减</a:t>
            </a:r>
            <a:endParaRPr lang="en-US" altLang="zh-CN" sz="2000" b="0" dirty="0">
              <a:solidFill>
                <a:srgbClr val="000066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  <a:p>
            <a:pPr algn="l">
              <a:defRPr/>
            </a:pPr>
            <a:endParaRPr kumimoji="1" lang="en-US" altLang="zh-CN" sz="2000" b="0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algn="l"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endParaRPr lang="zh-CN" altLang="en-US" sz="1800" b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73" y="1775783"/>
            <a:ext cx="3928834" cy="173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44"/>
          <p:cNvSpPr>
            <a:spLocks noChangeArrowheads="1"/>
          </p:cNvSpPr>
          <p:nvPr/>
        </p:nvSpPr>
        <p:spPr bwMode="gray">
          <a:xfrm>
            <a:off x="5148064" y="1832554"/>
            <a:ext cx="3312368" cy="115212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0"/>
            <a:r>
              <a:rPr lang="zh-CN" altLang="en-US" sz="1600" dirty="0">
                <a:solidFill>
                  <a:srgbClr val="C0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单个字符：</a:t>
            </a:r>
            <a:r>
              <a:rPr lang="zh-CN" altLang="en-US" sz="1600" b="0" dirty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字符串变量</a:t>
            </a:r>
            <a:r>
              <a:rPr lang="en-US" altLang="zh-CN" sz="1600" b="0" dirty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[i]</a:t>
            </a:r>
          </a:p>
          <a:p>
            <a:r>
              <a:rPr lang="zh-CN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st2[3]</a:t>
            </a:r>
            <a:r>
              <a:rPr lang="zh-CN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st2[-4]</a:t>
            </a:r>
          </a:p>
          <a:p>
            <a:r>
              <a:rPr lang="zh-CN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都表示通过索引获取到字符：</a:t>
            </a:r>
            <a:r>
              <a:rPr lang="en-US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'd'</a:t>
            </a:r>
            <a:r>
              <a:rPr lang="zh-CN" altLang="zh-CN" sz="1600" b="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5" name="圆角矩形 9"/>
          <p:cNvSpPr>
            <a:spLocks noChangeArrowheads="1"/>
          </p:cNvSpPr>
          <p:nvPr/>
        </p:nvSpPr>
        <p:spPr bwMode="auto">
          <a:xfrm>
            <a:off x="2267045" y="2425024"/>
            <a:ext cx="623475" cy="432580"/>
          </a:xfrm>
          <a:prstGeom prst="roundRect">
            <a:avLst>
              <a:gd name="adj" fmla="val 16667"/>
            </a:avLst>
          </a:prstGeom>
          <a:noFill/>
          <a:ln w="444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655229" y="3506845"/>
            <a:ext cx="2399629" cy="468052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使用双向索引的便利？</a:t>
            </a:r>
            <a:endParaRPr lang="zh-CN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5856" y="3539821"/>
            <a:ext cx="5544616" cy="864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对于任意长度字符串</a:t>
            </a:r>
            <a:r>
              <a:rPr lang="en-US" altLang="zh-CN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，取首字符：</a:t>
            </a:r>
            <a:r>
              <a:rPr lang="en-US" altLang="zh-CN" sz="1800">
                <a:solidFill>
                  <a:srgbClr val="FF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s[0]</a:t>
            </a:r>
          </a:p>
          <a:p>
            <a:pPr>
              <a:defRPr/>
            </a:pPr>
            <a:r>
              <a:rPr lang="en-US" altLang="zh-CN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                     </a:t>
            </a:r>
            <a:r>
              <a:rPr lang="zh-CN" altLang="en-US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取末字符：</a:t>
            </a:r>
            <a:r>
              <a:rPr lang="en-US" altLang="zh-CN" sz="1800">
                <a:solidFill>
                  <a:srgbClr val="C0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s[-1]</a:t>
            </a:r>
            <a:endParaRPr lang="en-US" altLang="zh-CN" sz="1800" dirty="0">
              <a:solidFill>
                <a:srgbClr val="C00000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182708"/>
            <a:ext cx="1007007" cy="493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￭ </a:t>
            </a:r>
            <a:r>
              <a:rPr lang="zh-CN" altLang="en-US" sz="200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索引</a:t>
            </a:r>
            <a:endParaRPr lang="en-US" altLang="zh-CN" sz="2000" dirty="0">
              <a:solidFill>
                <a:srgbClr val="000066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>
            <a:off x="40307" y="699542"/>
            <a:ext cx="543609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636446" y="4459467"/>
            <a:ext cx="2855434" cy="468052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思考：身份证取出生年份？</a:t>
            </a:r>
            <a:endParaRPr lang="zh-CN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5896" y="4459467"/>
            <a:ext cx="3600400" cy="38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0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310104195301014033</a:t>
            </a:r>
            <a:endParaRPr lang="zh-CN" altLang="en-US" sz="1800" b="0">
              <a:solidFill>
                <a:srgbClr val="000066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3694" y="4477456"/>
            <a:ext cx="1656184" cy="380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rgbClr val="C00000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a[6:10]</a:t>
            </a:r>
            <a:endParaRPr lang="zh-CN" altLang="en-US" sz="1800">
              <a:solidFill>
                <a:srgbClr val="C00000"/>
              </a:solidFill>
              <a:latin typeface="黑体" pitchFamily="49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80515" y="4477456"/>
            <a:ext cx="1762522" cy="49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66"/>
                </a:solidFill>
                <a:latin typeface="黑体" pitchFamily="49" charset="-122"/>
                <a:ea typeface="微软雅黑" pitchFamily="34" charset="-122"/>
                <a:cs typeface="Times New Roman" pitchFamily="18" charset="0"/>
              </a:rPr>
              <a:t>切片操作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587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5" grpId="0" animBg="1"/>
      <p:bldP spid="6" grpId="0" animBg="1"/>
      <p:bldP spid="2" grpId="0"/>
      <p:bldP spid="11" grpId="0" animBg="1"/>
      <p:bldP spid="7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9512" y="195486"/>
            <a:ext cx="7807325" cy="431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lang="zh-CN" alt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3)</a:t>
            </a:r>
            <a:r>
              <a:rPr lang="zh-CN" altLang="en-US" sz="20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逻辑或</a:t>
            </a:r>
            <a:r>
              <a:rPr lang="zh-CN" alt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布尔</a:t>
            </a: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和处理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9939" y="895737"/>
            <a:ext cx="7704856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布尔数据类常量：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  False    </a:t>
            </a:r>
          </a:p>
          <a:p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关系运算：</a:t>
            </a: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 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&lt;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&lt;=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==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!=       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优先级相同</a:t>
            </a:r>
            <a:endParaRPr lang="en-US" altLang="zh-CN" sz="18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逻辑运算：</a:t>
            </a:r>
            <a:r>
              <a:rPr lang="zh-CN" altLang="en-US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not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and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or                </a:t>
            </a:r>
            <a:r>
              <a:rPr lang="zh-CN" altLang="en-US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三个级别</a:t>
            </a:r>
            <a:endParaRPr lang="zh-CN" altLang="en-US" sz="1800" dirty="0">
              <a:solidFill>
                <a:srgbClr val="000066"/>
              </a:solidFill>
            </a:endParaRP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44740" y="2592834"/>
            <a:ext cx="9099260" cy="1800200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18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 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选拔优秀学生。若选拔优秀生的条件为：年龄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Age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小于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19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岁，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1800"/>
              </a:spcBef>
            </a:pP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三门课总分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Total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高于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280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分且其中</a:t>
            </a:r>
            <a:r>
              <a:rPr lang="zh-CN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有一门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</a:t>
            </a: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100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分，如果其表达式写为：</a:t>
            </a:r>
          </a:p>
          <a:p>
            <a:pPr>
              <a:spcBef>
                <a:spcPts val="1800"/>
              </a:spcBef>
            </a:pPr>
            <a:r>
              <a:rPr lang="en-US" altLang="zh-CN" sz="1800" spc="-1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age&lt;19 and total &gt;280 and  mark1 ==100 or mark2 ==100 or mark3==100  </a:t>
            </a:r>
            <a:r>
              <a:rPr lang="zh-CN" altLang="en-US" sz="2000" spc="-1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？</a:t>
            </a:r>
            <a:endParaRPr lang="zh-CN" altLang="zh-CN" sz="2000" spc="-1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142331" y="4622771"/>
            <a:ext cx="4672537" cy="35000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思考：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如何使得表达式正确又不会混淆？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 flipV="1">
            <a:off x="175431" y="4303023"/>
            <a:ext cx="4752528" cy="24762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8" name="文本框 7"/>
          <p:cNvSpPr txBox="1"/>
          <p:nvPr/>
        </p:nvSpPr>
        <p:spPr>
          <a:xfrm>
            <a:off x="3239763" y="3833034"/>
            <a:ext cx="302546" cy="494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(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40363" y="3833034"/>
            <a:ext cx="302546" cy="494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)</a:t>
            </a:r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 bwMode="auto">
          <a:xfrm flipV="1">
            <a:off x="175431" y="4393034"/>
            <a:ext cx="2667222" cy="27524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 flipV="1">
            <a:off x="3499712" y="4375031"/>
            <a:ext cx="4996635" cy="18003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DBDE90B-73A8-31FF-93F9-B85A022CF3B6}"/>
              </a:ext>
            </a:extLst>
          </p:cNvPr>
          <p:cNvSpPr txBox="1"/>
          <p:nvPr/>
        </p:nvSpPr>
        <p:spPr>
          <a:xfrm>
            <a:off x="5484521" y="626488"/>
            <a:ext cx="3429540" cy="7791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a=10;B=20;C=50</a:t>
            </a:r>
          </a:p>
          <a:p>
            <a:r>
              <a:rPr lang="en-US" altLang="zh-CN" sz="1600" dirty="0" err="1"/>
              <a:t>a+b</a:t>
            </a:r>
            <a:r>
              <a:rPr lang="en-US" altLang="zh-CN" sz="1600" dirty="0"/>
              <a:t>&gt;100 and c==50</a:t>
            </a:r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520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8945" y="290731"/>
            <a:ext cx="5029200" cy="528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0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20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4</a:t>
            </a:r>
            <a:r>
              <a:rPr lang="zh-CN" altLang="en-US" sz="20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）赋值</a:t>
            </a:r>
            <a:r>
              <a:rPr lang="zh-CN" altLang="en-US" sz="20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运算符  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2142211" name="Rectangle 3"/>
          <p:cNvSpPr>
            <a:spLocks noChangeArrowheads="1"/>
          </p:cNvSpPr>
          <p:nvPr/>
        </p:nvSpPr>
        <p:spPr bwMode="auto">
          <a:xfrm>
            <a:off x="377483" y="843558"/>
            <a:ext cx="9361488" cy="43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作用：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对变量赋值。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Python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中提供了多种赋值形式：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77483" y="1281211"/>
            <a:ext cx="9361488" cy="153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/>
              <a:t>         </a:t>
            </a:r>
            <a:r>
              <a:rPr lang="zh-CN" altLang="zh-CN" sz="2000"/>
              <a:t>简单</a:t>
            </a:r>
            <a:r>
              <a:rPr lang="zh-CN" altLang="zh-CN" sz="2000" dirty="0"/>
              <a:t>赋值</a:t>
            </a:r>
            <a:r>
              <a:rPr lang="en-US" altLang="zh-CN" sz="2000" dirty="0"/>
              <a:t>    </a:t>
            </a:r>
            <a:r>
              <a:rPr lang="zh-CN" altLang="en-US" sz="2000" dirty="0"/>
              <a:t>最常见形式</a:t>
            </a:r>
            <a:endParaRPr lang="en-US" altLang="zh-CN" sz="20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形式： 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变量名＝表达式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作用：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计算右边表达式的值，再将值赋给左边的变量。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例如：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y=x**2+6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827584" y="2834240"/>
            <a:ext cx="7488832" cy="1842324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注意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：赋值号的左边只能是变量，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不能是常量、表达式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     下面均为错误的赋值语句：</a:t>
            </a:r>
          </a:p>
          <a:p>
            <a:pPr algn="just">
              <a:spcBef>
                <a:spcPct val="10000"/>
              </a:spcBef>
            </a:pP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sin(x)=</a:t>
            </a:r>
            <a:r>
              <a:rPr lang="en-US" altLang="zh-CN" sz="180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x+y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        </a:t>
            </a:r>
            <a: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左边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是表达式（函数）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</a:endParaRPr>
          </a:p>
          <a:p>
            <a:pPr algn="just">
              <a:spcBef>
                <a:spcPct val="1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   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5=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sqrt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(s)+</a:t>
            </a:r>
            <a:r>
              <a:rPr lang="en-US" altLang="zh-CN" sz="180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x+y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     </a:t>
            </a: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#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左边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是常量</a:t>
            </a:r>
          </a:p>
          <a:p>
            <a:pPr algn="just">
              <a:spcBef>
                <a:spcPct val="100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   </a:t>
            </a:r>
            <a:r>
              <a:rPr lang="en-US" altLang="zh-CN" sz="18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x+y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</a:rPr>
              <a:t>=z 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	</a:t>
            </a:r>
            <a:r>
              <a:rPr lang="en-US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        #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左边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</a:rPr>
              <a:t>是表达式</a:t>
            </a:r>
          </a:p>
        </p:txBody>
      </p:sp>
      <p:sp>
        <p:nvSpPr>
          <p:cNvPr id="6" name="Rectangle 1027"/>
          <p:cNvSpPr>
            <a:spLocks noChangeArrowheads="1"/>
          </p:cNvSpPr>
          <p:nvPr/>
        </p:nvSpPr>
        <p:spPr bwMode="auto">
          <a:xfrm>
            <a:off x="467544" y="4681193"/>
            <a:ext cx="88392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复合赋值</a:t>
            </a:r>
            <a:r>
              <a:rPr lang="zh-CN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运算符</a:t>
            </a:r>
            <a:r>
              <a:rPr lang="zh-CN" altLang="zh-CN" sz="2000" dirty="0">
                <a:solidFill>
                  <a:srgbClr val="C00000"/>
                </a:solidFill>
              </a:rPr>
              <a:t>：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>
                <a:solidFill>
                  <a:srgbClr val="000066"/>
                </a:solidFill>
              </a:rPr>
              <a:t>+=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-=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*=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/=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//=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%=</a:t>
            </a:r>
            <a:r>
              <a:rPr lang="zh-CN" altLang="zh-CN" sz="2000" dirty="0">
                <a:solidFill>
                  <a:srgbClr val="000066"/>
                </a:solidFill>
              </a:rPr>
              <a:t>、</a:t>
            </a:r>
            <a:r>
              <a:rPr lang="en-US" altLang="zh-CN" sz="2000" dirty="0">
                <a:solidFill>
                  <a:srgbClr val="000066"/>
                </a:solidFill>
              </a:rPr>
              <a:t>**=</a:t>
            </a:r>
            <a:endParaRPr lang="en-US" altLang="zh-CN" sz="20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858776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115616" y="123478"/>
            <a:ext cx="7807325" cy="610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数据的输入和输出</a:t>
            </a:r>
            <a:r>
              <a:rPr lang="en-US" altLang="zh-CN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656" y="1203598"/>
            <a:ext cx="5328592" cy="116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数据的输入 </a:t>
            </a:r>
            <a:endParaRPr lang="en-US" altLang="zh-CN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数据的输出 </a:t>
            </a:r>
            <a:endParaRPr lang="en-US" altLang="zh-CN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9273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08296" y="123478"/>
            <a:ext cx="7807325" cy="56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）数据的输入</a:t>
            </a:r>
            <a:endParaRPr lang="zh-CN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387234"/>
            <a:ext cx="68407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input()</a:t>
            </a:r>
            <a:r>
              <a:rPr lang="zh-CN" altLang="en-US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函数，形式：</a:t>
            </a:r>
            <a:r>
              <a:rPr lang="en-US" altLang="zh-CN" sz="20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r>
              <a:rPr lang="en-US" altLang="zh-CN" sz="20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input([</a:t>
            </a:r>
            <a:r>
              <a:rPr lang="zh-CN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提示字符串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])</a:t>
            </a:r>
            <a:endParaRPr lang="zh-CN" altLang="en-US" sz="20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467543" y="2532664"/>
            <a:ext cx="7488832" cy="1911294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注意：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函数调用返回的是字符串类型</a:t>
            </a:r>
            <a:r>
              <a:rPr lang="zh-CN" altLang="en-US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8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int()</a:t>
            </a:r>
            <a:r>
              <a:rPr lang="zh-CN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float()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类型转换函数进行所需类型转换；</a:t>
            </a:r>
            <a:endParaRPr lang="en-US" altLang="zh-CN" sz="18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也可通过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eval()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函数对多个变量进行输入</a:t>
            </a:r>
            <a:r>
              <a:rPr lang="zh-CN" altLang="en-US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和智能的转换</a:t>
            </a:r>
            <a:r>
              <a:rPr lang="zh-CN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916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15566"/>
            <a:ext cx="4968552" cy="38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53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95536" y="195486"/>
            <a:ext cx="7807325" cy="566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）数据的输出</a:t>
            </a:r>
            <a:endParaRPr lang="zh-CN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496" y="761718"/>
            <a:ext cx="2148345" cy="4457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161925"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表达式方式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1131590"/>
            <a:ext cx="8918985" cy="183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IDLE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Spyder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控制台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交互状态下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可直接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表达式的值，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常用于数据的检查。</a:t>
            </a: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7564" t="10674" r="31241" b="17751"/>
          <a:stretch/>
        </p:blipFill>
        <p:spPr>
          <a:xfrm>
            <a:off x="2510273" y="864919"/>
            <a:ext cx="6408712" cy="4227111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 bwMode="auto">
          <a:xfrm>
            <a:off x="6241634" y="4256885"/>
            <a:ext cx="2880320" cy="900000"/>
          </a:xfrm>
          <a:prstGeom prst="roundRect">
            <a:avLst/>
          </a:prstGeom>
          <a:noFill/>
          <a:ln w="31750"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8968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7504" y="741227"/>
            <a:ext cx="2133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（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）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1230127"/>
            <a:ext cx="8990993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print([</a:t>
            </a:r>
            <a:r>
              <a:rPr lang="zh-CN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</a:t>
            </a:r>
            <a:r>
              <a:rPr lang="zh-CN" altLang="en-US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项列表</a:t>
            </a:r>
            <a:r>
              <a:rPr lang="en-US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][,sep=</a:t>
            </a:r>
            <a:r>
              <a:rPr lang="zh-CN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分隔符</a:t>
            </a:r>
            <a:r>
              <a:rPr lang="en-US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][,end=</a:t>
            </a:r>
            <a:r>
              <a:rPr lang="zh-CN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结束符</a:t>
            </a:r>
            <a:r>
              <a:rPr lang="en-US" altLang="zh-CN" sz="18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])</a:t>
            </a:r>
          </a:p>
          <a:p>
            <a:pPr>
              <a:spcBef>
                <a:spcPts val="1200"/>
              </a:spcBef>
            </a:pPr>
            <a:r>
              <a:rPr lang="en-US" altLang="zh-CN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输出项</a:t>
            </a:r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列表：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以逗号分隔的表达式；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sep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表示各输出项间的分隔，缺省为空格；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end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表示结束符，缺省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执行结束后会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换行。</a:t>
            </a: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1730"/>
          <a:stretch/>
        </p:blipFill>
        <p:spPr>
          <a:xfrm>
            <a:off x="5399584" y="987574"/>
            <a:ext cx="3744416" cy="409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7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915" name="Text Box 3"/>
          <p:cNvSpPr txBox="1">
            <a:spLocks noChangeArrowheads="1"/>
          </p:cNvSpPr>
          <p:nvPr/>
        </p:nvSpPr>
        <p:spPr bwMode="auto">
          <a:xfrm>
            <a:off x="0" y="699542"/>
            <a:ext cx="8424863" cy="312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4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三、结构化程序</a:t>
            </a:r>
            <a:r>
              <a:rPr lang="zh-CN" altLang="en-US" sz="40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设计</a:t>
            </a:r>
            <a:endParaRPr lang="en-US" altLang="zh-CN" sz="40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顺序结构</a:t>
            </a:r>
            <a:endParaRPr lang="en-US" altLang="zh-CN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选择结构</a:t>
            </a:r>
            <a:endParaRPr lang="en-US" altLang="zh-CN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循环结构</a:t>
            </a:r>
            <a:endParaRPr lang="en-US" altLang="zh-CN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defRPr/>
            </a:pPr>
            <a:endParaRPr lang="zh-CN" altLang="en-US" sz="280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69186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2"/>
          <p:cNvSpPr txBox="1">
            <a:spLocks noChangeArrowheads="1"/>
          </p:cNvSpPr>
          <p:nvPr/>
        </p:nvSpPr>
        <p:spPr bwMode="auto">
          <a:xfrm>
            <a:off x="6164569" y="2161603"/>
            <a:ext cx="1027113" cy="4619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2000" b="0">
                <a:latin typeface="微软雅黑" pitchFamily="34" charset="-122"/>
                <a:ea typeface="微软雅黑" pitchFamily="34" charset="-122"/>
              </a:rPr>
              <a:t>类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13119" y="774885"/>
            <a:ext cx="2628900" cy="384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00000"/>
              </a:lnSpc>
              <a:buFontTx/>
              <a:buNone/>
            </a:pPr>
            <a:r>
              <a:rPr kumimoji="0" lang="zh-CN" altLang="en-US" sz="1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初期程序设计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383383" y="1270795"/>
            <a:ext cx="1578768" cy="297773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……..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……..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………….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……..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………..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……………</a:t>
            </a:r>
          </a:p>
          <a:p>
            <a:pPr eaLnBrk="1" hangingPunct="1">
              <a:lnSpc>
                <a:spcPts val="2480"/>
              </a:lnSpc>
              <a:spcBef>
                <a:spcPct val="0"/>
              </a:spcBef>
            </a:pPr>
            <a:r>
              <a:rPr kumimoji="0" lang="en-US" altLang="zh-CN" dirty="0">
                <a:solidFill>
                  <a:schemeClr val="tx1"/>
                </a:solidFill>
                <a:ea typeface="楷体_GB2312" pitchFamily="49" charset="-122"/>
              </a:rPr>
              <a:t>……..</a:t>
            </a:r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1150258" y="1728104"/>
            <a:ext cx="333375" cy="1223962"/>
          </a:xfrm>
          <a:custGeom>
            <a:avLst/>
            <a:gdLst>
              <a:gd name="T0" fmla="*/ 0 w 256"/>
              <a:gd name="T1" fmla="*/ 0 h 675"/>
              <a:gd name="T2" fmla="*/ 2147483647 w 256"/>
              <a:gd name="T3" fmla="*/ 2147483647 h 675"/>
              <a:gd name="T4" fmla="*/ 2147483647 w 256"/>
              <a:gd name="T5" fmla="*/ 2147483647 h 675"/>
              <a:gd name="T6" fmla="*/ 2147483647 w 256"/>
              <a:gd name="T7" fmla="*/ 2147483647 h 675"/>
              <a:gd name="T8" fmla="*/ 2147483647 w 256"/>
              <a:gd name="T9" fmla="*/ 2147483647 h 675"/>
              <a:gd name="T10" fmla="*/ 2147483647 w 256"/>
              <a:gd name="T11" fmla="*/ 2147483647 h 675"/>
              <a:gd name="T12" fmla="*/ 2147483647 w 256"/>
              <a:gd name="T13" fmla="*/ 2147483647 h 675"/>
              <a:gd name="T14" fmla="*/ 2147483647 w 256"/>
              <a:gd name="T15" fmla="*/ 2147483647 h 675"/>
              <a:gd name="T16" fmla="*/ 2147483647 w 256"/>
              <a:gd name="T17" fmla="*/ 2147483647 h 675"/>
              <a:gd name="T18" fmla="*/ 2147483647 w 256"/>
              <a:gd name="T19" fmla="*/ 2147483647 h 675"/>
              <a:gd name="T20" fmla="*/ 2147483647 w 256"/>
              <a:gd name="T21" fmla="*/ 2147483647 h 675"/>
              <a:gd name="T22" fmla="*/ 2147483647 w 256"/>
              <a:gd name="T23" fmla="*/ 2147483647 h 675"/>
              <a:gd name="T24" fmla="*/ 2147483647 w 256"/>
              <a:gd name="T25" fmla="*/ 2147483647 h 675"/>
              <a:gd name="T26" fmla="*/ 2147483647 w 256"/>
              <a:gd name="T27" fmla="*/ 2147483647 h 675"/>
              <a:gd name="T28" fmla="*/ 2147483647 w 256"/>
              <a:gd name="T29" fmla="*/ 2147483647 h 67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256" h="675">
                <a:moveTo>
                  <a:pt x="0" y="0"/>
                </a:moveTo>
                <a:cubicBezTo>
                  <a:pt x="15" y="10"/>
                  <a:pt x="33" y="14"/>
                  <a:pt x="48" y="24"/>
                </a:cubicBezTo>
                <a:cubicBezTo>
                  <a:pt x="81" y="46"/>
                  <a:pt x="105" y="75"/>
                  <a:pt x="144" y="88"/>
                </a:cubicBezTo>
                <a:cubicBezTo>
                  <a:pt x="149" y="96"/>
                  <a:pt x="153" y="105"/>
                  <a:pt x="160" y="112"/>
                </a:cubicBezTo>
                <a:cubicBezTo>
                  <a:pt x="167" y="119"/>
                  <a:pt x="178" y="121"/>
                  <a:pt x="184" y="128"/>
                </a:cubicBezTo>
                <a:cubicBezTo>
                  <a:pt x="192" y="137"/>
                  <a:pt x="194" y="150"/>
                  <a:pt x="200" y="160"/>
                </a:cubicBezTo>
                <a:cubicBezTo>
                  <a:pt x="210" y="176"/>
                  <a:pt x="232" y="208"/>
                  <a:pt x="232" y="208"/>
                </a:cubicBezTo>
                <a:cubicBezTo>
                  <a:pt x="243" y="251"/>
                  <a:pt x="250" y="283"/>
                  <a:pt x="256" y="328"/>
                </a:cubicBezTo>
                <a:cubicBezTo>
                  <a:pt x="247" y="436"/>
                  <a:pt x="247" y="469"/>
                  <a:pt x="184" y="544"/>
                </a:cubicBezTo>
                <a:cubicBezTo>
                  <a:pt x="178" y="551"/>
                  <a:pt x="176" y="562"/>
                  <a:pt x="168" y="568"/>
                </a:cubicBezTo>
                <a:cubicBezTo>
                  <a:pt x="161" y="573"/>
                  <a:pt x="151" y="572"/>
                  <a:pt x="144" y="576"/>
                </a:cubicBezTo>
                <a:cubicBezTo>
                  <a:pt x="127" y="585"/>
                  <a:pt x="112" y="597"/>
                  <a:pt x="96" y="608"/>
                </a:cubicBezTo>
                <a:cubicBezTo>
                  <a:pt x="88" y="613"/>
                  <a:pt x="72" y="624"/>
                  <a:pt x="72" y="624"/>
                </a:cubicBezTo>
                <a:cubicBezTo>
                  <a:pt x="69" y="632"/>
                  <a:pt x="70" y="642"/>
                  <a:pt x="64" y="648"/>
                </a:cubicBezTo>
                <a:cubicBezTo>
                  <a:pt x="37" y="675"/>
                  <a:pt x="40" y="642"/>
                  <a:pt x="40" y="664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754292" y="2514831"/>
            <a:ext cx="223496" cy="1085468"/>
          </a:xfrm>
          <a:custGeom>
            <a:avLst/>
            <a:gdLst>
              <a:gd name="T0" fmla="*/ 2147483647 w 144"/>
              <a:gd name="T1" fmla="*/ 2147483647 h 920"/>
              <a:gd name="T2" fmla="*/ 2147483647 w 144"/>
              <a:gd name="T3" fmla="*/ 2147483647 h 920"/>
              <a:gd name="T4" fmla="*/ 2147483647 w 144"/>
              <a:gd name="T5" fmla="*/ 2147483647 h 920"/>
              <a:gd name="T6" fmla="*/ 2147483647 w 144"/>
              <a:gd name="T7" fmla="*/ 2147483647 h 920"/>
              <a:gd name="T8" fmla="*/ 0 w 144"/>
              <a:gd name="T9" fmla="*/ 2147483647 h 920"/>
              <a:gd name="T10" fmla="*/ 2147483647 w 144"/>
              <a:gd name="T11" fmla="*/ 2147483647 h 920"/>
              <a:gd name="T12" fmla="*/ 2147483647 w 144"/>
              <a:gd name="T13" fmla="*/ 2147483647 h 920"/>
              <a:gd name="T14" fmla="*/ 2147483647 w 144"/>
              <a:gd name="T15" fmla="*/ 0 h 92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4" h="920">
                <a:moveTo>
                  <a:pt x="144" y="920"/>
                </a:moveTo>
                <a:cubicBezTo>
                  <a:pt x="108" y="884"/>
                  <a:pt x="124" y="907"/>
                  <a:pt x="104" y="848"/>
                </a:cubicBezTo>
                <a:cubicBezTo>
                  <a:pt x="96" y="824"/>
                  <a:pt x="74" y="799"/>
                  <a:pt x="64" y="776"/>
                </a:cubicBezTo>
                <a:cubicBezTo>
                  <a:pt x="48" y="739"/>
                  <a:pt x="45" y="712"/>
                  <a:pt x="24" y="680"/>
                </a:cubicBezTo>
                <a:cubicBezTo>
                  <a:pt x="16" y="642"/>
                  <a:pt x="12" y="604"/>
                  <a:pt x="0" y="568"/>
                </a:cubicBezTo>
                <a:cubicBezTo>
                  <a:pt x="3" y="467"/>
                  <a:pt x="4" y="365"/>
                  <a:pt x="8" y="264"/>
                </a:cubicBezTo>
                <a:cubicBezTo>
                  <a:pt x="11" y="201"/>
                  <a:pt x="22" y="74"/>
                  <a:pt x="72" y="24"/>
                </a:cubicBezTo>
                <a:cubicBezTo>
                  <a:pt x="81" y="15"/>
                  <a:pt x="95" y="9"/>
                  <a:pt x="104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1" name="Freeform 13"/>
          <p:cNvSpPr>
            <a:spLocks/>
          </p:cNvSpPr>
          <p:nvPr/>
        </p:nvSpPr>
        <p:spPr bwMode="auto">
          <a:xfrm>
            <a:off x="1114881" y="3057565"/>
            <a:ext cx="254002" cy="943146"/>
          </a:xfrm>
          <a:custGeom>
            <a:avLst/>
            <a:gdLst>
              <a:gd name="T0" fmla="*/ 0 w 280"/>
              <a:gd name="T1" fmla="*/ 0 h 752"/>
              <a:gd name="T2" fmla="*/ 2147483647 w 280"/>
              <a:gd name="T3" fmla="*/ 2147483647 h 752"/>
              <a:gd name="T4" fmla="*/ 2147483647 w 280"/>
              <a:gd name="T5" fmla="*/ 2147483647 h 752"/>
              <a:gd name="T6" fmla="*/ 2147483647 w 280"/>
              <a:gd name="T7" fmla="*/ 2147483647 h 752"/>
              <a:gd name="T8" fmla="*/ 2147483647 w 280"/>
              <a:gd name="T9" fmla="*/ 2147483647 h 752"/>
              <a:gd name="T10" fmla="*/ 2147483647 w 280"/>
              <a:gd name="T11" fmla="*/ 2147483647 h 752"/>
              <a:gd name="T12" fmla="*/ 2147483647 w 280"/>
              <a:gd name="T13" fmla="*/ 2147483647 h 752"/>
              <a:gd name="T14" fmla="*/ 2147483647 w 280"/>
              <a:gd name="T15" fmla="*/ 2147483647 h 752"/>
              <a:gd name="T16" fmla="*/ 2147483647 w 280"/>
              <a:gd name="T17" fmla="*/ 2147483647 h 75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80" h="752">
                <a:moveTo>
                  <a:pt x="0" y="0"/>
                </a:moveTo>
                <a:cubicBezTo>
                  <a:pt x="33" y="22"/>
                  <a:pt x="49" y="28"/>
                  <a:pt x="72" y="56"/>
                </a:cubicBezTo>
                <a:cubicBezTo>
                  <a:pt x="78" y="63"/>
                  <a:pt x="81" y="74"/>
                  <a:pt x="88" y="80"/>
                </a:cubicBezTo>
                <a:cubicBezTo>
                  <a:pt x="94" y="85"/>
                  <a:pt x="158" y="124"/>
                  <a:pt x="168" y="136"/>
                </a:cubicBezTo>
                <a:cubicBezTo>
                  <a:pt x="187" y="158"/>
                  <a:pt x="228" y="213"/>
                  <a:pt x="240" y="240"/>
                </a:cubicBezTo>
                <a:cubicBezTo>
                  <a:pt x="262" y="289"/>
                  <a:pt x="267" y="340"/>
                  <a:pt x="280" y="392"/>
                </a:cubicBezTo>
                <a:cubicBezTo>
                  <a:pt x="273" y="466"/>
                  <a:pt x="280" y="560"/>
                  <a:pt x="224" y="616"/>
                </a:cubicBezTo>
                <a:cubicBezTo>
                  <a:pt x="211" y="655"/>
                  <a:pt x="192" y="683"/>
                  <a:pt x="152" y="696"/>
                </a:cubicBezTo>
                <a:cubicBezTo>
                  <a:pt x="127" y="721"/>
                  <a:pt x="96" y="736"/>
                  <a:pt x="64" y="752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2" name="Freeform 14"/>
          <p:cNvSpPr>
            <a:spLocks/>
          </p:cNvSpPr>
          <p:nvPr/>
        </p:nvSpPr>
        <p:spPr bwMode="auto">
          <a:xfrm>
            <a:off x="493828" y="1502364"/>
            <a:ext cx="293687" cy="1257300"/>
          </a:xfrm>
          <a:custGeom>
            <a:avLst/>
            <a:gdLst>
              <a:gd name="T0" fmla="*/ 2147483647 w 185"/>
              <a:gd name="T1" fmla="*/ 2147483647 h 792"/>
              <a:gd name="T2" fmla="*/ 2147483647 w 185"/>
              <a:gd name="T3" fmla="*/ 2147483647 h 792"/>
              <a:gd name="T4" fmla="*/ 2147483647 w 185"/>
              <a:gd name="T5" fmla="*/ 2147483647 h 792"/>
              <a:gd name="T6" fmla="*/ 2147483647 w 185"/>
              <a:gd name="T7" fmla="*/ 2147483647 h 792"/>
              <a:gd name="T8" fmla="*/ 2147483647 w 185"/>
              <a:gd name="T9" fmla="*/ 2147483647 h 792"/>
              <a:gd name="T10" fmla="*/ 2147483647 w 185"/>
              <a:gd name="T11" fmla="*/ 2147483647 h 792"/>
              <a:gd name="T12" fmla="*/ 2147483647 w 185"/>
              <a:gd name="T13" fmla="*/ 0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5" h="792">
                <a:moveTo>
                  <a:pt x="177" y="792"/>
                </a:moveTo>
                <a:cubicBezTo>
                  <a:pt x="128" y="743"/>
                  <a:pt x="95" y="705"/>
                  <a:pt x="57" y="648"/>
                </a:cubicBezTo>
                <a:cubicBezTo>
                  <a:pt x="32" y="610"/>
                  <a:pt x="44" y="633"/>
                  <a:pt x="25" y="576"/>
                </a:cubicBezTo>
                <a:cubicBezTo>
                  <a:pt x="22" y="568"/>
                  <a:pt x="17" y="552"/>
                  <a:pt x="17" y="552"/>
                </a:cubicBezTo>
                <a:cubicBezTo>
                  <a:pt x="0" y="395"/>
                  <a:pt x="0" y="427"/>
                  <a:pt x="17" y="168"/>
                </a:cubicBezTo>
                <a:cubicBezTo>
                  <a:pt x="20" y="122"/>
                  <a:pt x="28" y="123"/>
                  <a:pt x="57" y="104"/>
                </a:cubicBezTo>
                <a:cubicBezTo>
                  <a:pt x="89" y="57"/>
                  <a:pt x="145" y="40"/>
                  <a:pt x="185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3455764" y="734436"/>
            <a:ext cx="2376487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结构化程序设计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6663320" y="747217"/>
            <a:ext cx="2735263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面向对象程序设计</a:t>
            </a:r>
          </a:p>
        </p:txBody>
      </p:sp>
      <p:sp>
        <p:nvSpPr>
          <p:cNvPr id="27" name="Text Box 39"/>
          <p:cNvSpPr txBox="1">
            <a:spLocks noChangeArrowheads="1"/>
          </p:cNvSpPr>
          <p:nvPr/>
        </p:nvSpPr>
        <p:spPr bwMode="auto">
          <a:xfrm>
            <a:off x="180974" y="4246442"/>
            <a:ext cx="30228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kumimoji="0"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一碗面条式程序（</a:t>
            </a:r>
            <a:r>
              <a:rPr kumimoji="0"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BS</a:t>
            </a:r>
            <a:r>
              <a:rPr kumimoji="0"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3635896" y="4331300"/>
            <a:ext cx="1511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kumimoji="0"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一串珠子</a:t>
            </a:r>
          </a:p>
        </p:txBody>
      </p:sp>
      <p:sp>
        <p:nvSpPr>
          <p:cNvPr id="32" name="矩形 1"/>
          <p:cNvSpPr>
            <a:spLocks noChangeArrowheads="1"/>
          </p:cNvSpPr>
          <p:nvPr/>
        </p:nvSpPr>
        <p:spPr bwMode="auto">
          <a:xfrm>
            <a:off x="180975" y="130175"/>
            <a:ext cx="7416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微软雅黑" pitchFamily="34" charset="-122"/>
                <a:ea typeface="微软雅黑" pitchFamily="34" charset="-122"/>
              </a:rPr>
              <a:t>程序设计的发展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经历了三个阶段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07504" y="4515966"/>
            <a:ext cx="2304256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效率高，但可读性差、可维护性和通用性更差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843809" y="4673006"/>
            <a:ext cx="3133910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Bef>
                <a:spcPts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功能分解、逐步求精、可读性好</a:t>
            </a:r>
            <a:endParaRPr lang="en-US" altLang="zh-CN" sz="16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代码重用性差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707383" y="1275482"/>
            <a:ext cx="936625" cy="503238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3707383" y="1996207"/>
            <a:ext cx="936625" cy="503238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3707383" y="2788370"/>
            <a:ext cx="936625" cy="503237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3707383" y="3580532"/>
            <a:ext cx="936625" cy="503238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4210621" y="1780307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4210621" y="2501032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4210621" y="3293195"/>
            <a:ext cx="0" cy="287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9" name="Line 42"/>
          <p:cNvSpPr>
            <a:spLocks noChangeShapeType="1"/>
          </p:cNvSpPr>
          <p:nvPr/>
        </p:nvSpPr>
        <p:spPr bwMode="auto">
          <a:xfrm>
            <a:off x="4217205" y="1059582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" name="Line 43"/>
          <p:cNvSpPr>
            <a:spLocks noChangeShapeType="1"/>
          </p:cNvSpPr>
          <p:nvPr/>
        </p:nvSpPr>
        <p:spPr bwMode="auto">
          <a:xfrm>
            <a:off x="4210621" y="4115520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73689" y="1369014"/>
            <a:ext cx="2114524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把数据和对数据处理的过程抽象成类，由类产生各自对象。</a:t>
            </a:r>
          </a:p>
        </p:txBody>
      </p:sp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5912610" y="1419622"/>
            <a:ext cx="906873" cy="792609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kumimoji="0" lang="zh-CN" altLang="en-US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</a:p>
          <a:p>
            <a:pPr algn="ctr">
              <a:spcBef>
                <a:spcPct val="0"/>
              </a:spcBef>
            </a:pPr>
            <a:r>
              <a:rPr kumimoji="0" lang="zh-CN" altLang="en-US" sz="18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</a:p>
        </p:txBody>
      </p:sp>
      <p:sp>
        <p:nvSpPr>
          <p:cNvPr id="6" name="矩形 5"/>
          <p:cNvSpPr/>
          <p:nvPr/>
        </p:nvSpPr>
        <p:spPr>
          <a:xfrm>
            <a:off x="6411848" y="4530416"/>
            <a:ext cx="2441694" cy="362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可维护性、代码重用性好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829" y="2608982"/>
            <a:ext cx="3138678" cy="1678828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26B4860-B709-9AA7-AA47-3912522B0CFD}"/>
              </a:ext>
            </a:extLst>
          </p:cNvPr>
          <p:cNvCxnSpPr/>
          <p:nvPr/>
        </p:nvCxnSpPr>
        <p:spPr bwMode="auto">
          <a:xfrm>
            <a:off x="2699792" y="734436"/>
            <a:ext cx="0" cy="4409064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6252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8" grpId="0"/>
      <p:bldP spid="19" grpId="0"/>
      <p:bldP spid="28" grpId="0"/>
      <p:bldP spid="3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5" grpId="0"/>
      <p:bldP spid="31" grpId="0" animBg="1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D98EDB-330F-4C41-A086-4A6179202AEA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4" name="Text Box 1037"/>
          <p:cNvSpPr txBox="1">
            <a:spLocks noChangeArrowheads="1"/>
          </p:cNvSpPr>
          <p:nvPr/>
        </p:nvSpPr>
        <p:spPr bwMode="auto">
          <a:xfrm>
            <a:off x="2428819" y="3357683"/>
            <a:ext cx="10668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chemeClr val="bg1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本章目录</a:t>
            </a:r>
          </a:p>
        </p:txBody>
      </p:sp>
      <p:cxnSp>
        <p:nvCxnSpPr>
          <p:cNvPr id="5" name="直接箭头连接符 3"/>
          <p:cNvCxnSpPr>
            <a:cxnSpLocks noChangeShapeType="1"/>
          </p:cNvCxnSpPr>
          <p:nvPr/>
        </p:nvCxnSpPr>
        <p:spPr bwMode="auto">
          <a:xfrm>
            <a:off x="4005331" y="1530470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" name="菱形 4"/>
          <p:cNvSpPr>
            <a:spLocks noChangeArrowheads="1"/>
          </p:cNvSpPr>
          <p:nvPr/>
        </p:nvSpPr>
        <p:spPr bwMode="auto">
          <a:xfrm>
            <a:off x="3144906" y="1624133"/>
            <a:ext cx="1847850" cy="561711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</a:t>
            </a:r>
          </a:p>
        </p:txBody>
      </p:sp>
      <p:cxnSp>
        <p:nvCxnSpPr>
          <p:cNvPr id="7" name="直接连接符 7"/>
          <p:cNvCxnSpPr>
            <a:cxnSpLocks noChangeShapeType="1"/>
          </p:cNvCxnSpPr>
          <p:nvPr/>
        </p:nvCxnSpPr>
        <p:spPr bwMode="auto">
          <a:xfrm flipV="1">
            <a:off x="4992756" y="1921313"/>
            <a:ext cx="236537" cy="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" name="直接连接符 15"/>
          <p:cNvCxnSpPr>
            <a:cxnSpLocks noChangeShapeType="1"/>
          </p:cNvCxnSpPr>
          <p:nvPr/>
        </p:nvCxnSpPr>
        <p:spPr bwMode="auto">
          <a:xfrm flipV="1">
            <a:off x="5213418" y="1917503"/>
            <a:ext cx="0" cy="3240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" name="直接连接符 19"/>
          <p:cNvCxnSpPr>
            <a:cxnSpLocks noChangeShapeType="1"/>
          </p:cNvCxnSpPr>
          <p:nvPr/>
        </p:nvCxnSpPr>
        <p:spPr bwMode="auto">
          <a:xfrm>
            <a:off x="4052956" y="3044945"/>
            <a:ext cx="1134000" cy="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0" name="直接连接符 15"/>
          <p:cNvCxnSpPr>
            <a:cxnSpLocks noChangeShapeType="1"/>
          </p:cNvCxnSpPr>
          <p:nvPr/>
        </p:nvCxnSpPr>
        <p:spPr bwMode="auto">
          <a:xfrm flipV="1">
            <a:off x="4052693" y="998406"/>
            <a:ext cx="263" cy="635031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2792481" y="1522533"/>
            <a:ext cx="1077912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4726095" y="1576341"/>
            <a:ext cx="935038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3" name="直接连接符 18"/>
          <p:cNvCxnSpPr>
            <a:cxnSpLocks noChangeShapeType="1"/>
          </p:cNvCxnSpPr>
          <p:nvPr/>
        </p:nvCxnSpPr>
        <p:spPr bwMode="auto">
          <a:xfrm flipV="1">
            <a:off x="4092643" y="3059234"/>
            <a:ext cx="1588" cy="672447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4" name="直接连接符 7"/>
          <p:cNvCxnSpPr>
            <a:cxnSpLocks noChangeShapeType="1"/>
          </p:cNvCxnSpPr>
          <p:nvPr/>
        </p:nvCxnSpPr>
        <p:spPr bwMode="auto">
          <a:xfrm>
            <a:off x="2890906" y="1905438"/>
            <a:ext cx="236537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5" name="直接连接符 15"/>
          <p:cNvCxnSpPr>
            <a:cxnSpLocks noChangeShapeType="1"/>
          </p:cNvCxnSpPr>
          <p:nvPr/>
        </p:nvCxnSpPr>
        <p:spPr bwMode="auto">
          <a:xfrm flipH="1" flipV="1">
            <a:off x="2902018" y="1900675"/>
            <a:ext cx="0" cy="33840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6" name="直接连接符 19"/>
          <p:cNvCxnSpPr>
            <a:cxnSpLocks noChangeShapeType="1"/>
          </p:cNvCxnSpPr>
          <p:nvPr/>
        </p:nvCxnSpPr>
        <p:spPr bwMode="auto">
          <a:xfrm>
            <a:off x="2900431" y="3067170"/>
            <a:ext cx="1176337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" name="矩形 5"/>
          <p:cNvSpPr>
            <a:spLocks noChangeArrowheads="1"/>
          </p:cNvSpPr>
          <p:nvPr/>
        </p:nvSpPr>
        <p:spPr bwMode="auto">
          <a:xfrm>
            <a:off x="2389244" y="2241847"/>
            <a:ext cx="936104" cy="387798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8" name="矩形 5"/>
          <p:cNvSpPr>
            <a:spLocks noChangeArrowheads="1"/>
          </p:cNvSpPr>
          <p:nvPr/>
        </p:nvSpPr>
        <p:spPr bwMode="auto">
          <a:xfrm>
            <a:off x="4670493" y="2289295"/>
            <a:ext cx="925516" cy="387798"/>
          </a:xfrm>
          <a:prstGeom prst="rect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9" name="直接连接符 15"/>
          <p:cNvCxnSpPr>
            <a:cxnSpLocks noChangeShapeType="1"/>
          </p:cNvCxnSpPr>
          <p:nvPr/>
        </p:nvCxnSpPr>
        <p:spPr bwMode="auto">
          <a:xfrm flipH="1" flipV="1">
            <a:off x="2916306" y="2675058"/>
            <a:ext cx="0" cy="38735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0" name="直接连接符 15"/>
          <p:cNvCxnSpPr>
            <a:cxnSpLocks noChangeShapeType="1"/>
          </p:cNvCxnSpPr>
          <p:nvPr/>
        </p:nvCxnSpPr>
        <p:spPr bwMode="auto">
          <a:xfrm flipH="1" flipV="1">
            <a:off x="5192781" y="2648070"/>
            <a:ext cx="0" cy="396875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1" name="直接连接符 15"/>
          <p:cNvCxnSpPr>
            <a:cxnSpLocks noChangeShapeType="1"/>
          </p:cNvCxnSpPr>
          <p:nvPr/>
        </p:nvCxnSpPr>
        <p:spPr bwMode="auto">
          <a:xfrm flipV="1">
            <a:off x="1371771" y="949246"/>
            <a:ext cx="0" cy="3600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2" name="矩形 5"/>
          <p:cNvSpPr>
            <a:spLocks noChangeArrowheads="1"/>
          </p:cNvSpPr>
          <p:nvPr/>
        </p:nvSpPr>
        <p:spPr bwMode="auto">
          <a:xfrm>
            <a:off x="816146" y="1315101"/>
            <a:ext cx="1111250" cy="38735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3" name="直接连接符 15"/>
          <p:cNvCxnSpPr>
            <a:cxnSpLocks noChangeShapeType="1"/>
          </p:cNvCxnSpPr>
          <p:nvPr/>
        </p:nvCxnSpPr>
        <p:spPr bwMode="auto">
          <a:xfrm flipV="1">
            <a:off x="1371771" y="1722115"/>
            <a:ext cx="0" cy="2052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4" name="矩形 5"/>
          <p:cNvSpPr>
            <a:spLocks noChangeArrowheads="1"/>
          </p:cNvSpPr>
          <p:nvPr/>
        </p:nvSpPr>
        <p:spPr bwMode="auto">
          <a:xfrm>
            <a:off x="803372" y="1923678"/>
            <a:ext cx="1111250" cy="38735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8" name="直接连接符 18"/>
          <p:cNvCxnSpPr>
            <a:cxnSpLocks noChangeShapeType="1"/>
          </p:cNvCxnSpPr>
          <p:nvPr/>
        </p:nvCxnSpPr>
        <p:spPr bwMode="auto">
          <a:xfrm flipV="1">
            <a:off x="1372588" y="2293550"/>
            <a:ext cx="0" cy="2772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0" name="菱形 4"/>
          <p:cNvSpPr>
            <a:spLocks noChangeArrowheads="1"/>
          </p:cNvSpPr>
          <p:nvPr/>
        </p:nvSpPr>
        <p:spPr bwMode="auto">
          <a:xfrm>
            <a:off x="6487108" y="1665190"/>
            <a:ext cx="1816169" cy="497961"/>
          </a:xfrm>
          <a:prstGeom prst="diamond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条件</a:t>
            </a:r>
          </a:p>
        </p:txBody>
      </p:sp>
      <p:cxnSp>
        <p:nvCxnSpPr>
          <p:cNvPr id="31" name="直接连接符 8"/>
          <p:cNvCxnSpPr>
            <a:cxnSpLocks noChangeShapeType="1"/>
          </p:cNvCxnSpPr>
          <p:nvPr/>
        </p:nvCxnSpPr>
        <p:spPr bwMode="auto">
          <a:xfrm flipH="1" flipV="1">
            <a:off x="6361782" y="3104008"/>
            <a:ext cx="1072510" cy="1716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9"/>
          <p:cNvCxnSpPr>
            <a:cxnSpLocks noChangeShapeType="1"/>
          </p:cNvCxnSpPr>
          <p:nvPr/>
        </p:nvCxnSpPr>
        <p:spPr bwMode="auto">
          <a:xfrm flipH="1">
            <a:off x="7421022" y="998406"/>
            <a:ext cx="0" cy="658339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连接符 12"/>
          <p:cNvCxnSpPr>
            <a:cxnSpLocks noChangeShapeType="1"/>
          </p:cNvCxnSpPr>
          <p:nvPr/>
        </p:nvCxnSpPr>
        <p:spPr bwMode="auto">
          <a:xfrm flipH="1">
            <a:off x="7421022" y="2883509"/>
            <a:ext cx="0" cy="2160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接连接符 30"/>
          <p:cNvCxnSpPr>
            <a:cxnSpLocks noChangeShapeType="1"/>
          </p:cNvCxnSpPr>
          <p:nvPr/>
        </p:nvCxnSpPr>
        <p:spPr bwMode="auto">
          <a:xfrm flipH="1">
            <a:off x="6348512" y="1335487"/>
            <a:ext cx="4731" cy="1764022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直接连接符 31"/>
          <p:cNvCxnSpPr>
            <a:cxnSpLocks noChangeShapeType="1"/>
          </p:cNvCxnSpPr>
          <p:nvPr/>
        </p:nvCxnSpPr>
        <p:spPr bwMode="auto">
          <a:xfrm flipH="1" flipV="1">
            <a:off x="6348513" y="1335487"/>
            <a:ext cx="1045644" cy="17454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  <a:stCxn id="30" idx="2"/>
          </p:cNvCxnSpPr>
          <p:nvPr/>
        </p:nvCxnSpPr>
        <p:spPr bwMode="auto">
          <a:xfrm flipH="1">
            <a:off x="7394157" y="2163151"/>
            <a:ext cx="1036" cy="320043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连接符 61"/>
          <p:cNvCxnSpPr>
            <a:cxnSpLocks noChangeShapeType="1"/>
          </p:cNvCxnSpPr>
          <p:nvPr/>
        </p:nvCxnSpPr>
        <p:spPr bwMode="auto">
          <a:xfrm flipH="1" flipV="1">
            <a:off x="8190386" y="1921313"/>
            <a:ext cx="261283" cy="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63"/>
          <p:cNvCxnSpPr>
            <a:cxnSpLocks noChangeShapeType="1"/>
          </p:cNvCxnSpPr>
          <p:nvPr/>
        </p:nvCxnSpPr>
        <p:spPr bwMode="auto">
          <a:xfrm>
            <a:off x="8451669" y="1900675"/>
            <a:ext cx="0" cy="1211913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68"/>
          <p:cNvCxnSpPr>
            <a:cxnSpLocks noChangeShapeType="1"/>
          </p:cNvCxnSpPr>
          <p:nvPr/>
        </p:nvCxnSpPr>
        <p:spPr bwMode="auto">
          <a:xfrm flipH="1" flipV="1">
            <a:off x="7612233" y="3112588"/>
            <a:ext cx="843771" cy="887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73"/>
          <p:cNvCxnSpPr>
            <a:cxnSpLocks noChangeShapeType="1"/>
          </p:cNvCxnSpPr>
          <p:nvPr/>
        </p:nvCxnSpPr>
        <p:spPr bwMode="auto">
          <a:xfrm flipH="1">
            <a:off x="7612233" y="3130265"/>
            <a:ext cx="0" cy="614768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矩形 5"/>
          <p:cNvSpPr>
            <a:spLocks noChangeArrowheads="1"/>
          </p:cNvSpPr>
          <p:nvPr/>
        </p:nvSpPr>
        <p:spPr bwMode="auto">
          <a:xfrm>
            <a:off x="6931399" y="2495711"/>
            <a:ext cx="925516" cy="387798"/>
          </a:xfrm>
          <a:prstGeom prst="rect">
            <a:avLst/>
          </a:prstGeom>
          <a:noFill/>
          <a:ln w="25400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803372" y="3731681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顺序结构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23528" y="161302"/>
            <a:ext cx="546572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结构化程序设计三种基本控制结构</a:t>
            </a:r>
          </a:p>
        </p:txBody>
      </p:sp>
      <p:sp>
        <p:nvSpPr>
          <p:cNvPr id="56" name="矩形 5"/>
          <p:cNvSpPr>
            <a:spLocks noChangeArrowheads="1"/>
          </p:cNvSpPr>
          <p:nvPr/>
        </p:nvSpPr>
        <p:spPr bwMode="auto">
          <a:xfrm>
            <a:off x="809796" y="3075806"/>
            <a:ext cx="1111250" cy="38735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endParaRPr lang="zh-CN" altLang="en-US" sz="16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0" name="矩形 5"/>
          <p:cNvSpPr>
            <a:spLocks noChangeArrowheads="1"/>
          </p:cNvSpPr>
          <p:nvPr/>
        </p:nvSpPr>
        <p:spPr bwMode="auto">
          <a:xfrm>
            <a:off x="815024" y="2564507"/>
            <a:ext cx="1111250" cy="30240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r>
              <a:rPr lang="en-US" altLang="zh-CN" sz="1600"/>
              <a:t>      …</a:t>
            </a:r>
            <a:endParaRPr lang="zh-CN" altLang="en-US" sz="1600"/>
          </a:p>
        </p:txBody>
      </p:sp>
      <p:cxnSp>
        <p:nvCxnSpPr>
          <p:cNvPr id="62" name="直接连接符 18"/>
          <p:cNvCxnSpPr>
            <a:cxnSpLocks noChangeShapeType="1"/>
          </p:cNvCxnSpPr>
          <p:nvPr/>
        </p:nvCxnSpPr>
        <p:spPr bwMode="auto">
          <a:xfrm flipV="1">
            <a:off x="1347537" y="2891769"/>
            <a:ext cx="0" cy="2052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3" name="直接连接符 18"/>
          <p:cNvCxnSpPr>
            <a:cxnSpLocks noChangeShapeType="1"/>
          </p:cNvCxnSpPr>
          <p:nvPr/>
        </p:nvCxnSpPr>
        <p:spPr bwMode="auto">
          <a:xfrm flipV="1">
            <a:off x="1347537" y="3435846"/>
            <a:ext cx="0" cy="277200"/>
          </a:xfrm>
          <a:prstGeom prst="line">
            <a:avLst/>
          </a:prstGeom>
          <a:noFill/>
          <a:ln w="254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4" name="文本框 63"/>
          <p:cNvSpPr txBox="1"/>
          <p:nvPr/>
        </p:nvSpPr>
        <p:spPr>
          <a:xfrm>
            <a:off x="3572792" y="3718300"/>
            <a:ext cx="157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6920623" y="3745033"/>
            <a:ext cx="157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323529" y="4239713"/>
            <a:ext cx="820891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每种控制结构单入口单出口，构成的程序结构清晰、易于调试和维护。</a:t>
            </a:r>
            <a:endParaRPr lang="en-US" altLang="zh-CN" sz="20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defRPr/>
            </a:pP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任何程序都是由这三种基本控制结构构成。</a:t>
            </a:r>
            <a:endParaRPr lang="zh-CN" altLang="en-US" sz="20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TextBox 17"/>
          <p:cNvSpPr txBox="1">
            <a:spLocks noChangeArrowheads="1"/>
          </p:cNvSpPr>
          <p:nvPr/>
        </p:nvSpPr>
        <p:spPr bwMode="auto">
          <a:xfrm>
            <a:off x="7957442" y="1576600"/>
            <a:ext cx="935038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8" name="TextBox 16"/>
          <p:cNvSpPr txBox="1">
            <a:spLocks noChangeArrowheads="1"/>
          </p:cNvSpPr>
          <p:nvPr/>
        </p:nvSpPr>
        <p:spPr bwMode="auto">
          <a:xfrm>
            <a:off x="7422263" y="2145990"/>
            <a:ext cx="1077912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16007" y="1068504"/>
            <a:ext cx="1772562" cy="246475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2327201" y="1137006"/>
            <a:ext cx="3377775" cy="246475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6129201" y="1158347"/>
            <a:ext cx="2563152" cy="2430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22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/>
      <p:bldP spid="12" grpId="0"/>
      <p:bldP spid="17" grpId="0" animBg="1"/>
      <p:bldP spid="18" grpId="0" animBg="1"/>
      <p:bldP spid="22" grpId="0" animBg="1"/>
      <p:bldP spid="24" grpId="0" animBg="1"/>
      <p:bldP spid="30" grpId="0" animBg="1"/>
      <p:bldP spid="51" grpId="0" animBg="1"/>
      <p:bldP spid="54" grpId="0"/>
      <p:bldP spid="56" grpId="0" animBg="1"/>
      <p:bldP spid="60" grpId="0" animBg="1"/>
      <p:bldP spid="64" grpId="0"/>
      <p:bldP spid="65" grpId="0"/>
      <p:bldP spid="66" grpId="0"/>
      <p:bldP spid="67" grpId="0"/>
      <p:bldP spid="68" grpId="0"/>
      <p:bldP spid="3" grpId="0" animBg="1"/>
      <p:bldP spid="49" grpId="0" animBg="1"/>
      <p:bldP spid="5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9512" y="0"/>
            <a:ext cx="7807325" cy="757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1.</a:t>
            </a:r>
            <a:r>
              <a:rPr lang="zh-CN" altLang="en-US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顺序</a:t>
            </a:r>
            <a:r>
              <a:rPr lang="zh-CN" altLang="en-US" sz="3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5" y="1635646"/>
            <a:ext cx="59766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按语句出现的次序依次执行。</a:t>
            </a:r>
            <a:endParaRPr lang="en-US" altLang="zh-CN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Python</a:t>
            </a:r>
            <a:r>
              <a:rPr lang="zh-CN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</a:t>
            </a:r>
            <a:r>
              <a:rPr lang="en-US" altLang="zh-CN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IDLE</a:t>
            </a:r>
            <a:r>
              <a:rPr lang="zh-CN" altLang="en-US" sz="20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Spyder</a:t>
            </a:r>
            <a:r>
              <a:rPr lang="zh-CN" altLang="en-US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控制台窗口</a:t>
            </a:r>
            <a:endParaRPr lang="en-US" altLang="zh-CN" sz="20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0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交互状态下</a:t>
            </a:r>
            <a:r>
              <a:rPr lang="zh-CN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执行的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系列语句</a:t>
            </a:r>
            <a:r>
              <a:rPr lang="zh-CN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实质</a:t>
            </a:r>
            <a:r>
              <a:rPr lang="zh-CN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就是顺序结构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56176" y="1419622"/>
          <a:ext cx="3156992" cy="2342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4" imgW="2080595" imgH="1083639" progId="Word.Picture.8">
                  <p:embed/>
                </p:oleObj>
              </mc:Choice>
              <mc:Fallback>
                <p:oleObj name="Picture" r:id="rId4" imgW="2080595" imgH="1083639" progId="Word.Picture.8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382" r="15280"/>
                      <a:stretch>
                        <a:fillRect/>
                      </a:stretch>
                    </p:blipFill>
                    <p:spPr bwMode="auto">
                      <a:xfrm>
                        <a:off x="6156176" y="1419622"/>
                        <a:ext cx="3156992" cy="23425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437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矩形 2"/>
          <p:cNvSpPr>
            <a:spLocks noChangeArrowheads="1"/>
          </p:cNvSpPr>
          <p:nvPr/>
        </p:nvSpPr>
        <p:spPr bwMode="auto">
          <a:xfrm>
            <a:off x="3059832" y="1871965"/>
            <a:ext cx="2051843" cy="2188800"/>
          </a:xfrm>
          <a:prstGeom prst="rect">
            <a:avLst/>
          </a:prstGeom>
          <a:noFill/>
          <a:ln w="9525" algn="ctr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/>
          <a:p>
            <a:endParaRPr lang="zh-CN" altLang="en-US" sz="16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5541" name="TextBox 7"/>
          <p:cNvSpPr txBox="1">
            <a:spLocks noChangeArrowheads="1"/>
          </p:cNvSpPr>
          <p:nvPr/>
        </p:nvSpPr>
        <p:spPr bwMode="auto">
          <a:xfrm>
            <a:off x="3306858" y="2673431"/>
            <a:ext cx="1584325" cy="387798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计算等处理</a:t>
            </a:r>
          </a:p>
        </p:txBody>
      </p:sp>
      <p:cxnSp>
        <p:nvCxnSpPr>
          <p:cNvPr id="65543" name="直接连接符 2"/>
          <p:cNvCxnSpPr>
            <a:cxnSpLocks noChangeShapeType="1"/>
          </p:cNvCxnSpPr>
          <p:nvPr/>
        </p:nvCxnSpPr>
        <p:spPr bwMode="auto">
          <a:xfrm flipH="1">
            <a:off x="4770011" y="2255788"/>
            <a:ext cx="489600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4" name="矩形 6"/>
          <p:cNvSpPr>
            <a:spLocks noChangeArrowheads="1"/>
          </p:cNvSpPr>
          <p:nvPr/>
        </p:nvSpPr>
        <p:spPr bwMode="auto">
          <a:xfrm>
            <a:off x="4932040" y="2089180"/>
            <a:ext cx="23042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input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()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</a:t>
            </a:r>
          </a:p>
        </p:txBody>
      </p:sp>
      <p:cxnSp>
        <p:nvCxnSpPr>
          <p:cNvPr id="65545" name="直接连接符 2"/>
          <p:cNvCxnSpPr>
            <a:cxnSpLocks noChangeShapeType="1"/>
          </p:cNvCxnSpPr>
          <p:nvPr/>
        </p:nvCxnSpPr>
        <p:spPr bwMode="auto">
          <a:xfrm flipH="1" flipV="1">
            <a:off x="4804938" y="3622062"/>
            <a:ext cx="489052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6" name="矩形 14"/>
          <p:cNvSpPr>
            <a:spLocks noChangeArrowheads="1"/>
          </p:cNvSpPr>
          <p:nvPr/>
        </p:nvSpPr>
        <p:spPr bwMode="auto">
          <a:xfrm>
            <a:off x="5220072" y="2728145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6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赋值语句</a:t>
            </a:r>
          </a:p>
        </p:txBody>
      </p:sp>
      <p:cxnSp>
        <p:nvCxnSpPr>
          <p:cNvPr id="65547" name="直接连接符 2"/>
          <p:cNvCxnSpPr>
            <a:cxnSpLocks noChangeShapeType="1"/>
          </p:cNvCxnSpPr>
          <p:nvPr/>
        </p:nvCxnSpPr>
        <p:spPr bwMode="auto">
          <a:xfrm flipH="1">
            <a:off x="4804936" y="2877001"/>
            <a:ext cx="489600" cy="0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65548" name="矩形 17"/>
          <p:cNvSpPr>
            <a:spLocks noChangeArrowheads="1"/>
          </p:cNvSpPr>
          <p:nvPr/>
        </p:nvSpPr>
        <p:spPr bwMode="auto">
          <a:xfrm>
            <a:off x="5273186" y="3457332"/>
            <a:ext cx="14590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()</a:t>
            </a:r>
            <a:r>
              <a:rPr lang="zh-CN" altLang="en-US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</a:t>
            </a:r>
          </a:p>
        </p:txBody>
      </p:sp>
      <p:sp>
        <p:nvSpPr>
          <p:cNvPr id="65549" name="矩形 18"/>
          <p:cNvSpPr>
            <a:spLocks noChangeArrowheads="1"/>
          </p:cNvSpPr>
          <p:nvPr/>
        </p:nvSpPr>
        <p:spPr bwMode="auto">
          <a:xfrm>
            <a:off x="3546049" y="1563638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简单程序</a:t>
            </a:r>
          </a:p>
        </p:txBody>
      </p:sp>
      <p:cxnSp>
        <p:nvCxnSpPr>
          <p:cNvPr id="65550" name="直接连接符 2"/>
          <p:cNvCxnSpPr>
            <a:cxnSpLocks noChangeShapeType="1"/>
          </p:cNvCxnSpPr>
          <p:nvPr/>
        </p:nvCxnSpPr>
        <p:spPr bwMode="auto">
          <a:xfrm flipV="1">
            <a:off x="4082624" y="2385399"/>
            <a:ext cx="0" cy="287337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5551" name="直接连接符 2"/>
          <p:cNvCxnSpPr>
            <a:cxnSpLocks noChangeShapeType="1"/>
          </p:cNvCxnSpPr>
          <p:nvPr/>
        </p:nvCxnSpPr>
        <p:spPr bwMode="auto">
          <a:xfrm flipV="1">
            <a:off x="4095672" y="3080427"/>
            <a:ext cx="0" cy="288925"/>
          </a:xfrm>
          <a:prstGeom prst="line">
            <a:avLst/>
          </a:prstGeom>
          <a:noFill/>
          <a:ln w="31750" algn="ctr">
            <a:solidFill>
              <a:srgbClr val="C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3744" name="TextBox 1"/>
          <p:cNvSpPr txBox="1">
            <a:spLocks noChangeArrowheads="1"/>
          </p:cNvSpPr>
          <p:nvPr/>
        </p:nvSpPr>
        <p:spPr bwMode="auto">
          <a:xfrm>
            <a:off x="231861" y="169863"/>
            <a:ext cx="442753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简单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程序的结构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337" y="713832"/>
            <a:ext cx="8456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一般程序中顺序结构的常用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简单语句</a:t>
            </a:r>
            <a:r>
              <a:rPr lang="en-US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1800" b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赋值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语句和输入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/</a:t>
            </a: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输出语句（函数）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等。</a:t>
            </a:r>
          </a:p>
        </p:txBody>
      </p:sp>
      <p:sp>
        <p:nvSpPr>
          <p:cNvPr id="4" name="平行四边形 3"/>
          <p:cNvSpPr/>
          <p:nvPr/>
        </p:nvSpPr>
        <p:spPr bwMode="auto">
          <a:xfrm>
            <a:off x="3307007" y="1981842"/>
            <a:ext cx="1584176" cy="360000"/>
          </a:xfrm>
          <a:prstGeom prst="parallelogram">
            <a:avLst/>
          </a:prstGeom>
          <a:noFill/>
          <a:ln w="222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输入数据</a:t>
            </a:r>
          </a:p>
        </p:txBody>
      </p:sp>
      <p:sp>
        <p:nvSpPr>
          <p:cNvPr id="22" name="平行四边形 21"/>
          <p:cNvSpPr/>
          <p:nvPr/>
        </p:nvSpPr>
        <p:spPr bwMode="auto">
          <a:xfrm>
            <a:off x="3307007" y="3390025"/>
            <a:ext cx="1584176" cy="421191"/>
          </a:xfrm>
          <a:prstGeom prst="parallelogram">
            <a:avLst/>
          </a:prstGeom>
          <a:noFill/>
          <a:ln w="22225" cap="flat" cmpd="sng" algn="ctr">
            <a:solidFill>
              <a:srgbClr val="00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输出结果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333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1" grpId="0" animBg="1"/>
      <p:bldP spid="65544" grpId="0"/>
      <p:bldP spid="65546" grpId="0"/>
      <p:bldP spid="65548" grpId="0"/>
      <p:bldP spid="65549" grpId="0"/>
      <p:bldP spid="4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120409" y="1707926"/>
            <a:ext cx="8748713" cy="1779294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en-US" altLang="zh-CN" sz="16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#   </a:t>
            </a:r>
            <a:r>
              <a:rPr lang="zh-CN" altLang="zh-CN" sz="16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输入三角形三条边，求三角形面积</a:t>
            </a:r>
            <a:endParaRPr lang="en-US" altLang="zh-CN" sz="160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import math                             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#  </a:t>
            </a:r>
            <a:r>
              <a:rPr lang="zh-CN" altLang="zh-CN" sz="16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导入</a:t>
            </a:r>
            <a:r>
              <a:rPr lang="en-US" altLang="zh-CN" sz="16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math</a:t>
            </a:r>
            <a:r>
              <a:rPr lang="zh-CN" altLang="zh-CN" sz="16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模块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a,b,c=eval(input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a,b,c: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t=(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a+b+c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)/2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area=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(t*(t-a)*(t-b)*(t-c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))      #  </a:t>
            </a:r>
            <a:r>
              <a:rPr lang="zh-CN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调用</a:t>
            </a:r>
            <a:r>
              <a:rPr lang="en-US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math</a:t>
            </a:r>
            <a:r>
              <a:rPr lang="zh-CN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模块的</a:t>
            </a:r>
            <a:r>
              <a:rPr lang="en-US" altLang="zh-CN" sz="1600" b="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sqrt</a:t>
            </a:r>
            <a:r>
              <a:rPr lang="zh-CN" altLang="zh-CN" sz="16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函数</a:t>
            </a: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3059832" y="4299942"/>
            <a:ext cx="4166170" cy="807263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考虑不能构成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三角形情况</a:t>
            </a:r>
            <a:endParaRPr lang="en-US" altLang="zh-CN" sz="18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需要利用</a:t>
            </a: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选择结构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来解决此问题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AutoShape 44"/>
          <p:cNvSpPr>
            <a:spLocks noChangeArrowheads="1"/>
          </p:cNvSpPr>
          <p:nvPr/>
        </p:nvSpPr>
        <p:spPr bwMode="gray">
          <a:xfrm>
            <a:off x="110573" y="3613542"/>
            <a:ext cx="2790181" cy="1493664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程序运行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a,b,c: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3,4,5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 6.0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a,b,c: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1,2,3</a:t>
            </a:r>
            <a:endParaRPr lang="zh-CN" altLang="zh-CN" sz="16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 0.0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a,b,c: 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1,1,3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801" y="267494"/>
            <a:ext cx="8964488" cy="83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输入三角形三条边长，计算面积并显示结果。</a:t>
            </a:r>
          </a:p>
          <a:p>
            <a:pPr>
              <a:spcBef>
                <a:spcPts val="600"/>
              </a:spcBef>
            </a:pPr>
            <a:r>
              <a:rPr lang="zh-CN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</a:t>
            </a:r>
            <a:r>
              <a:rPr lang="en-US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已知三条边边长，计算三角形面积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zh-CN" altLang="zh-CN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利用海伦公式即可求得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</a:t>
            </a:r>
            <a:endParaRPr lang="en-US" altLang="zh-CN" sz="18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402" y="3487220"/>
            <a:ext cx="4100600" cy="786855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67544" y="979280"/>
                <a:ext cx="3812799" cy="827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80975" marR="8890" indent="-6350" algn="just">
                  <a:spcAft>
                    <a:spcPts val="0"/>
                  </a:spcAft>
                </a:pPr>
                <a:r>
                  <a:rPr lang="en-US" altLang="zh-CN" sz="1800" kern="100">
                    <a:latin typeface="Times New Roman" panose="02020603050405020304" pitchFamily="18" charset="0"/>
                  </a:rPr>
                  <a:t>   t=(a+b+c)/2  </a:t>
                </a:r>
                <a:endParaRPr lang="zh-CN" altLang="zh-CN" sz="1800" kern="100">
                  <a:latin typeface="Times New Roman" panose="02020603050405020304" pitchFamily="18" charset="0"/>
                </a:endParaRPr>
              </a:p>
              <a:p>
                <a:pPr marL="180975" marR="8890" indent="-635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kern="100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1800" b="1" i="1" kern="10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800" i="1" kern="1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800" b="1" i="1" kern="10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zh-CN" altLang="zh-CN" sz="1800" kern="10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79280"/>
                <a:ext cx="3812799" cy="827214"/>
              </a:xfrm>
              <a:prstGeom prst="rect">
                <a:avLst/>
              </a:prstGeom>
              <a:blipFill>
                <a:blip r:embed="rId4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2469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"/>
          <p:cNvSpPr>
            <a:spLocks noGrp="1"/>
          </p:cNvSpPr>
          <p:nvPr>
            <p:ph idx="1"/>
          </p:nvPr>
        </p:nvSpPr>
        <p:spPr bwMode="auto">
          <a:xfrm>
            <a:off x="107504" y="794993"/>
            <a:ext cx="4392488" cy="43485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单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分支语句</a:t>
            </a: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双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分支语句</a:t>
            </a: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zh-CN" altLang="en-US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sz="20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20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endParaRPr kumimoji="1" lang="zh-CN" altLang="en-US" sz="2400" b="1" kern="1200" spc="-1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23478"/>
            <a:ext cx="554461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——if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语句的三种形式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3181" y="2252484"/>
            <a:ext cx="363642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作用：条件为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执行语句块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00356" y="3867894"/>
            <a:ext cx="47436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作用：根据条件决定执行哪个分支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最多执行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个分支、若无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则有可能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分支也不执行。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07704" y="1404373"/>
            <a:ext cx="1512168" cy="64633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 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endParaRPr lang="zh-CN" altLang="en-US" b="0"/>
          </a:p>
        </p:txBody>
      </p:sp>
      <p:sp>
        <p:nvSpPr>
          <p:cNvPr id="8" name="文本框 7"/>
          <p:cNvSpPr txBox="1"/>
          <p:nvPr/>
        </p:nvSpPr>
        <p:spPr>
          <a:xfrm>
            <a:off x="2051720" y="2885561"/>
            <a:ext cx="1507959" cy="14219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  <a:endParaRPr lang="zh-CN" altLang="en-US" sz="1800" b="0"/>
          </a:p>
        </p:txBody>
      </p:sp>
      <p:sp>
        <p:nvSpPr>
          <p:cNvPr id="9" name="文本框 8"/>
          <p:cNvSpPr txBox="1"/>
          <p:nvPr/>
        </p:nvSpPr>
        <p:spPr>
          <a:xfrm>
            <a:off x="4654286" y="1318925"/>
            <a:ext cx="1907454" cy="24191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[else: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  <a:r>
              <a:rPr lang="en-US" altLang="zh-CN" sz="1800" b="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n+1 ]</a:t>
            </a:r>
            <a:endParaRPr lang="zh-CN" altLang="en-US" sz="1800" b="0"/>
          </a:p>
        </p:txBody>
      </p:sp>
      <p:sp>
        <p:nvSpPr>
          <p:cNvPr id="10" name="文本框 9"/>
          <p:cNvSpPr txBox="1"/>
          <p:nvPr/>
        </p:nvSpPr>
        <p:spPr>
          <a:xfrm>
            <a:off x="4644008" y="727416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多分枝语句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9552" y="4346929"/>
            <a:ext cx="36724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作用：条件为</a:t>
            </a: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执行语句块</a:t>
            </a: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否则执行语句块</a:t>
            </a: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800" b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52320" y="1518437"/>
            <a:ext cx="1609416" cy="1892826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"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"</a:t>
            </a:r>
            <a:r>
              <a:rPr lang="zh-CN" altLang="en-US" sz="1800" b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itchFamily="49" charset="0"/>
              </a:rPr>
              <a:t>表示内嵌语句块，语句块由相同缩进的语句组成。</a:t>
            </a:r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67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  <p:bldP spid="12" grpId="0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2"/>
          <p:cNvSpPr>
            <a:spLocks noGrp="1" noChangeArrowheads="1"/>
          </p:cNvSpPr>
          <p:nvPr>
            <p:ph type="title"/>
          </p:nvPr>
        </p:nvSpPr>
        <p:spPr bwMode="auto">
          <a:xfrm>
            <a:off x="223257" y="195740"/>
            <a:ext cx="6652999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kumimoji="1" lang="en-US" altLang="zh-CN" sz="2400" b="1" kern="12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</a:t>
            </a:r>
            <a:r>
              <a:rPr kumimoji="1" lang="zh-CN" altLang="en-US" sz="2400" b="1" kern="12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kumimoji="1" lang="en-US" altLang="zh-CN" sz="2400" b="1" kern="12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kumimoji="1" lang="zh-CN" altLang="en-US" sz="2400" b="1" kern="12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单分支</a:t>
            </a:r>
            <a:r>
              <a:rPr kumimoji="1" lang="zh-CN" altLang="en-US" sz="2400" b="1" kern="12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结构）例</a:t>
            </a:r>
            <a:endParaRPr kumimoji="1" lang="zh-CN" altLang="en-US" sz="2400" b="1" kern="12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196331" y="771550"/>
            <a:ext cx="8640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解决问题</a:t>
            </a:r>
            <a:r>
              <a:rPr lang="en-US" altLang="zh-CN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1: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输入三角形三条边长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</a:t>
            </a:r>
            <a:r>
              <a:rPr lang="zh-CN" altLang="en-US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</a:t>
            </a:r>
            <a:r>
              <a:rPr lang="zh-CN" altLang="en-US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，对</a:t>
            </a:r>
            <a:r>
              <a:rPr lang="zh-CN" altLang="en-US" sz="2000" b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能构成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三角形的求其面积。</a:t>
            </a:r>
          </a:p>
        </p:txBody>
      </p:sp>
      <p:sp>
        <p:nvSpPr>
          <p:cNvPr id="9224" name="TextBox 8"/>
          <p:cNvSpPr txBox="1">
            <a:spLocks noChangeArrowheads="1"/>
          </p:cNvSpPr>
          <p:nvPr/>
        </p:nvSpPr>
        <p:spPr bwMode="auto">
          <a:xfrm>
            <a:off x="291538" y="1273200"/>
            <a:ext cx="882538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构成三角形的前提条件是两边之和大于第三边。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   合理边长的条件表达式如何</a:t>
            </a:r>
            <a:r>
              <a:rPr lang="zh-CN" altLang="en-US" sz="1800" b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表示？</a:t>
            </a:r>
            <a:r>
              <a:rPr lang="en-US" altLang="zh-CN" sz="1800" b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CN" sz="1800" b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a+b&gt;c and b+c&gt;a and a+c&gt;b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cxnSp>
        <p:nvCxnSpPr>
          <p:cNvPr id="17413" name="直接箭头连接符 3"/>
          <p:cNvCxnSpPr>
            <a:cxnSpLocks noChangeShapeType="1"/>
          </p:cNvCxnSpPr>
          <p:nvPr/>
        </p:nvCxnSpPr>
        <p:spPr bwMode="auto">
          <a:xfrm>
            <a:off x="6404109" y="3257708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226" name="菱形 4"/>
          <p:cNvSpPr>
            <a:spLocks noChangeArrowheads="1"/>
          </p:cNvSpPr>
          <p:nvPr/>
        </p:nvSpPr>
        <p:spPr bwMode="auto">
          <a:xfrm>
            <a:off x="5543684" y="3351371"/>
            <a:ext cx="1847850" cy="536575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边长合理？</a:t>
            </a:r>
          </a:p>
        </p:txBody>
      </p:sp>
      <p:sp>
        <p:nvSpPr>
          <p:cNvPr id="9227" name="矩形 5"/>
          <p:cNvSpPr>
            <a:spLocks noChangeArrowheads="1"/>
          </p:cNvSpPr>
          <p:nvPr/>
        </p:nvSpPr>
        <p:spPr bwMode="auto">
          <a:xfrm>
            <a:off x="5543684" y="4199096"/>
            <a:ext cx="1633538" cy="387350"/>
          </a:xfrm>
          <a:prstGeom prst="rect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计算面积并显示</a:t>
            </a:r>
          </a:p>
        </p:txBody>
      </p:sp>
      <p:cxnSp>
        <p:nvCxnSpPr>
          <p:cNvPr id="9228" name="直接连接符 7"/>
          <p:cNvCxnSpPr>
            <a:cxnSpLocks noChangeShapeType="1"/>
            <a:stCxn id="9226" idx="3"/>
          </p:cNvCxnSpPr>
          <p:nvPr/>
        </p:nvCxnSpPr>
        <p:spPr bwMode="auto">
          <a:xfrm flipV="1">
            <a:off x="7391534" y="3618071"/>
            <a:ext cx="236538" cy="1587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29" name="直接连接符 15"/>
          <p:cNvCxnSpPr>
            <a:cxnSpLocks noChangeShapeType="1"/>
          </p:cNvCxnSpPr>
          <p:nvPr/>
        </p:nvCxnSpPr>
        <p:spPr bwMode="auto">
          <a:xfrm flipV="1">
            <a:off x="7628072" y="3618071"/>
            <a:ext cx="0" cy="1081087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30" name="直接连接符 19"/>
          <p:cNvCxnSpPr>
            <a:cxnSpLocks noChangeShapeType="1"/>
          </p:cNvCxnSpPr>
          <p:nvPr/>
        </p:nvCxnSpPr>
        <p:spPr bwMode="auto">
          <a:xfrm>
            <a:off x="6472372" y="4680108"/>
            <a:ext cx="1176337" cy="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2" name="直接连接符 21"/>
          <p:cNvCxnSpPr>
            <a:cxnSpLocks noChangeShapeType="1"/>
            <a:endCxn id="17" idx="4"/>
          </p:cNvCxnSpPr>
          <p:nvPr/>
        </p:nvCxnSpPr>
        <p:spPr bwMode="auto">
          <a:xfrm flipV="1">
            <a:off x="6456497" y="3107102"/>
            <a:ext cx="0" cy="252722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" name="平行四边形 16"/>
          <p:cNvSpPr>
            <a:spLocks noChangeArrowheads="1"/>
          </p:cNvSpPr>
          <p:nvPr/>
        </p:nvSpPr>
        <p:spPr bwMode="auto">
          <a:xfrm>
            <a:off x="5656397" y="2783562"/>
            <a:ext cx="1611312" cy="323540"/>
          </a:xfrm>
          <a:prstGeom prst="parallelogram">
            <a:avLst>
              <a:gd name="adj" fmla="val 24916"/>
            </a:avLst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cxnSp>
        <p:nvCxnSpPr>
          <p:cNvPr id="9233" name="直接连接符 26"/>
          <p:cNvCxnSpPr>
            <a:cxnSpLocks noChangeShapeType="1"/>
          </p:cNvCxnSpPr>
          <p:nvPr/>
        </p:nvCxnSpPr>
        <p:spPr bwMode="auto">
          <a:xfrm flipH="1" flipV="1">
            <a:off x="6467609" y="3903821"/>
            <a:ext cx="4763" cy="295275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234" name="直接连接符 27"/>
          <p:cNvCxnSpPr>
            <a:cxnSpLocks noChangeShapeType="1"/>
          </p:cNvCxnSpPr>
          <p:nvPr/>
        </p:nvCxnSpPr>
        <p:spPr bwMode="auto">
          <a:xfrm flipH="1" flipV="1">
            <a:off x="6456497" y="4545806"/>
            <a:ext cx="4762" cy="330200"/>
          </a:xfrm>
          <a:prstGeom prst="line">
            <a:avLst/>
          </a:prstGeom>
          <a:noFill/>
          <a:ln w="25400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17423" name="直角三角形 2"/>
          <p:cNvSpPr>
            <a:spLocks noChangeArrowheads="1"/>
          </p:cNvSpPr>
          <p:nvPr/>
        </p:nvSpPr>
        <p:spPr bwMode="auto">
          <a:xfrm>
            <a:off x="7016267" y="1389186"/>
            <a:ext cx="1501349" cy="871538"/>
          </a:xfrm>
          <a:prstGeom prst="rtTriangle">
            <a:avLst/>
          </a:prstGeom>
          <a:solidFill>
            <a:srgbClr val="FFFF99"/>
          </a:solidFill>
          <a:ln w="15875" algn="ctr">
            <a:solidFill>
              <a:srgbClr val="000066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4" name="TextBox 3"/>
          <p:cNvSpPr txBox="1">
            <a:spLocks noChangeArrowheads="1"/>
          </p:cNvSpPr>
          <p:nvPr/>
        </p:nvSpPr>
        <p:spPr bwMode="auto">
          <a:xfrm>
            <a:off x="6660232" y="1644774"/>
            <a:ext cx="568334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a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5" name="TextBox 22"/>
          <p:cNvSpPr txBox="1">
            <a:spLocks noChangeArrowheads="1"/>
          </p:cNvSpPr>
          <p:nvPr/>
        </p:nvSpPr>
        <p:spPr bwMode="auto">
          <a:xfrm>
            <a:off x="7671477" y="1428874"/>
            <a:ext cx="5699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b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17426" name="TextBox 23"/>
          <p:cNvSpPr txBox="1">
            <a:spLocks noChangeArrowheads="1"/>
          </p:cNvSpPr>
          <p:nvPr/>
        </p:nvSpPr>
        <p:spPr bwMode="auto">
          <a:xfrm>
            <a:off x="7523841" y="2155949"/>
            <a:ext cx="5699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c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466022" y="3811746"/>
            <a:ext cx="9366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6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91759" y="3279933"/>
            <a:ext cx="93662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6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429" name="TextBox 26"/>
          <p:cNvSpPr txBox="1">
            <a:spLocks noChangeArrowheads="1"/>
          </p:cNvSpPr>
          <p:nvPr/>
        </p:nvSpPr>
        <p:spPr bwMode="auto">
          <a:xfrm>
            <a:off x="7389276" y="1709311"/>
            <a:ext cx="56991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latin typeface="Courier New" pitchFamily="49" charset="0"/>
                <a:ea typeface="黑体" pitchFamily="49" charset="-122"/>
                <a:cs typeface="Courier New" pitchFamily="49" charset="0"/>
              </a:rPr>
              <a:t>S</a:t>
            </a:r>
            <a:endParaRPr lang="zh-CN" altLang="en-US" sz="1800">
              <a:latin typeface="Courier New" pitchFamily="49" charset="0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23" name="AutoShape 44"/>
          <p:cNvSpPr>
            <a:spLocks noChangeArrowheads="1"/>
          </p:cNvSpPr>
          <p:nvPr/>
        </p:nvSpPr>
        <p:spPr bwMode="gray">
          <a:xfrm>
            <a:off x="135267" y="2610077"/>
            <a:ext cx="4978357" cy="172706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import math      #  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导入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模块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a,b,c=eval(input("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a,b,c: "))</a:t>
            </a:r>
            <a:endParaRPr lang="zh-CN" altLang="zh-CN" sz="160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if a+b&gt;c and b+c&gt;a and a+c&gt;b :</a:t>
            </a:r>
            <a:endParaRPr lang="en-US" altLang="zh-CN" sz="1600" dirty="0">
              <a:solidFill>
                <a:srgbClr val="C00000"/>
              </a:solidFill>
              <a:latin typeface="Courier New" pitchFamily="49" charset="0"/>
              <a:ea typeface="黑体" pitchFamily="49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t = (a + b + c)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/ 2</a:t>
            </a: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area=math.sqrt(t*(t-a)*(t-b)*(t-c))</a:t>
            </a:r>
            <a:endParaRPr lang="en-US" altLang="zh-CN" sz="1600" dirty="0">
              <a:solidFill>
                <a:srgbClr val="000066"/>
              </a:solidFill>
              <a:latin typeface="Courier New" pitchFamily="49" charset="0"/>
              <a:ea typeface="黑体" pitchFamily="49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黑体" pitchFamily="49" charset="-122"/>
                <a:cs typeface="Courier New" pitchFamily="49" charset="0"/>
              </a:rPr>
              <a:t>   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print("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三角形面积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AutoShape 44"/>
          <p:cNvSpPr>
            <a:spLocks noChangeArrowheads="1"/>
          </p:cNvSpPr>
          <p:nvPr/>
        </p:nvSpPr>
        <p:spPr bwMode="gray">
          <a:xfrm>
            <a:off x="176108" y="4498125"/>
            <a:ext cx="4465428" cy="61277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</a:rPr>
              <a:t>2:</a:t>
            </a:r>
            <a:r>
              <a:rPr lang="zh-CN" altLang="en-US" sz="1800">
                <a:latin typeface="微软雅黑" pitchFamily="34" charset="-122"/>
                <a:ea typeface="微软雅黑" pitchFamily="34" charset="-122"/>
              </a:rPr>
              <a:t>不能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构成三角形的信息没有显示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374579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" grpId="0" animBg="1"/>
      <p:bldP spid="9227" grpId="0" animBg="1"/>
      <p:bldP spid="17" grpId="0" animBg="1"/>
      <p:bldP spid="25" grpId="0"/>
      <p:bldP spid="26" grpId="0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ChangeArrowheads="1"/>
          </p:cNvSpPr>
          <p:nvPr/>
        </p:nvSpPr>
        <p:spPr bwMode="auto">
          <a:xfrm>
            <a:off x="381000" y="1264289"/>
            <a:ext cx="8763000" cy="284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65100" rIns="92075" bIns="165100"/>
          <a:lstStyle/>
          <a:p>
            <a:pPr algn="just"/>
            <a:r>
              <a:rPr lang="en-US" altLang="zh-CN" sz="320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sp>
        <p:nvSpPr>
          <p:cNvPr id="18435" name="Rectangle 1032"/>
          <p:cNvSpPr txBox="1">
            <a:spLocks noChangeArrowheads="1"/>
          </p:cNvSpPr>
          <p:nvPr/>
        </p:nvSpPr>
        <p:spPr bwMode="auto">
          <a:xfrm>
            <a:off x="251520" y="77676"/>
            <a:ext cx="67675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if…else</a:t>
            </a:r>
            <a:r>
              <a:rPr lang="zh-CN" altLang="en-US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双分支结构）例</a:t>
            </a:r>
          </a:p>
        </p:txBody>
      </p:sp>
      <p:sp>
        <p:nvSpPr>
          <p:cNvPr id="18436" name="TextBox 1"/>
          <p:cNvSpPr txBox="1">
            <a:spLocks noChangeArrowheads="1"/>
          </p:cNvSpPr>
          <p:nvPr/>
        </p:nvSpPr>
        <p:spPr bwMode="auto">
          <a:xfrm>
            <a:off x="103931" y="984205"/>
            <a:ext cx="903605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解决问题</a:t>
            </a:r>
            <a:r>
              <a:rPr lang="en-US" altLang="zh-CN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2:</a:t>
            </a:r>
            <a:r>
              <a:rPr lang="zh-CN" altLang="en-US" sz="20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输入三角形三边长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能否在输入边长不合理的情况下，</a:t>
            </a:r>
            <a:endParaRPr lang="en-US" altLang="zh-CN" sz="20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    </a:t>
            </a:r>
            <a:r>
              <a:rPr lang="zh-CN" altLang="en-US" sz="20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给出相应的友好提示？</a:t>
            </a:r>
          </a:p>
        </p:txBody>
      </p:sp>
      <p:sp>
        <p:nvSpPr>
          <p:cNvPr id="18437" name="灯片编号占位符 3"/>
          <p:cNvSpPr txBox="1">
            <a:spLocks/>
          </p:cNvSpPr>
          <p:nvPr/>
        </p:nvSpPr>
        <p:spPr bwMode="auto">
          <a:xfrm>
            <a:off x="4302125" y="4589463"/>
            <a:ext cx="733425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fld id="{BDB8A244-3C1C-4C33-A129-EFD4EC68F98A}" type="slidenum">
              <a:rPr kumimoji="0" lang="en-US" altLang="zh-CN" sz="1800">
                <a:solidFill>
                  <a:schemeClr val="bg1"/>
                </a:solidFill>
                <a:latin typeface="Arial Black" pitchFamily="34" charset="0"/>
                <a:ea typeface="楷体_GB2312" pitchFamily="49" charset="-122"/>
              </a:rPr>
              <a:pPr algn="ctr" eaLnBrk="1" hangingPunct="1">
                <a:lnSpc>
                  <a:spcPct val="120000"/>
                </a:lnSpc>
              </a:pPr>
              <a:t>42</a:t>
            </a:fld>
            <a:endParaRPr kumimoji="0" lang="en-US" altLang="zh-CN" sz="1800">
              <a:solidFill>
                <a:schemeClr val="bg1"/>
              </a:solidFill>
              <a:latin typeface="Arial Black" pitchFamily="34" charset="0"/>
              <a:ea typeface="楷体_GB2312" pitchFamily="49" charset="-122"/>
            </a:endParaRPr>
          </a:p>
        </p:txBody>
      </p:sp>
      <p:sp>
        <p:nvSpPr>
          <p:cNvPr id="18438" name="Text Box 1037"/>
          <p:cNvSpPr txBox="1">
            <a:spLocks noChangeArrowheads="1"/>
          </p:cNvSpPr>
          <p:nvPr/>
        </p:nvSpPr>
        <p:spPr bwMode="auto">
          <a:xfrm>
            <a:off x="5791200" y="4128616"/>
            <a:ext cx="10668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本章目录</a:t>
            </a:r>
          </a:p>
        </p:txBody>
      </p:sp>
      <p:sp>
        <p:nvSpPr>
          <p:cNvPr id="20" name="平行四边形 19"/>
          <p:cNvSpPr>
            <a:spLocks noChangeArrowheads="1"/>
          </p:cNvSpPr>
          <p:nvPr/>
        </p:nvSpPr>
        <p:spPr bwMode="auto">
          <a:xfrm>
            <a:off x="6523038" y="1726729"/>
            <a:ext cx="1611312" cy="376237"/>
          </a:xfrm>
          <a:prstGeom prst="parallelogram">
            <a:avLst>
              <a:gd name="adj" fmla="val 24943"/>
            </a:avLst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cxnSp>
        <p:nvCxnSpPr>
          <p:cNvPr id="18440" name="直接箭头连接符 3"/>
          <p:cNvCxnSpPr>
            <a:cxnSpLocks noChangeShapeType="1"/>
          </p:cNvCxnSpPr>
          <p:nvPr/>
        </p:nvCxnSpPr>
        <p:spPr bwMode="auto">
          <a:xfrm>
            <a:off x="7161213" y="2302991"/>
            <a:ext cx="0" cy="21590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6" name="菱形 4"/>
          <p:cNvSpPr>
            <a:spLocks noChangeArrowheads="1"/>
          </p:cNvSpPr>
          <p:nvPr/>
        </p:nvSpPr>
        <p:spPr bwMode="auto">
          <a:xfrm>
            <a:off x="6300788" y="2396654"/>
            <a:ext cx="1847850" cy="587375"/>
          </a:xfrm>
          <a:prstGeom prst="diamond">
            <a:avLst/>
          </a:prstGeom>
          <a:noFill/>
          <a:ln w="25400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边长合理？</a:t>
            </a:r>
          </a:p>
        </p:txBody>
      </p:sp>
      <p:cxnSp>
        <p:nvCxnSpPr>
          <p:cNvPr id="28" name="直接连接符 7"/>
          <p:cNvCxnSpPr>
            <a:cxnSpLocks noChangeShapeType="1"/>
            <a:stCxn id="26" idx="3"/>
          </p:cNvCxnSpPr>
          <p:nvPr/>
        </p:nvCxnSpPr>
        <p:spPr bwMode="auto">
          <a:xfrm>
            <a:off x="8148638" y="2690341"/>
            <a:ext cx="236537" cy="0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29" name="直接连接符 15"/>
          <p:cNvCxnSpPr>
            <a:cxnSpLocks noChangeShapeType="1"/>
          </p:cNvCxnSpPr>
          <p:nvPr/>
        </p:nvCxnSpPr>
        <p:spPr bwMode="auto">
          <a:xfrm flipH="1" flipV="1">
            <a:off x="8385175" y="2690341"/>
            <a:ext cx="0" cy="371475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0" name="直接连接符 19"/>
          <p:cNvCxnSpPr>
            <a:cxnSpLocks noChangeShapeType="1"/>
          </p:cNvCxnSpPr>
          <p:nvPr/>
        </p:nvCxnSpPr>
        <p:spPr bwMode="auto">
          <a:xfrm>
            <a:off x="7208838" y="3817466"/>
            <a:ext cx="1176337" cy="0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1" name="直接连接符 30"/>
          <p:cNvCxnSpPr>
            <a:cxnSpLocks noChangeShapeType="1"/>
          </p:cNvCxnSpPr>
          <p:nvPr/>
        </p:nvCxnSpPr>
        <p:spPr bwMode="auto">
          <a:xfrm flipH="1" flipV="1">
            <a:off x="7218363" y="2102966"/>
            <a:ext cx="6350" cy="293688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5797550" y="2237904"/>
            <a:ext cx="1077913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808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800">
              <a:solidFill>
                <a:srgbClr val="808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680325" y="2199804"/>
            <a:ext cx="9350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 flipV="1">
            <a:off x="7250113" y="3863504"/>
            <a:ext cx="0" cy="481012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8" name="直接连接符 7"/>
          <p:cNvCxnSpPr>
            <a:cxnSpLocks noChangeShapeType="1"/>
          </p:cNvCxnSpPr>
          <p:nvPr/>
        </p:nvCxnSpPr>
        <p:spPr bwMode="auto">
          <a:xfrm>
            <a:off x="6045200" y="2691929"/>
            <a:ext cx="236538" cy="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39" name="直接连接符 15"/>
          <p:cNvCxnSpPr>
            <a:cxnSpLocks noChangeShapeType="1"/>
            <a:stCxn id="41" idx="0"/>
          </p:cNvCxnSpPr>
          <p:nvPr/>
        </p:nvCxnSpPr>
        <p:spPr bwMode="auto">
          <a:xfrm flipH="1" flipV="1">
            <a:off x="6042640" y="2689071"/>
            <a:ext cx="7405" cy="393978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0" name="直接连接符 19"/>
          <p:cNvCxnSpPr>
            <a:cxnSpLocks noChangeShapeType="1"/>
          </p:cNvCxnSpPr>
          <p:nvPr/>
        </p:nvCxnSpPr>
        <p:spPr bwMode="auto">
          <a:xfrm>
            <a:off x="6054725" y="3838104"/>
            <a:ext cx="1176338" cy="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41" name="矩形 5"/>
          <p:cNvSpPr>
            <a:spLocks noChangeArrowheads="1"/>
          </p:cNvSpPr>
          <p:nvPr/>
        </p:nvSpPr>
        <p:spPr bwMode="auto">
          <a:xfrm>
            <a:off x="5186045" y="3083049"/>
            <a:ext cx="1728000" cy="360000"/>
          </a:xfrm>
          <a:prstGeom prst="rect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808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计算面积并显示</a:t>
            </a:r>
          </a:p>
        </p:txBody>
      </p:sp>
      <p:sp>
        <p:nvSpPr>
          <p:cNvPr id="42" name="矩形 5"/>
          <p:cNvSpPr>
            <a:spLocks noChangeArrowheads="1"/>
          </p:cNvSpPr>
          <p:nvPr/>
        </p:nvSpPr>
        <p:spPr bwMode="auto">
          <a:xfrm>
            <a:off x="7700352" y="3083049"/>
            <a:ext cx="1296000" cy="360000"/>
          </a:xfrm>
          <a:prstGeom prst="rect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提示</a:t>
            </a:r>
          </a:p>
        </p:txBody>
      </p:sp>
      <p:cxnSp>
        <p:nvCxnSpPr>
          <p:cNvPr id="44" name="直接连接符 15"/>
          <p:cNvCxnSpPr>
            <a:cxnSpLocks noChangeShapeType="1"/>
          </p:cNvCxnSpPr>
          <p:nvPr/>
        </p:nvCxnSpPr>
        <p:spPr bwMode="auto">
          <a:xfrm flipH="1" flipV="1">
            <a:off x="6070600" y="3447579"/>
            <a:ext cx="0" cy="387350"/>
          </a:xfrm>
          <a:prstGeom prst="line">
            <a:avLst/>
          </a:prstGeom>
          <a:noFill/>
          <a:ln w="28575" algn="ctr">
            <a:solidFill>
              <a:srgbClr val="8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46" name="直接连接符 15"/>
          <p:cNvCxnSpPr>
            <a:cxnSpLocks noChangeShapeType="1"/>
          </p:cNvCxnSpPr>
          <p:nvPr/>
        </p:nvCxnSpPr>
        <p:spPr bwMode="auto">
          <a:xfrm flipV="1">
            <a:off x="8385175" y="3452341"/>
            <a:ext cx="3175" cy="365125"/>
          </a:xfrm>
          <a:prstGeom prst="line">
            <a:avLst/>
          </a:prstGeom>
          <a:noFill/>
          <a:ln w="285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133666" y="2190417"/>
            <a:ext cx="4941572" cy="245463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import math                     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(input("</a:t>
            </a:r>
            <a:r>
              <a:rPr lang="zh-CN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a,b,c: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a+b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c and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b+c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a and </a:t>
            </a:r>
            <a:r>
              <a:rPr lang="en-US" altLang="zh-CN" sz="16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c+a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&gt; 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b 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t=(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a+b+c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)/2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area=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math.sqrt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(t*(t-a)*(t-b)*(t-c))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三角形面积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=",area)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		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不能构成三角形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935974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  <p:bldP spid="32" grpId="0"/>
      <p:bldP spid="33" grpId="0"/>
      <p:bldP spid="41" grpId="0" animBg="1"/>
      <p:bldP spid="4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09793" y="176790"/>
            <a:ext cx="7342187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kumimoji="1" lang="en-US" altLang="zh-CN" sz="2400" b="1" kern="1200" spc="-1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if…</a:t>
            </a:r>
            <a:r>
              <a:rPr kumimoji="1" lang="en-US" altLang="zh-CN" sz="2400" b="1" kern="1200" spc="-1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kumimoji="1" lang="en-US" altLang="zh-CN" sz="2400" b="1" kern="1200" spc="-1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…else</a:t>
            </a:r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语句（多分支</a:t>
            </a:r>
            <a:r>
              <a:rPr lang="zh-CN" altLang="en-US" sz="24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结构）例 </a:t>
            </a:r>
            <a:endParaRPr lang="zh-CN" altLang="en-US" sz="2400" b="1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107950" y="1058863"/>
            <a:ext cx="8640763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zh-CN" sz="1800">
                <a:latin typeface="微软雅黑" pitchFamily="34" charset="-122"/>
                <a:ea typeface="微软雅黑" pitchFamily="34" charset="-122"/>
              </a:rPr>
              <a:t>进一步思考</a:t>
            </a:r>
            <a:r>
              <a:rPr lang="en-US" altLang="zh-CN" sz="1800"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输入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三角形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三边长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a</a:t>
            </a: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b</a:t>
            </a: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、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c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，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判断是何种类型三角形？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	     </a:t>
            </a: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边长不合理、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等边、等腰、任意</a:t>
            </a:r>
          </a:p>
        </p:txBody>
      </p:sp>
      <p:sp>
        <p:nvSpPr>
          <p:cNvPr id="12" name="平行四边形 11"/>
          <p:cNvSpPr>
            <a:spLocks noChangeArrowheads="1"/>
          </p:cNvSpPr>
          <p:nvPr/>
        </p:nvSpPr>
        <p:spPr bwMode="auto">
          <a:xfrm>
            <a:off x="73865" y="2094961"/>
            <a:ext cx="1608137" cy="275177"/>
          </a:xfrm>
          <a:prstGeom prst="parallelogram">
            <a:avLst>
              <a:gd name="adj" fmla="val 24897"/>
            </a:avLst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输入三条边长</a:t>
            </a:r>
          </a:p>
        </p:txBody>
      </p:sp>
      <p:sp>
        <p:nvSpPr>
          <p:cNvPr id="14" name="菱形 4"/>
          <p:cNvSpPr>
            <a:spLocks noChangeArrowheads="1"/>
          </p:cNvSpPr>
          <p:nvPr/>
        </p:nvSpPr>
        <p:spPr bwMode="auto">
          <a:xfrm>
            <a:off x="35496" y="2640447"/>
            <a:ext cx="1656000" cy="354732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边长不合理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？</a:t>
            </a:r>
          </a:p>
        </p:txBody>
      </p: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flipV="1">
            <a:off x="862239" y="2370138"/>
            <a:ext cx="0" cy="25241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561352" y="2466975"/>
            <a:ext cx="93503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490127" y="3851592"/>
            <a:ext cx="828000" cy="221599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cxnSp>
        <p:nvCxnSpPr>
          <p:cNvPr id="38" name="直接连接符 37"/>
          <p:cNvCxnSpPr>
            <a:cxnSpLocks noChangeShapeType="1"/>
            <a:stCxn id="14" idx="2"/>
          </p:cNvCxnSpPr>
          <p:nvPr/>
        </p:nvCxnSpPr>
        <p:spPr bwMode="auto">
          <a:xfrm>
            <a:off x="863496" y="2995179"/>
            <a:ext cx="0" cy="85641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48" name="菱形 4"/>
          <p:cNvSpPr>
            <a:spLocks noChangeArrowheads="1"/>
          </p:cNvSpPr>
          <p:nvPr/>
        </p:nvSpPr>
        <p:spPr bwMode="auto">
          <a:xfrm>
            <a:off x="1187624" y="2959100"/>
            <a:ext cx="1916113" cy="330200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等边三角形</a:t>
            </a:r>
          </a:p>
        </p:txBody>
      </p:sp>
      <p:sp>
        <p:nvSpPr>
          <p:cNvPr id="49" name="菱形 4"/>
          <p:cNvSpPr>
            <a:spLocks noChangeArrowheads="1"/>
          </p:cNvSpPr>
          <p:nvPr/>
        </p:nvSpPr>
        <p:spPr bwMode="auto">
          <a:xfrm>
            <a:off x="2555776" y="3289300"/>
            <a:ext cx="1836000" cy="331788"/>
          </a:xfrm>
          <a:prstGeom prst="diamond">
            <a:avLst/>
          </a:prstGeom>
          <a:noFill/>
          <a:ln w="1270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等腰三角形</a:t>
            </a:r>
          </a:p>
        </p:txBody>
      </p:sp>
      <p:cxnSp>
        <p:nvCxnSpPr>
          <p:cNvPr id="53" name="直接连接符 52"/>
          <p:cNvCxnSpPr>
            <a:cxnSpLocks noChangeShapeType="1"/>
            <a:endCxn id="14" idx="3"/>
          </p:cNvCxnSpPr>
          <p:nvPr/>
        </p:nvCxnSpPr>
        <p:spPr bwMode="auto">
          <a:xfrm flipH="1" flipV="1">
            <a:off x="1691496" y="2817813"/>
            <a:ext cx="426404" cy="1896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 flipV="1">
            <a:off x="2117899" y="2793867"/>
            <a:ext cx="0" cy="165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3" name="直接连接符 62"/>
          <p:cNvCxnSpPr>
            <a:cxnSpLocks noChangeShapeType="1"/>
            <a:endCxn id="48" idx="3"/>
          </p:cNvCxnSpPr>
          <p:nvPr/>
        </p:nvCxnSpPr>
        <p:spPr bwMode="auto">
          <a:xfrm flipH="1">
            <a:off x="3103737" y="3114675"/>
            <a:ext cx="342365" cy="95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4" name="直接连接符 63"/>
          <p:cNvCxnSpPr>
            <a:cxnSpLocks noChangeShapeType="1"/>
          </p:cNvCxnSpPr>
          <p:nvPr/>
        </p:nvCxnSpPr>
        <p:spPr bwMode="auto">
          <a:xfrm flipV="1">
            <a:off x="3450857" y="3114675"/>
            <a:ext cx="0" cy="165100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5" name="直接连接符 64"/>
          <p:cNvCxnSpPr>
            <a:cxnSpLocks noChangeShapeType="1"/>
          </p:cNvCxnSpPr>
          <p:nvPr/>
        </p:nvCxnSpPr>
        <p:spPr bwMode="auto">
          <a:xfrm flipH="1">
            <a:off x="4213462" y="3452813"/>
            <a:ext cx="499986" cy="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6" name="直接连接符 65"/>
          <p:cNvCxnSpPr>
            <a:cxnSpLocks noChangeShapeType="1"/>
          </p:cNvCxnSpPr>
          <p:nvPr/>
        </p:nvCxnSpPr>
        <p:spPr bwMode="auto">
          <a:xfrm flipV="1">
            <a:off x="4713448" y="3455989"/>
            <a:ext cx="1" cy="368619"/>
          </a:xfrm>
          <a:prstGeom prst="line">
            <a:avLst/>
          </a:prstGeom>
          <a:noFill/>
          <a:ln w="12700" algn="ctr">
            <a:solidFill>
              <a:srgbClr val="000066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69" name="直接连接符 68"/>
          <p:cNvCxnSpPr>
            <a:cxnSpLocks noChangeShapeType="1"/>
          </p:cNvCxnSpPr>
          <p:nvPr/>
        </p:nvCxnSpPr>
        <p:spPr bwMode="auto">
          <a:xfrm flipH="1">
            <a:off x="2147218" y="3289300"/>
            <a:ext cx="0" cy="535308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71" name="矩形 5"/>
          <p:cNvSpPr>
            <a:spLocks noChangeArrowheads="1"/>
          </p:cNvSpPr>
          <p:nvPr/>
        </p:nvSpPr>
        <p:spPr bwMode="auto">
          <a:xfrm>
            <a:off x="1749143" y="3824608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sp>
        <p:nvSpPr>
          <p:cNvPr id="72" name="矩形 5"/>
          <p:cNvSpPr>
            <a:spLocks noChangeArrowheads="1"/>
          </p:cNvSpPr>
          <p:nvPr/>
        </p:nvSpPr>
        <p:spPr bwMode="auto">
          <a:xfrm>
            <a:off x="3081576" y="3851592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sp>
        <p:nvSpPr>
          <p:cNvPr id="73" name="矩形 5"/>
          <p:cNvSpPr>
            <a:spLocks noChangeArrowheads="1"/>
          </p:cNvSpPr>
          <p:nvPr/>
        </p:nvSpPr>
        <p:spPr bwMode="auto">
          <a:xfrm>
            <a:off x="4279156" y="3803175"/>
            <a:ext cx="828000" cy="2232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提示信息</a:t>
            </a:r>
          </a:p>
        </p:txBody>
      </p:sp>
      <p:cxnSp>
        <p:nvCxnSpPr>
          <p:cNvPr id="76" name="直接连接符 75"/>
          <p:cNvCxnSpPr>
            <a:cxnSpLocks noChangeShapeType="1"/>
            <a:stCxn id="49" idx="2"/>
          </p:cNvCxnSpPr>
          <p:nvPr/>
        </p:nvCxnSpPr>
        <p:spPr bwMode="auto">
          <a:xfrm>
            <a:off x="3473776" y="3621088"/>
            <a:ext cx="1162" cy="24765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1" name="直接连接符 80"/>
          <p:cNvCxnSpPr>
            <a:cxnSpLocks noChangeShapeType="1"/>
            <a:stCxn id="26" idx="2"/>
          </p:cNvCxnSpPr>
          <p:nvPr/>
        </p:nvCxnSpPr>
        <p:spPr bwMode="auto">
          <a:xfrm>
            <a:off x="904127" y="4073191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>
            <a:off x="2148062" y="4044950"/>
            <a:ext cx="0" cy="2190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3" name="直接连接符 82"/>
          <p:cNvCxnSpPr>
            <a:cxnSpLocks noChangeShapeType="1"/>
          </p:cNvCxnSpPr>
          <p:nvPr/>
        </p:nvCxnSpPr>
        <p:spPr bwMode="auto">
          <a:xfrm>
            <a:off x="3495576" y="4071938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4" name="直接连接符 83"/>
          <p:cNvCxnSpPr>
            <a:cxnSpLocks noChangeShapeType="1"/>
          </p:cNvCxnSpPr>
          <p:nvPr/>
        </p:nvCxnSpPr>
        <p:spPr bwMode="auto">
          <a:xfrm>
            <a:off x="4713449" y="4071772"/>
            <a:ext cx="0" cy="2016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86" name="直接连接符 85"/>
          <p:cNvCxnSpPr>
            <a:cxnSpLocks noChangeShapeType="1"/>
          </p:cNvCxnSpPr>
          <p:nvPr/>
        </p:nvCxnSpPr>
        <p:spPr bwMode="auto">
          <a:xfrm flipH="1">
            <a:off x="877933" y="4264025"/>
            <a:ext cx="3835515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0" name="直接连接符 89"/>
          <p:cNvCxnSpPr>
            <a:cxnSpLocks noChangeShapeType="1"/>
          </p:cNvCxnSpPr>
          <p:nvPr/>
        </p:nvCxnSpPr>
        <p:spPr bwMode="auto">
          <a:xfrm>
            <a:off x="2873824" y="4273372"/>
            <a:ext cx="0" cy="2190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sp>
        <p:nvSpPr>
          <p:cNvPr id="91" name="TextBox 90"/>
          <p:cNvSpPr txBox="1">
            <a:spLocks noChangeArrowheads="1"/>
          </p:cNvSpPr>
          <p:nvPr/>
        </p:nvSpPr>
        <p:spPr bwMode="auto">
          <a:xfrm>
            <a:off x="323528" y="2959100"/>
            <a:ext cx="107791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3118734" y="2812455"/>
            <a:ext cx="93503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3995936" y="3157017"/>
            <a:ext cx="935037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1624187" y="3214688"/>
            <a:ext cx="107791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2866926" y="3519910"/>
            <a:ext cx="107791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5156138" y="1710870"/>
            <a:ext cx="3928020" cy="3156859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600"/>
              </a:spcBef>
            </a:pPr>
            <a:r>
              <a:rPr lang="en-US" altLang="zh-CN" sz="1600" spc="-1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</a:t>
            </a:r>
            <a:r>
              <a:rPr lang="en-US" altLang="zh-CN" sz="1600" spc="-1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</a:t>
            </a:r>
            <a:r>
              <a:rPr lang="en-US" altLang="zh-CN" sz="1600" spc="-1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eval</a:t>
            </a:r>
            <a:r>
              <a:rPr lang="en-US" altLang="zh-CN" sz="1600" spc="-1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(input("</a:t>
            </a:r>
            <a:r>
              <a:rPr lang="zh-CN" altLang="zh-CN" sz="1600" spc="-1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</a:t>
            </a:r>
            <a:r>
              <a:rPr lang="en-US" altLang="zh-CN" sz="1600" spc="-1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a,b,c: </a:t>
            </a:r>
            <a:r>
              <a:rPr lang="en-US" altLang="zh-CN" sz="1600" spc="-1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  <a:endParaRPr lang="zh-CN" altLang="zh-CN" sz="1600" spc="-1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600" spc="-1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not(a+b&gt;c and b+c&gt;a and c+a&gt;b):</a:t>
            </a:r>
            <a:endParaRPr lang="zh-CN" altLang="zh-CN" sz="1600" spc="-1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不能构成三角形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spc="-1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a==b and b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==c: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等边三角形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spc="-1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a==b or b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==c or a==c: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等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腰</a:t>
            </a:r>
            <a:r>
              <a:rPr lang="zh-CN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 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spc="-1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						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任意三角形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740106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0" grpId="0"/>
      <p:bldP spid="26" grpId="0" animBg="1"/>
      <p:bldP spid="48" grpId="0" animBg="1"/>
      <p:bldP spid="49" grpId="0" animBg="1"/>
      <p:bldP spid="71" grpId="0" animBg="1"/>
      <p:bldP spid="72" grpId="0" animBg="1"/>
      <p:bldP spid="73" grpId="0" animBg="1"/>
      <p:bldP spid="91" grpId="0"/>
      <p:bldP spid="92" grpId="0"/>
      <p:bldP spid="93" grpId="0"/>
      <p:bldP spid="100" grpId="0"/>
      <p:bldP spid="10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198438" y="843558"/>
            <a:ext cx="8686800" cy="42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输入一个学生百分制成绩转换成五级制。</a:t>
            </a:r>
            <a:endParaRPr lang="zh-CN" altLang="en-US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5603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71624" y="221452"/>
            <a:ext cx="3078163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400" b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多分支结构应用例</a:t>
            </a: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323528" y="1600774"/>
            <a:ext cx="3816424" cy="3083145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mark=int(input("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输入成绩：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mark&gt;=90: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mark&gt;=80: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mark&gt;=70: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mark&gt;=60: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不及格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五级制成绩为：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",grade)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20072" y="1548917"/>
            <a:ext cx="39239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思考：如下改动能实现正确转换？</a:t>
            </a: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5073523" y="2018008"/>
            <a:ext cx="3816424" cy="3083145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mark=int(input("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输入成绩：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mark&gt;=60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grade="</a:t>
            </a:r>
            <a:r>
              <a:rPr lang="zh-CN" altLang="en-US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mark&gt;=80: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mark&gt;=70: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 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mark&gt;=90: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grade="</a:t>
            </a:r>
            <a:r>
              <a:rPr lang="zh-CN" altLang="en-US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不及格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en-US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五级制成绩为：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",grade)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41509" y="728261"/>
            <a:ext cx="4816573" cy="604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&gt;=90    80~89   70~79  60~69   &lt;60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altLang="zh-CN" sz="18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              良               中        及格      不及格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267744" y="2355726"/>
            <a:ext cx="1656184" cy="37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-6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80&lt;mark&lt;=89</a:t>
            </a:r>
            <a:endParaRPr lang="zh-CN" altLang="en-US" sz="1600" spc="-6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042650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7" grpId="0" animBg="1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04800" y="681038"/>
            <a:ext cx="8610600" cy="70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spcBef>
                <a:spcPct val="0"/>
              </a:spcBef>
              <a:buClr>
                <a:srgbClr val="990033"/>
              </a:buClr>
              <a:buFont typeface="Wingdings" pitchFamily="2" charset="2"/>
              <a:buNone/>
            </a:pPr>
            <a:r>
              <a:rPr lang="zh-CN" altLang="en-US" sz="2000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计算机最擅长的功能之一</a:t>
            </a:r>
            <a:r>
              <a:rPr lang="en-US" altLang="zh-CN" sz="2000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</a:p>
          <a:p>
            <a:pPr algn="just">
              <a:spcBef>
                <a:spcPct val="0"/>
              </a:spcBef>
              <a:buClr>
                <a:srgbClr val="990033"/>
              </a:buClr>
              <a:buFont typeface="Wingdings" pitchFamily="2" charset="2"/>
              <a:buNone/>
            </a:pPr>
            <a:r>
              <a:rPr lang="en-US" altLang="zh-CN" sz="2000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</a:t>
            </a:r>
            <a:r>
              <a:rPr lang="zh-CN" altLang="en-US" sz="2000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按规定的条件，重复执行某些操作。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27584" y="1667781"/>
            <a:ext cx="691053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15000"/>
              </a:lnSpc>
              <a:spcBef>
                <a:spcPct val="30000"/>
              </a:spcBef>
              <a:buFontTx/>
              <a:buNone/>
            </a:pPr>
            <a:r>
              <a:rPr kumimoji="1"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Python</a:t>
            </a:r>
            <a:r>
              <a:rPr kumimoji="1"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中提供了主要的两类</a:t>
            </a:r>
            <a:r>
              <a:rPr kumimoji="1"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</a:t>
            </a:r>
            <a:r>
              <a:rPr kumimoji="1" lang="en-US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kumimoji="1" lang="zh-CN" altLang="en-US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457200" lvl="1" indent="0">
              <a:lnSpc>
                <a:spcPct val="115000"/>
              </a:lnSpc>
              <a:spcBef>
                <a:spcPct val="30000"/>
              </a:spcBef>
              <a:buClr>
                <a:srgbClr val="A50021"/>
              </a:buClr>
              <a:buNone/>
            </a:pP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lang="en-US" altLang="zh-CN" sz="20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kumimoji="1"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kumimoji="1"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kumimoji="1"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一般已知循环次数）；</a:t>
            </a:r>
          </a:p>
          <a:p>
            <a:pPr marL="457200" lvl="1" indent="0">
              <a:lnSpc>
                <a:spcPct val="115000"/>
              </a:lnSpc>
              <a:spcBef>
                <a:spcPct val="30000"/>
              </a:spcBef>
              <a:buClr>
                <a:srgbClr val="A50021"/>
              </a:buClr>
              <a:buNone/>
            </a:pPr>
            <a:r>
              <a:rPr lang="zh-CN" altLang="en-US" sz="20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￭ </a:t>
            </a:r>
            <a:r>
              <a:rPr lang="en-US" altLang="zh-CN" sz="20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一般未知循环次数</a:t>
            </a: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 </a:t>
            </a:r>
            <a:endParaRPr lang="en-US" altLang="zh-CN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lvl="1">
              <a:lnSpc>
                <a:spcPct val="115000"/>
              </a:lnSpc>
              <a:spcBef>
                <a:spcPct val="30000"/>
              </a:spcBef>
              <a:buClr>
                <a:srgbClr val="A50021"/>
              </a:buClr>
              <a:buFont typeface="Wingdings" pitchFamily="2" charset="2"/>
              <a:buChar char="u"/>
            </a:pPr>
            <a:endParaRPr kumimoji="1" lang="zh-CN" altLang="en-US" sz="2000" b="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endParaRPr lang="en-US" altLang="zh-CN" sz="2000" b="0" dirty="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-1116632" y="-68389"/>
            <a:ext cx="8424863" cy="942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61" tIns="46031" rIns="92061" bIns="46031">
            <a:spAutoFit/>
          </a:bodyPr>
          <a:lstStyle>
            <a:lvl1pPr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defTabSz="639763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defTabSz="6397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4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循环</a:t>
            </a:r>
            <a:r>
              <a:rPr lang="zh-CN" altLang="en-US" sz="4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695514623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23528" y="223203"/>
            <a:ext cx="8820472" cy="116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1: </a:t>
            </a:r>
            <a:endParaRPr lang="en-US" altLang="zh-CN" sz="18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8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一个学生成绩进行百分制转换成五级制，现在要将一个班级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个学生成绩转换，如何实现？</a:t>
            </a:r>
          </a:p>
        </p:txBody>
      </p:sp>
      <p:sp>
        <p:nvSpPr>
          <p:cNvPr id="26" name="AutoShape 44"/>
          <p:cNvSpPr>
            <a:spLocks noChangeArrowheads="1"/>
          </p:cNvSpPr>
          <p:nvPr/>
        </p:nvSpPr>
        <p:spPr bwMode="gray">
          <a:xfrm>
            <a:off x="329345" y="1574400"/>
            <a:ext cx="2736304" cy="236550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1200"/>
              </a:spcBef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range(1,101):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黑体" pitchFamily="49" charset="-122"/>
              </a:rPr>
              <a:t>　 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输入一个学生成绩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1200"/>
              </a:spcBef>
            </a:pP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1200"/>
              </a:spcBef>
            </a:pP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12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　  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输出转换结果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左箭头 26"/>
          <p:cNvSpPr/>
          <p:nvPr/>
        </p:nvSpPr>
        <p:spPr bwMode="auto">
          <a:xfrm>
            <a:off x="3059832" y="1872828"/>
            <a:ext cx="1872208" cy="1283910"/>
          </a:xfrm>
          <a:prstGeom prst="leftArrow">
            <a:avLst/>
          </a:prstGeom>
          <a:noFill/>
          <a:ln w="9525" cap="flat" cmpd="sng" algn="ctr">
            <a:solidFill>
              <a:srgbClr val="6666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一个学生成绩转换功能</a:t>
            </a:r>
            <a:endParaRPr kumimoji="1" lang="zh-CN" altLang="en-US" sz="1800" i="0" u="none" strike="noStrike" cap="none" normalizeH="0" baseline="0" dirty="0">
              <a:ln>
                <a:noFill/>
              </a:ln>
              <a:solidFill>
                <a:srgbClr val="A5002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AutoShape 44"/>
          <p:cNvSpPr>
            <a:spLocks noChangeArrowheads="1"/>
          </p:cNvSpPr>
          <p:nvPr/>
        </p:nvSpPr>
        <p:spPr bwMode="gray">
          <a:xfrm>
            <a:off x="5148064" y="1223477"/>
            <a:ext cx="3240360" cy="3364497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&gt;=90: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&gt;=80: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&gt;=70: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&gt;=60: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</a:t>
            </a:r>
            <a:r>
              <a:rPr lang="zh-CN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en-US" altLang="zh-CN" sz="1600" dirty="0">
              <a:solidFill>
                <a:srgbClr val="000066"/>
              </a:solidFill>
              <a:latin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3782" y="2571963"/>
            <a:ext cx="1219946" cy="584775"/>
          </a:xfrm>
          <a:prstGeom prst="rect">
            <a:avLst/>
          </a:prstGeom>
          <a:solidFill>
            <a:srgbClr val="E4F3F3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一个学生成绩转换功能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51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395536" y="383332"/>
            <a:ext cx="882047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  <a:r>
              <a:rPr lang="en-US" altLang="zh-CN" sz="18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2: </a:t>
            </a:r>
            <a:endParaRPr lang="en-US" altLang="zh-CN" sz="18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若要处理若干个学生成绩，当输入成绩</a:t>
            </a:r>
            <a:r>
              <a:rPr lang="en-US" altLang="zh-CN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&lt;0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结束，如何实现？</a:t>
            </a:r>
          </a:p>
        </p:txBody>
      </p:sp>
      <p:sp>
        <p:nvSpPr>
          <p:cNvPr id="26" name="AutoShape 44"/>
          <p:cNvSpPr>
            <a:spLocks noChangeArrowheads="1"/>
          </p:cNvSpPr>
          <p:nvPr/>
        </p:nvSpPr>
        <p:spPr bwMode="gray">
          <a:xfrm>
            <a:off x="503548" y="1491630"/>
            <a:ext cx="2412268" cy="259261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ts val="0"/>
              </a:spcBef>
            </a:pPr>
            <a:r>
              <a:rPr lang="zh-CN" altLang="en-US" sz="1600" b="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读入一个人成绩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mark</a:t>
            </a:r>
          </a:p>
          <a:p>
            <a:pPr eaLnBrk="0" hangingPunct="0">
              <a:spcBef>
                <a:spcPts val="0"/>
              </a:spcBef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&gt;=0: </a:t>
            </a:r>
            <a:endParaRPr lang="en-US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</a:pPr>
            <a:endParaRPr lang="en-US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</a:pPr>
            <a:endParaRPr lang="en-US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</a:pPr>
            <a:endParaRPr lang="en-US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</a:pPr>
            <a:r>
              <a:rPr lang="zh-CN" altLang="en-US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　 </a:t>
            </a:r>
            <a:r>
              <a:rPr lang="zh-CN" altLang="en-US" sz="1600" b="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输出转换结果</a:t>
            </a:r>
            <a:endParaRPr lang="en-US" altLang="zh-CN" sz="1600" b="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spcBef>
                <a:spcPts val="0"/>
              </a:spcBef>
            </a:pPr>
            <a:r>
              <a:rPr lang="zh-CN" altLang="en-US" sz="1600" b="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　 读入下一个学生成绩</a:t>
            </a:r>
            <a:endParaRPr lang="en-US" altLang="zh-CN" sz="1600" b="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7" name="左箭头 26"/>
          <p:cNvSpPr/>
          <p:nvPr/>
        </p:nvSpPr>
        <p:spPr bwMode="auto">
          <a:xfrm>
            <a:off x="3203303" y="2109299"/>
            <a:ext cx="1605407" cy="1161633"/>
          </a:xfrm>
          <a:prstGeom prst="leftArrow">
            <a:avLst/>
          </a:prstGeom>
          <a:noFill/>
          <a:ln w="9525" cap="flat" cmpd="sng" algn="ctr">
            <a:solidFill>
              <a:srgbClr val="66663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一个学生成绩转换功能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A5002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44"/>
          <p:cNvSpPr>
            <a:spLocks noChangeArrowheads="1"/>
          </p:cNvSpPr>
          <p:nvPr/>
        </p:nvSpPr>
        <p:spPr bwMode="gray">
          <a:xfrm>
            <a:off x="5096197" y="1275606"/>
            <a:ext cx="3240360" cy="3481367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&gt;=90: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优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&gt;=80: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良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&gt;=70: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mark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&gt;=60: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  <a:endParaRPr lang="zh-CN" altLang="zh-CN" sz="1600" spc="-6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grade="</a:t>
            </a:r>
            <a:r>
              <a:rPr lang="zh-CN" altLang="zh-CN" sz="1600" spc="-6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不</a:t>
            </a:r>
            <a:r>
              <a:rPr lang="zh-CN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及格</a:t>
            </a:r>
            <a:r>
              <a:rPr lang="en-US" altLang="zh-CN" sz="1600" spc="-6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en-US" altLang="zh-CN" sz="1600" dirty="0">
              <a:solidFill>
                <a:srgbClr val="000066"/>
              </a:solidFill>
              <a:latin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5790" y="2491031"/>
            <a:ext cx="1219946" cy="584775"/>
          </a:xfrm>
          <a:prstGeom prst="rect">
            <a:avLst/>
          </a:prstGeom>
          <a:solidFill>
            <a:srgbClr val="E4F3F3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0" dirty="0">
                <a:latin typeface="微软雅黑" pitchFamily="34" charset="-122"/>
                <a:ea typeface="微软雅黑" pitchFamily="34" charset="-122"/>
              </a:rPr>
              <a:t>一个学生成绩转换功能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761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657" y="49714"/>
            <a:ext cx="64008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24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 </a:t>
            </a:r>
          </a:p>
        </p:txBody>
      </p:sp>
      <p:sp>
        <p:nvSpPr>
          <p:cNvPr id="2207747" name="Rectangle 3"/>
          <p:cNvSpPr>
            <a:spLocks noChangeArrowheads="1"/>
          </p:cNvSpPr>
          <p:nvPr/>
        </p:nvSpPr>
        <p:spPr bwMode="auto">
          <a:xfrm>
            <a:off x="1022250" y="1561969"/>
            <a:ext cx="4747998" cy="62389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00000"/>
              </a:lnSpc>
              <a:spcBef>
                <a:spcPts val="300"/>
              </a:spcBef>
            </a:pP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变量 </a:t>
            </a:r>
            <a:r>
              <a:rPr lang="en-US" altLang="zh-CN" sz="16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</a:t>
            </a:r>
            <a:r>
              <a:rPr lang="en-US" altLang="zh-CN" sz="16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序列</a:t>
            </a:r>
            <a:r>
              <a:rPr lang="en-US" altLang="zh-CN" sz="1600"/>
              <a:t>:</a:t>
            </a:r>
            <a:endParaRPr lang="en-US" altLang="zh-CN" sz="16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00000"/>
              </a:lnSpc>
              <a:spcBef>
                <a:spcPts val="30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16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2207756" name="Text Box 12"/>
          <p:cNvSpPr txBox="1">
            <a:spLocks noChangeArrowheads="1"/>
          </p:cNvSpPr>
          <p:nvPr/>
        </p:nvSpPr>
        <p:spPr bwMode="auto">
          <a:xfrm>
            <a:off x="243275" y="2284274"/>
            <a:ext cx="6043838" cy="888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作用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从左到右按顺序取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序列中的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一个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成员赋值给变量，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对每一次成功的赋值都执行一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次语句块（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循环体</a:t>
            </a:r>
            <a:r>
              <a:rPr lang="en-US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)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  <a:endParaRPr lang="zh-CN" altLang="en-US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3275" y="637412"/>
            <a:ext cx="8892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一般程序设计语言中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用于循环次数已知的循环结构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Python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中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，利用</a:t>
            </a:r>
            <a:r>
              <a:rPr lang="en-US" altLang="zh-CN" sz="1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</a:t>
            </a:r>
            <a:r>
              <a:rPr lang="zh-CN" altLang="zh-CN" sz="18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遍历序列中的成员。</a:t>
            </a:r>
            <a:endParaRPr lang="en-US" altLang="zh-CN" sz="18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633" y="1643028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形式</a:t>
            </a:r>
            <a:r>
              <a:rPr lang="en-US" altLang="zh-CN" sz="18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55" name="菱形 4"/>
          <p:cNvSpPr>
            <a:spLocks noChangeArrowheads="1"/>
          </p:cNvSpPr>
          <p:nvPr/>
        </p:nvSpPr>
        <p:spPr bwMode="auto">
          <a:xfrm>
            <a:off x="6277156" y="1883999"/>
            <a:ext cx="2541909" cy="733663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r>
              <a:rPr lang="zh-CN" altLang="zh-CN" sz="12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依次取序列中的一个元素赋值给变量</a:t>
            </a:r>
            <a:endParaRPr lang="zh-CN" altLang="en-US" sz="1200" b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7" name="直接连接符 8"/>
          <p:cNvCxnSpPr>
            <a:cxnSpLocks noChangeShapeType="1"/>
          </p:cNvCxnSpPr>
          <p:nvPr/>
        </p:nvCxnSpPr>
        <p:spPr bwMode="auto">
          <a:xfrm flipH="1">
            <a:off x="6173025" y="3609628"/>
            <a:ext cx="1374709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接连接符 9"/>
          <p:cNvCxnSpPr>
            <a:cxnSpLocks noChangeShapeType="1"/>
          </p:cNvCxnSpPr>
          <p:nvPr/>
        </p:nvCxnSpPr>
        <p:spPr bwMode="auto">
          <a:xfrm>
            <a:off x="7547734" y="1445474"/>
            <a:ext cx="0" cy="395108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直接连接符 12"/>
          <p:cNvCxnSpPr>
            <a:cxnSpLocks noChangeShapeType="1"/>
          </p:cNvCxnSpPr>
          <p:nvPr/>
        </p:nvCxnSpPr>
        <p:spPr bwMode="auto">
          <a:xfrm>
            <a:off x="7541194" y="3256310"/>
            <a:ext cx="2738" cy="375204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14"/>
          <p:cNvSpPr txBox="1">
            <a:spLocks noChangeArrowheads="1"/>
          </p:cNvSpPr>
          <p:nvPr/>
        </p:nvSpPr>
        <p:spPr bwMode="auto">
          <a:xfrm>
            <a:off x="8239155" y="1896430"/>
            <a:ext cx="1416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2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无元素可取</a:t>
            </a:r>
          </a:p>
        </p:txBody>
      </p:sp>
      <p:cxnSp>
        <p:nvCxnSpPr>
          <p:cNvPr id="61" name="直接连接符 30"/>
          <p:cNvCxnSpPr>
            <a:cxnSpLocks noChangeShapeType="1"/>
          </p:cNvCxnSpPr>
          <p:nvPr/>
        </p:nvCxnSpPr>
        <p:spPr bwMode="auto">
          <a:xfrm flipH="1">
            <a:off x="6154770" y="1628216"/>
            <a:ext cx="4729" cy="198141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直接连接符 31"/>
          <p:cNvCxnSpPr>
            <a:cxnSpLocks noChangeShapeType="1"/>
          </p:cNvCxnSpPr>
          <p:nvPr/>
        </p:nvCxnSpPr>
        <p:spPr bwMode="auto">
          <a:xfrm flipH="1" flipV="1">
            <a:off x="6154769" y="1645669"/>
            <a:ext cx="13661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接连接符 35"/>
          <p:cNvCxnSpPr>
            <a:cxnSpLocks noChangeShapeType="1"/>
            <a:stCxn id="55" idx="2"/>
          </p:cNvCxnSpPr>
          <p:nvPr/>
        </p:nvCxnSpPr>
        <p:spPr bwMode="auto">
          <a:xfrm flipH="1">
            <a:off x="7547357" y="2617662"/>
            <a:ext cx="754" cy="320286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矩形 5"/>
          <p:cNvSpPr>
            <a:spLocks noChangeArrowheads="1"/>
          </p:cNvSpPr>
          <p:nvPr/>
        </p:nvSpPr>
        <p:spPr bwMode="auto">
          <a:xfrm>
            <a:off x="6874310" y="2967863"/>
            <a:ext cx="1197456" cy="258532"/>
          </a:xfrm>
          <a:prstGeom prst="rect">
            <a:avLst/>
          </a:prstGeom>
          <a:solidFill>
            <a:srgbClr val="66CCFF"/>
          </a:solidFill>
          <a:ln w="19050" algn="ctr">
            <a:solidFill>
              <a:srgbClr val="666633"/>
            </a:solidFill>
            <a:round/>
            <a:headEnd/>
            <a:tailEnd/>
          </a:ln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语句块</a:t>
            </a:r>
          </a:p>
        </p:txBody>
      </p:sp>
      <p:cxnSp>
        <p:nvCxnSpPr>
          <p:cNvPr id="68" name="直接连接符 61"/>
          <p:cNvCxnSpPr>
            <a:cxnSpLocks noChangeShapeType="1"/>
          </p:cNvCxnSpPr>
          <p:nvPr/>
        </p:nvCxnSpPr>
        <p:spPr bwMode="auto">
          <a:xfrm flipH="1" flipV="1">
            <a:off x="8750333" y="2250830"/>
            <a:ext cx="261283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接连接符 63"/>
          <p:cNvCxnSpPr>
            <a:cxnSpLocks noChangeShapeType="1"/>
          </p:cNvCxnSpPr>
          <p:nvPr/>
        </p:nvCxnSpPr>
        <p:spPr bwMode="auto">
          <a:xfrm flipH="1">
            <a:off x="9011616" y="2262279"/>
            <a:ext cx="0" cy="136923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8"/>
          <p:cNvCxnSpPr>
            <a:cxnSpLocks noChangeShapeType="1"/>
          </p:cNvCxnSpPr>
          <p:nvPr/>
        </p:nvCxnSpPr>
        <p:spPr bwMode="auto">
          <a:xfrm flipH="1">
            <a:off x="7622580" y="3631514"/>
            <a:ext cx="1389036" cy="1227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直接连接符 73"/>
          <p:cNvCxnSpPr>
            <a:cxnSpLocks noChangeShapeType="1"/>
          </p:cNvCxnSpPr>
          <p:nvPr/>
        </p:nvCxnSpPr>
        <p:spPr bwMode="auto">
          <a:xfrm>
            <a:off x="7640093" y="3632741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矩形 5"/>
          <p:cNvSpPr>
            <a:spLocks noChangeArrowheads="1"/>
          </p:cNvSpPr>
          <p:nvPr/>
        </p:nvSpPr>
        <p:spPr bwMode="auto">
          <a:xfrm>
            <a:off x="6874310" y="3901220"/>
            <a:ext cx="1619250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bIns="0" anchor="ctr">
            <a:spAutoFit/>
          </a:bodyPr>
          <a:lstStyle/>
          <a:p>
            <a:pPr algn="ctr"/>
            <a:r>
              <a:rPr lang="en-US" altLang="zh-CN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en-US" sz="14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语句的下一语句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1032" y="4415190"/>
            <a:ext cx="2255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语句执行流程图</a:t>
            </a:r>
          </a:p>
        </p:txBody>
      </p:sp>
      <p:sp>
        <p:nvSpPr>
          <p:cNvPr id="45" name="AutoShape 44"/>
          <p:cNvSpPr>
            <a:spLocks noChangeArrowheads="1"/>
          </p:cNvSpPr>
          <p:nvPr/>
        </p:nvSpPr>
        <p:spPr bwMode="gray">
          <a:xfrm>
            <a:off x="243275" y="3249780"/>
            <a:ext cx="5408311" cy="1791955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: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）序列可以是常用的</a:t>
            </a:r>
            <a:r>
              <a:rPr lang="en-US" altLang="zh-CN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range()</a:t>
            </a:r>
            <a:r>
              <a:rPr lang="zh-CN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160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字符串、列表、元组、集合</a:t>
            </a:r>
            <a:r>
              <a:rPr lang="zh-CN" altLang="zh-CN" sz="16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等， </a:t>
            </a:r>
            <a:endParaRPr lang="en-US" altLang="zh-CN" sz="16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）循环的次数由序列中的成员个数决定。</a:t>
            </a:r>
          </a:p>
          <a:p>
            <a:pPr>
              <a:spcBef>
                <a:spcPts val="600"/>
              </a:spcBef>
            </a:pP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）书写规则序列后要有</a:t>
            </a:r>
            <a:r>
              <a:rPr lang="zh-CN" altLang="zh-CN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冒号、</a:t>
            </a:r>
            <a:r>
              <a:rPr lang="zh-CN" altLang="en-US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语句块</a:t>
            </a:r>
            <a:r>
              <a:rPr lang="zh-CN" altLang="zh-CN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要</a:t>
            </a:r>
            <a:r>
              <a:rPr lang="zh-CN" altLang="zh-CN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右缩排</a:t>
            </a:r>
            <a:r>
              <a:rPr lang="zh-CN" altLang="zh-CN" sz="160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7" name="TextBox 14"/>
          <p:cNvSpPr txBox="1">
            <a:spLocks noChangeArrowheads="1"/>
          </p:cNvSpPr>
          <p:nvPr/>
        </p:nvSpPr>
        <p:spPr bwMode="auto">
          <a:xfrm>
            <a:off x="7541194" y="2585308"/>
            <a:ext cx="1416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2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可取到元素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21622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7747" grpId="0" animBg="1"/>
      <p:bldP spid="2207756" grpId="0"/>
      <p:bldP spid="3" grpId="0"/>
      <p:bldP spid="55" grpId="0" animBg="1"/>
      <p:bldP spid="60" grpId="0"/>
      <p:bldP spid="65" grpId="0" animBg="1"/>
      <p:bldP spid="72" grpId="0" animBg="1"/>
      <p:bldP spid="34" grpId="0"/>
      <p:bldP spid="45" grpId="0" animBg="1"/>
      <p:bldP spid="2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3160" y="229629"/>
            <a:ext cx="9469400" cy="3105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range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函数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用于创建一个整数列表，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常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用于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for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语句中，实现循环控制的功能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形式：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range([start,]end[,step])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作用：产生一个以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start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初值，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end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为终值（不包含），步长为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step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的序列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    start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缺省为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step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缺省为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；函数返回的结果是一个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step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为步长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298682" y="2412814"/>
            <a:ext cx="8710637" cy="258781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:range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函数的使用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 [17]: list(range(10))       	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产生从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开始到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9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的数字序列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Out[17]: [0, 1, 2, 3, 4, 5, 6, 7, 8, 9]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 [18]: list(range(3,10))       	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产生从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开始到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9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的数字序列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Out[18]: [3, 4, 5, 6, 7, 8, 9]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 [19]: list(range(1,10,3))   		# 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产生从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开始、以步长为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、不到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</a:t>
            </a:r>
            <a:r>
              <a:rPr lang="zh-CN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的数字序列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Out[19]: [1, 4, 7]</a:t>
            </a:r>
            <a:endParaRPr lang="zh-CN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666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88" y="837987"/>
            <a:ext cx="8229600" cy="493563"/>
          </a:xfrm>
        </p:spPr>
        <p:txBody>
          <a:bodyPr/>
          <a:lstStyle/>
          <a:p>
            <a:pPr algn="l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1+2+3+……+100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的和</a:t>
            </a: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330240" y="1543972"/>
            <a:ext cx="4176464" cy="1130417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sum=0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range(1,101):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sum=sum+i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print("1+2+3+...+100=:",sum)</a:t>
            </a:r>
            <a:endParaRPr lang="zh-CN" altLang="en-US" sz="17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6" name="AutoShape 44"/>
          <p:cNvSpPr>
            <a:spLocks noChangeArrowheads="1"/>
          </p:cNvSpPr>
          <p:nvPr/>
        </p:nvSpPr>
        <p:spPr bwMode="gray">
          <a:xfrm>
            <a:off x="4788024" y="1955045"/>
            <a:ext cx="3528392" cy="477467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lang="zh-CN" altLang="en-US" sz="1700" b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思考</a:t>
            </a:r>
            <a:r>
              <a:rPr lang="en-US" altLang="zh-CN" sz="17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17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en-US" altLang="zh-CN" sz="17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1~100</a:t>
            </a:r>
            <a:r>
              <a:rPr lang="zh-CN" altLang="en-US" sz="170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的偶数和？</a:t>
            </a:r>
            <a:endParaRPr lang="zh-CN" altLang="zh-CN" sz="170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AutoShape 44"/>
          <p:cNvSpPr>
            <a:spLocks noChangeArrowheads="1"/>
          </p:cNvSpPr>
          <p:nvPr/>
        </p:nvSpPr>
        <p:spPr bwMode="gray">
          <a:xfrm>
            <a:off x="265464" y="3004939"/>
            <a:ext cx="4176464" cy="208709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indent="0">
              <a:buNone/>
            </a:pPr>
            <a:r>
              <a:rPr lang="zh-CN" altLang="en-US" sz="17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方法一、在循环体内加条件判断</a:t>
            </a:r>
            <a:endParaRPr lang="nn-NO" altLang="zh-CN" sz="17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sum=0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range(1,101):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i % 2==0:sum+=i</a:t>
            </a:r>
          </a:p>
          <a:p>
            <a:pPr marL="0" indent="0">
              <a:buNone/>
            </a:pPr>
            <a:r>
              <a:rPr lang="en-US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print("1~100</a:t>
            </a:r>
            <a:r>
              <a:rPr lang="zh-CN" altLang="en-US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的偶数和</a:t>
            </a:r>
            <a:r>
              <a:rPr lang="en-US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=:",sum)</a:t>
            </a:r>
            <a:endParaRPr lang="zh-CN" altLang="en-US" sz="17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8" name="AutoShape 44"/>
          <p:cNvSpPr>
            <a:spLocks noChangeArrowheads="1"/>
          </p:cNvSpPr>
          <p:nvPr/>
        </p:nvSpPr>
        <p:spPr bwMode="gray">
          <a:xfrm>
            <a:off x="4788024" y="3004938"/>
            <a:ext cx="4176464" cy="2074427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indent="0">
              <a:buNone/>
            </a:pPr>
            <a:r>
              <a:rPr lang="zh-CN" altLang="en-US" sz="17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方法二、在</a:t>
            </a:r>
            <a:r>
              <a:rPr lang="en-US" altLang="zh-CN" sz="17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range</a:t>
            </a:r>
            <a:r>
              <a:rPr lang="zh-CN" altLang="en-US" sz="17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函数中控制</a:t>
            </a:r>
            <a:endParaRPr lang="en-US" altLang="zh-CN" sz="17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sum=0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in range(2,101,2):</a:t>
            </a:r>
          </a:p>
          <a:p>
            <a:pPr marL="0" indent="0">
              <a:buNone/>
            </a:pPr>
            <a:r>
              <a:rPr lang="nn-NO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sum+=i</a:t>
            </a:r>
          </a:p>
          <a:p>
            <a:pPr marL="0" indent="0">
              <a:buNone/>
            </a:pPr>
            <a:r>
              <a:rPr lang="en-US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print("1~100</a:t>
            </a:r>
            <a:r>
              <a:rPr lang="zh-CN" altLang="en-US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的偶数和</a:t>
            </a:r>
            <a:r>
              <a:rPr lang="en-US" altLang="zh-CN" sz="17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=:",sum)</a:t>
            </a:r>
            <a:endParaRPr lang="zh-CN" altLang="en-US" sz="17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 txBox="1">
            <a:spLocks/>
          </p:cNvSpPr>
          <p:nvPr/>
        </p:nvSpPr>
        <p:spPr>
          <a:xfrm>
            <a:off x="158578" y="236341"/>
            <a:ext cx="8229600" cy="493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/>
            <a:r>
              <a:rPr kumimoji="0" lang="zh-CN" altLang="en-US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zh-CN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循环控制的序列是</a:t>
            </a:r>
            <a:r>
              <a:rPr kumimoji="0" lang="en-US" altLang="zh-CN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range()</a:t>
            </a:r>
            <a:r>
              <a:rPr kumimoji="0" lang="zh-CN" altLang="zh-CN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0" lang="zh-CN" altLang="en-US" sz="24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629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9575" y="745061"/>
            <a:ext cx="8281615" cy="932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zh-CN" altLang="en-US" sz="2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输入一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身份证号，判断其符合规则否？</a:t>
            </a:r>
            <a:endParaRPr lang="en-US" altLang="zh-CN" sz="18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规则：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长度为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18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位、前面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17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位数字、最后一位数字或“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”小写字母。</a:t>
            </a:r>
            <a:r>
              <a:rPr lang="en-US" altLang="zh-CN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            </a:t>
            </a:r>
            <a:endParaRPr lang="zh-CN" altLang="en-US" b="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1" name="AutoShape 44"/>
          <p:cNvSpPr>
            <a:spLocks noChangeArrowheads="1"/>
          </p:cNvSpPr>
          <p:nvPr/>
        </p:nvSpPr>
        <p:spPr bwMode="gray">
          <a:xfrm>
            <a:off x="22178" y="2263807"/>
            <a:ext cx="5196001" cy="2518268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zh-CN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法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no=input("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输入身份证号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:")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len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(no)!=18:			 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身份证长度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	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身份证位数不是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18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位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错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  <a:p>
            <a:pPr>
              <a:spcBef>
                <a:spcPts val="0"/>
              </a:spcBef>
            </a:pP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elif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no[-1] not in "0123456789x" :  #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最后一位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print("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最后一位非数字或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，错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else: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for 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in 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range(0,len(no)-1)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:   # 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前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17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位数字</a:t>
            </a:r>
            <a:endParaRPr lang="en-US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if no[</a:t>
            </a:r>
            <a:r>
              <a:rPr lang="en-US" altLang="zh-CN" sz="14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] not in "0123456789":</a:t>
            </a: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  print("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第 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",</a:t>
            </a:r>
            <a:r>
              <a:rPr lang="en-US" altLang="zh-CN" sz="14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i+1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 "</a:t>
            </a:r>
            <a:r>
              <a:rPr lang="zh-CN" altLang="en-US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位非数字</a:t>
            </a: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B972663-EF9E-4DF1-BCE4-89EFEBAFCD4E}"/>
              </a:ext>
            </a:extLst>
          </p:cNvPr>
          <p:cNvSpPr txBox="1">
            <a:spLocks/>
          </p:cNvSpPr>
          <p:nvPr/>
        </p:nvSpPr>
        <p:spPr>
          <a:xfrm>
            <a:off x="-3645" y="120418"/>
            <a:ext cx="8229600" cy="493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/>
            <a:r>
              <a:rPr kumimoji="0" lang="zh-CN" altLang="en-US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zh-CN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循环控制的序列是</a:t>
            </a:r>
            <a:r>
              <a:rPr kumimoji="0" lang="zh-CN" altLang="en-US" sz="2400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kumimoji="0" lang="zh-CN" altLang="en-US" sz="24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161002"/>
              </p:ext>
            </p:extLst>
          </p:nvPr>
        </p:nvGraphicFramePr>
        <p:xfrm>
          <a:off x="3255290" y="1643553"/>
          <a:ext cx="1792596" cy="60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66">
                  <a:extLst>
                    <a:ext uri="{9D8B030D-6E8A-4147-A177-3AD203B41FA5}">
                      <a16:colId xmlns:a16="http://schemas.microsoft.com/office/drawing/2014/main" val="558098072"/>
                    </a:ext>
                  </a:extLst>
                </a:gridCol>
                <a:gridCol w="298766">
                  <a:extLst>
                    <a:ext uri="{9D8B030D-6E8A-4147-A177-3AD203B41FA5}">
                      <a16:colId xmlns:a16="http://schemas.microsoft.com/office/drawing/2014/main" val="328745509"/>
                    </a:ext>
                  </a:extLst>
                </a:gridCol>
                <a:gridCol w="298766">
                  <a:extLst>
                    <a:ext uri="{9D8B030D-6E8A-4147-A177-3AD203B41FA5}">
                      <a16:colId xmlns:a16="http://schemas.microsoft.com/office/drawing/2014/main" val="1546964818"/>
                    </a:ext>
                  </a:extLst>
                </a:gridCol>
                <a:gridCol w="298766">
                  <a:extLst>
                    <a:ext uri="{9D8B030D-6E8A-4147-A177-3AD203B41FA5}">
                      <a16:colId xmlns:a16="http://schemas.microsoft.com/office/drawing/2014/main" val="2980943509"/>
                    </a:ext>
                  </a:extLst>
                </a:gridCol>
                <a:gridCol w="298766">
                  <a:extLst>
                    <a:ext uri="{9D8B030D-6E8A-4147-A177-3AD203B41FA5}">
                      <a16:colId xmlns:a16="http://schemas.microsoft.com/office/drawing/2014/main" val="2897026030"/>
                    </a:ext>
                  </a:extLst>
                </a:gridCol>
                <a:gridCol w="298766">
                  <a:extLst>
                    <a:ext uri="{9D8B030D-6E8A-4147-A177-3AD203B41FA5}">
                      <a16:colId xmlns:a16="http://schemas.microsoft.com/office/drawing/2014/main" val="1954513399"/>
                    </a:ext>
                  </a:extLst>
                </a:gridCol>
              </a:tblGrid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03856"/>
                  </a:ext>
                </a:extLst>
              </a:tr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75841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620179" y="16240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遍历法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20179" y="1935272"/>
            <a:ext cx="792088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 索引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728826"/>
              </p:ext>
            </p:extLst>
          </p:nvPr>
        </p:nvGraphicFramePr>
        <p:xfrm>
          <a:off x="5047886" y="1643553"/>
          <a:ext cx="1879812" cy="60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02">
                  <a:extLst>
                    <a:ext uri="{9D8B030D-6E8A-4147-A177-3AD203B41FA5}">
                      <a16:colId xmlns:a16="http://schemas.microsoft.com/office/drawing/2014/main" val="558098072"/>
                    </a:ext>
                  </a:extLst>
                </a:gridCol>
                <a:gridCol w="270367">
                  <a:extLst>
                    <a:ext uri="{9D8B030D-6E8A-4147-A177-3AD203B41FA5}">
                      <a16:colId xmlns:a16="http://schemas.microsoft.com/office/drawing/2014/main" val="328745509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546964818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980943509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897026030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1954513399"/>
                    </a:ext>
                  </a:extLst>
                </a:gridCol>
              </a:tblGrid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03856"/>
                  </a:ext>
                </a:extLst>
              </a:tr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CN" sz="1050" b="0" spc="-10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050" b="0" spc="-1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sz="105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75841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804171"/>
              </p:ext>
            </p:extLst>
          </p:nvPr>
        </p:nvGraphicFramePr>
        <p:xfrm>
          <a:off x="6845958" y="1643897"/>
          <a:ext cx="2190537" cy="60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033">
                  <a:extLst>
                    <a:ext uri="{9D8B030D-6E8A-4147-A177-3AD203B41FA5}">
                      <a16:colId xmlns:a16="http://schemas.microsoft.com/office/drawing/2014/main" val="558098072"/>
                    </a:ext>
                  </a:extLst>
                </a:gridCol>
                <a:gridCol w="381147">
                  <a:extLst>
                    <a:ext uri="{9D8B030D-6E8A-4147-A177-3AD203B41FA5}">
                      <a16:colId xmlns:a16="http://schemas.microsoft.com/office/drawing/2014/main" val="328745509"/>
                    </a:ext>
                  </a:extLst>
                </a:gridCol>
                <a:gridCol w="381147">
                  <a:extLst>
                    <a:ext uri="{9D8B030D-6E8A-4147-A177-3AD203B41FA5}">
                      <a16:colId xmlns:a16="http://schemas.microsoft.com/office/drawing/2014/main" val="1546964818"/>
                    </a:ext>
                  </a:extLst>
                </a:gridCol>
                <a:gridCol w="381147">
                  <a:extLst>
                    <a:ext uri="{9D8B030D-6E8A-4147-A177-3AD203B41FA5}">
                      <a16:colId xmlns:a16="http://schemas.microsoft.com/office/drawing/2014/main" val="2980943509"/>
                    </a:ext>
                  </a:extLst>
                </a:gridCol>
                <a:gridCol w="381147">
                  <a:extLst>
                    <a:ext uri="{9D8B030D-6E8A-4147-A177-3AD203B41FA5}">
                      <a16:colId xmlns:a16="http://schemas.microsoft.com/office/drawing/2014/main" val="2897026030"/>
                    </a:ext>
                  </a:extLst>
                </a:gridCol>
                <a:gridCol w="304916">
                  <a:extLst>
                    <a:ext uri="{9D8B030D-6E8A-4147-A177-3AD203B41FA5}">
                      <a16:colId xmlns:a16="http://schemas.microsoft.com/office/drawing/2014/main" val="1954513399"/>
                    </a:ext>
                  </a:extLst>
                </a:gridCol>
              </a:tblGrid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solidFill>
                            <a:srgbClr val="0000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>
                        <a:solidFill>
                          <a:srgbClr val="0000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203856"/>
                  </a:ext>
                </a:extLst>
              </a:tr>
              <a:tr h="295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4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zh-CN" altLang="en-US" sz="1050" b="0" spc="-14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6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1050" b="0" spc="-16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4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1050" b="0" spc="-14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4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050" b="0" spc="-14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4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zh-CN" altLang="en-US" sz="1050" b="0" spc="-14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0" spc="-140" baseline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zh-CN" altLang="en-US" sz="1050" b="0" spc="-14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75841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664462" y="1252892"/>
            <a:ext cx="63960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-1</a:t>
            </a:r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5336508" y="3142765"/>
            <a:ext cx="3699987" cy="9787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in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no[0:17]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: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</a:t>
            </a: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if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not in "0123456789":</a:t>
            </a:r>
          </a:p>
          <a:p>
            <a:pPr>
              <a:spcBef>
                <a:spcPts val="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c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, "</a:t>
            </a:r>
            <a:r>
              <a:rPr lang="zh-CN" altLang="en-US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非数字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71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/>
      <p:bldP spid="14" grpId="0"/>
      <p:bldP spid="5" grpId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85172" y="123478"/>
            <a:ext cx="8305800" cy="530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kumimoji="1" lang="en-US" altLang="zh-CN" sz="2400" b="1" kern="12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循环语句 </a:t>
            </a:r>
          </a:p>
        </p:txBody>
      </p:sp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408828" y="1153870"/>
            <a:ext cx="2815362" cy="1170193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形式</a:t>
            </a:r>
            <a:r>
              <a:rPr lang="en-US" altLang="zh-CN" sz="20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:</a:t>
            </a:r>
            <a:r>
              <a:rPr lang="zh-CN" altLang="en-US" sz="20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Courier New" pitchFamily="49" charset="0"/>
              </a:rPr>
              <a:t>                                           </a:t>
            </a:r>
            <a:endParaRPr lang="zh-CN" altLang="en-US" sz="20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:</a:t>
            </a:r>
            <a:r>
              <a:rPr lang="en-US" altLang="zh-CN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endParaRPr lang="en-US" altLang="zh-CN" sz="20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0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</a:t>
            </a:r>
            <a:r>
              <a:rPr lang="zh-CN" altLang="en-US" sz="2000" b="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54" y="684184"/>
            <a:ext cx="646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  一般用于未知循环次数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31" y="2421804"/>
            <a:ext cx="6286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根据表达式的值为先判断，若为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则执行</a:t>
            </a: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语句块</a:t>
            </a:r>
            <a:r>
              <a:rPr lang="en-US" altLang="zh-CN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循环体</a:t>
            </a:r>
            <a:r>
              <a:rPr lang="en-US" altLang="zh-CN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否则退出循环，执行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zh-CN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语句的下一句语句。</a:t>
            </a:r>
            <a:endParaRPr lang="zh-CN" altLang="en-US" sz="1600" b="0" dirty="0">
              <a:solidFill>
                <a:srgbClr val="0000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AutoShape 44"/>
          <p:cNvSpPr>
            <a:spLocks noChangeArrowheads="1"/>
          </p:cNvSpPr>
          <p:nvPr/>
        </p:nvSpPr>
        <p:spPr bwMode="gray">
          <a:xfrm>
            <a:off x="408827" y="3363838"/>
            <a:ext cx="7084929" cy="648072"/>
          </a:xfrm>
          <a:prstGeom prst="roundRect">
            <a:avLst>
              <a:gd name="adj" fmla="val 8014"/>
            </a:avLst>
          </a:prstGeom>
          <a:solidFill>
            <a:srgbClr val="FFFFCC"/>
          </a:solidFill>
          <a:ln w="9525">
            <a:solidFill>
              <a:srgbClr val="8080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0"/>
              </a:spcBef>
            </a:pPr>
            <a:r>
              <a:rPr lang="zh-CN" altLang="en-US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en-US" altLang="zh-CN" sz="160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600" b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为了</a:t>
            </a:r>
            <a:r>
              <a:rPr lang="zh-CN" altLang="en-US" sz="1600" b="0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防止死循环，在循环体内一般有向循环条件</a:t>
            </a:r>
            <a:r>
              <a:rPr lang="zh-CN" altLang="en-US" sz="1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终止方向发展的语句</a:t>
            </a:r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7668269" y="949995"/>
            <a:ext cx="7921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8" name="直接连接符 13"/>
          <p:cNvCxnSpPr>
            <a:cxnSpLocks noChangeShapeType="1"/>
          </p:cNvCxnSpPr>
          <p:nvPr/>
        </p:nvCxnSpPr>
        <p:spPr bwMode="auto">
          <a:xfrm>
            <a:off x="6882402" y="2132677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5"/>
          <p:cNvCxnSpPr>
            <a:cxnSpLocks noChangeShapeType="1"/>
          </p:cNvCxnSpPr>
          <p:nvPr/>
        </p:nvCxnSpPr>
        <p:spPr bwMode="auto">
          <a:xfrm flipH="1" flipV="1">
            <a:off x="5854008" y="2354449"/>
            <a:ext cx="1045230" cy="600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6"/>
          <p:cNvCxnSpPr>
            <a:cxnSpLocks noChangeShapeType="1"/>
            <a:endCxn id="22" idx="3"/>
          </p:cNvCxnSpPr>
          <p:nvPr/>
        </p:nvCxnSpPr>
        <p:spPr bwMode="auto">
          <a:xfrm flipH="1">
            <a:off x="7883971" y="1244354"/>
            <a:ext cx="252000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17"/>
          <p:cNvSpPr txBox="1">
            <a:spLocks noChangeArrowheads="1"/>
          </p:cNvSpPr>
          <p:nvPr/>
        </p:nvSpPr>
        <p:spPr bwMode="auto">
          <a:xfrm>
            <a:off x="6911806" y="1336458"/>
            <a:ext cx="792088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2" name="菱形 4"/>
          <p:cNvSpPr>
            <a:spLocks noChangeArrowheads="1"/>
          </p:cNvSpPr>
          <p:nvPr/>
        </p:nvSpPr>
        <p:spPr bwMode="auto">
          <a:xfrm>
            <a:off x="6012308" y="1078770"/>
            <a:ext cx="1871663" cy="331167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400" b="0" spc="-1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条件？</a:t>
            </a:r>
          </a:p>
        </p:txBody>
      </p:sp>
      <p:cxnSp>
        <p:nvCxnSpPr>
          <p:cNvPr id="23" name="直接连接符 19"/>
          <p:cNvCxnSpPr>
            <a:cxnSpLocks noChangeShapeType="1"/>
          </p:cNvCxnSpPr>
          <p:nvPr/>
        </p:nvCxnSpPr>
        <p:spPr bwMode="auto">
          <a:xfrm>
            <a:off x="6937246" y="771550"/>
            <a:ext cx="0" cy="2889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0"/>
          <p:cNvCxnSpPr>
            <a:cxnSpLocks noChangeShapeType="1"/>
            <a:endCxn id="25" idx="0"/>
          </p:cNvCxnSpPr>
          <p:nvPr/>
        </p:nvCxnSpPr>
        <p:spPr bwMode="auto">
          <a:xfrm>
            <a:off x="6868677" y="1421025"/>
            <a:ext cx="0" cy="359991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矩形 5"/>
          <p:cNvSpPr>
            <a:spLocks noChangeArrowheads="1"/>
          </p:cNvSpPr>
          <p:nvPr/>
        </p:nvSpPr>
        <p:spPr bwMode="auto">
          <a:xfrm>
            <a:off x="6304720" y="1781016"/>
            <a:ext cx="1189037" cy="32040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语句块</a:t>
            </a:r>
          </a:p>
        </p:txBody>
      </p:sp>
      <p:cxnSp>
        <p:nvCxnSpPr>
          <p:cNvPr id="26" name="直接连接符 27"/>
          <p:cNvCxnSpPr>
            <a:cxnSpLocks noChangeShapeType="1"/>
          </p:cNvCxnSpPr>
          <p:nvPr/>
        </p:nvCxnSpPr>
        <p:spPr bwMode="auto">
          <a:xfrm flipH="1">
            <a:off x="8104747" y="1246477"/>
            <a:ext cx="0" cy="127849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33"/>
          <p:cNvCxnSpPr>
            <a:cxnSpLocks noChangeShapeType="1"/>
          </p:cNvCxnSpPr>
          <p:nvPr/>
        </p:nvCxnSpPr>
        <p:spPr bwMode="auto">
          <a:xfrm flipH="1">
            <a:off x="5854008" y="1268631"/>
            <a:ext cx="158301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连接符 35"/>
          <p:cNvCxnSpPr>
            <a:cxnSpLocks noChangeShapeType="1"/>
          </p:cNvCxnSpPr>
          <p:nvPr/>
        </p:nvCxnSpPr>
        <p:spPr bwMode="auto">
          <a:xfrm>
            <a:off x="5854008" y="1283260"/>
            <a:ext cx="0" cy="107719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39"/>
          <p:cNvCxnSpPr>
            <a:cxnSpLocks noChangeShapeType="1"/>
          </p:cNvCxnSpPr>
          <p:nvPr/>
        </p:nvCxnSpPr>
        <p:spPr bwMode="auto">
          <a:xfrm flipH="1">
            <a:off x="6952980" y="2524969"/>
            <a:ext cx="1151767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41"/>
          <p:cNvCxnSpPr>
            <a:cxnSpLocks noChangeShapeType="1"/>
          </p:cNvCxnSpPr>
          <p:nvPr/>
        </p:nvCxnSpPr>
        <p:spPr bwMode="auto">
          <a:xfrm flipH="1">
            <a:off x="6948849" y="2519902"/>
            <a:ext cx="0" cy="2921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84996952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8" grpId="0"/>
      <p:bldP spid="17" grpId="0" animBg="1"/>
      <p:bldP spid="14" grpId="0"/>
      <p:bldP spid="21" grpId="0"/>
      <p:bldP spid="22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993887"/>
            <a:ext cx="8676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完成的求</a:t>
            </a:r>
            <a:r>
              <a:rPr lang="en-US" altLang="zh-CN" sz="20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1~100</a:t>
            </a:r>
            <a:r>
              <a:rPr lang="zh-CN" altLang="en-US" sz="20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的偶数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和，改用</a:t>
            </a:r>
            <a:r>
              <a:rPr lang="en-US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</a:t>
            </a:r>
            <a:r>
              <a:rPr lang="zh-CN" altLang="en-US" sz="2000" b="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实现</a:t>
            </a:r>
          </a:p>
        </p:txBody>
      </p:sp>
      <p:sp>
        <p:nvSpPr>
          <p:cNvPr id="4" name="AutoShape 44"/>
          <p:cNvSpPr>
            <a:spLocks noChangeArrowheads="1"/>
          </p:cNvSpPr>
          <p:nvPr/>
        </p:nvSpPr>
        <p:spPr bwMode="gray">
          <a:xfrm>
            <a:off x="432837" y="2326036"/>
            <a:ext cx="3600400" cy="987356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5000"/>
              </a:spcBef>
            </a:pP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sum=0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for i 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in range(2,101,2):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18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sum=</a:t>
            </a:r>
            <a:r>
              <a:rPr lang="en-US" altLang="zh-CN" sz="1800" dirty="0" err="1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sum+i</a:t>
            </a:r>
            <a:endParaRPr lang="en-US" altLang="zh-CN" sz="18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5" name="AutoShape 44"/>
          <p:cNvSpPr>
            <a:spLocks noChangeArrowheads="1"/>
          </p:cNvSpPr>
          <p:nvPr/>
        </p:nvSpPr>
        <p:spPr bwMode="gray">
          <a:xfrm>
            <a:off x="4766435" y="2294197"/>
            <a:ext cx="2541869" cy="178972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5000"/>
              </a:spcBef>
            </a:pPr>
            <a:r>
              <a:rPr lang="en-US" altLang="zh-CN" sz="1400" dirty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sum = 0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 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= 2</a:t>
            </a:r>
            <a:endParaRPr lang="en-US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while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 </a:t>
            </a:r>
            <a:r>
              <a:rPr lang="en-US" altLang="zh-CN" sz="16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&lt; 101:</a:t>
            </a:r>
            <a:endParaRPr lang="en-US" altLang="zh-CN" sz="16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sum = sum + i</a:t>
            </a:r>
          </a:p>
          <a:p>
            <a:pPr>
              <a:spcBef>
                <a:spcPct val="5000"/>
              </a:spcBef>
            </a:pP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 = i + 2</a:t>
            </a:r>
          </a:p>
          <a:p>
            <a:pPr>
              <a:spcBef>
                <a:spcPct val="5000"/>
              </a:spcBef>
            </a:pPr>
            <a:r>
              <a:rPr lang="en-US" altLang="zh-CN" sz="1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611560" y="3003798"/>
            <a:ext cx="3024336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9" name="直接连接符 8"/>
          <p:cNvCxnSpPr/>
          <p:nvPr/>
        </p:nvCxnSpPr>
        <p:spPr bwMode="auto">
          <a:xfrm>
            <a:off x="5076056" y="2891017"/>
            <a:ext cx="770499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5652120" y="3194411"/>
            <a:ext cx="1080121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>
            <a:off x="5480973" y="3867894"/>
            <a:ext cx="1112791" cy="0"/>
          </a:xfrm>
          <a:prstGeom prst="line">
            <a:avLst/>
          </a:prstGeom>
          <a:noFill/>
          <a:ln w="28575" algn="ctr">
            <a:solidFill>
              <a:srgbClr val="C00000"/>
            </a:solidFill>
            <a:round/>
            <a:headEnd type="non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cxnSp>
    </p:spTree>
    <p:extLst>
      <p:ext uri="{BB962C8B-B14F-4D97-AF65-F5344CB8AC3E}">
        <p14:creationId xmlns:p14="http://schemas.microsoft.com/office/powerpoint/2010/main" val="382258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92075" y="268288"/>
            <a:ext cx="8915400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例 猜数游戏</a:t>
            </a:r>
            <a:endParaRPr lang="zh-CN" altLang="en-US" sz="20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7416" name="Rectangle 18"/>
          <p:cNvSpPr>
            <a:spLocks noChangeArrowheads="1"/>
          </p:cNvSpPr>
          <p:nvPr/>
        </p:nvSpPr>
        <p:spPr bwMode="auto">
          <a:xfrm>
            <a:off x="0" y="-268288"/>
            <a:ext cx="184150" cy="536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6438" y="697847"/>
            <a:ext cx="5103633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由计算机随机生成一个</a:t>
            </a:r>
            <a:r>
              <a:rPr lang="en-US" altLang="zh-CN" sz="18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1~100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之内的整数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</a:t>
            </a:r>
          </a:p>
          <a:p>
            <a:pPr>
              <a:spcBef>
                <a:spcPts val="0"/>
              </a:spcBef>
            </a:pP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然后由用户来猜这个数</a:t>
            </a:r>
            <a:r>
              <a:rPr lang="en-US" altLang="zh-CN" sz="18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guess</a:t>
            </a:r>
            <a:r>
              <a:rPr lang="zh-CN" altLang="en-US" sz="18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，根据用户猜测的数分别给出不同的提示文字，统计猜中的次数。</a:t>
            </a:r>
            <a:endParaRPr lang="zh-CN" altLang="en-US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2" name="菱形 4"/>
          <p:cNvSpPr>
            <a:spLocks noChangeArrowheads="1"/>
          </p:cNvSpPr>
          <p:nvPr/>
        </p:nvSpPr>
        <p:spPr bwMode="auto">
          <a:xfrm>
            <a:off x="5809313" y="2342885"/>
            <a:ext cx="1943893" cy="662335"/>
          </a:xfrm>
          <a:prstGeom prst="diamond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endParaRPr lang="en-US" altLang="zh-CN" sz="14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!=guess</a:t>
            </a:r>
            <a:endParaRPr lang="zh-CN" altLang="en-US" sz="140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5762844" y="1239075"/>
            <a:ext cx="2193532" cy="443198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计算机随机产生一个数</a:t>
            </a:r>
            <a:r>
              <a:rPr lang="en-US" altLang="zh-CN" sz="12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endParaRPr lang="en-US" altLang="zh-CN" sz="12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ctr">
              <a:spcBef>
                <a:spcPts val="0"/>
              </a:spcBef>
            </a:pPr>
            <a:r>
              <a:rPr lang="zh-CN" altLang="en-US" sz="12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输入一个猜的数</a:t>
            </a:r>
            <a:r>
              <a:rPr lang="en-US" altLang="zh-CN" sz="12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guess</a:t>
            </a:r>
            <a:endParaRPr lang="en-US" altLang="zh-CN" sz="12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4" name="直接连接符 8"/>
          <p:cNvCxnSpPr>
            <a:cxnSpLocks noChangeShapeType="1"/>
          </p:cNvCxnSpPr>
          <p:nvPr/>
        </p:nvCxnSpPr>
        <p:spPr bwMode="auto">
          <a:xfrm flipH="1">
            <a:off x="5676589" y="4515966"/>
            <a:ext cx="1158847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2"/>
          <p:cNvCxnSpPr>
            <a:cxnSpLocks noChangeShapeType="1"/>
          </p:cNvCxnSpPr>
          <p:nvPr/>
        </p:nvCxnSpPr>
        <p:spPr bwMode="auto">
          <a:xfrm>
            <a:off x="6826081" y="3893746"/>
            <a:ext cx="0" cy="1428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7560295" y="2210064"/>
            <a:ext cx="7921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False</a:t>
            </a:r>
            <a:endParaRPr lang="zh-CN" altLang="en-US" sz="1800"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17" name="直接连接符 30"/>
          <p:cNvCxnSpPr>
            <a:cxnSpLocks noChangeShapeType="1"/>
          </p:cNvCxnSpPr>
          <p:nvPr/>
        </p:nvCxnSpPr>
        <p:spPr bwMode="auto">
          <a:xfrm>
            <a:off x="5684399" y="2303803"/>
            <a:ext cx="19064" cy="2212163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31"/>
          <p:cNvCxnSpPr>
            <a:cxnSpLocks noChangeShapeType="1"/>
          </p:cNvCxnSpPr>
          <p:nvPr/>
        </p:nvCxnSpPr>
        <p:spPr bwMode="auto">
          <a:xfrm flipH="1">
            <a:off x="5684400" y="2303803"/>
            <a:ext cx="1081239" cy="5189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34"/>
          <p:cNvCxnSpPr>
            <a:cxnSpLocks noChangeShapeType="1"/>
          </p:cNvCxnSpPr>
          <p:nvPr/>
        </p:nvCxnSpPr>
        <p:spPr bwMode="auto">
          <a:xfrm>
            <a:off x="6781260" y="2172403"/>
            <a:ext cx="1" cy="262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35"/>
          <p:cNvCxnSpPr>
            <a:cxnSpLocks noChangeShapeType="1"/>
          </p:cNvCxnSpPr>
          <p:nvPr/>
        </p:nvCxnSpPr>
        <p:spPr bwMode="auto">
          <a:xfrm>
            <a:off x="6798605" y="2908052"/>
            <a:ext cx="0" cy="28892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矩形 5"/>
          <p:cNvSpPr>
            <a:spLocks noChangeArrowheads="1"/>
          </p:cNvSpPr>
          <p:nvPr/>
        </p:nvSpPr>
        <p:spPr bwMode="auto">
          <a:xfrm>
            <a:off x="5938256" y="3205265"/>
            <a:ext cx="1775651" cy="666849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与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guess</a:t>
            </a:r>
          </a:p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比较，显示高了或者低了的信息</a:t>
            </a:r>
            <a:endParaRPr lang="en-US" altLang="zh-CN" sz="1400" b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algn="ctr">
              <a:lnSpc>
                <a:spcPts val="1300"/>
              </a:lnSpc>
              <a:spcBef>
                <a:spcPct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计数</a:t>
            </a:r>
            <a:endParaRPr lang="en-US" altLang="zh-CN" sz="14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3" name="直接连接符 45"/>
          <p:cNvCxnSpPr>
            <a:cxnSpLocks noChangeShapeType="1"/>
          </p:cNvCxnSpPr>
          <p:nvPr/>
        </p:nvCxnSpPr>
        <p:spPr bwMode="auto">
          <a:xfrm>
            <a:off x="6876422" y="4587974"/>
            <a:ext cx="0" cy="2159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61"/>
          <p:cNvCxnSpPr>
            <a:cxnSpLocks noChangeShapeType="1"/>
          </p:cNvCxnSpPr>
          <p:nvPr/>
        </p:nvCxnSpPr>
        <p:spPr bwMode="auto">
          <a:xfrm flipH="1">
            <a:off x="7747552" y="2674052"/>
            <a:ext cx="200891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63"/>
          <p:cNvCxnSpPr>
            <a:cxnSpLocks noChangeShapeType="1"/>
          </p:cNvCxnSpPr>
          <p:nvPr/>
        </p:nvCxnSpPr>
        <p:spPr bwMode="auto">
          <a:xfrm>
            <a:off x="7948700" y="2674052"/>
            <a:ext cx="5978" cy="1913922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73"/>
          <p:cNvCxnSpPr>
            <a:cxnSpLocks noChangeShapeType="1"/>
          </p:cNvCxnSpPr>
          <p:nvPr/>
        </p:nvCxnSpPr>
        <p:spPr bwMode="auto">
          <a:xfrm flipH="1">
            <a:off x="6857447" y="4587974"/>
            <a:ext cx="1090996" cy="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矩形 5"/>
          <p:cNvSpPr>
            <a:spLocks noChangeArrowheads="1"/>
          </p:cNvSpPr>
          <p:nvPr/>
        </p:nvSpPr>
        <p:spPr bwMode="auto">
          <a:xfrm>
            <a:off x="5820690" y="4788730"/>
            <a:ext cx="2135686" cy="215444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显示结果 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为最大公约数</a:t>
            </a:r>
          </a:p>
        </p:txBody>
      </p:sp>
      <p:sp>
        <p:nvSpPr>
          <p:cNvPr id="28" name="TextBox 79"/>
          <p:cNvSpPr txBox="1">
            <a:spLocks noChangeArrowheads="1"/>
          </p:cNvSpPr>
          <p:nvPr/>
        </p:nvSpPr>
        <p:spPr bwMode="auto">
          <a:xfrm>
            <a:off x="6765639" y="2798672"/>
            <a:ext cx="7646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True</a:t>
            </a:r>
            <a:endParaRPr lang="zh-CN" altLang="en-US" sz="140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30" name="矩形 5"/>
          <p:cNvSpPr>
            <a:spLocks noChangeArrowheads="1"/>
          </p:cNvSpPr>
          <p:nvPr/>
        </p:nvSpPr>
        <p:spPr bwMode="auto">
          <a:xfrm>
            <a:off x="6105960" y="1907298"/>
            <a:ext cx="1507299" cy="247440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猜的次数计数</a:t>
            </a:r>
            <a:r>
              <a:rPr lang="en-US" altLang="zh-CN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n=1</a:t>
            </a:r>
            <a:endParaRPr lang="en-US" altLang="zh-CN" sz="14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31" name="直接连接符 34"/>
          <p:cNvCxnSpPr>
            <a:cxnSpLocks noChangeShapeType="1"/>
          </p:cNvCxnSpPr>
          <p:nvPr/>
        </p:nvCxnSpPr>
        <p:spPr bwMode="auto">
          <a:xfrm>
            <a:off x="6825527" y="1700800"/>
            <a:ext cx="1" cy="190800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AutoShape 44"/>
          <p:cNvSpPr>
            <a:spLocks noChangeArrowheads="1"/>
          </p:cNvSpPr>
          <p:nvPr/>
        </p:nvSpPr>
        <p:spPr bwMode="gray">
          <a:xfrm>
            <a:off x="319366" y="1823382"/>
            <a:ext cx="4296765" cy="3076922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import random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x=random.randint(1,100)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guess=int(input("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猜一个数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n=1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while guess!=x: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if guess&gt;x: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print(“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高了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else: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print("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小了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n=n+1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guess=int(input("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猜错了，再猜一次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恭喜你，猜中了！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print("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你猜了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",n,"</a:t>
            </a:r>
            <a:r>
              <a:rPr lang="zh-CN" altLang="en-US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次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")</a:t>
            </a:r>
            <a:endParaRPr lang="zh-CN" altLang="zh-CN" sz="140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41" name="矩形 5"/>
          <p:cNvSpPr>
            <a:spLocks noChangeArrowheads="1"/>
          </p:cNvSpPr>
          <p:nvPr/>
        </p:nvSpPr>
        <p:spPr bwMode="auto">
          <a:xfrm>
            <a:off x="6026372" y="4039630"/>
            <a:ext cx="1599418" cy="368049"/>
          </a:xfrm>
          <a:prstGeom prst="rect">
            <a:avLst/>
          </a:prstGeom>
          <a:noFill/>
          <a:ln w="19050" algn="ctr">
            <a:solidFill>
              <a:srgbClr val="66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bIns="0" anchor="ctr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</a:pPr>
            <a:r>
              <a:rPr lang="zh-CN" altLang="en-US" sz="1400" b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再输入一个猜的数</a:t>
            </a:r>
            <a:r>
              <a:rPr lang="en-US" altLang="zh-CN" sz="140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guess</a:t>
            </a:r>
            <a:endParaRPr lang="en-US" altLang="zh-CN" sz="1400" b="0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cxnSp>
        <p:nvCxnSpPr>
          <p:cNvPr id="29" name="直接连接符 12"/>
          <p:cNvCxnSpPr>
            <a:cxnSpLocks noChangeShapeType="1"/>
          </p:cNvCxnSpPr>
          <p:nvPr/>
        </p:nvCxnSpPr>
        <p:spPr bwMode="auto">
          <a:xfrm>
            <a:off x="6835436" y="4420607"/>
            <a:ext cx="0" cy="142875"/>
          </a:xfrm>
          <a:prstGeom prst="line">
            <a:avLst/>
          </a:prstGeom>
          <a:noFill/>
          <a:ln w="15875" algn="ctr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文本框 3"/>
          <p:cNvSpPr txBox="1"/>
          <p:nvPr/>
        </p:nvSpPr>
        <p:spPr>
          <a:xfrm>
            <a:off x="5809313" y="202046"/>
            <a:ext cx="3009659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思考：对用户来说为提高命中率，使用什么策略？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739194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16" grpId="0"/>
      <p:bldP spid="21" grpId="0" animBg="1"/>
      <p:bldP spid="27" grpId="0" animBg="1"/>
      <p:bldP spid="28" grpId="0"/>
      <p:bldP spid="30" grpId="0" animBg="1"/>
      <p:bldP spid="34" grpId="0" animBg="1"/>
      <p:bldP spid="41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704856" cy="3228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已定义函数</a:t>
            </a:r>
            <a:endParaRPr kumimoji="1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）内置函数：直接调用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int()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float()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str()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eval()</a:t>
            </a:r>
          </a:p>
          <a:p>
            <a:pPr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range()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input()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print()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）标准库中函数：需要导入，如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b="0" i="0" u="none" strike="noStrike" kern="1200" cap="none" spc="0" normalizeH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导入形式：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import math			from math import *</a:t>
            </a: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使用形式：</a:t>
            </a:r>
            <a:r>
              <a:rPr kumimoji="1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math.sqrt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(9)			sqrt(9)	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61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8928992" cy="440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已定义函数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）第三方库：或者已经集成，或者需要安装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已经集成在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，可直接使用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导入形式：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numpy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随机生成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个均值为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、标准差为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的数据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使用形式：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numpy</a:t>
            </a:r>
            <a:r>
              <a:rPr lang="sv-SE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.random.normal(0,1,10)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导入形式：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numpy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as 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np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定义别名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		</a:t>
            </a:r>
          </a:p>
          <a:p>
            <a:pPr lvl="0"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使用形式：</a:t>
            </a:r>
            <a:r>
              <a:rPr lang="sv-SE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np</a:t>
            </a:r>
            <a:r>
              <a:rPr lang="sv-SE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.random.normal(0,1,10)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#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使用别名，简化书写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※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需要安装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18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Anaconda Prompt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       ②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执行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pip  install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库名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	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例如：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pip  install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rsa</a:t>
            </a:r>
            <a:endParaRPr lang="zh-CN" altLang="en-US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146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9145016" cy="4369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自定义函数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12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调用时：① 先执行主函数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把实在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顺序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依次传递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给形式参数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3→x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	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4→y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③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执行函数体，执行到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return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语句，则结束调用，表达式的值作为函数值返回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若没有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return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语句，则执行到函数体的结束，函数没有值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④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继续执行主函数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3BF89F-D7FD-4251-B37D-96EEF5051F74}"/>
              </a:ext>
            </a:extLst>
          </p:cNvPr>
          <p:cNvSpPr/>
          <p:nvPr/>
        </p:nvSpPr>
        <p:spPr>
          <a:xfrm>
            <a:off x="1393304" y="1131590"/>
            <a:ext cx="2088232" cy="1791131"/>
          </a:xfrm>
          <a:prstGeom prst="rect">
            <a:avLst/>
          </a:prstGeom>
          <a:ln w="19050">
            <a:solidFill>
              <a:srgbClr val="000066"/>
            </a:solidFill>
            <a:prstDash val="sysDot"/>
          </a:ln>
        </p:spPr>
        <p:txBody>
          <a:bodyPr wrap="square">
            <a:spAutoFit/>
          </a:bodyPr>
          <a:lstStyle/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t= 2*x*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x+y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return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(3,4)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print(s)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FBC059-A99C-4F68-A96D-E92B18B58927}"/>
              </a:ext>
            </a:extLst>
          </p:cNvPr>
          <p:cNvSpPr/>
          <p:nvPr/>
        </p:nvSpPr>
        <p:spPr>
          <a:xfrm>
            <a:off x="457200" y="1104923"/>
            <a:ext cx="936104" cy="458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    数：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0377D8-D969-4248-B941-8ABFD88FF1EE}"/>
              </a:ext>
            </a:extLst>
          </p:cNvPr>
          <p:cNvSpPr/>
          <p:nvPr/>
        </p:nvSpPr>
        <p:spPr>
          <a:xfrm>
            <a:off x="457200" y="2139702"/>
            <a:ext cx="936104" cy="458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主程序：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978C47-DFCD-4C47-B1F7-80BFD01C0A38}"/>
              </a:ext>
            </a:extLst>
          </p:cNvPr>
          <p:cNvSpPr/>
          <p:nvPr/>
        </p:nvSpPr>
        <p:spPr>
          <a:xfrm>
            <a:off x="4067944" y="1131590"/>
            <a:ext cx="2581944" cy="1791131"/>
          </a:xfrm>
          <a:prstGeom prst="rect">
            <a:avLst/>
          </a:prstGeom>
          <a:ln w="19050">
            <a:solidFill>
              <a:srgbClr val="000066"/>
            </a:solidFill>
            <a:prstDash val="sysDot"/>
          </a:ln>
        </p:spPr>
        <p:txBody>
          <a:bodyPr wrap="square">
            <a:spAutoFit/>
          </a:bodyPr>
          <a:lstStyle/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函数名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形式参数表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函数体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return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表达式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961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128792" cy="262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调用形式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）位置参数：形式参数引用对应的实在参数的值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def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t= 2*x*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x+y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return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s=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(3,4)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print(s)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284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128792" cy="331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调用形式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）关键字参数：指定形式参数的值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def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t= 2*x*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x+y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return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s=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y=4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x=3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print(s)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>
              <a:lnSpc>
                <a:spcPct val="125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0066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形式参数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参数值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515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128792" cy="303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调用形式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）位置参数和关键字的混合调用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要求：前面是位置参数，后面是关键字参数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def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t= 2*x*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x+y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return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s=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myfun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0" dirty="0">
                <a:solidFill>
                  <a:srgbClr val="000066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y=4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lvl="3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print(s)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四、函数的调用和定义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847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128792" cy="427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类和对象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对象的三要素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属性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：张三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身高      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体重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身高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=175		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体重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体重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-10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：张三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走路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(8000)		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选课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高等数学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五、面向对象程序设计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F3D0982-74E0-4A2D-8988-496D1007C9FF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1275606"/>
          <a:ext cx="36724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21">
                  <a:extLst>
                    <a:ext uri="{9D8B030D-6E8A-4147-A177-3AD203B41FA5}">
                      <a16:colId xmlns:a16="http://schemas.microsoft.com/office/drawing/2014/main" val="2695307423"/>
                    </a:ext>
                  </a:extLst>
                </a:gridCol>
                <a:gridCol w="2584287">
                  <a:extLst>
                    <a:ext uri="{9D8B030D-6E8A-4147-A177-3AD203B41FA5}">
                      <a16:colId xmlns:a16="http://schemas.microsoft.com/office/drawing/2014/main" val="4252457802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对象、实例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4967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class</a:t>
                      </a:r>
                      <a:endParaRPr kumimoji="1" lang="zh-CN" alt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1"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instance</a:t>
                      </a:r>
                      <a:endParaRPr kumimoji="1" lang="zh-CN" alt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18448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抽象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具体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02039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人类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张三、李四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91059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汽车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路上行驶的一辆辆车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00909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点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一个个点</a:t>
                      </a:r>
                    </a:p>
                  </a:txBody>
                  <a:tcPr marL="91456" marR="91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71973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25E067E8-BB5A-4D0C-B1D5-05FA68FBEEC6}"/>
              </a:ext>
            </a:extLst>
          </p:cNvPr>
          <p:cNvSpPr txBox="1"/>
          <p:nvPr/>
        </p:nvSpPr>
        <p:spPr>
          <a:xfrm>
            <a:off x="6516216" y="4592425"/>
            <a:ext cx="2031325" cy="3963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事件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较复杂不介绍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62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128792" cy="4255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面向过程程序设计和面向对象程序设计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将字符串的英文字母大小写转换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面向过程程序设计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s="Tongji University"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t=""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c in s: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if "A"&lt;=c&lt;="Z":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t=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t+chr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(c)+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("a")-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("A"))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elif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"a"&lt;=c&lt;="z":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t=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t+chr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(c)+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("A")-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("a"))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else:    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t=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t+c</a:t>
            </a:r>
            <a:endParaRPr lang="en-US" altLang="zh-CN" sz="16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print(t)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※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面向对象程序设计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s="Tongji University"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</a:t>
            </a:r>
            <a:r>
              <a:rPr lang="en-US" altLang="zh-CN" sz="16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s.swapcase</a:t>
            </a: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					</a:t>
            </a:r>
          </a:p>
          <a:p>
            <a:pPr lvl="2">
              <a:lnSpc>
                <a:spcPts val="1500"/>
              </a:lnSpc>
              <a:spcBef>
                <a:spcPts val="0"/>
              </a:spcBef>
            </a:pPr>
            <a:r>
              <a:rPr lang="en-US" altLang="zh-CN" sz="16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print(t)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五、面向对象程序设计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20D323-7B77-49FD-A882-69D4F35A5200}"/>
              </a:ext>
            </a:extLst>
          </p:cNvPr>
          <p:cNvSpPr/>
          <p:nvPr/>
        </p:nvSpPr>
        <p:spPr>
          <a:xfrm>
            <a:off x="3671900" y="4299942"/>
            <a:ext cx="1685077" cy="553998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none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s.swapcase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对象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043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5112568" cy="336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文件中的数据读到矩阵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Iris15.txt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文件中有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朵鸢尾花的数据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数据之间用空格分隔，全是数值数据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读文件到矩阵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import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as np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Iris15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np.loadtxt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("C:\\Test\\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Iris15.txt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  <a:endParaRPr lang="zh-CN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Iris15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就是一个矩阵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六、文件读写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3E3C8CF-07E2-4DFE-BBCF-6D592DFF2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897" y="1281071"/>
            <a:ext cx="2034315" cy="323489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03C2939-8A96-458B-AED7-AC765BC1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706" y="1275606"/>
            <a:ext cx="2667739" cy="32403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123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776864" cy="2535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读文件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hangingPunct="0">
              <a:lnSpc>
                <a:spcPct val="150000"/>
              </a:lnSpc>
              <a:spcBef>
                <a:spcPts val="0"/>
              </a:spcBef>
              <a:buClr>
                <a:srgbClr val="D6ECFF"/>
              </a:buClr>
              <a:buSzPct val="95000"/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np.loadtxt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("C:\\Test\\Data.txt",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skiprows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1,delimiter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=",")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delimite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指定数据之间的分隔符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若是逗号，则使用关键字参数：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delimiter=","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skiprows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=n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跳过前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行，默认值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六、文件读写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D58376-4D19-DAFE-699E-580F48CA6B4A}"/>
              </a:ext>
            </a:extLst>
          </p:cNvPr>
          <p:cNvSpPr txBox="1"/>
          <p:nvPr/>
        </p:nvSpPr>
        <p:spPr>
          <a:xfrm>
            <a:off x="251520" y="3579862"/>
            <a:ext cx="720080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Iris6=</a:t>
            </a:r>
            <a:r>
              <a:rPr lang="en-US" altLang="zh-CN" sz="24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np.loadtxt</a:t>
            </a:r>
            <a:r>
              <a:rPr lang="en-US" altLang="zh-CN" sz="2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r"D</a:t>
            </a:r>
            <a:r>
              <a:rPr lang="en-US" altLang="zh-CN" sz="24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:\dj2022\PPT\iris_6.txt",skiprows=1)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068CF2-6F25-806F-D6DC-69292DAB12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430"/>
          <a:stretch/>
        </p:blipFill>
        <p:spPr>
          <a:xfrm>
            <a:off x="4280993" y="2355726"/>
            <a:ext cx="4608512" cy="13681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776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矩形 4"/>
          <p:cNvSpPr>
            <a:spLocks noChangeArrowheads="1"/>
          </p:cNvSpPr>
          <p:nvPr/>
        </p:nvSpPr>
        <p:spPr bwMode="auto">
          <a:xfrm>
            <a:off x="107504" y="717055"/>
            <a:ext cx="7776864" cy="1289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en-US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矩阵中的数据写到文件</a:t>
            </a:r>
            <a:endParaRPr lang="en-US" altLang="zh-CN" sz="1800" b="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hangingPunct="0">
              <a:lnSpc>
                <a:spcPct val="150000"/>
              </a:lnSpc>
              <a:spcBef>
                <a:spcPts val="0"/>
              </a:spcBef>
              <a:buClr>
                <a:srgbClr val="D6ECFF"/>
              </a:buClr>
              <a:buSzPct val="95000"/>
              <a:defRPr/>
            </a:pP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np.savetxt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("C:\\TEST\\New_Iris15.txt",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Iris15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0" eaLnBrk="0" hangingPunct="0">
              <a:lnSpc>
                <a:spcPct val="150000"/>
              </a:lnSpc>
              <a:spcBef>
                <a:spcPts val="0"/>
              </a:spcBef>
              <a:buClr>
                <a:srgbClr val="D6ECFF"/>
              </a:buClr>
              <a:buSzPct val="95000"/>
              <a:defRPr/>
            </a:pP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np.savetxt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b="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r"D</a:t>
            </a:r>
            <a:r>
              <a:rPr lang="en-US" altLang="zh-CN" sz="18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:\dj2022\PPT\iris_out.txt",Iris6 ,</a:t>
            </a:r>
            <a:r>
              <a:rPr lang="en-US" altLang="zh-CN" sz="1800" b="0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fmt</a:t>
            </a:r>
            <a:r>
              <a:rPr lang="en-US" altLang="zh-CN" sz="1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="%3.2f")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0DCA8B1-A26B-4887-829E-C64F6C94B349}"/>
              </a:ext>
            </a:extLst>
          </p:cNvPr>
          <p:cNvSpPr txBox="1">
            <a:spLocks/>
          </p:cNvSpPr>
          <p:nvPr/>
        </p:nvSpPr>
        <p:spPr>
          <a:xfrm>
            <a:off x="457200" y="123478"/>
            <a:ext cx="8229600" cy="42155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六、文件读写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B7C718-9F3A-46D3-9EBE-14582F3A93A5}"/>
              </a:ext>
            </a:extLst>
          </p:cNvPr>
          <p:cNvSpPr txBox="1"/>
          <p:nvPr/>
        </p:nvSpPr>
        <p:spPr>
          <a:xfrm>
            <a:off x="3889423" y="1906260"/>
            <a:ext cx="2967479" cy="328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指定格式：宽度</a:t>
            </a:r>
            <a:r>
              <a:rPr lang="en-US" altLang="zh-CN" sz="1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位，小数点后一位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B07B97-1382-6EAC-DCA9-A48EE3F060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628" b="47735"/>
          <a:stretch/>
        </p:blipFill>
        <p:spPr>
          <a:xfrm>
            <a:off x="2195736" y="2643758"/>
            <a:ext cx="2808312" cy="20659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566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15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0.6|0.6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8.7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4.7|28|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0.9|0.5|9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5.8|49.2|1.7|4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45.2|5.6|73.7|1.5|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1.4|1|33.8|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8|30.6|1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3|37.4|22.5|0.9|69|0.1|0.5|0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6|24.4|38.5|56.5|24.6|8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16.7|41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8|57.3|39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5.8|0.8|0.8|0.8|13.3|0.9|4.6|1|35.7|1.5|2.4|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4.7|14.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2.8|0.7|0.7|3.6|3.8|4.8|1.6|0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23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|2.1|1|4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6|9.9|24.3|8.6|21.1|9.8|8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8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9|5.7|6.1|3.6|5.1|3.4|1.2|1.9|1.3|0.2|9.4|4.1|18.9|3.3|16.7|3.2|12.8|2.2|0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24|5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5|3.6|0.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3|27.2|27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5|29.1|30.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8.2|2.7|3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86.4|21.5|5|19.7|6.7|12.9|2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30.8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3333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noFill/>
        <a:ln>
          <a:noFill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40838</TotalTime>
  <Words>6857</Words>
  <Application>Microsoft Office PowerPoint</Application>
  <PresentationFormat>全屏显示(16:9)</PresentationFormat>
  <Paragraphs>1060</Paragraphs>
  <Slides>65</Slides>
  <Notes>33</Notes>
  <HiddenSlides>6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黑体</vt:lpstr>
      <vt:lpstr>楷体</vt:lpstr>
      <vt:lpstr>楷体_GB2312</vt:lpstr>
      <vt:lpstr>宋体</vt:lpstr>
      <vt:lpstr>微软雅黑</vt:lpstr>
      <vt:lpstr>Arial</vt:lpstr>
      <vt:lpstr>Arial Black</vt:lpstr>
      <vt:lpstr>Cambria Math</vt:lpstr>
      <vt:lpstr>Courier New</vt:lpstr>
      <vt:lpstr>Times New Roman</vt:lpstr>
      <vt:lpstr>Wingdings</vt:lpstr>
      <vt:lpstr>默认设计模板</vt:lpstr>
      <vt:lpstr>Equation.3</vt:lpstr>
      <vt:lpstr>Picture</vt:lpstr>
      <vt:lpstr>Python程序设计初步</vt:lpstr>
      <vt:lpstr>一、程序和程序设计语言</vt:lpstr>
      <vt:lpstr>2. 程序设计语言</vt:lpstr>
      <vt:lpstr>一、程序和程序设计语言</vt:lpstr>
      <vt:lpstr>一、程序和程序设计语言</vt:lpstr>
      <vt:lpstr>一、程序和程序设计语言</vt:lpstr>
      <vt:lpstr>PowerPoint 演示文稿</vt:lpstr>
      <vt:lpstr>一、程序和程序设计语言</vt:lpstr>
      <vt:lpstr>PowerPoint 演示文稿</vt:lpstr>
      <vt:lpstr>PowerPoint 演示文稿</vt:lpstr>
      <vt:lpstr>PowerPoint 演示文稿</vt:lpstr>
      <vt:lpstr>常用math常数和函数 </vt:lpstr>
      <vt:lpstr>一、程序和程序设计语言</vt:lpstr>
      <vt:lpstr>一、程序和程序设计语言</vt:lpstr>
      <vt:lpstr>一、程序和程序设计语言</vt:lpstr>
      <vt:lpstr>PowerPoint 演示文稿</vt:lpstr>
      <vt:lpstr>PowerPoint 演示文稿</vt:lpstr>
      <vt:lpstr>常量、变量和标识符 </vt:lpstr>
      <vt:lpstr>2. 运算符和表达式 </vt:lpstr>
      <vt:lpstr>PowerPoint 演示文稿</vt:lpstr>
      <vt:lpstr>PowerPoint 演示文稿</vt:lpstr>
      <vt:lpstr>写出如下Python表达式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（4）赋值运算符   =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if语句(单分支结构）例</vt:lpstr>
      <vt:lpstr>PowerPoint 演示文稿</vt:lpstr>
      <vt:lpstr>if…elif…else 语句（多分支结构）例 </vt:lpstr>
      <vt:lpstr>多分支结构应用例</vt:lpstr>
      <vt:lpstr>PowerPoint 演示文稿</vt:lpstr>
      <vt:lpstr>PowerPoint 演示文稿</vt:lpstr>
      <vt:lpstr>PowerPoint 演示文稿</vt:lpstr>
      <vt:lpstr>for循环语句 </vt:lpstr>
      <vt:lpstr>PowerPoint 演示文稿</vt:lpstr>
      <vt:lpstr>例：计算1+2+3+……+100的和</vt:lpstr>
      <vt:lpstr>PowerPoint 演示文稿</vt:lpstr>
      <vt:lpstr>while循环语句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同济大学计算机系基础学科组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VB.NET</dc:title>
  <dc:creator>LWM</dc:creator>
  <cp:lastModifiedBy>慧 何</cp:lastModifiedBy>
  <cp:revision>985</cp:revision>
  <dcterms:created xsi:type="dcterms:W3CDTF">2005-07-18T08:28:37Z</dcterms:created>
  <dcterms:modified xsi:type="dcterms:W3CDTF">2025-12-08T11:10:14Z</dcterms:modified>
</cp:coreProperties>
</file>