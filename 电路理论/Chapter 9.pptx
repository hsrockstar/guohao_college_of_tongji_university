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6"/>
  </p:notesMasterIdLst>
  <p:sldIdLst>
    <p:sldId id="400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396" r:id="rId10"/>
    <p:sldId id="275" r:id="rId11"/>
    <p:sldId id="276" r:id="rId12"/>
    <p:sldId id="397" r:id="rId13"/>
    <p:sldId id="278" r:id="rId14"/>
    <p:sldId id="279" r:id="rId15"/>
    <p:sldId id="280" r:id="rId16"/>
    <p:sldId id="281" r:id="rId17"/>
    <p:sldId id="282" r:id="rId18"/>
    <p:sldId id="283" r:id="rId19"/>
    <p:sldId id="399" r:id="rId20"/>
    <p:sldId id="398" r:id="rId21"/>
    <p:sldId id="297" r:id="rId22"/>
    <p:sldId id="298" r:id="rId23"/>
    <p:sldId id="299" r:id="rId24"/>
    <p:sldId id="393" r:id="rId25"/>
    <p:sldId id="302" r:id="rId26"/>
    <p:sldId id="304" r:id="rId27"/>
    <p:sldId id="305" r:id="rId28"/>
    <p:sldId id="308" r:id="rId29"/>
    <p:sldId id="306" r:id="rId30"/>
    <p:sldId id="307" r:id="rId31"/>
    <p:sldId id="309" r:id="rId32"/>
    <p:sldId id="311" r:id="rId33"/>
    <p:sldId id="312" r:id="rId34"/>
    <p:sldId id="313" r:id="rId35"/>
    <p:sldId id="314" r:id="rId36"/>
    <p:sldId id="315" r:id="rId37"/>
    <p:sldId id="401" r:id="rId38"/>
    <p:sldId id="402" r:id="rId39"/>
    <p:sldId id="316" r:id="rId40"/>
    <p:sldId id="317" r:id="rId41"/>
    <p:sldId id="318" r:id="rId42"/>
    <p:sldId id="320" r:id="rId43"/>
    <p:sldId id="321" r:id="rId44"/>
    <p:sldId id="322" r:id="rId45"/>
    <p:sldId id="324" r:id="rId46"/>
    <p:sldId id="325" r:id="rId47"/>
    <p:sldId id="326" r:id="rId48"/>
    <p:sldId id="327" r:id="rId49"/>
    <p:sldId id="329" r:id="rId50"/>
    <p:sldId id="330" r:id="rId51"/>
    <p:sldId id="331" r:id="rId52"/>
    <p:sldId id="332" r:id="rId53"/>
    <p:sldId id="333" r:id="rId54"/>
    <p:sldId id="334" r:id="rId55"/>
    <p:sldId id="336" r:id="rId56"/>
    <p:sldId id="335" r:id="rId57"/>
    <p:sldId id="337" r:id="rId58"/>
    <p:sldId id="338" r:id="rId59"/>
    <p:sldId id="339" r:id="rId60"/>
    <p:sldId id="340" r:id="rId61"/>
    <p:sldId id="341" r:id="rId62"/>
    <p:sldId id="342" r:id="rId63"/>
    <p:sldId id="343" r:id="rId64"/>
    <p:sldId id="344" r:id="rId65"/>
    <p:sldId id="372" r:id="rId66"/>
    <p:sldId id="373" r:id="rId67"/>
    <p:sldId id="374" r:id="rId68"/>
    <p:sldId id="345" r:id="rId69"/>
    <p:sldId id="346" r:id="rId70"/>
    <p:sldId id="347" r:id="rId71"/>
    <p:sldId id="375" r:id="rId72"/>
    <p:sldId id="376" r:id="rId73"/>
    <p:sldId id="377" r:id="rId74"/>
    <p:sldId id="378" r:id="rId75"/>
    <p:sldId id="379" r:id="rId76"/>
    <p:sldId id="380" r:id="rId77"/>
    <p:sldId id="381" r:id="rId78"/>
    <p:sldId id="382" r:id="rId79"/>
    <p:sldId id="383" r:id="rId80"/>
    <p:sldId id="384" r:id="rId81"/>
    <p:sldId id="351" r:id="rId82"/>
    <p:sldId id="352" r:id="rId83"/>
    <p:sldId id="354" r:id="rId84"/>
    <p:sldId id="353" r:id="rId85"/>
    <p:sldId id="355" r:id="rId86"/>
    <p:sldId id="356" r:id="rId87"/>
    <p:sldId id="357" r:id="rId88"/>
    <p:sldId id="358" r:id="rId89"/>
    <p:sldId id="385" r:id="rId90"/>
    <p:sldId id="387" r:id="rId91"/>
    <p:sldId id="388" r:id="rId92"/>
    <p:sldId id="389" r:id="rId93"/>
    <p:sldId id="390" r:id="rId94"/>
    <p:sldId id="391" r:id="rId9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/>
    <p:restoredTop sz="94626"/>
  </p:normalViewPr>
  <p:slideViewPr>
    <p:cSldViewPr>
      <p:cViewPr varScale="1">
        <p:scale>
          <a:sx n="83" d="100"/>
          <a:sy n="83" d="100"/>
        </p:scale>
        <p:origin x="615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5-29T02:30:25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16959 8686 75 0,'6'-31'0'0,"0"12"0"0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5-29T02:55:30.6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7405 16444 108 0,'-15'8'0'0,"15"-8"9"16</inkml:trace>
  <inkml:trace contextRef="#ctx0" brushRef="#br0" timeOffset="9050.67">7809 14248 439 0,'0'0'19'0,"0"0"5"0,6 5-24 0,-6-5 0 16,0 0 0-16,0 0 0 0,6 3 47 0,-6-3 5 0,-6 2 0 0,6-2 1 15,-3 8-41-15,3-8-12 0,0 0 0 0,0 0 8 32,-6 6-32-32,6-6-5 0,3 2-2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5-29T03:12:14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20237 9882 864 0,'0'0'76'0,"0"0"-60"0,0 0-16 0,0 0 0 0,0 0 216 0,0 0 41 16,0 0 8-16,0 0 2 0,0 0-170 0,0 0-33 16,0 0-8-16,0 0 0 0,0 0-32 0,0 0-5 15,0 0-2-15,0 0 0 0,0 0-5 0,0 0 0 16,5 5-1-16,1 3 0 0,-6-8 0 0,6 6 0 16,3-1 0-16,0 3 0 0,3-3-11 0,-3 3 0 15,0 0 0-15,3 0 8 0,3-3-8 0,3 3 0 16,-3-2 0-16,-1 2 0 0,-2-3 21 0,3 3 3 0,0 0 0 0,3-3 0 15,0 3-4-15,0 0-1 0,3 0 0 0,-4 0 0 16,1-3 5-16,0 3 0 0,0 0 1 0,0 0 0 16,-3 0-25-16,0-3 0 0,-1 3 8 0,1-3-8 15,-3 3 0-15,0-2 0 0,-3-1 0 0,0-3 0 16,-3 4-11-16,0-1-1 0,-6-5 0 0,0 0 0 16,0 0 0-16,0 0 0 0,0 0 0 0,0 0 0 31,0 0-28-31,0 0-7 0,0 0-1 0,0 0-939 0</inkml:trace>
  <inkml:trace contextRef="#ctx0" brushRef="#br0" timeOffset="318.2">20323 9808 2102 0,'0'0'93'0,"0"0"19"0,0 0-89 0,0 0-23 16,3-3 0-16,3 1 0 0,-6 2 59 0,6-3 7 16,3 1 2-16,-9 2 0 0,0 0-32 0,0 0-7 15,0 0-1-15,0 0 0 16,0 0-8-16,0 0-1 0,0 0-1 0,0 0 0 0,0 0-6 0,0 0 0 16,3 5-1-16,3 0 0 0,3 3-11 0,-7-3 0 15,1 3 0-15,3 3 0 0,3-3 0 0,0 5 0 16,3-5 0-16,0 3 0 0,3 2 22 0,3 0 2 15,0 0 1-15,0 0 0 0,2 1 13 0,1-1 2 16,0-2 1-16,-3-1 0 0,-3-2-21 0,0 0-4 0,0-3 0 0,-4 3-1 31,-2 0-38-31,-3-3-7 0,-3-2-2 0,-3-3-1200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A7350-99A6-49FC-817A-B7B44230D020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72D2C-C6C8-4442-82A5-D2A0DA7207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129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72D2C-C6C8-4442-82A5-D2A0DA7207B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954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D88F5F-F990-4EE4-8DD7-BEC66820244D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9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7704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352803-B3E2-4C6E-96FE-3218B9AA011D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ale29559_09007.jpg</a:t>
            </a:r>
          </a:p>
        </p:txBody>
      </p:sp>
    </p:spTree>
    <p:extLst>
      <p:ext uri="{BB962C8B-B14F-4D97-AF65-F5344CB8AC3E}">
        <p14:creationId xmlns:p14="http://schemas.microsoft.com/office/powerpoint/2010/main" val="4099864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72D2C-C6C8-4442-82A5-D2A0DA7207B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744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72D2C-C6C8-4442-82A5-D2A0DA7207BE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627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72D2C-C6C8-4442-82A5-D2A0DA7207BE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186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944688"/>
            <a:ext cx="9009063" cy="1052512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765175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22575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73027198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724697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077437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003183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206305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568985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86880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6378381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836400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330281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73875" y="228600"/>
            <a:ext cx="2062163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60356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642052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8250238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622663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43000" y="228600"/>
            <a:ext cx="7793038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447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33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33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745127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30198F2-D624-4827-A185-4B6CE37ED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742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290513" y="38417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673100" y="38417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4338" y="80645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ltGray">
          <a:xfrm>
            <a:off x="0" y="73342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gray">
          <a:xfrm>
            <a:off x="635000" y="27622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gray">
          <a:xfrm>
            <a:off x="315913" y="10668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3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28600"/>
            <a:ext cx="77930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4" name="Rectangle 14"/>
          <p:cNvSpPr>
            <a:spLocks noChangeArrowheads="1"/>
          </p:cNvSpPr>
          <p:nvPr/>
        </p:nvSpPr>
        <p:spPr bwMode="auto">
          <a:xfrm>
            <a:off x="381000" y="6248400"/>
            <a:ext cx="8534400" cy="76200"/>
          </a:xfrm>
          <a:prstGeom prst="rect">
            <a:avLst/>
          </a:prstGeom>
          <a:gradFill rotWithShape="0">
            <a:gsLst>
              <a:gs pos="0">
                <a:srgbClr val="058B95"/>
              </a:gs>
              <a:gs pos="100000">
                <a:srgbClr val="02373A"/>
              </a:gs>
            </a:gsLst>
            <a:lin ang="0" scaled="1"/>
          </a:gradFill>
          <a:ln w="9525">
            <a:solidFill>
              <a:srgbClr val="058B9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" name="Text Box 15"/>
          <p:cNvSpPr txBox="1">
            <a:spLocks noChangeArrowheads="1"/>
          </p:cNvSpPr>
          <p:nvPr/>
        </p:nvSpPr>
        <p:spPr bwMode="auto">
          <a:xfrm>
            <a:off x="8305800" y="6327775"/>
            <a:ext cx="657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ko-KR" altLang="en-US" sz="1400">
                <a:latin typeface="Trebuchet MS" pitchFamily="34" charset="0"/>
                <a:ea typeface="Gulim" pitchFamily="34" charset="-127"/>
              </a:rPr>
              <a:t>- </a:t>
            </a:r>
            <a:fld id="{589907F4-4EEB-4457-B014-F28A521C672D}" type="slidenum">
              <a:rPr lang="ko-KR" altLang="en-US" sz="1400" smtClean="0">
                <a:latin typeface="Trebuchet MS" pitchFamily="34" charset="0"/>
                <a:ea typeface="Gulim" pitchFamily="34" charset="-127"/>
              </a:rPr>
              <a:pPr algn="l" eaLnBrk="1" latinLnBrk="1" hangingPunct="1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t>‹#›</a:t>
            </a:fld>
            <a:r>
              <a:rPr lang="en-US" altLang="ko-KR" sz="1400">
                <a:latin typeface="Trebuchet MS" pitchFamily="34" charset="0"/>
                <a:ea typeface="Gulim" pitchFamily="34" charset="-127"/>
              </a:rPr>
              <a:t> -</a:t>
            </a:r>
          </a:p>
        </p:txBody>
      </p:sp>
      <p:pic>
        <p:nvPicPr>
          <p:cNvPr id="1036" name="图片 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6350000"/>
            <a:ext cx="1217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17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wmf"/><Relationship Id="rId11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2.wmf"/><Relationship Id="rId9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5.bin"/><Relationship Id="rId3" Type="http://schemas.openxmlformats.org/officeDocument/2006/relationships/image" Target="../media/image20.jpeg"/><Relationship Id="rId21" Type="http://schemas.openxmlformats.org/officeDocument/2006/relationships/image" Target="../media/image29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7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29.w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2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37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3.emf"/><Relationship Id="rId3" Type="http://schemas.openxmlformats.org/officeDocument/2006/relationships/image" Target="../media/image38.emf"/><Relationship Id="rId7" Type="http://schemas.openxmlformats.org/officeDocument/2006/relationships/image" Target="../media/image40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5.w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2.emf"/><Relationship Id="rId5" Type="http://schemas.openxmlformats.org/officeDocument/2006/relationships/image" Target="../media/image39.emf"/><Relationship Id="rId15" Type="http://schemas.openxmlformats.org/officeDocument/2006/relationships/image" Target="../media/image44.e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4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1.bin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9.e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5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60.wmf"/><Relationship Id="rId7" Type="http://schemas.openxmlformats.org/officeDocument/2006/relationships/image" Target="../media/image61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51.wmf"/><Relationship Id="rId10" Type="http://schemas.openxmlformats.org/officeDocument/2006/relationships/image" Target="../media/image62.wmf"/><Relationship Id="rId4" Type="http://schemas.openxmlformats.org/officeDocument/2006/relationships/oleObject" Target="../embeddings/oleObject57.bin"/><Relationship Id="rId9" Type="http://schemas.openxmlformats.org/officeDocument/2006/relationships/oleObject" Target="../embeddings/oleObject60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6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9.wmf"/><Relationship Id="rId4" Type="http://schemas.openxmlformats.org/officeDocument/2006/relationships/oleObject" Target="../embeddings/oleObject67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69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4.wmf"/><Relationship Id="rId4" Type="http://schemas.openxmlformats.org/officeDocument/2006/relationships/oleObject" Target="../embeddings/oleObject7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75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1.emf"/><Relationship Id="rId7" Type="http://schemas.openxmlformats.org/officeDocument/2006/relationships/image" Target="../media/image83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9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78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8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93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7" Type="http://schemas.openxmlformats.org/officeDocument/2006/relationships/image" Target="../media/image96.e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95.wmf"/><Relationship Id="rId4" Type="http://schemas.openxmlformats.org/officeDocument/2006/relationships/oleObject" Target="../embeddings/oleObject8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7.emf"/><Relationship Id="rId7" Type="http://schemas.openxmlformats.org/officeDocument/2006/relationships/oleObject" Target="../embeddings/oleObject93.bin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01.wmf"/><Relationship Id="rId4" Type="http://schemas.openxmlformats.org/officeDocument/2006/relationships/image" Target="../media/image98.png"/><Relationship Id="rId9" Type="http://schemas.openxmlformats.org/officeDocument/2006/relationships/oleObject" Target="../embeddings/oleObject94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8.png"/><Relationship Id="rId7" Type="http://schemas.openxmlformats.org/officeDocument/2006/relationships/image" Target="../media/image103.wmf"/><Relationship Id="rId12" Type="http://schemas.openxmlformats.org/officeDocument/2006/relationships/image" Target="../media/image10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6.bin"/><Relationship Id="rId11" Type="http://schemas.openxmlformats.org/officeDocument/2006/relationships/oleObject" Target="../embeddings/oleObject98.bin"/><Relationship Id="rId5" Type="http://schemas.openxmlformats.org/officeDocument/2006/relationships/image" Target="../media/image102.wmf"/><Relationship Id="rId10" Type="http://schemas.openxmlformats.org/officeDocument/2006/relationships/image" Target="../media/image104.wmf"/><Relationship Id="rId4" Type="http://schemas.openxmlformats.org/officeDocument/2006/relationships/oleObject" Target="../embeddings/oleObject95.bin"/><Relationship Id="rId9" Type="http://schemas.openxmlformats.org/officeDocument/2006/relationships/oleObject" Target="../embeddings/oleObject97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100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7" Type="http://schemas.openxmlformats.org/officeDocument/2006/relationships/image" Target="../media/image110.e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10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11.emf"/><Relationship Id="rId7" Type="http://schemas.openxmlformats.org/officeDocument/2006/relationships/oleObject" Target="../embeddings/oleObject106.bin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15.wmf"/><Relationship Id="rId4" Type="http://schemas.openxmlformats.org/officeDocument/2006/relationships/image" Target="../media/image112.png"/><Relationship Id="rId9" Type="http://schemas.openxmlformats.org/officeDocument/2006/relationships/oleObject" Target="../embeddings/oleObject107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image" Target="../media/image136.png"/><Relationship Id="rId7" Type="http://schemas.openxmlformats.org/officeDocument/2006/relationships/image" Target="../media/image11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8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113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19.bin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25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9.wmf"/><Relationship Id="rId4" Type="http://schemas.openxmlformats.org/officeDocument/2006/relationships/oleObject" Target="../embeddings/oleObject121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35.wmf"/><Relationship Id="rId3" Type="http://schemas.openxmlformats.org/officeDocument/2006/relationships/image" Target="../media/image130.wmf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127.bin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34.wmf"/><Relationship Id="rId5" Type="http://schemas.openxmlformats.org/officeDocument/2006/relationships/image" Target="../media/image131.wmf"/><Relationship Id="rId10" Type="http://schemas.openxmlformats.org/officeDocument/2006/relationships/oleObject" Target="../embeddings/oleObject126.bin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33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7.wmf"/><Relationship Id="rId4" Type="http://schemas.openxmlformats.org/officeDocument/2006/relationships/oleObject" Target="../embeddings/oleObject129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3" Type="http://schemas.openxmlformats.org/officeDocument/2006/relationships/image" Target="../media/image130.wmf"/><Relationship Id="rId7" Type="http://schemas.openxmlformats.org/officeDocument/2006/relationships/image" Target="../media/image138.wmf"/><Relationship Id="rId2" Type="http://schemas.openxmlformats.org/officeDocument/2006/relationships/oleObject" Target="../embeddings/oleObject1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40.wmf"/><Relationship Id="rId5" Type="http://schemas.openxmlformats.org/officeDocument/2006/relationships/image" Target="../media/image132.wmf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39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46.wmf"/><Relationship Id="rId18" Type="http://schemas.openxmlformats.org/officeDocument/2006/relationships/image" Target="../media/image150.wmf"/><Relationship Id="rId3" Type="http://schemas.openxmlformats.org/officeDocument/2006/relationships/image" Target="../media/image141.wmf"/><Relationship Id="rId21" Type="http://schemas.openxmlformats.org/officeDocument/2006/relationships/oleObject" Target="../embeddings/oleObject143.bin"/><Relationship Id="rId7" Type="http://schemas.openxmlformats.org/officeDocument/2006/relationships/image" Target="../media/image143.wmf"/><Relationship Id="rId12" Type="http://schemas.openxmlformats.org/officeDocument/2006/relationships/oleObject" Target="../embeddings/oleObject140.bin"/><Relationship Id="rId17" Type="http://schemas.openxmlformats.org/officeDocument/2006/relationships/oleObject" Target="../embeddings/oleObject141.bin"/><Relationship Id="rId2" Type="http://schemas.openxmlformats.org/officeDocument/2006/relationships/oleObject" Target="../embeddings/oleObject135.bin"/><Relationship Id="rId16" Type="http://schemas.openxmlformats.org/officeDocument/2006/relationships/image" Target="../media/image149.png"/><Relationship Id="rId20" Type="http://schemas.openxmlformats.org/officeDocument/2006/relationships/image" Target="../media/image15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45.wmf"/><Relationship Id="rId24" Type="http://schemas.openxmlformats.org/officeDocument/2006/relationships/image" Target="../media/image153.emf"/><Relationship Id="rId5" Type="http://schemas.openxmlformats.org/officeDocument/2006/relationships/image" Target="../media/image142.wmf"/><Relationship Id="rId15" Type="http://schemas.openxmlformats.org/officeDocument/2006/relationships/image" Target="../media/image148.png"/><Relationship Id="rId23" Type="http://schemas.openxmlformats.org/officeDocument/2006/relationships/oleObject" Target="../embeddings/oleObject144.bin"/><Relationship Id="rId10" Type="http://schemas.openxmlformats.org/officeDocument/2006/relationships/oleObject" Target="../embeddings/oleObject139.bin"/><Relationship Id="rId19" Type="http://schemas.openxmlformats.org/officeDocument/2006/relationships/oleObject" Target="../embeddings/oleObject142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44.wmf"/><Relationship Id="rId14" Type="http://schemas.openxmlformats.org/officeDocument/2006/relationships/image" Target="../media/image147.png"/><Relationship Id="rId22" Type="http://schemas.openxmlformats.org/officeDocument/2006/relationships/image" Target="../media/image152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3" Type="http://schemas.openxmlformats.org/officeDocument/2006/relationships/image" Target="../media/image141.wmf"/><Relationship Id="rId7" Type="http://schemas.openxmlformats.org/officeDocument/2006/relationships/image" Target="../media/image154.wmf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56.wmf"/><Relationship Id="rId5" Type="http://schemas.openxmlformats.org/officeDocument/2006/relationships/image" Target="../media/image142.wmf"/><Relationship Id="rId10" Type="http://schemas.openxmlformats.org/officeDocument/2006/relationships/oleObject" Target="../embeddings/oleObject147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55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3" Type="http://schemas.openxmlformats.org/officeDocument/2006/relationships/image" Target="../media/image157.wmf"/><Relationship Id="rId7" Type="http://schemas.openxmlformats.org/officeDocument/2006/relationships/image" Target="../media/image159.w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5" Type="http://schemas.openxmlformats.org/officeDocument/2006/relationships/image" Target="../media/image158.w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60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66.wmf"/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68.wmf"/><Relationship Id="rId2" Type="http://schemas.openxmlformats.org/officeDocument/2006/relationships/oleObject" Target="../embeddings/oleObject152.bin"/><Relationship Id="rId16" Type="http://schemas.openxmlformats.org/officeDocument/2006/relationships/oleObject" Target="../embeddings/oleObject15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65.wmf"/><Relationship Id="rId5" Type="http://schemas.openxmlformats.org/officeDocument/2006/relationships/image" Target="../media/image162.wmf"/><Relationship Id="rId15" Type="http://schemas.openxmlformats.org/officeDocument/2006/relationships/image" Target="../media/image167.wmf"/><Relationship Id="rId10" Type="http://schemas.openxmlformats.org/officeDocument/2006/relationships/oleObject" Target="../embeddings/oleObject156.bin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64.wmf"/><Relationship Id="rId14" Type="http://schemas.openxmlformats.org/officeDocument/2006/relationships/oleObject" Target="../embeddings/oleObject158.bin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4.wmf"/><Relationship Id="rId18" Type="http://schemas.openxmlformats.org/officeDocument/2006/relationships/oleObject" Target="../embeddings/oleObject168.bin"/><Relationship Id="rId26" Type="http://schemas.openxmlformats.org/officeDocument/2006/relationships/oleObject" Target="../embeddings/oleObject172.bin"/><Relationship Id="rId3" Type="http://schemas.openxmlformats.org/officeDocument/2006/relationships/image" Target="../media/image169.wmf"/><Relationship Id="rId21" Type="http://schemas.openxmlformats.org/officeDocument/2006/relationships/image" Target="../media/image178.wmf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165.bin"/><Relationship Id="rId17" Type="http://schemas.openxmlformats.org/officeDocument/2006/relationships/image" Target="../media/image176.wmf"/><Relationship Id="rId25" Type="http://schemas.openxmlformats.org/officeDocument/2006/relationships/image" Target="../media/image180.wmf"/><Relationship Id="rId33" Type="http://schemas.openxmlformats.org/officeDocument/2006/relationships/slide" Target="slide32.xml"/><Relationship Id="rId2" Type="http://schemas.openxmlformats.org/officeDocument/2006/relationships/oleObject" Target="../embeddings/oleObject160.bin"/><Relationship Id="rId16" Type="http://schemas.openxmlformats.org/officeDocument/2006/relationships/oleObject" Target="../embeddings/oleObject167.bin"/><Relationship Id="rId20" Type="http://schemas.openxmlformats.org/officeDocument/2006/relationships/oleObject" Target="../embeddings/oleObject169.bin"/><Relationship Id="rId29" Type="http://schemas.openxmlformats.org/officeDocument/2006/relationships/image" Target="../media/image18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173.wmf"/><Relationship Id="rId24" Type="http://schemas.openxmlformats.org/officeDocument/2006/relationships/oleObject" Target="../embeddings/oleObject171.bin"/><Relationship Id="rId32" Type="http://schemas.openxmlformats.org/officeDocument/2006/relationships/slide" Target="slide2.xml"/><Relationship Id="rId5" Type="http://schemas.openxmlformats.org/officeDocument/2006/relationships/image" Target="../media/image170.wmf"/><Relationship Id="rId15" Type="http://schemas.openxmlformats.org/officeDocument/2006/relationships/image" Target="../media/image175.wmf"/><Relationship Id="rId23" Type="http://schemas.openxmlformats.org/officeDocument/2006/relationships/image" Target="../media/image179.wmf"/><Relationship Id="rId28" Type="http://schemas.openxmlformats.org/officeDocument/2006/relationships/oleObject" Target="../embeddings/oleObject173.bin"/><Relationship Id="rId10" Type="http://schemas.openxmlformats.org/officeDocument/2006/relationships/oleObject" Target="../embeddings/oleObject164.bin"/><Relationship Id="rId19" Type="http://schemas.openxmlformats.org/officeDocument/2006/relationships/image" Target="../media/image177.wmf"/><Relationship Id="rId31" Type="http://schemas.openxmlformats.org/officeDocument/2006/relationships/image" Target="../media/image183.wmf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72.wmf"/><Relationship Id="rId14" Type="http://schemas.openxmlformats.org/officeDocument/2006/relationships/oleObject" Target="../embeddings/oleObject166.bin"/><Relationship Id="rId22" Type="http://schemas.openxmlformats.org/officeDocument/2006/relationships/oleObject" Target="../embeddings/oleObject170.bin"/><Relationship Id="rId27" Type="http://schemas.openxmlformats.org/officeDocument/2006/relationships/image" Target="../media/image181.wmf"/><Relationship Id="rId30" Type="http://schemas.openxmlformats.org/officeDocument/2006/relationships/oleObject" Target="../embeddings/oleObject174.bin"/><Relationship Id="rId8" Type="http://schemas.openxmlformats.org/officeDocument/2006/relationships/oleObject" Target="../embeddings/oleObject163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189.wmf"/><Relationship Id="rId3" Type="http://schemas.openxmlformats.org/officeDocument/2006/relationships/image" Target="../media/image184.emf"/><Relationship Id="rId7" Type="http://schemas.openxmlformats.org/officeDocument/2006/relationships/image" Target="../media/image186.emf"/><Relationship Id="rId12" Type="http://schemas.openxmlformats.org/officeDocument/2006/relationships/oleObject" Target="../embeddings/oleObject180.bin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88.emf"/><Relationship Id="rId5" Type="http://schemas.openxmlformats.org/officeDocument/2006/relationships/image" Target="../media/image185.wmf"/><Relationship Id="rId15" Type="http://schemas.openxmlformats.org/officeDocument/2006/relationships/image" Target="../media/image190.wmf"/><Relationship Id="rId10" Type="http://schemas.openxmlformats.org/officeDocument/2006/relationships/oleObject" Target="../embeddings/oleObject179.bin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87.wmf"/><Relationship Id="rId14" Type="http://schemas.openxmlformats.org/officeDocument/2006/relationships/oleObject" Target="../embeddings/oleObject181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196.wmf"/><Relationship Id="rId3" Type="http://schemas.openxmlformats.org/officeDocument/2006/relationships/image" Target="../media/image191.wmf"/><Relationship Id="rId7" Type="http://schemas.openxmlformats.org/officeDocument/2006/relationships/image" Target="../media/image193.wmf"/><Relationship Id="rId12" Type="http://schemas.openxmlformats.org/officeDocument/2006/relationships/oleObject" Target="../embeddings/oleObject187.bin"/><Relationship Id="rId2" Type="http://schemas.openxmlformats.org/officeDocument/2006/relationships/oleObject" Target="../embeddings/oleObject18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95.emf"/><Relationship Id="rId5" Type="http://schemas.openxmlformats.org/officeDocument/2006/relationships/image" Target="../media/image192.wmf"/><Relationship Id="rId10" Type="http://schemas.openxmlformats.org/officeDocument/2006/relationships/oleObject" Target="../embeddings/oleObject186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94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7" Type="http://schemas.openxmlformats.org/officeDocument/2006/relationships/image" Target="../media/image199.emf"/><Relationship Id="rId2" Type="http://schemas.openxmlformats.org/officeDocument/2006/relationships/oleObject" Target="../embeddings/oleObject18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0.bin"/><Relationship Id="rId5" Type="http://schemas.openxmlformats.org/officeDocument/2006/relationships/image" Target="../media/image198.emf"/><Relationship Id="rId4" Type="http://schemas.openxmlformats.org/officeDocument/2006/relationships/oleObject" Target="../embeddings/oleObject189.bin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oleObject" Target="../embeddings/oleObject191.bin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2.wmf"/><Relationship Id="rId4" Type="http://schemas.openxmlformats.org/officeDocument/2006/relationships/oleObject" Target="../embeddings/oleObject193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208.wmf"/><Relationship Id="rId3" Type="http://schemas.openxmlformats.org/officeDocument/2006/relationships/image" Target="../media/image203.emf"/><Relationship Id="rId7" Type="http://schemas.openxmlformats.org/officeDocument/2006/relationships/image" Target="../media/image205.emf"/><Relationship Id="rId12" Type="http://schemas.openxmlformats.org/officeDocument/2006/relationships/oleObject" Target="../embeddings/oleObject199.bin"/><Relationship Id="rId2" Type="http://schemas.openxmlformats.org/officeDocument/2006/relationships/oleObject" Target="../embeddings/oleObject19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207.wmf"/><Relationship Id="rId5" Type="http://schemas.openxmlformats.org/officeDocument/2006/relationships/image" Target="../media/image204.wmf"/><Relationship Id="rId10" Type="http://schemas.openxmlformats.org/officeDocument/2006/relationships/oleObject" Target="../embeddings/oleObject198.bin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206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wmf"/><Relationship Id="rId2" Type="http://schemas.openxmlformats.org/officeDocument/2006/relationships/oleObject" Target="../embeddings/oleObject200.bin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oleObject" Target="../embeddings/oleObject201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1.wmf"/><Relationship Id="rId4" Type="http://schemas.openxmlformats.org/officeDocument/2006/relationships/oleObject" Target="../embeddings/oleObject202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3" Type="http://schemas.openxmlformats.org/officeDocument/2006/relationships/image" Target="../media/image212.emf"/><Relationship Id="rId7" Type="http://schemas.openxmlformats.org/officeDocument/2006/relationships/image" Target="../media/image214.wmf"/><Relationship Id="rId2" Type="http://schemas.openxmlformats.org/officeDocument/2006/relationships/oleObject" Target="../embeddings/oleObject203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05.bin"/><Relationship Id="rId5" Type="http://schemas.openxmlformats.org/officeDocument/2006/relationships/image" Target="../media/image213.wmf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215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emf"/><Relationship Id="rId7" Type="http://schemas.openxmlformats.org/officeDocument/2006/relationships/image" Target="../media/image218.wmf"/><Relationship Id="rId2" Type="http://schemas.openxmlformats.org/officeDocument/2006/relationships/oleObject" Target="../embeddings/oleObject20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09.bin"/><Relationship Id="rId5" Type="http://schemas.openxmlformats.org/officeDocument/2006/relationships/image" Target="../media/image217.wmf"/><Relationship Id="rId4" Type="http://schemas.openxmlformats.org/officeDocument/2006/relationships/oleObject" Target="../embeddings/oleObject208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7" Type="http://schemas.openxmlformats.org/officeDocument/2006/relationships/image" Target="../media/image221.emf"/><Relationship Id="rId2" Type="http://schemas.openxmlformats.org/officeDocument/2006/relationships/oleObject" Target="../embeddings/oleObject21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2.bin"/><Relationship Id="rId5" Type="http://schemas.openxmlformats.org/officeDocument/2006/relationships/image" Target="../media/image220.wmf"/><Relationship Id="rId4" Type="http://schemas.openxmlformats.org/officeDocument/2006/relationships/oleObject" Target="../embeddings/oleObject211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3" Type="http://schemas.openxmlformats.org/officeDocument/2006/relationships/image" Target="../media/image222.wmf"/><Relationship Id="rId7" Type="http://schemas.openxmlformats.org/officeDocument/2006/relationships/image" Target="../media/image224.wmf"/><Relationship Id="rId2" Type="http://schemas.openxmlformats.org/officeDocument/2006/relationships/oleObject" Target="../embeddings/oleObject21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5.bin"/><Relationship Id="rId5" Type="http://schemas.openxmlformats.org/officeDocument/2006/relationships/image" Target="../media/image223.e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225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emf"/><Relationship Id="rId2" Type="http://schemas.openxmlformats.org/officeDocument/2006/relationships/oleObject" Target="../embeddings/oleObject217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7.wmf"/><Relationship Id="rId4" Type="http://schemas.openxmlformats.org/officeDocument/2006/relationships/oleObject" Target="../embeddings/oleObject218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emf"/><Relationship Id="rId2" Type="http://schemas.openxmlformats.org/officeDocument/2006/relationships/oleObject" Target="../embeddings/oleObject217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8.wmf"/><Relationship Id="rId4" Type="http://schemas.openxmlformats.org/officeDocument/2006/relationships/oleObject" Target="../embeddings/oleObject219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wmf"/><Relationship Id="rId2" Type="http://schemas.openxmlformats.org/officeDocument/2006/relationships/oleObject" Target="../embeddings/oleObject22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0.wmf"/><Relationship Id="rId4" Type="http://schemas.openxmlformats.org/officeDocument/2006/relationships/oleObject" Target="../embeddings/oleObject221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emf"/><Relationship Id="rId2" Type="http://schemas.openxmlformats.org/officeDocument/2006/relationships/oleObject" Target="../embeddings/oleObject222.bin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3" Type="http://schemas.openxmlformats.org/officeDocument/2006/relationships/image" Target="../media/image232.wmf"/><Relationship Id="rId7" Type="http://schemas.openxmlformats.org/officeDocument/2006/relationships/image" Target="../media/image234.wmf"/><Relationship Id="rId2" Type="http://schemas.openxmlformats.org/officeDocument/2006/relationships/oleObject" Target="../embeddings/oleObject2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5.bin"/><Relationship Id="rId5" Type="http://schemas.openxmlformats.org/officeDocument/2006/relationships/image" Target="../media/image233.wmf"/><Relationship Id="rId4" Type="http://schemas.openxmlformats.org/officeDocument/2006/relationships/oleObject" Target="../embeddings/oleObject224.bin"/><Relationship Id="rId9" Type="http://schemas.openxmlformats.org/officeDocument/2006/relationships/image" Target="../media/image235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wmf"/><Relationship Id="rId7" Type="http://schemas.openxmlformats.org/officeDocument/2006/relationships/image" Target="../media/image238.wmf"/><Relationship Id="rId2" Type="http://schemas.openxmlformats.org/officeDocument/2006/relationships/oleObject" Target="../embeddings/oleObject2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9.bin"/><Relationship Id="rId5" Type="http://schemas.openxmlformats.org/officeDocument/2006/relationships/image" Target="../media/image237.wmf"/><Relationship Id="rId4" Type="http://schemas.openxmlformats.org/officeDocument/2006/relationships/oleObject" Target="../embeddings/oleObject228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wmf"/><Relationship Id="rId7" Type="http://schemas.openxmlformats.org/officeDocument/2006/relationships/image" Target="../media/image233.wmf"/><Relationship Id="rId2" Type="http://schemas.openxmlformats.org/officeDocument/2006/relationships/oleObject" Target="../embeddings/oleObject2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2.bin"/><Relationship Id="rId5" Type="http://schemas.openxmlformats.org/officeDocument/2006/relationships/image" Target="../media/image240.wmf"/><Relationship Id="rId4" Type="http://schemas.openxmlformats.org/officeDocument/2006/relationships/oleObject" Target="../embeddings/oleObject231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6.bin"/><Relationship Id="rId13" Type="http://schemas.openxmlformats.org/officeDocument/2006/relationships/image" Target="../media/image246.emf"/><Relationship Id="rId18" Type="http://schemas.openxmlformats.org/officeDocument/2006/relationships/oleObject" Target="../embeddings/oleObject241.bin"/><Relationship Id="rId3" Type="http://schemas.openxmlformats.org/officeDocument/2006/relationships/image" Target="../media/image241.wmf"/><Relationship Id="rId21" Type="http://schemas.openxmlformats.org/officeDocument/2006/relationships/slide" Target="slide32.xml"/><Relationship Id="rId7" Type="http://schemas.openxmlformats.org/officeDocument/2006/relationships/image" Target="../media/image243.wmf"/><Relationship Id="rId12" Type="http://schemas.openxmlformats.org/officeDocument/2006/relationships/oleObject" Target="../embeddings/oleObject238.bin"/><Relationship Id="rId17" Type="http://schemas.openxmlformats.org/officeDocument/2006/relationships/image" Target="../media/image248.emf"/><Relationship Id="rId2" Type="http://schemas.openxmlformats.org/officeDocument/2006/relationships/oleObject" Target="../embeddings/oleObject233.bin"/><Relationship Id="rId16" Type="http://schemas.openxmlformats.org/officeDocument/2006/relationships/oleObject" Target="../embeddings/oleObject240.bin"/><Relationship Id="rId20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5.bin"/><Relationship Id="rId11" Type="http://schemas.openxmlformats.org/officeDocument/2006/relationships/image" Target="../media/image245.emf"/><Relationship Id="rId5" Type="http://schemas.openxmlformats.org/officeDocument/2006/relationships/image" Target="../media/image242.wmf"/><Relationship Id="rId15" Type="http://schemas.openxmlformats.org/officeDocument/2006/relationships/image" Target="../media/image247.emf"/><Relationship Id="rId10" Type="http://schemas.openxmlformats.org/officeDocument/2006/relationships/oleObject" Target="../embeddings/oleObject237.bin"/><Relationship Id="rId19" Type="http://schemas.openxmlformats.org/officeDocument/2006/relationships/image" Target="../media/image249.emf"/><Relationship Id="rId4" Type="http://schemas.openxmlformats.org/officeDocument/2006/relationships/oleObject" Target="../embeddings/oleObject234.bin"/><Relationship Id="rId9" Type="http://schemas.openxmlformats.org/officeDocument/2006/relationships/image" Target="../media/image244.wmf"/><Relationship Id="rId14" Type="http://schemas.openxmlformats.org/officeDocument/2006/relationships/oleObject" Target="../embeddings/oleObject239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255.wmf"/><Relationship Id="rId18" Type="http://schemas.openxmlformats.org/officeDocument/2006/relationships/oleObject" Target="../embeddings/oleObject250.bin"/><Relationship Id="rId3" Type="http://schemas.openxmlformats.org/officeDocument/2006/relationships/image" Target="../media/image250.wmf"/><Relationship Id="rId21" Type="http://schemas.openxmlformats.org/officeDocument/2006/relationships/image" Target="../media/image259.emf"/><Relationship Id="rId7" Type="http://schemas.openxmlformats.org/officeDocument/2006/relationships/image" Target="../media/image252.wmf"/><Relationship Id="rId12" Type="http://schemas.openxmlformats.org/officeDocument/2006/relationships/oleObject" Target="../embeddings/oleObject247.bin"/><Relationship Id="rId17" Type="http://schemas.openxmlformats.org/officeDocument/2006/relationships/image" Target="../media/image257.emf"/><Relationship Id="rId2" Type="http://schemas.openxmlformats.org/officeDocument/2006/relationships/oleObject" Target="../embeddings/oleObject242.bin"/><Relationship Id="rId16" Type="http://schemas.openxmlformats.org/officeDocument/2006/relationships/oleObject" Target="../embeddings/oleObject249.bin"/><Relationship Id="rId20" Type="http://schemas.openxmlformats.org/officeDocument/2006/relationships/oleObject" Target="../embeddings/oleObject2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254.wmf"/><Relationship Id="rId5" Type="http://schemas.openxmlformats.org/officeDocument/2006/relationships/image" Target="../media/image251.wmf"/><Relationship Id="rId15" Type="http://schemas.openxmlformats.org/officeDocument/2006/relationships/image" Target="../media/image256.emf"/><Relationship Id="rId23" Type="http://schemas.openxmlformats.org/officeDocument/2006/relationships/image" Target="../media/image260.emf"/><Relationship Id="rId10" Type="http://schemas.openxmlformats.org/officeDocument/2006/relationships/oleObject" Target="../embeddings/oleObject246.bin"/><Relationship Id="rId19" Type="http://schemas.openxmlformats.org/officeDocument/2006/relationships/image" Target="../media/image258.emf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53.wmf"/><Relationship Id="rId14" Type="http://schemas.openxmlformats.org/officeDocument/2006/relationships/oleObject" Target="../embeddings/oleObject248.bin"/><Relationship Id="rId22" Type="http://schemas.openxmlformats.org/officeDocument/2006/relationships/oleObject" Target="../embeddings/oleObject252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6.bin"/><Relationship Id="rId3" Type="http://schemas.openxmlformats.org/officeDocument/2006/relationships/image" Target="../media/image261.wmf"/><Relationship Id="rId7" Type="http://schemas.openxmlformats.org/officeDocument/2006/relationships/image" Target="../media/image263.wmf"/><Relationship Id="rId2" Type="http://schemas.openxmlformats.org/officeDocument/2006/relationships/oleObject" Target="../embeddings/oleObject2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5.bin"/><Relationship Id="rId5" Type="http://schemas.openxmlformats.org/officeDocument/2006/relationships/image" Target="../media/image262.wmf"/><Relationship Id="rId4" Type="http://schemas.openxmlformats.org/officeDocument/2006/relationships/oleObject" Target="../embeddings/oleObject254.bin"/><Relationship Id="rId9" Type="http://schemas.openxmlformats.org/officeDocument/2006/relationships/image" Target="../media/image264.w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0.bin"/><Relationship Id="rId3" Type="http://schemas.openxmlformats.org/officeDocument/2006/relationships/image" Target="../media/image265.wmf"/><Relationship Id="rId7" Type="http://schemas.openxmlformats.org/officeDocument/2006/relationships/image" Target="../media/image267.wmf"/><Relationship Id="rId2" Type="http://schemas.openxmlformats.org/officeDocument/2006/relationships/oleObject" Target="../embeddings/oleObject2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9.bin"/><Relationship Id="rId11" Type="http://schemas.openxmlformats.org/officeDocument/2006/relationships/slide" Target="slide32.xml"/><Relationship Id="rId5" Type="http://schemas.openxmlformats.org/officeDocument/2006/relationships/image" Target="../media/image266.wmf"/><Relationship Id="rId10" Type="http://schemas.openxmlformats.org/officeDocument/2006/relationships/slide" Target="slide2.xml"/><Relationship Id="rId4" Type="http://schemas.openxmlformats.org/officeDocument/2006/relationships/oleObject" Target="../embeddings/oleObject258.bin"/><Relationship Id="rId9" Type="http://schemas.openxmlformats.org/officeDocument/2006/relationships/image" Target="../media/image268.wmf"/></Relationships>
</file>

<file path=ppt/slides/_rels/slide8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4.emf"/><Relationship Id="rId18" Type="http://schemas.openxmlformats.org/officeDocument/2006/relationships/oleObject" Target="../embeddings/oleObject269.bin"/><Relationship Id="rId26" Type="http://schemas.openxmlformats.org/officeDocument/2006/relationships/image" Target="../media/image280.emf"/><Relationship Id="rId39" Type="http://schemas.openxmlformats.org/officeDocument/2006/relationships/oleObject" Target="../embeddings/oleObject282.bin"/><Relationship Id="rId21" Type="http://schemas.openxmlformats.org/officeDocument/2006/relationships/oleObject" Target="../embeddings/oleObject271.bin"/><Relationship Id="rId34" Type="http://schemas.openxmlformats.org/officeDocument/2006/relationships/image" Target="../media/image282.emf"/><Relationship Id="rId42" Type="http://schemas.openxmlformats.org/officeDocument/2006/relationships/image" Target="../media/image286.emf"/><Relationship Id="rId7" Type="http://schemas.openxmlformats.org/officeDocument/2006/relationships/image" Target="../media/image271.wmf"/><Relationship Id="rId2" Type="http://schemas.openxmlformats.org/officeDocument/2006/relationships/oleObject" Target="../embeddings/oleObject261.bin"/><Relationship Id="rId16" Type="http://schemas.openxmlformats.org/officeDocument/2006/relationships/oleObject" Target="../embeddings/oleObject268.bin"/><Relationship Id="rId29" Type="http://schemas.openxmlformats.org/officeDocument/2006/relationships/image" Target="../media/image28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3.bin"/><Relationship Id="rId11" Type="http://schemas.openxmlformats.org/officeDocument/2006/relationships/image" Target="../media/image273.wmf"/><Relationship Id="rId24" Type="http://schemas.openxmlformats.org/officeDocument/2006/relationships/image" Target="../media/image279.wmf"/><Relationship Id="rId32" Type="http://schemas.openxmlformats.org/officeDocument/2006/relationships/oleObject" Target="../embeddings/oleObject278.bin"/><Relationship Id="rId37" Type="http://schemas.openxmlformats.org/officeDocument/2006/relationships/oleObject" Target="../embeddings/oleObject281.bin"/><Relationship Id="rId40" Type="http://schemas.openxmlformats.org/officeDocument/2006/relationships/image" Target="../media/image285.emf"/><Relationship Id="rId45" Type="http://schemas.openxmlformats.org/officeDocument/2006/relationships/oleObject" Target="../embeddings/oleObject285.bin"/><Relationship Id="rId5" Type="http://schemas.openxmlformats.org/officeDocument/2006/relationships/image" Target="../media/image270.emf"/><Relationship Id="rId15" Type="http://schemas.openxmlformats.org/officeDocument/2006/relationships/image" Target="../media/image275.emf"/><Relationship Id="rId23" Type="http://schemas.openxmlformats.org/officeDocument/2006/relationships/oleObject" Target="../embeddings/oleObject272.bin"/><Relationship Id="rId28" Type="http://schemas.openxmlformats.org/officeDocument/2006/relationships/oleObject" Target="../embeddings/oleObject275.bin"/><Relationship Id="rId36" Type="http://schemas.openxmlformats.org/officeDocument/2006/relationships/image" Target="../media/image283.emf"/><Relationship Id="rId10" Type="http://schemas.openxmlformats.org/officeDocument/2006/relationships/oleObject" Target="../embeddings/oleObject265.bin"/><Relationship Id="rId19" Type="http://schemas.openxmlformats.org/officeDocument/2006/relationships/oleObject" Target="../embeddings/oleObject270.bin"/><Relationship Id="rId31" Type="http://schemas.openxmlformats.org/officeDocument/2006/relationships/oleObject" Target="../embeddings/oleObject277.bin"/><Relationship Id="rId44" Type="http://schemas.openxmlformats.org/officeDocument/2006/relationships/image" Target="../media/image287.emf"/><Relationship Id="rId4" Type="http://schemas.openxmlformats.org/officeDocument/2006/relationships/oleObject" Target="../embeddings/oleObject262.bin"/><Relationship Id="rId9" Type="http://schemas.openxmlformats.org/officeDocument/2006/relationships/image" Target="../media/image272.emf"/><Relationship Id="rId14" Type="http://schemas.openxmlformats.org/officeDocument/2006/relationships/oleObject" Target="../embeddings/oleObject267.bin"/><Relationship Id="rId22" Type="http://schemas.openxmlformats.org/officeDocument/2006/relationships/image" Target="../media/image278.wmf"/><Relationship Id="rId27" Type="http://schemas.openxmlformats.org/officeDocument/2006/relationships/oleObject" Target="../embeddings/oleObject274.bin"/><Relationship Id="rId30" Type="http://schemas.openxmlformats.org/officeDocument/2006/relationships/oleObject" Target="../embeddings/oleObject276.bin"/><Relationship Id="rId35" Type="http://schemas.openxmlformats.org/officeDocument/2006/relationships/oleObject" Target="../embeddings/oleObject280.bin"/><Relationship Id="rId43" Type="http://schemas.openxmlformats.org/officeDocument/2006/relationships/oleObject" Target="../embeddings/oleObject284.bin"/><Relationship Id="rId8" Type="http://schemas.openxmlformats.org/officeDocument/2006/relationships/oleObject" Target="../embeddings/oleObject264.bin"/><Relationship Id="rId3" Type="http://schemas.openxmlformats.org/officeDocument/2006/relationships/image" Target="../media/image269.wmf"/><Relationship Id="rId12" Type="http://schemas.openxmlformats.org/officeDocument/2006/relationships/oleObject" Target="../embeddings/oleObject266.bin"/><Relationship Id="rId17" Type="http://schemas.openxmlformats.org/officeDocument/2006/relationships/image" Target="../media/image276.emf"/><Relationship Id="rId25" Type="http://schemas.openxmlformats.org/officeDocument/2006/relationships/oleObject" Target="../embeddings/oleObject273.bin"/><Relationship Id="rId33" Type="http://schemas.openxmlformats.org/officeDocument/2006/relationships/oleObject" Target="../embeddings/oleObject279.bin"/><Relationship Id="rId38" Type="http://schemas.openxmlformats.org/officeDocument/2006/relationships/image" Target="../media/image284.emf"/><Relationship Id="rId46" Type="http://schemas.openxmlformats.org/officeDocument/2006/relationships/image" Target="../media/image288.emf"/><Relationship Id="rId20" Type="http://schemas.openxmlformats.org/officeDocument/2006/relationships/image" Target="../media/image277.emf"/><Relationship Id="rId41" Type="http://schemas.openxmlformats.org/officeDocument/2006/relationships/oleObject" Target="../embeddings/oleObject283.bin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9.bin"/><Relationship Id="rId13" Type="http://schemas.openxmlformats.org/officeDocument/2006/relationships/image" Target="../media/image273.wmf"/><Relationship Id="rId18" Type="http://schemas.openxmlformats.org/officeDocument/2006/relationships/oleObject" Target="../embeddings/oleObject294.bin"/><Relationship Id="rId26" Type="http://schemas.openxmlformats.org/officeDocument/2006/relationships/oleObject" Target="../embeddings/oleObject296.bin"/><Relationship Id="rId3" Type="http://schemas.openxmlformats.org/officeDocument/2006/relationships/image" Target="../media/image289.wmf"/><Relationship Id="rId21" Type="http://schemas.openxmlformats.org/officeDocument/2006/relationships/image" Target="../media/image150.wmf"/><Relationship Id="rId7" Type="http://schemas.openxmlformats.org/officeDocument/2006/relationships/image" Target="../media/image291.emf"/><Relationship Id="rId12" Type="http://schemas.openxmlformats.org/officeDocument/2006/relationships/oleObject" Target="../embeddings/oleObject291.bin"/><Relationship Id="rId17" Type="http://schemas.openxmlformats.org/officeDocument/2006/relationships/image" Target="../media/image294.emf"/><Relationship Id="rId25" Type="http://schemas.openxmlformats.org/officeDocument/2006/relationships/image" Target="../media/image295.wmf"/><Relationship Id="rId2" Type="http://schemas.openxmlformats.org/officeDocument/2006/relationships/oleObject" Target="../embeddings/oleObject286.bin"/><Relationship Id="rId16" Type="http://schemas.openxmlformats.org/officeDocument/2006/relationships/oleObject" Target="../embeddings/oleObject293.bin"/><Relationship Id="rId20" Type="http://schemas.openxmlformats.org/officeDocument/2006/relationships/oleObject" Target="../embeddings/oleObject141.bin"/><Relationship Id="rId29" Type="http://schemas.openxmlformats.org/officeDocument/2006/relationships/slide" Target="slide3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8.bin"/><Relationship Id="rId11" Type="http://schemas.openxmlformats.org/officeDocument/2006/relationships/image" Target="../media/image293.emf"/><Relationship Id="rId24" Type="http://schemas.openxmlformats.org/officeDocument/2006/relationships/oleObject" Target="../embeddings/oleObject295.bin"/><Relationship Id="rId5" Type="http://schemas.openxmlformats.org/officeDocument/2006/relationships/image" Target="../media/image290.wmf"/><Relationship Id="rId15" Type="http://schemas.openxmlformats.org/officeDocument/2006/relationships/image" Target="../media/image271.wmf"/><Relationship Id="rId23" Type="http://schemas.openxmlformats.org/officeDocument/2006/relationships/image" Target="../media/image151.wmf"/><Relationship Id="rId28" Type="http://schemas.openxmlformats.org/officeDocument/2006/relationships/slide" Target="slide2.xml"/><Relationship Id="rId10" Type="http://schemas.openxmlformats.org/officeDocument/2006/relationships/oleObject" Target="../embeddings/oleObject290.bin"/><Relationship Id="rId19" Type="http://schemas.openxmlformats.org/officeDocument/2006/relationships/image" Target="../media/image278.wmf"/><Relationship Id="rId4" Type="http://schemas.openxmlformats.org/officeDocument/2006/relationships/oleObject" Target="../embeddings/oleObject287.bin"/><Relationship Id="rId9" Type="http://schemas.openxmlformats.org/officeDocument/2006/relationships/image" Target="../media/image292.emf"/><Relationship Id="rId14" Type="http://schemas.openxmlformats.org/officeDocument/2006/relationships/oleObject" Target="../embeddings/oleObject292.bin"/><Relationship Id="rId22" Type="http://schemas.openxmlformats.org/officeDocument/2006/relationships/oleObject" Target="../embeddings/oleObject142.bin"/><Relationship Id="rId27" Type="http://schemas.openxmlformats.org/officeDocument/2006/relationships/image" Target="../media/image296.emf"/></Relationships>
</file>

<file path=ppt/slides/_rels/slide8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3.bin"/><Relationship Id="rId18" Type="http://schemas.openxmlformats.org/officeDocument/2006/relationships/image" Target="../media/image304.wmf"/><Relationship Id="rId26" Type="http://schemas.openxmlformats.org/officeDocument/2006/relationships/oleObject" Target="../embeddings/oleObject310.bin"/><Relationship Id="rId21" Type="http://schemas.openxmlformats.org/officeDocument/2006/relationships/oleObject" Target="../embeddings/oleObject307.bin"/><Relationship Id="rId34" Type="http://schemas.openxmlformats.org/officeDocument/2006/relationships/image" Target="../media/image311.wmf"/><Relationship Id="rId50" Type="http://schemas.openxmlformats.org/officeDocument/2006/relationships/image" Target="../media/image330.emf"/><Relationship Id="rId7" Type="http://schemas.openxmlformats.org/officeDocument/2006/relationships/image" Target="../media/image299.wmf"/><Relationship Id="rId12" Type="http://schemas.openxmlformats.org/officeDocument/2006/relationships/oleObject" Target="../embeddings/oleObject302.bin"/><Relationship Id="rId17" Type="http://schemas.openxmlformats.org/officeDocument/2006/relationships/oleObject" Target="../embeddings/oleObject305.bin"/><Relationship Id="rId25" Type="http://schemas.openxmlformats.org/officeDocument/2006/relationships/image" Target="../media/image307.wmf"/><Relationship Id="rId33" Type="http://schemas.openxmlformats.org/officeDocument/2006/relationships/oleObject" Target="../embeddings/oleObject314.bin"/><Relationship Id="rId38" Type="http://schemas.openxmlformats.org/officeDocument/2006/relationships/customXml" Target="../ink/ink1.xml"/><Relationship Id="rId2" Type="http://schemas.openxmlformats.org/officeDocument/2006/relationships/oleObject" Target="../embeddings/oleObject297.bin"/><Relationship Id="rId16" Type="http://schemas.openxmlformats.org/officeDocument/2006/relationships/image" Target="../media/image303.wmf"/><Relationship Id="rId20" Type="http://schemas.openxmlformats.org/officeDocument/2006/relationships/image" Target="../media/image305.wmf"/><Relationship Id="rId29" Type="http://schemas.openxmlformats.org/officeDocument/2006/relationships/image" Target="../media/image30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9.bin"/><Relationship Id="rId11" Type="http://schemas.openxmlformats.org/officeDocument/2006/relationships/image" Target="../media/image301.png"/><Relationship Id="rId24" Type="http://schemas.openxmlformats.org/officeDocument/2006/relationships/oleObject" Target="../embeddings/oleObject309.bin"/><Relationship Id="rId32" Type="http://schemas.openxmlformats.org/officeDocument/2006/relationships/oleObject" Target="../embeddings/oleObject313.bin"/><Relationship Id="rId37" Type="http://schemas.openxmlformats.org/officeDocument/2006/relationships/slide" Target="slide2.xml"/><Relationship Id="rId5" Type="http://schemas.openxmlformats.org/officeDocument/2006/relationships/image" Target="../media/image298.wmf"/><Relationship Id="rId15" Type="http://schemas.openxmlformats.org/officeDocument/2006/relationships/oleObject" Target="../embeddings/oleObject304.bin"/><Relationship Id="rId23" Type="http://schemas.openxmlformats.org/officeDocument/2006/relationships/image" Target="../media/image306.wmf"/><Relationship Id="rId28" Type="http://schemas.openxmlformats.org/officeDocument/2006/relationships/oleObject" Target="../embeddings/oleObject311.bin"/><Relationship Id="rId36" Type="http://schemas.openxmlformats.org/officeDocument/2006/relationships/image" Target="../media/image312.wmf"/><Relationship Id="rId10" Type="http://schemas.openxmlformats.org/officeDocument/2006/relationships/oleObject" Target="../embeddings/oleObject301.bin"/><Relationship Id="rId19" Type="http://schemas.openxmlformats.org/officeDocument/2006/relationships/oleObject" Target="../embeddings/oleObject306.bin"/><Relationship Id="rId31" Type="http://schemas.openxmlformats.org/officeDocument/2006/relationships/image" Target="../media/image310.wmf"/><Relationship Id="rId4" Type="http://schemas.openxmlformats.org/officeDocument/2006/relationships/oleObject" Target="../embeddings/oleObject298.bin"/><Relationship Id="rId9" Type="http://schemas.openxmlformats.org/officeDocument/2006/relationships/image" Target="../media/image300.wmf"/><Relationship Id="rId14" Type="http://schemas.openxmlformats.org/officeDocument/2006/relationships/image" Target="../media/image302.wmf"/><Relationship Id="rId22" Type="http://schemas.openxmlformats.org/officeDocument/2006/relationships/oleObject" Target="../embeddings/oleObject308.bin"/><Relationship Id="rId27" Type="http://schemas.openxmlformats.org/officeDocument/2006/relationships/image" Target="../media/image308.wmf"/><Relationship Id="rId30" Type="http://schemas.openxmlformats.org/officeDocument/2006/relationships/oleObject" Target="../embeddings/oleObject312.bin"/><Relationship Id="rId35" Type="http://schemas.openxmlformats.org/officeDocument/2006/relationships/oleObject" Target="../embeddings/oleObject315.bin"/><Relationship Id="rId8" Type="http://schemas.openxmlformats.org/officeDocument/2006/relationships/oleObject" Target="../embeddings/oleObject300.bin"/><Relationship Id="rId3" Type="http://schemas.openxmlformats.org/officeDocument/2006/relationships/image" Target="../media/image297.w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emf"/><Relationship Id="rId13" Type="http://schemas.openxmlformats.org/officeDocument/2006/relationships/oleObject" Target="../embeddings/oleObject321.bin"/><Relationship Id="rId18" Type="http://schemas.openxmlformats.org/officeDocument/2006/relationships/image" Target="../media/image320.wmf"/><Relationship Id="rId26" Type="http://schemas.openxmlformats.org/officeDocument/2006/relationships/image" Target="../media/image324.wmf"/><Relationship Id="rId3" Type="http://schemas.openxmlformats.org/officeDocument/2006/relationships/oleObject" Target="../embeddings/oleObject316.bin"/><Relationship Id="rId21" Type="http://schemas.openxmlformats.org/officeDocument/2006/relationships/oleObject" Target="../embeddings/oleObject325.bin"/><Relationship Id="rId7" Type="http://schemas.openxmlformats.org/officeDocument/2006/relationships/oleObject" Target="../embeddings/oleObject318.bin"/><Relationship Id="rId12" Type="http://schemas.openxmlformats.org/officeDocument/2006/relationships/image" Target="../media/image317.emf"/><Relationship Id="rId17" Type="http://schemas.openxmlformats.org/officeDocument/2006/relationships/oleObject" Target="../embeddings/oleObject323.bin"/><Relationship Id="rId25" Type="http://schemas.openxmlformats.org/officeDocument/2006/relationships/oleObject" Target="../embeddings/oleObject327.bin"/><Relationship Id="rId2" Type="http://schemas.openxmlformats.org/officeDocument/2006/relationships/audio" Target="../media/audio2.wav"/><Relationship Id="rId16" Type="http://schemas.openxmlformats.org/officeDocument/2006/relationships/image" Target="../media/image319.wmf"/><Relationship Id="rId20" Type="http://schemas.openxmlformats.org/officeDocument/2006/relationships/image" Target="../media/image321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4.emf"/><Relationship Id="rId11" Type="http://schemas.openxmlformats.org/officeDocument/2006/relationships/oleObject" Target="../embeddings/oleObject320.bin"/><Relationship Id="rId24" Type="http://schemas.openxmlformats.org/officeDocument/2006/relationships/image" Target="../media/image323.emf"/><Relationship Id="rId5" Type="http://schemas.openxmlformats.org/officeDocument/2006/relationships/oleObject" Target="../embeddings/oleObject317.bin"/><Relationship Id="rId15" Type="http://schemas.openxmlformats.org/officeDocument/2006/relationships/oleObject" Target="../embeddings/oleObject322.bin"/><Relationship Id="rId23" Type="http://schemas.openxmlformats.org/officeDocument/2006/relationships/oleObject" Target="../embeddings/oleObject326.bin"/><Relationship Id="rId10" Type="http://schemas.openxmlformats.org/officeDocument/2006/relationships/image" Target="../media/image316.emf"/><Relationship Id="rId19" Type="http://schemas.openxmlformats.org/officeDocument/2006/relationships/oleObject" Target="../embeddings/oleObject324.bin"/><Relationship Id="rId4" Type="http://schemas.openxmlformats.org/officeDocument/2006/relationships/image" Target="../media/image313.emf"/><Relationship Id="rId9" Type="http://schemas.openxmlformats.org/officeDocument/2006/relationships/oleObject" Target="../embeddings/oleObject319.bin"/><Relationship Id="rId14" Type="http://schemas.openxmlformats.org/officeDocument/2006/relationships/image" Target="../media/image318.emf"/><Relationship Id="rId22" Type="http://schemas.openxmlformats.org/officeDocument/2006/relationships/image" Target="../media/image322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1.bin"/><Relationship Id="rId13" Type="http://schemas.openxmlformats.org/officeDocument/2006/relationships/image" Target="../media/image331.emf"/><Relationship Id="rId18" Type="http://schemas.openxmlformats.org/officeDocument/2006/relationships/oleObject" Target="../embeddings/oleObject336.bin"/><Relationship Id="rId3" Type="http://schemas.openxmlformats.org/officeDocument/2006/relationships/image" Target="../media/image325.emf"/><Relationship Id="rId21" Type="http://schemas.openxmlformats.org/officeDocument/2006/relationships/slide" Target="slide32.xml"/><Relationship Id="rId7" Type="http://schemas.openxmlformats.org/officeDocument/2006/relationships/image" Target="../media/image327.emf"/><Relationship Id="rId12" Type="http://schemas.openxmlformats.org/officeDocument/2006/relationships/oleObject" Target="../embeddings/oleObject333.bin"/><Relationship Id="rId17" Type="http://schemas.openxmlformats.org/officeDocument/2006/relationships/image" Target="../media/image333.emf"/><Relationship Id="rId2" Type="http://schemas.openxmlformats.org/officeDocument/2006/relationships/oleObject" Target="../embeddings/oleObject328.bin"/><Relationship Id="rId16" Type="http://schemas.openxmlformats.org/officeDocument/2006/relationships/oleObject" Target="../embeddings/oleObject335.bin"/><Relationship Id="rId20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0.bin"/><Relationship Id="rId11" Type="http://schemas.openxmlformats.org/officeDocument/2006/relationships/image" Target="../media/image329.emf"/><Relationship Id="rId24" Type="http://schemas.openxmlformats.org/officeDocument/2006/relationships/image" Target="../media/image356.emf"/><Relationship Id="rId5" Type="http://schemas.openxmlformats.org/officeDocument/2006/relationships/image" Target="../media/image326.emf"/><Relationship Id="rId15" Type="http://schemas.openxmlformats.org/officeDocument/2006/relationships/image" Target="../media/image332.emf"/><Relationship Id="rId10" Type="http://schemas.openxmlformats.org/officeDocument/2006/relationships/oleObject" Target="../embeddings/oleObject332.bin"/><Relationship Id="rId19" Type="http://schemas.openxmlformats.org/officeDocument/2006/relationships/image" Target="../media/image334.emf"/><Relationship Id="rId4" Type="http://schemas.openxmlformats.org/officeDocument/2006/relationships/oleObject" Target="../embeddings/oleObject329.bin"/><Relationship Id="rId9" Type="http://schemas.openxmlformats.org/officeDocument/2006/relationships/image" Target="../media/image328.emf"/><Relationship Id="rId14" Type="http://schemas.openxmlformats.org/officeDocument/2006/relationships/oleObject" Target="../embeddings/oleObject334.bin"/><Relationship Id="rId22" Type="http://schemas.openxmlformats.org/officeDocument/2006/relationships/customXml" Target="../ink/ink2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0.bin"/><Relationship Id="rId13" Type="http://schemas.openxmlformats.org/officeDocument/2006/relationships/image" Target="../media/image340.emf"/><Relationship Id="rId3" Type="http://schemas.openxmlformats.org/officeDocument/2006/relationships/image" Target="../media/image335.emf"/><Relationship Id="rId7" Type="http://schemas.openxmlformats.org/officeDocument/2006/relationships/image" Target="../media/image337.emf"/><Relationship Id="rId12" Type="http://schemas.openxmlformats.org/officeDocument/2006/relationships/oleObject" Target="../embeddings/oleObject342.bin"/><Relationship Id="rId2" Type="http://schemas.openxmlformats.org/officeDocument/2006/relationships/oleObject" Target="../embeddings/oleObject33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39.bin"/><Relationship Id="rId11" Type="http://schemas.openxmlformats.org/officeDocument/2006/relationships/image" Target="../media/image339.emf"/><Relationship Id="rId5" Type="http://schemas.openxmlformats.org/officeDocument/2006/relationships/image" Target="../media/image336.emf"/><Relationship Id="rId15" Type="http://schemas.openxmlformats.org/officeDocument/2006/relationships/slide" Target="slide32.xml"/><Relationship Id="rId10" Type="http://schemas.openxmlformats.org/officeDocument/2006/relationships/oleObject" Target="../embeddings/oleObject341.bin"/><Relationship Id="rId4" Type="http://schemas.openxmlformats.org/officeDocument/2006/relationships/oleObject" Target="../embeddings/oleObject338.bin"/><Relationship Id="rId9" Type="http://schemas.openxmlformats.org/officeDocument/2006/relationships/image" Target="../media/image338.emf"/><Relationship Id="rId14" Type="http://schemas.openxmlformats.org/officeDocument/2006/relationships/slide" Target="slide2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6.bin"/><Relationship Id="rId13" Type="http://schemas.openxmlformats.org/officeDocument/2006/relationships/image" Target="../media/image346.emf"/><Relationship Id="rId18" Type="http://schemas.openxmlformats.org/officeDocument/2006/relationships/oleObject" Target="../embeddings/oleObject350.bin"/><Relationship Id="rId3" Type="http://schemas.openxmlformats.org/officeDocument/2006/relationships/image" Target="../media/image341.wmf"/><Relationship Id="rId21" Type="http://schemas.openxmlformats.org/officeDocument/2006/relationships/image" Target="../media/image350.emf"/><Relationship Id="rId7" Type="http://schemas.openxmlformats.org/officeDocument/2006/relationships/image" Target="../media/image343.wmf"/><Relationship Id="rId12" Type="http://schemas.openxmlformats.org/officeDocument/2006/relationships/oleObject" Target="../embeddings/oleObject337.bin"/><Relationship Id="rId17" Type="http://schemas.openxmlformats.org/officeDocument/2006/relationships/image" Target="../media/image348.emf"/><Relationship Id="rId25" Type="http://schemas.openxmlformats.org/officeDocument/2006/relationships/slide" Target="slide32.xml"/><Relationship Id="rId2" Type="http://schemas.openxmlformats.org/officeDocument/2006/relationships/oleObject" Target="../embeddings/oleObject343.bin"/><Relationship Id="rId16" Type="http://schemas.openxmlformats.org/officeDocument/2006/relationships/oleObject" Target="../embeddings/oleObject349.bin"/><Relationship Id="rId20" Type="http://schemas.openxmlformats.org/officeDocument/2006/relationships/oleObject" Target="../embeddings/oleObject3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5.bin"/><Relationship Id="rId11" Type="http://schemas.openxmlformats.org/officeDocument/2006/relationships/image" Target="../media/image345.wmf"/><Relationship Id="rId24" Type="http://schemas.openxmlformats.org/officeDocument/2006/relationships/slide" Target="slide2.xml"/><Relationship Id="rId5" Type="http://schemas.openxmlformats.org/officeDocument/2006/relationships/image" Target="../media/image342.emf"/><Relationship Id="rId15" Type="http://schemas.openxmlformats.org/officeDocument/2006/relationships/image" Target="../media/image347.emf"/><Relationship Id="rId23" Type="http://schemas.openxmlformats.org/officeDocument/2006/relationships/image" Target="../media/image351.emf"/><Relationship Id="rId10" Type="http://schemas.openxmlformats.org/officeDocument/2006/relationships/oleObject" Target="../embeddings/oleObject347.bin"/><Relationship Id="rId19" Type="http://schemas.openxmlformats.org/officeDocument/2006/relationships/image" Target="../media/image349.emf"/><Relationship Id="rId4" Type="http://schemas.openxmlformats.org/officeDocument/2006/relationships/oleObject" Target="../embeddings/oleObject344.bin"/><Relationship Id="rId9" Type="http://schemas.openxmlformats.org/officeDocument/2006/relationships/image" Target="../media/image344.wmf"/><Relationship Id="rId14" Type="http://schemas.openxmlformats.org/officeDocument/2006/relationships/oleObject" Target="../embeddings/oleObject348.bin"/><Relationship Id="rId22" Type="http://schemas.openxmlformats.org/officeDocument/2006/relationships/oleObject" Target="../embeddings/oleObject352.bin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6.bin"/><Relationship Id="rId13" Type="http://schemas.openxmlformats.org/officeDocument/2006/relationships/image" Target="../media/image358.emf"/><Relationship Id="rId18" Type="http://schemas.openxmlformats.org/officeDocument/2006/relationships/oleObject" Target="../embeddings/oleObject361.bin"/><Relationship Id="rId3" Type="http://schemas.openxmlformats.org/officeDocument/2006/relationships/image" Target="../media/image352.wmf"/><Relationship Id="rId21" Type="http://schemas.openxmlformats.org/officeDocument/2006/relationships/slide" Target="slide32.xml"/><Relationship Id="rId7" Type="http://schemas.openxmlformats.org/officeDocument/2006/relationships/image" Target="../media/image354.wmf"/><Relationship Id="rId12" Type="http://schemas.openxmlformats.org/officeDocument/2006/relationships/oleObject" Target="../embeddings/oleObject358.bin"/><Relationship Id="rId17" Type="http://schemas.openxmlformats.org/officeDocument/2006/relationships/image" Target="../media/image360.emf"/><Relationship Id="rId2" Type="http://schemas.openxmlformats.org/officeDocument/2006/relationships/oleObject" Target="../embeddings/oleObject353.bin"/><Relationship Id="rId16" Type="http://schemas.openxmlformats.org/officeDocument/2006/relationships/oleObject" Target="../embeddings/oleObject360.bin"/><Relationship Id="rId20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5.bin"/><Relationship Id="rId11" Type="http://schemas.openxmlformats.org/officeDocument/2006/relationships/image" Target="../media/image357.emf"/><Relationship Id="rId5" Type="http://schemas.openxmlformats.org/officeDocument/2006/relationships/image" Target="../media/image353.wmf"/><Relationship Id="rId15" Type="http://schemas.openxmlformats.org/officeDocument/2006/relationships/image" Target="../media/image359.emf"/><Relationship Id="rId10" Type="http://schemas.openxmlformats.org/officeDocument/2006/relationships/oleObject" Target="../embeddings/oleObject357.bin"/><Relationship Id="rId19" Type="http://schemas.openxmlformats.org/officeDocument/2006/relationships/image" Target="../media/image361.emf"/><Relationship Id="rId4" Type="http://schemas.openxmlformats.org/officeDocument/2006/relationships/oleObject" Target="../embeddings/oleObject354.bin"/><Relationship Id="rId9" Type="http://schemas.openxmlformats.org/officeDocument/2006/relationships/image" Target="../media/image355.emf"/><Relationship Id="rId14" Type="http://schemas.openxmlformats.org/officeDocument/2006/relationships/oleObject" Target="../embeddings/oleObject359.bin"/></Relationships>
</file>

<file path=ppt/slides/_rels/slide9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7.wmf"/><Relationship Id="rId18" Type="http://schemas.openxmlformats.org/officeDocument/2006/relationships/oleObject" Target="../embeddings/oleObject369.bin"/><Relationship Id="rId26" Type="http://schemas.openxmlformats.org/officeDocument/2006/relationships/oleObject" Target="../embeddings/oleObject372.bin"/><Relationship Id="rId39" Type="http://schemas.openxmlformats.org/officeDocument/2006/relationships/slide" Target="slide32.xml"/><Relationship Id="rId21" Type="http://schemas.openxmlformats.org/officeDocument/2006/relationships/image" Target="../media/image369.emf"/><Relationship Id="rId34" Type="http://schemas.openxmlformats.org/officeDocument/2006/relationships/image" Target="../media/image375.emf"/><Relationship Id="rId42" Type="http://schemas.openxmlformats.org/officeDocument/2006/relationships/oleObject" Target="../embeddings/oleObject380.bin"/><Relationship Id="rId7" Type="http://schemas.openxmlformats.org/officeDocument/2006/relationships/image" Target="../media/image364.wmf"/><Relationship Id="rId2" Type="http://schemas.openxmlformats.org/officeDocument/2006/relationships/oleObject" Target="../embeddings/oleObject362.bin"/><Relationship Id="rId20" Type="http://schemas.openxmlformats.org/officeDocument/2006/relationships/oleObject" Target="../embeddings/oleObject4760.bin"/><Relationship Id="rId29" Type="http://schemas.openxmlformats.org/officeDocument/2006/relationships/image" Target="../media/image373.emf"/><Relationship Id="rId41" Type="http://schemas.openxmlformats.org/officeDocument/2006/relationships/image" Target="../media/image37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4.bin"/><Relationship Id="rId11" Type="http://schemas.openxmlformats.org/officeDocument/2006/relationships/image" Target="../media/image366.wmf"/><Relationship Id="rId24" Type="http://schemas.openxmlformats.org/officeDocument/2006/relationships/oleObject" Target="../embeddings/oleObject371.bin"/><Relationship Id="rId32" Type="http://schemas.openxmlformats.org/officeDocument/2006/relationships/image" Target="../media/image374.emf"/><Relationship Id="rId37" Type="http://schemas.openxmlformats.org/officeDocument/2006/relationships/oleObject" Target="../embeddings/oleObject378.bin"/><Relationship Id="rId40" Type="http://schemas.openxmlformats.org/officeDocument/2006/relationships/oleObject" Target="../embeddings/oleObject379.bin"/><Relationship Id="rId45" Type="http://schemas.openxmlformats.org/officeDocument/2006/relationships/image" Target="../media/image379.wmf"/><Relationship Id="rId5" Type="http://schemas.openxmlformats.org/officeDocument/2006/relationships/image" Target="../media/image363.wmf"/><Relationship Id="rId15" Type="http://schemas.openxmlformats.org/officeDocument/2006/relationships/image" Target="../media/image368.wmf"/><Relationship Id="rId23" Type="http://schemas.openxmlformats.org/officeDocument/2006/relationships/image" Target="../media/image370.emf"/><Relationship Id="rId28" Type="http://schemas.openxmlformats.org/officeDocument/2006/relationships/oleObject" Target="../embeddings/oleObject373.bin"/><Relationship Id="rId36" Type="http://schemas.openxmlformats.org/officeDocument/2006/relationships/image" Target="../media/image376.emf"/><Relationship Id="rId10" Type="http://schemas.openxmlformats.org/officeDocument/2006/relationships/oleObject" Target="../embeddings/oleObject366.bin"/><Relationship Id="rId19" Type="http://schemas.openxmlformats.org/officeDocument/2006/relationships/image" Target="../media/image369.emf"/><Relationship Id="rId31" Type="http://schemas.openxmlformats.org/officeDocument/2006/relationships/oleObject" Target="../embeddings/oleObject375.bin"/><Relationship Id="rId44" Type="http://schemas.openxmlformats.org/officeDocument/2006/relationships/oleObject" Target="../embeddings/oleObject381.bin"/><Relationship Id="rId4" Type="http://schemas.openxmlformats.org/officeDocument/2006/relationships/oleObject" Target="../embeddings/oleObject363.bin"/><Relationship Id="rId9" Type="http://schemas.openxmlformats.org/officeDocument/2006/relationships/image" Target="../media/image365.wmf"/><Relationship Id="rId14" Type="http://schemas.openxmlformats.org/officeDocument/2006/relationships/oleObject" Target="../embeddings/oleObject368.bin"/><Relationship Id="rId22" Type="http://schemas.openxmlformats.org/officeDocument/2006/relationships/oleObject" Target="../embeddings/oleObject370.bin"/><Relationship Id="rId27" Type="http://schemas.openxmlformats.org/officeDocument/2006/relationships/image" Target="../media/image372.emf"/><Relationship Id="rId30" Type="http://schemas.openxmlformats.org/officeDocument/2006/relationships/oleObject" Target="../embeddings/oleObject374.bin"/><Relationship Id="rId35" Type="http://schemas.openxmlformats.org/officeDocument/2006/relationships/oleObject" Target="../embeddings/oleObject377.bin"/><Relationship Id="rId43" Type="http://schemas.openxmlformats.org/officeDocument/2006/relationships/image" Target="../media/image378.wmf"/><Relationship Id="rId8" Type="http://schemas.openxmlformats.org/officeDocument/2006/relationships/oleObject" Target="../embeddings/oleObject365.bin"/><Relationship Id="rId3" Type="http://schemas.openxmlformats.org/officeDocument/2006/relationships/image" Target="../media/image362.emf"/><Relationship Id="rId12" Type="http://schemas.openxmlformats.org/officeDocument/2006/relationships/oleObject" Target="../embeddings/oleObject367.bin"/><Relationship Id="rId17" Type="http://schemas.openxmlformats.org/officeDocument/2006/relationships/image" Target="../media/image439.png"/><Relationship Id="rId25" Type="http://schemas.openxmlformats.org/officeDocument/2006/relationships/image" Target="../media/image371.wmf"/><Relationship Id="rId33" Type="http://schemas.openxmlformats.org/officeDocument/2006/relationships/oleObject" Target="../embeddings/oleObject376.bin"/><Relationship Id="rId38" Type="http://schemas.openxmlformats.org/officeDocument/2006/relationships/slide" Target="slide2.xml"/></Relationships>
</file>

<file path=ppt/slides/_rels/slide9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2.emf"/><Relationship Id="rId26" Type="http://schemas.openxmlformats.org/officeDocument/2006/relationships/image" Target="../media/image384.emf"/><Relationship Id="rId39" Type="http://schemas.openxmlformats.org/officeDocument/2006/relationships/image" Target="../media/image386.emf"/><Relationship Id="rId21" Type="http://schemas.openxmlformats.org/officeDocument/2006/relationships/oleObject" Target="../embeddings/oleObject4940.bin"/><Relationship Id="rId34" Type="http://schemas.openxmlformats.org/officeDocument/2006/relationships/oleObject" Target="../embeddings/oleObject391.bin"/><Relationship Id="rId42" Type="http://schemas.openxmlformats.org/officeDocument/2006/relationships/slide" Target="slide2.xml"/><Relationship Id="rId47" Type="http://schemas.openxmlformats.org/officeDocument/2006/relationships/image" Target="../media/image370.emf"/><Relationship Id="rId7" Type="http://schemas.openxmlformats.org/officeDocument/2006/relationships/image" Target="../media/image363.wmf"/><Relationship Id="rId2" Type="http://schemas.openxmlformats.org/officeDocument/2006/relationships/oleObject" Target="../embeddings/oleObject382.bin"/><Relationship Id="rId16" Type="http://schemas.openxmlformats.org/officeDocument/2006/relationships/oleObject" Target="../embeddings/oleObject386.bin"/><Relationship Id="rId41" Type="http://schemas.openxmlformats.org/officeDocument/2006/relationships/image" Target="../media/image38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4.bin"/><Relationship Id="rId11" Type="http://schemas.openxmlformats.org/officeDocument/2006/relationships/image" Target="../media/image454.png"/><Relationship Id="rId32" Type="http://schemas.openxmlformats.org/officeDocument/2006/relationships/oleObject" Target="../embeddings/oleObject389.bin"/><Relationship Id="rId37" Type="http://schemas.openxmlformats.org/officeDocument/2006/relationships/oleObject" Target="../embeddings/oleObject393.bin"/><Relationship Id="rId40" Type="http://schemas.openxmlformats.org/officeDocument/2006/relationships/oleObject" Target="../embeddings/oleObject395.bin"/><Relationship Id="rId45" Type="http://schemas.openxmlformats.org/officeDocument/2006/relationships/image" Target="../media/image362.emf"/><Relationship Id="rId5" Type="http://schemas.openxmlformats.org/officeDocument/2006/relationships/image" Target="../media/image381.wmf"/><Relationship Id="rId15" Type="http://schemas.openxmlformats.org/officeDocument/2006/relationships/image" Target="../media/image382.emf"/><Relationship Id="rId23" Type="http://schemas.openxmlformats.org/officeDocument/2006/relationships/oleObject" Target="../embeddings/oleObject387.bin"/><Relationship Id="rId28" Type="http://schemas.openxmlformats.org/officeDocument/2006/relationships/oleObject" Target="../embeddings/oleObject388.bin"/><Relationship Id="rId36" Type="http://schemas.openxmlformats.org/officeDocument/2006/relationships/oleObject" Target="../embeddings/oleObject392.bin"/><Relationship Id="rId10" Type="http://schemas.openxmlformats.org/officeDocument/2006/relationships/image" Target="../media/image363.wmf"/><Relationship Id="rId31" Type="http://schemas.openxmlformats.org/officeDocument/2006/relationships/image" Target="../media/image403.wmf"/><Relationship Id="rId44" Type="http://schemas.openxmlformats.org/officeDocument/2006/relationships/oleObject" Target="../embeddings/oleObject362.bin"/><Relationship Id="rId52" Type="http://schemas.openxmlformats.org/officeDocument/2006/relationships/image" Target="../media/image415.emf"/><Relationship Id="rId4" Type="http://schemas.openxmlformats.org/officeDocument/2006/relationships/oleObject" Target="../embeddings/oleObject383.bin"/><Relationship Id="rId9" Type="http://schemas.openxmlformats.org/officeDocument/2006/relationships/oleObject" Target="../embeddings/oleObject4910.bin"/><Relationship Id="rId14" Type="http://schemas.openxmlformats.org/officeDocument/2006/relationships/oleObject" Target="../embeddings/oleObject4920.bin"/><Relationship Id="rId22" Type="http://schemas.openxmlformats.org/officeDocument/2006/relationships/image" Target="../media/image383.wmf"/><Relationship Id="rId27" Type="http://schemas.openxmlformats.org/officeDocument/2006/relationships/image" Target="../media/image455.png"/><Relationship Id="rId30" Type="http://schemas.openxmlformats.org/officeDocument/2006/relationships/oleObject" Target="../embeddings/oleObject4960.bin"/><Relationship Id="rId35" Type="http://schemas.openxmlformats.org/officeDocument/2006/relationships/image" Target="../media/image384.emf"/><Relationship Id="rId43" Type="http://schemas.openxmlformats.org/officeDocument/2006/relationships/slide" Target="slide32.xml"/><Relationship Id="rId48" Type="http://schemas.openxmlformats.org/officeDocument/2006/relationships/customXml" Target="../ink/ink3.xml"/><Relationship Id="rId3" Type="http://schemas.openxmlformats.org/officeDocument/2006/relationships/image" Target="../media/image380.emf"/><Relationship Id="rId12" Type="http://schemas.openxmlformats.org/officeDocument/2006/relationships/oleObject" Target="../embeddings/oleObject385.bin"/><Relationship Id="rId17" Type="http://schemas.openxmlformats.org/officeDocument/2006/relationships/image" Target="../media/image383.wmf"/><Relationship Id="rId25" Type="http://schemas.openxmlformats.org/officeDocument/2006/relationships/oleObject" Target="../embeddings/oleObject4950.bin"/><Relationship Id="rId33" Type="http://schemas.openxmlformats.org/officeDocument/2006/relationships/oleObject" Target="../embeddings/oleObject390.bin"/><Relationship Id="rId38" Type="http://schemas.openxmlformats.org/officeDocument/2006/relationships/oleObject" Target="../embeddings/oleObject394.bin"/><Relationship Id="rId46" Type="http://schemas.openxmlformats.org/officeDocument/2006/relationships/oleObject" Target="../embeddings/oleObject37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719138" y="412750"/>
            <a:ext cx="82454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800" b="0" dirty="0">
                <a:latin typeface="Arial Black" pitchFamily="34" charset="0"/>
                <a:ea typeface="黑体" pitchFamily="49" charset="-122"/>
              </a:rPr>
              <a:t>Part 2: AC Circuits</a:t>
            </a: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665473" y="1835967"/>
            <a:ext cx="7813054" cy="396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890588" indent="-890588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Tahoma" pitchFamily="34" charset="0"/>
              <a:buAutoNum type="arabicPeriod" startAt="9"/>
            </a:pPr>
            <a:r>
              <a:rPr lang="en-US" altLang="zh-CN" sz="3200" dirty="0">
                <a:latin typeface="Verdana" pitchFamily="34" charset="0"/>
              </a:rPr>
              <a:t>Sinusoids and </a:t>
            </a:r>
            <a:r>
              <a:rPr lang="en-US" altLang="zh-CN" sz="3200" dirty="0" err="1">
                <a:latin typeface="Verdana" pitchFamily="34" charset="0"/>
              </a:rPr>
              <a:t>Phasors</a:t>
            </a:r>
            <a:endParaRPr lang="en-US" altLang="zh-CN" sz="3200" dirty="0">
              <a:latin typeface="Verdana" pitchFamily="34" charset="0"/>
            </a:endParaRPr>
          </a:p>
          <a:p>
            <a:pPr algn="l"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Wingdings" pitchFamily="2" charset="2"/>
              <a:buAutoNum type="arabicPeriod" startAt="9"/>
            </a:pPr>
            <a:r>
              <a:rPr lang="en-US" altLang="zh-CN" b="0" dirty="0">
                <a:latin typeface="Verdana" pitchFamily="34" charset="0"/>
              </a:rPr>
              <a:t>Sinusoidal Steady-State Analysis</a:t>
            </a:r>
          </a:p>
          <a:p>
            <a:pPr algn="l"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Wingdings" pitchFamily="2" charset="2"/>
              <a:buAutoNum type="arabicPeriod" startAt="9"/>
            </a:pPr>
            <a:r>
              <a:rPr lang="en-US" altLang="zh-CN" b="0" dirty="0">
                <a:latin typeface="Verdana" pitchFamily="34" charset="0"/>
              </a:rPr>
              <a:t>AC Power Analysis</a:t>
            </a:r>
          </a:p>
          <a:p>
            <a:pPr algn="l"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Wingdings" pitchFamily="2" charset="2"/>
              <a:buAutoNum type="arabicPeriod" startAt="9"/>
            </a:pPr>
            <a:r>
              <a:rPr lang="en-US" altLang="zh-CN" b="0" dirty="0">
                <a:latin typeface="Verdana" pitchFamily="34" charset="0"/>
              </a:rPr>
              <a:t>Three-Phase Circuits</a:t>
            </a:r>
          </a:p>
          <a:p>
            <a:pPr eaLnBrk="1" hangingPunct="1">
              <a:lnSpc>
                <a:spcPct val="180000"/>
              </a:lnSpc>
              <a:buClr>
                <a:schemeClr val="tx2"/>
              </a:buClr>
              <a:buSzPct val="125000"/>
              <a:buFont typeface="Wingdings" pitchFamily="2" charset="2"/>
              <a:buAutoNum type="arabicPeriod" startAt="9"/>
            </a:pPr>
            <a:r>
              <a:rPr lang="en-US" altLang="zh-CN" b="0">
                <a:latin typeface="Verdana" pitchFamily="34" charset="0"/>
              </a:rPr>
              <a:t>Magnetically Coupled Circuits</a:t>
            </a:r>
          </a:p>
        </p:txBody>
      </p:sp>
    </p:spTree>
    <p:extLst>
      <p:ext uri="{BB962C8B-B14F-4D97-AF65-F5344CB8AC3E}">
        <p14:creationId xmlns:p14="http://schemas.microsoft.com/office/powerpoint/2010/main" val="7788118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863600" y="347663"/>
            <a:ext cx="7848600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200" dirty="0">
                <a:latin typeface="Arial Black" pitchFamily="34" charset="0"/>
              </a:rPr>
              <a:t>Chapter 9 Sinusoids and </a:t>
            </a:r>
            <a:r>
              <a:rPr lang="en-US" altLang="zh-CN" sz="3200" dirty="0" err="1">
                <a:latin typeface="Arial Black" pitchFamily="34" charset="0"/>
              </a:rPr>
              <a:t>Phasors</a:t>
            </a:r>
            <a:endParaRPr lang="en-US" altLang="zh-CN" sz="3200" dirty="0">
              <a:latin typeface="Arial Black" pitchFamily="34" charset="0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868363" y="1557338"/>
            <a:ext cx="7448550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Introduction</a:t>
            </a:r>
          </a:p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Sinusoids</a:t>
            </a:r>
          </a:p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 err="1">
                <a:latin typeface="Verdana" pitchFamily="34" charset="0"/>
              </a:rPr>
              <a:t>Phasors</a:t>
            </a:r>
            <a:endParaRPr lang="en-US" altLang="zh-CN" dirty="0">
              <a:latin typeface="Verdana" pitchFamily="34" charset="0"/>
            </a:endParaRPr>
          </a:p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 err="1">
                <a:latin typeface="Verdana" pitchFamily="34" charset="0"/>
              </a:rPr>
              <a:t>Phasor</a:t>
            </a:r>
            <a:r>
              <a:rPr lang="en-US" altLang="zh-CN" dirty="0">
                <a:latin typeface="Verdana" pitchFamily="34" charset="0"/>
              </a:rPr>
              <a:t> relationships for circuit elements</a:t>
            </a:r>
          </a:p>
        </p:txBody>
      </p:sp>
    </p:spTree>
    <p:extLst>
      <p:ext uri="{BB962C8B-B14F-4D97-AF65-F5344CB8AC3E}">
        <p14:creationId xmlns:p14="http://schemas.microsoft.com/office/powerpoint/2010/main" val="214481683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935038" y="347663"/>
            <a:ext cx="7740650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Chapter 9 Sinusoids and Phasors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827088" y="1376363"/>
            <a:ext cx="7669212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Impedance and admittance</a:t>
            </a:r>
          </a:p>
          <a:p>
            <a:pPr marL="457200" indent="-457200" algn="l" eaLnBrk="1" hangingPunct="1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endParaRPr lang="en-US" altLang="zh-CN" dirty="0">
              <a:latin typeface="Verdana" pitchFamily="34" charset="0"/>
            </a:endParaRPr>
          </a:p>
          <a:p>
            <a:pPr marL="457200" indent="-457200" algn="l" eaLnBrk="1" hangingPunct="1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Kirchhoff’s laws in the frequency domain</a:t>
            </a:r>
          </a:p>
          <a:p>
            <a:pPr marL="457200" indent="-457200" algn="l" eaLnBrk="1" hangingPunct="1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endParaRPr lang="en-US" altLang="zh-CN" dirty="0">
              <a:latin typeface="Verdana" pitchFamily="34" charset="0"/>
            </a:endParaRPr>
          </a:p>
          <a:p>
            <a:pPr marL="457200" indent="-457200" algn="l" eaLnBrk="1" hangingPunct="1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Impedance combinations</a:t>
            </a:r>
          </a:p>
        </p:txBody>
      </p:sp>
    </p:spTree>
    <p:extLst>
      <p:ext uri="{BB962C8B-B14F-4D97-AF65-F5344CB8AC3E}">
        <p14:creationId xmlns:p14="http://schemas.microsoft.com/office/powerpoint/2010/main" val="312255431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1"/>
          <p:cNvSpPr txBox="1">
            <a:spLocks noChangeArrowheads="1"/>
          </p:cNvSpPr>
          <p:nvPr/>
        </p:nvSpPr>
        <p:spPr bwMode="auto">
          <a:xfrm>
            <a:off x="935038" y="339725"/>
            <a:ext cx="494823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Chapter objectives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7968" y="1206500"/>
            <a:ext cx="750806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Understand how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to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represent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sinusoids by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phasors</a:t>
            </a:r>
          </a:p>
          <a:p>
            <a:pPr algn="l">
              <a:buClr>
                <a:schemeClr val="tx2">
                  <a:lumMod val="75000"/>
                </a:schemeClr>
              </a:buCl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342900" indent="-342900" algn="l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Grasp phasor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relationships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of the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three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basic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elements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(</a:t>
            </a:r>
            <a:r>
              <a:rPr kumimoji="1" lang="en-US" altLang="zh-CN" sz="2400" b="1" i="1" dirty="0">
                <a:latin typeface="Verdana" pitchFamily="34" charset="0"/>
                <a:ea typeface="宋体" charset="-122"/>
              </a:rPr>
              <a:t>R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,</a:t>
            </a:r>
            <a:r>
              <a:rPr kumimoji="1" lang="en-US" altLang="zh-CN" sz="2400" b="1" i="1" dirty="0">
                <a:latin typeface="Verdana" pitchFamily="34" charset="0"/>
                <a:ea typeface="宋体" charset="-122"/>
              </a:rPr>
              <a:t>L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and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i="1" dirty="0">
                <a:latin typeface="Verdana" pitchFamily="34" charset="0"/>
                <a:ea typeface="宋体" charset="-122"/>
              </a:rPr>
              <a:t>C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)</a:t>
            </a:r>
          </a:p>
          <a:p>
            <a:pPr algn="l">
              <a:buClr>
                <a:schemeClr val="tx2">
                  <a:lumMod val="75000"/>
                </a:schemeClr>
              </a:buCl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342900" indent="-342900" algn="l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Introduce the concepts of impedance and admittance</a:t>
            </a:r>
          </a:p>
          <a:p>
            <a:pPr algn="l">
              <a:buClr>
                <a:schemeClr val="tx2">
                  <a:lumMod val="75000"/>
                </a:schemeClr>
              </a:buCl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342900" indent="-342900" algn="l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Learn about Kirchhoff’s laws in the frequency domain</a:t>
            </a:r>
          </a:p>
          <a:p>
            <a:pPr algn="l">
              <a:buClr>
                <a:schemeClr val="tx2">
                  <a:lumMod val="75000"/>
                </a:schemeClr>
              </a:buCl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342900" indent="-342900" algn="l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Discuss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impedance combinations</a:t>
            </a:r>
          </a:p>
        </p:txBody>
      </p:sp>
    </p:spTree>
    <p:extLst>
      <p:ext uri="{BB962C8B-B14F-4D97-AF65-F5344CB8AC3E}">
        <p14:creationId xmlns:p14="http://schemas.microsoft.com/office/powerpoint/2010/main" val="375819484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971550" y="258763"/>
            <a:ext cx="7056438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Key points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8313" y="1520825"/>
            <a:ext cx="8064500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Sinusoid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           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Phasor</a:t>
            </a:r>
            <a:r>
              <a:rPr kumimoji="1" lang="zh-CN" altLang="en-US" sz="2400" b="1" dirty="0">
                <a:latin typeface="Verdana" pitchFamily="34" charset="0"/>
                <a:ea typeface="宋体" charset="-122"/>
              </a:rPr>
              <a:t>   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transformation</a:t>
            </a:r>
          </a:p>
          <a:p>
            <a:pPr algn="l"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algn="l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 err="1">
                <a:latin typeface="Verdana" pitchFamily="34" charset="0"/>
                <a:ea typeface="宋体" charset="-122"/>
              </a:rPr>
              <a:t>Phasor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 relationships for circuit elements</a:t>
            </a:r>
          </a:p>
          <a:p>
            <a:pPr algn="l"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algn="l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The basic laws in the frequency domain</a:t>
            </a:r>
          </a:p>
          <a:p>
            <a:pPr algn="l"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algn="l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 err="1">
                <a:latin typeface="Verdana" pitchFamily="34" charset="0"/>
                <a:ea typeface="宋体" charset="-122"/>
              </a:rPr>
              <a:t>Phasor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 diagram</a:t>
            </a:r>
          </a:p>
        </p:txBody>
      </p:sp>
      <p:sp>
        <p:nvSpPr>
          <p:cNvPr id="5" name="左右箭头 4">
            <a:extLst>
              <a:ext uri="{FF2B5EF4-FFF2-40B4-BE49-F238E27FC236}">
                <a16:creationId xmlns:a16="http://schemas.microsoft.com/office/drawing/2014/main" id="{164A40E1-3777-064B-B361-8871A312F93B}"/>
              </a:ext>
            </a:extLst>
          </p:cNvPr>
          <p:cNvSpPr/>
          <p:nvPr/>
        </p:nvSpPr>
        <p:spPr bwMode="auto">
          <a:xfrm>
            <a:off x="2555776" y="1511106"/>
            <a:ext cx="1216152" cy="484632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608801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1"/>
          <p:cNvSpPr>
            <a:spLocks noChangeArrowheads="1"/>
          </p:cNvSpPr>
          <p:nvPr/>
        </p:nvSpPr>
        <p:spPr bwMode="auto">
          <a:xfrm>
            <a:off x="957263" y="188913"/>
            <a:ext cx="451485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Difficult points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8313" y="1520825"/>
            <a:ext cx="8064500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buFont typeface="Wingdings" pitchFamily="2" charset="2"/>
              <a:buNone/>
              <a:defRPr/>
            </a:pPr>
            <a:endParaRPr lang="en-US" altLang="zh-CN" sz="2400" dirty="0">
              <a:latin typeface="Verdana" pitchFamily="34" charset="0"/>
              <a:ea typeface="宋体" pitchFamily="2" charset="-122"/>
            </a:endParaRPr>
          </a:p>
          <a:p>
            <a:pPr marL="457200" indent="-457200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Understanding the concepts of sinusoids and </a:t>
            </a:r>
            <a:r>
              <a:rPr kumimoji="1" lang="en-US" altLang="zh-CN" sz="2400" b="1" dirty="0" err="1">
                <a:latin typeface="Verdana" pitchFamily="34" charset="0"/>
                <a:ea typeface="宋体" charset="-122"/>
              </a:rPr>
              <a:t>phasors</a:t>
            </a: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>
              <a:buSzPct val="100000"/>
              <a:buFont typeface="Wingdings" pitchFamily="2" charset="2"/>
              <a:buChar char="Ø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 err="1">
                <a:latin typeface="Verdana" pitchFamily="34" charset="0"/>
                <a:ea typeface="宋体" charset="-122"/>
              </a:rPr>
              <a:t>Phasor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 relationships for circuit elements</a:t>
            </a:r>
          </a:p>
          <a:p>
            <a:pPr algn="l">
              <a:buSzPct val="100000"/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algn="l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Sinusoidal circuit analysis using </a:t>
            </a:r>
            <a:r>
              <a:rPr kumimoji="1" lang="en-US" altLang="zh-CN" sz="2400" b="1" dirty="0" err="1">
                <a:latin typeface="Verdana" pitchFamily="34" charset="0"/>
                <a:ea typeface="宋体" charset="-122"/>
              </a:rPr>
              <a:t>phasor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 diagram</a:t>
            </a:r>
          </a:p>
        </p:txBody>
      </p:sp>
    </p:spTree>
    <p:extLst>
      <p:ext uri="{BB962C8B-B14F-4D97-AF65-F5344CB8AC3E}">
        <p14:creationId xmlns:p14="http://schemas.microsoft.com/office/powerpoint/2010/main" val="201914908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3"/>
          <p:cNvSpPr txBox="1">
            <a:spLocks noChangeArrowheads="1"/>
          </p:cNvSpPr>
          <p:nvPr/>
        </p:nvSpPr>
        <p:spPr bwMode="auto">
          <a:xfrm>
            <a:off x="971550" y="204788"/>
            <a:ext cx="4373563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9.1  Introduction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68313" y="1500188"/>
            <a:ext cx="80645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Verdana" pitchFamily="34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Verdana" pitchFamily="34" charset="0"/>
              </a:rPr>
              <a:t> sinusoid </a:t>
            </a:r>
            <a:r>
              <a:rPr lang="en-US" altLang="zh-CN" dirty="0">
                <a:latin typeface="Verdana" pitchFamily="34" charset="0"/>
              </a:rPr>
              <a:t>is a signal that has the form of the sine or cosine function.</a:t>
            </a: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499540" y="4653136"/>
            <a:ext cx="8280400" cy="18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Verdana" pitchFamily="34" charset="0"/>
              </a:rPr>
              <a:t>ac circuits: </a:t>
            </a:r>
            <a:r>
              <a:rPr lang="en-US" altLang="zh-CN" dirty="0">
                <a:latin typeface="Verdana" pitchFamily="34" charset="0"/>
              </a:rPr>
              <a:t>circuits driven by sinusoidal current or voltage sources are called  </a:t>
            </a:r>
            <a:r>
              <a:rPr lang="en-US" altLang="zh-CN" dirty="0">
                <a:solidFill>
                  <a:srgbClr val="FF0000"/>
                </a:solidFill>
                <a:latin typeface="Verdana" pitchFamily="34" charset="0"/>
              </a:rPr>
              <a:t>alternating current circuits</a:t>
            </a:r>
            <a:r>
              <a:rPr lang="en-US" altLang="zh-CN" dirty="0">
                <a:latin typeface="Verdana" pitchFamily="34" charset="0"/>
              </a:rPr>
              <a:t>.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99540" y="3157972"/>
            <a:ext cx="8064500" cy="122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Verdana" pitchFamily="34" charset="0"/>
              </a:rPr>
              <a:t>Alternating current :</a:t>
            </a:r>
            <a:r>
              <a:rPr lang="en-US" altLang="zh-CN" dirty="0">
                <a:latin typeface="Verdana" pitchFamily="34" charset="0"/>
              </a:rPr>
              <a:t>a sinusoidal current is usually referred to as </a:t>
            </a:r>
            <a:r>
              <a:rPr lang="en-US" altLang="zh-CN" dirty="0">
                <a:solidFill>
                  <a:srgbClr val="FF0000"/>
                </a:solidFill>
                <a:latin typeface="Verdana" pitchFamily="34" charset="0"/>
              </a:rPr>
              <a:t>ac</a:t>
            </a:r>
            <a:r>
              <a:rPr lang="en-US" altLang="zh-CN" dirty="0">
                <a:latin typeface="Verdan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60306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900113" y="260350"/>
            <a:ext cx="6048375" cy="79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9.2  Sinusoids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27088" y="1160463"/>
            <a:ext cx="766921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630238"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Verdana" pitchFamily="34" charset="0"/>
              </a:rPr>
              <a:t>Characteristics of Sinusoids</a:t>
            </a:r>
          </a:p>
          <a:p>
            <a:pPr marL="0" indent="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None/>
              <a:defRPr/>
            </a:pPr>
            <a:endParaRPr lang="en-US" altLang="zh-CN" sz="2800" b="1" dirty="0">
              <a:latin typeface="Verdana" pitchFamily="34" charset="0"/>
            </a:endParaRPr>
          </a:p>
          <a:p>
            <a:pPr marL="457200" indent="-45720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Verdana" pitchFamily="34" charset="0"/>
              </a:rPr>
              <a:t>Sinusoids with different phases</a:t>
            </a:r>
          </a:p>
          <a:p>
            <a:pPr marL="0" indent="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None/>
              <a:defRPr/>
            </a:pPr>
            <a:endParaRPr lang="en-US" altLang="zh-CN" sz="2800" b="1" dirty="0">
              <a:latin typeface="Verdana" pitchFamily="34" charset="0"/>
            </a:endParaRPr>
          </a:p>
          <a:p>
            <a:pPr marL="457200" indent="-45720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Verdana" pitchFamily="34" charset="0"/>
              </a:rPr>
              <a:t>Average and effective value</a:t>
            </a:r>
          </a:p>
        </p:txBody>
      </p:sp>
    </p:spTree>
    <p:extLst>
      <p:ext uri="{BB962C8B-B14F-4D97-AF65-F5344CB8AC3E}">
        <p14:creationId xmlns:p14="http://schemas.microsoft.com/office/powerpoint/2010/main" val="17813980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40768"/>
            <a:ext cx="8343900" cy="5029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ea typeface="宋体" pitchFamily="2" charset="-122"/>
              </a:rPr>
              <a:t>A sinusoid is a signal that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>
                <a:ea typeface="宋体" pitchFamily="2" charset="-122"/>
              </a:rPr>
              <a:t>    </a:t>
            </a:r>
            <a:r>
              <a:rPr lang="en-US" altLang="zh-CN" sz="2400" dirty="0">
                <a:ea typeface="宋体" pitchFamily="2" charset="-122"/>
              </a:rPr>
              <a:t>has the form of the sine or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>
                <a:ea typeface="宋体" pitchFamily="2" charset="-122"/>
              </a:rPr>
              <a:t>    </a:t>
            </a:r>
            <a:r>
              <a:rPr lang="en-US" altLang="zh-CN" sz="2400" dirty="0">
                <a:ea typeface="宋体" pitchFamily="2" charset="-122"/>
              </a:rPr>
              <a:t>cosine function. 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zh-CN" sz="2400" dirty="0">
              <a:ea typeface="宋体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ea typeface="宋体" pitchFamily="2" charset="-122"/>
              </a:rPr>
              <a:t>	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ea typeface="宋体" pitchFamily="2" charset="-122"/>
              </a:rPr>
              <a:t> =  the </a:t>
            </a:r>
            <a:r>
              <a:rPr lang="en-US" altLang="zh-CN" sz="2400" b="1" dirty="0">
                <a:solidFill>
                  <a:srgbClr val="FF0000"/>
                </a:solidFill>
                <a:ea typeface="宋体" pitchFamily="2" charset="-122"/>
              </a:rPr>
              <a:t>amplitude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en-US" altLang="zh-CN" sz="2400" dirty="0">
                <a:ea typeface="宋体" pitchFamily="2" charset="-122"/>
              </a:rPr>
              <a:t>of the sinusoid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ea typeface="宋体" pitchFamily="2" charset="-122"/>
              </a:rPr>
              <a:t>	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ea typeface="宋体" pitchFamily="2" charset="-122"/>
              </a:rPr>
              <a:t> =   the </a:t>
            </a:r>
            <a:r>
              <a:rPr lang="en-US" altLang="zh-CN" sz="2400" b="1" dirty="0">
                <a:solidFill>
                  <a:srgbClr val="FF0000"/>
                </a:solidFill>
                <a:ea typeface="宋体" pitchFamily="2" charset="-122"/>
              </a:rPr>
              <a:t>angular frequency </a:t>
            </a:r>
            <a:r>
              <a:rPr lang="en-US" altLang="zh-CN" sz="2400" dirty="0">
                <a:ea typeface="宋体" pitchFamily="2" charset="-122"/>
              </a:rPr>
              <a:t>in radians/s</a:t>
            </a:r>
            <a:r>
              <a:rPr lang="zh-CN" altLang="en-US" sz="2400" dirty="0">
                <a:ea typeface="宋体" pitchFamily="2" charset="-122"/>
              </a:rPr>
              <a:t> </a:t>
            </a:r>
            <a:r>
              <a:rPr lang="en-US" altLang="zh-CN" sz="2400" dirty="0">
                <a:ea typeface="宋体" pitchFamily="2" charset="-122"/>
              </a:rPr>
              <a:t>(rad/s)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ea typeface="宋体" pitchFamily="2" charset="-122"/>
              </a:rPr>
              <a:t>	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Ф</a:t>
            </a:r>
            <a:r>
              <a:rPr lang="en-US" altLang="zh-CN" sz="2400" dirty="0">
                <a:ea typeface="宋体" pitchFamily="2" charset="-122"/>
              </a:rPr>
              <a:t> =   the initial </a:t>
            </a:r>
            <a:r>
              <a:rPr lang="en-US" altLang="zh-CN" sz="2400" b="1" dirty="0">
                <a:solidFill>
                  <a:srgbClr val="FF0000"/>
                </a:solidFill>
                <a:ea typeface="宋体" pitchFamily="2" charset="-122"/>
              </a:rPr>
              <a:t>phase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ea typeface="宋体" pitchFamily="2" charset="-122"/>
              </a:rPr>
              <a:t>   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ea typeface="宋体" pitchFamily="2" charset="-122"/>
              </a:rPr>
              <a:t>  =   the </a:t>
            </a:r>
            <a:r>
              <a:rPr lang="en-US" altLang="zh-CN" sz="2400" b="1" dirty="0">
                <a:solidFill>
                  <a:srgbClr val="FF0000"/>
                </a:solidFill>
                <a:ea typeface="宋体" pitchFamily="2" charset="-122"/>
              </a:rPr>
              <a:t>period</a:t>
            </a:r>
            <a:r>
              <a:rPr lang="en-US" altLang="zh-CN" sz="2400" dirty="0">
                <a:ea typeface="宋体" pitchFamily="2" charset="-122"/>
              </a:rPr>
              <a:t> of the sinusoid in seconds</a:t>
            </a:r>
            <a:r>
              <a:rPr lang="zh-CN" altLang="en-US" sz="2400" dirty="0">
                <a:ea typeface="宋体" pitchFamily="2" charset="-122"/>
              </a:rPr>
              <a:t> </a:t>
            </a:r>
            <a:r>
              <a:rPr lang="en-US" altLang="zh-CN" sz="2400" dirty="0">
                <a:ea typeface="宋体" pitchFamily="2" charset="-122"/>
              </a:rPr>
              <a:t>(s)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f   =    </a:t>
            </a:r>
            <a:r>
              <a:rPr lang="en-US" altLang="zh-CN" sz="2400" dirty="0">
                <a:ea typeface="宋体" pitchFamily="2" charset="-122"/>
              </a:rPr>
              <a:t>the </a:t>
            </a:r>
            <a:r>
              <a:rPr lang="en-US" altLang="zh-CN" sz="2400" b="1" dirty="0">
                <a:solidFill>
                  <a:srgbClr val="FF0000"/>
                </a:solidFill>
                <a:ea typeface="宋体" pitchFamily="2" charset="-122"/>
              </a:rPr>
              <a:t>cyclic</a:t>
            </a:r>
            <a:r>
              <a:rPr lang="zh-CN" altLang="en-US" sz="2400" dirty="0"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ea typeface="宋体" pitchFamily="2" charset="-122"/>
              </a:rPr>
              <a:t>frequency</a:t>
            </a:r>
            <a:r>
              <a:rPr lang="en-US" altLang="zh-CN" sz="2400" dirty="0">
                <a:ea typeface="宋体" pitchFamily="2" charset="-122"/>
              </a:rPr>
              <a:t> of the sinusoid in hertz</a:t>
            </a:r>
            <a:r>
              <a:rPr lang="zh-CN" altLang="en-US" sz="2400" dirty="0">
                <a:ea typeface="宋体" pitchFamily="2" charset="-122"/>
              </a:rPr>
              <a:t> </a:t>
            </a:r>
            <a:r>
              <a:rPr lang="en-US" altLang="zh-CN" sz="2400" dirty="0">
                <a:ea typeface="宋体" pitchFamily="2" charset="-122"/>
              </a:rPr>
              <a:t>(Hz).</a:t>
            </a:r>
            <a:endParaRPr lang="en-US" altLang="zh-CN" sz="2400" b="1" i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326" name="Rectangle 1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1342" name="Rectangle 30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830263" y="287338"/>
            <a:ext cx="708977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chemeClr val="tx2"/>
                </a:solidFill>
                <a:latin typeface="Arial Black" pitchFamily="34" charset="0"/>
              </a:rPr>
              <a:t>Characteristics of Sinusoids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901499"/>
              </p:ext>
            </p:extLst>
          </p:nvPr>
        </p:nvGraphicFramePr>
        <p:xfrm>
          <a:off x="5589933" y="5698776"/>
          <a:ext cx="1729383" cy="420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53800" progId="Equation.DSMT4">
                  <p:embed/>
                </p:oleObj>
              </mc:Choice>
              <mc:Fallback>
                <p:oleObj name="Equation" r:id="rId3" imgW="1028520" imgH="2538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933" y="5698776"/>
                        <a:ext cx="1729383" cy="420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8">
            <a:extLst>
              <a:ext uri="{FF2B5EF4-FFF2-40B4-BE49-F238E27FC236}">
                <a16:creationId xmlns:a16="http://schemas.microsoft.com/office/drawing/2014/main" id="{300D757D-EDA8-6F48-AE58-08B3529F5A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870218"/>
              </p:ext>
            </p:extLst>
          </p:nvPr>
        </p:nvGraphicFramePr>
        <p:xfrm>
          <a:off x="2123728" y="5579649"/>
          <a:ext cx="1036637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2080" imgH="393480" progId="Equation.3">
                  <p:embed/>
                </p:oleObj>
              </mc:Choice>
              <mc:Fallback>
                <p:oleObj name="Equation" r:id="rId5" imgW="622080" imgH="393480" progId="Equation.3">
                  <p:embed/>
                  <p:pic>
                    <p:nvPicPr>
                      <p:cNvPr id="24373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5579649"/>
                        <a:ext cx="1036637" cy="65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0">
            <a:extLst>
              <a:ext uri="{FF2B5EF4-FFF2-40B4-BE49-F238E27FC236}">
                <a16:creationId xmlns:a16="http://schemas.microsoft.com/office/drawing/2014/main" id="{3B2BCF48-64D1-344C-8B6D-67C2A8E536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641210"/>
              </p:ext>
            </p:extLst>
          </p:nvPr>
        </p:nvGraphicFramePr>
        <p:xfrm>
          <a:off x="3803649" y="5702970"/>
          <a:ext cx="114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5626" imgH="203024" progId="Equation.3">
                  <p:embed/>
                </p:oleObj>
              </mc:Choice>
              <mc:Fallback>
                <p:oleObj name="Equation" r:id="rId7" imgW="545626" imgH="203024" progId="Equation.3">
                  <p:embed/>
                  <p:pic>
                    <p:nvPicPr>
                      <p:cNvPr id="2437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49" y="5702970"/>
                        <a:ext cx="11430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22">
            <a:extLst>
              <a:ext uri="{FF2B5EF4-FFF2-40B4-BE49-F238E27FC236}">
                <a16:creationId xmlns:a16="http://schemas.microsoft.com/office/drawing/2014/main" id="{DE983212-2962-1644-82A8-094A4C589BDE}"/>
              </a:ext>
            </a:extLst>
          </p:cNvPr>
          <p:cNvGrpSpPr>
            <a:grpSpLocks/>
          </p:cNvGrpSpPr>
          <p:nvPr/>
        </p:nvGrpSpPr>
        <p:grpSpPr bwMode="auto">
          <a:xfrm>
            <a:off x="4770140" y="1340768"/>
            <a:ext cx="4107160" cy="2333799"/>
            <a:chOff x="1008" y="1632"/>
            <a:chExt cx="3696" cy="2064"/>
          </a:xfrm>
          <a:solidFill>
            <a:schemeClr val="tx2">
              <a:lumMod val="40000"/>
              <a:lumOff val="60000"/>
            </a:schemeClr>
          </a:solidFill>
        </p:grpSpPr>
        <p:grpSp>
          <p:nvGrpSpPr>
            <p:cNvPr id="20" name="Group 10">
              <a:extLst>
                <a:ext uri="{FF2B5EF4-FFF2-40B4-BE49-F238E27FC236}">
                  <a16:creationId xmlns:a16="http://schemas.microsoft.com/office/drawing/2014/main" id="{072F6D98-E99D-034D-908E-E99AD68499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632"/>
              <a:ext cx="3696" cy="2064"/>
              <a:chOff x="1800" y="6361"/>
              <a:chExt cx="8280" cy="5715"/>
            </a:xfrm>
            <a:grpFill/>
          </p:grpSpPr>
          <p:pic>
            <p:nvPicPr>
              <p:cNvPr id="22" name="Picture 11">
                <a:extLst>
                  <a:ext uri="{FF2B5EF4-FFF2-40B4-BE49-F238E27FC236}">
                    <a16:creationId xmlns:a16="http://schemas.microsoft.com/office/drawing/2014/main" id="{997F82F6-8CA2-144A-914F-E64E1C5A53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00" y="6361"/>
                <a:ext cx="8280" cy="571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" name="Line 12">
                <a:extLst>
                  <a:ext uri="{FF2B5EF4-FFF2-40B4-BE49-F238E27FC236}">
                    <a16:creationId xmlns:a16="http://schemas.microsoft.com/office/drawing/2014/main" id="{E1013DC1-1BB4-D84C-B08F-00364E086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60" y="9180"/>
                <a:ext cx="0" cy="270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13">
                <a:extLst>
                  <a:ext uri="{FF2B5EF4-FFF2-40B4-BE49-F238E27FC236}">
                    <a16:creationId xmlns:a16="http://schemas.microsoft.com/office/drawing/2014/main" id="{ED737E17-F8A2-6644-BE65-74C8967248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10440"/>
                <a:ext cx="4320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1" name="Object 16">
              <a:extLst>
                <a:ext uri="{FF2B5EF4-FFF2-40B4-BE49-F238E27FC236}">
                  <a16:creationId xmlns:a16="http://schemas.microsoft.com/office/drawing/2014/main" id="{8E79427E-E2E3-F04A-BFF1-F1C0CEE5E2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4466967"/>
                </p:ext>
              </p:extLst>
            </p:nvPr>
          </p:nvGraphicFramePr>
          <p:xfrm>
            <a:off x="1776" y="2784"/>
            <a:ext cx="39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07780" imgH="393529" progId="Equation.3">
                    <p:embed/>
                  </p:oleObj>
                </mc:Choice>
                <mc:Fallback>
                  <p:oleObj name="Equation" r:id="rId10" imgW="507780" imgH="393529" progId="Equation.3">
                    <p:embed/>
                    <p:pic>
                      <p:nvPicPr>
                        <p:cNvPr id="24372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784"/>
                          <a:ext cx="39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78CE029-9557-2946-A6E3-574ABD75BF4B}"/>
                  </a:ext>
                </a:extLst>
              </p:cNvPr>
              <p:cNvSpPr txBox="1"/>
              <p:nvPr/>
            </p:nvSpPr>
            <p:spPr>
              <a:xfrm>
                <a:off x="1372131" y="2754810"/>
                <a:ext cx="2536772" cy="369332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en-US" altLang="zh-CN" dirty="0"/>
                  <a:t>cos(</a:t>
                </a:r>
                <a:r>
                  <a:rPr kumimoji="1" lang="en-US" altLang="zh-CN" dirty="0" err="1"/>
                  <a:t>wt</a:t>
                </a:r>
                <a:r>
                  <a:rPr kumimoji="1" lang="en-US" altLang="zh-CN" dirty="0"/>
                  <a:t>+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i="1" dirty="0" err="1"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Ф</a:t>
                </a:r>
                <a:r>
                  <a:rPr kumimoji="1" lang="en-US" altLang="zh-CN" dirty="0"/>
                  <a:t>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78CE029-9557-2946-A6E3-574ABD75B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131" y="2754810"/>
                <a:ext cx="2536772" cy="369332"/>
              </a:xfrm>
              <a:prstGeom prst="rect">
                <a:avLst/>
              </a:prstGeom>
              <a:blipFill>
                <a:blip r:embed="rId13"/>
                <a:stretch>
                  <a:fillRect t="-10000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1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79388" y="3357563"/>
            <a:ext cx="3389312" cy="2703512"/>
            <a:chOff x="3504" y="672"/>
            <a:chExt cx="2135" cy="1703"/>
          </a:xfrm>
        </p:grpSpPr>
        <p:sp>
          <p:nvSpPr>
            <p:cNvPr id="20536" name="Line 3"/>
            <p:cNvSpPr>
              <a:spLocks noChangeShapeType="1"/>
            </p:cNvSpPr>
            <p:nvPr/>
          </p:nvSpPr>
          <p:spPr bwMode="auto">
            <a:xfrm>
              <a:off x="3840" y="1632"/>
              <a:ext cx="0" cy="4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37" name="Line 4"/>
            <p:cNvSpPr>
              <a:spLocks noChangeShapeType="1"/>
            </p:cNvSpPr>
            <p:nvPr/>
          </p:nvSpPr>
          <p:spPr bwMode="auto">
            <a:xfrm flipH="1">
              <a:off x="3840" y="2016"/>
              <a:ext cx="1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38" name="Text Box 5"/>
            <p:cNvSpPr txBox="1">
              <a:spLocks noChangeArrowheads="1"/>
            </p:cNvSpPr>
            <p:nvPr/>
          </p:nvSpPr>
          <p:spPr bwMode="auto">
            <a:xfrm>
              <a:off x="3648" y="2064"/>
              <a:ext cx="314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endParaRPr lang="en-US" altLang="zh-CN" i="1" baseline="-25000">
                <a:cs typeface="Times New Roman" pitchFamily="18" charset="0"/>
              </a:endParaRPr>
            </a:p>
          </p:txBody>
        </p:sp>
        <p:grpSp>
          <p:nvGrpSpPr>
            <p:cNvPr id="20539" name="Group 6"/>
            <p:cNvGrpSpPr>
              <a:grpSpLocks/>
            </p:cNvGrpSpPr>
            <p:nvPr/>
          </p:nvGrpSpPr>
          <p:grpSpPr bwMode="auto">
            <a:xfrm>
              <a:off x="3792" y="1199"/>
              <a:ext cx="334" cy="500"/>
              <a:chOff x="4116" y="2988"/>
              <a:chExt cx="298" cy="461"/>
            </a:xfrm>
          </p:grpSpPr>
          <p:sp>
            <p:nvSpPr>
              <p:cNvPr id="20552" name="Line 7"/>
              <p:cNvSpPr>
                <a:spLocks noChangeShapeType="1"/>
              </p:cNvSpPr>
              <p:nvPr/>
            </p:nvSpPr>
            <p:spPr bwMode="auto">
              <a:xfrm>
                <a:off x="4163" y="2988"/>
                <a:ext cx="0" cy="389"/>
              </a:xfrm>
              <a:prstGeom prst="line">
                <a:avLst/>
              </a:prstGeom>
              <a:noFill/>
              <a:ln w="25400">
                <a:solidFill>
                  <a:srgbClr val="2520F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53" name="Text Box 8"/>
              <p:cNvSpPr txBox="1">
                <a:spLocks noChangeArrowheads="1"/>
              </p:cNvSpPr>
              <p:nvPr/>
            </p:nvSpPr>
            <p:spPr bwMode="auto">
              <a:xfrm>
                <a:off x="4116" y="3084"/>
                <a:ext cx="29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zh-CN" i="1"/>
                  <a:t>I</a:t>
                </a:r>
                <a:r>
                  <a:rPr lang="en-US" altLang="zh-CN" sz="1600"/>
                  <a:t>m</a:t>
                </a:r>
                <a:endParaRPr lang="en-US" altLang="zh-CN" i="1"/>
              </a:p>
            </p:txBody>
          </p:sp>
        </p:grpSp>
        <p:sp>
          <p:nvSpPr>
            <p:cNvPr id="20540" name="Text Box 9"/>
            <p:cNvSpPr txBox="1">
              <a:spLocks noChangeArrowheads="1"/>
            </p:cNvSpPr>
            <p:nvPr/>
          </p:nvSpPr>
          <p:spPr bwMode="auto">
            <a:xfrm>
              <a:off x="5061" y="1627"/>
              <a:ext cx="535" cy="3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i="1">
                  <a:sym typeface="Symbol" pitchFamily="18" charset="2"/>
                </a:rPr>
                <a:t> </a:t>
              </a:r>
              <a:r>
                <a:rPr lang="en-US" altLang="zh-CN" i="1">
                  <a:sym typeface="Symbol" pitchFamily="18" charset="2"/>
                </a:rPr>
                <a:t>t</a:t>
              </a:r>
              <a:endParaRPr lang="en-US" altLang="zh-CN"/>
            </a:p>
          </p:txBody>
        </p:sp>
        <p:sp>
          <p:nvSpPr>
            <p:cNvPr id="20541" name="Text Box 10"/>
            <p:cNvSpPr txBox="1">
              <a:spLocks noChangeArrowheads="1"/>
            </p:cNvSpPr>
            <p:nvPr/>
          </p:nvSpPr>
          <p:spPr bwMode="auto">
            <a:xfrm>
              <a:off x="3874" y="672"/>
              <a:ext cx="1765" cy="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/>
                <a:t>i</a:t>
              </a:r>
              <a:r>
                <a:rPr lang="en-US" altLang="zh-CN"/>
                <a:t>(</a:t>
              </a:r>
              <a:r>
                <a:rPr lang="en-US" altLang="zh-CN" i="1"/>
                <a:t>t</a:t>
              </a:r>
              <a:r>
                <a:rPr lang="en-US" altLang="zh-CN"/>
                <a:t>)=</a:t>
              </a:r>
              <a:r>
                <a:rPr lang="en-US" altLang="zh-CN" i="1"/>
                <a:t>I</a:t>
              </a:r>
              <a:r>
                <a:rPr lang="en-US" altLang="zh-CN" baseline="-25000"/>
                <a:t>m</a:t>
              </a:r>
              <a:r>
                <a:rPr lang="en-US" altLang="zh-CN"/>
                <a:t>cos(</a:t>
              </a:r>
              <a:r>
                <a:rPr lang="en-US" altLang="zh-CN" i="1">
                  <a:latin typeface="Symbol" pitchFamily="18" charset="2"/>
                </a:rPr>
                <a:t>w </a:t>
              </a:r>
              <a:r>
                <a:rPr lang="en-US" altLang="zh-CN" i="1"/>
                <a:t>t</a:t>
              </a:r>
              <a:r>
                <a:rPr lang="en-US" altLang="zh-CN"/>
                <a:t>+</a:t>
              </a:r>
              <a:r>
                <a:rPr lang="en-US" altLang="zh-CN" i="1">
                  <a:cs typeface="Times New Roman" pitchFamily="18" charset="0"/>
                </a:rPr>
                <a:t>φ</a:t>
              </a:r>
              <a:r>
                <a:rPr lang="en-US" altLang="zh-CN" i="1" baseline="-25000">
                  <a:cs typeface="Times New Roman" pitchFamily="18" charset="0"/>
                </a:rPr>
                <a:t>i</a:t>
              </a:r>
              <a:r>
                <a:rPr lang="en-US" altLang="zh-CN"/>
                <a:t>)</a:t>
              </a:r>
              <a:endParaRPr lang="en-US" altLang="zh-CN">
                <a:latin typeface="Symbol" pitchFamily="18" charset="2"/>
              </a:endParaRPr>
            </a:p>
          </p:txBody>
        </p:sp>
        <p:sp>
          <p:nvSpPr>
            <p:cNvPr id="20542" name="Line 11"/>
            <p:cNvSpPr>
              <a:spLocks noChangeShapeType="1"/>
            </p:cNvSpPr>
            <p:nvPr/>
          </p:nvSpPr>
          <p:spPr bwMode="auto">
            <a:xfrm flipV="1">
              <a:off x="3569" y="1635"/>
              <a:ext cx="1675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3" name="Line 12"/>
            <p:cNvSpPr>
              <a:spLocks noChangeShapeType="1"/>
            </p:cNvSpPr>
            <p:nvPr/>
          </p:nvSpPr>
          <p:spPr bwMode="auto">
            <a:xfrm flipV="1">
              <a:off x="3696" y="960"/>
              <a:ext cx="0" cy="1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4" name="Text Box 13"/>
            <p:cNvSpPr txBox="1">
              <a:spLocks noChangeArrowheads="1"/>
            </p:cNvSpPr>
            <p:nvPr/>
          </p:nvSpPr>
          <p:spPr bwMode="auto">
            <a:xfrm>
              <a:off x="3507" y="830"/>
              <a:ext cx="17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/>
                <a:t>i</a:t>
              </a:r>
              <a:endParaRPr lang="en-US" altLang="zh-CN"/>
            </a:p>
          </p:txBody>
        </p:sp>
        <p:grpSp>
          <p:nvGrpSpPr>
            <p:cNvPr id="20545" name="Group 14"/>
            <p:cNvGrpSpPr>
              <a:grpSpLocks/>
            </p:cNvGrpSpPr>
            <p:nvPr/>
          </p:nvGrpSpPr>
          <p:grpSpPr bwMode="auto">
            <a:xfrm>
              <a:off x="3552" y="1200"/>
              <a:ext cx="1422" cy="844"/>
              <a:chOff x="3603" y="2276"/>
              <a:chExt cx="1338" cy="599"/>
            </a:xfrm>
          </p:grpSpPr>
          <p:sp>
            <p:nvSpPr>
              <p:cNvPr id="20547" name="Freeform 15"/>
              <p:cNvSpPr>
                <a:spLocks/>
              </p:cNvSpPr>
              <p:nvPr/>
            </p:nvSpPr>
            <p:spPr bwMode="auto">
              <a:xfrm>
                <a:off x="3672" y="2277"/>
                <a:ext cx="396" cy="301"/>
              </a:xfrm>
              <a:custGeom>
                <a:avLst/>
                <a:gdLst>
                  <a:gd name="T0" fmla="*/ 0 w 396"/>
                  <a:gd name="T1" fmla="*/ 301 h 301"/>
                  <a:gd name="T2" fmla="*/ 28 w 396"/>
                  <a:gd name="T3" fmla="*/ 240 h 301"/>
                  <a:gd name="T4" fmla="*/ 52 w 396"/>
                  <a:gd name="T5" fmla="*/ 192 h 301"/>
                  <a:gd name="T6" fmla="*/ 84 w 396"/>
                  <a:gd name="T7" fmla="*/ 128 h 301"/>
                  <a:gd name="T8" fmla="*/ 116 w 396"/>
                  <a:gd name="T9" fmla="*/ 72 h 301"/>
                  <a:gd name="T10" fmla="*/ 147 w 396"/>
                  <a:gd name="T11" fmla="*/ 25 h 301"/>
                  <a:gd name="T12" fmla="*/ 196 w 396"/>
                  <a:gd name="T13" fmla="*/ 0 h 301"/>
                  <a:gd name="T14" fmla="*/ 252 w 396"/>
                  <a:gd name="T15" fmla="*/ 25 h 301"/>
                  <a:gd name="T16" fmla="*/ 284 w 396"/>
                  <a:gd name="T17" fmla="*/ 64 h 301"/>
                  <a:gd name="T18" fmla="*/ 324 w 396"/>
                  <a:gd name="T19" fmla="*/ 133 h 301"/>
                  <a:gd name="T20" fmla="*/ 348 w 396"/>
                  <a:gd name="T21" fmla="*/ 193 h 301"/>
                  <a:gd name="T22" fmla="*/ 372 w 396"/>
                  <a:gd name="T23" fmla="*/ 241 h 301"/>
                  <a:gd name="T24" fmla="*/ 396 w 396"/>
                  <a:gd name="T25" fmla="*/ 301 h 30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96" h="301">
                    <a:moveTo>
                      <a:pt x="0" y="301"/>
                    </a:moveTo>
                    <a:cubicBezTo>
                      <a:pt x="5" y="291"/>
                      <a:pt x="19" y="258"/>
                      <a:pt x="28" y="240"/>
                    </a:cubicBezTo>
                    <a:cubicBezTo>
                      <a:pt x="37" y="222"/>
                      <a:pt x="43" y="211"/>
                      <a:pt x="52" y="192"/>
                    </a:cubicBezTo>
                    <a:cubicBezTo>
                      <a:pt x="61" y="173"/>
                      <a:pt x="73" y="148"/>
                      <a:pt x="84" y="128"/>
                    </a:cubicBezTo>
                    <a:cubicBezTo>
                      <a:pt x="95" y="108"/>
                      <a:pt x="106" y="89"/>
                      <a:pt x="116" y="72"/>
                    </a:cubicBezTo>
                    <a:cubicBezTo>
                      <a:pt x="126" y="55"/>
                      <a:pt x="134" y="37"/>
                      <a:pt x="147" y="25"/>
                    </a:cubicBezTo>
                    <a:cubicBezTo>
                      <a:pt x="160" y="13"/>
                      <a:pt x="179" y="0"/>
                      <a:pt x="196" y="0"/>
                    </a:cubicBezTo>
                    <a:cubicBezTo>
                      <a:pt x="213" y="0"/>
                      <a:pt x="237" y="14"/>
                      <a:pt x="252" y="25"/>
                    </a:cubicBezTo>
                    <a:cubicBezTo>
                      <a:pt x="267" y="36"/>
                      <a:pt x="272" y="46"/>
                      <a:pt x="284" y="64"/>
                    </a:cubicBezTo>
                    <a:cubicBezTo>
                      <a:pt x="296" y="82"/>
                      <a:pt x="313" y="112"/>
                      <a:pt x="324" y="133"/>
                    </a:cubicBezTo>
                    <a:cubicBezTo>
                      <a:pt x="335" y="154"/>
                      <a:pt x="340" y="175"/>
                      <a:pt x="348" y="193"/>
                    </a:cubicBezTo>
                    <a:cubicBezTo>
                      <a:pt x="356" y="211"/>
                      <a:pt x="364" y="223"/>
                      <a:pt x="372" y="241"/>
                    </a:cubicBezTo>
                    <a:cubicBezTo>
                      <a:pt x="380" y="259"/>
                      <a:pt x="392" y="291"/>
                      <a:pt x="396" y="301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48" name="Freeform 16"/>
              <p:cNvSpPr>
                <a:spLocks/>
              </p:cNvSpPr>
              <p:nvPr/>
            </p:nvSpPr>
            <p:spPr bwMode="auto">
              <a:xfrm>
                <a:off x="4463" y="2276"/>
                <a:ext cx="396" cy="301"/>
              </a:xfrm>
              <a:custGeom>
                <a:avLst/>
                <a:gdLst>
                  <a:gd name="T0" fmla="*/ 0 w 396"/>
                  <a:gd name="T1" fmla="*/ 301 h 301"/>
                  <a:gd name="T2" fmla="*/ 28 w 396"/>
                  <a:gd name="T3" fmla="*/ 240 h 301"/>
                  <a:gd name="T4" fmla="*/ 52 w 396"/>
                  <a:gd name="T5" fmla="*/ 192 h 301"/>
                  <a:gd name="T6" fmla="*/ 84 w 396"/>
                  <a:gd name="T7" fmla="*/ 128 h 301"/>
                  <a:gd name="T8" fmla="*/ 116 w 396"/>
                  <a:gd name="T9" fmla="*/ 72 h 301"/>
                  <a:gd name="T10" fmla="*/ 147 w 396"/>
                  <a:gd name="T11" fmla="*/ 25 h 301"/>
                  <a:gd name="T12" fmla="*/ 196 w 396"/>
                  <a:gd name="T13" fmla="*/ 0 h 301"/>
                  <a:gd name="T14" fmla="*/ 252 w 396"/>
                  <a:gd name="T15" fmla="*/ 25 h 301"/>
                  <a:gd name="T16" fmla="*/ 284 w 396"/>
                  <a:gd name="T17" fmla="*/ 64 h 301"/>
                  <a:gd name="T18" fmla="*/ 324 w 396"/>
                  <a:gd name="T19" fmla="*/ 133 h 301"/>
                  <a:gd name="T20" fmla="*/ 348 w 396"/>
                  <a:gd name="T21" fmla="*/ 193 h 301"/>
                  <a:gd name="T22" fmla="*/ 372 w 396"/>
                  <a:gd name="T23" fmla="*/ 241 h 301"/>
                  <a:gd name="T24" fmla="*/ 396 w 396"/>
                  <a:gd name="T25" fmla="*/ 301 h 30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96" h="301">
                    <a:moveTo>
                      <a:pt x="0" y="301"/>
                    </a:moveTo>
                    <a:cubicBezTo>
                      <a:pt x="5" y="291"/>
                      <a:pt x="19" y="258"/>
                      <a:pt x="28" y="240"/>
                    </a:cubicBezTo>
                    <a:cubicBezTo>
                      <a:pt x="37" y="222"/>
                      <a:pt x="43" y="211"/>
                      <a:pt x="52" y="192"/>
                    </a:cubicBezTo>
                    <a:cubicBezTo>
                      <a:pt x="61" y="173"/>
                      <a:pt x="73" y="148"/>
                      <a:pt x="84" y="128"/>
                    </a:cubicBezTo>
                    <a:cubicBezTo>
                      <a:pt x="95" y="108"/>
                      <a:pt x="106" y="89"/>
                      <a:pt x="116" y="72"/>
                    </a:cubicBezTo>
                    <a:cubicBezTo>
                      <a:pt x="126" y="55"/>
                      <a:pt x="134" y="37"/>
                      <a:pt x="147" y="25"/>
                    </a:cubicBezTo>
                    <a:cubicBezTo>
                      <a:pt x="160" y="13"/>
                      <a:pt x="179" y="0"/>
                      <a:pt x="196" y="0"/>
                    </a:cubicBezTo>
                    <a:cubicBezTo>
                      <a:pt x="213" y="0"/>
                      <a:pt x="237" y="14"/>
                      <a:pt x="252" y="25"/>
                    </a:cubicBezTo>
                    <a:cubicBezTo>
                      <a:pt x="267" y="36"/>
                      <a:pt x="272" y="46"/>
                      <a:pt x="284" y="64"/>
                    </a:cubicBezTo>
                    <a:cubicBezTo>
                      <a:pt x="296" y="82"/>
                      <a:pt x="313" y="112"/>
                      <a:pt x="324" y="133"/>
                    </a:cubicBezTo>
                    <a:cubicBezTo>
                      <a:pt x="335" y="154"/>
                      <a:pt x="340" y="175"/>
                      <a:pt x="348" y="193"/>
                    </a:cubicBezTo>
                    <a:cubicBezTo>
                      <a:pt x="356" y="211"/>
                      <a:pt x="364" y="223"/>
                      <a:pt x="372" y="241"/>
                    </a:cubicBezTo>
                    <a:cubicBezTo>
                      <a:pt x="380" y="259"/>
                      <a:pt x="392" y="291"/>
                      <a:pt x="396" y="301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49" name="Freeform 17"/>
              <p:cNvSpPr>
                <a:spLocks/>
              </p:cNvSpPr>
              <p:nvPr/>
            </p:nvSpPr>
            <p:spPr bwMode="auto">
              <a:xfrm flipV="1">
                <a:off x="4068" y="2574"/>
                <a:ext cx="396" cy="301"/>
              </a:xfrm>
              <a:custGeom>
                <a:avLst/>
                <a:gdLst>
                  <a:gd name="T0" fmla="*/ 0 w 396"/>
                  <a:gd name="T1" fmla="*/ 301 h 301"/>
                  <a:gd name="T2" fmla="*/ 28 w 396"/>
                  <a:gd name="T3" fmla="*/ 240 h 301"/>
                  <a:gd name="T4" fmla="*/ 52 w 396"/>
                  <a:gd name="T5" fmla="*/ 192 h 301"/>
                  <a:gd name="T6" fmla="*/ 84 w 396"/>
                  <a:gd name="T7" fmla="*/ 128 h 301"/>
                  <a:gd name="T8" fmla="*/ 116 w 396"/>
                  <a:gd name="T9" fmla="*/ 72 h 301"/>
                  <a:gd name="T10" fmla="*/ 147 w 396"/>
                  <a:gd name="T11" fmla="*/ 25 h 301"/>
                  <a:gd name="T12" fmla="*/ 196 w 396"/>
                  <a:gd name="T13" fmla="*/ 0 h 301"/>
                  <a:gd name="T14" fmla="*/ 252 w 396"/>
                  <a:gd name="T15" fmla="*/ 25 h 301"/>
                  <a:gd name="T16" fmla="*/ 284 w 396"/>
                  <a:gd name="T17" fmla="*/ 64 h 301"/>
                  <a:gd name="T18" fmla="*/ 324 w 396"/>
                  <a:gd name="T19" fmla="*/ 133 h 301"/>
                  <a:gd name="T20" fmla="*/ 348 w 396"/>
                  <a:gd name="T21" fmla="*/ 193 h 301"/>
                  <a:gd name="T22" fmla="*/ 372 w 396"/>
                  <a:gd name="T23" fmla="*/ 241 h 301"/>
                  <a:gd name="T24" fmla="*/ 396 w 396"/>
                  <a:gd name="T25" fmla="*/ 301 h 30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96" h="301">
                    <a:moveTo>
                      <a:pt x="0" y="301"/>
                    </a:moveTo>
                    <a:cubicBezTo>
                      <a:pt x="5" y="291"/>
                      <a:pt x="19" y="258"/>
                      <a:pt x="28" y="240"/>
                    </a:cubicBezTo>
                    <a:cubicBezTo>
                      <a:pt x="37" y="222"/>
                      <a:pt x="43" y="211"/>
                      <a:pt x="52" y="192"/>
                    </a:cubicBezTo>
                    <a:cubicBezTo>
                      <a:pt x="61" y="173"/>
                      <a:pt x="73" y="148"/>
                      <a:pt x="84" y="128"/>
                    </a:cubicBezTo>
                    <a:cubicBezTo>
                      <a:pt x="95" y="108"/>
                      <a:pt x="106" y="89"/>
                      <a:pt x="116" y="72"/>
                    </a:cubicBezTo>
                    <a:cubicBezTo>
                      <a:pt x="126" y="55"/>
                      <a:pt x="134" y="37"/>
                      <a:pt x="147" y="25"/>
                    </a:cubicBezTo>
                    <a:cubicBezTo>
                      <a:pt x="160" y="13"/>
                      <a:pt x="179" y="0"/>
                      <a:pt x="196" y="0"/>
                    </a:cubicBezTo>
                    <a:cubicBezTo>
                      <a:pt x="213" y="0"/>
                      <a:pt x="237" y="14"/>
                      <a:pt x="252" y="25"/>
                    </a:cubicBezTo>
                    <a:cubicBezTo>
                      <a:pt x="267" y="36"/>
                      <a:pt x="272" y="46"/>
                      <a:pt x="284" y="64"/>
                    </a:cubicBezTo>
                    <a:cubicBezTo>
                      <a:pt x="296" y="82"/>
                      <a:pt x="313" y="112"/>
                      <a:pt x="324" y="133"/>
                    </a:cubicBezTo>
                    <a:cubicBezTo>
                      <a:pt x="335" y="154"/>
                      <a:pt x="340" y="175"/>
                      <a:pt x="348" y="193"/>
                    </a:cubicBezTo>
                    <a:cubicBezTo>
                      <a:pt x="356" y="211"/>
                      <a:pt x="364" y="223"/>
                      <a:pt x="372" y="241"/>
                    </a:cubicBezTo>
                    <a:cubicBezTo>
                      <a:pt x="380" y="259"/>
                      <a:pt x="392" y="291"/>
                      <a:pt x="396" y="301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50" name="Freeform 18"/>
              <p:cNvSpPr>
                <a:spLocks/>
              </p:cNvSpPr>
              <p:nvPr/>
            </p:nvSpPr>
            <p:spPr bwMode="auto">
              <a:xfrm>
                <a:off x="4857" y="2575"/>
                <a:ext cx="84" cy="173"/>
              </a:xfrm>
              <a:custGeom>
                <a:avLst/>
                <a:gdLst>
                  <a:gd name="T0" fmla="*/ 0 w 84"/>
                  <a:gd name="T1" fmla="*/ 0 h 173"/>
                  <a:gd name="T2" fmla="*/ 28 w 84"/>
                  <a:gd name="T3" fmla="*/ 61 h 173"/>
                  <a:gd name="T4" fmla="*/ 52 w 84"/>
                  <a:gd name="T5" fmla="*/ 109 h 173"/>
                  <a:gd name="T6" fmla="*/ 84 w 84"/>
                  <a:gd name="T7" fmla="*/ 173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4" h="173">
                    <a:moveTo>
                      <a:pt x="0" y="0"/>
                    </a:moveTo>
                    <a:cubicBezTo>
                      <a:pt x="5" y="10"/>
                      <a:pt x="19" y="43"/>
                      <a:pt x="28" y="61"/>
                    </a:cubicBezTo>
                    <a:cubicBezTo>
                      <a:pt x="37" y="79"/>
                      <a:pt x="43" y="90"/>
                      <a:pt x="52" y="109"/>
                    </a:cubicBezTo>
                    <a:cubicBezTo>
                      <a:pt x="61" y="128"/>
                      <a:pt x="79" y="162"/>
                      <a:pt x="84" y="173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51" name="Freeform 19"/>
              <p:cNvSpPr>
                <a:spLocks/>
              </p:cNvSpPr>
              <p:nvPr/>
            </p:nvSpPr>
            <p:spPr bwMode="auto">
              <a:xfrm>
                <a:off x="3603" y="2575"/>
                <a:ext cx="72" cy="168"/>
              </a:xfrm>
              <a:custGeom>
                <a:avLst/>
                <a:gdLst>
                  <a:gd name="T0" fmla="*/ 0 w 72"/>
                  <a:gd name="T1" fmla="*/ 168 h 168"/>
                  <a:gd name="T2" fmla="*/ 24 w 72"/>
                  <a:gd name="T3" fmla="*/ 108 h 168"/>
                  <a:gd name="T4" fmla="*/ 48 w 72"/>
                  <a:gd name="T5" fmla="*/ 60 h 168"/>
                  <a:gd name="T6" fmla="*/ 72 w 72"/>
                  <a:gd name="T7" fmla="*/ 0 h 16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168">
                    <a:moveTo>
                      <a:pt x="0" y="168"/>
                    </a:moveTo>
                    <a:cubicBezTo>
                      <a:pt x="4" y="158"/>
                      <a:pt x="16" y="126"/>
                      <a:pt x="24" y="108"/>
                    </a:cubicBezTo>
                    <a:cubicBezTo>
                      <a:pt x="32" y="90"/>
                      <a:pt x="40" y="78"/>
                      <a:pt x="48" y="60"/>
                    </a:cubicBezTo>
                    <a:cubicBezTo>
                      <a:pt x="56" y="42"/>
                      <a:pt x="68" y="10"/>
                      <a:pt x="72" y="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46" name="Line 20"/>
            <p:cNvSpPr>
              <a:spLocks noChangeShapeType="1"/>
            </p:cNvSpPr>
            <p:nvPr/>
          </p:nvSpPr>
          <p:spPr bwMode="auto">
            <a:xfrm>
              <a:off x="3504" y="2016"/>
              <a:ext cx="1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238" name="Text Box 22"/>
          <p:cNvSpPr txBox="1">
            <a:spLocks noChangeArrowheads="1"/>
          </p:cNvSpPr>
          <p:nvPr/>
        </p:nvSpPr>
        <p:spPr bwMode="auto">
          <a:xfrm>
            <a:off x="5564188" y="2492375"/>
            <a:ext cx="329247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u="sng" dirty="0">
                <a:solidFill>
                  <a:srgbClr val="FF0000"/>
                </a:solidFill>
              </a:rPr>
              <a:t>Generally</a:t>
            </a:r>
            <a:r>
              <a:rPr lang="zh-CN" altLang="en-US" u="sng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          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>
                <a:sym typeface="Symbol" pitchFamily="18" charset="2"/>
              </a:rPr>
              <a:t>  </a:t>
            </a:r>
            <a:r>
              <a:rPr lang="en-US" altLang="zh-CN" i="1" dirty="0" err="1">
                <a:cs typeface="Times New Roman" pitchFamily="18" charset="0"/>
              </a:rPr>
              <a:t>φ</a:t>
            </a:r>
            <a:r>
              <a:rPr lang="en-US" altLang="zh-CN" i="1" baseline="-25000" dirty="0" err="1">
                <a:cs typeface="Times New Roman" pitchFamily="18" charset="0"/>
              </a:rPr>
              <a:t>i</a:t>
            </a:r>
            <a:r>
              <a:rPr lang="en-US" altLang="zh-CN" dirty="0">
                <a:sym typeface="Symbol" pitchFamily="18" charset="2"/>
              </a:rPr>
              <a:t>   </a:t>
            </a:r>
          </a:p>
        </p:txBody>
      </p:sp>
      <p:grpSp>
        <p:nvGrpSpPr>
          <p:cNvPr id="9239" name="Group 23"/>
          <p:cNvGrpSpPr>
            <a:grpSpLocks/>
          </p:cNvGrpSpPr>
          <p:nvPr/>
        </p:nvGrpSpPr>
        <p:grpSpPr bwMode="auto">
          <a:xfrm>
            <a:off x="4159250" y="3663950"/>
            <a:ext cx="1646238" cy="2216150"/>
            <a:chOff x="3580" y="1616"/>
            <a:chExt cx="864" cy="1588"/>
          </a:xfrm>
        </p:grpSpPr>
        <p:grpSp>
          <p:nvGrpSpPr>
            <p:cNvPr id="20532" name="Group 24"/>
            <p:cNvGrpSpPr>
              <a:grpSpLocks/>
            </p:cNvGrpSpPr>
            <p:nvPr/>
          </p:nvGrpSpPr>
          <p:grpSpPr bwMode="auto">
            <a:xfrm>
              <a:off x="3580" y="1616"/>
              <a:ext cx="864" cy="1588"/>
              <a:chOff x="3580" y="1616"/>
              <a:chExt cx="864" cy="1588"/>
            </a:xfrm>
          </p:grpSpPr>
          <p:sp>
            <p:nvSpPr>
              <p:cNvPr id="20534" name="Line 25"/>
              <p:cNvSpPr>
                <a:spLocks noChangeShapeType="1"/>
              </p:cNvSpPr>
              <p:nvPr/>
            </p:nvSpPr>
            <p:spPr bwMode="auto">
              <a:xfrm flipV="1">
                <a:off x="3855" y="1616"/>
                <a:ext cx="0" cy="129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prstDash val="dash"/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5" name="Text Box 26"/>
              <p:cNvSpPr txBox="1">
                <a:spLocks noChangeArrowheads="1"/>
              </p:cNvSpPr>
              <p:nvPr/>
            </p:nvSpPr>
            <p:spPr bwMode="auto">
              <a:xfrm>
                <a:off x="3580" y="2876"/>
                <a:ext cx="864" cy="3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>
                    <a:cs typeface="Times New Roman" pitchFamily="18" charset="0"/>
                  </a:rPr>
                  <a:t>φ</a:t>
                </a:r>
                <a:r>
                  <a:rPr lang="en-US" altLang="zh-CN" i="1" baseline="-25000">
                    <a:cs typeface="Times New Roman" pitchFamily="18" charset="0"/>
                  </a:rPr>
                  <a:t>i</a:t>
                </a:r>
                <a:r>
                  <a:rPr lang="en-US" altLang="zh-CN" i="1" baseline="-25000">
                    <a:solidFill>
                      <a:srgbClr val="2520F2"/>
                    </a:solidFill>
                    <a:latin typeface="宋体" charset="-122"/>
                    <a:sym typeface="Symbol" pitchFamily="18" charset="2"/>
                  </a:rPr>
                  <a:t> </a:t>
                </a:r>
                <a:r>
                  <a:rPr lang="en-US" altLang="zh-CN">
                    <a:latin typeface="宋体" charset="-122"/>
                    <a:sym typeface="Symbol" pitchFamily="18" charset="2"/>
                  </a:rPr>
                  <a:t>=</a:t>
                </a:r>
                <a:r>
                  <a:rPr lang="en-US" altLang="zh-CN">
                    <a:solidFill>
                      <a:schemeClr val="tx2"/>
                    </a:solidFill>
                    <a:latin typeface="宋体" charset="-122"/>
                    <a:sym typeface="Symbol" pitchFamily="18" charset="2"/>
                  </a:rPr>
                  <a:t>0</a:t>
                </a:r>
              </a:p>
            </p:txBody>
          </p:sp>
        </p:grpSp>
        <p:sp>
          <p:nvSpPr>
            <p:cNvPr id="20533" name="Text Box 27"/>
            <p:cNvSpPr txBox="1">
              <a:spLocks noChangeArrowheads="1"/>
            </p:cNvSpPr>
            <p:nvPr/>
          </p:nvSpPr>
          <p:spPr bwMode="auto">
            <a:xfrm>
              <a:off x="3867" y="2267"/>
              <a:ext cx="166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chemeClr val="tx2"/>
                  </a:solidFill>
                </a:rPr>
                <a:t>0</a:t>
              </a:r>
            </a:p>
          </p:txBody>
        </p:sp>
      </p:grpSp>
      <p:grpSp>
        <p:nvGrpSpPr>
          <p:cNvPr id="9292" name="Group 76"/>
          <p:cNvGrpSpPr>
            <a:grpSpLocks/>
          </p:cNvGrpSpPr>
          <p:nvPr/>
        </p:nvGrpSpPr>
        <p:grpSpPr bwMode="auto">
          <a:xfrm>
            <a:off x="5302250" y="3581400"/>
            <a:ext cx="1828800" cy="2420938"/>
            <a:chOff x="3744" y="288"/>
            <a:chExt cx="1152" cy="1525"/>
          </a:xfrm>
        </p:grpSpPr>
        <p:sp>
          <p:nvSpPr>
            <p:cNvPr id="20528" name="Text Box 31"/>
            <p:cNvSpPr txBox="1">
              <a:spLocks noChangeArrowheads="1"/>
            </p:cNvSpPr>
            <p:nvPr/>
          </p:nvSpPr>
          <p:spPr bwMode="auto">
            <a:xfrm>
              <a:off x="3744" y="1420"/>
              <a:ext cx="1152" cy="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i="1">
                  <a:solidFill>
                    <a:schemeClr val="tx2"/>
                  </a:solidFill>
                  <a:cs typeface="Times New Roman" pitchFamily="18" charset="0"/>
                </a:rPr>
                <a:t>φ</a:t>
              </a:r>
              <a:r>
                <a:rPr lang="en-US" altLang="zh-CN" i="1" baseline="-25000">
                  <a:solidFill>
                    <a:schemeClr val="tx2"/>
                  </a:solidFill>
                  <a:cs typeface="Times New Roman" pitchFamily="18" charset="0"/>
                </a:rPr>
                <a:t>i</a:t>
              </a:r>
              <a:r>
                <a:rPr lang="en-US" altLang="zh-CN" i="1">
                  <a:solidFill>
                    <a:schemeClr val="tx2"/>
                  </a:solidFill>
                  <a:latin typeface="宋体" charset="-122"/>
                  <a:sym typeface="Symbol" pitchFamily="18" charset="2"/>
                </a:rPr>
                <a:t> </a:t>
              </a:r>
              <a:r>
                <a:rPr lang="en-US" altLang="zh-CN">
                  <a:solidFill>
                    <a:schemeClr val="tx2"/>
                  </a:solidFill>
                  <a:latin typeface="宋体" charset="-122"/>
                  <a:sym typeface="Symbol" pitchFamily="18" charset="2"/>
                </a:rPr>
                <a:t>= </a:t>
              </a:r>
            </a:p>
          </p:txBody>
        </p:sp>
        <p:grpSp>
          <p:nvGrpSpPr>
            <p:cNvPr id="20529" name="Group 75"/>
            <p:cNvGrpSpPr>
              <a:grpSpLocks/>
            </p:cNvGrpSpPr>
            <p:nvPr/>
          </p:nvGrpSpPr>
          <p:grpSpPr bwMode="auto">
            <a:xfrm>
              <a:off x="3888" y="288"/>
              <a:ext cx="199" cy="1139"/>
              <a:chOff x="3888" y="288"/>
              <a:chExt cx="199" cy="1139"/>
            </a:xfrm>
          </p:grpSpPr>
          <p:sp>
            <p:nvSpPr>
              <p:cNvPr id="20530" name="Line 30"/>
              <p:cNvSpPr>
                <a:spLocks noChangeShapeType="1"/>
              </p:cNvSpPr>
              <p:nvPr/>
            </p:nvSpPr>
            <p:spPr bwMode="auto">
              <a:xfrm flipV="1">
                <a:off x="3904" y="288"/>
                <a:ext cx="0" cy="1139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prstDash val="dash"/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1" name="Text Box 32"/>
              <p:cNvSpPr txBox="1">
                <a:spLocks noChangeArrowheads="1"/>
              </p:cNvSpPr>
              <p:nvPr/>
            </p:nvSpPr>
            <p:spPr bwMode="auto">
              <a:xfrm>
                <a:off x="3888" y="883"/>
                <a:ext cx="199" cy="3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accent2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zh-CN" altLang="en-US">
                    <a:solidFill>
                      <a:schemeClr val="tx2"/>
                    </a:solidFill>
                  </a:rPr>
                  <a:t>0</a:t>
                </a:r>
              </a:p>
            </p:txBody>
          </p:sp>
        </p:grpSp>
      </p:grpSp>
      <p:grpSp>
        <p:nvGrpSpPr>
          <p:cNvPr id="9249" name="Group 33"/>
          <p:cNvGrpSpPr>
            <a:grpSpLocks/>
          </p:cNvGrpSpPr>
          <p:nvPr/>
        </p:nvGrpSpPr>
        <p:grpSpPr bwMode="auto">
          <a:xfrm>
            <a:off x="4083050" y="3246438"/>
            <a:ext cx="844550" cy="2371725"/>
            <a:chOff x="5084" y="768"/>
            <a:chExt cx="532" cy="1494"/>
          </a:xfrm>
        </p:grpSpPr>
        <p:sp>
          <p:nvSpPr>
            <p:cNvPr id="20521" name="Line 34"/>
            <p:cNvSpPr>
              <a:spLocks noChangeShapeType="1"/>
            </p:cNvSpPr>
            <p:nvPr/>
          </p:nvSpPr>
          <p:spPr bwMode="auto">
            <a:xfrm flipH="1" flipV="1">
              <a:off x="5307" y="1021"/>
              <a:ext cx="0" cy="9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2" name="Text Box 35"/>
            <p:cNvSpPr txBox="1">
              <a:spLocks noChangeArrowheads="1"/>
            </p:cNvSpPr>
            <p:nvPr/>
          </p:nvSpPr>
          <p:spPr bwMode="auto">
            <a:xfrm>
              <a:off x="5193" y="768"/>
              <a:ext cx="1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i="1"/>
                <a:t>i</a:t>
              </a:r>
              <a:endParaRPr lang="en-US" altLang="zh-CN"/>
            </a:p>
          </p:txBody>
        </p:sp>
        <p:sp>
          <p:nvSpPr>
            <p:cNvPr id="20523" name="Line 36"/>
            <p:cNvSpPr>
              <a:spLocks noChangeShapeType="1"/>
            </p:cNvSpPr>
            <p:nvPr/>
          </p:nvSpPr>
          <p:spPr bwMode="auto">
            <a:xfrm>
              <a:off x="5450" y="1602"/>
              <a:ext cx="0" cy="4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4" name="Line 37"/>
            <p:cNvSpPr>
              <a:spLocks noChangeShapeType="1"/>
            </p:cNvSpPr>
            <p:nvPr/>
          </p:nvSpPr>
          <p:spPr bwMode="auto">
            <a:xfrm>
              <a:off x="5147" y="191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5" name="Line 38"/>
            <p:cNvSpPr>
              <a:spLocks noChangeShapeType="1"/>
            </p:cNvSpPr>
            <p:nvPr/>
          </p:nvSpPr>
          <p:spPr bwMode="auto">
            <a:xfrm flipH="1">
              <a:off x="5472" y="192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6" name="Text Box 39"/>
            <p:cNvSpPr txBox="1">
              <a:spLocks noChangeArrowheads="1"/>
            </p:cNvSpPr>
            <p:nvPr/>
          </p:nvSpPr>
          <p:spPr bwMode="auto">
            <a:xfrm>
              <a:off x="5260" y="1974"/>
              <a:ext cx="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cs typeface="Times New Roman" pitchFamily="18" charset="0"/>
                </a:rPr>
                <a:t>φ</a:t>
              </a:r>
              <a:r>
                <a:rPr lang="en-US" altLang="zh-CN" i="1" baseline="-25000">
                  <a:cs typeface="Times New Roman" pitchFamily="18" charset="0"/>
                </a:rPr>
                <a:t>i</a:t>
              </a:r>
            </a:p>
          </p:txBody>
        </p:sp>
        <p:sp>
          <p:nvSpPr>
            <p:cNvPr id="20527" name="Text Box 40"/>
            <p:cNvSpPr txBox="1">
              <a:spLocks noChangeArrowheads="1"/>
            </p:cNvSpPr>
            <p:nvPr/>
          </p:nvSpPr>
          <p:spPr bwMode="auto">
            <a:xfrm>
              <a:off x="5084" y="1488"/>
              <a:ext cx="1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0</a:t>
              </a:r>
            </a:p>
          </p:txBody>
        </p:sp>
      </p:grpSp>
      <p:grpSp>
        <p:nvGrpSpPr>
          <p:cNvPr id="9257" name="Group 41"/>
          <p:cNvGrpSpPr>
            <a:grpSpLocks/>
          </p:cNvGrpSpPr>
          <p:nvPr/>
        </p:nvGrpSpPr>
        <p:grpSpPr bwMode="auto">
          <a:xfrm>
            <a:off x="3563938" y="3430588"/>
            <a:ext cx="1189037" cy="3032125"/>
            <a:chOff x="2112" y="2640"/>
            <a:chExt cx="749" cy="1910"/>
          </a:xfrm>
        </p:grpSpPr>
        <p:sp>
          <p:nvSpPr>
            <p:cNvPr id="20518" name="Text Box 42"/>
            <p:cNvSpPr txBox="1">
              <a:spLocks noChangeArrowheads="1"/>
            </p:cNvSpPr>
            <p:nvPr/>
          </p:nvSpPr>
          <p:spPr bwMode="auto">
            <a:xfrm>
              <a:off x="2112" y="3743"/>
              <a:ext cx="749" cy="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i="1">
                  <a:cs typeface="Times New Roman" pitchFamily="18" charset="0"/>
                </a:rPr>
                <a:t>φ</a:t>
              </a:r>
              <a:r>
                <a:rPr lang="en-US" altLang="zh-CN" i="1" baseline="-25000">
                  <a:cs typeface="Times New Roman" pitchFamily="18" charset="0"/>
                </a:rPr>
                <a:t>i</a:t>
              </a:r>
              <a:r>
                <a:rPr lang="en-US" altLang="zh-CN" sz="2000" i="1" baseline="-25000">
                  <a:latin typeface="宋体" charset="-122"/>
                  <a:sym typeface="Symbol" pitchFamily="18" charset="2"/>
                </a:rPr>
                <a:t> </a:t>
              </a:r>
              <a:r>
                <a:rPr lang="en-US" altLang="zh-CN" sz="2000">
                  <a:latin typeface="宋体" charset="-122"/>
                  <a:sym typeface="Symbol" pitchFamily="18" charset="2"/>
                </a:rPr>
                <a:t>=</a:t>
              </a:r>
            </a:p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sz="2000">
                  <a:latin typeface="宋体" charset="-122"/>
                  <a:sym typeface="Symbol" pitchFamily="18" charset="2"/>
                </a:rPr>
                <a:t>-90</a:t>
              </a:r>
              <a:r>
                <a:rPr lang="en-US" altLang="zh-CN" sz="2000" baseline="30000">
                  <a:latin typeface="宋体" charset="-122"/>
                  <a:sym typeface="Symbol" pitchFamily="18" charset="2"/>
                </a:rPr>
                <a:t>0</a:t>
              </a:r>
            </a:p>
          </p:txBody>
        </p:sp>
        <p:sp>
          <p:nvSpPr>
            <p:cNvPr id="20519" name="Line 43"/>
            <p:cNvSpPr>
              <a:spLocks noChangeShapeType="1"/>
            </p:cNvSpPr>
            <p:nvPr/>
          </p:nvSpPr>
          <p:spPr bwMode="auto">
            <a:xfrm flipV="1">
              <a:off x="2520" y="2640"/>
              <a:ext cx="0" cy="113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0" name="Text Box 44"/>
            <p:cNvSpPr txBox="1">
              <a:spLocks noChangeArrowheads="1"/>
            </p:cNvSpPr>
            <p:nvPr/>
          </p:nvSpPr>
          <p:spPr bwMode="auto">
            <a:xfrm>
              <a:off x="2515" y="3229"/>
              <a:ext cx="1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0</a:t>
              </a:r>
            </a:p>
          </p:txBody>
        </p:sp>
      </p:grpSp>
      <p:sp>
        <p:nvSpPr>
          <p:cNvPr id="9262" name="Text Box 46"/>
          <p:cNvSpPr txBox="1">
            <a:spLocks noChangeArrowheads="1"/>
          </p:cNvSpPr>
          <p:nvPr/>
        </p:nvSpPr>
        <p:spPr bwMode="auto">
          <a:xfrm>
            <a:off x="219075" y="1271588"/>
            <a:ext cx="8435975" cy="122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kumimoji="0" lang="zh-CN" altLang="en-US">
                <a:latin typeface="Tahoma" pitchFamily="34" charset="0"/>
              </a:rPr>
              <a:t>   </a:t>
            </a:r>
            <a:r>
              <a:rPr kumimoji="0" lang="en-US" altLang="zh-CN">
                <a:latin typeface="Tahoma" pitchFamily="34" charset="0"/>
              </a:rPr>
              <a:t>Phase </a:t>
            </a:r>
            <a:r>
              <a:rPr lang="en-US" altLang="zh-CN" i="1"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altLang="zh-CN">
                <a:latin typeface="Tahoma" pitchFamily="34" charset="0"/>
                <a:sym typeface="Symbol" pitchFamily="18" charset="2"/>
              </a:rPr>
              <a:t>is the value of the argument at</a:t>
            </a:r>
            <a:r>
              <a:rPr kumimoji="0" lang="zh-CN" altLang="en-US">
                <a:latin typeface="Tahoma" pitchFamily="34" charset="0"/>
              </a:rPr>
              <a:t> </a:t>
            </a:r>
            <a:r>
              <a:rPr kumimoji="0" lang="en-US" altLang="zh-CN" i="1"/>
              <a:t>t</a:t>
            </a:r>
            <a:r>
              <a:rPr kumimoji="0" lang="en-US" altLang="zh-CN"/>
              <a:t> =0, </a:t>
            </a:r>
            <a:r>
              <a:rPr kumimoji="0" lang="en-US" altLang="zh-CN">
                <a:latin typeface="Tahoma" pitchFamily="34" charset="0"/>
              </a:rPr>
              <a:t>which is related to the time starting point. </a:t>
            </a:r>
            <a:endParaRPr kumimoji="0" lang="zh-CN" altLang="en-US">
              <a:latin typeface="Tahoma" pitchFamily="34" charset="0"/>
            </a:endParaRPr>
          </a:p>
        </p:txBody>
      </p:sp>
      <p:sp>
        <p:nvSpPr>
          <p:cNvPr id="9263" name="Rectangle 47"/>
          <p:cNvSpPr>
            <a:spLocks noChangeArrowheads="1"/>
          </p:cNvSpPr>
          <p:nvPr/>
        </p:nvSpPr>
        <p:spPr bwMode="auto">
          <a:xfrm>
            <a:off x="317500" y="5638800"/>
            <a:ext cx="941388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i="1">
                <a:solidFill>
                  <a:srgbClr val="FF0000"/>
                </a:solidFill>
                <a:cs typeface="Times New Roman" pitchFamily="18" charset="0"/>
              </a:rPr>
              <a:t>φ</a:t>
            </a:r>
            <a:r>
              <a:rPr lang="en-US" altLang="zh-CN" i="1" baseline="-25000">
                <a:solidFill>
                  <a:srgbClr val="FF0000"/>
                </a:solidFill>
                <a:cs typeface="Times New Roman" pitchFamily="18" charset="0"/>
              </a:rPr>
              <a:t>i</a:t>
            </a:r>
          </a:p>
        </p:txBody>
      </p:sp>
      <p:graphicFrame>
        <p:nvGraphicFramePr>
          <p:cNvPr id="9264" name="Object 48"/>
          <p:cNvGraphicFramePr>
            <a:graphicFrameLocks noChangeAspect="1"/>
          </p:cNvGraphicFramePr>
          <p:nvPr/>
        </p:nvGraphicFramePr>
        <p:xfrm>
          <a:off x="1263650" y="2557463"/>
          <a:ext cx="3692525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3456" imgH="219186" progId="Equation.DSMT4">
                  <p:embed/>
                </p:oleObj>
              </mc:Choice>
              <mc:Fallback>
                <p:oleObj name="Equation" r:id="rId2" imgW="933456" imgH="2191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2557463"/>
                        <a:ext cx="3692525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65" name="Group 49"/>
          <p:cNvGrpSpPr>
            <a:grpSpLocks/>
          </p:cNvGrpSpPr>
          <p:nvPr/>
        </p:nvGrpSpPr>
        <p:grpSpPr bwMode="auto">
          <a:xfrm>
            <a:off x="4095750" y="3267075"/>
            <a:ext cx="844550" cy="2543175"/>
            <a:chOff x="5084" y="768"/>
            <a:chExt cx="532" cy="1602"/>
          </a:xfrm>
        </p:grpSpPr>
        <p:sp>
          <p:nvSpPr>
            <p:cNvPr id="20511" name="Line 50"/>
            <p:cNvSpPr>
              <a:spLocks noChangeShapeType="1"/>
            </p:cNvSpPr>
            <p:nvPr/>
          </p:nvSpPr>
          <p:spPr bwMode="auto">
            <a:xfrm flipH="1" flipV="1">
              <a:off x="5307" y="1021"/>
              <a:ext cx="0" cy="9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2" name="Text Box 51"/>
            <p:cNvSpPr txBox="1">
              <a:spLocks noChangeArrowheads="1"/>
            </p:cNvSpPr>
            <p:nvPr/>
          </p:nvSpPr>
          <p:spPr bwMode="auto">
            <a:xfrm>
              <a:off x="5193" y="768"/>
              <a:ext cx="17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/>
                <a:t>i</a:t>
              </a:r>
              <a:endParaRPr lang="en-US" altLang="zh-CN"/>
            </a:p>
          </p:txBody>
        </p:sp>
        <p:sp>
          <p:nvSpPr>
            <p:cNvPr id="20513" name="Line 52"/>
            <p:cNvSpPr>
              <a:spLocks noChangeShapeType="1"/>
            </p:cNvSpPr>
            <p:nvPr/>
          </p:nvSpPr>
          <p:spPr bwMode="auto">
            <a:xfrm>
              <a:off x="5450" y="1602"/>
              <a:ext cx="0" cy="4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4" name="Line 53"/>
            <p:cNvSpPr>
              <a:spLocks noChangeShapeType="1"/>
            </p:cNvSpPr>
            <p:nvPr/>
          </p:nvSpPr>
          <p:spPr bwMode="auto">
            <a:xfrm>
              <a:off x="5147" y="191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5" name="Line 54"/>
            <p:cNvSpPr>
              <a:spLocks noChangeShapeType="1"/>
            </p:cNvSpPr>
            <p:nvPr/>
          </p:nvSpPr>
          <p:spPr bwMode="auto">
            <a:xfrm flipH="1">
              <a:off x="5472" y="192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6" name="Text Box 55"/>
            <p:cNvSpPr txBox="1">
              <a:spLocks noChangeArrowheads="1"/>
            </p:cNvSpPr>
            <p:nvPr/>
          </p:nvSpPr>
          <p:spPr bwMode="auto">
            <a:xfrm>
              <a:off x="5260" y="1974"/>
              <a:ext cx="290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i="1">
                  <a:cs typeface="Times New Roman" pitchFamily="18" charset="0"/>
                </a:rPr>
                <a:t>φ</a:t>
              </a:r>
              <a:r>
                <a:rPr lang="en-US" altLang="zh-CN" i="1" baseline="-25000">
                  <a:cs typeface="Times New Roman" pitchFamily="18" charset="0"/>
                </a:rPr>
                <a:t>i</a:t>
              </a:r>
            </a:p>
          </p:txBody>
        </p:sp>
        <p:sp>
          <p:nvSpPr>
            <p:cNvPr id="20517" name="Text Box 56"/>
            <p:cNvSpPr txBox="1">
              <a:spLocks noChangeArrowheads="1"/>
            </p:cNvSpPr>
            <p:nvPr/>
          </p:nvSpPr>
          <p:spPr bwMode="auto">
            <a:xfrm>
              <a:off x="5084" y="1488"/>
              <a:ext cx="198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/>
                <a:t>0</a:t>
              </a:r>
            </a:p>
          </p:txBody>
        </p:sp>
      </p:grpSp>
      <p:grpSp>
        <p:nvGrpSpPr>
          <p:cNvPr id="9273" name="Group 57"/>
          <p:cNvGrpSpPr>
            <a:grpSpLocks/>
          </p:cNvGrpSpPr>
          <p:nvPr/>
        </p:nvGrpSpPr>
        <p:grpSpPr bwMode="auto">
          <a:xfrm>
            <a:off x="3778250" y="3992563"/>
            <a:ext cx="3751263" cy="1092200"/>
            <a:chOff x="3398" y="1604"/>
            <a:chExt cx="2363" cy="688"/>
          </a:xfrm>
        </p:grpSpPr>
        <p:grpSp>
          <p:nvGrpSpPr>
            <p:cNvPr id="20494" name="Group 58"/>
            <p:cNvGrpSpPr>
              <a:grpSpLocks/>
            </p:cNvGrpSpPr>
            <p:nvPr/>
          </p:nvGrpSpPr>
          <p:grpSpPr bwMode="auto">
            <a:xfrm>
              <a:off x="3398" y="1604"/>
              <a:ext cx="2363" cy="688"/>
              <a:chOff x="3388" y="1918"/>
              <a:chExt cx="1968" cy="782"/>
            </a:xfrm>
          </p:grpSpPr>
          <p:sp>
            <p:nvSpPr>
              <p:cNvPr id="20496" name="Freeform 59"/>
              <p:cNvSpPr>
                <a:spLocks/>
              </p:cNvSpPr>
              <p:nvPr/>
            </p:nvSpPr>
            <p:spPr bwMode="auto">
              <a:xfrm>
                <a:off x="3621" y="2031"/>
                <a:ext cx="118" cy="274"/>
              </a:xfrm>
              <a:custGeom>
                <a:avLst/>
                <a:gdLst>
                  <a:gd name="T0" fmla="*/ 0 w 118"/>
                  <a:gd name="T1" fmla="*/ 274 h 274"/>
                  <a:gd name="T2" fmla="*/ 13 w 118"/>
                  <a:gd name="T3" fmla="*/ 240 h 274"/>
                  <a:gd name="T4" fmla="*/ 29 w 118"/>
                  <a:gd name="T5" fmla="*/ 200 h 274"/>
                  <a:gd name="T6" fmla="*/ 59 w 118"/>
                  <a:gd name="T7" fmla="*/ 127 h 274"/>
                  <a:gd name="T8" fmla="*/ 75 w 118"/>
                  <a:gd name="T9" fmla="*/ 90 h 274"/>
                  <a:gd name="T10" fmla="*/ 89 w 118"/>
                  <a:gd name="T11" fmla="*/ 56 h 274"/>
                  <a:gd name="T12" fmla="*/ 105 w 118"/>
                  <a:gd name="T13" fmla="*/ 27 h 274"/>
                  <a:gd name="T14" fmla="*/ 118 w 118"/>
                  <a:gd name="T15" fmla="*/ 0 h 27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8" h="274">
                    <a:moveTo>
                      <a:pt x="0" y="274"/>
                    </a:moveTo>
                    <a:lnTo>
                      <a:pt x="13" y="240"/>
                    </a:lnTo>
                    <a:lnTo>
                      <a:pt x="29" y="200"/>
                    </a:lnTo>
                    <a:lnTo>
                      <a:pt x="59" y="127"/>
                    </a:lnTo>
                    <a:lnTo>
                      <a:pt x="75" y="90"/>
                    </a:lnTo>
                    <a:lnTo>
                      <a:pt x="89" y="56"/>
                    </a:lnTo>
                    <a:lnTo>
                      <a:pt x="105" y="27"/>
                    </a:lnTo>
                    <a:lnTo>
                      <a:pt x="118" y="0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7" name="Freeform 60"/>
              <p:cNvSpPr>
                <a:spLocks/>
              </p:cNvSpPr>
              <p:nvPr/>
            </p:nvSpPr>
            <p:spPr bwMode="auto">
              <a:xfrm>
                <a:off x="3739" y="1918"/>
                <a:ext cx="116" cy="113"/>
              </a:xfrm>
              <a:custGeom>
                <a:avLst/>
                <a:gdLst>
                  <a:gd name="T0" fmla="*/ 0 w 116"/>
                  <a:gd name="T1" fmla="*/ 113 h 113"/>
                  <a:gd name="T2" fmla="*/ 14 w 116"/>
                  <a:gd name="T3" fmla="*/ 88 h 113"/>
                  <a:gd name="T4" fmla="*/ 30 w 116"/>
                  <a:gd name="T5" fmla="*/ 69 h 113"/>
                  <a:gd name="T6" fmla="*/ 44 w 116"/>
                  <a:gd name="T7" fmla="*/ 49 h 113"/>
                  <a:gd name="T8" fmla="*/ 57 w 116"/>
                  <a:gd name="T9" fmla="*/ 32 h 113"/>
                  <a:gd name="T10" fmla="*/ 73 w 116"/>
                  <a:gd name="T11" fmla="*/ 20 h 113"/>
                  <a:gd name="T12" fmla="*/ 87 w 116"/>
                  <a:gd name="T13" fmla="*/ 8 h 113"/>
                  <a:gd name="T14" fmla="*/ 103 w 116"/>
                  <a:gd name="T15" fmla="*/ 3 h 113"/>
                  <a:gd name="T16" fmla="*/ 116 w 116"/>
                  <a:gd name="T17" fmla="*/ 0 h 1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6" h="113">
                    <a:moveTo>
                      <a:pt x="0" y="113"/>
                    </a:moveTo>
                    <a:lnTo>
                      <a:pt x="14" y="88"/>
                    </a:lnTo>
                    <a:lnTo>
                      <a:pt x="30" y="69"/>
                    </a:lnTo>
                    <a:lnTo>
                      <a:pt x="44" y="49"/>
                    </a:lnTo>
                    <a:lnTo>
                      <a:pt x="57" y="32"/>
                    </a:lnTo>
                    <a:lnTo>
                      <a:pt x="73" y="20"/>
                    </a:lnTo>
                    <a:lnTo>
                      <a:pt x="87" y="8"/>
                    </a:lnTo>
                    <a:lnTo>
                      <a:pt x="103" y="3"/>
                    </a:lnTo>
                    <a:lnTo>
                      <a:pt x="116" y="0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8" name="Freeform 61"/>
              <p:cNvSpPr>
                <a:spLocks/>
              </p:cNvSpPr>
              <p:nvPr/>
            </p:nvSpPr>
            <p:spPr bwMode="auto">
              <a:xfrm>
                <a:off x="3855" y="1918"/>
                <a:ext cx="119" cy="113"/>
              </a:xfrm>
              <a:custGeom>
                <a:avLst/>
                <a:gdLst>
                  <a:gd name="T0" fmla="*/ 0 w 119"/>
                  <a:gd name="T1" fmla="*/ 0 h 113"/>
                  <a:gd name="T2" fmla="*/ 14 w 119"/>
                  <a:gd name="T3" fmla="*/ 3 h 113"/>
                  <a:gd name="T4" fmla="*/ 30 w 119"/>
                  <a:gd name="T5" fmla="*/ 8 h 113"/>
                  <a:gd name="T6" fmla="*/ 44 w 119"/>
                  <a:gd name="T7" fmla="*/ 20 h 113"/>
                  <a:gd name="T8" fmla="*/ 60 w 119"/>
                  <a:gd name="T9" fmla="*/ 32 h 113"/>
                  <a:gd name="T10" fmla="*/ 76 w 119"/>
                  <a:gd name="T11" fmla="*/ 49 h 113"/>
                  <a:gd name="T12" fmla="*/ 90 w 119"/>
                  <a:gd name="T13" fmla="*/ 69 h 113"/>
                  <a:gd name="T14" fmla="*/ 106 w 119"/>
                  <a:gd name="T15" fmla="*/ 88 h 113"/>
                  <a:gd name="T16" fmla="*/ 119 w 119"/>
                  <a:gd name="T17" fmla="*/ 113 h 1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9" h="113">
                    <a:moveTo>
                      <a:pt x="0" y="0"/>
                    </a:moveTo>
                    <a:lnTo>
                      <a:pt x="14" y="3"/>
                    </a:lnTo>
                    <a:lnTo>
                      <a:pt x="30" y="8"/>
                    </a:lnTo>
                    <a:lnTo>
                      <a:pt x="44" y="20"/>
                    </a:lnTo>
                    <a:lnTo>
                      <a:pt x="60" y="32"/>
                    </a:lnTo>
                    <a:lnTo>
                      <a:pt x="76" y="49"/>
                    </a:lnTo>
                    <a:lnTo>
                      <a:pt x="90" y="69"/>
                    </a:lnTo>
                    <a:lnTo>
                      <a:pt x="106" y="88"/>
                    </a:lnTo>
                    <a:lnTo>
                      <a:pt x="119" y="113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9" name="Freeform 62"/>
              <p:cNvSpPr>
                <a:spLocks/>
              </p:cNvSpPr>
              <p:nvPr/>
            </p:nvSpPr>
            <p:spPr bwMode="auto">
              <a:xfrm>
                <a:off x="3974" y="2031"/>
                <a:ext cx="116" cy="274"/>
              </a:xfrm>
              <a:custGeom>
                <a:avLst/>
                <a:gdLst>
                  <a:gd name="T0" fmla="*/ 0 w 116"/>
                  <a:gd name="T1" fmla="*/ 0 h 274"/>
                  <a:gd name="T2" fmla="*/ 14 w 116"/>
                  <a:gd name="T3" fmla="*/ 27 h 274"/>
                  <a:gd name="T4" fmla="*/ 30 w 116"/>
                  <a:gd name="T5" fmla="*/ 56 h 274"/>
                  <a:gd name="T6" fmla="*/ 43 w 116"/>
                  <a:gd name="T7" fmla="*/ 90 h 274"/>
                  <a:gd name="T8" fmla="*/ 57 w 116"/>
                  <a:gd name="T9" fmla="*/ 127 h 274"/>
                  <a:gd name="T10" fmla="*/ 87 w 116"/>
                  <a:gd name="T11" fmla="*/ 203 h 274"/>
                  <a:gd name="T12" fmla="*/ 103 w 116"/>
                  <a:gd name="T13" fmla="*/ 240 h 274"/>
                  <a:gd name="T14" fmla="*/ 116 w 116"/>
                  <a:gd name="T15" fmla="*/ 274 h 27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6" h="274">
                    <a:moveTo>
                      <a:pt x="0" y="0"/>
                    </a:moveTo>
                    <a:lnTo>
                      <a:pt x="14" y="27"/>
                    </a:lnTo>
                    <a:lnTo>
                      <a:pt x="30" y="56"/>
                    </a:lnTo>
                    <a:lnTo>
                      <a:pt x="43" y="90"/>
                    </a:lnTo>
                    <a:lnTo>
                      <a:pt x="57" y="127"/>
                    </a:lnTo>
                    <a:lnTo>
                      <a:pt x="87" y="203"/>
                    </a:lnTo>
                    <a:lnTo>
                      <a:pt x="103" y="240"/>
                    </a:lnTo>
                    <a:lnTo>
                      <a:pt x="116" y="274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0" name="Freeform 63"/>
              <p:cNvSpPr>
                <a:spLocks/>
              </p:cNvSpPr>
              <p:nvPr/>
            </p:nvSpPr>
            <p:spPr bwMode="auto">
              <a:xfrm>
                <a:off x="4090" y="2305"/>
                <a:ext cx="119" cy="271"/>
              </a:xfrm>
              <a:custGeom>
                <a:avLst/>
                <a:gdLst>
                  <a:gd name="T0" fmla="*/ 0 w 119"/>
                  <a:gd name="T1" fmla="*/ 0 h 271"/>
                  <a:gd name="T2" fmla="*/ 14 w 119"/>
                  <a:gd name="T3" fmla="*/ 34 h 271"/>
                  <a:gd name="T4" fmla="*/ 30 w 119"/>
                  <a:gd name="T5" fmla="*/ 71 h 271"/>
                  <a:gd name="T6" fmla="*/ 60 w 119"/>
                  <a:gd name="T7" fmla="*/ 146 h 271"/>
                  <a:gd name="T8" fmla="*/ 76 w 119"/>
                  <a:gd name="T9" fmla="*/ 181 h 271"/>
                  <a:gd name="T10" fmla="*/ 89 w 119"/>
                  <a:gd name="T11" fmla="*/ 215 h 271"/>
                  <a:gd name="T12" fmla="*/ 106 w 119"/>
                  <a:gd name="T13" fmla="*/ 244 h 271"/>
                  <a:gd name="T14" fmla="*/ 119 w 119"/>
                  <a:gd name="T15" fmla="*/ 271 h 27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271">
                    <a:moveTo>
                      <a:pt x="0" y="0"/>
                    </a:moveTo>
                    <a:lnTo>
                      <a:pt x="14" y="34"/>
                    </a:lnTo>
                    <a:lnTo>
                      <a:pt x="30" y="71"/>
                    </a:lnTo>
                    <a:lnTo>
                      <a:pt x="60" y="146"/>
                    </a:lnTo>
                    <a:lnTo>
                      <a:pt x="76" y="181"/>
                    </a:lnTo>
                    <a:lnTo>
                      <a:pt x="89" y="215"/>
                    </a:lnTo>
                    <a:lnTo>
                      <a:pt x="106" y="244"/>
                    </a:lnTo>
                    <a:lnTo>
                      <a:pt x="119" y="271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1" name="Freeform 64"/>
              <p:cNvSpPr>
                <a:spLocks/>
              </p:cNvSpPr>
              <p:nvPr/>
            </p:nvSpPr>
            <p:spPr bwMode="auto">
              <a:xfrm>
                <a:off x="4209" y="2576"/>
                <a:ext cx="116" cy="115"/>
              </a:xfrm>
              <a:custGeom>
                <a:avLst/>
                <a:gdLst>
                  <a:gd name="T0" fmla="*/ 0 w 116"/>
                  <a:gd name="T1" fmla="*/ 0 h 115"/>
                  <a:gd name="T2" fmla="*/ 14 w 116"/>
                  <a:gd name="T3" fmla="*/ 25 h 115"/>
                  <a:gd name="T4" fmla="*/ 30 w 116"/>
                  <a:gd name="T5" fmla="*/ 44 h 115"/>
                  <a:gd name="T6" fmla="*/ 43 w 116"/>
                  <a:gd name="T7" fmla="*/ 64 h 115"/>
                  <a:gd name="T8" fmla="*/ 57 w 116"/>
                  <a:gd name="T9" fmla="*/ 81 h 115"/>
                  <a:gd name="T10" fmla="*/ 73 w 116"/>
                  <a:gd name="T11" fmla="*/ 96 h 115"/>
                  <a:gd name="T12" fmla="*/ 87 w 116"/>
                  <a:gd name="T13" fmla="*/ 105 h 115"/>
                  <a:gd name="T14" fmla="*/ 103 w 116"/>
                  <a:gd name="T15" fmla="*/ 113 h 115"/>
                  <a:gd name="T16" fmla="*/ 116 w 116"/>
                  <a:gd name="T17" fmla="*/ 115 h 1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6" h="115">
                    <a:moveTo>
                      <a:pt x="0" y="0"/>
                    </a:moveTo>
                    <a:lnTo>
                      <a:pt x="14" y="25"/>
                    </a:lnTo>
                    <a:lnTo>
                      <a:pt x="30" y="44"/>
                    </a:lnTo>
                    <a:lnTo>
                      <a:pt x="43" y="64"/>
                    </a:lnTo>
                    <a:lnTo>
                      <a:pt x="57" y="81"/>
                    </a:lnTo>
                    <a:lnTo>
                      <a:pt x="73" y="96"/>
                    </a:lnTo>
                    <a:lnTo>
                      <a:pt x="87" y="105"/>
                    </a:lnTo>
                    <a:lnTo>
                      <a:pt x="103" y="113"/>
                    </a:lnTo>
                    <a:lnTo>
                      <a:pt x="116" y="115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2" name="Freeform 65"/>
              <p:cNvSpPr>
                <a:spLocks/>
              </p:cNvSpPr>
              <p:nvPr/>
            </p:nvSpPr>
            <p:spPr bwMode="auto">
              <a:xfrm>
                <a:off x="4325" y="2576"/>
                <a:ext cx="119" cy="115"/>
              </a:xfrm>
              <a:custGeom>
                <a:avLst/>
                <a:gdLst>
                  <a:gd name="T0" fmla="*/ 0 w 119"/>
                  <a:gd name="T1" fmla="*/ 115 h 115"/>
                  <a:gd name="T2" fmla="*/ 14 w 119"/>
                  <a:gd name="T3" fmla="*/ 113 h 115"/>
                  <a:gd name="T4" fmla="*/ 30 w 119"/>
                  <a:gd name="T5" fmla="*/ 105 h 115"/>
                  <a:gd name="T6" fmla="*/ 43 w 119"/>
                  <a:gd name="T7" fmla="*/ 96 h 115"/>
                  <a:gd name="T8" fmla="*/ 60 w 119"/>
                  <a:gd name="T9" fmla="*/ 81 h 115"/>
                  <a:gd name="T10" fmla="*/ 76 w 119"/>
                  <a:gd name="T11" fmla="*/ 64 h 115"/>
                  <a:gd name="T12" fmla="*/ 89 w 119"/>
                  <a:gd name="T13" fmla="*/ 44 h 115"/>
                  <a:gd name="T14" fmla="*/ 106 w 119"/>
                  <a:gd name="T15" fmla="*/ 25 h 115"/>
                  <a:gd name="T16" fmla="*/ 119 w 119"/>
                  <a:gd name="T17" fmla="*/ 0 h 1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9" h="115">
                    <a:moveTo>
                      <a:pt x="0" y="115"/>
                    </a:moveTo>
                    <a:lnTo>
                      <a:pt x="14" y="113"/>
                    </a:lnTo>
                    <a:lnTo>
                      <a:pt x="30" y="105"/>
                    </a:lnTo>
                    <a:lnTo>
                      <a:pt x="43" y="96"/>
                    </a:lnTo>
                    <a:lnTo>
                      <a:pt x="60" y="81"/>
                    </a:lnTo>
                    <a:lnTo>
                      <a:pt x="76" y="64"/>
                    </a:lnTo>
                    <a:lnTo>
                      <a:pt x="89" y="44"/>
                    </a:lnTo>
                    <a:lnTo>
                      <a:pt x="106" y="25"/>
                    </a:lnTo>
                    <a:lnTo>
                      <a:pt x="119" y="0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3" name="Freeform 66"/>
              <p:cNvSpPr>
                <a:spLocks/>
              </p:cNvSpPr>
              <p:nvPr/>
            </p:nvSpPr>
            <p:spPr bwMode="auto">
              <a:xfrm>
                <a:off x="4444" y="2305"/>
                <a:ext cx="116" cy="271"/>
              </a:xfrm>
              <a:custGeom>
                <a:avLst/>
                <a:gdLst>
                  <a:gd name="T0" fmla="*/ 0 w 116"/>
                  <a:gd name="T1" fmla="*/ 271 h 271"/>
                  <a:gd name="T2" fmla="*/ 14 w 116"/>
                  <a:gd name="T3" fmla="*/ 244 h 271"/>
                  <a:gd name="T4" fmla="*/ 30 w 116"/>
                  <a:gd name="T5" fmla="*/ 215 h 271"/>
                  <a:gd name="T6" fmla="*/ 43 w 116"/>
                  <a:gd name="T7" fmla="*/ 181 h 271"/>
                  <a:gd name="T8" fmla="*/ 57 w 116"/>
                  <a:gd name="T9" fmla="*/ 146 h 271"/>
                  <a:gd name="T10" fmla="*/ 86 w 116"/>
                  <a:gd name="T11" fmla="*/ 71 h 271"/>
                  <a:gd name="T12" fmla="*/ 103 w 116"/>
                  <a:gd name="T13" fmla="*/ 34 h 271"/>
                  <a:gd name="T14" fmla="*/ 116 w 116"/>
                  <a:gd name="T15" fmla="*/ 0 h 27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6" h="271">
                    <a:moveTo>
                      <a:pt x="0" y="271"/>
                    </a:moveTo>
                    <a:lnTo>
                      <a:pt x="14" y="244"/>
                    </a:lnTo>
                    <a:lnTo>
                      <a:pt x="30" y="215"/>
                    </a:lnTo>
                    <a:lnTo>
                      <a:pt x="43" y="181"/>
                    </a:lnTo>
                    <a:lnTo>
                      <a:pt x="57" y="146"/>
                    </a:lnTo>
                    <a:lnTo>
                      <a:pt x="86" y="71"/>
                    </a:lnTo>
                    <a:lnTo>
                      <a:pt x="103" y="34"/>
                    </a:lnTo>
                    <a:lnTo>
                      <a:pt x="116" y="0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4" name="Freeform 67"/>
              <p:cNvSpPr>
                <a:spLocks/>
              </p:cNvSpPr>
              <p:nvPr/>
            </p:nvSpPr>
            <p:spPr bwMode="auto">
              <a:xfrm>
                <a:off x="4560" y="2031"/>
                <a:ext cx="119" cy="274"/>
              </a:xfrm>
              <a:custGeom>
                <a:avLst/>
                <a:gdLst>
                  <a:gd name="T0" fmla="*/ 0 w 119"/>
                  <a:gd name="T1" fmla="*/ 274 h 274"/>
                  <a:gd name="T2" fmla="*/ 14 w 119"/>
                  <a:gd name="T3" fmla="*/ 240 h 274"/>
                  <a:gd name="T4" fmla="*/ 30 w 119"/>
                  <a:gd name="T5" fmla="*/ 203 h 274"/>
                  <a:gd name="T6" fmla="*/ 60 w 119"/>
                  <a:gd name="T7" fmla="*/ 127 h 274"/>
                  <a:gd name="T8" fmla="*/ 76 w 119"/>
                  <a:gd name="T9" fmla="*/ 90 h 274"/>
                  <a:gd name="T10" fmla="*/ 89 w 119"/>
                  <a:gd name="T11" fmla="*/ 56 h 274"/>
                  <a:gd name="T12" fmla="*/ 105 w 119"/>
                  <a:gd name="T13" fmla="*/ 27 h 274"/>
                  <a:gd name="T14" fmla="*/ 119 w 119"/>
                  <a:gd name="T15" fmla="*/ 0 h 27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274">
                    <a:moveTo>
                      <a:pt x="0" y="274"/>
                    </a:moveTo>
                    <a:lnTo>
                      <a:pt x="14" y="240"/>
                    </a:lnTo>
                    <a:lnTo>
                      <a:pt x="30" y="203"/>
                    </a:lnTo>
                    <a:lnTo>
                      <a:pt x="60" y="127"/>
                    </a:lnTo>
                    <a:lnTo>
                      <a:pt x="76" y="90"/>
                    </a:lnTo>
                    <a:lnTo>
                      <a:pt x="89" y="56"/>
                    </a:lnTo>
                    <a:lnTo>
                      <a:pt x="105" y="27"/>
                    </a:lnTo>
                    <a:lnTo>
                      <a:pt x="119" y="0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5" name="Freeform 68"/>
              <p:cNvSpPr>
                <a:spLocks/>
              </p:cNvSpPr>
              <p:nvPr/>
            </p:nvSpPr>
            <p:spPr bwMode="auto">
              <a:xfrm>
                <a:off x="4679" y="1918"/>
                <a:ext cx="116" cy="113"/>
              </a:xfrm>
              <a:custGeom>
                <a:avLst/>
                <a:gdLst>
                  <a:gd name="T0" fmla="*/ 0 w 116"/>
                  <a:gd name="T1" fmla="*/ 113 h 113"/>
                  <a:gd name="T2" fmla="*/ 13 w 116"/>
                  <a:gd name="T3" fmla="*/ 88 h 113"/>
                  <a:gd name="T4" fmla="*/ 30 w 116"/>
                  <a:gd name="T5" fmla="*/ 69 h 113"/>
                  <a:gd name="T6" fmla="*/ 43 w 116"/>
                  <a:gd name="T7" fmla="*/ 49 h 113"/>
                  <a:gd name="T8" fmla="*/ 57 w 116"/>
                  <a:gd name="T9" fmla="*/ 32 h 113"/>
                  <a:gd name="T10" fmla="*/ 73 w 116"/>
                  <a:gd name="T11" fmla="*/ 20 h 113"/>
                  <a:gd name="T12" fmla="*/ 86 w 116"/>
                  <a:gd name="T13" fmla="*/ 8 h 113"/>
                  <a:gd name="T14" fmla="*/ 103 w 116"/>
                  <a:gd name="T15" fmla="*/ 3 h 113"/>
                  <a:gd name="T16" fmla="*/ 116 w 116"/>
                  <a:gd name="T17" fmla="*/ 0 h 1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6" h="113">
                    <a:moveTo>
                      <a:pt x="0" y="113"/>
                    </a:moveTo>
                    <a:lnTo>
                      <a:pt x="13" y="88"/>
                    </a:lnTo>
                    <a:lnTo>
                      <a:pt x="30" y="69"/>
                    </a:lnTo>
                    <a:lnTo>
                      <a:pt x="43" y="49"/>
                    </a:lnTo>
                    <a:lnTo>
                      <a:pt x="57" y="32"/>
                    </a:lnTo>
                    <a:lnTo>
                      <a:pt x="73" y="20"/>
                    </a:lnTo>
                    <a:lnTo>
                      <a:pt x="86" y="8"/>
                    </a:lnTo>
                    <a:lnTo>
                      <a:pt x="103" y="3"/>
                    </a:lnTo>
                    <a:lnTo>
                      <a:pt x="116" y="0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6" name="Freeform 69"/>
              <p:cNvSpPr>
                <a:spLocks/>
              </p:cNvSpPr>
              <p:nvPr/>
            </p:nvSpPr>
            <p:spPr bwMode="auto">
              <a:xfrm>
                <a:off x="4795" y="1918"/>
                <a:ext cx="119" cy="113"/>
              </a:xfrm>
              <a:custGeom>
                <a:avLst/>
                <a:gdLst>
                  <a:gd name="T0" fmla="*/ 0 w 119"/>
                  <a:gd name="T1" fmla="*/ 0 h 113"/>
                  <a:gd name="T2" fmla="*/ 14 w 119"/>
                  <a:gd name="T3" fmla="*/ 3 h 113"/>
                  <a:gd name="T4" fmla="*/ 30 w 119"/>
                  <a:gd name="T5" fmla="*/ 8 h 113"/>
                  <a:gd name="T6" fmla="*/ 43 w 119"/>
                  <a:gd name="T7" fmla="*/ 20 h 113"/>
                  <a:gd name="T8" fmla="*/ 59 w 119"/>
                  <a:gd name="T9" fmla="*/ 32 h 113"/>
                  <a:gd name="T10" fmla="*/ 76 w 119"/>
                  <a:gd name="T11" fmla="*/ 49 h 113"/>
                  <a:gd name="T12" fmla="*/ 89 w 119"/>
                  <a:gd name="T13" fmla="*/ 69 h 113"/>
                  <a:gd name="T14" fmla="*/ 105 w 119"/>
                  <a:gd name="T15" fmla="*/ 88 h 113"/>
                  <a:gd name="T16" fmla="*/ 119 w 119"/>
                  <a:gd name="T17" fmla="*/ 113 h 1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9" h="113">
                    <a:moveTo>
                      <a:pt x="0" y="0"/>
                    </a:moveTo>
                    <a:lnTo>
                      <a:pt x="14" y="3"/>
                    </a:lnTo>
                    <a:lnTo>
                      <a:pt x="30" y="8"/>
                    </a:lnTo>
                    <a:lnTo>
                      <a:pt x="43" y="20"/>
                    </a:lnTo>
                    <a:lnTo>
                      <a:pt x="59" y="32"/>
                    </a:lnTo>
                    <a:lnTo>
                      <a:pt x="76" y="49"/>
                    </a:lnTo>
                    <a:lnTo>
                      <a:pt x="89" y="69"/>
                    </a:lnTo>
                    <a:lnTo>
                      <a:pt x="105" y="88"/>
                    </a:lnTo>
                    <a:lnTo>
                      <a:pt x="119" y="113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7" name="Freeform 70"/>
              <p:cNvSpPr>
                <a:spLocks/>
              </p:cNvSpPr>
              <p:nvPr/>
            </p:nvSpPr>
            <p:spPr bwMode="auto">
              <a:xfrm>
                <a:off x="4914" y="2031"/>
                <a:ext cx="116" cy="274"/>
              </a:xfrm>
              <a:custGeom>
                <a:avLst/>
                <a:gdLst>
                  <a:gd name="T0" fmla="*/ 0 w 116"/>
                  <a:gd name="T1" fmla="*/ 0 h 274"/>
                  <a:gd name="T2" fmla="*/ 13 w 116"/>
                  <a:gd name="T3" fmla="*/ 27 h 274"/>
                  <a:gd name="T4" fmla="*/ 30 w 116"/>
                  <a:gd name="T5" fmla="*/ 56 h 274"/>
                  <a:gd name="T6" fmla="*/ 43 w 116"/>
                  <a:gd name="T7" fmla="*/ 90 h 274"/>
                  <a:gd name="T8" fmla="*/ 57 w 116"/>
                  <a:gd name="T9" fmla="*/ 127 h 274"/>
                  <a:gd name="T10" fmla="*/ 86 w 116"/>
                  <a:gd name="T11" fmla="*/ 203 h 274"/>
                  <a:gd name="T12" fmla="*/ 102 w 116"/>
                  <a:gd name="T13" fmla="*/ 240 h 274"/>
                  <a:gd name="T14" fmla="*/ 116 w 116"/>
                  <a:gd name="T15" fmla="*/ 274 h 27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6" h="274">
                    <a:moveTo>
                      <a:pt x="0" y="0"/>
                    </a:moveTo>
                    <a:lnTo>
                      <a:pt x="13" y="27"/>
                    </a:lnTo>
                    <a:lnTo>
                      <a:pt x="30" y="56"/>
                    </a:lnTo>
                    <a:lnTo>
                      <a:pt x="43" y="90"/>
                    </a:lnTo>
                    <a:lnTo>
                      <a:pt x="57" y="127"/>
                    </a:lnTo>
                    <a:lnTo>
                      <a:pt x="86" y="203"/>
                    </a:lnTo>
                    <a:lnTo>
                      <a:pt x="102" y="240"/>
                    </a:lnTo>
                    <a:lnTo>
                      <a:pt x="116" y="274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8" name="Line 71"/>
              <p:cNvSpPr>
                <a:spLocks noChangeShapeType="1"/>
              </p:cNvSpPr>
              <p:nvPr/>
            </p:nvSpPr>
            <p:spPr bwMode="auto">
              <a:xfrm>
                <a:off x="5030" y="2305"/>
                <a:ext cx="119" cy="27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9" name="Line 72"/>
              <p:cNvSpPr>
                <a:spLocks noChangeShapeType="1"/>
              </p:cNvSpPr>
              <p:nvPr/>
            </p:nvSpPr>
            <p:spPr bwMode="auto">
              <a:xfrm>
                <a:off x="3388" y="2298"/>
                <a:ext cx="19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10" name="Text Box 73"/>
              <p:cNvSpPr txBox="1">
                <a:spLocks noChangeArrowheads="1"/>
              </p:cNvSpPr>
              <p:nvPr/>
            </p:nvSpPr>
            <p:spPr bwMode="auto">
              <a:xfrm>
                <a:off x="5151" y="2250"/>
                <a:ext cx="149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i="1"/>
                  <a:t>t</a:t>
                </a:r>
                <a:endParaRPr lang="en-US" altLang="zh-CN"/>
              </a:p>
            </p:txBody>
          </p:sp>
        </p:grpSp>
        <p:sp>
          <p:nvSpPr>
            <p:cNvPr id="20495" name="Line 74"/>
            <p:cNvSpPr>
              <a:spLocks noChangeShapeType="1"/>
            </p:cNvSpPr>
            <p:nvPr/>
          </p:nvSpPr>
          <p:spPr bwMode="auto">
            <a:xfrm>
              <a:off x="3959" y="1604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4" name="Text Box 2"/>
          <p:cNvSpPr txBox="1">
            <a:spLocks noChangeArrowheads="1"/>
          </p:cNvSpPr>
          <p:nvPr/>
        </p:nvSpPr>
        <p:spPr bwMode="auto">
          <a:xfrm>
            <a:off x="830263" y="287338"/>
            <a:ext cx="708977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chemeClr val="tx2"/>
                </a:solidFill>
                <a:latin typeface="Arial Black" pitchFamily="34" charset="0"/>
              </a:rPr>
              <a:t>Characteristics of Sinusoids</a:t>
            </a:r>
          </a:p>
        </p:txBody>
      </p:sp>
    </p:spTree>
    <p:extLst>
      <p:ext uri="{BB962C8B-B14F-4D97-AF65-F5344CB8AC3E}">
        <p14:creationId xmlns:p14="http://schemas.microsoft.com/office/powerpoint/2010/main" val="21073335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8" grpId="0" autoUpdateAnimBg="0"/>
      <p:bldP spid="9262" grpId="0" autoUpdateAnimBg="0"/>
      <p:bldP spid="926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35038" y="333375"/>
            <a:ext cx="76469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Arial Black" pitchFamily="34" charset="0"/>
              </a:rPr>
              <a:t>Sinusoids with different phases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301633"/>
              </p:ext>
            </p:extLst>
          </p:nvPr>
        </p:nvGraphicFramePr>
        <p:xfrm>
          <a:off x="503238" y="1304925"/>
          <a:ext cx="71659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228600" progId="Equation.DSMT4">
                  <p:embed/>
                </p:oleObj>
              </mc:Choice>
              <mc:Fallback>
                <p:oleObj name="Equation" r:id="rId2" imgW="2450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1304925"/>
                        <a:ext cx="71659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684213" y="2060575"/>
          <a:ext cx="6192837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3100" imgH="228600" progId="Equation.DSMT4">
                  <p:embed/>
                </p:oleObj>
              </mc:Choice>
              <mc:Fallback>
                <p:oleObj name="Equation" r:id="rId4" imgW="1943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060575"/>
                        <a:ext cx="6192837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23056" y="3872250"/>
            <a:ext cx="849788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latin typeface="Verdana" pitchFamily="34" charset="0"/>
              </a:rPr>
              <a:t>The reference sinusoid</a:t>
            </a:r>
            <a:r>
              <a:rPr lang="zh-CN" altLang="en-US" dirty="0"/>
              <a:t>：</a:t>
            </a:r>
            <a:r>
              <a:rPr lang="en-US" altLang="zh-CN" i="1" dirty="0"/>
              <a:t>u</a:t>
            </a:r>
            <a:r>
              <a:rPr lang="en-US" altLang="zh-CN" dirty="0"/>
              <a:t>=</a:t>
            </a:r>
            <a:r>
              <a:rPr lang="en-US" altLang="zh-CN" i="1" dirty="0" err="1"/>
              <a:t>U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cos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</a:t>
            </a:r>
            <a:r>
              <a:rPr lang="en-US" altLang="zh-CN" dirty="0"/>
              <a:t>t), </a:t>
            </a:r>
            <a:r>
              <a:rPr lang="en-US" altLang="zh-CN" sz="2400" dirty="0">
                <a:latin typeface="Verdana" pitchFamily="34" charset="0"/>
              </a:rPr>
              <a:t>then</a:t>
            </a:r>
            <a:r>
              <a:rPr lang="en-US" altLang="zh-CN" dirty="0"/>
              <a:t> </a:t>
            </a:r>
            <a:r>
              <a:rPr lang="en-US" altLang="zh-CN" i="1" dirty="0" err="1"/>
              <a:t>i</a:t>
            </a:r>
            <a:r>
              <a:rPr lang="en-US" altLang="zh-CN" dirty="0"/>
              <a:t>=</a:t>
            </a:r>
            <a:r>
              <a:rPr lang="en-US" altLang="zh-CN" i="1" dirty="0" err="1"/>
              <a:t>I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cos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</a:t>
            </a:r>
            <a:r>
              <a:rPr lang="en-US" altLang="zh-CN" dirty="0"/>
              <a:t>t-</a:t>
            </a:r>
            <a:r>
              <a:rPr lang="en-US" altLang="zh-CN" dirty="0">
                <a:sym typeface="Symbol" pitchFamily="18" charset="2"/>
              </a:rPr>
              <a:t></a:t>
            </a:r>
            <a:r>
              <a:rPr lang="en-US" altLang="zh-CN" dirty="0"/>
              <a:t>) </a:t>
            </a:r>
          </a:p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latin typeface="Verdana" pitchFamily="34" charset="0"/>
              </a:rPr>
              <a:t>The reference sinusoid</a:t>
            </a:r>
            <a:r>
              <a:rPr lang="zh-CN" altLang="en-US" dirty="0"/>
              <a:t>：</a:t>
            </a:r>
            <a:r>
              <a:rPr lang="en-US" altLang="zh-CN" i="1" dirty="0" err="1"/>
              <a:t>i</a:t>
            </a:r>
            <a:r>
              <a:rPr lang="en-US" altLang="zh-CN" dirty="0"/>
              <a:t>=</a:t>
            </a:r>
            <a:r>
              <a:rPr lang="en-US" altLang="zh-CN" i="1" dirty="0" err="1"/>
              <a:t>I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cos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</a:t>
            </a:r>
            <a:r>
              <a:rPr lang="en-US" altLang="zh-CN" dirty="0"/>
              <a:t>t), </a:t>
            </a:r>
            <a:r>
              <a:rPr lang="en-US" altLang="zh-CN" sz="2400" dirty="0">
                <a:latin typeface="Verdana" pitchFamily="34" charset="0"/>
              </a:rPr>
              <a:t>then </a:t>
            </a:r>
            <a:r>
              <a:rPr lang="en-US" altLang="zh-CN" i="1" dirty="0"/>
              <a:t>u</a:t>
            </a:r>
            <a:r>
              <a:rPr lang="en-US" altLang="zh-CN" dirty="0"/>
              <a:t>=</a:t>
            </a:r>
            <a:r>
              <a:rPr lang="en-US" altLang="zh-CN" i="1" dirty="0" err="1"/>
              <a:t>U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cos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</a:t>
            </a:r>
            <a:r>
              <a:rPr lang="en-US" altLang="zh-CN" dirty="0"/>
              <a:t>t+</a:t>
            </a:r>
            <a:r>
              <a:rPr lang="en-US" altLang="zh-CN" dirty="0">
                <a:sym typeface="Symbol" pitchFamily="18" charset="2"/>
              </a:rPr>
              <a:t></a:t>
            </a:r>
            <a:r>
              <a:rPr lang="en-US" altLang="zh-CN" dirty="0"/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3D5F1F-8813-5E46-92FC-2CCB2B946F8E}"/>
              </a:ext>
            </a:extLst>
          </p:cNvPr>
          <p:cNvSpPr txBox="1"/>
          <p:nvPr/>
        </p:nvSpPr>
        <p:spPr>
          <a:xfrm>
            <a:off x="532560" y="3099911"/>
            <a:ext cx="73906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</a:rPr>
              <a:t>Leading</a:t>
            </a:r>
            <a:r>
              <a:rPr lang="en-US" altLang="zh-CN" sz="2400" b="1" dirty="0">
                <a:latin typeface="Verdana" pitchFamily="34" charset="0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</a:rPr>
              <a:t>lagging</a:t>
            </a:r>
            <a:r>
              <a:rPr lang="en-US" altLang="zh-CN" sz="2400" b="1" dirty="0">
                <a:latin typeface="Verdana" pitchFamily="34" charset="0"/>
              </a:rPr>
              <a:t> </a:t>
            </a:r>
            <a:r>
              <a:rPr lang="zh-CN" altLang="en-US" sz="2400" b="1" dirty="0">
                <a:latin typeface="Verdana" pitchFamily="34" charset="0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</a:rPr>
              <a:t>in phase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</a:rPr>
              <a:t>out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</a:rPr>
              <a:t>of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4144188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utoUpdateAnimBg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6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3717" name="Rectangle 5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3729" name="Rectangle 17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3731" name="Rectangle 19"/>
          <p:cNvSpPr>
            <a:spLocks noChangeArrowheads="1"/>
          </p:cNvSpPr>
          <p:nvPr/>
        </p:nvSpPr>
        <p:spPr bwMode="auto">
          <a:xfrm>
            <a:off x="0" y="3014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3733" name="Rectangle 21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830263" y="287338"/>
            <a:ext cx="708977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chemeClr val="tx2"/>
                </a:solidFill>
                <a:latin typeface="Arial Black" pitchFamily="34" charset="0"/>
              </a:rPr>
              <a:t>Characteristics of Sinusoids</a:t>
            </a: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85800" y="1481191"/>
            <a:ext cx="7772400" cy="389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Times New Roman" pitchFamily="18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Times New Roman" pitchFamily="18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Times New Roman" pitchFamily="18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Times New Roman" pitchFamily="18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Times New Roman" pitchFamily="18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Times New Roman" pitchFamily="18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Times New Roman" pitchFamily="18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Times New Roman" pitchFamily="18" charset="0"/>
              </a:defRPr>
            </a:lvl9pPr>
          </a:lstStyle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altLang="zh-CN" sz="2400" dirty="0">
                <a:latin typeface="Verdana" pitchFamily="34" charset="0"/>
                <a:ea typeface="宋体" pitchFamily="2" charset="-122"/>
              </a:rPr>
              <a:t>Only sinusoids with the </a:t>
            </a:r>
            <a:r>
              <a:rPr lang="en-US" altLang="zh-CN" sz="2400" b="1" u="sng" dirty="0">
                <a:solidFill>
                  <a:srgbClr val="FF0000"/>
                </a:solidFill>
                <a:latin typeface="Verdana" pitchFamily="34" charset="0"/>
                <a:ea typeface="宋体" pitchFamily="2" charset="-122"/>
              </a:rPr>
              <a:t>same frequency</a:t>
            </a:r>
            <a:r>
              <a:rPr lang="en-US" altLang="zh-CN" sz="2400" b="1" dirty="0">
                <a:latin typeface="Verdana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Verdana" pitchFamily="34" charset="0"/>
                <a:ea typeface="宋体" pitchFamily="2" charset="-122"/>
              </a:rPr>
              <a:t>can be permitted</a:t>
            </a:r>
            <a:r>
              <a:rPr lang="zh-CN" altLang="en-US" sz="2400" dirty="0">
                <a:latin typeface="Verdana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Verdana" pitchFamily="34" charset="0"/>
                <a:ea typeface="宋体" pitchFamily="2" charset="-122"/>
              </a:rPr>
              <a:t>to</a:t>
            </a:r>
            <a:r>
              <a:rPr lang="zh-CN" altLang="en-US" sz="2400" dirty="0">
                <a:latin typeface="Verdana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Verdana" pitchFamily="34" charset="0"/>
                <a:ea typeface="宋体" pitchFamily="2" charset="-122"/>
              </a:rPr>
              <a:t>discuss</a:t>
            </a:r>
            <a:r>
              <a:rPr lang="zh-CN" altLang="en-US" sz="2400" dirty="0">
                <a:latin typeface="Verdana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Verdana" pitchFamily="34" charset="0"/>
                <a:ea typeface="宋体" pitchFamily="2" charset="-122"/>
              </a:rPr>
              <a:t>their amplitudes and phase differences. </a:t>
            </a:r>
          </a:p>
          <a:p>
            <a:pPr eaLnBrk="0" hangingPunct="0">
              <a:lnSpc>
                <a:spcPct val="150000"/>
              </a:lnSpc>
            </a:pPr>
            <a:endParaRPr lang="en-US" altLang="zh-CN" sz="2400" dirty="0">
              <a:latin typeface="Verdana" pitchFamily="34" charset="0"/>
              <a:ea typeface="宋体" pitchFamily="2" charset="-122"/>
            </a:endParaRPr>
          </a:p>
          <a:p>
            <a:pPr eaLnBrk="0" hangingPunct="0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altLang="zh-CN" sz="2400" dirty="0">
                <a:latin typeface="Verdana" pitchFamily="34" charset="0"/>
                <a:ea typeface="宋体" pitchFamily="2" charset="-122"/>
              </a:rPr>
              <a:t>If the phase difference is 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  <a:ea typeface="宋体" pitchFamily="2" charset="-122"/>
              </a:rPr>
              <a:t>zero</a:t>
            </a:r>
            <a:r>
              <a:rPr lang="en-US" altLang="zh-CN" sz="2400" dirty="0">
                <a:latin typeface="Verdana" pitchFamily="34" charset="0"/>
                <a:ea typeface="宋体" pitchFamily="2" charset="-122"/>
              </a:rPr>
              <a:t>, they are 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  <a:ea typeface="宋体" pitchFamily="2" charset="-122"/>
              </a:rPr>
              <a:t>in phase</a:t>
            </a:r>
            <a:r>
              <a:rPr lang="en-US" altLang="zh-CN" sz="2400" dirty="0">
                <a:latin typeface="Verdana" pitchFamily="34" charset="0"/>
                <a:ea typeface="宋体" pitchFamily="2" charset="-122"/>
              </a:rPr>
              <a:t>; if the phase difference is not zero, then</a:t>
            </a:r>
            <a:r>
              <a:rPr lang="zh-CN" altLang="en-US" sz="2400" dirty="0">
                <a:latin typeface="Verdana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Verdana" pitchFamily="34" charset="0"/>
                <a:ea typeface="宋体" pitchFamily="2" charset="-122"/>
              </a:rPr>
              <a:t>they are out of phase.</a:t>
            </a:r>
          </a:p>
        </p:txBody>
      </p:sp>
    </p:spTree>
    <p:extLst>
      <p:ext uri="{BB962C8B-B14F-4D97-AF65-F5344CB8AC3E}">
        <p14:creationId xmlns:p14="http://schemas.microsoft.com/office/powerpoint/2010/main" val="202347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000125" y="404813"/>
            <a:ext cx="71437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Arial Black" pitchFamily="34" charset="0"/>
              </a:rPr>
              <a:t>Average and effective value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335016" y="2132856"/>
            <a:ext cx="8496300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Verdana" pitchFamily="34" charset="0"/>
              </a:rPr>
              <a:t>The average current is the average of the instantaneous currents over one period.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664243"/>
              </p:ext>
            </p:extLst>
          </p:nvPr>
        </p:nvGraphicFramePr>
        <p:xfrm>
          <a:off x="2051720" y="2959944"/>
          <a:ext cx="273526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200" imgH="381000" progId="Equation.DSMT4">
                  <p:embed/>
                </p:oleObj>
              </mc:Choice>
              <mc:Fallback>
                <p:oleObj name="Equation" r:id="rId3" imgW="965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959944"/>
                        <a:ext cx="273526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523653"/>
              </p:ext>
            </p:extLst>
          </p:nvPr>
        </p:nvGraphicFramePr>
        <p:xfrm>
          <a:off x="2014538" y="4903788"/>
          <a:ext cx="2808287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380880" progId="Equation.DSMT4">
                  <p:embed/>
                </p:oleObj>
              </mc:Choice>
              <mc:Fallback>
                <p:oleObj name="Equation" r:id="rId5" imgW="1002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4903788"/>
                        <a:ext cx="2808287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98475" y="1268413"/>
            <a:ext cx="51530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a.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Average Value </a:t>
            </a:r>
            <a:endParaRPr lang="zh-CN" altLang="en-US" sz="2400" dirty="0">
              <a:solidFill>
                <a:srgbClr val="FF0000"/>
              </a:solidFill>
              <a:latin typeface="Verdana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35016" y="4077072"/>
            <a:ext cx="8496300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Verdana" pitchFamily="34" charset="0"/>
              </a:rPr>
              <a:t>The average power is the average of the instantaneous powers over one period.</a:t>
            </a:r>
          </a:p>
        </p:txBody>
      </p:sp>
    </p:spTree>
    <p:extLst>
      <p:ext uri="{BB962C8B-B14F-4D97-AF65-F5344CB8AC3E}">
        <p14:creationId xmlns:p14="http://schemas.microsoft.com/office/powerpoint/2010/main" val="12517859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  <p:bldP spid="11270" grpId="0" autoUpdateAnimBg="0"/>
      <p:bldP spid="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87338" y="1412875"/>
            <a:ext cx="8675687" cy="157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latin typeface="Verdana" pitchFamily="34" charset="0"/>
              </a:rPr>
              <a:t>The effective value of a periodic current is the dc current that delivers the same average power to a resistor as the periodic current.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842865"/>
              </p:ext>
            </p:extLst>
          </p:nvPr>
        </p:nvGraphicFramePr>
        <p:xfrm>
          <a:off x="146050" y="3065463"/>
          <a:ext cx="3810000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609480" progId="Equation.DSMT4">
                  <p:embed/>
                </p:oleObj>
              </mc:Choice>
              <mc:Fallback>
                <p:oleObj name="Equation" r:id="rId2" imgW="119376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3065463"/>
                        <a:ext cx="3810000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3887788" y="3608388"/>
          <a:ext cx="381793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400" imgH="419100" progId="Equation.DSMT4">
                  <p:embed/>
                </p:oleObj>
              </mc:Choice>
              <mc:Fallback>
                <p:oleObj name="Equation" r:id="rId4" imgW="1168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3608388"/>
                        <a:ext cx="3817937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28625" y="4976813"/>
            <a:ext cx="78851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rms</a:t>
            </a:r>
            <a:r>
              <a:rPr lang="zh-CN" altLang="en-US" sz="2400" dirty="0">
                <a:latin typeface="Verdana" pitchFamily="34" charset="0"/>
              </a:rPr>
              <a:t>：</a:t>
            </a:r>
            <a:r>
              <a:rPr lang="en-US" altLang="zh-CN" sz="2400" dirty="0">
                <a:latin typeface="Verdana" pitchFamily="34" charset="0"/>
              </a:rPr>
              <a:t>root-mean-square, the square 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root</a:t>
            </a:r>
            <a:r>
              <a:rPr lang="en-US" altLang="zh-CN" sz="2400" dirty="0">
                <a:latin typeface="Verdana" pitchFamily="34" charset="0"/>
              </a:rPr>
              <a:t> of the 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mean</a:t>
            </a:r>
            <a:r>
              <a:rPr lang="en-US" altLang="zh-CN" sz="2400" dirty="0">
                <a:latin typeface="Verdana" pitchFamily="34" charset="0"/>
              </a:rPr>
              <a:t> (or average) of the 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square</a:t>
            </a:r>
            <a:r>
              <a:rPr lang="en-US" altLang="zh-CN" sz="2400" dirty="0">
                <a:latin typeface="Verdana" pitchFamily="34" charset="0"/>
              </a:rPr>
              <a:t> of ….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935038" y="446088"/>
            <a:ext cx="3859212" cy="54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b. Effective Value</a:t>
            </a:r>
            <a:endParaRPr lang="zh-CN" altLang="en-US" sz="2400" dirty="0">
              <a:solidFill>
                <a:srgbClr val="FF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6700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 autoUpdateAnimBg="0"/>
      <p:bldP spid="1229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952083"/>
              </p:ext>
            </p:extLst>
          </p:nvPr>
        </p:nvGraphicFramePr>
        <p:xfrm>
          <a:off x="1259632" y="1700808"/>
          <a:ext cx="273685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900" imgH="419100" progId="Equation.DSMT4">
                  <p:embed/>
                </p:oleObj>
              </mc:Choice>
              <mc:Fallback>
                <p:oleObj name="Equation" r:id="rId2" imgW="9779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700808"/>
                        <a:ext cx="273685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679679"/>
              </p:ext>
            </p:extLst>
          </p:nvPr>
        </p:nvGraphicFramePr>
        <p:xfrm>
          <a:off x="1331640" y="3573016"/>
          <a:ext cx="3128962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419040" progId="Equation.DSMT4">
                  <p:embed/>
                </p:oleObj>
              </mc:Choice>
              <mc:Fallback>
                <p:oleObj name="Equation" r:id="rId4" imgW="111744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573016"/>
                        <a:ext cx="3128962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578292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998538" y="361950"/>
            <a:ext cx="5516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</a:rPr>
              <a:t>c. Effective Value of Sinusoid</a:t>
            </a: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449263" y="1412875"/>
          <a:ext cx="30162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100" imgH="228600" progId="Equation.DSMT4">
                  <p:embed/>
                </p:oleObj>
              </mc:Choice>
              <mc:Fallback>
                <p:oleObj name="Equation" r:id="rId2" imgW="1054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1412875"/>
                        <a:ext cx="30162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17463" y="2276475"/>
          <a:ext cx="8977312" cy="216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16300" imgH="825500" progId="Equation.DSMT4">
                  <p:embed/>
                </p:oleObj>
              </mc:Choice>
              <mc:Fallback>
                <p:oleObj name="Equation" r:id="rId4" imgW="3416300" imgH="825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3" y="2276475"/>
                        <a:ext cx="8977312" cy="216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287338" y="4689475"/>
          <a:ext cx="432117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7589" imgH="355446" progId="Equation.DSMT4">
                  <p:embed/>
                </p:oleObj>
              </mc:Choice>
              <mc:Fallback>
                <p:oleObj name="Equation" r:id="rId6" imgW="1637589" imgH="3554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4689475"/>
                        <a:ext cx="432117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5275263" y="4797425"/>
          <a:ext cx="334486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500" imgH="228600" progId="Equation.DSMT4">
                  <p:embed/>
                </p:oleObj>
              </mc:Choice>
              <mc:Fallback>
                <p:oleObj name="Equation" r:id="rId8" imgW="1079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5263" y="4797425"/>
                        <a:ext cx="3344862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899592" y="5747883"/>
            <a:ext cx="357346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324746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900113" y="260350"/>
            <a:ext cx="6048375" cy="79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9.3  </a:t>
            </a:r>
            <a:r>
              <a:rPr lang="en-US" altLang="zh-CN" sz="3600" dirty="0" err="1">
                <a:latin typeface="Arial Black" pitchFamily="34" charset="0"/>
              </a:rPr>
              <a:t>Phasors</a:t>
            </a:r>
            <a:endParaRPr lang="en-US" altLang="zh-CN" sz="3600" dirty="0">
              <a:latin typeface="Arial Black" pitchFamily="34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27088" y="1160463"/>
            <a:ext cx="7669212" cy="491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630238"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Verdana" pitchFamily="34" charset="0"/>
              </a:rPr>
              <a:t>Complex Number Review</a:t>
            </a:r>
          </a:p>
          <a:p>
            <a:pPr marL="0" indent="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None/>
              <a:defRPr/>
            </a:pPr>
            <a:endParaRPr lang="en-US" altLang="zh-CN" sz="2800" b="1" dirty="0">
              <a:latin typeface="Verdana" pitchFamily="34" charset="0"/>
            </a:endParaRPr>
          </a:p>
          <a:p>
            <a:pPr marL="457200" indent="-45720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  <a:defRPr/>
            </a:pPr>
            <a:r>
              <a:rPr lang="en-US" altLang="zh-CN" sz="2800" b="1" dirty="0" err="1">
                <a:latin typeface="Verdana" pitchFamily="34" charset="0"/>
              </a:rPr>
              <a:t>Phasor</a:t>
            </a:r>
            <a:r>
              <a:rPr lang="en-US" altLang="zh-CN" sz="2800" b="1" dirty="0">
                <a:latin typeface="Verdana" pitchFamily="34" charset="0"/>
              </a:rPr>
              <a:t> idea</a:t>
            </a:r>
          </a:p>
          <a:p>
            <a:pPr marL="0" indent="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None/>
              <a:defRPr/>
            </a:pPr>
            <a:endParaRPr lang="en-US" altLang="zh-CN" sz="2800" b="1" dirty="0">
              <a:latin typeface="Verdana" pitchFamily="34" charset="0"/>
            </a:endParaRPr>
          </a:p>
          <a:p>
            <a:pPr marL="457200" indent="-45720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  <a:defRPr/>
            </a:pPr>
            <a:r>
              <a:rPr lang="en-US" altLang="zh-CN" sz="2800" b="1" dirty="0" err="1">
                <a:latin typeface="Verdana" pitchFamily="34" charset="0"/>
              </a:rPr>
              <a:t>Phasor</a:t>
            </a:r>
            <a:r>
              <a:rPr lang="en-US" altLang="zh-CN" sz="2800" b="1" dirty="0">
                <a:latin typeface="Verdana" pitchFamily="34" charset="0"/>
              </a:rPr>
              <a:t> diagram</a:t>
            </a:r>
          </a:p>
          <a:p>
            <a:pPr marL="0" indent="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None/>
              <a:defRPr/>
            </a:pPr>
            <a:endParaRPr lang="en-US" altLang="zh-CN" sz="2800" b="1" dirty="0">
              <a:latin typeface="Verdana" pitchFamily="34" charset="0"/>
            </a:endParaRPr>
          </a:p>
          <a:p>
            <a:pPr marL="457200" indent="-45720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  <a:defRPr/>
            </a:pPr>
            <a:r>
              <a:rPr lang="en-US" altLang="zh-CN" sz="2800" b="1" dirty="0" err="1">
                <a:latin typeface="Verdana" pitchFamily="34" charset="0"/>
              </a:rPr>
              <a:t>Phasor</a:t>
            </a:r>
            <a:r>
              <a:rPr lang="en-US" altLang="zh-CN" sz="2800" b="1" dirty="0">
                <a:latin typeface="Verdana" pitchFamily="34" charset="0"/>
              </a:rPr>
              <a:t>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68279138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3"/>
          <p:cNvSpPr txBox="1">
            <a:spLocks noChangeArrowheads="1"/>
          </p:cNvSpPr>
          <p:nvPr/>
        </p:nvSpPr>
        <p:spPr bwMode="auto">
          <a:xfrm>
            <a:off x="1079500" y="233363"/>
            <a:ext cx="57864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200" dirty="0">
                <a:solidFill>
                  <a:schemeClr val="tx2"/>
                </a:solidFill>
                <a:latin typeface="Arial Black" pitchFamily="34" charset="0"/>
              </a:rPr>
              <a:t>Complex Number Review</a:t>
            </a:r>
          </a:p>
        </p:txBody>
      </p:sp>
      <p:sp>
        <p:nvSpPr>
          <p:cNvPr id="28675" name="Text Box 47"/>
          <p:cNvSpPr txBox="1">
            <a:spLocks noChangeArrowheads="1"/>
          </p:cNvSpPr>
          <p:nvPr/>
        </p:nvSpPr>
        <p:spPr bwMode="auto">
          <a:xfrm>
            <a:off x="900113" y="1665288"/>
            <a:ext cx="7632700" cy="302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Mathematic Forms of the Complex Number</a:t>
            </a:r>
          </a:p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Basic Operations of Complex Numbers</a:t>
            </a:r>
          </a:p>
        </p:txBody>
      </p:sp>
    </p:spTree>
    <p:extLst>
      <p:ext uri="{BB962C8B-B14F-4D97-AF65-F5344CB8AC3E}">
        <p14:creationId xmlns:p14="http://schemas.microsoft.com/office/powerpoint/2010/main" val="262044188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40768"/>
            <a:ext cx="4953000" cy="21461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Complex number </a:t>
            </a:r>
            <a:r>
              <a:rPr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z 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2400" i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jy</a:t>
            </a:r>
            <a:r>
              <a:rPr lang="en-US" altLang="zh-CN" sz="2400" dirty="0">
                <a:ea typeface="宋体" pitchFamily="2" charset="-122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It can be represented in one of the following three forms:</a:t>
            </a:r>
          </a:p>
        </p:txBody>
      </p:sp>
      <p:sp>
        <p:nvSpPr>
          <p:cNvPr id="248836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8837" name="Rectangle 5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48841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2160" y="903968"/>
            <a:ext cx="2819400" cy="2757487"/>
          </a:xfrm>
          <a:noFill/>
          <a:ln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</p:pic>
      <p:sp>
        <p:nvSpPr>
          <p:cNvPr id="248844" name="Rectangle 12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8846" name="Rectangle 14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8848" name="Rectangle 16"/>
          <p:cNvSpPr>
            <a:spLocks noChangeArrowheads="1"/>
          </p:cNvSpPr>
          <p:nvPr/>
        </p:nvSpPr>
        <p:spPr bwMode="auto">
          <a:xfrm>
            <a:off x="-60960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8850" name="Rectangle 18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88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796103"/>
              </p:ext>
            </p:extLst>
          </p:nvPr>
        </p:nvGraphicFramePr>
        <p:xfrm>
          <a:off x="2737066" y="5517232"/>
          <a:ext cx="10747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320" imgH="203040" progId="Equation.3">
                  <p:embed/>
                </p:oleObj>
              </mc:Choice>
              <mc:Fallback>
                <p:oleObj name="Equation" r:id="rId4" imgW="571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7066" y="5517232"/>
                        <a:ext cx="1074737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487860"/>
              </p:ext>
            </p:extLst>
          </p:nvPr>
        </p:nvGraphicFramePr>
        <p:xfrm>
          <a:off x="2752048" y="5030001"/>
          <a:ext cx="9890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03040" progId="Equation.3">
                  <p:embed/>
                </p:oleObj>
              </mc:Choice>
              <mc:Fallback>
                <p:oleObj name="Equation" r:id="rId6" imgW="5079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048" y="5030001"/>
                        <a:ext cx="989012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42850"/>
              </p:ext>
            </p:extLst>
          </p:nvPr>
        </p:nvGraphicFramePr>
        <p:xfrm>
          <a:off x="2716832" y="4627047"/>
          <a:ext cx="33448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7680" imgH="203040" progId="Equation.3">
                  <p:embed/>
                </p:oleObj>
              </mc:Choice>
              <mc:Fallback>
                <p:oleObj name="Equation" r:id="rId8" imgW="1777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832" y="4627047"/>
                        <a:ext cx="334486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51" name="Text Box 19"/>
          <p:cNvSpPr txBox="1">
            <a:spLocks noChangeArrowheads="1"/>
          </p:cNvSpPr>
          <p:nvPr/>
        </p:nvSpPr>
        <p:spPr bwMode="auto">
          <a:xfrm>
            <a:off x="618448" y="4636939"/>
            <a:ext cx="21336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3813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850900" indent="-3429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 typeface="Wingdings" pitchFamily="2" charset="2"/>
              <a:buAutoNum type="alphaLcPeriod"/>
            </a:pPr>
            <a:r>
              <a:rPr lang="en-US" altLang="zh-CN" sz="2000" dirty="0">
                <a:latin typeface="Verdana" pitchFamily="34" charset="0"/>
                <a:ea typeface="宋体" pitchFamily="2" charset="-122"/>
              </a:rPr>
              <a:t>Algebraic</a:t>
            </a:r>
          </a:p>
          <a:p>
            <a:pPr eaLnBrk="0" hangingPunct="0">
              <a:spcBef>
                <a:spcPct val="50000"/>
              </a:spcBef>
              <a:buFont typeface="Wingdings" pitchFamily="2" charset="2"/>
              <a:buAutoNum type="alphaLcPeriod"/>
            </a:pPr>
            <a:r>
              <a:rPr lang="en-US" altLang="zh-CN" sz="2000" dirty="0">
                <a:latin typeface="Verdana" pitchFamily="34" charset="0"/>
                <a:ea typeface="宋体" pitchFamily="2" charset="-122"/>
              </a:rPr>
              <a:t>Exponential</a:t>
            </a:r>
          </a:p>
          <a:p>
            <a:pPr eaLnBrk="0" hangingPunct="0">
              <a:spcBef>
                <a:spcPct val="50000"/>
              </a:spcBef>
              <a:buFont typeface="Wingdings" pitchFamily="2" charset="2"/>
              <a:buAutoNum type="alphaLcPeriod"/>
            </a:pPr>
            <a:r>
              <a:rPr lang="en-US" altLang="zh-CN" sz="2000" dirty="0">
                <a:latin typeface="Verdana" pitchFamily="34" charset="0"/>
                <a:ea typeface="宋体" pitchFamily="2" charset="-122"/>
              </a:rPr>
              <a:t>Polar</a:t>
            </a:r>
          </a:p>
        </p:txBody>
      </p:sp>
      <p:sp>
        <p:nvSpPr>
          <p:cNvPr id="248853" name="Rectangle 21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8857" name="Rectangle 25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8862" name="Group 30"/>
          <p:cNvGrpSpPr>
            <a:grpSpLocks/>
          </p:cNvGrpSpPr>
          <p:nvPr/>
        </p:nvGrpSpPr>
        <p:grpSpPr bwMode="auto">
          <a:xfrm>
            <a:off x="6029154" y="3949135"/>
            <a:ext cx="2971800" cy="1371600"/>
            <a:chOff x="3264" y="3216"/>
            <a:chExt cx="1872" cy="864"/>
          </a:xfrm>
        </p:grpSpPr>
        <p:sp>
          <p:nvSpPr>
            <p:cNvPr id="248859" name="Rectangle 27"/>
            <p:cNvSpPr>
              <a:spLocks noChangeArrowheads="1"/>
            </p:cNvSpPr>
            <p:nvPr/>
          </p:nvSpPr>
          <p:spPr bwMode="auto">
            <a:xfrm>
              <a:off x="3264" y="3216"/>
              <a:ext cx="1872" cy="864"/>
            </a:xfrm>
            <a:prstGeom prst="rect">
              <a:avLst/>
            </a:prstGeom>
            <a:solidFill>
              <a:srgbClr val="FFFF00">
                <a:alpha val="52000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8860" name="Group 28"/>
            <p:cNvGrpSpPr>
              <a:grpSpLocks/>
            </p:cNvGrpSpPr>
            <p:nvPr/>
          </p:nvGrpSpPr>
          <p:grpSpPr bwMode="auto">
            <a:xfrm>
              <a:off x="3360" y="3312"/>
              <a:ext cx="1536" cy="672"/>
              <a:chOff x="3072" y="3312"/>
              <a:chExt cx="1536" cy="672"/>
            </a:xfrm>
          </p:grpSpPr>
          <p:graphicFrame>
            <p:nvGraphicFramePr>
              <p:cNvPr id="248852" name="Object 20"/>
              <p:cNvGraphicFramePr>
                <a:graphicFrameLocks noChangeAspect="1"/>
              </p:cNvGraphicFramePr>
              <p:nvPr/>
            </p:nvGraphicFramePr>
            <p:xfrm>
              <a:off x="3744" y="3312"/>
              <a:ext cx="864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863225" imgH="279279" progId="Equation.3">
                      <p:embed/>
                    </p:oleObj>
                  </mc:Choice>
                  <mc:Fallback>
                    <p:oleObj name="Equation" r:id="rId10" imgW="863225" imgH="2792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312"/>
                            <a:ext cx="864" cy="2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8856" name="Object 24"/>
              <p:cNvGraphicFramePr>
                <a:graphicFrameLocks noChangeAspect="1"/>
              </p:cNvGraphicFramePr>
              <p:nvPr/>
            </p:nvGraphicFramePr>
            <p:xfrm>
              <a:off x="3792" y="3600"/>
              <a:ext cx="720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736280" imgH="393529" progId="Equation.3">
                      <p:embed/>
                    </p:oleObj>
                  </mc:Choice>
                  <mc:Fallback>
                    <p:oleObj name="Equation" r:id="rId12" imgW="736280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3600"/>
                            <a:ext cx="720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8858" name="Text Box 26"/>
              <p:cNvSpPr txBox="1">
                <a:spLocks noChangeArrowheads="1"/>
              </p:cNvSpPr>
              <p:nvPr/>
            </p:nvSpPr>
            <p:spPr bwMode="auto">
              <a:xfrm>
                <a:off x="3072" y="3513"/>
                <a:ext cx="62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dirty="0">
                    <a:latin typeface="Verdana" pitchFamily="34" charset="0"/>
                    <a:ea typeface="宋体" pitchFamily="2" charset="-122"/>
                  </a:rPr>
                  <a:t>where </a:t>
                </a:r>
              </a:p>
            </p:txBody>
          </p:sp>
        </p:grpSp>
      </p:grp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1043608" y="360590"/>
            <a:ext cx="6911975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dirty="0">
                <a:latin typeface="Arial Black" pitchFamily="34" charset="0"/>
              </a:rPr>
              <a:t>Mathematic Forms</a:t>
            </a:r>
          </a:p>
        </p:txBody>
      </p:sp>
      <p:graphicFrame>
        <p:nvGraphicFramePr>
          <p:cNvPr id="3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338777"/>
              </p:ext>
            </p:extLst>
          </p:nvPr>
        </p:nvGraphicFramePr>
        <p:xfrm>
          <a:off x="1027673" y="1772816"/>
          <a:ext cx="1595438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4680" imgH="253800" progId="Equation.DSMT4">
                  <p:embed/>
                </p:oleObj>
              </mc:Choice>
              <mc:Fallback>
                <p:oleObj name="Equation" r:id="rId14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673" y="1772816"/>
                        <a:ext cx="1595438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0"/>
          <p:cNvSpPr txBox="1">
            <a:spLocks noChangeArrowheads="1"/>
          </p:cNvSpPr>
          <p:nvPr/>
        </p:nvSpPr>
        <p:spPr bwMode="auto">
          <a:xfrm>
            <a:off x="2716832" y="1844824"/>
            <a:ext cx="1782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ahoma" pitchFamily="34" charset="0"/>
              </a:rPr>
              <a:t>: Real part</a:t>
            </a:r>
          </a:p>
        </p:txBody>
      </p:sp>
      <p:graphicFrame>
        <p:nvGraphicFramePr>
          <p:cNvPr id="3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861774"/>
              </p:ext>
            </p:extLst>
          </p:nvPr>
        </p:nvGraphicFramePr>
        <p:xfrm>
          <a:off x="1034299" y="2302024"/>
          <a:ext cx="1627188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47640" imgH="253800" progId="Equation.DSMT4">
                  <p:embed/>
                </p:oleObj>
              </mc:Choice>
              <mc:Fallback>
                <p:oleObj name="Equation" r:id="rId16" imgW="6476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299" y="2302024"/>
                        <a:ext cx="1627188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2"/>
          <p:cNvSpPr txBox="1">
            <a:spLocks noChangeArrowheads="1"/>
          </p:cNvSpPr>
          <p:nvPr/>
        </p:nvSpPr>
        <p:spPr bwMode="auto">
          <a:xfrm>
            <a:off x="2716832" y="2420888"/>
            <a:ext cx="2697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ahoma" pitchFamily="34" charset="0"/>
              </a:rPr>
              <a:t>: Imaginary part</a:t>
            </a:r>
          </a:p>
        </p:txBody>
      </p:sp>
      <p:graphicFrame>
        <p:nvGraphicFramePr>
          <p:cNvPr id="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661051"/>
              </p:ext>
            </p:extLst>
          </p:nvPr>
        </p:nvGraphicFramePr>
        <p:xfrm>
          <a:off x="1043608" y="2850874"/>
          <a:ext cx="1440160" cy="63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45863" imgH="241195" progId="Equation.DSMT4">
                  <p:embed/>
                </p:oleObj>
              </mc:Choice>
              <mc:Fallback>
                <p:oleObj name="Equation" r:id="rId18" imgW="545863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850874"/>
                        <a:ext cx="1440160" cy="636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6"/>
          <p:cNvSpPr txBox="1">
            <a:spLocks noChangeArrowheads="1"/>
          </p:cNvSpPr>
          <p:nvPr/>
        </p:nvSpPr>
        <p:spPr bwMode="auto">
          <a:xfrm>
            <a:off x="2740645" y="2902712"/>
            <a:ext cx="267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ahoma" pitchFamily="34" charset="0"/>
              </a:rPr>
              <a:t>: Imaginary unit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88F216D-4C5E-5C41-B78A-676265081393}"/>
              </a:ext>
            </a:extLst>
          </p:cNvPr>
          <p:cNvSpPr txBox="1"/>
          <p:nvPr/>
        </p:nvSpPr>
        <p:spPr>
          <a:xfrm>
            <a:off x="4331162" y="5136845"/>
            <a:ext cx="1849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FF0000"/>
                </a:solidFill>
                <a:ea typeface="PMingLiU" pitchFamily="18" charset="-120"/>
              </a:rPr>
              <a:t>Euler’s identity</a:t>
            </a:r>
            <a:endParaRPr lang="zh-CN" altLang="en-US" dirty="0"/>
          </a:p>
        </p:txBody>
      </p:sp>
      <p:graphicFrame>
        <p:nvGraphicFramePr>
          <p:cNvPr id="31" name="Object 37">
            <a:extLst>
              <a:ext uri="{FF2B5EF4-FFF2-40B4-BE49-F238E27FC236}">
                <a16:creationId xmlns:a16="http://schemas.microsoft.com/office/drawing/2014/main" id="{9D0803DF-B66A-2143-A75B-48B941A495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042313"/>
              </p:ext>
            </p:extLst>
          </p:nvPr>
        </p:nvGraphicFramePr>
        <p:xfrm>
          <a:off x="5147293" y="5634975"/>
          <a:ext cx="2817611" cy="498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82700" imgH="228600" progId="Equation.3">
                  <p:embed/>
                </p:oleObj>
              </mc:Choice>
              <mc:Fallback>
                <p:oleObj name="Equation" r:id="rId20" imgW="1282700" imgH="228600" progId="Equation.3">
                  <p:embed/>
                  <p:pic>
                    <p:nvPicPr>
                      <p:cNvPr id="25194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293" y="5634975"/>
                        <a:ext cx="2817611" cy="49895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99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4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4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9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71500" y="1268760"/>
            <a:ext cx="8001000" cy="4953000"/>
          </a:xfrm>
        </p:spPr>
        <p:txBody>
          <a:bodyPr/>
          <a:lstStyle/>
          <a:p>
            <a:pPr marL="465138" indent="-465138">
              <a:lnSpc>
                <a:spcPct val="90000"/>
              </a:lnSpc>
              <a:buFontTx/>
              <a:buNone/>
            </a:pPr>
            <a:r>
              <a:rPr lang="en-US" altLang="zh-TW" sz="2800" dirty="0">
                <a:ea typeface="PMingLiU" pitchFamily="18" charset="-120"/>
              </a:rPr>
              <a:t>   </a:t>
            </a:r>
          </a:p>
          <a:p>
            <a:pPr marL="465138" indent="-465138">
              <a:lnSpc>
                <a:spcPct val="160000"/>
              </a:lnSpc>
              <a:buFontTx/>
              <a:buAutoNum type="arabicPeriod"/>
            </a:pPr>
            <a:r>
              <a:rPr lang="en-US" altLang="zh-TW" sz="2000" dirty="0">
                <a:ea typeface="PMingLiU" pitchFamily="18" charset="-120"/>
              </a:rPr>
              <a:t>Addition	</a:t>
            </a:r>
          </a:p>
          <a:p>
            <a:pPr marL="465138" indent="-465138">
              <a:lnSpc>
                <a:spcPct val="160000"/>
              </a:lnSpc>
              <a:buFontTx/>
              <a:buAutoNum type="arabicPeriod"/>
            </a:pPr>
            <a:r>
              <a:rPr lang="en-US" altLang="zh-TW" sz="2000" dirty="0">
                <a:ea typeface="PMingLiU" pitchFamily="18" charset="-120"/>
              </a:rPr>
              <a:t>Subtraction</a:t>
            </a:r>
          </a:p>
          <a:p>
            <a:pPr marL="465138" indent="-465138">
              <a:lnSpc>
                <a:spcPct val="160000"/>
              </a:lnSpc>
              <a:buFontTx/>
              <a:buAutoNum type="arabicPeriod"/>
            </a:pPr>
            <a:r>
              <a:rPr lang="en-US" altLang="zh-TW" sz="2000" dirty="0">
                <a:solidFill>
                  <a:srgbClr val="FF0000"/>
                </a:solidFill>
                <a:ea typeface="PMingLiU" pitchFamily="18" charset="-120"/>
              </a:rPr>
              <a:t>Multiplication</a:t>
            </a:r>
          </a:p>
          <a:p>
            <a:pPr marL="465138" indent="-465138">
              <a:lnSpc>
                <a:spcPct val="160000"/>
              </a:lnSpc>
              <a:buFontTx/>
              <a:buAutoNum type="arabicPeriod"/>
            </a:pPr>
            <a:r>
              <a:rPr lang="en-US" altLang="zh-TW" sz="2000" dirty="0">
                <a:solidFill>
                  <a:srgbClr val="FF0000"/>
                </a:solidFill>
                <a:ea typeface="PMingLiU" pitchFamily="18" charset="-120"/>
              </a:rPr>
              <a:t>Division</a:t>
            </a:r>
          </a:p>
          <a:p>
            <a:pPr marL="465138" indent="-465138">
              <a:lnSpc>
                <a:spcPct val="160000"/>
              </a:lnSpc>
              <a:buFontTx/>
              <a:buAutoNum type="arabicPeriod"/>
            </a:pPr>
            <a:r>
              <a:rPr lang="en-US" altLang="zh-TW" sz="2000" dirty="0">
                <a:ea typeface="PMingLiU" pitchFamily="18" charset="-120"/>
              </a:rPr>
              <a:t>Reciprocal</a:t>
            </a:r>
          </a:p>
          <a:p>
            <a:pPr marL="465138" indent="-465138">
              <a:lnSpc>
                <a:spcPct val="160000"/>
              </a:lnSpc>
              <a:buFontTx/>
              <a:buAutoNum type="arabicPeriod"/>
            </a:pPr>
            <a:r>
              <a:rPr lang="en-US" altLang="zh-TW" sz="2000" dirty="0">
                <a:ea typeface="PMingLiU" pitchFamily="18" charset="-120"/>
              </a:rPr>
              <a:t>Square root</a:t>
            </a:r>
          </a:p>
          <a:p>
            <a:pPr marL="465138" indent="-465138">
              <a:lnSpc>
                <a:spcPct val="160000"/>
              </a:lnSpc>
              <a:buFontTx/>
              <a:buAutoNum type="arabicPeriod"/>
            </a:pPr>
            <a:r>
              <a:rPr lang="en-US" altLang="zh-TW" sz="2000" dirty="0">
                <a:solidFill>
                  <a:srgbClr val="FF0000"/>
                </a:solidFill>
                <a:ea typeface="PMingLiU" pitchFamily="18" charset="-120"/>
              </a:rPr>
              <a:t>Complex conjugate</a:t>
            </a:r>
          </a:p>
          <a:p>
            <a:pPr marL="465138" indent="-465138">
              <a:lnSpc>
                <a:spcPct val="160000"/>
              </a:lnSpc>
              <a:buFontTx/>
              <a:buAutoNum type="arabicPeriod"/>
            </a:pPr>
            <a:r>
              <a:rPr lang="en-US" altLang="zh-TW" sz="2000" dirty="0">
                <a:solidFill>
                  <a:srgbClr val="FF0000"/>
                </a:solidFill>
                <a:ea typeface="PMingLiU" pitchFamily="18" charset="-120"/>
              </a:rPr>
              <a:t>Euler’s identity</a:t>
            </a:r>
            <a:r>
              <a:rPr lang="en-US" altLang="zh-TW" sz="2400" dirty="0">
                <a:ea typeface="PMingLiU" pitchFamily="18" charset="-120"/>
              </a:rPr>
              <a:t>	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251908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0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1" name="Rectangle 7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2" name="Rectangle 8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3" name="Rectangle 9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4" name="Rectangle 10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7" name="Rectangle 13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8" name="Rectangle 14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9" name="Rectangle 15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20" name="Rectangle 16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28" name="Rectangle 24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192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080043"/>
              </p:ext>
            </p:extLst>
          </p:nvPr>
        </p:nvGraphicFramePr>
        <p:xfrm>
          <a:off x="3851920" y="1844824"/>
          <a:ext cx="25527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6868" imgH="215806" progId="Equation.3">
                  <p:embed/>
                </p:oleObj>
              </mc:Choice>
              <mc:Fallback>
                <p:oleObj name="Equation" r:id="rId2" imgW="191686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844824"/>
                        <a:ext cx="2552700" cy="2952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30" name="Rectangle 26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19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697196"/>
              </p:ext>
            </p:extLst>
          </p:nvPr>
        </p:nvGraphicFramePr>
        <p:xfrm>
          <a:off x="3851920" y="2420888"/>
          <a:ext cx="24669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3396" imgH="215806" progId="Equation.3">
                  <p:embed/>
                </p:oleObj>
              </mc:Choice>
              <mc:Fallback>
                <p:oleObj name="Equation" r:id="rId4" imgW="185339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420888"/>
                        <a:ext cx="2466975" cy="2952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32" name="Rectangle 28"/>
          <p:cNvSpPr>
            <a:spLocks noChangeArrowheads="1"/>
          </p:cNvSpPr>
          <p:nvPr/>
        </p:nvSpPr>
        <p:spPr bwMode="auto">
          <a:xfrm>
            <a:off x="0" y="3271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19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700481"/>
              </p:ext>
            </p:extLst>
          </p:nvPr>
        </p:nvGraphicFramePr>
        <p:xfrm>
          <a:off x="3851920" y="2919413"/>
          <a:ext cx="17049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800" imgH="215900" progId="Equation.3">
                  <p:embed/>
                </p:oleObj>
              </mc:Choice>
              <mc:Fallback>
                <p:oleObj name="Equation" r:id="rId6" imgW="1193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919413"/>
                        <a:ext cx="1704975" cy="3143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34" name="Rectangle 30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193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37156"/>
              </p:ext>
            </p:extLst>
          </p:nvPr>
        </p:nvGraphicFramePr>
        <p:xfrm>
          <a:off x="3886200" y="3429000"/>
          <a:ext cx="13716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800" imgH="431800" progId="Equation.3">
                  <p:embed/>
                </p:oleObj>
              </mc:Choice>
              <mc:Fallback>
                <p:oleObj name="Equation" r:id="rId8" imgW="1066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429000"/>
                        <a:ext cx="1371600" cy="5651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59809"/>
              </p:ext>
            </p:extLst>
          </p:nvPr>
        </p:nvGraphicFramePr>
        <p:xfrm>
          <a:off x="3886200" y="4074432"/>
          <a:ext cx="11430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444500" progId="Equation.3">
                  <p:embed/>
                </p:oleObj>
              </mc:Choice>
              <mc:Fallback>
                <p:oleObj name="Equation" r:id="rId10" imgW="9144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074432"/>
                        <a:ext cx="1143000" cy="5667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38" name="Rectangle 34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193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088634"/>
              </p:ext>
            </p:extLst>
          </p:nvPr>
        </p:nvGraphicFramePr>
        <p:xfrm>
          <a:off x="3923928" y="4679156"/>
          <a:ext cx="15525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65200" imgH="241300" progId="Equation.3">
                  <p:embed/>
                </p:oleObj>
              </mc:Choice>
              <mc:Fallback>
                <p:oleObj name="Equation" r:id="rId12" imgW="9652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4679156"/>
                        <a:ext cx="1552575" cy="38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40" name="Rectangle 3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193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592278"/>
              </p:ext>
            </p:extLst>
          </p:nvPr>
        </p:nvGraphicFramePr>
        <p:xfrm>
          <a:off x="3923928" y="5229200"/>
          <a:ext cx="29527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52600" imgH="228600" progId="Equation.3">
                  <p:embed/>
                </p:oleObj>
              </mc:Choice>
              <mc:Fallback>
                <p:oleObj name="Equation" r:id="rId14" imgW="1752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5229200"/>
                        <a:ext cx="2952750" cy="390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42" name="Rectangle 38"/>
          <p:cNvSpPr>
            <a:spLocks noChangeArrowheads="1"/>
          </p:cNvSpPr>
          <p:nvPr/>
        </p:nvSpPr>
        <p:spPr bwMode="auto">
          <a:xfrm>
            <a:off x="0" y="3267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194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221762"/>
              </p:ext>
            </p:extLst>
          </p:nvPr>
        </p:nvGraphicFramePr>
        <p:xfrm>
          <a:off x="3928269" y="5805264"/>
          <a:ext cx="18288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82700" imgH="228600" progId="Equation.3">
                  <p:embed/>
                </p:oleObj>
              </mc:Choice>
              <mc:Fallback>
                <p:oleObj name="Equation" r:id="rId16" imgW="1282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8269" y="5805264"/>
                        <a:ext cx="1828800" cy="3238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2"/>
          <p:cNvSpPr txBox="1">
            <a:spLocks noChangeArrowheads="1"/>
          </p:cNvSpPr>
          <p:nvPr/>
        </p:nvSpPr>
        <p:spPr bwMode="auto">
          <a:xfrm>
            <a:off x="900113" y="296863"/>
            <a:ext cx="7885112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tx2"/>
              </a:buClr>
              <a:buSzTx/>
              <a:buFont typeface="Wingdings" pitchFamily="2" charset="2"/>
              <a:buNone/>
            </a:pPr>
            <a:r>
              <a:rPr lang="en-US" altLang="zh-CN" dirty="0">
                <a:latin typeface="Arial Black" pitchFamily="34" charset="0"/>
              </a:rPr>
              <a:t>Basic Operations of Complex Numbers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70859"/>
              </p:ext>
            </p:extLst>
          </p:nvPr>
        </p:nvGraphicFramePr>
        <p:xfrm>
          <a:off x="1043608" y="1196752"/>
          <a:ext cx="59769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289300" imgH="215900" progId="Equation.3">
                  <p:embed/>
                </p:oleObj>
              </mc:Choice>
              <mc:Fallback>
                <p:oleObj name="公式" r:id="rId18" imgW="32893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196752"/>
                        <a:ext cx="597693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777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5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5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3"/>
          <p:cNvSpPr txBox="1">
            <a:spLocks noChangeArrowheads="1"/>
          </p:cNvSpPr>
          <p:nvPr/>
        </p:nvSpPr>
        <p:spPr bwMode="auto">
          <a:xfrm>
            <a:off x="814388" y="312738"/>
            <a:ext cx="757396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Clr>
                <a:schemeClr val="tx2"/>
              </a:buClr>
              <a:buSzTx/>
              <a:buFont typeface="Wingdings" pitchFamily="2" charset="2"/>
              <a:buNone/>
            </a:pPr>
            <a:r>
              <a:rPr lang="en-US" altLang="zh-CN">
                <a:latin typeface="Arial Black" pitchFamily="34" charset="0"/>
              </a:rPr>
              <a:t>Rotating factor in complex operation </a:t>
            </a:r>
            <a:endParaRPr lang="zh-CN" altLang="en-US">
              <a:latin typeface="Arial Black" pitchFamily="34" charset="0"/>
            </a:endParaRP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239713" y="2471738"/>
          <a:ext cx="33401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19375" imgH="409489" progId="Equation.3">
                  <p:embed/>
                </p:oleObj>
              </mc:Choice>
              <mc:Fallback>
                <p:oleObj name="公式" r:id="rId2" imgW="1619375" imgH="4094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3" y="2471738"/>
                        <a:ext cx="33401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88900" y="3417888"/>
          <a:ext cx="4859338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81175" imgH="428655" progId="Equation.3">
                  <p:embed/>
                </p:oleObj>
              </mc:Choice>
              <mc:Fallback>
                <p:oleObj name="公式" r:id="rId4" imgW="2581175" imgH="42865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" y="3417888"/>
                        <a:ext cx="4859338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111125" y="4530725"/>
          <a:ext cx="45370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04999" imgH="209468" progId="Equation.3">
                  <p:embed/>
                </p:oleObj>
              </mc:Choice>
              <mc:Fallback>
                <p:oleObj name="公式" r:id="rId6" imgW="2104999" imgH="2094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" y="4530725"/>
                        <a:ext cx="45370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182563" y="5470525"/>
            <a:ext cx="8313737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e</a:t>
            </a:r>
            <a:r>
              <a:rPr lang="en-US" altLang="zh-CN" baseline="30000">
                <a:solidFill>
                  <a:srgbClr val="FF0000"/>
                </a:solidFill>
              </a:rPr>
              <a:t>j</a:t>
            </a:r>
            <a:r>
              <a:rPr lang="en-US" altLang="zh-CN" i="1" baseline="30000">
                <a:latin typeface="Symbol" pitchFamily="18" charset="2"/>
              </a:rPr>
              <a:t>j</a:t>
            </a:r>
            <a:r>
              <a:rPr lang="en-US" altLang="zh-CN" i="1">
                <a:latin typeface="Symbol" pitchFamily="18" charset="2"/>
              </a:rPr>
              <a:t> ,</a:t>
            </a:r>
            <a:r>
              <a:rPr lang="zh-CN" altLang="zh-CN">
                <a:solidFill>
                  <a:srgbClr val="FF0000"/>
                </a:solidFill>
              </a:rPr>
              <a:t>+</a:t>
            </a:r>
            <a:r>
              <a:rPr lang="en-US" altLang="zh-CN">
                <a:solidFill>
                  <a:srgbClr val="FF0000"/>
                </a:solidFill>
              </a:rPr>
              <a:t>j ,  –j , 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-</a:t>
            </a:r>
            <a:r>
              <a:rPr lang="en-US" altLang="zh-CN">
                <a:solidFill>
                  <a:srgbClr val="FF0000"/>
                </a:solidFill>
              </a:rPr>
              <a:t>1 can be regarded as rotating factors</a:t>
            </a:r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19498" name="Group 42"/>
          <p:cNvGrpSpPr>
            <a:grpSpLocks/>
          </p:cNvGrpSpPr>
          <p:nvPr/>
        </p:nvGrpSpPr>
        <p:grpSpPr bwMode="auto">
          <a:xfrm>
            <a:off x="4967288" y="2279650"/>
            <a:ext cx="3152775" cy="2797175"/>
            <a:chOff x="3651" y="0"/>
            <a:chExt cx="1986" cy="1762"/>
          </a:xfrm>
        </p:grpSpPr>
        <p:sp>
          <p:nvSpPr>
            <p:cNvPr id="43035" name="Line 9"/>
            <p:cNvSpPr>
              <a:spLocks noChangeShapeType="1"/>
            </p:cNvSpPr>
            <p:nvPr/>
          </p:nvSpPr>
          <p:spPr bwMode="auto">
            <a:xfrm>
              <a:off x="3651" y="981"/>
              <a:ext cx="16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6" name="Line 10"/>
            <p:cNvSpPr>
              <a:spLocks noChangeShapeType="1"/>
            </p:cNvSpPr>
            <p:nvPr/>
          </p:nvSpPr>
          <p:spPr bwMode="auto">
            <a:xfrm flipV="1">
              <a:off x="4422" y="164"/>
              <a:ext cx="0" cy="15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7" name="Text Box 12"/>
            <p:cNvSpPr txBox="1">
              <a:spLocks noChangeArrowheads="1"/>
            </p:cNvSpPr>
            <p:nvPr/>
          </p:nvSpPr>
          <p:spPr bwMode="auto">
            <a:xfrm>
              <a:off x="5278" y="754"/>
              <a:ext cx="359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/>
                <a:t>+1</a:t>
              </a:r>
            </a:p>
          </p:txBody>
        </p:sp>
        <p:sp>
          <p:nvSpPr>
            <p:cNvPr id="43038" name="Text Box 13"/>
            <p:cNvSpPr txBox="1">
              <a:spLocks noChangeArrowheads="1"/>
            </p:cNvSpPr>
            <p:nvPr/>
          </p:nvSpPr>
          <p:spPr bwMode="auto">
            <a:xfrm>
              <a:off x="4332" y="0"/>
              <a:ext cx="419" cy="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/>
                <a:t>＋</a:t>
              </a:r>
              <a:r>
                <a:rPr lang="en-US" altLang="zh-CN"/>
                <a:t>j</a:t>
              </a:r>
            </a:p>
          </p:txBody>
        </p:sp>
        <p:sp>
          <p:nvSpPr>
            <p:cNvPr id="43039" name="Text Box 14"/>
            <p:cNvSpPr txBox="1">
              <a:spLocks noChangeArrowheads="1"/>
            </p:cNvSpPr>
            <p:nvPr/>
          </p:nvSpPr>
          <p:spPr bwMode="auto">
            <a:xfrm>
              <a:off x="4468" y="1026"/>
              <a:ext cx="229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/>
                <a:t>0</a:t>
              </a:r>
            </a:p>
          </p:txBody>
        </p:sp>
      </p:grpSp>
      <p:grpSp>
        <p:nvGrpSpPr>
          <p:cNvPr id="19494" name="Group 38"/>
          <p:cNvGrpSpPr>
            <a:grpSpLocks/>
          </p:cNvGrpSpPr>
          <p:nvPr/>
        </p:nvGrpSpPr>
        <p:grpSpPr bwMode="auto">
          <a:xfrm>
            <a:off x="6184900" y="2708275"/>
            <a:ext cx="1125538" cy="1082675"/>
            <a:chOff x="4657" y="1888"/>
            <a:chExt cx="709" cy="682"/>
          </a:xfrm>
        </p:grpSpPr>
        <p:sp>
          <p:nvSpPr>
            <p:cNvPr id="43033" name="Line 11"/>
            <p:cNvSpPr>
              <a:spLocks noChangeShapeType="1"/>
            </p:cNvSpPr>
            <p:nvPr/>
          </p:nvSpPr>
          <p:spPr bwMode="auto">
            <a:xfrm flipV="1">
              <a:off x="4657" y="2110"/>
              <a:ext cx="468" cy="4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34" name="Object 15"/>
            <p:cNvGraphicFramePr>
              <a:graphicFrameLocks noChangeAspect="1"/>
            </p:cNvGraphicFramePr>
            <p:nvPr/>
          </p:nvGraphicFramePr>
          <p:xfrm>
            <a:off x="5103" y="1888"/>
            <a:ext cx="263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64885" imgH="164885" progId="Equation.3">
                    <p:embed/>
                  </p:oleObj>
                </mc:Choice>
                <mc:Fallback>
                  <p:oleObj name="公式" r:id="rId8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1888"/>
                          <a:ext cx="263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72" name="Group 16"/>
          <p:cNvGrpSpPr>
            <a:grpSpLocks/>
          </p:cNvGrpSpPr>
          <p:nvPr/>
        </p:nvGrpSpPr>
        <p:grpSpPr bwMode="auto">
          <a:xfrm>
            <a:off x="4932363" y="2606675"/>
            <a:ext cx="1239837" cy="1182688"/>
            <a:chOff x="3995" y="2147"/>
            <a:chExt cx="781" cy="745"/>
          </a:xfrm>
        </p:grpSpPr>
        <p:sp>
          <p:nvSpPr>
            <p:cNvPr id="43031" name="Line 17"/>
            <p:cNvSpPr>
              <a:spLocks noChangeShapeType="1"/>
            </p:cNvSpPr>
            <p:nvPr/>
          </p:nvSpPr>
          <p:spPr bwMode="auto">
            <a:xfrm rot="16200000" flipV="1">
              <a:off x="4308" y="2424"/>
              <a:ext cx="468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32" name="Object 18"/>
            <p:cNvGraphicFramePr>
              <a:graphicFrameLocks noChangeAspect="1"/>
            </p:cNvGraphicFramePr>
            <p:nvPr/>
          </p:nvGraphicFramePr>
          <p:xfrm>
            <a:off x="3995" y="2147"/>
            <a:ext cx="49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33377" imgH="180855" progId="Equation.3">
                    <p:embed/>
                  </p:oleObj>
                </mc:Choice>
                <mc:Fallback>
                  <p:oleObj name="公式" r:id="rId10" imgW="333377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" y="2147"/>
                          <a:ext cx="497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95" name="Group 39"/>
          <p:cNvGrpSpPr>
            <a:grpSpLocks/>
          </p:cNvGrpSpPr>
          <p:nvPr/>
        </p:nvGrpSpPr>
        <p:grpSpPr bwMode="auto">
          <a:xfrm>
            <a:off x="6172200" y="3787775"/>
            <a:ext cx="1484313" cy="1128713"/>
            <a:chOff x="4468" y="3475"/>
            <a:chExt cx="935" cy="711"/>
          </a:xfrm>
        </p:grpSpPr>
        <p:sp>
          <p:nvSpPr>
            <p:cNvPr id="43029" name="Line 20"/>
            <p:cNvSpPr>
              <a:spLocks noChangeShapeType="1"/>
            </p:cNvSpPr>
            <p:nvPr/>
          </p:nvSpPr>
          <p:spPr bwMode="auto">
            <a:xfrm rot="5400000" flipV="1">
              <a:off x="4468" y="3475"/>
              <a:ext cx="468" cy="46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30" name="Object 21"/>
            <p:cNvGraphicFramePr>
              <a:graphicFrameLocks noChangeAspect="1"/>
            </p:cNvGraphicFramePr>
            <p:nvPr/>
          </p:nvGraphicFramePr>
          <p:xfrm>
            <a:off x="4876" y="3884"/>
            <a:ext cx="527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33377" imgH="180855" progId="Equation.3">
                    <p:embed/>
                  </p:oleObj>
                </mc:Choice>
                <mc:Fallback>
                  <p:oleObj name="公式" r:id="rId12" imgW="333377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3884"/>
                          <a:ext cx="527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96" name="Group 40"/>
          <p:cNvGrpSpPr>
            <a:grpSpLocks/>
          </p:cNvGrpSpPr>
          <p:nvPr/>
        </p:nvGrpSpPr>
        <p:grpSpPr bwMode="auto">
          <a:xfrm>
            <a:off x="5380038" y="3787775"/>
            <a:ext cx="814387" cy="1185863"/>
            <a:chOff x="4150" y="2568"/>
            <a:chExt cx="513" cy="747"/>
          </a:xfrm>
        </p:grpSpPr>
        <p:sp>
          <p:nvSpPr>
            <p:cNvPr id="43027" name="Line 23"/>
            <p:cNvSpPr>
              <a:spLocks noChangeShapeType="1"/>
            </p:cNvSpPr>
            <p:nvPr/>
          </p:nvSpPr>
          <p:spPr bwMode="auto">
            <a:xfrm rot="10800000" flipV="1">
              <a:off x="4195" y="2568"/>
              <a:ext cx="468" cy="4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28" name="Object 24"/>
            <p:cNvGraphicFramePr>
              <a:graphicFrameLocks noChangeAspect="1"/>
            </p:cNvGraphicFramePr>
            <p:nvPr/>
          </p:nvGraphicFramePr>
          <p:xfrm>
            <a:off x="4150" y="3092"/>
            <a:ext cx="363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47536" imgH="142795" progId="Equation.3">
                    <p:embed/>
                  </p:oleObj>
                </mc:Choice>
                <mc:Fallback>
                  <p:oleObj name="公式" r:id="rId14" imgW="247536" imgH="1427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3092"/>
                          <a:ext cx="363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80008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99" name="Group 43"/>
          <p:cNvGrpSpPr>
            <a:grpSpLocks/>
          </p:cNvGrpSpPr>
          <p:nvPr/>
        </p:nvGrpSpPr>
        <p:grpSpPr bwMode="auto">
          <a:xfrm>
            <a:off x="1209675" y="1658938"/>
            <a:ext cx="7575550" cy="523875"/>
            <a:chOff x="1029" y="981"/>
            <a:chExt cx="3473" cy="330"/>
          </a:xfrm>
        </p:grpSpPr>
        <p:sp>
          <p:nvSpPr>
            <p:cNvPr id="43025" name="Text Box 27"/>
            <p:cNvSpPr txBox="1">
              <a:spLocks noChangeArrowheads="1"/>
            </p:cNvSpPr>
            <p:nvPr/>
          </p:nvSpPr>
          <p:spPr bwMode="auto">
            <a:xfrm>
              <a:off x="1474" y="981"/>
              <a:ext cx="30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i="1" dirty="0"/>
                <a:t>A</a:t>
              </a:r>
              <a:r>
                <a:rPr lang="zh-CN" altLang="en-US" dirty="0"/>
                <a:t> </a:t>
              </a:r>
              <a:r>
                <a:rPr lang="en-US" altLang="zh-CN" dirty="0"/>
                <a:t>is</a:t>
              </a:r>
              <a:r>
                <a:rPr lang="zh-CN" altLang="en-US" dirty="0"/>
                <a:t> </a:t>
              </a:r>
              <a:r>
                <a:rPr lang="en-US" altLang="zh-CN" dirty="0"/>
                <a:t>rotated counterclockwise by </a:t>
              </a:r>
              <a:r>
                <a:rPr lang="en-US" altLang="zh-CN" dirty="0">
                  <a:sym typeface="Symbol" pitchFamily="18" charset="2"/>
                </a:rPr>
                <a:t> degree</a:t>
              </a:r>
              <a:r>
                <a:rPr lang="en-US" altLang="zh-CN" dirty="0"/>
                <a:t>   </a:t>
              </a:r>
              <a:endParaRPr lang="zh-CN" altLang="en-US" dirty="0"/>
            </a:p>
          </p:txBody>
        </p:sp>
        <p:sp>
          <p:nvSpPr>
            <p:cNvPr id="43026" name="AutoShape 28"/>
            <p:cNvSpPr>
              <a:spLocks noChangeArrowheads="1"/>
            </p:cNvSpPr>
            <p:nvPr/>
          </p:nvSpPr>
          <p:spPr bwMode="auto">
            <a:xfrm>
              <a:off x="1029" y="1144"/>
              <a:ext cx="445" cy="92"/>
            </a:xfrm>
            <a:prstGeom prst="rightArrow">
              <a:avLst>
                <a:gd name="adj1" fmla="val 50000"/>
                <a:gd name="adj2" fmla="val 120924"/>
              </a:avLst>
            </a:prstGeom>
            <a:solidFill>
              <a:srgbClr val="FFCCFF"/>
            </a:solidFill>
            <a:ln w="25400">
              <a:solidFill>
                <a:schemeClr val="tx1"/>
              </a:solidFill>
              <a:miter lim="800000"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</p:grp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239713" y="1681163"/>
            <a:ext cx="896937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i="1"/>
              <a:t>A</a:t>
            </a:r>
            <a:r>
              <a:rPr lang="en-US" altLang="zh-CN">
                <a:solidFill>
                  <a:srgbClr val="FF0000"/>
                </a:solidFill>
              </a:rPr>
              <a:t>e</a:t>
            </a:r>
            <a:r>
              <a:rPr lang="en-US" altLang="zh-CN" baseline="30000">
                <a:solidFill>
                  <a:srgbClr val="FF0000"/>
                </a:solidFill>
              </a:rPr>
              <a:t>j</a:t>
            </a:r>
            <a:r>
              <a:rPr lang="en-US" altLang="zh-CN" i="1" baseline="30000">
                <a:latin typeface="Symbol" pitchFamily="18" charset="2"/>
              </a:rPr>
              <a:t>j</a:t>
            </a:r>
            <a:r>
              <a:rPr lang="en-US" altLang="zh-CN" i="1">
                <a:latin typeface="Symbol" pitchFamily="18" charset="2"/>
              </a:rPr>
              <a:t> </a:t>
            </a:r>
          </a:p>
        </p:txBody>
      </p:sp>
      <p:grpSp>
        <p:nvGrpSpPr>
          <p:cNvPr id="19490" name="Group 34"/>
          <p:cNvGrpSpPr>
            <a:grpSpLocks/>
          </p:cNvGrpSpPr>
          <p:nvPr/>
        </p:nvGrpSpPr>
        <p:grpSpPr bwMode="auto">
          <a:xfrm>
            <a:off x="814388" y="1169988"/>
            <a:ext cx="1670050" cy="677862"/>
            <a:chOff x="340" y="816"/>
            <a:chExt cx="901" cy="370"/>
          </a:xfrm>
        </p:grpSpPr>
        <p:sp>
          <p:nvSpPr>
            <p:cNvPr id="43023" name="Text Box 25"/>
            <p:cNvSpPr txBox="1">
              <a:spLocks noChangeArrowheads="1"/>
            </p:cNvSpPr>
            <p:nvPr/>
          </p:nvSpPr>
          <p:spPr bwMode="auto">
            <a:xfrm>
              <a:off x="340" y="845"/>
              <a:ext cx="901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endParaRPr lang="en-US" altLang="zh-CN" i="1">
                <a:sym typeface="Symbol" pitchFamily="18" charset="2"/>
              </a:endParaRPr>
            </a:p>
          </p:txBody>
        </p:sp>
        <p:graphicFrame>
          <p:nvGraphicFramePr>
            <p:cNvPr id="43024" name="Object 31"/>
            <p:cNvGraphicFramePr>
              <a:graphicFrameLocks noChangeAspect="1"/>
            </p:cNvGraphicFramePr>
            <p:nvPr/>
          </p:nvGraphicFramePr>
          <p:xfrm>
            <a:off x="346" y="816"/>
            <a:ext cx="84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622030" imgH="215806" progId="Equation.3">
                    <p:embed/>
                  </p:oleObj>
                </mc:Choice>
                <mc:Fallback>
                  <p:oleObj name="公式" r:id="rId16" imgW="622030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" y="816"/>
                          <a:ext cx="846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350858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0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 autoUpdateAnimBg="0"/>
      <p:bldP spid="1948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900113" y="358775"/>
            <a:ext cx="4213225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>
                <a:solidFill>
                  <a:schemeClr val="tx2"/>
                </a:solidFill>
                <a:latin typeface="Arial Black" pitchFamily="34" charset="0"/>
              </a:rPr>
              <a:t>Phasor idea</a:t>
            </a:r>
          </a:p>
        </p:txBody>
      </p:sp>
      <p:grpSp>
        <p:nvGrpSpPr>
          <p:cNvPr id="44035" name="Group 49"/>
          <p:cNvGrpSpPr>
            <a:grpSpLocks/>
          </p:cNvGrpSpPr>
          <p:nvPr/>
        </p:nvGrpSpPr>
        <p:grpSpPr bwMode="auto">
          <a:xfrm>
            <a:off x="465138" y="1370013"/>
            <a:ext cx="7705725" cy="798512"/>
            <a:chOff x="293" y="799"/>
            <a:chExt cx="4854" cy="503"/>
          </a:xfrm>
        </p:grpSpPr>
        <p:graphicFrame>
          <p:nvGraphicFramePr>
            <p:cNvPr id="4403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6635505"/>
                </p:ext>
              </p:extLst>
            </p:nvPr>
          </p:nvGraphicFramePr>
          <p:xfrm>
            <a:off x="2514" y="799"/>
            <a:ext cx="2633" cy="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93760" imgH="228600" progId="Equation.DSMT4">
                    <p:embed/>
                  </p:oleObj>
                </mc:Choice>
                <mc:Fallback>
                  <p:oleObj name="Equation" r:id="rId2" imgW="11937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799"/>
                          <a:ext cx="2633" cy="5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39" name="Text Box 4"/>
            <p:cNvSpPr txBox="1">
              <a:spLocks noChangeArrowheads="1"/>
            </p:cNvSpPr>
            <p:nvPr/>
          </p:nvSpPr>
          <p:spPr bwMode="auto">
            <a:xfrm>
              <a:off x="293" y="825"/>
              <a:ext cx="2106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0850" indent="-4508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Clr>
                  <a:schemeClr val="tx2"/>
                </a:buClr>
                <a:buSzTx/>
              </a:pPr>
              <a:r>
                <a:rPr lang="en-US" altLang="zh-CN">
                  <a:latin typeface="Arial" charset="0"/>
                </a:rPr>
                <a:t>Euler’s formula:</a:t>
              </a:r>
            </a:p>
          </p:txBody>
        </p:sp>
      </p:grpSp>
      <p:graphicFrame>
        <p:nvGraphicFramePr>
          <p:cNvPr id="1844230" name="Object 6"/>
          <p:cNvGraphicFramePr>
            <a:graphicFrameLocks noChangeAspect="1"/>
          </p:cNvGraphicFramePr>
          <p:nvPr/>
        </p:nvGraphicFramePr>
        <p:xfrm>
          <a:off x="1016000" y="3692525"/>
          <a:ext cx="7283450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3100" imgH="609600" progId="Equation.DSMT4">
                  <p:embed/>
                </p:oleObj>
              </mc:Choice>
              <mc:Fallback>
                <p:oleObj name="Equation" r:id="rId4" imgW="19431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3692525"/>
                        <a:ext cx="7283450" cy="228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633502"/>
              </p:ext>
            </p:extLst>
          </p:nvPr>
        </p:nvGraphicFramePr>
        <p:xfrm>
          <a:off x="1055688" y="2417763"/>
          <a:ext cx="3760787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279360" progId="Equation.DSMT4">
                  <p:embed/>
                </p:oleObj>
              </mc:Choice>
              <mc:Fallback>
                <p:oleObj name="Equation" r:id="rId6" imgW="10029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2417763"/>
                        <a:ext cx="3760787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58365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958850" y="1325563"/>
          <a:ext cx="7281863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400" imgH="279400" progId="Equation.DSMT4">
                  <p:embed/>
                </p:oleObj>
              </mc:Choice>
              <mc:Fallback>
                <p:oleObj name="Equation" r:id="rId2" imgW="23114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1325563"/>
                        <a:ext cx="7281863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27171" name="Group 3"/>
          <p:cNvGrpSpPr>
            <a:grpSpLocks/>
          </p:cNvGrpSpPr>
          <p:nvPr/>
        </p:nvGrpSpPr>
        <p:grpSpPr bwMode="auto">
          <a:xfrm>
            <a:off x="1150938" y="2346325"/>
            <a:ext cx="7289800" cy="1109663"/>
            <a:chOff x="814" y="1568"/>
            <a:chExt cx="4592" cy="699"/>
          </a:xfrm>
        </p:grpSpPr>
        <p:graphicFrame>
          <p:nvGraphicFramePr>
            <p:cNvPr id="45075" name="Object 4"/>
            <p:cNvGraphicFramePr>
              <a:graphicFrameLocks noChangeAspect="1"/>
            </p:cNvGraphicFramePr>
            <p:nvPr/>
          </p:nvGraphicFramePr>
          <p:xfrm>
            <a:off x="4063" y="1568"/>
            <a:ext cx="1343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336" imgH="317362" progId="Equation.DSMT4">
                    <p:embed/>
                  </p:oleObj>
                </mc:Choice>
                <mc:Fallback>
                  <p:oleObj name="Equation" r:id="rId4" imgW="609336" imgH="31736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3" y="1568"/>
                          <a:ext cx="1343" cy="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AutoShape 5"/>
            <p:cNvSpPr>
              <a:spLocks noChangeArrowheads="1"/>
            </p:cNvSpPr>
            <p:nvPr/>
          </p:nvSpPr>
          <p:spPr bwMode="auto">
            <a:xfrm>
              <a:off x="2994" y="1769"/>
              <a:ext cx="907" cy="318"/>
            </a:xfrm>
            <a:prstGeom prst="rightArrow">
              <a:avLst>
                <a:gd name="adj1" fmla="val 50000"/>
                <a:gd name="adj2" fmla="val 71305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77" name="Object 6"/>
            <p:cNvGraphicFramePr>
              <a:graphicFrameLocks noChangeAspect="1"/>
            </p:cNvGraphicFramePr>
            <p:nvPr/>
          </p:nvGraphicFramePr>
          <p:xfrm>
            <a:off x="814" y="1638"/>
            <a:ext cx="2043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26698" imgH="253890" progId="Equation.DSMT4">
                    <p:embed/>
                  </p:oleObj>
                </mc:Choice>
                <mc:Fallback>
                  <p:oleObj name="Equation" r:id="rId6" imgW="92669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" y="1638"/>
                          <a:ext cx="2043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27175" name="Group 7"/>
          <p:cNvGrpSpPr>
            <a:grpSpLocks/>
          </p:cNvGrpSpPr>
          <p:nvPr/>
        </p:nvGrpSpPr>
        <p:grpSpPr bwMode="auto">
          <a:xfrm>
            <a:off x="525463" y="4910138"/>
            <a:ext cx="8266112" cy="1393825"/>
            <a:chOff x="1327" y="3183"/>
            <a:chExt cx="4579" cy="656"/>
          </a:xfrm>
        </p:grpSpPr>
        <p:grpSp>
          <p:nvGrpSpPr>
            <p:cNvPr id="45068" name="Group 8"/>
            <p:cNvGrpSpPr>
              <a:grpSpLocks/>
            </p:cNvGrpSpPr>
            <p:nvPr/>
          </p:nvGrpSpPr>
          <p:grpSpPr bwMode="auto">
            <a:xfrm>
              <a:off x="1327" y="3183"/>
              <a:ext cx="2105" cy="656"/>
              <a:chOff x="1327" y="3183"/>
              <a:chExt cx="2105" cy="656"/>
            </a:xfrm>
          </p:grpSpPr>
          <p:graphicFrame>
            <p:nvGraphicFramePr>
              <p:cNvPr id="45070" name="Object 9"/>
              <p:cNvGraphicFramePr>
                <a:graphicFrameLocks noChangeAspect="1"/>
              </p:cNvGraphicFramePr>
              <p:nvPr/>
            </p:nvGraphicFramePr>
            <p:xfrm>
              <a:off x="1327" y="3183"/>
              <a:ext cx="1786" cy="6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914003" imgH="317362" progId="Equation.DSMT4">
                      <p:embed/>
                    </p:oleObj>
                  </mc:Choice>
                  <mc:Fallback>
                    <p:oleObj name="Equation" r:id="rId8" imgW="914003" imgH="31736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27" y="3183"/>
                            <a:ext cx="1786" cy="6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5071" name="Group 10"/>
              <p:cNvGrpSpPr>
                <a:grpSpLocks/>
              </p:cNvGrpSpPr>
              <p:nvPr/>
            </p:nvGrpSpPr>
            <p:grpSpPr bwMode="auto">
              <a:xfrm>
                <a:off x="3119" y="3318"/>
                <a:ext cx="313" cy="367"/>
                <a:chOff x="2154" y="3380"/>
                <a:chExt cx="303" cy="336"/>
              </a:xfrm>
            </p:grpSpPr>
            <p:sp>
              <p:nvSpPr>
                <p:cNvPr id="45072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2154" y="3380"/>
                  <a:ext cx="138" cy="30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073" name="Line 12"/>
                <p:cNvSpPr>
                  <a:spLocks noChangeShapeType="1"/>
                </p:cNvSpPr>
                <p:nvPr/>
              </p:nvSpPr>
              <p:spPr bwMode="auto">
                <a:xfrm>
                  <a:off x="2155" y="3689"/>
                  <a:ext cx="30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5074" name="Object 13"/>
                <p:cNvGraphicFramePr>
                  <a:graphicFrameLocks noChangeAspect="1"/>
                </p:cNvGraphicFramePr>
                <p:nvPr/>
              </p:nvGraphicFramePr>
              <p:xfrm>
                <a:off x="2245" y="3381"/>
                <a:ext cx="209" cy="33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126835" imgH="202936" progId="Equation.DSMT4">
                        <p:embed/>
                      </p:oleObj>
                    </mc:Choice>
                    <mc:Fallback>
                      <p:oleObj name="Equation" r:id="rId10" imgW="126835" imgH="202936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45" y="3381"/>
                              <a:ext cx="209" cy="33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45069" name="Object 14"/>
            <p:cNvGraphicFramePr>
              <a:graphicFrameLocks noChangeAspect="1"/>
            </p:cNvGraphicFramePr>
            <p:nvPr/>
          </p:nvGraphicFramePr>
          <p:xfrm>
            <a:off x="3500" y="3270"/>
            <a:ext cx="2406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9449" imgH="253890" progId="Equation.DSMT4">
                    <p:embed/>
                  </p:oleObj>
                </mc:Choice>
                <mc:Fallback>
                  <p:oleObj name="Equation" r:id="rId12" imgW="1269449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0" y="3270"/>
                          <a:ext cx="2406" cy="4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27183" name="Group 15"/>
          <p:cNvGrpSpPr>
            <a:grpSpLocks/>
          </p:cNvGrpSpPr>
          <p:nvPr/>
        </p:nvGrpSpPr>
        <p:grpSpPr bwMode="auto">
          <a:xfrm>
            <a:off x="6194425" y="3284538"/>
            <a:ext cx="2376488" cy="1131887"/>
            <a:chOff x="3902" y="2069"/>
            <a:chExt cx="1497" cy="713"/>
          </a:xfrm>
        </p:grpSpPr>
        <p:sp>
          <p:nvSpPr>
            <p:cNvPr id="45066" name="Line 16"/>
            <p:cNvSpPr>
              <a:spLocks noChangeShapeType="1"/>
            </p:cNvSpPr>
            <p:nvPr/>
          </p:nvSpPr>
          <p:spPr bwMode="auto">
            <a:xfrm>
              <a:off x="4628" y="2069"/>
              <a:ext cx="23" cy="45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7" name="Text Box 17"/>
            <p:cNvSpPr txBox="1">
              <a:spLocks noChangeArrowheads="1"/>
            </p:cNvSpPr>
            <p:nvPr/>
          </p:nvSpPr>
          <p:spPr bwMode="auto">
            <a:xfrm>
              <a:off x="3902" y="2455"/>
              <a:ext cx="14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Font typeface="Wingdings" pitchFamily="2" charset="2"/>
                <a:buNone/>
              </a:pPr>
              <a:r>
                <a:rPr lang="en-US" altLang="zh-CN">
                  <a:latin typeface="Verdana" pitchFamily="34" charset="0"/>
                </a:rPr>
                <a:t>Phasor</a:t>
              </a:r>
            </a:p>
          </p:txBody>
        </p:sp>
      </p:grpSp>
      <p:grpSp>
        <p:nvGrpSpPr>
          <p:cNvPr id="1927186" name="Group 18"/>
          <p:cNvGrpSpPr>
            <a:grpSpLocks/>
          </p:cNvGrpSpPr>
          <p:nvPr/>
        </p:nvGrpSpPr>
        <p:grpSpPr bwMode="auto">
          <a:xfrm>
            <a:off x="1622425" y="3284538"/>
            <a:ext cx="2376488" cy="1558925"/>
            <a:chOff x="1022" y="2069"/>
            <a:chExt cx="1497" cy="982"/>
          </a:xfrm>
        </p:grpSpPr>
        <p:sp>
          <p:nvSpPr>
            <p:cNvPr id="45064" name="Line 19"/>
            <p:cNvSpPr>
              <a:spLocks noChangeShapeType="1"/>
            </p:cNvSpPr>
            <p:nvPr/>
          </p:nvSpPr>
          <p:spPr bwMode="auto">
            <a:xfrm>
              <a:off x="1748" y="2069"/>
              <a:ext cx="23" cy="45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5" name="Text Box 20"/>
            <p:cNvSpPr txBox="1">
              <a:spLocks noChangeArrowheads="1"/>
            </p:cNvSpPr>
            <p:nvPr/>
          </p:nvSpPr>
          <p:spPr bwMode="auto">
            <a:xfrm>
              <a:off x="1022" y="2455"/>
              <a:ext cx="1497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Font typeface="Wingdings" pitchFamily="2" charset="2"/>
                <a:buNone/>
              </a:pPr>
              <a:r>
                <a:rPr lang="en-US" altLang="zh-CN">
                  <a:latin typeface="Verdana" pitchFamily="34" charset="0"/>
                </a:rPr>
                <a:t>Sinusoidal Voltage</a:t>
              </a:r>
            </a:p>
          </p:txBody>
        </p:sp>
      </p:grpSp>
      <p:sp>
        <p:nvSpPr>
          <p:cNvPr id="45063" name="Text Box 21"/>
          <p:cNvSpPr txBox="1">
            <a:spLocks noChangeArrowheads="1"/>
          </p:cNvSpPr>
          <p:nvPr/>
        </p:nvSpPr>
        <p:spPr bwMode="auto">
          <a:xfrm>
            <a:off x="935038" y="260350"/>
            <a:ext cx="3240087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>
                <a:solidFill>
                  <a:schemeClr val="tx2"/>
                </a:solidFill>
                <a:latin typeface="Arial Black" pitchFamily="34" charset="0"/>
              </a:rPr>
              <a:t>Phasor idea</a:t>
            </a:r>
          </a:p>
        </p:txBody>
      </p:sp>
    </p:spTree>
    <p:extLst>
      <p:ext uri="{BB962C8B-B14F-4D97-AF65-F5344CB8AC3E}">
        <p14:creationId xmlns:p14="http://schemas.microsoft.com/office/powerpoint/2010/main" val="1387995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2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2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2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2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2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 descr="ale29559_0900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66"/>
          <a:stretch/>
        </p:blipFill>
        <p:spPr bwMode="auto">
          <a:xfrm>
            <a:off x="9525" y="1628799"/>
            <a:ext cx="9126538" cy="391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900113" y="333375"/>
            <a:ext cx="7208837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0850" indent="-450850" algn="l">
              <a:lnSpc>
                <a:spcPct val="120000"/>
              </a:lnSpc>
              <a:buClr>
                <a:schemeClr val="tx2"/>
              </a:buClr>
              <a:buSzTx/>
              <a:buFont typeface="Wingdings" pitchFamily="2" charset="2"/>
              <a:buNone/>
            </a:pPr>
            <a:r>
              <a:rPr lang="en-US" altLang="zh-CN" sz="2800" dirty="0">
                <a:latin typeface="Arial Black" pitchFamily="34" charset="0"/>
              </a:rPr>
              <a:t>Rotating point in the complex plane</a:t>
            </a:r>
          </a:p>
        </p:txBody>
      </p:sp>
    </p:spTree>
    <p:extLst>
      <p:ext uri="{BB962C8B-B14F-4D97-AF65-F5344CB8AC3E}">
        <p14:creationId xmlns:p14="http://schemas.microsoft.com/office/powerpoint/2010/main" val="29600056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5330826" y="1304925"/>
            <a:ext cx="1981200" cy="136842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538900"/>
              </p:ext>
            </p:extLst>
          </p:nvPr>
        </p:nvGraphicFramePr>
        <p:xfrm>
          <a:off x="173038" y="1344612"/>
          <a:ext cx="715486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241200" progId="Equation.DSMT4">
                  <p:embed/>
                </p:oleObj>
              </mc:Choice>
              <mc:Fallback>
                <p:oleObj name="Equation" r:id="rId3" imgW="2806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8" y="1344612"/>
                        <a:ext cx="7154862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280481"/>
              </p:ext>
            </p:extLst>
          </p:nvPr>
        </p:nvGraphicFramePr>
        <p:xfrm>
          <a:off x="697707" y="2064430"/>
          <a:ext cx="662463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05040" imgH="241200" progId="Equation.DSMT4">
                  <p:embed/>
                </p:oleObj>
              </mc:Choice>
              <mc:Fallback>
                <p:oleObj name="Equation" r:id="rId5" imgW="2705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07" y="2064430"/>
                        <a:ext cx="6624637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6" name="Group 6"/>
          <p:cNvGrpSpPr>
            <a:grpSpLocks/>
          </p:cNvGrpSpPr>
          <p:nvPr/>
        </p:nvGrpSpPr>
        <p:grpSpPr bwMode="auto">
          <a:xfrm>
            <a:off x="3157538" y="2498725"/>
            <a:ext cx="3962400" cy="2895600"/>
            <a:chOff x="1680" y="1440"/>
            <a:chExt cx="2496" cy="1824"/>
          </a:xfrm>
        </p:grpSpPr>
        <p:sp>
          <p:nvSpPr>
            <p:cNvPr id="48142" name="Line 7"/>
            <p:cNvSpPr>
              <a:spLocks noChangeShapeType="1"/>
            </p:cNvSpPr>
            <p:nvPr/>
          </p:nvSpPr>
          <p:spPr bwMode="auto">
            <a:xfrm>
              <a:off x="1680" y="3262"/>
              <a:ext cx="249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3" name="Line 8"/>
            <p:cNvSpPr>
              <a:spLocks noChangeShapeType="1"/>
            </p:cNvSpPr>
            <p:nvPr/>
          </p:nvSpPr>
          <p:spPr bwMode="auto">
            <a:xfrm flipV="1">
              <a:off x="1680" y="2613"/>
              <a:ext cx="2080" cy="651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4" name="Text Box 9"/>
            <p:cNvSpPr txBox="1">
              <a:spLocks noChangeArrowheads="1"/>
            </p:cNvSpPr>
            <p:nvPr/>
          </p:nvSpPr>
          <p:spPr bwMode="auto">
            <a:xfrm>
              <a:off x="3049" y="2787"/>
              <a:ext cx="105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chemeClr val="tx2"/>
                  </a:solidFill>
                  <a:latin typeface="Symbol" pitchFamily="18" charset="2"/>
                </a:rPr>
                <a:t>j </a:t>
              </a:r>
              <a:r>
                <a:rPr lang="en-US" altLang="zh-CN" i="1" baseline="-25000">
                  <a:solidFill>
                    <a:schemeClr val="tx2"/>
                  </a:solidFill>
                </a:rPr>
                <a:t>i</a:t>
              </a:r>
            </a:p>
          </p:txBody>
        </p:sp>
        <p:sp>
          <p:nvSpPr>
            <p:cNvPr id="48145" name="Line 10"/>
            <p:cNvSpPr>
              <a:spLocks noChangeShapeType="1"/>
            </p:cNvSpPr>
            <p:nvPr/>
          </p:nvSpPr>
          <p:spPr bwMode="auto">
            <a:xfrm flipV="1">
              <a:off x="1680" y="1796"/>
              <a:ext cx="1456" cy="146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6" name="Text Box 11"/>
            <p:cNvSpPr txBox="1">
              <a:spLocks noChangeArrowheads="1"/>
            </p:cNvSpPr>
            <p:nvPr/>
          </p:nvSpPr>
          <p:spPr bwMode="auto">
            <a:xfrm>
              <a:off x="2070" y="2635"/>
              <a:ext cx="85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latin typeface="Symbol" pitchFamily="18" charset="2"/>
                </a:rPr>
                <a:t>j </a:t>
              </a:r>
              <a:r>
                <a:rPr lang="en-US" altLang="zh-CN" i="1" baseline="-25000"/>
                <a:t>u</a:t>
              </a:r>
            </a:p>
          </p:txBody>
        </p:sp>
        <p:graphicFrame>
          <p:nvGraphicFramePr>
            <p:cNvPr id="48147" name="Object 12"/>
            <p:cNvGraphicFramePr>
              <a:graphicFrameLocks noChangeAspect="1"/>
            </p:cNvGraphicFramePr>
            <p:nvPr/>
          </p:nvGraphicFramePr>
          <p:xfrm>
            <a:off x="2064" y="1440"/>
            <a:ext cx="858" cy="6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95315" imgH="285860" progId="Equation.3">
                    <p:embed/>
                  </p:oleObj>
                </mc:Choice>
                <mc:Fallback>
                  <p:oleObj name="公式" r:id="rId7" imgW="295315" imgH="2858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440"/>
                          <a:ext cx="858" cy="6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8" name="Object 13"/>
            <p:cNvGraphicFramePr>
              <a:graphicFrameLocks noChangeAspect="1"/>
            </p:cNvGraphicFramePr>
            <p:nvPr/>
          </p:nvGraphicFramePr>
          <p:xfrm>
            <a:off x="3812" y="2278"/>
            <a:ext cx="338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04737" imgH="247529" progId="Equation.3">
                    <p:embed/>
                  </p:oleObj>
                </mc:Choice>
                <mc:Fallback>
                  <p:oleObj name="公式" r:id="rId9" imgW="104737" imgH="247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2" y="2278"/>
                          <a:ext cx="338" cy="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9" name="Freeform 14"/>
            <p:cNvSpPr>
              <a:spLocks/>
            </p:cNvSpPr>
            <p:nvPr/>
          </p:nvSpPr>
          <p:spPr bwMode="auto">
            <a:xfrm>
              <a:off x="2859" y="2925"/>
              <a:ext cx="210" cy="339"/>
            </a:xfrm>
            <a:custGeom>
              <a:avLst/>
              <a:gdLst>
                <a:gd name="T0" fmla="*/ 0 w 97"/>
                <a:gd name="T1" fmla="*/ 0 h 200"/>
                <a:gd name="T2" fmla="*/ 414 w 97"/>
                <a:gd name="T3" fmla="*/ 207 h 200"/>
                <a:gd name="T4" fmla="*/ 262 w 97"/>
                <a:gd name="T5" fmla="*/ 575 h 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" h="200">
                  <a:moveTo>
                    <a:pt x="0" y="0"/>
                  </a:moveTo>
                  <a:cubicBezTo>
                    <a:pt x="39" y="19"/>
                    <a:pt x="79" y="39"/>
                    <a:pt x="88" y="72"/>
                  </a:cubicBezTo>
                  <a:cubicBezTo>
                    <a:pt x="97" y="105"/>
                    <a:pt x="61" y="179"/>
                    <a:pt x="56" y="200"/>
                  </a:cubicBez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rgbClr val="6600FF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0" name="Arc 15"/>
            <p:cNvSpPr>
              <a:spLocks/>
            </p:cNvSpPr>
            <p:nvPr/>
          </p:nvSpPr>
          <p:spPr bwMode="auto">
            <a:xfrm>
              <a:off x="2720" y="2925"/>
              <a:ext cx="260" cy="339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5 h 21600"/>
                <a:gd name="T4" fmla="*/ 0 w 21600"/>
                <a:gd name="T5" fmla="*/ 5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1" name="Arc 16"/>
            <p:cNvSpPr>
              <a:spLocks/>
            </p:cNvSpPr>
            <p:nvPr/>
          </p:nvSpPr>
          <p:spPr bwMode="auto">
            <a:xfrm>
              <a:off x="1992" y="2925"/>
              <a:ext cx="225" cy="325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5 h 21600"/>
                <a:gd name="T4" fmla="*/ 0 w 21600"/>
                <a:gd name="T5" fmla="*/ 5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19" name="Group 19"/>
          <p:cNvGrpSpPr>
            <a:grpSpLocks/>
          </p:cNvGrpSpPr>
          <p:nvPr/>
        </p:nvGrpSpPr>
        <p:grpSpPr bwMode="auto">
          <a:xfrm>
            <a:off x="2551113" y="2973388"/>
            <a:ext cx="5527675" cy="3136900"/>
            <a:chOff x="1350" y="1488"/>
            <a:chExt cx="3482" cy="1976"/>
          </a:xfrm>
        </p:grpSpPr>
        <p:sp>
          <p:nvSpPr>
            <p:cNvPr id="48137" name="Line 20"/>
            <p:cNvSpPr>
              <a:spLocks noChangeShapeType="1"/>
            </p:cNvSpPr>
            <p:nvPr/>
          </p:nvSpPr>
          <p:spPr bwMode="auto">
            <a:xfrm>
              <a:off x="1444" y="3030"/>
              <a:ext cx="3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138" name="Line 21"/>
            <p:cNvSpPr>
              <a:spLocks noChangeShapeType="1"/>
            </p:cNvSpPr>
            <p:nvPr/>
          </p:nvSpPr>
          <p:spPr bwMode="auto">
            <a:xfrm flipV="1">
              <a:off x="1732" y="1488"/>
              <a:ext cx="0" cy="19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139" name="Text Box 22"/>
            <p:cNvSpPr txBox="1">
              <a:spLocks noChangeArrowheads="1"/>
            </p:cNvSpPr>
            <p:nvPr/>
          </p:nvSpPr>
          <p:spPr bwMode="auto">
            <a:xfrm>
              <a:off x="1350" y="1488"/>
              <a:ext cx="392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zh-CN" altLang="en-US" sz="1800">
                  <a:latin typeface="Tahoma" pitchFamily="34" charset="0"/>
                </a:rPr>
                <a:t>＋</a:t>
              </a:r>
              <a:r>
                <a:rPr kumimoji="0" lang="en-US" altLang="zh-CN" sz="1800">
                  <a:latin typeface="Tahoma" pitchFamily="34" charset="0"/>
                </a:rPr>
                <a:t>j</a:t>
              </a:r>
            </a:p>
          </p:txBody>
        </p:sp>
        <p:sp>
          <p:nvSpPr>
            <p:cNvPr id="48140" name="Text Box 23"/>
            <p:cNvSpPr txBox="1">
              <a:spLocks noChangeArrowheads="1"/>
            </p:cNvSpPr>
            <p:nvPr/>
          </p:nvSpPr>
          <p:spPr bwMode="auto">
            <a:xfrm>
              <a:off x="4440" y="3060"/>
              <a:ext cx="392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zh-CN" altLang="en-US" sz="1800">
                  <a:latin typeface="Tahoma" pitchFamily="34" charset="0"/>
                </a:rPr>
                <a:t>＋1</a:t>
              </a:r>
            </a:p>
          </p:txBody>
        </p:sp>
        <p:sp>
          <p:nvSpPr>
            <p:cNvPr id="48141" name="Text Box 24"/>
            <p:cNvSpPr txBox="1">
              <a:spLocks noChangeArrowheads="1"/>
            </p:cNvSpPr>
            <p:nvPr/>
          </p:nvSpPr>
          <p:spPr bwMode="auto">
            <a:xfrm>
              <a:off x="1417" y="3060"/>
              <a:ext cx="39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zh-CN" altLang="en-US" sz="1800">
                  <a:latin typeface="Tahoma" pitchFamily="34" charset="0"/>
                </a:rPr>
                <a:t>0</a:t>
              </a:r>
            </a:p>
          </p:txBody>
        </p:sp>
      </p:grpSp>
      <p:sp>
        <p:nvSpPr>
          <p:cNvPr id="25625" name="AutoShape 25"/>
          <p:cNvSpPr>
            <a:spLocks noChangeArrowheads="1"/>
          </p:cNvSpPr>
          <p:nvPr/>
        </p:nvSpPr>
        <p:spPr bwMode="auto">
          <a:xfrm>
            <a:off x="173038" y="3170238"/>
            <a:ext cx="2058987" cy="1733550"/>
          </a:xfrm>
          <a:prstGeom prst="wedgeRoundRectCallout">
            <a:avLst>
              <a:gd name="adj1" fmla="val 94604"/>
              <a:gd name="adj2" fmla="val 5113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2400" b="1" dirty="0">
                <a:solidFill>
                  <a:schemeClr val="tx2"/>
                </a:solidFill>
                <a:latin typeface="Tahoma" pitchFamily="34" charset="0"/>
              </a:rPr>
              <a:t>The axes can always be ignored </a:t>
            </a:r>
            <a:endParaRPr kumimoji="0" lang="zh-CN" altLang="en-US" sz="2400" b="1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48136" name="Text Box 2"/>
          <p:cNvSpPr txBox="1">
            <a:spLocks noChangeArrowheads="1"/>
          </p:cNvSpPr>
          <p:nvPr/>
        </p:nvSpPr>
        <p:spPr bwMode="auto">
          <a:xfrm>
            <a:off x="935038" y="303213"/>
            <a:ext cx="4608512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>
                <a:solidFill>
                  <a:schemeClr val="tx2"/>
                </a:solidFill>
                <a:latin typeface="Arial Black" pitchFamily="34" charset="0"/>
              </a:rPr>
              <a:t>Phasor Diagram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D01801-FC61-5F45-B466-F6830C4D86A0}"/>
              </a:ext>
            </a:extLst>
          </p:cNvPr>
          <p:cNvSpPr txBox="1"/>
          <p:nvPr/>
        </p:nvSpPr>
        <p:spPr>
          <a:xfrm>
            <a:off x="7668344" y="1700809"/>
            <a:ext cx="622300" cy="6445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kumimoji="1" lang="zh-CN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529B08-E840-694C-BC48-59905189F1EF}"/>
              </a:ext>
            </a:extLst>
          </p:cNvPr>
          <p:cNvSpPr txBox="1"/>
          <p:nvPr/>
        </p:nvSpPr>
        <p:spPr>
          <a:xfrm>
            <a:off x="309320" y="5873442"/>
            <a:ext cx="8727175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phasors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permitted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phasor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diagram.</a:t>
            </a:r>
            <a:endParaRPr kumimoji="1"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6013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"/>
                                            </p:cond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25" grpId="0" animBg="1" autoUpdateAnimBg="0"/>
      <p:bldP spid="2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6190" name="Group 46"/>
          <p:cNvGrpSpPr>
            <a:grpSpLocks/>
          </p:cNvGrpSpPr>
          <p:nvPr/>
        </p:nvGrpSpPr>
        <p:grpSpPr bwMode="auto">
          <a:xfrm>
            <a:off x="882650" y="2244725"/>
            <a:ext cx="6746875" cy="949325"/>
            <a:chOff x="1220" y="1137"/>
            <a:chExt cx="4250" cy="598"/>
          </a:xfrm>
        </p:grpSpPr>
        <p:graphicFrame>
          <p:nvGraphicFramePr>
            <p:cNvPr id="50194" name="Object 8"/>
            <p:cNvGraphicFramePr>
              <a:graphicFrameLocks noChangeAspect="1"/>
            </p:cNvGraphicFramePr>
            <p:nvPr/>
          </p:nvGraphicFramePr>
          <p:xfrm>
            <a:off x="3743" y="1137"/>
            <a:ext cx="1727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14003" imgH="317362" progId="Equation.DSMT4">
                    <p:embed/>
                  </p:oleObj>
                </mc:Choice>
                <mc:Fallback>
                  <p:oleObj name="Equation" r:id="rId2" imgW="914003" imgH="31736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3" y="1137"/>
                          <a:ext cx="1727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5" name="AutoShape 9"/>
            <p:cNvSpPr>
              <a:spLocks noChangeArrowheads="1"/>
            </p:cNvSpPr>
            <p:nvPr/>
          </p:nvSpPr>
          <p:spPr bwMode="auto">
            <a:xfrm>
              <a:off x="3074" y="1257"/>
              <a:ext cx="554" cy="359"/>
            </a:xfrm>
            <a:prstGeom prst="rightArrow">
              <a:avLst>
                <a:gd name="adj1" fmla="val 50000"/>
                <a:gd name="adj2" fmla="val 38579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0196" name="Object 10"/>
            <p:cNvGraphicFramePr>
              <a:graphicFrameLocks noChangeAspect="1"/>
            </p:cNvGraphicFramePr>
            <p:nvPr/>
          </p:nvGraphicFramePr>
          <p:xfrm>
            <a:off x="1220" y="1207"/>
            <a:ext cx="1751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26698" imgH="253890" progId="Equation.DSMT4">
                    <p:embed/>
                  </p:oleObj>
                </mc:Choice>
                <mc:Fallback>
                  <p:oleObj name="Equation" r:id="rId4" imgW="92669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0" y="1207"/>
                          <a:ext cx="1751" cy="4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79" name="Text Box 13"/>
          <p:cNvSpPr txBox="1">
            <a:spLocks noChangeArrowheads="1"/>
          </p:cNvSpPr>
          <p:nvPr/>
        </p:nvSpPr>
        <p:spPr bwMode="auto">
          <a:xfrm>
            <a:off x="882650" y="1411288"/>
            <a:ext cx="5905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9263" indent="-449263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lnSpc>
                <a:spcPct val="10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Sinusoid</a:t>
            </a:r>
            <a:r>
              <a:rPr lang="zh-CN" altLang="en-US" dirty="0">
                <a:latin typeface="Verdana" pitchFamily="34" charset="0"/>
              </a:rPr>
              <a:t>        </a:t>
            </a:r>
            <a:r>
              <a:rPr lang="en-US" altLang="zh-CN" dirty="0">
                <a:latin typeface="Verdana" pitchFamily="34" charset="0"/>
              </a:rPr>
              <a:t>Phasor</a:t>
            </a:r>
          </a:p>
        </p:txBody>
      </p:sp>
      <p:sp>
        <p:nvSpPr>
          <p:cNvPr id="50180" name="Text Box 31"/>
          <p:cNvSpPr txBox="1">
            <a:spLocks noChangeArrowheads="1"/>
          </p:cNvSpPr>
          <p:nvPr/>
        </p:nvSpPr>
        <p:spPr bwMode="auto">
          <a:xfrm>
            <a:off x="1008063" y="260350"/>
            <a:ext cx="7056437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>
                <a:solidFill>
                  <a:schemeClr val="tx2"/>
                </a:solidFill>
                <a:latin typeface="Arial Black" pitchFamily="34" charset="0"/>
              </a:rPr>
              <a:t>Phasor Transformation</a:t>
            </a:r>
          </a:p>
        </p:txBody>
      </p:sp>
      <p:sp>
        <p:nvSpPr>
          <p:cNvPr id="50181" name="Text Box 32"/>
          <p:cNvSpPr txBox="1">
            <a:spLocks noChangeArrowheads="1"/>
          </p:cNvSpPr>
          <p:nvPr/>
        </p:nvSpPr>
        <p:spPr bwMode="auto">
          <a:xfrm>
            <a:off x="882650" y="3846513"/>
            <a:ext cx="7181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9263" indent="-449263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lnSpc>
                <a:spcPct val="10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Sinusoid</a:t>
            </a:r>
            <a:r>
              <a:rPr lang="zh-CN" altLang="en-US" dirty="0">
                <a:latin typeface="Verdana" pitchFamily="34" charset="0"/>
              </a:rPr>
              <a:t> </a:t>
            </a:r>
            <a:r>
              <a:rPr lang="en-US" altLang="zh-CN" dirty="0">
                <a:latin typeface="Verdana" pitchFamily="34" charset="0"/>
              </a:rPr>
              <a:t> </a:t>
            </a:r>
            <a:r>
              <a:rPr lang="zh-CN" altLang="en-US" dirty="0">
                <a:latin typeface="Verdana" pitchFamily="34" charset="0"/>
              </a:rPr>
              <a:t>       </a:t>
            </a:r>
            <a:r>
              <a:rPr lang="en-US" altLang="zh-CN" dirty="0">
                <a:latin typeface="Verdana" pitchFamily="34" charset="0"/>
              </a:rPr>
              <a:t>Phasor</a:t>
            </a:r>
          </a:p>
        </p:txBody>
      </p:sp>
      <p:grpSp>
        <p:nvGrpSpPr>
          <p:cNvPr id="1926191" name="Group 47"/>
          <p:cNvGrpSpPr>
            <a:grpSpLocks/>
          </p:cNvGrpSpPr>
          <p:nvPr/>
        </p:nvGrpSpPr>
        <p:grpSpPr bwMode="auto">
          <a:xfrm>
            <a:off x="893763" y="4641850"/>
            <a:ext cx="6715125" cy="949325"/>
            <a:chOff x="874" y="2741"/>
            <a:chExt cx="4230" cy="598"/>
          </a:xfrm>
        </p:grpSpPr>
        <p:graphicFrame>
          <p:nvGraphicFramePr>
            <p:cNvPr id="50191" name="Object 35"/>
            <p:cNvGraphicFramePr>
              <a:graphicFrameLocks noChangeAspect="1"/>
            </p:cNvGraphicFramePr>
            <p:nvPr/>
          </p:nvGraphicFramePr>
          <p:xfrm>
            <a:off x="3377" y="2741"/>
            <a:ext cx="1727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14003" imgH="317362" progId="Equation.DSMT4">
                    <p:embed/>
                  </p:oleObj>
                </mc:Choice>
                <mc:Fallback>
                  <p:oleObj name="Equation" r:id="rId6" imgW="914003" imgH="31736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7" y="2741"/>
                          <a:ext cx="1727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2" name="AutoShape 36"/>
            <p:cNvSpPr>
              <a:spLocks noChangeArrowheads="1"/>
            </p:cNvSpPr>
            <p:nvPr/>
          </p:nvSpPr>
          <p:spPr bwMode="auto">
            <a:xfrm>
              <a:off x="2722" y="2854"/>
              <a:ext cx="600" cy="372"/>
            </a:xfrm>
            <a:prstGeom prst="leftArrow">
              <a:avLst>
                <a:gd name="adj1" fmla="val 50000"/>
                <a:gd name="adj2" fmla="val 40323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0193" name="Object 37"/>
            <p:cNvGraphicFramePr>
              <a:graphicFrameLocks noChangeAspect="1"/>
            </p:cNvGraphicFramePr>
            <p:nvPr/>
          </p:nvGraphicFramePr>
          <p:xfrm>
            <a:off x="874" y="2804"/>
            <a:ext cx="1751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26698" imgH="253890" progId="Equation.DSMT4">
                    <p:embed/>
                  </p:oleObj>
                </mc:Choice>
                <mc:Fallback>
                  <p:oleObj name="Equation" r:id="rId8" imgW="92669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4" y="2804"/>
                          <a:ext cx="1751" cy="4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7596188" y="2293938"/>
            <a:ext cx="547687" cy="717550"/>
            <a:chOff x="7596336" y="2293650"/>
            <a:chExt cx="548239" cy="717456"/>
          </a:xfrm>
        </p:grpSpPr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H="1">
              <a:off x="7596336" y="2293650"/>
              <a:ext cx="257434" cy="717456"/>
            </a:xfrm>
            <a:prstGeom prst="line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 bwMode="auto">
            <a:xfrm flipV="1">
              <a:off x="7604281" y="2996820"/>
              <a:ext cx="540294" cy="793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18" name="Object 13"/>
          <p:cNvGraphicFramePr>
            <a:graphicFrameLocks noChangeAspect="1"/>
          </p:cNvGraphicFramePr>
          <p:nvPr/>
        </p:nvGraphicFramePr>
        <p:xfrm>
          <a:off x="7686675" y="2281238"/>
          <a:ext cx="38893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6835" imgH="202936" progId="Equation.DSMT4">
                  <p:embed/>
                </p:oleObj>
              </mc:Choice>
              <mc:Fallback>
                <p:oleObj name="Equation" r:id="rId9" imgW="126835" imgH="2029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6675" y="2281238"/>
                        <a:ext cx="388938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724775" y="4695825"/>
          <a:ext cx="3905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6835" imgH="202936" progId="Equation.DSMT4">
                  <p:embed/>
                </p:oleObj>
              </mc:Choice>
              <mc:Fallback>
                <p:oleObj name="Equation" r:id="rId9" imgW="126835" imgH="2029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4775" y="4695825"/>
                        <a:ext cx="3905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7610475" y="4694238"/>
            <a:ext cx="541338" cy="723900"/>
            <a:chOff x="7611222" y="4694332"/>
            <a:chExt cx="540406" cy="724545"/>
          </a:xfrm>
        </p:grpSpPr>
        <p:sp>
          <p:nvSpPr>
            <p:cNvPr id="20" name="Line 11"/>
            <p:cNvSpPr>
              <a:spLocks noChangeShapeType="1"/>
            </p:cNvSpPr>
            <p:nvPr/>
          </p:nvSpPr>
          <p:spPr bwMode="auto">
            <a:xfrm flipH="1">
              <a:off x="7649256" y="4694332"/>
              <a:ext cx="256732" cy="718189"/>
            </a:xfrm>
            <a:prstGeom prst="line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 bwMode="auto">
            <a:xfrm flipV="1">
              <a:off x="7611222" y="5412521"/>
              <a:ext cx="540406" cy="63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右箭头 1">
            <a:extLst>
              <a:ext uri="{FF2B5EF4-FFF2-40B4-BE49-F238E27FC236}">
                <a16:creationId xmlns:a16="http://schemas.microsoft.com/office/drawing/2014/main" id="{F4560A68-29CE-2B41-AB7E-2AA148A0387F}"/>
              </a:ext>
            </a:extLst>
          </p:cNvPr>
          <p:cNvSpPr/>
          <p:nvPr/>
        </p:nvSpPr>
        <p:spPr bwMode="auto">
          <a:xfrm>
            <a:off x="3246723" y="1398937"/>
            <a:ext cx="677205" cy="484632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左箭头 6">
            <a:extLst>
              <a:ext uri="{FF2B5EF4-FFF2-40B4-BE49-F238E27FC236}">
                <a16:creationId xmlns:a16="http://schemas.microsoft.com/office/drawing/2014/main" id="{14691A46-C7FF-F249-AA2F-00FD0A5E0304}"/>
              </a:ext>
            </a:extLst>
          </p:cNvPr>
          <p:cNvSpPr/>
          <p:nvPr/>
        </p:nvSpPr>
        <p:spPr bwMode="auto">
          <a:xfrm>
            <a:off x="3313932" y="3872269"/>
            <a:ext cx="746125" cy="484632"/>
          </a:xfrm>
          <a:prstGeom prst="lef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DBF906-0973-8F4A-8313-50E87BA09365}"/>
              </a:ext>
            </a:extLst>
          </p:cNvPr>
          <p:cNvSpPr txBox="1"/>
          <p:nvPr/>
        </p:nvSpPr>
        <p:spPr>
          <a:xfrm>
            <a:off x="7251700" y="3648570"/>
            <a:ext cx="622300" cy="6445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kumimoji="1" lang="zh-CN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1252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2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/>
      <p:bldP spid="7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971550" y="260350"/>
            <a:ext cx="6553200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>
                <a:solidFill>
                  <a:schemeClr val="tx2"/>
                </a:solidFill>
                <a:latin typeface="Arial Black" pitchFamily="34" charset="0"/>
              </a:rPr>
              <a:t>Phasor Transformation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250825" y="1124744"/>
            <a:ext cx="867568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n"/>
            </a:pPr>
            <a:r>
              <a:rPr lang="en-US" altLang="zh-CN" dirty="0">
                <a:latin typeface="Arial" charset="0"/>
              </a:rPr>
              <a:t>A </a:t>
            </a:r>
            <a:r>
              <a:rPr lang="en-US" altLang="zh-CN" dirty="0" err="1">
                <a:latin typeface="Arial" charset="0"/>
              </a:rPr>
              <a:t>phasor</a:t>
            </a:r>
            <a:r>
              <a:rPr lang="en-US" altLang="zh-CN" dirty="0">
                <a:latin typeface="Arial" charset="0"/>
              </a:rPr>
              <a:t> is a complex number that represents the amplitude and phase of a sinusoid;</a:t>
            </a:r>
          </a:p>
          <a:p>
            <a:pPr marL="0" indent="0" algn="l" eaLnBrk="1" hangingPunct="1">
              <a:buClr>
                <a:schemeClr val="tx2"/>
              </a:buClr>
              <a:buSzTx/>
            </a:pPr>
            <a:endParaRPr lang="en-US" altLang="zh-CN" dirty="0">
              <a:latin typeface="Arial" charset="0"/>
            </a:endParaRPr>
          </a:p>
          <a:p>
            <a:pPr algn="l" eaLnBrk="1" hangingPunct="1"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Arial" charset="0"/>
              </a:rPr>
              <a:t>A phasor is NOT equal to a sinusoid;</a:t>
            </a:r>
          </a:p>
          <a:p>
            <a:pPr marL="0" indent="0" algn="l" eaLnBrk="1" hangingPunct="1">
              <a:buClr>
                <a:schemeClr val="tx2"/>
              </a:buClr>
              <a:buSzTx/>
            </a:pPr>
            <a:endParaRPr lang="en-US" altLang="zh-CN" dirty="0">
              <a:latin typeface="Arial" charset="0"/>
            </a:endParaRPr>
          </a:p>
          <a:p>
            <a:pPr algn="l" eaLnBrk="1" hangingPunct="1"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Arial" charset="0"/>
              </a:rPr>
              <a:t>A phasor representation has two elements: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Magnitude and Phase (</a:t>
            </a:r>
            <a:r>
              <a:rPr lang="en-US" altLang="zh-CN" i="1" dirty="0">
                <a:cs typeface="Times New Roman" panose="02020603050405020304" pitchFamily="18" charset="0"/>
              </a:rPr>
              <a:t>w</a:t>
            </a:r>
            <a:r>
              <a:rPr lang="en-US" altLang="zh-CN" dirty="0">
                <a:latin typeface="Arial" charset="0"/>
              </a:rPr>
              <a:t> is suppressed);</a:t>
            </a:r>
          </a:p>
          <a:p>
            <a:pPr marL="0" indent="0" algn="l" eaLnBrk="1" hangingPunct="1">
              <a:buClr>
                <a:schemeClr val="tx2"/>
              </a:buClr>
              <a:buSzTx/>
            </a:pPr>
            <a:endParaRPr lang="en-US" altLang="zh-CN" dirty="0">
              <a:latin typeface="Arial" charset="0"/>
            </a:endParaRPr>
          </a:p>
          <a:p>
            <a:pPr algn="l" eaLnBrk="1" hangingPunct="1"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Arial" charset="0"/>
              </a:rPr>
              <a:t>Phasor transformation transfers the sinusoid from the time domain to the phasor domain (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</a:rPr>
              <a:t>frequency domain)</a:t>
            </a:r>
            <a:r>
              <a:rPr lang="en-US" altLang="zh-CN" dirty="0"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16218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1008063" y="260350"/>
            <a:ext cx="7920037" cy="712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Phasor Transformation</a:t>
            </a:r>
          </a:p>
        </p:txBody>
      </p:sp>
      <p:sp>
        <p:nvSpPr>
          <p:cNvPr id="1929219" name="Text Box 3"/>
          <p:cNvSpPr txBox="1">
            <a:spLocks noChangeArrowheads="1"/>
          </p:cNvSpPr>
          <p:nvPr/>
        </p:nvSpPr>
        <p:spPr bwMode="auto">
          <a:xfrm>
            <a:off x="358775" y="1268413"/>
            <a:ext cx="8351838" cy="394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5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Arial" charset="0"/>
                <a:sym typeface="Symbol" pitchFamily="18" charset="2"/>
              </a:rPr>
              <a:t>Phasor is </a:t>
            </a:r>
            <a:r>
              <a:rPr lang="en-US" altLang="zh-CN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NOT</a:t>
            </a:r>
            <a:r>
              <a:rPr lang="en-US" altLang="zh-CN" dirty="0">
                <a:latin typeface="Arial" charset="0"/>
                <a:sym typeface="Symbol" pitchFamily="18" charset="2"/>
              </a:rPr>
              <a:t> equal to sinusoid.</a:t>
            </a:r>
            <a:endParaRPr lang="en-US" altLang="zh-CN" dirty="0">
              <a:latin typeface="Arial" charset="0"/>
            </a:endParaRPr>
          </a:p>
          <a:p>
            <a:pPr algn="l" eaLnBrk="1" hangingPunct="1">
              <a:lnSpc>
                <a:spcPct val="15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Arial" charset="0"/>
              </a:rPr>
              <a:t>A</a:t>
            </a:r>
            <a:r>
              <a:rPr lang="en-US" altLang="zh-CN" dirty="0">
                <a:latin typeface="Arial" charset="0"/>
                <a:sym typeface="Symbol" pitchFamily="18" charset="2"/>
              </a:rPr>
              <a:t> sinusoidal voltage/current can </a:t>
            </a:r>
            <a:r>
              <a:rPr lang="en-US" altLang="zh-CN" dirty="0">
                <a:solidFill>
                  <a:srgbClr val="FF0000"/>
                </a:solidFill>
                <a:latin typeface="Arial" charset="0"/>
                <a:sym typeface="Symbol" pitchFamily="18" charset="2"/>
              </a:rPr>
              <a:t>NOT</a:t>
            </a:r>
            <a:r>
              <a:rPr lang="en-US" altLang="zh-CN" dirty="0">
                <a:latin typeface="Arial" charset="0"/>
                <a:sym typeface="Symbol" pitchFamily="18" charset="2"/>
              </a:rPr>
              <a:t> be completely determined by a </a:t>
            </a:r>
            <a:r>
              <a:rPr lang="en-US" altLang="zh-CN" dirty="0" err="1">
                <a:latin typeface="Arial" charset="0"/>
                <a:sym typeface="Symbol" pitchFamily="18" charset="2"/>
              </a:rPr>
              <a:t>phasor</a:t>
            </a:r>
            <a:r>
              <a:rPr lang="en-US" altLang="zh-CN" dirty="0">
                <a:latin typeface="Arial" charset="0"/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150000"/>
              </a:lnSpc>
              <a:buClr>
                <a:schemeClr val="tx2"/>
              </a:buClr>
              <a:buFont typeface="Wingdings" pitchFamily="2" charset="2"/>
              <a:buChar char="n"/>
            </a:pPr>
            <a:r>
              <a:rPr lang="en-US" altLang="zh-CN" dirty="0">
                <a:latin typeface="Arial" charset="0"/>
                <a:sym typeface="Symbol" pitchFamily="18" charset="2"/>
              </a:rPr>
              <a:t>A sinusoidal voltage/current is determined by the corresponding phasor and the radian angular frequency </a:t>
            </a:r>
            <a:r>
              <a:rPr lang="en-US" altLang="zh-CN" i="1" dirty="0">
                <a:latin typeface="Arial" charset="0"/>
                <a:sym typeface="Symbol" pitchFamily="18" charset="2"/>
              </a:rPr>
              <a:t>w</a:t>
            </a:r>
            <a:r>
              <a:rPr lang="en-US" altLang="zh-CN" dirty="0">
                <a:latin typeface="Arial" charset="0"/>
                <a:sym typeface="Symbol" pitchFamily="18" charset="2"/>
              </a:rPr>
              <a:t>.</a:t>
            </a:r>
          </a:p>
        </p:txBody>
      </p:sp>
      <p:grpSp>
        <p:nvGrpSpPr>
          <p:cNvPr id="1929224" name="Group 8"/>
          <p:cNvGrpSpPr>
            <a:grpSpLocks/>
          </p:cNvGrpSpPr>
          <p:nvPr/>
        </p:nvGrpSpPr>
        <p:grpSpPr bwMode="auto">
          <a:xfrm>
            <a:off x="431800" y="5349875"/>
            <a:ext cx="8459788" cy="793750"/>
            <a:chOff x="272" y="3357"/>
            <a:chExt cx="5329" cy="500"/>
          </a:xfrm>
        </p:grpSpPr>
        <p:graphicFrame>
          <p:nvGraphicFramePr>
            <p:cNvPr id="54277" name="Object 5"/>
            <p:cNvGraphicFramePr>
              <a:graphicFrameLocks noChangeAspect="1"/>
            </p:cNvGraphicFramePr>
            <p:nvPr/>
          </p:nvGraphicFramePr>
          <p:xfrm>
            <a:off x="272" y="3357"/>
            <a:ext cx="960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09336" imgH="317362" progId="Equation.DSMT4">
                    <p:embed/>
                  </p:oleObj>
                </mc:Choice>
                <mc:Fallback>
                  <p:oleObj name="Equation" r:id="rId2" imgW="609336" imgH="31736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" y="3357"/>
                          <a:ext cx="960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78" name="AutoShape 6"/>
            <p:cNvSpPr>
              <a:spLocks noChangeArrowheads="1"/>
            </p:cNvSpPr>
            <p:nvPr/>
          </p:nvSpPr>
          <p:spPr bwMode="auto">
            <a:xfrm>
              <a:off x="1319" y="3465"/>
              <a:ext cx="537" cy="297"/>
            </a:xfrm>
            <a:prstGeom prst="leftRightArrow">
              <a:avLst>
                <a:gd name="adj1" fmla="val 50000"/>
                <a:gd name="adj2" fmla="val 36162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4279" name="Object 7"/>
            <p:cNvGraphicFramePr>
              <a:graphicFrameLocks noChangeAspect="1"/>
            </p:cNvGraphicFramePr>
            <p:nvPr/>
          </p:nvGraphicFramePr>
          <p:xfrm>
            <a:off x="1902" y="3385"/>
            <a:ext cx="3699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349500" imgH="279400" progId="Equation.DSMT4">
                    <p:embed/>
                  </p:oleObj>
                </mc:Choice>
                <mc:Fallback>
                  <p:oleObj name="Equation" r:id="rId4" imgW="2349500" imgH="279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2" y="3385"/>
                          <a:ext cx="3699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008312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2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2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2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2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223963" y="265113"/>
            <a:ext cx="3024187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Example</a:t>
            </a:r>
          </a:p>
        </p:txBody>
      </p:sp>
      <p:graphicFrame>
        <p:nvGraphicFramePr>
          <p:cNvPr id="48131" name="Object 13"/>
          <p:cNvGraphicFramePr>
            <a:graphicFrameLocks noChangeAspect="1"/>
          </p:cNvGraphicFramePr>
          <p:nvPr/>
        </p:nvGraphicFramePr>
        <p:xfrm>
          <a:off x="354013" y="1376363"/>
          <a:ext cx="47625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500" imgH="279400" progId="Equation.DSMT4">
                  <p:embed/>
                </p:oleObj>
              </mc:Choice>
              <mc:Fallback>
                <p:oleObj name="Equation" r:id="rId3" imgW="1587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1376363"/>
                        <a:ext cx="476250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4480" name="Object 16"/>
          <p:cNvGraphicFramePr>
            <a:graphicFrameLocks noChangeAspect="1"/>
          </p:cNvGraphicFramePr>
          <p:nvPr/>
        </p:nvGraphicFramePr>
        <p:xfrm>
          <a:off x="107950" y="2205038"/>
          <a:ext cx="8882063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90900" imgH="431800" progId="Equation.DSMT4">
                  <p:embed/>
                </p:oleObj>
              </mc:Choice>
              <mc:Fallback>
                <p:oleObj name="Equation" r:id="rId5" imgW="3390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2205038"/>
                        <a:ext cx="8882063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50825" y="3681413"/>
          <a:ext cx="47672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87500" imgH="279400" progId="Equation.DSMT4">
                  <p:embed/>
                </p:oleObj>
              </mc:Choice>
              <mc:Fallback>
                <p:oleObj name="Equation" r:id="rId7" imgW="1587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681413"/>
                        <a:ext cx="476726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7950" y="4581525"/>
          <a:ext cx="8882063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90900" imgH="431800" progId="Equation.DSMT4">
                  <p:embed/>
                </p:oleObj>
              </mc:Choice>
              <mc:Fallback>
                <p:oleObj name="Equation" r:id="rId5" imgW="3390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581525"/>
                        <a:ext cx="8882063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0223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4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150938" y="260350"/>
            <a:ext cx="3313112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Example</a:t>
            </a:r>
          </a:p>
        </p:txBody>
      </p:sp>
      <p:graphicFrame>
        <p:nvGraphicFramePr>
          <p:cNvPr id="53251" name="Object 9"/>
          <p:cNvGraphicFramePr>
            <a:graphicFrameLocks noChangeAspect="1"/>
          </p:cNvGraphicFramePr>
          <p:nvPr/>
        </p:nvGraphicFramePr>
        <p:xfrm>
          <a:off x="250825" y="1422400"/>
          <a:ext cx="448786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600" imgH="279400" progId="Equation.DSMT4">
                  <p:embed/>
                </p:oleObj>
              </mc:Choice>
              <mc:Fallback>
                <p:oleObj name="Equation" r:id="rId2" imgW="16256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422400"/>
                        <a:ext cx="4487863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95288" y="2889250"/>
          <a:ext cx="7569200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500" imgH="1041400" progId="Equation.DSMT4">
                  <p:embed/>
                </p:oleObj>
              </mc:Choice>
              <mc:Fallback>
                <p:oleObj name="Equation" r:id="rId4" imgW="3238500" imgH="1041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889250"/>
                        <a:ext cx="7569200" cy="270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97116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116013" y="260350"/>
            <a:ext cx="3492500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Example</a:t>
            </a:r>
          </a:p>
        </p:txBody>
      </p:sp>
      <p:graphicFrame>
        <p:nvGraphicFramePr>
          <p:cNvPr id="1858583" name="Object 23"/>
          <p:cNvGraphicFramePr>
            <a:graphicFrameLocks noChangeAspect="1"/>
          </p:cNvGraphicFramePr>
          <p:nvPr/>
        </p:nvGraphicFramePr>
        <p:xfrm>
          <a:off x="358775" y="3716338"/>
          <a:ext cx="7348538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7000" imgH="685800" progId="Equation.DSMT4">
                  <p:embed/>
                </p:oleObj>
              </mc:Choice>
              <mc:Fallback>
                <p:oleObj name="Equation" r:id="rId2" imgW="2667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3716338"/>
                        <a:ext cx="7348538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17"/>
          <p:cNvGraphicFramePr>
            <a:graphicFrameLocks noChangeAspect="1"/>
          </p:cNvGraphicFramePr>
          <p:nvPr/>
        </p:nvGraphicFramePr>
        <p:xfrm>
          <a:off x="287338" y="1384300"/>
          <a:ext cx="577056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312" imgH="304668" progId="Equation.DSMT4">
                  <p:embed/>
                </p:oleObj>
              </mc:Choice>
              <mc:Fallback>
                <p:oleObj name="Equation" r:id="rId4" imgW="1815312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1384300"/>
                        <a:ext cx="577056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8582" name="Object 22"/>
          <p:cNvGraphicFramePr>
            <a:graphicFrameLocks noChangeAspect="1"/>
          </p:cNvGraphicFramePr>
          <p:nvPr/>
        </p:nvGraphicFramePr>
        <p:xfrm>
          <a:off x="306388" y="2538413"/>
          <a:ext cx="7256462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254000" progId="Equation.DSMT4">
                  <p:embed/>
                </p:oleObj>
              </mc:Choice>
              <mc:Fallback>
                <p:oleObj name="Equation" r:id="rId6" imgW="22860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2538413"/>
                        <a:ext cx="7256462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7461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8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5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1150938" y="260350"/>
            <a:ext cx="7308850" cy="754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Basic Operations of </a:t>
            </a:r>
            <a:r>
              <a:rPr lang="en-US" altLang="zh-CN" sz="3600" dirty="0" err="1">
                <a:latin typeface="Arial Black" pitchFamily="34" charset="0"/>
              </a:rPr>
              <a:t>Phasors</a:t>
            </a:r>
            <a:endParaRPr lang="en-US" altLang="zh-CN" sz="3600" dirty="0">
              <a:latin typeface="Arial Black" pitchFamily="34" charset="0"/>
            </a:endParaRPr>
          </a:p>
        </p:txBody>
      </p:sp>
      <p:sp>
        <p:nvSpPr>
          <p:cNvPr id="54275" name="Text Box 40"/>
          <p:cNvSpPr txBox="1">
            <a:spLocks noChangeArrowheads="1"/>
          </p:cNvSpPr>
          <p:nvPr/>
        </p:nvSpPr>
        <p:spPr bwMode="auto">
          <a:xfrm>
            <a:off x="1403350" y="1538288"/>
            <a:ext cx="5616575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  <a:defRPr/>
            </a:pPr>
            <a:r>
              <a:rPr lang="en-US" altLang="zh-CN" dirty="0">
                <a:latin typeface="Tahoma" pitchFamily="34" charset="0"/>
              </a:rPr>
              <a:t>Differential Operation</a:t>
            </a:r>
          </a:p>
          <a:p>
            <a:pPr marL="0" indent="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None/>
              <a:defRPr/>
            </a:pPr>
            <a:endParaRPr lang="en-US" altLang="zh-CN" dirty="0">
              <a:latin typeface="Tahoma" pitchFamily="34" charset="0"/>
            </a:endParaRPr>
          </a:p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  <a:defRPr/>
            </a:pPr>
            <a:r>
              <a:rPr lang="en-US" altLang="zh-CN" dirty="0">
                <a:latin typeface="Tahoma" pitchFamily="34" charset="0"/>
              </a:rPr>
              <a:t>Integral Operation</a:t>
            </a:r>
          </a:p>
        </p:txBody>
      </p:sp>
    </p:spTree>
    <p:extLst>
      <p:ext uri="{BB962C8B-B14F-4D97-AF65-F5344CB8AC3E}">
        <p14:creationId xmlns:p14="http://schemas.microsoft.com/office/powerpoint/2010/main" val="252322019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755650" y="260350"/>
            <a:ext cx="6084888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Differential Operation</a:t>
            </a:r>
          </a:p>
        </p:txBody>
      </p:sp>
      <p:grpSp>
        <p:nvGrpSpPr>
          <p:cNvPr id="58371" name="Group 26"/>
          <p:cNvGrpSpPr>
            <a:grpSpLocks/>
          </p:cNvGrpSpPr>
          <p:nvPr/>
        </p:nvGrpSpPr>
        <p:grpSpPr bwMode="auto">
          <a:xfrm>
            <a:off x="1053233" y="1333903"/>
            <a:ext cx="5603875" cy="889000"/>
            <a:chOff x="635" y="1026"/>
            <a:chExt cx="3530" cy="560"/>
          </a:xfrm>
        </p:grpSpPr>
        <p:graphicFrame>
          <p:nvGraphicFramePr>
            <p:cNvPr id="58377" name="Object 27"/>
            <p:cNvGraphicFramePr>
              <a:graphicFrameLocks noChangeAspect="1"/>
            </p:cNvGraphicFramePr>
            <p:nvPr/>
          </p:nvGraphicFramePr>
          <p:xfrm>
            <a:off x="1211" y="1026"/>
            <a:ext cx="2954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33500" imgH="254000" progId="Equation.DSMT4">
                    <p:embed/>
                  </p:oleObj>
                </mc:Choice>
                <mc:Fallback>
                  <p:oleObj name="Equation" r:id="rId2" imgW="13335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1" y="1026"/>
                          <a:ext cx="2954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78" name="Text Box 28"/>
            <p:cNvSpPr txBox="1">
              <a:spLocks noChangeArrowheads="1"/>
            </p:cNvSpPr>
            <p:nvPr/>
          </p:nvSpPr>
          <p:spPr bwMode="auto">
            <a:xfrm>
              <a:off x="635" y="1090"/>
              <a:ext cx="333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>
                  <a:latin typeface="Verdana" pitchFamily="34" charset="0"/>
                </a:rPr>
                <a:t>If</a:t>
              </a:r>
            </a:p>
          </p:txBody>
        </p:sp>
      </p:grpSp>
      <p:grpSp>
        <p:nvGrpSpPr>
          <p:cNvPr id="58372" name="Group 29"/>
          <p:cNvGrpSpPr>
            <a:grpSpLocks/>
          </p:cNvGrpSpPr>
          <p:nvPr/>
        </p:nvGrpSpPr>
        <p:grpSpPr bwMode="auto">
          <a:xfrm>
            <a:off x="1053233" y="3812114"/>
            <a:ext cx="5178425" cy="1468438"/>
            <a:chOff x="635" y="1960"/>
            <a:chExt cx="3262" cy="925"/>
          </a:xfrm>
        </p:grpSpPr>
        <p:graphicFrame>
          <p:nvGraphicFramePr>
            <p:cNvPr id="58375" name="Object 30"/>
            <p:cNvGraphicFramePr>
              <a:graphicFrameLocks noChangeAspect="1"/>
            </p:cNvGraphicFramePr>
            <p:nvPr/>
          </p:nvGraphicFramePr>
          <p:xfrm>
            <a:off x="1815" y="1960"/>
            <a:ext cx="2082" cy="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39800" imgH="419100" progId="Equation.DSMT4">
                    <p:embed/>
                  </p:oleObj>
                </mc:Choice>
                <mc:Fallback>
                  <p:oleObj name="Equation" r:id="rId4" imgW="9398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5" y="1960"/>
                          <a:ext cx="2082" cy="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76" name="Text Box 31"/>
            <p:cNvSpPr txBox="1">
              <a:spLocks noChangeArrowheads="1"/>
            </p:cNvSpPr>
            <p:nvPr/>
          </p:nvSpPr>
          <p:spPr bwMode="auto">
            <a:xfrm>
              <a:off x="635" y="2205"/>
              <a:ext cx="738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>
                  <a:latin typeface="Verdana" pitchFamily="34" charset="0"/>
                </a:rPr>
                <a:t>Then</a:t>
              </a:r>
            </a:p>
          </p:txBody>
        </p:sp>
      </p:grpSp>
      <p:sp>
        <p:nvSpPr>
          <p:cNvPr id="58373" name="TextBox 1"/>
          <p:cNvSpPr txBox="1">
            <a:spLocks noChangeArrowheads="1"/>
          </p:cNvSpPr>
          <p:nvPr/>
        </p:nvSpPr>
        <p:spPr bwMode="auto">
          <a:xfrm>
            <a:off x="1628775" y="5350628"/>
            <a:ext cx="29559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(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Time domain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8374" name="TextBox 9"/>
          <p:cNvSpPr txBox="1">
            <a:spLocks noChangeArrowheads="1"/>
          </p:cNvSpPr>
          <p:nvPr/>
        </p:nvSpPr>
        <p:spPr bwMode="auto">
          <a:xfrm>
            <a:off x="4983089" y="5330422"/>
            <a:ext cx="334803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dirty="0"/>
              <a:t>(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Phasor domain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52671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/>
      <p:bldP spid="5837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755650" y="260350"/>
            <a:ext cx="2771775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Proof:</a:t>
            </a:r>
          </a:p>
        </p:txBody>
      </p:sp>
      <p:graphicFrame>
        <p:nvGraphicFramePr>
          <p:cNvPr id="59395" name="Object 7"/>
          <p:cNvGraphicFramePr>
            <a:graphicFrameLocks noChangeAspect="1"/>
          </p:cNvGraphicFramePr>
          <p:nvPr/>
        </p:nvGraphicFramePr>
        <p:xfrm>
          <a:off x="160338" y="1046163"/>
          <a:ext cx="8551862" cy="517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1800" imgH="1803400" progId="Equation.DSMT4">
                  <p:embed/>
                </p:oleObj>
              </mc:Choice>
              <mc:Fallback>
                <p:oleObj name="Equation" r:id="rId2" imgW="2971800" imgH="180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8" y="1046163"/>
                        <a:ext cx="8551862" cy="517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79304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12"/>
          <p:cNvSpPr txBox="1">
            <a:spLocks noChangeArrowheads="1"/>
          </p:cNvSpPr>
          <p:nvPr/>
        </p:nvSpPr>
        <p:spPr bwMode="auto">
          <a:xfrm>
            <a:off x="1150938" y="260350"/>
            <a:ext cx="48260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Integral Operation</a:t>
            </a:r>
          </a:p>
        </p:txBody>
      </p:sp>
      <p:grpSp>
        <p:nvGrpSpPr>
          <p:cNvPr id="60419" name="Group 16"/>
          <p:cNvGrpSpPr>
            <a:grpSpLocks/>
          </p:cNvGrpSpPr>
          <p:nvPr/>
        </p:nvGrpSpPr>
        <p:grpSpPr bwMode="auto">
          <a:xfrm>
            <a:off x="1042988" y="1400175"/>
            <a:ext cx="5605462" cy="889000"/>
            <a:chOff x="635" y="1026"/>
            <a:chExt cx="3531" cy="560"/>
          </a:xfrm>
        </p:grpSpPr>
        <p:graphicFrame>
          <p:nvGraphicFramePr>
            <p:cNvPr id="60425" name="Object 17"/>
            <p:cNvGraphicFramePr>
              <a:graphicFrameLocks noChangeAspect="1"/>
            </p:cNvGraphicFramePr>
            <p:nvPr/>
          </p:nvGraphicFramePr>
          <p:xfrm>
            <a:off x="1211" y="1026"/>
            <a:ext cx="2955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33500" imgH="254000" progId="Equation.DSMT4">
                    <p:embed/>
                  </p:oleObj>
                </mc:Choice>
                <mc:Fallback>
                  <p:oleObj name="Equation" r:id="rId2" imgW="13335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1" y="1026"/>
                          <a:ext cx="2955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6" name="Text Box 18"/>
            <p:cNvSpPr txBox="1">
              <a:spLocks noChangeArrowheads="1"/>
            </p:cNvSpPr>
            <p:nvPr/>
          </p:nvSpPr>
          <p:spPr bwMode="auto">
            <a:xfrm>
              <a:off x="635" y="1090"/>
              <a:ext cx="333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>
                  <a:latin typeface="Verdana" pitchFamily="34" charset="0"/>
                </a:rPr>
                <a:t>If</a:t>
              </a:r>
            </a:p>
          </p:txBody>
        </p:sp>
      </p:grpSp>
      <p:grpSp>
        <p:nvGrpSpPr>
          <p:cNvPr id="60420" name="Group 19"/>
          <p:cNvGrpSpPr>
            <a:grpSpLocks/>
          </p:cNvGrpSpPr>
          <p:nvPr/>
        </p:nvGrpSpPr>
        <p:grpSpPr bwMode="auto">
          <a:xfrm>
            <a:off x="893763" y="3678237"/>
            <a:ext cx="5083175" cy="1779588"/>
            <a:chOff x="635" y="1959"/>
            <a:chExt cx="3202" cy="1121"/>
          </a:xfrm>
        </p:grpSpPr>
        <p:graphicFrame>
          <p:nvGraphicFramePr>
            <p:cNvPr id="60423" name="Object 20"/>
            <p:cNvGraphicFramePr>
              <a:graphicFrameLocks noChangeAspect="1"/>
            </p:cNvGraphicFramePr>
            <p:nvPr/>
          </p:nvGraphicFramePr>
          <p:xfrm>
            <a:off x="1671" y="1959"/>
            <a:ext cx="2166" cy="1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77900" imgH="508000" progId="Equation.DSMT4">
                    <p:embed/>
                  </p:oleObj>
                </mc:Choice>
                <mc:Fallback>
                  <p:oleObj name="Equation" r:id="rId4" imgW="977900" imgH="508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1" y="1959"/>
                          <a:ext cx="2166" cy="1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4" name="Text Box 21"/>
            <p:cNvSpPr txBox="1">
              <a:spLocks noChangeArrowheads="1"/>
            </p:cNvSpPr>
            <p:nvPr/>
          </p:nvSpPr>
          <p:spPr bwMode="auto">
            <a:xfrm>
              <a:off x="635" y="2205"/>
              <a:ext cx="738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dirty="0">
                  <a:latin typeface="Verdana" pitchFamily="34" charset="0"/>
                </a:rPr>
                <a:t>Then</a:t>
              </a:r>
            </a:p>
          </p:txBody>
        </p:sp>
      </p:grpSp>
      <p:sp>
        <p:nvSpPr>
          <p:cNvPr id="60421" name="TextBox 8"/>
          <p:cNvSpPr txBox="1">
            <a:spLocks noChangeArrowheads="1"/>
          </p:cNvSpPr>
          <p:nvPr/>
        </p:nvSpPr>
        <p:spPr bwMode="auto">
          <a:xfrm>
            <a:off x="1646408" y="5406568"/>
            <a:ext cx="29559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(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Time domain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0422" name="TextBox 9"/>
          <p:cNvSpPr txBox="1">
            <a:spLocks noChangeArrowheads="1"/>
          </p:cNvSpPr>
          <p:nvPr/>
        </p:nvSpPr>
        <p:spPr bwMode="auto">
          <a:xfrm>
            <a:off x="5148064" y="5372397"/>
            <a:ext cx="334803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dirty="0"/>
              <a:t>(</a:t>
            </a:r>
            <a:r>
              <a:rPr lang="en-US" altLang="zh-CN" sz="2400" dirty="0">
                <a:solidFill>
                  <a:srgbClr val="FF0000"/>
                </a:solidFill>
                <a:latin typeface="Verdana" pitchFamily="34" charset="0"/>
              </a:rPr>
              <a:t>Phasor domain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9166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/>
      <p:bldP spid="604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6"/>
          <p:cNvGraphicFramePr>
            <a:graphicFrameLocks noChangeAspect="1"/>
          </p:cNvGraphicFramePr>
          <p:nvPr/>
        </p:nvGraphicFramePr>
        <p:xfrm>
          <a:off x="269875" y="1449388"/>
          <a:ext cx="8712200" cy="467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98800" imgH="1574800" progId="Equation.DSMT4">
                  <p:embed/>
                </p:oleObj>
              </mc:Choice>
              <mc:Fallback>
                <p:oleObj name="Equation" r:id="rId2" imgW="3098800" imgH="157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" y="1449388"/>
                        <a:ext cx="8712200" cy="467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3" name="Text Box 13"/>
          <p:cNvSpPr txBox="1">
            <a:spLocks noChangeArrowheads="1"/>
          </p:cNvSpPr>
          <p:nvPr/>
        </p:nvSpPr>
        <p:spPr bwMode="auto">
          <a:xfrm>
            <a:off x="1150938" y="260350"/>
            <a:ext cx="3457575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Proof:</a:t>
            </a:r>
          </a:p>
        </p:txBody>
      </p:sp>
    </p:spTree>
    <p:extLst>
      <p:ext uri="{BB962C8B-B14F-4D97-AF65-F5344CB8AC3E}">
        <p14:creationId xmlns:p14="http://schemas.microsoft.com/office/powerpoint/2010/main" val="12981177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DCB17EB-562B-7C40-AC35-0CFCDC502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12776"/>
            <a:ext cx="7560840" cy="145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2499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BF64B92-7912-DB47-812A-0B6F445C7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49" y="332656"/>
            <a:ext cx="7713165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9004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863600" y="28575"/>
            <a:ext cx="7380288" cy="112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>
                <a:latin typeface="Arial Black" pitchFamily="34" charset="0"/>
              </a:rPr>
              <a:t>9.4 </a:t>
            </a:r>
            <a:r>
              <a:rPr lang="en-US" altLang="zh-CN" dirty="0" err="1">
                <a:latin typeface="Arial Black" pitchFamily="34" charset="0"/>
              </a:rPr>
              <a:t>Phasor</a:t>
            </a:r>
            <a:r>
              <a:rPr lang="en-US" altLang="zh-CN" dirty="0">
                <a:latin typeface="Arial Black" pitchFamily="34" charset="0"/>
              </a:rPr>
              <a:t> relationships for circuit elements</a:t>
            </a:r>
          </a:p>
        </p:txBody>
      </p:sp>
      <p:sp>
        <p:nvSpPr>
          <p:cNvPr id="62467" name="Text Box 28"/>
          <p:cNvSpPr txBox="1">
            <a:spLocks noChangeArrowheads="1"/>
          </p:cNvSpPr>
          <p:nvPr/>
        </p:nvSpPr>
        <p:spPr bwMode="auto">
          <a:xfrm>
            <a:off x="876300" y="1736725"/>
            <a:ext cx="7669087" cy="2548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lnSpc>
                <a:spcPct val="19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VCR of Resistor in </a:t>
            </a:r>
            <a:r>
              <a:rPr lang="en-US" altLang="zh-CN" dirty="0" err="1">
                <a:latin typeface="Verdana" pitchFamily="34" charset="0"/>
              </a:rPr>
              <a:t>Phasor</a:t>
            </a:r>
            <a:r>
              <a:rPr lang="en-US" altLang="zh-CN" dirty="0">
                <a:latin typeface="Verdana" pitchFamily="34" charset="0"/>
              </a:rPr>
              <a:t> domain</a:t>
            </a:r>
          </a:p>
          <a:p>
            <a:pPr marL="457200" indent="-457200" algn="l" eaLnBrk="1" hangingPunct="1">
              <a:lnSpc>
                <a:spcPct val="19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VCR of Inductor in </a:t>
            </a:r>
            <a:r>
              <a:rPr lang="en-US" altLang="zh-CN" dirty="0" err="1">
                <a:latin typeface="Verdana" pitchFamily="34" charset="0"/>
              </a:rPr>
              <a:t>Phasor</a:t>
            </a:r>
            <a:r>
              <a:rPr lang="en-US" altLang="zh-CN" dirty="0">
                <a:latin typeface="Verdana" pitchFamily="34" charset="0"/>
              </a:rPr>
              <a:t> domain</a:t>
            </a:r>
          </a:p>
          <a:p>
            <a:pPr marL="457200" indent="-457200" algn="l" eaLnBrk="1" hangingPunct="1">
              <a:lnSpc>
                <a:spcPct val="19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VCR of Capacitor in </a:t>
            </a:r>
            <a:r>
              <a:rPr lang="en-US" altLang="zh-CN" dirty="0" err="1">
                <a:latin typeface="Verdana" pitchFamily="34" charset="0"/>
              </a:rPr>
              <a:t>Phasor</a:t>
            </a:r>
            <a:r>
              <a:rPr lang="en-US" altLang="zh-CN" dirty="0">
                <a:latin typeface="Verdana" pitchFamily="34" charset="0"/>
              </a:rPr>
              <a:t> domain</a:t>
            </a:r>
          </a:p>
        </p:txBody>
      </p:sp>
    </p:spTree>
    <p:extLst>
      <p:ext uri="{BB962C8B-B14F-4D97-AF65-F5344CB8AC3E}">
        <p14:creationId xmlns:p14="http://schemas.microsoft.com/office/powerpoint/2010/main" val="203161804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863600" y="260350"/>
            <a:ext cx="77041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VCR of Resistor in Phasor domain</a:t>
            </a:r>
          </a:p>
        </p:txBody>
      </p:sp>
      <p:grpSp>
        <p:nvGrpSpPr>
          <p:cNvPr id="63491" name="Group 3"/>
          <p:cNvGrpSpPr>
            <a:grpSpLocks/>
          </p:cNvGrpSpPr>
          <p:nvPr/>
        </p:nvGrpSpPr>
        <p:grpSpPr bwMode="auto">
          <a:xfrm>
            <a:off x="719138" y="1152525"/>
            <a:ext cx="7451725" cy="1555750"/>
            <a:chOff x="453" y="726"/>
            <a:chExt cx="4694" cy="980"/>
          </a:xfrm>
        </p:grpSpPr>
        <p:graphicFrame>
          <p:nvGraphicFramePr>
            <p:cNvPr id="63494" name="Object 4"/>
            <p:cNvGraphicFramePr>
              <a:graphicFrameLocks noChangeAspect="1"/>
            </p:cNvGraphicFramePr>
            <p:nvPr/>
          </p:nvGraphicFramePr>
          <p:xfrm>
            <a:off x="3106" y="726"/>
            <a:ext cx="2041" cy="9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233221" imgH="592836" progId="Visio.Drawing.11">
                    <p:embed/>
                  </p:oleObj>
                </mc:Choice>
                <mc:Fallback>
                  <p:oleObj name="Visio" r:id="rId2" imgW="1233221" imgH="592836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6" y="726"/>
                          <a:ext cx="2041" cy="9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495" name="Object 5"/>
            <p:cNvGraphicFramePr>
              <a:graphicFrameLocks noChangeAspect="1"/>
            </p:cNvGraphicFramePr>
            <p:nvPr/>
          </p:nvGraphicFramePr>
          <p:xfrm>
            <a:off x="453" y="980"/>
            <a:ext cx="2448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95400" imgH="254000" progId="Equation.DSMT4">
                    <p:embed/>
                  </p:oleObj>
                </mc:Choice>
                <mc:Fallback>
                  <p:oleObj name="Equation" r:id="rId4" imgW="12954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980"/>
                          <a:ext cx="2448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39462" name="Object 6"/>
          <p:cNvGraphicFramePr>
            <a:graphicFrameLocks noChangeAspect="1"/>
          </p:cNvGraphicFramePr>
          <p:nvPr/>
        </p:nvGraphicFramePr>
        <p:xfrm>
          <a:off x="660400" y="2763838"/>
          <a:ext cx="7607300" cy="213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1100" imgH="685800" progId="Equation.DSMT4">
                  <p:embed/>
                </p:oleObj>
              </mc:Choice>
              <mc:Fallback>
                <p:oleObj name="Equation" r:id="rId6" imgW="24511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2763838"/>
                        <a:ext cx="7607300" cy="213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15816" y="5121188"/>
            <a:ext cx="2070267" cy="870110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  <a:ln w="63500">
            <a:solidFill>
              <a:srgbClr val="FF3300"/>
            </a:solidFill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宋体" pitchFamily="2" charset="-122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29869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8"/>
          <p:cNvGraphicFramePr>
            <a:graphicFrameLocks noChangeAspect="1"/>
          </p:cNvGraphicFramePr>
          <p:nvPr/>
        </p:nvGraphicFramePr>
        <p:xfrm>
          <a:off x="2195513" y="1160463"/>
          <a:ext cx="4141787" cy="235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299765" imgH="719373" progId="Visio.Drawing.11">
                  <p:embed/>
                </p:oleObj>
              </mc:Choice>
              <mc:Fallback>
                <p:oleObj name="Visio" r:id="rId2" imgW="1299765" imgH="71937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160463"/>
                        <a:ext cx="4141787" cy="235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5" name="Text Box 18"/>
          <p:cNvSpPr txBox="1">
            <a:spLocks noChangeArrowheads="1"/>
          </p:cNvSpPr>
          <p:nvPr/>
        </p:nvSpPr>
        <p:spPr bwMode="auto">
          <a:xfrm>
            <a:off x="863600" y="260350"/>
            <a:ext cx="77041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VCR of Resistor in Phasor domain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24128" y="3717032"/>
            <a:ext cx="2070267" cy="87011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 w="63500">
            <a:solidFill>
              <a:srgbClr val="FF3300"/>
            </a:solidFill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宋体" pitchFamily="2" charset="-122"/>
              </a:rPr>
              <a:t> 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39750" y="2924175"/>
          <a:ext cx="3313113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1171527" imgH="922007" progId="Word.Picture.8">
                  <p:embed/>
                </p:oleObj>
              </mc:Choice>
              <mc:Fallback>
                <p:oleObj name="Picture" r:id="rId5" imgW="1171527" imgH="922007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924175"/>
                        <a:ext cx="3313113" cy="275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96229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258763" y="1342135"/>
            <a:ext cx="678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buFont typeface="Wingdings" pitchFamily="2" charset="2"/>
              <a:buNone/>
            </a:pPr>
            <a:r>
              <a:rPr lang="en-US" altLang="zh-CN" sz="3200" dirty="0">
                <a:latin typeface="Arial Black" pitchFamily="34" charset="0"/>
              </a:rPr>
              <a:t>Instantaneous power</a:t>
            </a:r>
            <a:endParaRPr lang="zh-CN" altLang="en-US" dirty="0"/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258763" y="3176588"/>
            <a:ext cx="3792537" cy="78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Average power</a:t>
            </a:r>
            <a:endParaRPr lang="zh-CN" altLang="en-US"/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241300" y="3959225"/>
          <a:ext cx="3344863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600" imgH="381000" progId="Equation.DSMT4">
                  <p:embed/>
                </p:oleObj>
              </mc:Choice>
              <mc:Fallback>
                <p:oleObj name="Equation" r:id="rId3" imgW="1244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3959225"/>
                        <a:ext cx="3344863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358775" y="5445125"/>
          <a:ext cx="37449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07532" imgH="215806" progId="Equation.DSMT4">
                  <p:embed/>
                </p:oleObj>
              </mc:Choice>
              <mc:Fallback>
                <p:oleObj name="Equation" r:id="rId5" imgW="130753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5445125"/>
                        <a:ext cx="374491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4319588" y="3033713"/>
          <a:ext cx="4500562" cy="305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7" imgW="2724912" imgH="1848612" progId="Word.Picture.8">
                  <p:embed/>
                </p:oleObj>
              </mc:Choice>
              <mc:Fallback>
                <p:oleObj name="Picture" r:id="rId7" imgW="2724912" imgH="1848612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3033713"/>
                        <a:ext cx="4500562" cy="305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231775" y="1916113"/>
          <a:ext cx="84804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44900" imgH="266700" progId="Equation.DSMT4">
                  <p:embed/>
                </p:oleObj>
              </mc:Choice>
              <mc:Fallback>
                <p:oleObj name="Equation" r:id="rId9" imgW="3644900" imgH="266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1916113"/>
                        <a:ext cx="848042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078140"/>
              </p:ext>
            </p:extLst>
          </p:nvPr>
        </p:nvGraphicFramePr>
        <p:xfrm>
          <a:off x="1166813" y="2528888"/>
          <a:ext cx="4665662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01720" imgH="215640" progId="Equation.DSMT4">
                  <p:embed/>
                </p:oleObj>
              </mc:Choice>
              <mc:Fallback>
                <p:oleObj name="Equation" r:id="rId11" imgW="170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2528888"/>
                        <a:ext cx="4665662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5940425" y="2528888"/>
          <a:ext cx="64452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41091" imgH="177646" progId="Equation.3">
                  <p:embed/>
                </p:oleObj>
              </mc:Choice>
              <mc:Fallback>
                <p:oleObj name="公式" r:id="rId13" imgW="241091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528888"/>
                        <a:ext cx="64452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20229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935038" y="260350"/>
            <a:ext cx="79930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200" dirty="0">
                <a:latin typeface="Arial Black" pitchFamily="34" charset="0"/>
              </a:rPr>
              <a:t>VCR of Inductor in Phasor domain</a:t>
            </a:r>
          </a:p>
        </p:txBody>
      </p:sp>
      <p:graphicFrame>
        <p:nvGraphicFramePr>
          <p:cNvPr id="67587" name="Object 4"/>
          <p:cNvGraphicFramePr>
            <a:graphicFrameLocks noChangeAspect="1"/>
          </p:cNvGraphicFramePr>
          <p:nvPr/>
        </p:nvGraphicFramePr>
        <p:xfrm>
          <a:off x="611188" y="2365375"/>
          <a:ext cx="73088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600" imgH="1574800" progId="Equation.DSMT4">
                  <p:embed/>
                </p:oleObj>
              </mc:Choice>
              <mc:Fallback>
                <p:oleObj name="Equation" r:id="rId2" imgW="3022600" imgH="157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365375"/>
                        <a:ext cx="73088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588" name="Group 25"/>
          <p:cNvGrpSpPr>
            <a:grpSpLocks/>
          </p:cNvGrpSpPr>
          <p:nvPr/>
        </p:nvGrpSpPr>
        <p:grpSpPr bwMode="auto">
          <a:xfrm>
            <a:off x="611188" y="1052513"/>
            <a:ext cx="7704137" cy="1625600"/>
            <a:chOff x="476" y="750"/>
            <a:chExt cx="4853" cy="1024"/>
          </a:xfrm>
        </p:grpSpPr>
        <p:graphicFrame>
          <p:nvGraphicFramePr>
            <p:cNvPr id="67589" name="Object 3"/>
            <p:cNvGraphicFramePr>
              <a:graphicFrameLocks noChangeAspect="1"/>
            </p:cNvGraphicFramePr>
            <p:nvPr/>
          </p:nvGraphicFramePr>
          <p:xfrm>
            <a:off x="476" y="1026"/>
            <a:ext cx="2448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95400" imgH="254000" progId="Equation.DSMT4">
                    <p:embed/>
                  </p:oleObj>
                </mc:Choice>
                <mc:Fallback>
                  <p:oleObj name="Equation" r:id="rId4" imgW="12954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026"/>
                          <a:ext cx="2448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590" name="Object 17"/>
            <p:cNvGraphicFramePr>
              <a:graphicFrameLocks noChangeAspect="1"/>
            </p:cNvGraphicFramePr>
            <p:nvPr/>
          </p:nvGraphicFramePr>
          <p:xfrm>
            <a:off x="3061" y="750"/>
            <a:ext cx="2268" cy="1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233221" imgH="556514" progId="Visio.Drawing.11">
                    <p:embed/>
                  </p:oleObj>
                </mc:Choice>
                <mc:Fallback>
                  <p:oleObj name="Visio" r:id="rId6" imgW="1233221" imgH="556514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750"/>
                          <a:ext cx="2268" cy="10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373701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12"/>
          <p:cNvGraphicFramePr>
            <a:graphicFrameLocks noGrp="1" noChangeAspect="1"/>
          </p:cNvGraphicFramePr>
          <p:nvPr>
            <p:ph sz="half" idx="2"/>
          </p:nvPr>
        </p:nvGraphicFramePr>
        <p:xfrm>
          <a:off x="1130300" y="1485900"/>
          <a:ext cx="392430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328649" imgH="622737" progId="Visio.Drawing.11">
                  <p:embed/>
                </p:oleObj>
              </mc:Choice>
              <mc:Fallback>
                <p:oleObj name="Visio" r:id="rId2" imgW="1328649" imgH="62273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1485900"/>
                        <a:ext cx="3924300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44108" y="1844824"/>
            <a:ext cx="2070267" cy="87011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 w="63500">
            <a:solidFill>
              <a:srgbClr val="FF3300"/>
            </a:solidFill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宋体" pitchFamily="2" charset="-122"/>
              </a:rPr>
              <a:t> 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1188" y="3536950"/>
          <a:ext cx="2282825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743712" imgH="905256" progId="Word.Picture.8">
                  <p:embed/>
                </p:oleObj>
              </mc:Choice>
              <mc:Fallback>
                <p:oleObj name="Picture" r:id="rId5" imgW="743712" imgH="905256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36950"/>
                        <a:ext cx="2282825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AutoShape 4"/>
          <p:cNvSpPr>
            <a:spLocks noChangeArrowheads="1"/>
          </p:cNvSpPr>
          <p:nvPr/>
        </p:nvSpPr>
        <p:spPr bwMode="auto">
          <a:xfrm>
            <a:off x="3563938" y="4897438"/>
            <a:ext cx="935037" cy="215900"/>
          </a:xfrm>
          <a:custGeom>
            <a:avLst/>
            <a:gdLst>
              <a:gd name="T0" fmla="*/ 1314135977 w 21600"/>
              <a:gd name="T1" fmla="*/ 0 h 21600"/>
              <a:gd name="T2" fmla="*/ 0 w 21600"/>
              <a:gd name="T3" fmla="*/ 10785005 h 21600"/>
              <a:gd name="T4" fmla="*/ 1314135977 w 21600"/>
              <a:gd name="T5" fmla="*/ 21570009 h 21600"/>
              <a:gd name="T6" fmla="*/ 1752180682 w 21600"/>
              <a:gd name="T7" fmla="*/ 10785005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AutoShape 5"/>
          <p:cNvSpPr>
            <a:spLocks/>
          </p:cNvSpPr>
          <p:nvPr/>
        </p:nvSpPr>
        <p:spPr bwMode="auto">
          <a:xfrm>
            <a:off x="4630738" y="4594225"/>
            <a:ext cx="287337" cy="935038"/>
          </a:xfrm>
          <a:prstGeom prst="leftBrace">
            <a:avLst>
              <a:gd name="adj1" fmla="val 2711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184775" y="4441825"/>
          <a:ext cx="17414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113" imgH="177723" progId="Equation.DSMT4">
                  <p:embed/>
                </p:oleObj>
              </mc:Choice>
              <mc:Fallback>
                <p:oleObj name="Equation" r:id="rId7" imgW="660113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75" y="4441825"/>
                        <a:ext cx="17414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5089525" y="5010150"/>
          <a:ext cx="247967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39392" imgH="253890" progId="Equation.DSMT4">
                  <p:embed/>
                </p:oleObj>
              </mc:Choice>
              <mc:Fallback>
                <p:oleObj name="Equation" r:id="rId9" imgW="939392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525" y="5010150"/>
                        <a:ext cx="2479675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7" name="Text Box 2"/>
          <p:cNvSpPr txBox="1">
            <a:spLocks noChangeArrowheads="1"/>
          </p:cNvSpPr>
          <p:nvPr/>
        </p:nvSpPr>
        <p:spPr bwMode="auto">
          <a:xfrm>
            <a:off x="935038" y="260350"/>
            <a:ext cx="79930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200" dirty="0">
                <a:latin typeface="Arial Black" pitchFamily="34" charset="0"/>
              </a:rPr>
              <a:t>VCR of Inductor in Phasor domain</a:t>
            </a:r>
          </a:p>
        </p:txBody>
      </p:sp>
    </p:spTree>
    <p:extLst>
      <p:ext uri="{BB962C8B-B14F-4D97-AF65-F5344CB8AC3E}">
        <p14:creationId xmlns:p14="http://schemas.microsoft.com/office/powerpoint/2010/main" val="4184329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971550" y="225425"/>
            <a:ext cx="4465638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 </a:t>
            </a:r>
            <a:r>
              <a:rPr lang="en-US" altLang="zh-CN" sz="3600">
                <a:latin typeface="Arial Black" pitchFamily="34" charset="0"/>
              </a:rPr>
              <a:t>Energy Storage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65100" y="2874963"/>
            <a:ext cx="2951163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Arial" charset="0"/>
              </a:rPr>
              <a:t>Average power</a:t>
            </a:r>
            <a:r>
              <a:rPr lang="zh-CN" altLang="en-US" dirty="0">
                <a:solidFill>
                  <a:srgbClr val="FF0000"/>
                </a:solidFill>
                <a:latin typeface="Arial" charset="0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Object 4"/>
              <p:cNvSpPr txBox="1"/>
              <p:nvPr/>
            </p:nvSpPr>
            <p:spPr bwMode="auto">
              <a:xfrm>
                <a:off x="2911475" y="2874963"/>
                <a:ext cx="6178550" cy="91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US" altLang="zh-CN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+90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82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1475" y="2874963"/>
                <a:ext cx="6178550" cy="911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125413" y="3644900"/>
            <a:ext cx="46069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charset="0"/>
              </a:rPr>
              <a:t>Magnetic energy</a:t>
            </a:r>
            <a:r>
              <a:rPr lang="zh-CN" altLang="en-US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charset="0"/>
              </a:rPr>
              <a:t>stored: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165100" y="2241550"/>
            <a:ext cx="397485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buFont typeface="Wingdings" pitchFamily="2" charset="2"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Instantaneous power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charset="0"/>
                <a:ea typeface="宋体" charset="-122"/>
              </a:rPr>
              <a:t>：</a:t>
            </a:r>
          </a:p>
        </p:txBody>
      </p:sp>
      <p:graphicFrame>
        <p:nvGraphicFramePr>
          <p:cNvPr id="348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612891"/>
              </p:ext>
            </p:extLst>
          </p:nvPr>
        </p:nvGraphicFramePr>
        <p:xfrm>
          <a:off x="263525" y="1449388"/>
          <a:ext cx="29845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400" imgH="241300" progId="Equation.DSMT4">
                  <p:embed/>
                </p:oleObj>
              </mc:Choice>
              <mc:Fallback>
                <p:oleObj name="Equation" r:id="rId4" imgW="11684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" y="1449388"/>
                        <a:ext cx="29845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4032250" y="1449388"/>
          <a:ext cx="40068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367" imgH="241195" progId="Equation.DSMT4">
                  <p:embed/>
                </p:oleObj>
              </mc:Choice>
              <mc:Fallback>
                <p:oleObj name="Equation" r:id="rId6" imgW="1688367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449388"/>
                        <a:ext cx="40068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826" name="Object 10"/>
              <p:cNvSpPr txBox="1"/>
              <p:nvPr/>
            </p:nvSpPr>
            <p:spPr bwMode="auto">
              <a:xfrm>
                <a:off x="3995738" y="2241550"/>
                <a:ext cx="4933950" cy="5476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func>
                      <m:func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fName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/>
                  <a:t>90°)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482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738" y="2241550"/>
                <a:ext cx="4933950" cy="547688"/>
              </a:xfrm>
              <a:prstGeom prst="rect">
                <a:avLst/>
              </a:prstGeom>
              <a:blipFill>
                <a:blip r:embed="rId8"/>
                <a:stretch>
                  <a:fillRect t="-88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165100" y="4235450"/>
          <a:ext cx="506095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81200" imgH="393700" progId="Equation.DSMT4">
                  <p:embed/>
                </p:oleObj>
              </mc:Choice>
              <mc:Fallback>
                <p:oleObj name="Equation" r:id="rId9" imgW="19812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4235450"/>
                        <a:ext cx="5060950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8" name="Object 12"/>
          <p:cNvGraphicFramePr>
            <a:graphicFrameLocks noChangeAspect="1"/>
          </p:cNvGraphicFramePr>
          <p:nvPr/>
        </p:nvGraphicFramePr>
        <p:xfrm>
          <a:off x="2062163" y="5192713"/>
          <a:ext cx="317976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244600" imgH="393700" progId="Equation.3">
                  <p:embed/>
                </p:oleObj>
              </mc:Choice>
              <mc:Fallback>
                <p:oleObj name="公式" r:id="rId11" imgW="1244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5192713"/>
                        <a:ext cx="3179762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3046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utoUpdateAnimBg="0"/>
      <p:bldP spid="34820" grpId="0"/>
      <p:bldP spid="34821" grpId="0" autoUpdateAnimBg="0"/>
      <p:bldP spid="34823" grpId="0" autoUpdateAnimBg="0"/>
      <p:bldP spid="348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1498600" y="1268413"/>
          <a:ext cx="391636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381000" progId="Equation.DSMT4">
                  <p:embed/>
                </p:oleObj>
              </mc:Choice>
              <mc:Fallback>
                <p:oleObj name="Equation" r:id="rId2" imgW="1485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1268413"/>
                        <a:ext cx="391636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971550" y="2205038"/>
          <a:ext cx="5545138" cy="390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4" imgW="2648712" imgH="1866900" progId="Word.Picture.8">
                  <p:embed/>
                </p:oleObj>
              </mc:Choice>
              <mc:Fallback>
                <p:oleObj name="图片" r:id="rId4" imgW="2648712" imgH="18669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205038"/>
                        <a:ext cx="5545138" cy="390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30314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863600" y="274638"/>
            <a:ext cx="8280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200" dirty="0">
                <a:latin typeface="Arial Black" pitchFamily="34" charset="0"/>
              </a:rPr>
              <a:t>VCR of Capacitor in Phasor domain</a:t>
            </a:r>
          </a:p>
        </p:txBody>
      </p:sp>
      <p:graphicFrame>
        <p:nvGraphicFramePr>
          <p:cNvPr id="72707" name="Object 7"/>
          <p:cNvGraphicFramePr>
            <a:graphicFrameLocks noChangeAspect="1"/>
          </p:cNvGraphicFramePr>
          <p:nvPr/>
        </p:nvGraphicFramePr>
        <p:xfrm>
          <a:off x="593725" y="2324100"/>
          <a:ext cx="7372350" cy="380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51200" imgH="1676400" progId="Equation.DSMT4">
                  <p:embed/>
                </p:oleObj>
              </mc:Choice>
              <mc:Fallback>
                <p:oleObj name="Equation" r:id="rId2" imgW="3251200" imgH="167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2324100"/>
                        <a:ext cx="7372350" cy="380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08" name="Group 24"/>
          <p:cNvGrpSpPr>
            <a:grpSpLocks/>
          </p:cNvGrpSpPr>
          <p:nvPr/>
        </p:nvGrpSpPr>
        <p:grpSpPr bwMode="auto">
          <a:xfrm>
            <a:off x="720725" y="993775"/>
            <a:ext cx="7810500" cy="1792288"/>
            <a:chOff x="454" y="626"/>
            <a:chExt cx="4920" cy="1129"/>
          </a:xfrm>
        </p:grpSpPr>
        <p:graphicFrame>
          <p:nvGraphicFramePr>
            <p:cNvPr id="72709" name="Object 4"/>
            <p:cNvGraphicFramePr>
              <a:graphicFrameLocks noChangeAspect="1"/>
            </p:cNvGraphicFramePr>
            <p:nvPr/>
          </p:nvGraphicFramePr>
          <p:xfrm>
            <a:off x="454" y="1003"/>
            <a:ext cx="2404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33500" imgH="254000" progId="Equation.DSMT4">
                    <p:embed/>
                  </p:oleObj>
                </mc:Choice>
                <mc:Fallback>
                  <p:oleObj name="Equation" r:id="rId4" imgW="13335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1003"/>
                          <a:ext cx="2404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10" name="Object 16"/>
            <p:cNvGraphicFramePr>
              <a:graphicFrameLocks noChangeAspect="1"/>
            </p:cNvGraphicFramePr>
            <p:nvPr/>
          </p:nvGraphicFramePr>
          <p:xfrm>
            <a:off x="3356" y="626"/>
            <a:ext cx="2018" cy="1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233221" imgH="689610" progId="Visio.Drawing.11">
                    <p:embed/>
                  </p:oleObj>
                </mc:Choice>
                <mc:Fallback>
                  <p:oleObj name="Visio" r:id="rId6" imgW="1233221" imgH="689610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6" y="626"/>
                          <a:ext cx="2018" cy="1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380224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13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3246193"/>
              </p:ext>
            </p:extLst>
          </p:nvPr>
        </p:nvGraphicFramePr>
        <p:xfrm>
          <a:off x="1727200" y="1376363"/>
          <a:ext cx="3384550" cy="186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328579" imgH="731097" progId="Visio.Drawing.11">
                  <p:embed/>
                </p:oleObj>
              </mc:Choice>
              <mc:Fallback>
                <p:oleObj name="Visio" r:id="rId2" imgW="1328579" imgH="73109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1376363"/>
                        <a:ext cx="3384550" cy="186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00192" y="1376772"/>
            <a:ext cx="2070267" cy="1763624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 w="63500">
            <a:solidFill>
              <a:srgbClr val="FF3300"/>
            </a:solidFill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宋体" pitchFamily="2" charset="-122"/>
              </a:rPr>
              <a:t> 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68313" y="3140075"/>
          <a:ext cx="240665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5" imgW="838200" imgH="952500" progId="Word.Picture.8">
                  <p:embed/>
                </p:oleObj>
              </mc:Choice>
              <mc:Fallback>
                <p:oleObj name="图片" r:id="rId5" imgW="838200" imgH="9525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140075"/>
                        <a:ext cx="2406650" cy="273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3563938" y="4897438"/>
            <a:ext cx="935037" cy="215900"/>
          </a:xfrm>
          <a:custGeom>
            <a:avLst/>
            <a:gdLst>
              <a:gd name="T0" fmla="*/ 1314135977 w 21600"/>
              <a:gd name="T1" fmla="*/ 0 h 21600"/>
              <a:gd name="T2" fmla="*/ 0 w 21600"/>
              <a:gd name="T3" fmla="*/ 10785005 h 21600"/>
              <a:gd name="T4" fmla="*/ 1314135977 w 21600"/>
              <a:gd name="T5" fmla="*/ 21570009 h 21600"/>
              <a:gd name="T6" fmla="*/ 1752180682 w 21600"/>
              <a:gd name="T7" fmla="*/ 10785005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5"/>
          <p:cNvSpPr>
            <a:spLocks/>
          </p:cNvSpPr>
          <p:nvPr/>
        </p:nvSpPr>
        <p:spPr bwMode="auto">
          <a:xfrm>
            <a:off x="4630738" y="4594225"/>
            <a:ext cx="287337" cy="935038"/>
          </a:xfrm>
          <a:prstGeom prst="leftBrace">
            <a:avLst>
              <a:gd name="adj1" fmla="val 2711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219700" y="3933825"/>
          <a:ext cx="140652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3169" imgH="406224" progId="Equation.DSMT4">
                  <p:embed/>
                </p:oleObj>
              </mc:Choice>
              <mc:Fallback>
                <p:oleObj name="Equation" r:id="rId7" imgW="533169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933825"/>
                        <a:ext cx="1406525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089525" y="5010150"/>
          <a:ext cx="247967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39392" imgH="253890" progId="Equation.DSMT4">
                  <p:embed/>
                </p:oleObj>
              </mc:Choice>
              <mc:Fallback>
                <p:oleObj name="Equation" r:id="rId9" imgW="939392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525" y="5010150"/>
                        <a:ext cx="2479675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7" name="Text Box 2"/>
          <p:cNvSpPr txBox="1">
            <a:spLocks noChangeArrowheads="1"/>
          </p:cNvSpPr>
          <p:nvPr/>
        </p:nvSpPr>
        <p:spPr bwMode="auto">
          <a:xfrm>
            <a:off x="863600" y="274638"/>
            <a:ext cx="8280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200" dirty="0">
                <a:latin typeface="Arial Black" pitchFamily="34" charset="0"/>
              </a:rPr>
              <a:t>VCR of Capacitor in Phasor domain</a:t>
            </a:r>
          </a:p>
        </p:txBody>
      </p:sp>
    </p:spTree>
    <p:extLst>
      <p:ext uri="{BB962C8B-B14F-4D97-AF65-F5344CB8AC3E}">
        <p14:creationId xmlns:p14="http://schemas.microsoft.com/office/powerpoint/2010/main" val="10105551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232261" y="1827893"/>
            <a:ext cx="57340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spcBef>
                <a:spcPct val="20000"/>
              </a:spcBef>
              <a:buFont typeface="Wingdings" pitchFamily="2" charset="2"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Arial Black" pitchFamily="34" charset="0"/>
                <a:ea typeface="宋体" charset="-122"/>
              </a:rPr>
              <a:t>Instantaneous power</a:t>
            </a:r>
            <a:r>
              <a:rPr kumimoji="1" lang="zh-CN" altLang="en-US" sz="2800" b="1" dirty="0">
                <a:solidFill>
                  <a:srgbClr val="FF0000"/>
                </a:solidFill>
                <a:latin typeface="Arial Black" pitchFamily="34" charset="0"/>
                <a:ea typeface="宋体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2" name="Object 4"/>
              <p:cNvSpPr txBox="1"/>
              <p:nvPr/>
            </p:nvSpPr>
            <p:spPr bwMode="auto">
              <a:xfrm>
                <a:off x="-198220" y="2459038"/>
                <a:ext cx="90678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+9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+90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349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98220" y="2459038"/>
                <a:ext cx="9067800" cy="628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250825" y="3141663"/>
            <a:ext cx="4357688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Average power</a:t>
            </a:r>
            <a:r>
              <a:rPr lang="zh-CN" altLang="en-US" dirty="0">
                <a:solidFill>
                  <a:srgbClr val="FF0000"/>
                </a:solidFill>
                <a:latin typeface="Arial Black" pitchFamily="34" charset="0"/>
              </a:rPr>
              <a:t>：</a:t>
            </a:r>
          </a:p>
        </p:txBody>
      </p:sp>
      <p:graphicFrame>
        <p:nvGraphicFramePr>
          <p:cNvPr id="63494" name="Object 6"/>
          <p:cNvGraphicFramePr>
            <a:graphicFrameLocks noChangeAspect="1"/>
          </p:cNvGraphicFramePr>
          <p:nvPr/>
        </p:nvGraphicFramePr>
        <p:xfrm>
          <a:off x="3516313" y="3141663"/>
          <a:ext cx="34099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700" imgH="381000" progId="Equation.DSMT4">
                  <p:embed/>
                </p:oleObj>
              </mc:Choice>
              <mc:Fallback>
                <p:oleObj name="Equation" r:id="rId4" imgW="1282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3141663"/>
                        <a:ext cx="340995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241300" y="4289425"/>
            <a:ext cx="45815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Electric energy</a:t>
            </a:r>
            <a:r>
              <a:rPr lang="zh-CN" altLang="en-US" dirty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stored</a:t>
            </a:r>
            <a:r>
              <a:rPr lang="zh-CN" altLang="en-US" dirty="0">
                <a:solidFill>
                  <a:srgbClr val="FF0000"/>
                </a:solidFill>
                <a:latin typeface="Arial Black" pitchFamily="34" charset="0"/>
              </a:rPr>
              <a:t>：</a:t>
            </a:r>
          </a:p>
        </p:txBody>
      </p:sp>
      <p:graphicFrame>
        <p:nvGraphicFramePr>
          <p:cNvPr id="63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021280"/>
              </p:ext>
            </p:extLst>
          </p:nvPr>
        </p:nvGraphicFramePr>
        <p:xfrm>
          <a:off x="236538" y="4976813"/>
          <a:ext cx="86360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03440" imgH="368280" progId="Equation.DSMT4">
                  <p:embed/>
                </p:oleObj>
              </mc:Choice>
              <mc:Fallback>
                <p:oleObj name="Equation" r:id="rId6" imgW="34034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4976813"/>
                        <a:ext cx="86360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4" name="Rectangle 2"/>
          <p:cNvSpPr>
            <a:spLocks noChangeArrowheads="1"/>
          </p:cNvSpPr>
          <p:nvPr/>
        </p:nvSpPr>
        <p:spPr bwMode="auto">
          <a:xfrm>
            <a:off x="971550" y="225425"/>
            <a:ext cx="4465638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sz="3600" dirty="0">
                <a:latin typeface="Arial Black" pitchFamily="34" charset="0"/>
              </a:rPr>
              <a:t>Energy Storage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74675" y="1157288"/>
          <a:ext cx="4800600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79600" imgH="266700" progId="Equation.DSMT4">
                  <p:embed/>
                </p:oleObj>
              </mc:Choice>
              <mc:Fallback>
                <p:oleObj name="Equation" r:id="rId8" imgW="1879600" imgH="266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1157288"/>
                        <a:ext cx="4800600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453063" y="1206500"/>
          <a:ext cx="3344862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09088" imgH="266584" progId="Equation.DSMT4">
                  <p:embed/>
                </p:oleObj>
              </mc:Choice>
              <mc:Fallback>
                <p:oleObj name="Equation" r:id="rId10" imgW="1409088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1206500"/>
                        <a:ext cx="3344862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18495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  <p:bldP spid="63492" grpId="0"/>
      <p:bldP spid="63493" grpId="0" autoUpdateAnimBg="0"/>
      <p:bldP spid="63495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4"/>
          <p:cNvGraphicFramePr>
            <a:graphicFrameLocks noChangeAspect="1"/>
          </p:cNvGraphicFramePr>
          <p:nvPr/>
        </p:nvGraphicFramePr>
        <p:xfrm>
          <a:off x="1547813" y="1125538"/>
          <a:ext cx="46799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500" imgH="381000" progId="Equation.DSMT4">
                  <p:embed/>
                </p:oleObj>
              </mc:Choice>
              <mc:Fallback>
                <p:oleObj name="Equation" r:id="rId2" imgW="17145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125538"/>
                        <a:ext cx="467995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1079500" y="2312988"/>
          <a:ext cx="5616575" cy="368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4" imgW="2819400" imgH="1848612" progId="Word.Picture.8">
                  <p:embed/>
                </p:oleObj>
              </mc:Choice>
              <mc:Fallback>
                <p:oleObj name="图片" r:id="rId4" imgW="2819400" imgH="1848612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2312988"/>
                        <a:ext cx="5616575" cy="368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0324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4"/>
          <p:cNvSpPr txBox="1">
            <a:spLocks noChangeArrowheads="1"/>
          </p:cNvSpPr>
          <p:nvPr/>
        </p:nvSpPr>
        <p:spPr bwMode="auto">
          <a:xfrm>
            <a:off x="719138" y="404813"/>
            <a:ext cx="8424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Black" pitchFamily="34" charset="0"/>
              </a:rPr>
              <a:t>Summary of voltage-current relationships</a:t>
            </a:r>
          </a:p>
        </p:txBody>
      </p:sp>
      <p:sp>
        <p:nvSpPr>
          <p:cNvPr id="77827" name="Line 5"/>
          <p:cNvSpPr>
            <a:spLocks noChangeShapeType="1"/>
          </p:cNvSpPr>
          <p:nvPr/>
        </p:nvSpPr>
        <p:spPr bwMode="auto">
          <a:xfrm>
            <a:off x="-15875" y="14351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Text Box 6"/>
          <p:cNvSpPr txBox="1">
            <a:spLocks noChangeArrowheads="1"/>
          </p:cNvSpPr>
          <p:nvPr/>
        </p:nvSpPr>
        <p:spPr bwMode="auto">
          <a:xfrm>
            <a:off x="66675" y="1435100"/>
            <a:ext cx="230505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 Black" pitchFamily="34" charset="0"/>
              </a:rPr>
              <a:t>Element</a:t>
            </a:r>
          </a:p>
        </p:txBody>
      </p:sp>
      <p:sp>
        <p:nvSpPr>
          <p:cNvPr id="77829" name="Text Box 7"/>
          <p:cNvSpPr txBox="1">
            <a:spLocks noChangeArrowheads="1"/>
          </p:cNvSpPr>
          <p:nvPr/>
        </p:nvSpPr>
        <p:spPr bwMode="auto">
          <a:xfrm>
            <a:off x="2351088" y="1435100"/>
            <a:ext cx="28543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 Black" pitchFamily="34" charset="0"/>
              </a:rPr>
              <a:t>Time domain</a:t>
            </a:r>
          </a:p>
        </p:txBody>
      </p:sp>
      <p:sp>
        <p:nvSpPr>
          <p:cNvPr id="77830" name="Text Box 8"/>
          <p:cNvSpPr txBox="1">
            <a:spLocks noChangeArrowheads="1"/>
          </p:cNvSpPr>
          <p:nvPr/>
        </p:nvSpPr>
        <p:spPr bwMode="auto">
          <a:xfrm>
            <a:off x="5205413" y="1400175"/>
            <a:ext cx="3795712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 Black" pitchFamily="34" charset="0"/>
              </a:rPr>
              <a:t>Frequency domain</a:t>
            </a:r>
          </a:p>
        </p:txBody>
      </p:sp>
      <p:sp>
        <p:nvSpPr>
          <p:cNvPr id="77831" name="Line 9"/>
          <p:cNvSpPr>
            <a:spLocks noChangeShapeType="1"/>
          </p:cNvSpPr>
          <p:nvPr/>
        </p:nvSpPr>
        <p:spPr bwMode="auto">
          <a:xfrm>
            <a:off x="0" y="227647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2" name="Text Box 10"/>
          <p:cNvSpPr txBox="1">
            <a:spLocks noChangeArrowheads="1"/>
          </p:cNvSpPr>
          <p:nvPr/>
        </p:nvSpPr>
        <p:spPr bwMode="auto">
          <a:xfrm>
            <a:off x="358775" y="2457450"/>
            <a:ext cx="1079500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R</a:t>
            </a:r>
          </a:p>
        </p:txBody>
      </p:sp>
      <p:sp>
        <p:nvSpPr>
          <p:cNvPr id="77833" name="Text Box 11"/>
          <p:cNvSpPr txBox="1">
            <a:spLocks noChangeArrowheads="1"/>
          </p:cNvSpPr>
          <p:nvPr/>
        </p:nvSpPr>
        <p:spPr bwMode="auto">
          <a:xfrm>
            <a:off x="358775" y="3573463"/>
            <a:ext cx="10795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L</a:t>
            </a:r>
          </a:p>
        </p:txBody>
      </p:sp>
      <p:sp>
        <p:nvSpPr>
          <p:cNvPr id="77834" name="Text Box 12"/>
          <p:cNvSpPr txBox="1">
            <a:spLocks noChangeArrowheads="1"/>
          </p:cNvSpPr>
          <p:nvPr/>
        </p:nvSpPr>
        <p:spPr bwMode="auto">
          <a:xfrm>
            <a:off x="358775" y="4718050"/>
            <a:ext cx="1079500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C</a:t>
            </a:r>
          </a:p>
        </p:txBody>
      </p:sp>
      <p:graphicFrame>
        <p:nvGraphicFramePr>
          <p:cNvPr id="77835" name="Object 13"/>
          <p:cNvGraphicFramePr>
            <a:graphicFrameLocks noChangeAspect="1"/>
          </p:cNvGraphicFramePr>
          <p:nvPr/>
        </p:nvGraphicFramePr>
        <p:xfrm>
          <a:off x="2735263" y="2500313"/>
          <a:ext cx="122396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8918" imgH="177723" progId="Equation.3">
                  <p:embed/>
                </p:oleObj>
              </mc:Choice>
              <mc:Fallback>
                <p:oleObj name="公式" r:id="rId2" imgW="418918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500313"/>
                        <a:ext cx="1223962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6" name="Object 14"/>
          <p:cNvGraphicFramePr>
            <a:graphicFrameLocks noChangeAspect="1"/>
          </p:cNvGraphicFramePr>
          <p:nvPr/>
        </p:nvGraphicFramePr>
        <p:xfrm>
          <a:off x="5976938" y="2511425"/>
          <a:ext cx="12334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2391" imgH="203112" progId="Equation.3">
                  <p:embed/>
                </p:oleObj>
              </mc:Choice>
              <mc:Fallback>
                <p:oleObj name="公式" r:id="rId4" imgW="48239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2511425"/>
                        <a:ext cx="123348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7" name="Object 15"/>
          <p:cNvGraphicFramePr>
            <a:graphicFrameLocks noChangeAspect="1"/>
          </p:cNvGraphicFramePr>
          <p:nvPr/>
        </p:nvGraphicFramePr>
        <p:xfrm>
          <a:off x="2700338" y="3384550"/>
          <a:ext cx="1395412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45863" imgH="393529" progId="Equation.3">
                  <p:embed/>
                </p:oleObj>
              </mc:Choice>
              <mc:Fallback>
                <p:oleObj name="公式" r:id="rId6" imgW="54586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84550"/>
                        <a:ext cx="1395412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8" name="Object 16"/>
          <p:cNvGraphicFramePr>
            <a:graphicFrameLocks noChangeAspect="1"/>
          </p:cNvGraphicFramePr>
          <p:nvPr/>
        </p:nvGraphicFramePr>
        <p:xfrm>
          <a:off x="5976938" y="3573463"/>
          <a:ext cx="16541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47700" imgH="228600" progId="Equation.3">
                  <p:embed/>
                </p:oleObj>
              </mc:Choice>
              <mc:Fallback>
                <p:oleObj name="公式" r:id="rId8" imgW="647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3573463"/>
                        <a:ext cx="165417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9" name="Object 17"/>
          <p:cNvGraphicFramePr>
            <a:graphicFrameLocks noChangeAspect="1"/>
          </p:cNvGraphicFramePr>
          <p:nvPr/>
        </p:nvGraphicFramePr>
        <p:xfrm>
          <a:off x="2663825" y="4529138"/>
          <a:ext cx="142716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58558" imgH="393529" progId="Equation.3">
                  <p:embed/>
                </p:oleObj>
              </mc:Choice>
              <mc:Fallback>
                <p:oleObj name="公式" r:id="rId10" imgW="55855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4529138"/>
                        <a:ext cx="1427163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0" name="Object 18"/>
          <p:cNvGraphicFramePr>
            <a:graphicFrameLocks noChangeAspect="1"/>
          </p:cNvGraphicFramePr>
          <p:nvPr/>
        </p:nvGraphicFramePr>
        <p:xfrm>
          <a:off x="5903913" y="4497388"/>
          <a:ext cx="18510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23586" imgH="418918" progId="Equation.3">
                  <p:embed/>
                </p:oleObj>
              </mc:Choice>
              <mc:Fallback>
                <p:oleObj name="公式" r:id="rId12" imgW="723586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913" y="4497388"/>
                        <a:ext cx="18510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0205885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3"/>
          <p:cNvSpPr txBox="1">
            <a:spLocks noChangeArrowheads="1"/>
          </p:cNvSpPr>
          <p:nvPr/>
        </p:nvSpPr>
        <p:spPr bwMode="auto">
          <a:xfrm>
            <a:off x="827088" y="325438"/>
            <a:ext cx="8101012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9.5 Impedance and Admittance</a:t>
            </a:r>
          </a:p>
        </p:txBody>
      </p:sp>
      <p:grpSp>
        <p:nvGrpSpPr>
          <p:cNvPr id="78851" name="Group 29"/>
          <p:cNvGrpSpPr>
            <a:grpSpLocks/>
          </p:cNvGrpSpPr>
          <p:nvPr/>
        </p:nvGrpSpPr>
        <p:grpSpPr bwMode="auto">
          <a:xfrm>
            <a:off x="503238" y="1268413"/>
            <a:ext cx="8064500" cy="2663825"/>
            <a:chOff x="317" y="799"/>
            <a:chExt cx="5080" cy="1678"/>
          </a:xfrm>
        </p:grpSpPr>
        <p:sp>
          <p:nvSpPr>
            <p:cNvPr id="78858" name="Text Box 16"/>
            <p:cNvSpPr txBox="1">
              <a:spLocks noChangeArrowheads="1"/>
            </p:cNvSpPr>
            <p:nvPr/>
          </p:nvSpPr>
          <p:spPr bwMode="auto">
            <a:xfrm>
              <a:off x="317" y="799"/>
              <a:ext cx="2903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58775" indent="-358775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457200" indent="-457200" algn="l" eaLnBrk="1" hangingPunct="1">
                <a:lnSpc>
                  <a:spcPct val="120000"/>
                </a:lnSpc>
                <a:buClr>
                  <a:schemeClr val="tx2"/>
                </a:buClr>
                <a:buSzTx/>
                <a:buFont typeface="Wingdings" pitchFamily="2" charset="2"/>
                <a:buChar char="n"/>
              </a:pPr>
              <a:r>
                <a:rPr lang="en-US" altLang="zh-CN" dirty="0">
                  <a:latin typeface="Tahoma" pitchFamily="34" charset="0"/>
                </a:rPr>
                <a:t>Impedance Z:</a:t>
              </a:r>
            </a:p>
          </p:txBody>
        </p:sp>
        <p:sp>
          <p:nvSpPr>
            <p:cNvPr id="78859" name="Rectangle 17"/>
            <p:cNvSpPr>
              <a:spLocks noChangeArrowheads="1"/>
            </p:cNvSpPr>
            <p:nvPr/>
          </p:nvSpPr>
          <p:spPr bwMode="auto">
            <a:xfrm>
              <a:off x="521" y="1141"/>
              <a:ext cx="4876" cy="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  <a:buClr>
                  <a:schemeClr val="tx2"/>
                </a:buClr>
                <a:buSzTx/>
                <a:buFont typeface="Wingdings" pitchFamily="2" charset="2"/>
                <a:buNone/>
              </a:pPr>
              <a:r>
                <a:rPr lang="en-US" altLang="zh-CN" sz="2400" b="1" dirty="0">
                  <a:latin typeface="Tahoma" pitchFamily="34" charset="0"/>
                </a:rPr>
                <a:t>defined as the ratio of the 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ahoma" pitchFamily="34" charset="0"/>
                </a:rPr>
                <a:t>phasor</a:t>
              </a:r>
              <a:r>
                <a:rPr lang="en-US" altLang="zh-CN" sz="2400" b="1" dirty="0">
                  <a:solidFill>
                    <a:srgbClr val="0000FF"/>
                  </a:solidFill>
                  <a:latin typeface="Tahoma" pitchFamily="34" charset="0"/>
                </a:rPr>
                <a:t> voltage </a:t>
              </a:r>
              <a:r>
                <a:rPr lang="en-US" altLang="zh-CN" sz="2400" b="1" dirty="0">
                  <a:latin typeface="Tahoma" pitchFamily="34" charset="0"/>
                </a:rPr>
                <a:t>to the </a:t>
              </a:r>
              <a:r>
                <a:rPr lang="en-US" altLang="zh-CN" sz="2400" b="1" dirty="0" err="1">
                  <a:solidFill>
                    <a:schemeClr val="hlink"/>
                  </a:solidFill>
                  <a:latin typeface="Tahoma" pitchFamily="34" charset="0"/>
                </a:rPr>
                <a:t>phasor</a:t>
              </a:r>
              <a:r>
                <a:rPr lang="en-US" altLang="zh-CN" sz="2400" b="1" dirty="0">
                  <a:solidFill>
                    <a:schemeClr val="hlink"/>
                  </a:solidFill>
                  <a:latin typeface="Tahoma" pitchFamily="34" charset="0"/>
                </a:rPr>
                <a:t> current</a:t>
              </a:r>
              <a:r>
                <a:rPr lang="en-US" altLang="zh-CN" sz="2400" b="1" dirty="0">
                  <a:latin typeface="Tahoma" pitchFamily="34" charset="0"/>
                </a:rPr>
                <a:t>.</a:t>
              </a:r>
            </a:p>
          </p:txBody>
        </p:sp>
        <p:grpSp>
          <p:nvGrpSpPr>
            <p:cNvPr id="78860" name="Group 26"/>
            <p:cNvGrpSpPr>
              <a:grpSpLocks/>
            </p:cNvGrpSpPr>
            <p:nvPr/>
          </p:nvGrpSpPr>
          <p:grpSpPr bwMode="auto">
            <a:xfrm>
              <a:off x="1497" y="1588"/>
              <a:ext cx="3532" cy="889"/>
              <a:chOff x="1497" y="1611"/>
              <a:chExt cx="3532" cy="889"/>
            </a:xfrm>
          </p:grpSpPr>
          <p:graphicFrame>
            <p:nvGraphicFramePr>
              <p:cNvPr id="78861" name="Object 19"/>
              <p:cNvGraphicFramePr>
                <a:graphicFrameLocks noChangeAspect="1"/>
              </p:cNvGraphicFramePr>
              <p:nvPr/>
            </p:nvGraphicFramePr>
            <p:xfrm>
              <a:off x="1497" y="1611"/>
              <a:ext cx="703" cy="8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431613" imgH="545863" progId="Equation.DSMT4">
                      <p:embed/>
                    </p:oleObj>
                  </mc:Choice>
                  <mc:Fallback>
                    <p:oleObj name="Equation" r:id="rId2" imgW="431613" imgH="54586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97" y="1611"/>
                            <a:ext cx="703" cy="8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8862" name="Text Box 24"/>
              <p:cNvSpPr txBox="1">
                <a:spLocks noChangeArrowheads="1"/>
              </p:cNvSpPr>
              <p:nvPr/>
            </p:nvSpPr>
            <p:spPr bwMode="auto">
              <a:xfrm>
                <a:off x="2449" y="2000"/>
                <a:ext cx="2580" cy="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Font typeface="Wingdings" pitchFamily="2" charset="2"/>
                  <a:buNone/>
                </a:pPr>
                <a:r>
                  <a:rPr lang="en-US" altLang="zh-CN" dirty="0">
                    <a:latin typeface="Arial" charset="0"/>
                  </a:rPr>
                  <a:t>:measured in ohms (</a:t>
                </a:r>
                <a:r>
                  <a:rPr lang="en-US" altLang="zh-CN" dirty="0">
                    <a:latin typeface="Arial" charset="0"/>
                    <a:sym typeface="Symbol" pitchFamily="18" charset="2"/>
                  </a:rPr>
                  <a:t>)</a:t>
                </a:r>
              </a:p>
            </p:txBody>
          </p:sp>
        </p:grpSp>
      </p:grpSp>
      <p:grpSp>
        <p:nvGrpSpPr>
          <p:cNvPr id="1868828" name="Group 28"/>
          <p:cNvGrpSpPr>
            <a:grpSpLocks/>
          </p:cNvGrpSpPr>
          <p:nvPr/>
        </p:nvGrpSpPr>
        <p:grpSpPr bwMode="auto">
          <a:xfrm>
            <a:off x="503238" y="3794125"/>
            <a:ext cx="8164512" cy="2406650"/>
            <a:chOff x="317" y="2364"/>
            <a:chExt cx="5143" cy="1516"/>
          </a:xfrm>
        </p:grpSpPr>
        <p:sp>
          <p:nvSpPr>
            <p:cNvPr id="78853" name="Text Box 21"/>
            <p:cNvSpPr txBox="1">
              <a:spLocks noChangeArrowheads="1"/>
            </p:cNvSpPr>
            <p:nvPr/>
          </p:nvSpPr>
          <p:spPr bwMode="auto">
            <a:xfrm>
              <a:off x="317" y="2364"/>
              <a:ext cx="290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58775" indent="-358775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457200" indent="-457200" algn="l" eaLnBrk="1" hangingPunct="1">
                <a:buClr>
                  <a:schemeClr val="tx2"/>
                </a:buClr>
                <a:buSzTx/>
                <a:buFont typeface="Wingdings" pitchFamily="2" charset="2"/>
                <a:buChar char="n"/>
              </a:pPr>
              <a:r>
                <a:rPr lang="en-US" altLang="zh-CN" dirty="0">
                  <a:latin typeface="Tahoma" pitchFamily="34" charset="0"/>
                </a:rPr>
                <a:t>Admittance Y:</a:t>
              </a:r>
            </a:p>
          </p:txBody>
        </p:sp>
        <p:sp>
          <p:nvSpPr>
            <p:cNvPr id="78854" name="Rectangle 22"/>
            <p:cNvSpPr>
              <a:spLocks noChangeArrowheads="1"/>
            </p:cNvSpPr>
            <p:nvPr/>
          </p:nvSpPr>
          <p:spPr bwMode="auto">
            <a:xfrm>
              <a:off x="521" y="2795"/>
              <a:ext cx="399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buClr>
                  <a:schemeClr val="tx2"/>
                </a:buClr>
                <a:buSzTx/>
                <a:buFont typeface="Wingdings" pitchFamily="2" charset="2"/>
                <a:buNone/>
              </a:pPr>
              <a:r>
                <a:rPr lang="en-US" altLang="zh-CN" sz="2400" b="1" dirty="0">
                  <a:latin typeface="Tahoma" pitchFamily="34" charset="0"/>
                </a:rPr>
                <a:t>defined as the reciprocal of impedance.</a:t>
              </a:r>
            </a:p>
          </p:txBody>
        </p:sp>
        <p:grpSp>
          <p:nvGrpSpPr>
            <p:cNvPr id="78855" name="Group 27"/>
            <p:cNvGrpSpPr>
              <a:grpSpLocks/>
            </p:cNvGrpSpPr>
            <p:nvPr/>
          </p:nvGrpSpPr>
          <p:grpSpPr bwMode="auto">
            <a:xfrm>
              <a:off x="1184" y="2980"/>
              <a:ext cx="4276" cy="900"/>
              <a:chOff x="1206" y="2984"/>
              <a:chExt cx="4276" cy="900"/>
            </a:xfrm>
          </p:grpSpPr>
          <p:graphicFrame>
            <p:nvGraphicFramePr>
              <p:cNvPr id="78856" name="Object 23"/>
              <p:cNvGraphicFramePr>
                <a:graphicFrameLocks noChangeAspect="1"/>
              </p:cNvGraphicFramePr>
              <p:nvPr/>
            </p:nvGraphicFramePr>
            <p:xfrm>
              <a:off x="1206" y="2984"/>
              <a:ext cx="1152" cy="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698197" imgH="545863" progId="Equation.DSMT4">
                      <p:embed/>
                    </p:oleObj>
                  </mc:Choice>
                  <mc:Fallback>
                    <p:oleObj name="Equation" r:id="rId4" imgW="698197" imgH="54586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6" y="2984"/>
                            <a:ext cx="1152" cy="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8857" name="Text Box 25"/>
              <p:cNvSpPr txBox="1">
                <a:spLocks noChangeArrowheads="1"/>
              </p:cNvSpPr>
              <p:nvPr/>
            </p:nvSpPr>
            <p:spPr bwMode="auto">
              <a:xfrm>
                <a:off x="2622" y="3362"/>
                <a:ext cx="2860" cy="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buFont typeface="Wingdings" pitchFamily="2" charset="2"/>
                  <a:buNone/>
                </a:pPr>
                <a:r>
                  <a:rPr lang="en-US" altLang="zh-CN">
                    <a:latin typeface="Arial" charset="0"/>
                  </a:rPr>
                  <a:t>:measured in siemens (</a:t>
                </a:r>
                <a:r>
                  <a:rPr lang="en-US" altLang="zh-CN">
                    <a:latin typeface="Arial" charset="0"/>
                    <a:sym typeface="Symbol" pitchFamily="18" charset="2"/>
                  </a:rPr>
                  <a:t>S)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26628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6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1028"/>
          <p:cNvSpPr>
            <a:spLocks noChangeShapeType="1"/>
          </p:cNvSpPr>
          <p:nvPr/>
        </p:nvSpPr>
        <p:spPr bwMode="auto">
          <a:xfrm>
            <a:off x="-36513" y="1643063"/>
            <a:ext cx="9144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5" name="Text Box 1029"/>
          <p:cNvSpPr txBox="1">
            <a:spLocks noChangeArrowheads="1"/>
          </p:cNvSpPr>
          <p:nvPr/>
        </p:nvSpPr>
        <p:spPr bwMode="auto">
          <a:xfrm>
            <a:off x="654399" y="511396"/>
            <a:ext cx="84232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latin typeface="Arial Black" pitchFamily="34" charset="0"/>
              </a:rPr>
              <a:t>Impedances and admittances of passive elements</a:t>
            </a:r>
          </a:p>
        </p:txBody>
      </p:sp>
      <p:sp>
        <p:nvSpPr>
          <p:cNvPr id="79876" name="Text Box 1030"/>
          <p:cNvSpPr txBox="1">
            <a:spLocks noChangeArrowheads="1"/>
          </p:cNvSpPr>
          <p:nvPr/>
        </p:nvSpPr>
        <p:spPr bwMode="auto">
          <a:xfrm>
            <a:off x="285750" y="1679575"/>
            <a:ext cx="2303463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 Black" pitchFamily="34" charset="0"/>
              </a:rPr>
              <a:t>Element </a:t>
            </a:r>
          </a:p>
        </p:txBody>
      </p:sp>
      <p:sp>
        <p:nvSpPr>
          <p:cNvPr id="79877" name="Text Box 1031"/>
          <p:cNvSpPr txBox="1">
            <a:spLocks noChangeArrowheads="1"/>
          </p:cNvSpPr>
          <p:nvPr/>
        </p:nvSpPr>
        <p:spPr bwMode="auto">
          <a:xfrm>
            <a:off x="2987675" y="1679575"/>
            <a:ext cx="255587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 Black" pitchFamily="34" charset="0"/>
              </a:rPr>
              <a:t>Impedance</a:t>
            </a:r>
          </a:p>
        </p:txBody>
      </p:sp>
      <p:sp>
        <p:nvSpPr>
          <p:cNvPr id="79878" name="Text Box 1032"/>
          <p:cNvSpPr txBox="1">
            <a:spLocks noChangeArrowheads="1"/>
          </p:cNvSpPr>
          <p:nvPr/>
        </p:nvSpPr>
        <p:spPr bwMode="auto">
          <a:xfrm>
            <a:off x="6011863" y="1701800"/>
            <a:ext cx="2484437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 Black" pitchFamily="34" charset="0"/>
              </a:rPr>
              <a:t>Admittance </a:t>
            </a:r>
          </a:p>
        </p:txBody>
      </p:sp>
      <p:sp>
        <p:nvSpPr>
          <p:cNvPr id="79879" name="Line 1033"/>
          <p:cNvSpPr>
            <a:spLocks noChangeShapeType="1"/>
          </p:cNvSpPr>
          <p:nvPr/>
        </p:nvSpPr>
        <p:spPr bwMode="auto">
          <a:xfrm>
            <a:off x="-36513" y="2384425"/>
            <a:ext cx="9144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0" name="Text Box 1035"/>
          <p:cNvSpPr txBox="1">
            <a:spLocks noChangeArrowheads="1"/>
          </p:cNvSpPr>
          <p:nvPr/>
        </p:nvSpPr>
        <p:spPr bwMode="auto">
          <a:xfrm>
            <a:off x="611188" y="2601913"/>
            <a:ext cx="107950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R</a:t>
            </a:r>
          </a:p>
        </p:txBody>
      </p:sp>
      <p:sp>
        <p:nvSpPr>
          <p:cNvPr id="79881" name="Text Box 1036"/>
          <p:cNvSpPr txBox="1">
            <a:spLocks noChangeArrowheads="1"/>
          </p:cNvSpPr>
          <p:nvPr/>
        </p:nvSpPr>
        <p:spPr bwMode="auto">
          <a:xfrm>
            <a:off x="595313" y="3789363"/>
            <a:ext cx="10795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L</a:t>
            </a:r>
          </a:p>
        </p:txBody>
      </p:sp>
      <p:sp>
        <p:nvSpPr>
          <p:cNvPr id="79882" name="Text Box 1037"/>
          <p:cNvSpPr txBox="1">
            <a:spLocks noChangeArrowheads="1"/>
          </p:cNvSpPr>
          <p:nvPr/>
        </p:nvSpPr>
        <p:spPr bwMode="auto">
          <a:xfrm>
            <a:off x="611188" y="4941888"/>
            <a:ext cx="10795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C</a:t>
            </a:r>
          </a:p>
        </p:txBody>
      </p:sp>
      <p:graphicFrame>
        <p:nvGraphicFramePr>
          <p:cNvPr id="79883" name="Object 1038"/>
          <p:cNvGraphicFramePr>
            <a:graphicFrameLocks noChangeAspect="1"/>
          </p:cNvGraphicFramePr>
          <p:nvPr/>
        </p:nvGraphicFramePr>
        <p:xfrm>
          <a:off x="3355975" y="2746375"/>
          <a:ext cx="11874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6048" imgH="164957" progId="Equation.3">
                  <p:embed/>
                </p:oleObj>
              </mc:Choice>
              <mc:Fallback>
                <p:oleObj name="公式" r:id="rId2" imgW="40604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2746375"/>
                        <a:ext cx="11874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Object 1039"/>
          <p:cNvGraphicFramePr>
            <a:graphicFrameLocks noChangeAspect="1"/>
          </p:cNvGraphicFramePr>
          <p:nvPr/>
        </p:nvGraphicFramePr>
        <p:xfrm>
          <a:off x="6516688" y="2555875"/>
          <a:ext cx="100806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8918" imgH="393529" progId="Equation.3">
                  <p:embed/>
                </p:oleObj>
              </mc:Choice>
              <mc:Fallback>
                <p:oleObj name="公式" r:id="rId4" imgW="41891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555875"/>
                        <a:ext cx="1008062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5" name="Object 1040"/>
          <p:cNvGraphicFramePr>
            <a:graphicFrameLocks noChangeAspect="1"/>
          </p:cNvGraphicFramePr>
          <p:nvPr/>
        </p:nvGraphicFramePr>
        <p:xfrm>
          <a:off x="3276600" y="3789363"/>
          <a:ext cx="14605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1252" imgH="203112" progId="Equation.3">
                  <p:embed/>
                </p:oleObj>
              </mc:Choice>
              <mc:Fallback>
                <p:oleObj name="公式" r:id="rId6" imgW="57125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789363"/>
                        <a:ext cx="14605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6" name="Object 1041"/>
          <p:cNvGraphicFramePr>
            <a:graphicFrameLocks noChangeAspect="1"/>
          </p:cNvGraphicFramePr>
          <p:nvPr/>
        </p:nvGraphicFramePr>
        <p:xfrm>
          <a:off x="6497638" y="3465513"/>
          <a:ext cx="1512887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83947" imgH="418918" progId="Equation.3">
                  <p:embed/>
                </p:oleObj>
              </mc:Choice>
              <mc:Fallback>
                <p:oleObj name="公式" r:id="rId8" imgW="583947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7638" y="3465513"/>
                        <a:ext cx="1512887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7" name="Object 1042"/>
          <p:cNvGraphicFramePr>
            <a:graphicFrameLocks noChangeAspect="1"/>
          </p:cNvGraphicFramePr>
          <p:nvPr/>
        </p:nvGraphicFramePr>
        <p:xfrm>
          <a:off x="3306763" y="4719638"/>
          <a:ext cx="158908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22030" imgH="418918" progId="Equation.3">
                  <p:embed/>
                </p:oleObj>
              </mc:Choice>
              <mc:Fallback>
                <p:oleObj name="公式" r:id="rId10" imgW="622030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4719638"/>
                        <a:ext cx="158908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8" name="Object 1043"/>
          <p:cNvGraphicFramePr>
            <a:graphicFrameLocks noChangeAspect="1"/>
          </p:cNvGraphicFramePr>
          <p:nvPr/>
        </p:nvGraphicFramePr>
        <p:xfrm>
          <a:off x="6507163" y="4941888"/>
          <a:ext cx="149383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83947" imgH="203112" progId="Equation.3">
                  <p:embed/>
                </p:oleObj>
              </mc:Choice>
              <mc:Fallback>
                <p:oleObj name="公式" r:id="rId12" imgW="58394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4941888"/>
                        <a:ext cx="149383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8453661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/>
          <p:cNvSpPr txBox="1">
            <a:spLocks noChangeArrowheads="1"/>
          </p:cNvSpPr>
          <p:nvPr/>
        </p:nvSpPr>
        <p:spPr bwMode="auto">
          <a:xfrm>
            <a:off x="1042988" y="290513"/>
            <a:ext cx="6877050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Reactance and Susceptance</a:t>
            </a:r>
          </a:p>
        </p:txBody>
      </p:sp>
      <p:sp>
        <p:nvSpPr>
          <p:cNvPr id="80906" name="Text Box 3"/>
          <p:cNvSpPr txBox="1">
            <a:spLocks noChangeArrowheads="1"/>
          </p:cNvSpPr>
          <p:nvPr/>
        </p:nvSpPr>
        <p:spPr bwMode="auto">
          <a:xfrm>
            <a:off x="503238" y="1268413"/>
            <a:ext cx="46085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58775" indent="-358775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Tahoma" pitchFamily="34" charset="0"/>
              </a:rPr>
              <a:t>Reactance:</a:t>
            </a:r>
          </a:p>
        </p:txBody>
      </p:sp>
      <p:sp>
        <p:nvSpPr>
          <p:cNvPr id="80907" name="Rectangle 4"/>
          <p:cNvSpPr>
            <a:spLocks noChangeArrowheads="1"/>
          </p:cNvSpPr>
          <p:nvPr/>
        </p:nvSpPr>
        <p:spPr bwMode="auto">
          <a:xfrm>
            <a:off x="827088" y="1952626"/>
            <a:ext cx="80295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buClr>
                <a:schemeClr val="tx2"/>
              </a:buClr>
              <a:buSzTx/>
              <a:buFont typeface="Wingdings" pitchFamily="2" charset="2"/>
              <a:buNone/>
            </a:pPr>
            <a:r>
              <a:rPr lang="en-US" altLang="zh-CN" sz="2400" b="1" dirty="0">
                <a:latin typeface="Tahoma" pitchFamily="34" charset="0"/>
              </a:rPr>
              <a:t>defined as the imaginary part of the impedance.</a:t>
            </a:r>
          </a:p>
        </p:txBody>
      </p:sp>
      <p:graphicFrame>
        <p:nvGraphicFramePr>
          <p:cNvPr id="80908" name="Object 5"/>
          <p:cNvGraphicFramePr>
            <a:graphicFrameLocks noChangeAspect="1"/>
          </p:cNvGraphicFramePr>
          <p:nvPr/>
        </p:nvGraphicFramePr>
        <p:xfrm>
          <a:off x="1268413" y="2692401"/>
          <a:ext cx="26193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300" imgH="190500" progId="Equation.DSMT4">
                  <p:embed/>
                </p:oleObj>
              </mc:Choice>
              <mc:Fallback>
                <p:oleObj name="Equation" r:id="rId2" imgW="749300" imgH="190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2692401"/>
                        <a:ext cx="26193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3" name="Text Box 6"/>
          <p:cNvSpPr txBox="1">
            <a:spLocks noChangeArrowheads="1"/>
          </p:cNvSpPr>
          <p:nvPr/>
        </p:nvSpPr>
        <p:spPr bwMode="auto">
          <a:xfrm>
            <a:off x="503238" y="3500438"/>
            <a:ext cx="46085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58775" indent="-358775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 err="1">
                <a:latin typeface="Tahoma" pitchFamily="34" charset="0"/>
              </a:rPr>
              <a:t>Susceptance</a:t>
            </a:r>
            <a:r>
              <a:rPr lang="en-US" altLang="zh-CN" dirty="0">
                <a:latin typeface="Tahoma" pitchFamily="34" charset="0"/>
              </a:rPr>
              <a:t>:</a:t>
            </a:r>
          </a:p>
        </p:txBody>
      </p:sp>
      <p:sp>
        <p:nvSpPr>
          <p:cNvPr id="80904" name="Rectangle 7"/>
          <p:cNvSpPr>
            <a:spLocks noChangeArrowheads="1"/>
          </p:cNvSpPr>
          <p:nvPr/>
        </p:nvSpPr>
        <p:spPr bwMode="auto">
          <a:xfrm>
            <a:off x="827088" y="4184650"/>
            <a:ext cx="7092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  <a:buClr>
                <a:schemeClr val="tx2"/>
              </a:buClr>
              <a:buSzTx/>
              <a:buFont typeface="Wingdings" pitchFamily="2" charset="2"/>
              <a:buNone/>
            </a:pPr>
            <a:r>
              <a:rPr lang="en-US" altLang="zh-CN" sz="2400" b="1" dirty="0">
                <a:latin typeface="Tahoma" pitchFamily="34" charset="0"/>
              </a:rPr>
              <a:t>defined as the imaginary of the admittance.</a:t>
            </a:r>
          </a:p>
        </p:txBody>
      </p:sp>
      <p:graphicFrame>
        <p:nvGraphicFramePr>
          <p:cNvPr id="80905" name="Object 8"/>
          <p:cNvGraphicFramePr>
            <a:graphicFrameLocks noChangeAspect="1"/>
          </p:cNvGraphicFramePr>
          <p:nvPr/>
        </p:nvGraphicFramePr>
        <p:xfrm>
          <a:off x="1295401" y="4797425"/>
          <a:ext cx="252571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586" imgH="203112" progId="Equation.DSMT4">
                  <p:embed/>
                </p:oleObj>
              </mc:Choice>
              <mc:Fallback>
                <p:oleObj name="Equation" r:id="rId4" imgW="72358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1" y="4797425"/>
                        <a:ext cx="2525713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Text Box 24"/>
          <p:cNvSpPr txBox="1">
            <a:spLocks noChangeArrowheads="1"/>
          </p:cNvSpPr>
          <p:nvPr/>
        </p:nvSpPr>
        <p:spPr bwMode="auto">
          <a:xfrm>
            <a:off x="4103688" y="2740025"/>
            <a:ext cx="4095750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>
                <a:latin typeface="Arial" charset="0"/>
              </a:rPr>
              <a:t>:measured in ohms (</a:t>
            </a:r>
            <a:r>
              <a:rPr lang="en-US" altLang="zh-CN" dirty="0">
                <a:latin typeface="Arial" charset="0"/>
                <a:sym typeface="Symbol" pitchFamily="18" charset="2"/>
              </a:rPr>
              <a:t>)</a:t>
            </a:r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4103688" y="4951413"/>
            <a:ext cx="4540250" cy="43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>
                <a:latin typeface="Arial" charset="0"/>
              </a:rPr>
              <a:t>:measured in siemens (</a:t>
            </a:r>
            <a:r>
              <a:rPr lang="en-US" altLang="zh-CN" dirty="0">
                <a:latin typeface="Arial" charset="0"/>
                <a:sym typeface="Symbol" pitchFamily="18" charset="2"/>
              </a:rPr>
              <a:t>S)</a:t>
            </a:r>
          </a:p>
        </p:txBody>
      </p:sp>
    </p:spTree>
    <p:extLst>
      <p:ext uri="{BB962C8B-B14F-4D97-AF65-F5344CB8AC3E}">
        <p14:creationId xmlns:p14="http://schemas.microsoft.com/office/powerpoint/2010/main" val="9424085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6" grpId="0"/>
      <p:bldP spid="80907" grpId="0"/>
      <p:bldP spid="80903" grpId="0"/>
      <p:bldP spid="80904" grpId="0"/>
      <p:bldP spid="80901" grpId="0"/>
      <p:bldP spid="1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4"/>
          <p:cNvSpPr txBox="1">
            <a:spLocks noChangeArrowheads="1"/>
          </p:cNvSpPr>
          <p:nvPr/>
        </p:nvSpPr>
        <p:spPr bwMode="auto">
          <a:xfrm>
            <a:off x="485486" y="1384299"/>
            <a:ext cx="935037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Arial" charset="0"/>
              </a:rPr>
              <a:t>R</a:t>
            </a:r>
          </a:p>
        </p:txBody>
      </p:sp>
      <p:graphicFrame>
        <p:nvGraphicFramePr>
          <p:cNvPr id="61443" name="Object 5"/>
          <p:cNvGraphicFramePr>
            <a:graphicFrameLocks noChangeAspect="1"/>
          </p:cNvGraphicFramePr>
          <p:nvPr/>
        </p:nvGraphicFramePr>
        <p:xfrm>
          <a:off x="1584325" y="1376363"/>
          <a:ext cx="11874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6048" imgH="164957" progId="Equation.3">
                  <p:embed/>
                </p:oleObj>
              </mc:Choice>
              <mc:Fallback>
                <p:oleObj name="公式" r:id="rId2" imgW="406048" imgH="164957" progId="Equation.3">
                  <p:embed/>
                  <p:pic>
                    <p:nvPicPr>
                      <p:cNvPr id="6144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1376363"/>
                        <a:ext cx="11874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504825" y="2126445"/>
            <a:ext cx="1079500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L</a:t>
            </a:r>
          </a:p>
        </p:txBody>
      </p:sp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1610519" y="2136753"/>
          <a:ext cx="14605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71252" imgH="203112" progId="Equation.3">
                  <p:embed/>
                </p:oleObj>
              </mc:Choice>
              <mc:Fallback>
                <p:oleObj name="公式" r:id="rId4" imgW="571252" imgH="203112" progId="Equation.3">
                  <p:embed/>
                  <p:pic>
                    <p:nvPicPr>
                      <p:cNvPr id="747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519" y="2136753"/>
                        <a:ext cx="14605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Object 8"/>
          <p:cNvGraphicFramePr>
            <a:graphicFrameLocks noChangeAspect="1"/>
          </p:cNvGraphicFramePr>
          <p:nvPr/>
        </p:nvGraphicFramePr>
        <p:xfrm>
          <a:off x="3121025" y="2092511"/>
          <a:ext cx="165576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47419" imgH="215806" progId="Equation.3">
                  <p:embed/>
                </p:oleObj>
              </mc:Choice>
              <mc:Fallback>
                <p:oleObj name="公式" r:id="rId6" imgW="647419" imgH="215806" progId="Equation.3">
                  <p:embed/>
                  <p:pic>
                    <p:nvPicPr>
                      <p:cNvPr id="747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025" y="2092511"/>
                        <a:ext cx="1655762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5301456" y="2126445"/>
            <a:ext cx="446405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Arial" charset="0"/>
              </a:rPr>
              <a:t>inductive reactance</a:t>
            </a:r>
            <a:endParaRPr lang="zh-CN" altLang="en-US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500984" y="3011197"/>
            <a:ext cx="107950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C</a:t>
            </a:r>
          </a:p>
        </p:txBody>
      </p:sp>
      <p:graphicFrame>
        <p:nvGraphicFramePr>
          <p:cNvPr id="74763" name="Object 11"/>
          <p:cNvGraphicFramePr>
            <a:graphicFrameLocks noChangeAspect="1"/>
          </p:cNvGraphicFramePr>
          <p:nvPr/>
        </p:nvGraphicFramePr>
        <p:xfrm>
          <a:off x="1555750" y="2753507"/>
          <a:ext cx="301625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80588" imgH="418918" progId="Equation.3">
                  <p:embed/>
                </p:oleObj>
              </mc:Choice>
              <mc:Fallback>
                <p:oleObj name="公式" r:id="rId8" imgW="1180588" imgH="418918" progId="Equation.3">
                  <p:embed/>
                  <p:pic>
                    <p:nvPicPr>
                      <p:cNvPr id="747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2753507"/>
                        <a:ext cx="301625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4" name="Object 12"/>
          <p:cNvGraphicFramePr>
            <a:graphicFrameLocks noChangeAspect="1"/>
          </p:cNvGraphicFramePr>
          <p:nvPr/>
        </p:nvGraphicFramePr>
        <p:xfrm>
          <a:off x="4732080" y="2951298"/>
          <a:ext cx="21748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0531" imgH="241195" progId="Equation.DSMT4">
                  <p:embed/>
                </p:oleObj>
              </mc:Choice>
              <mc:Fallback>
                <p:oleObj name="Equation" r:id="rId10" imgW="850531" imgH="241195" progId="Equation.DSMT4">
                  <p:embed/>
                  <p:pic>
                    <p:nvPicPr>
                      <p:cNvPr id="747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080" y="2951298"/>
                        <a:ext cx="217487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5" name="Text Box 13"/>
          <p:cNvSpPr txBox="1">
            <a:spLocks noChangeArrowheads="1"/>
          </p:cNvSpPr>
          <p:nvPr/>
        </p:nvSpPr>
        <p:spPr bwMode="auto">
          <a:xfrm>
            <a:off x="5034499" y="3727697"/>
            <a:ext cx="3744912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Arial" charset="0"/>
              </a:rPr>
              <a:t>capacitive reactance </a:t>
            </a:r>
            <a:endParaRPr lang="zh-CN" altLang="en-US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43799C7C-C335-924C-875A-475F832D9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745" y="4851895"/>
            <a:ext cx="824694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Arial" charset="0"/>
              </a:rPr>
              <a:t>Impedance, resistance, and reactance are all measured in ohms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(</a:t>
            </a:r>
            <a:r>
              <a:rPr lang="en-US" altLang="zh-CN" dirty="0" err="1">
                <a:latin typeface="Arial" charset="0"/>
              </a:rPr>
              <a:t>Ω</a:t>
            </a:r>
            <a:r>
              <a:rPr lang="en-US" altLang="zh-CN" dirty="0">
                <a:latin typeface="Arial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69507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74758" grpId="0"/>
      <p:bldP spid="74761" grpId="0"/>
      <p:bldP spid="74762" grpId="0"/>
      <p:bldP spid="74765" grpId="0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4"/>
          <p:cNvSpPr>
            <a:spLocks noChangeArrowheads="1"/>
          </p:cNvSpPr>
          <p:nvPr/>
        </p:nvSpPr>
        <p:spPr bwMode="auto">
          <a:xfrm>
            <a:off x="838200" y="152400"/>
            <a:ext cx="85693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buFont typeface="Wingdings" pitchFamily="2" charset="2"/>
              <a:buNone/>
            </a:pPr>
            <a:r>
              <a:rPr lang="en-US" altLang="zh-CN" sz="2000">
                <a:latin typeface="Arial Black" pitchFamily="34" charset="0"/>
              </a:rPr>
              <a:t>The impedances and admittances of two-terminal passive networks</a:t>
            </a:r>
          </a:p>
        </p:txBody>
      </p:sp>
      <p:grpSp>
        <p:nvGrpSpPr>
          <p:cNvPr id="71721" name="Group 41"/>
          <p:cNvGrpSpPr>
            <a:grpSpLocks/>
          </p:cNvGrpSpPr>
          <p:nvPr/>
        </p:nvGrpSpPr>
        <p:grpSpPr bwMode="auto">
          <a:xfrm>
            <a:off x="304800" y="1500188"/>
            <a:ext cx="2754313" cy="2452687"/>
            <a:chOff x="192" y="945"/>
            <a:chExt cx="1735" cy="1545"/>
          </a:xfrm>
        </p:grpSpPr>
        <p:sp>
          <p:nvSpPr>
            <p:cNvPr id="81940" name="Rectangle 6"/>
            <p:cNvSpPr>
              <a:spLocks noChangeArrowheads="1"/>
            </p:cNvSpPr>
            <p:nvPr/>
          </p:nvSpPr>
          <p:spPr bwMode="auto">
            <a:xfrm>
              <a:off x="1152" y="1184"/>
              <a:ext cx="775" cy="1248"/>
            </a:xfrm>
            <a:prstGeom prst="rect">
              <a:avLst/>
            </a:prstGeom>
            <a:solidFill>
              <a:srgbClr val="00CC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1" name="Text Box 7"/>
            <p:cNvSpPr txBox="1">
              <a:spLocks noChangeArrowheads="1"/>
            </p:cNvSpPr>
            <p:nvPr/>
          </p:nvSpPr>
          <p:spPr bwMode="auto">
            <a:xfrm>
              <a:off x="1244" y="1641"/>
              <a:ext cx="590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/>
                <a:t>N</a:t>
              </a:r>
              <a:r>
                <a:rPr lang="en-US" altLang="zh-CN" baseline="-25000"/>
                <a:t>0</a:t>
              </a:r>
            </a:p>
          </p:txBody>
        </p:sp>
        <p:sp>
          <p:nvSpPr>
            <p:cNvPr id="81942" name="Line 20"/>
            <p:cNvSpPr>
              <a:spLocks noChangeShapeType="1"/>
            </p:cNvSpPr>
            <p:nvPr/>
          </p:nvSpPr>
          <p:spPr bwMode="auto">
            <a:xfrm flipH="1">
              <a:off x="528" y="1280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3" name="Line 21"/>
            <p:cNvSpPr>
              <a:spLocks noChangeShapeType="1"/>
            </p:cNvSpPr>
            <p:nvPr/>
          </p:nvSpPr>
          <p:spPr bwMode="auto">
            <a:xfrm flipH="1">
              <a:off x="528" y="2288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4" name="Oval 22"/>
            <p:cNvSpPr>
              <a:spLocks noChangeArrowheads="1"/>
            </p:cNvSpPr>
            <p:nvPr/>
          </p:nvSpPr>
          <p:spPr bwMode="auto">
            <a:xfrm>
              <a:off x="480" y="1232"/>
              <a:ext cx="48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5" name="Oval 23"/>
            <p:cNvSpPr>
              <a:spLocks noChangeArrowheads="1"/>
            </p:cNvSpPr>
            <p:nvPr/>
          </p:nvSpPr>
          <p:spPr bwMode="auto">
            <a:xfrm>
              <a:off x="480" y="2240"/>
              <a:ext cx="48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6" name="Text Box 26"/>
            <p:cNvSpPr txBox="1">
              <a:spLocks noChangeArrowheads="1"/>
            </p:cNvSpPr>
            <p:nvPr/>
          </p:nvSpPr>
          <p:spPr bwMode="auto">
            <a:xfrm>
              <a:off x="192" y="1106"/>
              <a:ext cx="384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sz="2400"/>
                <a:t>+</a:t>
              </a:r>
            </a:p>
          </p:txBody>
        </p:sp>
        <p:sp>
          <p:nvSpPr>
            <p:cNvPr id="81947" name="Text Box 27"/>
            <p:cNvSpPr txBox="1">
              <a:spLocks noChangeArrowheads="1"/>
            </p:cNvSpPr>
            <p:nvPr/>
          </p:nvSpPr>
          <p:spPr bwMode="auto">
            <a:xfrm>
              <a:off x="192" y="2144"/>
              <a:ext cx="38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400"/>
                <a:t>－</a:t>
              </a:r>
            </a:p>
          </p:txBody>
        </p:sp>
        <p:sp>
          <p:nvSpPr>
            <p:cNvPr id="81948" name="Line 28"/>
            <p:cNvSpPr>
              <a:spLocks noChangeShapeType="1"/>
            </p:cNvSpPr>
            <p:nvPr/>
          </p:nvSpPr>
          <p:spPr bwMode="auto">
            <a:xfrm>
              <a:off x="672" y="1280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1949" name="Object 29"/>
            <p:cNvGraphicFramePr>
              <a:graphicFrameLocks noChangeAspect="1"/>
            </p:cNvGraphicFramePr>
            <p:nvPr/>
          </p:nvGraphicFramePr>
          <p:xfrm>
            <a:off x="204" y="1570"/>
            <a:ext cx="26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64957" imgH="203024" progId="Equation.3">
                    <p:embed/>
                  </p:oleObj>
                </mc:Choice>
                <mc:Fallback>
                  <p:oleObj name="公式" r:id="rId2" imgW="164957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1570"/>
                          <a:ext cx="26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0" name="Object 30"/>
            <p:cNvGraphicFramePr>
              <a:graphicFrameLocks noChangeAspect="1"/>
            </p:cNvGraphicFramePr>
            <p:nvPr/>
          </p:nvGraphicFramePr>
          <p:xfrm>
            <a:off x="734" y="945"/>
            <a:ext cx="204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6890" imgH="190335" progId="Equation.3">
                    <p:embed/>
                  </p:oleObj>
                </mc:Choice>
                <mc:Fallback>
                  <p:oleObj name="公式" r:id="rId4" imgW="126890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" y="945"/>
                          <a:ext cx="204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7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714214"/>
              </p:ext>
            </p:extLst>
          </p:nvPr>
        </p:nvGraphicFramePr>
        <p:xfrm>
          <a:off x="5794375" y="1196975"/>
          <a:ext cx="20224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241200" progId="Equation.DSMT4">
                  <p:embed/>
                </p:oleObj>
              </mc:Choice>
              <mc:Fallback>
                <p:oleObj name="Equation" r:id="rId6" imgW="761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1196975"/>
                        <a:ext cx="202247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364910"/>
              </p:ext>
            </p:extLst>
          </p:nvPr>
        </p:nvGraphicFramePr>
        <p:xfrm>
          <a:off x="3419475" y="1179513"/>
          <a:ext cx="21209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241200" progId="Equation.DSMT4">
                  <p:embed/>
                </p:oleObj>
              </mc:Choice>
              <mc:Fallback>
                <p:oleObj name="Equation" r:id="rId8" imgW="774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179513"/>
                        <a:ext cx="212090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752436"/>
              </p:ext>
            </p:extLst>
          </p:nvPr>
        </p:nvGraphicFramePr>
        <p:xfrm>
          <a:off x="3281363" y="1562100"/>
          <a:ext cx="3898900" cy="210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960" imgH="888840" progId="Equation.DSMT4">
                  <p:embed/>
                </p:oleObj>
              </mc:Choice>
              <mc:Fallback>
                <p:oleObj name="Equation" r:id="rId10" imgW="165096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363" y="1562100"/>
                        <a:ext cx="3898900" cy="210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4" name="Object 34"/>
          <p:cNvGraphicFramePr>
            <a:graphicFrameLocks noChangeAspect="1"/>
          </p:cNvGraphicFramePr>
          <p:nvPr/>
        </p:nvGraphicFramePr>
        <p:xfrm>
          <a:off x="4924425" y="2967038"/>
          <a:ext cx="1728788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96641" imgH="203112" progId="Equation.3">
                  <p:embed/>
                </p:oleObj>
              </mc:Choice>
              <mc:Fallback>
                <p:oleObj name="公式" r:id="rId12" imgW="59664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2967038"/>
                        <a:ext cx="1728788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5" name="Text Box 3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735796" y="4552156"/>
            <a:ext cx="6012668" cy="1445204"/>
          </a:xfrm>
          <a:prstGeom prst="rect">
            <a:avLst/>
          </a:prstGeom>
          <a:blipFill rotWithShape="1">
            <a:blip r:embed="rId14"/>
            <a:stretch>
              <a:fillRect l="-2130" b="-10970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宋体" pitchFamily="2" charset="-122"/>
              </a:rPr>
              <a:t> </a:t>
            </a:r>
          </a:p>
        </p:txBody>
      </p:sp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47864" y="3556000"/>
            <a:ext cx="2808312" cy="866327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宋体" pitchFamily="2" charset="-122"/>
              </a:rPr>
              <a:t> </a:t>
            </a:r>
          </a:p>
        </p:txBody>
      </p:sp>
      <p:sp>
        <p:nvSpPr>
          <p:cNvPr id="26" name="TextBox 2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27013" y="3412760"/>
            <a:ext cx="2808312" cy="1097160"/>
          </a:xfrm>
          <a:prstGeom prst="rect">
            <a:avLst/>
          </a:prstGeom>
          <a:blipFill rotWithShape="1">
            <a:blip r:embed="rId16"/>
            <a:stretch>
              <a:fillRect b="-8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宋体" pitchFamily="2" charset="-122"/>
              </a:rPr>
              <a:t> </a:t>
            </a:r>
          </a:p>
        </p:txBody>
      </p:sp>
      <p:grpSp>
        <p:nvGrpSpPr>
          <p:cNvPr id="27" name="Group 22"/>
          <p:cNvGrpSpPr>
            <a:grpSpLocks/>
          </p:cNvGrpSpPr>
          <p:nvPr/>
        </p:nvGrpSpPr>
        <p:grpSpPr bwMode="auto">
          <a:xfrm>
            <a:off x="731838" y="4440238"/>
            <a:ext cx="1647825" cy="1438275"/>
            <a:chOff x="528" y="1776"/>
            <a:chExt cx="1038" cy="906"/>
          </a:xfrm>
        </p:grpSpPr>
        <p:graphicFrame>
          <p:nvGraphicFramePr>
            <p:cNvPr id="81932" name="Object 23"/>
            <p:cNvGraphicFramePr>
              <a:graphicFrameLocks noChangeAspect="1"/>
            </p:cNvGraphicFramePr>
            <p:nvPr/>
          </p:nvGraphicFramePr>
          <p:xfrm>
            <a:off x="672" y="1776"/>
            <a:ext cx="336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03024" imgH="253780" progId="Equation.3">
                    <p:embed/>
                  </p:oleObj>
                </mc:Choice>
                <mc:Fallback>
                  <p:oleObj name="公式" r:id="rId17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776"/>
                          <a:ext cx="336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33" name="Object 24"/>
            <p:cNvGraphicFramePr>
              <a:graphicFrameLocks noChangeAspect="1"/>
            </p:cNvGraphicFramePr>
            <p:nvPr/>
          </p:nvGraphicFramePr>
          <p:xfrm>
            <a:off x="864" y="2448"/>
            <a:ext cx="23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52268" imgH="164957" progId="Equation.3">
                    <p:embed/>
                  </p:oleObj>
                </mc:Choice>
                <mc:Fallback>
                  <p:oleObj name="公式" r:id="rId19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448"/>
                          <a:ext cx="238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34" name="Object 25"/>
            <p:cNvGraphicFramePr>
              <a:graphicFrameLocks noChangeAspect="1"/>
            </p:cNvGraphicFramePr>
            <p:nvPr/>
          </p:nvGraphicFramePr>
          <p:xfrm>
            <a:off x="1383" y="2000"/>
            <a:ext cx="18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77492" imgH="164814" progId="Equation.DSMT4">
                    <p:embed/>
                  </p:oleObj>
                </mc:Choice>
                <mc:Fallback>
                  <p:oleObj name="Equation" r:id="rId21" imgW="177492" imgH="16481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000"/>
                          <a:ext cx="18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35" name="Object 26"/>
            <p:cNvGraphicFramePr>
              <a:graphicFrameLocks noChangeAspect="1"/>
            </p:cNvGraphicFramePr>
            <p:nvPr/>
          </p:nvGraphicFramePr>
          <p:xfrm>
            <a:off x="821" y="2183"/>
            <a:ext cx="165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14185" imgH="171408" progId="Equation.DSMT4">
                    <p:embed/>
                  </p:oleObj>
                </mc:Choice>
                <mc:Fallback>
                  <p:oleObj name="Equation" r:id="rId23" imgW="114185" imgH="17140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" y="2183"/>
                          <a:ext cx="165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36" name="Line 27"/>
            <p:cNvSpPr>
              <a:spLocks noChangeShapeType="1"/>
            </p:cNvSpPr>
            <p:nvPr/>
          </p:nvSpPr>
          <p:spPr bwMode="auto">
            <a:xfrm flipH="1">
              <a:off x="528" y="1776"/>
              <a:ext cx="816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7" name="Line 28"/>
            <p:cNvSpPr>
              <a:spLocks noChangeShapeType="1"/>
            </p:cNvSpPr>
            <p:nvPr/>
          </p:nvSpPr>
          <p:spPr bwMode="auto">
            <a:xfrm flipV="1">
              <a:off x="1344" y="1776"/>
              <a:ext cx="0" cy="6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8" name="Line 29"/>
            <p:cNvSpPr>
              <a:spLocks noChangeShapeType="1"/>
            </p:cNvSpPr>
            <p:nvPr/>
          </p:nvSpPr>
          <p:spPr bwMode="auto">
            <a:xfrm>
              <a:off x="528" y="2448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9" name="Freeform 30"/>
            <p:cNvSpPr>
              <a:spLocks/>
            </p:cNvSpPr>
            <p:nvPr/>
          </p:nvSpPr>
          <p:spPr bwMode="auto">
            <a:xfrm>
              <a:off x="742" y="2296"/>
              <a:ext cx="79" cy="150"/>
            </a:xfrm>
            <a:custGeom>
              <a:avLst/>
              <a:gdLst>
                <a:gd name="T0" fmla="*/ 0 w 79"/>
                <a:gd name="T1" fmla="*/ 0 h 150"/>
                <a:gd name="T2" fmla="*/ 79 w 79"/>
                <a:gd name="T3" fmla="*/ 150 h 150"/>
                <a:gd name="T4" fmla="*/ 0 60000 65536"/>
                <a:gd name="T5" fmla="*/ 0 60000 65536"/>
                <a:gd name="T6" fmla="*/ 0 w 79"/>
                <a:gd name="T7" fmla="*/ 0 h 150"/>
                <a:gd name="T8" fmla="*/ 79 w 79"/>
                <a:gd name="T9" fmla="*/ 150 h 1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9" h="150">
                  <a:moveTo>
                    <a:pt x="0" y="0"/>
                  </a:moveTo>
                  <a:cubicBezTo>
                    <a:pt x="50" y="35"/>
                    <a:pt x="79" y="88"/>
                    <a:pt x="79" y="15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7135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Group 4"/>
          <p:cNvGrpSpPr>
            <a:grpSpLocks/>
          </p:cNvGrpSpPr>
          <p:nvPr/>
        </p:nvGrpSpPr>
        <p:grpSpPr bwMode="auto">
          <a:xfrm>
            <a:off x="365125" y="1090613"/>
            <a:ext cx="2754313" cy="2452687"/>
            <a:chOff x="192" y="945"/>
            <a:chExt cx="1735" cy="1545"/>
          </a:xfrm>
        </p:grpSpPr>
        <p:sp>
          <p:nvSpPr>
            <p:cNvPr id="83976" name="Rectangle 5"/>
            <p:cNvSpPr>
              <a:spLocks noChangeArrowheads="1"/>
            </p:cNvSpPr>
            <p:nvPr/>
          </p:nvSpPr>
          <p:spPr bwMode="auto">
            <a:xfrm>
              <a:off x="1152" y="1184"/>
              <a:ext cx="775" cy="1248"/>
            </a:xfrm>
            <a:prstGeom prst="rect">
              <a:avLst/>
            </a:prstGeom>
            <a:solidFill>
              <a:srgbClr val="00CC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77" name="Text Box 6"/>
            <p:cNvSpPr txBox="1">
              <a:spLocks noChangeArrowheads="1"/>
            </p:cNvSpPr>
            <p:nvPr/>
          </p:nvSpPr>
          <p:spPr bwMode="auto">
            <a:xfrm>
              <a:off x="1244" y="1628"/>
              <a:ext cx="59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dirty="0"/>
                <a:t>N</a:t>
              </a:r>
              <a:r>
                <a:rPr lang="en-US" altLang="zh-CN" baseline="-25000" dirty="0"/>
                <a:t>0</a:t>
              </a:r>
            </a:p>
          </p:txBody>
        </p:sp>
        <p:sp>
          <p:nvSpPr>
            <p:cNvPr id="83978" name="Line 7"/>
            <p:cNvSpPr>
              <a:spLocks noChangeShapeType="1"/>
            </p:cNvSpPr>
            <p:nvPr/>
          </p:nvSpPr>
          <p:spPr bwMode="auto">
            <a:xfrm flipH="1">
              <a:off x="528" y="1280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9" name="Line 8"/>
            <p:cNvSpPr>
              <a:spLocks noChangeShapeType="1"/>
            </p:cNvSpPr>
            <p:nvPr/>
          </p:nvSpPr>
          <p:spPr bwMode="auto">
            <a:xfrm flipH="1">
              <a:off x="528" y="2288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0" name="Oval 9"/>
            <p:cNvSpPr>
              <a:spLocks noChangeArrowheads="1"/>
            </p:cNvSpPr>
            <p:nvPr/>
          </p:nvSpPr>
          <p:spPr bwMode="auto">
            <a:xfrm>
              <a:off x="480" y="1232"/>
              <a:ext cx="48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1" name="Oval 10"/>
            <p:cNvSpPr>
              <a:spLocks noChangeArrowheads="1"/>
            </p:cNvSpPr>
            <p:nvPr/>
          </p:nvSpPr>
          <p:spPr bwMode="auto">
            <a:xfrm>
              <a:off x="480" y="2240"/>
              <a:ext cx="48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2" name="Text Box 11"/>
            <p:cNvSpPr txBox="1">
              <a:spLocks noChangeArrowheads="1"/>
            </p:cNvSpPr>
            <p:nvPr/>
          </p:nvSpPr>
          <p:spPr bwMode="auto">
            <a:xfrm>
              <a:off x="240" y="1088"/>
              <a:ext cx="384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 sz="2400"/>
                <a:t>+</a:t>
              </a:r>
            </a:p>
          </p:txBody>
        </p:sp>
        <p:sp>
          <p:nvSpPr>
            <p:cNvPr id="83983" name="Text Box 12"/>
            <p:cNvSpPr txBox="1">
              <a:spLocks noChangeArrowheads="1"/>
            </p:cNvSpPr>
            <p:nvPr/>
          </p:nvSpPr>
          <p:spPr bwMode="auto">
            <a:xfrm>
              <a:off x="192" y="2144"/>
              <a:ext cx="38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400"/>
                <a:t>－</a:t>
              </a:r>
            </a:p>
          </p:txBody>
        </p:sp>
        <p:sp>
          <p:nvSpPr>
            <p:cNvPr id="83984" name="Line 13"/>
            <p:cNvSpPr>
              <a:spLocks noChangeShapeType="1"/>
            </p:cNvSpPr>
            <p:nvPr/>
          </p:nvSpPr>
          <p:spPr bwMode="auto">
            <a:xfrm>
              <a:off x="672" y="1280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3985" name="Object 14"/>
            <p:cNvGraphicFramePr>
              <a:graphicFrameLocks noChangeAspect="1"/>
            </p:cNvGraphicFramePr>
            <p:nvPr/>
          </p:nvGraphicFramePr>
          <p:xfrm>
            <a:off x="204" y="1570"/>
            <a:ext cx="26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64957" imgH="203024" progId="Equation.3">
                    <p:embed/>
                  </p:oleObj>
                </mc:Choice>
                <mc:Fallback>
                  <p:oleObj name="公式" r:id="rId2" imgW="164957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1570"/>
                          <a:ext cx="26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86" name="Object 15"/>
            <p:cNvGraphicFramePr>
              <a:graphicFrameLocks noChangeAspect="1"/>
            </p:cNvGraphicFramePr>
            <p:nvPr/>
          </p:nvGraphicFramePr>
          <p:xfrm>
            <a:off x="734" y="945"/>
            <a:ext cx="204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6890" imgH="190335" progId="Equation.3">
                    <p:embed/>
                  </p:oleObj>
                </mc:Choice>
                <mc:Fallback>
                  <p:oleObj name="公式" r:id="rId4" imgW="126890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" y="945"/>
                          <a:ext cx="204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397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862600"/>
              </p:ext>
            </p:extLst>
          </p:nvPr>
        </p:nvGraphicFramePr>
        <p:xfrm>
          <a:off x="5724127" y="1215291"/>
          <a:ext cx="2376265" cy="700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380880" progId="Equation.DSMT4">
                  <p:embed/>
                </p:oleObj>
              </mc:Choice>
              <mc:Fallback>
                <p:oleObj name="Equation" r:id="rId6" imgW="12952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7" y="1215291"/>
                        <a:ext cx="2376265" cy="700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824296"/>
              </p:ext>
            </p:extLst>
          </p:nvPr>
        </p:nvGraphicFramePr>
        <p:xfrm>
          <a:off x="3275856" y="1222172"/>
          <a:ext cx="2273101" cy="647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380880" progId="Equation.DSMT4">
                  <p:embed/>
                </p:oleObj>
              </mc:Choice>
              <mc:Fallback>
                <p:oleObj name="Equation" r:id="rId8" imgW="1333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222172"/>
                        <a:ext cx="2273101" cy="647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632196"/>
              </p:ext>
            </p:extLst>
          </p:nvPr>
        </p:nvGraphicFramePr>
        <p:xfrm>
          <a:off x="3202310" y="1840139"/>
          <a:ext cx="3385914" cy="1683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50880" imgH="1218960" progId="Equation.DSMT4">
                  <p:embed/>
                </p:oleObj>
              </mc:Choice>
              <mc:Fallback>
                <p:oleObj name="Equation" r:id="rId10" imgW="2450880" imgH="1218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310" y="1840139"/>
                        <a:ext cx="3385914" cy="16837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8" name="Text Box 20"/>
          <p:cNvSpPr txBox="1">
            <a:spLocks noChangeArrowheads="1"/>
          </p:cNvSpPr>
          <p:nvPr/>
        </p:nvSpPr>
        <p:spPr bwMode="auto">
          <a:xfrm>
            <a:off x="1873250" y="3543300"/>
            <a:ext cx="5797550" cy="151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G=Re Y           the conductance </a:t>
            </a:r>
          </a:p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B=Im Y            the susceptance </a:t>
            </a:r>
          </a:p>
        </p:txBody>
      </p:sp>
      <p:sp>
        <p:nvSpPr>
          <p:cNvPr id="78874" name="Text Box 26"/>
          <p:cNvSpPr txBox="1">
            <a:spLocks noChangeArrowheads="1"/>
          </p:cNvSpPr>
          <p:nvPr/>
        </p:nvSpPr>
        <p:spPr bwMode="auto">
          <a:xfrm>
            <a:off x="250825" y="4933950"/>
            <a:ext cx="88931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Arial" charset="0"/>
              </a:rPr>
              <a:t>Admittance, conductance, and </a:t>
            </a:r>
            <a:r>
              <a:rPr lang="en-US" altLang="zh-CN" dirty="0" err="1">
                <a:latin typeface="Arial" charset="0"/>
              </a:rPr>
              <a:t>susceptance</a:t>
            </a:r>
            <a:r>
              <a:rPr lang="en-US" altLang="zh-CN" dirty="0">
                <a:latin typeface="Arial" charset="0"/>
              </a:rPr>
              <a:t> are all measured in </a:t>
            </a:r>
            <a:r>
              <a:rPr lang="en-US" altLang="zh-CN" dirty="0" err="1">
                <a:latin typeface="Arial" charset="0"/>
              </a:rPr>
              <a:t>siemens</a:t>
            </a:r>
            <a:r>
              <a:rPr lang="en-US" altLang="zh-CN" dirty="0">
                <a:latin typeface="Arial" charset="0"/>
              </a:rPr>
              <a:t> (or mhos).</a:t>
            </a:r>
          </a:p>
        </p:txBody>
      </p:sp>
    </p:spTree>
    <p:extLst>
      <p:ext uri="{BB962C8B-B14F-4D97-AF65-F5344CB8AC3E}">
        <p14:creationId xmlns:p14="http://schemas.microsoft.com/office/powerpoint/2010/main" val="32894281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8" grpId="0"/>
      <p:bldP spid="7887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4"/>
          <p:cNvSpPr txBox="1">
            <a:spLocks noChangeArrowheads="1"/>
          </p:cNvSpPr>
          <p:nvPr/>
        </p:nvSpPr>
        <p:spPr bwMode="auto">
          <a:xfrm>
            <a:off x="468313" y="1628775"/>
            <a:ext cx="935037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R</a:t>
            </a:r>
          </a:p>
        </p:txBody>
      </p:sp>
      <p:graphicFrame>
        <p:nvGraphicFramePr>
          <p:cNvPr id="84995" name="Object 5"/>
          <p:cNvGraphicFramePr>
            <a:graphicFrameLocks noChangeAspect="1"/>
          </p:cNvGraphicFramePr>
          <p:nvPr/>
        </p:nvGraphicFramePr>
        <p:xfrm>
          <a:off x="1476375" y="1700213"/>
          <a:ext cx="13731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696" imgH="165028" progId="Equation.DSMT4">
                  <p:embed/>
                </p:oleObj>
              </mc:Choice>
              <mc:Fallback>
                <p:oleObj name="Equation" r:id="rId2" imgW="469696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700213"/>
                        <a:ext cx="13731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484188" y="2708275"/>
            <a:ext cx="1079500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L</a:t>
            </a:r>
          </a:p>
        </p:txBody>
      </p:sp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1465263" y="2509838"/>
          <a:ext cx="2109787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142" imgH="406224" progId="Equation.DSMT4">
                  <p:embed/>
                </p:oleObj>
              </mc:Choice>
              <mc:Fallback>
                <p:oleObj name="Equation" r:id="rId4" imgW="82514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2509838"/>
                        <a:ext cx="2109787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Object 8"/>
          <p:cNvGraphicFramePr>
            <a:graphicFrameLocks noChangeAspect="1"/>
          </p:cNvGraphicFramePr>
          <p:nvPr/>
        </p:nvGraphicFramePr>
        <p:xfrm>
          <a:off x="3711575" y="2749550"/>
          <a:ext cx="107156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8918" imgH="241195" progId="Equation.DSMT4">
                  <p:embed/>
                </p:oleObj>
              </mc:Choice>
              <mc:Fallback>
                <p:oleObj name="Equation" r:id="rId6" imgW="418918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575" y="2749550"/>
                        <a:ext cx="107156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2519363" y="3500438"/>
            <a:ext cx="446405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  <a:latin typeface="Arial" charset="0"/>
              </a:rPr>
              <a:t>inductive susceptance</a:t>
            </a:r>
            <a:endParaRPr lang="zh-CN" altLang="en-US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541338" y="4329113"/>
            <a:ext cx="107950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C</a:t>
            </a:r>
          </a:p>
        </p:txBody>
      </p:sp>
      <p:graphicFrame>
        <p:nvGraphicFramePr>
          <p:cNvPr id="74763" name="Object 11"/>
          <p:cNvGraphicFramePr>
            <a:graphicFrameLocks noChangeAspect="1"/>
          </p:cNvGraphicFramePr>
          <p:nvPr/>
        </p:nvGraphicFramePr>
        <p:xfrm>
          <a:off x="1660525" y="4449763"/>
          <a:ext cx="29194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241300" progId="Equation.DSMT4">
                  <p:embed/>
                </p:oleObj>
              </mc:Choice>
              <mc:Fallback>
                <p:oleObj name="Equation" r:id="rId8" imgW="11430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4449763"/>
                        <a:ext cx="291941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5" name="Text Box 13"/>
          <p:cNvSpPr txBox="1">
            <a:spLocks noChangeArrowheads="1"/>
          </p:cNvSpPr>
          <p:nvPr/>
        </p:nvSpPr>
        <p:spPr bwMode="auto">
          <a:xfrm>
            <a:off x="2519363" y="5300663"/>
            <a:ext cx="4213225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  <a:latin typeface="Arial" charset="0"/>
              </a:rPr>
              <a:t>capacitive susceptance</a:t>
            </a:r>
            <a:endParaRPr lang="zh-CN" altLang="en-US">
              <a:solidFill>
                <a:srgbClr val="FF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8558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/>
      <p:bldP spid="74761" grpId="0"/>
      <p:bldP spid="74762" grpId="0"/>
      <p:bldP spid="7476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900113" y="290513"/>
            <a:ext cx="7956550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Ohm’s Law in Frequency Domain</a:t>
            </a:r>
          </a:p>
        </p:txBody>
      </p:sp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1508125" y="1108075"/>
          <a:ext cx="1976438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85" imgH="279279" progId="Equation.DSMT4">
                  <p:embed/>
                </p:oleObj>
              </mc:Choice>
              <mc:Fallback>
                <p:oleObj name="Equation" r:id="rId2" imgW="495085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1108075"/>
                        <a:ext cx="1976438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74967" name="Group 23"/>
          <p:cNvGrpSpPr>
            <a:grpSpLocks/>
          </p:cNvGrpSpPr>
          <p:nvPr/>
        </p:nvGrpSpPr>
        <p:grpSpPr bwMode="auto">
          <a:xfrm>
            <a:off x="1223963" y="2276475"/>
            <a:ext cx="2573337" cy="3622675"/>
            <a:chOff x="771" y="1275"/>
            <a:chExt cx="1621" cy="2282"/>
          </a:xfrm>
        </p:grpSpPr>
        <p:grpSp>
          <p:nvGrpSpPr>
            <p:cNvPr id="86033" name="Group 5"/>
            <p:cNvGrpSpPr>
              <a:grpSpLocks/>
            </p:cNvGrpSpPr>
            <p:nvPr/>
          </p:nvGrpSpPr>
          <p:grpSpPr bwMode="auto">
            <a:xfrm>
              <a:off x="771" y="1275"/>
              <a:ext cx="1599" cy="558"/>
              <a:chOff x="2313" y="1184"/>
              <a:chExt cx="1599" cy="558"/>
            </a:xfrm>
          </p:grpSpPr>
          <p:graphicFrame>
            <p:nvGraphicFramePr>
              <p:cNvPr id="86040" name="Object 6"/>
              <p:cNvGraphicFramePr>
                <a:graphicFrameLocks noChangeAspect="1"/>
              </p:cNvGraphicFramePr>
              <p:nvPr/>
            </p:nvGraphicFramePr>
            <p:xfrm>
              <a:off x="2727" y="1312"/>
              <a:ext cx="76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406048" imgH="152268" progId="Equation.DSMT4">
                      <p:embed/>
                    </p:oleObj>
                  </mc:Choice>
                  <mc:Fallback>
                    <p:oleObj name="Equation" r:id="rId4" imgW="406048" imgH="15226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27" y="1312"/>
                            <a:ext cx="76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6041" name="Text Box 7"/>
              <p:cNvSpPr txBox="1">
                <a:spLocks noChangeArrowheads="1"/>
              </p:cNvSpPr>
              <p:nvPr/>
            </p:nvSpPr>
            <p:spPr bwMode="auto">
              <a:xfrm>
                <a:off x="2313" y="1184"/>
                <a:ext cx="1599" cy="558"/>
              </a:xfrm>
              <a:prstGeom prst="rect">
                <a:avLst/>
              </a:prstGeom>
              <a:noFill/>
              <a:ln w="57150" algn="ctr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l" eaLnBrk="1" hangingPunct="1">
                  <a:lnSpc>
                    <a:spcPct val="110000"/>
                  </a:lnSpc>
                  <a:buFont typeface="Wingdings" pitchFamily="2" charset="2"/>
                  <a:buNone/>
                </a:pPr>
                <a:endParaRPr lang="zh-CN" altLang="en-US" sz="4400"/>
              </a:p>
            </p:txBody>
          </p:sp>
        </p:grpSp>
        <p:grpSp>
          <p:nvGrpSpPr>
            <p:cNvPr id="86034" name="Group 8"/>
            <p:cNvGrpSpPr>
              <a:grpSpLocks/>
            </p:cNvGrpSpPr>
            <p:nvPr/>
          </p:nvGrpSpPr>
          <p:grpSpPr bwMode="auto">
            <a:xfrm>
              <a:off x="793" y="1991"/>
              <a:ext cx="1599" cy="827"/>
              <a:chOff x="2336" y="2027"/>
              <a:chExt cx="1599" cy="827"/>
            </a:xfrm>
          </p:grpSpPr>
          <p:graphicFrame>
            <p:nvGraphicFramePr>
              <p:cNvPr id="86038" name="Object 9"/>
              <p:cNvGraphicFramePr>
                <a:graphicFrameLocks noChangeAspect="1"/>
              </p:cNvGraphicFramePr>
              <p:nvPr/>
            </p:nvGraphicFramePr>
            <p:xfrm>
              <a:off x="2571" y="2027"/>
              <a:ext cx="1152" cy="7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609600" imgH="419100" progId="Equation.DSMT4">
                      <p:embed/>
                    </p:oleObj>
                  </mc:Choice>
                  <mc:Fallback>
                    <p:oleObj name="Equation" r:id="rId6" imgW="609600" imgH="4191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71" y="2027"/>
                            <a:ext cx="1152" cy="7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6039" name="Text Box 10"/>
              <p:cNvSpPr txBox="1">
                <a:spLocks noChangeArrowheads="1"/>
              </p:cNvSpPr>
              <p:nvPr/>
            </p:nvSpPr>
            <p:spPr bwMode="auto">
              <a:xfrm>
                <a:off x="2336" y="2035"/>
                <a:ext cx="1599" cy="819"/>
              </a:xfrm>
              <a:prstGeom prst="rect">
                <a:avLst/>
              </a:prstGeom>
              <a:noFill/>
              <a:ln w="57150" algn="ctr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l" eaLnBrk="1" hangingPunct="1">
                  <a:buFont typeface="Wingdings" pitchFamily="2" charset="2"/>
                  <a:buNone/>
                </a:pPr>
                <a:endParaRPr lang="zh-CN" altLang="en-US" sz="5400"/>
              </a:p>
            </p:txBody>
          </p:sp>
        </p:grpSp>
        <p:grpSp>
          <p:nvGrpSpPr>
            <p:cNvPr id="86035" name="Group 11"/>
            <p:cNvGrpSpPr>
              <a:grpSpLocks/>
            </p:cNvGrpSpPr>
            <p:nvPr/>
          </p:nvGrpSpPr>
          <p:grpSpPr bwMode="auto">
            <a:xfrm>
              <a:off x="781" y="2999"/>
              <a:ext cx="1599" cy="558"/>
              <a:chOff x="2324" y="3126"/>
              <a:chExt cx="1599" cy="558"/>
            </a:xfrm>
          </p:grpSpPr>
          <p:graphicFrame>
            <p:nvGraphicFramePr>
              <p:cNvPr id="86036" name="Object 12"/>
              <p:cNvGraphicFramePr>
                <a:graphicFrameLocks noChangeAspect="1"/>
              </p:cNvGraphicFramePr>
              <p:nvPr/>
            </p:nvGraphicFramePr>
            <p:xfrm>
              <a:off x="2585" y="3243"/>
              <a:ext cx="108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571252" imgH="190417" progId="Equation.DSMT4">
                      <p:embed/>
                    </p:oleObj>
                  </mc:Choice>
                  <mc:Fallback>
                    <p:oleObj name="Equation" r:id="rId8" imgW="571252" imgH="19041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85" y="3243"/>
                            <a:ext cx="1080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6037" name="Text Box 13"/>
              <p:cNvSpPr txBox="1">
                <a:spLocks noChangeArrowheads="1"/>
              </p:cNvSpPr>
              <p:nvPr/>
            </p:nvSpPr>
            <p:spPr bwMode="auto">
              <a:xfrm>
                <a:off x="2324" y="3126"/>
                <a:ext cx="1599" cy="558"/>
              </a:xfrm>
              <a:prstGeom prst="rect">
                <a:avLst/>
              </a:prstGeom>
              <a:noFill/>
              <a:ln w="57150" algn="ctr">
                <a:solidFill>
                  <a:schemeClr val="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algn="ctr" eaLnBrk="0" fontAlgn="base" hangingPunct="0">
                  <a:lnSpc>
                    <a:spcPct val="14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66FF"/>
                  </a:buClr>
                  <a:buSzPct val="60000"/>
                  <a:buFont typeface="Wingdings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l" eaLnBrk="1" hangingPunct="1">
                  <a:lnSpc>
                    <a:spcPct val="110000"/>
                  </a:lnSpc>
                  <a:buFont typeface="Wingdings" pitchFamily="2" charset="2"/>
                  <a:buNone/>
                </a:pPr>
                <a:endParaRPr lang="zh-CN" altLang="en-US" sz="4400"/>
              </a:p>
            </p:txBody>
          </p:sp>
        </p:grpSp>
      </p:grpSp>
      <p:grpSp>
        <p:nvGrpSpPr>
          <p:cNvPr id="1874971" name="Group 27"/>
          <p:cNvGrpSpPr>
            <a:grpSpLocks/>
          </p:cNvGrpSpPr>
          <p:nvPr/>
        </p:nvGrpSpPr>
        <p:grpSpPr bwMode="auto">
          <a:xfrm>
            <a:off x="5381625" y="1071563"/>
            <a:ext cx="2574925" cy="4826000"/>
            <a:chOff x="3390" y="675"/>
            <a:chExt cx="1622" cy="3040"/>
          </a:xfrm>
        </p:grpSpPr>
        <p:graphicFrame>
          <p:nvGraphicFramePr>
            <p:cNvPr id="86022" name="Object 4"/>
            <p:cNvGraphicFramePr>
              <a:graphicFrameLocks noChangeAspect="1"/>
            </p:cNvGraphicFramePr>
            <p:nvPr/>
          </p:nvGraphicFramePr>
          <p:xfrm>
            <a:off x="3550" y="675"/>
            <a:ext cx="1244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95085" imgH="279279" progId="Equation.DSMT4">
                    <p:embed/>
                  </p:oleObj>
                </mc:Choice>
                <mc:Fallback>
                  <p:oleObj name="Equation" r:id="rId10" imgW="495085" imgH="2792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0" y="675"/>
                          <a:ext cx="1244" cy="7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6023" name="Group 24"/>
            <p:cNvGrpSpPr>
              <a:grpSpLocks/>
            </p:cNvGrpSpPr>
            <p:nvPr/>
          </p:nvGrpSpPr>
          <p:grpSpPr bwMode="auto">
            <a:xfrm>
              <a:off x="3390" y="1433"/>
              <a:ext cx="1622" cy="2282"/>
              <a:chOff x="3322" y="1275"/>
              <a:chExt cx="1622" cy="2282"/>
            </a:xfrm>
          </p:grpSpPr>
          <p:grpSp>
            <p:nvGrpSpPr>
              <p:cNvPr id="86024" name="Group 14"/>
              <p:cNvGrpSpPr>
                <a:grpSpLocks/>
              </p:cNvGrpSpPr>
              <p:nvPr/>
            </p:nvGrpSpPr>
            <p:grpSpPr bwMode="auto">
              <a:xfrm>
                <a:off x="3322" y="1275"/>
                <a:ext cx="1599" cy="558"/>
                <a:chOff x="4048" y="1184"/>
                <a:chExt cx="1599" cy="558"/>
              </a:xfrm>
            </p:grpSpPr>
            <p:graphicFrame>
              <p:nvGraphicFramePr>
                <p:cNvPr id="86031" name="Object 15"/>
                <p:cNvGraphicFramePr>
                  <a:graphicFrameLocks noChangeAspect="1"/>
                </p:cNvGraphicFramePr>
                <p:nvPr/>
              </p:nvGraphicFramePr>
              <p:xfrm>
                <a:off x="4102" y="1252"/>
                <a:ext cx="1488" cy="4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2" imgW="787058" imgH="215806" progId="Equation.DSMT4">
                        <p:embed/>
                      </p:oleObj>
                    </mc:Choice>
                    <mc:Fallback>
                      <p:oleObj name="Equation" r:id="rId12" imgW="787058" imgH="215806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02" y="1252"/>
                              <a:ext cx="1488" cy="4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603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048" y="1184"/>
                  <a:ext cx="1599" cy="558"/>
                </a:xfrm>
                <a:prstGeom prst="rect">
                  <a:avLst/>
                </a:prstGeom>
                <a:noFill/>
                <a:ln w="57150" algn="ctr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l" eaLnBrk="1" hangingPunct="1">
                    <a:lnSpc>
                      <a:spcPct val="110000"/>
                    </a:lnSpc>
                    <a:buFont typeface="Wingdings" pitchFamily="2" charset="2"/>
                    <a:buNone/>
                  </a:pPr>
                  <a:endParaRPr lang="zh-CN" altLang="en-US" sz="4400"/>
                </a:p>
              </p:txBody>
            </p:sp>
          </p:grpSp>
          <p:grpSp>
            <p:nvGrpSpPr>
              <p:cNvPr id="86025" name="Group 17"/>
              <p:cNvGrpSpPr>
                <a:grpSpLocks/>
              </p:cNvGrpSpPr>
              <p:nvPr/>
            </p:nvGrpSpPr>
            <p:grpSpPr bwMode="auto">
              <a:xfrm>
                <a:off x="3345" y="2001"/>
                <a:ext cx="1599" cy="819"/>
                <a:chOff x="4071" y="2035"/>
                <a:chExt cx="1599" cy="819"/>
              </a:xfrm>
            </p:grpSpPr>
            <p:graphicFrame>
              <p:nvGraphicFramePr>
                <p:cNvPr id="86029" name="Object 18"/>
                <p:cNvGraphicFramePr>
                  <a:graphicFrameLocks noChangeAspect="1"/>
                </p:cNvGraphicFramePr>
                <p:nvPr/>
              </p:nvGraphicFramePr>
              <p:xfrm>
                <a:off x="4330" y="2275"/>
                <a:ext cx="1104" cy="3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4" imgW="583947" imgH="203112" progId="Equation.DSMT4">
                        <p:embed/>
                      </p:oleObj>
                    </mc:Choice>
                    <mc:Fallback>
                      <p:oleObj name="Equation" r:id="rId14" imgW="583947" imgH="203112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0" y="2275"/>
                              <a:ext cx="1104" cy="38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6030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071" y="2035"/>
                  <a:ext cx="1599" cy="819"/>
                </a:xfrm>
                <a:prstGeom prst="rect">
                  <a:avLst/>
                </a:prstGeom>
                <a:noFill/>
                <a:ln w="57150" algn="ctr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l" eaLnBrk="1" hangingPunct="1">
                    <a:buFont typeface="Wingdings" pitchFamily="2" charset="2"/>
                    <a:buNone/>
                  </a:pPr>
                  <a:endParaRPr lang="zh-CN" altLang="en-US" sz="5400"/>
                </a:p>
              </p:txBody>
            </p:sp>
          </p:grpSp>
          <p:grpSp>
            <p:nvGrpSpPr>
              <p:cNvPr id="86026" name="Group 20"/>
              <p:cNvGrpSpPr>
                <a:grpSpLocks/>
              </p:cNvGrpSpPr>
              <p:nvPr/>
            </p:nvGrpSpPr>
            <p:grpSpPr bwMode="auto">
              <a:xfrm>
                <a:off x="3333" y="2999"/>
                <a:ext cx="1599" cy="558"/>
                <a:chOff x="4059" y="3126"/>
                <a:chExt cx="1599" cy="558"/>
              </a:xfrm>
            </p:grpSpPr>
            <p:graphicFrame>
              <p:nvGraphicFramePr>
                <p:cNvPr id="86027" name="Object 21"/>
                <p:cNvGraphicFramePr>
                  <a:graphicFrameLocks noChangeAspect="1"/>
                </p:cNvGraphicFramePr>
                <p:nvPr/>
              </p:nvGraphicFramePr>
              <p:xfrm>
                <a:off x="4224" y="3219"/>
                <a:ext cx="1272" cy="4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6" imgW="672808" imgH="215806" progId="Equation.DSMT4">
                        <p:embed/>
                      </p:oleObj>
                    </mc:Choice>
                    <mc:Fallback>
                      <p:oleObj name="Equation" r:id="rId16" imgW="672808" imgH="215806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24" y="3219"/>
                              <a:ext cx="1272" cy="4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602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059" y="3126"/>
                  <a:ext cx="1599" cy="558"/>
                </a:xfrm>
                <a:prstGeom prst="rect">
                  <a:avLst/>
                </a:prstGeom>
                <a:noFill/>
                <a:ln w="57150" algn="ctr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algn="ctr" eaLnBrk="0" fontAlgn="base" hangingPunct="0">
                    <a:lnSpc>
                      <a:spcPct val="14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66FF"/>
                    </a:buClr>
                    <a:buSzPct val="60000"/>
                    <a:buFont typeface="Wingdings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l" eaLnBrk="1" hangingPunct="1">
                    <a:lnSpc>
                      <a:spcPct val="110000"/>
                    </a:lnSpc>
                    <a:buFont typeface="Wingdings" pitchFamily="2" charset="2"/>
                    <a:buNone/>
                  </a:pPr>
                  <a:endParaRPr lang="zh-CN" altLang="en-US" sz="4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551752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4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4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7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ChangeArrowheads="1"/>
          </p:cNvSpPr>
          <p:nvPr/>
        </p:nvSpPr>
        <p:spPr bwMode="auto">
          <a:xfrm>
            <a:off x="3505200" y="381000"/>
            <a:ext cx="320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endParaRPr lang="en-US" altLang="zh-CN" sz="480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42692" name="Rectangle 4"/>
          <p:cNvSpPr>
            <a:spLocks noChangeArrowheads="1"/>
          </p:cNvSpPr>
          <p:nvPr/>
        </p:nvSpPr>
        <p:spPr bwMode="auto">
          <a:xfrm>
            <a:off x="3240088" y="386090"/>
            <a:ext cx="29819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>
              <a:buFont typeface="Wingdings" pitchFamily="2" charset="2"/>
              <a:buNone/>
            </a:pPr>
            <a:r>
              <a:rPr lang="en-US" altLang="zh-CN" sz="2800" b="1" dirty="0">
                <a:latin typeface="Arial Black" pitchFamily="34" charset="0"/>
              </a:rPr>
              <a:t>True or False?</a:t>
            </a:r>
            <a:endParaRPr lang="zh-CN" altLang="en-US" sz="2800" b="1" dirty="0">
              <a:latin typeface="Arial Black" pitchFamily="34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-44450" y="1349375"/>
            <a:ext cx="2819400" cy="4819650"/>
            <a:chOff x="68" y="850"/>
            <a:chExt cx="1776" cy="3036"/>
          </a:xfrm>
        </p:grpSpPr>
        <p:sp>
          <p:nvSpPr>
            <p:cNvPr id="87065" name="Rectangle 6"/>
            <p:cNvSpPr>
              <a:spLocks noChangeArrowheads="1"/>
            </p:cNvSpPr>
            <p:nvPr/>
          </p:nvSpPr>
          <p:spPr bwMode="auto">
            <a:xfrm>
              <a:off x="68" y="850"/>
              <a:ext cx="177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>
                <a:buFont typeface="Wingdings" pitchFamily="2" charset="2"/>
                <a:buNone/>
              </a:pPr>
              <a:r>
                <a:rPr lang="en-US" altLang="zh-CN" sz="2800" b="1" dirty="0">
                  <a:latin typeface="Times New Roman" pitchFamily="18" charset="0"/>
                  <a:cs typeface="Times New Roman" pitchFamily="18" charset="0"/>
                </a:rPr>
                <a:t>Resistor</a:t>
              </a:r>
              <a:endParaRPr lang="zh-CN" altLang="en-US" sz="28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7066" name="Group 7"/>
            <p:cNvGrpSpPr>
              <a:grpSpLocks/>
            </p:cNvGrpSpPr>
            <p:nvPr/>
          </p:nvGrpSpPr>
          <p:grpSpPr bwMode="auto">
            <a:xfrm>
              <a:off x="384" y="1190"/>
              <a:ext cx="1070" cy="2696"/>
              <a:chOff x="384" y="1190"/>
              <a:chExt cx="1070" cy="2696"/>
            </a:xfrm>
          </p:grpSpPr>
          <p:graphicFrame>
            <p:nvGraphicFramePr>
              <p:cNvPr id="87067" name="Object 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80" y="1824"/>
              <a:ext cx="912" cy="6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393529" imgH="393529" progId="Equation.3">
                      <p:embed/>
                    </p:oleObj>
                  </mc:Choice>
                  <mc:Fallback>
                    <p:oleObj name="公式" r:id="rId2" imgW="393529" imgH="393529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" y="1824"/>
                            <a:ext cx="912" cy="6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7068" name="Object 9">
                <a:hlinkClick r:id="" action="ppaction://ole?verb=0"/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4759235"/>
                  </p:ext>
                </p:extLst>
              </p:nvPr>
            </p:nvGraphicFramePr>
            <p:xfrm>
              <a:off x="432" y="1190"/>
              <a:ext cx="1022" cy="6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431613" imgH="406224" progId="Equation.DSMT4">
                      <p:embed/>
                    </p:oleObj>
                  </mc:Choice>
                  <mc:Fallback>
                    <p:oleObj name="Equation" r:id="rId4" imgW="431613" imgH="406224" progId="Equation.DSMT4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" y="1190"/>
                            <a:ext cx="1022" cy="6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7069" name="Object 1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80" y="2448"/>
              <a:ext cx="864" cy="7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393529" imgH="393529" progId="Equation.3">
                      <p:embed/>
                    </p:oleObj>
                  </mc:Choice>
                  <mc:Fallback>
                    <p:oleObj name="公式" r:id="rId6" imgW="393529" imgH="393529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" y="2448"/>
                            <a:ext cx="864" cy="7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7070" name="Object 1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84" y="3168"/>
              <a:ext cx="1022" cy="7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431613" imgH="418918" progId="Equation.3">
                      <p:embed/>
                    </p:oleObj>
                  </mc:Choice>
                  <mc:Fallback>
                    <p:oleObj name="公式" r:id="rId8" imgW="431613" imgH="418918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" y="3168"/>
                            <a:ext cx="1022" cy="7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42700" name="Line 12"/>
          <p:cNvSpPr>
            <a:spLocks noChangeShapeType="1"/>
          </p:cNvSpPr>
          <p:nvPr/>
        </p:nvSpPr>
        <p:spPr bwMode="auto">
          <a:xfrm>
            <a:off x="2514600" y="1295400"/>
            <a:ext cx="0" cy="4953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2743200" y="1371600"/>
            <a:ext cx="3636963" cy="4959350"/>
            <a:chOff x="1824" y="768"/>
            <a:chExt cx="2291" cy="3124"/>
          </a:xfrm>
        </p:grpSpPr>
        <p:sp>
          <p:nvSpPr>
            <p:cNvPr id="87057" name="Rectangle 14"/>
            <p:cNvSpPr>
              <a:spLocks noChangeArrowheads="1"/>
            </p:cNvSpPr>
            <p:nvPr/>
          </p:nvSpPr>
          <p:spPr bwMode="auto">
            <a:xfrm>
              <a:off x="1824" y="768"/>
              <a:ext cx="192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>
                <a:buFont typeface="Wingdings" pitchFamily="2" charset="2"/>
                <a:buNone/>
              </a:pPr>
              <a:r>
                <a:rPr lang="en-US" altLang="zh-CN" sz="2800" b="1" dirty="0">
                  <a:latin typeface="Times New Roman" pitchFamily="18" charset="0"/>
                  <a:cs typeface="Times New Roman" pitchFamily="18" charset="0"/>
                </a:rPr>
                <a:t>Inductor</a:t>
              </a:r>
              <a:endParaRPr lang="zh-CN" altLang="en-US" sz="28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87058" name="Object 15"/>
            <p:cNvGraphicFramePr>
              <a:graphicFrameLocks noChangeAspect="1"/>
            </p:cNvGraphicFramePr>
            <p:nvPr/>
          </p:nvGraphicFramePr>
          <p:xfrm>
            <a:off x="2016" y="1104"/>
            <a:ext cx="616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82391" imgH="431613" progId="Equation.3">
                    <p:embed/>
                  </p:oleObj>
                </mc:Choice>
                <mc:Fallback>
                  <p:oleObj name="公式" r:id="rId10" imgW="482391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104"/>
                          <a:ext cx="616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59" name="Object 16"/>
            <p:cNvGraphicFramePr>
              <a:graphicFrameLocks noChangeAspect="1"/>
            </p:cNvGraphicFramePr>
            <p:nvPr/>
          </p:nvGraphicFramePr>
          <p:xfrm>
            <a:off x="1872" y="3216"/>
            <a:ext cx="996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508000" imgH="431800" progId="Equation.3">
                    <p:embed/>
                  </p:oleObj>
                </mc:Choice>
                <mc:Fallback>
                  <p:oleObj name="公式" r:id="rId12" imgW="5080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216"/>
                          <a:ext cx="996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60" name="Object 17"/>
            <p:cNvGraphicFramePr>
              <a:graphicFrameLocks noChangeAspect="1"/>
            </p:cNvGraphicFramePr>
            <p:nvPr/>
          </p:nvGraphicFramePr>
          <p:xfrm>
            <a:off x="1872" y="1776"/>
            <a:ext cx="985" cy="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545863" imgH="431613" progId="Equation.3">
                    <p:embed/>
                  </p:oleObj>
                </mc:Choice>
                <mc:Fallback>
                  <p:oleObj name="公式" r:id="rId14" imgW="545863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776"/>
                          <a:ext cx="985" cy="6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61" name="Object 18"/>
            <p:cNvGraphicFramePr>
              <a:graphicFrameLocks noChangeAspect="1"/>
            </p:cNvGraphicFramePr>
            <p:nvPr/>
          </p:nvGraphicFramePr>
          <p:xfrm>
            <a:off x="2976" y="1200"/>
            <a:ext cx="934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72808" imgH="393529" progId="Equation.3">
                    <p:embed/>
                  </p:oleObj>
                </mc:Choice>
                <mc:Fallback>
                  <p:oleObj name="Equation" r:id="rId16" imgW="672808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200"/>
                          <a:ext cx="934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62" name="Object 19"/>
            <p:cNvGraphicFramePr>
              <a:graphicFrameLocks noChangeAspect="1"/>
            </p:cNvGraphicFramePr>
            <p:nvPr/>
          </p:nvGraphicFramePr>
          <p:xfrm>
            <a:off x="1920" y="2496"/>
            <a:ext cx="1069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33169" imgH="418918" progId="Equation.3">
                    <p:embed/>
                  </p:oleObj>
                </mc:Choice>
                <mc:Fallback>
                  <p:oleObj name="公式" r:id="rId18" imgW="533169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496"/>
                          <a:ext cx="1069" cy="6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63" name="Object 20"/>
            <p:cNvGraphicFramePr>
              <a:graphicFrameLocks noChangeAspect="1"/>
            </p:cNvGraphicFramePr>
            <p:nvPr/>
          </p:nvGraphicFramePr>
          <p:xfrm>
            <a:off x="2988" y="1824"/>
            <a:ext cx="1127" cy="6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83947" imgH="418918" progId="Equation.3">
                    <p:embed/>
                  </p:oleObj>
                </mc:Choice>
                <mc:Fallback>
                  <p:oleObj name="Equation" r:id="rId20" imgW="583947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8" y="1824"/>
                          <a:ext cx="1127" cy="6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64" name="Object 21"/>
            <p:cNvGraphicFramePr>
              <a:graphicFrameLocks noChangeAspect="1"/>
            </p:cNvGraphicFramePr>
            <p:nvPr/>
          </p:nvGraphicFramePr>
          <p:xfrm>
            <a:off x="2964" y="2544"/>
            <a:ext cx="1080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571252" imgH="393529" progId="Equation.3">
                    <p:embed/>
                  </p:oleObj>
                </mc:Choice>
                <mc:Fallback>
                  <p:oleObj name="Equation" r:id="rId22" imgW="571252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4" y="2544"/>
                          <a:ext cx="1080" cy="5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2710" name="Line 22"/>
          <p:cNvSpPr>
            <a:spLocks noChangeShapeType="1"/>
          </p:cNvSpPr>
          <p:nvPr/>
        </p:nvSpPr>
        <p:spPr bwMode="auto">
          <a:xfrm>
            <a:off x="6324600" y="1447800"/>
            <a:ext cx="0" cy="4800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6324600" y="1371600"/>
            <a:ext cx="2819400" cy="4443413"/>
            <a:chOff x="4080" y="912"/>
            <a:chExt cx="1776" cy="2799"/>
          </a:xfrm>
        </p:grpSpPr>
        <p:sp>
          <p:nvSpPr>
            <p:cNvPr id="87052" name="Rectangle 24"/>
            <p:cNvSpPr>
              <a:spLocks noChangeArrowheads="1"/>
            </p:cNvSpPr>
            <p:nvPr/>
          </p:nvSpPr>
          <p:spPr bwMode="auto">
            <a:xfrm>
              <a:off x="4080" y="912"/>
              <a:ext cx="177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>
                <a:buFont typeface="Wingdings" pitchFamily="2" charset="2"/>
                <a:buNone/>
              </a:pPr>
              <a:r>
                <a:rPr lang="en-US" altLang="zh-CN" sz="2800" b="1" dirty="0">
                  <a:latin typeface="Times New Roman" pitchFamily="18" charset="0"/>
                  <a:cs typeface="Times New Roman" pitchFamily="18" charset="0"/>
                </a:rPr>
                <a:t>Capacitor</a:t>
              </a:r>
              <a:endParaRPr lang="zh-CN" altLang="en-US" sz="28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87053" name="Object 25"/>
            <p:cNvGraphicFramePr>
              <a:graphicFrameLocks noChangeAspect="1"/>
            </p:cNvGraphicFramePr>
            <p:nvPr/>
          </p:nvGraphicFramePr>
          <p:xfrm>
            <a:off x="4272" y="1440"/>
            <a:ext cx="126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698197" imgH="203112" progId="Equation.3">
                    <p:embed/>
                  </p:oleObj>
                </mc:Choice>
                <mc:Fallback>
                  <p:oleObj name="公式" r:id="rId24" imgW="69819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440"/>
                          <a:ext cx="126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54" name="Object 26"/>
            <p:cNvGraphicFramePr>
              <a:graphicFrameLocks noChangeAspect="1"/>
            </p:cNvGraphicFramePr>
            <p:nvPr/>
          </p:nvGraphicFramePr>
          <p:xfrm>
            <a:off x="4272" y="1872"/>
            <a:ext cx="1195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609600" imgH="228600" progId="Equation.3">
                    <p:embed/>
                  </p:oleObj>
                </mc:Choice>
                <mc:Fallback>
                  <p:oleObj name="公式" r:id="rId26" imgW="609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872"/>
                          <a:ext cx="1195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55" name="Object 27"/>
            <p:cNvGraphicFramePr>
              <a:graphicFrameLocks noChangeAspect="1"/>
            </p:cNvGraphicFramePr>
            <p:nvPr/>
          </p:nvGraphicFramePr>
          <p:xfrm>
            <a:off x="4224" y="2448"/>
            <a:ext cx="136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774364" imgH="228501" progId="Equation.3">
                    <p:embed/>
                  </p:oleObj>
                </mc:Choice>
                <mc:Fallback>
                  <p:oleObj name="Equation" r:id="rId28" imgW="774364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448"/>
                          <a:ext cx="1363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56" name="Object 28"/>
            <p:cNvGraphicFramePr>
              <a:graphicFrameLocks noChangeAspect="1"/>
            </p:cNvGraphicFramePr>
            <p:nvPr/>
          </p:nvGraphicFramePr>
          <p:xfrm>
            <a:off x="4224" y="2976"/>
            <a:ext cx="1350" cy="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57002" progId="Equation.3">
                    <p:embed/>
                  </p:oleObj>
                </mc:Choice>
                <mc:Fallback>
                  <p:oleObj name="Equation" r:id="rId30" imgW="672808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976"/>
                          <a:ext cx="1350" cy="7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7049" name="Text Box 29"/>
          <p:cNvSpPr txBox="1">
            <a:spLocks noChangeArrowheads="1"/>
          </p:cNvSpPr>
          <p:nvPr/>
        </p:nvSpPr>
        <p:spPr bwMode="auto">
          <a:xfrm>
            <a:off x="981075" y="386090"/>
            <a:ext cx="18986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Exercise</a:t>
            </a:r>
          </a:p>
        </p:txBody>
      </p:sp>
      <p:sp>
        <p:nvSpPr>
          <p:cNvPr id="87050" name="Rectangle 46">
            <a:hlinkClick r:id="rId32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zh-CN" altLang="en-US" sz="1200">
                <a:solidFill>
                  <a:schemeClr val="bg1"/>
                </a:solidFill>
                <a:latin typeface="楷体_GB2312" pitchFamily="49" charset="-122"/>
              </a:rPr>
              <a:t>上一节</a:t>
            </a:r>
          </a:p>
        </p:txBody>
      </p:sp>
      <p:sp>
        <p:nvSpPr>
          <p:cNvPr id="87051" name="Rectangle 45">
            <a:hlinkClick r:id="rId33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zh-CN" altLang="en-US" sz="1200" dirty="0">
                <a:solidFill>
                  <a:schemeClr val="bg1"/>
                </a:solidFill>
                <a:latin typeface="楷体_GB2312" pitchFamily="49" charset="-122"/>
              </a:rPr>
              <a:t>下一节</a:t>
            </a:r>
          </a:p>
        </p:txBody>
      </p:sp>
    </p:spTree>
    <p:extLst>
      <p:ext uri="{BB962C8B-B14F-4D97-AF65-F5344CB8AC3E}">
        <p14:creationId xmlns:p14="http://schemas.microsoft.com/office/powerpoint/2010/main" val="105427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2" grpId="0" autoUpdateAnimBg="0"/>
      <p:bldP spid="242700" grpId="0" animBg="1"/>
      <p:bldP spid="24271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2232025" y="290513"/>
            <a:ext cx="4319588" cy="69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Example</a:t>
            </a:r>
          </a:p>
        </p:txBody>
      </p:sp>
      <p:grpSp>
        <p:nvGrpSpPr>
          <p:cNvPr id="88067" name="Group 40"/>
          <p:cNvGrpSpPr>
            <a:grpSpLocks/>
          </p:cNvGrpSpPr>
          <p:nvPr/>
        </p:nvGrpSpPr>
        <p:grpSpPr bwMode="auto">
          <a:xfrm>
            <a:off x="107950" y="1449388"/>
            <a:ext cx="4699000" cy="1295400"/>
            <a:chOff x="68" y="913"/>
            <a:chExt cx="2960" cy="816"/>
          </a:xfrm>
        </p:grpSpPr>
        <p:graphicFrame>
          <p:nvGraphicFramePr>
            <p:cNvPr id="88079" name="Object 4"/>
            <p:cNvGraphicFramePr>
              <a:graphicFrameLocks noChangeAspect="1"/>
            </p:cNvGraphicFramePr>
            <p:nvPr/>
          </p:nvGraphicFramePr>
          <p:xfrm>
            <a:off x="68" y="913"/>
            <a:ext cx="1473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299765" imgH="719373" progId="Visio.Drawing.11">
                    <p:embed/>
                  </p:oleObj>
                </mc:Choice>
                <mc:Fallback>
                  <p:oleObj name="Visio" r:id="rId2" imgW="1299765" imgH="719373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913"/>
                          <a:ext cx="1473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80" name="Object 23"/>
            <p:cNvGraphicFramePr>
              <a:graphicFrameLocks noChangeAspect="1"/>
            </p:cNvGraphicFramePr>
            <p:nvPr/>
          </p:nvGraphicFramePr>
          <p:xfrm>
            <a:off x="1728" y="1162"/>
            <a:ext cx="130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25142" imgH="177723" progId="Equation.DSMT4">
                    <p:embed/>
                  </p:oleObj>
                </mc:Choice>
                <mc:Fallback>
                  <p:oleObj name="Equation" r:id="rId4" imgW="825142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162"/>
                          <a:ext cx="130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79081" name="Group 41"/>
          <p:cNvGrpSpPr>
            <a:grpSpLocks/>
          </p:cNvGrpSpPr>
          <p:nvPr/>
        </p:nvGrpSpPr>
        <p:grpSpPr bwMode="auto">
          <a:xfrm>
            <a:off x="107950" y="3105150"/>
            <a:ext cx="8912225" cy="1339850"/>
            <a:chOff x="68" y="1956"/>
            <a:chExt cx="5614" cy="844"/>
          </a:xfrm>
        </p:grpSpPr>
        <p:graphicFrame>
          <p:nvGraphicFramePr>
            <p:cNvPr id="88077" name="Object 13"/>
            <p:cNvGraphicFramePr>
              <a:graphicFrameLocks noChangeAspect="1"/>
            </p:cNvGraphicFramePr>
            <p:nvPr/>
          </p:nvGraphicFramePr>
          <p:xfrm>
            <a:off x="68" y="1956"/>
            <a:ext cx="1398" cy="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328649" imgH="731250" progId="Visio.Drawing.11">
                    <p:embed/>
                  </p:oleObj>
                </mc:Choice>
                <mc:Fallback>
                  <p:oleObj name="Visio" r:id="rId6" imgW="1328649" imgH="731250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1956"/>
                          <a:ext cx="1398" cy="8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78" name="Object 26"/>
            <p:cNvGraphicFramePr>
              <a:graphicFrameLocks noChangeAspect="1"/>
            </p:cNvGraphicFramePr>
            <p:nvPr/>
          </p:nvGraphicFramePr>
          <p:xfrm>
            <a:off x="1723" y="2063"/>
            <a:ext cx="3959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14600" imgH="419100" progId="Equation.DSMT4">
                    <p:embed/>
                  </p:oleObj>
                </mc:Choice>
                <mc:Fallback>
                  <p:oleObj name="Equation" r:id="rId8" imgW="25146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3" y="2063"/>
                          <a:ext cx="3959" cy="6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79082" name="Group 42"/>
          <p:cNvGrpSpPr>
            <a:grpSpLocks/>
          </p:cNvGrpSpPr>
          <p:nvPr/>
        </p:nvGrpSpPr>
        <p:grpSpPr bwMode="auto">
          <a:xfrm>
            <a:off x="123825" y="4740275"/>
            <a:ext cx="8234363" cy="1209675"/>
            <a:chOff x="78" y="2986"/>
            <a:chExt cx="5187" cy="762"/>
          </a:xfrm>
        </p:grpSpPr>
        <p:graphicFrame>
          <p:nvGraphicFramePr>
            <p:cNvPr id="88075" name="Object 19"/>
            <p:cNvGraphicFramePr>
              <a:graphicFrameLocks noChangeAspect="1"/>
            </p:cNvGraphicFramePr>
            <p:nvPr/>
          </p:nvGraphicFramePr>
          <p:xfrm>
            <a:off x="78" y="2986"/>
            <a:ext cx="1555" cy="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10" imgW="1328649" imgH="622737" progId="Visio.Drawing.11">
                    <p:embed/>
                  </p:oleObj>
                </mc:Choice>
                <mc:Fallback>
                  <p:oleObj name="Visio" r:id="rId10" imgW="1328649" imgH="622737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" y="2986"/>
                          <a:ext cx="1555" cy="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76" name="Object 29"/>
            <p:cNvGraphicFramePr>
              <a:graphicFrameLocks noChangeAspect="1"/>
            </p:cNvGraphicFramePr>
            <p:nvPr/>
          </p:nvGraphicFramePr>
          <p:xfrm>
            <a:off x="1726" y="3206"/>
            <a:ext cx="3539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47900" imgH="228600" progId="Equation.DSMT4">
                    <p:embed/>
                  </p:oleObj>
                </mc:Choice>
                <mc:Fallback>
                  <p:oleObj name="Equation" r:id="rId12" imgW="22479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6" y="3206"/>
                          <a:ext cx="3539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70" name="Object 32"/>
          <p:cNvGraphicFramePr>
            <a:graphicFrameLocks noChangeAspect="1"/>
          </p:cNvGraphicFramePr>
          <p:nvPr/>
        </p:nvGraphicFramePr>
        <p:xfrm>
          <a:off x="5759450" y="1089025"/>
          <a:ext cx="292893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77476" imgH="177723" progId="Equation.DSMT4">
                  <p:embed/>
                </p:oleObj>
              </mc:Choice>
              <mc:Fallback>
                <p:oleObj name="Equation" r:id="rId14" imgW="977476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1089025"/>
                        <a:ext cx="292893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79079" name="Group 39"/>
          <p:cNvGrpSpPr>
            <a:grpSpLocks/>
          </p:cNvGrpSpPr>
          <p:nvPr/>
        </p:nvGrpSpPr>
        <p:grpSpPr bwMode="auto">
          <a:xfrm>
            <a:off x="4895850" y="1663700"/>
            <a:ext cx="2339975" cy="3457575"/>
            <a:chOff x="3084" y="1048"/>
            <a:chExt cx="1474" cy="2178"/>
          </a:xfrm>
        </p:grpSpPr>
        <p:sp>
          <p:nvSpPr>
            <p:cNvPr id="88072" name="Line 33"/>
            <p:cNvSpPr>
              <a:spLocks noChangeShapeType="1"/>
            </p:cNvSpPr>
            <p:nvPr/>
          </p:nvSpPr>
          <p:spPr bwMode="auto">
            <a:xfrm flipH="1">
              <a:off x="3084" y="1049"/>
              <a:ext cx="1157" cy="20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3" name="Line 34"/>
            <p:cNvSpPr>
              <a:spLocks noChangeShapeType="1"/>
            </p:cNvSpPr>
            <p:nvPr/>
          </p:nvSpPr>
          <p:spPr bwMode="auto">
            <a:xfrm flipH="1">
              <a:off x="3560" y="1048"/>
              <a:ext cx="681" cy="102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4" name="Line 35"/>
            <p:cNvSpPr>
              <a:spLocks noChangeShapeType="1"/>
            </p:cNvSpPr>
            <p:nvPr/>
          </p:nvSpPr>
          <p:spPr bwMode="auto">
            <a:xfrm>
              <a:off x="4240" y="1049"/>
              <a:ext cx="318" cy="217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22380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7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7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79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79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1094" name="Object 6"/>
          <p:cNvGraphicFramePr>
            <a:graphicFrameLocks noChangeAspect="1"/>
          </p:cNvGraphicFramePr>
          <p:nvPr/>
        </p:nvGraphicFramePr>
        <p:xfrm>
          <a:off x="439738" y="5013325"/>
          <a:ext cx="7883525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393700" progId="Equation.DSMT4">
                  <p:embed/>
                </p:oleObj>
              </mc:Choice>
              <mc:Fallback>
                <p:oleObj name="Equation" r:id="rId2" imgW="26289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8" y="5013325"/>
                        <a:ext cx="7883525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1097" name="Object 9"/>
          <p:cNvGraphicFramePr>
            <a:graphicFrameLocks noChangeAspect="1"/>
          </p:cNvGraphicFramePr>
          <p:nvPr/>
        </p:nvGraphicFramePr>
        <p:xfrm>
          <a:off x="4500563" y="1160463"/>
          <a:ext cx="34448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170" imgH="177723" progId="Equation.DSMT4">
                  <p:embed/>
                </p:oleObj>
              </mc:Choice>
              <mc:Fallback>
                <p:oleObj name="Equation" r:id="rId4" imgW="990170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160463"/>
                        <a:ext cx="34448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1102" name="Object 14"/>
          <p:cNvGraphicFramePr>
            <a:graphicFrameLocks noChangeAspect="1"/>
          </p:cNvGraphicFramePr>
          <p:nvPr/>
        </p:nvGraphicFramePr>
        <p:xfrm>
          <a:off x="4500563" y="3573463"/>
          <a:ext cx="15859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725" imgH="228501" progId="Equation.DSMT4">
                  <p:embed/>
                </p:oleObj>
              </mc:Choice>
              <mc:Fallback>
                <p:oleObj name="Equation" r:id="rId6" imgW="63472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573463"/>
                        <a:ext cx="15859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1105" name="Object 17"/>
          <p:cNvGraphicFramePr>
            <a:graphicFrameLocks noChangeAspect="1"/>
          </p:cNvGraphicFramePr>
          <p:nvPr/>
        </p:nvGraphicFramePr>
        <p:xfrm>
          <a:off x="431800" y="4221163"/>
          <a:ext cx="77692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90800" imgH="241300" progId="Equation.DSMT4">
                  <p:embed/>
                </p:oleObj>
              </mc:Choice>
              <mc:Fallback>
                <p:oleObj name="Equation" r:id="rId8" imgW="2590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4221163"/>
                        <a:ext cx="77692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18"/>
          <p:cNvGraphicFramePr>
            <a:graphicFrameLocks noChangeAspect="1"/>
          </p:cNvGraphicFramePr>
          <p:nvPr/>
        </p:nvGraphicFramePr>
        <p:xfrm>
          <a:off x="214313" y="1268413"/>
          <a:ext cx="3962400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1876806" imgH="1120775" progId="Visio.Drawing.11">
                  <p:embed/>
                </p:oleObj>
              </mc:Choice>
              <mc:Fallback>
                <p:oleObj name="Visio" r:id="rId10" imgW="1876806" imgH="112077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1268413"/>
                        <a:ext cx="3962400" cy="241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1109" name="Object 21"/>
          <p:cNvGraphicFramePr>
            <a:graphicFrameLocks noChangeAspect="1"/>
          </p:cNvGraphicFramePr>
          <p:nvPr/>
        </p:nvGraphicFramePr>
        <p:xfrm>
          <a:off x="4535488" y="2276475"/>
          <a:ext cx="2351087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392" imgH="317362" progId="Equation.DSMT4">
                  <p:embed/>
                </p:oleObj>
              </mc:Choice>
              <mc:Fallback>
                <p:oleObj name="Equation" r:id="rId12" imgW="93939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2276475"/>
                        <a:ext cx="2351087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6" name="Text Box 27"/>
          <p:cNvSpPr txBox="1">
            <a:spLocks noChangeArrowheads="1"/>
          </p:cNvSpPr>
          <p:nvPr/>
        </p:nvSpPr>
        <p:spPr bwMode="auto">
          <a:xfrm>
            <a:off x="2159000" y="290513"/>
            <a:ext cx="3421063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7139063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1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1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1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81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8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8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8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2531" name="Object 3"/>
          <p:cNvGraphicFramePr>
            <a:graphicFrameLocks noChangeAspect="1"/>
          </p:cNvGraphicFramePr>
          <p:nvPr/>
        </p:nvGraphicFramePr>
        <p:xfrm>
          <a:off x="4643438" y="2168525"/>
          <a:ext cx="4284662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170" imgH="177723" progId="Equation.DSMT4">
                  <p:embed/>
                </p:oleObj>
              </mc:Choice>
              <mc:Fallback>
                <p:oleObj name="Equation" r:id="rId2" imgW="990170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168525"/>
                        <a:ext cx="4284662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5" name="Text Box 14"/>
          <p:cNvSpPr txBox="1">
            <a:spLocks noChangeArrowheads="1"/>
          </p:cNvSpPr>
          <p:nvPr/>
        </p:nvSpPr>
        <p:spPr bwMode="auto">
          <a:xfrm>
            <a:off x="1079500" y="290513"/>
            <a:ext cx="6985000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Circuits in Frequency Domain</a:t>
            </a:r>
          </a:p>
        </p:txBody>
      </p:sp>
      <p:graphicFrame>
        <p:nvGraphicFramePr>
          <p:cNvPr id="90116" name="Object 15"/>
          <p:cNvGraphicFramePr>
            <a:graphicFrameLocks noChangeAspect="1"/>
          </p:cNvGraphicFramePr>
          <p:nvPr/>
        </p:nvGraphicFramePr>
        <p:xfrm>
          <a:off x="323850" y="1412875"/>
          <a:ext cx="3995738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876806" imgH="1120775" progId="Visio.Drawing.11">
                  <p:embed/>
                </p:oleObj>
              </mc:Choice>
              <mc:Fallback>
                <p:oleObj name="Visio" r:id="rId4" imgW="1876806" imgH="112077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412875"/>
                        <a:ext cx="3995738" cy="243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2547" name="Group 19"/>
          <p:cNvGrpSpPr>
            <a:grpSpLocks/>
          </p:cNvGrpSpPr>
          <p:nvPr/>
        </p:nvGrpSpPr>
        <p:grpSpPr bwMode="auto">
          <a:xfrm>
            <a:off x="3059113" y="3336925"/>
            <a:ext cx="5905500" cy="2720975"/>
            <a:chOff x="1927" y="2102"/>
            <a:chExt cx="3720" cy="1714"/>
          </a:xfrm>
        </p:grpSpPr>
        <p:graphicFrame>
          <p:nvGraphicFramePr>
            <p:cNvPr id="90118" name="Object 17"/>
            <p:cNvGraphicFramePr>
              <a:graphicFrameLocks noChangeAspect="1"/>
            </p:cNvGraphicFramePr>
            <p:nvPr/>
          </p:nvGraphicFramePr>
          <p:xfrm>
            <a:off x="2835" y="2102"/>
            <a:ext cx="2812" cy="17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876806" imgH="1126808" progId="Visio.Drawing.11">
                    <p:embed/>
                  </p:oleObj>
                </mc:Choice>
                <mc:Fallback>
                  <p:oleObj name="Visio" r:id="rId6" imgW="1876806" imgH="1126808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" y="2102"/>
                          <a:ext cx="2812" cy="17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19" name="AutoShape 18"/>
            <p:cNvSpPr>
              <a:spLocks noChangeArrowheads="1"/>
            </p:cNvSpPr>
            <p:nvPr/>
          </p:nvSpPr>
          <p:spPr bwMode="auto">
            <a:xfrm>
              <a:off x="1927" y="2954"/>
              <a:ext cx="795" cy="476"/>
            </a:xfrm>
            <a:prstGeom prst="rightArrow">
              <a:avLst>
                <a:gd name="adj1" fmla="val 50000"/>
                <a:gd name="adj2" fmla="val 41754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9416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2"/>
          <p:cNvSpPr txBox="1">
            <a:spLocks noChangeArrowheads="1"/>
          </p:cNvSpPr>
          <p:nvPr/>
        </p:nvSpPr>
        <p:spPr bwMode="auto">
          <a:xfrm>
            <a:off x="919163" y="304800"/>
            <a:ext cx="810101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2400">
                <a:latin typeface="Arial Black" pitchFamily="34" charset="0"/>
              </a:rPr>
              <a:t>9.6  Kirchhoff’s laws in the frequency domain</a:t>
            </a:r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1655763" y="1628775"/>
            <a:ext cx="5694188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lnSpc>
                <a:spcPct val="18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KVL in frequency domain</a:t>
            </a:r>
          </a:p>
          <a:p>
            <a:pPr marL="0" indent="0" algn="l" eaLnBrk="1" hangingPunct="1">
              <a:lnSpc>
                <a:spcPct val="180000"/>
              </a:lnSpc>
              <a:buClr>
                <a:schemeClr val="tx2"/>
              </a:buClr>
              <a:buSzTx/>
            </a:pPr>
            <a:endParaRPr lang="en-US" altLang="zh-CN" dirty="0">
              <a:latin typeface="Verdana" pitchFamily="34" charset="0"/>
            </a:endParaRPr>
          </a:p>
          <a:p>
            <a:pPr marL="457200" indent="-457200" algn="l" eaLnBrk="1" hangingPunct="1">
              <a:lnSpc>
                <a:spcPct val="18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KCL in frequency domain</a:t>
            </a:r>
          </a:p>
        </p:txBody>
      </p:sp>
    </p:spTree>
    <p:extLst>
      <p:ext uri="{BB962C8B-B14F-4D97-AF65-F5344CB8AC3E}">
        <p14:creationId xmlns:p14="http://schemas.microsoft.com/office/powerpoint/2010/main" val="3768057218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1320800" y="225425"/>
            <a:ext cx="663575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KVL in Frequency Domain</a:t>
            </a:r>
            <a:endParaRPr lang="zh-CN" altLang="en-US" sz="3600">
              <a:latin typeface="Arial Black" pitchFamily="34" charset="0"/>
            </a:endParaRPr>
          </a:p>
        </p:txBody>
      </p:sp>
      <p:graphicFrame>
        <p:nvGraphicFramePr>
          <p:cNvPr id="95235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771775" y="3451225"/>
          <a:ext cx="2771775" cy="170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900" imgH="368300" progId="Equation.DSMT4">
                  <p:embed/>
                </p:oleObj>
              </mc:Choice>
              <mc:Fallback>
                <p:oleObj name="Equation" r:id="rId2" imgW="5969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451225"/>
                        <a:ext cx="2771775" cy="170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6" name="Text Box 9"/>
          <p:cNvSpPr txBox="1">
            <a:spLocks noChangeArrowheads="1"/>
          </p:cNvSpPr>
          <p:nvPr/>
        </p:nvSpPr>
        <p:spPr bwMode="auto">
          <a:xfrm>
            <a:off x="719138" y="1412875"/>
            <a:ext cx="781367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3888" indent="-623888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5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The algebraic sum of all the </a:t>
            </a:r>
            <a:r>
              <a:rPr lang="en-US" altLang="zh-CN" dirty="0" err="1">
                <a:latin typeface="Verdana" pitchFamily="34" charset="0"/>
              </a:rPr>
              <a:t>phasor</a:t>
            </a:r>
            <a:r>
              <a:rPr lang="en-US" altLang="zh-CN" dirty="0">
                <a:latin typeface="Verdana" pitchFamily="34" charset="0"/>
              </a:rPr>
              <a:t> voltages around a closed loop is ZERO.</a:t>
            </a:r>
          </a:p>
        </p:txBody>
      </p:sp>
    </p:spTree>
    <p:extLst>
      <p:ext uri="{BB962C8B-B14F-4D97-AF65-F5344CB8AC3E}">
        <p14:creationId xmlns:p14="http://schemas.microsoft.com/office/powerpoint/2010/main" val="2865845084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1331913" y="296863"/>
            <a:ext cx="1495425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Proof:</a:t>
            </a:r>
            <a:endParaRPr lang="zh-CN" altLang="en-US" sz="3200">
              <a:latin typeface="Arial Black" pitchFamily="34" charset="0"/>
            </a:endParaRPr>
          </a:p>
        </p:txBody>
      </p:sp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287338" y="1520825"/>
          <a:ext cx="8640762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4500" imgH="863600" progId="Equation.DSMT4">
                  <p:embed/>
                </p:oleObj>
              </mc:Choice>
              <mc:Fallback>
                <p:oleObj name="Equation" r:id="rId2" imgW="2984500" imgH="86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1520825"/>
                        <a:ext cx="8640762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6260" name="Group 10"/>
          <p:cNvGrpSpPr>
            <a:grpSpLocks/>
          </p:cNvGrpSpPr>
          <p:nvPr/>
        </p:nvGrpSpPr>
        <p:grpSpPr bwMode="auto">
          <a:xfrm>
            <a:off x="1727200" y="4246563"/>
            <a:ext cx="3797300" cy="1522412"/>
            <a:chOff x="1292" y="2614"/>
            <a:chExt cx="2392" cy="959"/>
          </a:xfrm>
        </p:grpSpPr>
        <p:graphicFrame>
          <p:nvGraphicFramePr>
            <p:cNvPr id="96261" name="Object 5"/>
            <p:cNvGraphicFramePr>
              <a:graphicFrameLocks noChangeAspect="1"/>
            </p:cNvGraphicFramePr>
            <p:nvPr/>
          </p:nvGraphicFramePr>
          <p:xfrm>
            <a:off x="2128" y="2614"/>
            <a:ext cx="1556" cy="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6900" imgH="368300" progId="Equation.DSMT4">
                    <p:embed/>
                  </p:oleObj>
                </mc:Choice>
                <mc:Fallback>
                  <p:oleObj name="Equation" r:id="rId4" imgW="596900" imgH="368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8" y="2614"/>
                          <a:ext cx="1556" cy="9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262" name="AutoShape 6"/>
            <p:cNvSpPr>
              <a:spLocks noChangeArrowheads="1"/>
            </p:cNvSpPr>
            <p:nvPr/>
          </p:nvSpPr>
          <p:spPr bwMode="auto">
            <a:xfrm>
              <a:off x="1292" y="2886"/>
              <a:ext cx="817" cy="431"/>
            </a:xfrm>
            <a:prstGeom prst="rightArrow">
              <a:avLst>
                <a:gd name="adj1" fmla="val 50000"/>
                <a:gd name="adj2" fmla="val 4739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7827948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5"/>
          <p:cNvSpPr>
            <a:spLocks noChangeArrowheads="1"/>
          </p:cNvSpPr>
          <p:nvPr/>
        </p:nvSpPr>
        <p:spPr bwMode="auto">
          <a:xfrm>
            <a:off x="1042988" y="347663"/>
            <a:ext cx="5964237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 algn="l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KVL in Frequency Domain</a:t>
            </a:r>
            <a:endParaRPr lang="zh-CN" altLang="en-US" sz="3200">
              <a:latin typeface="Arial Black" pitchFamily="34" charset="0"/>
            </a:endParaRPr>
          </a:p>
        </p:txBody>
      </p:sp>
      <p:graphicFrame>
        <p:nvGraphicFramePr>
          <p:cNvPr id="97283" name="Object 11"/>
          <p:cNvGraphicFramePr>
            <a:graphicFrameLocks noChangeAspect="1"/>
          </p:cNvGraphicFramePr>
          <p:nvPr/>
        </p:nvGraphicFramePr>
        <p:xfrm>
          <a:off x="431800" y="1289050"/>
          <a:ext cx="4211638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56140" imgH="1237106" progId="Visio.Drawing.11">
                  <p:embed/>
                </p:oleObj>
              </mc:Choice>
              <mc:Fallback>
                <p:oleObj name="Visio" r:id="rId2" imgW="2056140" imgH="123710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1289050"/>
                        <a:ext cx="4211638" cy="256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13"/>
          <p:cNvGraphicFramePr>
            <a:graphicFrameLocks noChangeAspect="1"/>
          </p:cNvGraphicFramePr>
          <p:nvPr/>
        </p:nvGraphicFramePr>
        <p:xfrm>
          <a:off x="198438" y="4241800"/>
          <a:ext cx="4316412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500" imgH="279400" progId="Equation.DSMT4">
                  <p:embed/>
                </p:oleObj>
              </mc:Choice>
              <mc:Fallback>
                <p:oleObj name="Equation" r:id="rId4" imgW="1079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8" y="4241800"/>
                        <a:ext cx="4316412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17"/>
          <p:cNvGraphicFramePr>
            <a:graphicFrameLocks noChangeAspect="1"/>
          </p:cNvGraphicFramePr>
          <p:nvPr/>
        </p:nvGraphicFramePr>
        <p:xfrm>
          <a:off x="2147888" y="2468563"/>
          <a:ext cx="9112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54457" imgH="461518" progId="Visio.Drawing.11">
                  <p:embed/>
                </p:oleObj>
              </mc:Choice>
              <mc:Fallback>
                <p:oleObj name="Visio" r:id="rId6" imgW="454457" imgH="46151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2468563"/>
                        <a:ext cx="9112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18"/>
          <p:cNvGraphicFramePr>
            <a:graphicFrameLocks noChangeAspect="1"/>
          </p:cNvGraphicFramePr>
          <p:nvPr/>
        </p:nvGraphicFramePr>
        <p:xfrm>
          <a:off x="2159000" y="2457450"/>
          <a:ext cx="9112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454457" imgH="461518" progId="Visio.Drawing.11">
                  <p:embed/>
                </p:oleObj>
              </mc:Choice>
              <mc:Fallback>
                <p:oleObj name="Visio" r:id="rId8" imgW="454457" imgH="46151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2457450"/>
                        <a:ext cx="911225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859338" y="4184650"/>
          <a:ext cx="3910012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900" imgH="279400" progId="Equation.DSMT4">
                  <p:embed/>
                </p:oleObj>
              </mc:Choice>
              <mc:Fallback>
                <p:oleObj name="Equation" r:id="rId10" imgW="9779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184650"/>
                        <a:ext cx="3910012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111750" y="1916113"/>
          <a:ext cx="3097213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4" imgH="279279" progId="Equation.DSMT4">
                  <p:embed/>
                </p:oleObj>
              </mc:Choice>
              <mc:Fallback>
                <p:oleObj name="Equation" r:id="rId12" imgW="774364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1916113"/>
                        <a:ext cx="3097213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26103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1428750" y="228600"/>
            <a:ext cx="663575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KCL in Frequency Domain</a:t>
            </a:r>
            <a:endParaRPr lang="zh-CN" altLang="en-US" sz="3600">
              <a:latin typeface="Arial Black" pitchFamily="34" charset="0"/>
            </a:endParaRPr>
          </a:p>
        </p:txBody>
      </p:sp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576263" y="1484313"/>
            <a:ext cx="78136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3888" indent="-623888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5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The algebraic sum of all the </a:t>
            </a:r>
            <a:r>
              <a:rPr lang="en-US" altLang="zh-CN" dirty="0" err="1">
                <a:latin typeface="Verdana" pitchFamily="34" charset="0"/>
              </a:rPr>
              <a:t>phasor</a:t>
            </a:r>
            <a:r>
              <a:rPr lang="en-US" altLang="zh-CN" dirty="0">
                <a:latin typeface="Verdana" pitchFamily="34" charset="0"/>
              </a:rPr>
              <a:t> currents entering a node(or a closed boundary) is ZERO.</a:t>
            </a:r>
          </a:p>
        </p:txBody>
      </p:sp>
      <p:graphicFrame>
        <p:nvGraphicFramePr>
          <p:cNvPr id="92164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771775" y="3519488"/>
          <a:ext cx="2700338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500" imgH="368300" progId="Equation.DSMT4">
                  <p:embed/>
                </p:oleObj>
              </mc:Choice>
              <mc:Fallback>
                <p:oleObj name="Equation" r:id="rId2" imgW="5715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519488"/>
                        <a:ext cx="2700338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0672176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1800225" y="296863"/>
            <a:ext cx="1495425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Proof:</a:t>
            </a:r>
            <a:endParaRPr lang="zh-CN" altLang="en-US" sz="3200">
              <a:latin typeface="Arial Black" pitchFamily="34" charset="0"/>
            </a:endParaRPr>
          </a:p>
        </p:txBody>
      </p:sp>
      <p:graphicFrame>
        <p:nvGraphicFramePr>
          <p:cNvPr id="93187" name="Object 5"/>
          <p:cNvGraphicFramePr>
            <a:graphicFrameLocks noChangeAspect="1"/>
          </p:cNvGraphicFramePr>
          <p:nvPr/>
        </p:nvGraphicFramePr>
        <p:xfrm>
          <a:off x="287338" y="1557338"/>
          <a:ext cx="8640762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600" imgH="863600" progId="Equation.DSMT4">
                  <p:embed/>
                </p:oleObj>
              </mc:Choice>
              <mc:Fallback>
                <p:oleObj name="Equation" r:id="rId2" imgW="3022600" imgH="86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1557338"/>
                        <a:ext cx="8640762" cy="246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88" name="Group 10"/>
          <p:cNvGrpSpPr>
            <a:grpSpLocks/>
          </p:cNvGrpSpPr>
          <p:nvPr/>
        </p:nvGrpSpPr>
        <p:grpSpPr bwMode="auto">
          <a:xfrm>
            <a:off x="1584325" y="4273550"/>
            <a:ext cx="3738563" cy="1495425"/>
            <a:chOff x="1360" y="2659"/>
            <a:chExt cx="2355" cy="942"/>
          </a:xfrm>
        </p:grpSpPr>
        <p:graphicFrame>
          <p:nvGraphicFramePr>
            <p:cNvPr id="93189" name="Object 7"/>
            <p:cNvGraphicFramePr>
              <a:graphicFrameLocks noChangeAspect="1"/>
            </p:cNvGraphicFramePr>
            <p:nvPr/>
          </p:nvGraphicFramePr>
          <p:xfrm>
            <a:off x="2252" y="2659"/>
            <a:ext cx="1463" cy="9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71500" imgH="368300" progId="Equation.DSMT4">
                    <p:embed/>
                  </p:oleObj>
                </mc:Choice>
                <mc:Fallback>
                  <p:oleObj name="Equation" r:id="rId4" imgW="571500" imgH="368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2" y="2659"/>
                          <a:ext cx="1463" cy="9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0" name="AutoShape 8"/>
            <p:cNvSpPr>
              <a:spLocks noChangeArrowheads="1"/>
            </p:cNvSpPr>
            <p:nvPr/>
          </p:nvSpPr>
          <p:spPr bwMode="auto">
            <a:xfrm>
              <a:off x="1360" y="2931"/>
              <a:ext cx="748" cy="386"/>
            </a:xfrm>
            <a:prstGeom prst="rightArrow">
              <a:avLst>
                <a:gd name="adj1" fmla="val 50000"/>
                <a:gd name="adj2" fmla="val 48446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05325091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2200275" y="225425"/>
            <a:ext cx="6151563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KCL in 	Frequency Domain</a:t>
            </a:r>
            <a:endParaRPr lang="zh-CN" altLang="en-US" sz="3200">
              <a:latin typeface="Arial Black" pitchFamily="34" charset="0"/>
            </a:endParaRPr>
          </a:p>
        </p:txBody>
      </p:sp>
      <p:graphicFrame>
        <p:nvGraphicFramePr>
          <p:cNvPr id="94211" name="Object 11"/>
          <p:cNvGraphicFramePr>
            <a:graphicFrameLocks noChangeAspect="1"/>
          </p:cNvGraphicFramePr>
          <p:nvPr/>
        </p:nvGraphicFramePr>
        <p:xfrm>
          <a:off x="431800" y="1196975"/>
          <a:ext cx="4248150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266293" imgH="687251" progId="Visio.Drawing.11">
                  <p:embed/>
                </p:oleObj>
              </mc:Choice>
              <mc:Fallback>
                <p:oleObj name="Visio" r:id="rId2" imgW="1266293" imgH="68725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1196975"/>
                        <a:ext cx="4248150" cy="228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12"/>
          <p:cNvGraphicFramePr>
            <a:graphicFrameLocks noChangeAspect="1"/>
          </p:cNvGraphicFramePr>
          <p:nvPr/>
        </p:nvGraphicFramePr>
        <p:xfrm>
          <a:off x="1574800" y="3638550"/>
          <a:ext cx="6213475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229" imgH="431613" progId="Equation.DSMT4">
                  <p:embed/>
                </p:oleObj>
              </mc:Choice>
              <mc:Fallback>
                <p:oleObj name="Equation" r:id="rId4" imgW="1777229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3638550"/>
                        <a:ext cx="6213475" cy="150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7245" name="Object 13"/>
          <p:cNvGraphicFramePr>
            <a:graphicFrameLocks noChangeAspect="1"/>
          </p:cNvGraphicFramePr>
          <p:nvPr/>
        </p:nvGraphicFramePr>
        <p:xfrm>
          <a:off x="1516063" y="4864100"/>
          <a:ext cx="6116637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0700" imgH="431800" progId="Equation.DSMT4">
                  <p:embed/>
                </p:oleObj>
              </mc:Choice>
              <mc:Fallback>
                <p:oleObj name="Equation" r:id="rId6" imgW="17907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063" y="4864100"/>
                        <a:ext cx="6116637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7246" name="Object 14"/>
          <p:cNvGraphicFramePr>
            <a:graphicFrameLocks noChangeAspect="1"/>
          </p:cNvGraphicFramePr>
          <p:nvPr/>
        </p:nvGraphicFramePr>
        <p:xfrm>
          <a:off x="5170488" y="1943100"/>
          <a:ext cx="377031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40948" imgH="279279" progId="Equation.DSMT4">
                  <p:embed/>
                </p:oleObj>
              </mc:Choice>
              <mc:Fallback>
                <p:oleObj name="Equation" r:id="rId8" imgW="1040948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0488" y="1943100"/>
                        <a:ext cx="3770312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81302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7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87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7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900113" y="260350"/>
            <a:ext cx="80295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9.7 Impedance combinations</a:t>
            </a:r>
          </a:p>
        </p:txBody>
      </p:sp>
      <p:graphicFrame>
        <p:nvGraphicFramePr>
          <p:cNvPr id="106499" name="Object 3"/>
          <p:cNvGraphicFramePr>
            <a:graphicFrameLocks noGrp="1" noChangeAspect="1"/>
          </p:cNvGraphicFramePr>
          <p:nvPr>
            <p:ph/>
          </p:nvPr>
        </p:nvGraphicFramePr>
        <p:xfrm>
          <a:off x="1727200" y="1330325"/>
          <a:ext cx="5927725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044933" imgH="946927" progId="Visio.Drawing.11">
                  <p:embed/>
                </p:oleObj>
              </mc:Choice>
              <mc:Fallback>
                <p:oleObj name="Visio" r:id="rId2" imgW="3044933" imgH="94692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1330325"/>
                        <a:ext cx="5927725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90308" name="Group 4"/>
          <p:cNvGrpSpPr>
            <a:grpSpLocks/>
          </p:cNvGrpSpPr>
          <p:nvPr/>
        </p:nvGrpSpPr>
        <p:grpSpPr bwMode="auto">
          <a:xfrm>
            <a:off x="92075" y="3130550"/>
            <a:ext cx="5327650" cy="2751138"/>
            <a:chOff x="-82" y="1972"/>
            <a:chExt cx="3356" cy="1733"/>
          </a:xfrm>
        </p:grpSpPr>
        <p:sp>
          <p:nvSpPr>
            <p:cNvPr id="106504" name="Text Box 5"/>
            <p:cNvSpPr txBox="1">
              <a:spLocks noChangeArrowheads="1"/>
            </p:cNvSpPr>
            <p:nvPr/>
          </p:nvSpPr>
          <p:spPr bwMode="auto">
            <a:xfrm>
              <a:off x="-82" y="1972"/>
              <a:ext cx="2343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>
                  <a:latin typeface="Verdana" pitchFamily="34" charset="0"/>
                </a:rPr>
                <a:t>By KVL in phasor:</a:t>
              </a:r>
            </a:p>
          </p:txBody>
        </p:sp>
        <p:graphicFrame>
          <p:nvGraphicFramePr>
            <p:cNvPr id="106505" name="Object 6"/>
            <p:cNvGraphicFramePr>
              <a:graphicFrameLocks noChangeAspect="1"/>
            </p:cNvGraphicFramePr>
            <p:nvPr/>
          </p:nvGraphicFramePr>
          <p:xfrm>
            <a:off x="260" y="2347"/>
            <a:ext cx="3014" cy="1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16868" imgH="863225" progId="Equation.DSMT4">
                    <p:embed/>
                  </p:oleObj>
                </mc:Choice>
                <mc:Fallback>
                  <p:oleObj name="Equation" r:id="rId4" imgW="1916868" imgH="86322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" y="2347"/>
                          <a:ext cx="3014" cy="1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90311" name="Group 7"/>
          <p:cNvGrpSpPr>
            <a:grpSpLocks/>
          </p:cNvGrpSpPr>
          <p:nvPr/>
        </p:nvGrpSpPr>
        <p:grpSpPr bwMode="auto">
          <a:xfrm>
            <a:off x="5256213" y="4551363"/>
            <a:ext cx="3719512" cy="1395412"/>
            <a:chOff x="3221" y="3017"/>
            <a:chExt cx="2343" cy="879"/>
          </a:xfrm>
        </p:grpSpPr>
        <p:graphicFrame>
          <p:nvGraphicFramePr>
            <p:cNvPr id="10650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955326"/>
                </p:ext>
              </p:extLst>
            </p:nvPr>
          </p:nvGraphicFramePr>
          <p:xfrm>
            <a:off x="3786" y="3017"/>
            <a:ext cx="1778" cy="8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30040" imgH="558720" progId="Equation.DSMT4">
                    <p:embed/>
                  </p:oleObj>
                </mc:Choice>
                <mc:Fallback>
                  <p:oleObj name="Equation" r:id="rId6" imgW="1130040" imgH="558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6" y="3017"/>
                          <a:ext cx="1778" cy="8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503" name="AutoShape 9"/>
            <p:cNvSpPr>
              <a:spLocks noChangeArrowheads="1"/>
            </p:cNvSpPr>
            <p:nvPr/>
          </p:nvSpPr>
          <p:spPr bwMode="auto">
            <a:xfrm>
              <a:off x="3221" y="3317"/>
              <a:ext cx="544" cy="27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45315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9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900113" y="225425"/>
            <a:ext cx="8029575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Impedances in Parallel</a:t>
            </a:r>
          </a:p>
        </p:txBody>
      </p:sp>
      <p:grpSp>
        <p:nvGrpSpPr>
          <p:cNvPr id="1891331" name="Group 3"/>
          <p:cNvGrpSpPr>
            <a:grpSpLocks/>
          </p:cNvGrpSpPr>
          <p:nvPr/>
        </p:nvGrpSpPr>
        <p:grpSpPr bwMode="auto">
          <a:xfrm>
            <a:off x="246063" y="3294063"/>
            <a:ext cx="8658225" cy="2911475"/>
            <a:chOff x="-78" y="2075"/>
            <a:chExt cx="5454" cy="1834"/>
          </a:xfrm>
        </p:grpSpPr>
        <p:sp>
          <p:nvSpPr>
            <p:cNvPr id="107525" name="Text Box 4"/>
            <p:cNvSpPr txBox="1">
              <a:spLocks noChangeArrowheads="1"/>
            </p:cNvSpPr>
            <p:nvPr/>
          </p:nvSpPr>
          <p:spPr bwMode="auto">
            <a:xfrm>
              <a:off x="-78" y="2075"/>
              <a:ext cx="2334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>
                  <a:latin typeface="Verdana" pitchFamily="34" charset="0"/>
                </a:rPr>
                <a:t>By KCL in phasor:</a:t>
              </a:r>
            </a:p>
          </p:txBody>
        </p:sp>
        <p:graphicFrame>
          <p:nvGraphicFramePr>
            <p:cNvPr id="107526" name="Object 5"/>
            <p:cNvGraphicFramePr>
              <a:graphicFrameLocks noChangeAspect="1"/>
            </p:cNvGraphicFramePr>
            <p:nvPr/>
          </p:nvGraphicFramePr>
          <p:xfrm>
            <a:off x="327" y="2318"/>
            <a:ext cx="2577" cy="1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27200" imgH="1066800" progId="Equation.DSMT4">
                    <p:embed/>
                  </p:oleObj>
                </mc:Choice>
                <mc:Fallback>
                  <p:oleObj name="Equation" r:id="rId2" imgW="1727200" imgH="1066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" y="2318"/>
                          <a:ext cx="2577" cy="15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7527" name="Group 6"/>
            <p:cNvGrpSpPr>
              <a:grpSpLocks/>
            </p:cNvGrpSpPr>
            <p:nvPr/>
          </p:nvGrpSpPr>
          <p:grpSpPr bwMode="auto">
            <a:xfrm>
              <a:off x="2993" y="2896"/>
              <a:ext cx="2383" cy="879"/>
              <a:chOff x="3221" y="3017"/>
              <a:chExt cx="2383" cy="879"/>
            </a:xfrm>
          </p:grpSpPr>
          <p:graphicFrame>
            <p:nvGraphicFramePr>
              <p:cNvPr id="107528" name="Object 7"/>
              <p:cNvGraphicFramePr>
                <a:graphicFrameLocks noChangeAspect="1"/>
              </p:cNvGraphicFramePr>
              <p:nvPr/>
            </p:nvGraphicFramePr>
            <p:xfrm>
              <a:off x="3746" y="3017"/>
              <a:ext cx="1858" cy="8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180588" imgH="558558" progId="Equation.DSMT4">
                      <p:embed/>
                    </p:oleObj>
                  </mc:Choice>
                  <mc:Fallback>
                    <p:oleObj name="Equation" r:id="rId4" imgW="1180588" imgH="55855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6" y="3017"/>
                            <a:ext cx="1858" cy="8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7529" name="AutoShape 8"/>
              <p:cNvSpPr>
                <a:spLocks noChangeArrowheads="1"/>
              </p:cNvSpPr>
              <p:nvPr/>
            </p:nvSpPr>
            <p:spPr bwMode="auto">
              <a:xfrm>
                <a:off x="3221" y="3317"/>
                <a:ext cx="544" cy="27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07524" name="Object 9"/>
          <p:cNvGraphicFramePr>
            <a:graphicFrameLocks noGrp="1" noChangeAspect="1"/>
          </p:cNvGraphicFramePr>
          <p:nvPr>
            <p:ph/>
          </p:nvPr>
        </p:nvGraphicFramePr>
        <p:xfrm>
          <a:off x="2244725" y="1006475"/>
          <a:ext cx="5567363" cy="238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100811" imgH="1329153" progId="Visio.Drawing.11">
                  <p:embed/>
                </p:oleObj>
              </mc:Choice>
              <mc:Fallback>
                <p:oleObj name="Visio" r:id="rId6" imgW="3100811" imgH="132915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725" y="1006475"/>
                        <a:ext cx="5567363" cy="238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37757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1189038" y="339725"/>
            <a:ext cx="6659562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Voltage/Current Division</a:t>
            </a:r>
          </a:p>
        </p:txBody>
      </p:sp>
      <p:graphicFrame>
        <p:nvGraphicFramePr>
          <p:cNvPr id="108547" name="Object 3"/>
          <p:cNvGraphicFramePr>
            <a:graphicFrameLocks noChangeAspect="1"/>
          </p:cNvGraphicFramePr>
          <p:nvPr/>
        </p:nvGraphicFramePr>
        <p:xfrm>
          <a:off x="957263" y="3500438"/>
          <a:ext cx="3222625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500" imgH="914400" progId="Equation.DSMT4">
                  <p:embed/>
                </p:oleObj>
              </mc:Choice>
              <mc:Fallback>
                <p:oleObj name="Equation" r:id="rId2" imgW="10795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3500438"/>
                        <a:ext cx="3222625" cy="272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8" name="Object 5"/>
          <p:cNvGraphicFramePr>
            <a:graphicFrameLocks noGrp="1" noChangeAspect="1"/>
          </p:cNvGraphicFramePr>
          <p:nvPr>
            <p:ph/>
          </p:nvPr>
        </p:nvGraphicFramePr>
        <p:xfrm>
          <a:off x="792163" y="1201738"/>
          <a:ext cx="2982912" cy="231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666885" imgH="1294601" progId="Visio.Drawing.11">
                  <p:embed/>
                </p:oleObj>
              </mc:Choice>
              <mc:Fallback>
                <p:oleObj name="Visio" r:id="rId4" imgW="1666885" imgH="129460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1201738"/>
                        <a:ext cx="2982912" cy="231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92360" name="Group 8"/>
          <p:cNvGrpSpPr>
            <a:grpSpLocks/>
          </p:cNvGrpSpPr>
          <p:nvPr/>
        </p:nvGrpSpPr>
        <p:grpSpPr bwMode="auto">
          <a:xfrm>
            <a:off x="5003800" y="1268413"/>
            <a:ext cx="3822700" cy="4899025"/>
            <a:chOff x="3152" y="799"/>
            <a:chExt cx="2408" cy="3086"/>
          </a:xfrm>
        </p:grpSpPr>
        <p:graphicFrame>
          <p:nvGraphicFramePr>
            <p:cNvPr id="108550" name="Object 4"/>
            <p:cNvGraphicFramePr>
              <a:graphicFrameLocks noChangeAspect="1"/>
            </p:cNvGraphicFramePr>
            <p:nvPr/>
          </p:nvGraphicFramePr>
          <p:xfrm>
            <a:off x="3344" y="2130"/>
            <a:ext cx="1975" cy="1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28700" imgH="914400" progId="Equation.DSMT4">
                    <p:embed/>
                  </p:oleObj>
                </mc:Choice>
                <mc:Fallback>
                  <p:oleObj name="Equation" r:id="rId6" imgW="10287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4" y="2130"/>
                          <a:ext cx="1975" cy="1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551" name="Object 6"/>
            <p:cNvGraphicFramePr>
              <a:graphicFrameLocks noChangeAspect="1"/>
            </p:cNvGraphicFramePr>
            <p:nvPr/>
          </p:nvGraphicFramePr>
          <p:xfrm>
            <a:off x="3152" y="799"/>
            <a:ext cx="2408" cy="1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2140901" imgH="1182849" progId="Visio.Drawing.11">
                    <p:embed/>
                  </p:oleObj>
                </mc:Choice>
                <mc:Fallback>
                  <p:oleObj name="Visio" r:id="rId8" imgW="2140901" imgH="1182849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799"/>
                          <a:ext cx="2408" cy="1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555190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9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0" name="对象 2"/>
          <p:cNvGraphicFramePr>
            <a:graphicFrameLocks noChangeAspect="1"/>
          </p:cNvGraphicFramePr>
          <p:nvPr/>
        </p:nvGraphicFramePr>
        <p:xfrm>
          <a:off x="358775" y="1665288"/>
          <a:ext cx="2952750" cy="340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62444" imgH="2013974" progId="Visio.Drawing.11">
                  <p:embed/>
                </p:oleObj>
              </mc:Choice>
              <mc:Fallback>
                <p:oleObj name="Visio" r:id="rId2" imgW="1762444" imgH="20139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1665288"/>
                        <a:ext cx="2952750" cy="3405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1" name="Text Box 2"/>
          <p:cNvSpPr txBox="1">
            <a:spLocks noChangeArrowheads="1"/>
          </p:cNvSpPr>
          <p:nvPr/>
        </p:nvSpPr>
        <p:spPr bwMode="auto">
          <a:xfrm>
            <a:off x="900113" y="339725"/>
            <a:ext cx="6659562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</a:rPr>
              <a:t>Y-</a:t>
            </a:r>
            <a:r>
              <a:rPr lang="en-US" altLang="zh-CN" sz="3200">
                <a:latin typeface="Arial Black" pitchFamily="34" charset="0"/>
                <a:sym typeface="Symbol" pitchFamily="18" charset="2"/>
              </a:rPr>
              <a:t> Conversion:</a:t>
            </a:r>
            <a:endParaRPr lang="en-US" altLang="zh-CN" sz="3200">
              <a:latin typeface="Arial Black" pitchFamily="34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559175" y="1509713"/>
          <a:ext cx="4624388" cy="380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7200" imgH="1422400" progId="Equation.DSMT4">
                  <p:embed/>
                </p:oleObj>
              </mc:Choice>
              <mc:Fallback>
                <p:oleObj name="Equation" r:id="rId4" imgW="1727200" imgH="142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175" y="1509713"/>
                        <a:ext cx="4624388" cy="380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76821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900113" y="339725"/>
            <a:ext cx="6659562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>
                <a:latin typeface="Arial Black" pitchFamily="34" charset="0"/>
                <a:sym typeface="Symbol" pitchFamily="18" charset="2"/>
              </a:rPr>
              <a:t></a:t>
            </a:r>
            <a:r>
              <a:rPr lang="en-US" altLang="zh-CN" sz="3200">
                <a:latin typeface="Arial Black" pitchFamily="34" charset="0"/>
              </a:rPr>
              <a:t>-Y</a:t>
            </a:r>
            <a:r>
              <a:rPr lang="en-US" altLang="zh-CN" sz="3200">
                <a:latin typeface="Arial Black" pitchFamily="34" charset="0"/>
                <a:sym typeface="Symbol" pitchFamily="18" charset="2"/>
              </a:rPr>
              <a:t> Conversion:</a:t>
            </a:r>
            <a:endParaRPr lang="en-US" altLang="zh-CN" sz="3200">
              <a:latin typeface="Arial Black" pitchFamily="34" charset="0"/>
            </a:endParaRPr>
          </a:p>
        </p:txBody>
      </p:sp>
      <p:graphicFrame>
        <p:nvGraphicFramePr>
          <p:cNvPr id="110595" name="对象 3"/>
          <p:cNvGraphicFramePr>
            <a:graphicFrameLocks noChangeAspect="1"/>
          </p:cNvGraphicFramePr>
          <p:nvPr/>
        </p:nvGraphicFramePr>
        <p:xfrm>
          <a:off x="358775" y="1665288"/>
          <a:ext cx="3090863" cy="356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62444" imgH="2013974" progId="Visio.Drawing.11">
                  <p:embed/>
                </p:oleObj>
              </mc:Choice>
              <mc:Fallback>
                <p:oleObj name="Visio" r:id="rId2" imgW="1762444" imgH="20139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1665288"/>
                        <a:ext cx="3090863" cy="3563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827463" y="1355725"/>
          <a:ext cx="3879850" cy="414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500" imgH="1422400" progId="Equation.DSMT4">
                  <p:embed/>
                </p:oleObj>
              </mc:Choice>
              <mc:Fallback>
                <p:oleObj name="Equation" r:id="rId4" imgW="1333500" imgH="142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463" y="1355725"/>
                        <a:ext cx="3879850" cy="414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099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4"/>
          <p:cNvSpPr txBox="1">
            <a:spLocks noChangeArrowheads="1"/>
          </p:cNvSpPr>
          <p:nvPr/>
        </p:nvSpPr>
        <p:spPr bwMode="auto">
          <a:xfrm>
            <a:off x="179388" y="1341438"/>
            <a:ext cx="87487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Arial" charset="0"/>
              </a:rPr>
              <a:t>The Y and ∆ </a:t>
            </a:r>
            <a:r>
              <a:rPr lang="en-US" altLang="zh-CN">
                <a:latin typeface="Arial" charset="0"/>
              </a:rPr>
              <a:t>circuits are said to be balanced when </a:t>
            </a:r>
          </a:p>
        </p:txBody>
      </p:sp>
      <p:graphicFrame>
        <p:nvGraphicFramePr>
          <p:cNvPr id="90115" name="Object 5"/>
          <p:cNvGraphicFramePr>
            <a:graphicFrameLocks noChangeAspect="1"/>
          </p:cNvGraphicFramePr>
          <p:nvPr/>
        </p:nvGraphicFramePr>
        <p:xfrm>
          <a:off x="1597025" y="2058988"/>
          <a:ext cx="4027488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508000" progId="Equation.DSMT4">
                  <p:embed/>
                </p:oleObj>
              </mc:Choice>
              <mc:Fallback>
                <p:oleObj name="Equation" r:id="rId2" imgW="13843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2058988"/>
                        <a:ext cx="4027488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6" name="Text Box 6"/>
          <p:cNvSpPr txBox="1">
            <a:spLocks noChangeArrowheads="1"/>
          </p:cNvSpPr>
          <p:nvPr/>
        </p:nvSpPr>
        <p:spPr bwMode="auto">
          <a:xfrm>
            <a:off x="179388" y="3651250"/>
            <a:ext cx="8820150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Under these conditions, conversion formulas become </a:t>
            </a:r>
          </a:p>
        </p:txBody>
      </p:sp>
      <p:graphicFrame>
        <p:nvGraphicFramePr>
          <p:cNvPr id="90117" name="Object 7"/>
          <p:cNvGraphicFramePr>
            <a:graphicFrameLocks noChangeAspect="1"/>
          </p:cNvGraphicFramePr>
          <p:nvPr/>
        </p:nvGraphicFramePr>
        <p:xfrm>
          <a:off x="1952625" y="4687888"/>
          <a:ext cx="5689600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800" imgH="419100" progId="Equation.DSMT4">
                  <p:embed/>
                </p:oleObj>
              </mc:Choice>
              <mc:Fallback>
                <p:oleObj name="Equation" r:id="rId4" imgW="19558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4687888"/>
                        <a:ext cx="5689600" cy="1220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98635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971550" y="333375"/>
            <a:ext cx="3644900" cy="69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algn="l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Example</a:t>
            </a:r>
            <a:endParaRPr lang="zh-CN" altLang="en-US" sz="3600">
              <a:latin typeface="Arial Black" pitchFamily="34" charset="0"/>
            </a:endParaRPr>
          </a:p>
        </p:txBody>
      </p:sp>
      <p:graphicFrame>
        <p:nvGraphicFramePr>
          <p:cNvPr id="112643" name="Object 3"/>
          <p:cNvGraphicFramePr>
            <a:graphicFrameLocks noChangeAspect="1"/>
          </p:cNvGraphicFramePr>
          <p:nvPr/>
        </p:nvGraphicFramePr>
        <p:xfrm>
          <a:off x="1368425" y="1268413"/>
          <a:ext cx="6192838" cy="289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791" imgH="1228408" progId="Visio.Drawing.11">
                  <p:embed/>
                </p:oleObj>
              </mc:Choice>
              <mc:Fallback>
                <p:oleObj name="Visio" r:id="rId2" imgW="2518791" imgH="122840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1268413"/>
                        <a:ext cx="6192838" cy="289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1116013" y="4329113"/>
            <a:ext cx="6840537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>
                <a:latin typeface="Arial" charset="0"/>
              </a:rPr>
              <a:t>Find the steady-state current </a:t>
            </a:r>
            <a:r>
              <a:rPr lang="en-US" altLang="zh-CN" i="1">
                <a:latin typeface="Arial" charset="0"/>
              </a:rPr>
              <a:t>i</a:t>
            </a:r>
            <a:r>
              <a:rPr lang="en-US" altLang="zh-CN">
                <a:latin typeface="Arial" charset="0"/>
              </a:rPr>
              <a:t>(t) and voltages across all passive elements.</a:t>
            </a:r>
          </a:p>
        </p:txBody>
      </p:sp>
    </p:spTree>
    <p:extLst>
      <p:ext uri="{BB962C8B-B14F-4D97-AF65-F5344CB8AC3E}">
        <p14:creationId xmlns:p14="http://schemas.microsoft.com/office/powerpoint/2010/main" val="882137028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1150938" y="319088"/>
            <a:ext cx="3644900" cy="69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Solution:</a:t>
            </a:r>
            <a:endParaRPr lang="zh-CN" altLang="en-US" sz="3600">
              <a:latin typeface="Arial Black" pitchFamily="34" charset="0"/>
            </a:endParaRPr>
          </a:p>
        </p:txBody>
      </p:sp>
      <p:grpSp>
        <p:nvGrpSpPr>
          <p:cNvPr id="113667" name="Group 18"/>
          <p:cNvGrpSpPr>
            <a:grpSpLocks/>
          </p:cNvGrpSpPr>
          <p:nvPr/>
        </p:nvGrpSpPr>
        <p:grpSpPr bwMode="auto">
          <a:xfrm>
            <a:off x="395288" y="1246188"/>
            <a:ext cx="8634412" cy="950912"/>
            <a:chOff x="249" y="785"/>
            <a:chExt cx="5439" cy="599"/>
          </a:xfrm>
        </p:grpSpPr>
        <p:graphicFrame>
          <p:nvGraphicFramePr>
            <p:cNvPr id="113670" name="Object 7"/>
            <p:cNvGraphicFramePr>
              <a:graphicFrameLocks noChangeAspect="1"/>
            </p:cNvGraphicFramePr>
            <p:nvPr/>
          </p:nvGraphicFramePr>
          <p:xfrm>
            <a:off x="2209" y="785"/>
            <a:ext cx="3479" cy="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41500" imgH="317500" progId="Equation.DSMT4">
                    <p:embed/>
                  </p:oleObj>
                </mc:Choice>
                <mc:Fallback>
                  <p:oleObj name="Equation" r:id="rId2" imgW="1841500" imgH="3175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" y="785"/>
                          <a:ext cx="3479" cy="5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671" name="Object 8"/>
            <p:cNvGraphicFramePr>
              <a:graphicFrameLocks noChangeAspect="1"/>
            </p:cNvGraphicFramePr>
            <p:nvPr/>
          </p:nvGraphicFramePr>
          <p:xfrm>
            <a:off x="249" y="935"/>
            <a:ext cx="1463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74028" imgH="177646" progId="Equation.DSMT4">
                    <p:embed/>
                  </p:oleObj>
                </mc:Choice>
                <mc:Fallback>
                  <p:oleObj name="Equation" r:id="rId4" imgW="774028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935"/>
                          <a:ext cx="1463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668" name="Object 10"/>
          <p:cNvGraphicFramePr>
            <a:graphicFrameLocks noChangeAspect="1"/>
          </p:cNvGraphicFramePr>
          <p:nvPr/>
        </p:nvGraphicFramePr>
        <p:xfrm>
          <a:off x="395288" y="2133600"/>
          <a:ext cx="7223125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3000" imgH="419100" progId="Equation.DSMT4">
                  <p:embed/>
                </p:oleObj>
              </mc:Choice>
              <mc:Fallback>
                <p:oleObj name="Equation" r:id="rId6" imgW="24130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133600"/>
                        <a:ext cx="7223125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13" name="Object 13"/>
          <p:cNvGraphicFramePr>
            <a:graphicFrameLocks noChangeAspect="1"/>
          </p:cNvGraphicFramePr>
          <p:nvPr/>
        </p:nvGraphicFramePr>
        <p:xfrm>
          <a:off x="1619250" y="3608388"/>
          <a:ext cx="5791200" cy="249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525567" imgH="1157205" progId="Visio.Drawing.11">
                  <p:embed/>
                </p:oleObj>
              </mc:Choice>
              <mc:Fallback>
                <p:oleObj name="Visio" r:id="rId8" imgW="2525567" imgH="115720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608388"/>
                        <a:ext cx="5791200" cy="2497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9345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0" name="Group 11"/>
          <p:cNvGrpSpPr>
            <a:grpSpLocks/>
          </p:cNvGrpSpPr>
          <p:nvPr/>
        </p:nvGrpSpPr>
        <p:grpSpPr bwMode="auto">
          <a:xfrm>
            <a:off x="325438" y="1209675"/>
            <a:ext cx="8497887" cy="998538"/>
            <a:chOff x="136" y="798"/>
            <a:chExt cx="5353" cy="629"/>
          </a:xfrm>
        </p:grpSpPr>
        <p:graphicFrame>
          <p:nvGraphicFramePr>
            <p:cNvPr id="114693" name="Object 3"/>
            <p:cNvGraphicFramePr>
              <a:graphicFrameLocks noChangeAspect="1"/>
            </p:cNvGraphicFramePr>
            <p:nvPr/>
          </p:nvGraphicFramePr>
          <p:xfrm>
            <a:off x="2901" y="798"/>
            <a:ext cx="2588" cy="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58900" imgH="330200" progId="Equation.DSMT4">
                    <p:embed/>
                  </p:oleObj>
                </mc:Choice>
                <mc:Fallback>
                  <p:oleObj name="Equation" r:id="rId2" imgW="1358900" imgH="330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1" y="798"/>
                          <a:ext cx="2588" cy="6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694" name="Text Box 4"/>
            <p:cNvSpPr txBox="1">
              <a:spLocks noChangeArrowheads="1"/>
            </p:cNvSpPr>
            <p:nvPr/>
          </p:nvSpPr>
          <p:spPr bwMode="auto">
            <a:xfrm>
              <a:off x="136" y="958"/>
              <a:ext cx="271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Font typeface="Wingdings" pitchFamily="2" charset="2"/>
                <a:buNone/>
              </a:pPr>
              <a:r>
                <a:rPr lang="en-US" altLang="zh-CN" sz="2600">
                  <a:latin typeface="Verdana" pitchFamily="34" charset="0"/>
                </a:rPr>
                <a:t>Apply KVL to the loop:</a:t>
              </a:r>
            </a:p>
          </p:txBody>
        </p:sp>
      </p:grpSp>
      <p:graphicFrame>
        <p:nvGraphicFramePr>
          <p:cNvPr id="1895430" name="Object 6"/>
          <p:cNvGraphicFramePr>
            <a:graphicFrameLocks noChangeAspect="1"/>
          </p:cNvGraphicFramePr>
          <p:nvPr/>
        </p:nvGraphicFramePr>
        <p:xfrm>
          <a:off x="384175" y="2249488"/>
          <a:ext cx="6218238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200" imgH="965200" progId="Equation.DSMT4">
                  <p:embed/>
                </p:oleObj>
              </mc:Choice>
              <mc:Fallback>
                <p:oleObj name="Equation" r:id="rId4" imgW="2489200" imgH="965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" y="2249488"/>
                        <a:ext cx="6218238" cy="241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5433" name="Object 9"/>
          <p:cNvGraphicFramePr>
            <a:graphicFrameLocks noChangeAspect="1"/>
          </p:cNvGraphicFramePr>
          <p:nvPr/>
        </p:nvGraphicFramePr>
        <p:xfrm>
          <a:off x="314325" y="4873625"/>
          <a:ext cx="85153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95700" imgH="457200" progId="Equation.DSMT4">
                  <p:embed/>
                </p:oleObj>
              </mc:Choice>
              <mc:Fallback>
                <p:oleObj name="Equation" r:id="rId6" imgW="3695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" y="4873625"/>
                        <a:ext cx="85153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4743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9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4" name="Object 4"/>
          <p:cNvGraphicFramePr>
            <a:graphicFrameLocks noChangeAspect="1"/>
          </p:cNvGraphicFramePr>
          <p:nvPr/>
        </p:nvGraphicFramePr>
        <p:xfrm>
          <a:off x="938213" y="1063625"/>
          <a:ext cx="5942012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1800" imgH="1320800" progId="Equation.DSMT4">
                  <p:embed/>
                </p:oleObj>
              </mc:Choice>
              <mc:Fallback>
                <p:oleObj name="Equation" r:id="rId2" imgW="2971800" imgH="1320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1063625"/>
                        <a:ext cx="5942012" cy="264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6455" name="Object 7"/>
          <p:cNvGraphicFramePr>
            <a:graphicFrameLocks noChangeAspect="1"/>
          </p:cNvGraphicFramePr>
          <p:nvPr/>
        </p:nvGraphicFramePr>
        <p:xfrm>
          <a:off x="971550" y="3646488"/>
          <a:ext cx="332581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700" imgH="1295400" progId="Equation.DSMT4">
                  <p:embed/>
                </p:oleObj>
              </mc:Choice>
              <mc:Fallback>
                <p:oleObj name="Equation" r:id="rId4" imgW="1663700" imgH="1295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646488"/>
                        <a:ext cx="3325813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96460" name="Group 12"/>
          <p:cNvGrpSpPr>
            <a:grpSpLocks/>
          </p:cNvGrpSpPr>
          <p:nvPr/>
        </p:nvGrpSpPr>
        <p:grpSpPr bwMode="auto">
          <a:xfrm>
            <a:off x="4645025" y="3933825"/>
            <a:ext cx="3743325" cy="1258888"/>
            <a:chOff x="2789" y="2478"/>
            <a:chExt cx="2358" cy="793"/>
          </a:xfrm>
        </p:grpSpPr>
        <p:graphicFrame>
          <p:nvGraphicFramePr>
            <p:cNvPr id="115717" name="Object 10"/>
            <p:cNvGraphicFramePr>
              <a:graphicFrameLocks noChangeAspect="1"/>
            </p:cNvGraphicFramePr>
            <p:nvPr/>
          </p:nvGraphicFramePr>
          <p:xfrm>
            <a:off x="3243" y="2478"/>
            <a:ext cx="1904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74028" imgH="177646" progId="Equation.DSMT4">
                    <p:embed/>
                  </p:oleObj>
                </mc:Choice>
                <mc:Fallback>
                  <p:oleObj name="Equation" r:id="rId6" imgW="774028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2478"/>
                          <a:ext cx="1904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718" name="Line 11"/>
            <p:cNvSpPr>
              <a:spLocks noChangeShapeType="1"/>
            </p:cNvSpPr>
            <p:nvPr/>
          </p:nvSpPr>
          <p:spPr bwMode="auto">
            <a:xfrm flipH="1">
              <a:off x="2789" y="2908"/>
              <a:ext cx="1134" cy="36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95745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96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6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062288" y="3546476"/>
            <a:ext cx="4037013" cy="597968"/>
            <a:chOff x="1929" y="2232"/>
            <a:chExt cx="2543" cy="411"/>
          </a:xfrm>
        </p:grpSpPr>
        <p:graphicFrame>
          <p:nvGraphicFramePr>
            <p:cNvPr id="98355" name="Object 3">
              <a:hlinkClick r:id="" action="ppaction://ole?verb=0"/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29956864"/>
                </p:ext>
              </p:extLst>
            </p:nvPr>
          </p:nvGraphicFramePr>
          <p:xfrm>
            <a:off x="2507" y="2256"/>
            <a:ext cx="1965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17440" imgH="241200" progId="Equation.DSMT4">
                    <p:embed/>
                  </p:oleObj>
                </mc:Choice>
                <mc:Fallback>
                  <p:oleObj name="Equation" r:id="rId2" imgW="1117440" imgH="241200" progId="Equation.DSMT4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7" y="2256"/>
                          <a:ext cx="1965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56" name="Rectangle 4"/>
            <p:cNvSpPr>
              <a:spLocks noChangeArrowheads="1"/>
            </p:cNvSpPr>
            <p:nvPr/>
          </p:nvSpPr>
          <p:spPr bwMode="auto">
            <a:xfrm>
              <a:off x="1929" y="2232"/>
              <a:ext cx="576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defTabSz="762000" eaLnBrk="0" hangingPunct="0">
                <a:buFont typeface="Wingdings" pitchFamily="2" charset="2"/>
                <a:buNone/>
              </a:pPr>
              <a:r>
                <a:rPr lang="en-US" altLang="zh-CN" sz="2800" b="1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Let</a:t>
              </a:r>
              <a:endParaRPr lang="zh-CN" alt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3190875" y="4144964"/>
            <a:ext cx="5221400" cy="1922560"/>
            <a:chOff x="1419" y="2688"/>
            <a:chExt cx="3559" cy="1296"/>
          </a:xfrm>
        </p:grpSpPr>
        <p:graphicFrame>
          <p:nvGraphicFramePr>
            <p:cNvPr id="98353" name="Object 6">
              <a:hlinkClick r:id="" action="ppaction://ole?verb=0"/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77483924"/>
                </p:ext>
              </p:extLst>
            </p:nvPr>
          </p:nvGraphicFramePr>
          <p:xfrm>
            <a:off x="2023" y="2744"/>
            <a:ext cx="2955" cy="1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03240" imgH="939600" progId="Equation.DSMT4">
                    <p:embed/>
                  </p:oleObj>
                </mc:Choice>
                <mc:Fallback>
                  <p:oleObj name="Equation" r:id="rId4" imgW="1803240" imgH="939600" progId="Equation.DSMT4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3" y="2744"/>
                          <a:ext cx="2955" cy="1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54" name="Rectangle 7"/>
            <p:cNvSpPr>
              <a:spLocks noChangeArrowheads="1"/>
            </p:cNvSpPr>
            <p:nvPr/>
          </p:nvSpPr>
          <p:spPr bwMode="auto">
            <a:xfrm>
              <a:off x="1419" y="2688"/>
              <a:ext cx="590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defTabSz="762000" eaLnBrk="0" hangingPunct="0">
                <a:buFont typeface="Wingdings" pitchFamily="2" charset="2"/>
                <a:buNone/>
              </a:pPr>
              <a:r>
                <a:rPr lang="en-US" altLang="zh-CN" sz="2800" b="1" dirty="0">
                  <a:latin typeface="Times New Roman" pitchFamily="18" charset="0"/>
                  <a:cs typeface="Times New Roman" pitchFamily="18" charset="0"/>
                </a:rPr>
                <a:t>then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sp>
        <p:nvSpPr>
          <p:cNvPr id="133128" name="Text Box 8"/>
          <p:cNvSpPr txBox="1">
            <a:spLocks noChangeArrowheads="1"/>
          </p:cNvSpPr>
          <p:nvPr/>
        </p:nvSpPr>
        <p:spPr bwMode="auto">
          <a:xfrm>
            <a:off x="3048000" y="1165225"/>
            <a:ext cx="4683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instantaneous expression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33129" name="Text Box 9"/>
          <p:cNvSpPr txBox="1">
            <a:spLocks noChangeArrowheads="1"/>
          </p:cNvSpPr>
          <p:nvPr/>
        </p:nvSpPr>
        <p:spPr bwMode="auto">
          <a:xfrm>
            <a:off x="3352800" y="1609725"/>
            <a:ext cx="29718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>
              <a:buFont typeface="Wingdings" pitchFamily="2" charset="2"/>
              <a:buNone/>
            </a:pPr>
            <a:r>
              <a:rPr lang="en-US" altLang="zh-CN">
                <a:ea typeface="楷体_GB2312" pitchFamily="49" charset="-122"/>
              </a:rPr>
              <a:t>Applying KVL</a:t>
            </a:r>
            <a:endParaRPr lang="zh-CN" altLang="en-US">
              <a:ea typeface="楷体_GB2312" pitchFamily="49" charset="-122"/>
            </a:endParaRPr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657600" y="2209800"/>
            <a:ext cx="4191000" cy="1414463"/>
            <a:chOff x="2304" y="1392"/>
            <a:chExt cx="2643" cy="960"/>
          </a:xfrm>
        </p:grpSpPr>
        <p:graphicFrame>
          <p:nvGraphicFramePr>
            <p:cNvPr id="98351" name="Object 11"/>
            <p:cNvGraphicFramePr>
              <a:graphicFrameLocks noChangeAspect="1"/>
            </p:cNvGraphicFramePr>
            <p:nvPr/>
          </p:nvGraphicFramePr>
          <p:xfrm>
            <a:off x="2304" y="1392"/>
            <a:ext cx="216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28700" imgH="228600" progId="Equation.3">
                    <p:embed/>
                  </p:oleObj>
                </mc:Choice>
                <mc:Fallback>
                  <p:oleObj name="公式" r:id="rId6" imgW="1028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392"/>
                          <a:ext cx="2160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52" name="Object 12"/>
            <p:cNvGraphicFramePr>
              <a:graphicFrameLocks noChangeAspect="1"/>
            </p:cNvGraphicFramePr>
            <p:nvPr/>
          </p:nvGraphicFramePr>
          <p:xfrm>
            <a:off x="2544" y="1728"/>
            <a:ext cx="2403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95400" imgH="393700" progId="Equation.3">
                    <p:embed/>
                  </p:oleObj>
                </mc:Choice>
                <mc:Fallback>
                  <p:oleObj name="Equation" r:id="rId8" imgW="12954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728"/>
                          <a:ext cx="2403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557213" y="5035550"/>
            <a:ext cx="2579687" cy="1100138"/>
            <a:chOff x="336" y="3264"/>
            <a:chExt cx="1381" cy="672"/>
          </a:xfrm>
        </p:grpSpPr>
        <p:sp>
          <p:nvSpPr>
            <p:cNvPr id="98349" name="AutoShape 14" descr="80%"/>
            <p:cNvSpPr>
              <a:spLocks noChangeArrowheads="1"/>
            </p:cNvSpPr>
            <p:nvPr/>
          </p:nvSpPr>
          <p:spPr bwMode="auto">
            <a:xfrm>
              <a:off x="336" y="3264"/>
              <a:ext cx="1152" cy="672"/>
            </a:xfrm>
            <a:prstGeom prst="wedgeRoundRectCallout">
              <a:avLst>
                <a:gd name="adj1" fmla="val 110940"/>
                <a:gd name="adj2" fmla="val -72023"/>
                <a:gd name="adj3" fmla="val 16667"/>
              </a:avLst>
            </a:prstGeom>
            <a:pattFill prst="pct80">
              <a:fgClr>
                <a:srgbClr val="FFFF66"/>
              </a:fgClr>
              <a:bgClr>
                <a:srgbClr val="FFFFFF"/>
              </a:bgClr>
            </a:patt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CN">
                <a:solidFill>
                  <a:srgbClr val="006600"/>
                </a:solidFill>
              </a:endParaRPr>
            </a:p>
          </p:txBody>
        </p:sp>
        <p:sp>
          <p:nvSpPr>
            <p:cNvPr id="98350" name="Rectangle 15"/>
            <p:cNvSpPr>
              <a:spLocks noChangeArrowheads="1"/>
            </p:cNvSpPr>
            <p:nvPr/>
          </p:nvSpPr>
          <p:spPr bwMode="auto">
            <a:xfrm>
              <a:off x="384" y="3402"/>
              <a:ext cx="1333" cy="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algn="l">
                <a:buFont typeface="Wingdings" pitchFamily="2" charset="2"/>
                <a:buNone/>
              </a:pPr>
              <a:r>
                <a:rPr lang="en-US" altLang="zh-CN" sz="2400" dirty="0">
                  <a:solidFill>
                    <a:srgbClr val="006600"/>
                  </a:solidFill>
                </a:rPr>
                <a:t>Sinusoids with the same </a:t>
              </a:r>
              <a:r>
                <a:rPr lang="en-US" altLang="zh-CN" sz="2400" b="1" i="1" dirty="0">
                  <a:solidFill>
                    <a:srgbClr val="006600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zh-CN" altLang="en-US" sz="2400" b="1" i="1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8312" name="Group 18"/>
          <p:cNvGrpSpPr>
            <a:grpSpLocks/>
          </p:cNvGrpSpPr>
          <p:nvPr/>
        </p:nvGrpSpPr>
        <p:grpSpPr bwMode="auto">
          <a:xfrm>
            <a:off x="709613" y="1371600"/>
            <a:ext cx="1981200" cy="3581400"/>
            <a:chOff x="672" y="960"/>
            <a:chExt cx="1248" cy="2256"/>
          </a:xfrm>
        </p:grpSpPr>
        <p:sp>
          <p:nvSpPr>
            <p:cNvPr id="98317" name="Line 19"/>
            <p:cNvSpPr>
              <a:spLocks noChangeShapeType="1"/>
            </p:cNvSpPr>
            <p:nvPr/>
          </p:nvSpPr>
          <p:spPr bwMode="auto">
            <a:xfrm>
              <a:off x="967" y="1178"/>
              <a:ext cx="32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18" name="Line 20"/>
            <p:cNvSpPr>
              <a:spLocks noChangeShapeType="1"/>
            </p:cNvSpPr>
            <p:nvPr/>
          </p:nvSpPr>
          <p:spPr bwMode="auto">
            <a:xfrm>
              <a:off x="1498" y="2476"/>
              <a:ext cx="0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19" name="Line 21"/>
            <p:cNvSpPr>
              <a:spLocks noChangeShapeType="1"/>
            </p:cNvSpPr>
            <p:nvPr/>
          </p:nvSpPr>
          <p:spPr bwMode="auto">
            <a:xfrm>
              <a:off x="1498" y="2819"/>
              <a:ext cx="0" cy="3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0" name="Line 22"/>
            <p:cNvSpPr>
              <a:spLocks noChangeShapeType="1"/>
            </p:cNvSpPr>
            <p:nvPr/>
          </p:nvSpPr>
          <p:spPr bwMode="auto">
            <a:xfrm>
              <a:off x="1380" y="2724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1" name="Line 23"/>
            <p:cNvSpPr>
              <a:spLocks noChangeShapeType="1"/>
            </p:cNvSpPr>
            <p:nvPr/>
          </p:nvSpPr>
          <p:spPr bwMode="auto">
            <a:xfrm>
              <a:off x="1380" y="2819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2" name="Rectangle 24"/>
            <p:cNvSpPr>
              <a:spLocks noChangeArrowheads="1"/>
            </p:cNvSpPr>
            <p:nvPr/>
          </p:nvSpPr>
          <p:spPr bwMode="auto">
            <a:xfrm>
              <a:off x="1439" y="1532"/>
              <a:ext cx="118" cy="25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98323" name="Line 25"/>
            <p:cNvSpPr>
              <a:spLocks noChangeShapeType="1"/>
            </p:cNvSpPr>
            <p:nvPr/>
          </p:nvSpPr>
          <p:spPr bwMode="auto">
            <a:xfrm flipH="1">
              <a:off x="849" y="1296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4" name="Text Box 26"/>
            <p:cNvSpPr txBox="1">
              <a:spLocks noChangeArrowheads="1"/>
            </p:cNvSpPr>
            <p:nvPr/>
          </p:nvSpPr>
          <p:spPr bwMode="auto">
            <a:xfrm>
              <a:off x="1144" y="1512"/>
              <a:ext cx="26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i="1">
                  <a:ea typeface="楷体_GB2312" pitchFamily="49" charset="-122"/>
                </a:rPr>
                <a:t>R</a:t>
              </a:r>
            </a:p>
          </p:txBody>
        </p:sp>
        <p:sp>
          <p:nvSpPr>
            <p:cNvPr id="98325" name="Text Box 27"/>
            <p:cNvSpPr txBox="1">
              <a:spLocks noChangeArrowheads="1"/>
            </p:cNvSpPr>
            <p:nvPr/>
          </p:nvSpPr>
          <p:spPr bwMode="auto">
            <a:xfrm>
              <a:off x="1144" y="2043"/>
              <a:ext cx="255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i="1">
                  <a:ea typeface="楷体_GB2312" pitchFamily="49" charset="-122"/>
                </a:rPr>
                <a:t>L</a:t>
              </a:r>
            </a:p>
          </p:txBody>
        </p:sp>
        <p:sp>
          <p:nvSpPr>
            <p:cNvPr id="98326" name="Text Box 28"/>
            <p:cNvSpPr txBox="1">
              <a:spLocks noChangeArrowheads="1"/>
            </p:cNvSpPr>
            <p:nvPr/>
          </p:nvSpPr>
          <p:spPr bwMode="auto">
            <a:xfrm>
              <a:off x="1085" y="2633"/>
              <a:ext cx="26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i="1">
                  <a:ea typeface="楷体_GB2312" pitchFamily="49" charset="-122"/>
                </a:rPr>
                <a:t>C</a:t>
              </a:r>
            </a:p>
          </p:txBody>
        </p:sp>
        <p:grpSp>
          <p:nvGrpSpPr>
            <p:cNvPr id="98327" name="Group 29"/>
            <p:cNvGrpSpPr>
              <a:grpSpLocks/>
            </p:cNvGrpSpPr>
            <p:nvPr/>
          </p:nvGrpSpPr>
          <p:grpSpPr bwMode="auto">
            <a:xfrm>
              <a:off x="1469" y="2063"/>
              <a:ext cx="114" cy="413"/>
              <a:chOff x="433" y="3084"/>
              <a:chExt cx="95" cy="612"/>
            </a:xfrm>
          </p:grpSpPr>
          <p:sp>
            <p:nvSpPr>
              <p:cNvPr id="98346" name="AutoShape 30"/>
              <p:cNvSpPr>
                <a:spLocks noChangeArrowheads="1"/>
              </p:cNvSpPr>
              <p:nvPr/>
            </p:nvSpPr>
            <p:spPr bwMode="auto">
              <a:xfrm flipH="1">
                <a:off x="433" y="3276"/>
                <a:ext cx="83" cy="204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  <p:sp>
            <p:nvSpPr>
              <p:cNvPr id="98347" name="AutoShape 31"/>
              <p:cNvSpPr>
                <a:spLocks noChangeArrowheads="1"/>
              </p:cNvSpPr>
              <p:nvPr/>
            </p:nvSpPr>
            <p:spPr bwMode="auto">
              <a:xfrm flipH="1">
                <a:off x="445" y="3084"/>
                <a:ext cx="83" cy="204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  <p:sp>
            <p:nvSpPr>
              <p:cNvPr id="98348" name="AutoShape 32"/>
              <p:cNvSpPr>
                <a:spLocks noChangeArrowheads="1"/>
              </p:cNvSpPr>
              <p:nvPr/>
            </p:nvSpPr>
            <p:spPr bwMode="auto">
              <a:xfrm flipH="1">
                <a:off x="433" y="3492"/>
                <a:ext cx="83" cy="204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</p:grpSp>
        <p:graphicFrame>
          <p:nvGraphicFramePr>
            <p:cNvPr id="98328" name="Object 33"/>
            <p:cNvGraphicFramePr>
              <a:graphicFrameLocks noChangeAspect="1"/>
            </p:cNvGraphicFramePr>
            <p:nvPr/>
          </p:nvGraphicFramePr>
          <p:xfrm>
            <a:off x="1564" y="1452"/>
            <a:ext cx="35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1412" imgH="200021" progId="Equation.3">
                    <p:embed/>
                  </p:oleObj>
                </mc:Choice>
                <mc:Fallback>
                  <p:oleObj name="Equation" r:id="rId10" imgW="171412" imgH="20002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1452"/>
                          <a:ext cx="356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29" name="Text Box 34"/>
            <p:cNvSpPr txBox="1">
              <a:spLocks noChangeArrowheads="1"/>
            </p:cNvSpPr>
            <p:nvPr/>
          </p:nvSpPr>
          <p:spPr bwMode="auto">
            <a:xfrm>
              <a:off x="1557" y="1237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98330" name="Text Box 35"/>
            <p:cNvSpPr txBox="1">
              <a:spLocks noChangeArrowheads="1"/>
            </p:cNvSpPr>
            <p:nvPr/>
          </p:nvSpPr>
          <p:spPr bwMode="auto">
            <a:xfrm>
              <a:off x="1557" y="1591"/>
              <a:ext cx="295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sp>
          <p:nvSpPr>
            <p:cNvPr id="98331" name="Line 36"/>
            <p:cNvSpPr>
              <a:spLocks noChangeShapeType="1"/>
            </p:cNvSpPr>
            <p:nvPr/>
          </p:nvSpPr>
          <p:spPr bwMode="auto">
            <a:xfrm>
              <a:off x="1498" y="1296"/>
              <a:ext cx="0" cy="2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32" name="Line 37"/>
            <p:cNvSpPr>
              <a:spLocks noChangeShapeType="1"/>
            </p:cNvSpPr>
            <p:nvPr/>
          </p:nvSpPr>
          <p:spPr bwMode="auto">
            <a:xfrm>
              <a:off x="1498" y="1795"/>
              <a:ext cx="0" cy="2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8333" name="Object 38"/>
            <p:cNvGraphicFramePr>
              <a:graphicFrameLocks noChangeAspect="1"/>
            </p:cNvGraphicFramePr>
            <p:nvPr/>
          </p:nvGraphicFramePr>
          <p:xfrm>
            <a:off x="1557" y="2004"/>
            <a:ext cx="359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1412" imgH="200021" progId="Equation.3">
                    <p:embed/>
                  </p:oleObj>
                </mc:Choice>
                <mc:Fallback>
                  <p:oleObj name="Equation" r:id="rId12" imgW="171412" imgH="20002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7" y="2004"/>
                          <a:ext cx="359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34" name="Text Box 39"/>
            <p:cNvSpPr txBox="1">
              <a:spLocks noChangeArrowheads="1"/>
            </p:cNvSpPr>
            <p:nvPr/>
          </p:nvSpPr>
          <p:spPr bwMode="auto">
            <a:xfrm>
              <a:off x="1557" y="2417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98335" name="Text Box 40"/>
            <p:cNvSpPr txBox="1">
              <a:spLocks noChangeArrowheads="1"/>
            </p:cNvSpPr>
            <p:nvPr/>
          </p:nvSpPr>
          <p:spPr bwMode="auto">
            <a:xfrm>
              <a:off x="1557" y="2181"/>
              <a:ext cx="22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graphicFrame>
          <p:nvGraphicFramePr>
            <p:cNvPr id="98336" name="Object 41"/>
            <p:cNvGraphicFramePr>
              <a:graphicFrameLocks noChangeAspect="1"/>
            </p:cNvGraphicFramePr>
            <p:nvPr/>
          </p:nvGraphicFramePr>
          <p:xfrm>
            <a:off x="1557" y="2594"/>
            <a:ext cx="349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1412" imgH="209468" progId="Equation.3">
                    <p:embed/>
                  </p:oleObj>
                </mc:Choice>
                <mc:Fallback>
                  <p:oleObj name="Equation" r:id="rId14" imgW="171412" imgH="2094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7" y="2594"/>
                          <a:ext cx="349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37" name="Text Box 42"/>
            <p:cNvSpPr txBox="1">
              <a:spLocks noChangeArrowheads="1"/>
            </p:cNvSpPr>
            <p:nvPr/>
          </p:nvSpPr>
          <p:spPr bwMode="auto">
            <a:xfrm>
              <a:off x="1557" y="1827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98338" name="Text Box 43"/>
            <p:cNvSpPr txBox="1">
              <a:spLocks noChangeArrowheads="1"/>
            </p:cNvSpPr>
            <p:nvPr/>
          </p:nvSpPr>
          <p:spPr bwMode="auto">
            <a:xfrm>
              <a:off x="1557" y="2771"/>
              <a:ext cx="22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sp>
          <p:nvSpPr>
            <p:cNvPr id="98339" name="Line 44"/>
            <p:cNvSpPr>
              <a:spLocks noChangeShapeType="1"/>
            </p:cNvSpPr>
            <p:nvPr/>
          </p:nvSpPr>
          <p:spPr bwMode="auto">
            <a:xfrm flipH="1">
              <a:off x="849" y="3184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8340" name="Object 45"/>
            <p:cNvGraphicFramePr>
              <a:graphicFrameLocks noChangeAspect="1"/>
            </p:cNvGraphicFramePr>
            <p:nvPr/>
          </p:nvGraphicFramePr>
          <p:xfrm>
            <a:off x="672" y="2004"/>
            <a:ext cx="27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04737" imgH="123900" progId="Equation.3">
                    <p:embed/>
                  </p:oleObj>
                </mc:Choice>
                <mc:Fallback>
                  <p:oleObj name="公式" r:id="rId16" imgW="104737" imgH="123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004"/>
                          <a:ext cx="27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41" name="Text Box 46"/>
            <p:cNvSpPr txBox="1">
              <a:spLocks noChangeArrowheads="1"/>
            </p:cNvSpPr>
            <p:nvPr/>
          </p:nvSpPr>
          <p:spPr bwMode="auto">
            <a:xfrm>
              <a:off x="672" y="1237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98342" name="Text Box 47"/>
            <p:cNvSpPr txBox="1">
              <a:spLocks noChangeArrowheads="1"/>
            </p:cNvSpPr>
            <p:nvPr/>
          </p:nvSpPr>
          <p:spPr bwMode="auto">
            <a:xfrm>
              <a:off x="672" y="2712"/>
              <a:ext cx="22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sp>
          <p:nvSpPr>
            <p:cNvPr id="98343" name="Oval 48"/>
            <p:cNvSpPr>
              <a:spLocks noChangeArrowheads="1"/>
            </p:cNvSpPr>
            <p:nvPr/>
          </p:nvSpPr>
          <p:spPr bwMode="auto">
            <a:xfrm>
              <a:off x="790" y="1267"/>
              <a:ext cx="61" cy="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98344" name="Oval 49"/>
            <p:cNvSpPr>
              <a:spLocks noChangeArrowheads="1"/>
            </p:cNvSpPr>
            <p:nvPr/>
          </p:nvSpPr>
          <p:spPr bwMode="auto">
            <a:xfrm>
              <a:off x="790" y="3155"/>
              <a:ext cx="61" cy="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graphicFrame>
          <p:nvGraphicFramePr>
            <p:cNvPr id="98345" name="Object 50"/>
            <p:cNvGraphicFramePr>
              <a:graphicFrameLocks noChangeAspect="1"/>
            </p:cNvGraphicFramePr>
            <p:nvPr/>
          </p:nvGraphicFramePr>
          <p:xfrm>
            <a:off x="1321" y="960"/>
            <a:ext cx="230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85841" imgH="161960" progId="Equation.3">
                    <p:embed/>
                  </p:oleObj>
                </mc:Choice>
                <mc:Fallback>
                  <p:oleObj name="公式" r:id="rId18" imgW="85841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1" y="960"/>
                          <a:ext cx="230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313" name="Rectangle 46">
            <a:hlinkClick r:id="rId20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zh-CN" altLang="en-US" sz="1200">
                <a:solidFill>
                  <a:schemeClr val="bg1"/>
                </a:solidFill>
                <a:latin typeface="楷体_GB2312" pitchFamily="49" charset="-122"/>
              </a:rPr>
              <a:t>上一节</a:t>
            </a:r>
          </a:p>
        </p:txBody>
      </p:sp>
      <p:sp>
        <p:nvSpPr>
          <p:cNvPr id="98314" name="Rectangle 45">
            <a:hlinkClick r:id="rId21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98315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98316" name="Rectangle 5"/>
          <p:cNvSpPr>
            <a:spLocks noChangeArrowheads="1"/>
          </p:cNvSpPr>
          <p:nvPr/>
        </p:nvSpPr>
        <p:spPr bwMode="auto">
          <a:xfrm>
            <a:off x="793750" y="376238"/>
            <a:ext cx="78165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 algn="l">
              <a:buFont typeface="Wingdings" pitchFamily="2" charset="2"/>
              <a:buNone/>
            </a:pPr>
            <a:r>
              <a:rPr lang="en-US" altLang="zh-CN" sz="2800" dirty="0">
                <a:latin typeface="Arial Black" pitchFamily="34" charset="0"/>
              </a:rPr>
              <a:t>Example: RLC series-connected circuit</a:t>
            </a:r>
            <a:endParaRPr lang="zh-CN" altLang="en-US" sz="28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667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8" grpId="0" autoUpdateAnimBg="0"/>
      <p:bldP spid="133129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 descr="40%"/>
          <p:cNvSpPr>
            <a:spLocks noGrp="1" noChangeArrowheads="1"/>
          </p:cNvSpPr>
          <p:nvPr>
            <p:ph type="title"/>
          </p:nvPr>
        </p:nvSpPr>
        <p:spPr>
          <a:xfrm>
            <a:off x="887413" y="295275"/>
            <a:ext cx="7793037" cy="762000"/>
          </a:xfrm>
        </p:spPr>
        <p:txBody>
          <a:bodyPr anchor="t"/>
          <a:lstStyle/>
          <a:p>
            <a:pPr eaLnBrk="1" hangingPunct="1">
              <a:defRPr/>
            </a:pPr>
            <a:r>
              <a:rPr lang="en-US" altLang="zh-CN" sz="3200" kern="1200" dirty="0" err="1">
                <a:latin typeface="Arial Black" pitchFamily="34" charset="0"/>
                <a:ea typeface="宋体" pitchFamily="2" charset="-122"/>
                <a:cs typeface="+mn-cs"/>
              </a:rPr>
              <a:t>Phasor</a:t>
            </a:r>
            <a:endParaRPr lang="zh-CN" altLang="en-US" sz="3200" kern="1200" dirty="0">
              <a:latin typeface="Arial Black" pitchFamily="34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34148" name="Object 4" descr="40%"/>
          <p:cNvGraphicFramePr>
            <a:graphicFrameLocks noChangeAspect="1"/>
          </p:cNvGraphicFramePr>
          <p:nvPr/>
        </p:nvGraphicFramePr>
        <p:xfrm>
          <a:off x="1697038" y="4833938"/>
          <a:ext cx="5067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451" imgH="482391" progId="Equation.3">
                  <p:embed/>
                </p:oleObj>
              </mc:Choice>
              <mc:Fallback>
                <p:oleObj name="Equation" r:id="rId2" imgW="1726451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038" y="4833938"/>
                        <a:ext cx="5067300" cy="1295400"/>
                      </a:xfrm>
                      <a:prstGeom prst="rect">
                        <a:avLst/>
                      </a:prstGeom>
                      <a:pattFill prst="pct40">
                        <a:fgClr>
                          <a:srgbClr val="FFFF99"/>
                        </a:fgClr>
                        <a:bgClr>
                          <a:srgbClr val="FFFFFF"/>
                        </a:bgClr>
                      </a:pattFill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9" name="Object 5"/>
          <p:cNvGraphicFramePr>
            <a:graphicFrameLocks noChangeAspect="1"/>
          </p:cNvGraphicFramePr>
          <p:nvPr/>
        </p:nvGraphicFramePr>
        <p:xfrm>
          <a:off x="3589338" y="1393825"/>
          <a:ext cx="32766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55700" imgH="241300" progId="Equation.3">
                  <p:embed/>
                </p:oleObj>
              </mc:Choice>
              <mc:Fallback>
                <p:oleObj name="公式" r:id="rId4" imgW="11557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338" y="1393825"/>
                        <a:ext cx="32766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311498" y="1958977"/>
            <a:ext cx="5876923" cy="785813"/>
            <a:chOff x="2398" y="1047"/>
            <a:chExt cx="3702" cy="495"/>
          </a:xfrm>
        </p:grpSpPr>
        <p:graphicFrame>
          <p:nvGraphicFramePr>
            <p:cNvPr id="9937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3208812"/>
                </p:ext>
              </p:extLst>
            </p:nvPr>
          </p:nvGraphicFramePr>
          <p:xfrm>
            <a:off x="2840" y="1047"/>
            <a:ext cx="1433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12520" imgH="241200" progId="Equation.DSMT4">
                    <p:embed/>
                  </p:oleObj>
                </mc:Choice>
                <mc:Fallback>
                  <p:oleObj name="Equation" r:id="rId6" imgW="812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0" y="1047"/>
                          <a:ext cx="1433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77" name="Text Box 8"/>
            <p:cNvSpPr txBox="1">
              <a:spLocks noChangeArrowheads="1"/>
            </p:cNvSpPr>
            <p:nvPr/>
          </p:nvSpPr>
          <p:spPr bwMode="auto">
            <a:xfrm>
              <a:off x="2398" y="1104"/>
              <a:ext cx="442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zh-CN" dirty="0">
                  <a:ea typeface="楷体_GB2312" pitchFamily="49" charset="-122"/>
                </a:rPr>
                <a:t>Let</a:t>
              </a:r>
              <a:endParaRPr lang="zh-CN" altLang="en-US" dirty="0">
                <a:ea typeface="楷体_GB2312" pitchFamily="49" charset="-122"/>
              </a:endParaRPr>
            </a:p>
          </p:txBody>
        </p:sp>
        <p:sp>
          <p:nvSpPr>
            <p:cNvPr id="134153" name="Text Box 9"/>
            <p:cNvSpPr txBox="1">
              <a:spLocks noChangeArrowheads="1"/>
            </p:cNvSpPr>
            <p:nvPr/>
          </p:nvSpPr>
          <p:spPr bwMode="auto">
            <a:xfrm>
              <a:off x="4147" y="1114"/>
              <a:ext cx="1953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 eaLnBrk="0" hangingPunct="0">
                <a:lnSpc>
                  <a:spcPct val="120000"/>
                </a:lnSpc>
                <a:buFont typeface="Wingdings" pitchFamily="2" charset="2"/>
                <a:buNone/>
                <a:defRPr/>
              </a:pPr>
              <a:r>
                <a:rPr lang="en-US" altLang="zh-CN" sz="2400" dirty="0">
                  <a:solidFill>
                    <a:srgbClr val="000099"/>
                  </a:solidFill>
                  <a:ea typeface="宋体" pitchFamily="2" charset="-122"/>
                </a:rPr>
                <a:t>(</a:t>
              </a:r>
              <a:r>
                <a:rPr lang="en-US" altLang="zh-CN" sz="2000" b="1" dirty="0">
                  <a:solidFill>
                    <a:srgbClr val="000099"/>
                  </a:solidFill>
                  <a:ea typeface="宋体" pitchFamily="2" charset="-122"/>
                </a:rPr>
                <a:t>the reference </a:t>
              </a:r>
              <a:r>
                <a:rPr lang="en-US" altLang="zh-CN" sz="2000" b="1" dirty="0" err="1">
                  <a:solidFill>
                    <a:srgbClr val="000099"/>
                  </a:solidFill>
                  <a:ea typeface="宋体" pitchFamily="2" charset="-122"/>
                </a:rPr>
                <a:t>phasor</a:t>
              </a:r>
              <a:r>
                <a:rPr lang="en-US" altLang="zh-CN" sz="2400" dirty="0">
                  <a:solidFill>
                    <a:srgbClr val="000099"/>
                  </a:solidFill>
                  <a:ea typeface="宋体" pitchFamily="2" charset="-122"/>
                </a:rPr>
                <a:t>)</a:t>
              </a:r>
              <a:endParaRPr lang="zh-CN" altLang="en-US" sz="2400" dirty="0">
                <a:solidFill>
                  <a:srgbClr val="000099"/>
                </a:solidFill>
                <a:ea typeface="宋体" pitchFamily="2" charset="-122"/>
              </a:endParaRPr>
            </a:p>
          </p:txBody>
        </p:sp>
      </p:grpSp>
      <p:sp>
        <p:nvSpPr>
          <p:cNvPr id="134154" name="Line 10"/>
          <p:cNvSpPr>
            <a:spLocks noChangeShapeType="1"/>
          </p:cNvSpPr>
          <p:nvPr/>
        </p:nvSpPr>
        <p:spPr bwMode="auto">
          <a:xfrm>
            <a:off x="3276600" y="762000"/>
            <a:ext cx="0" cy="3810000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584575" y="2667000"/>
            <a:ext cx="3900488" cy="1968500"/>
            <a:chOff x="1517" y="1421"/>
            <a:chExt cx="2457" cy="1240"/>
          </a:xfrm>
        </p:grpSpPr>
        <p:graphicFrame>
          <p:nvGraphicFramePr>
            <p:cNvPr id="99372" name="Object 12"/>
            <p:cNvGraphicFramePr>
              <a:graphicFrameLocks noChangeAspect="1"/>
            </p:cNvGraphicFramePr>
            <p:nvPr/>
          </p:nvGraphicFramePr>
          <p:xfrm>
            <a:off x="2206" y="2244"/>
            <a:ext cx="1659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02865" imgH="241195" progId="Equation.3">
                    <p:embed/>
                  </p:oleObj>
                </mc:Choice>
                <mc:Fallback>
                  <p:oleObj name="Equation" r:id="rId8" imgW="1002865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6" y="2244"/>
                          <a:ext cx="1659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73" name="Object 13"/>
            <p:cNvGraphicFramePr>
              <a:graphicFrameLocks noChangeAspect="1"/>
            </p:cNvGraphicFramePr>
            <p:nvPr/>
          </p:nvGraphicFramePr>
          <p:xfrm>
            <a:off x="2292" y="1838"/>
            <a:ext cx="1682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927100" imgH="228600" progId="Equation.3">
                    <p:embed/>
                  </p:oleObj>
                </mc:Choice>
                <mc:Fallback>
                  <p:oleObj name="Equation" r:id="rId10" imgW="9271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2" y="1838"/>
                          <a:ext cx="1682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74" name="Rectangle 14"/>
            <p:cNvSpPr>
              <a:spLocks noChangeArrowheads="1"/>
            </p:cNvSpPr>
            <p:nvPr/>
          </p:nvSpPr>
          <p:spPr bwMode="auto">
            <a:xfrm>
              <a:off x="1517" y="1432"/>
              <a:ext cx="681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defTabSz="762000" eaLnBrk="0" hangingPunct="0">
                <a:buFont typeface="Wingdings" pitchFamily="2" charset="2"/>
                <a:buNone/>
              </a:pPr>
              <a:r>
                <a:rPr lang="en-US" altLang="zh-CN" sz="2800" b="1" dirty="0">
                  <a:latin typeface="Times New Roman" pitchFamily="18" charset="0"/>
                  <a:cs typeface="Times New Roman" pitchFamily="18" charset="0"/>
                </a:rPr>
                <a:t>then</a:t>
              </a:r>
              <a:endParaRPr lang="zh-CN" altLang="en-US" sz="28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99375" name="Object 15"/>
            <p:cNvGraphicFramePr>
              <a:graphicFrameLocks noChangeAspect="1"/>
            </p:cNvGraphicFramePr>
            <p:nvPr/>
          </p:nvGraphicFramePr>
          <p:xfrm>
            <a:off x="2301" y="1421"/>
            <a:ext cx="1381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685800" imgH="228600" progId="Equation.3">
                    <p:embed/>
                  </p:oleObj>
                </mc:Choice>
                <mc:Fallback>
                  <p:oleObj name="公式" r:id="rId12" imgW="6858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1" y="1421"/>
                          <a:ext cx="1381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9336" name="Group 17"/>
          <p:cNvGrpSpPr>
            <a:grpSpLocks/>
          </p:cNvGrpSpPr>
          <p:nvPr/>
        </p:nvGrpSpPr>
        <p:grpSpPr bwMode="auto">
          <a:xfrm>
            <a:off x="887413" y="1066800"/>
            <a:ext cx="1992312" cy="3448050"/>
            <a:chOff x="559" y="612"/>
            <a:chExt cx="1255" cy="2172"/>
          </a:xfrm>
        </p:grpSpPr>
        <p:sp>
          <p:nvSpPr>
            <p:cNvPr id="99340" name="Line 18"/>
            <p:cNvSpPr>
              <a:spLocks noChangeShapeType="1"/>
            </p:cNvSpPr>
            <p:nvPr/>
          </p:nvSpPr>
          <p:spPr bwMode="auto">
            <a:xfrm>
              <a:off x="854" y="746"/>
              <a:ext cx="32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1" name="Line 19"/>
            <p:cNvSpPr>
              <a:spLocks noChangeShapeType="1"/>
            </p:cNvSpPr>
            <p:nvPr/>
          </p:nvSpPr>
          <p:spPr bwMode="auto">
            <a:xfrm>
              <a:off x="1385" y="2044"/>
              <a:ext cx="0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2" name="Line 20"/>
            <p:cNvSpPr>
              <a:spLocks noChangeShapeType="1"/>
            </p:cNvSpPr>
            <p:nvPr/>
          </p:nvSpPr>
          <p:spPr bwMode="auto">
            <a:xfrm>
              <a:off x="1385" y="2387"/>
              <a:ext cx="0" cy="3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3" name="Line 21"/>
            <p:cNvSpPr>
              <a:spLocks noChangeShapeType="1"/>
            </p:cNvSpPr>
            <p:nvPr/>
          </p:nvSpPr>
          <p:spPr bwMode="auto">
            <a:xfrm>
              <a:off x="1267" y="2292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4" name="Line 22"/>
            <p:cNvSpPr>
              <a:spLocks noChangeShapeType="1"/>
            </p:cNvSpPr>
            <p:nvPr/>
          </p:nvSpPr>
          <p:spPr bwMode="auto">
            <a:xfrm>
              <a:off x="1267" y="2387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5" name="Rectangle 23"/>
            <p:cNvSpPr>
              <a:spLocks noChangeArrowheads="1"/>
            </p:cNvSpPr>
            <p:nvPr/>
          </p:nvSpPr>
          <p:spPr bwMode="auto">
            <a:xfrm>
              <a:off x="1326" y="1100"/>
              <a:ext cx="118" cy="25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99346" name="Line 24"/>
            <p:cNvSpPr>
              <a:spLocks noChangeShapeType="1"/>
            </p:cNvSpPr>
            <p:nvPr/>
          </p:nvSpPr>
          <p:spPr bwMode="auto">
            <a:xfrm flipH="1">
              <a:off x="736" y="864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7" name="Text Box 25"/>
            <p:cNvSpPr txBox="1">
              <a:spLocks noChangeArrowheads="1"/>
            </p:cNvSpPr>
            <p:nvPr/>
          </p:nvSpPr>
          <p:spPr bwMode="auto">
            <a:xfrm>
              <a:off x="1031" y="1080"/>
              <a:ext cx="26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i="1">
                  <a:ea typeface="楷体_GB2312" pitchFamily="49" charset="-122"/>
                </a:rPr>
                <a:t>R</a:t>
              </a:r>
            </a:p>
          </p:txBody>
        </p:sp>
        <p:sp>
          <p:nvSpPr>
            <p:cNvPr id="99348" name="Text Box 26"/>
            <p:cNvSpPr txBox="1">
              <a:spLocks noChangeArrowheads="1"/>
            </p:cNvSpPr>
            <p:nvPr/>
          </p:nvSpPr>
          <p:spPr bwMode="auto">
            <a:xfrm>
              <a:off x="960" y="1611"/>
              <a:ext cx="421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i="1">
                  <a:ea typeface="楷体_GB2312" pitchFamily="49" charset="-122"/>
                </a:rPr>
                <a:t>jX</a:t>
              </a:r>
              <a:r>
                <a:rPr lang="en-US" altLang="zh-CN" i="1" baseline="-25000">
                  <a:ea typeface="楷体_GB2312" pitchFamily="49" charset="-122"/>
                </a:rPr>
                <a:t>L</a:t>
              </a:r>
            </a:p>
          </p:txBody>
        </p:sp>
        <p:sp>
          <p:nvSpPr>
            <p:cNvPr id="99349" name="Text Box 27"/>
            <p:cNvSpPr txBox="1">
              <a:spLocks noChangeArrowheads="1"/>
            </p:cNvSpPr>
            <p:nvPr/>
          </p:nvSpPr>
          <p:spPr bwMode="auto">
            <a:xfrm>
              <a:off x="816" y="2201"/>
              <a:ext cx="50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i="1">
                  <a:ea typeface="楷体_GB2312" pitchFamily="49" charset="-122"/>
                </a:rPr>
                <a:t>-jX</a:t>
              </a:r>
              <a:r>
                <a:rPr lang="en-US" altLang="zh-CN" i="1" baseline="-25000">
                  <a:ea typeface="楷体_GB2312" pitchFamily="49" charset="-122"/>
                </a:rPr>
                <a:t>C</a:t>
              </a:r>
            </a:p>
          </p:txBody>
        </p:sp>
        <p:grpSp>
          <p:nvGrpSpPr>
            <p:cNvPr id="99350" name="Group 28"/>
            <p:cNvGrpSpPr>
              <a:grpSpLocks/>
            </p:cNvGrpSpPr>
            <p:nvPr/>
          </p:nvGrpSpPr>
          <p:grpSpPr bwMode="auto">
            <a:xfrm>
              <a:off x="1356" y="1631"/>
              <a:ext cx="114" cy="413"/>
              <a:chOff x="433" y="3084"/>
              <a:chExt cx="95" cy="612"/>
            </a:xfrm>
          </p:grpSpPr>
          <p:sp>
            <p:nvSpPr>
              <p:cNvPr id="99369" name="AutoShape 29"/>
              <p:cNvSpPr>
                <a:spLocks noChangeArrowheads="1"/>
              </p:cNvSpPr>
              <p:nvPr/>
            </p:nvSpPr>
            <p:spPr bwMode="auto">
              <a:xfrm flipH="1">
                <a:off x="433" y="3276"/>
                <a:ext cx="83" cy="204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  <p:sp>
            <p:nvSpPr>
              <p:cNvPr id="99370" name="AutoShape 30"/>
              <p:cNvSpPr>
                <a:spLocks noChangeArrowheads="1"/>
              </p:cNvSpPr>
              <p:nvPr/>
            </p:nvSpPr>
            <p:spPr bwMode="auto">
              <a:xfrm flipH="1">
                <a:off x="445" y="3084"/>
                <a:ext cx="83" cy="204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  <p:sp>
            <p:nvSpPr>
              <p:cNvPr id="99371" name="AutoShape 31"/>
              <p:cNvSpPr>
                <a:spLocks noChangeArrowheads="1"/>
              </p:cNvSpPr>
              <p:nvPr/>
            </p:nvSpPr>
            <p:spPr bwMode="auto">
              <a:xfrm flipH="1">
                <a:off x="433" y="3492"/>
                <a:ext cx="83" cy="204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</p:grpSp>
        <p:graphicFrame>
          <p:nvGraphicFramePr>
            <p:cNvPr id="99351" name="Object 32"/>
            <p:cNvGraphicFramePr>
              <a:graphicFrameLocks noChangeAspect="1"/>
            </p:cNvGraphicFramePr>
            <p:nvPr/>
          </p:nvGraphicFramePr>
          <p:xfrm>
            <a:off x="1477" y="1056"/>
            <a:ext cx="290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0026" imgH="209468" progId="Equation.3">
                    <p:embed/>
                  </p:oleObj>
                </mc:Choice>
                <mc:Fallback>
                  <p:oleObj name="Equation" r:id="rId14" imgW="200026" imgH="2094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7" y="1056"/>
                          <a:ext cx="290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52" name="Text Box 33"/>
            <p:cNvSpPr txBox="1">
              <a:spLocks noChangeArrowheads="1"/>
            </p:cNvSpPr>
            <p:nvPr/>
          </p:nvSpPr>
          <p:spPr bwMode="auto">
            <a:xfrm>
              <a:off x="1444" y="805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99353" name="Text Box 34"/>
            <p:cNvSpPr txBox="1">
              <a:spLocks noChangeArrowheads="1"/>
            </p:cNvSpPr>
            <p:nvPr/>
          </p:nvSpPr>
          <p:spPr bwMode="auto">
            <a:xfrm>
              <a:off x="1444" y="1159"/>
              <a:ext cx="295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sp>
          <p:nvSpPr>
            <p:cNvPr id="99354" name="Line 35"/>
            <p:cNvSpPr>
              <a:spLocks noChangeShapeType="1"/>
            </p:cNvSpPr>
            <p:nvPr/>
          </p:nvSpPr>
          <p:spPr bwMode="auto">
            <a:xfrm>
              <a:off x="1385" y="864"/>
              <a:ext cx="0" cy="2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5" name="Line 36"/>
            <p:cNvSpPr>
              <a:spLocks noChangeShapeType="1"/>
            </p:cNvSpPr>
            <p:nvPr/>
          </p:nvSpPr>
          <p:spPr bwMode="auto">
            <a:xfrm>
              <a:off x="1385" y="1363"/>
              <a:ext cx="0" cy="2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9356" name="Object 37"/>
            <p:cNvGraphicFramePr>
              <a:graphicFrameLocks noChangeAspect="1"/>
            </p:cNvGraphicFramePr>
            <p:nvPr/>
          </p:nvGraphicFramePr>
          <p:xfrm>
            <a:off x="1465" y="1632"/>
            <a:ext cx="302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0026" imgH="209468" progId="Equation.3">
                    <p:embed/>
                  </p:oleObj>
                </mc:Choice>
                <mc:Fallback>
                  <p:oleObj name="Equation" r:id="rId16" imgW="200026" imgH="2094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5" y="1632"/>
                          <a:ext cx="302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57" name="Text Box 38"/>
            <p:cNvSpPr txBox="1">
              <a:spLocks noChangeArrowheads="1"/>
            </p:cNvSpPr>
            <p:nvPr/>
          </p:nvSpPr>
          <p:spPr bwMode="auto">
            <a:xfrm>
              <a:off x="1444" y="1985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99358" name="Text Box 39"/>
            <p:cNvSpPr txBox="1">
              <a:spLocks noChangeArrowheads="1"/>
            </p:cNvSpPr>
            <p:nvPr/>
          </p:nvSpPr>
          <p:spPr bwMode="auto">
            <a:xfrm>
              <a:off x="1444" y="1749"/>
              <a:ext cx="22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graphicFrame>
          <p:nvGraphicFramePr>
            <p:cNvPr id="99359" name="Object 40"/>
            <p:cNvGraphicFramePr>
              <a:graphicFrameLocks noChangeAspect="1"/>
            </p:cNvGraphicFramePr>
            <p:nvPr/>
          </p:nvGraphicFramePr>
          <p:xfrm>
            <a:off x="1467" y="2197"/>
            <a:ext cx="34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00026" imgH="219186" progId="Equation.3">
                    <p:embed/>
                  </p:oleObj>
                </mc:Choice>
                <mc:Fallback>
                  <p:oleObj name="Equation" r:id="rId18" imgW="200026" imgH="21918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7" y="2197"/>
                          <a:ext cx="34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60" name="Text Box 41"/>
            <p:cNvSpPr txBox="1">
              <a:spLocks noChangeArrowheads="1"/>
            </p:cNvSpPr>
            <p:nvPr/>
          </p:nvSpPr>
          <p:spPr bwMode="auto">
            <a:xfrm>
              <a:off x="1444" y="1395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99361" name="Text Box 42"/>
            <p:cNvSpPr txBox="1">
              <a:spLocks noChangeArrowheads="1"/>
            </p:cNvSpPr>
            <p:nvPr/>
          </p:nvSpPr>
          <p:spPr bwMode="auto">
            <a:xfrm>
              <a:off x="1444" y="2339"/>
              <a:ext cx="22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sp>
          <p:nvSpPr>
            <p:cNvPr id="99362" name="Line 43"/>
            <p:cNvSpPr>
              <a:spLocks noChangeShapeType="1"/>
            </p:cNvSpPr>
            <p:nvPr/>
          </p:nvSpPr>
          <p:spPr bwMode="auto">
            <a:xfrm flipH="1">
              <a:off x="736" y="2752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9363" name="Object 44"/>
            <p:cNvGraphicFramePr>
              <a:graphicFrameLocks noChangeAspect="1"/>
            </p:cNvGraphicFramePr>
            <p:nvPr/>
          </p:nvGraphicFramePr>
          <p:xfrm>
            <a:off x="564" y="1659"/>
            <a:ext cx="25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42799" imgH="180855" progId="Equation.3">
                    <p:embed/>
                  </p:oleObj>
                </mc:Choice>
                <mc:Fallback>
                  <p:oleObj name="Equation" r:id="rId20" imgW="142799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" y="1659"/>
                          <a:ext cx="25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64" name="Text Box 45"/>
            <p:cNvSpPr txBox="1">
              <a:spLocks noChangeArrowheads="1"/>
            </p:cNvSpPr>
            <p:nvPr/>
          </p:nvSpPr>
          <p:spPr bwMode="auto">
            <a:xfrm>
              <a:off x="559" y="805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99365" name="Text Box 46"/>
            <p:cNvSpPr txBox="1">
              <a:spLocks noChangeArrowheads="1"/>
            </p:cNvSpPr>
            <p:nvPr/>
          </p:nvSpPr>
          <p:spPr bwMode="auto">
            <a:xfrm>
              <a:off x="559" y="2280"/>
              <a:ext cx="22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sp>
          <p:nvSpPr>
            <p:cNvPr id="99366" name="Oval 47"/>
            <p:cNvSpPr>
              <a:spLocks noChangeArrowheads="1"/>
            </p:cNvSpPr>
            <p:nvPr/>
          </p:nvSpPr>
          <p:spPr bwMode="auto">
            <a:xfrm>
              <a:off x="677" y="835"/>
              <a:ext cx="61" cy="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99367" name="Oval 48"/>
            <p:cNvSpPr>
              <a:spLocks noChangeArrowheads="1"/>
            </p:cNvSpPr>
            <p:nvPr/>
          </p:nvSpPr>
          <p:spPr bwMode="auto">
            <a:xfrm>
              <a:off x="677" y="2723"/>
              <a:ext cx="61" cy="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graphicFrame>
          <p:nvGraphicFramePr>
            <p:cNvPr id="99368" name="Object 49"/>
            <p:cNvGraphicFramePr>
              <a:graphicFrameLocks noChangeAspect="1"/>
            </p:cNvGraphicFramePr>
            <p:nvPr/>
          </p:nvGraphicFramePr>
          <p:xfrm>
            <a:off x="1179" y="612"/>
            <a:ext cx="192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04737" imgH="171408" progId="Equation.3">
                    <p:embed/>
                  </p:oleObj>
                </mc:Choice>
                <mc:Fallback>
                  <p:oleObj name="Equation" r:id="rId22" imgW="104737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612"/>
                          <a:ext cx="192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337" name="Rectangle 50"/>
          <p:cNvSpPr>
            <a:spLocks noChangeArrowheads="1"/>
          </p:cNvSpPr>
          <p:nvPr/>
        </p:nvSpPr>
        <p:spPr bwMode="auto">
          <a:xfrm>
            <a:off x="3584575" y="506413"/>
            <a:ext cx="25041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phasor</a:t>
            </a:r>
            <a:r>
              <a:rPr lang="en-US" altLang="zh-CN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form</a:t>
            </a:r>
            <a:endParaRPr lang="zh-CN" altLang="en-US" sz="28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338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99339" name="Rectangle 4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2264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zh-CN" altLang="en-US" sz="1200">
                <a:solidFill>
                  <a:schemeClr val="bg1"/>
                </a:solidFill>
                <a:latin typeface="楷体_GB2312" pitchFamily="49" charset="-122"/>
              </a:rPr>
              <a:t>下一页</a:t>
            </a:r>
          </a:p>
        </p:txBody>
      </p:sp>
    </p:spTree>
    <p:extLst>
      <p:ext uri="{BB962C8B-B14F-4D97-AF65-F5344CB8AC3E}">
        <p14:creationId xmlns:p14="http://schemas.microsoft.com/office/powerpoint/2010/main" val="36876095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descr="40%"/>
          <p:cNvGraphicFramePr>
            <a:graphicFrameLocks noChangeAspect="1"/>
          </p:cNvGraphicFramePr>
          <p:nvPr/>
        </p:nvGraphicFramePr>
        <p:xfrm>
          <a:off x="1706563" y="457200"/>
          <a:ext cx="34448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800" imgH="241300" progId="Equation.3">
                  <p:embed/>
                </p:oleObj>
              </mc:Choice>
              <mc:Fallback>
                <p:oleObj name="Equation" r:id="rId2" imgW="1447800" imgH="241300" progId="Equation.3">
                  <p:embed/>
                  <p:pic>
                    <p:nvPicPr>
                      <p:cNvPr id="0" name="Object 2" descr="40%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457200"/>
                        <a:ext cx="34448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pattFill prst="pct40">
                              <a:fgClr>
                                <a:schemeClr val="hlink"/>
                              </a:fgClr>
                              <a:bgClr>
                                <a:srgbClr val="FFFFFF"/>
                              </a:bgClr>
                            </a:patt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1" descr="40%"/>
          <p:cNvSpPr>
            <a:spLocks noChangeArrowheads="1"/>
          </p:cNvSpPr>
          <p:nvPr/>
        </p:nvSpPr>
        <p:spPr bwMode="auto">
          <a:xfrm>
            <a:off x="5600700" y="1261385"/>
            <a:ext cx="1736373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impedance</a:t>
            </a:r>
            <a:endParaRPr lang="zh-CN" alt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357188" y="2182813"/>
            <a:ext cx="2989262" cy="695325"/>
            <a:chOff x="551" y="1344"/>
            <a:chExt cx="1883" cy="438"/>
          </a:xfrm>
        </p:grpSpPr>
        <p:sp>
          <p:nvSpPr>
            <p:cNvPr id="9" name="Text Box 7" descr="40%"/>
            <p:cNvSpPr txBox="1">
              <a:spLocks noChangeArrowheads="1"/>
            </p:cNvSpPr>
            <p:nvPr/>
          </p:nvSpPr>
          <p:spPr bwMode="auto">
            <a:xfrm>
              <a:off x="551" y="1344"/>
              <a:ext cx="544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zh-CN">
                  <a:ea typeface="楷体_GB2312" pitchFamily="49" charset="-122"/>
                </a:rPr>
                <a:t>then</a:t>
              </a:r>
              <a:endParaRPr lang="zh-CN" altLang="en-US">
                <a:ea typeface="楷体_GB2312" pitchFamily="49" charset="-122"/>
              </a:endParaRPr>
            </a:p>
          </p:txBody>
        </p:sp>
        <p:graphicFrame>
          <p:nvGraphicFramePr>
            <p:cNvPr id="10" name="Object 8" descr="40%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5903779"/>
                </p:ext>
              </p:extLst>
            </p:nvPr>
          </p:nvGraphicFramePr>
          <p:xfrm>
            <a:off x="1248" y="1392"/>
            <a:ext cx="1186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94870" imgH="203024" progId="Equation.3">
                    <p:embed/>
                  </p:oleObj>
                </mc:Choice>
                <mc:Fallback>
                  <p:oleObj name="公式" r:id="rId4" imgW="494870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392"/>
                          <a:ext cx="1186" cy="36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AutoShape 12" descr="40%"/>
          <p:cNvSpPr>
            <a:spLocks noChangeArrowheads="1"/>
          </p:cNvSpPr>
          <p:nvPr/>
        </p:nvSpPr>
        <p:spPr bwMode="auto">
          <a:xfrm>
            <a:off x="5030788" y="1957388"/>
            <a:ext cx="4113212" cy="1406525"/>
          </a:xfrm>
          <a:prstGeom prst="cloudCallout">
            <a:avLst>
              <a:gd name="adj1" fmla="val -87402"/>
              <a:gd name="adj2" fmla="val 3264"/>
            </a:avLst>
          </a:prstGeom>
          <a:solidFill>
            <a:schemeClr val="bg1"/>
          </a:solidFill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defTabSz="762000" eaLnBrk="0" hangingPunct="0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Ohm’s law in </a:t>
            </a:r>
            <a:r>
              <a:rPr lang="en-US" altLang="zh-CN" sz="24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phasor</a:t>
            </a:r>
            <a:r>
              <a:rPr lang="en-US" altLang="zh-CN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form</a:t>
            </a:r>
            <a:endParaRPr lang="zh-CN" altLang="en-US" sz="2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311151" y="3405983"/>
            <a:ext cx="8077201" cy="1343026"/>
            <a:chOff x="293" y="1940"/>
            <a:chExt cx="5088" cy="846"/>
          </a:xfrm>
        </p:grpSpPr>
        <p:graphicFrame>
          <p:nvGraphicFramePr>
            <p:cNvPr id="13" name="Object 16" descr="编织物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097657"/>
                </p:ext>
              </p:extLst>
            </p:nvPr>
          </p:nvGraphicFramePr>
          <p:xfrm>
            <a:off x="293" y="1940"/>
            <a:ext cx="5088" cy="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009600" imgH="469800" progId="Equation.DSMT4">
                    <p:embed/>
                  </p:oleObj>
                </mc:Choice>
                <mc:Fallback>
                  <p:oleObj name="Equation" r:id="rId6" imgW="300960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1940"/>
                          <a:ext cx="5088" cy="846"/>
                        </a:xfrm>
                        <a:prstGeom prst="rect">
                          <a:avLst/>
                        </a:prstGeom>
                        <a:pattFill prst="weave">
                          <a:fgClr>
                            <a:srgbClr val="FFFF66"/>
                          </a:fgClr>
                          <a:bgClr>
                            <a:srgbClr val="FFFFFF"/>
                          </a:bgClr>
                        </a:pattFill>
                        <a:ln w="38100">
                          <a:solidFill>
                            <a:srgbClr val="339933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Group 17"/>
            <p:cNvGrpSpPr>
              <a:grpSpLocks/>
            </p:cNvGrpSpPr>
            <p:nvPr/>
          </p:nvGrpSpPr>
          <p:grpSpPr bwMode="auto">
            <a:xfrm>
              <a:off x="1923" y="2087"/>
              <a:ext cx="432" cy="228"/>
              <a:chOff x="1923" y="2084"/>
              <a:chExt cx="432" cy="228"/>
            </a:xfrm>
          </p:grpSpPr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>
                <a:off x="1923" y="2312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19"/>
              <p:cNvSpPr>
                <a:spLocks noChangeShapeType="1"/>
              </p:cNvSpPr>
              <p:nvPr/>
            </p:nvSpPr>
            <p:spPr bwMode="auto">
              <a:xfrm flipV="1">
                <a:off x="1923" y="2084"/>
                <a:ext cx="109" cy="21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20"/>
            <p:cNvGrpSpPr>
              <a:grpSpLocks/>
            </p:cNvGrpSpPr>
            <p:nvPr/>
          </p:nvGrpSpPr>
          <p:grpSpPr bwMode="auto">
            <a:xfrm>
              <a:off x="1888" y="2496"/>
              <a:ext cx="432" cy="217"/>
              <a:chOff x="1888" y="2112"/>
              <a:chExt cx="432" cy="217"/>
            </a:xfrm>
          </p:grpSpPr>
          <p:sp>
            <p:nvSpPr>
              <p:cNvPr id="22" name="Line 21"/>
              <p:cNvSpPr>
                <a:spLocks noChangeShapeType="1"/>
              </p:cNvSpPr>
              <p:nvPr/>
            </p:nvSpPr>
            <p:spPr bwMode="auto">
              <a:xfrm>
                <a:off x="1888" y="2329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 flipV="1">
                <a:off x="1888" y="2112"/>
                <a:ext cx="109" cy="21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23"/>
            <p:cNvGrpSpPr>
              <a:grpSpLocks/>
            </p:cNvGrpSpPr>
            <p:nvPr/>
          </p:nvGrpSpPr>
          <p:grpSpPr bwMode="auto">
            <a:xfrm>
              <a:off x="3083" y="2304"/>
              <a:ext cx="336" cy="217"/>
              <a:chOff x="3072" y="2304"/>
              <a:chExt cx="336" cy="217"/>
            </a:xfrm>
          </p:grpSpPr>
          <p:sp>
            <p:nvSpPr>
              <p:cNvPr id="20" name="Line 24"/>
              <p:cNvSpPr>
                <a:spLocks noChangeShapeType="1"/>
              </p:cNvSpPr>
              <p:nvPr/>
            </p:nvSpPr>
            <p:spPr bwMode="auto">
              <a:xfrm>
                <a:off x="3072" y="2521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25"/>
              <p:cNvSpPr>
                <a:spLocks noChangeShapeType="1"/>
              </p:cNvSpPr>
              <p:nvPr/>
            </p:nvSpPr>
            <p:spPr bwMode="auto">
              <a:xfrm flipV="1">
                <a:off x="3072" y="2304"/>
                <a:ext cx="109" cy="21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Group 26"/>
            <p:cNvGrpSpPr>
              <a:grpSpLocks/>
            </p:cNvGrpSpPr>
            <p:nvPr/>
          </p:nvGrpSpPr>
          <p:grpSpPr bwMode="auto">
            <a:xfrm>
              <a:off x="4287" y="2279"/>
              <a:ext cx="864" cy="242"/>
              <a:chOff x="4287" y="2279"/>
              <a:chExt cx="864" cy="242"/>
            </a:xfrm>
          </p:grpSpPr>
          <p:sp>
            <p:nvSpPr>
              <p:cNvPr id="18" name="Line 27"/>
              <p:cNvSpPr>
                <a:spLocks noChangeShapeType="1"/>
              </p:cNvSpPr>
              <p:nvPr/>
            </p:nvSpPr>
            <p:spPr bwMode="auto">
              <a:xfrm>
                <a:off x="4287" y="2521"/>
                <a:ext cx="86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28"/>
              <p:cNvSpPr>
                <a:spLocks noChangeShapeType="1"/>
              </p:cNvSpPr>
              <p:nvPr/>
            </p:nvSpPr>
            <p:spPr bwMode="auto">
              <a:xfrm flipV="1">
                <a:off x="4290" y="2279"/>
                <a:ext cx="109" cy="21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6" name="Rectangle 10" descr="40%"/>
          <p:cNvSpPr>
            <a:spLocks noChangeArrowheads="1"/>
          </p:cNvSpPr>
          <p:nvPr/>
        </p:nvSpPr>
        <p:spPr bwMode="auto">
          <a:xfrm>
            <a:off x="1711325" y="5070475"/>
            <a:ext cx="7086600" cy="561692"/>
          </a:xfrm>
          <a:prstGeom prst="rect">
            <a:avLst/>
          </a:prstGeom>
          <a:pattFill prst="pct40">
            <a:fgClr>
              <a:srgbClr val="99CCFF"/>
            </a:fgClr>
            <a:bgClr>
              <a:srgbClr val="FFFFFF"/>
            </a:bgClr>
          </a:pattFill>
          <a:ln w="38100">
            <a:solidFill>
              <a:srgbClr val="339933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defTabSz="762000" eaLnBrk="0" hangingPunct="0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Z is a complex number instead of a </a:t>
            </a:r>
            <a:r>
              <a:rPr lang="en-US" altLang="zh-CN" sz="2800" b="1" dirty="0" err="1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phasor</a:t>
            </a:r>
            <a:r>
              <a:rPr lang="en-US" altLang="zh-CN" sz="28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b="1" dirty="0">
              <a:solidFill>
                <a:srgbClr val="FF33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AutoShape 13" descr="40%"/>
          <p:cNvSpPr>
            <a:spLocks noChangeArrowheads="1"/>
          </p:cNvSpPr>
          <p:nvPr/>
        </p:nvSpPr>
        <p:spPr bwMode="auto">
          <a:xfrm>
            <a:off x="34925" y="5516563"/>
            <a:ext cx="1219200" cy="533400"/>
          </a:xfrm>
          <a:prstGeom prst="cloudCallout">
            <a:avLst>
              <a:gd name="adj1" fmla="val 83335"/>
              <a:gd name="adj2" fmla="val -69984"/>
            </a:avLst>
          </a:prstGeom>
          <a:pattFill prst="pct40">
            <a:fgClr>
              <a:srgbClr val="FFCCFF"/>
            </a:fgClr>
            <a:bgClr>
              <a:srgbClr val="FFFFFF"/>
            </a:bgClr>
          </a:pattFill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762000" eaLnBrk="0" hangingPunc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Notice</a:t>
            </a:r>
            <a:endParaRPr lang="zh-CN" altLang="en-US" sz="2400" b="1" dirty="0">
              <a:solidFill>
                <a:schemeClr val="tx2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29" name="Group 6"/>
          <p:cNvGrpSpPr>
            <a:grpSpLocks/>
          </p:cNvGrpSpPr>
          <p:nvPr/>
        </p:nvGrpSpPr>
        <p:grpSpPr bwMode="auto">
          <a:xfrm>
            <a:off x="341253" y="1262065"/>
            <a:ext cx="4657036" cy="673644"/>
            <a:chOff x="551" y="1344"/>
            <a:chExt cx="4286" cy="435"/>
          </a:xfrm>
        </p:grpSpPr>
        <p:sp>
          <p:nvSpPr>
            <p:cNvPr id="30" name="Text Box 7" descr="40%"/>
            <p:cNvSpPr txBox="1">
              <a:spLocks noChangeArrowheads="1"/>
            </p:cNvSpPr>
            <p:nvPr/>
          </p:nvSpPr>
          <p:spPr bwMode="auto">
            <a:xfrm>
              <a:off x="551" y="1344"/>
              <a:ext cx="4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zh-CN" dirty="0">
                  <a:ea typeface="楷体_GB2312" pitchFamily="49" charset="-122"/>
                </a:rPr>
                <a:t>Let</a:t>
              </a:r>
              <a:endParaRPr lang="zh-CN" altLang="en-US" dirty="0">
                <a:ea typeface="楷体_GB2312" pitchFamily="49" charset="-122"/>
              </a:endParaRPr>
            </a:p>
          </p:txBody>
        </p:sp>
        <p:graphicFrame>
          <p:nvGraphicFramePr>
            <p:cNvPr id="31" name="Object 8" descr="40%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2858630"/>
                </p:ext>
              </p:extLst>
            </p:nvPr>
          </p:nvGraphicFramePr>
          <p:xfrm>
            <a:off x="1370" y="1344"/>
            <a:ext cx="3467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47560" imgH="241200" progId="Equation.DSMT4">
                    <p:embed/>
                  </p:oleObj>
                </mc:Choice>
                <mc:Fallback>
                  <p:oleObj name="Equation" r:id="rId8" imgW="14475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0" y="1344"/>
                          <a:ext cx="3467" cy="43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280898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1" grpId="0" animBg="1" autoUpdateAnimBg="0"/>
      <p:bldP spid="26" grpId="0" animBg="1" autoUpdateAnimBg="0"/>
      <p:bldP spid="27" grpId="0" animBg="1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AutoShape 3"/>
          <p:cNvSpPr>
            <a:spLocks/>
          </p:cNvSpPr>
          <p:nvPr/>
        </p:nvSpPr>
        <p:spPr bwMode="auto">
          <a:xfrm>
            <a:off x="609600" y="17526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73100" y="1098551"/>
            <a:ext cx="6562725" cy="1111250"/>
            <a:chOff x="447" y="692"/>
            <a:chExt cx="4134" cy="700"/>
          </a:xfrm>
        </p:grpSpPr>
        <p:graphicFrame>
          <p:nvGraphicFramePr>
            <p:cNvPr id="10139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4597984"/>
                </p:ext>
              </p:extLst>
            </p:nvPr>
          </p:nvGraphicFramePr>
          <p:xfrm>
            <a:off x="1678" y="692"/>
            <a:ext cx="2903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31840" imgH="469800" progId="Equation.DSMT4">
                    <p:embed/>
                  </p:oleObj>
                </mc:Choice>
                <mc:Fallback>
                  <p:oleObj name="Equation" r:id="rId2" imgW="203184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8" y="692"/>
                          <a:ext cx="2903" cy="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99" name="Text Box 6"/>
            <p:cNvSpPr txBox="1">
              <a:spLocks noChangeArrowheads="1"/>
            </p:cNvSpPr>
            <p:nvPr/>
          </p:nvSpPr>
          <p:spPr bwMode="auto">
            <a:xfrm>
              <a:off x="447" y="885"/>
              <a:ext cx="1376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3300"/>
                  </a:solidFill>
                  <a:ea typeface="楷体_GB2312" pitchFamily="49" charset="-122"/>
                </a:rPr>
                <a:t>magnitude</a:t>
              </a:r>
              <a:r>
                <a:rPr lang="zh-CN" altLang="en-US" dirty="0">
                  <a:solidFill>
                    <a:srgbClr val="FF3300"/>
                  </a:solidFill>
                  <a:ea typeface="楷体_GB2312" pitchFamily="49" charset="-122"/>
                </a:rPr>
                <a:t>：</a:t>
              </a:r>
              <a:endParaRPr lang="zh-CN" altLang="en-US" dirty="0">
                <a:solidFill>
                  <a:schemeClr val="accent1"/>
                </a:solidFill>
                <a:ea typeface="楷体_GB2312" pitchFamily="49" charset="-122"/>
              </a:endParaRPr>
            </a:p>
          </p:txBody>
        </p:sp>
      </p:grpSp>
      <p:graphicFrame>
        <p:nvGraphicFramePr>
          <p:cNvPr id="101380" name="Object 7" descr="40%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841768"/>
              </p:ext>
            </p:extLst>
          </p:nvPr>
        </p:nvGraphicFramePr>
        <p:xfrm>
          <a:off x="1368425" y="225425"/>
          <a:ext cx="50006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312" imgH="253890" progId="Equation.3">
                  <p:embed/>
                </p:oleObj>
              </mc:Choice>
              <mc:Fallback>
                <p:oleObj name="Equation" r:id="rId4" imgW="1815312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225425"/>
                        <a:ext cx="5000625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746125" y="1979613"/>
            <a:ext cx="8245475" cy="1035050"/>
            <a:chOff x="470" y="1247"/>
            <a:chExt cx="5194" cy="652"/>
          </a:xfrm>
        </p:grpSpPr>
        <p:graphicFrame>
          <p:nvGraphicFramePr>
            <p:cNvPr id="10139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868342"/>
                </p:ext>
              </p:extLst>
            </p:nvPr>
          </p:nvGraphicFramePr>
          <p:xfrm>
            <a:off x="1323" y="1247"/>
            <a:ext cx="2599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30400" imgH="393700" progId="Equation.3">
                    <p:embed/>
                  </p:oleObj>
                </mc:Choice>
                <mc:Fallback>
                  <p:oleObj name="公式" r:id="rId6" imgW="19304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3" y="1247"/>
                          <a:ext cx="2599" cy="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96" name="Text Box 10"/>
            <p:cNvSpPr txBox="1">
              <a:spLocks noChangeArrowheads="1"/>
            </p:cNvSpPr>
            <p:nvPr/>
          </p:nvSpPr>
          <p:spPr bwMode="auto">
            <a:xfrm>
              <a:off x="470" y="1461"/>
              <a:ext cx="897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dirty="0">
                  <a:solidFill>
                    <a:srgbClr val="FF3300"/>
                  </a:solidFill>
                  <a:ea typeface="楷体_GB2312" pitchFamily="49" charset="-122"/>
                </a:rPr>
                <a:t>phase</a:t>
              </a:r>
              <a:r>
                <a:rPr lang="zh-CN" altLang="en-US" dirty="0">
                  <a:solidFill>
                    <a:srgbClr val="FF3300"/>
                  </a:solidFill>
                  <a:ea typeface="楷体_GB2312" pitchFamily="49" charset="-122"/>
                </a:rPr>
                <a:t>：</a:t>
              </a:r>
              <a:endParaRPr lang="zh-CN" altLang="en-US" dirty="0">
                <a:solidFill>
                  <a:schemeClr val="accent1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101397" name="Object 11"/>
            <p:cNvGraphicFramePr>
              <a:graphicFrameLocks noChangeAspect="1"/>
            </p:cNvGraphicFramePr>
            <p:nvPr/>
          </p:nvGraphicFramePr>
          <p:xfrm>
            <a:off x="3916" y="1278"/>
            <a:ext cx="1748" cy="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09088" imgH="393529" progId="Equation.3">
                    <p:embed/>
                  </p:oleObj>
                </mc:Choice>
                <mc:Fallback>
                  <p:oleObj name="Equation" r:id="rId8" imgW="1409088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" y="1278"/>
                          <a:ext cx="1748" cy="6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415925" y="3629025"/>
            <a:ext cx="8399463" cy="695325"/>
            <a:chOff x="192" y="2496"/>
            <a:chExt cx="5068" cy="438"/>
          </a:xfrm>
        </p:grpSpPr>
        <p:sp>
          <p:nvSpPr>
            <p:cNvPr id="101393" name="Text Box 13" descr="40%"/>
            <p:cNvSpPr txBox="1">
              <a:spLocks noChangeArrowheads="1"/>
            </p:cNvSpPr>
            <p:nvPr/>
          </p:nvSpPr>
          <p:spPr bwMode="auto">
            <a:xfrm>
              <a:off x="192" y="2496"/>
              <a:ext cx="5068" cy="438"/>
            </a:xfrm>
            <a:prstGeom prst="rect">
              <a:avLst/>
            </a:prstGeom>
            <a:pattFill prst="pct40">
              <a:fgClr>
                <a:srgbClr val="FFCCFF"/>
              </a:fgClr>
              <a:bgClr>
                <a:srgbClr val="FFFFFF"/>
              </a:bgClr>
            </a:patt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>
                  <a:ea typeface="楷体_GB2312" pitchFamily="49" charset="-122"/>
                </a:rPr>
                <a:t>if</a:t>
              </a:r>
              <a:r>
                <a:rPr lang="zh-CN" altLang="en-US">
                  <a:ea typeface="楷体_GB2312" pitchFamily="49" charset="-122"/>
                </a:rPr>
                <a:t> </a:t>
              </a:r>
              <a:r>
                <a:rPr lang="en-US" altLang="zh-CN">
                  <a:ea typeface="楷体_GB2312" pitchFamily="49" charset="-122"/>
                </a:rPr>
                <a:t>X</a:t>
              </a:r>
              <a:r>
                <a:rPr lang="en-US" altLang="zh-CN" baseline="-25000">
                  <a:ea typeface="楷体_GB2312" pitchFamily="49" charset="-122"/>
                </a:rPr>
                <a:t>L </a:t>
              </a:r>
              <a:r>
                <a:rPr lang="en-US" altLang="zh-CN">
                  <a:ea typeface="楷体_GB2312" pitchFamily="49" charset="-122"/>
                </a:rPr>
                <a:t>&gt;X</a:t>
              </a:r>
              <a:r>
                <a:rPr lang="en-US" altLang="zh-CN" baseline="-25000">
                  <a:ea typeface="楷体_GB2312" pitchFamily="49" charset="-122"/>
                </a:rPr>
                <a:t>C</a:t>
              </a:r>
              <a:r>
                <a:rPr lang="zh-CN" altLang="en-US">
                  <a:ea typeface="楷体_GB2312" pitchFamily="49" charset="-122"/>
                </a:rPr>
                <a:t>， </a:t>
              </a:r>
              <a:r>
                <a:rPr lang="en-US" altLang="zh-CN">
                  <a:ea typeface="楷体_GB2312" pitchFamily="49" charset="-122"/>
                </a:rPr>
                <a:t>90° &gt;</a:t>
              </a:r>
              <a:r>
                <a:rPr lang="zh-CN" altLang="zh-CN" i="1">
                  <a:ea typeface="楷体_GB2312" pitchFamily="49" charset="-122"/>
                  <a:sym typeface="Symbol" pitchFamily="18" charset="2"/>
                </a:rPr>
                <a:t></a:t>
              </a:r>
              <a:r>
                <a:rPr lang="zh-CN" altLang="zh-CN">
                  <a:ea typeface="楷体_GB2312" pitchFamily="49" charset="-122"/>
                  <a:sym typeface="Symbol" pitchFamily="18" charset="2"/>
                </a:rPr>
                <a:t> </a:t>
              </a:r>
              <a:r>
                <a:rPr lang="zh-CN" altLang="zh-CN">
                  <a:ea typeface="楷体_GB2312" pitchFamily="49" charset="-122"/>
                </a:rPr>
                <a:t>&gt;</a:t>
              </a:r>
              <a:r>
                <a:rPr lang="zh-CN" altLang="zh-CN">
                  <a:ea typeface="楷体_GB2312" pitchFamily="49" charset="-122"/>
                  <a:sym typeface="Symbol" pitchFamily="18" charset="2"/>
                </a:rPr>
                <a:t> 0</a:t>
              </a:r>
              <a:r>
                <a:rPr lang="en-US" altLang="zh-CN">
                  <a:ea typeface="楷体_GB2312" pitchFamily="49" charset="-122"/>
                </a:rPr>
                <a:t> </a:t>
              </a:r>
              <a:r>
                <a:rPr lang="zh-CN" altLang="en-US">
                  <a:ea typeface="楷体_GB2312" pitchFamily="49" charset="-122"/>
                </a:rPr>
                <a:t>，</a:t>
              </a:r>
              <a:r>
                <a:rPr lang="en-US" altLang="zh-CN" i="1">
                  <a:solidFill>
                    <a:srgbClr val="000099"/>
                  </a:solidFill>
                  <a:ea typeface="楷体_GB2312" pitchFamily="49" charset="-122"/>
                </a:rPr>
                <a:t>u</a:t>
              </a:r>
              <a:r>
                <a:rPr lang="en-US" altLang="zh-CN">
                  <a:solidFill>
                    <a:srgbClr val="000099"/>
                  </a:solidFill>
                  <a:ea typeface="楷体_GB2312" pitchFamily="49" charset="-122"/>
                </a:rPr>
                <a:t> leads</a:t>
              </a:r>
              <a:r>
                <a:rPr lang="zh-CN" altLang="en-US">
                  <a:solidFill>
                    <a:srgbClr val="000099"/>
                  </a:solidFill>
                  <a:ea typeface="楷体_GB2312" pitchFamily="49" charset="-122"/>
                </a:rPr>
                <a:t> </a:t>
              </a:r>
              <a:r>
                <a:rPr lang="en-US" altLang="zh-CN" i="1">
                  <a:solidFill>
                    <a:srgbClr val="000099"/>
                  </a:solidFill>
                  <a:ea typeface="楷体_GB2312" pitchFamily="49" charset="-122"/>
                </a:rPr>
                <a:t>i</a:t>
              </a:r>
              <a:r>
                <a:rPr lang="en-US" altLang="zh-CN">
                  <a:ea typeface="楷体_GB2312" pitchFamily="49" charset="-122"/>
                </a:rPr>
                <a:t>         be </a:t>
              </a:r>
              <a:r>
                <a:rPr lang="en-US" altLang="zh-CN">
                  <a:solidFill>
                    <a:srgbClr val="000099"/>
                  </a:solidFill>
                  <a:ea typeface="楷体_GB2312" pitchFamily="49" charset="-122"/>
                </a:rPr>
                <a:t>inductive</a:t>
              </a:r>
              <a:endParaRPr lang="zh-CN" altLang="en-US">
                <a:solidFill>
                  <a:srgbClr val="000099"/>
                </a:solidFill>
                <a:ea typeface="楷体_GB2312" pitchFamily="49" charset="-122"/>
              </a:endParaRPr>
            </a:p>
          </p:txBody>
        </p:sp>
        <p:sp>
          <p:nvSpPr>
            <p:cNvPr id="101394" name="Line 14"/>
            <p:cNvSpPr>
              <a:spLocks noChangeShapeType="1"/>
            </p:cNvSpPr>
            <p:nvPr/>
          </p:nvSpPr>
          <p:spPr bwMode="auto">
            <a:xfrm>
              <a:off x="3566" y="2715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15925" y="4527550"/>
            <a:ext cx="8458200" cy="695325"/>
            <a:chOff x="139" y="2900"/>
            <a:chExt cx="5328" cy="438"/>
          </a:xfrm>
        </p:grpSpPr>
        <p:sp>
          <p:nvSpPr>
            <p:cNvPr id="101391" name="Text Box 16" descr="90%"/>
            <p:cNvSpPr txBox="1">
              <a:spLocks noChangeArrowheads="1"/>
            </p:cNvSpPr>
            <p:nvPr/>
          </p:nvSpPr>
          <p:spPr bwMode="auto">
            <a:xfrm>
              <a:off x="139" y="2900"/>
              <a:ext cx="5328" cy="438"/>
            </a:xfrm>
            <a:prstGeom prst="rect">
              <a:avLst/>
            </a:prstGeom>
            <a:pattFill prst="pct90">
              <a:fgClr>
                <a:srgbClr val="FFFFCC"/>
              </a:fgClr>
              <a:bgClr>
                <a:srgbClr val="FFFFFF"/>
              </a:bgClr>
            </a:patt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>
                  <a:ea typeface="楷体_GB2312" pitchFamily="49" charset="-122"/>
                </a:rPr>
                <a:t>if</a:t>
              </a:r>
              <a:r>
                <a:rPr lang="zh-CN" altLang="en-US">
                  <a:ea typeface="楷体_GB2312" pitchFamily="49" charset="-122"/>
                </a:rPr>
                <a:t> </a:t>
              </a:r>
              <a:r>
                <a:rPr lang="en-US" altLang="zh-CN">
                  <a:ea typeface="楷体_GB2312" pitchFamily="49" charset="-122"/>
                </a:rPr>
                <a:t>X</a:t>
              </a:r>
              <a:r>
                <a:rPr lang="en-US" altLang="zh-CN" baseline="-25000">
                  <a:ea typeface="楷体_GB2312" pitchFamily="49" charset="-122"/>
                </a:rPr>
                <a:t>L </a:t>
              </a:r>
              <a:r>
                <a:rPr lang="en-US" altLang="zh-CN">
                  <a:ea typeface="楷体_GB2312" pitchFamily="49" charset="-122"/>
                </a:rPr>
                <a:t>&lt; X</a:t>
              </a:r>
              <a:r>
                <a:rPr lang="en-US" altLang="zh-CN" baseline="-25000">
                  <a:ea typeface="楷体_GB2312" pitchFamily="49" charset="-122"/>
                </a:rPr>
                <a:t>C</a:t>
              </a:r>
              <a:r>
                <a:rPr lang="en-US" altLang="zh-CN">
                  <a:ea typeface="楷体_GB2312" pitchFamily="49" charset="-122"/>
                </a:rPr>
                <a:t>, </a:t>
              </a:r>
              <a:r>
                <a:rPr lang="zh-CN" altLang="en-US">
                  <a:ea typeface="楷体_GB2312" pitchFamily="49" charset="-122"/>
                </a:rPr>
                <a:t>－</a:t>
              </a:r>
              <a:r>
                <a:rPr lang="en-US" altLang="zh-CN">
                  <a:ea typeface="楷体_GB2312" pitchFamily="49" charset="-122"/>
                </a:rPr>
                <a:t>90° &lt;</a:t>
              </a:r>
              <a:r>
                <a:rPr lang="zh-CN" altLang="zh-CN" i="1">
                  <a:ea typeface="楷体_GB2312" pitchFamily="49" charset="-122"/>
                  <a:sym typeface="Symbol" pitchFamily="18" charset="2"/>
                </a:rPr>
                <a:t></a:t>
              </a:r>
              <a:r>
                <a:rPr lang="zh-CN" altLang="zh-CN">
                  <a:ea typeface="楷体_GB2312" pitchFamily="49" charset="-122"/>
                  <a:sym typeface="Symbol" pitchFamily="18" charset="2"/>
                </a:rPr>
                <a:t> </a:t>
              </a:r>
              <a:r>
                <a:rPr lang="zh-CN" altLang="zh-CN">
                  <a:ea typeface="楷体_GB2312" pitchFamily="49" charset="-122"/>
                </a:rPr>
                <a:t>&lt;</a:t>
              </a:r>
              <a:r>
                <a:rPr lang="zh-CN" altLang="zh-CN">
                  <a:ea typeface="楷体_GB2312" pitchFamily="49" charset="-122"/>
                  <a:sym typeface="Symbol" pitchFamily="18" charset="2"/>
                </a:rPr>
                <a:t> 0</a:t>
              </a:r>
              <a:r>
                <a:rPr lang="en-US" altLang="zh-CN">
                  <a:ea typeface="楷体_GB2312" pitchFamily="49" charset="-122"/>
                </a:rPr>
                <a:t> </a:t>
              </a:r>
              <a:r>
                <a:rPr lang="zh-CN" altLang="en-US">
                  <a:ea typeface="楷体_GB2312" pitchFamily="49" charset="-122"/>
                </a:rPr>
                <a:t>， </a:t>
              </a:r>
              <a:r>
                <a:rPr lang="en-US" altLang="zh-CN" i="1">
                  <a:solidFill>
                    <a:srgbClr val="000099"/>
                  </a:solidFill>
                  <a:ea typeface="楷体_GB2312" pitchFamily="49" charset="-122"/>
                </a:rPr>
                <a:t>u</a:t>
              </a:r>
              <a:r>
                <a:rPr lang="en-US" altLang="zh-CN">
                  <a:solidFill>
                    <a:srgbClr val="000099"/>
                  </a:solidFill>
                  <a:ea typeface="楷体_GB2312" pitchFamily="49" charset="-122"/>
                </a:rPr>
                <a:t> lags</a:t>
              </a:r>
              <a:r>
                <a:rPr lang="zh-CN" altLang="en-US">
                  <a:solidFill>
                    <a:srgbClr val="000099"/>
                  </a:solidFill>
                  <a:ea typeface="楷体_GB2312" pitchFamily="49" charset="-122"/>
                </a:rPr>
                <a:t> </a:t>
              </a:r>
              <a:r>
                <a:rPr lang="en-US" altLang="zh-CN" i="1">
                  <a:solidFill>
                    <a:srgbClr val="000099"/>
                  </a:solidFill>
                  <a:ea typeface="楷体_GB2312" pitchFamily="49" charset="-122"/>
                </a:rPr>
                <a:t>i</a:t>
              </a:r>
              <a:r>
                <a:rPr lang="en-US" altLang="zh-CN">
                  <a:ea typeface="楷体_GB2312" pitchFamily="49" charset="-122"/>
                </a:rPr>
                <a:t>        be </a:t>
              </a:r>
              <a:r>
                <a:rPr lang="en-US" altLang="zh-CN">
                  <a:solidFill>
                    <a:srgbClr val="000099"/>
                  </a:solidFill>
                  <a:ea typeface="楷体_GB2312" pitchFamily="49" charset="-122"/>
                </a:rPr>
                <a:t>capacitive</a:t>
              </a:r>
              <a:endParaRPr lang="zh-CN" altLang="en-US">
                <a:solidFill>
                  <a:srgbClr val="000099"/>
                </a:solidFill>
                <a:ea typeface="楷体_GB2312" pitchFamily="49" charset="-122"/>
              </a:endParaRPr>
            </a:p>
          </p:txBody>
        </p:sp>
        <p:sp>
          <p:nvSpPr>
            <p:cNvPr id="101392" name="Line 17"/>
            <p:cNvSpPr>
              <a:spLocks noChangeShapeType="1"/>
            </p:cNvSpPr>
            <p:nvPr/>
          </p:nvSpPr>
          <p:spPr bwMode="auto">
            <a:xfrm>
              <a:off x="3661" y="3119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415925" y="5373688"/>
            <a:ext cx="8431213" cy="695325"/>
            <a:chOff x="144" y="3600"/>
            <a:chExt cx="5088" cy="438"/>
          </a:xfrm>
        </p:grpSpPr>
        <p:sp>
          <p:nvSpPr>
            <p:cNvPr id="101389" name="Text Box 19" descr="40%"/>
            <p:cNvSpPr txBox="1">
              <a:spLocks noChangeArrowheads="1"/>
            </p:cNvSpPr>
            <p:nvPr/>
          </p:nvSpPr>
          <p:spPr bwMode="auto">
            <a:xfrm>
              <a:off x="144" y="3600"/>
              <a:ext cx="5088" cy="43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dirty="0">
                  <a:ea typeface="楷体_GB2312" pitchFamily="49" charset="-122"/>
                </a:rPr>
                <a:t>if</a:t>
              </a:r>
              <a:r>
                <a:rPr lang="zh-CN" altLang="en-US" dirty="0">
                  <a:ea typeface="楷体_GB2312" pitchFamily="49" charset="-122"/>
                </a:rPr>
                <a:t> </a:t>
              </a:r>
              <a:r>
                <a:rPr lang="en-US" altLang="zh-CN" dirty="0">
                  <a:ea typeface="楷体_GB2312" pitchFamily="49" charset="-122"/>
                </a:rPr>
                <a:t>X</a:t>
              </a:r>
              <a:r>
                <a:rPr lang="en-US" altLang="zh-CN" baseline="-25000" dirty="0">
                  <a:ea typeface="楷体_GB2312" pitchFamily="49" charset="-122"/>
                </a:rPr>
                <a:t>L </a:t>
              </a:r>
              <a:r>
                <a:rPr lang="en-US" altLang="zh-CN" dirty="0">
                  <a:ea typeface="楷体_GB2312" pitchFamily="49" charset="-122"/>
                </a:rPr>
                <a:t>= X</a:t>
              </a:r>
              <a:r>
                <a:rPr lang="en-US" altLang="zh-CN" baseline="-25000" dirty="0">
                  <a:ea typeface="楷体_GB2312" pitchFamily="49" charset="-122"/>
                </a:rPr>
                <a:t>C</a:t>
              </a:r>
              <a:r>
                <a:rPr lang="zh-CN" altLang="en-US" dirty="0">
                  <a:ea typeface="楷体_GB2312" pitchFamily="49" charset="-122"/>
                </a:rPr>
                <a:t>，</a:t>
              </a:r>
              <a:r>
                <a:rPr lang="zh-CN" altLang="zh-CN" i="1" dirty="0">
                  <a:ea typeface="楷体_GB2312" pitchFamily="49" charset="-122"/>
                  <a:sym typeface="Symbol" pitchFamily="18" charset="2"/>
                </a:rPr>
                <a:t></a:t>
              </a:r>
              <a:r>
                <a:rPr lang="zh-CN" altLang="zh-CN" dirty="0">
                  <a:ea typeface="楷体_GB2312" pitchFamily="49" charset="-122"/>
                  <a:sym typeface="Symbol" pitchFamily="18" charset="2"/>
                </a:rPr>
                <a:t> </a:t>
              </a:r>
              <a:r>
                <a:rPr lang="zh-CN" altLang="zh-CN" dirty="0">
                  <a:ea typeface="楷体_GB2312" pitchFamily="49" charset="-122"/>
                </a:rPr>
                <a:t>=</a:t>
              </a:r>
              <a:r>
                <a:rPr lang="zh-CN" altLang="zh-CN" dirty="0">
                  <a:ea typeface="楷体_GB2312" pitchFamily="49" charset="-122"/>
                  <a:sym typeface="Symbol" pitchFamily="18" charset="2"/>
                </a:rPr>
                <a:t> 0</a:t>
              </a:r>
              <a:r>
                <a:rPr lang="en-US" altLang="zh-CN" dirty="0">
                  <a:ea typeface="楷体_GB2312" pitchFamily="49" charset="-122"/>
                </a:rPr>
                <a:t> , </a:t>
              </a:r>
              <a:r>
                <a:rPr lang="en-US" altLang="zh-CN" i="1" dirty="0">
                  <a:solidFill>
                    <a:srgbClr val="000099"/>
                  </a:solidFill>
                  <a:ea typeface="楷体_GB2312" pitchFamily="49" charset="-122"/>
                </a:rPr>
                <a:t>u</a:t>
              </a:r>
              <a:r>
                <a:rPr lang="en-US" altLang="zh-CN" dirty="0">
                  <a:solidFill>
                    <a:srgbClr val="000099"/>
                  </a:solidFill>
                  <a:ea typeface="楷体_GB2312" pitchFamily="49" charset="-122"/>
                </a:rPr>
                <a:t> and </a:t>
              </a:r>
              <a:r>
                <a:rPr lang="en-US" altLang="zh-CN" i="1" dirty="0">
                  <a:solidFill>
                    <a:srgbClr val="000099"/>
                  </a:solidFill>
                  <a:ea typeface="楷体_GB2312" pitchFamily="49" charset="-122"/>
                </a:rPr>
                <a:t>i</a:t>
              </a:r>
              <a:r>
                <a:rPr lang="en-US" altLang="zh-CN" dirty="0">
                  <a:solidFill>
                    <a:srgbClr val="000099"/>
                  </a:solidFill>
                  <a:ea typeface="楷体_GB2312" pitchFamily="49" charset="-122"/>
                </a:rPr>
                <a:t> are in phase</a:t>
              </a:r>
              <a:r>
                <a:rPr lang="zh-CN" altLang="en-US" dirty="0">
                  <a:ea typeface="楷体_GB2312" pitchFamily="49" charset="-122"/>
                </a:rPr>
                <a:t>        </a:t>
              </a:r>
              <a:r>
                <a:rPr lang="en-US" altLang="zh-CN" dirty="0">
                  <a:ea typeface="楷体_GB2312" pitchFamily="49" charset="-122"/>
                </a:rPr>
                <a:t>be </a:t>
              </a:r>
              <a:r>
                <a:rPr lang="en-US" altLang="zh-CN" dirty="0">
                  <a:solidFill>
                    <a:srgbClr val="000099"/>
                  </a:solidFill>
                  <a:ea typeface="楷体_GB2312" pitchFamily="49" charset="-122"/>
                </a:rPr>
                <a:t>resistive</a:t>
              </a:r>
              <a:endParaRPr lang="zh-CN" altLang="en-US" dirty="0">
                <a:solidFill>
                  <a:srgbClr val="000099"/>
                </a:solidFill>
                <a:ea typeface="楷体_GB2312" pitchFamily="49" charset="-122"/>
              </a:endParaRPr>
            </a:p>
          </p:txBody>
        </p:sp>
        <p:sp>
          <p:nvSpPr>
            <p:cNvPr id="101390" name="Line 20"/>
            <p:cNvSpPr>
              <a:spLocks noChangeShapeType="1"/>
            </p:cNvSpPr>
            <p:nvPr/>
          </p:nvSpPr>
          <p:spPr bwMode="auto">
            <a:xfrm>
              <a:off x="3805" y="3819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6214" name="Text Box 22"/>
          <p:cNvSpPr txBox="1">
            <a:spLocks noChangeArrowheads="1"/>
          </p:cNvSpPr>
          <p:nvPr/>
        </p:nvSpPr>
        <p:spPr bwMode="auto">
          <a:xfrm>
            <a:off x="673100" y="2924944"/>
            <a:ext cx="6981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>
              <a:buFont typeface="Wingdings" pitchFamily="2" charset="2"/>
              <a:buNone/>
              <a:defRPr/>
            </a:pPr>
            <a:r>
              <a:rPr lang="zh-CN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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is determined by circuit parameters.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01386" name="Rectangle 46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01387" name="Rectangle 45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01388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77702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animBg="1"/>
      <p:bldP spid="13621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 descr="40%"/>
          <p:cNvSpPr>
            <a:spLocks noGrp="1" noChangeArrowheads="1"/>
          </p:cNvSpPr>
          <p:nvPr>
            <p:ph type="ctrTitle" idx="4294967295"/>
          </p:nvPr>
        </p:nvSpPr>
        <p:spPr>
          <a:xfrm>
            <a:off x="923925" y="396875"/>
            <a:ext cx="3609975" cy="609600"/>
          </a:xfrm>
        </p:spPr>
        <p:txBody>
          <a:bodyPr anchor="t"/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kern="1200" dirty="0">
                <a:solidFill>
                  <a:schemeClr val="tx2"/>
                </a:solidFill>
                <a:latin typeface="Times New Roman" pitchFamily="18" charset="0"/>
                <a:cs typeface="+mn-cs"/>
              </a:rPr>
              <a:t>(2) </a:t>
            </a:r>
            <a:r>
              <a:rPr lang="en-US" altLang="zh-CN" sz="2800" kern="1200" dirty="0" err="1">
                <a:solidFill>
                  <a:schemeClr val="tx2"/>
                </a:solidFill>
                <a:latin typeface="Times New Roman" pitchFamily="18" charset="0"/>
                <a:cs typeface="+mn-cs"/>
              </a:rPr>
              <a:t>phasor</a:t>
            </a:r>
            <a:r>
              <a:rPr lang="en-US" altLang="zh-CN" sz="2800" kern="1200" dirty="0">
                <a:solidFill>
                  <a:schemeClr val="tx2"/>
                </a:solidFill>
                <a:latin typeface="Times New Roman" pitchFamily="18" charset="0"/>
                <a:cs typeface="+mn-cs"/>
              </a:rPr>
              <a:t> diagram</a:t>
            </a:r>
            <a:endParaRPr lang="zh-CN" altLang="en-US" sz="2800" kern="1200" dirty="0">
              <a:solidFill>
                <a:schemeClr val="tx2"/>
              </a:solidFill>
              <a:latin typeface="Times New Roman" pitchFamily="18" charset="0"/>
              <a:cs typeface="+mn-cs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290888" y="1212850"/>
            <a:ext cx="400050" cy="1746250"/>
            <a:chOff x="2400" y="864"/>
            <a:chExt cx="252" cy="1100"/>
          </a:xfrm>
        </p:grpSpPr>
        <p:sp>
          <p:nvSpPr>
            <p:cNvPr id="102503" name="Line 4"/>
            <p:cNvSpPr>
              <a:spLocks noChangeShapeType="1"/>
            </p:cNvSpPr>
            <p:nvPr/>
          </p:nvSpPr>
          <p:spPr bwMode="auto">
            <a:xfrm flipH="1" flipV="1">
              <a:off x="2640" y="960"/>
              <a:ext cx="12" cy="100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04" name="Object 5"/>
            <p:cNvGraphicFramePr>
              <a:graphicFrameLocks noChangeAspect="1"/>
            </p:cNvGraphicFramePr>
            <p:nvPr/>
          </p:nvGraphicFramePr>
          <p:xfrm>
            <a:off x="2400" y="864"/>
            <a:ext cx="2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5806" imgH="228501" progId="Equation.3">
                    <p:embed/>
                  </p:oleObj>
                </mc:Choice>
                <mc:Fallback>
                  <p:oleObj name="公式" r:id="rId2" imgW="215806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864"/>
                          <a:ext cx="2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689350" y="2959100"/>
            <a:ext cx="1955800" cy="387350"/>
            <a:chOff x="2219" y="1772"/>
            <a:chExt cx="1232" cy="244"/>
          </a:xfrm>
        </p:grpSpPr>
        <p:sp>
          <p:nvSpPr>
            <p:cNvPr id="102501" name="Line 7"/>
            <p:cNvSpPr>
              <a:spLocks noChangeShapeType="1"/>
            </p:cNvSpPr>
            <p:nvPr/>
          </p:nvSpPr>
          <p:spPr bwMode="auto">
            <a:xfrm>
              <a:off x="2219" y="1772"/>
              <a:ext cx="1189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02" name="Object 8"/>
            <p:cNvGraphicFramePr>
              <a:graphicFrameLocks noChangeAspect="1"/>
            </p:cNvGraphicFramePr>
            <p:nvPr/>
          </p:nvGraphicFramePr>
          <p:xfrm>
            <a:off x="3312" y="1776"/>
            <a:ext cx="13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04737" imgH="171408" progId="Equation.3">
                    <p:embed/>
                  </p:oleObj>
                </mc:Choice>
                <mc:Fallback>
                  <p:oleObj name="公式" r:id="rId4" imgW="104737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13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833688" y="1898650"/>
            <a:ext cx="855662" cy="1066800"/>
            <a:chOff x="2112" y="1296"/>
            <a:chExt cx="539" cy="672"/>
          </a:xfrm>
        </p:grpSpPr>
        <p:graphicFrame>
          <p:nvGraphicFramePr>
            <p:cNvPr id="102499" name="Object 10"/>
            <p:cNvGraphicFramePr>
              <a:graphicFrameLocks noChangeAspect="1"/>
            </p:cNvGraphicFramePr>
            <p:nvPr/>
          </p:nvGraphicFramePr>
          <p:xfrm>
            <a:off x="2112" y="1296"/>
            <a:ext cx="48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558558" imgH="241195" progId="Equation.3">
                    <p:embed/>
                  </p:oleObj>
                </mc:Choice>
                <mc:Fallback>
                  <p:oleObj name="公式" r:id="rId6" imgW="558558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296"/>
                          <a:ext cx="48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00" name="Line 11"/>
            <p:cNvSpPr>
              <a:spLocks noChangeShapeType="1"/>
            </p:cNvSpPr>
            <p:nvPr/>
          </p:nvSpPr>
          <p:spPr bwMode="auto">
            <a:xfrm flipH="1" flipV="1">
              <a:off x="2640" y="1440"/>
              <a:ext cx="11" cy="52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7228" name="Line 12"/>
          <p:cNvSpPr>
            <a:spLocks noChangeShapeType="1"/>
          </p:cNvSpPr>
          <p:nvPr/>
        </p:nvSpPr>
        <p:spPr bwMode="auto">
          <a:xfrm flipH="1" flipV="1">
            <a:off x="3748088" y="1365250"/>
            <a:ext cx="1587" cy="8382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3679825" y="1822450"/>
            <a:ext cx="1614488" cy="1133475"/>
            <a:chOff x="2645" y="1248"/>
            <a:chExt cx="1017" cy="714"/>
          </a:xfrm>
        </p:grpSpPr>
        <p:graphicFrame>
          <p:nvGraphicFramePr>
            <p:cNvPr id="102497" name="Object 14"/>
            <p:cNvGraphicFramePr>
              <a:graphicFrameLocks noChangeAspect="1"/>
            </p:cNvGraphicFramePr>
            <p:nvPr/>
          </p:nvGraphicFramePr>
          <p:xfrm>
            <a:off x="3456" y="1248"/>
            <a:ext cx="20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42799" imgH="180855" progId="Equation.3">
                    <p:embed/>
                  </p:oleObj>
                </mc:Choice>
                <mc:Fallback>
                  <p:oleObj name="公式" r:id="rId8" imgW="142799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248"/>
                          <a:ext cx="20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98" name="Line 15"/>
            <p:cNvSpPr>
              <a:spLocks noChangeShapeType="1"/>
            </p:cNvSpPr>
            <p:nvPr/>
          </p:nvSpPr>
          <p:spPr bwMode="auto">
            <a:xfrm flipV="1">
              <a:off x="2645" y="1440"/>
              <a:ext cx="811" cy="5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3689350" y="2959100"/>
            <a:ext cx="1354138" cy="463550"/>
            <a:chOff x="2651" y="1964"/>
            <a:chExt cx="853" cy="292"/>
          </a:xfrm>
        </p:grpSpPr>
        <p:graphicFrame>
          <p:nvGraphicFramePr>
            <p:cNvPr id="102495" name="Object 17"/>
            <p:cNvGraphicFramePr>
              <a:graphicFrameLocks noChangeAspect="1"/>
            </p:cNvGraphicFramePr>
            <p:nvPr/>
          </p:nvGraphicFramePr>
          <p:xfrm>
            <a:off x="3264" y="1968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28600" imgH="228600" progId="Equation.3">
                    <p:embed/>
                  </p:oleObj>
                </mc:Choice>
                <mc:Fallback>
                  <p:oleObj name="公式" r:id="rId10" imgW="228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968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96" name="Line 18"/>
            <p:cNvSpPr>
              <a:spLocks noChangeShapeType="1"/>
            </p:cNvSpPr>
            <p:nvPr/>
          </p:nvSpPr>
          <p:spPr bwMode="auto">
            <a:xfrm>
              <a:off x="2651" y="1964"/>
              <a:ext cx="805" cy="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7235" name="Text Box 19"/>
          <p:cNvSpPr txBox="1">
            <a:spLocks noChangeArrowheads="1"/>
          </p:cNvSpPr>
          <p:nvPr/>
        </p:nvSpPr>
        <p:spPr bwMode="auto">
          <a:xfrm>
            <a:off x="3132138" y="3573463"/>
            <a:ext cx="28035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zh-CN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 i="1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</a:t>
            </a:r>
            <a:r>
              <a:rPr lang="zh-CN" altLang="zh-CN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>
                <a:solidFill>
                  <a:srgbClr val="FF0000"/>
                </a:solidFill>
                <a:ea typeface="楷体_GB2312" pitchFamily="49" charset="-122"/>
              </a:rPr>
              <a:t>&gt;</a:t>
            </a:r>
            <a:r>
              <a:rPr lang="zh-CN" altLang="zh-CN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 0 </a:t>
            </a:r>
            <a:r>
              <a:rPr lang="en-US" altLang="zh-CN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inductive</a:t>
            </a:r>
            <a:r>
              <a:rPr lang="en-US" altLang="zh-CN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137236" name="Rectangle 20"/>
          <p:cNvSpPr>
            <a:spLocks noChangeArrowheads="1"/>
          </p:cNvSpPr>
          <p:nvPr/>
        </p:nvSpPr>
        <p:spPr bwMode="auto">
          <a:xfrm>
            <a:off x="2339975" y="2432050"/>
            <a:ext cx="13480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137237" name="AutoShape 21" descr="40%"/>
          <p:cNvSpPr>
            <a:spLocks noChangeArrowheads="1"/>
          </p:cNvSpPr>
          <p:nvPr/>
        </p:nvSpPr>
        <p:spPr bwMode="auto">
          <a:xfrm>
            <a:off x="4999038" y="188913"/>
            <a:ext cx="2463800" cy="631825"/>
          </a:xfrm>
          <a:prstGeom prst="wedgeRoundRectCallout">
            <a:avLst>
              <a:gd name="adj1" fmla="val -33222"/>
              <a:gd name="adj2" fmla="val 347620"/>
              <a:gd name="adj3" fmla="val 16667"/>
            </a:avLst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762000" eaLnBrk="0" hangingPunct="0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</a:rPr>
              <a:t>Reference </a:t>
            </a:r>
            <a:r>
              <a:rPr lang="en-US" altLang="zh-CN" sz="2400" dirty="0" err="1">
                <a:solidFill>
                  <a:srgbClr val="000099"/>
                </a:solidFill>
              </a:rPr>
              <a:t>phasor</a:t>
            </a:r>
            <a:endParaRPr lang="zh-CN" altLang="en-US" sz="2400" dirty="0">
              <a:solidFill>
                <a:srgbClr val="000099"/>
              </a:solidFill>
            </a:endParaRPr>
          </a:p>
        </p:txBody>
      </p: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5719763" y="4694238"/>
            <a:ext cx="2438400" cy="1106487"/>
            <a:chOff x="3456" y="3072"/>
            <a:chExt cx="1632" cy="741"/>
          </a:xfrm>
          <a:solidFill>
            <a:schemeClr val="bg1"/>
          </a:solidFill>
        </p:grpSpPr>
        <p:graphicFrame>
          <p:nvGraphicFramePr>
            <p:cNvPr id="102493" name="Object 24" descr="40%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3176553"/>
                </p:ext>
              </p:extLst>
            </p:nvPr>
          </p:nvGraphicFramePr>
          <p:xfrm>
            <a:off x="3456" y="3072"/>
            <a:ext cx="1632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80939" imgH="200021" progId="Equation.3">
                    <p:embed/>
                  </p:oleObj>
                </mc:Choice>
                <mc:Fallback>
                  <p:oleObj name="Equation" r:id="rId12" imgW="780939" imgH="20002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072"/>
                          <a:ext cx="1632" cy="37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4" name="Object 25" descr="40%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7394336"/>
                </p:ext>
              </p:extLst>
            </p:nvPr>
          </p:nvGraphicFramePr>
          <p:xfrm>
            <a:off x="3456" y="3408"/>
            <a:ext cx="1632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52595" imgH="209468" progId="Equation.3">
                    <p:embed/>
                  </p:oleObj>
                </mc:Choice>
                <mc:Fallback>
                  <p:oleObj name="Equation" r:id="rId14" imgW="752595" imgH="2094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408"/>
                          <a:ext cx="1632" cy="40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1219200" y="3962400"/>
            <a:ext cx="3717925" cy="1981200"/>
            <a:chOff x="768" y="2496"/>
            <a:chExt cx="2342" cy="1248"/>
          </a:xfrm>
        </p:grpSpPr>
        <p:sp>
          <p:nvSpPr>
            <p:cNvPr id="102484" name="Line 27"/>
            <p:cNvSpPr>
              <a:spLocks noChangeShapeType="1"/>
            </p:cNvSpPr>
            <p:nvPr/>
          </p:nvSpPr>
          <p:spPr bwMode="auto">
            <a:xfrm flipV="1">
              <a:off x="2001" y="2751"/>
              <a:ext cx="0" cy="745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485" name="Object 28"/>
            <p:cNvGraphicFramePr>
              <a:graphicFrameLocks noChangeAspect="1"/>
            </p:cNvGraphicFramePr>
            <p:nvPr/>
          </p:nvGraphicFramePr>
          <p:xfrm>
            <a:off x="1776" y="2496"/>
            <a:ext cx="21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42799" imgH="180855" progId="Equation.3">
                    <p:embed/>
                  </p:oleObj>
                </mc:Choice>
                <mc:Fallback>
                  <p:oleObj name="公式" r:id="rId16" imgW="142799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496"/>
                          <a:ext cx="21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86" name="Line 29"/>
            <p:cNvSpPr>
              <a:spLocks noChangeShapeType="1"/>
            </p:cNvSpPr>
            <p:nvPr/>
          </p:nvSpPr>
          <p:spPr bwMode="auto">
            <a:xfrm flipV="1">
              <a:off x="768" y="2751"/>
              <a:ext cx="1232" cy="75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487" name="Object 30"/>
            <p:cNvGraphicFramePr>
              <a:graphicFrameLocks noChangeAspect="1"/>
            </p:cNvGraphicFramePr>
            <p:nvPr/>
          </p:nvGraphicFramePr>
          <p:xfrm>
            <a:off x="1992" y="3413"/>
            <a:ext cx="292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28600" imgH="228600" progId="Equation.3">
                    <p:embed/>
                  </p:oleObj>
                </mc:Choice>
                <mc:Fallback>
                  <p:oleObj name="公式" r:id="rId10" imgW="228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2" y="3413"/>
                          <a:ext cx="292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88" name="Line 31"/>
            <p:cNvSpPr>
              <a:spLocks noChangeShapeType="1"/>
            </p:cNvSpPr>
            <p:nvPr/>
          </p:nvSpPr>
          <p:spPr bwMode="auto">
            <a:xfrm>
              <a:off x="768" y="3496"/>
              <a:ext cx="123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489" name="Object 32"/>
            <p:cNvGraphicFramePr>
              <a:graphicFrameLocks noChangeAspect="1"/>
            </p:cNvGraphicFramePr>
            <p:nvPr/>
          </p:nvGraphicFramePr>
          <p:xfrm>
            <a:off x="2031" y="2751"/>
            <a:ext cx="624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58558" imgH="241195" progId="Equation.3">
                    <p:embed/>
                  </p:oleObj>
                </mc:Choice>
                <mc:Fallback>
                  <p:oleObj name="公式" r:id="rId18" imgW="558558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1" y="2751"/>
                          <a:ext cx="624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90" name="Arc 33"/>
            <p:cNvSpPr>
              <a:spLocks/>
            </p:cNvSpPr>
            <p:nvPr/>
          </p:nvSpPr>
          <p:spPr bwMode="auto">
            <a:xfrm>
              <a:off x="1152" y="3264"/>
              <a:ext cx="53" cy="219"/>
            </a:xfrm>
            <a:custGeom>
              <a:avLst/>
              <a:gdLst>
                <a:gd name="T0" fmla="*/ 0 w 21600"/>
                <a:gd name="T1" fmla="*/ 0 h 23297"/>
                <a:gd name="T2" fmla="*/ 0 w 21600"/>
                <a:gd name="T3" fmla="*/ 0 h 23297"/>
                <a:gd name="T4" fmla="*/ 0 w 21600"/>
                <a:gd name="T5" fmla="*/ 0 h 232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3297"/>
                <a:gd name="T11" fmla="*/ 21600 w 21600"/>
                <a:gd name="T12" fmla="*/ 23297 h 232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329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166"/>
                    <a:pt x="21577" y="22732"/>
                    <a:pt x="21533" y="23297"/>
                  </a:cubicBezTo>
                </a:path>
                <a:path w="21600" h="2329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166"/>
                    <a:pt x="21577" y="22732"/>
                    <a:pt x="21533" y="2329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491" name="Object 34"/>
            <p:cNvGraphicFramePr>
              <a:graphicFrameLocks noChangeAspect="1"/>
            </p:cNvGraphicFramePr>
            <p:nvPr/>
          </p:nvGraphicFramePr>
          <p:xfrm>
            <a:off x="1244" y="3165"/>
            <a:ext cx="313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3903" imgH="142795" progId="Equation.3">
                    <p:embed/>
                  </p:oleObj>
                </mc:Choice>
                <mc:Fallback>
                  <p:oleObj name="Equation" r:id="rId19" imgW="123903" imgH="1427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4" y="3165"/>
                          <a:ext cx="313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2" name="Object 35"/>
            <p:cNvGraphicFramePr>
              <a:graphicFrameLocks noChangeAspect="1"/>
            </p:cNvGraphicFramePr>
            <p:nvPr/>
          </p:nvGraphicFramePr>
          <p:xfrm>
            <a:off x="2649" y="2773"/>
            <a:ext cx="46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355446" imgH="228501" progId="Equation.3">
                    <p:embed/>
                  </p:oleObj>
                </mc:Choice>
                <mc:Fallback>
                  <p:oleObj name="公式" r:id="rId21" imgW="355446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9" y="2773"/>
                          <a:ext cx="461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252" name="AutoShape 36" descr="40%"/>
          <p:cNvSpPr>
            <a:spLocks noChangeArrowheads="1"/>
          </p:cNvSpPr>
          <p:nvPr/>
        </p:nvSpPr>
        <p:spPr bwMode="auto">
          <a:xfrm>
            <a:off x="3962400" y="5257800"/>
            <a:ext cx="1143000" cy="838200"/>
          </a:xfrm>
          <a:prstGeom prst="wedgeRoundRectCallout">
            <a:avLst>
              <a:gd name="adj1" fmla="val -150417"/>
              <a:gd name="adj2" fmla="val -69884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762000" eaLnBrk="0" hangingPunc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cs typeface="Times New Roman" pitchFamily="18" charset="0"/>
              </a:rPr>
              <a:t>voltage</a:t>
            </a:r>
            <a:endParaRPr lang="zh-CN" altLang="en-US" sz="2400" dirty="0">
              <a:solidFill>
                <a:srgbClr val="FF0000"/>
              </a:solidFill>
              <a:cs typeface="Times New Roman" pitchFamily="18" charset="0"/>
            </a:endParaRPr>
          </a:p>
          <a:p>
            <a:pPr algn="l" defTabSz="762000" eaLnBrk="0" hangingPunc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cs typeface="Times New Roman" pitchFamily="18" charset="0"/>
              </a:rPr>
              <a:t>triangle</a:t>
            </a:r>
            <a:endParaRPr lang="zh-CN" altLang="en-US" sz="2400" dirty="0">
              <a:solidFill>
                <a:srgbClr val="FF0000"/>
              </a:solidFill>
              <a:cs typeface="Times New Roman" pitchFamily="18" charset="0"/>
            </a:endParaRPr>
          </a:p>
        </p:txBody>
      </p: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3671888" y="2127250"/>
            <a:ext cx="1295400" cy="838200"/>
            <a:chOff x="3018" y="1344"/>
            <a:chExt cx="1158" cy="720"/>
          </a:xfrm>
        </p:grpSpPr>
        <p:sp>
          <p:nvSpPr>
            <p:cNvPr id="102482" name="Line 38"/>
            <p:cNvSpPr>
              <a:spLocks noChangeShapeType="1"/>
            </p:cNvSpPr>
            <p:nvPr/>
          </p:nvSpPr>
          <p:spPr bwMode="auto">
            <a:xfrm>
              <a:off x="3018" y="1359"/>
              <a:ext cx="11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83" name="Line 39"/>
            <p:cNvSpPr>
              <a:spLocks noChangeShapeType="1"/>
            </p:cNvSpPr>
            <p:nvPr/>
          </p:nvSpPr>
          <p:spPr bwMode="auto">
            <a:xfrm>
              <a:off x="4176" y="1344"/>
              <a:ext cx="0" cy="72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40"/>
          <p:cNvGrpSpPr>
            <a:grpSpLocks/>
          </p:cNvGrpSpPr>
          <p:nvPr/>
        </p:nvGrpSpPr>
        <p:grpSpPr bwMode="auto">
          <a:xfrm>
            <a:off x="3224213" y="2965450"/>
            <a:ext cx="457200" cy="844550"/>
            <a:chOff x="2352" y="1968"/>
            <a:chExt cx="288" cy="532"/>
          </a:xfrm>
        </p:grpSpPr>
        <p:graphicFrame>
          <p:nvGraphicFramePr>
            <p:cNvPr id="102480" name="Object 41"/>
            <p:cNvGraphicFramePr>
              <a:graphicFrameLocks noChangeAspect="1"/>
            </p:cNvGraphicFramePr>
            <p:nvPr/>
          </p:nvGraphicFramePr>
          <p:xfrm>
            <a:off x="2352" y="2208"/>
            <a:ext cx="277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28600" imgH="241300" progId="Equation.3">
                    <p:embed/>
                  </p:oleObj>
                </mc:Choice>
                <mc:Fallback>
                  <p:oleObj name="公式" r:id="rId23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208"/>
                          <a:ext cx="277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81" name="Line 42"/>
            <p:cNvSpPr>
              <a:spLocks noChangeShapeType="1"/>
            </p:cNvSpPr>
            <p:nvPr/>
          </p:nvSpPr>
          <p:spPr bwMode="auto">
            <a:xfrm>
              <a:off x="2640" y="1968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6872288" y="1822450"/>
            <a:ext cx="1897062" cy="387350"/>
            <a:chOff x="4224" y="1056"/>
            <a:chExt cx="1195" cy="244"/>
          </a:xfrm>
        </p:grpSpPr>
        <p:sp>
          <p:nvSpPr>
            <p:cNvPr id="102478" name="Line 44"/>
            <p:cNvSpPr>
              <a:spLocks noChangeShapeType="1"/>
            </p:cNvSpPr>
            <p:nvPr/>
          </p:nvSpPr>
          <p:spPr bwMode="auto">
            <a:xfrm>
              <a:off x="4224" y="1296"/>
              <a:ext cx="1189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479" name="Object 45"/>
            <p:cNvGraphicFramePr>
              <a:graphicFrameLocks noChangeAspect="1"/>
            </p:cNvGraphicFramePr>
            <p:nvPr/>
          </p:nvGraphicFramePr>
          <p:xfrm>
            <a:off x="5280" y="1056"/>
            <a:ext cx="13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04737" imgH="171408" progId="Equation.3">
                    <p:embed/>
                  </p:oleObj>
                </mc:Choice>
                <mc:Fallback>
                  <p:oleObj name="公式" r:id="rId25" imgW="104737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1056"/>
                          <a:ext cx="13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46"/>
          <p:cNvGrpSpPr>
            <a:grpSpLocks/>
          </p:cNvGrpSpPr>
          <p:nvPr/>
        </p:nvGrpSpPr>
        <p:grpSpPr bwMode="auto">
          <a:xfrm>
            <a:off x="6872288" y="1746250"/>
            <a:ext cx="1447800" cy="463550"/>
            <a:chOff x="4128" y="2544"/>
            <a:chExt cx="912" cy="292"/>
          </a:xfrm>
        </p:grpSpPr>
        <p:graphicFrame>
          <p:nvGraphicFramePr>
            <p:cNvPr id="102476" name="Object 47"/>
            <p:cNvGraphicFramePr>
              <a:graphicFrameLocks noChangeAspect="1"/>
            </p:cNvGraphicFramePr>
            <p:nvPr/>
          </p:nvGraphicFramePr>
          <p:xfrm>
            <a:off x="4800" y="2544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228600" imgH="228600" progId="Equation.3">
                    <p:embed/>
                  </p:oleObj>
                </mc:Choice>
                <mc:Fallback>
                  <p:oleObj name="公式" r:id="rId27" imgW="228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544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77" name="Line 48"/>
            <p:cNvSpPr>
              <a:spLocks noChangeShapeType="1"/>
            </p:cNvSpPr>
            <p:nvPr/>
          </p:nvSpPr>
          <p:spPr bwMode="auto">
            <a:xfrm>
              <a:off x="4128" y="2832"/>
              <a:ext cx="805" cy="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7265" name="Text Box 49"/>
          <p:cNvSpPr txBox="1">
            <a:spLocks noChangeArrowheads="1"/>
          </p:cNvSpPr>
          <p:nvPr/>
        </p:nvSpPr>
        <p:spPr bwMode="auto">
          <a:xfrm>
            <a:off x="6224588" y="3671888"/>
            <a:ext cx="2919412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zh-CN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zh-CN" i="1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</a:t>
            </a:r>
            <a:r>
              <a:rPr lang="zh-CN" altLang="zh-CN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>
                <a:solidFill>
                  <a:srgbClr val="FF0000"/>
                </a:solidFill>
                <a:ea typeface="楷体_GB2312" pitchFamily="49" charset="-122"/>
              </a:rPr>
              <a:t>&lt;</a:t>
            </a:r>
            <a:r>
              <a:rPr lang="zh-CN" altLang="zh-CN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 0 </a:t>
            </a:r>
            <a:r>
              <a:rPr lang="en-US" altLang="zh-CN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capacitive</a:t>
            </a:r>
            <a:r>
              <a:rPr lang="en-US" altLang="zh-CN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137266" name="Rectangle 50"/>
          <p:cNvSpPr>
            <a:spLocks noChangeArrowheads="1"/>
          </p:cNvSpPr>
          <p:nvPr/>
        </p:nvSpPr>
        <p:spPr bwMode="auto">
          <a:xfrm>
            <a:off x="5589588" y="2279650"/>
            <a:ext cx="13480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grpSp>
        <p:nvGrpSpPr>
          <p:cNvPr id="13" name="Group 51"/>
          <p:cNvGrpSpPr>
            <a:grpSpLocks/>
          </p:cNvGrpSpPr>
          <p:nvPr/>
        </p:nvGrpSpPr>
        <p:grpSpPr bwMode="auto">
          <a:xfrm>
            <a:off x="6872288" y="2203450"/>
            <a:ext cx="1295400" cy="838200"/>
            <a:chOff x="4224" y="1296"/>
            <a:chExt cx="816" cy="528"/>
          </a:xfrm>
        </p:grpSpPr>
        <p:sp>
          <p:nvSpPr>
            <p:cNvPr id="102474" name="Line 52"/>
            <p:cNvSpPr>
              <a:spLocks noChangeShapeType="1"/>
            </p:cNvSpPr>
            <p:nvPr/>
          </p:nvSpPr>
          <p:spPr bwMode="auto">
            <a:xfrm>
              <a:off x="4224" y="1824"/>
              <a:ext cx="8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75" name="Line 53"/>
            <p:cNvSpPr>
              <a:spLocks noChangeShapeType="1"/>
            </p:cNvSpPr>
            <p:nvPr/>
          </p:nvSpPr>
          <p:spPr bwMode="auto">
            <a:xfrm>
              <a:off x="5040" y="1296"/>
              <a:ext cx="0" cy="5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3990975" y="2660650"/>
            <a:ext cx="468313" cy="381000"/>
            <a:chOff x="2514" y="1676"/>
            <a:chExt cx="295" cy="240"/>
          </a:xfrm>
        </p:grpSpPr>
        <p:graphicFrame>
          <p:nvGraphicFramePr>
            <p:cNvPr id="102472" name="Object 55"/>
            <p:cNvGraphicFramePr>
              <a:graphicFrameLocks noChangeAspect="1"/>
            </p:cNvGraphicFramePr>
            <p:nvPr/>
          </p:nvGraphicFramePr>
          <p:xfrm>
            <a:off x="2553" y="1676"/>
            <a:ext cx="25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23903" imgH="142795" progId="Equation.3">
                    <p:embed/>
                  </p:oleObj>
                </mc:Choice>
                <mc:Fallback>
                  <p:oleObj name="Equation" r:id="rId28" imgW="123903" imgH="1427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3" y="1676"/>
                          <a:ext cx="25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73" name="Freeform 56"/>
            <p:cNvSpPr>
              <a:spLocks/>
            </p:cNvSpPr>
            <p:nvPr/>
          </p:nvSpPr>
          <p:spPr bwMode="auto">
            <a:xfrm>
              <a:off x="2514" y="1731"/>
              <a:ext cx="63" cy="126"/>
            </a:xfrm>
            <a:custGeom>
              <a:avLst/>
              <a:gdLst>
                <a:gd name="T0" fmla="*/ 0 w 63"/>
                <a:gd name="T1" fmla="*/ 0 h 126"/>
                <a:gd name="T2" fmla="*/ 63 w 63"/>
                <a:gd name="T3" fmla="*/ 126 h 126"/>
                <a:gd name="T4" fmla="*/ 0 60000 65536"/>
                <a:gd name="T5" fmla="*/ 0 60000 65536"/>
                <a:gd name="T6" fmla="*/ 0 w 63"/>
                <a:gd name="T7" fmla="*/ 0 h 126"/>
                <a:gd name="T8" fmla="*/ 63 w 63"/>
                <a:gd name="T9" fmla="*/ 126 h 1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3" h="126">
                  <a:moveTo>
                    <a:pt x="0" y="0"/>
                  </a:moveTo>
                  <a:cubicBezTo>
                    <a:pt x="28" y="28"/>
                    <a:pt x="63" y="84"/>
                    <a:pt x="63" y="12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57"/>
          <p:cNvGrpSpPr>
            <a:grpSpLocks/>
          </p:cNvGrpSpPr>
          <p:nvPr/>
        </p:nvGrpSpPr>
        <p:grpSpPr bwMode="auto">
          <a:xfrm>
            <a:off x="6415088" y="2203450"/>
            <a:ext cx="457200" cy="1758950"/>
            <a:chOff x="3840" y="2832"/>
            <a:chExt cx="288" cy="1108"/>
          </a:xfrm>
        </p:grpSpPr>
        <p:graphicFrame>
          <p:nvGraphicFramePr>
            <p:cNvPr id="102470" name="Object 58"/>
            <p:cNvGraphicFramePr>
              <a:graphicFrameLocks noChangeAspect="1"/>
            </p:cNvGraphicFramePr>
            <p:nvPr/>
          </p:nvGraphicFramePr>
          <p:xfrm>
            <a:off x="3840" y="3648"/>
            <a:ext cx="277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228600" imgH="241300" progId="Equation.3">
                    <p:embed/>
                  </p:oleObj>
                </mc:Choice>
                <mc:Fallback>
                  <p:oleObj name="公式" r:id="rId30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648"/>
                          <a:ext cx="277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71" name="Line 59"/>
            <p:cNvSpPr>
              <a:spLocks noChangeShapeType="1"/>
            </p:cNvSpPr>
            <p:nvPr/>
          </p:nvSpPr>
          <p:spPr bwMode="auto">
            <a:xfrm>
              <a:off x="4128" y="2832"/>
              <a:ext cx="0" cy="100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60"/>
          <p:cNvGrpSpPr>
            <a:grpSpLocks/>
          </p:cNvGrpSpPr>
          <p:nvPr/>
        </p:nvGrpSpPr>
        <p:grpSpPr bwMode="auto">
          <a:xfrm>
            <a:off x="6491288" y="1289050"/>
            <a:ext cx="381000" cy="914400"/>
            <a:chOff x="3888" y="2256"/>
            <a:chExt cx="240" cy="576"/>
          </a:xfrm>
        </p:grpSpPr>
        <p:graphicFrame>
          <p:nvGraphicFramePr>
            <p:cNvPr id="102468" name="Object 61"/>
            <p:cNvGraphicFramePr>
              <a:graphicFrameLocks noChangeAspect="1"/>
            </p:cNvGraphicFramePr>
            <p:nvPr/>
          </p:nvGraphicFramePr>
          <p:xfrm>
            <a:off x="3888" y="2256"/>
            <a:ext cx="2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215806" imgH="228501" progId="Equation.3">
                    <p:embed/>
                  </p:oleObj>
                </mc:Choice>
                <mc:Fallback>
                  <p:oleObj name="公式" r:id="rId31" imgW="215806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256"/>
                          <a:ext cx="2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69" name="Line 62"/>
            <p:cNvSpPr>
              <a:spLocks noChangeShapeType="1"/>
            </p:cNvSpPr>
            <p:nvPr/>
          </p:nvSpPr>
          <p:spPr bwMode="auto">
            <a:xfrm flipV="1">
              <a:off x="4128" y="2352"/>
              <a:ext cx="0" cy="48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63"/>
          <p:cNvGrpSpPr>
            <a:grpSpLocks/>
          </p:cNvGrpSpPr>
          <p:nvPr/>
        </p:nvGrpSpPr>
        <p:grpSpPr bwMode="auto">
          <a:xfrm>
            <a:off x="6110288" y="2203450"/>
            <a:ext cx="762000" cy="989013"/>
            <a:chOff x="3648" y="2832"/>
            <a:chExt cx="480" cy="623"/>
          </a:xfrm>
        </p:grpSpPr>
        <p:graphicFrame>
          <p:nvGraphicFramePr>
            <p:cNvPr id="102466" name="Object 64"/>
            <p:cNvGraphicFramePr>
              <a:graphicFrameLocks noChangeAspect="1"/>
            </p:cNvGraphicFramePr>
            <p:nvPr/>
          </p:nvGraphicFramePr>
          <p:xfrm>
            <a:off x="3648" y="3168"/>
            <a:ext cx="48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558558" imgH="241195" progId="Equation.3">
                    <p:embed/>
                  </p:oleObj>
                </mc:Choice>
                <mc:Fallback>
                  <p:oleObj name="公式" r:id="rId32" imgW="558558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3168"/>
                          <a:ext cx="48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67" name="Line 65"/>
            <p:cNvSpPr>
              <a:spLocks noChangeShapeType="1"/>
            </p:cNvSpPr>
            <p:nvPr/>
          </p:nvSpPr>
          <p:spPr bwMode="auto">
            <a:xfrm>
              <a:off x="4128" y="2832"/>
              <a:ext cx="0" cy="52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66"/>
          <p:cNvGrpSpPr>
            <a:grpSpLocks/>
          </p:cNvGrpSpPr>
          <p:nvPr/>
        </p:nvGrpSpPr>
        <p:grpSpPr bwMode="auto">
          <a:xfrm>
            <a:off x="6872288" y="2203450"/>
            <a:ext cx="1676400" cy="1066800"/>
            <a:chOff x="4128" y="2832"/>
            <a:chExt cx="1070" cy="672"/>
          </a:xfrm>
        </p:grpSpPr>
        <p:graphicFrame>
          <p:nvGraphicFramePr>
            <p:cNvPr id="102464" name="Object 67"/>
            <p:cNvGraphicFramePr>
              <a:graphicFrameLocks noChangeAspect="1"/>
            </p:cNvGraphicFramePr>
            <p:nvPr/>
          </p:nvGraphicFramePr>
          <p:xfrm>
            <a:off x="4992" y="3264"/>
            <a:ext cx="20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142799" imgH="180855" progId="Equation.3">
                    <p:embed/>
                  </p:oleObj>
                </mc:Choice>
                <mc:Fallback>
                  <p:oleObj name="公式" r:id="rId33" imgW="142799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3264"/>
                          <a:ext cx="20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65" name="Line 68"/>
            <p:cNvSpPr>
              <a:spLocks noChangeShapeType="1"/>
            </p:cNvSpPr>
            <p:nvPr/>
          </p:nvSpPr>
          <p:spPr bwMode="auto">
            <a:xfrm>
              <a:off x="4128" y="2832"/>
              <a:ext cx="864" cy="5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7285" name="Line 69"/>
          <p:cNvSpPr>
            <a:spLocks noChangeShapeType="1"/>
          </p:cNvSpPr>
          <p:nvPr/>
        </p:nvSpPr>
        <p:spPr bwMode="auto">
          <a:xfrm flipV="1">
            <a:off x="6948488" y="3041650"/>
            <a:ext cx="0" cy="762000"/>
          </a:xfrm>
          <a:prstGeom prst="line">
            <a:avLst/>
          </a:prstGeom>
          <a:noFill/>
          <a:ln w="38100">
            <a:solidFill>
              <a:srgbClr val="000099"/>
            </a:solidFill>
            <a:prstDash val="sysDot"/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70"/>
          <p:cNvGrpSpPr>
            <a:grpSpLocks/>
          </p:cNvGrpSpPr>
          <p:nvPr/>
        </p:nvGrpSpPr>
        <p:grpSpPr bwMode="auto">
          <a:xfrm>
            <a:off x="7221538" y="2203450"/>
            <a:ext cx="565150" cy="393700"/>
            <a:chOff x="4549" y="1388"/>
            <a:chExt cx="356" cy="248"/>
          </a:xfrm>
        </p:grpSpPr>
        <p:graphicFrame>
          <p:nvGraphicFramePr>
            <p:cNvPr id="102462" name="Object 71"/>
            <p:cNvGraphicFramePr>
              <a:graphicFrameLocks noChangeAspect="1"/>
            </p:cNvGraphicFramePr>
            <p:nvPr/>
          </p:nvGraphicFramePr>
          <p:xfrm>
            <a:off x="4617" y="1388"/>
            <a:ext cx="28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23903" imgH="142795" progId="Equation.3">
                    <p:embed/>
                  </p:oleObj>
                </mc:Choice>
                <mc:Fallback>
                  <p:oleObj name="Equation" r:id="rId35" imgW="123903" imgH="1427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7" y="1388"/>
                          <a:ext cx="28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63" name="Freeform 72"/>
            <p:cNvSpPr>
              <a:spLocks/>
            </p:cNvSpPr>
            <p:nvPr/>
          </p:nvSpPr>
          <p:spPr bwMode="auto">
            <a:xfrm>
              <a:off x="4549" y="1412"/>
              <a:ext cx="63" cy="127"/>
            </a:xfrm>
            <a:custGeom>
              <a:avLst/>
              <a:gdLst>
                <a:gd name="T0" fmla="*/ 63 w 63"/>
                <a:gd name="T1" fmla="*/ 0 h 127"/>
                <a:gd name="T2" fmla="*/ 31 w 63"/>
                <a:gd name="T3" fmla="*/ 95 h 127"/>
                <a:gd name="T4" fmla="*/ 0 w 63"/>
                <a:gd name="T5" fmla="*/ 127 h 127"/>
                <a:gd name="T6" fmla="*/ 0 60000 65536"/>
                <a:gd name="T7" fmla="*/ 0 60000 65536"/>
                <a:gd name="T8" fmla="*/ 0 60000 65536"/>
                <a:gd name="T9" fmla="*/ 0 w 63"/>
                <a:gd name="T10" fmla="*/ 0 h 127"/>
                <a:gd name="T11" fmla="*/ 63 w 63"/>
                <a:gd name="T12" fmla="*/ 127 h 1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" h="127">
                  <a:moveTo>
                    <a:pt x="63" y="0"/>
                  </a:moveTo>
                  <a:cubicBezTo>
                    <a:pt x="57" y="32"/>
                    <a:pt x="51" y="68"/>
                    <a:pt x="31" y="95"/>
                  </a:cubicBezTo>
                  <a:cubicBezTo>
                    <a:pt x="22" y="107"/>
                    <a:pt x="0" y="127"/>
                    <a:pt x="0" y="127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429" name="Group 73"/>
          <p:cNvGrpSpPr>
            <a:grpSpLocks/>
          </p:cNvGrpSpPr>
          <p:nvPr/>
        </p:nvGrpSpPr>
        <p:grpSpPr bwMode="auto">
          <a:xfrm>
            <a:off x="222250" y="1443038"/>
            <a:ext cx="1992313" cy="3448050"/>
            <a:chOff x="559" y="612"/>
            <a:chExt cx="1255" cy="2172"/>
          </a:xfrm>
        </p:grpSpPr>
        <p:sp>
          <p:nvSpPr>
            <p:cNvPr id="102430" name="Line 74"/>
            <p:cNvSpPr>
              <a:spLocks noChangeShapeType="1"/>
            </p:cNvSpPr>
            <p:nvPr/>
          </p:nvSpPr>
          <p:spPr bwMode="auto">
            <a:xfrm>
              <a:off x="854" y="746"/>
              <a:ext cx="32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31" name="Line 75"/>
            <p:cNvSpPr>
              <a:spLocks noChangeShapeType="1"/>
            </p:cNvSpPr>
            <p:nvPr/>
          </p:nvSpPr>
          <p:spPr bwMode="auto">
            <a:xfrm>
              <a:off x="1385" y="2044"/>
              <a:ext cx="0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32" name="Line 76"/>
            <p:cNvSpPr>
              <a:spLocks noChangeShapeType="1"/>
            </p:cNvSpPr>
            <p:nvPr/>
          </p:nvSpPr>
          <p:spPr bwMode="auto">
            <a:xfrm>
              <a:off x="1385" y="2387"/>
              <a:ext cx="0" cy="3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33" name="Line 77"/>
            <p:cNvSpPr>
              <a:spLocks noChangeShapeType="1"/>
            </p:cNvSpPr>
            <p:nvPr/>
          </p:nvSpPr>
          <p:spPr bwMode="auto">
            <a:xfrm>
              <a:off x="1267" y="2292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34" name="Line 78"/>
            <p:cNvSpPr>
              <a:spLocks noChangeShapeType="1"/>
            </p:cNvSpPr>
            <p:nvPr/>
          </p:nvSpPr>
          <p:spPr bwMode="auto">
            <a:xfrm>
              <a:off x="1267" y="2387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35" name="Rectangle 79"/>
            <p:cNvSpPr>
              <a:spLocks noChangeArrowheads="1"/>
            </p:cNvSpPr>
            <p:nvPr/>
          </p:nvSpPr>
          <p:spPr bwMode="auto">
            <a:xfrm>
              <a:off x="1326" y="1100"/>
              <a:ext cx="118" cy="25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102436" name="Line 80"/>
            <p:cNvSpPr>
              <a:spLocks noChangeShapeType="1"/>
            </p:cNvSpPr>
            <p:nvPr/>
          </p:nvSpPr>
          <p:spPr bwMode="auto">
            <a:xfrm flipH="1">
              <a:off x="736" y="864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37" name="Text Box 81"/>
            <p:cNvSpPr txBox="1">
              <a:spLocks noChangeArrowheads="1"/>
            </p:cNvSpPr>
            <p:nvPr/>
          </p:nvSpPr>
          <p:spPr bwMode="auto">
            <a:xfrm>
              <a:off x="1031" y="1080"/>
              <a:ext cx="26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i="1">
                  <a:ea typeface="楷体_GB2312" pitchFamily="49" charset="-122"/>
                </a:rPr>
                <a:t>R</a:t>
              </a:r>
            </a:p>
          </p:txBody>
        </p:sp>
        <p:sp>
          <p:nvSpPr>
            <p:cNvPr id="102438" name="Text Box 82"/>
            <p:cNvSpPr txBox="1">
              <a:spLocks noChangeArrowheads="1"/>
            </p:cNvSpPr>
            <p:nvPr/>
          </p:nvSpPr>
          <p:spPr bwMode="auto">
            <a:xfrm>
              <a:off x="960" y="1611"/>
              <a:ext cx="421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i="1">
                  <a:ea typeface="楷体_GB2312" pitchFamily="49" charset="-122"/>
                </a:rPr>
                <a:t>jX</a:t>
              </a:r>
              <a:r>
                <a:rPr lang="en-US" altLang="zh-CN" i="1" baseline="-25000">
                  <a:ea typeface="楷体_GB2312" pitchFamily="49" charset="-122"/>
                </a:rPr>
                <a:t>L</a:t>
              </a:r>
            </a:p>
          </p:txBody>
        </p:sp>
        <p:sp>
          <p:nvSpPr>
            <p:cNvPr id="102439" name="Text Box 83"/>
            <p:cNvSpPr txBox="1">
              <a:spLocks noChangeArrowheads="1"/>
            </p:cNvSpPr>
            <p:nvPr/>
          </p:nvSpPr>
          <p:spPr bwMode="auto">
            <a:xfrm>
              <a:off x="816" y="2201"/>
              <a:ext cx="50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>
                <a:buFont typeface="Wingdings" pitchFamily="2" charset="2"/>
                <a:buNone/>
              </a:pPr>
              <a:r>
                <a:rPr lang="en-US" altLang="zh-CN" i="1">
                  <a:ea typeface="楷体_GB2312" pitchFamily="49" charset="-122"/>
                </a:rPr>
                <a:t>-jX</a:t>
              </a:r>
              <a:r>
                <a:rPr lang="en-US" altLang="zh-CN" i="1" baseline="-25000">
                  <a:ea typeface="楷体_GB2312" pitchFamily="49" charset="-122"/>
                </a:rPr>
                <a:t>C</a:t>
              </a:r>
            </a:p>
          </p:txBody>
        </p:sp>
        <p:grpSp>
          <p:nvGrpSpPr>
            <p:cNvPr id="102440" name="Group 84"/>
            <p:cNvGrpSpPr>
              <a:grpSpLocks/>
            </p:cNvGrpSpPr>
            <p:nvPr/>
          </p:nvGrpSpPr>
          <p:grpSpPr bwMode="auto">
            <a:xfrm>
              <a:off x="1356" y="1631"/>
              <a:ext cx="114" cy="413"/>
              <a:chOff x="433" y="3084"/>
              <a:chExt cx="95" cy="612"/>
            </a:xfrm>
          </p:grpSpPr>
          <p:sp>
            <p:nvSpPr>
              <p:cNvPr id="102459" name="AutoShape 85"/>
              <p:cNvSpPr>
                <a:spLocks noChangeArrowheads="1"/>
              </p:cNvSpPr>
              <p:nvPr/>
            </p:nvSpPr>
            <p:spPr bwMode="auto">
              <a:xfrm flipH="1">
                <a:off x="433" y="3276"/>
                <a:ext cx="83" cy="204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  <p:sp>
            <p:nvSpPr>
              <p:cNvPr id="102460" name="AutoShape 86"/>
              <p:cNvSpPr>
                <a:spLocks noChangeArrowheads="1"/>
              </p:cNvSpPr>
              <p:nvPr/>
            </p:nvSpPr>
            <p:spPr bwMode="auto">
              <a:xfrm flipH="1">
                <a:off x="445" y="3084"/>
                <a:ext cx="83" cy="204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  <p:sp>
            <p:nvSpPr>
              <p:cNvPr id="102461" name="AutoShape 87"/>
              <p:cNvSpPr>
                <a:spLocks noChangeArrowheads="1"/>
              </p:cNvSpPr>
              <p:nvPr/>
            </p:nvSpPr>
            <p:spPr bwMode="auto">
              <a:xfrm flipH="1">
                <a:off x="433" y="3492"/>
                <a:ext cx="83" cy="204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</p:grpSp>
        <p:graphicFrame>
          <p:nvGraphicFramePr>
            <p:cNvPr id="102441" name="Object 88"/>
            <p:cNvGraphicFramePr>
              <a:graphicFrameLocks noChangeAspect="1"/>
            </p:cNvGraphicFramePr>
            <p:nvPr/>
          </p:nvGraphicFramePr>
          <p:xfrm>
            <a:off x="1477" y="1056"/>
            <a:ext cx="290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200026" imgH="209468" progId="Equation.3">
                    <p:embed/>
                  </p:oleObj>
                </mc:Choice>
                <mc:Fallback>
                  <p:oleObj name="Equation" r:id="rId37" imgW="200026" imgH="2094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7" y="1056"/>
                          <a:ext cx="290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42" name="Text Box 89"/>
            <p:cNvSpPr txBox="1">
              <a:spLocks noChangeArrowheads="1"/>
            </p:cNvSpPr>
            <p:nvPr/>
          </p:nvSpPr>
          <p:spPr bwMode="auto">
            <a:xfrm>
              <a:off x="1444" y="805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102443" name="Text Box 90"/>
            <p:cNvSpPr txBox="1">
              <a:spLocks noChangeArrowheads="1"/>
            </p:cNvSpPr>
            <p:nvPr/>
          </p:nvSpPr>
          <p:spPr bwMode="auto">
            <a:xfrm>
              <a:off x="1444" y="1159"/>
              <a:ext cx="295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sp>
          <p:nvSpPr>
            <p:cNvPr id="102444" name="Line 91"/>
            <p:cNvSpPr>
              <a:spLocks noChangeShapeType="1"/>
            </p:cNvSpPr>
            <p:nvPr/>
          </p:nvSpPr>
          <p:spPr bwMode="auto">
            <a:xfrm>
              <a:off x="1385" y="864"/>
              <a:ext cx="0" cy="2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45" name="Line 92"/>
            <p:cNvSpPr>
              <a:spLocks noChangeShapeType="1"/>
            </p:cNvSpPr>
            <p:nvPr/>
          </p:nvSpPr>
          <p:spPr bwMode="auto">
            <a:xfrm>
              <a:off x="1385" y="1363"/>
              <a:ext cx="0" cy="2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446" name="Object 93"/>
            <p:cNvGraphicFramePr>
              <a:graphicFrameLocks noChangeAspect="1"/>
            </p:cNvGraphicFramePr>
            <p:nvPr/>
          </p:nvGraphicFramePr>
          <p:xfrm>
            <a:off x="1465" y="1632"/>
            <a:ext cx="302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200026" imgH="209468" progId="Equation.3">
                    <p:embed/>
                  </p:oleObj>
                </mc:Choice>
                <mc:Fallback>
                  <p:oleObj name="Equation" r:id="rId39" imgW="200026" imgH="2094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5" y="1632"/>
                          <a:ext cx="302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47" name="Text Box 94"/>
            <p:cNvSpPr txBox="1">
              <a:spLocks noChangeArrowheads="1"/>
            </p:cNvSpPr>
            <p:nvPr/>
          </p:nvSpPr>
          <p:spPr bwMode="auto">
            <a:xfrm>
              <a:off x="1444" y="1985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102448" name="Text Box 95"/>
            <p:cNvSpPr txBox="1">
              <a:spLocks noChangeArrowheads="1"/>
            </p:cNvSpPr>
            <p:nvPr/>
          </p:nvSpPr>
          <p:spPr bwMode="auto">
            <a:xfrm>
              <a:off x="1444" y="1749"/>
              <a:ext cx="22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graphicFrame>
          <p:nvGraphicFramePr>
            <p:cNvPr id="102449" name="Object 96"/>
            <p:cNvGraphicFramePr>
              <a:graphicFrameLocks noChangeAspect="1"/>
            </p:cNvGraphicFramePr>
            <p:nvPr/>
          </p:nvGraphicFramePr>
          <p:xfrm>
            <a:off x="1467" y="2197"/>
            <a:ext cx="34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200026" imgH="219186" progId="Equation.3">
                    <p:embed/>
                  </p:oleObj>
                </mc:Choice>
                <mc:Fallback>
                  <p:oleObj name="Equation" r:id="rId41" imgW="200026" imgH="21918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7" y="2197"/>
                          <a:ext cx="34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50" name="Text Box 97"/>
            <p:cNvSpPr txBox="1">
              <a:spLocks noChangeArrowheads="1"/>
            </p:cNvSpPr>
            <p:nvPr/>
          </p:nvSpPr>
          <p:spPr bwMode="auto">
            <a:xfrm>
              <a:off x="1444" y="1395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102451" name="Text Box 98"/>
            <p:cNvSpPr txBox="1">
              <a:spLocks noChangeArrowheads="1"/>
            </p:cNvSpPr>
            <p:nvPr/>
          </p:nvSpPr>
          <p:spPr bwMode="auto">
            <a:xfrm>
              <a:off x="1444" y="2339"/>
              <a:ext cx="22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sp>
          <p:nvSpPr>
            <p:cNvPr id="102452" name="Line 99"/>
            <p:cNvSpPr>
              <a:spLocks noChangeShapeType="1"/>
            </p:cNvSpPr>
            <p:nvPr/>
          </p:nvSpPr>
          <p:spPr bwMode="auto">
            <a:xfrm flipH="1">
              <a:off x="736" y="2752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453" name="Object 100"/>
            <p:cNvGraphicFramePr>
              <a:graphicFrameLocks noChangeAspect="1"/>
            </p:cNvGraphicFramePr>
            <p:nvPr/>
          </p:nvGraphicFramePr>
          <p:xfrm>
            <a:off x="564" y="1659"/>
            <a:ext cx="25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142799" imgH="180855" progId="Equation.3">
                    <p:embed/>
                  </p:oleObj>
                </mc:Choice>
                <mc:Fallback>
                  <p:oleObj name="Equation" r:id="rId43" imgW="142799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" y="1659"/>
                          <a:ext cx="25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54" name="Text Box 101"/>
            <p:cNvSpPr txBox="1">
              <a:spLocks noChangeArrowheads="1"/>
            </p:cNvSpPr>
            <p:nvPr/>
          </p:nvSpPr>
          <p:spPr bwMode="auto">
            <a:xfrm>
              <a:off x="559" y="805"/>
              <a:ext cx="30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102455" name="Text Box 102"/>
            <p:cNvSpPr txBox="1">
              <a:spLocks noChangeArrowheads="1"/>
            </p:cNvSpPr>
            <p:nvPr/>
          </p:nvSpPr>
          <p:spPr bwMode="auto">
            <a:xfrm>
              <a:off x="559" y="2280"/>
              <a:ext cx="229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l" eaLnBrk="1" hangingPunct="1">
                <a:buFont typeface="Wingdings" pitchFamily="2" charset="2"/>
                <a:buNone/>
              </a:pPr>
              <a:r>
                <a:rPr lang="en-US" altLang="zh-CN" i="1">
                  <a:solidFill>
                    <a:srgbClr val="FF0000"/>
                  </a:solidFill>
                  <a:ea typeface="楷体_GB2312" pitchFamily="49" charset="-122"/>
                </a:rPr>
                <a:t>_</a:t>
              </a:r>
            </a:p>
          </p:txBody>
        </p:sp>
        <p:sp>
          <p:nvSpPr>
            <p:cNvPr id="102456" name="Oval 103"/>
            <p:cNvSpPr>
              <a:spLocks noChangeArrowheads="1"/>
            </p:cNvSpPr>
            <p:nvPr/>
          </p:nvSpPr>
          <p:spPr bwMode="auto">
            <a:xfrm>
              <a:off x="677" y="835"/>
              <a:ext cx="61" cy="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102457" name="Oval 104"/>
            <p:cNvSpPr>
              <a:spLocks noChangeArrowheads="1"/>
            </p:cNvSpPr>
            <p:nvPr/>
          </p:nvSpPr>
          <p:spPr bwMode="auto">
            <a:xfrm>
              <a:off x="677" y="2723"/>
              <a:ext cx="61" cy="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graphicFrame>
          <p:nvGraphicFramePr>
            <p:cNvPr id="102458" name="Object 105"/>
            <p:cNvGraphicFramePr>
              <a:graphicFrameLocks noChangeAspect="1"/>
            </p:cNvGraphicFramePr>
            <p:nvPr/>
          </p:nvGraphicFramePr>
          <p:xfrm>
            <a:off x="1179" y="612"/>
            <a:ext cx="192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104737" imgH="171408" progId="Equation.3">
                    <p:embed/>
                  </p:oleObj>
                </mc:Choice>
                <mc:Fallback>
                  <p:oleObj name="Equation" r:id="rId45" imgW="104737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612"/>
                          <a:ext cx="192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07196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13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3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7" dur="500"/>
                                        <p:tgtEl>
                                          <p:spTgt spid="13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6" dur="500"/>
                                        <p:tgtEl>
                                          <p:spTgt spid="13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8" grpId="0" animBg="1"/>
      <p:bldP spid="137235" grpId="0" autoUpdateAnimBg="0"/>
      <p:bldP spid="137236" grpId="0" autoUpdateAnimBg="0"/>
      <p:bldP spid="137237" grpId="0" animBg="1" autoUpdateAnimBg="0"/>
      <p:bldP spid="137252" grpId="0" animBg="1" autoUpdateAnimBg="0"/>
      <p:bldP spid="137265" grpId="0" autoUpdateAnimBg="0"/>
      <p:bldP spid="137266" grpId="0" autoUpdateAnimBg="0"/>
      <p:bldP spid="13728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243" name="Object 3" descr="80%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5301403"/>
              </p:ext>
            </p:extLst>
          </p:nvPr>
        </p:nvGraphicFramePr>
        <p:xfrm>
          <a:off x="4953000" y="4192588"/>
          <a:ext cx="3551238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685800" progId="Equation.3">
                  <p:embed/>
                </p:oleObj>
              </mc:Choice>
              <mc:Fallback>
                <p:oleObj name="Equation" r:id="rId2" imgW="1524000" imgH="6858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2588"/>
                        <a:ext cx="3551238" cy="18272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7" name="Line 4"/>
          <p:cNvSpPr>
            <a:spLocks noChangeShapeType="1"/>
          </p:cNvSpPr>
          <p:nvPr/>
        </p:nvSpPr>
        <p:spPr bwMode="auto">
          <a:xfrm>
            <a:off x="4419600" y="381000"/>
            <a:ext cx="0" cy="5791200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8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889528"/>
              </p:ext>
            </p:extLst>
          </p:nvPr>
        </p:nvGraphicFramePr>
        <p:xfrm>
          <a:off x="4560888" y="1189038"/>
          <a:ext cx="4111625" cy="278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1168200" progId="Equation.DSMT4">
                  <p:embed/>
                </p:oleObj>
              </mc:Choice>
              <mc:Fallback>
                <p:oleObj name="Equation" r:id="rId4" imgW="172692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8" y="1189038"/>
                        <a:ext cx="4111625" cy="278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781050" y="4581525"/>
            <a:ext cx="2743200" cy="1243013"/>
            <a:chOff x="528" y="3126"/>
            <a:chExt cx="1776" cy="805"/>
          </a:xfrm>
        </p:grpSpPr>
        <p:graphicFrame>
          <p:nvGraphicFramePr>
            <p:cNvPr id="103456" name="Object 9" descr="40%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4901425"/>
                </p:ext>
              </p:extLst>
            </p:nvPr>
          </p:nvGraphicFramePr>
          <p:xfrm>
            <a:off x="528" y="3126"/>
            <a:ext cx="1776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80939" imgH="238081" progId="Equation.3">
                    <p:embed/>
                  </p:oleObj>
                </mc:Choice>
                <mc:Fallback>
                  <p:oleObj name="Equation" r:id="rId6" imgW="780939" imgH="2380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126"/>
                          <a:ext cx="1776" cy="43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57" name="Object 10" descr="40%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4531884"/>
                </p:ext>
              </p:extLst>
            </p:nvPr>
          </p:nvGraphicFramePr>
          <p:xfrm>
            <a:off x="528" y="3504"/>
            <a:ext cx="1776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80939" imgH="238081" progId="Equation.3">
                    <p:embed/>
                  </p:oleObj>
                </mc:Choice>
                <mc:Fallback>
                  <p:oleObj name="Equation" r:id="rId8" imgW="780939" imgH="2380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504"/>
                          <a:ext cx="1776" cy="42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3430" name="Group 11"/>
          <p:cNvGrpSpPr>
            <a:grpSpLocks/>
          </p:cNvGrpSpPr>
          <p:nvPr/>
        </p:nvGrpSpPr>
        <p:grpSpPr bwMode="auto">
          <a:xfrm>
            <a:off x="762000" y="838200"/>
            <a:ext cx="3322638" cy="1897063"/>
            <a:chOff x="480" y="528"/>
            <a:chExt cx="2093" cy="1195"/>
          </a:xfrm>
        </p:grpSpPr>
        <p:graphicFrame>
          <p:nvGraphicFramePr>
            <p:cNvPr id="103446" name="Object 12"/>
            <p:cNvGraphicFramePr>
              <a:graphicFrameLocks noChangeAspect="1"/>
            </p:cNvGraphicFramePr>
            <p:nvPr/>
          </p:nvGraphicFramePr>
          <p:xfrm>
            <a:off x="1296" y="528"/>
            <a:ext cx="21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42799" imgH="180855" progId="Equation.3">
                    <p:embed/>
                  </p:oleObj>
                </mc:Choice>
                <mc:Fallback>
                  <p:oleObj name="公式" r:id="rId10" imgW="142799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528"/>
                          <a:ext cx="21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47" name="Object 13"/>
            <p:cNvGraphicFramePr>
              <a:graphicFrameLocks noChangeAspect="1"/>
            </p:cNvGraphicFramePr>
            <p:nvPr/>
          </p:nvGraphicFramePr>
          <p:xfrm>
            <a:off x="1440" y="1392"/>
            <a:ext cx="292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28600" imgH="228600" progId="Equation.3">
                    <p:embed/>
                  </p:oleObj>
                </mc:Choice>
                <mc:Fallback>
                  <p:oleObj name="公式" r:id="rId12" imgW="228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392"/>
                          <a:ext cx="292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3448" name="Group 14"/>
            <p:cNvGrpSpPr>
              <a:grpSpLocks/>
            </p:cNvGrpSpPr>
            <p:nvPr/>
          </p:nvGrpSpPr>
          <p:grpSpPr bwMode="auto">
            <a:xfrm>
              <a:off x="480" y="768"/>
              <a:ext cx="1056" cy="657"/>
              <a:chOff x="336" y="735"/>
              <a:chExt cx="1233" cy="753"/>
            </a:xfrm>
          </p:grpSpPr>
          <p:sp>
            <p:nvSpPr>
              <p:cNvPr id="103453" name="Line 15"/>
              <p:cNvSpPr>
                <a:spLocks noChangeShapeType="1"/>
              </p:cNvSpPr>
              <p:nvPr/>
            </p:nvSpPr>
            <p:spPr bwMode="auto">
              <a:xfrm flipV="1">
                <a:off x="1569" y="735"/>
                <a:ext cx="0" cy="745"/>
              </a:xfrm>
              <a:prstGeom prst="line">
                <a:avLst/>
              </a:prstGeom>
              <a:noFill/>
              <a:ln w="38100">
                <a:solidFill>
                  <a:srgbClr val="66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454" name="Line 16"/>
              <p:cNvSpPr>
                <a:spLocks noChangeShapeType="1"/>
              </p:cNvSpPr>
              <p:nvPr/>
            </p:nvSpPr>
            <p:spPr bwMode="auto">
              <a:xfrm flipV="1">
                <a:off x="336" y="735"/>
                <a:ext cx="1232" cy="753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455" name="Line 17"/>
              <p:cNvSpPr>
                <a:spLocks noChangeShapeType="1"/>
              </p:cNvSpPr>
              <p:nvPr/>
            </p:nvSpPr>
            <p:spPr bwMode="auto">
              <a:xfrm>
                <a:off x="336" y="1480"/>
                <a:ext cx="123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3449" name="Object 18"/>
            <p:cNvGraphicFramePr>
              <a:graphicFrameLocks noChangeAspect="1"/>
            </p:cNvGraphicFramePr>
            <p:nvPr/>
          </p:nvGraphicFramePr>
          <p:xfrm>
            <a:off x="1536" y="768"/>
            <a:ext cx="624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558558" imgH="241195" progId="Equation.3">
                    <p:embed/>
                  </p:oleObj>
                </mc:Choice>
                <mc:Fallback>
                  <p:oleObj name="公式" r:id="rId14" imgW="558558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768"/>
                          <a:ext cx="624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50" name="Object 19"/>
            <p:cNvGraphicFramePr>
              <a:graphicFrameLocks noChangeAspect="1"/>
            </p:cNvGraphicFramePr>
            <p:nvPr/>
          </p:nvGraphicFramePr>
          <p:xfrm>
            <a:off x="768" y="1152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3903" imgH="142795" progId="Equation.3">
                    <p:embed/>
                  </p:oleObj>
                </mc:Choice>
                <mc:Fallback>
                  <p:oleObj name="Equation" r:id="rId16" imgW="123903" imgH="1427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152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51" name="Object 20"/>
            <p:cNvGraphicFramePr>
              <a:graphicFrameLocks noChangeAspect="1"/>
            </p:cNvGraphicFramePr>
            <p:nvPr/>
          </p:nvGraphicFramePr>
          <p:xfrm>
            <a:off x="2112" y="768"/>
            <a:ext cx="46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55446" imgH="228501" progId="Equation.3">
                    <p:embed/>
                  </p:oleObj>
                </mc:Choice>
                <mc:Fallback>
                  <p:oleObj name="公式" r:id="rId18" imgW="355446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768"/>
                          <a:ext cx="461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52" name="Freeform 21"/>
            <p:cNvSpPr>
              <a:spLocks/>
            </p:cNvSpPr>
            <p:nvPr/>
          </p:nvSpPr>
          <p:spPr bwMode="auto">
            <a:xfrm>
              <a:off x="742" y="1270"/>
              <a:ext cx="39" cy="142"/>
            </a:xfrm>
            <a:custGeom>
              <a:avLst/>
              <a:gdLst>
                <a:gd name="T0" fmla="*/ 0 w 39"/>
                <a:gd name="T1" fmla="*/ 0 h 142"/>
                <a:gd name="T2" fmla="*/ 39 w 39"/>
                <a:gd name="T3" fmla="*/ 142 h 142"/>
                <a:gd name="T4" fmla="*/ 0 60000 65536"/>
                <a:gd name="T5" fmla="*/ 0 60000 65536"/>
                <a:gd name="T6" fmla="*/ 0 w 39"/>
                <a:gd name="T7" fmla="*/ 0 h 142"/>
                <a:gd name="T8" fmla="*/ 39 w 39"/>
                <a:gd name="T9" fmla="*/ 142 h 1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" h="142">
                  <a:moveTo>
                    <a:pt x="0" y="0"/>
                  </a:moveTo>
                  <a:cubicBezTo>
                    <a:pt x="30" y="48"/>
                    <a:pt x="39" y="88"/>
                    <a:pt x="39" y="142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838200" y="2819400"/>
            <a:ext cx="2722563" cy="1438275"/>
            <a:chOff x="528" y="1776"/>
            <a:chExt cx="1715" cy="906"/>
          </a:xfrm>
        </p:grpSpPr>
        <p:graphicFrame>
          <p:nvGraphicFramePr>
            <p:cNvPr id="103438" name="Object 23"/>
            <p:cNvGraphicFramePr>
              <a:graphicFrameLocks noChangeAspect="1"/>
            </p:cNvGraphicFramePr>
            <p:nvPr/>
          </p:nvGraphicFramePr>
          <p:xfrm>
            <a:off x="672" y="1776"/>
            <a:ext cx="336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03024" imgH="253780" progId="Equation.3">
                    <p:embed/>
                  </p:oleObj>
                </mc:Choice>
                <mc:Fallback>
                  <p:oleObj name="公式" r:id="rId20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776"/>
                          <a:ext cx="336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39" name="Object 24"/>
            <p:cNvGraphicFramePr>
              <a:graphicFrameLocks noChangeAspect="1"/>
            </p:cNvGraphicFramePr>
            <p:nvPr/>
          </p:nvGraphicFramePr>
          <p:xfrm>
            <a:off x="864" y="2448"/>
            <a:ext cx="23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52268" imgH="164957" progId="Equation.3">
                    <p:embed/>
                  </p:oleObj>
                </mc:Choice>
                <mc:Fallback>
                  <p:oleObj name="公式" r:id="rId22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448"/>
                          <a:ext cx="238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40" name="Object 25"/>
            <p:cNvGraphicFramePr>
              <a:graphicFrameLocks noChangeAspect="1"/>
            </p:cNvGraphicFramePr>
            <p:nvPr/>
          </p:nvGraphicFramePr>
          <p:xfrm>
            <a:off x="1344" y="1968"/>
            <a:ext cx="89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876300" imgH="228600" progId="Equation.3">
                    <p:embed/>
                  </p:oleObj>
                </mc:Choice>
                <mc:Fallback>
                  <p:oleObj name="公式" r:id="rId24" imgW="8763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968"/>
                          <a:ext cx="89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41" name="Object 26"/>
            <p:cNvGraphicFramePr>
              <a:graphicFrameLocks noChangeAspect="1"/>
            </p:cNvGraphicFramePr>
            <p:nvPr/>
          </p:nvGraphicFramePr>
          <p:xfrm>
            <a:off x="816" y="2208"/>
            <a:ext cx="23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23903" imgH="142795" progId="Equation.3">
                    <p:embed/>
                  </p:oleObj>
                </mc:Choice>
                <mc:Fallback>
                  <p:oleObj name="公式" r:id="rId26" imgW="123903" imgH="1427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208"/>
                          <a:ext cx="237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42" name="Line 27"/>
            <p:cNvSpPr>
              <a:spLocks noChangeShapeType="1"/>
            </p:cNvSpPr>
            <p:nvPr/>
          </p:nvSpPr>
          <p:spPr bwMode="auto">
            <a:xfrm flipH="1">
              <a:off x="528" y="1776"/>
              <a:ext cx="816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3" name="Line 28"/>
            <p:cNvSpPr>
              <a:spLocks noChangeShapeType="1"/>
            </p:cNvSpPr>
            <p:nvPr/>
          </p:nvSpPr>
          <p:spPr bwMode="auto">
            <a:xfrm flipV="1">
              <a:off x="1344" y="1776"/>
              <a:ext cx="0" cy="6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4" name="Line 29"/>
            <p:cNvSpPr>
              <a:spLocks noChangeShapeType="1"/>
            </p:cNvSpPr>
            <p:nvPr/>
          </p:nvSpPr>
          <p:spPr bwMode="auto">
            <a:xfrm>
              <a:off x="528" y="2448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5" name="Freeform 30"/>
            <p:cNvSpPr>
              <a:spLocks/>
            </p:cNvSpPr>
            <p:nvPr/>
          </p:nvSpPr>
          <p:spPr bwMode="auto">
            <a:xfrm>
              <a:off x="742" y="2296"/>
              <a:ext cx="79" cy="150"/>
            </a:xfrm>
            <a:custGeom>
              <a:avLst/>
              <a:gdLst>
                <a:gd name="T0" fmla="*/ 0 w 79"/>
                <a:gd name="T1" fmla="*/ 0 h 150"/>
                <a:gd name="T2" fmla="*/ 79 w 79"/>
                <a:gd name="T3" fmla="*/ 150 h 150"/>
                <a:gd name="T4" fmla="*/ 0 60000 65536"/>
                <a:gd name="T5" fmla="*/ 0 60000 65536"/>
                <a:gd name="T6" fmla="*/ 0 w 79"/>
                <a:gd name="T7" fmla="*/ 0 h 150"/>
                <a:gd name="T8" fmla="*/ 79 w 79"/>
                <a:gd name="T9" fmla="*/ 150 h 1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9" h="150">
                  <a:moveTo>
                    <a:pt x="0" y="0"/>
                  </a:moveTo>
                  <a:cubicBezTo>
                    <a:pt x="50" y="35"/>
                    <a:pt x="79" y="88"/>
                    <a:pt x="79" y="15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8271" name="AutoShape 31" descr="40%"/>
          <p:cNvSpPr>
            <a:spLocks noChangeArrowheads="1"/>
          </p:cNvSpPr>
          <p:nvPr/>
        </p:nvSpPr>
        <p:spPr bwMode="auto">
          <a:xfrm>
            <a:off x="2971800" y="1981200"/>
            <a:ext cx="1143000" cy="838200"/>
          </a:xfrm>
          <a:prstGeom prst="wedgeRoundRectCallout">
            <a:avLst>
              <a:gd name="adj1" fmla="val -123611"/>
              <a:gd name="adj2" fmla="val -90343"/>
              <a:gd name="adj3" fmla="val 16667"/>
            </a:avLst>
          </a:prstGeom>
          <a:pattFill prst="pct40">
            <a:fgClr>
              <a:srgbClr val="FFCCFF"/>
            </a:fgClr>
            <a:bgClr>
              <a:srgbClr val="FFFFFF"/>
            </a:bgClr>
          </a:patt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762000" eaLnBrk="0" hangingPunc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000">
                <a:cs typeface="Times New Roman" pitchFamily="18" charset="0"/>
              </a:rPr>
              <a:t>Voltage </a:t>
            </a:r>
          </a:p>
          <a:p>
            <a:pPr algn="l" defTabSz="762000" eaLnBrk="0" hangingPunc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000">
                <a:cs typeface="Times New Roman" pitchFamily="18" charset="0"/>
              </a:rPr>
              <a:t>triangle</a:t>
            </a:r>
            <a:endParaRPr lang="zh-CN" altLang="en-US" sz="2000">
              <a:cs typeface="Times New Roman" pitchFamily="18" charset="0"/>
            </a:endParaRPr>
          </a:p>
        </p:txBody>
      </p:sp>
      <p:sp>
        <p:nvSpPr>
          <p:cNvPr id="138272" name="AutoShape 32" descr="40%"/>
          <p:cNvSpPr>
            <a:spLocks noChangeArrowheads="1"/>
          </p:cNvSpPr>
          <p:nvPr/>
        </p:nvSpPr>
        <p:spPr bwMode="auto">
          <a:xfrm>
            <a:off x="2743200" y="3581400"/>
            <a:ext cx="1597025" cy="838200"/>
          </a:xfrm>
          <a:prstGeom prst="wedgeRoundRectCallout">
            <a:avLst>
              <a:gd name="adj1" fmla="val -118727"/>
              <a:gd name="adj2" fmla="val -59657"/>
              <a:gd name="adj3" fmla="val 16667"/>
            </a:avLst>
          </a:prstGeom>
          <a:pattFill prst="pct40">
            <a:fgClr>
              <a:srgbClr val="FFCCFF"/>
            </a:fgClr>
            <a:bgClr>
              <a:srgbClr val="FFFFFF"/>
            </a:bgClr>
          </a:patt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762000" eaLnBrk="0" hangingPunc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>
                <a:cs typeface="Times New Roman" pitchFamily="18" charset="0"/>
              </a:rPr>
              <a:t>impedance </a:t>
            </a:r>
          </a:p>
          <a:p>
            <a:pPr algn="l" defTabSz="762000" eaLnBrk="0" hangingPunc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>
                <a:cs typeface="Times New Roman" pitchFamily="18" charset="0"/>
              </a:rPr>
              <a:t>triangle</a:t>
            </a:r>
            <a:endParaRPr lang="zh-CN" altLang="en-US" sz="2400">
              <a:cs typeface="Times New Roman" pitchFamily="18" charset="0"/>
            </a:endParaRPr>
          </a:p>
        </p:txBody>
      </p:sp>
      <p:sp>
        <p:nvSpPr>
          <p:cNvPr id="103434" name="Rectangle 46">
            <a:hlinkClick r:id="rId28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zh-CN" altLang="en-US" sz="1200">
                <a:solidFill>
                  <a:schemeClr val="bg1"/>
                </a:solidFill>
                <a:latin typeface="楷体_GB2312" pitchFamily="49" charset="-122"/>
              </a:rPr>
              <a:t>上一节</a:t>
            </a:r>
          </a:p>
        </p:txBody>
      </p:sp>
      <p:sp>
        <p:nvSpPr>
          <p:cNvPr id="103435" name="Rectangle 45">
            <a:hlinkClick r:id="rId29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03436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39" name="Rectangle 2" descr="40%"/>
          <p:cNvSpPr txBox="1">
            <a:spLocks noChangeArrowheads="1"/>
          </p:cNvSpPr>
          <p:nvPr/>
        </p:nvSpPr>
        <p:spPr bwMode="auto">
          <a:xfrm>
            <a:off x="923925" y="304800"/>
            <a:ext cx="36099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3600" b="1">
                <a:solidFill>
                  <a:schemeClr val="tx1"/>
                </a:solidFill>
                <a:latin typeface="Tahoma" pitchFamily="34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CN" sz="2800" dirty="0">
                <a:solidFill>
                  <a:schemeClr val="tx2"/>
                </a:solidFill>
                <a:latin typeface="Times New Roman" pitchFamily="18" charset="0"/>
                <a:cs typeface="+mn-cs"/>
              </a:rPr>
              <a:t>(2) </a:t>
            </a:r>
            <a:r>
              <a:rPr lang="en-US" altLang="zh-CN" sz="2800" dirty="0" err="1">
                <a:solidFill>
                  <a:schemeClr val="tx2"/>
                </a:solidFill>
                <a:latin typeface="Times New Roman" pitchFamily="18" charset="0"/>
                <a:cs typeface="+mn-cs"/>
              </a:rPr>
              <a:t>phasor</a:t>
            </a:r>
            <a:r>
              <a:rPr lang="en-US" altLang="zh-CN" sz="2800" dirty="0">
                <a:solidFill>
                  <a:schemeClr val="tx2"/>
                </a:solidFill>
                <a:latin typeface="Times New Roman" pitchFamily="18" charset="0"/>
                <a:cs typeface="+mn-cs"/>
              </a:rPr>
              <a:t> diagram</a:t>
            </a:r>
            <a:endParaRPr lang="zh-CN" altLang="en-US" sz="2800" dirty="0">
              <a:solidFill>
                <a:schemeClr val="tx2"/>
              </a:solidFill>
              <a:latin typeface="Times New Roman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9978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3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71" grpId="0" animBg="1" autoUpdateAnimBg="0"/>
      <p:bldP spid="138272" grpId="0" animBg="1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09600" y="3276600"/>
            <a:ext cx="1862138" cy="914400"/>
            <a:chOff x="528" y="2208"/>
            <a:chExt cx="1173" cy="576"/>
          </a:xfrm>
        </p:grpSpPr>
        <p:graphicFrame>
          <p:nvGraphicFramePr>
            <p:cNvPr id="104564" name="Object 1052"/>
            <p:cNvGraphicFramePr>
              <a:graphicFrameLocks noChangeAspect="1"/>
            </p:cNvGraphicFramePr>
            <p:nvPr/>
          </p:nvGraphicFramePr>
          <p:xfrm>
            <a:off x="528" y="2208"/>
            <a:ext cx="86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31613" imgH="393529" progId="Equation.3">
                    <p:embed/>
                  </p:oleObj>
                </mc:Choice>
                <mc:Fallback>
                  <p:oleObj name="Equation" r:id="rId2" imgW="43161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208"/>
                          <a:ext cx="86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65" name="Text Box 5"/>
            <p:cNvSpPr txBox="1">
              <a:spLocks noChangeArrowheads="1"/>
            </p:cNvSpPr>
            <p:nvPr/>
          </p:nvSpPr>
          <p:spPr bwMode="auto">
            <a:xfrm>
              <a:off x="1296" y="2304"/>
              <a:ext cx="40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685800" y="1447800"/>
            <a:ext cx="1835150" cy="914400"/>
            <a:chOff x="624" y="960"/>
            <a:chExt cx="1156" cy="576"/>
          </a:xfrm>
        </p:grpSpPr>
        <p:sp>
          <p:nvSpPr>
            <p:cNvPr id="104562" name="Text Box 7"/>
            <p:cNvSpPr txBox="1">
              <a:spLocks noChangeArrowheads="1"/>
            </p:cNvSpPr>
            <p:nvPr/>
          </p:nvSpPr>
          <p:spPr bwMode="auto">
            <a:xfrm>
              <a:off x="1392" y="1056"/>
              <a:ext cx="38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  <p:graphicFrame>
          <p:nvGraphicFramePr>
            <p:cNvPr id="104563" name="Object 1051"/>
            <p:cNvGraphicFramePr>
              <a:graphicFrameLocks noChangeAspect="1"/>
            </p:cNvGraphicFramePr>
            <p:nvPr/>
          </p:nvGraphicFramePr>
          <p:xfrm>
            <a:off x="624" y="960"/>
            <a:ext cx="76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69696" imgH="444307" progId="Equation.3">
                    <p:embed/>
                  </p:oleObj>
                </mc:Choice>
                <mc:Fallback>
                  <p:oleObj name="Equation" r:id="rId4" imgW="469696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960"/>
                          <a:ext cx="76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85800" y="4191000"/>
            <a:ext cx="1597025" cy="1066800"/>
            <a:chOff x="528" y="2880"/>
            <a:chExt cx="1006" cy="672"/>
          </a:xfrm>
        </p:grpSpPr>
        <p:graphicFrame>
          <p:nvGraphicFramePr>
            <p:cNvPr id="104560" name="Object 1050"/>
            <p:cNvGraphicFramePr>
              <a:graphicFrameLocks noChangeAspect="1"/>
            </p:cNvGraphicFramePr>
            <p:nvPr/>
          </p:nvGraphicFramePr>
          <p:xfrm>
            <a:off x="528" y="2880"/>
            <a:ext cx="692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31613" imgH="444307" progId="Equation.3">
                    <p:embed/>
                  </p:oleObj>
                </mc:Choice>
                <mc:Fallback>
                  <p:oleObj name="Equation" r:id="rId6" imgW="431613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880"/>
                          <a:ext cx="692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61" name="Text Box 11"/>
            <p:cNvSpPr txBox="1">
              <a:spLocks noChangeArrowheads="1"/>
            </p:cNvSpPr>
            <p:nvPr/>
          </p:nvSpPr>
          <p:spPr bwMode="auto">
            <a:xfrm>
              <a:off x="1200" y="3024"/>
              <a:ext cx="334" cy="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685800" y="2362200"/>
            <a:ext cx="1819275" cy="914400"/>
            <a:chOff x="624" y="1584"/>
            <a:chExt cx="1146" cy="576"/>
          </a:xfrm>
        </p:grpSpPr>
        <p:graphicFrame>
          <p:nvGraphicFramePr>
            <p:cNvPr id="104558" name="Object 1049"/>
            <p:cNvGraphicFramePr>
              <a:graphicFrameLocks noChangeAspect="1"/>
            </p:cNvGraphicFramePr>
            <p:nvPr/>
          </p:nvGraphicFramePr>
          <p:xfrm>
            <a:off x="624" y="1584"/>
            <a:ext cx="76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31613" imgH="418918" progId="Equation.3">
                    <p:embed/>
                  </p:oleObj>
                </mc:Choice>
                <mc:Fallback>
                  <p:oleObj name="Equation" r:id="rId8" imgW="431613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584"/>
                          <a:ext cx="76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59" name="Text Box 14"/>
            <p:cNvSpPr txBox="1">
              <a:spLocks noChangeArrowheads="1"/>
            </p:cNvSpPr>
            <p:nvPr/>
          </p:nvSpPr>
          <p:spPr bwMode="auto">
            <a:xfrm>
              <a:off x="1296" y="1680"/>
              <a:ext cx="4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</p:grpSp>
      <p:sp>
        <p:nvSpPr>
          <p:cNvPr id="104454" name="Text Box 15"/>
          <p:cNvSpPr txBox="1">
            <a:spLocks noChangeArrowheads="1"/>
          </p:cNvSpPr>
          <p:nvPr/>
        </p:nvSpPr>
        <p:spPr bwMode="auto">
          <a:xfrm>
            <a:off x="4103688" y="219075"/>
            <a:ext cx="4732337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7620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defTabSz="7620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defTabSz="7620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defTabSz="7620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defTabSz="7620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>
              <a:buFont typeface="Wingdings" pitchFamily="2" charset="2"/>
              <a:buNone/>
            </a:pPr>
            <a:r>
              <a:rPr lang="en-US" altLang="zh-CN" dirty="0">
                <a:solidFill>
                  <a:srgbClr val="000099"/>
                </a:solidFill>
                <a:ea typeface="楷体_GB2312" pitchFamily="49" charset="-122"/>
              </a:rPr>
              <a:t>RLC series-connected circuit</a:t>
            </a:r>
            <a:endParaRPr lang="zh-CN" altLang="en-US" dirty="0">
              <a:solidFill>
                <a:srgbClr val="000099"/>
              </a:solidFill>
              <a:ea typeface="楷体_GB2312" pitchFamily="49" charset="-122"/>
            </a:endParaRPr>
          </a:p>
        </p:txBody>
      </p: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914400" y="1524000"/>
            <a:ext cx="1609725" cy="857250"/>
            <a:chOff x="720" y="1008"/>
            <a:chExt cx="1014" cy="540"/>
          </a:xfrm>
        </p:grpSpPr>
        <p:sp>
          <p:nvSpPr>
            <p:cNvPr id="104556" name="Text Box 17"/>
            <p:cNvSpPr txBox="1">
              <a:spLocks noChangeArrowheads="1"/>
            </p:cNvSpPr>
            <p:nvPr/>
          </p:nvSpPr>
          <p:spPr bwMode="auto">
            <a:xfrm>
              <a:off x="720" y="1008"/>
              <a:ext cx="381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zh-CN" sz="4000" i="1">
                  <a:solidFill>
                    <a:srgbClr val="FF0000"/>
                  </a:solidFill>
                  <a:ea typeface="楷体_GB2312" pitchFamily="49" charset="-122"/>
                  <a:sym typeface="Symbol" pitchFamily="18" charset="2"/>
                </a:rPr>
                <a:t></a:t>
              </a:r>
              <a:endParaRPr lang="en-US" altLang="zh-CN" sz="4000" i="1">
                <a:solidFill>
                  <a:schemeClr val="hlink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104557" name="Object 1048"/>
            <p:cNvGraphicFramePr>
              <a:graphicFrameLocks noChangeAspect="1"/>
            </p:cNvGraphicFramePr>
            <p:nvPr/>
          </p:nvGraphicFramePr>
          <p:xfrm>
            <a:off x="1392" y="1056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0" imgW="542857" imgH="590476" progId="Paint.Picture">
                    <p:embed/>
                  </p:oleObj>
                </mc:Choice>
                <mc:Fallback>
                  <p:oleObj name="位图图像" r:id="rId10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056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914400" y="2438400"/>
            <a:ext cx="1533525" cy="857250"/>
            <a:chOff x="768" y="1632"/>
            <a:chExt cx="966" cy="540"/>
          </a:xfrm>
        </p:grpSpPr>
        <p:sp>
          <p:nvSpPr>
            <p:cNvPr id="104554" name="Text Box 20"/>
            <p:cNvSpPr txBox="1">
              <a:spLocks noChangeArrowheads="1"/>
            </p:cNvSpPr>
            <p:nvPr/>
          </p:nvSpPr>
          <p:spPr bwMode="auto">
            <a:xfrm>
              <a:off x="768" y="1632"/>
              <a:ext cx="381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zh-CN" sz="4000" i="1">
                  <a:solidFill>
                    <a:srgbClr val="FF0000"/>
                  </a:solidFill>
                  <a:ea typeface="楷体_GB2312" pitchFamily="49" charset="-122"/>
                  <a:sym typeface="Symbol" pitchFamily="18" charset="2"/>
                </a:rPr>
                <a:t></a:t>
              </a:r>
              <a:endParaRPr lang="en-US" altLang="zh-CN" sz="4000" i="1">
                <a:solidFill>
                  <a:schemeClr val="hlink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104555" name="Object 1047"/>
            <p:cNvGraphicFramePr>
              <a:graphicFrameLocks noChangeAspect="1"/>
            </p:cNvGraphicFramePr>
            <p:nvPr/>
          </p:nvGraphicFramePr>
          <p:xfrm>
            <a:off x="1392" y="1680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2" imgW="542857" imgH="590476" progId="Paint.Picture">
                    <p:embed/>
                  </p:oleObj>
                </mc:Choice>
                <mc:Fallback>
                  <p:oleObj name="位图图像" r:id="rId12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680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990600" y="3429000"/>
            <a:ext cx="1457325" cy="590550"/>
            <a:chOff x="768" y="2304"/>
            <a:chExt cx="918" cy="372"/>
          </a:xfrm>
        </p:grpSpPr>
        <p:grpSp>
          <p:nvGrpSpPr>
            <p:cNvPr id="104550" name="Group 23"/>
            <p:cNvGrpSpPr>
              <a:grpSpLocks/>
            </p:cNvGrpSpPr>
            <p:nvPr/>
          </p:nvGrpSpPr>
          <p:grpSpPr bwMode="auto">
            <a:xfrm>
              <a:off x="768" y="2400"/>
              <a:ext cx="154" cy="266"/>
              <a:chOff x="3456" y="2064"/>
              <a:chExt cx="144" cy="480"/>
            </a:xfrm>
          </p:grpSpPr>
          <p:sp>
            <p:nvSpPr>
              <p:cNvPr id="104552" name="Line 24"/>
              <p:cNvSpPr>
                <a:spLocks noChangeShapeType="1"/>
              </p:cNvSpPr>
              <p:nvPr/>
            </p:nvSpPr>
            <p:spPr bwMode="auto">
              <a:xfrm flipH="1"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53" name="Line 25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4551" name="Object 1046"/>
            <p:cNvGraphicFramePr>
              <a:graphicFrameLocks noChangeAspect="1"/>
            </p:cNvGraphicFramePr>
            <p:nvPr/>
          </p:nvGraphicFramePr>
          <p:xfrm>
            <a:off x="1344" y="2304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2" imgW="542857" imgH="590476" progId="Paint.Picture">
                    <p:embed/>
                  </p:oleObj>
                </mc:Choice>
                <mc:Fallback>
                  <p:oleObj name="位图图像" r:id="rId12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304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7"/>
          <p:cNvGrpSpPr>
            <a:grpSpLocks/>
          </p:cNvGrpSpPr>
          <p:nvPr/>
        </p:nvGrpSpPr>
        <p:grpSpPr bwMode="auto">
          <a:xfrm>
            <a:off x="457200" y="5181600"/>
            <a:ext cx="1901825" cy="946150"/>
            <a:chOff x="480" y="3264"/>
            <a:chExt cx="1198" cy="596"/>
          </a:xfrm>
        </p:grpSpPr>
        <p:graphicFrame>
          <p:nvGraphicFramePr>
            <p:cNvPr id="104548" name="Object 1045"/>
            <p:cNvGraphicFramePr>
              <a:graphicFrameLocks noChangeAspect="1"/>
            </p:cNvGraphicFramePr>
            <p:nvPr/>
          </p:nvGraphicFramePr>
          <p:xfrm>
            <a:off x="480" y="3264"/>
            <a:ext cx="947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69900" imgH="469900" progId="Equation.3">
                    <p:embed/>
                  </p:oleObj>
                </mc:Choice>
                <mc:Fallback>
                  <p:oleObj name="Equation" r:id="rId13" imgW="469900" imgH="469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264"/>
                          <a:ext cx="947" cy="5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49" name="Text Box 29"/>
            <p:cNvSpPr txBox="1">
              <a:spLocks noChangeArrowheads="1"/>
            </p:cNvSpPr>
            <p:nvPr/>
          </p:nvSpPr>
          <p:spPr bwMode="auto">
            <a:xfrm>
              <a:off x="1344" y="3360"/>
              <a:ext cx="33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</p:grpSp>
      <p:grpSp>
        <p:nvGrpSpPr>
          <p:cNvPr id="11" name="Group 30"/>
          <p:cNvGrpSpPr>
            <a:grpSpLocks/>
          </p:cNvGrpSpPr>
          <p:nvPr/>
        </p:nvGrpSpPr>
        <p:grpSpPr bwMode="auto">
          <a:xfrm>
            <a:off x="914400" y="4343400"/>
            <a:ext cx="1457325" cy="590550"/>
            <a:chOff x="768" y="2304"/>
            <a:chExt cx="918" cy="372"/>
          </a:xfrm>
        </p:grpSpPr>
        <p:grpSp>
          <p:nvGrpSpPr>
            <p:cNvPr id="104544" name="Group 31"/>
            <p:cNvGrpSpPr>
              <a:grpSpLocks/>
            </p:cNvGrpSpPr>
            <p:nvPr/>
          </p:nvGrpSpPr>
          <p:grpSpPr bwMode="auto">
            <a:xfrm>
              <a:off x="768" y="2400"/>
              <a:ext cx="154" cy="266"/>
              <a:chOff x="3456" y="2064"/>
              <a:chExt cx="144" cy="480"/>
            </a:xfrm>
          </p:grpSpPr>
          <p:sp>
            <p:nvSpPr>
              <p:cNvPr id="104546" name="Line 32"/>
              <p:cNvSpPr>
                <a:spLocks noChangeShapeType="1"/>
              </p:cNvSpPr>
              <p:nvPr/>
            </p:nvSpPr>
            <p:spPr bwMode="auto">
              <a:xfrm flipH="1"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47" name="Line 33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4545" name="Object 1044"/>
            <p:cNvGraphicFramePr>
              <a:graphicFrameLocks noChangeAspect="1"/>
            </p:cNvGraphicFramePr>
            <p:nvPr/>
          </p:nvGraphicFramePr>
          <p:xfrm>
            <a:off x="1344" y="2304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2" imgW="542857" imgH="590476" progId="Paint.Picture">
                    <p:embed/>
                  </p:oleObj>
                </mc:Choice>
                <mc:Fallback>
                  <p:oleObj name="位图图像" r:id="rId12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304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35"/>
          <p:cNvGrpSpPr>
            <a:grpSpLocks/>
          </p:cNvGrpSpPr>
          <p:nvPr/>
        </p:nvGrpSpPr>
        <p:grpSpPr bwMode="auto">
          <a:xfrm>
            <a:off x="914400" y="5257800"/>
            <a:ext cx="1457325" cy="590550"/>
            <a:chOff x="768" y="2304"/>
            <a:chExt cx="918" cy="372"/>
          </a:xfrm>
        </p:grpSpPr>
        <p:grpSp>
          <p:nvGrpSpPr>
            <p:cNvPr id="104540" name="Group 36"/>
            <p:cNvGrpSpPr>
              <a:grpSpLocks/>
            </p:cNvGrpSpPr>
            <p:nvPr/>
          </p:nvGrpSpPr>
          <p:grpSpPr bwMode="auto">
            <a:xfrm>
              <a:off x="768" y="2400"/>
              <a:ext cx="154" cy="266"/>
              <a:chOff x="3456" y="2064"/>
              <a:chExt cx="144" cy="480"/>
            </a:xfrm>
          </p:grpSpPr>
          <p:sp>
            <p:nvSpPr>
              <p:cNvPr id="104542" name="Line 37"/>
              <p:cNvSpPr>
                <a:spLocks noChangeShapeType="1"/>
              </p:cNvSpPr>
              <p:nvPr/>
            </p:nvSpPr>
            <p:spPr bwMode="auto">
              <a:xfrm flipH="1"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43" name="Line 38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4541" name="Object 1043"/>
            <p:cNvGraphicFramePr>
              <a:graphicFrameLocks noChangeAspect="1"/>
            </p:cNvGraphicFramePr>
            <p:nvPr/>
          </p:nvGraphicFramePr>
          <p:xfrm>
            <a:off x="1344" y="2304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2" imgW="542857" imgH="590476" progId="Paint.Picture">
                    <p:embed/>
                  </p:oleObj>
                </mc:Choice>
                <mc:Fallback>
                  <p:oleObj name="位图图像" r:id="rId12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304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40" name="Line 40"/>
          <p:cNvSpPr>
            <a:spLocks noChangeShapeType="1"/>
          </p:cNvSpPr>
          <p:nvPr/>
        </p:nvSpPr>
        <p:spPr bwMode="auto">
          <a:xfrm flipH="1">
            <a:off x="2057400" y="1600200"/>
            <a:ext cx="0" cy="4572000"/>
          </a:xfrm>
          <a:prstGeom prst="line">
            <a:avLst/>
          </a:prstGeom>
          <a:noFill/>
          <a:ln w="38100">
            <a:solidFill>
              <a:srgbClr val="0000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2212975" y="4908550"/>
            <a:ext cx="3502025" cy="990600"/>
            <a:chOff x="1440" y="1268"/>
            <a:chExt cx="2206" cy="624"/>
          </a:xfrm>
        </p:grpSpPr>
        <p:sp>
          <p:nvSpPr>
            <p:cNvPr id="104538" name="Text Box 42"/>
            <p:cNvSpPr txBox="1">
              <a:spLocks noChangeArrowheads="1"/>
            </p:cNvSpPr>
            <p:nvPr/>
          </p:nvSpPr>
          <p:spPr bwMode="auto">
            <a:xfrm>
              <a:off x="3312" y="1344"/>
              <a:ext cx="33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  <p:graphicFrame>
          <p:nvGraphicFramePr>
            <p:cNvPr id="104539" name="Object 1042"/>
            <p:cNvGraphicFramePr>
              <a:graphicFrameLocks noChangeAspect="1"/>
            </p:cNvGraphicFramePr>
            <p:nvPr/>
          </p:nvGraphicFramePr>
          <p:xfrm>
            <a:off x="1440" y="1268"/>
            <a:ext cx="2031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69449" imgH="393529" progId="Equation.3">
                    <p:embed/>
                  </p:oleObj>
                </mc:Choice>
                <mc:Fallback>
                  <p:oleObj name="Equation" r:id="rId15" imgW="1269449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268"/>
                          <a:ext cx="2031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44"/>
          <p:cNvGrpSpPr>
            <a:grpSpLocks/>
          </p:cNvGrpSpPr>
          <p:nvPr/>
        </p:nvGrpSpPr>
        <p:grpSpPr bwMode="auto">
          <a:xfrm>
            <a:off x="2209800" y="3048000"/>
            <a:ext cx="3654425" cy="914400"/>
            <a:chOff x="1392" y="1920"/>
            <a:chExt cx="2302" cy="576"/>
          </a:xfrm>
        </p:grpSpPr>
        <p:sp>
          <p:nvSpPr>
            <p:cNvPr id="104536" name="Text Box 45"/>
            <p:cNvSpPr txBox="1">
              <a:spLocks noChangeArrowheads="1"/>
            </p:cNvSpPr>
            <p:nvPr/>
          </p:nvSpPr>
          <p:spPr bwMode="auto">
            <a:xfrm>
              <a:off x="3360" y="2016"/>
              <a:ext cx="33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  <p:graphicFrame>
          <p:nvGraphicFramePr>
            <p:cNvPr id="104537" name="Object 1041"/>
            <p:cNvGraphicFramePr>
              <a:graphicFrameLocks noChangeAspect="1"/>
            </p:cNvGraphicFramePr>
            <p:nvPr/>
          </p:nvGraphicFramePr>
          <p:xfrm>
            <a:off x="1392" y="1920"/>
            <a:ext cx="2092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307532" imgH="393529" progId="Equation.3">
                    <p:embed/>
                  </p:oleObj>
                </mc:Choice>
                <mc:Fallback>
                  <p:oleObj name="Equation" r:id="rId17" imgW="1307532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920"/>
                          <a:ext cx="2092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47"/>
          <p:cNvGrpSpPr>
            <a:grpSpLocks/>
          </p:cNvGrpSpPr>
          <p:nvPr/>
        </p:nvGrpSpPr>
        <p:grpSpPr bwMode="auto">
          <a:xfrm>
            <a:off x="2133600" y="1885950"/>
            <a:ext cx="3654425" cy="1085850"/>
            <a:chOff x="1344" y="3072"/>
            <a:chExt cx="2302" cy="684"/>
          </a:xfrm>
        </p:grpSpPr>
        <p:graphicFrame>
          <p:nvGraphicFramePr>
            <p:cNvPr id="104534" name="Object 1040"/>
            <p:cNvGraphicFramePr>
              <a:graphicFrameLocks noChangeAspect="1"/>
            </p:cNvGraphicFramePr>
            <p:nvPr/>
          </p:nvGraphicFramePr>
          <p:xfrm>
            <a:off x="1344" y="3072"/>
            <a:ext cx="2031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9449" imgH="431613" progId="Equation.3">
                    <p:embed/>
                  </p:oleObj>
                </mc:Choice>
                <mc:Fallback>
                  <p:oleObj name="Equation" r:id="rId19" imgW="1269449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072"/>
                          <a:ext cx="2031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35" name="Text Box 49"/>
            <p:cNvSpPr txBox="1">
              <a:spLocks noChangeArrowheads="1"/>
            </p:cNvSpPr>
            <p:nvPr/>
          </p:nvSpPr>
          <p:spPr bwMode="auto">
            <a:xfrm>
              <a:off x="3312" y="3168"/>
              <a:ext cx="334" cy="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</p:grpSp>
      <p:grpSp>
        <p:nvGrpSpPr>
          <p:cNvPr id="18" name="Group 50"/>
          <p:cNvGrpSpPr>
            <a:grpSpLocks/>
          </p:cNvGrpSpPr>
          <p:nvPr/>
        </p:nvGrpSpPr>
        <p:grpSpPr bwMode="auto">
          <a:xfrm>
            <a:off x="2438400" y="2057400"/>
            <a:ext cx="3514725" cy="857250"/>
            <a:chOff x="2064" y="1344"/>
            <a:chExt cx="2214" cy="540"/>
          </a:xfrm>
        </p:grpSpPr>
        <p:sp>
          <p:nvSpPr>
            <p:cNvPr id="104532" name="Text Box 51"/>
            <p:cNvSpPr txBox="1">
              <a:spLocks noChangeArrowheads="1"/>
            </p:cNvSpPr>
            <p:nvPr/>
          </p:nvSpPr>
          <p:spPr bwMode="auto">
            <a:xfrm>
              <a:off x="2064" y="1344"/>
              <a:ext cx="381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zh-CN" sz="4000" i="1">
                  <a:solidFill>
                    <a:srgbClr val="FF0000"/>
                  </a:solidFill>
                  <a:ea typeface="楷体_GB2312" pitchFamily="49" charset="-122"/>
                  <a:sym typeface="Symbol" pitchFamily="18" charset="2"/>
                </a:rPr>
                <a:t></a:t>
              </a:r>
              <a:endParaRPr lang="en-US" altLang="zh-CN" sz="4000" i="1">
                <a:solidFill>
                  <a:schemeClr val="hlink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104533" name="Object 1039"/>
            <p:cNvGraphicFramePr>
              <a:graphicFrameLocks noChangeAspect="1"/>
            </p:cNvGraphicFramePr>
            <p:nvPr/>
          </p:nvGraphicFramePr>
          <p:xfrm>
            <a:off x="3936" y="1392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2" imgW="542857" imgH="590476" progId="Paint.Picture">
                    <p:embed/>
                  </p:oleObj>
                </mc:Choice>
                <mc:Fallback>
                  <p:oleObj name="位图图像" r:id="rId12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392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53"/>
          <p:cNvGrpSpPr>
            <a:grpSpLocks/>
          </p:cNvGrpSpPr>
          <p:nvPr/>
        </p:nvGrpSpPr>
        <p:grpSpPr bwMode="auto">
          <a:xfrm>
            <a:off x="2438400" y="3124200"/>
            <a:ext cx="3514725" cy="857250"/>
            <a:chOff x="2064" y="1344"/>
            <a:chExt cx="2214" cy="540"/>
          </a:xfrm>
        </p:grpSpPr>
        <p:sp>
          <p:nvSpPr>
            <p:cNvPr id="104530" name="Text Box 54"/>
            <p:cNvSpPr txBox="1">
              <a:spLocks noChangeArrowheads="1"/>
            </p:cNvSpPr>
            <p:nvPr/>
          </p:nvSpPr>
          <p:spPr bwMode="auto">
            <a:xfrm>
              <a:off x="2064" y="1344"/>
              <a:ext cx="381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zh-CN" sz="4000" i="1">
                  <a:solidFill>
                    <a:srgbClr val="FF0000"/>
                  </a:solidFill>
                  <a:ea typeface="楷体_GB2312" pitchFamily="49" charset="-122"/>
                  <a:sym typeface="Symbol" pitchFamily="18" charset="2"/>
                </a:rPr>
                <a:t></a:t>
              </a:r>
              <a:endParaRPr lang="en-US" altLang="zh-CN" sz="4000" i="1">
                <a:solidFill>
                  <a:schemeClr val="hlink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104531" name="Object 1038"/>
            <p:cNvGraphicFramePr>
              <a:graphicFrameLocks noChangeAspect="1"/>
            </p:cNvGraphicFramePr>
            <p:nvPr/>
          </p:nvGraphicFramePr>
          <p:xfrm>
            <a:off x="3936" y="1392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1" imgW="542857" imgH="590476" progId="Paint.Picture">
                    <p:embed/>
                  </p:oleObj>
                </mc:Choice>
                <mc:Fallback>
                  <p:oleObj name="位图图像" r:id="rId21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392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56"/>
          <p:cNvGrpSpPr>
            <a:grpSpLocks/>
          </p:cNvGrpSpPr>
          <p:nvPr/>
        </p:nvGrpSpPr>
        <p:grpSpPr bwMode="auto">
          <a:xfrm>
            <a:off x="2514600" y="5029200"/>
            <a:ext cx="3362325" cy="590550"/>
            <a:chOff x="1584" y="3168"/>
            <a:chExt cx="2118" cy="372"/>
          </a:xfrm>
        </p:grpSpPr>
        <p:grpSp>
          <p:nvGrpSpPr>
            <p:cNvPr id="104526" name="Group 57"/>
            <p:cNvGrpSpPr>
              <a:grpSpLocks/>
            </p:cNvGrpSpPr>
            <p:nvPr/>
          </p:nvGrpSpPr>
          <p:grpSpPr bwMode="auto">
            <a:xfrm>
              <a:off x="1584" y="3264"/>
              <a:ext cx="154" cy="266"/>
              <a:chOff x="3456" y="2064"/>
              <a:chExt cx="144" cy="480"/>
            </a:xfrm>
          </p:grpSpPr>
          <p:sp>
            <p:nvSpPr>
              <p:cNvPr id="104528" name="Line 58"/>
              <p:cNvSpPr>
                <a:spLocks noChangeShapeType="1"/>
              </p:cNvSpPr>
              <p:nvPr/>
            </p:nvSpPr>
            <p:spPr bwMode="auto">
              <a:xfrm flipH="1"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29" name="Line 59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4527" name="Object 1037"/>
            <p:cNvGraphicFramePr>
              <a:graphicFrameLocks noChangeAspect="1"/>
            </p:cNvGraphicFramePr>
            <p:nvPr/>
          </p:nvGraphicFramePr>
          <p:xfrm>
            <a:off x="3360" y="3168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1" imgW="542857" imgH="590476" progId="Paint.Picture">
                    <p:embed/>
                  </p:oleObj>
                </mc:Choice>
                <mc:Fallback>
                  <p:oleObj name="位图图像" r:id="rId21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168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61"/>
          <p:cNvGrpSpPr>
            <a:grpSpLocks/>
          </p:cNvGrpSpPr>
          <p:nvPr/>
        </p:nvGrpSpPr>
        <p:grpSpPr bwMode="auto">
          <a:xfrm>
            <a:off x="5884863" y="1600200"/>
            <a:ext cx="2978150" cy="887413"/>
            <a:chOff x="3696" y="1680"/>
            <a:chExt cx="1876" cy="559"/>
          </a:xfrm>
        </p:grpSpPr>
        <p:sp>
          <p:nvSpPr>
            <p:cNvPr id="104524" name="Text Box 62"/>
            <p:cNvSpPr txBox="1">
              <a:spLocks noChangeArrowheads="1"/>
            </p:cNvSpPr>
            <p:nvPr/>
          </p:nvSpPr>
          <p:spPr bwMode="auto">
            <a:xfrm>
              <a:off x="5184" y="1728"/>
              <a:ext cx="38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  <p:graphicFrame>
          <p:nvGraphicFramePr>
            <p:cNvPr id="104525" name="Object 1036"/>
            <p:cNvGraphicFramePr>
              <a:graphicFrameLocks noChangeAspect="1"/>
            </p:cNvGraphicFramePr>
            <p:nvPr/>
          </p:nvGraphicFramePr>
          <p:xfrm>
            <a:off x="3696" y="1680"/>
            <a:ext cx="1536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091726" imgH="431613" progId="Equation.3">
                    <p:embed/>
                  </p:oleObj>
                </mc:Choice>
                <mc:Fallback>
                  <p:oleObj name="Equation" r:id="rId22" imgW="1091726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680"/>
                          <a:ext cx="1536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64"/>
          <p:cNvGrpSpPr>
            <a:grpSpLocks/>
          </p:cNvGrpSpPr>
          <p:nvPr/>
        </p:nvGrpSpPr>
        <p:grpSpPr bwMode="auto">
          <a:xfrm>
            <a:off x="5815013" y="2743200"/>
            <a:ext cx="3048000" cy="641350"/>
            <a:chOff x="3840" y="1632"/>
            <a:chExt cx="1920" cy="404"/>
          </a:xfrm>
        </p:grpSpPr>
        <p:sp>
          <p:nvSpPr>
            <p:cNvPr id="104522" name="Text Box 65"/>
            <p:cNvSpPr txBox="1">
              <a:spLocks noChangeArrowheads="1"/>
            </p:cNvSpPr>
            <p:nvPr/>
          </p:nvSpPr>
          <p:spPr bwMode="auto">
            <a:xfrm>
              <a:off x="5372" y="1632"/>
              <a:ext cx="38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  <p:graphicFrame>
          <p:nvGraphicFramePr>
            <p:cNvPr id="104523" name="Object 1035"/>
            <p:cNvGraphicFramePr>
              <a:graphicFrameLocks noChangeAspect="1"/>
            </p:cNvGraphicFramePr>
            <p:nvPr/>
          </p:nvGraphicFramePr>
          <p:xfrm>
            <a:off x="3840" y="1680"/>
            <a:ext cx="1625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155700" imgH="228600" progId="Equation.3">
                    <p:embed/>
                  </p:oleObj>
                </mc:Choice>
                <mc:Fallback>
                  <p:oleObj name="Equation" r:id="rId24" imgW="1155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680"/>
                          <a:ext cx="1625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67"/>
          <p:cNvGrpSpPr>
            <a:grpSpLocks/>
          </p:cNvGrpSpPr>
          <p:nvPr/>
        </p:nvGrpSpPr>
        <p:grpSpPr bwMode="auto">
          <a:xfrm>
            <a:off x="5967413" y="3581400"/>
            <a:ext cx="2895600" cy="641350"/>
            <a:chOff x="3936" y="2256"/>
            <a:chExt cx="1824" cy="404"/>
          </a:xfrm>
        </p:grpSpPr>
        <p:sp>
          <p:nvSpPr>
            <p:cNvPr id="104520" name="Text Box 68"/>
            <p:cNvSpPr txBox="1">
              <a:spLocks noChangeArrowheads="1"/>
            </p:cNvSpPr>
            <p:nvPr/>
          </p:nvSpPr>
          <p:spPr bwMode="auto">
            <a:xfrm>
              <a:off x="5372" y="2256"/>
              <a:ext cx="38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  <p:graphicFrame>
          <p:nvGraphicFramePr>
            <p:cNvPr id="104521" name="Object 1034"/>
            <p:cNvGraphicFramePr>
              <a:graphicFrameLocks noChangeAspect="1"/>
            </p:cNvGraphicFramePr>
            <p:nvPr/>
          </p:nvGraphicFramePr>
          <p:xfrm>
            <a:off x="3936" y="2256"/>
            <a:ext cx="144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028700" imgH="228600" progId="Equation.3">
                    <p:embed/>
                  </p:oleObj>
                </mc:Choice>
                <mc:Fallback>
                  <p:oleObj name="Equation" r:id="rId26" imgW="1028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256"/>
                          <a:ext cx="1446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70"/>
          <p:cNvGrpSpPr>
            <a:grpSpLocks/>
          </p:cNvGrpSpPr>
          <p:nvPr/>
        </p:nvGrpSpPr>
        <p:grpSpPr bwMode="auto">
          <a:xfrm>
            <a:off x="5738813" y="5257800"/>
            <a:ext cx="3405187" cy="641350"/>
            <a:chOff x="3715" y="3264"/>
            <a:chExt cx="2145" cy="404"/>
          </a:xfrm>
        </p:grpSpPr>
        <p:sp>
          <p:nvSpPr>
            <p:cNvPr id="104518" name="Text Box 71"/>
            <p:cNvSpPr txBox="1">
              <a:spLocks noChangeArrowheads="1"/>
            </p:cNvSpPr>
            <p:nvPr/>
          </p:nvSpPr>
          <p:spPr bwMode="auto">
            <a:xfrm>
              <a:off x="5472" y="3264"/>
              <a:ext cx="38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  <p:graphicFrame>
          <p:nvGraphicFramePr>
            <p:cNvPr id="104519" name="Object 1033"/>
            <p:cNvGraphicFramePr>
              <a:graphicFrameLocks noChangeAspect="1"/>
            </p:cNvGraphicFramePr>
            <p:nvPr/>
          </p:nvGraphicFramePr>
          <p:xfrm>
            <a:off x="3715" y="3312"/>
            <a:ext cx="1804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282700" imgH="228600" progId="Equation.3">
                    <p:embed/>
                  </p:oleObj>
                </mc:Choice>
                <mc:Fallback>
                  <p:oleObj name="Equation" r:id="rId28" imgW="12827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5" y="3312"/>
                          <a:ext cx="1804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73"/>
          <p:cNvGrpSpPr>
            <a:grpSpLocks/>
          </p:cNvGrpSpPr>
          <p:nvPr/>
        </p:nvGrpSpPr>
        <p:grpSpPr bwMode="auto">
          <a:xfrm>
            <a:off x="2209800" y="3962400"/>
            <a:ext cx="3995738" cy="914400"/>
            <a:chOff x="1344" y="2448"/>
            <a:chExt cx="2517" cy="576"/>
          </a:xfrm>
        </p:grpSpPr>
        <p:graphicFrame>
          <p:nvGraphicFramePr>
            <p:cNvPr id="104516" name="Object 1032"/>
            <p:cNvGraphicFramePr>
              <a:graphicFrameLocks noChangeAspect="1"/>
            </p:cNvGraphicFramePr>
            <p:nvPr/>
          </p:nvGraphicFramePr>
          <p:xfrm>
            <a:off x="1344" y="2448"/>
            <a:ext cx="221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384300" imgH="393700" progId="Equation.3">
                    <p:embed/>
                  </p:oleObj>
                </mc:Choice>
                <mc:Fallback>
                  <p:oleObj name="Equation" r:id="rId30" imgW="13843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448"/>
                          <a:ext cx="221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17" name="Rectangle 75"/>
            <p:cNvSpPr>
              <a:spLocks noChangeArrowheads="1"/>
            </p:cNvSpPr>
            <p:nvPr/>
          </p:nvSpPr>
          <p:spPr bwMode="auto">
            <a:xfrm>
              <a:off x="3456" y="2544"/>
              <a:ext cx="40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00">
                  <a:solidFill>
                    <a:srgbClr val="FF0000"/>
                  </a:solidFill>
                </a:rPr>
                <a:t>？</a:t>
              </a:r>
            </a:p>
          </p:txBody>
        </p:sp>
      </p:grpSp>
      <p:grpSp>
        <p:nvGrpSpPr>
          <p:cNvPr id="27" name="Group 76"/>
          <p:cNvGrpSpPr>
            <a:grpSpLocks/>
          </p:cNvGrpSpPr>
          <p:nvPr/>
        </p:nvGrpSpPr>
        <p:grpSpPr bwMode="auto">
          <a:xfrm>
            <a:off x="2514600" y="4191000"/>
            <a:ext cx="3590925" cy="590550"/>
            <a:chOff x="2112" y="3264"/>
            <a:chExt cx="2262" cy="372"/>
          </a:xfrm>
        </p:grpSpPr>
        <p:grpSp>
          <p:nvGrpSpPr>
            <p:cNvPr id="104512" name="Group 77"/>
            <p:cNvGrpSpPr>
              <a:grpSpLocks/>
            </p:cNvGrpSpPr>
            <p:nvPr/>
          </p:nvGrpSpPr>
          <p:grpSpPr bwMode="auto">
            <a:xfrm>
              <a:off x="2112" y="3264"/>
              <a:ext cx="154" cy="266"/>
              <a:chOff x="3456" y="2064"/>
              <a:chExt cx="144" cy="480"/>
            </a:xfrm>
          </p:grpSpPr>
          <p:sp>
            <p:nvSpPr>
              <p:cNvPr id="104514" name="Line 78"/>
              <p:cNvSpPr>
                <a:spLocks noChangeShapeType="1"/>
              </p:cNvSpPr>
              <p:nvPr/>
            </p:nvSpPr>
            <p:spPr bwMode="auto">
              <a:xfrm flipH="1"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15" name="Line 79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4513" name="Object 1031"/>
            <p:cNvGraphicFramePr>
              <a:graphicFrameLocks noChangeAspect="1"/>
            </p:cNvGraphicFramePr>
            <p:nvPr/>
          </p:nvGraphicFramePr>
          <p:xfrm>
            <a:off x="4032" y="3264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1" imgW="542857" imgH="590476" progId="Paint.Picture">
                    <p:embed/>
                  </p:oleObj>
                </mc:Choice>
                <mc:Fallback>
                  <p:oleObj name="位图图像" r:id="rId21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264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81" name="Line 81"/>
          <p:cNvSpPr>
            <a:spLocks noChangeShapeType="1"/>
          </p:cNvSpPr>
          <p:nvPr/>
        </p:nvSpPr>
        <p:spPr bwMode="auto">
          <a:xfrm flipH="1">
            <a:off x="5715000" y="1676400"/>
            <a:ext cx="0" cy="4572000"/>
          </a:xfrm>
          <a:prstGeom prst="line">
            <a:avLst/>
          </a:prstGeom>
          <a:noFill/>
          <a:ln w="38100">
            <a:solidFill>
              <a:srgbClr val="0000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" name="Group 82"/>
          <p:cNvGrpSpPr>
            <a:grpSpLocks/>
          </p:cNvGrpSpPr>
          <p:nvPr/>
        </p:nvGrpSpPr>
        <p:grpSpPr bwMode="auto">
          <a:xfrm>
            <a:off x="6172200" y="1752600"/>
            <a:ext cx="2676525" cy="590550"/>
            <a:chOff x="3888" y="1104"/>
            <a:chExt cx="1686" cy="372"/>
          </a:xfrm>
        </p:grpSpPr>
        <p:grpSp>
          <p:nvGrpSpPr>
            <p:cNvPr id="104508" name="Group 83"/>
            <p:cNvGrpSpPr>
              <a:grpSpLocks/>
            </p:cNvGrpSpPr>
            <p:nvPr/>
          </p:nvGrpSpPr>
          <p:grpSpPr bwMode="auto">
            <a:xfrm>
              <a:off x="3888" y="1152"/>
              <a:ext cx="154" cy="266"/>
              <a:chOff x="3456" y="2064"/>
              <a:chExt cx="144" cy="480"/>
            </a:xfrm>
          </p:grpSpPr>
          <p:sp>
            <p:nvSpPr>
              <p:cNvPr id="104510" name="Line 84"/>
              <p:cNvSpPr>
                <a:spLocks noChangeShapeType="1"/>
              </p:cNvSpPr>
              <p:nvPr/>
            </p:nvSpPr>
            <p:spPr bwMode="auto">
              <a:xfrm flipH="1"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11" name="Line 85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4509" name="Object 1030"/>
            <p:cNvGraphicFramePr>
              <a:graphicFrameLocks noChangeAspect="1"/>
            </p:cNvGraphicFramePr>
            <p:nvPr/>
          </p:nvGraphicFramePr>
          <p:xfrm>
            <a:off x="5232" y="1104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1" imgW="542857" imgH="590476" progId="Paint.Picture">
                    <p:embed/>
                  </p:oleObj>
                </mc:Choice>
                <mc:Fallback>
                  <p:oleObj name="位图图像" r:id="rId21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104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87"/>
          <p:cNvGrpSpPr>
            <a:grpSpLocks/>
          </p:cNvGrpSpPr>
          <p:nvPr/>
        </p:nvGrpSpPr>
        <p:grpSpPr bwMode="auto">
          <a:xfrm>
            <a:off x="6172200" y="2743200"/>
            <a:ext cx="2676525" cy="590550"/>
            <a:chOff x="3888" y="1104"/>
            <a:chExt cx="1686" cy="372"/>
          </a:xfrm>
        </p:grpSpPr>
        <p:grpSp>
          <p:nvGrpSpPr>
            <p:cNvPr id="104504" name="Group 88"/>
            <p:cNvGrpSpPr>
              <a:grpSpLocks/>
            </p:cNvGrpSpPr>
            <p:nvPr/>
          </p:nvGrpSpPr>
          <p:grpSpPr bwMode="auto">
            <a:xfrm>
              <a:off x="3888" y="1152"/>
              <a:ext cx="154" cy="266"/>
              <a:chOff x="3456" y="2064"/>
              <a:chExt cx="144" cy="480"/>
            </a:xfrm>
          </p:grpSpPr>
          <p:sp>
            <p:nvSpPr>
              <p:cNvPr id="104506" name="Line 89"/>
              <p:cNvSpPr>
                <a:spLocks noChangeShapeType="1"/>
              </p:cNvSpPr>
              <p:nvPr/>
            </p:nvSpPr>
            <p:spPr bwMode="auto">
              <a:xfrm flipH="1"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07" name="Line 90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4505" name="Object 1029"/>
            <p:cNvGraphicFramePr>
              <a:graphicFrameLocks noChangeAspect="1"/>
            </p:cNvGraphicFramePr>
            <p:nvPr/>
          </p:nvGraphicFramePr>
          <p:xfrm>
            <a:off x="5232" y="1104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2" imgW="542857" imgH="590476" progId="Paint.Picture">
                    <p:embed/>
                  </p:oleObj>
                </mc:Choice>
                <mc:Fallback>
                  <p:oleObj name="位图图像" r:id="rId32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104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65" name="Group 92"/>
          <p:cNvGrpSpPr>
            <a:grpSpLocks/>
          </p:cNvGrpSpPr>
          <p:nvPr/>
        </p:nvGrpSpPr>
        <p:grpSpPr bwMode="auto">
          <a:xfrm>
            <a:off x="6172200" y="3505200"/>
            <a:ext cx="2600325" cy="857250"/>
            <a:chOff x="3888" y="2208"/>
            <a:chExt cx="1638" cy="540"/>
          </a:xfrm>
        </p:grpSpPr>
        <p:sp>
          <p:nvSpPr>
            <p:cNvPr id="104502" name="Text Box 93"/>
            <p:cNvSpPr txBox="1">
              <a:spLocks noChangeArrowheads="1"/>
            </p:cNvSpPr>
            <p:nvPr/>
          </p:nvSpPr>
          <p:spPr bwMode="auto">
            <a:xfrm>
              <a:off x="3888" y="2208"/>
              <a:ext cx="381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defTabSz="762000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zh-CN" sz="4000" i="1">
                  <a:solidFill>
                    <a:srgbClr val="FF0000"/>
                  </a:solidFill>
                  <a:ea typeface="楷体_GB2312" pitchFamily="49" charset="-122"/>
                  <a:sym typeface="Symbol" pitchFamily="18" charset="2"/>
                </a:rPr>
                <a:t></a:t>
              </a:r>
              <a:endParaRPr lang="en-US" altLang="zh-CN" sz="4000" i="1">
                <a:solidFill>
                  <a:schemeClr val="hlink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104503" name="Object 1028"/>
            <p:cNvGraphicFramePr>
              <a:graphicFrameLocks noChangeAspect="1"/>
            </p:cNvGraphicFramePr>
            <p:nvPr/>
          </p:nvGraphicFramePr>
          <p:xfrm>
            <a:off x="5184" y="2256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2" imgW="542857" imgH="590476" progId="Paint.Picture">
                    <p:embed/>
                  </p:oleObj>
                </mc:Choice>
                <mc:Fallback>
                  <p:oleObj name="位图图像" r:id="rId32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256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66" name="Group 95"/>
          <p:cNvGrpSpPr>
            <a:grpSpLocks/>
          </p:cNvGrpSpPr>
          <p:nvPr/>
        </p:nvGrpSpPr>
        <p:grpSpPr bwMode="auto">
          <a:xfrm>
            <a:off x="5867400" y="4343400"/>
            <a:ext cx="3048000" cy="641350"/>
            <a:chOff x="3840" y="2784"/>
            <a:chExt cx="1920" cy="404"/>
          </a:xfrm>
        </p:grpSpPr>
        <p:sp>
          <p:nvSpPr>
            <p:cNvPr id="104500" name="Text Box 96"/>
            <p:cNvSpPr txBox="1">
              <a:spLocks noChangeArrowheads="1"/>
            </p:cNvSpPr>
            <p:nvPr/>
          </p:nvSpPr>
          <p:spPr bwMode="auto">
            <a:xfrm>
              <a:off x="5372" y="2784"/>
              <a:ext cx="38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r>
                <a:rPr lang="zh-CN" altLang="en-US" sz="3600" i="1">
                  <a:solidFill>
                    <a:srgbClr val="FF0000"/>
                  </a:solidFill>
                  <a:ea typeface="楷体_GB2312" pitchFamily="49" charset="-122"/>
                </a:rPr>
                <a:t>？</a:t>
              </a:r>
            </a:p>
          </p:txBody>
        </p:sp>
        <p:graphicFrame>
          <p:nvGraphicFramePr>
            <p:cNvPr id="104501" name="Object 1027"/>
            <p:cNvGraphicFramePr>
              <a:graphicFrameLocks noChangeAspect="1"/>
            </p:cNvGraphicFramePr>
            <p:nvPr/>
          </p:nvGraphicFramePr>
          <p:xfrm>
            <a:off x="3840" y="2832"/>
            <a:ext cx="1554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104900" imgH="228600" progId="Equation.3">
                    <p:embed/>
                  </p:oleObj>
                </mc:Choice>
                <mc:Fallback>
                  <p:oleObj name="Equation" r:id="rId33" imgW="11049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832"/>
                          <a:ext cx="1554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67" name="Group 98"/>
          <p:cNvGrpSpPr>
            <a:grpSpLocks/>
          </p:cNvGrpSpPr>
          <p:nvPr/>
        </p:nvGrpSpPr>
        <p:grpSpPr bwMode="auto">
          <a:xfrm>
            <a:off x="6172200" y="4343400"/>
            <a:ext cx="2676525" cy="590550"/>
            <a:chOff x="3888" y="1104"/>
            <a:chExt cx="1686" cy="372"/>
          </a:xfrm>
        </p:grpSpPr>
        <p:grpSp>
          <p:nvGrpSpPr>
            <p:cNvPr id="104496" name="Group 99"/>
            <p:cNvGrpSpPr>
              <a:grpSpLocks/>
            </p:cNvGrpSpPr>
            <p:nvPr/>
          </p:nvGrpSpPr>
          <p:grpSpPr bwMode="auto">
            <a:xfrm>
              <a:off x="3888" y="1152"/>
              <a:ext cx="154" cy="266"/>
              <a:chOff x="3456" y="2064"/>
              <a:chExt cx="144" cy="480"/>
            </a:xfrm>
          </p:grpSpPr>
          <p:sp>
            <p:nvSpPr>
              <p:cNvPr id="104498" name="Line 100"/>
              <p:cNvSpPr>
                <a:spLocks noChangeShapeType="1"/>
              </p:cNvSpPr>
              <p:nvPr/>
            </p:nvSpPr>
            <p:spPr bwMode="auto">
              <a:xfrm flipH="1"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99" name="Line 101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4497" name="Object 1026"/>
            <p:cNvGraphicFramePr>
              <a:graphicFrameLocks noChangeAspect="1"/>
            </p:cNvGraphicFramePr>
            <p:nvPr/>
          </p:nvGraphicFramePr>
          <p:xfrm>
            <a:off x="5232" y="1104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2" imgW="542857" imgH="590476" progId="Paint.Picture">
                    <p:embed/>
                  </p:oleObj>
                </mc:Choice>
                <mc:Fallback>
                  <p:oleObj name="位图图像" r:id="rId32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104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69" name="Group 103"/>
          <p:cNvGrpSpPr>
            <a:grpSpLocks/>
          </p:cNvGrpSpPr>
          <p:nvPr/>
        </p:nvGrpSpPr>
        <p:grpSpPr bwMode="auto">
          <a:xfrm>
            <a:off x="6096000" y="5334000"/>
            <a:ext cx="3048000" cy="590550"/>
            <a:chOff x="3840" y="3360"/>
            <a:chExt cx="1920" cy="372"/>
          </a:xfrm>
        </p:grpSpPr>
        <p:grpSp>
          <p:nvGrpSpPr>
            <p:cNvPr id="104492" name="Group 104"/>
            <p:cNvGrpSpPr>
              <a:grpSpLocks/>
            </p:cNvGrpSpPr>
            <p:nvPr/>
          </p:nvGrpSpPr>
          <p:grpSpPr bwMode="auto">
            <a:xfrm>
              <a:off x="3840" y="3408"/>
              <a:ext cx="154" cy="266"/>
              <a:chOff x="3456" y="2064"/>
              <a:chExt cx="144" cy="480"/>
            </a:xfrm>
          </p:grpSpPr>
          <p:sp>
            <p:nvSpPr>
              <p:cNvPr id="104494" name="Line 105"/>
              <p:cNvSpPr>
                <a:spLocks noChangeShapeType="1"/>
              </p:cNvSpPr>
              <p:nvPr/>
            </p:nvSpPr>
            <p:spPr bwMode="auto">
              <a:xfrm flipH="1"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95" name="Line 106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4493" name="Object 1025"/>
            <p:cNvGraphicFramePr>
              <a:graphicFrameLocks noChangeAspect="1"/>
            </p:cNvGraphicFramePr>
            <p:nvPr/>
          </p:nvGraphicFramePr>
          <p:xfrm>
            <a:off x="5418" y="3360"/>
            <a:ext cx="34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2" imgW="542857" imgH="590476" progId="Paint.Picture">
                    <p:embed/>
                  </p:oleObj>
                </mc:Choice>
                <mc:Fallback>
                  <p:oleObj name="位图图像" r:id="rId32" imgW="542857" imgH="5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8" y="3360"/>
                          <a:ext cx="34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481" name="Group 108"/>
          <p:cNvGrpSpPr>
            <a:grpSpLocks/>
          </p:cNvGrpSpPr>
          <p:nvPr/>
        </p:nvGrpSpPr>
        <p:grpSpPr bwMode="auto">
          <a:xfrm>
            <a:off x="2327275" y="1089024"/>
            <a:ext cx="2233164" cy="584175"/>
            <a:chOff x="749" y="964"/>
            <a:chExt cx="1448" cy="426"/>
          </a:xfrm>
        </p:grpSpPr>
        <p:graphicFrame>
          <p:nvGraphicFramePr>
            <p:cNvPr id="104487" name="Object 10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1978331"/>
                </p:ext>
              </p:extLst>
            </p:nvPr>
          </p:nvGraphicFramePr>
          <p:xfrm>
            <a:off x="1149" y="1012"/>
            <a:ext cx="1048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545863" imgH="228501" progId="Equation.3">
                    <p:embed/>
                  </p:oleObj>
                </mc:Choice>
                <mc:Fallback>
                  <p:oleObj name="Equation" r:id="rId35" imgW="545863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9" y="1012"/>
                          <a:ext cx="1048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88" name="Rectangle 110"/>
            <p:cNvSpPr>
              <a:spLocks noChangeArrowheads="1"/>
            </p:cNvSpPr>
            <p:nvPr/>
          </p:nvSpPr>
          <p:spPr bwMode="auto">
            <a:xfrm>
              <a:off x="749" y="964"/>
              <a:ext cx="400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buFont typeface="Wingdings" pitchFamily="2" charset="2"/>
                <a:buNone/>
              </a:pPr>
              <a:r>
                <a:rPr lang="en-US" altLang="zh-CN" sz="3200" b="1" dirty="0">
                  <a:latin typeface="Times New Roman" pitchFamily="18" charset="0"/>
                  <a:cs typeface="Times New Roman" pitchFamily="18" charset="0"/>
                </a:rPr>
                <a:t>let</a:t>
              </a:r>
              <a:endParaRPr lang="zh-CN" altLang="en-US" sz="3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04489" name="Group 111"/>
            <p:cNvGrpSpPr>
              <a:grpSpLocks/>
            </p:cNvGrpSpPr>
            <p:nvPr/>
          </p:nvGrpSpPr>
          <p:grpSpPr bwMode="auto">
            <a:xfrm>
              <a:off x="1728" y="1126"/>
              <a:ext cx="351" cy="240"/>
              <a:chOff x="4545" y="2016"/>
              <a:chExt cx="351" cy="240"/>
            </a:xfrm>
          </p:grpSpPr>
          <p:sp>
            <p:nvSpPr>
              <p:cNvPr id="104490" name="Line 112"/>
              <p:cNvSpPr>
                <a:spLocks noChangeShapeType="1"/>
              </p:cNvSpPr>
              <p:nvPr/>
            </p:nvSpPr>
            <p:spPr bwMode="auto">
              <a:xfrm flipH="1">
                <a:off x="4545" y="2016"/>
                <a:ext cx="139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91" name="Line 113"/>
              <p:cNvSpPr>
                <a:spLocks noChangeShapeType="1"/>
              </p:cNvSpPr>
              <p:nvPr/>
            </p:nvSpPr>
            <p:spPr bwMode="auto">
              <a:xfrm>
                <a:off x="4560" y="2256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4482" name="Rectangle 4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4340225" y="6610350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04483" name="Rectangle 46">
            <a:hlinkClick r:id="rId37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04484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zh-CN" altLang="en-US" sz="1200">
                <a:solidFill>
                  <a:schemeClr val="bg1"/>
                </a:solidFill>
                <a:latin typeface="楷体_GB2312" pitchFamily="49" charset="-122"/>
              </a:rPr>
              <a:t>上一页</a:t>
            </a:r>
          </a:p>
        </p:txBody>
      </p:sp>
      <p:sp>
        <p:nvSpPr>
          <p:cNvPr id="104485" name="Rectangle 4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2264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 typeface="Wingdings" pitchFamily="2" charset="2"/>
              <a:buNone/>
            </a:pPr>
            <a:r>
              <a:rPr lang="zh-CN" altLang="en-US" sz="1200">
                <a:solidFill>
                  <a:schemeClr val="bg1"/>
                </a:solidFill>
                <a:latin typeface="楷体_GB2312" pitchFamily="49" charset="-122"/>
              </a:rPr>
              <a:t>下一页</a:t>
            </a:r>
          </a:p>
        </p:txBody>
      </p:sp>
      <p:sp>
        <p:nvSpPr>
          <p:cNvPr id="120" name="Rectangle 4"/>
          <p:cNvSpPr>
            <a:spLocks noChangeArrowheads="1"/>
          </p:cNvSpPr>
          <p:nvPr/>
        </p:nvSpPr>
        <p:spPr bwMode="auto">
          <a:xfrm>
            <a:off x="914400" y="310684"/>
            <a:ext cx="2938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Arial Black" pitchFamily="34" charset="0"/>
              </a:rPr>
              <a:t>True</a:t>
            </a: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Arial Black" pitchFamily="34" charset="0"/>
              </a:rPr>
              <a:t>or False?</a:t>
            </a:r>
            <a:endParaRPr lang="zh-CN" altLang="en-US" sz="2800" dirty="0">
              <a:solidFill>
                <a:srgbClr val="FF0000"/>
              </a:solidFill>
              <a:latin typeface="Arial Black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59DD858B-8DB6-4329-AAFA-289EA965B38D}"/>
                  </a:ext>
                </a:extLst>
              </p14:cNvPr>
              <p14:cNvContentPartPr/>
              <p14:nvPr/>
            </p14:nvContentPartPr>
            <p14:xfrm>
              <a:off x="6103377" y="3077064"/>
              <a:ext cx="4680" cy="183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59DD858B-8DB6-4329-AAFA-289EA965B38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094017" y="3067704"/>
                <a:ext cx="23400" cy="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8214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5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5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7" dur="500"/>
                                        <p:tgtEl>
                                          <p:spTgt spid="15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5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7" dur="500"/>
                                        <p:tgtEl>
                                          <p:spTgt spid="15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7" dur="500"/>
                                        <p:tgtEl>
                                          <p:spTgt spid="15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0" grpId="0" animBg="1"/>
      <p:bldP spid="153681" grpId="0" animBg="1"/>
      <p:bldP spid="120" grpId="0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83" name="Group 103"/>
          <p:cNvGrpSpPr>
            <a:grpSpLocks/>
          </p:cNvGrpSpPr>
          <p:nvPr/>
        </p:nvGrpSpPr>
        <p:grpSpPr bwMode="auto">
          <a:xfrm>
            <a:off x="5834063" y="1093788"/>
            <a:ext cx="2743200" cy="2968625"/>
            <a:chOff x="4032" y="1200"/>
            <a:chExt cx="1584" cy="1772"/>
          </a:xfrm>
        </p:grpSpPr>
        <p:sp>
          <p:nvSpPr>
            <p:cNvPr id="105519" name="Line 27"/>
            <p:cNvSpPr>
              <a:spLocks noChangeShapeType="1"/>
            </p:cNvSpPr>
            <p:nvPr/>
          </p:nvSpPr>
          <p:spPr bwMode="auto">
            <a:xfrm flipV="1">
              <a:off x="4157" y="1568"/>
              <a:ext cx="10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520" name="Oval 28"/>
            <p:cNvSpPr>
              <a:spLocks noChangeArrowheads="1"/>
            </p:cNvSpPr>
            <p:nvPr/>
          </p:nvSpPr>
          <p:spPr bwMode="auto">
            <a:xfrm>
              <a:off x="4032" y="1889"/>
              <a:ext cx="241" cy="23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21" name="Rectangle 29"/>
            <p:cNvSpPr>
              <a:spLocks noChangeArrowheads="1"/>
            </p:cNvSpPr>
            <p:nvPr/>
          </p:nvSpPr>
          <p:spPr bwMode="auto">
            <a:xfrm>
              <a:off x="4561" y="1524"/>
              <a:ext cx="280" cy="89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22" name="Line 30"/>
            <p:cNvSpPr>
              <a:spLocks noChangeShapeType="1"/>
            </p:cNvSpPr>
            <p:nvPr/>
          </p:nvSpPr>
          <p:spPr bwMode="auto">
            <a:xfrm>
              <a:off x="5252" y="157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523" name="Line 31"/>
            <p:cNvSpPr>
              <a:spLocks noChangeShapeType="1"/>
            </p:cNvSpPr>
            <p:nvPr/>
          </p:nvSpPr>
          <p:spPr bwMode="auto">
            <a:xfrm>
              <a:off x="5262" y="2116"/>
              <a:ext cx="0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5524" name="Group 32"/>
            <p:cNvGrpSpPr>
              <a:grpSpLocks/>
            </p:cNvGrpSpPr>
            <p:nvPr/>
          </p:nvGrpSpPr>
          <p:grpSpPr bwMode="auto">
            <a:xfrm>
              <a:off x="5244" y="1802"/>
              <a:ext cx="62" cy="303"/>
              <a:chOff x="2125" y="1415"/>
              <a:chExt cx="58" cy="287"/>
            </a:xfrm>
          </p:grpSpPr>
          <p:sp>
            <p:nvSpPr>
              <p:cNvPr id="105539" name="Freeform 33"/>
              <p:cNvSpPr>
                <a:spLocks/>
              </p:cNvSpPr>
              <p:nvPr/>
            </p:nvSpPr>
            <p:spPr bwMode="auto">
              <a:xfrm rot="5400000">
                <a:off x="2105" y="1435"/>
                <a:ext cx="98" cy="57"/>
              </a:xfrm>
              <a:custGeom>
                <a:avLst/>
                <a:gdLst>
                  <a:gd name="T0" fmla="*/ 0 w 125"/>
                  <a:gd name="T1" fmla="*/ 57 h 60"/>
                  <a:gd name="T2" fmla="*/ 18 w 125"/>
                  <a:gd name="T3" fmla="*/ 14 h 60"/>
                  <a:gd name="T4" fmla="*/ 51 w 125"/>
                  <a:gd name="T5" fmla="*/ 0 h 60"/>
                  <a:gd name="T6" fmla="*/ 80 w 125"/>
                  <a:gd name="T7" fmla="*/ 14 h 60"/>
                  <a:gd name="T8" fmla="*/ 98 w 125"/>
                  <a:gd name="T9" fmla="*/ 48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5" h="60">
                    <a:moveTo>
                      <a:pt x="0" y="60"/>
                    </a:moveTo>
                    <a:cubicBezTo>
                      <a:pt x="4" y="53"/>
                      <a:pt x="12" y="25"/>
                      <a:pt x="23" y="15"/>
                    </a:cubicBezTo>
                    <a:cubicBezTo>
                      <a:pt x="34" y="5"/>
                      <a:pt x="52" y="0"/>
                      <a:pt x="65" y="0"/>
                    </a:cubicBezTo>
                    <a:cubicBezTo>
                      <a:pt x="78" y="0"/>
                      <a:pt x="92" y="7"/>
                      <a:pt x="102" y="15"/>
                    </a:cubicBezTo>
                    <a:cubicBezTo>
                      <a:pt x="112" y="23"/>
                      <a:pt x="120" y="44"/>
                      <a:pt x="125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5540" name="Freeform 34"/>
              <p:cNvSpPr>
                <a:spLocks/>
              </p:cNvSpPr>
              <p:nvPr/>
            </p:nvSpPr>
            <p:spPr bwMode="auto">
              <a:xfrm rot="5400000">
                <a:off x="2109" y="1535"/>
                <a:ext cx="95" cy="51"/>
              </a:xfrm>
              <a:custGeom>
                <a:avLst/>
                <a:gdLst>
                  <a:gd name="T0" fmla="*/ 0 w 121"/>
                  <a:gd name="T1" fmla="*/ 51 h 54"/>
                  <a:gd name="T2" fmla="*/ 19 w 121"/>
                  <a:gd name="T3" fmla="*/ 14 h 54"/>
                  <a:gd name="T4" fmla="*/ 52 w 121"/>
                  <a:gd name="T5" fmla="*/ 0 h 54"/>
                  <a:gd name="T6" fmla="*/ 81 w 121"/>
                  <a:gd name="T7" fmla="*/ 14 h 54"/>
                  <a:gd name="T8" fmla="*/ 95 w 121"/>
                  <a:gd name="T9" fmla="*/ 48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5541" name="Freeform 35"/>
              <p:cNvSpPr>
                <a:spLocks/>
              </p:cNvSpPr>
              <p:nvPr/>
            </p:nvSpPr>
            <p:spPr bwMode="auto">
              <a:xfrm rot="5400000">
                <a:off x="2112" y="1631"/>
                <a:ext cx="94" cy="48"/>
              </a:xfrm>
              <a:custGeom>
                <a:avLst/>
                <a:gdLst>
                  <a:gd name="T0" fmla="*/ 0 w 119"/>
                  <a:gd name="T1" fmla="*/ 48 h 51"/>
                  <a:gd name="T2" fmla="*/ 13 w 119"/>
                  <a:gd name="T3" fmla="*/ 14 h 51"/>
                  <a:gd name="T4" fmla="*/ 47 w 119"/>
                  <a:gd name="T5" fmla="*/ 0 h 51"/>
                  <a:gd name="T6" fmla="*/ 76 w 119"/>
                  <a:gd name="T7" fmla="*/ 14 h 51"/>
                  <a:gd name="T8" fmla="*/ 94 w 119"/>
                  <a:gd name="T9" fmla="*/ 48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 useBgFill="1">
          <p:nvSpPr>
            <p:cNvPr id="105525" name="Rectangle 36"/>
            <p:cNvSpPr>
              <a:spLocks noChangeArrowheads="1"/>
            </p:cNvSpPr>
            <p:nvPr/>
          </p:nvSpPr>
          <p:spPr bwMode="auto">
            <a:xfrm>
              <a:off x="4302" y="2270"/>
              <a:ext cx="321" cy="81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26" name="Text Box 37"/>
            <p:cNvSpPr txBox="1">
              <a:spLocks noChangeArrowheads="1"/>
            </p:cNvSpPr>
            <p:nvPr/>
          </p:nvSpPr>
          <p:spPr bwMode="auto">
            <a:xfrm>
              <a:off x="4438" y="1606"/>
              <a:ext cx="504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 i="1"/>
                <a:t>R</a:t>
              </a:r>
            </a:p>
          </p:txBody>
        </p:sp>
        <p:sp>
          <p:nvSpPr>
            <p:cNvPr id="105527" name="Line 38"/>
            <p:cNvSpPr>
              <a:spLocks noChangeShapeType="1"/>
            </p:cNvSpPr>
            <p:nvPr/>
          </p:nvSpPr>
          <p:spPr bwMode="auto">
            <a:xfrm>
              <a:off x="4158" y="1561"/>
              <a:ext cx="0" cy="8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528" name="Line 39"/>
            <p:cNvSpPr>
              <a:spLocks noChangeShapeType="1"/>
            </p:cNvSpPr>
            <p:nvPr/>
          </p:nvSpPr>
          <p:spPr bwMode="auto">
            <a:xfrm flipV="1">
              <a:off x="4150" y="2452"/>
              <a:ext cx="5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529" name="Text Box 40"/>
            <p:cNvSpPr txBox="1">
              <a:spLocks noChangeArrowheads="1"/>
            </p:cNvSpPr>
            <p:nvPr/>
          </p:nvSpPr>
          <p:spPr bwMode="auto">
            <a:xfrm>
              <a:off x="4798" y="1896"/>
              <a:ext cx="505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 i="1"/>
                <a:t>j</a:t>
              </a:r>
              <a:r>
                <a:rPr kumimoji="0" lang="en-US" altLang="zh-CN" sz="2000" i="1">
                  <a:cs typeface="Times New Roman" pitchFamily="18" charset="0"/>
                </a:rPr>
                <a:t>ω</a:t>
              </a:r>
              <a:r>
                <a:rPr kumimoji="0" lang="en-US" altLang="zh-CN" sz="2000" i="1"/>
                <a:t>L</a:t>
              </a:r>
            </a:p>
          </p:txBody>
        </p:sp>
        <p:sp>
          <p:nvSpPr>
            <p:cNvPr id="105530" name="Line 41"/>
            <p:cNvSpPr>
              <a:spLocks noChangeShapeType="1"/>
            </p:cNvSpPr>
            <p:nvPr/>
          </p:nvSpPr>
          <p:spPr bwMode="auto">
            <a:xfrm>
              <a:off x="4656" y="2351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531" name="Line 42"/>
            <p:cNvSpPr>
              <a:spLocks noChangeShapeType="1"/>
            </p:cNvSpPr>
            <p:nvPr/>
          </p:nvSpPr>
          <p:spPr bwMode="auto">
            <a:xfrm>
              <a:off x="4726" y="2348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532" name="Line 43"/>
            <p:cNvSpPr>
              <a:spLocks noChangeShapeType="1"/>
            </p:cNvSpPr>
            <p:nvPr/>
          </p:nvSpPr>
          <p:spPr bwMode="auto">
            <a:xfrm flipV="1">
              <a:off x="4724" y="2448"/>
              <a:ext cx="5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5533" name="Object 44"/>
            <p:cNvGraphicFramePr>
              <a:graphicFrameLocks noChangeAspect="1"/>
            </p:cNvGraphicFramePr>
            <p:nvPr/>
          </p:nvGraphicFramePr>
          <p:xfrm>
            <a:off x="4320" y="2448"/>
            <a:ext cx="312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61991" imgH="419207" progId="Equation.3">
                    <p:embed/>
                  </p:oleObj>
                </mc:Choice>
                <mc:Fallback>
                  <p:oleObj name="Equation" r:id="rId3" imgW="361991" imgH="4192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448"/>
                          <a:ext cx="312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34" name="Object 45"/>
            <p:cNvGraphicFramePr>
              <a:graphicFrameLocks noChangeAspect="1"/>
            </p:cNvGraphicFramePr>
            <p:nvPr/>
          </p:nvGraphicFramePr>
          <p:xfrm>
            <a:off x="4262" y="1669"/>
            <a:ext cx="336" cy="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57254" imgH="571449" progId="Equation.3">
                    <p:embed/>
                  </p:oleObj>
                </mc:Choice>
                <mc:Fallback>
                  <p:oleObj name="Equation" r:id="rId5" imgW="257254" imgH="571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2" y="1669"/>
                          <a:ext cx="336" cy="7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35" name="Object 46"/>
            <p:cNvGraphicFramePr>
              <a:graphicFrameLocks noChangeAspect="1"/>
            </p:cNvGraphicFramePr>
            <p:nvPr/>
          </p:nvGraphicFramePr>
          <p:xfrm>
            <a:off x="5312" y="1544"/>
            <a:ext cx="304" cy="7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28640" imgH="571449" progId="Equation.3">
                    <p:embed/>
                  </p:oleObj>
                </mc:Choice>
                <mc:Fallback>
                  <p:oleObj name="Equation" r:id="rId7" imgW="228640" imgH="571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2" y="1544"/>
                          <a:ext cx="304" cy="7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36" name="Object 47"/>
            <p:cNvGraphicFramePr>
              <a:graphicFrameLocks noChangeAspect="1"/>
            </p:cNvGraphicFramePr>
            <p:nvPr/>
          </p:nvGraphicFramePr>
          <p:xfrm>
            <a:off x="4279" y="1200"/>
            <a:ext cx="896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04816" imgH="219186" progId="Equation.3">
                    <p:embed/>
                  </p:oleObj>
                </mc:Choice>
                <mc:Fallback>
                  <p:oleObj name="Equation" r:id="rId9" imgW="704816" imgH="21918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9" y="1200"/>
                          <a:ext cx="896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537" name="Object 48"/>
            <p:cNvGraphicFramePr>
              <a:graphicFrameLocks noChangeAspect="1"/>
            </p:cNvGraphicFramePr>
            <p:nvPr/>
          </p:nvGraphicFramePr>
          <p:xfrm>
            <a:off x="4439" y="2118"/>
            <a:ext cx="608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76176" imgH="228634" progId="Equation.3">
                    <p:embed/>
                  </p:oleObj>
                </mc:Choice>
                <mc:Fallback>
                  <p:oleObj name="Equation" r:id="rId11" imgW="476176" imgH="2286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9" y="2118"/>
                          <a:ext cx="608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538" name="Text Box 49"/>
            <p:cNvSpPr txBox="1">
              <a:spLocks noChangeArrowheads="1"/>
            </p:cNvSpPr>
            <p:nvPr/>
          </p:nvSpPr>
          <p:spPr bwMode="auto">
            <a:xfrm>
              <a:off x="4704" y="2688"/>
              <a:ext cx="338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/>
                <a:t>(d)</a:t>
              </a:r>
            </a:p>
          </p:txBody>
        </p:sp>
      </p:grpSp>
      <p:grpSp>
        <p:nvGrpSpPr>
          <p:cNvPr id="71781" name="Group 101"/>
          <p:cNvGrpSpPr>
            <a:grpSpLocks/>
          </p:cNvGrpSpPr>
          <p:nvPr/>
        </p:nvGrpSpPr>
        <p:grpSpPr bwMode="auto">
          <a:xfrm>
            <a:off x="6511925" y="2119313"/>
            <a:ext cx="838200" cy="838200"/>
            <a:chOff x="4416" y="1248"/>
            <a:chExt cx="528" cy="528"/>
          </a:xfrm>
        </p:grpSpPr>
        <p:sp>
          <p:nvSpPr>
            <p:cNvPr id="105517" name="Arc 54"/>
            <p:cNvSpPr>
              <a:spLocks/>
            </p:cNvSpPr>
            <p:nvPr/>
          </p:nvSpPr>
          <p:spPr bwMode="auto">
            <a:xfrm>
              <a:off x="4416" y="1248"/>
              <a:ext cx="528" cy="528"/>
            </a:xfrm>
            <a:custGeom>
              <a:avLst/>
              <a:gdLst>
                <a:gd name="T0" fmla="*/ 123 w 42329"/>
                <a:gd name="T1" fmla="*/ 36 h 43200"/>
                <a:gd name="T2" fmla="*/ 0 w 42329"/>
                <a:gd name="T3" fmla="*/ 338 h 43200"/>
                <a:gd name="T4" fmla="*/ 259 w 42329"/>
                <a:gd name="T5" fmla="*/ 264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329" h="43200" fill="none" extrusionOk="0">
                  <a:moveTo>
                    <a:pt x="9822" y="2955"/>
                  </a:moveTo>
                  <a:cubicBezTo>
                    <a:pt x="13131" y="1020"/>
                    <a:pt x="16895" y="-1"/>
                    <a:pt x="20729" y="0"/>
                  </a:cubicBezTo>
                  <a:cubicBezTo>
                    <a:pt x="32658" y="0"/>
                    <a:pt x="42329" y="9670"/>
                    <a:pt x="42329" y="21600"/>
                  </a:cubicBezTo>
                  <a:cubicBezTo>
                    <a:pt x="42329" y="33529"/>
                    <a:pt x="32658" y="43200"/>
                    <a:pt x="20729" y="43200"/>
                  </a:cubicBezTo>
                  <a:cubicBezTo>
                    <a:pt x="11138" y="43200"/>
                    <a:pt x="2696" y="36875"/>
                    <a:pt x="0" y="27671"/>
                  </a:cubicBezTo>
                </a:path>
                <a:path w="42329" h="43200" stroke="0" extrusionOk="0">
                  <a:moveTo>
                    <a:pt x="9822" y="2955"/>
                  </a:moveTo>
                  <a:cubicBezTo>
                    <a:pt x="13131" y="1020"/>
                    <a:pt x="16895" y="-1"/>
                    <a:pt x="20729" y="0"/>
                  </a:cubicBezTo>
                  <a:cubicBezTo>
                    <a:pt x="32658" y="0"/>
                    <a:pt x="42329" y="9670"/>
                    <a:pt x="42329" y="21600"/>
                  </a:cubicBezTo>
                  <a:cubicBezTo>
                    <a:pt x="42329" y="33529"/>
                    <a:pt x="32658" y="43200"/>
                    <a:pt x="20729" y="43200"/>
                  </a:cubicBezTo>
                  <a:cubicBezTo>
                    <a:pt x="11138" y="43200"/>
                    <a:pt x="2696" y="36875"/>
                    <a:pt x="0" y="27671"/>
                  </a:cubicBezTo>
                  <a:lnTo>
                    <a:pt x="20729" y="21600"/>
                  </a:lnTo>
                  <a:lnTo>
                    <a:pt x="9822" y="2955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5518" name="Object 55"/>
            <p:cNvGraphicFramePr>
              <a:graphicFrameLocks noChangeAspect="1"/>
            </p:cNvGraphicFramePr>
            <p:nvPr/>
          </p:nvGraphicFramePr>
          <p:xfrm>
            <a:off x="4537" y="1288"/>
            <a:ext cx="264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14185" imgH="180855" progId="Equation.3">
                    <p:embed/>
                  </p:oleObj>
                </mc:Choice>
                <mc:Fallback>
                  <p:oleObj name="Equation" r:id="rId13" imgW="11418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7" y="1288"/>
                          <a:ext cx="264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5476" name="Group 102"/>
          <p:cNvGrpSpPr>
            <a:grpSpLocks/>
          </p:cNvGrpSpPr>
          <p:nvPr/>
        </p:nvGrpSpPr>
        <p:grpSpPr bwMode="auto">
          <a:xfrm>
            <a:off x="71438" y="1887538"/>
            <a:ext cx="3132137" cy="3905250"/>
            <a:chOff x="144" y="816"/>
            <a:chExt cx="1776" cy="2460"/>
          </a:xfrm>
        </p:grpSpPr>
        <p:sp>
          <p:nvSpPr>
            <p:cNvPr id="105488" name="Oval 58"/>
            <p:cNvSpPr>
              <a:spLocks noChangeArrowheads="1"/>
            </p:cNvSpPr>
            <p:nvPr/>
          </p:nvSpPr>
          <p:spPr bwMode="auto">
            <a:xfrm>
              <a:off x="144" y="1749"/>
              <a:ext cx="303" cy="27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89" name="Rectangle 59"/>
            <p:cNvSpPr>
              <a:spLocks noChangeArrowheads="1"/>
            </p:cNvSpPr>
            <p:nvPr/>
          </p:nvSpPr>
          <p:spPr bwMode="auto">
            <a:xfrm>
              <a:off x="301" y="1373"/>
              <a:ext cx="1301" cy="103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90" name="Oval 60"/>
            <p:cNvSpPr>
              <a:spLocks noChangeArrowheads="1"/>
            </p:cNvSpPr>
            <p:nvPr/>
          </p:nvSpPr>
          <p:spPr bwMode="auto">
            <a:xfrm>
              <a:off x="1440" y="1735"/>
              <a:ext cx="303" cy="272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91" name="Rectangle 61"/>
            <p:cNvSpPr>
              <a:spLocks noChangeArrowheads="1"/>
            </p:cNvSpPr>
            <p:nvPr/>
          </p:nvSpPr>
          <p:spPr bwMode="auto">
            <a:xfrm>
              <a:off x="499" y="1327"/>
              <a:ext cx="354" cy="10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92" name="Line 62"/>
            <p:cNvSpPr>
              <a:spLocks noChangeShapeType="1"/>
            </p:cNvSpPr>
            <p:nvPr/>
          </p:nvSpPr>
          <p:spPr bwMode="auto">
            <a:xfrm>
              <a:off x="1122" y="1373"/>
              <a:ext cx="0" cy="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493" name="Line 63"/>
            <p:cNvSpPr>
              <a:spLocks noChangeShapeType="1"/>
            </p:cNvSpPr>
            <p:nvPr/>
          </p:nvSpPr>
          <p:spPr bwMode="auto">
            <a:xfrm>
              <a:off x="1123" y="2000"/>
              <a:ext cx="0" cy="3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5494" name="Group 64"/>
            <p:cNvGrpSpPr>
              <a:grpSpLocks/>
            </p:cNvGrpSpPr>
            <p:nvPr/>
          </p:nvGrpSpPr>
          <p:grpSpPr bwMode="auto">
            <a:xfrm>
              <a:off x="1110" y="1646"/>
              <a:ext cx="78" cy="351"/>
              <a:chOff x="2125" y="1415"/>
              <a:chExt cx="58" cy="288"/>
            </a:xfrm>
          </p:grpSpPr>
          <p:sp>
            <p:nvSpPr>
              <p:cNvPr id="105514" name="Freeform 65"/>
              <p:cNvSpPr>
                <a:spLocks/>
              </p:cNvSpPr>
              <p:nvPr/>
            </p:nvSpPr>
            <p:spPr bwMode="auto">
              <a:xfrm rot="5400000">
                <a:off x="2105" y="1435"/>
                <a:ext cx="98" cy="57"/>
              </a:xfrm>
              <a:custGeom>
                <a:avLst/>
                <a:gdLst>
                  <a:gd name="T0" fmla="*/ 0 w 125"/>
                  <a:gd name="T1" fmla="*/ 57 h 60"/>
                  <a:gd name="T2" fmla="*/ 18 w 125"/>
                  <a:gd name="T3" fmla="*/ 14 h 60"/>
                  <a:gd name="T4" fmla="*/ 51 w 125"/>
                  <a:gd name="T5" fmla="*/ 0 h 60"/>
                  <a:gd name="T6" fmla="*/ 80 w 125"/>
                  <a:gd name="T7" fmla="*/ 14 h 60"/>
                  <a:gd name="T8" fmla="*/ 98 w 125"/>
                  <a:gd name="T9" fmla="*/ 48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5" h="60">
                    <a:moveTo>
                      <a:pt x="0" y="60"/>
                    </a:moveTo>
                    <a:cubicBezTo>
                      <a:pt x="4" y="53"/>
                      <a:pt x="12" y="25"/>
                      <a:pt x="23" y="15"/>
                    </a:cubicBezTo>
                    <a:cubicBezTo>
                      <a:pt x="34" y="5"/>
                      <a:pt x="52" y="0"/>
                      <a:pt x="65" y="0"/>
                    </a:cubicBezTo>
                    <a:cubicBezTo>
                      <a:pt x="78" y="0"/>
                      <a:pt x="92" y="7"/>
                      <a:pt x="102" y="15"/>
                    </a:cubicBezTo>
                    <a:cubicBezTo>
                      <a:pt x="112" y="23"/>
                      <a:pt x="120" y="44"/>
                      <a:pt x="125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5515" name="Freeform 66"/>
              <p:cNvSpPr>
                <a:spLocks/>
              </p:cNvSpPr>
              <p:nvPr/>
            </p:nvSpPr>
            <p:spPr bwMode="auto">
              <a:xfrm rot="5400000">
                <a:off x="2107" y="1536"/>
                <a:ext cx="95" cy="51"/>
              </a:xfrm>
              <a:custGeom>
                <a:avLst/>
                <a:gdLst>
                  <a:gd name="T0" fmla="*/ 0 w 121"/>
                  <a:gd name="T1" fmla="*/ 51 h 54"/>
                  <a:gd name="T2" fmla="*/ 19 w 121"/>
                  <a:gd name="T3" fmla="*/ 14 h 54"/>
                  <a:gd name="T4" fmla="*/ 52 w 121"/>
                  <a:gd name="T5" fmla="*/ 0 h 54"/>
                  <a:gd name="T6" fmla="*/ 81 w 121"/>
                  <a:gd name="T7" fmla="*/ 14 h 54"/>
                  <a:gd name="T8" fmla="*/ 95 w 121"/>
                  <a:gd name="T9" fmla="*/ 48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5516" name="Freeform 67"/>
              <p:cNvSpPr>
                <a:spLocks/>
              </p:cNvSpPr>
              <p:nvPr/>
            </p:nvSpPr>
            <p:spPr bwMode="auto">
              <a:xfrm rot="5400000">
                <a:off x="2112" y="1632"/>
                <a:ext cx="94" cy="48"/>
              </a:xfrm>
              <a:custGeom>
                <a:avLst/>
                <a:gdLst>
                  <a:gd name="T0" fmla="*/ 0 w 119"/>
                  <a:gd name="T1" fmla="*/ 48 h 51"/>
                  <a:gd name="T2" fmla="*/ 13 w 119"/>
                  <a:gd name="T3" fmla="*/ 14 h 51"/>
                  <a:gd name="T4" fmla="*/ 47 w 119"/>
                  <a:gd name="T5" fmla="*/ 0 h 51"/>
                  <a:gd name="T6" fmla="*/ 76 w 119"/>
                  <a:gd name="T7" fmla="*/ 14 h 51"/>
                  <a:gd name="T8" fmla="*/ 94 w 119"/>
                  <a:gd name="T9" fmla="*/ 48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5495" name="Line 68"/>
            <p:cNvSpPr>
              <a:spLocks noChangeShapeType="1"/>
            </p:cNvSpPr>
            <p:nvPr/>
          </p:nvSpPr>
          <p:spPr bwMode="auto">
            <a:xfrm flipV="1">
              <a:off x="301" y="981"/>
              <a:ext cx="0" cy="4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496" name="Line 69"/>
            <p:cNvSpPr>
              <a:spLocks noChangeShapeType="1"/>
            </p:cNvSpPr>
            <p:nvPr/>
          </p:nvSpPr>
          <p:spPr bwMode="auto">
            <a:xfrm flipV="1">
              <a:off x="1138" y="977"/>
              <a:ext cx="0" cy="3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497" name="Line 70"/>
            <p:cNvSpPr>
              <a:spLocks noChangeShapeType="1"/>
            </p:cNvSpPr>
            <p:nvPr/>
          </p:nvSpPr>
          <p:spPr bwMode="auto">
            <a:xfrm>
              <a:off x="290" y="981"/>
              <a:ext cx="8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498" name="Oval 71"/>
            <p:cNvSpPr>
              <a:spLocks noChangeArrowheads="1"/>
            </p:cNvSpPr>
            <p:nvPr/>
          </p:nvSpPr>
          <p:spPr bwMode="auto">
            <a:xfrm>
              <a:off x="468" y="850"/>
              <a:ext cx="302" cy="272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05499" name="Rectangle 72"/>
            <p:cNvSpPr>
              <a:spLocks noChangeArrowheads="1"/>
            </p:cNvSpPr>
            <p:nvPr/>
          </p:nvSpPr>
          <p:spPr bwMode="auto">
            <a:xfrm>
              <a:off x="661" y="2262"/>
              <a:ext cx="76" cy="299"/>
            </a:xfrm>
            <a:prstGeom prst="rect">
              <a:avLst/>
            </a:prstGeom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05500" name="Rectangle 73"/>
            <p:cNvSpPr>
              <a:spLocks noChangeArrowheads="1"/>
            </p:cNvSpPr>
            <p:nvPr/>
          </p:nvSpPr>
          <p:spPr bwMode="auto">
            <a:xfrm>
              <a:off x="484" y="2187"/>
              <a:ext cx="405" cy="94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05501" name="Rectangle 74"/>
            <p:cNvSpPr>
              <a:spLocks noChangeArrowheads="1"/>
            </p:cNvSpPr>
            <p:nvPr/>
          </p:nvSpPr>
          <p:spPr bwMode="auto">
            <a:xfrm>
              <a:off x="541" y="2520"/>
              <a:ext cx="405" cy="94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02" name="Line 75"/>
            <p:cNvSpPr>
              <a:spLocks noChangeShapeType="1"/>
            </p:cNvSpPr>
            <p:nvPr/>
          </p:nvSpPr>
          <p:spPr bwMode="auto">
            <a:xfrm>
              <a:off x="297" y="2402"/>
              <a:ext cx="0" cy="3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503" name="Line 76"/>
            <p:cNvSpPr>
              <a:spLocks noChangeShapeType="1"/>
            </p:cNvSpPr>
            <p:nvPr/>
          </p:nvSpPr>
          <p:spPr bwMode="auto">
            <a:xfrm>
              <a:off x="1114" y="2415"/>
              <a:ext cx="0" cy="3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504" name="Line 77"/>
            <p:cNvSpPr>
              <a:spLocks noChangeShapeType="1"/>
            </p:cNvSpPr>
            <p:nvPr/>
          </p:nvSpPr>
          <p:spPr bwMode="auto">
            <a:xfrm>
              <a:off x="296" y="2758"/>
              <a:ext cx="8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505" name="Oval 78"/>
            <p:cNvSpPr>
              <a:spLocks noChangeArrowheads="1"/>
            </p:cNvSpPr>
            <p:nvPr/>
          </p:nvSpPr>
          <p:spPr bwMode="auto">
            <a:xfrm>
              <a:off x="557" y="2614"/>
              <a:ext cx="302" cy="272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06" name="Text Box 79"/>
            <p:cNvSpPr txBox="1">
              <a:spLocks noChangeArrowheads="1"/>
            </p:cNvSpPr>
            <p:nvPr/>
          </p:nvSpPr>
          <p:spPr bwMode="auto">
            <a:xfrm>
              <a:off x="231" y="1499"/>
              <a:ext cx="655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zh-CN" altLang="en-US" sz="2000" dirty="0">
                  <a:latin typeface="Tahoma" pitchFamily="34" charset="0"/>
                </a:rPr>
                <a:t>+</a:t>
              </a:r>
            </a:p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 i="1" dirty="0"/>
                <a:t>u</a:t>
              </a:r>
              <a:r>
                <a:rPr kumimoji="0" lang="en-US" altLang="zh-CN" sz="2000" baseline="-25000" dirty="0">
                  <a:latin typeface="Tahoma" pitchFamily="34" charset="0"/>
                </a:rPr>
                <a:t>s2</a:t>
              </a:r>
              <a:endParaRPr kumimoji="0" lang="en-US" altLang="zh-CN" sz="2000" dirty="0">
                <a:latin typeface="Tahoma" pitchFamily="34" charset="0"/>
              </a:endParaRPr>
            </a:p>
            <a:p>
              <a:pPr algn="ctr" eaLnBrk="1" hangingPunct="1">
                <a:spcBef>
                  <a:spcPct val="50000"/>
                </a:spcBef>
              </a:pPr>
              <a:endParaRPr kumimoji="0" lang="en-US" altLang="zh-CN" sz="2000" dirty="0">
                <a:latin typeface="Tahoma" pitchFamily="34" charset="0"/>
              </a:endParaRPr>
            </a:p>
          </p:txBody>
        </p:sp>
        <p:sp>
          <p:nvSpPr>
            <p:cNvPr id="105507" name="Text Box 80"/>
            <p:cNvSpPr txBox="1">
              <a:spLocks noChangeArrowheads="1"/>
            </p:cNvSpPr>
            <p:nvPr/>
          </p:nvSpPr>
          <p:spPr bwMode="auto">
            <a:xfrm>
              <a:off x="384" y="1392"/>
              <a:ext cx="636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 i="1"/>
                <a:t>R</a:t>
              </a:r>
            </a:p>
          </p:txBody>
        </p:sp>
        <p:sp>
          <p:nvSpPr>
            <p:cNvPr id="105508" name="Text Box 81"/>
            <p:cNvSpPr txBox="1">
              <a:spLocks noChangeArrowheads="1"/>
            </p:cNvSpPr>
            <p:nvPr/>
          </p:nvSpPr>
          <p:spPr bwMode="auto">
            <a:xfrm>
              <a:off x="951" y="1747"/>
              <a:ext cx="63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 i="1"/>
                <a:t>L</a:t>
              </a:r>
            </a:p>
          </p:txBody>
        </p:sp>
        <p:sp>
          <p:nvSpPr>
            <p:cNvPr id="105509" name="Text Box 82"/>
            <p:cNvSpPr txBox="1">
              <a:spLocks noChangeArrowheads="1"/>
            </p:cNvSpPr>
            <p:nvPr/>
          </p:nvSpPr>
          <p:spPr bwMode="auto">
            <a:xfrm>
              <a:off x="502" y="2103"/>
              <a:ext cx="636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 i="1"/>
                <a:t>C</a:t>
              </a:r>
            </a:p>
          </p:txBody>
        </p:sp>
        <p:sp>
          <p:nvSpPr>
            <p:cNvPr id="105510" name="Text Box 83"/>
            <p:cNvSpPr txBox="1">
              <a:spLocks noChangeArrowheads="1"/>
            </p:cNvSpPr>
            <p:nvPr/>
          </p:nvSpPr>
          <p:spPr bwMode="auto">
            <a:xfrm>
              <a:off x="300" y="816"/>
              <a:ext cx="63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 dirty="0"/>
                <a:t>V</a:t>
              </a:r>
              <a:r>
                <a:rPr kumimoji="0" lang="en-US" altLang="zh-CN" sz="2000" baseline="-25000" dirty="0"/>
                <a:t>1</a:t>
              </a:r>
              <a:endParaRPr kumimoji="0" lang="en-US" altLang="zh-CN" sz="2000" dirty="0"/>
            </a:p>
          </p:txBody>
        </p:sp>
        <p:sp>
          <p:nvSpPr>
            <p:cNvPr id="105511" name="Text Box 84"/>
            <p:cNvSpPr txBox="1">
              <a:spLocks noChangeArrowheads="1"/>
            </p:cNvSpPr>
            <p:nvPr/>
          </p:nvSpPr>
          <p:spPr bwMode="auto">
            <a:xfrm>
              <a:off x="1285" y="1719"/>
              <a:ext cx="63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 dirty="0"/>
                <a:t>V</a:t>
              </a:r>
              <a:r>
                <a:rPr kumimoji="0" lang="en-US" altLang="zh-CN" sz="2000" baseline="-25000" dirty="0"/>
                <a:t>2</a:t>
              </a:r>
              <a:endParaRPr kumimoji="0" lang="en-US" altLang="zh-CN" sz="2000" dirty="0"/>
            </a:p>
          </p:txBody>
        </p:sp>
        <p:sp>
          <p:nvSpPr>
            <p:cNvPr id="105512" name="Text Box 85"/>
            <p:cNvSpPr txBox="1">
              <a:spLocks noChangeArrowheads="1"/>
            </p:cNvSpPr>
            <p:nvPr/>
          </p:nvSpPr>
          <p:spPr bwMode="auto">
            <a:xfrm>
              <a:off x="384" y="2580"/>
              <a:ext cx="63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/>
                <a:t>V</a:t>
              </a:r>
              <a:r>
                <a:rPr kumimoji="0" lang="en-US" altLang="zh-CN" sz="2000" baseline="-25000"/>
                <a:t>3</a:t>
              </a:r>
              <a:endParaRPr kumimoji="0" lang="en-US" altLang="zh-CN" sz="2000"/>
            </a:p>
          </p:txBody>
        </p:sp>
        <p:sp>
          <p:nvSpPr>
            <p:cNvPr id="105513" name="Text Box 86"/>
            <p:cNvSpPr txBox="1">
              <a:spLocks noChangeArrowheads="1"/>
            </p:cNvSpPr>
            <p:nvPr/>
          </p:nvSpPr>
          <p:spPr bwMode="auto">
            <a:xfrm>
              <a:off x="528" y="2976"/>
              <a:ext cx="458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2000"/>
                <a:t>(c)</a:t>
              </a:r>
            </a:p>
          </p:txBody>
        </p:sp>
      </p:grpSp>
      <p:grpSp>
        <p:nvGrpSpPr>
          <p:cNvPr id="71780" name="Group 100"/>
          <p:cNvGrpSpPr>
            <a:grpSpLocks/>
          </p:cNvGrpSpPr>
          <p:nvPr/>
        </p:nvGrpSpPr>
        <p:grpSpPr bwMode="auto">
          <a:xfrm>
            <a:off x="827088" y="3400425"/>
            <a:ext cx="817562" cy="801688"/>
            <a:chOff x="2172" y="2011"/>
            <a:chExt cx="515" cy="505"/>
          </a:xfrm>
        </p:grpSpPr>
        <p:sp>
          <p:nvSpPr>
            <p:cNvPr id="105486" name="Arc 88"/>
            <p:cNvSpPr>
              <a:spLocks/>
            </p:cNvSpPr>
            <p:nvPr/>
          </p:nvSpPr>
          <p:spPr bwMode="auto">
            <a:xfrm>
              <a:off x="2208" y="2016"/>
              <a:ext cx="466" cy="500"/>
            </a:xfrm>
            <a:custGeom>
              <a:avLst/>
              <a:gdLst>
                <a:gd name="T0" fmla="*/ 108 w 42329"/>
                <a:gd name="T1" fmla="*/ 34 h 43200"/>
                <a:gd name="T2" fmla="*/ 0 w 42329"/>
                <a:gd name="T3" fmla="*/ 320 h 43200"/>
                <a:gd name="T4" fmla="*/ 228 w 42329"/>
                <a:gd name="T5" fmla="*/ 25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329" h="43200" fill="none" extrusionOk="0">
                  <a:moveTo>
                    <a:pt x="9822" y="2955"/>
                  </a:moveTo>
                  <a:cubicBezTo>
                    <a:pt x="13131" y="1020"/>
                    <a:pt x="16895" y="-1"/>
                    <a:pt x="20729" y="0"/>
                  </a:cubicBezTo>
                  <a:cubicBezTo>
                    <a:pt x="32658" y="0"/>
                    <a:pt x="42329" y="9670"/>
                    <a:pt x="42329" y="21600"/>
                  </a:cubicBezTo>
                  <a:cubicBezTo>
                    <a:pt x="42329" y="33529"/>
                    <a:pt x="32658" y="43200"/>
                    <a:pt x="20729" y="43200"/>
                  </a:cubicBezTo>
                  <a:cubicBezTo>
                    <a:pt x="11138" y="43200"/>
                    <a:pt x="2696" y="36875"/>
                    <a:pt x="0" y="27671"/>
                  </a:cubicBezTo>
                </a:path>
                <a:path w="42329" h="43200" stroke="0" extrusionOk="0">
                  <a:moveTo>
                    <a:pt x="9822" y="2955"/>
                  </a:moveTo>
                  <a:cubicBezTo>
                    <a:pt x="13131" y="1020"/>
                    <a:pt x="16895" y="-1"/>
                    <a:pt x="20729" y="0"/>
                  </a:cubicBezTo>
                  <a:cubicBezTo>
                    <a:pt x="32658" y="0"/>
                    <a:pt x="42329" y="9670"/>
                    <a:pt x="42329" y="21600"/>
                  </a:cubicBezTo>
                  <a:cubicBezTo>
                    <a:pt x="42329" y="33529"/>
                    <a:pt x="32658" y="43200"/>
                    <a:pt x="20729" y="43200"/>
                  </a:cubicBezTo>
                  <a:cubicBezTo>
                    <a:pt x="11138" y="43200"/>
                    <a:pt x="2696" y="36875"/>
                    <a:pt x="0" y="27671"/>
                  </a:cubicBezTo>
                  <a:lnTo>
                    <a:pt x="20729" y="21600"/>
                  </a:lnTo>
                  <a:lnTo>
                    <a:pt x="9822" y="2955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87" name="Text Box 89"/>
            <p:cNvSpPr txBox="1">
              <a:spLocks noChangeArrowheads="1"/>
            </p:cNvSpPr>
            <p:nvPr/>
          </p:nvSpPr>
          <p:spPr bwMode="auto">
            <a:xfrm>
              <a:off x="2172" y="2011"/>
              <a:ext cx="515" cy="4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base" hangingPunct="0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66FF"/>
                </a:buClr>
                <a:buSzPct val="60000"/>
                <a:buFont typeface="Wingdings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en-US" altLang="zh-CN" sz="3600" i="1" dirty="0">
                  <a:solidFill>
                    <a:srgbClr val="FF0000"/>
                  </a:solidFill>
                </a:rPr>
                <a:t>i</a:t>
              </a:r>
            </a:p>
          </p:txBody>
        </p:sp>
      </p:grpSp>
      <p:graphicFrame>
        <p:nvGraphicFramePr>
          <p:cNvPr id="71771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383121"/>
              </p:ext>
            </p:extLst>
          </p:nvPr>
        </p:nvGraphicFramePr>
        <p:xfrm>
          <a:off x="2891419" y="2359661"/>
          <a:ext cx="2296219" cy="506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91880" imgH="266400" progId="Equation.DSMT4">
                  <p:embed/>
                </p:oleObj>
              </mc:Choice>
              <mc:Fallback>
                <p:oleObj name="Equation" r:id="rId15" imgW="10918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419" y="2359661"/>
                        <a:ext cx="2296219" cy="506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2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066229"/>
              </p:ext>
            </p:extLst>
          </p:nvPr>
        </p:nvGraphicFramePr>
        <p:xfrm>
          <a:off x="2871405" y="2857302"/>
          <a:ext cx="2784971" cy="54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68200" imgH="266400" progId="Equation.DSMT4">
                  <p:embed/>
                </p:oleObj>
              </mc:Choice>
              <mc:Fallback>
                <p:oleObj name="Equation" r:id="rId17" imgW="11682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405" y="2857302"/>
                        <a:ext cx="2784971" cy="549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3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10246"/>
              </p:ext>
            </p:extLst>
          </p:nvPr>
        </p:nvGraphicFramePr>
        <p:xfrm>
          <a:off x="2891982" y="3534516"/>
          <a:ext cx="3093640" cy="54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34960" imgH="266400" progId="Equation.DSMT4">
                  <p:embed/>
                </p:oleObj>
              </mc:Choice>
              <mc:Fallback>
                <p:oleObj name="Equation" r:id="rId19" imgW="14349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982" y="3534516"/>
                        <a:ext cx="3093640" cy="544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5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082215"/>
              </p:ext>
            </p:extLst>
          </p:nvPr>
        </p:nvGraphicFramePr>
        <p:xfrm>
          <a:off x="2891419" y="4355018"/>
          <a:ext cx="5633665" cy="1065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908080" imgH="533160" progId="Equation.DSMT4">
                  <p:embed/>
                </p:oleObj>
              </mc:Choice>
              <mc:Fallback>
                <p:oleObj name="Equation" r:id="rId21" imgW="29080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419" y="4355018"/>
                        <a:ext cx="5633665" cy="1065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6" name="Object 96"/>
          <p:cNvGraphicFramePr>
            <a:graphicFrameLocks noChangeAspect="1"/>
          </p:cNvGraphicFramePr>
          <p:nvPr/>
        </p:nvGraphicFramePr>
        <p:xfrm>
          <a:off x="2890838" y="5554663"/>
          <a:ext cx="160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6202" imgH="219186" progId="Equation.3">
                  <p:embed/>
                </p:oleObj>
              </mc:Choice>
              <mc:Fallback>
                <p:oleObj name="Equation" r:id="rId23" imgW="676202" imgH="2191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5554663"/>
                        <a:ext cx="1600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8" name="Rectangle 98"/>
          <p:cNvSpPr>
            <a:spLocks noChangeArrowheads="1"/>
          </p:cNvSpPr>
          <p:nvPr/>
        </p:nvSpPr>
        <p:spPr bwMode="auto">
          <a:xfrm>
            <a:off x="250825" y="1196975"/>
            <a:ext cx="566737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Font typeface="Wingdings" pitchFamily="2" charset="2"/>
              <a:buNone/>
            </a:pPr>
            <a:r>
              <a:rPr kumimoji="0"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Solution</a:t>
            </a:r>
            <a:r>
              <a:rPr kumimoji="0"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sz="2400" b="1" dirty="0" err="1">
                <a:latin typeface="Times New Roman" pitchFamily="18" charset="0"/>
                <a:cs typeface="Times New Roman" pitchFamily="18" charset="0"/>
              </a:rPr>
              <a:t>Phasor</a:t>
            </a:r>
            <a:r>
              <a:rPr kumimoji="0" lang="en-US" altLang="zh-CN" sz="2400" b="1" dirty="0">
                <a:latin typeface="Times New Roman" pitchFamily="18" charset="0"/>
                <a:cs typeface="Times New Roman" pitchFamily="18" charset="0"/>
              </a:rPr>
              <a:t> model is shown in Fig.</a:t>
            </a:r>
            <a:r>
              <a:rPr kumimoji="0" lang="zh-CN" altLang="en-US" sz="24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0" lang="en-US" altLang="zh-CN" sz="2400" b="1" dirty="0">
                <a:latin typeface="Times New Roman" pitchFamily="18" charset="0"/>
                <a:cs typeface="Times New Roman" pitchFamily="18" charset="0"/>
              </a:rPr>
              <a:t>d)</a:t>
            </a:r>
            <a:r>
              <a:rPr kumimoji="0" lang="zh-CN" altLang="en-US" sz="2500" b="1" dirty="0">
                <a:latin typeface="Times New Roman" pitchFamily="18" charset="0"/>
                <a:cs typeface="Times New Roman" pitchFamily="18" charset="0"/>
              </a:rPr>
              <a:t> </a:t>
            </a:r>
            <a:endParaRPr kumimoji="0" lang="zh-CN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1779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763914"/>
              </p:ext>
            </p:extLst>
          </p:nvPr>
        </p:nvGraphicFramePr>
        <p:xfrm>
          <a:off x="2414588" y="1776413"/>
          <a:ext cx="25876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31560" imgH="253800" progId="Equation.DSMT4">
                  <p:embed/>
                </p:oleObj>
              </mc:Choice>
              <mc:Fallback>
                <p:oleObj name="Equation" r:id="rId25" imgW="1231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88" y="1776413"/>
                        <a:ext cx="25876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5" name="Rectangle 104"/>
          <p:cNvSpPr>
            <a:spLocks noChangeArrowheads="1"/>
          </p:cNvSpPr>
          <p:nvPr/>
        </p:nvSpPr>
        <p:spPr bwMode="auto">
          <a:xfrm>
            <a:off x="882650" y="188913"/>
            <a:ext cx="770413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kumimoji="0" lang="zh-CN" altLang="en-US" sz="28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kumimoji="0" lang="en-US" altLang="zh-CN" sz="2800" b="1" dirty="0">
                <a:latin typeface="Times New Roman" pitchFamily="18" charset="0"/>
                <a:cs typeface="Times New Roman" pitchFamily="18" charset="0"/>
              </a:rPr>
              <a:t>in Fig.</a:t>
            </a:r>
            <a:r>
              <a:rPr kumimoji="0" lang="zh-CN" alt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kumimoji="0" lang="en-US" altLang="zh-CN" sz="2800" b="1" dirty="0">
                <a:latin typeface="Times New Roman" pitchFamily="18" charset="0"/>
                <a:cs typeface="Times New Roman" pitchFamily="18" charset="0"/>
              </a:rPr>
              <a:t>c)</a:t>
            </a:r>
            <a:r>
              <a:rPr kumimoji="0" lang="zh-CN" altLang="en-US" sz="28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kumimoji="0" lang="en-US" altLang="zh-CN" sz="28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kumimoji="0"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altLang="zh-CN" sz="2800" b="1" dirty="0">
                <a:latin typeface="Times New Roman" pitchFamily="18" charset="0"/>
                <a:cs typeface="Times New Roman" pitchFamily="18" charset="0"/>
              </a:rPr>
              <a:t>:15 V;V</a:t>
            </a:r>
            <a:r>
              <a:rPr kumimoji="0"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altLang="zh-CN" sz="2800" b="1" dirty="0">
                <a:latin typeface="Times New Roman" pitchFamily="18" charset="0"/>
                <a:cs typeface="Times New Roman" pitchFamily="18" charset="0"/>
              </a:rPr>
              <a:t>:80 V;V</a:t>
            </a:r>
            <a:r>
              <a:rPr kumimoji="0"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0" lang="en-US" altLang="zh-CN" sz="2800" b="1" dirty="0">
                <a:latin typeface="Times New Roman" pitchFamily="18" charset="0"/>
                <a:cs typeface="Times New Roman" pitchFamily="18" charset="0"/>
              </a:rPr>
              <a:t>:100 V      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kumimoji="0" lang="en-US" altLang="zh-CN" sz="2800" b="1" dirty="0">
                <a:latin typeface="Times New Roman" pitchFamily="18" charset="0"/>
                <a:cs typeface="Times New Roman" pitchFamily="18" charset="0"/>
              </a:rPr>
              <a:t>find effective value </a:t>
            </a:r>
            <a:r>
              <a:rPr kumimoji="0" lang="en-US" altLang="zh-CN" sz="28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kumimoji="0"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s2</a:t>
            </a:r>
            <a:r>
              <a:rPr kumimoji="0" lang="en-US" altLang="zh-CN" sz="2800" b="1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84589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1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17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17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7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7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7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7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8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02" name="Group 2"/>
          <p:cNvGrpSpPr>
            <a:grpSpLocks/>
          </p:cNvGrpSpPr>
          <p:nvPr/>
        </p:nvGrpSpPr>
        <p:grpSpPr bwMode="auto">
          <a:xfrm>
            <a:off x="1123724" y="267677"/>
            <a:ext cx="1600200" cy="1125537"/>
            <a:chOff x="288" y="192"/>
            <a:chExt cx="1008" cy="709"/>
          </a:xfrm>
        </p:grpSpPr>
        <p:sp>
          <p:nvSpPr>
            <p:cNvPr id="76871" name="AutoShape 3"/>
            <p:cNvSpPr>
              <a:spLocks noChangeArrowheads="1"/>
            </p:cNvSpPr>
            <p:nvPr/>
          </p:nvSpPr>
          <p:spPr bwMode="auto">
            <a:xfrm rot="-1839409">
              <a:off x="288" y="192"/>
              <a:ext cx="1008" cy="709"/>
            </a:xfrm>
            <a:prstGeom prst="irregularSeal1">
              <a:avLst/>
            </a:prstGeom>
            <a:solidFill>
              <a:srgbClr val="FFFF66"/>
            </a:solidFill>
            <a:ln w="38100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964" name="Text Box 4"/>
            <p:cNvSpPr txBox="1">
              <a:spLocks noChangeArrowheads="1"/>
            </p:cNvSpPr>
            <p:nvPr/>
          </p:nvSpPr>
          <p:spPr bwMode="auto">
            <a:xfrm rot="19571835">
              <a:off x="380" y="431"/>
              <a:ext cx="771" cy="233"/>
            </a:xfrm>
            <a:prstGeom prst="rect">
              <a:avLst/>
            </a:prstGeom>
            <a:noFill/>
            <a:ln w="9525">
              <a:solidFill>
                <a:srgbClr val="339933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l" eaLnBrk="0" hangingPunct="0">
                <a:defRPr/>
              </a:pPr>
              <a:r>
                <a:rPr lang="en-US" altLang="zh-CN" b="1" dirty="0">
                  <a:solidFill>
                    <a:srgbClr val="000099"/>
                  </a:solidFill>
                  <a:latin typeface="Times New Roman" pitchFamily="18" charset="0"/>
                  <a:ea typeface="+mj-ea"/>
                  <a:cs typeface="Times New Roman" pitchFamily="18" charset="0"/>
                </a:rPr>
                <a:t>Discussion</a:t>
              </a:r>
              <a:endParaRPr lang="zh-CN" altLang="en-US" sz="3600" b="1" i="0" dirty="0">
                <a:solidFill>
                  <a:srgbClr val="000099"/>
                </a:solidFill>
                <a:latin typeface="Times New Roman" pitchFamily="18" charset="0"/>
                <a:ea typeface="+mj-ea"/>
                <a:cs typeface="Times New Roman" pitchFamily="18" charset="0"/>
              </a:endParaRP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564188" y="4154488"/>
            <a:ext cx="2271712" cy="1495425"/>
            <a:chOff x="3368" y="3035"/>
            <a:chExt cx="1240" cy="816"/>
          </a:xfrm>
        </p:grpSpPr>
        <p:sp>
          <p:nvSpPr>
            <p:cNvPr id="76852" name="AutoShape 13"/>
            <p:cNvSpPr>
              <a:spLocks noChangeArrowheads="1"/>
            </p:cNvSpPr>
            <p:nvPr/>
          </p:nvSpPr>
          <p:spPr bwMode="auto">
            <a:xfrm flipH="1">
              <a:off x="4032" y="3388"/>
              <a:ext cx="43" cy="81"/>
            </a:xfrm>
            <a:prstGeom prst="moon">
              <a:avLst>
                <a:gd name="adj" fmla="val 0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53" name="AutoShape 14"/>
            <p:cNvSpPr>
              <a:spLocks noChangeArrowheads="1"/>
            </p:cNvSpPr>
            <p:nvPr/>
          </p:nvSpPr>
          <p:spPr bwMode="auto">
            <a:xfrm flipH="1">
              <a:off x="4032" y="3312"/>
              <a:ext cx="43" cy="81"/>
            </a:xfrm>
            <a:prstGeom prst="moon">
              <a:avLst>
                <a:gd name="adj" fmla="val 0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54" name="AutoShape 15"/>
            <p:cNvSpPr>
              <a:spLocks noChangeArrowheads="1"/>
            </p:cNvSpPr>
            <p:nvPr/>
          </p:nvSpPr>
          <p:spPr bwMode="auto">
            <a:xfrm flipH="1">
              <a:off x="4037" y="3474"/>
              <a:ext cx="43" cy="81"/>
            </a:xfrm>
            <a:prstGeom prst="moon">
              <a:avLst>
                <a:gd name="adj" fmla="val 0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55" name="Oval 16"/>
            <p:cNvSpPr>
              <a:spLocks noChangeArrowheads="1"/>
            </p:cNvSpPr>
            <p:nvPr/>
          </p:nvSpPr>
          <p:spPr bwMode="auto">
            <a:xfrm>
              <a:off x="3456" y="3797"/>
              <a:ext cx="54" cy="5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56" name="Oval 17"/>
            <p:cNvSpPr>
              <a:spLocks noChangeArrowheads="1"/>
            </p:cNvSpPr>
            <p:nvPr/>
          </p:nvSpPr>
          <p:spPr bwMode="auto">
            <a:xfrm>
              <a:off x="3440" y="3035"/>
              <a:ext cx="54" cy="5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57" name="Text Box 18"/>
            <p:cNvSpPr txBox="1">
              <a:spLocks noChangeArrowheads="1"/>
            </p:cNvSpPr>
            <p:nvPr/>
          </p:nvSpPr>
          <p:spPr bwMode="auto">
            <a:xfrm>
              <a:off x="3376" y="3048"/>
              <a:ext cx="15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</a:rPr>
                <a:t>+</a:t>
              </a:r>
            </a:p>
          </p:txBody>
        </p:sp>
        <p:graphicFrame>
          <p:nvGraphicFramePr>
            <p:cNvPr id="76858" name="Object 19"/>
            <p:cNvGraphicFramePr>
              <a:graphicFrameLocks noChangeAspect="1"/>
            </p:cNvGraphicFramePr>
            <p:nvPr/>
          </p:nvGraphicFramePr>
          <p:xfrm>
            <a:off x="3408" y="3360"/>
            <a:ext cx="19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517" imgH="190573" progId="Equation.DSMT4">
                    <p:embed/>
                  </p:oleObj>
                </mc:Choice>
                <mc:Fallback>
                  <p:oleObj name="Equation" r:id="rId2" imgW="152517" imgH="1905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3360"/>
                          <a:ext cx="19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59" name="Line 20"/>
            <p:cNvSpPr>
              <a:spLocks noChangeShapeType="1"/>
            </p:cNvSpPr>
            <p:nvPr/>
          </p:nvSpPr>
          <p:spPr bwMode="auto">
            <a:xfrm flipH="1">
              <a:off x="4032" y="3552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60" name="Line 21"/>
            <p:cNvSpPr>
              <a:spLocks noChangeShapeType="1"/>
            </p:cNvSpPr>
            <p:nvPr/>
          </p:nvSpPr>
          <p:spPr bwMode="auto">
            <a:xfrm>
              <a:off x="4034" y="3072"/>
              <a:ext cx="0" cy="26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61" name="Text Box 22"/>
            <p:cNvSpPr txBox="1">
              <a:spLocks noChangeArrowheads="1"/>
            </p:cNvSpPr>
            <p:nvPr/>
          </p:nvSpPr>
          <p:spPr bwMode="auto">
            <a:xfrm>
              <a:off x="3368" y="3560"/>
              <a:ext cx="192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76862" name="Line 23"/>
            <p:cNvSpPr>
              <a:spLocks noChangeShapeType="1"/>
            </p:cNvSpPr>
            <p:nvPr/>
          </p:nvSpPr>
          <p:spPr bwMode="auto">
            <a:xfrm>
              <a:off x="3504" y="3072"/>
              <a:ext cx="10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63" name="Line 24"/>
            <p:cNvSpPr>
              <a:spLocks noChangeShapeType="1"/>
            </p:cNvSpPr>
            <p:nvPr/>
          </p:nvSpPr>
          <p:spPr bwMode="auto">
            <a:xfrm>
              <a:off x="3504" y="3840"/>
              <a:ext cx="10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6864" name="Group 25"/>
            <p:cNvGrpSpPr>
              <a:grpSpLocks/>
            </p:cNvGrpSpPr>
            <p:nvPr/>
          </p:nvGrpSpPr>
          <p:grpSpPr bwMode="auto">
            <a:xfrm>
              <a:off x="4416" y="3408"/>
              <a:ext cx="192" cy="70"/>
              <a:chOff x="1776" y="1872"/>
              <a:chExt cx="192" cy="70"/>
            </a:xfrm>
          </p:grpSpPr>
          <p:sp>
            <p:nvSpPr>
              <p:cNvPr id="76869" name="Line 26"/>
              <p:cNvSpPr>
                <a:spLocks noChangeShapeType="1"/>
              </p:cNvSpPr>
              <p:nvPr/>
            </p:nvSpPr>
            <p:spPr bwMode="auto">
              <a:xfrm>
                <a:off x="1776" y="1872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870" name="Line 27"/>
              <p:cNvSpPr>
                <a:spLocks noChangeShapeType="1"/>
              </p:cNvSpPr>
              <p:nvPr/>
            </p:nvSpPr>
            <p:spPr bwMode="auto">
              <a:xfrm>
                <a:off x="1776" y="1942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76865" name="Object 28"/>
            <p:cNvGraphicFramePr>
              <a:graphicFrameLocks noChangeAspect="1"/>
            </p:cNvGraphicFramePr>
            <p:nvPr/>
          </p:nvGraphicFramePr>
          <p:xfrm>
            <a:off x="4224" y="3360"/>
            <a:ext cx="197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517" imgH="171408" progId="Equation.3">
                    <p:embed/>
                  </p:oleObj>
                </mc:Choice>
                <mc:Fallback>
                  <p:oleObj name="公式" r:id="rId4" imgW="152517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360"/>
                          <a:ext cx="197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66" name="Object 29"/>
            <p:cNvGraphicFramePr>
              <a:graphicFrameLocks noChangeAspect="1"/>
            </p:cNvGraphicFramePr>
            <p:nvPr/>
          </p:nvGraphicFramePr>
          <p:xfrm>
            <a:off x="3847" y="3360"/>
            <a:ext cx="182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42799" imgH="152512" progId="Equation.3">
                    <p:embed/>
                  </p:oleObj>
                </mc:Choice>
                <mc:Fallback>
                  <p:oleObj name="公式" r:id="rId6" imgW="142799" imgH="152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7" y="3360"/>
                          <a:ext cx="182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67" name="Line 30"/>
            <p:cNvSpPr>
              <a:spLocks noChangeShapeType="1"/>
            </p:cNvSpPr>
            <p:nvPr/>
          </p:nvSpPr>
          <p:spPr bwMode="auto">
            <a:xfrm>
              <a:off x="4512" y="3072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68" name="Line 31"/>
            <p:cNvSpPr>
              <a:spLocks noChangeShapeType="1"/>
            </p:cNvSpPr>
            <p:nvPr/>
          </p:nvSpPr>
          <p:spPr bwMode="auto">
            <a:xfrm>
              <a:off x="4512" y="3477"/>
              <a:ext cx="0" cy="3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78"/>
          <p:cNvGrpSpPr>
            <a:grpSpLocks/>
          </p:cNvGrpSpPr>
          <p:nvPr/>
        </p:nvGrpSpPr>
        <p:grpSpPr bwMode="auto">
          <a:xfrm>
            <a:off x="820738" y="4319588"/>
            <a:ext cx="4165604" cy="941387"/>
            <a:chOff x="480" y="2935"/>
            <a:chExt cx="2624" cy="593"/>
          </a:xfrm>
        </p:grpSpPr>
        <p:sp>
          <p:nvSpPr>
            <p:cNvPr id="76849" name="Rectangle 32"/>
            <p:cNvSpPr>
              <a:spLocks noChangeArrowheads="1"/>
            </p:cNvSpPr>
            <p:nvPr/>
          </p:nvSpPr>
          <p:spPr bwMode="auto">
            <a:xfrm>
              <a:off x="480" y="2935"/>
              <a:ext cx="16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kumimoji="1" lang="en-US" altLang="zh-CN" sz="2800" b="1" dirty="0">
                  <a:latin typeface="Times New Roman" pitchFamily="18" charset="0"/>
                  <a:ea typeface="楷体_GB2312" pitchFamily="49" charset="-122"/>
                </a:rPr>
                <a:t>2. </a:t>
              </a:r>
              <a:r>
                <a:rPr lang="zh-CN" altLang="en-US" dirty="0"/>
                <a:t> </a:t>
              </a:r>
              <a:r>
                <a:rPr lang="en-US" altLang="zh-CN" sz="2400" dirty="0">
                  <a:latin typeface="Times New Roman" pitchFamily="18" charset="0"/>
                  <a:cs typeface="Times New Roman" pitchFamily="18" charset="0"/>
                </a:rPr>
                <a:t>In the circuit, if </a:t>
              </a:r>
              <a:endParaRPr lang="zh-CN" alt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76850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529567"/>
                </p:ext>
              </p:extLst>
            </p:nvPr>
          </p:nvGraphicFramePr>
          <p:xfrm>
            <a:off x="2105" y="2935"/>
            <a:ext cx="880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590631" imgH="219186" progId="Equation.3">
                    <p:embed/>
                  </p:oleObj>
                </mc:Choice>
                <mc:Fallback>
                  <p:oleObj name="公式" r:id="rId8" imgW="590631" imgH="21918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5" y="2935"/>
                          <a:ext cx="880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51" name="Rectangle 34"/>
            <p:cNvSpPr>
              <a:spLocks noChangeArrowheads="1"/>
            </p:cNvSpPr>
            <p:nvPr/>
          </p:nvSpPr>
          <p:spPr bwMode="auto">
            <a:xfrm>
              <a:off x="720" y="3237"/>
              <a:ext cx="2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dirty="0">
                  <a:latin typeface="Times New Roman" pitchFamily="18" charset="0"/>
                  <a:cs typeface="Times New Roman" pitchFamily="18" charset="0"/>
                </a:rPr>
                <a:t>Then the circuit is inductive. </a:t>
              </a:r>
            </a:p>
          </p:txBody>
        </p:sp>
      </p:grpSp>
      <p:sp>
        <p:nvSpPr>
          <p:cNvPr id="76805" name="Text Box 35"/>
          <p:cNvSpPr txBox="1">
            <a:spLocks noChangeArrowheads="1"/>
          </p:cNvSpPr>
          <p:nvPr/>
        </p:nvSpPr>
        <p:spPr bwMode="auto">
          <a:xfrm>
            <a:off x="879795" y="1329745"/>
            <a:ext cx="1364610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altLang="zh-CN" i="0" dirty="0"/>
              <a:t>1</a:t>
            </a:r>
            <a:r>
              <a:rPr lang="en-US" altLang="zh-CN" sz="2400" b="0" i="0" dirty="0"/>
              <a:t>. Given</a:t>
            </a:r>
            <a:endParaRPr lang="zh-CN" altLang="en-US" sz="2400" b="0" i="0" dirty="0"/>
          </a:p>
        </p:txBody>
      </p:sp>
      <p:grpSp>
        <p:nvGrpSpPr>
          <p:cNvPr id="76806" name="Group 77"/>
          <p:cNvGrpSpPr>
            <a:grpSpLocks/>
          </p:cNvGrpSpPr>
          <p:nvPr/>
        </p:nvGrpSpPr>
        <p:grpSpPr bwMode="auto">
          <a:xfrm>
            <a:off x="5667375" y="1343025"/>
            <a:ext cx="3019425" cy="1730375"/>
            <a:chOff x="3570" y="846"/>
            <a:chExt cx="1902" cy="1090"/>
          </a:xfrm>
        </p:grpSpPr>
        <p:sp>
          <p:nvSpPr>
            <p:cNvPr id="76817" name="AutoShape 38"/>
            <p:cNvSpPr>
              <a:spLocks noChangeArrowheads="1"/>
            </p:cNvSpPr>
            <p:nvPr/>
          </p:nvSpPr>
          <p:spPr bwMode="auto">
            <a:xfrm flipH="1">
              <a:off x="4309" y="1401"/>
              <a:ext cx="49" cy="93"/>
            </a:xfrm>
            <a:prstGeom prst="moon">
              <a:avLst>
                <a:gd name="adj" fmla="val 0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8" name="AutoShape 39"/>
            <p:cNvSpPr>
              <a:spLocks noChangeArrowheads="1"/>
            </p:cNvSpPr>
            <p:nvPr/>
          </p:nvSpPr>
          <p:spPr bwMode="auto">
            <a:xfrm flipH="1">
              <a:off x="4309" y="1313"/>
              <a:ext cx="49" cy="93"/>
            </a:xfrm>
            <a:prstGeom prst="moon">
              <a:avLst>
                <a:gd name="adj" fmla="val 0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9" name="AutoShape 40"/>
            <p:cNvSpPr>
              <a:spLocks noChangeArrowheads="1"/>
            </p:cNvSpPr>
            <p:nvPr/>
          </p:nvSpPr>
          <p:spPr bwMode="auto">
            <a:xfrm flipH="1">
              <a:off x="4314" y="1500"/>
              <a:ext cx="50" cy="93"/>
            </a:xfrm>
            <a:prstGeom prst="moon">
              <a:avLst>
                <a:gd name="adj" fmla="val 0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0" name="Oval 42"/>
            <p:cNvSpPr>
              <a:spLocks noChangeArrowheads="1"/>
            </p:cNvSpPr>
            <p:nvPr/>
          </p:nvSpPr>
          <p:spPr bwMode="auto">
            <a:xfrm>
              <a:off x="3909" y="878"/>
              <a:ext cx="278" cy="27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1" name="Text Box 43"/>
            <p:cNvSpPr txBox="1">
              <a:spLocks noChangeArrowheads="1"/>
            </p:cNvSpPr>
            <p:nvPr/>
          </p:nvSpPr>
          <p:spPr bwMode="auto">
            <a:xfrm>
              <a:off x="3908" y="846"/>
              <a:ext cx="3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400" i="0">
                  <a:solidFill>
                    <a:srgbClr val="FF0000"/>
                  </a:solidFill>
                </a:rPr>
                <a:t>A</a:t>
              </a:r>
              <a:r>
                <a:rPr lang="en-US" altLang="zh-CN" sz="2400" i="0" baseline="-25000">
                  <a:solidFill>
                    <a:srgbClr val="FF0000"/>
                  </a:solidFill>
                </a:rPr>
                <a:t>1</a:t>
              </a:r>
              <a:endParaRPr lang="en-US" altLang="zh-CN" sz="2400" i="0"/>
            </a:p>
          </p:txBody>
        </p:sp>
        <p:sp>
          <p:nvSpPr>
            <p:cNvPr id="76822" name="Oval 44"/>
            <p:cNvSpPr>
              <a:spLocks noChangeArrowheads="1"/>
            </p:cNvSpPr>
            <p:nvPr/>
          </p:nvSpPr>
          <p:spPr bwMode="auto">
            <a:xfrm>
              <a:off x="3644" y="1873"/>
              <a:ext cx="62" cy="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3" name="Oval 45"/>
            <p:cNvSpPr>
              <a:spLocks noChangeArrowheads="1"/>
            </p:cNvSpPr>
            <p:nvPr/>
          </p:nvSpPr>
          <p:spPr bwMode="auto">
            <a:xfrm>
              <a:off x="3633" y="1001"/>
              <a:ext cx="63" cy="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4" name="Text Box 46"/>
            <p:cNvSpPr txBox="1">
              <a:spLocks noChangeArrowheads="1"/>
            </p:cNvSpPr>
            <p:nvPr/>
          </p:nvSpPr>
          <p:spPr bwMode="auto">
            <a:xfrm>
              <a:off x="3570" y="1018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</a:rPr>
                <a:t>+</a:t>
              </a:r>
            </a:p>
          </p:txBody>
        </p:sp>
        <p:graphicFrame>
          <p:nvGraphicFramePr>
            <p:cNvPr id="76825" name="Object 47"/>
            <p:cNvGraphicFramePr>
              <a:graphicFrameLocks noChangeAspect="1"/>
            </p:cNvGraphicFramePr>
            <p:nvPr/>
          </p:nvGraphicFramePr>
          <p:xfrm>
            <a:off x="3588" y="1368"/>
            <a:ext cx="22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517" imgH="190573" progId="Equation.DSMT4">
                    <p:embed/>
                  </p:oleObj>
                </mc:Choice>
                <mc:Fallback>
                  <p:oleObj name="Equation" r:id="rId10" imgW="152517" imgH="1905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" y="1368"/>
                          <a:ext cx="225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26" name="Line 48"/>
            <p:cNvSpPr>
              <a:spLocks noChangeShapeType="1"/>
            </p:cNvSpPr>
            <p:nvPr/>
          </p:nvSpPr>
          <p:spPr bwMode="auto">
            <a:xfrm flipH="1">
              <a:off x="4309" y="1590"/>
              <a:ext cx="0" cy="3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7" name="Line 49"/>
            <p:cNvSpPr>
              <a:spLocks noChangeShapeType="1"/>
            </p:cNvSpPr>
            <p:nvPr/>
          </p:nvSpPr>
          <p:spPr bwMode="auto">
            <a:xfrm>
              <a:off x="4311" y="1036"/>
              <a:ext cx="0" cy="3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8" name="Text Box 50"/>
            <p:cNvSpPr txBox="1">
              <a:spLocks noChangeArrowheads="1"/>
            </p:cNvSpPr>
            <p:nvPr/>
          </p:nvSpPr>
          <p:spPr bwMode="auto">
            <a:xfrm>
              <a:off x="3588" y="1590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76829" name="Line 51"/>
            <p:cNvSpPr>
              <a:spLocks noChangeShapeType="1"/>
            </p:cNvSpPr>
            <p:nvPr/>
          </p:nvSpPr>
          <p:spPr bwMode="auto">
            <a:xfrm>
              <a:off x="3699" y="1036"/>
              <a:ext cx="22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30" name="Line 52"/>
            <p:cNvSpPr>
              <a:spLocks noChangeShapeType="1"/>
            </p:cNvSpPr>
            <p:nvPr/>
          </p:nvSpPr>
          <p:spPr bwMode="auto">
            <a:xfrm>
              <a:off x="3699" y="1922"/>
              <a:ext cx="16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31" name="Line 53"/>
            <p:cNvSpPr>
              <a:spLocks noChangeShapeType="1"/>
            </p:cNvSpPr>
            <p:nvPr/>
          </p:nvSpPr>
          <p:spPr bwMode="auto">
            <a:xfrm flipH="1">
              <a:off x="4865" y="1580"/>
              <a:ext cx="0" cy="3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32" name="Rectangle 54"/>
            <p:cNvSpPr>
              <a:spLocks noChangeArrowheads="1"/>
            </p:cNvSpPr>
            <p:nvPr/>
          </p:nvSpPr>
          <p:spPr bwMode="auto">
            <a:xfrm>
              <a:off x="4807" y="1341"/>
              <a:ext cx="113" cy="2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33" name="Line 55"/>
            <p:cNvSpPr>
              <a:spLocks noChangeShapeType="1"/>
            </p:cNvSpPr>
            <p:nvPr/>
          </p:nvSpPr>
          <p:spPr bwMode="auto">
            <a:xfrm>
              <a:off x="4865" y="1035"/>
              <a:ext cx="0" cy="3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6834" name="Object 56"/>
            <p:cNvGraphicFramePr>
              <a:graphicFrameLocks noChangeAspect="1"/>
            </p:cNvGraphicFramePr>
            <p:nvPr/>
          </p:nvGraphicFramePr>
          <p:xfrm>
            <a:off x="4556" y="1348"/>
            <a:ext cx="227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52517" imgH="152512" progId="Equation.3">
                    <p:embed/>
                  </p:oleObj>
                </mc:Choice>
                <mc:Fallback>
                  <p:oleObj name="公式" r:id="rId12" imgW="152517" imgH="152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6" y="1348"/>
                          <a:ext cx="227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35" name="Line 57"/>
            <p:cNvSpPr>
              <a:spLocks noChangeShapeType="1"/>
            </p:cNvSpPr>
            <p:nvPr/>
          </p:nvSpPr>
          <p:spPr bwMode="auto">
            <a:xfrm>
              <a:off x="5361" y="1505"/>
              <a:ext cx="3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36" name="Line 58"/>
            <p:cNvSpPr>
              <a:spLocks noChangeShapeType="1"/>
            </p:cNvSpPr>
            <p:nvPr/>
          </p:nvSpPr>
          <p:spPr bwMode="auto">
            <a:xfrm flipH="1">
              <a:off x="5361" y="1036"/>
              <a:ext cx="3" cy="3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6837" name="Group 59"/>
            <p:cNvGrpSpPr>
              <a:grpSpLocks/>
            </p:cNvGrpSpPr>
            <p:nvPr/>
          </p:nvGrpSpPr>
          <p:grpSpPr bwMode="auto">
            <a:xfrm>
              <a:off x="5250" y="1424"/>
              <a:ext cx="222" cy="81"/>
              <a:chOff x="1776" y="1872"/>
              <a:chExt cx="192" cy="70"/>
            </a:xfrm>
          </p:grpSpPr>
          <p:sp>
            <p:nvSpPr>
              <p:cNvPr id="76847" name="Line 60"/>
              <p:cNvSpPr>
                <a:spLocks noChangeShapeType="1"/>
              </p:cNvSpPr>
              <p:nvPr/>
            </p:nvSpPr>
            <p:spPr bwMode="auto">
              <a:xfrm>
                <a:off x="1776" y="1872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848" name="Line 61"/>
              <p:cNvSpPr>
                <a:spLocks noChangeShapeType="1"/>
              </p:cNvSpPr>
              <p:nvPr/>
            </p:nvSpPr>
            <p:spPr bwMode="auto">
              <a:xfrm>
                <a:off x="1776" y="1942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6838" name="Oval 63"/>
            <p:cNvSpPr>
              <a:spLocks noChangeArrowheads="1"/>
            </p:cNvSpPr>
            <p:nvPr/>
          </p:nvSpPr>
          <p:spPr bwMode="auto">
            <a:xfrm>
              <a:off x="4427" y="878"/>
              <a:ext cx="278" cy="27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39" name="Text Box 64"/>
            <p:cNvSpPr txBox="1">
              <a:spLocks noChangeArrowheads="1"/>
            </p:cNvSpPr>
            <p:nvPr/>
          </p:nvSpPr>
          <p:spPr bwMode="auto">
            <a:xfrm>
              <a:off x="4427" y="846"/>
              <a:ext cx="3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l"/>
              <a:r>
                <a:rPr lang="en-US" altLang="zh-CN" sz="2400" i="0">
                  <a:solidFill>
                    <a:srgbClr val="FF0000"/>
                  </a:solidFill>
                </a:rPr>
                <a:t>A</a:t>
              </a:r>
              <a:r>
                <a:rPr lang="en-US" altLang="zh-CN" sz="2400" i="0" baseline="-25000">
                  <a:solidFill>
                    <a:srgbClr val="FF0000"/>
                  </a:solidFill>
                </a:rPr>
                <a:t>2</a:t>
              </a:r>
              <a:endParaRPr lang="en-US" altLang="zh-CN" sz="2400" i="0"/>
            </a:p>
          </p:txBody>
        </p:sp>
        <p:sp>
          <p:nvSpPr>
            <p:cNvPr id="76840" name="Oval 66"/>
            <p:cNvSpPr>
              <a:spLocks noChangeArrowheads="1"/>
            </p:cNvSpPr>
            <p:nvPr/>
          </p:nvSpPr>
          <p:spPr bwMode="auto">
            <a:xfrm>
              <a:off x="4973" y="878"/>
              <a:ext cx="278" cy="27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41" name="Text Box 67"/>
            <p:cNvSpPr txBox="1">
              <a:spLocks noChangeArrowheads="1"/>
            </p:cNvSpPr>
            <p:nvPr/>
          </p:nvSpPr>
          <p:spPr bwMode="auto">
            <a:xfrm>
              <a:off x="4973" y="846"/>
              <a:ext cx="3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l"/>
              <a:r>
                <a:rPr lang="en-US" altLang="zh-CN" sz="2400" i="0">
                  <a:solidFill>
                    <a:srgbClr val="FF0000"/>
                  </a:solidFill>
                </a:rPr>
                <a:t>A</a:t>
              </a:r>
              <a:r>
                <a:rPr lang="en-US" altLang="zh-CN" sz="2400" i="0" baseline="-25000">
                  <a:solidFill>
                    <a:srgbClr val="FF0000"/>
                  </a:solidFill>
                </a:rPr>
                <a:t>3</a:t>
              </a:r>
              <a:endParaRPr lang="en-US" altLang="zh-CN" sz="2400" i="0"/>
            </a:p>
          </p:txBody>
        </p:sp>
        <p:sp>
          <p:nvSpPr>
            <p:cNvPr id="76842" name="Line 68"/>
            <p:cNvSpPr>
              <a:spLocks noChangeShapeType="1"/>
            </p:cNvSpPr>
            <p:nvPr/>
          </p:nvSpPr>
          <p:spPr bwMode="auto">
            <a:xfrm>
              <a:off x="4198" y="1036"/>
              <a:ext cx="2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43" name="Line 69"/>
            <p:cNvSpPr>
              <a:spLocks noChangeShapeType="1"/>
            </p:cNvSpPr>
            <p:nvPr/>
          </p:nvSpPr>
          <p:spPr bwMode="auto">
            <a:xfrm>
              <a:off x="4696" y="1036"/>
              <a:ext cx="27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44" name="Line 70"/>
            <p:cNvSpPr>
              <a:spLocks noChangeShapeType="1"/>
            </p:cNvSpPr>
            <p:nvPr/>
          </p:nvSpPr>
          <p:spPr bwMode="auto">
            <a:xfrm>
              <a:off x="5258" y="1036"/>
              <a:ext cx="11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6845" name="Object 71"/>
            <p:cNvGraphicFramePr>
              <a:graphicFrameLocks noChangeAspect="1"/>
            </p:cNvGraphicFramePr>
            <p:nvPr/>
          </p:nvGraphicFramePr>
          <p:xfrm>
            <a:off x="5021" y="1359"/>
            <a:ext cx="227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52517" imgH="171408" progId="Equation.3">
                    <p:embed/>
                  </p:oleObj>
                </mc:Choice>
                <mc:Fallback>
                  <p:oleObj name="公式" r:id="rId14" imgW="152517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1" y="1359"/>
                          <a:ext cx="227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46" name="Object 72"/>
            <p:cNvGraphicFramePr>
              <a:graphicFrameLocks noChangeAspect="1"/>
            </p:cNvGraphicFramePr>
            <p:nvPr/>
          </p:nvGraphicFramePr>
          <p:xfrm>
            <a:off x="4095" y="1368"/>
            <a:ext cx="210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42799" imgH="152512" progId="Equation.3">
                    <p:embed/>
                  </p:oleObj>
                </mc:Choice>
                <mc:Fallback>
                  <p:oleObj name="公式" r:id="rId16" imgW="142799" imgH="152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5" y="1368"/>
                          <a:ext cx="210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6807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861779"/>
              </p:ext>
            </p:extLst>
          </p:nvPr>
        </p:nvGraphicFramePr>
        <p:xfrm>
          <a:off x="2172287" y="1365225"/>
          <a:ext cx="26352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09605" imgH="219186" progId="Equation.3">
                  <p:embed/>
                </p:oleObj>
              </mc:Choice>
              <mc:Fallback>
                <p:oleObj name="公式" r:id="rId18" imgW="1209605" imgH="2191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2287" y="1365225"/>
                        <a:ext cx="26352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8" name="Rectangle 74"/>
          <p:cNvSpPr>
            <a:spLocks noChangeArrowheads="1"/>
          </p:cNvSpPr>
          <p:nvPr/>
        </p:nvSpPr>
        <p:spPr bwMode="auto">
          <a:xfrm>
            <a:off x="1270334" y="1773648"/>
            <a:ext cx="384175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lnSpc>
                <a:spcPct val="12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The ammeter </a:t>
            </a:r>
            <a:r>
              <a:rPr lang="en-US" altLang="zh-CN" sz="2400" i="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i="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reads </a:t>
            </a:r>
            <a:r>
              <a:rPr lang="zh-CN" altLang="zh-CN" sz="2400" i="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400" i="0" dirty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76809" name="Rectangle 75"/>
          <p:cNvSpPr>
            <a:spLocks noChangeArrowheads="1"/>
          </p:cNvSpPr>
          <p:nvPr/>
        </p:nvSpPr>
        <p:spPr bwMode="auto">
          <a:xfrm>
            <a:off x="465137" y="2455069"/>
            <a:ext cx="5124993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20000"/>
              </a:lnSpc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Find: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zh-CN" altLang="zh-CN" sz="2400" dirty="0">
                <a:latin typeface="Times New Roman" pitchFamily="18" charset="0"/>
                <a:cs typeface="Times New Roman" pitchFamily="18" charset="0"/>
              </a:rPr>
              <a:t>1)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The readings of ammeters A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l" eaLnBrk="0" hangingPunct="0">
              <a:lnSpc>
                <a:spcPct val="12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                    andA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respectively</a:t>
            </a:r>
            <a:r>
              <a:rPr lang="zh-CN" altLang="zh-CN" sz="2400" dirty="0">
                <a:latin typeface="Times New Roman" pitchFamily="18" charset="0"/>
                <a:cs typeface="Times New Roman" pitchFamily="18" charset="0"/>
              </a:rPr>
              <a:t>?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810" name="Rectangle 76"/>
          <p:cNvSpPr>
            <a:spLocks noChangeArrowheads="1"/>
          </p:cNvSpPr>
          <p:nvPr/>
        </p:nvSpPr>
        <p:spPr bwMode="auto">
          <a:xfrm>
            <a:off x="1217943" y="3379223"/>
            <a:ext cx="579838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2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zh-CN" sz="2400" dirty="0">
                <a:latin typeface="Times New Roman" pitchFamily="18" charset="0"/>
                <a:cs typeface="Times New Roman" pitchFamily="18" charset="0"/>
              </a:rPr>
              <a:t>2)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The equivalent impedance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at terminals </a:t>
            </a:r>
            <a:r>
              <a:rPr lang="zh-CN" altLang="zh-CN" sz="2400" dirty="0">
                <a:latin typeface="Times New Roman" pitchFamily="18" charset="0"/>
                <a:cs typeface="Times New Roman" pitchFamily="18" charset="0"/>
              </a:rPr>
              <a:t>?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811" name="灯片编号占位符 26"/>
          <p:cNvSpPr txBox="1">
            <a:spLocks/>
          </p:cNvSpPr>
          <p:nvPr/>
        </p:nvSpPr>
        <p:spPr bwMode="auto">
          <a:xfrm>
            <a:off x="0" y="6613525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9A9631B-4423-427A-9686-A63F11C346AC}" type="slidenum">
              <a:rPr lang="zh-CN" altLang="en-US" sz="1000" i="0">
                <a:solidFill>
                  <a:schemeClr val="bg1"/>
                </a:solidFill>
              </a:rPr>
              <a:pPr eaLnBrk="1" hangingPunct="1"/>
              <a:t>89</a:t>
            </a:fld>
            <a:endParaRPr lang="en-US" altLang="zh-CN" sz="1000" i="0">
              <a:solidFill>
                <a:schemeClr val="bg1"/>
              </a:solidFill>
            </a:endParaRPr>
          </a:p>
        </p:txBody>
      </p:sp>
      <p:sp>
        <p:nvSpPr>
          <p:cNvPr id="76812" name="Rectangle 4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4340225" y="6610350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返 回</a:t>
            </a:r>
          </a:p>
        </p:txBody>
      </p:sp>
      <p:sp>
        <p:nvSpPr>
          <p:cNvPr id="76813" name="Rectangle 46">
            <a:hlinkClick r:id="rId20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上一节</a:t>
            </a:r>
          </a:p>
        </p:txBody>
      </p:sp>
      <p:sp>
        <p:nvSpPr>
          <p:cNvPr id="76814" name="Rectangle 45">
            <a:hlinkClick r:id="rId21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下一节</a:t>
            </a:r>
          </a:p>
        </p:txBody>
      </p:sp>
      <p:sp>
        <p:nvSpPr>
          <p:cNvPr id="76815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上一页</a:t>
            </a:r>
          </a:p>
        </p:txBody>
      </p:sp>
      <p:sp>
        <p:nvSpPr>
          <p:cNvPr id="76816" name="Rectangle 4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2264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下一页</a:t>
            </a:r>
          </a:p>
        </p:txBody>
      </p:sp>
      <p:sp>
        <p:nvSpPr>
          <p:cNvPr id="2" name="矩形 1"/>
          <p:cNvSpPr/>
          <p:nvPr/>
        </p:nvSpPr>
        <p:spPr>
          <a:xfrm>
            <a:off x="1270334" y="5375935"/>
            <a:ext cx="20013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True or false?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5F0D8D8-3A4F-4EE2-ACEB-C928DAC18F6A}"/>
                  </a:ext>
                </a:extLst>
              </p14:cNvPr>
              <p14:cNvContentPartPr/>
              <p14:nvPr/>
            </p14:nvContentPartPr>
            <p14:xfrm>
              <a:off x="2660400" y="5129280"/>
              <a:ext cx="155520" cy="7938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5F0D8D8-3A4F-4EE2-ACEB-C928DAC18F6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63880" y="3759840"/>
                <a:ext cx="6990480" cy="305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3546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/>
      <p:bldP spid="76808" grpId="0"/>
      <p:bldP spid="76809" grpId="0"/>
      <p:bldP spid="76810" grpId="0"/>
      <p:bldP spid="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1599" y="411163"/>
            <a:ext cx="1834383" cy="6096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</a:rPr>
              <a:t>Example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endParaRPr lang="zh-CN" altLang="en-US" sz="3200" dirty="0"/>
          </a:p>
        </p:txBody>
      </p:sp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2805983" y="539457"/>
            <a:ext cx="55824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/>
            <a:r>
              <a:rPr lang="en-US" altLang="zh-CN" i="0" dirty="0"/>
              <a:t>In the circuit,</a:t>
            </a:r>
            <a:r>
              <a:rPr lang="zh-CN" altLang="en-US" i="0" dirty="0"/>
              <a:t> </a:t>
            </a:r>
            <a:r>
              <a:rPr lang="en-US" altLang="zh-CN" dirty="0"/>
              <a:t>I</a:t>
            </a:r>
            <a:r>
              <a:rPr lang="en-US" altLang="zh-CN" i="0" baseline="-25000" dirty="0"/>
              <a:t>1</a:t>
            </a:r>
            <a:r>
              <a:rPr lang="en-US" altLang="zh-CN" i="0" dirty="0"/>
              <a:t>=10A</a:t>
            </a:r>
            <a:r>
              <a:rPr lang="zh-CN" altLang="en-US" i="0" dirty="0"/>
              <a:t>、</a:t>
            </a:r>
            <a:r>
              <a:rPr lang="en-US" altLang="zh-CN" dirty="0"/>
              <a:t>U</a:t>
            </a:r>
            <a:r>
              <a:rPr lang="en-US" altLang="zh-CN" i="0" baseline="-25000" dirty="0"/>
              <a:t>AB</a:t>
            </a:r>
            <a:r>
              <a:rPr lang="en-US" altLang="zh-CN" i="0" dirty="0"/>
              <a:t> =100V</a:t>
            </a:r>
            <a:endParaRPr lang="zh-CN" altLang="en-US" i="0" dirty="0"/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773641" y="1065811"/>
            <a:ext cx="83703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l" eaLnBrk="0" hangingPunct="0"/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Find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the readings of the voltmeter and ammeter respectively. </a:t>
            </a:r>
            <a:endParaRPr kumimoji="1" lang="zh-CN" altLang="en-US" sz="2400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8181" name="Text Box 5"/>
          <p:cNvSpPr txBox="1">
            <a:spLocks noChangeArrowheads="1"/>
          </p:cNvSpPr>
          <p:nvPr/>
        </p:nvSpPr>
        <p:spPr bwMode="auto">
          <a:xfrm>
            <a:off x="457199" y="5103110"/>
            <a:ext cx="81883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/>
            <a:r>
              <a:rPr lang="en-US" altLang="zh-CN" i="0" dirty="0">
                <a:solidFill>
                  <a:srgbClr val="000099"/>
                </a:solidFill>
              </a:rPr>
              <a:t>Two methods</a:t>
            </a:r>
            <a:r>
              <a:rPr lang="zh-CN" altLang="en-US" i="0" dirty="0">
                <a:solidFill>
                  <a:srgbClr val="000099"/>
                </a:solidFill>
              </a:rPr>
              <a:t>： </a:t>
            </a:r>
            <a:r>
              <a:rPr lang="en-US" altLang="zh-CN" i="0" dirty="0">
                <a:solidFill>
                  <a:srgbClr val="CC0000"/>
                </a:solidFill>
              </a:rPr>
              <a:t>(1) </a:t>
            </a:r>
            <a:r>
              <a:rPr lang="en-US" altLang="zh-CN" i="0" dirty="0" err="1">
                <a:solidFill>
                  <a:srgbClr val="CC0000"/>
                </a:solidFill>
              </a:rPr>
              <a:t>phasor</a:t>
            </a:r>
            <a:r>
              <a:rPr lang="en-US" altLang="zh-CN" i="0" dirty="0">
                <a:solidFill>
                  <a:srgbClr val="CC0000"/>
                </a:solidFill>
              </a:rPr>
              <a:t>  calculation;</a:t>
            </a:r>
          </a:p>
          <a:p>
            <a:pPr algn="l"/>
            <a:r>
              <a:rPr lang="en-US" altLang="zh-CN" i="0" dirty="0">
                <a:solidFill>
                  <a:srgbClr val="CC0000"/>
                </a:solidFill>
              </a:rPr>
              <a:t>                            (2) </a:t>
            </a:r>
            <a:r>
              <a:rPr lang="en-US" altLang="zh-CN" i="0" dirty="0" err="1">
                <a:solidFill>
                  <a:srgbClr val="CC0000"/>
                </a:solidFill>
              </a:rPr>
              <a:t>phasor</a:t>
            </a:r>
            <a:r>
              <a:rPr lang="en-US" altLang="zh-CN" i="0" dirty="0">
                <a:solidFill>
                  <a:srgbClr val="CC0000"/>
                </a:solidFill>
              </a:rPr>
              <a:t> diagram</a:t>
            </a:r>
            <a:endParaRPr lang="zh-CN" altLang="en-US" i="0" dirty="0">
              <a:solidFill>
                <a:srgbClr val="CC0000"/>
              </a:solidFill>
            </a:endParaRPr>
          </a:p>
        </p:txBody>
      </p:sp>
      <p:sp>
        <p:nvSpPr>
          <p:cNvPr id="178185" name="Text Box 9"/>
          <p:cNvSpPr txBox="1">
            <a:spLocks noChangeArrowheads="1"/>
          </p:cNvSpPr>
          <p:nvPr/>
        </p:nvSpPr>
        <p:spPr bwMode="auto">
          <a:xfrm>
            <a:off x="381000" y="4191000"/>
            <a:ext cx="861060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en-US" altLang="zh-CN" sz="2400" i="0" dirty="0"/>
              <a:t>Solution</a:t>
            </a:r>
            <a:r>
              <a:rPr lang="zh-CN" altLang="en-US" sz="2400" i="0" dirty="0"/>
              <a:t>：</a:t>
            </a:r>
            <a:r>
              <a:rPr lang="en-US" altLang="zh-CN" sz="2400" i="0" dirty="0"/>
              <a:t>having known the voltage across the capacitor and the current through it, find the current I and the voltage V.</a:t>
            </a:r>
            <a:endParaRPr lang="zh-CN" altLang="en-US" i="0" dirty="0">
              <a:latin typeface="楷体_GB2312" pitchFamily="49" charset="-122"/>
            </a:endParaRPr>
          </a:p>
        </p:txBody>
      </p:sp>
      <p:grpSp>
        <p:nvGrpSpPr>
          <p:cNvPr id="90119" name="Group 101"/>
          <p:cNvGrpSpPr>
            <a:grpSpLocks/>
          </p:cNvGrpSpPr>
          <p:nvPr/>
        </p:nvGrpSpPr>
        <p:grpSpPr bwMode="auto">
          <a:xfrm>
            <a:off x="2133600" y="1395413"/>
            <a:ext cx="4953000" cy="2735262"/>
            <a:chOff x="1344" y="879"/>
            <a:chExt cx="2976" cy="1643"/>
          </a:xfrm>
        </p:grpSpPr>
        <p:sp>
          <p:nvSpPr>
            <p:cNvPr id="90126" name="Line 59"/>
            <p:cNvSpPr>
              <a:spLocks noChangeShapeType="1"/>
            </p:cNvSpPr>
            <p:nvPr/>
          </p:nvSpPr>
          <p:spPr bwMode="auto">
            <a:xfrm rot="5400000" flipH="1">
              <a:off x="3660" y="1041"/>
              <a:ext cx="1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0127" name="Group 60"/>
            <p:cNvGrpSpPr>
              <a:grpSpLocks/>
            </p:cNvGrpSpPr>
            <p:nvPr/>
          </p:nvGrpSpPr>
          <p:grpSpPr bwMode="auto">
            <a:xfrm>
              <a:off x="3346" y="1182"/>
              <a:ext cx="72" cy="178"/>
              <a:chOff x="4223" y="1055"/>
              <a:chExt cx="79" cy="238"/>
            </a:xfrm>
          </p:grpSpPr>
          <p:sp>
            <p:nvSpPr>
              <p:cNvPr id="90166" name="Line 61"/>
              <p:cNvSpPr>
                <a:spLocks noChangeShapeType="1"/>
              </p:cNvSpPr>
              <p:nvPr/>
            </p:nvSpPr>
            <p:spPr bwMode="auto">
              <a:xfrm rot="5400000" flipH="1">
                <a:off x="4183" y="1174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67" name="Line 62"/>
              <p:cNvSpPr>
                <a:spLocks noChangeShapeType="1"/>
              </p:cNvSpPr>
              <p:nvPr/>
            </p:nvSpPr>
            <p:spPr bwMode="auto">
              <a:xfrm rot="5400000" flipH="1">
                <a:off x="4104" y="1174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0128" name="Rectangle 63"/>
            <p:cNvSpPr>
              <a:spLocks noChangeArrowheads="1"/>
            </p:cNvSpPr>
            <p:nvPr/>
          </p:nvSpPr>
          <p:spPr bwMode="auto">
            <a:xfrm rot="-5400000">
              <a:off x="3038" y="1825"/>
              <a:ext cx="93" cy="23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9" name="Line 64"/>
            <p:cNvSpPr>
              <a:spLocks noChangeShapeType="1"/>
            </p:cNvSpPr>
            <p:nvPr/>
          </p:nvSpPr>
          <p:spPr bwMode="auto">
            <a:xfrm rot="-5400000">
              <a:off x="3288" y="1866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0" name="Line 65"/>
            <p:cNvSpPr>
              <a:spLocks noChangeShapeType="1"/>
            </p:cNvSpPr>
            <p:nvPr/>
          </p:nvSpPr>
          <p:spPr bwMode="auto">
            <a:xfrm rot="-5400000">
              <a:off x="2884" y="1840"/>
              <a:ext cx="0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1" name="Line 66"/>
            <p:cNvSpPr>
              <a:spLocks noChangeShapeType="1"/>
            </p:cNvSpPr>
            <p:nvPr/>
          </p:nvSpPr>
          <p:spPr bwMode="auto">
            <a:xfrm rot="-5400000">
              <a:off x="3820" y="1866"/>
              <a:ext cx="1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2" name="Line 67"/>
            <p:cNvSpPr>
              <a:spLocks noChangeShapeType="1"/>
            </p:cNvSpPr>
            <p:nvPr/>
          </p:nvSpPr>
          <p:spPr bwMode="auto">
            <a:xfrm>
              <a:off x="3883" y="1276"/>
              <a:ext cx="0" cy="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3" name="Line 68"/>
            <p:cNvSpPr>
              <a:spLocks noChangeShapeType="1"/>
            </p:cNvSpPr>
            <p:nvPr/>
          </p:nvSpPr>
          <p:spPr bwMode="auto">
            <a:xfrm>
              <a:off x="3894" y="1605"/>
              <a:ext cx="4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4" name="Text Box 69"/>
            <p:cNvSpPr txBox="1">
              <a:spLocks noChangeArrowheads="1"/>
            </p:cNvSpPr>
            <p:nvPr/>
          </p:nvSpPr>
          <p:spPr bwMode="auto">
            <a:xfrm>
              <a:off x="2566" y="1327"/>
              <a:ext cx="254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A</a:t>
              </a:r>
            </a:p>
          </p:txBody>
        </p:sp>
        <p:sp>
          <p:nvSpPr>
            <p:cNvPr id="90135" name="Text Box 70"/>
            <p:cNvSpPr txBox="1">
              <a:spLocks noChangeArrowheads="1"/>
            </p:cNvSpPr>
            <p:nvPr/>
          </p:nvSpPr>
          <p:spPr bwMode="auto">
            <a:xfrm>
              <a:off x="3895" y="1327"/>
              <a:ext cx="243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B</a:t>
              </a:r>
            </a:p>
          </p:txBody>
        </p:sp>
        <p:sp>
          <p:nvSpPr>
            <p:cNvPr id="90136" name="Text Box 71"/>
            <p:cNvSpPr txBox="1">
              <a:spLocks noChangeArrowheads="1"/>
            </p:cNvSpPr>
            <p:nvPr/>
          </p:nvSpPr>
          <p:spPr bwMode="auto">
            <a:xfrm>
              <a:off x="3099" y="1327"/>
              <a:ext cx="358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 C</a:t>
              </a:r>
              <a:r>
                <a:rPr lang="en-US" altLang="zh-CN" sz="2600" baseline="-25000"/>
                <a:t>1</a:t>
              </a:r>
              <a:endParaRPr lang="en-US" altLang="zh-CN" sz="2600"/>
            </a:p>
          </p:txBody>
        </p:sp>
        <p:sp>
          <p:nvSpPr>
            <p:cNvPr id="90137" name="Line 72"/>
            <p:cNvSpPr>
              <a:spLocks noChangeShapeType="1"/>
            </p:cNvSpPr>
            <p:nvPr/>
          </p:nvSpPr>
          <p:spPr bwMode="auto">
            <a:xfrm>
              <a:off x="1350" y="1588"/>
              <a:ext cx="0" cy="7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8" name="Line 73"/>
            <p:cNvSpPr>
              <a:spLocks noChangeShapeType="1"/>
            </p:cNvSpPr>
            <p:nvPr/>
          </p:nvSpPr>
          <p:spPr bwMode="auto">
            <a:xfrm>
              <a:off x="4311" y="1605"/>
              <a:ext cx="0" cy="7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9" name="Oval 74"/>
            <p:cNvSpPr>
              <a:spLocks noChangeArrowheads="1"/>
            </p:cNvSpPr>
            <p:nvPr/>
          </p:nvSpPr>
          <p:spPr bwMode="auto">
            <a:xfrm>
              <a:off x="2705" y="2234"/>
              <a:ext cx="267" cy="2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0" name="Text Box 75"/>
            <p:cNvSpPr txBox="1">
              <a:spLocks noChangeArrowheads="1"/>
            </p:cNvSpPr>
            <p:nvPr/>
          </p:nvSpPr>
          <p:spPr bwMode="auto">
            <a:xfrm>
              <a:off x="2732" y="2229"/>
              <a:ext cx="254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 i="0">
                  <a:solidFill>
                    <a:srgbClr val="FF0000"/>
                  </a:solidFill>
                </a:rPr>
                <a:t>V</a:t>
              </a:r>
            </a:p>
          </p:txBody>
        </p:sp>
        <p:graphicFrame>
          <p:nvGraphicFramePr>
            <p:cNvPr id="90141" name="Object 76"/>
            <p:cNvGraphicFramePr>
              <a:graphicFrameLocks noChangeAspect="1"/>
            </p:cNvGraphicFramePr>
            <p:nvPr/>
          </p:nvGraphicFramePr>
          <p:xfrm>
            <a:off x="2968" y="1986"/>
            <a:ext cx="29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9192" imgH="171408" progId="Equation.3">
                    <p:embed/>
                  </p:oleObj>
                </mc:Choice>
                <mc:Fallback>
                  <p:oleObj name="公式" r:id="rId2" imgW="219192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1986"/>
                          <a:ext cx="29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42" name="Object 77"/>
            <p:cNvGraphicFramePr>
              <a:graphicFrameLocks noChangeAspect="1"/>
            </p:cNvGraphicFramePr>
            <p:nvPr/>
          </p:nvGraphicFramePr>
          <p:xfrm>
            <a:off x="2968" y="879"/>
            <a:ext cx="206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517" imgH="228634" progId="Equation.DSMT4">
                    <p:embed/>
                  </p:oleObj>
                </mc:Choice>
                <mc:Fallback>
                  <p:oleObj name="Equation" r:id="rId4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879"/>
                          <a:ext cx="206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43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9329308"/>
                </p:ext>
              </p:extLst>
            </p:nvPr>
          </p:nvGraphicFramePr>
          <p:xfrm>
            <a:off x="3004" y="1481"/>
            <a:ext cx="208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517" imgH="228634" progId="Equation.DSMT4">
                    <p:embed/>
                  </p:oleObj>
                </mc:Choice>
                <mc:Fallback>
                  <p:oleObj name="Equation" r:id="rId6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4" y="1481"/>
                          <a:ext cx="208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44" name="Line 79"/>
            <p:cNvSpPr>
              <a:spLocks noChangeShapeType="1"/>
            </p:cNvSpPr>
            <p:nvPr/>
          </p:nvSpPr>
          <p:spPr bwMode="auto">
            <a:xfrm>
              <a:off x="2968" y="1199"/>
              <a:ext cx="26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0145" name="Object 80"/>
            <p:cNvGraphicFramePr>
              <a:graphicFrameLocks noChangeAspect="1"/>
            </p:cNvGraphicFramePr>
            <p:nvPr/>
          </p:nvGraphicFramePr>
          <p:xfrm>
            <a:off x="1548" y="1235"/>
            <a:ext cx="47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71439" imgH="190573" progId="Equation.3">
                    <p:embed/>
                  </p:oleObj>
                </mc:Choice>
                <mc:Fallback>
                  <p:oleObj name="Equation" r:id="rId8" imgW="371439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8" y="1235"/>
                          <a:ext cx="47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46" name="Line 81"/>
            <p:cNvSpPr>
              <a:spLocks noChangeShapeType="1"/>
            </p:cNvSpPr>
            <p:nvPr/>
          </p:nvSpPr>
          <p:spPr bwMode="auto">
            <a:xfrm>
              <a:off x="2791" y="1279"/>
              <a:ext cx="0" cy="6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7" name="Line 82"/>
            <p:cNvSpPr>
              <a:spLocks noChangeShapeType="1"/>
            </p:cNvSpPr>
            <p:nvPr/>
          </p:nvSpPr>
          <p:spPr bwMode="auto">
            <a:xfrm>
              <a:off x="2791" y="1279"/>
              <a:ext cx="55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8" name="Oval 83"/>
            <p:cNvSpPr>
              <a:spLocks noChangeArrowheads="1"/>
            </p:cNvSpPr>
            <p:nvPr/>
          </p:nvSpPr>
          <p:spPr bwMode="auto">
            <a:xfrm>
              <a:off x="2163" y="1455"/>
              <a:ext cx="267" cy="2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zh-CN" sz="2600" i="0">
                  <a:solidFill>
                    <a:srgbClr val="FF0000"/>
                  </a:solidFill>
                </a:rPr>
                <a:t>A</a:t>
              </a:r>
            </a:p>
          </p:txBody>
        </p:sp>
        <p:grpSp>
          <p:nvGrpSpPr>
            <p:cNvPr id="90149" name="Group 84"/>
            <p:cNvGrpSpPr>
              <a:grpSpLocks/>
            </p:cNvGrpSpPr>
            <p:nvPr/>
          </p:nvGrpSpPr>
          <p:grpSpPr bwMode="auto">
            <a:xfrm>
              <a:off x="1561" y="1518"/>
              <a:ext cx="374" cy="87"/>
              <a:chOff x="1932" y="1430"/>
              <a:chExt cx="389" cy="99"/>
            </a:xfrm>
          </p:grpSpPr>
          <p:sp>
            <p:nvSpPr>
              <p:cNvPr id="90163" name="AutoShape 85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64" name="AutoShape 86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65" name="AutoShape 87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0150" name="Line 88"/>
            <p:cNvSpPr>
              <a:spLocks noChangeShapeType="1"/>
            </p:cNvSpPr>
            <p:nvPr/>
          </p:nvSpPr>
          <p:spPr bwMode="auto">
            <a:xfrm>
              <a:off x="1943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1" name="Line 89"/>
            <p:cNvSpPr>
              <a:spLocks noChangeShapeType="1"/>
            </p:cNvSpPr>
            <p:nvPr/>
          </p:nvSpPr>
          <p:spPr bwMode="auto">
            <a:xfrm>
              <a:off x="1348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2" name="Line 90"/>
            <p:cNvSpPr>
              <a:spLocks noChangeShapeType="1"/>
            </p:cNvSpPr>
            <p:nvPr/>
          </p:nvSpPr>
          <p:spPr bwMode="auto">
            <a:xfrm>
              <a:off x="2434" y="1588"/>
              <a:ext cx="3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3" name="Line 91"/>
            <p:cNvSpPr>
              <a:spLocks noChangeShapeType="1"/>
            </p:cNvSpPr>
            <p:nvPr/>
          </p:nvSpPr>
          <p:spPr bwMode="auto">
            <a:xfrm>
              <a:off x="1344" y="2382"/>
              <a:ext cx="13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4" name="Line 92"/>
            <p:cNvSpPr>
              <a:spLocks noChangeShapeType="1"/>
            </p:cNvSpPr>
            <p:nvPr/>
          </p:nvSpPr>
          <p:spPr bwMode="auto">
            <a:xfrm>
              <a:off x="2976" y="2382"/>
              <a:ext cx="13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0155" name="Object 93"/>
            <p:cNvGraphicFramePr>
              <a:graphicFrameLocks noChangeAspect="1"/>
            </p:cNvGraphicFramePr>
            <p:nvPr/>
          </p:nvGraphicFramePr>
          <p:xfrm>
            <a:off x="3365" y="1968"/>
            <a:ext cx="397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5315" imgH="190573" progId="Equation.3">
                    <p:embed/>
                  </p:oleObj>
                </mc:Choice>
                <mc:Fallback>
                  <p:oleObj name="Equation" r:id="rId10" imgW="29531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5" y="1968"/>
                          <a:ext cx="397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56" name="Line 94"/>
            <p:cNvSpPr>
              <a:spLocks noChangeShapeType="1"/>
            </p:cNvSpPr>
            <p:nvPr/>
          </p:nvSpPr>
          <p:spPr bwMode="auto">
            <a:xfrm>
              <a:off x="2968" y="1827"/>
              <a:ext cx="26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0157" name="Object 95"/>
            <p:cNvGraphicFramePr>
              <a:graphicFrameLocks noChangeAspect="1"/>
            </p:cNvGraphicFramePr>
            <p:nvPr/>
          </p:nvGraphicFramePr>
          <p:xfrm>
            <a:off x="2262" y="1158"/>
            <a:ext cx="15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4185" imgH="180855" progId="Equation.DSMT4">
                    <p:embed/>
                  </p:oleObj>
                </mc:Choice>
                <mc:Fallback>
                  <p:oleObj name="Equation" r:id="rId12" imgW="114185" imgH="18085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2" y="1158"/>
                          <a:ext cx="15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58" name="Line 96"/>
            <p:cNvSpPr>
              <a:spLocks noChangeShapeType="1"/>
            </p:cNvSpPr>
            <p:nvPr/>
          </p:nvSpPr>
          <p:spPr bwMode="auto">
            <a:xfrm>
              <a:off x="2218" y="1403"/>
              <a:ext cx="26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0159" name="Group 97"/>
            <p:cNvGrpSpPr>
              <a:grpSpLocks/>
            </p:cNvGrpSpPr>
            <p:nvPr/>
          </p:nvGrpSpPr>
          <p:grpSpPr bwMode="auto">
            <a:xfrm>
              <a:off x="3363" y="1868"/>
              <a:ext cx="375" cy="88"/>
              <a:chOff x="1932" y="1430"/>
              <a:chExt cx="389" cy="99"/>
            </a:xfrm>
          </p:grpSpPr>
          <p:sp>
            <p:nvSpPr>
              <p:cNvPr id="90160" name="AutoShape 98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61" name="AutoShape 99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62" name="AutoShape 100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90120" name="灯片编号占位符 26"/>
          <p:cNvSpPr txBox="1">
            <a:spLocks/>
          </p:cNvSpPr>
          <p:nvPr/>
        </p:nvSpPr>
        <p:spPr bwMode="auto">
          <a:xfrm>
            <a:off x="0" y="6613525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fld id="{1AB442CA-00DA-4EF1-82D1-195AB8BE4B46}" type="slidenum">
              <a:rPr lang="zh-CN" altLang="en-US" sz="1000" i="0">
                <a:solidFill>
                  <a:schemeClr val="bg1"/>
                </a:solidFill>
              </a:rPr>
              <a:pPr eaLnBrk="1" hangingPunct="1"/>
              <a:t>90</a:t>
            </a:fld>
            <a:endParaRPr lang="en-US" altLang="zh-CN" sz="1000" i="0">
              <a:solidFill>
                <a:schemeClr val="bg1"/>
              </a:solidFill>
            </a:endParaRPr>
          </a:p>
        </p:txBody>
      </p:sp>
      <p:sp>
        <p:nvSpPr>
          <p:cNvPr id="90121" name="Rectangle 4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4340225" y="6610350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返 回</a:t>
            </a:r>
          </a:p>
        </p:txBody>
      </p:sp>
      <p:sp>
        <p:nvSpPr>
          <p:cNvPr id="90122" name="Rectangle 46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上一节</a:t>
            </a:r>
          </a:p>
        </p:txBody>
      </p:sp>
      <p:sp>
        <p:nvSpPr>
          <p:cNvPr id="90123" name="Rectangle 45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下一节</a:t>
            </a:r>
          </a:p>
        </p:txBody>
      </p:sp>
      <p:sp>
        <p:nvSpPr>
          <p:cNvPr id="90124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上一页</a:t>
            </a:r>
          </a:p>
        </p:txBody>
      </p:sp>
      <p:sp>
        <p:nvSpPr>
          <p:cNvPr id="90125" name="Rectangle 4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2264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下一页</a:t>
            </a:r>
          </a:p>
        </p:txBody>
      </p:sp>
    </p:spTree>
    <p:extLst>
      <p:ext uri="{BB962C8B-B14F-4D97-AF65-F5344CB8AC3E}">
        <p14:creationId xmlns:p14="http://schemas.microsoft.com/office/powerpoint/2010/main" val="8726618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1" grpId="0" autoUpdateAnimBg="0"/>
      <p:bldP spid="178185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5562600" y="1908939"/>
            <a:ext cx="34092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eaLnBrk="0" hangingPunct="0"/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Find: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the readings of A and V</a:t>
            </a:r>
            <a:endParaRPr lang="zh-CN" altLang="en-US" sz="2000" b="1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5562600" y="774464"/>
            <a:ext cx="3581400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altLang="zh-CN" i="0" dirty="0">
                <a:solidFill>
                  <a:srgbClr val="FF0000"/>
                </a:solidFill>
              </a:rPr>
              <a:t>Given</a:t>
            </a:r>
            <a:r>
              <a:rPr lang="zh-CN" altLang="en-US" i="0" dirty="0">
                <a:solidFill>
                  <a:srgbClr val="FF0000"/>
                </a:solidFill>
              </a:rPr>
              <a:t>：</a:t>
            </a:r>
            <a:r>
              <a:rPr lang="en-US" altLang="zh-CN" dirty="0"/>
              <a:t>I</a:t>
            </a:r>
            <a:r>
              <a:rPr lang="en-US" altLang="zh-CN" i="0" baseline="-25000" dirty="0"/>
              <a:t>1</a:t>
            </a:r>
            <a:r>
              <a:rPr lang="en-US" altLang="zh-CN" i="0" dirty="0"/>
              <a:t>= 10A</a:t>
            </a:r>
            <a:r>
              <a:rPr lang="zh-CN" altLang="en-US" i="0" dirty="0"/>
              <a:t>、</a:t>
            </a:r>
          </a:p>
          <a:p>
            <a:pPr algn="l">
              <a:lnSpc>
                <a:spcPct val="110000"/>
              </a:lnSpc>
            </a:pPr>
            <a:r>
              <a:rPr lang="zh-CN" altLang="en-US" i="0" dirty="0"/>
              <a:t>            </a:t>
            </a:r>
            <a:r>
              <a:rPr lang="en-US" altLang="zh-CN" dirty="0"/>
              <a:t>U</a:t>
            </a:r>
            <a:r>
              <a:rPr lang="en-US" altLang="zh-CN" i="0" baseline="-25000" dirty="0"/>
              <a:t>AB</a:t>
            </a:r>
            <a:r>
              <a:rPr lang="en-US" altLang="zh-CN" i="0" dirty="0"/>
              <a:t> =100V</a:t>
            </a:r>
            <a:r>
              <a:rPr lang="zh-CN" altLang="en-US" i="0" dirty="0"/>
              <a:t>，</a:t>
            </a:r>
          </a:p>
        </p:txBody>
      </p:sp>
      <p:sp>
        <p:nvSpPr>
          <p:cNvPr id="91140" name="Line 4"/>
          <p:cNvSpPr>
            <a:spLocks noChangeShapeType="1"/>
          </p:cNvSpPr>
          <p:nvPr/>
        </p:nvSpPr>
        <p:spPr bwMode="auto">
          <a:xfrm>
            <a:off x="250825" y="2852738"/>
            <a:ext cx="8686800" cy="0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 anchor="ctr"/>
          <a:lstStyle/>
          <a:p>
            <a:endParaRPr lang="zh-CN" altLang="en-US"/>
          </a:p>
        </p:txBody>
      </p:sp>
      <p:sp>
        <p:nvSpPr>
          <p:cNvPr id="179205" name="Rectangle 5"/>
          <p:cNvSpPr>
            <a:spLocks noChangeArrowheads="1"/>
          </p:cNvSpPr>
          <p:nvPr/>
        </p:nvSpPr>
        <p:spPr bwMode="auto">
          <a:xfrm>
            <a:off x="381000" y="2996952"/>
            <a:ext cx="4076700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altLang="zh-CN" sz="2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Method </a:t>
            </a:r>
            <a:r>
              <a:rPr lang="en-US" altLang="zh-CN" sz="2400" b="1" i="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1:</a:t>
            </a:r>
            <a:r>
              <a:rPr lang="en-US" altLang="zh-CN" sz="2400" b="1" i="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phasor</a:t>
            </a:r>
            <a:r>
              <a:rPr lang="en-US" altLang="zh-CN" sz="2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calculation</a:t>
            </a:r>
            <a:endParaRPr lang="zh-CN" altLang="en-US" sz="2400" b="1" i="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9206" name="Text Box 6"/>
          <p:cNvSpPr txBox="1">
            <a:spLocks noChangeArrowheads="1"/>
          </p:cNvSpPr>
          <p:nvPr/>
        </p:nvSpPr>
        <p:spPr bwMode="auto">
          <a:xfrm>
            <a:off x="5840038" y="5154336"/>
            <a:ext cx="2854325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reading of the ammeter </a:t>
            </a:r>
            <a:r>
              <a:rPr lang="en-US" altLang="zh-CN" sz="24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10 A.</a:t>
            </a:r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523876" y="3411537"/>
            <a:ext cx="8458198" cy="579438"/>
            <a:chOff x="330" y="2149"/>
            <a:chExt cx="5328" cy="365"/>
          </a:xfrm>
        </p:grpSpPr>
        <p:grpSp>
          <p:nvGrpSpPr>
            <p:cNvPr id="91209" name="Group 55"/>
            <p:cNvGrpSpPr>
              <a:grpSpLocks/>
            </p:cNvGrpSpPr>
            <p:nvPr/>
          </p:nvGrpSpPr>
          <p:grpSpPr bwMode="auto">
            <a:xfrm>
              <a:off x="330" y="2149"/>
              <a:ext cx="5328" cy="365"/>
              <a:chOff x="330" y="2149"/>
              <a:chExt cx="5328" cy="365"/>
            </a:xfrm>
          </p:grpSpPr>
          <p:grpSp>
            <p:nvGrpSpPr>
              <p:cNvPr id="91213" name="Group 56"/>
              <p:cNvGrpSpPr>
                <a:grpSpLocks/>
              </p:cNvGrpSpPr>
              <p:nvPr/>
            </p:nvGrpSpPr>
            <p:grpSpPr bwMode="auto">
              <a:xfrm>
                <a:off x="431" y="2149"/>
                <a:ext cx="5227" cy="365"/>
                <a:chOff x="431" y="2149"/>
                <a:chExt cx="5227" cy="365"/>
              </a:xfrm>
            </p:grpSpPr>
            <p:graphicFrame>
              <p:nvGraphicFramePr>
                <p:cNvPr id="91216" name="Object 103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78824074"/>
                    </p:ext>
                  </p:extLst>
                </p:nvPr>
              </p:nvGraphicFramePr>
              <p:xfrm>
                <a:off x="3555" y="2167"/>
                <a:ext cx="2103" cy="34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" imgW="1434960" imgH="266400" progId="Equation.DSMT4">
                        <p:embed/>
                      </p:oleObj>
                    </mc:Choice>
                    <mc:Fallback>
                      <p:oleObj name="Equation" r:id="rId2" imgW="1434960" imgH="2664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55" y="2167"/>
                              <a:ext cx="2103" cy="34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1217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431" y="2160"/>
                  <a:ext cx="116" cy="3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l">
                    <a:lnSpc>
                      <a:spcPct val="110000"/>
                    </a:lnSpc>
                  </a:pPr>
                  <a:endParaRPr lang="en-US" altLang="zh-CN" i="0"/>
                </a:p>
              </p:txBody>
            </p:sp>
            <p:sp>
              <p:nvSpPr>
                <p:cNvPr id="91218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1216" y="2149"/>
                  <a:ext cx="2374" cy="3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l">
                    <a:lnSpc>
                      <a:spcPct val="110000"/>
                    </a:lnSpc>
                  </a:pPr>
                  <a:r>
                    <a:rPr lang="en-US" altLang="zh-CN" i="0" dirty="0"/>
                    <a:t>be the reference </a:t>
                  </a:r>
                  <a:r>
                    <a:rPr lang="en-US" altLang="zh-CN" i="0" dirty="0" err="1"/>
                    <a:t>phasor</a:t>
                  </a:r>
                  <a:endParaRPr lang="zh-CN" altLang="en-US" i="0" dirty="0"/>
                </a:p>
              </p:txBody>
            </p:sp>
            <p:graphicFrame>
              <p:nvGraphicFramePr>
                <p:cNvPr id="91219" name="Object 103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5295465"/>
                    </p:ext>
                  </p:extLst>
                </p:nvPr>
              </p:nvGraphicFramePr>
              <p:xfrm>
                <a:off x="746" y="2150"/>
                <a:ext cx="480" cy="3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285867" imgH="219186" progId="Equation.DSMT4">
                        <p:embed/>
                      </p:oleObj>
                    </mc:Choice>
                    <mc:Fallback>
                      <p:oleObj name="Equation" r:id="rId4" imgW="285867" imgH="219186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6" y="2150"/>
                              <a:ext cx="480" cy="3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91214" name="Rectangle 62"/>
              <p:cNvSpPr>
                <a:spLocks noChangeArrowheads="1"/>
              </p:cNvSpPr>
              <p:nvPr/>
            </p:nvSpPr>
            <p:spPr bwMode="auto">
              <a:xfrm>
                <a:off x="330" y="2160"/>
                <a:ext cx="39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Let</a:t>
                </a:r>
                <a:endParaRPr lang="zh-CN" altLang="en-US" sz="2400" b="1" i="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91210" name="Group 63"/>
            <p:cNvGrpSpPr>
              <a:grpSpLocks/>
            </p:cNvGrpSpPr>
            <p:nvPr/>
          </p:nvGrpSpPr>
          <p:grpSpPr bwMode="auto">
            <a:xfrm>
              <a:off x="4925" y="2226"/>
              <a:ext cx="384" cy="225"/>
              <a:chOff x="4925" y="2226"/>
              <a:chExt cx="384" cy="225"/>
            </a:xfrm>
          </p:grpSpPr>
          <p:sp>
            <p:nvSpPr>
              <p:cNvPr id="91211" name="Line 64"/>
              <p:cNvSpPr>
                <a:spLocks noChangeShapeType="1"/>
              </p:cNvSpPr>
              <p:nvPr/>
            </p:nvSpPr>
            <p:spPr bwMode="auto">
              <a:xfrm>
                <a:off x="4925" y="2451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212" name="Line 65"/>
              <p:cNvSpPr>
                <a:spLocks noChangeShapeType="1"/>
              </p:cNvSpPr>
              <p:nvPr/>
            </p:nvSpPr>
            <p:spPr bwMode="auto">
              <a:xfrm flipV="1">
                <a:off x="4948" y="2226"/>
                <a:ext cx="109" cy="2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66"/>
          <p:cNvGrpSpPr>
            <a:grpSpLocks/>
          </p:cNvGrpSpPr>
          <p:nvPr/>
        </p:nvGrpSpPr>
        <p:grpSpPr bwMode="auto">
          <a:xfrm>
            <a:off x="250826" y="4156082"/>
            <a:ext cx="6894514" cy="565151"/>
            <a:chOff x="158" y="2618"/>
            <a:chExt cx="4343" cy="356"/>
          </a:xfrm>
        </p:grpSpPr>
        <p:sp>
          <p:nvSpPr>
            <p:cNvPr id="91204" name="Text Box 67"/>
            <p:cNvSpPr txBox="1">
              <a:spLocks noChangeArrowheads="1"/>
            </p:cNvSpPr>
            <p:nvPr/>
          </p:nvSpPr>
          <p:spPr bwMode="auto">
            <a:xfrm>
              <a:off x="158" y="2650"/>
              <a:ext cx="74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400" i="0" dirty="0"/>
                <a:t>Then</a:t>
              </a:r>
              <a:r>
                <a:rPr lang="zh-CN" altLang="en-US" sz="2400" i="0" dirty="0"/>
                <a:t>：</a:t>
              </a:r>
            </a:p>
          </p:txBody>
        </p:sp>
        <p:graphicFrame>
          <p:nvGraphicFramePr>
            <p:cNvPr id="91205" name="Object 10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4550239"/>
                </p:ext>
              </p:extLst>
            </p:nvPr>
          </p:nvGraphicFramePr>
          <p:xfrm>
            <a:off x="735" y="2618"/>
            <a:ext cx="3766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05040" imgH="266400" progId="Equation.DSMT4">
                    <p:embed/>
                  </p:oleObj>
                </mc:Choice>
                <mc:Fallback>
                  <p:oleObj name="Equation" r:id="rId6" imgW="270504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" y="2618"/>
                          <a:ext cx="3766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1206" name="Group 69"/>
            <p:cNvGrpSpPr>
              <a:grpSpLocks/>
            </p:cNvGrpSpPr>
            <p:nvPr/>
          </p:nvGrpSpPr>
          <p:grpSpPr bwMode="auto">
            <a:xfrm>
              <a:off x="3600" y="2711"/>
              <a:ext cx="624" cy="217"/>
              <a:chOff x="3360" y="2688"/>
              <a:chExt cx="624" cy="217"/>
            </a:xfrm>
          </p:grpSpPr>
          <p:sp>
            <p:nvSpPr>
              <p:cNvPr id="91207" name="Line 70"/>
              <p:cNvSpPr>
                <a:spLocks noChangeShapeType="1"/>
              </p:cNvSpPr>
              <p:nvPr/>
            </p:nvSpPr>
            <p:spPr bwMode="auto">
              <a:xfrm>
                <a:off x="3360" y="2905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208" name="Line 71"/>
              <p:cNvSpPr>
                <a:spLocks noChangeShapeType="1"/>
              </p:cNvSpPr>
              <p:nvPr/>
            </p:nvSpPr>
            <p:spPr bwMode="auto">
              <a:xfrm flipV="1">
                <a:off x="3360" y="2688"/>
                <a:ext cx="109" cy="2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72"/>
          <p:cNvGrpSpPr>
            <a:grpSpLocks/>
          </p:cNvGrpSpPr>
          <p:nvPr/>
        </p:nvGrpSpPr>
        <p:grpSpPr bwMode="auto">
          <a:xfrm>
            <a:off x="160338" y="4827588"/>
            <a:ext cx="5402263" cy="600075"/>
            <a:chOff x="101" y="3041"/>
            <a:chExt cx="3403" cy="378"/>
          </a:xfrm>
        </p:grpSpPr>
        <p:graphicFrame>
          <p:nvGraphicFramePr>
            <p:cNvPr id="91200" name="Object 10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937925"/>
                </p:ext>
              </p:extLst>
            </p:nvPr>
          </p:nvGraphicFramePr>
          <p:xfrm>
            <a:off x="101" y="3041"/>
            <a:ext cx="3403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082600" imgH="266400" progId="Equation.DSMT4">
                    <p:embed/>
                  </p:oleObj>
                </mc:Choice>
                <mc:Fallback>
                  <p:oleObj name="Equation" r:id="rId8" imgW="208260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" y="3041"/>
                          <a:ext cx="3403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1201" name="Group 74"/>
            <p:cNvGrpSpPr>
              <a:grpSpLocks/>
            </p:cNvGrpSpPr>
            <p:nvPr/>
          </p:nvGrpSpPr>
          <p:grpSpPr bwMode="auto">
            <a:xfrm>
              <a:off x="1402" y="3138"/>
              <a:ext cx="576" cy="222"/>
              <a:chOff x="2266" y="2514"/>
              <a:chExt cx="576" cy="222"/>
            </a:xfrm>
          </p:grpSpPr>
          <p:sp>
            <p:nvSpPr>
              <p:cNvPr id="91202" name="Line 75"/>
              <p:cNvSpPr>
                <a:spLocks noChangeShapeType="1"/>
              </p:cNvSpPr>
              <p:nvPr/>
            </p:nvSpPr>
            <p:spPr bwMode="auto">
              <a:xfrm>
                <a:off x="2266" y="2736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203" name="Line 76"/>
              <p:cNvSpPr>
                <a:spLocks noChangeShapeType="1"/>
              </p:cNvSpPr>
              <p:nvPr/>
            </p:nvSpPr>
            <p:spPr bwMode="auto">
              <a:xfrm flipV="1">
                <a:off x="2269" y="2514"/>
                <a:ext cx="109" cy="2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Group 77"/>
          <p:cNvGrpSpPr>
            <a:grpSpLocks/>
          </p:cNvGrpSpPr>
          <p:nvPr/>
        </p:nvGrpSpPr>
        <p:grpSpPr bwMode="auto">
          <a:xfrm>
            <a:off x="239206" y="5504521"/>
            <a:ext cx="5494340" cy="651913"/>
            <a:chOff x="248" y="3473"/>
            <a:chExt cx="3558" cy="447"/>
          </a:xfrm>
        </p:grpSpPr>
        <p:graphicFrame>
          <p:nvGraphicFramePr>
            <p:cNvPr id="91196" name="Object 10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0704308"/>
                </p:ext>
              </p:extLst>
            </p:nvPr>
          </p:nvGraphicFramePr>
          <p:xfrm>
            <a:off x="248" y="3473"/>
            <a:ext cx="3558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866600" imgH="266400" progId="Equation.DSMT4">
                    <p:embed/>
                  </p:oleObj>
                </mc:Choice>
                <mc:Fallback>
                  <p:oleObj name="Equation" r:id="rId10" imgW="186660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" y="3473"/>
                          <a:ext cx="3558" cy="447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1197" name="Group 79"/>
            <p:cNvGrpSpPr>
              <a:grpSpLocks/>
            </p:cNvGrpSpPr>
            <p:nvPr/>
          </p:nvGrpSpPr>
          <p:grpSpPr bwMode="auto">
            <a:xfrm>
              <a:off x="2953" y="3568"/>
              <a:ext cx="432" cy="249"/>
              <a:chOff x="2953" y="3568"/>
              <a:chExt cx="432" cy="249"/>
            </a:xfrm>
          </p:grpSpPr>
          <p:sp>
            <p:nvSpPr>
              <p:cNvPr id="91198" name="Line 80"/>
              <p:cNvSpPr>
                <a:spLocks noChangeShapeType="1"/>
              </p:cNvSpPr>
              <p:nvPr/>
            </p:nvSpPr>
            <p:spPr bwMode="auto">
              <a:xfrm>
                <a:off x="2953" y="3817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99" name="Line 81"/>
              <p:cNvSpPr>
                <a:spLocks noChangeShapeType="1"/>
              </p:cNvSpPr>
              <p:nvPr/>
            </p:nvSpPr>
            <p:spPr bwMode="auto">
              <a:xfrm flipV="1">
                <a:off x="2953" y="3568"/>
                <a:ext cx="109" cy="2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1147" name="Group 82"/>
          <p:cNvGrpSpPr>
            <a:grpSpLocks/>
          </p:cNvGrpSpPr>
          <p:nvPr/>
        </p:nvGrpSpPr>
        <p:grpSpPr bwMode="auto">
          <a:xfrm>
            <a:off x="693481" y="85930"/>
            <a:ext cx="4800600" cy="2659062"/>
            <a:chOff x="1344" y="879"/>
            <a:chExt cx="2976" cy="1648"/>
          </a:xfrm>
        </p:grpSpPr>
        <p:sp>
          <p:nvSpPr>
            <p:cNvPr id="91154" name="Line 83"/>
            <p:cNvSpPr>
              <a:spLocks noChangeShapeType="1"/>
            </p:cNvSpPr>
            <p:nvPr/>
          </p:nvSpPr>
          <p:spPr bwMode="auto">
            <a:xfrm rot="5400000" flipH="1">
              <a:off x="3660" y="1041"/>
              <a:ext cx="1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1155" name="Group 84"/>
            <p:cNvGrpSpPr>
              <a:grpSpLocks/>
            </p:cNvGrpSpPr>
            <p:nvPr/>
          </p:nvGrpSpPr>
          <p:grpSpPr bwMode="auto">
            <a:xfrm>
              <a:off x="3346" y="1182"/>
              <a:ext cx="72" cy="178"/>
              <a:chOff x="4223" y="1055"/>
              <a:chExt cx="79" cy="238"/>
            </a:xfrm>
          </p:grpSpPr>
          <p:sp>
            <p:nvSpPr>
              <p:cNvPr id="91194" name="Line 85"/>
              <p:cNvSpPr>
                <a:spLocks noChangeShapeType="1"/>
              </p:cNvSpPr>
              <p:nvPr/>
            </p:nvSpPr>
            <p:spPr bwMode="auto">
              <a:xfrm rot="5400000" flipH="1">
                <a:off x="4183" y="1174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95" name="Line 86"/>
              <p:cNvSpPr>
                <a:spLocks noChangeShapeType="1"/>
              </p:cNvSpPr>
              <p:nvPr/>
            </p:nvSpPr>
            <p:spPr bwMode="auto">
              <a:xfrm rot="5400000" flipH="1">
                <a:off x="4104" y="1174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1156" name="Rectangle 87"/>
            <p:cNvSpPr>
              <a:spLocks noChangeArrowheads="1"/>
            </p:cNvSpPr>
            <p:nvPr/>
          </p:nvSpPr>
          <p:spPr bwMode="auto">
            <a:xfrm rot="-5400000">
              <a:off x="3038" y="1825"/>
              <a:ext cx="93" cy="23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7" name="Line 88"/>
            <p:cNvSpPr>
              <a:spLocks noChangeShapeType="1"/>
            </p:cNvSpPr>
            <p:nvPr/>
          </p:nvSpPr>
          <p:spPr bwMode="auto">
            <a:xfrm rot="-5400000">
              <a:off x="3288" y="1866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8" name="Line 89"/>
            <p:cNvSpPr>
              <a:spLocks noChangeShapeType="1"/>
            </p:cNvSpPr>
            <p:nvPr/>
          </p:nvSpPr>
          <p:spPr bwMode="auto">
            <a:xfrm rot="-5400000">
              <a:off x="2884" y="1840"/>
              <a:ext cx="0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9" name="Line 90"/>
            <p:cNvSpPr>
              <a:spLocks noChangeShapeType="1"/>
            </p:cNvSpPr>
            <p:nvPr/>
          </p:nvSpPr>
          <p:spPr bwMode="auto">
            <a:xfrm rot="-5400000">
              <a:off x="3820" y="1866"/>
              <a:ext cx="1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0" name="Line 91"/>
            <p:cNvSpPr>
              <a:spLocks noChangeShapeType="1"/>
            </p:cNvSpPr>
            <p:nvPr/>
          </p:nvSpPr>
          <p:spPr bwMode="auto">
            <a:xfrm>
              <a:off x="3883" y="1276"/>
              <a:ext cx="0" cy="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1" name="Line 92"/>
            <p:cNvSpPr>
              <a:spLocks noChangeShapeType="1"/>
            </p:cNvSpPr>
            <p:nvPr/>
          </p:nvSpPr>
          <p:spPr bwMode="auto">
            <a:xfrm>
              <a:off x="3894" y="1605"/>
              <a:ext cx="4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2" name="Text Box 93"/>
            <p:cNvSpPr txBox="1">
              <a:spLocks noChangeArrowheads="1"/>
            </p:cNvSpPr>
            <p:nvPr/>
          </p:nvSpPr>
          <p:spPr bwMode="auto">
            <a:xfrm>
              <a:off x="2562" y="1323"/>
              <a:ext cx="262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A</a:t>
              </a:r>
            </a:p>
          </p:txBody>
        </p:sp>
        <p:sp>
          <p:nvSpPr>
            <p:cNvPr id="91163" name="Text Box 94"/>
            <p:cNvSpPr txBox="1">
              <a:spLocks noChangeArrowheads="1"/>
            </p:cNvSpPr>
            <p:nvPr/>
          </p:nvSpPr>
          <p:spPr bwMode="auto">
            <a:xfrm>
              <a:off x="3891" y="1323"/>
              <a:ext cx="251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B</a:t>
              </a:r>
            </a:p>
          </p:txBody>
        </p:sp>
        <p:sp>
          <p:nvSpPr>
            <p:cNvPr id="91164" name="Text Box 95"/>
            <p:cNvSpPr txBox="1">
              <a:spLocks noChangeArrowheads="1"/>
            </p:cNvSpPr>
            <p:nvPr/>
          </p:nvSpPr>
          <p:spPr bwMode="auto">
            <a:xfrm>
              <a:off x="3099" y="1323"/>
              <a:ext cx="369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 C</a:t>
              </a:r>
              <a:r>
                <a:rPr lang="en-US" altLang="zh-CN" sz="2600" baseline="-25000"/>
                <a:t>1</a:t>
              </a:r>
              <a:endParaRPr lang="en-US" altLang="zh-CN" sz="2600"/>
            </a:p>
          </p:txBody>
        </p:sp>
        <p:sp>
          <p:nvSpPr>
            <p:cNvPr id="91165" name="Line 96"/>
            <p:cNvSpPr>
              <a:spLocks noChangeShapeType="1"/>
            </p:cNvSpPr>
            <p:nvPr/>
          </p:nvSpPr>
          <p:spPr bwMode="auto">
            <a:xfrm>
              <a:off x="1350" y="1588"/>
              <a:ext cx="0" cy="7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6" name="Line 97"/>
            <p:cNvSpPr>
              <a:spLocks noChangeShapeType="1"/>
            </p:cNvSpPr>
            <p:nvPr/>
          </p:nvSpPr>
          <p:spPr bwMode="auto">
            <a:xfrm>
              <a:off x="4311" y="1605"/>
              <a:ext cx="0" cy="7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7" name="Oval 98"/>
            <p:cNvSpPr>
              <a:spLocks noChangeArrowheads="1"/>
            </p:cNvSpPr>
            <p:nvPr/>
          </p:nvSpPr>
          <p:spPr bwMode="auto">
            <a:xfrm>
              <a:off x="2705" y="2234"/>
              <a:ext cx="267" cy="2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8" name="Text Box 99"/>
            <p:cNvSpPr txBox="1">
              <a:spLocks noChangeArrowheads="1"/>
            </p:cNvSpPr>
            <p:nvPr/>
          </p:nvSpPr>
          <p:spPr bwMode="auto">
            <a:xfrm>
              <a:off x="2728" y="2224"/>
              <a:ext cx="261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 i="0">
                  <a:solidFill>
                    <a:srgbClr val="FF0000"/>
                  </a:solidFill>
                </a:rPr>
                <a:t>V</a:t>
              </a:r>
            </a:p>
          </p:txBody>
        </p:sp>
        <p:graphicFrame>
          <p:nvGraphicFramePr>
            <p:cNvPr id="91169" name="Object 1024"/>
            <p:cNvGraphicFramePr>
              <a:graphicFrameLocks noChangeAspect="1"/>
            </p:cNvGraphicFramePr>
            <p:nvPr/>
          </p:nvGraphicFramePr>
          <p:xfrm>
            <a:off x="2968" y="1986"/>
            <a:ext cx="29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19192" imgH="171408" progId="Equation.3">
                    <p:embed/>
                  </p:oleObj>
                </mc:Choice>
                <mc:Fallback>
                  <p:oleObj name="公式" r:id="rId12" imgW="219192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1986"/>
                          <a:ext cx="29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70" name="Object 1025"/>
            <p:cNvGraphicFramePr>
              <a:graphicFrameLocks noChangeAspect="1"/>
            </p:cNvGraphicFramePr>
            <p:nvPr/>
          </p:nvGraphicFramePr>
          <p:xfrm>
            <a:off x="2968" y="879"/>
            <a:ext cx="2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517" imgH="228634" progId="Equation.DSMT4">
                    <p:embed/>
                  </p:oleObj>
                </mc:Choice>
                <mc:Fallback>
                  <p:oleObj name="Equation" r:id="rId14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879"/>
                          <a:ext cx="2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71" name="Object 10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6746552"/>
                </p:ext>
              </p:extLst>
            </p:nvPr>
          </p:nvGraphicFramePr>
          <p:xfrm>
            <a:off x="2977" y="1518"/>
            <a:ext cx="2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517" imgH="228634" progId="Equation.DSMT4">
                    <p:embed/>
                  </p:oleObj>
                </mc:Choice>
                <mc:Fallback>
                  <p:oleObj name="Equation" r:id="rId16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7" y="1518"/>
                          <a:ext cx="2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72" name="Line 103"/>
            <p:cNvSpPr>
              <a:spLocks noChangeShapeType="1"/>
            </p:cNvSpPr>
            <p:nvPr/>
          </p:nvSpPr>
          <p:spPr bwMode="auto">
            <a:xfrm>
              <a:off x="2968" y="1199"/>
              <a:ext cx="26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1173" name="Object 1027"/>
            <p:cNvGraphicFramePr>
              <a:graphicFrameLocks noChangeAspect="1"/>
            </p:cNvGraphicFramePr>
            <p:nvPr/>
          </p:nvGraphicFramePr>
          <p:xfrm>
            <a:off x="1548" y="1235"/>
            <a:ext cx="47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71439" imgH="190573" progId="Equation.3">
                    <p:embed/>
                  </p:oleObj>
                </mc:Choice>
                <mc:Fallback>
                  <p:oleObj name="Equation" r:id="rId18" imgW="371439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8" y="1235"/>
                          <a:ext cx="47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74" name="Line 105"/>
            <p:cNvSpPr>
              <a:spLocks noChangeShapeType="1"/>
            </p:cNvSpPr>
            <p:nvPr/>
          </p:nvSpPr>
          <p:spPr bwMode="auto">
            <a:xfrm>
              <a:off x="2791" y="1279"/>
              <a:ext cx="0" cy="6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75" name="Line 106"/>
            <p:cNvSpPr>
              <a:spLocks noChangeShapeType="1"/>
            </p:cNvSpPr>
            <p:nvPr/>
          </p:nvSpPr>
          <p:spPr bwMode="auto">
            <a:xfrm>
              <a:off x="2791" y="1279"/>
              <a:ext cx="55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76" name="Oval 107"/>
            <p:cNvSpPr>
              <a:spLocks noChangeArrowheads="1"/>
            </p:cNvSpPr>
            <p:nvPr/>
          </p:nvSpPr>
          <p:spPr bwMode="auto">
            <a:xfrm>
              <a:off x="2163" y="1455"/>
              <a:ext cx="267" cy="2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zh-CN" sz="2600" i="0">
                  <a:solidFill>
                    <a:srgbClr val="FF0000"/>
                  </a:solidFill>
                </a:rPr>
                <a:t>A</a:t>
              </a:r>
            </a:p>
          </p:txBody>
        </p:sp>
        <p:grpSp>
          <p:nvGrpSpPr>
            <p:cNvPr id="91177" name="Group 108"/>
            <p:cNvGrpSpPr>
              <a:grpSpLocks/>
            </p:cNvGrpSpPr>
            <p:nvPr/>
          </p:nvGrpSpPr>
          <p:grpSpPr bwMode="auto">
            <a:xfrm>
              <a:off x="1561" y="1518"/>
              <a:ext cx="374" cy="87"/>
              <a:chOff x="1932" y="1430"/>
              <a:chExt cx="389" cy="99"/>
            </a:xfrm>
          </p:grpSpPr>
          <p:sp>
            <p:nvSpPr>
              <p:cNvPr id="91191" name="AutoShape 109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92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93" name="AutoShape 111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1178" name="Line 112"/>
            <p:cNvSpPr>
              <a:spLocks noChangeShapeType="1"/>
            </p:cNvSpPr>
            <p:nvPr/>
          </p:nvSpPr>
          <p:spPr bwMode="auto">
            <a:xfrm>
              <a:off x="1943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79" name="Line 113"/>
            <p:cNvSpPr>
              <a:spLocks noChangeShapeType="1"/>
            </p:cNvSpPr>
            <p:nvPr/>
          </p:nvSpPr>
          <p:spPr bwMode="auto">
            <a:xfrm>
              <a:off x="1348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80" name="Line 114"/>
            <p:cNvSpPr>
              <a:spLocks noChangeShapeType="1"/>
            </p:cNvSpPr>
            <p:nvPr/>
          </p:nvSpPr>
          <p:spPr bwMode="auto">
            <a:xfrm>
              <a:off x="2434" y="1588"/>
              <a:ext cx="3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81" name="Line 115"/>
            <p:cNvSpPr>
              <a:spLocks noChangeShapeType="1"/>
            </p:cNvSpPr>
            <p:nvPr/>
          </p:nvSpPr>
          <p:spPr bwMode="auto">
            <a:xfrm>
              <a:off x="1344" y="2382"/>
              <a:ext cx="13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82" name="Line 116"/>
            <p:cNvSpPr>
              <a:spLocks noChangeShapeType="1"/>
            </p:cNvSpPr>
            <p:nvPr/>
          </p:nvSpPr>
          <p:spPr bwMode="auto">
            <a:xfrm>
              <a:off x="2976" y="2382"/>
              <a:ext cx="13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1183" name="Object 1028"/>
            <p:cNvGraphicFramePr>
              <a:graphicFrameLocks noChangeAspect="1"/>
            </p:cNvGraphicFramePr>
            <p:nvPr/>
          </p:nvGraphicFramePr>
          <p:xfrm>
            <a:off x="3365" y="1968"/>
            <a:ext cx="397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95315" imgH="190573" progId="Equation.3">
                    <p:embed/>
                  </p:oleObj>
                </mc:Choice>
                <mc:Fallback>
                  <p:oleObj name="Equation" r:id="rId20" imgW="29531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5" y="1968"/>
                          <a:ext cx="397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84" name="Line 118"/>
            <p:cNvSpPr>
              <a:spLocks noChangeShapeType="1"/>
            </p:cNvSpPr>
            <p:nvPr/>
          </p:nvSpPr>
          <p:spPr bwMode="auto">
            <a:xfrm>
              <a:off x="2968" y="1827"/>
              <a:ext cx="26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1185" name="Object 1029"/>
            <p:cNvGraphicFramePr>
              <a:graphicFrameLocks noChangeAspect="1"/>
            </p:cNvGraphicFramePr>
            <p:nvPr/>
          </p:nvGraphicFramePr>
          <p:xfrm>
            <a:off x="2262" y="1158"/>
            <a:ext cx="15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185" imgH="180855" progId="Equation.DSMT4">
                    <p:embed/>
                  </p:oleObj>
                </mc:Choice>
                <mc:Fallback>
                  <p:oleObj name="Equation" r:id="rId22" imgW="114185" imgH="18085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2" y="1158"/>
                          <a:ext cx="15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86" name="Line 120"/>
            <p:cNvSpPr>
              <a:spLocks noChangeShapeType="1"/>
            </p:cNvSpPr>
            <p:nvPr/>
          </p:nvSpPr>
          <p:spPr bwMode="auto">
            <a:xfrm>
              <a:off x="2218" y="1403"/>
              <a:ext cx="26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1187" name="Group 121"/>
            <p:cNvGrpSpPr>
              <a:grpSpLocks/>
            </p:cNvGrpSpPr>
            <p:nvPr/>
          </p:nvGrpSpPr>
          <p:grpSpPr bwMode="auto">
            <a:xfrm>
              <a:off x="3363" y="1868"/>
              <a:ext cx="375" cy="88"/>
              <a:chOff x="1932" y="1430"/>
              <a:chExt cx="389" cy="99"/>
            </a:xfrm>
          </p:grpSpPr>
          <p:sp>
            <p:nvSpPr>
              <p:cNvPr id="91188" name="AutoShape 122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89" name="AutoShape 123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90" name="AutoShape 124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91148" name="灯片编号占位符 26"/>
          <p:cNvSpPr txBox="1">
            <a:spLocks/>
          </p:cNvSpPr>
          <p:nvPr/>
        </p:nvSpPr>
        <p:spPr bwMode="auto">
          <a:xfrm>
            <a:off x="0" y="6613525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fld id="{FE4452BD-A73F-4596-9AB1-9940E20674FF}" type="slidenum">
              <a:rPr lang="zh-CN" altLang="en-US" sz="1000" i="0">
                <a:solidFill>
                  <a:schemeClr val="bg1"/>
                </a:solidFill>
              </a:rPr>
              <a:pPr eaLnBrk="1" hangingPunct="1"/>
              <a:t>91</a:t>
            </a:fld>
            <a:endParaRPr lang="en-US" altLang="zh-CN" sz="1000" i="0">
              <a:solidFill>
                <a:schemeClr val="bg1"/>
              </a:solidFill>
            </a:endParaRPr>
          </a:p>
        </p:txBody>
      </p:sp>
      <p:sp>
        <p:nvSpPr>
          <p:cNvPr id="91149" name="Rectangle 4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4340225" y="6610350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返 回</a:t>
            </a:r>
          </a:p>
        </p:txBody>
      </p:sp>
      <p:sp>
        <p:nvSpPr>
          <p:cNvPr id="91150" name="Rectangle 46">
            <a:hlinkClick r:id="rId24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 dirty="0">
                <a:solidFill>
                  <a:schemeClr val="bg1"/>
                </a:solidFill>
                <a:latin typeface="楷体_GB2312" pitchFamily="49" charset="-122"/>
              </a:rPr>
              <a:t>上一节</a:t>
            </a:r>
          </a:p>
        </p:txBody>
      </p:sp>
      <p:sp>
        <p:nvSpPr>
          <p:cNvPr id="91151" name="Rectangle 45">
            <a:hlinkClick r:id="rId25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下一节</a:t>
            </a:r>
          </a:p>
        </p:txBody>
      </p:sp>
      <p:sp>
        <p:nvSpPr>
          <p:cNvPr id="91152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上一页</a:t>
            </a:r>
          </a:p>
        </p:txBody>
      </p:sp>
      <p:sp>
        <p:nvSpPr>
          <p:cNvPr id="91153" name="Rectangle 4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2264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下一页</a:t>
            </a:r>
          </a:p>
        </p:txBody>
      </p:sp>
    </p:spTree>
    <p:extLst>
      <p:ext uri="{BB962C8B-B14F-4D97-AF65-F5344CB8AC3E}">
        <p14:creationId xmlns:p14="http://schemas.microsoft.com/office/powerpoint/2010/main" val="21861813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5" grpId="0" autoUpdateAnimBg="0"/>
      <p:bldP spid="179206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60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965231"/>
              </p:ext>
            </p:extLst>
          </p:nvPr>
        </p:nvGraphicFramePr>
        <p:xfrm>
          <a:off x="2296895" y="3676880"/>
          <a:ext cx="569753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266400" progId="Equation.DSMT4">
                  <p:embed/>
                </p:oleObj>
              </mc:Choice>
              <mc:Fallback>
                <p:oleObj name="Equation" r:id="rId2" imgW="21081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895" y="3676880"/>
                        <a:ext cx="5697537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90607" y="4270374"/>
            <a:ext cx="7783531" cy="2057397"/>
            <a:chOff x="1653" y="2915"/>
            <a:chExt cx="4903" cy="1296"/>
          </a:xfrm>
        </p:grpSpPr>
        <p:sp>
          <p:nvSpPr>
            <p:cNvPr id="180228" name="Text Box 4"/>
            <p:cNvSpPr txBox="1">
              <a:spLocks noChangeArrowheads="1"/>
            </p:cNvSpPr>
            <p:nvPr/>
          </p:nvSpPr>
          <p:spPr bwMode="auto">
            <a:xfrm>
              <a:off x="4901" y="2915"/>
              <a:ext cx="1655" cy="87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eaLnBrk="0" hangingPunct="0">
                <a:defRPr/>
              </a:pPr>
              <a:r>
                <a:rPr lang="en-US" altLang="zh-CN" sz="28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Therefore, the voltmeter reads 141 V.</a:t>
              </a:r>
              <a:endParaRPr lang="en-US" altLang="zh-CN" sz="2800" b="1" i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27" name="Text Box 5"/>
            <p:cNvSpPr txBox="1">
              <a:spLocks noChangeArrowheads="1"/>
            </p:cNvSpPr>
            <p:nvPr/>
          </p:nvSpPr>
          <p:spPr bwMode="auto">
            <a:xfrm>
              <a:off x="1653" y="3881"/>
              <a:ext cx="1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endParaRPr lang="en-US" altLang="zh-CN" i="0" dirty="0">
                <a:solidFill>
                  <a:srgbClr val="CC0000"/>
                </a:solidFill>
              </a:endParaRPr>
            </a:p>
          </p:txBody>
        </p:sp>
      </p:grpSp>
      <p:sp>
        <p:nvSpPr>
          <p:cNvPr id="92164" name="Line 6"/>
          <p:cNvSpPr>
            <a:spLocks noChangeShapeType="1"/>
          </p:cNvSpPr>
          <p:nvPr/>
        </p:nvSpPr>
        <p:spPr bwMode="auto">
          <a:xfrm>
            <a:off x="277813" y="2852738"/>
            <a:ext cx="8686800" cy="0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 anchor="ctr"/>
          <a:lstStyle/>
          <a:p>
            <a:endParaRPr lang="zh-CN" altLang="en-US"/>
          </a:p>
        </p:txBody>
      </p:sp>
      <p:sp>
        <p:nvSpPr>
          <p:cNvPr id="92165" name="Rectangle 7"/>
          <p:cNvSpPr>
            <a:spLocks noChangeArrowheads="1"/>
          </p:cNvSpPr>
          <p:nvPr/>
        </p:nvSpPr>
        <p:spPr bwMode="auto">
          <a:xfrm>
            <a:off x="5708264" y="1892875"/>
            <a:ext cx="34092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Find: 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the readings of A and V</a:t>
            </a:r>
            <a:endParaRPr lang="zh-CN" altLang="en-US" sz="2000" b="1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166" name="Text Box 8"/>
          <p:cNvSpPr txBox="1">
            <a:spLocks noChangeArrowheads="1"/>
          </p:cNvSpPr>
          <p:nvPr/>
        </p:nvSpPr>
        <p:spPr bwMode="auto">
          <a:xfrm>
            <a:off x="5561013" y="774464"/>
            <a:ext cx="3581400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altLang="zh-CN" i="0" dirty="0">
                <a:solidFill>
                  <a:srgbClr val="FF0000"/>
                </a:solidFill>
                <a:cs typeface="Times New Roman" pitchFamily="18" charset="0"/>
              </a:rPr>
              <a:t>Given</a:t>
            </a:r>
            <a:r>
              <a:rPr lang="zh-CN" altLang="en-US" i="0" dirty="0">
                <a:solidFill>
                  <a:srgbClr val="FF0000"/>
                </a:solidFill>
                <a:cs typeface="Times New Roman" pitchFamily="18" charset="0"/>
              </a:rPr>
              <a:t>：</a:t>
            </a:r>
            <a:r>
              <a:rPr lang="en-US" altLang="zh-CN" dirty="0"/>
              <a:t>I</a:t>
            </a:r>
            <a:r>
              <a:rPr lang="en-US" altLang="zh-CN" i="0" baseline="-25000" dirty="0"/>
              <a:t>1</a:t>
            </a:r>
            <a:r>
              <a:rPr lang="en-US" altLang="zh-CN" i="0" dirty="0"/>
              <a:t>=10A</a:t>
            </a:r>
            <a:r>
              <a:rPr lang="zh-CN" altLang="en-US" i="0" dirty="0"/>
              <a:t>、</a:t>
            </a:r>
          </a:p>
          <a:p>
            <a:pPr algn="l">
              <a:lnSpc>
                <a:spcPct val="110000"/>
              </a:lnSpc>
            </a:pPr>
            <a:r>
              <a:rPr lang="zh-CN" altLang="en-US" i="0" dirty="0"/>
              <a:t>            </a:t>
            </a:r>
            <a:r>
              <a:rPr lang="en-US" altLang="zh-CN" dirty="0"/>
              <a:t>U</a:t>
            </a:r>
            <a:r>
              <a:rPr lang="en-US" altLang="zh-CN" i="0" baseline="-25000" dirty="0"/>
              <a:t>AB</a:t>
            </a:r>
            <a:r>
              <a:rPr lang="en-US" altLang="zh-CN" i="0" dirty="0"/>
              <a:t> =100V</a:t>
            </a:r>
            <a:r>
              <a:rPr lang="zh-CN" altLang="en-US" i="0" dirty="0"/>
              <a:t>，</a:t>
            </a:r>
          </a:p>
        </p:txBody>
      </p:sp>
      <p:grpSp>
        <p:nvGrpSpPr>
          <p:cNvPr id="92167" name="Group 56"/>
          <p:cNvGrpSpPr>
            <a:grpSpLocks/>
          </p:cNvGrpSpPr>
          <p:nvPr/>
        </p:nvGrpSpPr>
        <p:grpSpPr bwMode="auto">
          <a:xfrm>
            <a:off x="1525164" y="3004638"/>
            <a:ext cx="5432426" cy="660400"/>
            <a:chOff x="177" y="1938"/>
            <a:chExt cx="3422" cy="416"/>
          </a:xfrm>
        </p:grpSpPr>
        <p:graphicFrame>
          <p:nvGraphicFramePr>
            <p:cNvPr id="92222" name="Object 10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6027891"/>
                </p:ext>
              </p:extLst>
            </p:nvPr>
          </p:nvGraphicFramePr>
          <p:xfrm>
            <a:off x="177" y="1938"/>
            <a:ext cx="3422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92160" imgH="266400" progId="Equation.DSMT4">
                    <p:embed/>
                  </p:oleObj>
                </mc:Choice>
                <mc:Fallback>
                  <p:oleObj name="Equation" r:id="rId4" imgW="189216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" y="1938"/>
                          <a:ext cx="3422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223" name="Group 58"/>
            <p:cNvGrpSpPr>
              <a:grpSpLocks/>
            </p:cNvGrpSpPr>
            <p:nvPr/>
          </p:nvGrpSpPr>
          <p:grpSpPr bwMode="auto">
            <a:xfrm>
              <a:off x="2688" y="2039"/>
              <a:ext cx="432" cy="217"/>
              <a:chOff x="2592" y="3600"/>
              <a:chExt cx="432" cy="217"/>
            </a:xfrm>
          </p:grpSpPr>
          <p:sp>
            <p:nvSpPr>
              <p:cNvPr id="92224" name="Line 59"/>
              <p:cNvSpPr>
                <a:spLocks noChangeShapeType="1"/>
              </p:cNvSpPr>
              <p:nvPr/>
            </p:nvSpPr>
            <p:spPr bwMode="auto">
              <a:xfrm>
                <a:off x="2592" y="3817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5" name="Line 60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109" cy="2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61"/>
          <p:cNvGrpSpPr>
            <a:grpSpLocks/>
          </p:cNvGrpSpPr>
          <p:nvPr/>
        </p:nvGrpSpPr>
        <p:grpSpPr bwMode="auto">
          <a:xfrm>
            <a:off x="227012" y="4424365"/>
            <a:ext cx="5840413" cy="1076325"/>
            <a:chOff x="143" y="2787"/>
            <a:chExt cx="3679" cy="678"/>
          </a:xfrm>
        </p:grpSpPr>
        <p:graphicFrame>
          <p:nvGraphicFramePr>
            <p:cNvPr id="92218" name="Object 10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5747367"/>
                </p:ext>
              </p:extLst>
            </p:nvPr>
          </p:nvGraphicFramePr>
          <p:xfrm>
            <a:off x="143" y="2787"/>
            <a:ext cx="3679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89040" imgH="507960" progId="Equation.DSMT4">
                    <p:embed/>
                  </p:oleObj>
                </mc:Choice>
                <mc:Fallback>
                  <p:oleObj name="Equation" r:id="rId6" imgW="2489040" imgH="507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" y="2787"/>
                          <a:ext cx="3679" cy="678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219" name="Group 63"/>
            <p:cNvGrpSpPr>
              <a:grpSpLocks/>
            </p:cNvGrpSpPr>
            <p:nvPr/>
          </p:nvGrpSpPr>
          <p:grpSpPr bwMode="auto">
            <a:xfrm>
              <a:off x="1145" y="3223"/>
              <a:ext cx="490" cy="217"/>
              <a:chOff x="1145" y="3223"/>
              <a:chExt cx="490" cy="217"/>
            </a:xfrm>
          </p:grpSpPr>
          <p:sp>
            <p:nvSpPr>
              <p:cNvPr id="92220" name="Line 64"/>
              <p:cNvSpPr>
                <a:spLocks noChangeShapeType="1"/>
              </p:cNvSpPr>
              <p:nvPr/>
            </p:nvSpPr>
            <p:spPr bwMode="auto">
              <a:xfrm>
                <a:off x="1155" y="3422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1" name="Line 65"/>
              <p:cNvSpPr>
                <a:spLocks noChangeShapeType="1"/>
              </p:cNvSpPr>
              <p:nvPr/>
            </p:nvSpPr>
            <p:spPr bwMode="auto">
              <a:xfrm flipV="1">
                <a:off x="1145" y="3223"/>
                <a:ext cx="109" cy="2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2169" name="Group 82"/>
          <p:cNvGrpSpPr>
            <a:grpSpLocks/>
          </p:cNvGrpSpPr>
          <p:nvPr/>
        </p:nvGrpSpPr>
        <p:grpSpPr bwMode="auto">
          <a:xfrm>
            <a:off x="760413" y="102095"/>
            <a:ext cx="4800600" cy="2659062"/>
            <a:chOff x="1344" y="879"/>
            <a:chExt cx="2976" cy="1648"/>
          </a:xfrm>
        </p:grpSpPr>
        <p:sp>
          <p:nvSpPr>
            <p:cNvPr id="92176" name="Line 83"/>
            <p:cNvSpPr>
              <a:spLocks noChangeShapeType="1"/>
            </p:cNvSpPr>
            <p:nvPr/>
          </p:nvSpPr>
          <p:spPr bwMode="auto">
            <a:xfrm rot="5400000" flipH="1">
              <a:off x="3660" y="1041"/>
              <a:ext cx="1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177" name="Group 84"/>
            <p:cNvGrpSpPr>
              <a:grpSpLocks/>
            </p:cNvGrpSpPr>
            <p:nvPr/>
          </p:nvGrpSpPr>
          <p:grpSpPr bwMode="auto">
            <a:xfrm>
              <a:off x="3354" y="1212"/>
              <a:ext cx="52" cy="186"/>
              <a:chOff x="3857" y="1092"/>
              <a:chExt cx="52" cy="248"/>
            </a:xfrm>
          </p:grpSpPr>
          <p:sp>
            <p:nvSpPr>
              <p:cNvPr id="92216" name="Line 85"/>
              <p:cNvSpPr>
                <a:spLocks noChangeShapeType="1"/>
              </p:cNvSpPr>
              <p:nvPr/>
            </p:nvSpPr>
            <p:spPr bwMode="auto">
              <a:xfrm rot="5400000" flipH="1">
                <a:off x="3790" y="122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17" name="Line 86"/>
              <p:cNvSpPr>
                <a:spLocks noChangeShapeType="1"/>
              </p:cNvSpPr>
              <p:nvPr/>
            </p:nvSpPr>
            <p:spPr bwMode="auto">
              <a:xfrm rot="5400000" flipH="1">
                <a:off x="3738" y="121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2178" name="Rectangle 87"/>
            <p:cNvSpPr>
              <a:spLocks noChangeArrowheads="1"/>
            </p:cNvSpPr>
            <p:nvPr/>
          </p:nvSpPr>
          <p:spPr bwMode="auto">
            <a:xfrm rot="-5400000">
              <a:off x="3038" y="1825"/>
              <a:ext cx="93" cy="23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9" name="Line 88"/>
            <p:cNvSpPr>
              <a:spLocks noChangeShapeType="1"/>
            </p:cNvSpPr>
            <p:nvPr/>
          </p:nvSpPr>
          <p:spPr bwMode="auto">
            <a:xfrm rot="-5400000">
              <a:off x="3288" y="1866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80" name="Line 89"/>
            <p:cNvSpPr>
              <a:spLocks noChangeShapeType="1"/>
            </p:cNvSpPr>
            <p:nvPr/>
          </p:nvSpPr>
          <p:spPr bwMode="auto">
            <a:xfrm rot="-5400000">
              <a:off x="2884" y="1840"/>
              <a:ext cx="0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81" name="Line 90"/>
            <p:cNvSpPr>
              <a:spLocks noChangeShapeType="1"/>
            </p:cNvSpPr>
            <p:nvPr/>
          </p:nvSpPr>
          <p:spPr bwMode="auto">
            <a:xfrm rot="-5400000">
              <a:off x="3820" y="1866"/>
              <a:ext cx="1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82" name="Line 91"/>
            <p:cNvSpPr>
              <a:spLocks noChangeShapeType="1"/>
            </p:cNvSpPr>
            <p:nvPr/>
          </p:nvSpPr>
          <p:spPr bwMode="auto">
            <a:xfrm>
              <a:off x="3883" y="1276"/>
              <a:ext cx="0" cy="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83" name="Line 92"/>
            <p:cNvSpPr>
              <a:spLocks noChangeShapeType="1"/>
            </p:cNvSpPr>
            <p:nvPr/>
          </p:nvSpPr>
          <p:spPr bwMode="auto">
            <a:xfrm>
              <a:off x="3894" y="1605"/>
              <a:ext cx="4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84" name="Text Box 93"/>
            <p:cNvSpPr txBox="1">
              <a:spLocks noChangeArrowheads="1"/>
            </p:cNvSpPr>
            <p:nvPr/>
          </p:nvSpPr>
          <p:spPr bwMode="auto">
            <a:xfrm>
              <a:off x="2562" y="1323"/>
              <a:ext cx="262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A</a:t>
              </a:r>
            </a:p>
          </p:txBody>
        </p:sp>
        <p:sp>
          <p:nvSpPr>
            <p:cNvPr id="92185" name="Text Box 94"/>
            <p:cNvSpPr txBox="1">
              <a:spLocks noChangeArrowheads="1"/>
            </p:cNvSpPr>
            <p:nvPr/>
          </p:nvSpPr>
          <p:spPr bwMode="auto">
            <a:xfrm>
              <a:off x="3891" y="1323"/>
              <a:ext cx="251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B</a:t>
              </a:r>
            </a:p>
          </p:txBody>
        </p:sp>
        <p:sp>
          <p:nvSpPr>
            <p:cNvPr id="92186" name="Text Box 95"/>
            <p:cNvSpPr txBox="1">
              <a:spLocks noChangeArrowheads="1"/>
            </p:cNvSpPr>
            <p:nvPr/>
          </p:nvSpPr>
          <p:spPr bwMode="auto">
            <a:xfrm>
              <a:off x="3099" y="1323"/>
              <a:ext cx="369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 C</a:t>
              </a:r>
              <a:r>
                <a:rPr lang="en-US" altLang="zh-CN" sz="2600" baseline="-25000"/>
                <a:t>1</a:t>
              </a:r>
              <a:endParaRPr lang="en-US" altLang="zh-CN" sz="2600"/>
            </a:p>
          </p:txBody>
        </p:sp>
        <p:sp>
          <p:nvSpPr>
            <p:cNvPr id="92187" name="Line 96"/>
            <p:cNvSpPr>
              <a:spLocks noChangeShapeType="1"/>
            </p:cNvSpPr>
            <p:nvPr/>
          </p:nvSpPr>
          <p:spPr bwMode="auto">
            <a:xfrm>
              <a:off x="1350" y="1588"/>
              <a:ext cx="0" cy="7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88" name="Line 97"/>
            <p:cNvSpPr>
              <a:spLocks noChangeShapeType="1"/>
            </p:cNvSpPr>
            <p:nvPr/>
          </p:nvSpPr>
          <p:spPr bwMode="auto">
            <a:xfrm>
              <a:off x="4311" y="1605"/>
              <a:ext cx="0" cy="7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89" name="Oval 98"/>
            <p:cNvSpPr>
              <a:spLocks noChangeArrowheads="1"/>
            </p:cNvSpPr>
            <p:nvPr/>
          </p:nvSpPr>
          <p:spPr bwMode="auto">
            <a:xfrm>
              <a:off x="2705" y="2234"/>
              <a:ext cx="267" cy="2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90" name="Text Box 99"/>
            <p:cNvSpPr txBox="1">
              <a:spLocks noChangeArrowheads="1"/>
            </p:cNvSpPr>
            <p:nvPr/>
          </p:nvSpPr>
          <p:spPr bwMode="auto">
            <a:xfrm>
              <a:off x="2728" y="2224"/>
              <a:ext cx="261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 i="0">
                  <a:solidFill>
                    <a:srgbClr val="FF0000"/>
                  </a:solidFill>
                </a:rPr>
                <a:t>V</a:t>
              </a:r>
            </a:p>
          </p:txBody>
        </p:sp>
        <p:graphicFrame>
          <p:nvGraphicFramePr>
            <p:cNvPr id="92191" name="Object 11"/>
            <p:cNvGraphicFramePr>
              <a:graphicFrameLocks noChangeAspect="1"/>
            </p:cNvGraphicFramePr>
            <p:nvPr/>
          </p:nvGraphicFramePr>
          <p:xfrm>
            <a:off x="2968" y="1986"/>
            <a:ext cx="29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9192" imgH="171408" progId="Equation.3">
                    <p:embed/>
                  </p:oleObj>
                </mc:Choice>
                <mc:Fallback>
                  <p:oleObj name="公式" r:id="rId8" imgW="219192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1986"/>
                          <a:ext cx="29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2" name="Object 1025"/>
            <p:cNvGraphicFramePr>
              <a:graphicFrameLocks noChangeAspect="1"/>
            </p:cNvGraphicFramePr>
            <p:nvPr/>
          </p:nvGraphicFramePr>
          <p:xfrm>
            <a:off x="2968" y="879"/>
            <a:ext cx="2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517" imgH="228634" progId="Equation.DSMT4">
                    <p:embed/>
                  </p:oleObj>
                </mc:Choice>
                <mc:Fallback>
                  <p:oleObj name="Equation" r:id="rId10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879"/>
                          <a:ext cx="2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3" name="Object 10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4703406"/>
                </p:ext>
              </p:extLst>
            </p:nvPr>
          </p:nvGraphicFramePr>
          <p:xfrm>
            <a:off x="2995" y="1514"/>
            <a:ext cx="2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517" imgH="228634" progId="Equation.DSMT4">
                    <p:embed/>
                  </p:oleObj>
                </mc:Choice>
                <mc:Fallback>
                  <p:oleObj name="Equation" r:id="rId12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5" y="1514"/>
                          <a:ext cx="2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94" name="Line 103"/>
            <p:cNvSpPr>
              <a:spLocks noChangeShapeType="1"/>
            </p:cNvSpPr>
            <p:nvPr/>
          </p:nvSpPr>
          <p:spPr bwMode="auto">
            <a:xfrm>
              <a:off x="2968" y="1199"/>
              <a:ext cx="26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195" name="Object 1027"/>
            <p:cNvGraphicFramePr>
              <a:graphicFrameLocks noChangeAspect="1"/>
            </p:cNvGraphicFramePr>
            <p:nvPr/>
          </p:nvGraphicFramePr>
          <p:xfrm>
            <a:off x="1548" y="1235"/>
            <a:ext cx="47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71439" imgH="190573" progId="Equation.3">
                    <p:embed/>
                  </p:oleObj>
                </mc:Choice>
                <mc:Fallback>
                  <p:oleObj name="Equation" r:id="rId14" imgW="371439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8" y="1235"/>
                          <a:ext cx="47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96" name="Line 105"/>
            <p:cNvSpPr>
              <a:spLocks noChangeShapeType="1"/>
            </p:cNvSpPr>
            <p:nvPr/>
          </p:nvSpPr>
          <p:spPr bwMode="auto">
            <a:xfrm>
              <a:off x="2791" y="1279"/>
              <a:ext cx="0" cy="6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97" name="Line 106"/>
            <p:cNvSpPr>
              <a:spLocks noChangeShapeType="1"/>
            </p:cNvSpPr>
            <p:nvPr/>
          </p:nvSpPr>
          <p:spPr bwMode="auto">
            <a:xfrm>
              <a:off x="2791" y="1279"/>
              <a:ext cx="55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98" name="Oval 107"/>
            <p:cNvSpPr>
              <a:spLocks noChangeArrowheads="1"/>
            </p:cNvSpPr>
            <p:nvPr/>
          </p:nvSpPr>
          <p:spPr bwMode="auto">
            <a:xfrm>
              <a:off x="2163" y="1455"/>
              <a:ext cx="267" cy="2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zh-CN" sz="2600" i="0">
                  <a:solidFill>
                    <a:srgbClr val="FF0000"/>
                  </a:solidFill>
                </a:rPr>
                <a:t>A</a:t>
              </a:r>
            </a:p>
          </p:txBody>
        </p:sp>
        <p:grpSp>
          <p:nvGrpSpPr>
            <p:cNvPr id="92199" name="Group 108"/>
            <p:cNvGrpSpPr>
              <a:grpSpLocks/>
            </p:cNvGrpSpPr>
            <p:nvPr/>
          </p:nvGrpSpPr>
          <p:grpSpPr bwMode="auto">
            <a:xfrm>
              <a:off x="1561" y="1518"/>
              <a:ext cx="374" cy="87"/>
              <a:chOff x="1932" y="1430"/>
              <a:chExt cx="389" cy="99"/>
            </a:xfrm>
          </p:grpSpPr>
          <p:sp>
            <p:nvSpPr>
              <p:cNvPr id="92213" name="AutoShape 109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14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15" name="AutoShape 111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2200" name="Line 112"/>
            <p:cNvSpPr>
              <a:spLocks noChangeShapeType="1"/>
            </p:cNvSpPr>
            <p:nvPr/>
          </p:nvSpPr>
          <p:spPr bwMode="auto">
            <a:xfrm>
              <a:off x="1943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01" name="Line 113"/>
            <p:cNvSpPr>
              <a:spLocks noChangeShapeType="1"/>
            </p:cNvSpPr>
            <p:nvPr/>
          </p:nvSpPr>
          <p:spPr bwMode="auto">
            <a:xfrm>
              <a:off x="1348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02" name="Line 114"/>
            <p:cNvSpPr>
              <a:spLocks noChangeShapeType="1"/>
            </p:cNvSpPr>
            <p:nvPr/>
          </p:nvSpPr>
          <p:spPr bwMode="auto">
            <a:xfrm>
              <a:off x="2434" y="1588"/>
              <a:ext cx="3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03" name="Line 115"/>
            <p:cNvSpPr>
              <a:spLocks noChangeShapeType="1"/>
            </p:cNvSpPr>
            <p:nvPr/>
          </p:nvSpPr>
          <p:spPr bwMode="auto">
            <a:xfrm>
              <a:off x="1344" y="2382"/>
              <a:ext cx="13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04" name="Line 116"/>
            <p:cNvSpPr>
              <a:spLocks noChangeShapeType="1"/>
            </p:cNvSpPr>
            <p:nvPr/>
          </p:nvSpPr>
          <p:spPr bwMode="auto">
            <a:xfrm>
              <a:off x="2976" y="2382"/>
              <a:ext cx="13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05" name="Object 1028"/>
            <p:cNvGraphicFramePr>
              <a:graphicFrameLocks noChangeAspect="1"/>
            </p:cNvGraphicFramePr>
            <p:nvPr/>
          </p:nvGraphicFramePr>
          <p:xfrm>
            <a:off x="3365" y="1968"/>
            <a:ext cx="397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95315" imgH="190573" progId="Equation.3">
                    <p:embed/>
                  </p:oleObj>
                </mc:Choice>
                <mc:Fallback>
                  <p:oleObj name="Equation" r:id="rId16" imgW="29531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5" y="1968"/>
                          <a:ext cx="397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06" name="Line 118"/>
            <p:cNvSpPr>
              <a:spLocks noChangeShapeType="1"/>
            </p:cNvSpPr>
            <p:nvPr/>
          </p:nvSpPr>
          <p:spPr bwMode="auto">
            <a:xfrm>
              <a:off x="2968" y="1827"/>
              <a:ext cx="26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07" name="Object 1029"/>
            <p:cNvGraphicFramePr>
              <a:graphicFrameLocks noChangeAspect="1"/>
            </p:cNvGraphicFramePr>
            <p:nvPr/>
          </p:nvGraphicFramePr>
          <p:xfrm>
            <a:off x="2262" y="1158"/>
            <a:ext cx="15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185" imgH="180855" progId="Equation.DSMT4">
                    <p:embed/>
                  </p:oleObj>
                </mc:Choice>
                <mc:Fallback>
                  <p:oleObj name="Equation" r:id="rId18" imgW="114185" imgH="18085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2" y="1158"/>
                          <a:ext cx="15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08" name="Line 120"/>
            <p:cNvSpPr>
              <a:spLocks noChangeShapeType="1"/>
            </p:cNvSpPr>
            <p:nvPr/>
          </p:nvSpPr>
          <p:spPr bwMode="auto">
            <a:xfrm>
              <a:off x="2218" y="1403"/>
              <a:ext cx="26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2209" name="Group 121"/>
            <p:cNvGrpSpPr>
              <a:grpSpLocks/>
            </p:cNvGrpSpPr>
            <p:nvPr/>
          </p:nvGrpSpPr>
          <p:grpSpPr bwMode="auto">
            <a:xfrm>
              <a:off x="3374" y="1868"/>
              <a:ext cx="377" cy="88"/>
              <a:chOff x="1932" y="1430"/>
              <a:chExt cx="389" cy="99"/>
            </a:xfrm>
          </p:grpSpPr>
          <p:sp>
            <p:nvSpPr>
              <p:cNvPr id="92210" name="AutoShape 122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11" name="AutoShape 123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12" name="AutoShape 124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92170" name="灯片编号占位符 26"/>
          <p:cNvSpPr txBox="1">
            <a:spLocks/>
          </p:cNvSpPr>
          <p:nvPr/>
        </p:nvSpPr>
        <p:spPr bwMode="auto">
          <a:xfrm>
            <a:off x="0" y="6613525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fld id="{30F8780D-4C1F-43AD-9A77-C9B8DA4E18DC}" type="slidenum">
              <a:rPr lang="zh-CN" altLang="en-US" sz="1000" i="0">
                <a:solidFill>
                  <a:schemeClr val="bg1"/>
                </a:solidFill>
              </a:rPr>
              <a:pPr eaLnBrk="1" hangingPunct="1"/>
              <a:t>92</a:t>
            </a:fld>
            <a:endParaRPr lang="en-US" altLang="zh-CN" sz="1000" i="0">
              <a:solidFill>
                <a:schemeClr val="bg1"/>
              </a:solidFill>
            </a:endParaRPr>
          </a:p>
        </p:txBody>
      </p:sp>
      <p:sp>
        <p:nvSpPr>
          <p:cNvPr id="92171" name="Rectangle 4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4340225" y="6610350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返 回</a:t>
            </a:r>
          </a:p>
        </p:txBody>
      </p:sp>
      <p:sp>
        <p:nvSpPr>
          <p:cNvPr id="92172" name="Rectangle 46">
            <a:hlinkClick r:id="rId20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上一节</a:t>
            </a:r>
          </a:p>
        </p:txBody>
      </p:sp>
      <p:sp>
        <p:nvSpPr>
          <p:cNvPr id="92173" name="Rectangle 45">
            <a:hlinkClick r:id="rId21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下一节</a:t>
            </a:r>
          </a:p>
        </p:txBody>
      </p:sp>
      <p:sp>
        <p:nvSpPr>
          <p:cNvPr id="92174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上一页</a:t>
            </a:r>
          </a:p>
        </p:txBody>
      </p:sp>
      <p:sp>
        <p:nvSpPr>
          <p:cNvPr id="92175" name="Rectangle 4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2264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下一页</a:t>
            </a:r>
          </a:p>
        </p:txBody>
      </p:sp>
      <p:sp>
        <p:nvSpPr>
          <p:cNvPr id="3" name="矩形 2"/>
          <p:cNvSpPr/>
          <p:nvPr/>
        </p:nvSpPr>
        <p:spPr>
          <a:xfrm>
            <a:off x="638215" y="3060563"/>
            <a:ext cx="10021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Since</a:t>
            </a: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06289" y="3736183"/>
            <a:ext cx="1704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Therefore</a:t>
            </a: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89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Line 2"/>
          <p:cNvSpPr>
            <a:spLocks noChangeShapeType="1"/>
          </p:cNvSpPr>
          <p:nvPr/>
        </p:nvSpPr>
        <p:spPr bwMode="auto">
          <a:xfrm>
            <a:off x="222250" y="2708275"/>
            <a:ext cx="8686800" cy="0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 anchor="ctr"/>
          <a:lstStyle/>
          <a:p>
            <a:endParaRPr lang="zh-CN" altLang="en-US"/>
          </a:p>
        </p:txBody>
      </p:sp>
      <p:sp>
        <p:nvSpPr>
          <p:cNvPr id="181251" name="Rectangle 3"/>
          <p:cNvSpPr>
            <a:spLocks noChangeArrowheads="1"/>
          </p:cNvSpPr>
          <p:nvPr/>
        </p:nvSpPr>
        <p:spPr bwMode="auto">
          <a:xfrm>
            <a:off x="381000" y="2852738"/>
            <a:ext cx="480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2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Method </a:t>
            </a:r>
            <a:r>
              <a:rPr lang="en-US" altLang="zh-CN" sz="2400" b="1" i="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2:  </a:t>
            </a:r>
            <a:r>
              <a:rPr lang="en-US" altLang="zh-CN" sz="24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phasor</a:t>
            </a:r>
            <a:r>
              <a:rPr lang="en-US" altLang="zh-CN" sz="2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diagram</a:t>
            </a:r>
            <a:endParaRPr lang="zh-CN" altLang="en-US" sz="2400" b="1" i="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5714999" y="2971800"/>
            <a:ext cx="3194051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>
              <a:lnSpc>
                <a:spcPct val="70000"/>
              </a:lnSpc>
            </a:pPr>
            <a:r>
              <a:rPr lang="en-US" altLang="zh-CN" i="0" dirty="0" err="1"/>
              <a:t>Phasor</a:t>
            </a:r>
            <a:r>
              <a:rPr lang="en-US" altLang="zh-CN" i="0" dirty="0"/>
              <a:t> diagram</a:t>
            </a:r>
            <a:r>
              <a:rPr lang="zh-CN" altLang="en-US" i="0" dirty="0"/>
              <a:t>：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67337" y="3227394"/>
            <a:ext cx="5599744" cy="541338"/>
            <a:chOff x="954" y="2124"/>
            <a:chExt cx="3157" cy="341"/>
          </a:xfrm>
        </p:grpSpPr>
        <p:graphicFrame>
          <p:nvGraphicFramePr>
            <p:cNvPr id="93270" name="Object 10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0136760"/>
                </p:ext>
              </p:extLst>
            </p:nvPr>
          </p:nvGraphicFramePr>
          <p:xfrm>
            <a:off x="1684" y="2124"/>
            <a:ext cx="438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85867" imgH="219186" progId="Equation.3">
                    <p:embed/>
                  </p:oleObj>
                </mc:Choice>
                <mc:Fallback>
                  <p:oleObj name="公式" r:id="rId2" imgW="285867" imgH="21918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2124"/>
                          <a:ext cx="438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71" name="Text Box 7"/>
            <p:cNvSpPr txBox="1">
              <a:spLocks noChangeArrowheads="1"/>
            </p:cNvSpPr>
            <p:nvPr/>
          </p:nvSpPr>
          <p:spPr bwMode="auto">
            <a:xfrm>
              <a:off x="954" y="2135"/>
              <a:ext cx="31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400" i="0" dirty="0">
                  <a:cs typeface="Times New Roman" pitchFamily="18" charset="0"/>
                </a:rPr>
                <a:t>Assuming</a:t>
              </a:r>
              <a:r>
                <a:rPr lang="zh-CN" altLang="en-US" i="0" dirty="0">
                  <a:solidFill>
                    <a:srgbClr val="CC0000"/>
                  </a:solidFill>
                  <a:latin typeface="宋体" charset="-122"/>
                </a:rPr>
                <a:t>    </a:t>
              </a:r>
              <a:r>
                <a:rPr lang="en-US" altLang="zh-CN" sz="2400" i="0" dirty="0">
                  <a:cs typeface="Times New Roman" pitchFamily="18" charset="0"/>
                </a:rPr>
                <a:t>to be the reference </a:t>
              </a:r>
              <a:r>
                <a:rPr lang="en-US" altLang="zh-CN" sz="2400" i="0" dirty="0" err="1">
                  <a:cs typeface="Times New Roman" pitchFamily="18" charset="0"/>
                </a:rPr>
                <a:t>phasor</a:t>
              </a:r>
              <a:endParaRPr lang="en-US" altLang="zh-CN" sz="2400" i="0" dirty="0">
                <a:cs typeface="Times New Roman" pitchFamily="18" charset="0"/>
              </a:endParaRPr>
            </a:p>
          </p:txBody>
        </p:sp>
      </p:grpSp>
      <p:sp>
        <p:nvSpPr>
          <p:cNvPr id="181256" name="Text Box 8"/>
          <p:cNvSpPr txBox="1">
            <a:spLocks noChangeArrowheads="1"/>
          </p:cNvSpPr>
          <p:nvPr/>
        </p:nvSpPr>
        <p:spPr bwMode="auto">
          <a:xfrm>
            <a:off x="257263" y="5784850"/>
            <a:ext cx="4376101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i="0" dirty="0"/>
              <a:t>From the </a:t>
            </a:r>
            <a:r>
              <a:rPr lang="en-US" altLang="zh-CN" i="0" dirty="0" err="1"/>
              <a:t>phasor</a:t>
            </a:r>
            <a:r>
              <a:rPr lang="en-US" altLang="zh-CN" i="0" dirty="0"/>
              <a:t> diagram</a:t>
            </a:r>
            <a:endParaRPr lang="zh-CN" altLang="zh-CN" i="0" dirty="0">
              <a:solidFill>
                <a:srgbClr val="FF0000"/>
              </a:solidFill>
            </a:endParaRPr>
          </a:p>
        </p:txBody>
      </p:sp>
      <p:sp>
        <p:nvSpPr>
          <p:cNvPr id="181257" name="Rectangle 9" descr="90%"/>
          <p:cNvSpPr>
            <a:spLocks noChangeArrowheads="1"/>
          </p:cNvSpPr>
          <p:nvPr/>
        </p:nvSpPr>
        <p:spPr bwMode="auto">
          <a:xfrm>
            <a:off x="4394635" y="5775579"/>
            <a:ext cx="1600200" cy="402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70000"/>
              </a:lnSpc>
            </a:pPr>
            <a:r>
              <a:rPr lang="en-US" altLang="zh-CN" sz="28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800" b="1" i="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 =10 A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361113" y="4191000"/>
            <a:ext cx="2370137" cy="534988"/>
            <a:chOff x="4103" y="2832"/>
            <a:chExt cx="1493" cy="337"/>
          </a:xfrm>
        </p:grpSpPr>
        <p:graphicFrame>
          <p:nvGraphicFramePr>
            <p:cNvPr id="93268" name="Object 1039"/>
            <p:cNvGraphicFramePr>
              <a:graphicFrameLocks noChangeAspect="1"/>
            </p:cNvGraphicFramePr>
            <p:nvPr/>
          </p:nvGraphicFramePr>
          <p:xfrm>
            <a:off x="5136" y="2832"/>
            <a:ext cx="460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91973" imgH="228501" progId="Equation.3">
                    <p:embed/>
                  </p:oleObj>
                </mc:Choice>
                <mc:Fallback>
                  <p:oleObj name="公式" r:id="rId4" imgW="291973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832"/>
                          <a:ext cx="460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69" name="Line 12"/>
            <p:cNvSpPr>
              <a:spLocks noChangeShapeType="1"/>
            </p:cNvSpPr>
            <p:nvPr/>
          </p:nvSpPr>
          <p:spPr bwMode="auto">
            <a:xfrm>
              <a:off x="4103" y="3140"/>
              <a:ext cx="11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375400" y="3613150"/>
            <a:ext cx="1085850" cy="2171700"/>
            <a:chOff x="3812" y="1973"/>
            <a:chExt cx="684" cy="1368"/>
          </a:xfrm>
        </p:grpSpPr>
        <p:sp>
          <p:nvSpPr>
            <p:cNvPr id="93266" name="Line 14"/>
            <p:cNvSpPr>
              <a:spLocks noChangeShapeType="1"/>
            </p:cNvSpPr>
            <p:nvPr/>
          </p:nvSpPr>
          <p:spPr bwMode="auto">
            <a:xfrm>
              <a:off x="3812" y="1973"/>
              <a:ext cx="684" cy="6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67" name="Line 15"/>
            <p:cNvSpPr>
              <a:spLocks noChangeShapeType="1"/>
            </p:cNvSpPr>
            <p:nvPr/>
          </p:nvSpPr>
          <p:spPr bwMode="auto">
            <a:xfrm>
              <a:off x="4472" y="2669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3195" name="Text Box 17"/>
          <p:cNvSpPr txBox="1">
            <a:spLocks noChangeArrowheads="1"/>
          </p:cNvSpPr>
          <p:nvPr/>
        </p:nvSpPr>
        <p:spPr bwMode="auto">
          <a:xfrm>
            <a:off x="5561013" y="774464"/>
            <a:ext cx="3581400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altLang="zh-CN" i="0" dirty="0">
                <a:solidFill>
                  <a:srgbClr val="FF0000"/>
                </a:solidFill>
              </a:rPr>
              <a:t>Given:</a:t>
            </a:r>
            <a:r>
              <a:rPr lang="en-US" altLang="zh-CN" i="0" dirty="0"/>
              <a:t> </a:t>
            </a:r>
            <a:r>
              <a:rPr lang="en-US" altLang="zh-CN" dirty="0"/>
              <a:t>I</a:t>
            </a:r>
            <a:r>
              <a:rPr lang="en-US" altLang="zh-CN" i="0" baseline="-25000" dirty="0"/>
              <a:t>1</a:t>
            </a:r>
            <a:r>
              <a:rPr lang="en-US" altLang="zh-CN" i="0" dirty="0"/>
              <a:t>=10A</a:t>
            </a:r>
            <a:r>
              <a:rPr lang="zh-CN" altLang="en-US" i="0" dirty="0"/>
              <a:t>、</a:t>
            </a:r>
          </a:p>
          <a:p>
            <a:pPr algn="l">
              <a:lnSpc>
                <a:spcPct val="110000"/>
              </a:lnSpc>
            </a:pPr>
            <a:r>
              <a:rPr lang="zh-CN" altLang="en-US" i="0" dirty="0"/>
              <a:t>            </a:t>
            </a:r>
            <a:r>
              <a:rPr lang="en-US" altLang="zh-CN" dirty="0"/>
              <a:t>U</a:t>
            </a:r>
            <a:r>
              <a:rPr lang="en-US" altLang="zh-CN" i="0" baseline="-25000" dirty="0"/>
              <a:t>AB</a:t>
            </a:r>
            <a:r>
              <a:rPr lang="en-US" altLang="zh-CN" i="0" dirty="0"/>
              <a:t> =100V</a:t>
            </a:r>
            <a:r>
              <a:rPr lang="zh-CN" altLang="en-US" i="0" dirty="0"/>
              <a:t>，</a:t>
            </a: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1187450" y="3748091"/>
            <a:ext cx="3659188" cy="655638"/>
            <a:chOff x="816" y="2444"/>
            <a:chExt cx="2305" cy="413"/>
          </a:xfrm>
        </p:grpSpPr>
        <p:graphicFrame>
          <p:nvGraphicFramePr>
            <p:cNvPr id="93261" name="Object 1036"/>
            <p:cNvGraphicFramePr>
              <a:graphicFrameLocks noChangeAspect="1"/>
            </p:cNvGraphicFramePr>
            <p:nvPr/>
          </p:nvGraphicFramePr>
          <p:xfrm>
            <a:off x="816" y="2496"/>
            <a:ext cx="88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583693" imgH="215713" progId="Equation.3">
                    <p:embed/>
                  </p:oleObj>
                </mc:Choice>
                <mc:Fallback>
                  <p:oleObj name="公式" r:id="rId6" imgW="583693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496"/>
                          <a:ext cx="885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3262" name="Group 20"/>
            <p:cNvGrpSpPr>
              <a:grpSpLocks/>
            </p:cNvGrpSpPr>
            <p:nvPr/>
          </p:nvGrpSpPr>
          <p:grpSpPr bwMode="auto">
            <a:xfrm>
              <a:off x="1836" y="2444"/>
              <a:ext cx="1285" cy="413"/>
              <a:chOff x="1836" y="2461"/>
              <a:chExt cx="1285" cy="413"/>
            </a:xfrm>
          </p:grpSpPr>
          <p:sp>
            <p:nvSpPr>
              <p:cNvPr id="93263" name="Rectangle 21"/>
              <p:cNvSpPr>
                <a:spLocks noChangeArrowheads="1"/>
              </p:cNvSpPr>
              <p:nvPr/>
            </p:nvSpPr>
            <p:spPr bwMode="auto">
              <a:xfrm>
                <a:off x="2082" y="2572"/>
                <a:ext cx="53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400" b="1" dirty="0">
                    <a:solidFill>
                      <a:srgbClr val="CC0000"/>
                    </a:solidFill>
                    <a:latin typeface="Times New Roman" pitchFamily="18" charset="0"/>
                    <a:cs typeface="Times New Roman" pitchFamily="18" charset="0"/>
                  </a:rPr>
                  <a:t>leads</a:t>
                </a:r>
                <a:endParaRPr lang="zh-CN" altLang="en-US" sz="2400" b="1" i="0" dirty="0">
                  <a:solidFill>
                    <a:srgbClr val="CC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graphicFrame>
            <p:nvGraphicFramePr>
              <p:cNvPr id="93264" name="Object 10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5276773"/>
                  </p:ext>
                </p:extLst>
              </p:nvPr>
            </p:nvGraphicFramePr>
            <p:xfrm>
              <a:off x="1836" y="2461"/>
              <a:ext cx="274" cy="4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64880" imgH="241200" progId="Equation.DSMT4">
                      <p:embed/>
                    </p:oleObj>
                  </mc:Choice>
                  <mc:Fallback>
                    <p:oleObj name="Equation" r:id="rId8" imgW="1648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36" y="2461"/>
                            <a:ext cx="274" cy="4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3265" name="Object 10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5451844"/>
                  </p:ext>
                </p:extLst>
              </p:nvPr>
            </p:nvGraphicFramePr>
            <p:xfrm>
              <a:off x="2702" y="2506"/>
              <a:ext cx="419" cy="3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91960" imgH="241200" progId="Equation.DSMT4">
                      <p:embed/>
                    </p:oleObj>
                  </mc:Choice>
                  <mc:Fallback>
                    <p:oleObj name="Equation" r:id="rId10" imgW="29196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2" y="2506"/>
                            <a:ext cx="419" cy="3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97984" name="Object 1024"/>
          <p:cNvGraphicFramePr>
            <a:graphicFrameLocks noChangeAspect="1"/>
          </p:cNvGraphicFramePr>
          <p:nvPr/>
        </p:nvGraphicFramePr>
        <p:xfrm>
          <a:off x="1143000" y="4298950"/>
          <a:ext cx="3284538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00200" imgH="431800" progId="Equation.3">
                  <p:embed/>
                </p:oleObj>
              </mc:Choice>
              <mc:Fallback>
                <p:oleObj name="公式" r:id="rId12" imgW="1600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298950"/>
                        <a:ext cx="3284538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85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931649"/>
              </p:ext>
            </p:extLst>
          </p:nvPr>
        </p:nvGraphicFramePr>
        <p:xfrm>
          <a:off x="2908799" y="5167313"/>
          <a:ext cx="4826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41200" progId="Equation.DSMT4">
                  <p:embed/>
                </p:oleObj>
              </mc:Choice>
              <mc:Fallback>
                <p:oleObj name="Equation" r:id="rId14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799" y="5167313"/>
                        <a:ext cx="48260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5673727" y="3352800"/>
            <a:ext cx="1208088" cy="1346200"/>
            <a:chOff x="3670" y="2304"/>
            <a:chExt cx="761" cy="848"/>
          </a:xfrm>
        </p:grpSpPr>
        <p:sp>
          <p:nvSpPr>
            <p:cNvPr id="93258" name="Line 27"/>
            <p:cNvSpPr>
              <a:spLocks noChangeShapeType="1"/>
            </p:cNvSpPr>
            <p:nvPr/>
          </p:nvSpPr>
          <p:spPr bwMode="auto">
            <a:xfrm flipV="1">
              <a:off x="4115" y="2468"/>
              <a:ext cx="0" cy="6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25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670" y="2804"/>
                  <a:ext cx="76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r>
                    <a:rPr lang="en-US" altLang="zh-CN" sz="2000" dirty="0">
                      <a:solidFill>
                        <a:srgbClr val="FF0000"/>
                      </a:solidFill>
                    </a:rPr>
                    <a:t>10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rad>
                    </m:oMath>
                  </a14:m>
                  <a:endParaRPr lang="en-US" altLang="zh-CN" sz="20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3259" name="Text 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70" y="2804"/>
                  <a:ext cx="761" cy="271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5556" b="-2394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3260" name="Object 1035"/>
                <p:cNvGraphicFramePr>
                  <a:graphicFrameLocks noChangeAspect="1"/>
                </p:cNvGraphicFramePr>
                <p:nvPr/>
              </p:nvGraphicFramePr>
              <p:xfrm>
                <a:off x="3888" y="2304"/>
                <a:ext cx="194" cy="27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18" imgW="152517" imgH="219186" progId="Equation.3">
                        <p:embed/>
                      </p:oleObj>
                    </mc:Choice>
                    <mc:Fallback>
                      <p:oleObj name="公式" r:id="rId18" imgW="152517" imgH="219186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88" y="2304"/>
                              <a:ext cx="194" cy="27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93260" name="Object 1035"/>
                <p:cNvGraphicFramePr>
                  <a:graphicFrameLocks noChangeAspect="1"/>
                </p:cNvGraphicFramePr>
                <p:nvPr/>
              </p:nvGraphicFramePr>
              <p:xfrm>
                <a:off x="3888" y="2304"/>
                <a:ext cx="194" cy="27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9161" name="公式" r:id="rId20" imgW="152517" imgH="219186" progId="Equation.3">
                        <p:embed/>
                      </p:oleObj>
                    </mc:Choice>
                    <mc:Fallback>
                      <p:oleObj name="公式" r:id="rId20" imgW="152517" imgH="219186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88" y="2304"/>
                              <a:ext cx="194" cy="27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6381750" y="4267200"/>
            <a:ext cx="1244600" cy="412750"/>
            <a:chOff x="4116" y="2880"/>
            <a:chExt cx="784" cy="260"/>
          </a:xfrm>
        </p:grpSpPr>
        <p:sp>
          <p:nvSpPr>
            <p:cNvPr id="93256" name="Line 31"/>
            <p:cNvSpPr>
              <a:spLocks noChangeShapeType="1"/>
            </p:cNvSpPr>
            <p:nvPr/>
          </p:nvSpPr>
          <p:spPr bwMode="auto">
            <a:xfrm>
              <a:off x="4116" y="3140"/>
              <a:ext cx="648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257" name="Object 1034"/>
            <p:cNvGraphicFramePr>
              <a:graphicFrameLocks noChangeAspect="1"/>
            </p:cNvGraphicFramePr>
            <p:nvPr/>
          </p:nvGraphicFramePr>
          <p:xfrm>
            <a:off x="4752" y="2880"/>
            <a:ext cx="148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14185" imgH="180855" progId="Equation.3">
                    <p:embed/>
                  </p:oleObj>
                </mc:Choice>
                <mc:Fallback>
                  <p:oleObj name="公式" r:id="rId22" imgW="11418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2880"/>
                          <a:ext cx="148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3"/>
          <p:cNvGrpSpPr>
            <a:grpSpLocks/>
          </p:cNvGrpSpPr>
          <p:nvPr/>
        </p:nvGrpSpPr>
        <p:grpSpPr bwMode="auto">
          <a:xfrm>
            <a:off x="6335710" y="4648200"/>
            <a:ext cx="1235075" cy="1497013"/>
            <a:chOff x="4087" y="3144"/>
            <a:chExt cx="778" cy="943"/>
          </a:xfrm>
        </p:grpSpPr>
        <p:sp>
          <p:nvSpPr>
            <p:cNvPr id="93251" name="Line 34"/>
            <p:cNvSpPr>
              <a:spLocks noChangeShapeType="1"/>
            </p:cNvSpPr>
            <p:nvPr/>
          </p:nvSpPr>
          <p:spPr bwMode="auto">
            <a:xfrm>
              <a:off x="4103" y="3150"/>
              <a:ext cx="720" cy="7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52" name="Text Box 35"/>
            <p:cNvSpPr txBox="1">
              <a:spLocks noChangeArrowheads="1"/>
            </p:cNvSpPr>
            <p:nvPr/>
          </p:nvSpPr>
          <p:spPr bwMode="auto">
            <a:xfrm>
              <a:off x="4270" y="3144"/>
              <a:ext cx="5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</a:rPr>
                <a:t>45°</a:t>
              </a:r>
              <a:endParaRPr lang="en-US" altLang="zh-CN"/>
            </a:p>
          </p:txBody>
        </p:sp>
        <p:graphicFrame>
          <p:nvGraphicFramePr>
            <p:cNvPr id="93253" name="Object 10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8997567"/>
                </p:ext>
              </p:extLst>
            </p:nvPr>
          </p:nvGraphicFramePr>
          <p:xfrm>
            <a:off x="4087" y="3497"/>
            <a:ext cx="24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03040" imgH="177480" progId="Equation.DSMT4">
                    <p:embed/>
                  </p:oleObj>
                </mc:Choice>
                <mc:Fallback>
                  <p:oleObj name="Equation" r:id="rId24" imgW="2030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" y="3497"/>
                          <a:ext cx="249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54" name="Object 1033"/>
            <p:cNvGraphicFramePr>
              <a:graphicFrameLocks noChangeAspect="1"/>
            </p:cNvGraphicFramePr>
            <p:nvPr/>
          </p:nvGraphicFramePr>
          <p:xfrm>
            <a:off x="4656" y="3814"/>
            <a:ext cx="20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71412" imgH="219186" progId="Equation.3">
                    <p:embed/>
                  </p:oleObj>
                </mc:Choice>
                <mc:Fallback>
                  <p:oleObj name="公式" r:id="rId26" imgW="171412" imgH="21918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3814"/>
                          <a:ext cx="20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55" name="Freeform 38"/>
            <p:cNvSpPr>
              <a:spLocks/>
            </p:cNvSpPr>
            <p:nvPr/>
          </p:nvSpPr>
          <p:spPr bwMode="auto">
            <a:xfrm>
              <a:off x="4255" y="3148"/>
              <a:ext cx="70" cy="149"/>
            </a:xfrm>
            <a:custGeom>
              <a:avLst/>
              <a:gdLst>
                <a:gd name="T0" fmla="*/ 70 w 70"/>
                <a:gd name="T1" fmla="*/ 0 h 149"/>
                <a:gd name="T2" fmla="*/ 0 w 70"/>
                <a:gd name="T3" fmla="*/ 149 h 149"/>
                <a:gd name="T4" fmla="*/ 0 60000 65536"/>
                <a:gd name="T5" fmla="*/ 0 60000 65536"/>
                <a:gd name="T6" fmla="*/ 0 w 70"/>
                <a:gd name="T7" fmla="*/ 0 h 149"/>
                <a:gd name="T8" fmla="*/ 70 w 70"/>
                <a:gd name="T9" fmla="*/ 149 h 14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0" h="149">
                  <a:moveTo>
                    <a:pt x="70" y="0"/>
                  </a:moveTo>
                  <a:cubicBezTo>
                    <a:pt x="58" y="60"/>
                    <a:pt x="42" y="104"/>
                    <a:pt x="0" y="14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3202" name="Group 82"/>
          <p:cNvGrpSpPr>
            <a:grpSpLocks/>
          </p:cNvGrpSpPr>
          <p:nvPr/>
        </p:nvGrpSpPr>
        <p:grpSpPr bwMode="auto">
          <a:xfrm>
            <a:off x="609600" y="71438"/>
            <a:ext cx="4800600" cy="2659062"/>
            <a:chOff x="1344" y="879"/>
            <a:chExt cx="2976" cy="1648"/>
          </a:xfrm>
        </p:grpSpPr>
        <p:sp>
          <p:nvSpPr>
            <p:cNvPr id="93209" name="Line 83"/>
            <p:cNvSpPr>
              <a:spLocks noChangeShapeType="1"/>
            </p:cNvSpPr>
            <p:nvPr/>
          </p:nvSpPr>
          <p:spPr bwMode="auto">
            <a:xfrm rot="5400000" flipH="1">
              <a:off x="3660" y="1041"/>
              <a:ext cx="1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3210" name="Group 84"/>
            <p:cNvGrpSpPr>
              <a:grpSpLocks/>
            </p:cNvGrpSpPr>
            <p:nvPr/>
          </p:nvGrpSpPr>
          <p:grpSpPr bwMode="auto">
            <a:xfrm>
              <a:off x="3336" y="1182"/>
              <a:ext cx="61" cy="178"/>
              <a:chOff x="3839" y="1055"/>
              <a:chExt cx="61" cy="238"/>
            </a:xfrm>
          </p:grpSpPr>
          <p:sp>
            <p:nvSpPr>
              <p:cNvPr id="93249" name="Line 85"/>
              <p:cNvSpPr>
                <a:spLocks noChangeShapeType="1"/>
              </p:cNvSpPr>
              <p:nvPr/>
            </p:nvSpPr>
            <p:spPr bwMode="auto">
              <a:xfrm rot="5400000" flipH="1">
                <a:off x="3781" y="1174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250" name="Line 86"/>
              <p:cNvSpPr>
                <a:spLocks noChangeShapeType="1"/>
              </p:cNvSpPr>
              <p:nvPr/>
            </p:nvSpPr>
            <p:spPr bwMode="auto">
              <a:xfrm rot="5400000" flipH="1">
                <a:off x="3720" y="1174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3211" name="Rectangle 87"/>
            <p:cNvSpPr>
              <a:spLocks noChangeArrowheads="1"/>
            </p:cNvSpPr>
            <p:nvPr/>
          </p:nvSpPr>
          <p:spPr bwMode="auto">
            <a:xfrm rot="-5400000">
              <a:off x="3038" y="1825"/>
              <a:ext cx="93" cy="23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12" name="Line 88"/>
            <p:cNvSpPr>
              <a:spLocks noChangeShapeType="1"/>
            </p:cNvSpPr>
            <p:nvPr/>
          </p:nvSpPr>
          <p:spPr bwMode="auto">
            <a:xfrm rot="-5400000">
              <a:off x="3288" y="1866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13" name="Line 89"/>
            <p:cNvSpPr>
              <a:spLocks noChangeShapeType="1"/>
            </p:cNvSpPr>
            <p:nvPr/>
          </p:nvSpPr>
          <p:spPr bwMode="auto">
            <a:xfrm rot="-5400000">
              <a:off x="2884" y="1840"/>
              <a:ext cx="0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14" name="Line 90"/>
            <p:cNvSpPr>
              <a:spLocks noChangeShapeType="1"/>
            </p:cNvSpPr>
            <p:nvPr/>
          </p:nvSpPr>
          <p:spPr bwMode="auto">
            <a:xfrm rot="-5400000">
              <a:off x="3820" y="1866"/>
              <a:ext cx="1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15" name="Line 91"/>
            <p:cNvSpPr>
              <a:spLocks noChangeShapeType="1"/>
            </p:cNvSpPr>
            <p:nvPr/>
          </p:nvSpPr>
          <p:spPr bwMode="auto">
            <a:xfrm>
              <a:off x="3883" y="1276"/>
              <a:ext cx="0" cy="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16" name="Line 92"/>
            <p:cNvSpPr>
              <a:spLocks noChangeShapeType="1"/>
            </p:cNvSpPr>
            <p:nvPr/>
          </p:nvSpPr>
          <p:spPr bwMode="auto">
            <a:xfrm>
              <a:off x="3894" y="1605"/>
              <a:ext cx="4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17" name="Text Box 93"/>
            <p:cNvSpPr txBox="1">
              <a:spLocks noChangeArrowheads="1"/>
            </p:cNvSpPr>
            <p:nvPr/>
          </p:nvSpPr>
          <p:spPr bwMode="auto">
            <a:xfrm>
              <a:off x="2562" y="1323"/>
              <a:ext cx="262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A</a:t>
              </a:r>
            </a:p>
          </p:txBody>
        </p:sp>
        <p:sp>
          <p:nvSpPr>
            <p:cNvPr id="93218" name="Text Box 94"/>
            <p:cNvSpPr txBox="1">
              <a:spLocks noChangeArrowheads="1"/>
            </p:cNvSpPr>
            <p:nvPr/>
          </p:nvSpPr>
          <p:spPr bwMode="auto">
            <a:xfrm>
              <a:off x="3891" y="1323"/>
              <a:ext cx="251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B</a:t>
              </a:r>
            </a:p>
          </p:txBody>
        </p:sp>
        <p:sp>
          <p:nvSpPr>
            <p:cNvPr id="93219" name="Text Box 95"/>
            <p:cNvSpPr txBox="1">
              <a:spLocks noChangeArrowheads="1"/>
            </p:cNvSpPr>
            <p:nvPr/>
          </p:nvSpPr>
          <p:spPr bwMode="auto">
            <a:xfrm>
              <a:off x="3099" y="1323"/>
              <a:ext cx="369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 C</a:t>
              </a:r>
              <a:r>
                <a:rPr lang="en-US" altLang="zh-CN" sz="2600" baseline="-25000"/>
                <a:t>1</a:t>
              </a:r>
              <a:endParaRPr lang="en-US" altLang="zh-CN" sz="2600"/>
            </a:p>
          </p:txBody>
        </p:sp>
        <p:sp>
          <p:nvSpPr>
            <p:cNvPr id="93220" name="Line 96"/>
            <p:cNvSpPr>
              <a:spLocks noChangeShapeType="1"/>
            </p:cNvSpPr>
            <p:nvPr/>
          </p:nvSpPr>
          <p:spPr bwMode="auto">
            <a:xfrm>
              <a:off x="1350" y="1588"/>
              <a:ext cx="0" cy="7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21" name="Line 97"/>
            <p:cNvSpPr>
              <a:spLocks noChangeShapeType="1"/>
            </p:cNvSpPr>
            <p:nvPr/>
          </p:nvSpPr>
          <p:spPr bwMode="auto">
            <a:xfrm>
              <a:off x="4311" y="1605"/>
              <a:ext cx="0" cy="7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22" name="Oval 98"/>
            <p:cNvSpPr>
              <a:spLocks noChangeArrowheads="1"/>
            </p:cNvSpPr>
            <p:nvPr/>
          </p:nvSpPr>
          <p:spPr bwMode="auto">
            <a:xfrm>
              <a:off x="2705" y="2234"/>
              <a:ext cx="267" cy="2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23" name="Text Box 99"/>
            <p:cNvSpPr txBox="1">
              <a:spLocks noChangeArrowheads="1"/>
            </p:cNvSpPr>
            <p:nvPr/>
          </p:nvSpPr>
          <p:spPr bwMode="auto">
            <a:xfrm>
              <a:off x="2728" y="2224"/>
              <a:ext cx="261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 i="0">
                  <a:solidFill>
                    <a:srgbClr val="FF0000"/>
                  </a:solidFill>
                </a:rPr>
                <a:t>V</a:t>
              </a:r>
            </a:p>
          </p:txBody>
        </p:sp>
        <p:graphicFrame>
          <p:nvGraphicFramePr>
            <p:cNvPr id="93224" name="Object 19"/>
            <p:cNvGraphicFramePr>
              <a:graphicFrameLocks noChangeAspect="1"/>
            </p:cNvGraphicFramePr>
            <p:nvPr/>
          </p:nvGraphicFramePr>
          <p:xfrm>
            <a:off x="2968" y="1986"/>
            <a:ext cx="29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19192" imgH="171408" progId="Equation.3">
                    <p:embed/>
                  </p:oleObj>
                </mc:Choice>
                <mc:Fallback>
                  <p:oleObj name="公式" r:id="rId28" imgW="219192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1986"/>
                          <a:ext cx="29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25" name="Object 20"/>
            <p:cNvGraphicFramePr>
              <a:graphicFrameLocks noChangeAspect="1"/>
            </p:cNvGraphicFramePr>
            <p:nvPr/>
          </p:nvGraphicFramePr>
          <p:xfrm>
            <a:off x="2968" y="879"/>
            <a:ext cx="2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52517" imgH="228634" progId="Equation.DSMT4">
                    <p:embed/>
                  </p:oleObj>
                </mc:Choice>
                <mc:Fallback>
                  <p:oleObj name="Equation" r:id="rId30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879"/>
                          <a:ext cx="2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26" name="Object 10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1403158"/>
                </p:ext>
              </p:extLst>
            </p:nvPr>
          </p:nvGraphicFramePr>
          <p:xfrm>
            <a:off x="2995" y="1518"/>
            <a:ext cx="2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152517" imgH="228634" progId="Equation.DSMT4">
                    <p:embed/>
                  </p:oleObj>
                </mc:Choice>
                <mc:Fallback>
                  <p:oleObj name="Equation" r:id="rId31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5" y="1518"/>
                          <a:ext cx="2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27" name="Line 103"/>
            <p:cNvSpPr>
              <a:spLocks noChangeShapeType="1"/>
            </p:cNvSpPr>
            <p:nvPr/>
          </p:nvSpPr>
          <p:spPr bwMode="auto">
            <a:xfrm>
              <a:off x="2968" y="1199"/>
              <a:ext cx="26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228" name="Object 1027"/>
            <p:cNvGraphicFramePr>
              <a:graphicFrameLocks noChangeAspect="1"/>
            </p:cNvGraphicFramePr>
            <p:nvPr/>
          </p:nvGraphicFramePr>
          <p:xfrm>
            <a:off x="1548" y="1235"/>
            <a:ext cx="47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371439" imgH="190573" progId="Equation.3">
                    <p:embed/>
                  </p:oleObj>
                </mc:Choice>
                <mc:Fallback>
                  <p:oleObj name="Equation" r:id="rId33" imgW="371439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8" y="1235"/>
                          <a:ext cx="47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29" name="Line 105"/>
            <p:cNvSpPr>
              <a:spLocks noChangeShapeType="1"/>
            </p:cNvSpPr>
            <p:nvPr/>
          </p:nvSpPr>
          <p:spPr bwMode="auto">
            <a:xfrm>
              <a:off x="2791" y="1279"/>
              <a:ext cx="0" cy="6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30" name="Line 106"/>
            <p:cNvSpPr>
              <a:spLocks noChangeShapeType="1"/>
            </p:cNvSpPr>
            <p:nvPr/>
          </p:nvSpPr>
          <p:spPr bwMode="auto">
            <a:xfrm>
              <a:off x="2791" y="1279"/>
              <a:ext cx="55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31" name="Oval 107"/>
            <p:cNvSpPr>
              <a:spLocks noChangeArrowheads="1"/>
            </p:cNvSpPr>
            <p:nvPr/>
          </p:nvSpPr>
          <p:spPr bwMode="auto">
            <a:xfrm>
              <a:off x="2163" y="1455"/>
              <a:ext cx="267" cy="2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zh-CN" sz="2600" i="0">
                  <a:solidFill>
                    <a:srgbClr val="FF0000"/>
                  </a:solidFill>
                </a:rPr>
                <a:t>A</a:t>
              </a:r>
            </a:p>
          </p:txBody>
        </p:sp>
        <p:grpSp>
          <p:nvGrpSpPr>
            <p:cNvPr id="93232" name="Group 108"/>
            <p:cNvGrpSpPr>
              <a:grpSpLocks/>
            </p:cNvGrpSpPr>
            <p:nvPr/>
          </p:nvGrpSpPr>
          <p:grpSpPr bwMode="auto">
            <a:xfrm>
              <a:off x="1561" y="1518"/>
              <a:ext cx="374" cy="87"/>
              <a:chOff x="1932" y="1430"/>
              <a:chExt cx="389" cy="99"/>
            </a:xfrm>
          </p:grpSpPr>
          <p:sp>
            <p:nvSpPr>
              <p:cNvPr id="93246" name="AutoShape 109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247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248" name="AutoShape 111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3233" name="Line 112"/>
            <p:cNvSpPr>
              <a:spLocks noChangeShapeType="1"/>
            </p:cNvSpPr>
            <p:nvPr/>
          </p:nvSpPr>
          <p:spPr bwMode="auto">
            <a:xfrm>
              <a:off x="1943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34" name="Line 113"/>
            <p:cNvSpPr>
              <a:spLocks noChangeShapeType="1"/>
            </p:cNvSpPr>
            <p:nvPr/>
          </p:nvSpPr>
          <p:spPr bwMode="auto">
            <a:xfrm>
              <a:off x="1348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35" name="Line 114"/>
            <p:cNvSpPr>
              <a:spLocks noChangeShapeType="1"/>
            </p:cNvSpPr>
            <p:nvPr/>
          </p:nvSpPr>
          <p:spPr bwMode="auto">
            <a:xfrm>
              <a:off x="2434" y="1588"/>
              <a:ext cx="3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36" name="Line 115"/>
            <p:cNvSpPr>
              <a:spLocks noChangeShapeType="1"/>
            </p:cNvSpPr>
            <p:nvPr/>
          </p:nvSpPr>
          <p:spPr bwMode="auto">
            <a:xfrm>
              <a:off x="1344" y="2382"/>
              <a:ext cx="13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37" name="Line 116"/>
            <p:cNvSpPr>
              <a:spLocks noChangeShapeType="1"/>
            </p:cNvSpPr>
            <p:nvPr/>
          </p:nvSpPr>
          <p:spPr bwMode="auto">
            <a:xfrm>
              <a:off x="2976" y="2382"/>
              <a:ext cx="13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238" name="Object 1028"/>
            <p:cNvGraphicFramePr>
              <a:graphicFrameLocks noChangeAspect="1"/>
            </p:cNvGraphicFramePr>
            <p:nvPr/>
          </p:nvGraphicFramePr>
          <p:xfrm>
            <a:off x="3365" y="1968"/>
            <a:ext cx="397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295315" imgH="190573" progId="Equation.3">
                    <p:embed/>
                  </p:oleObj>
                </mc:Choice>
                <mc:Fallback>
                  <p:oleObj name="Equation" r:id="rId35" imgW="29531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5" y="1968"/>
                          <a:ext cx="397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39" name="Line 118"/>
            <p:cNvSpPr>
              <a:spLocks noChangeShapeType="1"/>
            </p:cNvSpPr>
            <p:nvPr/>
          </p:nvSpPr>
          <p:spPr bwMode="auto">
            <a:xfrm>
              <a:off x="2968" y="1827"/>
              <a:ext cx="26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240" name="Object 1029"/>
            <p:cNvGraphicFramePr>
              <a:graphicFrameLocks noChangeAspect="1"/>
            </p:cNvGraphicFramePr>
            <p:nvPr/>
          </p:nvGraphicFramePr>
          <p:xfrm>
            <a:off x="2262" y="1158"/>
            <a:ext cx="15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114185" imgH="180855" progId="Equation.DSMT4">
                    <p:embed/>
                  </p:oleObj>
                </mc:Choice>
                <mc:Fallback>
                  <p:oleObj name="Equation" r:id="rId37" imgW="114185" imgH="18085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2" y="1158"/>
                          <a:ext cx="15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41" name="Line 120"/>
            <p:cNvSpPr>
              <a:spLocks noChangeShapeType="1"/>
            </p:cNvSpPr>
            <p:nvPr/>
          </p:nvSpPr>
          <p:spPr bwMode="auto">
            <a:xfrm>
              <a:off x="2218" y="1403"/>
              <a:ext cx="26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3242" name="Group 121"/>
            <p:cNvGrpSpPr>
              <a:grpSpLocks/>
            </p:cNvGrpSpPr>
            <p:nvPr/>
          </p:nvGrpSpPr>
          <p:grpSpPr bwMode="auto">
            <a:xfrm>
              <a:off x="3374" y="1868"/>
              <a:ext cx="377" cy="88"/>
              <a:chOff x="1932" y="1430"/>
              <a:chExt cx="389" cy="99"/>
            </a:xfrm>
          </p:grpSpPr>
          <p:sp>
            <p:nvSpPr>
              <p:cNvPr id="93243" name="AutoShape 122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244" name="AutoShape 123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245" name="AutoShape 124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93203" name="灯片编号占位符 26"/>
          <p:cNvSpPr txBox="1">
            <a:spLocks/>
          </p:cNvSpPr>
          <p:nvPr/>
        </p:nvSpPr>
        <p:spPr bwMode="auto">
          <a:xfrm>
            <a:off x="0" y="6613525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fld id="{369FD416-B059-425C-B821-2A802FDCB82C}" type="slidenum">
              <a:rPr lang="zh-CN" altLang="en-US" sz="1000" i="0">
                <a:solidFill>
                  <a:schemeClr val="bg1"/>
                </a:solidFill>
              </a:rPr>
              <a:pPr eaLnBrk="1" hangingPunct="1"/>
              <a:t>93</a:t>
            </a:fld>
            <a:endParaRPr lang="en-US" altLang="zh-CN" sz="1000" i="0">
              <a:solidFill>
                <a:schemeClr val="bg1"/>
              </a:solidFill>
            </a:endParaRPr>
          </a:p>
        </p:txBody>
      </p:sp>
      <p:sp>
        <p:nvSpPr>
          <p:cNvPr id="93204" name="Rectangle 4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4340225" y="6610350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返 回</a:t>
            </a:r>
          </a:p>
        </p:txBody>
      </p:sp>
      <p:sp>
        <p:nvSpPr>
          <p:cNvPr id="93205" name="Rectangle 46">
            <a:hlinkClick r:id="rId38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上一节</a:t>
            </a:r>
          </a:p>
        </p:txBody>
      </p:sp>
      <p:sp>
        <p:nvSpPr>
          <p:cNvPr id="93206" name="Rectangle 45">
            <a:hlinkClick r:id="rId39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下一节</a:t>
            </a:r>
          </a:p>
        </p:txBody>
      </p:sp>
      <p:sp>
        <p:nvSpPr>
          <p:cNvPr id="93207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上一页</a:t>
            </a:r>
          </a:p>
        </p:txBody>
      </p:sp>
      <p:sp>
        <p:nvSpPr>
          <p:cNvPr id="93208" name="Rectangle 4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2264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下一页</a:t>
            </a:r>
          </a:p>
        </p:txBody>
      </p:sp>
      <p:sp>
        <p:nvSpPr>
          <p:cNvPr id="88" name="Rectangle 7"/>
          <p:cNvSpPr>
            <a:spLocks noChangeArrowheads="1"/>
          </p:cNvSpPr>
          <p:nvPr/>
        </p:nvSpPr>
        <p:spPr bwMode="auto">
          <a:xfrm>
            <a:off x="5590561" y="1861626"/>
            <a:ext cx="34092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Find: 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the readings of A and V</a:t>
            </a:r>
            <a:endParaRPr lang="zh-CN" altLang="en-US" sz="2000" b="1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38569" y="3924304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by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0" name="Object 10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368228"/>
              </p:ext>
            </p:extLst>
          </p:nvPr>
        </p:nvGraphicFramePr>
        <p:xfrm>
          <a:off x="5254625" y="3819686"/>
          <a:ext cx="6365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41200" imgH="203040" progId="Equation.DSMT4">
                  <p:embed/>
                </p:oleObj>
              </mc:Choice>
              <mc:Fallback>
                <p:oleObj name="Equation" r:id="rId40" imgW="241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5" y="3819686"/>
                        <a:ext cx="6365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266218"/>
              </p:ext>
            </p:extLst>
          </p:nvPr>
        </p:nvGraphicFramePr>
        <p:xfrm>
          <a:off x="4079622" y="5191641"/>
          <a:ext cx="739797" cy="50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355320" imgH="241200" progId="Equation.DSMT4">
                  <p:embed/>
                </p:oleObj>
              </mc:Choice>
              <mc:Fallback>
                <p:oleObj name="Equation" r:id="rId42" imgW="3553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079622" y="5191641"/>
                        <a:ext cx="739797" cy="502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807000"/>
              </p:ext>
            </p:extLst>
          </p:nvPr>
        </p:nvGraphicFramePr>
        <p:xfrm>
          <a:off x="5123067" y="5045649"/>
          <a:ext cx="74136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53800" imgH="215640" progId="Equation.DSMT4">
                  <p:embed/>
                </p:oleObj>
              </mc:Choice>
              <mc:Fallback>
                <p:oleObj name="Equation" r:id="rId44" imgW="253800" imgH="215640" progId="Equation.DSMT4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3067" y="5045649"/>
                        <a:ext cx="741362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3359122" y="5225143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lags</a:t>
            </a:r>
            <a:endParaRPr lang="zh-CN" altLang="en-US" sz="2400" b="1" dirty="0">
              <a:solidFill>
                <a:srgbClr val="CC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656534" y="5167313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by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3629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7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8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7" dur="500"/>
                                        <p:tgtEl>
                                          <p:spTgt spid="18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autoUpdateAnimBg="0"/>
      <p:bldP spid="181252" grpId="0" autoUpdateAnimBg="0"/>
      <p:bldP spid="181256" grpId="0" autoUpdateAnimBg="0"/>
      <p:bldP spid="181257" grpId="0" autoUpdateAnimBg="0"/>
      <p:bldP spid="6" grpId="0"/>
      <p:bldP spid="12" grpId="0"/>
      <p:bldP spid="94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2"/>
          <p:cNvSpPr txBox="1">
            <a:spLocks noChangeArrowheads="1"/>
          </p:cNvSpPr>
          <p:nvPr/>
        </p:nvSpPr>
        <p:spPr bwMode="auto">
          <a:xfrm>
            <a:off x="1047673" y="3675063"/>
            <a:ext cx="365760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3200" dirty="0">
                <a:solidFill>
                  <a:srgbClr val="000099"/>
                </a:solidFill>
              </a:rPr>
              <a:t>U</a:t>
            </a:r>
            <a:r>
              <a:rPr lang="en-US" altLang="zh-CN" sz="3200" baseline="-25000" dirty="0">
                <a:solidFill>
                  <a:srgbClr val="000099"/>
                </a:solidFill>
              </a:rPr>
              <a:t>L</a:t>
            </a:r>
            <a:r>
              <a:rPr lang="en-US" altLang="zh-CN" sz="3200" dirty="0">
                <a:solidFill>
                  <a:srgbClr val="000099"/>
                </a:solidFill>
              </a:rPr>
              <a:t>= I X</a:t>
            </a:r>
            <a:r>
              <a:rPr lang="en-US" altLang="zh-CN" sz="3200" baseline="-25000" dirty="0">
                <a:solidFill>
                  <a:srgbClr val="000099"/>
                </a:solidFill>
              </a:rPr>
              <a:t>L </a:t>
            </a:r>
            <a:r>
              <a:rPr lang="en-US" altLang="zh-CN" sz="3200" dirty="0">
                <a:solidFill>
                  <a:srgbClr val="000099"/>
                </a:solidFill>
              </a:rPr>
              <a:t>=</a:t>
            </a:r>
            <a:r>
              <a:rPr lang="en-US" altLang="zh-CN" sz="3200" i="0" dirty="0">
                <a:solidFill>
                  <a:srgbClr val="000099"/>
                </a:solidFill>
              </a:rPr>
              <a:t>100V</a:t>
            </a:r>
          </a:p>
        </p:txBody>
      </p:sp>
      <p:sp>
        <p:nvSpPr>
          <p:cNvPr id="182275" name="Rectangle 3" descr="90%"/>
          <p:cNvSpPr>
            <a:spLocks noChangeArrowheads="1"/>
          </p:cNvSpPr>
          <p:nvPr/>
        </p:nvSpPr>
        <p:spPr bwMode="auto">
          <a:xfrm>
            <a:off x="2643188" y="5589588"/>
            <a:ext cx="1646605" cy="584775"/>
          </a:xfrm>
          <a:prstGeom prst="rect">
            <a:avLst/>
          </a:prstGeom>
          <a:pattFill prst="pct90">
            <a:fgClr>
              <a:srgbClr val="FFFFCC"/>
            </a:fgClr>
            <a:bgClr>
              <a:srgbClr val="FFFFFF"/>
            </a:bgClr>
          </a:pattFill>
          <a:ln w="28575">
            <a:solidFill>
              <a:srgbClr val="339933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i="0" dirty="0">
                <a:solidFill>
                  <a:srgbClr val="CC0000"/>
                </a:solidFill>
              </a:rPr>
              <a:t>V</a:t>
            </a:r>
            <a:r>
              <a:rPr lang="en-US" altLang="zh-CN" sz="3200" dirty="0">
                <a:solidFill>
                  <a:srgbClr val="CC0000"/>
                </a:solidFill>
              </a:rPr>
              <a:t>=</a:t>
            </a:r>
            <a:r>
              <a:rPr lang="en-US" altLang="zh-CN" sz="3200" i="0" dirty="0">
                <a:solidFill>
                  <a:srgbClr val="CC0000"/>
                </a:solidFill>
              </a:rPr>
              <a:t>141V</a:t>
            </a:r>
            <a:endParaRPr lang="en-US" altLang="zh-CN" i="0" dirty="0">
              <a:solidFill>
                <a:srgbClr val="CC0000"/>
              </a:solidFill>
            </a:endParaRPr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609600" y="5049838"/>
            <a:ext cx="33891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</a:rPr>
              <a:t>phasor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diagram</a:t>
            </a:r>
            <a:r>
              <a:rPr lang="zh-CN" altLang="en-US" sz="2400" b="1" i="0" dirty="0">
                <a:latin typeface="Times New Roman" pitchFamily="18" charset="0"/>
                <a:cs typeface="Times New Roman" pitchFamily="18" charset="0"/>
              </a:rPr>
              <a:t>：</a:t>
            </a:r>
          </a:p>
        </p:txBody>
      </p:sp>
      <p:sp>
        <p:nvSpPr>
          <p:cNvPr id="94213" name="Line 5"/>
          <p:cNvSpPr>
            <a:spLocks noChangeShapeType="1"/>
          </p:cNvSpPr>
          <p:nvPr/>
        </p:nvSpPr>
        <p:spPr bwMode="auto">
          <a:xfrm>
            <a:off x="381000" y="2971800"/>
            <a:ext cx="8686800" cy="0"/>
          </a:xfrm>
          <a:prstGeom prst="line">
            <a:avLst/>
          </a:prstGeom>
          <a:noFill/>
          <a:ln w="38100">
            <a:solidFill>
              <a:srgbClr val="00CC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 anchor="ctr"/>
          <a:lstStyle/>
          <a:p>
            <a:endParaRPr lang="zh-CN" altLang="en-US"/>
          </a:p>
        </p:txBody>
      </p:sp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5561013" y="774464"/>
            <a:ext cx="3581400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altLang="zh-CN" i="0" dirty="0">
                <a:solidFill>
                  <a:srgbClr val="FF0000"/>
                </a:solidFill>
              </a:rPr>
              <a:t>Given</a:t>
            </a:r>
            <a:r>
              <a:rPr lang="zh-CN" altLang="en-US" i="0" dirty="0">
                <a:solidFill>
                  <a:srgbClr val="FF0000"/>
                </a:solidFill>
              </a:rPr>
              <a:t>：</a:t>
            </a:r>
            <a:r>
              <a:rPr lang="en-US" altLang="zh-CN" dirty="0"/>
              <a:t>I</a:t>
            </a:r>
            <a:r>
              <a:rPr lang="en-US" altLang="zh-CN" i="0" baseline="-25000" dirty="0"/>
              <a:t>1</a:t>
            </a:r>
            <a:r>
              <a:rPr lang="en-US" altLang="zh-CN" i="0" dirty="0"/>
              <a:t>=10A</a:t>
            </a:r>
            <a:r>
              <a:rPr lang="zh-CN" altLang="en-US" i="0" dirty="0"/>
              <a:t>、</a:t>
            </a:r>
          </a:p>
          <a:p>
            <a:pPr algn="l">
              <a:lnSpc>
                <a:spcPct val="110000"/>
              </a:lnSpc>
            </a:pPr>
            <a:r>
              <a:rPr lang="zh-CN" altLang="en-US" i="0" dirty="0"/>
              <a:t>            </a:t>
            </a:r>
            <a:r>
              <a:rPr lang="en-US" altLang="zh-CN" dirty="0"/>
              <a:t>U</a:t>
            </a:r>
            <a:r>
              <a:rPr lang="en-US" altLang="zh-CN" i="0" baseline="-25000" dirty="0"/>
              <a:t>AB</a:t>
            </a:r>
            <a:r>
              <a:rPr lang="en-US" altLang="zh-CN" i="0" dirty="0"/>
              <a:t> =100V</a:t>
            </a:r>
            <a:r>
              <a:rPr lang="zh-CN" altLang="en-US" i="0" dirty="0"/>
              <a:t>，</a:t>
            </a:r>
          </a:p>
        </p:txBody>
      </p:sp>
      <p:graphicFrame>
        <p:nvGraphicFramePr>
          <p:cNvPr id="94299" name="Object 10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215381"/>
              </p:ext>
            </p:extLst>
          </p:nvPr>
        </p:nvGraphicFramePr>
        <p:xfrm>
          <a:off x="1179513" y="1704666"/>
          <a:ext cx="635000" cy="526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5867" imgH="219186" progId="Equation.3">
                  <p:embed/>
                </p:oleObj>
              </mc:Choice>
              <mc:Fallback>
                <p:oleObj name="公式" r:id="rId2" imgW="285867" imgH="2191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1704666"/>
                        <a:ext cx="635000" cy="526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08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41517"/>
              </p:ext>
            </p:extLst>
          </p:nvPr>
        </p:nvGraphicFramePr>
        <p:xfrm>
          <a:off x="492125" y="4283075"/>
          <a:ext cx="3741738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241200" progId="Equation.DSMT4">
                  <p:embed/>
                </p:oleObj>
              </mc:Choice>
              <mc:Fallback>
                <p:oleObj name="Equation" r:id="rId4" imgW="1117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" y="4283075"/>
                        <a:ext cx="3741738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218" name="Group 12"/>
          <p:cNvGrpSpPr>
            <a:grpSpLocks/>
          </p:cNvGrpSpPr>
          <p:nvPr/>
        </p:nvGrpSpPr>
        <p:grpSpPr bwMode="auto">
          <a:xfrm>
            <a:off x="4660901" y="3722688"/>
            <a:ext cx="3340101" cy="2854325"/>
            <a:chOff x="3224" y="2345"/>
            <a:chExt cx="2104" cy="1798"/>
          </a:xfrm>
        </p:grpSpPr>
        <p:sp>
          <p:nvSpPr>
            <p:cNvPr id="94282" name="Line 13"/>
            <p:cNvSpPr>
              <a:spLocks noChangeShapeType="1"/>
            </p:cNvSpPr>
            <p:nvPr/>
          </p:nvSpPr>
          <p:spPr bwMode="auto">
            <a:xfrm>
              <a:off x="3671" y="3188"/>
              <a:ext cx="11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4283" name="Group 14"/>
            <p:cNvGrpSpPr>
              <a:grpSpLocks/>
            </p:cNvGrpSpPr>
            <p:nvPr/>
          </p:nvGrpSpPr>
          <p:grpSpPr bwMode="auto">
            <a:xfrm>
              <a:off x="3224" y="2345"/>
              <a:ext cx="2104" cy="1798"/>
              <a:chOff x="3656" y="2297"/>
              <a:chExt cx="2104" cy="1798"/>
            </a:xfrm>
          </p:grpSpPr>
          <p:sp>
            <p:nvSpPr>
              <p:cNvPr id="94284" name="Rectangle 15"/>
              <p:cNvSpPr>
                <a:spLocks noChangeArrowheads="1"/>
              </p:cNvSpPr>
              <p:nvPr/>
            </p:nvSpPr>
            <p:spPr bwMode="auto">
              <a:xfrm>
                <a:off x="4992" y="3168"/>
                <a:ext cx="45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i="0"/>
                  <a:t>100</a:t>
                </a:r>
                <a:endParaRPr lang="en-US" altLang="zh-CN" sz="3200" i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94285" name="Object 1033"/>
                  <p:cNvGraphicFramePr>
                    <a:graphicFrameLocks noChangeAspect="1"/>
                  </p:cNvGraphicFramePr>
                  <p:nvPr/>
                </p:nvGraphicFramePr>
                <p:xfrm>
                  <a:off x="5300" y="2976"/>
                  <a:ext cx="460" cy="3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公式" r:id="rId6" imgW="291973" imgH="228501" progId="Equation.3">
                          <p:embed/>
                        </p:oleObj>
                      </mc:Choice>
                      <mc:Fallback>
                        <p:oleObj name="公式" r:id="rId6" imgW="291973" imgH="228501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300" y="2976"/>
                                <a:ext cx="460" cy="33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94285" name="Object 1033"/>
                  <p:cNvGraphicFramePr>
                    <a:graphicFrameLocks noChangeAspect="1"/>
                  </p:cNvGraphicFramePr>
                  <p:nvPr/>
                </p:nvGraphicFramePr>
                <p:xfrm>
                  <a:off x="5300" y="2976"/>
                  <a:ext cx="460" cy="3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20063" name="公式" r:id="rId9" imgW="291973" imgH="228501" progId="Equation.3">
                          <p:embed/>
                        </p:oleObj>
                      </mc:Choice>
                      <mc:Fallback>
                        <p:oleObj name="公式" r:id="rId9" imgW="291973" imgH="228501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300" y="2976"/>
                                <a:ext cx="460" cy="33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grpSp>
            <p:nvGrpSpPr>
              <p:cNvPr id="94286" name="Group 17"/>
              <p:cNvGrpSpPr>
                <a:grpSpLocks/>
              </p:cNvGrpSpPr>
              <p:nvPr/>
            </p:nvGrpSpPr>
            <p:grpSpPr bwMode="auto">
              <a:xfrm>
                <a:off x="3656" y="2297"/>
                <a:ext cx="888" cy="855"/>
                <a:chOff x="3656" y="2297"/>
                <a:chExt cx="888" cy="855"/>
              </a:xfrm>
            </p:grpSpPr>
            <p:sp>
              <p:nvSpPr>
                <p:cNvPr id="94296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4115" y="2468"/>
                  <a:ext cx="0" cy="6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297" name="Text Box 1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56" y="2731"/>
                      <a:ext cx="888" cy="2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>
                      <a:spAutoFit/>
                    </a:bodyPr>
                    <a:lstStyle>
                      <a:lvl1pPr eaLnBrk="0" hangingPunct="0">
                        <a:defRPr kumimoji="1" sz="2800" b="1" i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kumimoji="1" sz="2800" b="1" i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kumimoji="1" sz="2800" b="1" i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kumimoji="1" sz="2800" b="1" i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kumimoji="1" sz="2800" b="1" i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kumimoji="1" sz="2800" b="1" i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kumimoji="1" sz="2800" b="1" i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kumimoji="1" sz="2800" b="1" i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defRPr kumimoji="1" sz="2800" b="1" i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10</a:t>
                      </a:r>
                      <a14:m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oMath>
                      </a14:m>
                      <a:endParaRPr lang="en-US" altLang="zh-CN" sz="2000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4297" name="Text Box 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656" y="2731"/>
                      <a:ext cx="888" cy="271"/>
                    </a:xfrm>
                    <a:prstGeom prst="rect">
                      <a:avLst/>
                    </a:prstGeom>
                    <a:blipFill rotWithShape="1">
                      <a:blip r:embed="rId11"/>
                      <a:stretch>
                        <a:fillRect l="-4762" b="-25714"/>
                      </a:stretch>
                    </a:blipFill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94298" name="Object 103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888" y="2297"/>
                    <a:ext cx="194" cy="288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12" imgW="152517" imgH="228634" progId="Equation.DSMT4">
                            <p:embed/>
                          </p:oleObj>
                        </mc:Choice>
                        <mc:Fallback>
                          <p:oleObj name="Equation" r:id="rId12" imgW="152517" imgH="228634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3">
                                  <a:extLst>
                                    <a:ext uri="{28A0092B-C50C-407E-A947-70E740481C1C}">
                                      <a14:useLocalDpi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888" y="2297"/>
                                  <a:ext cx="194" cy="28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94298" name="Object 103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888" y="2297"/>
                    <a:ext cx="194" cy="288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20064" name="Equation" r:id="rId14" imgW="152517" imgH="228634" progId="Equation.DSMT4">
                            <p:embed/>
                          </p:oleObj>
                        </mc:Choice>
                        <mc:Fallback>
                          <p:oleObj name="Equation" r:id="rId14" imgW="152517" imgH="228634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5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888" y="2297"/>
                                  <a:ext cx="194" cy="28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</p:grpSp>
          <p:sp>
            <p:nvSpPr>
              <p:cNvPr id="94294" name="Line 22"/>
              <p:cNvSpPr>
                <a:spLocks noChangeShapeType="1"/>
              </p:cNvSpPr>
              <p:nvPr/>
            </p:nvSpPr>
            <p:spPr bwMode="auto">
              <a:xfrm>
                <a:off x="4116" y="3140"/>
                <a:ext cx="648" cy="0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4288" name="Group 24"/>
              <p:cNvGrpSpPr>
                <a:grpSpLocks/>
              </p:cNvGrpSpPr>
              <p:nvPr/>
            </p:nvGrpSpPr>
            <p:grpSpPr bwMode="auto">
              <a:xfrm>
                <a:off x="4087" y="3144"/>
                <a:ext cx="770" cy="951"/>
                <a:chOff x="4087" y="3144"/>
                <a:chExt cx="770" cy="951"/>
              </a:xfrm>
            </p:grpSpPr>
            <p:sp>
              <p:nvSpPr>
                <p:cNvPr id="94289" name="Line 25"/>
                <p:cNvSpPr>
                  <a:spLocks noChangeShapeType="1"/>
                </p:cNvSpPr>
                <p:nvPr/>
              </p:nvSpPr>
              <p:spPr bwMode="auto">
                <a:xfrm>
                  <a:off x="4103" y="3150"/>
                  <a:ext cx="720" cy="72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9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270" y="3144"/>
                  <a:ext cx="56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="1" i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r>
                    <a:rPr lang="en-US" altLang="zh-CN" i="0">
                      <a:solidFill>
                        <a:srgbClr val="FF0000"/>
                      </a:solidFill>
                    </a:rPr>
                    <a:t>45°</a:t>
                  </a:r>
                  <a:endParaRPr lang="en-US" altLang="zh-CN" i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94291" name="Object 1034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639818848"/>
                        </p:ext>
                      </p:extLst>
                    </p:nvPr>
                  </p:nvGraphicFramePr>
                  <p:xfrm>
                    <a:off x="4087" y="3495"/>
                    <a:ext cx="250" cy="222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16" imgW="203040" imgH="177480" progId="Equation.DSMT4">
                            <p:embed/>
                          </p:oleObj>
                        </mc:Choice>
                        <mc:Fallback>
                          <p:oleObj name="Equation" r:id="rId16" imgW="203040" imgH="17748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7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087" y="3495"/>
                                  <a:ext cx="250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94291" name="Object 1034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639818848"/>
                        </p:ext>
                      </p:extLst>
                    </p:nvPr>
                  </p:nvGraphicFramePr>
                  <p:xfrm>
                    <a:off x="4087" y="3495"/>
                    <a:ext cx="250" cy="222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20066" name="Equation" r:id="rId21" imgW="203040" imgH="177480" progId="Equation.DSMT4">
                            <p:embed/>
                          </p:oleObj>
                        </mc:Choice>
                        <mc:Fallback>
                          <p:oleObj name="Equation" r:id="rId21" imgW="203040" imgH="17748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2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087" y="3495"/>
                                  <a:ext cx="250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94292" name="Object 1035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663" y="3807"/>
                    <a:ext cx="194" cy="288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23" imgW="152517" imgH="228634" progId="Equation.DSMT4">
                            <p:embed/>
                          </p:oleObj>
                        </mc:Choice>
                        <mc:Fallback>
                          <p:oleObj name="Equation" r:id="rId23" imgW="152517" imgH="228634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3">
                                  <a:extLst>
                                    <a:ext uri="{28A0092B-C50C-407E-A947-70E740481C1C}">
                                      <a14:useLocalDpi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663" y="3807"/>
                                  <a:ext cx="194" cy="28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94292" name="Object 1035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663" y="3807"/>
                    <a:ext cx="194" cy="288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20067" name="Equation" r:id="rId25" imgW="152517" imgH="228634" progId="Equation.DSMT4">
                            <p:embed/>
                          </p:oleObj>
                        </mc:Choice>
                        <mc:Fallback>
                          <p:oleObj name="Equation" r:id="rId25" imgW="152517" imgH="228634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663" y="3807"/>
                                  <a:ext cx="194" cy="28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p:sp>
              <p:nvSpPr>
                <p:cNvPr id="94293" name="Freeform 29"/>
                <p:cNvSpPr>
                  <a:spLocks/>
                </p:cNvSpPr>
                <p:nvPr/>
              </p:nvSpPr>
              <p:spPr bwMode="auto">
                <a:xfrm>
                  <a:off x="4255" y="3148"/>
                  <a:ext cx="70" cy="149"/>
                </a:xfrm>
                <a:custGeom>
                  <a:avLst/>
                  <a:gdLst>
                    <a:gd name="T0" fmla="*/ 70 w 70"/>
                    <a:gd name="T1" fmla="*/ 0 h 149"/>
                    <a:gd name="T2" fmla="*/ 0 w 70"/>
                    <a:gd name="T3" fmla="*/ 149 h 149"/>
                    <a:gd name="T4" fmla="*/ 0 60000 65536"/>
                    <a:gd name="T5" fmla="*/ 0 60000 65536"/>
                    <a:gd name="T6" fmla="*/ 0 w 70"/>
                    <a:gd name="T7" fmla="*/ 0 h 149"/>
                    <a:gd name="T8" fmla="*/ 70 w 70"/>
                    <a:gd name="T9" fmla="*/ 149 h 149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0" h="149">
                      <a:moveTo>
                        <a:pt x="70" y="0"/>
                      </a:moveTo>
                      <a:cubicBezTo>
                        <a:pt x="58" y="60"/>
                        <a:pt x="42" y="104"/>
                        <a:pt x="0" y="149"/>
                      </a:cubicBezTo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5410200" y="3581400"/>
            <a:ext cx="1752600" cy="1524000"/>
            <a:chOff x="4128" y="2208"/>
            <a:chExt cx="1104" cy="960"/>
          </a:xfrm>
        </p:grpSpPr>
        <p:sp>
          <p:nvSpPr>
            <p:cNvPr id="94280" name="Line 31"/>
            <p:cNvSpPr>
              <a:spLocks noChangeShapeType="1"/>
            </p:cNvSpPr>
            <p:nvPr/>
          </p:nvSpPr>
          <p:spPr bwMode="auto">
            <a:xfrm>
              <a:off x="4128" y="2208"/>
              <a:ext cx="110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81" name="Line 32"/>
            <p:cNvSpPr>
              <a:spLocks noChangeShapeType="1"/>
            </p:cNvSpPr>
            <p:nvPr/>
          </p:nvSpPr>
          <p:spPr bwMode="auto">
            <a:xfrm>
              <a:off x="5232" y="2208"/>
              <a:ext cx="0" cy="9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33"/>
          <p:cNvGrpSpPr>
            <a:grpSpLocks/>
          </p:cNvGrpSpPr>
          <p:nvPr/>
        </p:nvGrpSpPr>
        <p:grpSpPr bwMode="auto">
          <a:xfrm>
            <a:off x="4325945" y="3124200"/>
            <a:ext cx="1127127" cy="1946275"/>
            <a:chOff x="3445" y="1920"/>
            <a:chExt cx="710" cy="1226"/>
          </a:xfrm>
        </p:grpSpPr>
        <p:sp>
          <p:nvSpPr>
            <p:cNvPr id="94277" name="Line 34"/>
            <p:cNvSpPr>
              <a:spLocks noChangeShapeType="1"/>
            </p:cNvSpPr>
            <p:nvPr/>
          </p:nvSpPr>
          <p:spPr bwMode="auto">
            <a:xfrm flipV="1">
              <a:off x="4116" y="2160"/>
              <a:ext cx="0" cy="98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278" name="Rectangle 35"/>
                <p:cNvSpPr>
                  <a:spLocks noChangeArrowheads="1"/>
                </p:cNvSpPr>
                <p:nvPr/>
              </p:nvSpPr>
              <p:spPr bwMode="auto">
                <a:xfrm>
                  <a:off x="3445" y="2160"/>
                  <a:ext cx="53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altLang="zh-CN" i="0" dirty="0"/>
                    <a:t>100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a14:m>
                  <a:endParaRPr lang="en-US" altLang="zh-CN" i="0" dirty="0"/>
                </a:p>
              </p:txBody>
            </p:sp>
          </mc:Choice>
          <mc:Fallback xmlns="">
            <p:sp>
              <p:nvSpPr>
                <p:cNvPr id="94278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45" y="2160"/>
                  <a:ext cx="532" cy="250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6522" t="-1538" b="-2307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4279" name="Object 1032"/>
                <p:cNvGraphicFramePr>
                  <a:graphicFrameLocks noChangeAspect="1"/>
                </p:cNvGraphicFramePr>
                <p:nvPr/>
              </p:nvGraphicFramePr>
              <p:xfrm>
                <a:off x="3793" y="1920"/>
                <a:ext cx="362" cy="3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28" imgW="228600" imgH="228600" progId="Equation.3">
                        <p:embed/>
                      </p:oleObj>
                    </mc:Choice>
                    <mc:Fallback>
                      <p:oleObj name="公式" r:id="rId28" imgW="22860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3" y="1920"/>
                              <a:ext cx="362" cy="3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94279" name="Object 1032"/>
                <p:cNvGraphicFramePr>
                  <a:graphicFrameLocks noChangeAspect="1"/>
                </p:cNvGraphicFramePr>
                <p:nvPr/>
              </p:nvGraphicFramePr>
              <p:xfrm>
                <a:off x="3793" y="1920"/>
                <a:ext cx="362" cy="3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20068" name="公式" r:id="rId30" imgW="228600" imgH="228600" progId="Equation.3">
                        <p:embed/>
                      </p:oleObj>
                    </mc:Choice>
                    <mc:Fallback>
                      <p:oleObj name="公式" r:id="rId30" imgW="22860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3" y="1920"/>
                              <a:ext cx="362" cy="3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0" name="Group 37"/>
          <p:cNvGrpSpPr>
            <a:grpSpLocks/>
          </p:cNvGrpSpPr>
          <p:nvPr/>
        </p:nvGrpSpPr>
        <p:grpSpPr bwMode="auto">
          <a:xfrm>
            <a:off x="5410200" y="3200401"/>
            <a:ext cx="2087563" cy="1911351"/>
            <a:chOff x="3408" y="2016"/>
            <a:chExt cx="1315" cy="1204"/>
          </a:xfrm>
        </p:grpSpPr>
        <p:sp>
          <p:nvSpPr>
            <p:cNvPr id="94271" name="Freeform 38"/>
            <p:cNvSpPr>
              <a:spLocks/>
            </p:cNvSpPr>
            <p:nvPr/>
          </p:nvSpPr>
          <p:spPr bwMode="auto">
            <a:xfrm>
              <a:off x="3597" y="3017"/>
              <a:ext cx="55" cy="164"/>
            </a:xfrm>
            <a:custGeom>
              <a:avLst/>
              <a:gdLst>
                <a:gd name="T0" fmla="*/ 0 w 55"/>
                <a:gd name="T1" fmla="*/ 0 h 164"/>
                <a:gd name="T2" fmla="*/ 47 w 55"/>
                <a:gd name="T3" fmla="*/ 125 h 164"/>
                <a:gd name="T4" fmla="*/ 55 w 55"/>
                <a:gd name="T5" fmla="*/ 164 h 164"/>
                <a:gd name="T6" fmla="*/ 0 60000 65536"/>
                <a:gd name="T7" fmla="*/ 0 60000 65536"/>
                <a:gd name="T8" fmla="*/ 0 60000 65536"/>
                <a:gd name="T9" fmla="*/ 0 w 55"/>
                <a:gd name="T10" fmla="*/ 0 h 164"/>
                <a:gd name="T11" fmla="*/ 55 w 55"/>
                <a:gd name="T12" fmla="*/ 164 h 1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64">
                  <a:moveTo>
                    <a:pt x="0" y="0"/>
                  </a:moveTo>
                  <a:cubicBezTo>
                    <a:pt x="33" y="51"/>
                    <a:pt x="36" y="65"/>
                    <a:pt x="47" y="125"/>
                  </a:cubicBezTo>
                  <a:cubicBezTo>
                    <a:pt x="49" y="138"/>
                    <a:pt x="55" y="164"/>
                    <a:pt x="55" y="164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4272" name="Group 39"/>
            <p:cNvGrpSpPr>
              <a:grpSpLocks/>
            </p:cNvGrpSpPr>
            <p:nvPr/>
          </p:nvGrpSpPr>
          <p:grpSpPr bwMode="auto">
            <a:xfrm>
              <a:off x="3408" y="2016"/>
              <a:ext cx="1315" cy="1204"/>
              <a:chOff x="3696" y="2016"/>
              <a:chExt cx="1315" cy="1204"/>
            </a:xfrm>
          </p:grpSpPr>
          <p:sp>
            <p:nvSpPr>
              <p:cNvPr id="94273" name="Text Box 40"/>
              <p:cNvSpPr txBox="1">
                <a:spLocks noChangeArrowheads="1"/>
              </p:cNvSpPr>
              <p:nvPr/>
            </p:nvSpPr>
            <p:spPr bwMode="auto">
              <a:xfrm>
                <a:off x="3893" y="2893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800" b="1" i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 i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 i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 i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 i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 i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r>
                  <a:rPr lang="en-US" altLang="zh-CN" i="0" dirty="0">
                    <a:solidFill>
                      <a:schemeClr val="tx2"/>
                    </a:solidFill>
                  </a:rPr>
                  <a:t>45</a:t>
                </a:r>
                <a:r>
                  <a:rPr lang="en-US" altLang="zh-CN" i="0" dirty="0">
                    <a:solidFill>
                      <a:srgbClr val="006600"/>
                    </a:solidFill>
                  </a:rPr>
                  <a:t>°</a:t>
                </a:r>
              </a:p>
            </p:txBody>
          </p:sp>
          <p:grpSp>
            <p:nvGrpSpPr>
              <p:cNvPr id="94274" name="Group 41"/>
              <p:cNvGrpSpPr>
                <a:grpSpLocks/>
              </p:cNvGrpSpPr>
              <p:nvPr/>
            </p:nvGrpSpPr>
            <p:grpSpPr bwMode="auto">
              <a:xfrm>
                <a:off x="3696" y="2016"/>
                <a:ext cx="1315" cy="1152"/>
                <a:chOff x="4128" y="1968"/>
                <a:chExt cx="1315" cy="1152"/>
              </a:xfrm>
            </p:grpSpPr>
            <p:sp>
              <p:nvSpPr>
                <p:cNvPr id="94275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4128" y="2208"/>
                  <a:ext cx="1104" cy="91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4276" name="Object 1031"/>
                <p:cNvGraphicFramePr>
                  <a:graphicFrameLocks noChangeAspect="1"/>
                </p:cNvGraphicFramePr>
                <p:nvPr/>
              </p:nvGraphicFramePr>
              <p:xfrm>
                <a:off x="5184" y="1968"/>
                <a:ext cx="259" cy="29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2" imgW="164957" imgH="203024" progId="Equation.3">
                        <p:embed/>
                      </p:oleObj>
                    </mc:Choice>
                    <mc:Fallback>
                      <p:oleObj name="公式" r:id="rId32" imgW="164957" imgH="20302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84" y="1968"/>
                              <a:ext cx="259" cy="29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94222" name="Group 82"/>
          <p:cNvGrpSpPr>
            <a:grpSpLocks/>
          </p:cNvGrpSpPr>
          <p:nvPr/>
        </p:nvGrpSpPr>
        <p:grpSpPr bwMode="auto">
          <a:xfrm>
            <a:off x="609600" y="71438"/>
            <a:ext cx="4800600" cy="2659062"/>
            <a:chOff x="1344" y="879"/>
            <a:chExt cx="2976" cy="1648"/>
          </a:xfrm>
        </p:grpSpPr>
        <p:sp>
          <p:nvSpPr>
            <p:cNvPr id="94229" name="Line 83"/>
            <p:cNvSpPr>
              <a:spLocks noChangeShapeType="1"/>
            </p:cNvSpPr>
            <p:nvPr/>
          </p:nvSpPr>
          <p:spPr bwMode="auto">
            <a:xfrm rot="5400000" flipH="1">
              <a:off x="3660" y="1041"/>
              <a:ext cx="1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4230" name="Group 84"/>
            <p:cNvGrpSpPr>
              <a:grpSpLocks/>
            </p:cNvGrpSpPr>
            <p:nvPr/>
          </p:nvGrpSpPr>
          <p:grpSpPr bwMode="auto">
            <a:xfrm>
              <a:off x="3373" y="1191"/>
              <a:ext cx="60" cy="187"/>
              <a:chOff x="3876" y="1067"/>
              <a:chExt cx="60" cy="250"/>
            </a:xfrm>
          </p:grpSpPr>
          <p:sp>
            <p:nvSpPr>
              <p:cNvPr id="94269" name="Line 85"/>
              <p:cNvSpPr>
                <a:spLocks noChangeShapeType="1"/>
              </p:cNvSpPr>
              <p:nvPr/>
            </p:nvSpPr>
            <p:spPr bwMode="auto">
              <a:xfrm rot="5400000" flipH="1">
                <a:off x="3817" y="1198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70" name="Line 86"/>
              <p:cNvSpPr>
                <a:spLocks noChangeShapeType="1"/>
              </p:cNvSpPr>
              <p:nvPr/>
            </p:nvSpPr>
            <p:spPr bwMode="auto">
              <a:xfrm rot="5400000" flipH="1">
                <a:off x="3757" y="1186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4231" name="Rectangle 87"/>
            <p:cNvSpPr>
              <a:spLocks noChangeArrowheads="1"/>
            </p:cNvSpPr>
            <p:nvPr/>
          </p:nvSpPr>
          <p:spPr bwMode="auto">
            <a:xfrm rot="-5400000">
              <a:off x="3038" y="1825"/>
              <a:ext cx="93" cy="23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32" name="Line 88"/>
            <p:cNvSpPr>
              <a:spLocks noChangeShapeType="1"/>
            </p:cNvSpPr>
            <p:nvPr/>
          </p:nvSpPr>
          <p:spPr bwMode="auto">
            <a:xfrm rot="-5400000">
              <a:off x="3288" y="1866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33" name="Line 89"/>
            <p:cNvSpPr>
              <a:spLocks noChangeShapeType="1"/>
            </p:cNvSpPr>
            <p:nvPr/>
          </p:nvSpPr>
          <p:spPr bwMode="auto">
            <a:xfrm rot="-5400000">
              <a:off x="2884" y="1840"/>
              <a:ext cx="0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34" name="Line 90"/>
            <p:cNvSpPr>
              <a:spLocks noChangeShapeType="1"/>
            </p:cNvSpPr>
            <p:nvPr/>
          </p:nvSpPr>
          <p:spPr bwMode="auto">
            <a:xfrm rot="-5400000">
              <a:off x="3820" y="1866"/>
              <a:ext cx="1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35" name="Line 91"/>
            <p:cNvSpPr>
              <a:spLocks noChangeShapeType="1"/>
            </p:cNvSpPr>
            <p:nvPr/>
          </p:nvSpPr>
          <p:spPr bwMode="auto">
            <a:xfrm>
              <a:off x="3883" y="1276"/>
              <a:ext cx="0" cy="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36" name="Line 92"/>
            <p:cNvSpPr>
              <a:spLocks noChangeShapeType="1"/>
            </p:cNvSpPr>
            <p:nvPr/>
          </p:nvSpPr>
          <p:spPr bwMode="auto">
            <a:xfrm>
              <a:off x="3894" y="1605"/>
              <a:ext cx="4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37" name="Text Box 93"/>
            <p:cNvSpPr txBox="1">
              <a:spLocks noChangeArrowheads="1"/>
            </p:cNvSpPr>
            <p:nvPr/>
          </p:nvSpPr>
          <p:spPr bwMode="auto">
            <a:xfrm>
              <a:off x="2562" y="1323"/>
              <a:ext cx="262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A</a:t>
              </a:r>
            </a:p>
          </p:txBody>
        </p:sp>
        <p:sp>
          <p:nvSpPr>
            <p:cNvPr id="94238" name="Text Box 94"/>
            <p:cNvSpPr txBox="1">
              <a:spLocks noChangeArrowheads="1"/>
            </p:cNvSpPr>
            <p:nvPr/>
          </p:nvSpPr>
          <p:spPr bwMode="auto">
            <a:xfrm>
              <a:off x="3891" y="1323"/>
              <a:ext cx="251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B</a:t>
              </a:r>
            </a:p>
          </p:txBody>
        </p:sp>
        <p:sp>
          <p:nvSpPr>
            <p:cNvPr id="94239" name="Text Box 95"/>
            <p:cNvSpPr txBox="1">
              <a:spLocks noChangeArrowheads="1"/>
            </p:cNvSpPr>
            <p:nvPr/>
          </p:nvSpPr>
          <p:spPr bwMode="auto">
            <a:xfrm>
              <a:off x="3099" y="1323"/>
              <a:ext cx="369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/>
                <a:t> C</a:t>
              </a:r>
              <a:r>
                <a:rPr lang="en-US" altLang="zh-CN" sz="2600" baseline="-25000"/>
                <a:t>1</a:t>
              </a:r>
              <a:endParaRPr lang="en-US" altLang="zh-CN" sz="2600"/>
            </a:p>
          </p:txBody>
        </p:sp>
        <p:sp>
          <p:nvSpPr>
            <p:cNvPr id="94240" name="Line 96"/>
            <p:cNvSpPr>
              <a:spLocks noChangeShapeType="1"/>
            </p:cNvSpPr>
            <p:nvPr/>
          </p:nvSpPr>
          <p:spPr bwMode="auto">
            <a:xfrm>
              <a:off x="1350" y="1588"/>
              <a:ext cx="0" cy="7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41" name="Line 97"/>
            <p:cNvSpPr>
              <a:spLocks noChangeShapeType="1"/>
            </p:cNvSpPr>
            <p:nvPr/>
          </p:nvSpPr>
          <p:spPr bwMode="auto">
            <a:xfrm>
              <a:off x="4311" y="1605"/>
              <a:ext cx="0" cy="7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42" name="Oval 98"/>
            <p:cNvSpPr>
              <a:spLocks noChangeArrowheads="1"/>
            </p:cNvSpPr>
            <p:nvPr/>
          </p:nvSpPr>
          <p:spPr bwMode="auto">
            <a:xfrm>
              <a:off x="2705" y="2234"/>
              <a:ext cx="267" cy="2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43" name="Text Box 99"/>
            <p:cNvSpPr txBox="1">
              <a:spLocks noChangeArrowheads="1"/>
            </p:cNvSpPr>
            <p:nvPr/>
          </p:nvSpPr>
          <p:spPr bwMode="auto">
            <a:xfrm>
              <a:off x="2728" y="2224"/>
              <a:ext cx="261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600" i="0">
                  <a:solidFill>
                    <a:srgbClr val="FF0000"/>
                  </a:solidFill>
                </a:rPr>
                <a:t>V</a:t>
              </a:r>
            </a:p>
          </p:txBody>
        </p:sp>
        <p:graphicFrame>
          <p:nvGraphicFramePr>
            <p:cNvPr id="94244" name="Object 17"/>
            <p:cNvGraphicFramePr>
              <a:graphicFrameLocks noChangeAspect="1"/>
            </p:cNvGraphicFramePr>
            <p:nvPr/>
          </p:nvGraphicFramePr>
          <p:xfrm>
            <a:off x="2968" y="1986"/>
            <a:ext cx="29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219192" imgH="171408" progId="Equation.3">
                    <p:embed/>
                  </p:oleObj>
                </mc:Choice>
                <mc:Fallback>
                  <p:oleObj name="公式" r:id="rId33" imgW="219192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1986"/>
                          <a:ext cx="29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45" name="Object 1025"/>
            <p:cNvGraphicFramePr>
              <a:graphicFrameLocks noChangeAspect="1"/>
            </p:cNvGraphicFramePr>
            <p:nvPr/>
          </p:nvGraphicFramePr>
          <p:xfrm>
            <a:off x="2968" y="879"/>
            <a:ext cx="2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52517" imgH="228634" progId="Equation.DSMT4">
                    <p:embed/>
                  </p:oleObj>
                </mc:Choice>
                <mc:Fallback>
                  <p:oleObj name="Equation" r:id="rId34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" y="879"/>
                          <a:ext cx="2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46" name="Object 1026"/>
            <p:cNvGraphicFramePr>
              <a:graphicFrameLocks noChangeAspect="1"/>
            </p:cNvGraphicFramePr>
            <p:nvPr/>
          </p:nvGraphicFramePr>
          <p:xfrm>
            <a:off x="3004" y="1541"/>
            <a:ext cx="2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52517" imgH="228634" progId="Equation.DSMT4">
                    <p:embed/>
                  </p:oleObj>
                </mc:Choice>
                <mc:Fallback>
                  <p:oleObj name="Equation" r:id="rId36" imgW="152517" imgH="2286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4" y="1541"/>
                          <a:ext cx="2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47" name="Line 103"/>
            <p:cNvSpPr>
              <a:spLocks noChangeShapeType="1"/>
            </p:cNvSpPr>
            <p:nvPr/>
          </p:nvSpPr>
          <p:spPr bwMode="auto">
            <a:xfrm>
              <a:off x="2968" y="1199"/>
              <a:ext cx="26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4248" name="Object 1027"/>
            <p:cNvGraphicFramePr>
              <a:graphicFrameLocks noChangeAspect="1"/>
            </p:cNvGraphicFramePr>
            <p:nvPr/>
          </p:nvGraphicFramePr>
          <p:xfrm>
            <a:off x="1548" y="1235"/>
            <a:ext cx="47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371439" imgH="190573" progId="Equation.3">
                    <p:embed/>
                  </p:oleObj>
                </mc:Choice>
                <mc:Fallback>
                  <p:oleObj name="Equation" r:id="rId37" imgW="371439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8" y="1235"/>
                          <a:ext cx="47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49" name="Line 105"/>
            <p:cNvSpPr>
              <a:spLocks noChangeShapeType="1"/>
            </p:cNvSpPr>
            <p:nvPr/>
          </p:nvSpPr>
          <p:spPr bwMode="auto">
            <a:xfrm>
              <a:off x="2791" y="1279"/>
              <a:ext cx="0" cy="6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0" name="Line 106"/>
            <p:cNvSpPr>
              <a:spLocks noChangeShapeType="1"/>
            </p:cNvSpPr>
            <p:nvPr/>
          </p:nvSpPr>
          <p:spPr bwMode="auto">
            <a:xfrm>
              <a:off x="2791" y="1279"/>
              <a:ext cx="55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1" name="Oval 107"/>
            <p:cNvSpPr>
              <a:spLocks noChangeArrowheads="1"/>
            </p:cNvSpPr>
            <p:nvPr/>
          </p:nvSpPr>
          <p:spPr bwMode="auto">
            <a:xfrm>
              <a:off x="2163" y="1455"/>
              <a:ext cx="267" cy="2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zh-CN" sz="2600" i="0">
                  <a:solidFill>
                    <a:srgbClr val="FF0000"/>
                  </a:solidFill>
                </a:rPr>
                <a:t>A</a:t>
              </a:r>
            </a:p>
          </p:txBody>
        </p:sp>
        <p:grpSp>
          <p:nvGrpSpPr>
            <p:cNvPr id="94252" name="Group 108"/>
            <p:cNvGrpSpPr>
              <a:grpSpLocks/>
            </p:cNvGrpSpPr>
            <p:nvPr/>
          </p:nvGrpSpPr>
          <p:grpSpPr bwMode="auto">
            <a:xfrm>
              <a:off x="1561" y="1518"/>
              <a:ext cx="374" cy="87"/>
              <a:chOff x="1932" y="1430"/>
              <a:chExt cx="389" cy="99"/>
            </a:xfrm>
          </p:grpSpPr>
          <p:sp>
            <p:nvSpPr>
              <p:cNvPr id="94266" name="AutoShape 109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67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68" name="AutoShape 111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4253" name="Line 112"/>
            <p:cNvSpPr>
              <a:spLocks noChangeShapeType="1"/>
            </p:cNvSpPr>
            <p:nvPr/>
          </p:nvSpPr>
          <p:spPr bwMode="auto">
            <a:xfrm>
              <a:off x="1943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4" name="Line 113"/>
            <p:cNvSpPr>
              <a:spLocks noChangeShapeType="1"/>
            </p:cNvSpPr>
            <p:nvPr/>
          </p:nvSpPr>
          <p:spPr bwMode="auto">
            <a:xfrm>
              <a:off x="1348" y="1588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5" name="Line 114"/>
            <p:cNvSpPr>
              <a:spLocks noChangeShapeType="1"/>
            </p:cNvSpPr>
            <p:nvPr/>
          </p:nvSpPr>
          <p:spPr bwMode="auto">
            <a:xfrm>
              <a:off x="2434" y="1588"/>
              <a:ext cx="3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6" name="Line 115"/>
            <p:cNvSpPr>
              <a:spLocks noChangeShapeType="1"/>
            </p:cNvSpPr>
            <p:nvPr/>
          </p:nvSpPr>
          <p:spPr bwMode="auto">
            <a:xfrm>
              <a:off x="1344" y="2382"/>
              <a:ext cx="13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7" name="Line 116"/>
            <p:cNvSpPr>
              <a:spLocks noChangeShapeType="1"/>
            </p:cNvSpPr>
            <p:nvPr/>
          </p:nvSpPr>
          <p:spPr bwMode="auto">
            <a:xfrm>
              <a:off x="2976" y="2382"/>
              <a:ext cx="134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4258" name="Object 1028"/>
            <p:cNvGraphicFramePr>
              <a:graphicFrameLocks noChangeAspect="1"/>
            </p:cNvGraphicFramePr>
            <p:nvPr/>
          </p:nvGraphicFramePr>
          <p:xfrm>
            <a:off x="3365" y="1968"/>
            <a:ext cx="397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295315" imgH="190573" progId="Equation.3">
                    <p:embed/>
                  </p:oleObj>
                </mc:Choice>
                <mc:Fallback>
                  <p:oleObj name="Equation" r:id="rId38" imgW="29531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5" y="1968"/>
                          <a:ext cx="397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59" name="Line 118"/>
            <p:cNvSpPr>
              <a:spLocks noChangeShapeType="1"/>
            </p:cNvSpPr>
            <p:nvPr/>
          </p:nvSpPr>
          <p:spPr bwMode="auto">
            <a:xfrm>
              <a:off x="2968" y="1827"/>
              <a:ext cx="26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4260" name="Object 1029"/>
            <p:cNvGraphicFramePr>
              <a:graphicFrameLocks noChangeAspect="1"/>
            </p:cNvGraphicFramePr>
            <p:nvPr/>
          </p:nvGraphicFramePr>
          <p:xfrm>
            <a:off x="2262" y="1158"/>
            <a:ext cx="15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14185" imgH="180855" progId="Equation.DSMT4">
                    <p:embed/>
                  </p:oleObj>
                </mc:Choice>
                <mc:Fallback>
                  <p:oleObj name="Equation" r:id="rId40" imgW="114185" imgH="18085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2" y="1158"/>
                          <a:ext cx="15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61" name="Line 120"/>
            <p:cNvSpPr>
              <a:spLocks noChangeShapeType="1"/>
            </p:cNvSpPr>
            <p:nvPr/>
          </p:nvSpPr>
          <p:spPr bwMode="auto">
            <a:xfrm>
              <a:off x="2218" y="1403"/>
              <a:ext cx="26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4262" name="Group 121"/>
            <p:cNvGrpSpPr>
              <a:grpSpLocks/>
            </p:cNvGrpSpPr>
            <p:nvPr/>
          </p:nvGrpSpPr>
          <p:grpSpPr bwMode="auto">
            <a:xfrm>
              <a:off x="3374" y="1868"/>
              <a:ext cx="377" cy="88"/>
              <a:chOff x="1932" y="1430"/>
              <a:chExt cx="389" cy="99"/>
            </a:xfrm>
          </p:grpSpPr>
          <p:sp>
            <p:nvSpPr>
              <p:cNvPr id="94263" name="AutoShape 122"/>
              <p:cNvSpPr>
                <a:spLocks noChangeArrowheads="1"/>
              </p:cNvSpPr>
              <p:nvPr/>
            </p:nvSpPr>
            <p:spPr bwMode="auto">
              <a:xfrm rot="16200000" flipH="1">
                <a:off x="2078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64" name="AutoShape 123"/>
              <p:cNvSpPr>
                <a:spLocks noChangeArrowheads="1"/>
              </p:cNvSpPr>
              <p:nvPr/>
            </p:nvSpPr>
            <p:spPr bwMode="auto">
              <a:xfrm rot="16200000" flipH="1">
                <a:off x="1946" y="1416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65" name="AutoShape 124"/>
              <p:cNvSpPr>
                <a:spLocks noChangeArrowheads="1"/>
              </p:cNvSpPr>
              <p:nvPr/>
            </p:nvSpPr>
            <p:spPr bwMode="auto">
              <a:xfrm rot="16200000" flipH="1">
                <a:off x="2210" y="1418"/>
                <a:ext cx="97" cy="125"/>
              </a:xfrm>
              <a:prstGeom prst="moon">
                <a:avLst>
                  <a:gd name="adj" fmla="val 0"/>
                </a:avLst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94223" name="灯片编号占位符 26"/>
          <p:cNvSpPr txBox="1">
            <a:spLocks/>
          </p:cNvSpPr>
          <p:nvPr/>
        </p:nvSpPr>
        <p:spPr bwMode="auto">
          <a:xfrm>
            <a:off x="0" y="6613525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fld id="{45795F46-0842-4606-9097-0CE9AE06D019}" type="slidenum">
              <a:rPr lang="zh-CN" altLang="en-US" sz="1000" i="0">
                <a:solidFill>
                  <a:schemeClr val="bg1"/>
                </a:solidFill>
              </a:rPr>
              <a:pPr eaLnBrk="1" hangingPunct="1"/>
              <a:t>94</a:t>
            </a:fld>
            <a:endParaRPr lang="en-US" altLang="zh-CN" sz="1000" i="0">
              <a:solidFill>
                <a:schemeClr val="bg1"/>
              </a:solidFill>
            </a:endParaRPr>
          </a:p>
        </p:txBody>
      </p:sp>
      <p:sp>
        <p:nvSpPr>
          <p:cNvPr id="94224" name="Rectangle 4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4340225" y="6610350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返 回</a:t>
            </a:r>
          </a:p>
        </p:txBody>
      </p:sp>
      <p:sp>
        <p:nvSpPr>
          <p:cNvPr id="94225" name="Rectangle 46">
            <a:hlinkClick r:id="rId42" action="ppaction://hlinksldjump"/>
          </p:cNvPr>
          <p:cNvSpPr>
            <a:spLocks noChangeArrowheads="1"/>
          </p:cNvSpPr>
          <p:nvPr/>
        </p:nvSpPr>
        <p:spPr bwMode="auto">
          <a:xfrm>
            <a:off x="5254625" y="6619875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上一节</a:t>
            </a:r>
          </a:p>
        </p:txBody>
      </p:sp>
      <p:sp>
        <p:nvSpPr>
          <p:cNvPr id="94226" name="Rectangle 45">
            <a:hlinkClick r:id="rId43" action="ppaction://hlinksldjump"/>
          </p:cNvPr>
          <p:cNvSpPr>
            <a:spLocks noChangeArrowheads="1"/>
          </p:cNvSpPr>
          <p:nvPr/>
        </p:nvSpPr>
        <p:spPr bwMode="auto">
          <a:xfrm>
            <a:off x="6245225" y="6610350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下一节</a:t>
            </a:r>
          </a:p>
        </p:txBody>
      </p:sp>
      <p:sp>
        <p:nvSpPr>
          <p:cNvPr id="94227" name="Rectangle 4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73120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上一页</a:t>
            </a:r>
          </a:p>
        </p:txBody>
      </p:sp>
      <p:sp>
        <p:nvSpPr>
          <p:cNvPr id="94228" name="Rectangle 4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226425" y="6610350"/>
            <a:ext cx="838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200" i="0">
                <a:solidFill>
                  <a:schemeClr val="bg1"/>
                </a:solidFill>
                <a:latin typeface="楷体_GB2312" pitchFamily="49" charset="-122"/>
              </a:rPr>
              <a:t>下一页</a:t>
            </a:r>
          </a:p>
        </p:txBody>
      </p:sp>
      <p:grpSp>
        <p:nvGrpSpPr>
          <p:cNvPr id="93" name="Group 5"/>
          <p:cNvGrpSpPr>
            <a:grpSpLocks/>
          </p:cNvGrpSpPr>
          <p:nvPr/>
        </p:nvGrpSpPr>
        <p:grpSpPr bwMode="auto">
          <a:xfrm>
            <a:off x="367414" y="2989264"/>
            <a:ext cx="4643275" cy="777876"/>
            <a:chOff x="1099" y="2135"/>
            <a:chExt cx="3157" cy="490"/>
          </a:xfrm>
        </p:grpSpPr>
        <p:graphicFrame>
          <p:nvGraphicFramePr>
            <p:cNvPr id="94" name="Object 10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969938"/>
                </p:ext>
              </p:extLst>
            </p:nvPr>
          </p:nvGraphicFramePr>
          <p:xfrm>
            <a:off x="1910" y="2135"/>
            <a:ext cx="438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4" imgW="285867" imgH="219186" progId="Equation.3">
                    <p:embed/>
                  </p:oleObj>
                </mc:Choice>
                <mc:Fallback>
                  <p:oleObj name="公式" r:id="rId44" imgW="285867" imgH="21918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0" y="2135"/>
                          <a:ext cx="438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" name="Text Box 7"/>
            <p:cNvSpPr txBox="1">
              <a:spLocks noChangeArrowheads="1"/>
            </p:cNvSpPr>
            <p:nvPr/>
          </p:nvSpPr>
          <p:spPr bwMode="auto">
            <a:xfrm>
              <a:off x="1099" y="2179"/>
              <a:ext cx="315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 i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000" i="0" dirty="0">
                  <a:cs typeface="Times New Roman" pitchFamily="18" charset="0"/>
                </a:rPr>
                <a:t>Assuming</a:t>
              </a:r>
              <a:r>
                <a:rPr lang="zh-CN" altLang="en-US" sz="2000" i="0" dirty="0">
                  <a:solidFill>
                    <a:srgbClr val="CC0000"/>
                  </a:solidFill>
                  <a:latin typeface="宋体" charset="-122"/>
                </a:rPr>
                <a:t>     </a:t>
              </a:r>
              <a:r>
                <a:rPr lang="en-US" altLang="zh-CN" sz="2000" i="0" dirty="0">
                  <a:cs typeface="Times New Roman" pitchFamily="18" charset="0"/>
                </a:rPr>
                <a:t>to be the reference </a:t>
              </a:r>
              <a:r>
                <a:rPr lang="en-US" altLang="zh-CN" sz="2000" i="0" dirty="0" err="1">
                  <a:cs typeface="Times New Roman" pitchFamily="18" charset="0"/>
                </a:rPr>
                <a:t>phasor</a:t>
              </a:r>
              <a:endParaRPr lang="en-US" altLang="zh-CN" sz="2000" i="0" dirty="0">
                <a:cs typeface="Times New Roman" pitchFamily="18" charset="0"/>
              </a:endParaRPr>
            </a:p>
          </p:txBody>
        </p:sp>
      </p:grpSp>
      <p:sp>
        <p:nvSpPr>
          <p:cNvPr id="96" name="Rectangle 2"/>
          <p:cNvSpPr>
            <a:spLocks noChangeArrowheads="1"/>
          </p:cNvSpPr>
          <p:nvPr/>
        </p:nvSpPr>
        <p:spPr bwMode="auto">
          <a:xfrm>
            <a:off x="5562600" y="1908939"/>
            <a:ext cx="34092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 eaLnBrk="0" hangingPunct="0"/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Find: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the readings of A and V</a:t>
            </a:r>
            <a:endParaRPr lang="zh-CN" altLang="en-US" sz="2000" b="1" i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7" name="Object 10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577570"/>
              </p:ext>
            </p:extLst>
          </p:nvPr>
        </p:nvGraphicFramePr>
        <p:xfrm>
          <a:off x="6392639" y="4626769"/>
          <a:ext cx="2349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114185" imgH="180855" progId="Equation.3">
                  <p:embed/>
                </p:oleObj>
              </mc:Choice>
              <mc:Fallback>
                <p:oleObj name="公式" r:id="rId46" imgW="114185" imgH="18085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2639" y="4626769"/>
                        <a:ext cx="2349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1B1091A-FCF4-4301-9B75-1D66010DB85F}"/>
                  </a:ext>
                </a:extLst>
              </p14:cNvPr>
              <p14:cNvContentPartPr/>
              <p14:nvPr/>
            </p14:nvContentPartPr>
            <p14:xfrm>
              <a:off x="7285320" y="3527280"/>
              <a:ext cx="165240" cy="114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1B1091A-FCF4-4301-9B75-1D66010DB85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275960" y="3517920"/>
                <a:ext cx="183960" cy="1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85415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9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 autoUpdateAnimBg="0"/>
      <p:bldP spid="182275" grpId="0" animBg="1" autoUpdateAnimBg="0"/>
      <p:bldP spid="182276" grpId="0" autoUpdateAnimBg="0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40000"/>
          </a:lnSpc>
          <a:spcBef>
            <a:spcPct val="0"/>
          </a:spcBef>
          <a:spcAft>
            <a:spcPct val="0"/>
          </a:spcAft>
          <a:buClr>
            <a:srgbClr val="0066FF"/>
          </a:buClr>
          <a:buSzPct val="60000"/>
          <a:buFont typeface="Wingdings" pitchFamily="2" charset="2"/>
          <a:buChar char="n"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40000"/>
          </a:lnSpc>
          <a:spcBef>
            <a:spcPct val="0"/>
          </a:spcBef>
          <a:spcAft>
            <a:spcPct val="0"/>
          </a:spcAft>
          <a:buClr>
            <a:srgbClr val="0066FF"/>
          </a:buClr>
          <a:buSzPct val="60000"/>
          <a:buFont typeface="Wingdings" pitchFamily="2" charset="2"/>
          <a:buChar char="n"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7516</TotalTime>
  <Words>2021</Words>
  <Application>Microsoft Office PowerPoint</Application>
  <PresentationFormat>全屏显示(4:3)</PresentationFormat>
  <Paragraphs>561</Paragraphs>
  <Slides>94</Slides>
  <Notes>6</Notes>
  <HiddenSlides>11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94</vt:i4>
      </vt:variant>
    </vt:vector>
  </HeadingPairs>
  <TitlesOfParts>
    <vt:vector size="115" baseType="lpstr">
      <vt:lpstr>PMingLiU</vt:lpstr>
      <vt:lpstr>楷体_GB2312</vt:lpstr>
      <vt:lpstr>隶书</vt:lpstr>
      <vt:lpstr>宋体</vt:lpstr>
      <vt:lpstr>Arial</vt:lpstr>
      <vt:lpstr>Arial Black</vt:lpstr>
      <vt:lpstr>Calibri</vt:lpstr>
      <vt:lpstr>Cambria Math</vt:lpstr>
      <vt:lpstr>Symbol</vt:lpstr>
      <vt:lpstr>Tahoma</vt:lpstr>
      <vt:lpstr>Times New Roman</vt:lpstr>
      <vt:lpstr>Trebuchet MS</vt:lpstr>
      <vt:lpstr>Verdana</vt:lpstr>
      <vt:lpstr>Wingdings</vt:lpstr>
      <vt:lpstr>Blends</vt:lpstr>
      <vt:lpstr>Equation</vt:lpstr>
      <vt:lpstr>公式</vt:lpstr>
      <vt:lpstr>Visio</vt:lpstr>
      <vt:lpstr>Picture</vt:lpstr>
      <vt:lpstr>图片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Phasor</vt:lpstr>
      <vt:lpstr>PowerPoint 演示文稿</vt:lpstr>
      <vt:lpstr>PowerPoint 演示文稿</vt:lpstr>
      <vt:lpstr>(2) phasor diagram</vt:lpstr>
      <vt:lpstr>PowerPoint 演示文稿</vt:lpstr>
      <vt:lpstr>PowerPoint 演示文稿</vt:lpstr>
      <vt:lpstr>PowerPoint 演示文稿</vt:lpstr>
      <vt:lpstr>PowerPoint 演示文稿</vt:lpstr>
      <vt:lpstr>Example：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xiongying</dc:creator>
  <cp:lastModifiedBy>grace xiong</cp:lastModifiedBy>
  <cp:revision>179</cp:revision>
  <dcterms:created xsi:type="dcterms:W3CDTF">2013-04-22T02:15:54Z</dcterms:created>
  <dcterms:modified xsi:type="dcterms:W3CDTF">2025-04-22T13:54:49Z</dcterms:modified>
</cp:coreProperties>
</file>